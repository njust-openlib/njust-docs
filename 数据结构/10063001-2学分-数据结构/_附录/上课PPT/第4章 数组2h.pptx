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</p:sldMasterIdLst>
  <p:notesMasterIdLst>
    <p:notesMasterId r:id="rId31"/>
  </p:notesMasterIdLst>
  <p:handoutMasterIdLst>
    <p:handoutMasterId r:id="rId32"/>
  </p:handoutMasterIdLst>
  <p:sldIdLst>
    <p:sldId id="256" r:id="rId3"/>
    <p:sldId id="871" r:id="rId4"/>
    <p:sldId id="872" r:id="rId5"/>
    <p:sldId id="873" r:id="rId6"/>
    <p:sldId id="874" r:id="rId7"/>
    <p:sldId id="875" r:id="rId8"/>
    <p:sldId id="876" r:id="rId9"/>
    <p:sldId id="877" r:id="rId10"/>
    <p:sldId id="878" r:id="rId11"/>
    <p:sldId id="879" r:id="rId12"/>
    <p:sldId id="950" r:id="rId13"/>
    <p:sldId id="880" r:id="rId14"/>
    <p:sldId id="881" r:id="rId15"/>
    <p:sldId id="882" r:id="rId16"/>
    <p:sldId id="883" r:id="rId17"/>
    <p:sldId id="884" r:id="rId18"/>
    <p:sldId id="885" r:id="rId19"/>
    <p:sldId id="936" r:id="rId20"/>
    <p:sldId id="937" r:id="rId21"/>
    <p:sldId id="938" r:id="rId22"/>
    <p:sldId id="939" r:id="rId23"/>
    <p:sldId id="940" r:id="rId24"/>
    <p:sldId id="944" r:id="rId25"/>
    <p:sldId id="945" r:id="rId26"/>
    <p:sldId id="946" r:id="rId27"/>
    <p:sldId id="947" r:id="rId28"/>
    <p:sldId id="948" r:id="rId29"/>
    <p:sldId id="949" r:id="rId30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99FFCC"/>
    <a:srgbClr val="CCFFCC"/>
    <a:srgbClr val="FFFFE7"/>
    <a:srgbClr val="FF6699"/>
    <a:srgbClr val="CCCCFF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3FC10-ACCB-4A34-A129-FD5B480AA2DD}" v="191" dt="2025-04-16T01:17:13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08" autoAdjust="0"/>
  </p:normalViewPr>
  <p:slideViewPr>
    <p:cSldViewPr snapToObjects="1">
      <p:cViewPr varScale="1">
        <p:scale>
          <a:sx n="83" d="100"/>
          <a:sy n="83" d="100"/>
        </p:scale>
        <p:origin x="18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2303FC10-ACCB-4A34-A129-FD5B480AA2DD}"/>
    <pc:docChg chg="delSld modSld">
      <pc:chgData name="744311194@qq.com" userId="e2a28223f2085f4b" providerId="LiveId" clId="{2303FC10-ACCB-4A34-A129-FD5B480AA2DD}" dt="2025-04-16T01:17:13.924" v="1062" actId="20577"/>
      <pc:docMkLst>
        <pc:docMk/>
      </pc:docMkLst>
      <pc:sldChg chg="del">
        <pc:chgData name="744311194@qq.com" userId="e2a28223f2085f4b" providerId="LiveId" clId="{2303FC10-ACCB-4A34-A129-FD5B480AA2DD}" dt="2025-04-15T13:00:58.952" v="0" actId="47"/>
        <pc:sldMkLst>
          <pc:docMk/>
          <pc:sldMk cId="0" sldId="560"/>
        </pc:sldMkLst>
      </pc:sldChg>
      <pc:sldChg chg="del">
        <pc:chgData name="744311194@qq.com" userId="e2a28223f2085f4b" providerId="LiveId" clId="{2303FC10-ACCB-4A34-A129-FD5B480AA2DD}" dt="2025-04-15T13:00:59.800" v="1" actId="47"/>
        <pc:sldMkLst>
          <pc:docMk/>
          <pc:sldMk cId="0" sldId="857"/>
        </pc:sldMkLst>
      </pc:sldChg>
      <pc:sldChg chg="modSp mod">
        <pc:chgData name="744311194@qq.com" userId="e2a28223f2085f4b" providerId="LiveId" clId="{2303FC10-ACCB-4A34-A129-FD5B480AA2DD}" dt="2025-04-15T13:01:41.898" v="4" actId="6559"/>
        <pc:sldMkLst>
          <pc:docMk/>
          <pc:sldMk cId="0" sldId="878"/>
        </pc:sldMkLst>
        <pc:spChg chg="mod">
          <ac:chgData name="744311194@qq.com" userId="e2a28223f2085f4b" providerId="LiveId" clId="{2303FC10-ACCB-4A34-A129-FD5B480AA2DD}" dt="2025-04-15T13:01:41.898" v="4" actId="6559"/>
          <ac:spMkLst>
            <pc:docMk/>
            <pc:sldMk cId="0" sldId="878"/>
            <ac:spMk id="19463" creationId="{00000000-0000-0000-0000-000000000000}"/>
          </ac:spMkLst>
        </pc:spChg>
      </pc:sldChg>
      <pc:sldChg chg="modSp mod">
        <pc:chgData name="744311194@qq.com" userId="e2a28223f2085f4b" providerId="LiveId" clId="{2303FC10-ACCB-4A34-A129-FD5B480AA2DD}" dt="2025-04-15T13:02:01.855" v="5" actId="13926"/>
        <pc:sldMkLst>
          <pc:docMk/>
          <pc:sldMk cId="0" sldId="880"/>
        </pc:sldMkLst>
        <pc:spChg chg="mod">
          <ac:chgData name="744311194@qq.com" userId="e2a28223f2085f4b" providerId="LiveId" clId="{2303FC10-ACCB-4A34-A129-FD5B480AA2DD}" dt="2025-04-15T13:02:01.855" v="5" actId="13926"/>
          <ac:spMkLst>
            <pc:docMk/>
            <pc:sldMk cId="0" sldId="880"/>
            <ac:spMk id="773123" creationId="{00000000-0000-0000-0000-000000000000}"/>
          </ac:spMkLst>
        </pc:spChg>
      </pc:sldChg>
      <pc:sldChg chg="modSp mod">
        <pc:chgData name="744311194@qq.com" userId="e2a28223f2085f4b" providerId="LiveId" clId="{2303FC10-ACCB-4A34-A129-FD5B480AA2DD}" dt="2025-04-15T13:02:24.161" v="6" actId="13926"/>
        <pc:sldMkLst>
          <pc:docMk/>
          <pc:sldMk cId="0" sldId="881"/>
        </pc:sldMkLst>
        <pc:spChg chg="mod">
          <ac:chgData name="744311194@qq.com" userId="e2a28223f2085f4b" providerId="LiveId" clId="{2303FC10-ACCB-4A34-A129-FD5B480AA2DD}" dt="2025-04-15T13:02:24.161" v="6" actId="13926"/>
          <ac:spMkLst>
            <pc:docMk/>
            <pc:sldMk cId="0" sldId="881"/>
            <ac:spMk id="23555" creationId="{00000000-0000-0000-0000-000000000000}"/>
          </ac:spMkLst>
        </pc:spChg>
      </pc:sldChg>
      <pc:sldChg chg="addSp modSp mod">
        <pc:chgData name="744311194@qq.com" userId="e2a28223f2085f4b" providerId="LiveId" clId="{2303FC10-ACCB-4A34-A129-FD5B480AA2DD}" dt="2025-04-15T13:05:13.674" v="76" actId="13926"/>
        <pc:sldMkLst>
          <pc:docMk/>
          <pc:sldMk cId="0" sldId="884"/>
        </pc:sldMkLst>
        <pc:spChg chg="add mod">
          <ac:chgData name="744311194@qq.com" userId="e2a28223f2085f4b" providerId="LiveId" clId="{2303FC10-ACCB-4A34-A129-FD5B480AA2DD}" dt="2025-04-15T13:05:13.674" v="76" actId="13926"/>
          <ac:spMkLst>
            <pc:docMk/>
            <pc:sldMk cId="0" sldId="884"/>
            <ac:spMk id="2" creationId="{4A91D7ED-82C4-E188-7A64-A3AE9156D330}"/>
          </ac:spMkLst>
        </pc:spChg>
        <pc:spChg chg="mod">
          <ac:chgData name="744311194@qq.com" userId="e2a28223f2085f4b" providerId="LiveId" clId="{2303FC10-ACCB-4A34-A129-FD5B480AA2DD}" dt="2025-04-15T13:04:06.728" v="7" actId="13926"/>
          <ac:spMkLst>
            <pc:docMk/>
            <pc:sldMk cId="0" sldId="884"/>
            <ac:spMk id="26629" creationId="{00000000-0000-0000-0000-000000000000}"/>
          </ac:spMkLst>
        </pc:spChg>
      </pc:sldChg>
      <pc:sldChg chg="del">
        <pc:chgData name="744311194@qq.com" userId="e2a28223f2085f4b" providerId="LiveId" clId="{2303FC10-ACCB-4A34-A129-FD5B480AA2DD}" dt="2025-04-15T13:25:48.263" v="957" actId="47"/>
        <pc:sldMkLst>
          <pc:docMk/>
          <pc:sldMk cId="0" sldId="898"/>
        </pc:sldMkLst>
      </pc:sldChg>
      <pc:sldChg chg="addSp modSp mod">
        <pc:chgData name="744311194@qq.com" userId="e2a28223f2085f4b" providerId="LiveId" clId="{2303FC10-ACCB-4A34-A129-FD5B480AA2DD}" dt="2025-04-15T13:08:25.825" v="361" actId="20577"/>
        <pc:sldMkLst>
          <pc:docMk/>
          <pc:sldMk cId="0" sldId="936"/>
        </pc:sldMkLst>
        <pc:spChg chg="add mod">
          <ac:chgData name="744311194@qq.com" userId="e2a28223f2085f4b" providerId="LiveId" clId="{2303FC10-ACCB-4A34-A129-FD5B480AA2DD}" dt="2025-04-15T13:08:25.825" v="361" actId="20577"/>
          <ac:spMkLst>
            <pc:docMk/>
            <pc:sldMk cId="0" sldId="936"/>
            <ac:spMk id="2" creationId="{F2386696-CDE8-5D57-9C7F-CF4E29829F6D}"/>
          </ac:spMkLst>
        </pc:spChg>
        <pc:spChg chg="mod">
          <ac:chgData name="744311194@qq.com" userId="e2a28223f2085f4b" providerId="LiveId" clId="{2303FC10-ACCB-4A34-A129-FD5B480AA2DD}" dt="2025-04-15T13:06:24.791" v="197" actId="21"/>
          <ac:spMkLst>
            <pc:docMk/>
            <pc:sldMk cId="0" sldId="936"/>
            <ac:spMk id="28673" creationId="{00000000-0000-0000-0000-000000000000}"/>
          </ac:spMkLst>
        </pc:spChg>
      </pc:sldChg>
      <pc:sldChg chg="addSp delSp modSp mod">
        <pc:chgData name="744311194@qq.com" userId="e2a28223f2085f4b" providerId="LiveId" clId="{2303FC10-ACCB-4A34-A129-FD5B480AA2DD}" dt="2025-04-15T13:12:19.627" v="727" actId="404"/>
        <pc:sldMkLst>
          <pc:docMk/>
          <pc:sldMk cId="0" sldId="937"/>
        </pc:sldMkLst>
        <pc:spChg chg="add del mod">
          <ac:chgData name="744311194@qq.com" userId="e2a28223f2085f4b" providerId="LiveId" clId="{2303FC10-ACCB-4A34-A129-FD5B480AA2DD}" dt="2025-04-15T13:08:50.554" v="364"/>
          <ac:spMkLst>
            <pc:docMk/>
            <pc:sldMk cId="0" sldId="937"/>
            <ac:spMk id="2" creationId="{1CED445A-73B7-9119-B8B4-AAA629414AC8}"/>
          </ac:spMkLst>
        </pc:spChg>
        <pc:spChg chg="add mod">
          <ac:chgData name="744311194@qq.com" userId="e2a28223f2085f4b" providerId="LiveId" clId="{2303FC10-ACCB-4A34-A129-FD5B480AA2DD}" dt="2025-04-15T13:09:32.529" v="466" actId="20577"/>
          <ac:spMkLst>
            <pc:docMk/>
            <pc:sldMk cId="0" sldId="937"/>
            <ac:spMk id="3" creationId="{EA333A32-CDE4-BE38-4E54-91E6D79F219A}"/>
          </ac:spMkLst>
        </pc:spChg>
        <pc:spChg chg="add mod">
          <ac:chgData name="744311194@qq.com" userId="e2a28223f2085f4b" providerId="LiveId" clId="{2303FC10-ACCB-4A34-A129-FD5B480AA2DD}" dt="2025-04-15T13:12:19.627" v="727" actId="404"/>
          <ac:spMkLst>
            <pc:docMk/>
            <pc:sldMk cId="0" sldId="937"/>
            <ac:spMk id="4" creationId="{243C3E43-BABA-BE9A-5A5B-FD09E54DCD72}"/>
          </ac:spMkLst>
        </pc:spChg>
        <pc:spChg chg="mod">
          <ac:chgData name="744311194@qq.com" userId="e2a28223f2085f4b" providerId="LiveId" clId="{2303FC10-ACCB-4A34-A129-FD5B480AA2DD}" dt="2025-04-15T13:12:14.473" v="725" actId="1076"/>
          <ac:spMkLst>
            <pc:docMk/>
            <pc:sldMk cId="0" sldId="937"/>
            <ac:spMk id="29698" creationId="{00000000-0000-0000-0000-000000000000}"/>
          </ac:spMkLst>
        </pc:spChg>
      </pc:sldChg>
      <pc:sldChg chg="modSp mod">
        <pc:chgData name="744311194@qq.com" userId="e2a28223f2085f4b" providerId="LiveId" clId="{2303FC10-ACCB-4A34-A129-FD5B480AA2DD}" dt="2025-04-15T13:19:53.578" v="733" actId="1076"/>
        <pc:sldMkLst>
          <pc:docMk/>
          <pc:sldMk cId="0" sldId="938"/>
        </pc:sldMkLst>
        <pc:spChg chg="mod">
          <ac:chgData name="744311194@qq.com" userId="e2a28223f2085f4b" providerId="LiveId" clId="{2303FC10-ACCB-4A34-A129-FD5B480AA2DD}" dt="2025-04-15T13:19:33.298" v="731" actId="13926"/>
          <ac:spMkLst>
            <pc:docMk/>
            <pc:sldMk cId="0" sldId="938"/>
            <ac:spMk id="30722" creationId="{00000000-0000-0000-0000-000000000000}"/>
          </ac:spMkLst>
        </pc:spChg>
        <pc:spChg chg="mod">
          <ac:chgData name="744311194@qq.com" userId="e2a28223f2085f4b" providerId="LiveId" clId="{2303FC10-ACCB-4A34-A129-FD5B480AA2DD}" dt="2025-04-15T13:19:53.578" v="733" actId="1076"/>
          <ac:spMkLst>
            <pc:docMk/>
            <pc:sldMk cId="0" sldId="938"/>
            <ac:spMk id="30744" creationId="{00000000-0000-0000-0000-000000000000}"/>
          </ac:spMkLst>
        </pc:spChg>
        <pc:spChg chg="mod">
          <ac:chgData name="744311194@qq.com" userId="e2a28223f2085f4b" providerId="LiveId" clId="{2303FC10-ACCB-4A34-A129-FD5B480AA2DD}" dt="2025-04-15T13:12:29.604" v="728" actId="13926"/>
          <ac:spMkLst>
            <pc:docMk/>
            <pc:sldMk cId="0" sldId="938"/>
            <ac:spMk id="70658" creationId="{00000000-0000-0000-0000-000000000000}"/>
          </ac:spMkLst>
        </pc:spChg>
      </pc:sldChg>
      <pc:sldChg chg="addSp modSp mod">
        <pc:chgData name="744311194@qq.com" userId="e2a28223f2085f4b" providerId="LiveId" clId="{2303FC10-ACCB-4A34-A129-FD5B480AA2DD}" dt="2025-04-16T01:16:44.628" v="1058" actId="13926"/>
        <pc:sldMkLst>
          <pc:docMk/>
          <pc:sldMk cId="0" sldId="939"/>
        </pc:sldMkLst>
        <pc:spChg chg="add mod">
          <ac:chgData name="744311194@qq.com" userId="e2a28223f2085f4b" providerId="LiveId" clId="{2303FC10-ACCB-4A34-A129-FD5B480AA2DD}" dt="2025-04-15T13:23:24.376" v="881" actId="20577"/>
          <ac:spMkLst>
            <pc:docMk/>
            <pc:sldMk cId="0" sldId="939"/>
            <ac:spMk id="4" creationId="{EDE132BC-17AE-AEB0-D95C-848F59097475}"/>
          </ac:spMkLst>
        </pc:spChg>
        <pc:spChg chg="mod">
          <ac:chgData name="744311194@qq.com" userId="e2a28223f2085f4b" providerId="LiveId" clId="{2303FC10-ACCB-4A34-A129-FD5B480AA2DD}" dt="2025-04-16T01:16:44.628" v="1058" actId="13926"/>
          <ac:spMkLst>
            <pc:docMk/>
            <pc:sldMk cId="0" sldId="939"/>
            <ac:spMk id="31745" creationId="{00000000-0000-0000-0000-000000000000}"/>
          </ac:spMkLst>
        </pc:spChg>
      </pc:sldChg>
      <pc:sldChg chg="modSp mod">
        <pc:chgData name="744311194@qq.com" userId="e2a28223f2085f4b" providerId="LiveId" clId="{2303FC10-ACCB-4A34-A129-FD5B480AA2DD}" dt="2025-04-15T13:21:01.322" v="735" actId="13926"/>
        <pc:sldMkLst>
          <pc:docMk/>
          <pc:sldMk cId="0" sldId="940"/>
        </pc:sldMkLst>
        <pc:spChg chg="mod">
          <ac:chgData name="744311194@qq.com" userId="e2a28223f2085f4b" providerId="LiveId" clId="{2303FC10-ACCB-4A34-A129-FD5B480AA2DD}" dt="2025-04-15T13:21:01.322" v="735" actId="13926"/>
          <ac:spMkLst>
            <pc:docMk/>
            <pc:sldMk cId="0" sldId="940"/>
            <ac:spMk id="32770" creationId="{00000000-0000-0000-0000-000000000000}"/>
          </ac:spMkLst>
        </pc:spChg>
      </pc:sldChg>
      <pc:sldChg chg="modSp">
        <pc:chgData name="744311194@qq.com" userId="e2a28223f2085f4b" providerId="LiveId" clId="{2303FC10-ACCB-4A34-A129-FD5B480AA2DD}" dt="2025-04-15T13:23:34.044" v="882" actId="13926"/>
        <pc:sldMkLst>
          <pc:docMk/>
          <pc:sldMk cId="0" sldId="944"/>
        </pc:sldMkLst>
        <pc:spChg chg="mod">
          <ac:chgData name="744311194@qq.com" userId="e2a28223f2085f4b" providerId="LiveId" clId="{2303FC10-ACCB-4A34-A129-FD5B480AA2DD}" dt="2025-04-15T13:23:34.044" v="882" actId="13926"/>
          <ac:spMkLst>
            <pc:docMk/>
            <pc:sldMk cId="0" sldId="944"/>
            <ac:spMk id="5" creationId="{00000000-0000-0000-0000-000000000000}"/>
          </ac:spMkLst>
        </pc:spChg>
      </pc:sldChg>
      <pc:sldChg chg="modSp">
        <pc:chgData name="744311194@qq.com" userId="e2a28223f2085f4b" providerId="LiveId" clId="{2303FC10-ACCB-4A34-A129-FD5B480AA2DD}" dt="2025-04-15T13:23:54.820" v="889" actId="20577"/>
        <pc:sldMkLst>
          <pc:docMk/>
          <pc:sldMk cId="0" sldId="945"/>
        </pc:sldMkLst>
        <pc:spChg chg="mod">
          <ac:chgData name="744311194@qq.com" userId="e2a28223f2085f4b" providerId="LiveId" clId="{2303FC10-ACCB-4A34-A129-FD5B480AA2DD}" dt="2025-04-15T13:23:54.820" v="889" actId="20577"/>
          <ac:spMkLst>
            <pc:docMk/>
            <pc:sldMk cId="0" sldId="945"/>
            <ac:spMk id="270339" creationId="{00000000-0000-0000-0000-000000000000}"/>
          </ac:spMkLst>
        </pc:spChg>
      </pc:sldChg>
      <pc:sldChg chg="modSp">
        <pc:chgData name="744311194@qq.com" userId="e2a28223f2085f4b" providerId="LiveId" clId="{2303FC10-ACCB-4A34-A129-FD5B480AA2DD}" dt="2025-04-15T13:24:03.692" v="890" actId="13926"/>
        <pc:sldMkLst>
          <pc:docMk/>
          <pc:sldMk cId="0" sldId="946"/>
        </pc:sldMkLst>
        <pc:spChg chg="mod">
          <ac:chgData name="744311194@qq.com" userId="e2a28223f2085f4b" providerId="LiveId" clId="{2303FC10-ACCB-4A34-A129-FD5B480AA2DD}" dt="2025-04-15T13:24:03.692" v="890" actId="13926"/>
          <ac:spMkLst>
            <pc:docMk/>
            <pc:sldMk cId="0" sldId="946"/>
            <ac:spMk id="272387" creationId="{00000000-0000-0000-0000-000000000000}"/>
          </ac:spMkLst>
        </pc:spChg>
      </pc:sldChg>
      <pc:sldChg chg="modSp">
        <pc:chgData name="744311194@qq.com" userId="e2a28223f2085f4b" providerId="LiveId" clId="{2303FC10-ACCB-4A34-A129-FD5B480AA2DD}" dt="2025-04-15T13:24:09.892" v="891" actId="13926"/>
        <pc:sldMkLst>
          <pc:docMk/>
          <pc:sldMk cId="0" sldId="947"/>
        </pc:sldMkLst>
        <pc:spChg chg="mod">
          <ac:chgData name="744311194@qq.com" userId="e2a28223f2085f4b" providerId="LiveId" clId="{2303FC10-ACCB-4A34-A129-FD5B480AA2DD}" dt="2025-04-15T13:24:09.892" v="891" actId="13926"/>
          <ac:spMkLst>
            <pc:docMk/>
            <pc:sldMk cId="0" sldId="947"/>
            <ac:spMk id="273411" creationId="{00000000-0000-0000-0000-000000000000}"/>
          </ac:spMkLst>
        </pc:spChg>
      </pc:sldChg>
      <pc:sldChg chg="modSp">
        <pc:chgData name="744311194@qq.com" userId="e2a28223f2085f4b" providerId="LiveId" clId="{2303FC10-ACCB-4A34-A129-FD5B480AA2DD}" dt="2025-04-16T01:17:13.924" v="1062" actId="20577"/>
        <pc:sldMkLst>
          <pc:docMk/>
          <pc:sldMk cId="0" sldId="948"/>
        </pc:sldMkLst>
        <pc:spChg chg="mod">
          <ac:chgData name="744311194@qq.com" userId="e2a28223f2085f4b" providerId="LiveId" clId="{2303FC10-ACCB-4A34-A129-FD5B480AA2DD}" dt="2025-04-16T01:17:13.924" v="1062" actId="20577"/>
          <ac:spMkLst>
            <pc:docMk/>
            <pc:sldMk cId="0" sldId="948"/>
            <ac:spMk id="48230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fld id="{559B2948-2482-4093-98B7-A4CB71F18C76}" type="slidenum">
              <a:rPr lang="en-US" altLang="zh-CN"/>
              <a:pPr>
                <a:defRPr/>
              </a:pPr>
              <a:t>‹#›</a:t>
            </a:fld>
            <a:endParaRPr lang="en-US" altLang="zh-CN"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 panose="02010609030101010101" charset="-122"/>
                <a:cs typeface="+mn-cs"/>
              </a:defRPr>
            </a:lvl1pPr>
          </a:lstStyle>
          <a:p>
            <a:pPr>
              <a:defRPr/>
            </a:pPr>
            <a:fld id="{C705471F-1C3B-4F31-9F64-FB7FCD36E2CA}" type="slidenum">
              <a:rPr lang="en-US" altLang="zh-CN"/>
              <a:pPr>
                <a:defRPr/>
              </a:pPr>
              <a:t>‹#›</a:t>
            </a:fld>
            <a:endParaRPr lang="en-US" altLang="zh-CN">
              <a:cs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charset="-122"/>
        <a:cs typeface="仿宋_GB2312" panose="02010609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>
              <a:buFont typeface="Arial" panose="020B0604020202020204" pitchFamily="34" charset="0"/>
              <a:buChar char="•"/>
            </a:pPr>
            <a:fld id="{CF2CADAD-DD7A-40F9-98DA-938AF5E734E0}" type="slidenum">
              <a:rPr altLang="zh-CN" smtClean="0">
                <a:ea typeface="楷体_GB2312"/>
                <a:cs typeface="楷体_GB2312"/>
              </a:rPr>
              <a:pPr>
                <a:buFont typeface="Arial" panose="020B0604020202020204" pitchFamily="34" charset="0"/>
                <a:buChar char="•"/>
              </a:pPr>
              <a:t>1</a:t>
            </a:fld>
            <a:endParaRPr lang="zh-CN" altLang="zh-CN">
              <a:ea typeface="楷体_GB2312"/>
              <a:cs typeface="楷体_GB231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>
              <a:buFont typeface="Arial" panose="020B0604020202020204" pitchFamily="34" charset="0"/>
              <a:buChar char="•"/>
            </a:pPr>
            <a:fld id="{A8E45F3F-D266-4695-BFE6-7B0016821B69}" type="slidenum">
              <a:rPr altLang="zh-CN" smtClean="0">
                <a:ea typeface="楷体_GB2312"/>
                <a:cs typeface="楷体_GB2312"/>
              </a:rPr>
              <a:pPr>
                <a:buFont typeface="Arial" panose="020B0604020202020204" pitchFamily="34" charset="0"/>
                <a:buChar char="•"/>
              </a:pPr>
              <a:t>4</a:t>
            </a:fld>
            <a:endParaRPr lang="zh-CN" altLang="zh-CN">
              <a:ea typeface="楷体_GB2312"/>
              <a:cs typeface="楷体_GB231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277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874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394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1428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4633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110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51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2354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313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173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0130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38428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96163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803889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03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8554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41800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0352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8412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21362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2775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5876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44642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38734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056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68104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63594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6714016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63758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92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noProof="1"/>
              <a:t>单击以编辑</a:t>
            </a:r>
            <a:r>
              <a:rPr lang="zh-CN" altLang="en-US" noProof="1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49288" y="1449388"/>
            <a:ext cx="798353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Line 9"/>
          <p:cNvSpPr>
            <a:spLocks noChangeShapeType="1"/>
          </p:cNvSpPr>
          <p:nvPr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8"/>
          <p:cNvSpPr>
            <a:spLocks noChangeShapeType="1"/>
          </p:cNvSpPr>
          <p:nvPr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WordArt 20"/>
          <p:cNvSpPr>
            <a:spLocks noChangeArrowheads="1" noChangeShapeType="1" noTextEdit="1"/>
          </p:cNvSpPr>
          <p:nvPr/>
        </p:nvSpPr>
        <p:spPr bwMode="auto">
          <a:xfrm rot="46488">
            <a:off x="211138" y="-11113"/>
            <a:ext cx="2095500" cy="49530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200" i="1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2154000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Narrow" panose="020B0606020202030204" pitchFamily="34" charset="0"/>
              </a:rPr>
              <a:t>data structure</a:t>
            </a:r>
            <a:endParaRPr lang="zh-CN" altLang="en-US" sz="3200" i="1" kern="1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2154000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Arial Narrow" panose="020B0606020202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4" r:id="rId2"/>
    <p:sldLayoutId id="2147483723" r:id="rId3"/>
    <p:sldLayoutId id="2147483722" r:id="rId4"/>
    <p:sldLayoutId id="2147483721" r:id="rId5"/>
    <p:sldLayoutId id="2147483720" r:id="rId6"/>
    <p:sldLayoutId id="2147483719" r:id="rId7"/>
    <p:sldLayoutId id="2147483718" r:id="rId8"/>
    <p:sldLayoutId id="2147483717" r:id="rId9"/>
    <p:sldLayoutId id="2147483716" r:id="rId10"/>
    <p:sldLayoutId id="2147483715" r:id="rId11"/>
    <p:sldLayoutId id="2147483714" r:id="rId12"/>
    <p:sldLayoutId id="2147483713" r:id="rId13"/>
    <p:sldLayoutId id="2147483712" r:id="rId14"/>
    <p:sldLayoutId id="2147483740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 panose="0201060903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noProof="1"/>
              <a:t>单击以编辑</a:t>
            </a:r>
            <a:r>
              <a:rPr lang="zh-CN" altLang="en-US" noProof="1"/>
              <a:t>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49288" y="1449388"/>
            <a:ext cx="798353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Line 9"/>
          <p:cNvSpPr>
            <a:spLocks noChangeShapeType="1"/>
          </p:cNvSpPr>
          <p:nvPr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18"/>
          <p:cNvSpPr>
            <a:spLocks noChangeShapeType="1"/>
          </p:cNvSpPr>
          <p:nvPr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WordArt 20"/>
          <p:cNvSpPr>
            <a:spLocks noChangeArrowheads="1" noChangeShapeType="1" noTextEdit="1"/>
          </p:cNvSpPr>
          <p:nvPr/>
        </p:nvSpPr>
        <p:spPr bwMode="auto">
          <a:xfrm rot="46488">
            <a:off x="211138" y="-11113"/>
            <a:ext cx="2095500" cy="49530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200" i="1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2154000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Narrow" panose="020B0606020202030204" pitchFamily="34" charset="0"/>
              </a:rPr>
              <a:t>data structure</a:t>
            </a:r>
            <a:endParaRPr lang="zh-CN" altLang="en-US" sz="3200" i="1" kern="1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2154000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Arial Narrow" panose="020B0606020202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38" r:id="rId2"/>
    <p:sldLayoutId id="2147483737" r:id="rId3"/>
    <p:sldLayoutId id="2147483736" r:id="rId4"/>
    <p:sldLayoutId id="2147483735" r:id="rId5"/>
    <p:sldLayoutId id="2147483734" r:id="rId6"/>
    <p:sldLayoutId id="2147483733" r:id="rId7"/>
    <p:sldLayoutId id="2147483732" r:id="rId8"/>
    <p:sldLayoutId id="2147483731" r:id="rId9"/>
    <p:sldLayoutId id="2147483730" r:id="rId10"/>
    <p:sldLayoutId id="2147483729" r:id="rId11"/>
    <p:sldLayoutId id="2147483728" r:id="rId12"/>
    <p:sldLayoutId id="2147483727" r:id="rId13"/>
    <p:sldLayoutId id="2147483726" r:id="rId14"/>
    <p:sldLayoutId id="214748374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 panose="0201060903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  <a:cs typeface="仿宋_GB2312" panose="02010609030101010101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 panose="02010609030101010101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4.w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4"/>
          <p:cNvSpPr txBox="1">
            <a:spLocks noChangeArrowheads="1"/>
          </p:cNvSpPr>
          <p:nvPr/>
        </p:nvSpPr>
        <p:spPr>
          <a:xfrm>
            <a:off x="682625" y="2276475"/>
            <a:ext cx="7643813" cy="8921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 sz="54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第</a:t>
            </a:r>
            <a:r>
              <a:rPr kumimoji="1" lang="en-US" altLang="zh-CN" sz="54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华文行楷" panose="02010800040101010101" pitchFamily="2" charset="-122"/>
                <a:cs typeface="+mj-cs"/>
                <a:sym typeface="+mn-ea"/>
              </a:rPr>
              <a:t>4</a:t>
            </a:r>
            <a:r>
              <a:rPr kumimoji="1" lang="zh-CN" altLang="en-US" sz="54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章 数组</a:t>
            </a:r>
            <a:br>
              <a:rPr kumimoji="1" lang="zh-CN" altLang="en-US" sz="5400" kern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</a:br>
            <a:endParaRPr kumimoji="1" lang="zh-CN" altLang="en-US" sz="5400" i="1" kern="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6"/>
          <p:cNvSpPr>
            <a:spLocks noChangeArrowheads="1"/>
          </p:cNvSpPr>
          <p:nvPr/>
        </p:nvSpPr>
        <p:spPr bwMode="auto">
          <a:xfrm>
            <a:off x="304800" y="1371600"/>
            <a:ext cx="88392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latin typeface="Arial" panose="020B0604020202020204" pitchFamily="34" charset="0"/>
              </a:rPr>
              <a:t>本节所讨论的数组与高级语言中的数组区别：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</a:rPr>
              <a:t>　高级语言中的数组是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顺序结构</a:t>
            </a:r>
            <a:r>
              <a:rPr lang="zh-CN" altLang="en-US" sz="2800">
                <a:latin typeface="Arial" panose="020B0604020202020204" pitchFamily="34" charset="0"/>
              </a:rPr>
              <a:t>；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</a:rPr>
              <a:t>　而本章的数组既可以是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顺序</a:t>
            </a:r>
            <a:r>
              <a:rPr lang="zh-CN" altLang="en-US" sz="2800">
                <a:latin typeface="Arial" panose="020B0604020202020204" pitchFamily="34" charset="0"/>
              </a:rPr>
              <a:t>的，也可以是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链式</a:t>
            </a:r>
            <a:r>
              <a:rPr lang="zh-CN" altLang="en-US" sz="2800">
                <a:latin typeface="Arial" panose="020B0604020202020204" pitchFamily="34" charset="0"/>
              </a:rPr>
              <a:t>结构，用户可根据需要选择。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ChangeArrowheads="1"/>
          </p:cNvSpPr>
          <p:nvPr/>
        </p:nvSpPr>
        <p:spPr bwMode="auto">
          <a:xfrm>
            <a:off x="34925" y="44450"/>
            <a:ext cx="53244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数组的抽象数据类型</a:t>
            </a:r>
          </a:p>
        </p:txBody>
      </p:sp>
      <p:sp>
        <p:nvSpPr>
          <p:cNvPr id="12290" name="Text Box 8"/>
          <p:cNvSpPr txBox="1">
            <a:spLocks noChangeArrowheads="1"/>
          </p:cNvSpPr>
          <p:nvPr/>
        </p:nvSpPr>
        <p:spPr bwMode="auto">
          <a:xfrm>
            <a:off x="803275" y="1711325"/>
            <a:ext cx="1951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ea typeface="宋体" panose="02010600030101010101" pitchFamily="2" charset="-122"/>
              </a:rPr>
              <a:t>数据对象</a:t>
            </a:r>
            <a:r>
              <a:rPr lang="en-US" altLang="zh-CN" sz="3200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291" name="Text Box 9"/>
          <p:cNvSpPr txBox="1">
            <a:spLocks noChangeArrowheads="1"/>
          </p:cNvSpPr>
          <p:nvPr/>
        </p:nvSpPr>
        <p:spPr bwMode="auto">
          <a:xfrm>
            <a:off x="803275" y="3055938"/>
            <a:ext cx="1951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ea typeface="宋体" panose="02010600030101010101" pitchFamily="2" charset="-122"/>
              </a:rPr>
              <a:t>数据关系</a:t>
            </a:r>
            <a:r>
              <a:rPr lang="en-US" altLang="zh-CN" sz="3200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292" name="Text Box 10"/>
          <p:cNvSpPr txBox="1">
            <a:spLocks noChangeArrowheads="1"/>
          </p:cNvSpPr>
          <p:nvPr/>
        </p:nvSpPr>
        <p:spPr bwMode="auto">
          <a:xfrm>
            <a:off x="574675" y="922338"/>
            <a:ext cx="2468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ea typeface="宋体" panose="02010600030101010101" pitchFamily="2" charset="-122"/>
              </a:rPr>
              <a:t>ADT Array {</a:t>
            </a:r>
          </a:p>
        </p:txBody>
      </p:sp>
      <p:graphicFrame>
        <p:nvGraphicFramePr>
          <p:cNvPr id="12293" name="Object 11"/>
          <p:cNvGraphicFramePr>
            <a:graphicFrameLocks/>
          </p:cNvGraphicFramePr>
          <p:nvPr/>
        </p:nvGraphicFramePr>
        <p:xfrm>
          <a:off x="3089275" y="1455738"/>
          <a:ext cx="40767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38300" imgH="228600" progId="Equation.3">
                  <p:embed/>
                </p:oleObj>
              </mc:Choice>
              <mc:Fallback>
                <p:oleObj r:id="rId2" imgW="1638300" imgH="228600" progId="Equation.3">
                  <p:embed/>
                  <p:pic>
                    <p:nvPicPr>
                      <p:cNvPr id="12293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1455738"/>
                        <a:ext cx="4076700" cy="5699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2"/>
          <p:cNvGraphicFramePr>
            <a:graphicFrameLocks/>
          </p:cNvGraphicFramePr>
          <p:nvPr/>
        </p:nvGraphicFramePr>
        <p:xfrm>
          <a:off x="3089275" y="2065338"/>
          <a:ext cx="44640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16868" imgH="241195" progId="Equation.3">
                  <p:embed/>
                </p:oleObj>
              </mc:Choice>
              <mc:Fallback>
                <p:oleObj r:id="rId4" imgW="1916868" imgH="241195" progId="Equation.3">
                  <p:embed/>
                  <p:pic>
                    <p:nvPicPr>
                      <p:cNvPr id="12294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2065338"/>
                        <a:ext cx="4464050" cy="558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3"/>
          <p:cNvGraphicFramePr>
            <a:graphicFrameLocks/>
          </p:cNvGraphicFramePr>
          <p:nvPr/>
        </p:nvGraphicFramePr>
        <p:xfrm>
          <a:off x="2835275" y="3190875"/>
          <a:ext cx="6019800" cy="21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67000" imgH="965200" progId="Equation.3">
                  <p:embed/>
                </p:oleObj>
              </mc:Choice>
              <mc:Fallback>
                <p:oleObj r:id="rId6" imgW="2667000" imgH="965200" progId="Equation.3">
                  <p:embed/>
                  <p:pic>
                    <p:nvPicPr>
                      <p:cNvPr id="12295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190875"/>
                        <a:ext cx="6019800" cy="217963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2"/>
          <p:cNvSpPr txBox="1">
            <a:spLocks noChangeArrowheads="1"/>
          </p:cNvSpPr>
          <p:nvPr/>
        </p:nvSpPr>
        <p:spPr bwMode="auto">
          <a:xfrm>
            <a:off x="152400" y="658813"/>
            <a:ext cx="1951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ea typeface="宋体" panose="02010600030101010101" pitchFamily="2" charset="-122"/>
              </a:rPr>
              <a:t>基本操作</a:t>
            </a:r>
            <a:r>
              <a:rPr lang="en-US" altLang="zh-CN" sz="3200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68413"/>
            <a:ext cx="8839200" cy="2736850"/>
          </a:xfrm>
          <a:solidFill>
            <a:srgbClr val="CCFFCC"/>
          </a:solidFill>
        </p:spPr>
        <p:txBody>
          <a:bodyPr/>
          <a:lstStyle/>
          <a:p>
            <a:pPr>
              <a:buFontTx/>
              <a:buNone/>
            </a:pPr>
            <a:r>
              <a:rPr lang="en-US" altLang="zh-CN" sz="2800" b="1"/>
              <a:t>   </a:t>
            </a:r>
            <a:r>
              <a:rPr lang="en-US" altLang="zh-CN" sz="2800" b="1">
                <a:sym typeface="Symbol" panose="05050102010706020507" pitchFamily="18" charset="2"/>
              </a:rPr>
              <a:t> </a:t>
            </a:r>
            <a:r>
              <a:rPr lang="en-US" altLang="zh-CN" sz="2800" b="1"/>
              <a:t>(1) InitArray (&amp;A,n,bound1, </a:t>
            </a:r>
            <a:r>
              <a:rPr lang="en-US" altLang="zh-CN" sz="2800" b="1">
                <a:sym typeface="Symbol" panose="05050102010706020507" pitchFamily="18" charset="2"/>
              </a:rPr>
              <a:t>boundn</a:t>
            </a:r>
            <a:r>
              <a:rPr lang="en-US" altLang="zh-CN" sz="2800" b="1"/>
              <a:t>)    </a:t>
            </a:r>
          </a:p>
          <a:p>
            <a:pPr>
              <a:buFontTx/>
              <a:buNone/>
            </a:pPr>
            <a:r>
              <a:rPr lang="en-US" altLang="zh-CN" sz="2800" b="1"/>
              <a:t>                                                               //</a:t>
            </a:r>
            <a:r>
              <a:rPr lang="zh-CN" altLang="en-US" sz="2800" b="1"/>
              <a:t>构造数组</a:t>
            </a:r>
            <a:r>
              <a:rPr lang="en-US" altLang="zh-CN" sz="2800" b="1"/>
              <a:t>A</a:t>
            </a:r>
          </a:p>
          <a:p>
            <a:pPr>
              <a:buFontTx/>
              <a:buNone/>
            </a:pPr>
            <a:r>
              <a:rPr lang="en-US" altLang="zh-CN" sz="2800" b="1"/>
              <a:t>    (2) DestroyArray (&amp;A)                     // </a:t>
            </a:r>
            <a:r>
              <a:rPr lang="zh-CN" altLang="en-US" sz="2800" b="1"/>
              <a:t>销毁数组</a:t>
            </a:r>
            <a:r>
              <a:rPr lang="en-US" altLang="zh-CN" sz="2800" b="1"/>
              <a:t>A</a:t>
            </a:r>
          </a:p>
          <a:p>
            <a:pPr>
              <a:buFontTx/>
              <a:buNone/>
            </a:pPr>
            <a:r>
              <a:rPr lang="en-US" altLang="zh-CN" sz="2800" b="1"/>
              <a:t>    (3) Value(A,&amp;e,index1,…,indexn)   //</a:t>
            </a:r>
            <a:r>
              <a:rPr lang="zh-CN" altLang="en-US" sz="2800" b="1"/>
              <a:t>取数组元素值</a:t>
            </a:r>
          </a:p>
          <a:p>
            <a:pPr>
              <a:buFontTx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(4) Assign (A,&amp;e,index1,…,indexn) //</a:t>
            </a:r>
            <a:r>
              <a:rPr lang="zh-CN" altLang="zh-CN" sz="2800" b="1"/>
              <a:t>给</a:t>
            </a:r>
            <a:r>
              <a:rPr lang="zh-CN" altLang="en-US" sz="2800" b="1"/>
              <a:t>数组元素赋值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0" y="4270375"/>
            <a:ext cx="2366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ea typeface="宋体" panose="02010600030101010101" pitchFamily="2" charset="-122"/>
              </a:rPr>
              <a:t>}</a:t>
            </a:r>
            <a:r>
              <a:rPr lang="en-US" altLang="en-US" sz="3200">
                <a:ea typeface="宋体" panose="02010600030101010101" pitchFamily="2" charset="-122"/>
              </a:rPr>
              <a:t>ADT Array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ChangeArrowheads="1"/>
          </p:cNvSpPr>
          <p:nvPr/>
        </p:nvSpPr>
        <p:spPr bwMode="auto">
          <a:xfrm>
            <a:off x="39688" y="0"/>
            <a:ext cx="23987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一维数组</a:t>
            </a:r>
          </a:p>
        </p:txBody>
      </p:sp>
      <p:sp>
        <p:nvSpPr>
          <p:cNvPr id="766979" name="Rectangle 3"/>
          <p:cNvSpPr>
            <a:spLocks noChangeArrowheads="1"/>
          </p:cNvSpPr>
          <p:nvPr/>
        </p:nvSpPr>
        <p:spPr bwMode="auto">
          <a:xfrm>
            <a:off x="1066800" y="2643188"/>
            <a:ext cx="6781800" cy="6858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3333CC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buFontTx/>
              <a:buNone/>
              <a:defRPr/>
            </a:pPr>
            <a:endParaRPr kumimoji="1" lang="zh-CN" altLang="zh-CN" sz="3600" b="0">
              <a:solidFill>
                <a:srgbClr val="3333CC"/>
              </a:solidFill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1143000" y="2717800"/>
            <a:ext cx="666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FF3300"/>
                </a:solidFill>
                <a:latin typeface="Arial Narrow" panose="020B0606020202030204" pitchFamily="34" charset="0"/>
                <a:ea typeface="仿宋_GB2312" charset="-122"/>
              </a:rPr>
              <a:t>35   27    49   18   60    54   77    83   41   02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17526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24384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31242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38100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>
            <a:off x="44958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>
            <a:off x="51816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0" name="Line 11"/>
          <p:cNvSpPr>
            <a:spLocks noChangeShapeType="1"/>
          </p:cNvSpPr>
          <p:nvPr/>
        </p:nvSpPr>
        <p:spPr bwMode="auto">
          <a:xfrm>
            <a:off x="58674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12"/>
          <p:cNvSpPr>
            <a:spLocks noChangeShapeType="1"/>
          </p:cNvSpPr>
          <p:nvPr/>
        </p:nvSpPr>
        <p:spPr bwMode="auto">
          <a:xfrm>
            <a:off x="65532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Line 13"/>
          <p:cNvSpPr>
            <a:spLocks noChangeShapeType="1"/>
          </p:cNvSpPr>
          <p:nvPr/>
        </p:nvSpPr>
        <p:spPr bwMode="auto">
          <a:xfrm>
            <a:off x="7239000" y="2643188"/>
            <a:ext cx="0" cy="6858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3" name="Text Box 14"/>
          <p:cNvSpPr txBox="1">
            <a:spLocks noChangeArrowheads="1"/>
          </p:cNvSpPr>
          <p:nvPr/>
        </p:nvSpPr>
        <p:spPr bwMode="auto">
          <a:xfrm>
            <a:off x="990600" y="2063750"/>
            <a:ext cx="668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3333CC"/>
                </a:solidFill>
                <a:ea typeface="宋体" panose="02010600030101010101" pitchFamily="2" charset="-122"/>
              </a:rPr>
              <a:t>0     1     2     3     4     5    6     7     8     9</a:t>
            </a:r>
          </a:p>
        </p:txBody>
      </p:sp>
      <p:sp>
        <p:nvSpPr>
          <p:cNvPr id="15374" name="AutoShape 15"/>
          <p:cNvSpPr>
            <a:spLocks/>
          </p:cNvSpPr>
          <p:nvPr/>
        </p:nvSpPr>
        <p:spPr bwMode="auto">
          <a:xfrm rot="-5400000">
            <a:off x="13335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75" name="AutoShape 16"/>
          <p:cNvSpPr>
            <a:spLocks/>
          </p:cNvSpPr>
          <p:nvPr/>
        </p:nvSpPr>
        <p:spPr bwMode="auto">
          <a:xfrm rot="-5400000">
            <a:off x="20193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76" name="AutoShape 17"/>
          <p:cNvSpPr>
            <a:spLocks/>
          </p:cNvSpPr>
          <p:nvPr/>
        </p:nvSpPr>
        <p:spPr bwMode="auto">
          <a:xfrm rot="-5400000">
            <a:off x="27051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77" name="AutoShape 18"/>
          <p:cNvSpPr>
            <a:spLocks/>
          </p:cNvSpPr>
          <p:nvPr/>
        </p:nvSpPr>
        <p:spPr bwMode="auto">
          <a:xfrm rot="-5400000">
            <a:off x="33909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78" name="AutoShape 19"/>
          <p:cNvSpPr>
            <a:spLocks/>
          </p:cNvSpPr>
          <p:nvPr/>
        </p:nvSpPr>
        <p:spPr bwMode="auto">
          <a:xfrm rot="-5400000">
            <a:off x="40767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79" name="AutoShape 20"/>
          <p:cNvSpPr>
            <a:spLocks/>
          </p:cNvSpPr>
          <p:nvPr/>
        </p:nvSpPr>
        <p:spPr bwMode="auto">
          <a:xfrm rot="-5400000">
            <a:off x="47625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80" name="AutoShape 21"/>
          <p:cNvSpPr>
            <a:spLocks/>
          </p:cNvSpPr>
          <p:nvPr/>
        </p:nvSpPr>
        <p:spPr bwMode="auto">
          <a:xfrm rot="-5400000">
            <a:off x="54483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81" name="AutoShape 22"/>
          <p:cNvSpPr>
            <a:spLocks/>
          </p:cNvSpPr>
          <p:nvPr/>
        </p:nvSpPr>
        <p:spPr bwMode="auto">
          <a:xfrm rot="-5400000">
            <a:off x="61341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82" name="AutoShape 23"/>
          <p:cNvSpPr>
            <a:spLocks/>
          </p:cNvSpPr>
          <p:nvPr/>
        </p:nvSpPr>
        <p:spPr bwMode="auto">
          <a:xfrm rot="-5400000">
            <a:off x="67437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83" name="AutoShape 24"/>
          <p:cNvSpPr>
            <a:spLocks/>
          </p:cNvSpPr>
          <p:nvPr/>
        </p:nvSpPr>
        <p:spPr bwMode="auto">
          <a:xfrm rot="-5400000">
            <a:off x="7429500" y="3168650"/>
            <a:ext cx="152400" cy="685800"/>
          </a:xfrm>
          <a:prstGeom prst="leftBrace">
            <a:avLst>
              <a:gd name="adj1" fmla="val 37500"/>
              <a:gd name="adj2" fmla="val 49699"/>
            </a:avLst>
          </a:prstGeom>
          <a:noFill/>
          <a:ln w="38100">
            <a:solidFill>
              <a:srgbClr val="33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384" name="Text Box 25"/>
          <p:cNvSpPr txBox="1">
            <a:spLocks noChangeArrowheads="1"/>
          </p:cNvSpPr>
          <p:nvPr/>
        </p:nvSpPr>
        <p:spPr bwMode="auto">
          <a:xfrm>
            <a:off x="1203325" y="3587750"/>
            <a:ext cx="6696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solidFill>
                  <a:srgbClr val="CC0066"/>
                </a:solidFill>
                <a:ea typeface="宋体" panose="02010600030101010101" pitchFamily="2" charset="-122"/>
              </a:rPr>
              <a:t>l      l      l     l      l      l     l      l     l      l</a:t>
            </a:r>
            <a:r>
              <a:rPr lang="en-US" altLang="zh-CN" sz="3200" i="1">
                <a:ea typeface="宋体" panose="02010600030101010101" pitchFamily="2" charset="-122"/>
              </a:rPr>
              <a:t>  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15385" name="Rectangle 26"/>
          <p:cNvSpPr>
            <a:spLocks noChangeArrowheads="1"/>
          </p:cNvSpPr>
          <p:nvPr/>
        </p:nvSpPr>
        <p:spPr bwMode="auto">
          <a:xfrm>
            <a:off x="865188" y="4502150"/>
            <a:ext cx="76692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LOC(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) = LOC(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1)+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l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*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l</a:t>
            </a:r>
            <a:endParaRPr lang="en-US" altLang="zh-CN" sz="3600" b="0">
              <a:solidFill>
                <a:srgbClr val="CC0066"/>
              </a:solidFill>
              <a:ea typeface="宋体" panose="02010600030101010101" pitchFamily="2" charset="-122"/>
            </a:endParaRPr>
          </a:p>
        </p:txBody>
      </p:sp>
      <p:sp>
        <p:nvSpPr>
          <p:cNvPr id="15386" name="AutoShape 27"/>
          <p:cNvSpPr>
            <a:spLocks/>
          </p:cNvSpPr>
          <p:nvPr/>
        </p:nvSpPr>
        <p:spPr bwMode="auto">
          <a:xfrm>
            <a:off x="2819400" y="84455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zh-CN" sz="3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5387" name="Rectangle 28"/>
          <p:cNvSpPr>
            <a:spLocks noChangeArrowheads="1"/>
          </p:cNvSpPr>
          <p:nvPr/>
        </p:nvSpPr>
        <p:spPr bwMode="auto">
          <a:xfrm>
            <a:off x="762000" y="1041400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LOC(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) =</a:t>
            </a:r>
            <a:r>
              <a:rPr lang="en-US" altLang="zh-CN" sz="3600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15388" name="Rectangle 29"/>
          <p:cNvSpPr>
            <a:spLocks noChangeArrowheads="1"/>
          </p:cNvSpPr>
          <p:nvPr/>
        </p:nvSpPr>
        <p:spPr bwMode="auto">
          <a:xfrm>
            <a:off x="3048000" y="1422400"/>
            <a:ext cx="525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LOC(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1)+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l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*</a:t>
            </a:r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l,  i &gt; 0</a:t>
            </a:r>
            <a:r>
              <a:rPr lang="en-US" altLang="zh-CN" sz="3600" i="1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15389" name="Text Box 30"/>
          <p:cNvSpPr txBox="1">
            <a:spLocks noChangeArrowheads="1"/>
          </p:cNvSpPr>
          <p:nvPr/>
        </p:nvSpPr>
        <p:spPr bwMode="auto">
          <a:xfrm>
            <a:off x="3048000" y="69215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solidFill>
                  <a:srgbClr val="CC0066"/>
                </a:solidFill>
                <a:ea typeface="宋体" panose="02010600030101010101" pitchFamily="2" charset="-122"/>
              </a:rPr>
              <a:t>a,         i </a:t>
            </a:r>
            <a:r>
              <a:rPr lang="en-US" altLang="zh-CN" sz="3600">
                <a:solidFill>
                  <a:srgbClr val="CC0066"/>
                </a:solidFill>
                <a:ea typeface="宋体" panose="02010600030101010101" pitchFamily="2" charset="-122"/>
              </a:rPr>
              <a:t>= 0</a:t>
            </a:r>
            <a:r>
              <a:rPr lang="en-US" altLang="zh-CN" sz="3600" b="0" i="1">
                <a:solidFill>
                  <a:srgbClr val="3333CC"/>
                </a:solidFill>
                <a:ea typeface="宋体" panose="02010600030101010101" pitchFamily="2" charset="-122"/>
              </a:rPr>
              <a:t>     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15390" name="Line 31"/>
          <p:cNvSpPr>
            <a:spLocks noChangeShapeType="1"/>
          </p:cNvSpPr>
          <p:nvPr/>
        </p:nvSpPr>
        <p:spPr bwMode="auto">
          <a:xfrm flipV="1">
            <a:off x="4648200" y="3511550"/>
            <a:ext cx="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1" name="Text Box 32"/>
          <p:cNvSpPr txBox="1">
            <a:spLocks noChangeArrowheads="1"/>
          </p:cNvSpPr>
          <p:nvPr/>
        </p:nvSpPr>
        <p:spPr bwMode="auto">
          <a:xfrm>
            <a:off x="4648200" y="4044950"/>
            <a:ext cx="1047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solidFill>
                  <a:schemeClr val="accent2"/>
                </a:solidFill>
                <a:ea typeface="宋体" panose="02010600030101010101" pitchFamily="2" charset="-122"/>
              </a:rPr>
              <a:t>a+i*l</a:t>
            </a:r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15392" name="Text Box 33"/>
          <p:cNvSpPr txBox="1">
            <a:spLocks noChangeArrowheads="1"/>
          </p:cNvSpPr>
          <p:nvPr/>
        </p:nvSpPr>
        <p:spPr bwMode="auto">
          <a:xfrm>
            <a:off x="577850" y="256540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endParaRPr lang="en-US" altLang="zh-CN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5" name="Object 2"/>
          <p:cNvGraphicFramePr>
            <a:graphicFrameLocks/>
          </p:cNvGraphicFramePr>
          <p:nvPr/>
        </p:nvGraphicFramePr>
        <p:xfrm>
          <a:off x="4800600" y="685800"/>
          <a:ext cx="4132263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52600" imgH="939800" progId="Equation.3">
                  <p:embed/>
                </p:oleObj>
              </mc:Choice>
              <mc:Fallback>
                <p:oleObj r:id="rId2" imgW="1752600" imgH="939800" progId="Equation.3">
                  <p:embed/>
                  <p:pic>
                    <p:nvPicPr>
                      <p:cNvPr id="1638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685800"/>
                        <a:ext cx="4132263" cy="2219325"/>
                      </a:xfrm>
                      <a:prstGeom prst="rect">
                        <a:avLst/>
                      </a:prstGeom>
                      <a:solidFill>
                        <a:srgbClr val="FFFFE7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" name="Object 3"/>
          <p:cNvGraphicFramePr>
            <a:graphicFrameLocks/>
          </p:cNvGraphicFramePr>
          <p:nvPr/>
        </p:nvGraphicFramePr>
        <p:xfrm>
          <a:off x="4876800" y="3505200"/>
          <a:ext cx="3962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52600" imgH="939800" progId="Equation.3">
                  <p:embed/>
                </p:oleObj>
              </mc:Choice>
              <mc:Fallback>
                <p:oleObj r:id="rId4" imgW="1752600" imgH="939800" progId="Equation.3">
                  <p:embed/>
                  <p:pic>
                    <p:nvPicPr>
                      <p:cNvPr id="1638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505200"/>
                        <a:ext cx="3962400" cy="2128838"/>
                      </a:xfrm>
                      <a:prstGeom prst="rect">
                        <a:avLst/>
                      </a:prstGeom>
                      <a:solidFill>
                        <a:srgbClr val="FFFFE7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7" name="Group 4"/>
          <p:cNvGrpSpPr>
            <a:grpSpLocks/>
          </p:cNvGrpSpPr>
          <p:nvPr/>
        </p:nvGrpSpPr>
        <p:grpSpPr bwMode="auto">
          <a:xfrm>
            <a:off x="6019800" y="3657600"/>
            <a:ext cx="2667000" cy="1828800"/>
            <a:chOff x="1968" y="2448"/>
            <a:chExt cx="2256" cy="1632"/>
          </a:xfrm>
        </p:grpSpPr>
        <p:grpSp>
          <p:nvGrpSpPr>
            <p:cNvPr id="16388" name="Group 5"/>
            <p:cNvGrpSpPr>
              <a:grpSpLocks/>
            </p:cNvGrpSpPr>
            <p:nvPr/>
          </p:nvGrpSpPr>
          <p:grpSpPr bwMode="auto">
            <a:xfrm>
              <a:off x="1968" y="2448"/>
              <a:ext cx="96" cy="1632"/>
              <a:chOff x="1248" y="2544"/>
              <a:chExt cx="96" cy="1632"/>
            </a:xfrm>
          </p:grpSpPr>
          <p:sp>
            <p:nvSpPr>
              <p:cNvPr id="16389" name="Line 6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0" name="Line 7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1" name="Line 8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2" name="Group 9"/>
            <p:cNvGrpSpPr>
              <a:grpSpLocks/>
            </p:cNvGrpSpPr>
            <p:nvPr/>
          </p:nvGrpSpPr>
          <p:grpSpPr bwMode="auto">
            <a:xfrm>
              <a:off x="2592" y="2448"/>
              <a:ext cx="96" cy="1632"/>
              <a:chOff x="1248" y="2544"/>
              <a:chExt cx="96" cy="1632"/>
            </a:xfrm>
          </p:grpSpPr>
          <p:sp>
            <p:nvSpPr>
              <p:cNvPr id="16393" name="Line 10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4" name="Line 11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5" name="Line 12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6" name="Group 13"/>
            <p:cNvGrpSpPr>
              <a:grpSpLocks/>
            </p:cNvGrpSpPr>
            <p:nvPr/>
          </p:nvGrpSpPr>
          <p:grpSpPr bwMode="auto">
            <a:xfrm>
              <a:off x="3792" y="2448"/>
              <a:ext cx="96" cy="1632"/>
              <a:chOff x="1248" y="2544"/>
              <a:chExt cx="96" cy="1632"/>
            </a:xfrm>
          </p:grpSpPr>
          <p:sp>
            <p:nvSpPr>
              <p:cNvPr id="16397" name="Line 14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8" name="Line 15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9" name="Line 16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00" name="Group 17"/>
            <p:cNvGrpSpPr>
              <a:grpSpLocks/>
            </p:cNvGrpSpPr>
            <p:nvPr/>
          </p:nvGrpSpPr>
          <p:grpSpPr bwMode="auto">
            <a:xfrm flipH="1">
              <a:off x="2304" y="2448"/>
              <a:ext cx="96" cy="1632"/>
              <a:chOff x="1248" y="2544"/>
              <a:chExt cx="96" cy="1632"/>
            </a:xfrm>
          </p:grpSpPr>
          <p:sp>
            <p:nvSpPr>
              <p:cNvPr id="16401" name="Line 18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2" name="Line 19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3" name="Line 20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04" name="Group 21"/>
            <p:cNvGrpSpPr>
              <a:grpSpLocks/>
            </p:cNvGrpSpPr>
            <p:nvPr/>
          </p:nvGrpSpPr>
          <p:grpSpPr bwMode="auto">
            <a:xfrm flipH="1">
              <a:off x="2928" y="2448"/>
              <a:ext cx="96" cy="1632"/>
              <a:chOff x="1248" y="2544"/>
              <a:chExt cx="96" cy="1632"/>
            </a:xfrm>
          </p:grpSpPr>
          <p:sp>
            <p:nvSpPr>
              <p:cNvPr id="16405" name="Line 22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6" name="Line 23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7" name="Line 24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08" name="Group 25"/>
            <p:cNvGrpSpPr>
              <a:grpSpLocks/>
            </p:cNvGrpSpPr>
            <p:nvPr/>
          </p:nvGrpSpPr>
          <p:grpSpPr bwMode="auto">
            <a:xfrm flipH="1">
              <a:off x="4128" y="2448"/>
              <a:ext cx="96" cy="1632"/>
              <a:chOff x="1248" y="2544"/>
              <a:chExt cx="96" cy="1632"/>
            </a:xfrm>
          </p:grpSpPr>
          <p:sp>
            <p:nvSpPr>
              <p:cNvPr id="16409" name="Line 26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Line 27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28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6412" name="Group 29"/>
          <p:cNvGrpSpPr>
            <a:grpSpLocks/>
          </p:cNvGrpSpPr>
          <p:nvPr/>
        </p:nvGrpSpPr>
        <p:grpSpPr bwMode="auto">
          <a:xfrm>
            <a:off x="5943600" y="838200"/>
            <a:ext cx="2798763" cy="1887538"/>
            <a:chOff x="1920" y="288"/>
            <a:chExt cx="2352" cy="1536"/>
          </a:xfrm>
        </p:grpSpPr>
        <p:grpSp>
          <p:nvGrpSpPr>
            <p:cNvPr id="16413" name="Group 30"/>
            <p:cNvGrpSpPr>
              <a:grpSpLocks/>
            </p:cNvGrpSpPr>
            <p:nvPr/>
          </p:nvGrpSpPr>
          <p:grpSpPr bwMode="auto">
            <a:xfrm>
              <a:off x="1920" y="288"/>
              <a:ext cx="96" cy="288"/>
              <a:chOff x="1248" y="2544"/>
              <a:chExt cx="96" cy="1632"/>
            </a:xfrm>
          </p:grpSpPr>
          <p:sp>
            <p:nvSpPr>
              <p:cNvPr id="16414" name="Line 31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5" name="Line 32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6" name="Line 33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7" name="Group 34"/>
            <p:cNvGrpSpPr>
              <a:grpSpLocks/>
            </p:cNvGrpSpPr>
            <p:nvPr/>
          </p:nvGrpSpPr>
          <p:grpSpPr bwMode="auto">
            <a:xfrm>
              <a:off x="1920" y="720"/>
              <a:ext cx="96" cy="288"/>
              <a:chOff x="1248" y="2544"/>
              <a:chExt cx="96" cy="1632"/>
            </a:xfrm>
          </p:grpSpPr>
          <p:sp>
            <p:nvSpPr>
              <p:cNvPr id="16418" name="Line 35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9" name="Line 36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0" name="Line 37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21" name="Group 38"/>
            <p:cNvGrpSpPr>
              <a:grpSpLocks/>
            </p:cNvGrpSpPr>
            <p:nvPr/>
          </p:nvGrpSpPr>
          <p:grpSpPr bwMode="auto">
            <a:xfrm flipH="1">
              <a:off x="4176" y="288"/>
              <a:ext cx="96" cy="288"/>
              <a:chOff x="1248" y="2544"/>
              <a:chExt cx="96" cy="1632"/>
            </a:xfrm>
          </p:grpSpPr>
          <p:sp>
            <p:nvSpPr>
              <p:cNvPr id="16422" name="Line 39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3" name="Line 40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4" name="Line 41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25" name="Group 42"/>
            <p:cNvGrpSpPr>
              <a:grpSpLocks/>
            </p:cNvGrpSpPr>
            <p:nvPr/>
          </p:nvGrpSpPr>
          <p:grpSpPr bwMode="auto">
            <a:xfrm flipH="1">
              <a:off x="4176" y="720"/>
              <a:ext cx="96" cy="288"/>
              <a:chOff x="1248" y="2544"/>
              <a:chExt cx="96" cy="1632"/>
            </a:xfrm>
          </p:grpSpPr>
          <p:sp>
            <p:nvSpPr>
              <p:cNvPr id="16426" name="Line 43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7" name="Line 44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8" name="Line 45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29" name="Group 46"/>
            <p:cNvGrpSpPr>
              <a:grpSpLocks/>
            </p:cNvGrpSpPr>
            <p:nvPr/>
          </p:nvGrpSpPr>
          <p:grpSpPr bwMode="auto">
            <a:xfrm>
              <a:off x="1920" y="1584"/>
              <a:ext cx="96" cy="240"/>
              <a:chOff x="1248" y="2544"/>
              <a:chExt cx="96" cy="1632"/>
            </a:xfrm>
          </p:grpSpPr>
          <p:sp>
            <p:nvSpPr>
              <p:cNvPr id="16430" name="Line 47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1" name="Line 48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2" name="Line 49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33" name="Group 50"/>
            <p:cNvGrpSpPr>
              <a:grpSpLocks/>
            </p:cNvGrpSpPr>
            <p:nvPr/>
          </p:nvGrpSpPr>
          <p:grpSpPr bwMode="auto">
            <a:xfrm flipH="1">
              <a:off x="4176" y="1536"/>
              <a:ext cx="96" cy="288"/>
              <a:chOff x="1248" y="2544"/>
              <a:chExt cx="96" cy="1632"/>
            </a:xfrm>
          </p:grpSpPr>
          <p:sp>
            <p:nvSpPr>
              <p:cNvPr id="16434" name="Line 51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5" name="Line 52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0" cy="16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6" name="Line 53"/>
              <p:cNvSpPr>
                <a:spLocks noChangeShapeType="1"/>
              </p:cNvSpPr>
              <p:nvPr/>
            </p:nvSpPr>
            <p:spPr bwMode="auto">
              <a:xfrm>
                <a:off x="1248" y="41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6437" name="Object 54"/>
          <p:cNvGraphicFramePr>
            <a:graphicFrameLocks/>
          </p:cNvGraphicFramePr>
          <p:nvPr/>
        </p:nvGraphicFramePr>
        <p:xfrm>
          <a:off x="152400" y="4419600"/>
          <a:ext cx="41211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8785" imgH="241195" progId="Equation.3">
                  <p:embed/>
                </p:oleObj>
              </mc:Choice>
              <mc:Fallback>
                <p:oleObj r:id="rId5" imgW="1878785" imgH="241195" progId="Equation.3">
                  <p:embed/>
                  <p:pic>
                    <p:nvPicPr>
                      <p:cNvPr id="16437" name="Object 5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419600"/>
                        <a:ext cx="4121150" cy="5270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8" name="Object 55"/>
          <p:cNvGraphicFramePr>
            <a:graphicFrameLocks/>
          </p:cNvGraphicFramePr>
          <p:nvPr/>
        </p:nvGraphicFramePr>
        <p:xfrm>
          <a:off x="152400" y="2057400"/>
          <a:ext cx="3962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16100" imgH="228600" progId="Equation.3">
                  <p:embed/>
                </p:oleObj>
              </mc:Choice>
              <mc:Fallback>
                <p:oleObj r:id="rId7" imgW="1816100" imgH="228600" progId="Equation.3">
                  <p:embed/>
                  <p:pic>
                    <p:nvPicPr>
                      <p:cNvPr id="16438" name="Object 5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3962400" cy="5016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9" name="Object 56"/>
          <p:cNvGraphicFramePr>
            <a:graphicFrameLocks/>
          </p:cNvGraphicFramePr>
          <p:nvPr/>
        </p:nvGraphicFramePr>
        <p:xfrm>
          <a:off x="152400" y="685800"/>
          <a:ext cx="38862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42257" imgH="241195" progId="Equation.3">
                  <p:embed/>
                </p:oleObj>
              </mc:Choice>
              <mc:Fallback>
                <p:oleObj r:id="rId9" imgW="1942257" imgH="241195" progId="Equation.3">
                  <p:embed/>
                  <p:pic>
                    <p:nvPicPr>
                      <p:cNvPr id="16439" name="Object 5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85800"/>
                        <a:ext cx="3886200" cy="47942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0" name="Rectangle 57"/>
          <p:cNvSpPr>
            <a:spLocks noChangeArrowheads="1"/>
          </p:cNvSpPr>
          <p:nvPr/>
        </p:nvSpPr>
        <p:spPr bwMode="auto">
          <a:xfrm>
            <a:off x="39688" y="0"/>
            <a:ext cx="23987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二维数组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>
            <a:spLocks noChangeArrowheads="1"/>
          </p:cNvSpPr>
          <p:nvPr/>
        </p:nvSpPr>
        <p:spPr bwMode="auto">
          <a:xfrm>
            <a:off x="317500" y="1287463"/>
            <a:ext cx="2451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ea typeface="宋体" panose="02010600030101010101" pitchFamily="2" charset="-122"/>
              </a:rPr>
              <a:t>以行序为主序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698500" y="1970088"/>
            <a:ext cx="170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C, PASCAL</a:t>
            </a: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3314700" y="1196975"/>
            <a:ext cx="5105400" cy="3352800"/>
          </a:xfrm>
          <a:prstGeom prst="rect">
            <a:avLst/>
          </a:prstGeom>
          <a:solidFill>
            <a:srgbClr val="FFFFE7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7412" name="Group 5"/>
          <p:cNvGrpSpPr>
            <a:grpSpLocks/>
          </p:cNvGrpSpPr>
          <p:nvPr/>
        </p:nvGrpSpPr>
        <p:grpSpPr bwMode="auto">
          <a:xfrm>
            <a:off x="3567113" y="2303463"/>
            <a:ext cx="1430337" cy="1112837"/>
            <a:chOff x="442" y="1991"/>
            <a:chExt cx="901" cy="701"/>
          </a:xfrm>
        </p:grpSpPr>
        <p:sp>
          <p:nvSpPr>
            <p:cNvPr id="17413" name="Rectangle 6"/>
            <p:cNvSpPr>
              <a:spLocks noChangeArrowheads="1"/>
            </p:cNvSpPr>
            <p:nvPr/>
          </p:nvSpPr>
          <p:spPr bwMode="auto">
            <a:xfrm>
              <a:off x="1043" y="2090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14" name="Freeform 7"/>
            <p:cNvSpPr>
              <a:spLocks noChangeArrowheads="1"/>
            </p:cNvSpPr>
            <p:nvPr/>
          </p:nvSpPr>
          <p:spPr bwMode="auto">
            <a:xfrm>
              <a:off x="1043" y="1991"/>
              <a:ext cx="299" cy="99"/>
            </a:xfrm>
            <a:custGeom>
              <a:avLst/>
              <a:gdLst>
                <a:gd name="T0" fmla="*/ 0 w 299"/>
                <a:gd name="T1" fmla="*/ 99 h 99"/>
                <a:gd name="T2" fmla="*/ 100 w 299"/>
                <a:gd name="T3" fmla="*/ 0 h 99"/>
                <a:gd name="T4" fmla="*/ 299 w 299"/>
                <a:gd name="T5" fmla="*/ 0 h 99"/>
                <a:gd name="T6" fmla="*/ 199 w 299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99">
                  <a:moveTo>
                    <a:pt x="0" y="99"/>
                  </a:moveTo>
                  <a:lnTo>
                    <a:pt x="100" y="0"/>
                  </a:lnTo>
                  <a:lnTo>
                    <a:pt x="299" y="0"/>
                  </a:lnTo>
                  <a:lnTo>
                    <a:pt x="199" y="9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5" name="Line 8"/>
            <p:cNvSpPr>
              <a:spLocks noChangeShapeType="1"/>
            </p:cNvSpPr>
            <p:nvPr/>
          </p:nvSpPr>
          <p:spPr bwMode="auto">
            <a:xfrm>
              <a:off x="1342" y="1991"/>
              <a:ext cx="1" cy="2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Line 9"/>
            <p:cNvSpPr>
              <a:spLocks noChangeShapeType="1"/>
            </p:cNvSpPr>
            <p:nvPr/>
          </p:nvSpPr>
          <p:spPr bwMode="auto">
            <a:xfrm flipV="1">
              <a:off x="1242" y="2191"/>
              <a:ext cx="100" cy="9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Rectangle 10"/>
            <p:cNvSpPr>
              <a:spLocks noChangeArrowheads="1"/>
            </p:cNvSpPr>
            <p:nvPr/>
          </p:nvSpPr>
          <p:spPr bwMode="auto">
            <a:xfrm>
              <a:off x="843" y="2090"/>
              <a:ext cx="200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18" name="Freeform 11"/>
            <p:cNvSpPr>
              <a:spLocks noChangeArrowheads="1"/>
            </p:cNvSpPr>
            <p:nvPr/>
          </p:nvSpPr>
          <p:spPr bwMode="auto">
            <a:xfrm>
              <a:off x="843" y="1991"/>
              <a:ext cx="300" cy="99"/>
            </a:xfrm>
            <a:custGeom>
              <a:avLst/>
              <a:gdLst>
                <a:gd name="T0" fmla="*/ 0 w 300"/>
                <a:gd name="T1" fmla="*/ 99 h 99"/>
                <a:gd name="T2" fmla="*/ 100 w 300"/>
                <a:gd name="T3" fmla="*/ 0 h 99"/>
                <a:gd name="T4" fmla="*/ 300 w 300"/>
                <a:gd name="T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99">
                  <a:moveTo>
                    <a:pt x="0" y="99"/>
                  </a:moveTo>
                  <a:lnTo>
                    <a:pt x="100" y="0"/>
                  </a:lnTo>
                  <a:lnTo>
                    <a:pt x="30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Rectangle 12"/>
            <p:cNvSpPr>
              <a:spLocks noChangeArrowheads="1"/>
            </p:cNvSpPr>
            <p:nvPr/>
          </p:nvSpPr>
          <p:spPr bwMode="auto">
            <a:xfrm>
              <a:off x="641" y="2090"/>
              <a:ext cx="202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0" name="Freeform 13"/>
            <p:cNvSpPr>
              <a:spLocks noChangeArrowheads="1"/>
            </p:cNvSpPr>
            <p:nvPr/>
          </p:nvSpPr>
          <p:spPr bwMode="auto">
            <a:xfrm>
              <a:off x="641" y="1991"/>
              <a:ext cx="302" cy="99"/>
            </a:xfrm>
            <a:custGeom>
              <a:avLst/>
              <a:gdLst>
                <a:gd name="T0" fmla="*/ 0 w 302"/>
                <a:gd name="T1" fmla="*/ 99 h 99"/>
                <a:gd name="T2" fmla="*/ 103 w 302"/>
                <a:gd name="T3" fmla="*/ 0 h 99"/>
                <a:gd name="T4" fmla="*/ 302 w 302"/>
                <a:gd name="T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2" h="99">
                  <a:moveTo>
                    <a:pt x="0" y="99"/>
                  </a:moveTo>
                  <a:lnTo>
                    <a:pt x="103" y="0"/>
                  </a:lnTo>
                  <a:lnTo>
                    <a:pt x="3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Rectangle 14"/>
            <p:cNvSpPr>
              <a:spLocks noChangeArrowheads="1"/>
            </p:cNvSpPr>
            <p:nvPr/>
          </p:nvSpPr>
          <p:spPr bwMode="auto">
            <a:xfrm>
              <a:off x="442" y="2090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2" name="Freeform 15"/>
            <p:cNvSpPr>
              <a:spLocks noChangeArrowheads="1"/>
            </p:cNvSpPr>
            <p:nvPr/>
          </p:nvSpPr>
          <p:spPr bwMode="auto">
            <a:xfrm>
              <a:off x="442" y="1991"/>
              <a:ext cx="302" cy="99"/>
            </a:xfrm>
            <a:custGeom>
              <a:avLst/>
              <a:gdLst>
                <a:gd name="T0" fmla="*/ 0 w 302"/>
                <a:gd name="T1" fmla="*/ 99 h 99"/>
                <a:gd name="T2" fmla="*/ 100 w 302"/>
                <a:gd name="T3" fmla="*/ 0 h 99"/>
                <a:gd name="T4" fmla="*/ 302 w 302"/>
                <a:gd name="T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2" h="99">
                  <a:moveTo>
                    <a:pt x="0" y="99"/>
                  </a:moveTo>
                  <a:lnTo>
                    <a:pt x="100" y="0"/>
                  </a:lnTo>
                  <a:lnTo>
                    <a:pt x="3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Rectangle 16"/>
            <p:cNvSpPr>
              <a:spLocks noChangeArrowheads="1"/>
            </p:cNvSpPr>
            <p:nvPr/>
          </p:nvSpPr>
          <p:spPr bwMode="auto">
            <a:xfrm>
              <a:off x="1043" y="2290"/>
              <a:ext cx="199" cy="202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4" name="Rectangle 17"/>
            <p:cNvSpPr>
              <a:spLocks noChangeArrowheads="1"/>
            </p:cNvSpPr>
            <p:nvPr/>
          </p:nvSpPr>
          <p:spPr bwMode="auto">
            <a:xfrm>
              <a:off x="843" y="2290"/>
              <a:ext cx="200" cy="202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5" name="Rectangle 18"/>
            <p:cNvSpPr>
              <a:spLocks noChangeArrowheads="1"/>
            </p:cNvSpPr>
            <p:nvPr/>
          </p:nvSpPr>
          <p:spPr bwMode="auto">
            <a:xfrm>
              <a:off x="641" y="2290"/>
              <a:ext cx="202" cy="202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6" name="Rectangle 19"/>
            <p:cNvSpPr>
              <a:spLocks noChangeArrowheads="1"/>
            </p:cNvSpPr>
            <p:nvPr/>
          </p:nvSpPr>
          <p:spPr bwMode="auto">
            <a:xfrm>
              <a:off x="442" y="2290"/>
              <a:ext cx="199" cy="202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7" name="Rectangle 20"/>
            <p:cNvSpPr>
              <a:spLocks noChangeArrowheads="1"/>
            </p:cNvSpPr>
            <p:nvPr/>
          </p:nvSpPr>
          <p:spPr bwMode="auto">
            <a:xfrm>
              <a:off x="1043" y="2492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8" name="Rectangle 21"/>
            <p:cNvSpPr>
              <a:spLocks noChangeArrowheads="1"/>
            </p:cNvSpPr>
            <p:nvPr/>
          </p:nvSpPr>
          <p:spPr bwMode="auto">
            <a:xfrm>
              <a:off x="843" y="2492"/>
              <a:ext cx="200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9" name="Rectangle 22"/>
            <p:cNvSpPr>
              <a:spLocks noChangeArrowheads="1"/>
            </p:cNvSpPr>
            <p:nvPr/>
          </p:nvSpPr>
          <p:spPr bwMode="auto">
            <a:xfrm>
              <a:off x="641" y="2492"/>
              <a:ext cx="202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30" name="Rectangle 23"/>
            <p:cNvSpPr>
              <a:spLocks noChangeArrowheads="1"/>
            </p:cNvSpPr>
            <p:nvPr/>
          </p:nvSpPr>
          <p:spPr bwMode="auto">
            <a:xfrm>
              <a:off x="442" y="2492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31" name="Freeform 24"/>
            <p:cNvSpPr>
              <a:spLocks noChangeArrowheads="1"/>
            </p:cNvSpPr>
            <p:nvPr/>
          </p:nvSpPr>
          <p:spPr bwMode="auto">
            <a:xfrm>
              <a:off x="1242" y="2191"/>
              <a:ext cx="100" cy="301"/>
            </a:xfrm>
            <a:custGeom>
              <a:avLst/>
              <a:gdLst>
                <a:gd name="T0" fmla="*/ 0 w 100"/>
                <a:gd name="T1" fmla="*/ 301 h 301"/>
                <a:gd name="T2" fmla="*/ 100 w 100"/>
                <a:gd name="T3" fmla="*/ 200 h 301"/>
                <a:gd name="T4" fmla="*/ 100 w 100"/>
                <a:gd name="T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301">
                  <a:moveTo>
                    <a:pt x="0" y="301"/>
                  </a:moveTo>
                  <a:lnTo>
                    <a:pt x="100" y="200"/>
                  </a:lnTo>
                  <a:lnTo>
                    <a:pt x="10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Freeform 25"/>
            <p:cNvSpPr>
              <a:spLocks noChangeArrowheads="1"/>
            </p:cNvSpPr>
            <p:nvPr/>
          </p:nvSpPr>
          <p:spPr bwMode="auto">
            <a:xfrm>
              <a:off x="1242" y="2391"/>
              <a:ext cx="100" cy="301"/>
            </a:xfrm>
            <a:custGeom>
              <a:avLst/>
              <a:gdLst>
                <a:gd name="T0" fmla="*/ 0 w 100"/>
                <a:gd name="T1" fmla="*/ 301 h 301"/>
                <a:gd name="T2" fmla="*/ 100 w 100"/>
                <a:gd name="T3" fmla="*/ 200 h 301"/>
                <a:gd name="T4" fmla="*/ 100 w 100"/>
                <a:gd name="T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301">
                  <a:moveTo>
                    <a:pt x="0" y="301"/>
                  </a:moveTo>
                  <a:lnTo>
                    <a:pt x="100" y="200"/>
                  </a:lnTo>
                  <a:lnTo>
                    <a:pt x="10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33" name="Group 26"/>
          <p:cNvGrpSpPr>
            <a:grpSpLocks/>
          </p:cNvGrpSpPr>
          <p:nvPr/>
        </p:nvGrpSpPr>
        <p:grpSpPr bwMode="auto">
          <a:xfrm>
            <a:off x="6508750" y="1825625"/>
            <a:ext cx="1430338" cy="477838"/>
            <a:chOff x="2295" y="1690"/>
            <a:chExt cx="901" cy="301"/>
          </a:xfrm>
        </p:grpSpPr>
        <p:sp>
          <p:nvSpPr>
            <p:cNvPr id="17434" name="Rectangle 27"/>
            <p:cNvSpPr>
              <a:spLocks noChangeArrowheads="1"/>
            </p:cNvSpPr>
            <p:nvPr/>
          </p:nvSpPr>
          <p:spPr bwMode="auto">
            <a:xfrm>
              <a:off x="2896" y="1792"/>
              <a:ext cx="199" cy="199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35" name="Freeform 28"/>
            <p:cNvSpPr>
              <a:spLocks noChangeArrowheads="1"/>
            </p:cNvSpPr>
            <p:nvPr/>
          </p:nvSpPr>
          <p:spPr bwMode="auto">
            <a:xfrm>
              <a:off x="2896" y="1690"/>
              <a:ext cx="299" cy="102"/>
            </a:xfrm>
            <a:custGeom>
              <a:avLst/>
              <a:gdLst>
                <a:gd name="T0" fmla="*/ 0 w 299"/>
                <a:gd name="T1" fmla="*/ 102 h 102"/>
                <a:gd name="T2" fmla="*/ 99 w 299"/>
                <a:gd name="T3" fmla="*/ 0 h 102"/>
                <a:gd name="T4" fmla="*/ 299 w 299"/>
                <a:gd name="T5" fmla="*/ 0 h 102"/>
                <a:gd name="T6" fmla="*/ 199 w 299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102">
                  <a:moveTo>
                    <a:pt x="0" y="102"/>
                  </a:moveTo>
                  <a:lnTo>
                    <a:pt x="99" y="0"/>
                  </a:lnTo>
                  <a:lnTo>
                    <a:pt x="299" y="0"/>
                  </a:lnTo>
                  <a:lnTo>
                    <a:pt x="199" y="102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29"/>
            <p:cNvSpPr>
              <a:spLocks noChangeShapeType="1"/>
            </p:cNvSpPr>
            <p:nvPr/>
          </p:nvSpPr>
          <p:spPr bwMode="auto">
            <a:xfrm>
              <a:off x="3195" y="1690"/>
              <a:ext cx="1" cy="2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30"/>
            <p:cNvSpPr>
              <a:spLocks noChangeShapeType="1"/>
            </p:cNvSpPr>
            <p:nvPr/>
          </p:nvSpPr>
          <p:spPr bwMode="auto">
            <a:xfrm flipV="1">
              <a:off x="3095" y="1890"/>
              <a:ext cx="100" cy="10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Rectangle 31"/>
            <p:cNvSpPr>
              <a:spLocks noChangeArrowheads="1"/>
            </p:cNvSpPr>
            <p:nvPr/>
          </p:nvSpPr>
          <p:spPr bwMode="auto">
            <a:xfrm>
              <a:off x="2696" y="1792"/>
              <a:ext cx="200" cy="199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39" name="Freeform 32"/>
            <p:cNvSpPr>
              <a:spLocks noChangeArrowheads="1"/>
            </p:cNvSpPr>
            <p:nvPr/>
          </p:nvSpPr>
          <p:spPr bwMode="auto">
            <a:xfrm>
              <a:off x="2696" y="1690"/>
              <a:ext cx="299" cy="102"/>
            </a:xfrm>
            <a:custGeom>
              <a:avLst/>
              <a:gdLst>
                <a:gd name="T0" fmla="*/ 0 w 299"/>
                <a:gd name="T1" fmla="*/ 102 h 102"/>
                <a:gd name="T2" fmla="*/ 100 w 299"/>
                <a:gd name="T3" fmla="*/ 0 h 102"/>
                <a:gd name="T4" fmla="*/ 299 w 299"/>
                <a:gd name="T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102">
                  <a:moveTo>
                    <a:pt x="0" y="102"/>
                  </a:moveTo>
                  <a:lnTo>
                    <a:pt x="100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Rectangle 33"/>
            <p:cNvSpPr>
              <a:spLocks noChangeArrowheads="1"/>
            </p:cNvSpPr>
            <p:nvPr/>
          </p:nvSpPr>
          <p:spPr bwMode="auto">
            <a:xfrm>
              <a:off x="2494" y="1792"/>
              <a:ext cx="202" cy="199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41" name="Freeform 34"/>
            <p:cNvSpPr>
              <a:spLocks noChangeArrowheads="1"/>
            </p:cNvSpPr>
            <p:nvPr/>
          </p:nvSpPr>
          <p:spPr bwMode="auto">
            <a:xfrm>
              <a:off x="2494" y="1690"/>
              <a:ext cx="302" cy="102"/>
            </a:xfrm>
            <a:custGeom>
              <a:avLst/>
              <a:gdLst>
                <a:gd name="T0" fmla="*/ 0 w 302"/>
                <a:gd name="T1" fmla="*/ 102 h 102"/>
                <a:gd name="T2" fmla="*/ 100 w 302"/>
                <a:gd name="T3" fmla="*/ 0 h 102"/>
                <a:gd name="T4" fmla="*/ 302 w 302"/>
                <a:gd name="T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2" h="102">
                  <a:moveTo>
                    <a:pt x="0" y="102"/>
                  </a:moveTo>
                  <a:lnTo>
                    <a:pt x="100" y="0"/>
                  </a:lnTo>
                  <a:lnTo>
                    <a:pt x="3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Rectangle 35"/>
            <p:cNvSpPr>
              <a:spLocks noChangeArrowheads="1"/>
            </p:cNvSpPr>
            <p:nvPr/>
          </p:nvSpPr>
          <p:spPr bwMode="auto">
            <a:xfrm>
              <a:off x="2295" y="1792"/>
              <a:ext cx="199" cy="199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43" name="Freeform 36"/>
            <p:cNvSpPr>
              <a:spLocks noChangeArrowheads="1"/>
            </p:cNvSpPr>
            <p:nvPr/>
          </p:nvSpPr>
          <p:spPr bwMode="auto">
            <a:xfrm>
              <a:off x="2295" y="1690"/>
              <a:ext cx="299" cy="102"/>
            </a:xfrm>
            <a:custGeom>
              <a:avLst/>
              <a:gdLst>
                <a:gd name="T0" fmla="*/ 0 w 299"/>
                <a:gd name="T1" fmla="*/ 102 h 102"/>
                <a:gd name="T2" fmla="*/ 99 w 299"/>
                <a:gd name="T3" fmla="*/ 0 h 102"/>
                <a:gd name="T4" fmla="*/ 299 w 299"/>
                <a:gd name="T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102">
                  <a:moveTo>
                    <a:pt x="0" y="102"/>
                  </a:moveTo>
                  <a:lnTo>
                    <a:pt x="99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44" name="Group 37"/>
          <p:cNvGrpSpPr>
            <a:grpSpLocks/>
          </p:cNvGrpSpPr>
          <p:nvPr/>
        </p:nvGrpSpPr>
        <p:grpSpPr bwMode="auto">
          <a:xfrm>
            <a:off x="6508750" y="2778125"/>
            <a:ext cx="1430338" cy="477838"/>
            <a:chOff x="2295" y="2290"/>
            <a:chExt cx="901" cy="301"/>
          </a:xfrm>
        </p:grpSpPr>
        <p:sp>
          <p:nvSpPr>
            <p:cNvPr id="17445" name="Rectangle 38"/>
            <p:cNvSpPr>
              <a:spLocks noChangeArrowheads="1"/>
            </p:cNvSpPr>
            <p:nvPr/>
          </p:nvSpPr>
          <p:spPr bwMode="auto">
            <a:xfrm>
              <a:off x="2896" y="2391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46" name="Freeform 39"/>
            <p:cNvSpPr>
              <a:spLocks noChangeArrowheads="1"/>
            </p:cNvSpPr>
            <p:nvPr/>
          </p:nvSpPr>
          <p:spPr bwMode="auto">
            <a:xfrm>
              <a:off x="2896" y="2290"/>
              <a:ext cx="299" cy="101"/>
            </a:xfrm>
            <a:custGeom>
              <a:avLst/>
              <a:gdLst>
                <a:gd name="T0" fmla="*/ 0 w 299"/>
                <a:gd name="T1" fmla="*/ 101 h 101"/>
                <a:gd name="T2" fmla="*/ 99 w 299"/>
                <a:gd name="T3" fmla="*/ 0 h 101"/>
                <a:gd name="T4" fmla="*/ 299 w 299"/>
                <a:gd name="T5" fmla="*/ 0 h 101"/>
                <a:gd name="T6" fmla="*/ 199 w 299"/>
                <a:gd name="T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101">
                  <a:moveTo>
                    <a:pt x="0" y="101"/>
                  </a:moveTo>
                  <a:lnTo>
                    <a:pt x="99" y="0"/>
                  </a:lnTo>
                  <a:lnTo>
                    <a:pt x="299" y="0"/>
                  </a:lnTo>
                  <a:lnTo>
                    <a:pt x="199" y="10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Line 40"/>
            <p:cNvSpPr>
              <a:spLocks noChangeShapeType="1"/>
            </p:cNvSpPr>
            <p:nvPr/>
          </p:nvSpPr>
          <p:spPr bwMode="auto">
            <a:xfrm>
              <a:off x="3195" y="2290"/>
              <a:ext cx="1" cy="20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Line 41"/>
            <p:cNvSpPr>
              <a:spLocks noChangeShapeType="1"/>
            </p:cNvSpPr>
            <p:nvPr/>
          </p:nvSpPr>
          <p:spPr bwMode="auto">
            <a:xfrm flipV="1">
              <a:off x="3095" y="2492"/>
              <a:ext cx="100" cy="9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Rectangle 42"/>
            <p:cNvSpPr>
              <a:spLocks noChangeArrowheads="1"/>
            </p:cNvSpPr>
            <p:nvPr/>
          </p:nvSpPr>
          <p:spPr bwMode="auto">
            <a:xfrm>
              <a:off x="2696" y="2391"/>
              <a:ext cx="200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50" name="Freeform 43"/>
            <p:cNvSpPr>
              <a:spLocks noChangeArrowheads="1"/>
            </p:cNvSpPr>
            <p:nvPr/>
          </p:nvSpPr>
          <p:spPr bwMode="auto">
            <a:xfrm>
              <a:off x="2696" y="2290"/>
              <a:ext cx="299" cy="101"/>
            </a:xfrm>
            <a:custGeom>
              <a:avLst/>
              <a:gdLst>
                <a:gd name="T0" fmla="*/ 0 w 299"/>
                <a:gd name="T1" fmla="*/ 101 h 101"/>
                <a:gd name="T2" fmla="*/ 100 w 299"/>
                <a:gd name="T3" fmla="*/ 0 h 101"/>
                <a:gd name="T4" fmla="*/ 299 w 299"/>
                <a:gd name="T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101">
                  <a:moveTo>
                    <a:pt x="0" y="101"/>
                  </a:moveTo>
                  <a:lnTo>
                    <a:pt x="100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Rectangle 44"/>
            <p:cNvSpPr>
              <a:spLocks noChangeArrowheads="1"/>
            </p:cNvSpPr>
            <p:nvPr/>
          </p:nvSpPr>
          <p:spPr bwMode="auto">
            <a:xfrm>
              <a:off x="2494" y="2391"/>
              <a:ext cx="202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52" name="Freeform 45"/>
            <p:cNvSpPr>
              <a:spLocks noChangeArrowheads="1"/>
            </p:cNvSpPr>
            <p:nvPr/>
          </p:nvSpPr>
          <p:spPr bwMode="auto">
            <a:xfrm>
              <a:off x="2494" y="2290"/>
              <a:ext cx="302" cy="101"/>
            </a:xfrm>
            <a:custGeom>
              <a:avLst/>
              <a:gdLst>
                <a:gd name="T0" fmla="*/ 0 w 302"/>
                <a:gd name="T1" fmla="*/ 101 h 101"/>
                <a:gd name="T2" fmla="*/ 100 w 302"/>
                <a:gd name="T3" fmla="*/ 0 h 101"/>
                <a:gd name="T4" fmla="*/ 302 w 302"/>
                <a:gd name="T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2" h="101">
                  <a:moveTo>
                    <a:pt x="0" y="101"/>
                  </a:moveTo>
                  <a:lnTo>
                    <a:pt x="100" y="0"/>
                  </a:lnTo>
                  <a:lnTo>
                    <a:pt x="3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Rectangle 46"/>
            <p:cNvSpPr>
              <a:spLocks noChangeArrowheads="1"/>
            </p:cNvSpPr>
            <p:nvPr/>
          </p:nvSpPr>
          <p:spPr bwMode="auto">
            <a:xfrm>
              <a:off x="2295" y="2391"/>
              <a:ext cx="199" cy="200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54" name="Freeform 47"/>
            <p:cNvSpPr>
              <a:spLocks noChangeArrowheads="1"/>
            </p:cNvSpPr>
            <p:nvPr/>
          </p:nvSpPr>
          <p:spPr bwMode="auto">
            <a:xfrm>
              <a:off x="2295" y="2290"/>
              <a:ext cx="299" cy="101"/>
            </a:xfrm>
            <a:custGeom>
              <a:avLst/>
              <a:gdLst>
                <a:gd name="T0" fmla="*/ 0 w 299"/>
                <a:gd name="T1" fmla="*/ 101 h 101"/>
                <a:gd name="T2" fmla="*/ 99 w 299"/>
                <a:gd name="T3" fmla="*/ 0 h 101"/>
                <a:gd name="T4" fmla="*/ 299 w 299"/>
                <a:gd name="T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101">
                  <a:moveTo>
                    <a:pt x="0" y="101"/>
                  </a:moveTo>
                  <a:lnTo>
                    <a:pt x="99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55" name="Group 48"/>
          <p:cNvGrpSpPr>
            <a:grpSpLocks/>
          </p:cNvGrpSpPr>
          <p:nvPr/>
        </p:nvGrpSpPr>
        <p:grpSpPr bwMode="auto">
          <a:xfrm>
            <a:off x="6508750" y="3733800"/>
            <a:ext cx="1430338" cy="477838"/>
            <a:chOff x="2295" y="2892"/>
            <a:chExt cx="901" cy="301"/>
          </a:xfrm>
        </p:grpSpPr>
        <p:sp>
          <p:nvSpPr>
            <p:cNvPr id="17456" name="Rectangle 49"/>
            <p:cNvSpPr>
              <a:spLocks noChangeArrowheads="1"/>
            </p:cNvSpPr>
            <p:nvPr/>
          </p:nvSpPr>
          <p:spPr bwMode="auto">
            <a:xfrm>
              <a:off x="2896" y="2990"/>
              <a:ext cx="199" cy="203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57" name="Freeform 50"/>
            <p:cNvSpPr>
              <a:spLocks noChangeArrowheads="1"/>
            </p:cNvSpPr>
            <p:nvPr/>
          </p:nvSpPr>
          <p:spPr bwMode="auto">
            <a:xfrm>
              <a:off x="2896" y="2892"/>
              <a:ext cx="299" cy="98"/>
            </a:xfrm>
            <a:custGeom>
              <a:avLst/>
              <a:gdLst>
                <a:gd name="T0" fmla="*/ 0 w 299"/>
                <a:gd name="T1" fmla="*/ 98 h 98"/>
                <a:gd name="T2" fmla="*/ 99 w 299"/>
                <a:gd name="T3" fmla="*/ 0 h 98"/>
                <a:gd name="T4" fmla="*/ 299 w 299"/>
                <a:gd name="T5" fmla="*/ 0 h 98"/>
                <a:gd name="T6" fmla="*/ 199 w 299"/>
                <a:gd name="T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98">
                  <a:moveTo>
                    <a:pt x="0" y="98"/>
                  </a:moveTo>
                  <a:lnTo>
                    <a:pt x="99" y="0"/>
                  </a:lnTo>
                  <a:lnTo>
                    <a:pt x="299" y="0"/>
                  </a:lnTo>
                  <a:lnTo>
                    <a:pt x="199" y="98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Line 51"/>
            <p:cNvSpPr>
              <a:spLocks noChangeShapeType="1"/>
            </p:cNvSpPr>
            <p:nvPr/>
          </p:nvSpPr>
          <p:spPr bwMode="auto">
            <a:xfrm>
              <a:off x="3195" y="2892"/>
              <a:ext cx="1" cy="19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Line 52"/>
            <p:cNvSpPr>
              <a:spLocks noChangeShapeType="1"/>
            </p:cNvSpPr>
            <p:nvPr/>
          </p:nvSpPr>
          <p:spPr bwMode="auto">
            <a:xfrm flipV="1">
              <a:off x="3095" y="3091"/>
              <a:ext cx="100" cy="10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Rectangle 53"/>
            <p:cNvSpPr>
              <a:spLocks noChangeArrowheads="1"/>
            </p:cNvSpPr>
            <p:nvPr/>
          </p:nvSpPr>
          <p:spPr bwMode="auto">
            <a:xfrm>
              <a:off x="2696" y="2990"/>
              <a:ext cx="200" cy="203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61" name="Freeform 54"/>
            <p:cNvSpPr>
              <a:spLocks noChangeArrowheads="1"/>
            </p:cNvSpPr>
            <p:nvPr/>
          </p:nvSpPr>
          <p:spPr bwMode="auto">
            <a:xfrm>
              <a:off x="2696" y="2892"/>
              <a:ext cx="299" cy="98"/>
            </a:xfrm>
            <a:custGeom>
              <a:avLst/>
              <a:gdLst>
                <a:gd name="T0" fmla="*/ 0 w 299"/>
                <a:gd name="T1" fmla="*/ 98 h 98"/>
                <a:gd name="T2" fmla="*/ 100 w 299"/>
                <a:gd name="T3" fmla="*/ 0 h 98"/>
                <a:gd name="T4" fmla="*/ 299 w 299"/>
                <a:gd name="T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98">
                  <a:moveTo>
                    <a:pt x="0" y="98"/>
                  </a:moveTo>
                  <a:lnTo>
                    <a:pt x="100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Rectangle 55"/>
            <p:cNvSpPr>
              <a:spLocks noChangeArrowheads="1"/>
            </p:cNvSpPr>
            <p:nvPr/>
          </p:nvSpPr>
          <p:spPr bwMode="auto">
            <a:xfrm>
              <a:off x="2494" y="2990"/>
              <a:ext cx="202" cy="203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63" name="Freeform 56"/>
            <p:cNvSpPr>
              <a:spLocks noChangeArrowheads="1"/>
            </p:cNvSpPr>
            <p:nvPr/>
          </p:nvSpPr>
          <p:spPr bwMode="auto">
            <a:xfrm>
              <a:off x="2494" y="2892"/>
              <a:ext cx="302" cy="98"/>
            </a:xfrm>
            <a:custGeom>
              <a:avLst/>
              <a:gdLst>
                <a:gd name="T0" fmla="*/ 0 w 302"/>
                <a:gd name="T1" fmla="*/ 98 h 98"/>
                <a:gd name="T2" fmla="*/ 100 w 302"/>
                <a:gd name="T3" fmla="*/ 0 h 98"/>
                <a:gd name="T4" fmla="*/ 302 w 302"/>
                <a:gd name="T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2" h="98">
                  <a:moveTo>
                    <a:pt x="0" y="98"/>
                  </a:moveTo>
                  <a:lnTo>
                    <a:pt x="100" y="0"/>
                  </a:lnTo>
                  <a:lnTo>
                    <a:pt x="3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Rectangle 57"/>
            <p:cNvSpPr>
              <a:spLocks noChangeArrowheads="1"/>
            </p:cNvSpPr>
            <p:nvPr/>
          </p:nvSpPr>
          <p:spPr bwMode="auto">
            <a:xfrm>
              <a:off x="2295" y="2990"/>
              <a:ext cx="199" cy="203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65" name="Freeform 58"/>
            <p:cNvSpPr>
              <a:spLocks noChangeArrowheads="1"/>
            </p:cNvSpPr>
            <p:nvPr/>
          </p:nvSpPr>
          <p:spPr bwMode="auto">
            <a:xfrm>
              <a:off x="2295" y="2892"/>
              <a:ext cx="299" cy="98"/>
            </a:xfrm>
            <a:custGeom>
              <a:avLst/>
              <a:gdLst>
                <a:gd name="T0" fmla="*/ 0 w 299"/>
                <a:gd name="T1" fmla="*/ 98 h 98"/>
                <a:gd name="T2" fmla="*/ 99 w 299"/>
                <a:gd name="T3" fmla="*/ 0 h 98"/>
                <a:gd name="T4" fmla="*/ 299 w 299"/>
                <a:gd name="T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98">
                  <a:moveTo>
                    <a:pt x="0" y="98"/>
                  </a:moveTo>
                  <a:lnTo>
                    <a:pt x="99" y="0"/>
                  </a:lnTo>
                  <a:lnTo>
                    <a:pt x="299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66" name="Freeform 59"/>
          <p:cNvSpPr>
            <a:spLocks noChangeArrowheads="1"/>
          </p:cNvSpPr>
          <p:nvPr/>
        </p:nvSpPr>
        <p:spPr bwMode="auto">
          <a:xfrm>
            <a:off x="5364163" y="2682875"/>
            <a:ext cx="569912" cy="511175"/>
          </a:xfrm>
          <a:custGeom>
            <a:avLst/>
            <a:gdLst>
              <a:gd name="T0" fmla="*/ 359 w 359"/>
              <a:gd name="T1" fmla="*/ 161 h 322"/>
              <a:gd name="T2" fmla="*/ 200 w 359"/>
              <a:gd name="T3" fmla="*/ 322 h 322"/>
              <a:gd name="T4" fmla="*/ 200 w 359"/>
              <a:gd name="T5" fmla="*/ 215 h 322"/>
              <a:gd name="T6" fmla="*/ 0 w 359"/>
              <a:gd name="T7" fmla="*/ 215 h 322"/>
              <a:gd name="T8" fmla="*/ 0 w 359"/>
              <a:gd name="T9" fmla="*/ 106 h 322"/>
              <a:gd name="T10" fmla="*/ 200 w 359"/>
              <a:gd name="T11" fmla="*/ 106 h 322"/>
              <a:gd name="T12" fmla="*/ 200 w 359"/>
              <a:gd name="T13" fmla="*/ 0 h 322"/>
              <a:gd name="T14" fmla="*/ 359 w 359"/>
              <a:gd name="T15" fmla="*/ 161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9" h="322">
                <a:moveTo>
                  <a:pt x="359" y="161"/>
                </a:moveTo>
                <a:lnTo>
                  <a:pt x="200" y="322"/>
                </a:lnTo>
                <a:lnTo>
                  <a:pt x="200" y="215"/>
                </a:lnTo>
                <a:lnTo>
                  <a:pt x="0" y="215"/>
                </a:lnTo>
                <a:lnTo>
                  <a:pt x="0" y="106"/>
                </a:lnTo>
                <a:lnTo>
                  <a:pt x="200" y="106"/>
                </a:lnTo>
                <a:lnTo>
                  <a:pt x="200" y="0"/>
                </a:lnTo>
                <a:lnTo>
                  <a:pt x="359" y="161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467" name="Group 60"/>
          <p:cNvGrpSpPr>
            <a:grpSpLocks/>
          </p:cNvGrpSpPr>
          <p:nvPr/>
        </p:nvGrpSpPr>
        <p:grpSpPr bwMode="auto">
          <a:xfrm>
            <a:off x="6032500" y="2047875"/>
            <a:ext cx="2066925" cy="1084263"/>
            <a:chOff x="1995" y="1830"/>
            <a:chExt cx="1302" cy="683"/>
          </a:xfrm>
        </p:grpSpPr>
        <p:sp>
          <p:nvSpPr>
            <p:cNvPr id="17468" name="Freeform 61"/>
            <p:cNvSpPr>
              <a:spLocks noChangeArrowheads="1"/>
            </p:cNvSpPr>
            <p:nvPr/>
          </p:nvSpPr>
          <p:spPr bwMode="auto">
            <a:xfrm>
              <a:off x="2195" y="1830"/>
              <a:ext cx="1102" cy="361"/>
            </a:xfrm>
            <a:custGeom>
              <a:avLst/>
              <a:gdLst>
                <a:gd name="T0" fmla="*/ 940 w 1102"/>
                <a:gd name="T1" fmla="*/ 0 h 361"/>
                <a:gd name="T2" fmla="*/ 977 w 1102"/>
                <a:gd name="T3" fmla="*/ 3 h 361"/>
                <a:gd name="T4" fmla="*/ 1010 w 1102"/>
                <a:gd name="T5" fmla="*/ 16 h 361"/>
                <a:gd name="T6" fmla="*/ 1040 w 1102"/>
                <a:gd name="T7" fmla="*/ 34 h 361"/>
                <a:gd name="T8" fmla="*/ 1067 w 1102"/>
                <a:gd name="T9" fmla="*/ 60 h 361"/>
                <a:gd name="T10" fmla="*/ 1085 w 1102"/>
                <a:gd name="T11" fmla="*/ 91 h 361"/>
                <a:gd name="T12" fmla="*/ 1097 w 1102"/>
                <a:gd name="T13" fmla="*/ 125 h 361"/>
                <a:gd name="T14" fmla="*/ 1102 w 1102"/>
                <a:gd name="T15" fmla="*/ 161 h 361"/>
                <a:gd name="T16" fmla="*/ 1097 w 1102"/>
                <a:gd name="T17" fmla="*/ 180 h 361"/>
                <a:gd name="T18" fmla="*/ 1082 w 1102"/>
                <a:gd name="T19" fmla="*/ 198 h 361"/>
                <a:gd name="T20" fmla="*/ 1060 w 1102"/>
                <a:gd name="T21" fmla="*/ 216 h 361"/>
                <a:gd name="T22" fmla="*/ 1027 w 1102"/>
                <a:gd name="T23" fmla="*/ 234 h 361"/>
                <a:gd name="T24" fmla="*/ 985 w 1102"/>
                <a:gd name="T25" fmla="*/ 250 h 361"/>
                <a:gd name="T26" fmla="*/ 935 w 1102"/>
                <a:gd name="T27" fmla="*/ 265 h 361"/>
                <a:gd name="T28" fmla="*/ 878 w 1102"/>
                <a:gd name="T29" fmla="*/ 281 h 361"/>
                <a:gd name="T30" fmla="*/ 813 w 1102"/>
                <a:gd name="T31" fmla="*/ 296 h 361"/>
                <a:gd name="T32" fmla="*/ 740 w 1102"/>
                <a:gd name="T33" fmla="*/ 309 h 361"/>
                <a:gd name="T34" fmla="*/ 663 w 1102"/>
                <a:gd name="T35" fmla="*/ 320 h 361"/>
                <a:gd name="T36" fmla="*/ 578 w 1102"/>
                <a:gd name="T37" fmla="*/ 330 h 361"/>
                <a:gd name="T38" fmla="*/ 491 w 1102"/>
                <a:gd name="T39" fmla="*/ 340 h 361"/>
                <a:gd name="T40" fmla="*/ 396 w 1102"/>
                <a:gd name="T41" fmla="*/ 348 h 361"/>
                <a:gd name="T42" fmla="*/ 302 w 1102"/>
                <a:gd name="T43" fmla="*/ 353 h 361"/>
                <a:gd name="T44" fmla="*/ 202 w 1102"/>
                <a:gd name="T45" fmla="*/ 359 h 361"/>
                <a:gd name="T46" fmla="*/ 102 w 1102"/>
                <a:gd name="T47" fmla="*/ 361 h 361"/>
                <a:gd name="T48" fmla="*/ 0 w 1102"/>
                <a:gd name="T49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2" h="361">
                  <a:moveTo>
                    <a:pt x="940" y="0"/>
                  </a:moveTo>
                  <a:lnTo>
                    <a:pt x="977" y="3"/>
                  </a:lnTo>
                  <a:lnTo>
                    <a:pt x="1010" y="16"/>
                  </a:lnTo>
                  <a:lnTo>
                    <a:pt x="1040" y="34"/>
                  </a:lnTo>
                  <a:lnTo>
                    <a:pt x="1067" y="60"/>
                  </a:lnTo>
                  <a:lnTo>
                    <a:pt x="1085" y="91"/>
                  </a:lnTo>
                  <a:lnTo>
                    <a:pt x="1097" y="125"/>
                  </a:lnTo>
                  <a:lnTo>
                    <a:pt x="1102" y="161"/>
                  </a:lnTo>
                  <a:lnTo>
                    <a:pt x="1097" y="180"/>
                  </a:lnTo>
                  <a:lnTo>
                    <a:pt x="1082" y="198"/>
                  </a:lnTo>
                  <a:lnTo>
                    <a:pt x="1060" y="216"/>
                  </a:lnTo>
                  <a:lnTo>
                    <a:pt x="1027" y="234"/>
                  </a:lnTo>
                  <a:lnTo>
                    <a:pt x="985" y="250"/>
                  </a:lnTo>
                  <a:lnTo>
                    <a:pt x="935" y="265"/>
                  </a:lnTo>
                  <a:lnTo>
                    <a:pt x="878" y="281"/>
                  </a:lnTo>
                  <a:lnTo>
                    <a:pt x="813" y="296"/>
                  </a:lnTo>
                  <a:lnTo>
                    <a:pt x="740" y="309"/>
                  </a:lnTo>
                  <a:lnTo>
                    <a:pt x="663" y="320"/>
                  </a:lnTo>
                  <a:lnTo>
                    <a:pt x="578" y="330"/>
                  </a:lnTo>
                  <a:lnTo>
                    <a:pt x="491" y="340"/>
                  </a:lnTo>
                  <a:lnTo>
                    <a:pt x="396" y="348"/>
                  </a:lnTo>
                  <a:lnTo>
                    <a:pt x="302" y="353"/>
                  </a:lnTo>
                  <a:lnTo>
                    <a:pt x="202" y="359"/>
                  </a:lnTo>
                  <a:lnTo>
                    <a:pt x="102" y="361"/>
                  </a:lnTo>
                  <a:lnTo>
                    <a:pt x="0" y="36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9" name="Freeform 62"/>
            <p:cNvSpPr>
              <a:spLocks noChangeArrowheads="1"/>
            </p:cNvSpPr>
            <p:nvPr/>
          </p:nvSpPr>
          <p:spPr bwMode="auto">
            <a:xfrm>
              <a:off x="1995" y="2191"/>
              <a:ext cx="265" cy="298"/>
            </a:xfrm>
            <a:custGeom>
              <a:avLst/>
              <a:gdLst>
                <a:gd name="T0" fmla="*/ 200 w 265"/>
                <a:gd name="T1" fmla="*/ 0 h 298"/>
                <a:gd name="T2" fmla="*/ 160 w 265"/>
                <a:gd name="T3" fmla="*/ 3 h 298"/>
                <a:gd name="T4" fmla="*/ 123 w 265"/>
                <a:gd name="T5" fmla="*/ 16 h 298"/>
                <a:gd name="T6" fmla="*/ 88 w 265"/>
                <a:gd name="T7" fmla="*/ 34 h 298"/>
                <a:gd name="T8" fmla="*/ 58 w 265"/>
                <a:gd name="T9" fmla="*/ 57 h 298"/>
                <a:gd name="T10" fmla="*/ 33 w 265"/>
                <a:gd name="T11" fmla="*/ 88 h 298"/>
                <a:gd name="T12" fmla="*/ 15 w 265"/>
                <a:gd name="T13" fmla="*/ 122 h 298"/>
                <a:gd name="T14" fmla="*/ 3 w 265"/>
                <a:gd name="T15" fmla="*/ 161 h 298"/>
                <a:gd name="T16" fmla="*/ 0 w 265"/>
                <a:gd name="T17" fmla="*/ 200 h 298"/>
                <a:gd name="T18" fmla="*/ 5 w 265"/>
                <a:gd name="T19" fmla="*/ 218 h 298"/>
                <a:gd name="T20" fmla="*/ 18 w 265"/>
                <a:gd name="T21" fmla="*/ 236 h 298"/>
                <a:gd name="T22" fmla="*/ 43 w 265"/>
                <a:gd name="T23" fmla="*/ 252 h 298"/>
                <a:gd name="T24" fmla="*/ 75 w 265"/>
                <a:gd name="T25" fmla="*/ 267 h 298"/>
                <a:gd name="T26" fmla="*/ 115 w 265"/>
                <a:gd name="T27" fmla="*/ 278 h 298"/>
                <a:gd name="T28" fmla="*/ 160 w 265"/>
                <a:gd name="T29" fmla="*/ 288 h 298"/>
                <a:gd name="T30" fmla="*/ 212 w 265"/>
                <a:gd name="T31" fmla="*/ 296 h 298"/>
                <a:gd name="T32" fmla="*/ 265 w 265"/>
                <a:gd name="T33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298">
                  <a:moveTo>
                    <a:pt x="200" y="0"/>
                  </a:moveTo>
                  <a:lnTo>
                    <a:pt x="160" y="3"/>
                  </a:lnTo>
                  <a:lnTo>
                    <a:pt x="123" y="16"/>
                  </a:lnTo>
                  <a:lnTo>
                    <a:pt x="88" y="34"/>
                  </a:lnTo>
                  <a:lnTo>
                    <a:pt x="58" y="57"/>
                  </a:lnTo>
                  <a:lnTo>
                    <a:pt x="33" y="88"/>
                  </a:lnTo>
                  <a:lnTo>
                    <a:pt x="15" y="122"/>
                  </a:lnTo>
                  <a:lnTo>
                    <a:pt x="3" y="161"/>
                  </a:lnTo>
                  <a:lnTo>
                    <a:pt x="0" y="200"/>
                  </a:lnTo>
                  <a:lnTo>
                    <a:pt x="5" y="218"/>
                  </a:lnTo>
                  <a:lnTo>
                    <a:pt x="18" y="236"/>
                  </a:lnTo>
                  <a:lnTo>
                    <a:pt x="43" y="252"/>
                  </a:lnTo>
                  <a:lnTo>
                    <a:pt x="75" y="267"/>
                  </a:lnTo>
                  <a:lnTo>
                    <a:pt x="115" y="278"/>
                  </a:lnTo>
                  <a:lnTo>
                    <a:pt x="160" y="288"/>
                  </a:lnTo>
                  <a:lnTo>
                    <a:pt x="212" y="296"/>
                  </a:lnTo>
                  <a:lnTo>
                    <a:pt x="265" y="298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0" name="Freeform 63"/>
            <p:cNvSpPr>
              <a:spLocks noChangeArrowheads="1"/>
            </p:cNvSpPr>
            <p:nvPr/>
          </p:nvSpPr>
          <p:spPr bwMode="auto">
            <a:xfrm>
              <a:off x="2247" y="2466"/>
              <a:ext cx="48" cy="47"/>
            </a:xfrm>
            <a:custGeom>
              <a:avLst/>
              <a:gdLst>
                <a:gd name="T0" fmla="*/ 48 w 48"/>
                <a:gd name="T1" fmla="*/ 26 h 47"/>
                <a:gd name="T2" fmla="*/ 0 w 48"/>
                <a:gd name="T3" fmla="*/ 47 h 47"/>
                <a:gd name="T4" fmla="*/ 5 w 48"/>
                <a:gd name="T5" fmla="*/ 31 h 47"/>
                <a:gd name="T6" fmla="*/ 8 w 48"/>
                <a:gd name="T7" fmla="*/ 16 h 47"/>
                <a:gd name="T8" fmla="*/ 3 w 48"/>
                <a:gd name="T9" fmla="*/ 0 h 47"/>
                <a:gd name="T10" fmla="*/ 48 w 48"/>
                <a:gd name="T11" fmla="*/ 2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7">
                  <a:moveTo>
                    <a:pt x="48" y="26"/>
                  </a:moveTo>
                  <a:lnTo>
                    <a:pt x="0" y="47"/>
                  </a:lnTo>
                  <a:lnTo>
                    <a:pt x="5" y="31"/>
                  </a:lnTo>
                  <a:lnTo>
                    <a:pt x="8" y="16"/>
                  </a:lnTo>
                  <a:lnTo>
                    <a:pt x="3" y="0"/>
                  </a:lnTo>
                  <a:lnTo>
                    <a:pt x="48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71" name="Group 64"/>
          <p:cNvGrpSpPr>
            <a:grpSpLocks/>
          </p:cNvGrpSpPr>
          <p:nvPr/>
        </p:nvGrpSpPr>
        <p:grpSpPr bwMode="auto">
          <a:xfrm>
            <a:off x="6032500" y="3000375"/>
            <a:ext cx="2066925" cy="1087438"/>
            <a:chOff x="1995" y="2430"/>
            <a:chExt cx="1302" cy="685"/>
          </a:xfrm>
        </p:grpSpPr>
        <p:sp>
          <p:nvSpPr>
            <p:cNvPr id="17472" name="Freeform 65"/>
            <p:cNvSpPr>
              <a:spLocks noChangeArrowheads="1"/>
            </p:cNvSpPr>
            <p:nvPr/>
          </p:nvSpPr>
          <p:spPr bwMode="auto">
            <a:xfrm>
              <a:off x="2195" y="2430"/>
              <a:ext cx="1102" cy="360"/>
            </a:xfrm>
            <a:custGeom>
              <a:avLst/>
              <a:gdLst>
                <a:gd name="T0" fmla="*/ 940 w 1102"/>
                <a:gd name="T1" fmla="*/ 0 h 360"/>
                <a:gd name="T2" fmla="*/ 977 w 1102"/>
                <a:gd name="T3" fmla="*/ 5 h 360"/>
                <a:gd name="T4" fmla="*/ 1010 w 1102"/>
                <a:gd name="T5" fmla="*/ 18 h 360"/>
                <a:gd name="T6" fmla="*/ 1040 w 1102"/>
                <a:gd name="T7" fmla="*/ 36 h 360"/>
                <a:gd name="T8" fmla="*/ 1067 w 1102"/>
                <a:gd name="T9" fmla="*/ 62 h 360"/>
                <a:gd name="T10" fmla="*/ 1085 w 1102"/>
                <a:gd name="T11" fmla="*/ 91 h 360"/>
                <a:gd name="T12" fmla="*/ 1097 w 1102"/>
                <a:gd name="T13" fmla="*/ 124 h 360"/>
                <a:gd name="T14" fmla="*/ 1102 w 1102"/>
                <a:gd name="T15" fmla="*/ 161 h 360"/>
                <a:gd name="T16" fmla="*/ 1097 w 1102"/>
                <a:gd name="T17" fmla="*/ 179 h 360"/>
                <a:gd name="T18" fmla="*/ 1082 w 1102"/>
                <a:gd name="T19" fmla="*/ 197 h 360"/>
                <a:gd name="T20" fmla="*/ 1060 w 1102"/>
                <a:gd name="T21" fmla="*/ 215 h 360"/>
                <a:gd name="T22" fmla="*/ 1027 w 1102"/>
                <a:gd name="T23" fmla="*/ 233 h 360"/>
                <a:gd name="T24" fmla="*/ 985 w 1102"/>
                <a:gd name="T25" fmla="*/ 251 h 360"/>
                <a:gd name="T26" fmla="*/ 935 w 1102"/>
                <a:gd name="T27" fmla="*/ 267 h 360"/>
                <a:gd name="T28" fmla="*/ 878 w 1102"/>
                <a:gd name="T29" fmla="*/ 283 h 360"/>
                <a:gd name="T30" fmla="*/ 813 w 1102"/>
                <a:gd name="T31" fmla="*/ 296 h 360"/>
                <a:gd name="T32" fmla="*/ 740 w 1102"/>
                <a:gd name="T33" fmla="*/ 309 h 360"/>
                <a:gd name="T34" fmla="*/ 663 w 1102"/>
                <a:gd name="T35" fmla="*/ 322 h 360"/>
                <a:gd name="T36" fmla="*/ 578 w 1102"/>
                <a:gd name="T37" fmla="*/ 332 h 360"/>
                <a:gd name="T38" fmla="*/ 491 w 1102"/>
                <a:gd name="T39" fmla="*/ 340 h 360"/>
                <a:gd name="T40" fmla="*/ 396 w 1102"/>
                <a:gd name="T41" fmla="*/ 347 h 360"/>
                <a:gd name="T42" fmla="*/ 302 w 1102"/>
                <a:gd name="T43" fmla="*/ 353 h 360"/>
                <a:gd name="T44" fmla="*/ 202 w 1102"/>
                <a:gd name="T45" fmla="*/ 358 h 360"/>
                <a:gd name="T46" fmla="*/ 102 w 1102"/>
                <a:gd name="T47" fmla="*/ 360 h 360"/>
                <a:gd name="T48" fmla="*/ 0 w 1102"/>
                <a:gd name="T49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2" h="360">
                  <a:moveTo>
                    <a:pt x="940" y="0"/>
                  </a:moveTo>
                  <a:lnTo>
                    <a:pt x="977" y="5"/>
                  </a:lnTo>
                  <a:lnTo>
                    <a:pt x="1010" y="18"/>
                  </a:lnTo>
                  <a:lnTo>
                    <a:pt x="1040" y="36"/>
                  </a:lnTo>
                  <a:lnTo>
                    <a:pt x="1067" y="62"/>
                  </a:lnTo>
                  <a:lnTo>
                    <a:pt x="1085" y="91"/>
                  </a:lnTo>
                  <a:lnTo>
                    <a:pt x="1097" y="124"/>
                  </a:lnTo>
                  <a:lnTo>
                    <a:pt x="1102" y="161"/>
                  </a:lnTo>
                  <a:lnTo>
                    <a:pt x="1097" y="179"/>
                  </a:lnTo>
                  <a:lnTo>
                    <a:pt x="1082" y="197"/>
                  </a:lnTo>
                  <a:lnTo>
                    <a:pt x="1060" y="215"/>
                  </a:lnTo>
                  <a:lnTo>
                    <a:pt x="1027" y="233"/>
                  </a:lnTo>
                  <a:lnTo>
                    <a:pt x="985" y="251"/>
                  </a:lnTo>
                  <a:lnTo>
                    <a:pt x="935" y="267"/>
                  </a:lnTo>
                  <a:lnTo>
                    <a:pt x="878" y="283"/>
                  </a:lnTo>
                  <a:lnTo>
                    <a:pt x="813" y="296"/>
                  </a:lnTo>
                  <a:lnTo>
                    <a:pt x="740" y="309"/>
                  </a:lnTo>
                  <a:lnTo>
                    <a:pt x="663" y="322"/>
                  </a:lnTo>
                  <a:lnTo>
                    <a:pt x="578" y="332"/>
                  </a:lnTo>
                  <a:lnTo>
                    <a:pt x="491" y="340"/>
                  </a:lnTo>
                  <a:lnTo>
                    <a:pt x="396" y="347"/>
                  </a:lnTo>
                  <a:lnTo>
                    <a:pt x="302" y="353"/>
                  </a:lnTo>
                  <a:lnTo>
                    <a:pt x="202" y="358"/>
                  </a:lnTo>
                  <a:lnTo>
                    <a:pt x="102" y="360"/>
                  </a:lnTo>
                  <a:lnTo>
                    <a:pt x="0" y="36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3" name="Freeform 66"/>
            <p:cNvSpPr>
              <a:spLocks noChangeArrowheads="1"/>
            </p:cNvSpPr>
            <p:nvPr/>
          </p:nvSpPr>
          <p:spPr bwMode="auto">
            <a:xfrm>
              <a:off x="1995" y="2790"/>
              <a:ext cx="265" cy="301"/>
            </a:xfrm>
            <a:custGeom>
              <a:avLst/>
              <a:gdLst>
                <a:gd name="T0" fmla="*/ 200 w 265"/>
                <a:gd name="T1" fmla="*/ 0 h 301"/>
                <a:gd name="T2" fmla="*/ 160 w 265"/>
                <a:gd name="T3" fmla="*/ 6 h 301"/>
                <a:gd name="T4" fmla="*/ 123 w 265"/>
                <a:gd name="T5" fmla="*/ 16 h 301"/>
                <a:gd name="T6" fmla="*/ 88 w 265"/>
                <a:gd name="T7" fmla="*/ 34 h 301"/>
                <a:gd name="T8" fmla="*/ 58 w 265"/>
                <a:gd name="T9" fmla="*/ 60 h 301"/>
                <a:gd name="T10" fmla="*/ 33 w 265"/>
                <a:gd name="T11" fmla="*/ 91 h 301"/>
                <a:gd name="T12" fmla="*/ 15 w 265"/>
                <a:gd name="T13" fmla="*/ 125 h 301"/>
                <a:gd name="T14" fmla="*/ 3 w 265"/>
                <a:gd name="T15" fmla="*/ 161 h 301"/>
                <a:gd name="T16" fmla="*/ 0 w 265"/>
                <a:gd name="T17" fmla="*/ 200 h 301"/>
                <a:gd name="T18" fmla="*/ 5 w 265"/>
                <a:gd name="T19" fmla="*/ 218 h 301"/>
                <a:gd name="T20" fmla="*/ 18 w 265"/>
                <a:gd name="T21" fmla="*/ 237 h 301"/>
                <a:gd name="T22" fmla="*/ 43 w 265"/>
                <a:gd name="T23" fmla="*/ 255 h 301"/>
                <a:gd name="T24" fmla="*/ 75 w 265"/>
                <a:gd name="T25" fmla="*/ 268 h 301"/>
                <a:gd name="T26" fmla="*/ 115 w 265"/>
                <a:gd name="T27" fmla="*/ 281 h 301"/>
                <a:gd name="T28" fmla="*/ 160 w 265"/>
                <a:gd name="T29" fmla="*/ 291 h 301"/>
                <a:gd name="T30" fmla="*/ 212 w 265"/>
                <a:gd name="T31" fmla="*/ 296 h 301"/>
                <a:gd name="T32" fmla="*/ 265 w 265"/>
                <a:gd name="T3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301">
                  <a:moveTo>
                    <a:pt x="200" y="0"/>
                  </a:moveTo>
                  <a:lnTo>
                    <a:pt x="160" y="6"/>
                  </a:lnTo>
                  <a:lnTo>
                    <a:pt x="123" y="16"/>
                  </a:lnTo>
                  <a:lnTo>
                    <a:pt x="88" y="34"/>
                  </a:lnTo>
                  <a:lnTo>
                    <a:pt x="58" y="60"/>
                  </a:lnTo>
                  <a:lnTo>
                    <a:pt x="33" y="91"/>
                  </a:lnTo>
                  <a:lnTo>
                    <a:pt x="15" y="125"/>
                  </a:lnTo>
                  <a:lnTo>
                    <a:pt x="3" y="161"/>
                  </a:lnTo>
                  <a:lnTo>
                    <a:pt x="0" y="200"/>
                  </a:lnTo>
                  <a:lnTo>
                    <a:pt x="5" y="218"/>
                  </a:lnTo>
                  <a:lnTo>
                    <a:pt x="18" y="237"/>
                  </a:lnTo>
                  <a:lnTo>
                    <a:pt x="43" y="255"/>
                  </a:lnTo>
                  <a:lnTo>
                    <a:pt x="75" y="268"/>
                  </a:lnTo>
                  <a:lnTo>
                    <a:pt x="115" y="281"/>
                  </a:lnTo>
                  <a:lnTo>
                    <a:pt x="160" y="291"/>
                  </a:lnTo>
                  <a:lnTo>
                    <a:pt x="212" y="296"/>
                  </a:lnTo>
                  <a:lnTo>
                    <a:pt x="265" y="30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Freeform 67"/>
            <p:cNvSpPr>
              <a:spLocks noChangeArrowheads="1"/>
            </p:cNvSpPr>
            <p:nvPr/>
          </p:nvSpPr>
          <p:spPr bwMode="auto">
            <a:xfrm>
              <a:off x="2247" y="3068"/>
              <a:ext cx="48" cy="47"/>
            </a:xfrm>
            <a:custGeom>
              <a:avLst/>
              <a:gdLst>
                <a:gd name="T0" fmla="*/ 48 w 48"/>
                <a:gd name="T1" fmla="*/ 23 h 47"/>
                <a:gd name="T2" fmla="*/ 0 w 48"/>
                <a:gd name="T3" fmla="*/ 47 h 47"/>
                <a:gd name="T4" fmla="*/ 5 w 48"/>
                <a:gd name="T5" fmla="*/ 31 h 47"/>
                <a:gd name="T6" fmla="*/ 8 w 48"/>
                <a:gd name="T7" fmla="*/ 16 h 47"/>
                <a:gd name="T8" fmla="*/ 3 w 48"/>
                <a:gd name="T9" fmla="*/ 0 h 47"/>
                <a:gd name="T10" fmla="*/ 48 w 48"/>
                <a:gd name="T11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7">
                  <a:moveTo>
                    <a:pt x="48" y="23"/>
                  </a:moveTo>
                  <a:lnTo>
                    <a:pt x="0" y="47"/>
                  </a:lnTo>
                  <a:lnTo>
                    <a:pt x="5" y="31"/>
                  </a:lnTo>
                  <a:lnTo>
                    <a:pt x="8" y="16"/>
                  </a:lnTo>
                  <a:lnTo>
                    <a:pt x="3" y="0"/>
                  </a:lnTo>
                  <a:lnTo>
                    <a:pt x="48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75" name="Group 68"/>
          <p:cNvGrpSpPr>
            <a:grpSpLocks/>
          </p:cNvGrpSpPr>
          <p:nvPr/>
        </p:nvGrpSpPr>
        <p:grpSpPr bwMode="auto">
          <a:xfrm>
            <a:off x="4237038" y="3181350"/>
            <a:ext cx="228600" cy="228600"/>
            <a:chOff x="4176" y="1008"/>
            <a:chExt cx="192" cy="192"/>
          </a:xfrm>
        </p:grpSpPr>
        <p:sp>
          <p:nvSpPr>
            <p:cNvPr id="17476" name="Line 69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Line 70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78" name="Group 71"/>
          <p:cNvGrpSpPr>
            <a:grpSpLocks/>
          </p:cNvGrpSpPr>
          <p:nvPr/>
        </p:nvGrpSpPr>
        <p:grpSpPr bwMode="auto">
          <a:xfrm>
            <a:off x="7208838" y="3943350"/>
            <a:ext cx="228600" cy="228600"/>
            <a:chOff x="4176" y="1008"/>
            <a:chExt cx="192" cy="192"/>
          </a:xfrm>
        </p:grpSpPr>
        <p:sp>
          <p:nvSpPr>
            <p:cNvPr id="17479" name="Line 72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0" name="Line 73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81" name="Group 74"/>
          <p:cNvGrpSpPr>
            <a:grpSpLocks/>
          </p:cNvGrpSpPr>
          <p:nvPr/>
        </p:nvGrpSpPr>
        <p:grpSpPr bwMode="auto">
          <a:xfrm>
            <a:off x="3932238" y="2495550"/>
            <a:ext cx="228600" cy="228600"/>
            <a:chOff x="4176" y="1008"/>
            <a:chExt cx="192" cy="192"/>
          </a:xfrm>
        </p:grpSpPr>
        <p:sp>
          <p:nvSpPr>
            <p:cNvPr id="17482" name="Line 75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3" name="Line 76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84" name="Group 77"/>
          <p:cNvGrpSpPr>
            <a:grpSpLocks/>
          </p:cNvGrpSpPr>
          <p:nvPr/>
        </p:nvGrpSpPr>
        <p:grpSpPr bwMode="auto">
          <a:xfrm>
            <a:off x="6904038" y="2038350"/>
            <a:ext cx="228600" cy="228600"/>
            <a:chOff x="4176" y="1008"/>
            <a:chExt cx="192" cy="192"/>
          </a:xfrm>
        </p:grpSpPr>
        <p:sp>
          <p:nvSpPr>
            <p:cNvPr id="17485" name="Line 78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Line 79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87" name="Group 80"/>
          <p:cNvGrpSpPr>
            <a:grpSpLocks/>
          </p:cNvGrpSpPr>
          <p:nvPr/>
        </p:nvGrpSpPr>
        <p:grpSpPr bwMode="auto">
          <a:xfrm>
            <a:off x="4237038" y="2876550"/>
            <a:ext cx="228600" cy="228600"/>
            <a:chOff x="4176" y="1008"/>
            <a:chExt cx="192" cy="192"/>
          </a:xfrm>
        </p:grpSpPr>
        <p:sp>
          <p:nvSpPr>
            <p:cNvPr id="17488" name="Line 81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9" name="Line 82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90" name="Group 83"/>
          <p:cNvGrpSpPr>
            <a:grpSpLocks/>
          </p:cNvGrpSpPr>
          <p:nvPr/>
        </p:nvGrpSpPr>
        <p:grpSpPr bwMode="auto">
          <a:xfrm>
            <a:off x="7208838" y="3028950"/>
            <a:ext cx="228600" cy="228600"/>
            <a:chOff x="4176" y="1008"/>
            <a:chExt cx="192" cy="192"/>
          </a:xfrm>
        </p:grpSpPr>
        <p:sp>
          <p:nvSpPr>
            <p:cNvPr id="17491" name="Line 84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2" name="Line 85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93" name="Rectangle 89"/>
          <p:cNvSpPr>
            <a:spLocks noChangeArrowheads="1"/>
          </p:cNvSpPr>
          <p:nvPr/>
        </p:nvSpPr>
        <p:spPr bwMode="auto">
          <a:xfrm>
            <a:off x="34925" y="44450"/>
            <a:ext cx="53244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数组的顺序存储</a:t>
            </a:r>
          </a:p>
        </p:txBody>
      </p:sp>
    </p:spTree>
  </p:cSld>
  <p:clrMapOvr>
    <a:masterClrMapping/>
  </p:clrMapOvr>
  <p:transition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3016250" y="1187450"/>
            <a:ext cx="5791200" cy="3962400"/>
          </a:xfrm>
          <a:prstGeom prst="rect">
            <a:avLst/>
          </a:prstGeom>
          <a:solidFill>
            <a:srgbClr val="FFFFE7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8434" name="Group 3"/>
          <p:cNvGrpSpPr>
            <a:grpSpLocks/>
          </p:cNvGrpSpPr>
          <p:nvPr/>
        </p:nvGrpSpPr>
        <p:grpSpPr bwMode="auto">
          <a:xfrm>
            <a:off x="4629150" y="1357313"/>
            <a:ext cx="2109788" cy="1169987"/>
            <a:chOff x="1160" y="1259"/>
            <a:chExt cx="1329" cy="737"/>
          </a:xfrm>
        </p:grpSpPr>
        <p:sp>
          <p:nvSpPr>
            <p:cNvPr id="18435" name="Rectangle 4"/>
            <p:cNvSpPr>
              <a:spLocks noChangeArrowheads="1"/>
            </p:cNvSpPr>
            <p:nvPr/>
          </p:nvSpPr>
          <p:spPr bwMode="auto">
            <a:xfrm>
              <a:off x="2047" y="1365"/>
              <a:ext cx="294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36" name="Freeform 5"/>
            <p:cNvSpPr>
              <a:spLocks noChangeArrowheads="1"/>
            </p:cNvSpPr>
            <p:nvPr/>
          </p:nvSpPr>
          <p:spPr bwMode="auto">
            <a:xfrm>
              <a:off x="2047" y="1259"/>
              <a:ext cx="441" cy="106"/>
            </a:xfrm>
            <a:custGeom>
              <a:avLst/>
              <a:gdLst>
                <a:gd name="T0" fmla="*/ 0 w 441"/>
                <a:gd name="T1" fmla="*/ 106 h 106"/>
                <a:gd name="T2" fmla="*/ 147 w 441"/>
                <a:gd name="T3" fmla="*/ 0 h 106"/>
                <a:gd name="T4" fmla="*/ 441 w 441"/>
                <a:gd name="T5" fmla="*/ 0 h 106"/>
                <a:gd name="T6" fmla="*/ 294 w 441"/>
                <a:gd name="T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1" h="106">
                  <a:moveTo>
                    <a:pt x="0" y="106"/>
                  </a:moveTo>
                  <a:lnTo>
                    <a:pt x="147" y="0"/>
                  </a:lnTo>
                  <a:lnTo>
                    <a:pt x="441" y="0"/>
                  </a:lnTo>
                  <a:lnTo>
                    <a:pt x="294" y="1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Line 6"/>
            <p:cNvSpPr>
              <a:spLocks noChangeShapeType="1"/>
            </p:cNvSpPr>
            <p:nvPr/>
          </p:nvSpPr>
          <p:spPr bwMode="auto">
            <a:xfrm>
              <a:off x="2488" y="1259"/>
              <a:ext cx="1" cy="2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 flipV="1">
              <a:off x="2341" y="1469"/>
              <a:ext cx="147" cy="10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Rectangle 8"/>
            <p:cNvSpPr>
              <a:spLocks noChangeArrowheads="1"/>
            </p:cNvSpPr>
            <p:nvPr/>
          </p:nvSpPr>
          <p:spPr bwMode="auto">
            <a:xfrm>
              <a:off x="1752" y="1365"/>
              <a:ext cx="295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0" name="Freeform 9"/>
            <p:cNvSpPr>
              <a:spLocks noChangeArrowheads="1"/>
            </p:cNvSpPr>
            <p:nvPr/>
          </p:nvSpPr>
          <p:spPr bwMode="auto">
            <a:xfrm>
              <a:off x="1752" y="1259"/>
              <a:ext cx="442" cy="106"/>
            </a:xfrm>
            <a:custGeom>
              <a:avLst/>
              <a:gdLst>
                <a:gd name="T0" fmla="*/ 0 w 442"/>
                <a:gd name="T1" fmla="*/ 106 h 106"/>
                <a:gd name="T2" fmla="*/ 148 w 442"/>
                <a:gd name="T3" fmla="*/ 0 h 106"/>
                <a:gd name="T4" fmla="*/ 442 w 442"/>
                <a:gd name="T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2" h="106">
                  <a:moveTo>
                    <a:pt x="0" y="106"/>
                  </a:moveTo>
                  <a:lnTo>
                    <a:pt x="148" y="0"/>
                  </a:lnTo>
                  <a:lnTo>
                    <a:pt x="442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Rectangle 10"/>
            <p:cNvSpPr>
              <a:spLocks noChangeArrowheads="1"/>
            </p:cNvSpPr>
            <p:nvPr/>
          </p:nvSpPr>
          <p:spPr bwMode="auto">
            <a:xfrm>
              <a:off x="1455" y="1365"/>
              <a:ext cx="297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2" name="Freeform 11"/>
            <p:cNvSpPr>
              <a:spLocks noChangeArrowheads="1"/>
            </p:cNvSpPr>
            <p:nvPr/>
          </p:nvSpPr>
          <p:spPr bwMode="auto">
            <a:xfrm>
              <a:off x="1455" y="1259"/>
              <a:ext cx="445" cy="106"/>
            </a:xfrm>
            <a:custGeom>
              <a:avLst/>
              <a:gdLst>
                <a:gd name="T0" fmla="*/ 0 w 445"/>
                <a:gd name="T1" fmla="*/ 106 h 106"/>
                <a:gd name="T2" fmla="*/ 150 w 445"/>
                <a:gd name="T3" fmla="*/ 0 h 106"/>
                <a:gd name="T4" fmla="*/ 445 w 445"/>
                <a:gd name="T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106">
                  <a:moveTo>
                    <a:pt x="0" y="106"/>
                  </a:moveTo>
                  <a:lnTo>
                    <a:pt x="150" y="0"/>
                  </a:lnTo>
                  <a:lnTo>
                    <a:pt x="44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Rectangle 12"/>
            <p:cNvSpPr>
              <a:spLocks noChangeArrowheads="1"/>
            </p:cNvSpPr>
            <p:nvPr/>
          </p:nvSpPr>
          <p:spPr bwMode="auto">
            <a:xfrm>
              <a:off x="1160" y="1365"/>
              <a:ext cx="295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4" name="Freeform 13"/>
            <p:cNvSpPr>
              <a:spLocks noChangeArrowheads="1"/>
            </p:cNvSpPr>
            <p:nvPr/>
          </p:nvSpPr>
          <p:spPr bwMode="auto">
            <a:xfrm>
              <a:off x="1160" y="1259"/>
              <a:ext cx="445" cy="106"/>
            </a:xfrm>
            <a:custGeom>
              <a:avLst/>
              <a:gdLst>
                <a:gd name="T0" fmla="*/ 0 w 445"/>
                <a:gd name="T1" fmla="*/ 106 h 106"/>
                <a:gd name="T2" fmla="*/ 148 w 445"/>
                <a:gd name="T3" fmla="*/ 0 h 106"/>
                <a:gd name="T4" fmla="*/ 445 w 445"/>
                <a:gd name="T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106">
                  <a:moveTo>
                    <a:pt x="0" y="106"/>
                  </a:moveTo>
                  <a:lnTo>
                    <a:pt x="148" y="0"/>
                  </a:lnTo>
                  <a:lnTo>
                    <a:pt x="44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Rectangle 14"/>
            <p:cNvSpPr>
              <a:spLocks noChangeArrowheads="1"/>
            </p:cNvSpPr>
            <p:nvPr/>
          </p:nvSpPr>
          <p:spPr bwMode="auto">
            <a:xfrm>
              <a:off x="2047" y="1575"/>
              <a:ext cx="294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6" name="Rectangle 15"/>
            <p:cNvSpPr>
              <a:spLocks noChangeArrowheads="1"/>
            </p:cNvSpPr>
            <p:nvPr/>
          </p:nvSpPr>
          <p:spPr bwMode="auto">
            <a:xfrm>
              <a:off x="1752" y="1575"/>
              <a:ext cx="295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7" name="Rectangle 16"/>
            <p:cNvSpPr>
              <a:spLocks noChangeArrowheads="1"/>
            </p:cNvSpPr>
            <p:nvPr/>
          </p:nvSpPr>
          <p:spPr bwMode="auto">
            <a:xfrm>
              <a:off x="1455" y="1575"/>
              <a:ext cx="297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8" name="Rectangle 17"/>
            <p:cNvSpPr>
              <a:spLocks noChangeArrowheads="1"/>
            </p:cNvSpPr>
            <p:nvPr/>
          </p:nvSpPr>
          <p:spPr bwMode="auto">
            <a:xfrm>
              <a:off x="1160" y="1575"/>
              <a:ext cx="295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49" name="Rectangle 18"/>
            <p:cNvSpPr>
              <a:spLocks noChangeArrowheads="1"/>
            </p:cNvSpPr>
            <p:nvPr/>
          </p:nvSpPr>
          <p:spPr bwMode="auto">
            <a:xfrm>
              <a:off x="2047" y="1786"/>
              <a:ext cx="294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50" name="Rectangle 19"/>
            <p:cNvSpPr>
              <a:spLocks noChangeArrowheads="1"/>
            </p:cNvSpPr>
            <p:nvPr/>
          </p:nvSpPr>
          <p:spPr bwMode="auto">
            <a:xfrm>
              <a:off x="1752" y="1786"/>
              <a:ext cx="295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51" name="Rectangle 20"/>
            <p:cNvSpPr>
              <a:spLocks noChangeArrowheads="1"/>
            </p:cNvSpPr>
            <p:nvPr/>
          </p:nvSpPr>
          <p:spPr bwMode="auto">
            <a:xfrm>
              <a:off x="1455" y="1786"/>
              <a:ext cx="297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52" name="Rectangle 21"/>
            <p:cNvSpPr>
              <a:spLocks noChangeArrowheads="1"/>
            </p:cNvSpPr>
            <p:nvPr/>
          </p:nvSpPr>
          <p:spPr bwMode="auto">
            <a:xfrm>
              <a:off x="1160" y="1786"/>
              <a:ext cx="295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53" name="Freeform 22"/>
            <p:cNvSpPr>
              <a:spLocks noChangeArrowheads="1"/>
            </p:cNvSpPr>
            <p:nvPr/>
          </p:nvSpPr>
          <p:spPr bwMode="auto">
            <a:xfrm>
              <a:off x="2341" y="1469"/>
              <a:ext cx="147" cy="317"/>
            </a:xfrm>
            <a:custGeom>
              <a:avLst/>
              <a:gdLst>
                <a:gd name="T0" fmla="*/ 0 w 147"/>
                <a:gd name="T1" fmla="*/ 317 h 317"/>
                <a:gd name="T2" fmla="*/ 147 w 147"/>
                <a:gd name="T3" fmla="*/ 210 h 317"/>
                <a:gd name="T4" fmla="*/ 147 w 147"/>
                <a:gd name="T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7">
                  <a:moveTo>
                    <a:pt x="0" y="317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Freeform 23"/>
            <p:cNvSpPr>
              <a:spLocks noChangeArrowheads="1"/>
            </p:cNvSpPr>
            <p:nvPr/>
          </p:nvSpPr>
          <p:spPr bwMode="auto">
            <a:xfrm>
              <a:off x="2341" y="1679"/>
              <a:ext cx="147" cy="317"/>
            </a:xfrm>
            <a:custGeom>
              <a:avLst/>
              <a:gdLst>
                <a:gd name="T0" fmla="*/ 0 w 147"/>
                <a:gd name="T1" fmla="*/ 317 h 317"/>
                <a:gd name="T2" fmla="*/ 147 w 147"/>
                <a:gd name="T3" fmla="*/ 210 h 317"/>
                <a:gd name="T4" fmla="*/ 147 w 147"/>
                <a:gd name="T5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7">
                  <a:moveTo>
                    <a:pt x="0" y="317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5" name="Freeform 24"/>
          <p:cNvSpPr>
            <a:spLocks noChangeArrowheads="1"/>
          </p:cNvSpPr>
          <p:nvPr/>
        </p:nvSpPr>
        <p:spPr bwMode="auto">
          <a:xfrm>
            <a:off x="5149850" y="2735263"/>
            <a:ext cx="752475" cy="596900"/>
          </a:xfrm>
          <a:custGeom>
            <a:avLst/>
            <a:gdLst>
              <a:gd name="T0" fmla="*/ 235 w 474"/>
              <a:gd name="T1" fmla="*/ 376 h 376"/>
              <a:gd name="T2" fmla="*/ 0 w 474"/>
              <a:gd name="T3" fmla="*/ 210 h 376"/>
              <a:gd name="T4" fmla="*/ 154 w 474"/>
              <a:gd name="T5" fmla="*/ 210 h 376"/>
              <a:gd name="T6" fmla="*/ 154 w 474"/>
              <a:gd name="T7" fmla="*/ 0 h 376"/>
              <a:gd name="T8" fmla="*/ 316 w 474"/>
              <a:gd name="T9" fmla="*/ 0 h 376"/>
              <a:gd name="T10" fmla="*/ 316 w 474"/>
              <a:gd name="T11" fmla="*/ 210 h 376"/>
              <a:gd name="T12" fmla="*/ 474 w 474"/>
              <a:gd name="T13" fmla="*/ 210 h 376"/>
              <a:gd name="T14" fmla="*/ 235 w 474"/>
              <a:gd name="T15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74" h="376">
                <a:moveTo>
                  <a:pt x="235" y="376"/>
                </a:moveTo>
                <a:lnTo>
                  <a:pt x="0" y="210"/>
                </a:lnTo>
                <a:lnTo>
                  <a:pt x="154" y="210"/>
                </a:lnTo>
                <a:lnTo>
                  <a:pt x="154" y="0"/>
                </a:lnTo>
                <a:lnTo>
                  <a:pt x="316" y="0"/>
                </a:lnTo>
                <a:lnTo>
                  <a:pt x="316" y="210"/>
                </a:lnTo>
                <a:lnTo>
                  <a:pt x="474" y="210"/>
                </a:lnTo>
                <a:lnTo>
                  <a:pt x="235" y="376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8456" name="Group 25"/>
          <p:cNvGrpSpPr>
            <a:grpSpLocks/>
          </p:cNvGrpSpPr>
          <p:nvPr/>
        </p:nvGrpSpPr>
        <p:grpSpPr bwMode="auto">
          <a:xfrm>
            <a:off x="3649663" y="3567113"/>
            <a:ext cx="708025" cy="1173162"/>
            <a:chOff x="543" y="2651"/>
            <a:chExt cx="446" cy="739"/>
          </a:xfrm>
        </p:grpSpPr>
        <p:sp>
          <p:nvSpPr>
            <p:cNvPr id="18457" name="Rectangle 26"/>
            <p:cNvSpPr>
              <a:spLocks noChangeArrowheads="1"/>
            </p:cNvSpPr>
            <p:nvPr/>
          </p:nvSpPr>
          <p:spPr bwMode="auto">
            <a:xfrm>
              <a:off x="543" y="2757"/>
              <a:ext cx="294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58" name="Freeform 27"/>
            <p:cNvSpPr>
              <a:spLocks noChangeArrowheads="1"/>
            </p:cNvSpPr>
            <p:nvPr/>
          </p:nvSpPr>
          <p:spPr bwMode="auto">
            <a:xfrm>
              <a:off x="543" y="2651"/>
              <a:ext cx="445" cy="106"/>
            </a:xfrm>
            <a:custGeom>
              <a:avLst/>
              <a:gdLst>
                <a:gd name="T0" fmla="*/ 0 w 445"/>
                <a:gd name="T1" fmla="*/ 106 h 106"/>
                <a:gd name="T2" fmla="*/ 147 w 445"/>
                <a:gd name="T3" fmla="*/ 0 h 106"/>
                <a:gd name="T4" fmla="*/ 445 w 445"/>
                <a:gd name="T5" fmla="*/ 0 h 106"/>
                <a:gd name="T6" fmla="*/ 294 w 445"/>
                <a:gd name="T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5" h="106">
                  <a:moveTo>
                    <a:pt x="0" y="106"/>
                  </a:moveTo>
                  <a:lnTo>
                    <a:pt x="147" y="0"/>
                  </a:lnTo>
                  <a:lnTo>
                    <a:pt x="445" y="0"/>
                  </a:lnTo>
                  <a:lnTo>
                    <a:pt x="294" y="1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Line 28"/>
            <p:cNvSpPr>
              <a:spLocks noChangeShapeType="1"/>
            </p:cNvSpPr>
            <p:nvPr/>
          </p:nvSpPr>
          <p:spPr bwMode="auto">
            <a:xfrm>
              <a:off x="988" y="2651"/>
              <a:ext cx="1" cy="2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29"/>
            <p:cNvSpPr>
              <a:spLocks noChangeShapeType="1"/>
            </p:cNvSpPr>
            <p:nvPr/>
          </p:nvSpPr>
          <p:spPr bwMode="auto">
            <a:xfrm flipV="1">
              <a:off x="837" y="2864"/>
              <a:ext cx="151" cy="10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Rectangle 30"/>
            <p:cNvSpPr>
              <a:spLocks noChangeArrowheads="1"/>
            </p:cNvSpPr>
            <p:nvPr/>
          </p:nvSpPr>
          <p:spPr bwMode="auto">
            <a:xfrm>
              <a:off x="543" y="2967"/>
              <a:ext cx="294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62" name="Rectangle 31"/>
            <p:cNvSpPr>
              <a:spLocks noChangeArrowheads="1"/>
            </p:cNvSpPr>
            <p:nvPr/>
          </p:nvSpPr>
          <p:spPr bwMode="auto">
            <a:xfrm>
              <a:off x="543" y="3178"/>
              <a:ext cx="294" cy="212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63" name="Freeform 32"/>
            <p:cNvSpPr>
              <a:spLocks noChangeArrowheads="1"/>
            </p:cNvSpPr>
            <p:nvPr/>
          </p:nvSpPr>
          <p:spPr bwMode="auto">
            <a:xfrm>
              <a:off x="837" y="2864"/>
              <a:ext cx="151" cy="314"/>
            </a:xfrm>
            <a:custGeom>
              <a:avLst/>
              <a:gdLst>
                <a:gd name="T0" fmla="*/ 0 w 151"/>
                <a:gd name="T1" fmla="*/ 314 h 314"/>
                <a:gd name="T2" fmla="*/ 151 w 151"/>
                <a:gd name="T3" fmla="*/ 210 h 314"/>
                <a:gd name="T4" fmla="*/ 151 w 151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314">
                  <a:moveTo>
                    <a:pt x="0" y="314"/>
                  </a:moveTo>
                  <a:lnTo>
                    <a:pt x="151" y="210"/>
                  </a:lnTo>
                  <a:lnTo>
                    <a:pt x="151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Freeform 33"/>
            <p:cNvSpPr>
              <a:spLocks noChangeArrowheads="1"/>
            </p:cNvSpPr>
            <p:nvPr/>
          </p:nvSpPr>
          <p:spPr bwMode="auto">
            <a:xfrm>
              <a:off x="837" y="3074"/>
              <a:ext cx="151" cy="316"/>
            </a:xfrm>
            <a:custGeom>
              <a:avLst/>
              <a:gdLst>
                <a:gd name="T0" fmla="*/ 0 w 151"/>
                <a:gd name="T1" fmla="*/ 316 h 316"/>
                <a:gd name="T2" fmla="*/ 151 w 151"/>
                <a:gd name="T3" fmla="*/ 210 h 316"/>
                <a:gd name="T4" fmla="*/ 151 w 151"/>
                <a:gd name="T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316">
                  <a:moveTo>
                    <a:pt x="0" y="316"/>
                  </a:moveTo>
                  <a:lnTo>
                    <a:pt x="151" y="210"/>
                  </a:lnTo>
                  <a:lnTo>
                    <a:pt x="151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65" name="Group 34"/>
          <p:cNvGrpSpPr>
            <a:grpSpLocks/>
          </p:cNvGrpSpPr>
          <p:nvPr/>
        </p:nvGrpSpPr>
        <p:grpSpPr bwMode="auto">
          <a:xfrm>
            <a:off x="4822825" y="3567113"/>
            <a:ext cx="701675" cy="1173162"/>
            <a:chOff x="1282" y="2651"/>
            <a:chExt cx="442" cy="739"/>
          </a:xfrm>
        </p:grpSpPr>
        <p:sp>
          <p:nvSpPr>
            <p:cNvPr id="18466" name="Rectangle 35"/>
            <p:cNvSpPr>
              <a:spLocks noChangeArrowheads="1"/>
            </p:cNvSpPr>
            <p:nvPr/>
          </p:nvSpPr>
          <p:spPr bwMode="auto">
            <a:xfrm>
              <a:off x="1282" y="2757"/>
              <a:ext cx="294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67" name="Freeform 36"/>
            <p:cNvSpPr>
              <a:spLocks noChangeArrowheads="1"/>
            </p:cNvSpPr>
            <p:nvPr/>
          </p:nvSpPr>
          <p:spPr bwMode="auto">
            <a:xfrm>
              <a:off x="1282" y="2651"/>
              <a:ext cx="441" cy="106"/>
            </a:xfrm>
            <a:custGeom>
              <a:avLst/>
              <a:gdLst>
                <a:gd name="T0" fmla="*/ 0 w 441"/>
                <a:gd name="T1" fmla="*/ 106 h 106"/>
                <a:gd name="T2" fmla="*/ 147 w 441"/>
                <a:gd name="T3" fmla="*/ 0 h 106"/>
                <a:gd name="T4" fmla="*/ 441 w 441"/>
                <a:gd name="T5" fmla="*/ 0 h 106"/>
                <a:gd name="T6" fmla="*/ 294 w 441"/>
                <a:gd name="T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1" h="106">
                  <a:moveTo>
                    <a:pt x="0" y="106"/>
                  </a:moveTo>
                  <a:lnTo>
                    <a:pt x="147" y="0"/>
                  </a:lnTo>
                  <a:lnTo>
                    <a:pt x="441" y="0"/>
                  </a:lnTo>
                  <a:lnTo>
                    <a:pt x="294" y="1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37"/>
            <p:cNvSpPr>
              <a:spLocks noChangeShapeType="1"/>
            </p:cNvSpPr>
            <p:nvPr/>
          </p:nvSpPr>
          <p:spPr bwMode="auto">
            <a:xfrm>
              <a:off x="1723" y="2651"/>
              <a:ext cx="1" cy="2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8"/>
            <p:cNvSpPr>
              <a:spLocks noChangeShapeType="1"/>
            </p:cNvSpPr>
            <p:nvPr/>
          </p:nvSpPr>
          <p:spPr bwMode="auto">
            <a:xfrm flipV="1">
              <a:off x="1576" y="2864"/>
              <a:ext cx="147" cy="10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Rectangle 39"/>
            <p:cNvSpPr>
              <a:spLocks noChangeArrowheads="1"/>
            </p:cNvSpPr>
            <p:nvPr/>
          </p:nvSpPr>
          <p:spPr bwMode="auto">
            <a:xfrm>
              <a:off x="1282" y="2967"/>
              <a:ext cx="294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71" name="Rectangle 40"/>
            <p:cNvSpPr>
              <a:spLocks noChangeArrowheads="1"/>
            </p:cNvSpPr>
            <p:nvPr/>
          </p:nvSpPr>
          <p:spPr bwMode="auto">
            <a:xfrm>
              <a:off x="1282" y="3178"/>
              <a:ext cx="294" cy="212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72" name="Freeform 41"/>
            <p:cNvSpPr>
              <a:spLocks noChangeArrowheads="1"/>
            </p:cNvSpPr>
            <p:nvPr/>
          </p:nvSpPr>
          <p:spPr bwMode="auto">
            <a:xfrm>
              <a:off x="1576" y="2864"/>
              <a:ext cx="147" cy="314"/>
            </a:xfrm>
            <a:custGeom>
              <a:avLst/>
              <a:gdLst>
                <a:gd name="T0" fmla="*/ 0 w 147"/>
                <a:gd name="T1" fmla="*/ 314 h 314"/>
                <a:gd name="T2" fmla="*/ 147 w 147"/>
                <a:gd name="T3" fmla="*/ 210 h 314"/>
                <a:gd name="T4" fmla="*/ 147 w 147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4">
                  <a:moveTo>
                    <a:pt x="0" y="314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Freeform 42"/>
            <p:cNvSpPr>
              <a:spLocks noChangeArrowheads="1"/>
            </p:cNvSpPr>
            <p:nvPr/>
          </p:nvSpPr>
          <p:spPr bwMode="auto">
            <a:xfrm>
              <a:off x="1576" y="3074"/>
              <a:ext cx="147" cy="316"/>
            </a:xfrm>
            <a:custGeom>
              <a:avLst/>
              <a:gdLst>
                <a:gd name="T0" fmla="*/ 0 w 147"/>
                <a:gd name="T1" fmla="*/ 316 h 316"/>
                <a:gd name="T2" fmla="*/ 147 w 147"/>
                <a:gd name="T3" fmla="*/ 210 h 316"/>
                <a:gd name="T4" fmla="*/ 147 w 147"/>
                <a:gd name="T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6">
                  <a:moveTo>
                    <a:pt x="0" y="316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74" name="Group 43"/>
          <p:cNvGrpSpPr>
            <a:grpSpLocks/>
          </p:cNvGrpSpPr>
          <p:nvPr/>
        </p:nvGrpSpPr>
        <p:grpSpPr bwMode="auto">
          <a:xfrm>
            <a:off x="7162800" y="3567113"/>
            <a:ext cx="708025" cy="1173162"/>
            <a:chOff x="2756" y="2651"/>
            <a:chExt cx="446" cy="739"/>
          </a:xfrm>
        </p:grpSpPr>
        <p:sp>
          <p:nvSpPr>
            <p:cNvPr id="18475" name="Rectangle 44"/>
            <p:cNvSpPr>
              <a:spLocks noChangeArrowheads="1"/>
            </p:cNvSpPr>
            <p:nvPr/>
          </p:nvSpPr>
          <p:spPr bwMode="auto">
            <a:xfrm>
              <a:off x="2756" y="2757"/>
              <a:ext cx="298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76" name="Freeform 45"/>
            <p:cNvSpPr>
              <a:spLocks noChangeArrowheads="1"/>
            </p:cNvSpPr>
            <p:nvPr/>
          </p:nvSpPr>
          <p:spPr bwMode="auto">
            <a:xfrm>
              <a:off x="2756" y="2651"/>
              <a:ext cx="445" cy="106"/>
            </a:xfrm>
            <a:custGeom>
              <a:avLst/>
              <a:gdLst>
                <a:gd name="T0" fmla="*/ 0 w 445"/>
                <a:gd name="T1" fmla="*/ 106 h 106"/>
                <a:gd name="T2" fmla="*/ 151 w 445"/>
                <a:gd name="T3" fmla="*/ 0 h 106"/>
                <a:gd name="T4" fmla="*/ 445 w 445"/>
                <a:gd name="T5" fmla="*/ 0 h 106"/>
                <a:gd name="T6" fmla="*/ 298 w 445"/>
                <a:gd name="T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5" h="106">
                  <a:moveTo>
                    <a:pt x="0" y="106"/>
                  </a:moveTo>
                  <a:lnTo>
                    <a:pt x="151" y="0"/>
                  </a:lnTo>
                  <a:lnTo>
                    <a:pt x="445" y="0"/>
                  </a:lnTo>
                  <a:lnTo>
                    <a:pt x="298" y="1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Line 46"/>
            <p:cNvSpPr>
              <a:spLocks noChangeShapeType="1"/>
            </p:cNvSpPr>
            <p:nvPr/>
          </p:nvSpPr>
          <p:spPr bwMode="auto">
            <a:xfrm>
              <a:off x="3201" y="2651"/>
              <a:ext cx="1" cy="2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47"/>
            <p:cNvSpPr>
              <a:spLocks noChangeShapeType="1"/>
            </p:cNvSpPr>
            <p:nvPr/>
          </p:nvSpPr>
          <p:spPr bwMode="auto">
            <a:xfrm flipV="1">
              <a:off x="3054" y="2864"/>
              <a:ext cx="147" cy="10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Rectangle 48"/>
            <p:cNvSpPr>
              <a:spLocks noChangeArrowheads="1"/>
            </p:cNvSpPr>
            <p:nvPr/>
          </p:nvSpPr>
          <p:spPr bwMode="auto">
            <a:xfrm>
              <a:off x="2756" y="2967"/>
              <a:ext cx="298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80" name="Rectangle 49"/>
            <p:cNvSpPr>
              <a:spLocks noChangeArrowheads="1"/>
            </p:cNvSpPr>
            <p:nvPr/>
          </p:nvSpPr>
          <p:spPr bwMode="auto">
            <a:xfrm>
              <a:off x="2756" y="3178"/>
              <a:ext cx="298" cy="212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81" name="Freeform 50"/>
            <p:cNvSpPr>
              <a:spLocks noChangeArrowheads="1"/>
            </p:cNvSpPr>
            <p:nvPr/>
          </p:nvSpPr>
          <p:spPr bwMode="auto">
            <a:xfrm>
              <a:off x="3054" y="2864"/>
              <a:ext cx="147" cy="314"/>
            </a:xfrm>
            <a:custGeom>
              <a:avLst/>
              <a:gdLst>
                <a:gd name="T0" fmla="*/ 0 w 147"/>
                <a:gd name="T1" fmla="*/ 314 h 314"/>
                <a:gd name="T2" fmla="*/ 147 w 147"/>
                <a:gd name="T3" fmla="*/ 210 h 314"/>
                <a:gd name="T4" fmla="*/ 147 w 147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4">
                  <a:moveTo>
                    <a:pt x="0" y="314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Freeform 51"/>
            <p:cNvSpPr>
              <a:spLocks noChangeArrowheads="1"/>
            </p:cNvSpPr>
            <p:nvPr/>
          </p:nvSpPr>
          <p:spPr bwMode="auto">
            <a:xfrm>
              <a:off x="3054" y="3074"/>
              <a:ext cx="147" cy="316"/>
            </a:xfrm>
            <a:custGeom>
              <a:avLst/>
              <a:gdLst>
                <a:gd name="T0" fmla="*/ 0 w 147"/>
                <a:gd name="T1" fmla="*/ 316 h 316"/>
                <a:gd name="T2" fmla="*/ 147 w 147"/>
                <a:gd name="T3" fmla="*/ 210 h 316"/>
                <a:gd name="T4" fmla="*/ 147 w 147"/>
                <a:gd name="T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6">
                  <a:moveTo>
                    <a:pt x="0" y="316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83" name="Group 52"/>
          <p:cNvGrpSpPr>
            <a:grpSpLocks/>
          </p:cNvGrpSpPr>
          <p:nvPr/>
        </p:nvGrpSpPr>
        <p:grpSpPr bwMode="auto">
          <a:xfrm>
            <a:off x="3924300" y="3332163"/>
            <a:ext cx="1323975" cy="1573212"/>
            <a:chOff x="716" y="2503"/>
            <a:chExt cx="834" cy="991"/>
          </a:xfrm>
        </p:grpSpPr>
        <p:sp>
          <p:nvSpPr>
            <p:cNvPr id="18484" name="Freeform 53"/>
            <p:cNvSpPr>
              <a:spLocks noChangeArrowheads="1"/>
            </p:cNvSpPr>
            <p:nvPr/>
          </p:nvSpPr>
          <p:spPr bwMode="auto">
            <a:xfrm>
              <a:off x="716" y="2656"/>
              <a:ext cx="437" cy="838"/>
            </a:xfrm>
            <a:custGeom>
              <a:avLst/>
              <a:gdLst>
                <a:gd name="T0" fmla="*/ 0 w 437"/>
                <a:gd name="T1" fmla="*/ 718 h 838"/>
                <a:gd name="T2" fmla="*/ 3 w 437"/>
                <a:gd name="T3" fmla="*/ 748 h 838"/>
                <a:gd name="T4" fmla="*/ 25 w 437"/>
                <a:gd name="T5" fmla="*/ 778 h 838"/>
                <a:gd name="T6" fmla="*/ 55 w 437"/>
                <a:gd name="T7" fmla="*/ 803 h 838"/>
                <a:gd name="T8" fmla="*/ 95 w 437"/>
                <a:gd name="T9" fmla="*/ 822 h 838"/>
                <a:gd name="T10" fmla="*/ 143 w 437"/>
                <a:gd name="T11" fmla="*/ 835 h 838"/>
                <a:gd name="T12" fmla="*/ 194 w 437"/>
                <a:gd name="T13" fmla="*/ 838 h 838"/>
                <a:gd name="T14" fmla="*/ 220 w 437"/>
                <a:gd name="T15" fmla="*/ 833 h 838"/>
                <a:gd name="T16" fmla="*/ 242 w 437"/>
                <a:gd name="T17" fmla="*/ 819 h 838"/>
                <a:gd name="T18" fmla="*/ 268 w 437"/>
                <a:gd name="T19" fmla="*/ 797 h 838"/>
                <a:gd name="T20" fmla="*/ 294 w 437"/>
                <a:gd name="T21" fmla="*/ 767 h 838"/>
                <a:gd name="T22" fmla="*/ 316 w 437"/>
                <a:gd name="T23" fmla="*/ 726 h 838"/>
                <a:gd name="T24" fmla="*/ 338 w 437"/>
                <a:gd name="T25" fmla="*/ 680 h 838"/>
                <a:gd name="T26" fmla="*/ 356 w 437"/>
                <a:gd name="T27" fmla="*/ 622 h 838"/>
                <a:gd name="T28" fmla="*/ 375 w 437"/>
                <a:gd name="T29" fmla="*/ 562 h 838"/>
                <a:gd name="T30" fmla="*/ 389 w 437"/>
                <a:gd name="T31" fmla="*/ 494 h 838"/>
                <a:gd name="T32" fmla="*/ 404 w 437"/>
                <a:gd name="T33" fmla="*/ 421 h 838"/>
                <a:gd name="T34" fmla="*/ 415 w 437"/>
                <a:gd name="T35" fmla="*/ 341 h 838"/>
                <a:gd name="T36" fmla="*/ 426 w 437"/>
                <a:gd name="T37" fmla="*/ 260 h 838"/>
                <a:gd name="T38" fmla="*/ 430 w 437"/>
                <a:gd name="T39" fmla="*/ 175 h 838"/>
                <a:gd name="T40" fmla="*/ 433 w 437"/>
                <a:gd name="T41" fmla="*/ 88 h 838"/>
                <a:gd name="T42" fmla="*/ 437 w 437"/>
                <a:gd name="T43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7" h="838">
                  <a:moveTo>
                    <a:pt x="0" y="718"/>
                  </a:moveTo>
                  <a:lnTo>
                    <a:pt x="3" y="748"/>
                  </a:lnTo>
                  <a:lnTo>
                    <a:pt x="25" y="778"/>
                  </a:lnTo>
                  <a:lnTo>
                    <a:pt x="55" y="803"/>
                  </a:lnTo>
                  <a:lnTo>
                    <a:pt x="95" y="822"/>
                  </a:lnTo>
                  <a:lnTo>
                    <a:pt x="143" y="835"/>
                  </a:lnTo>
                  <a:lnTo>
                    <a:pt x="194" y="838"/>
                  </a:lnTo>
                  <a:lnTo>
                    <a:pt x="220" y="833"/>
                  </a:lnTo>
                  <a:lnTo>
                    <a:pt x="242" y="819"/>
                  </a:lnTo>
                  <a:lnTo>
                    <a:pt x="268" y="797"/>
                  </a:lnTo>
                  <a:lnTo>
                    <a:pt x="294" y="767"/>
                  </a:lnTo>
                  <a:lnTo>
                    <a:pt x="316" y="726"/>
                  </a:lnTo>
                  <a:lnTo>
                    <a:pt x="338" y="680"/>
                  </a:lnTo>
                  <a:lnTo>
                    <a:pt x="356" y="622"/>
                  </a:lnTo>
                  <a:lnTo>
                    <a:pt x="375" y="562"/>
                  </a:lnTo>
                  <a:lnTo>
                    <a:pt x="389" y="494"/>
                  </a:lnTo>
                  <a:lnTo>
                    <a:pt x="404" y="421"/>
                  </a:lnTo>
                  <a:lnTo>
                    <a:pt x="415" y="341"/>
                  </a:lnTo>
                  <a:lnTo>
                    <a:pt x="426" y="260"/>
                  </a:lnTo>
                  <a:lnTo>
                    <a:pt x="430" y="175"/>
                  </a:lnTo>
                  <a:lnTo>
                    <a:pt x="433" y="88"/>
                  </a:lnTo>
                  <a:lnTo>
                    <a:pt x="43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Freeform 54"/>
            <p:cNvSpPr>
              <a:spLocks noChangeArrowheads="1"/>
            </p:cNvSpPr>
            <p:nvPr/>
          </p:nvSpPr>
          <p:spPr bwMode="auto">
            <a:xfrm>
              <a:off x="1153" y="2503"/>
              <a:ext cx="364" cy="194"/>
            </a:xfrm>
            <a:custGeom>
              <a:avLst/>
              <a:gdLst>
                <a:gd name="T0" fmla="*/ 0 w 364"/>
                <a:gd name="T1" fmla="*/ 153 h 194"/>
                <a:gd name="T2" fmla="*/ 4 w 364"/>
                <a:gd name="T3" fmla="*/ 120 h 194"/>
                <a:gd name="T4" fmla="*/ 22 w 364"/>
                <a:gd name="T5" fmla="*/ 88 h 194"/>
                <a:gd name="T6" fmla="*/ 52 w 364"/>
                <a:gd name="T7" fmla="*/ 58 h 194"/>
                <a:gd name="T8" fmla="*/ 92 w 364"/>
                <a:gd name="T9" fmla="*/ 36 h 194"/>
                <a:gd name="T10" fmla="*/ 136 w 364"/>
                <a:gd name="T11" fmla="*/ 17 h 194"/>
                <a:gd name="T12" fmla="*/ 188 w 364"/>
                <a:gd name="T13" fmla="*/ 6 h 194"/>
                <a:gd name="T14" fmla="*/ 243 w 364"/>
                <a:gd name="T15" fmla="*/ 0 h 194"/>
                <a:gd name="T16" fmla="*/ 269 w 364"/>
                <a:gd name="T17" fmla="*/ 6 h 194"/>
                <a:gd name="T18" fmla="*/ 291 w 364"/>
                <a:gd name="T19" fmla="*/ 20 h 194"/>
                <a:gd name="T20" fmla="*/ 313 w 364"/>
                <a:gd name="T21" fmla="*/ 41 h 194"/>
                <a:gd name="T22" fmla="*/ 331 w 364"/>
                <a:gd name="T23" fmla="*/ 71 h 194"/>
                <a:gd name="T24" fmla="*/ 346 w 364"/>
                <a:gd name="T25" fmla="*/ 107 h 194"/>
                <a:gd name="T26" fmla="*/ 357 w 364"/>
                <a:gd name="T27" fmla="*/ 151 h 194"/>
                <a:gd name="T28" fmla="*/ 364 w 364"/>
                <a:gd name="T29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4" h="194">
                  <a:moveTo>
                    <a:pt x="0" y="153"/>
                  </a:moveTo>
                  <a:lnTo>
                    <a:pt x="4" y="120"/>
                  </a:lnTo>
                  <a:lnTo>
                    <a:pt x="22" y="88"/>
                  </a:lnTo>
                  <a:lnTo>
                    <a:pt x="52" y="58"/>
                  </a:lnTo>
                  <a:lnTo>
                    <a:pt x="92" y="36"/>
                  </a:lnTo>
                  <a:lnTo>
                    <a:pt x="136" y="17"/>
                  </a:lnTo>
                  <a:lnTo>
                    <a:pt x="188" y="6"/>
                  </a:lnTo>
                  <a:lnTo>
                    <a:pt x="243" y="0"/>
                  </a:lnTo>
                  <a:lnTo>
                    <a:pt x="269" y="6"/>
                  </a:lnTo>
                  <a:lnTo>
                    <a:pt x="291" y="20"/>
                  </a:lnTo>
                  <a:lnTo>
                    <a:pt x="313" y="41"/>
                  </a:lnTo>
                  <a:lnTo>
                    <a:pt x="331" y="71"/>
                  </a:lnTo>
                  <a:lnTo>
                    <a:pt x="346" y="107"/>
                  </a:lnTo>
                  <a:lnTo>
                    <a:pt x="357" y="151"/>
                  </a:lnTo>
                  <a:lnTo>
                    <a:pt x="364" y="19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Freeform 55"/>
            <p:cNvSpPr>
              <a:spLocks noChangeArrowheads="1"/>
            </p:cNvSpPr>
            <p:nvPr/>
          </p:nvSpPr>
          <p:spPr bwMode="auto">
            <a:xfrm>
              <a:off x="1480" y="2684"/>
              <a:ext cx="70" cy="49"/>
            </a:xfrm>
            <a:custGeom>
              <a:avLst/>
              <a:gdLst>
                <a:gd name="T0" fmla="*/ 37 w 70"/>
                <a:gd name="T1" fmla="*/ 49 h 49"/>
                <a:gd name="T2" fmla="*/ 70 w 70"/>
                <a:gd name="T3" fmla="*/ 0 h 49"/>
                <a:gd name="T4" fmla="*/ 48 w 70"/>
                <a:gd name="T5" fmla="*/ 5 h 49"/>
                <a:gd name="T6" fmla="*/ 22 w 70"/>
                <a:gd name="T7" fmla="*/ 5 h 49"/>
                <a:gd name="T8" fmla="*/ 0 w 70"/>
                <a:gd name="T9" fmla="*/ 2 h 49"/>
                <a:gd name="T10" fmla="*/ 37 w 70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49">
                  <a:moveTo>
                    <a:pt x="37" y="49"/>
                  </a:moveTo>
                  <a:lnTo>
                    <a:pt x="70" y="0"/>
                  </a:lnTo>
                  <a:lnTo>
                    <a:pt x="48" y="5"/>
                  </a:lnTo>
                  <a:lnTo>
                    <a:pt x="22" y="5"/>
                  </a:lnTo>
                  <a:lnTo>
                    <a:pt x="0" y="2"/>
                  </a:lnTo>
                  <a:lnTo>
                    <a:pt x="37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87" name="Group 56"/>
          <p:cNvGrpSpPr>
            <a:grpSpLocks/>
          </p:cNvGrpSpPr>
          <p:nvPr/>
        </p:nvGrpSpPr>
        <p:grpSpPr bwMode="auto">
          <a:xfrm>
            <a:off x="5091113" y="3332163"/>
            <a:ext cx="1330325" cy="1573212"/>
            <a:chOff x="1451" y="2503"/>
            <a:chExt cx="838" cy="991"/>
          </a:xfrm>
        </p:grpSpPr>
        <p:sp>
          <p:nvSpPr>
            <p:cNvPr id="18488" name="Freeform 57"/>
            <p:cNvSpPr>
              <a:spLocks noChangeArrowheads="1"/>
            </p:cNvSpPr>
            <p:nvPr/>
          </p:nvSpPr>
          <p:spPr bwMode="auto">
            <a:xfrm>
              <a:off x="1451" y="2656"/>
              <a:ext cx="441" cy="838"/>
            </a:xfrm>
            <a:custGeom>
              <a:avLst/>
              <a:gdLst>
                <a:gd name="T0" fmla="*/ 0 w 441"/>
                <a:gd name="T1" fmla="*/ 718 h 838"/>
                <a:gd name="T2" fmla="*/ 7 w 441"/>
                <a:gd name="T3" fmla="*/ 748 h 838"/>
                <a:gd name="T4" fmla="*/ 29 w 441"/>
                <a:gd name="T5" fmla="*/ 778 h 838"/>
                <a:gd name="T6" fmla="*/ 59 w 441"/>
                <a:gd name="T7" fmla="*/ 803 h 838"/>
                <a:gd name="T8" fmla="*/ 99 w 441"/>
                <a:gd name="T9" fmla="*/ 822 h 838"/>
                <a:gd name="T10" fmla="*/ 147 w 441"/>
                <a:gd name="T11" fmla="*/ 835 h 838"/>
                <a:gd name="T12" fmla="*/ 195 w 441"/>
                <a:gd name="T13" fmla="*/ 838 h 838"/>
                <a:gd name="T14" fmla="*/ 221 w 441"/>
                <a:gd name="T15" fmla="*/ 833 h 838"/>
                <a:gd name="T16" fmla="*/ 246 w 441"/>
                <a:gd name="T17" fmla="*/ 819 h 838"/>
                <a:gd name="T18" fmla="*/ 272 w 441"/>
                <a:gd name="T19" fmla="*/ 797 h 838"/>
                <a:gd name="T20" fmla="*/ 294 w 441"/>
                <a:gd name="T21" fmla="*/ 767 h 838"/>
                <a:gd name="T22" fmla="*/ 320 w 441"/>
                <a:gd name="T23" fmla="*/ 726 h 838"/>
                <a:gd name="T24" fmla="*/ 338 w 441"/>
                <a:gd name="T25" fmla="*/ 680 h 838"/>
                <a:gd name="T26" fmla="*/ 360 w 441"/>
                <a:gd name="T27" fmla="*/ 622 h 838"/>
                <a:gd name="T28" fmla="*/ 379 w 441"/>
                <a:gd name="T29" fmla="*/ 562 h 838"/>
                <a:gd name="T30" fmla="*/ 393 w 441"/>
                <a:gd name="T31" fmla="*/ 494 h 838"/>
                <a:gd name="T32" fmla="*/ 408 w 441"/>
                <a:gd name="T33" fmla="*/ 421 h 838"/>
                <a:gd name="T34" fmla="*/ 419 w 441"/>
                <a:gd name="T35" fmla="*/ 341 h 838"/>
                <a:gd name="T36" fmla="*/ 427 w 441"/>
                <a:gd name="T37" fmla="*/ 260 h 838"/>
                <a:gd name="T38" fmla="*/ 434 w 441"/>
                <a:gd name="T39" fmla="*/ 175 h 838"/>
                <a:gd name="T40" fmla="*/ 438 w 441"/>
                <a:gd name="T41" fmla="*/ 88 h 838"/>
                <a:gd name="T42" fmla="*/ 441 w 441"/>
                <a:gd name="T43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1" h="838">
                  <a:moveTo>
                    <a:pt x="0" y="718"/>
                  </a:moveTo>
                  <a:lnTo>
                    <a:pt x="7" y="748"/>
                  </a:lnTo>
                  <a:lnTo>
                    <a:pt x="29" y="778"/>
                  </a:lnTo>
                  <a:lnTo>
                    <a:pt x="59" y="803"/>
                  </a:lnTo>
                  <a:lnTo>
                    <a:pt x="99" y="822"/>
                  </a:lnTo>
                  <a:lnTo>
                    <a:pt x="147" y="835"/>
                  </a:lnTo>
                  <a:lnTo>
                    <a:pt x="195" y="838"/>
                  </a:lnTo>
                  <a:lnTo>
                    <a:pt x="221" y="833"/>
                  </a:lnTo>
                  <a:lnTo>
                    <a:pt x="246" y="819"/>
                  </a:lnTo>
                  <a:lnTo>
                    <a:pt x="272" y="797"/>
                  </a:lnTo>
                  <a:lnTo>
                    <a:pt x="294" y="767"/>
                  </a:lnTo>
                  <a:lnTo>
                    <a:pt x="320" y="726"/>
                  </a:lnTo>
                  <a:lnTo>
                    <a:pt x="338" y="680"/>
                  </a:lnTo>
                  <a:lnTo>
                    <a:pt x="360" y="622"/>
                  </a:lnTo>
                  <a:lnTo>
                    <a:pt x="379" y="562"/>
                  </a:lnTo>
                  <a:lnTo>
                    <a:pt x="393" y="494"/>
                  </a:lnTo>
                  <a:lnTo>
                    <a:pt x="408" y="421"/>
                  </a:lnTo>
                  <a:lnTo>
                    <a:pt x="419" y="341"/>
                  </a:lnTo>
                  <a:lnTo>
                    <a:pt x="427" y="260"/>
                  </a:lnTo>
                  <a:lnTo>
                    <a:pt x="434" y="175"/>
                  </a:lnTo>
                  <a:lnTo>
                    <a:pt x="438" y="88"/>
                  </a:lnTo>
                  <a:lnTo>
                    <a:pt x="441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Freeform 58"/>
            <p:cNvSpPr>
              <a:spLocks noChangeArrowheads="1"/>
            </p:cNvSpPr>
            <p:nvPr/>
          </p:nvSpPr>
          <p:spPr bwMode="auto">
            <a:xfrm>
              <a:off x="1892" y="2503"/>
              <a:ext cx="361" cy="194"/>
            </a:xfrm>
            <a:custGeom>
              <a:avLst/>
              <a:gdLst>
                <a:gd name="T0" fmla="*/ 0 w 361"/>
                <a:gd name="T1" fmla="*/ 153 h 194"/>
                <a:gd name="T2" fmla="*/ 4 w 361"/>
                <a:gd name="T3" fmla="*/ 120 h 194"/>
                <a:gd name="T4" fmla="*/ 22 w 361"/>
                <a:gd name="T5" fmla="*/ 88 h 194"/>
                <a:gd name="T6" fmla="*/ 52 w 361"/>
                <a:gd name="T7" fmla="*/ 58 h 194"/>
                <a:gd name="T8" fmla="*/ 92 w 361"/>
                <a:gd name="T9" fmla="*/ 36 h 194"/>
                <a:gd name="T10" fmla="*/ 136 w 361"/>
                <a:gd name="T11" fmla="*/ 17 h 194"/>
                <a:gd name="T12" fmla="*/ 188 w 361"/>
                <a:gd name="T13" fmla="*/ 6 h 194"/>
                <a:gd name="T14" fmla="*/ 243 w 361"/>
                <a:gd name="T15" fmla="*/ 0 h 194"/>
                <a:gd name="T16" fmla="*/ 265 w 361"/>
                <a:gd name="T17" fmla="*/ 6 h 194"/>
                <a:gd name="T18" fmla="*/ 291 w 361"/>
                <a:gd name="T19" fmla="*/ 20 h 194"/>
                <a:gd name="T20" fmla="*/ 313 w 361"/>
                <a:gd name="T21" fmla="*/ 41 h 194"/>
                <a:gd name="T22" fmla="*/ 331 w 361"/>
                <a:gd name="T23" fmla="*/ 71 h 194"/>
                <a:gd name="T24" fmla="*/ 346 w 361"/>
                <a:gd name="T25" fmla="*/ 107 h 194"/>
                <a:gd name="T26" fmla="*/ 357 w 361"/>
                <a:gd name="T27" fmla="*/ 151 h 194"/>
                <a:gd name="T28" fmla="*/ 361 w 361"/>
                <a:gd name="T29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194">
                  <a:moveTo>
                    <a:pt x="0" y="153"/>
                  </a:moveTo>
                  <a:lnTo>
                    <a:pt x="4" y="120"/>
                  </a:lnTo>
                  <a:lnTo>
                    <a:pt x="22" y="88"/>
                  </a:lnTo>
                  <a:lnTo>
                    <a:pt x="52" y="58"/>
                  </a:lnTo>
                  <a:lnTo>
                    <a:pt x="92" y="36"/>
                  </a:lnTo>
                  <a:lnTo>
                    <a:pt x="136" y="17"/>
                  </a:lnTo>
                  <a:lnTo>
                    <a:pt x="188" y="6"/>
                  </a:lnTo>
                  <a:lnTo>
                    <a:pt x="243" y="0"/>
                  </a:lnTo>
                  <a:lnTo>
                    <a:pt x="265" y="6"/>
                  </a:lnTo>
                  <a:lnTo>
                    <a:pt x="291" y="20"/>
                  </a:lnTo>
                  <a:lnTo>
                    <a:pt x="313" y="41"/>
                  </a:lnTo>
                  <a:lnTo>
                    <a:pt x="331" y="71"/>
                  </a:lnTo>
                  <a:lnTo>
                    <a:pt x="346" y="107"/>
                  </a:lnTo>
                  <a:lnTo>
                    <a:pt x="357" y="151"/>
                  </a:lnTo>
                  <a:lnTo>
                    <a:pt x="361" y="19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Freeform 59"/>
            <p:cNvSpPr>
              <a:spLocks noChangeArrowheads="1"/>
            </p:cNvSpPr>
            <p:nvPr/>
          </p:nvSpPr>
          <p:spPr bwMode="auto">
            <a:xfrm>
              <a:off x="2219" y="2684"/>
              <a:ext cx="70" cy="49"/>
            </a:xfrm>
            <a:custGeom>
              <a:avLst/>
              <a:gdLst>
                <a:gd name="T0" fmla="*/ 37 w 70"/>
                <a:gd name="T1" fmla="*/ 49 h 49"/>
                <a:gd name="T2" fmla="*/ 70 w 70"/>
                <a:gd name="T3" fmla="*/ 0 h 49"/>
                <a:gd name="T4" fmla="*/ 48 w 70"/>
                <a:gd name="T5" fmla="*/ 5 h 49"/>
                <a:gd name="T6" fmla="*/ 23 w 70"/>
                <a:gd name="T7" fmla="*/ 5 h 49"/>
                <a:gd name="T8" fmla="*/ 0 w 70"/>
                <a:gd name="T9" fmla="*/ 2 h 49"/>
                <a:gd name="T10" fmla="*/ 37 w 70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49">
                  <a:moveTo>
                    <a:pt x="37" y="49"/>
                  </a:moveTo>
                  <a:lnTo>
                    <a:pt x="70" y="0"/>
                  </a:lnTo>
                  <a:lnTo>
                    <a:pt x="48" y="5"/>
                  </a:lnTo>
                  <a:lnTo>
                    <a:pt x="23" y="5"/>
                  </a:lnTo>
                  <a:lnTo>
                    <a:pt x="0" y="2"/>
                  </a:lnTo>
                  <a:lnTo>
                    <a:pt x="37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91" name="Group 60"/>
          <p:cNvGrpSpPr>
            <a:grpSpLocks/>
          </p:cNvGrpSpPr>
          <p:nvPr/>
        </p:nvGrpSpPr>
        <p:grpSpPr bwMode="auto">
          <a:xfrm>
            <a:off x="5995988" y="3567113"/>
            <a:ext cx="701675" cy="1173162"/>
            <a:chOff x="2021" y="2651"/>
            <a:chExt cx="442" cy="739"/>
          </a:xfrm>
        </p:grpSpPr>
        <p:sp>
          <p:nvSpPr>
            <p:cNvPr id="18492" name="Rectangle 61"/>
            <p:cNvSpPr>
              <a:spLocks noChangeArrowheads="1"/>
            </p:cNvSpPr>
            <p:nvPr/>
          </p:nvSpPr>
          <p:spPr bwMode="auto">
            <a:xfrm>
              <a:off x="2021" y="2757"/>
              <a:ext cx="294" cy="21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93" name="Freeform 62"/>
            <p:cNvSpPr>
              <a:spLocks noChangeArrowheads="1"/>
            </p:cNvSpPr>
            <p:nvPr/>
          </p:nvSpPr>
          <p:spPr bwMode="auto">
            <a:xfrm>
              <a:off x="2021" y="2651"/>
              <a:ext cx="441" cy="106"/>
            </a:xfrm>
            <a:custGeom>
              <a:avLst/>
              <a:gdLst>
                <a:gd name="T0" fmla="*/ 0 w 441"/>
                <a:gd name="T1" fmla="*/ 106 h 106"/>
                <a:gd name="T2" fmla="*/ 147 w 441"/>
                <a:gd name="T3" fmla="*/ 0 h 106"/>
                <a:gd name="T4" fmla="*/ 441 w 441"/>
                <a:gd name="T5" fmla="*/ 0 h 106"/>
                <a:gd name="T6" fmla="*/ 294 w 441"/>
                <a:gd name="T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1" h="106">
                  <a:moveTo>
                    <a:pt x="0" y="106"/>
                  </a:moveTo>
                  <a:lnTo>
                    <a:pt x="147" y="0"/>
                  </a:lnTo>
                  <a:lnTo>
                    <a:pt x="441" y="0"/>
                  </a:lnTo>
                  <a:lnTo>
                    <a:pt x="294" y="1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Line 63"/>
            <p:cNvSpPr>
              <a:spLocks noChangeShapeType="1"/>
            </p:cNvSpPr>
            <p:nvPr/>
          </p:nvSpPr>
          <p:spPr bwMode="auto">
            <a:xfrm>
              <a:off x="2462" y="2651"/>
              <a:ext cx="1" cy="2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Line 64"/>
            <p:cNvSpPr>
              <a:spLocks noChangeShapeType="1"/>
            </p:cNvSpPr>
            <p:nvPr/>
          </p:nvSpPr>
          <p:spPr bwMode="auto">
            <a:xfrm flipV="1">
              <a:off x="2315" y="2864"/>
              <a:ext cx="147" cy="10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Rectangle 65"/>
            <p:cNvSpPr>
              <a:spLocks noChangeArrowheads="1"/>
            </p:cNvSpPr>
            <p:nvPr/>
          </p:nvSpPr>
          <p:spPr bwMode="auto">
            <a:xfrm>
              <a:off x="2021" y="2967"/>
              <a:ext cx="294" cy="211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97" name="Rectangle 66"/>
            <p:cNvSpPr>
              <a:spLocks noChangeArrowheads="1"/>
            </p:cNvSpPr>
            <p:nvPr/>
          </p:nvSpPr>
          <p:spPr bwMode="auto">
            <a:xfrm>
              <a:off x="2021" y="3178"/>
              <a:ext cx="294" cy="212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8498" name="Freeform 67"/>
            <p:cNvSpPr>
              <a:spLocks noChangeArrowheads="1"/>
            </p:cNvSpPr>
            <p:nvPr/>
          </p:nvSpPr>
          <p:spPr bwMode="auto">
            <a:xfrm>
              <a:off x="2315" y="2864"/>
              <a:ext cx="147" cy="314"/>
            </a:xfrm>
            <a:custGeom>
              <a:avLst/>
              <a:gdLst>
                <a:gd name="T0" fmla="*/ 0 w 147"/>
                <a:gd name="T1" fmla="*/ 314 h 314"/>
                <a:gd name="T2" fmla="*/ 147 w 147"/>
                <a:gd name="T3" fmla="*/ 210 h 314"/>
                <a:gd name="T4" fmla="*/ 147 w 147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4">
                  <a:moveTo>
                    <a:pt x="0" y="314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Freeform 68"/>
            <p:cNvSpPr>
              <a:spLocks noChangeArrowheads="1"/>
            </p:cNvSpPr>
            <p:nvPr/>
          </p:nvSpPr>
          <p:spPr bwMode="auto">
            <a:xfrm>
              <a:off x="2315" y="3074"/>
              <a:ext cx="147" cy="316"/>
            </a:xfrm>
            <a:custGeom>
              <a:avLst/>
              <a:gdLst>
                <a:gd name="T0" fmla="*/ 0 w 147"/>
                <a:gd name="T1" fmla="*/ 316 h 316"/>
                <a:gd name="T2" fmla="*/ 147 w 147"/>
                <a:gd name="T3" fmla="*/ 210 h 316"/>
                <a:gd name="T4" fmla="*/ 147 w 147"/>
                <a:gd name="T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16">
                  <a:moveTo>
                    <a:pt x="0" y="316"/>
                  </a:moveTo>
                  <a:lnTo>
                    <a:pt x="147" y="210"/>
                  </a:lnTo>
                  <a:lnTo>
                    <a:pt x="147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00" name="Group 69"/>
          <p:cNvGrpSpPr>
            <a:grpSpLocks/>
          </p:cNvGrpSpPr>
          <p:nvPr/>
        </p:nvGrpSpPr>
        <p:grpSpPr bwMode="auto">
          <a:xfrm>
            <a:off x="6264275" y="3332163"/>
            <a:ext cx="1325563" cy="1573212"/>
            <a:chOff x="2190" y="2503"/>
            <a:chExt cx="835" cy="991"/>
          </a:xfrm>
        </p:grpSpPr>
        <p:sp>
          <p:nvSpPr>
            <p:cNvPr id="18501" name="Freeform 70"/>
            <p:cNvSpPr>
              <a:spLocks noChangeArrowheads="1"/>
            </p:cNvSpPr>
            <p:nvPr/>
          </p:nvSpPr>
          <p:spPr bwMode="auto">
            <a:xfrm>
              <a:off x="2190" y="2656"/>
              <a:ext cx="438" cy="838"/>
            </a:xfrm>
            <a:custGeom>
              <a:avLst/>
              <a:gdLst>
                <a:gd name="T0" fmla="*/ 0 w 438"/>
                <a:gd name="T1" fmla="*/ 718 h 838"/>
                <a:gd name="T2" fmla="*/ 7 w 438"/>
                <a:gd name="T3" fmla="*/ 748 h 838"/>
                <a:gd name="T4" fmla="*/ 26 w 438"/>
                <a:gd name="T5" fmla="*/ 778 h 838"/>
                <a:gd name="T6" fmla="*/ 59 w 438"/>
                <a:gd name="T7" fmla="*/ 803 h 838"/>
                <a:gd name="T8" fmla="*/ 99 w 438"/>
                <a:gd name="T9" fmla="*/ 822 h 838"/>
                <a:gd name="T10" fmla="*/ 143 w 438"/>
                <a:gd name="T11" fmla="*/ 835 h 838"/>
                <a:gd name="T12" fmla="*/ 195 w 438"/>
                <a:gd name="T13" fmla="*/ 838 h 838"/>
                <a:gd name="T14" fmla="*/ 221 w 438"/>
                <a:gd name="T15" fmla="*/ 833 h 838"/>
                <a:gd name="T16" fmla="*/ 246 w 438"/>
                <a:gd name="T17" fmla="*/ 819 h 838"/>
                <a:gd name="T18" fmla="*/ 272 w 438"/>
                <a:gd name="T19" fmla="*/ 797 h 838"/>
                <a:gd name="T20" fmla="*/ 294 w 438"/>
                <a:gd name="T21" fmla="*/ 767 h 838"/>
                <a:gd name="T22" fmla="*/ 316 w 438"/>
                <a:gd name="T23" fmla="*/ 726 h 838"/>
                <a:gd name="T24" fmla="*/ 338 w 438"/>
                <a:gd name="T25" fmla="*/ 680 h 838"/>
                <a:gd name="T26" fmla="*/ 357 w 438"/>
                <a:gd name="T27" fmla="*/ 622 h 838"/>
                <a:gd name="T28" fmla="*/ 375 w 438"/>
                <a:gd name="T29" fmla="*/ 562 h 838"/>
                <a:gd name="T30" fmla="*/ 394 w 438"/>
                <a:gd name="T31" fmla="*/ 494 h 838"/>
                <a:gd name="T32" fmla="*/ 408 w 438"/>
                <a:gd name="T33" fmla="*/ 421 h 838"/>
                <a:gd name="T34" fmla="*/ 419 w 438"/>
                <a:gd name="T35" fmla="*/ 341 h 838"/>
                <a:gd name="T36" fmla="*/ 427 w 438"/>
                <a:gd name="T37" fmla="*/ 260 h 838"/>
                <a:gd name="T38" fmla="*/ 434 w 438"/>
                <a:gd name="T39" fmla="*/ 175 h 838"/>
                <a:gd name="T40" fmla="*/ 438 w 438"/>
                <a:gd name="T41" fmla="*/ 88 h 838"/>
                <a:gd name="T42" fmla="*/ 438 w 438"/>
                <a:gd name="T43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8" h="838">
                  <a:moveTo>
                    <a:pt x="0" y="718"/>
                  </a:moveTo>
                  <a:lnTo>
                    <a:pt x="7" y="748"/>
                  </a:lnTo>
                  <a:lnTo>
                    <a:pt x="26" y="778"/>
                  </a:lnTo>
                  <a:lnTo>
                    <a:pt x="59" y="803"/>
                  </a:lnTo>
                  <a:lnTo>
                    <a:pt x="99" y="822"/>
                  </a:lnTo>
                  <a:lnTo>
                    <a:pt x="143" y="835"/>
                  </a:lnTo>
                  <a:lnTo>
                    <a:pt x="195" y="838"/>
                  </a:lnTo>
                  <a:lnTo>
                    <a:pt x="221" y="833"/>
                  </a:lnTo>
                  <a:lnTo>
                    <a:pt x="246" y="819"/>
                  </a:lnTo>
                  <a:lnTo>
                    <a:pt x="272" y="797"/>
                  </a:lnTo>
                  <a:lnTo>
                    <a:pt x="294" y="767"/>
                  </a:lnTo>
                  <a:lnTo>
                    <a:pt x="316" y="726"/>
                  </a:lnTo>
                  <a:lnTo>
                    <a:pt x="338" y="680"/>
                  </a:lnTo>
                  <a:lnTo>
                    <a:pt x="357" y="622"/>
                  </a:lnTo>
                  <a:lnTo>
                    <a:pt x="375" y="562"/>
                  </a:lnTo>
                  <a:lnTo>
                    <a:pt x="394" y="494"/>
                  </a:lnTo>
                  <a:lnTo>
                    <a:pt x="408" y="421"/>
                  </a:lnTo>
                  <a:lnTo>
                    <a:pt x="419" y="341"/>
                  </a:lnTo>
                  <a:lnTo>
                    <a:pt x="427" y="260"/>
                  </a:lnTo>
                  <a:lnTo>
                    <a:pt x="434" y="175"/>
                  </a:lnTo>
                  <a:lnTo>
                    <a:pt x="438" y="88"/>
                  </a:lnTo>
                  <a:lnTo>
                    <a:pt x="43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Freeform 71"/>
            <p:cNvSpPr>
              <a:spLocks noChangeArrowheads="1"/>
            </p:cNvSpPr>
            <p:nvPr/>
          </p:nvSpPr>
          <p:spPr bwMode="auto">
            <a:xfrm>
              <a:off x="2628" y="2503"/>
              <a:ext cx="364" cy="194"/>
            </a:xfrm>
            <a:custGeom>
              <a:avLst/>
              <a:gdLst>
                <a:gd name="T0" fmla="*/ 0 w 364"/>
                <a:gd name="T1" fmla="*/ 153 h 194"/>
                <a:gd name="T2" fmla="*/ 7 w 364"/>
                <a:gd name="T3" fmla="*/ 120 h 194"/>
                <a:gd name="T4" fmla="*/ 25 w 364"/>
                <a:gd name="T5" fmla="*/ 88 h 194"/>
                <a:gd name="T6" fmla="*/ 55 w 364"/>
                <a:gd name="T7" fmla="*/ 58 h 194"/>
                <a:gd name="T8" fmla="*/ 92 w 364"/>
                <a:gd name="T9" fmla="*/ 36 h 194"/>
                <a:gd name="T10" fmla="*/ 139 w 364"/>
                <a:gd name="T11" fmla="*/ 17 h 194"/>
                <a:gd name="T12" fmla="*/ 191 w 364"/>
                <a:gd name="T13" fmla="*/ 6 h 194"/>
                <a:gd name="T14" fmla="*/ 246 w 364"/>
                <a:gd name="T15" fmla="*/ 0 h 194"/>
                <a:gd name="T16" fmla="*/ 268 w 364"/>
                <a:gd name="T17" fmla="*/ 6 h 194"/>
                <a:gd name="T18" fmla="*/ 294 w 364"/>
                <a:gd name="T19" fmla="*/ 20 h 194"/>
                <a:gd name="T20" fmla="*/ 312 w 364"/>
                <a:gd name="T21" fmla="*/ 41 h 194"/>
                <a:gd name="T22" fmla="*/ 331 w 364"/>
                <a:gd name="T23" fmla="*/ 71 h 194"/>
                <a:gd name="T24" fmla="*/ 349 w 364"/>
                <a:gd name="T25" fmla="*/ 107 h 194"/>
                <a:gd name="T26" fmla="*/ 360 w 364"/>
                <a:gd name="T27" fmla="*/ 151 h 194"/>
                <a:gd name="T28" fmla="*/ 364 w 364"/>
                <a:gd name="T29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4" h="194">
                  <a:moveTo>
                    <a:pt x="0" y="153"/>
                  </a:moveTo>
                  <a:lnTo>
                    <a:pt x="7" y="120"/>
                  </a:lnTo>
                  <a:lnTo>
                    <a:pt x="25" y="88"/>
                  </a:lnTo>
                  <a:lnTo>
                    <a:pt x="55" y="58"/>
                  </a:lnTo>
                  <a:lnTo>
                    <a:pt x="92" y="36"/>
                  </a:lnTo>
                  <a:lnTo>
                    <a:pt x="139" y="17"/>
                  </a:lnTo>
                  <a:lnTo>
                    <a:pt x="191" y="6"/>
                  </a:lnTo>
                  <a:lnTo>
                    <a:pt x="246" y="0"/>
                  </a:lnTo>
                  <a:lnTo>
                    <a:pt x="268" y="6"/>
                  </a:lnTo>
                  <a:lnTo>
                    <a:pt x="294" y="20"/>
                  </a:lnTo>
                  <a:lnTo>
                    <a:pt x="312" y="41"/>
                  </a:lnTo>
                  <a:lnTo>
                    <a:pt x="331" y="71"/>
                  </a:lnTo>
                  <a:lnTo>
                    <a:pt x="349" y="107"/>
                  </a:lnTo>
                  <a:lnTo>
                    <a:pt x="360" y="151"/>
                  </a:lnTo>
                  <a:lnTo>
                    <a:pt x="364" y="19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Freeform 72"/>
            <p:cNvSpPr>
              <a:spLocks noChangeArrowheads="1"/>
            </p:cNvSpPr>
            <p:nvPr/>
          </p:nvSpPr>
          <p:spPr bwMode="auto">
            <a:xfrm>
              <a:off x="2959" y="2684"/>
              <a:ext cx="66" cy="49"/>
            </a:xfrm>
            <a:custGeom>
              <a:avLst/>
              <a:gdLst>
                <a:gd name="T0" fmla="*/ 36 w 66"/>
                <a:gd name="T1" fmla="*/ 49 h 49"/>
                <a:gd name="T2" fmla="*/ 66 w 66"/>
                <a:gd name="T3" fmla="*/ 0 h 49"/>
                <a:gd name="T4" fmla="*/ 44 w 66"/>
                <a:gd name="T5" fmla="*/ 5 h 49"/>
                <a:gd name="T6" fmla="*/ 22 w 66"/>
                <a:gd name="T7" fmla="*/ 5 h 49"/>
                <a:gd name="T8" fmla="*/ 0 w 66"/>
                <a:gd name="T9" fmla="*/ 2 h 49"/>
                <a:gd name="T10" fmla="*/ 36 w 66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49">
                  <a:moveTo>
                    <a:pt x="36" y="49"/>
                  </a:moveTo>
                  <a:lnTo>
                    <a:pt x="66" y="0"/>
                  </a:lnTo>
                  <a:lnTo>
                    <a:pt x="44" y="5"/>
                  </a:lnTo>
                  <a:lnTo>
                    <a:pt x="22" y="5"/>
                  </a:lnTo>
                  <a:lnTo>
                    <a:pt x="0" y="2"/>
                  </a:lnTo>
                  <a:lnTo>
                    <a:pt x="36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04" name="Group 73"/>
          <p:cNvGrpSpPr>
            <a:grpSpLocks/>
          </p:cNvGrpSpPr>
          <p:nvPr/>
        </p:nvGrpSpPr>
        <p:grpSpPr bwMode="auto">
          <a:xfrm>
            <a:off x="5683250" y="2254250"/>
            <a:ext cx="228600" cy="228600"/>
            <a:chOff x="4176" y="1008"/>
            <a:chExt cx="192" cy="192"/>
          </a:xfrm>
        </p:grpSpPr>
        <p:sp>
          <p:nvSpPr>
            <p:cNvPr id="18505" name="Line 74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Line 75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07" name="Group 76"/>
          <p:cNvGrpSpPr>
            <a:grpSpLocks/>
          </p:cNvGrpSpPr>
          <p:nvPr/>
        </p:nvGrpSpPr>
        <p:grpSpPr bwMode="auto">
          <a:xfrm>
            <a:off x="6140450" y="4464050"/>
            <a:ext cx="228600" cy="228600"/>
            <a:chOff x="4176" y="1008"/>
            <a:chExt cx="192" cy="192"/>
          </a:xfrm>
        </p:grpSpPr>
        <p:sp>
          <p:nvSpPr>
            <p:cNvPr id="18508" name="Line 77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Line 78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10" name="Group 79"/>
          <p:cNvGrpSpPr>
            <a:grpSpLocks/>
          </p:cNvGrpSpPr>
          <p:nvPr/>
        </p:nvGrpSpPr>
        <p:grpSpPr bwMode="auto">
          <a:xfrm>
            <a:off x="3778250" y="4464050"/>
            <a:ext cx="228600" cy="228600"/>
            <a:chOff x="4176" y="1008"/>
            <a:chExt cx="192" cy="192"/>
          </a:xfrm>
        </p:grpSpPr>
        <p:sp>
          <p:nvSpPr>
            <p:cNvPr id="18511" name="Line 80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Line 81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13" name="Group 82"/>
          <p:cNvGrpSpPr>
            <a:grpSpLocks/>
          </p:cNvGrpSpPr>
          <p:nvPr/>
        </p:nvGrpSpPr>
        <p:grpSpPr bwMode="auto">
          <a:xfrm>
            <a:off x="4768850" y="2254250"/>
            <a:ext cx="228600" cy="228600"/>
            <a:chOff x="4176" y="1008"/>
            <a:chExt cx="192" cy="192"/>
          </a:xfrm>
        </p:grpSpPr>
        <p:sp>
          <p:nvSpPr>
            <p:cNvPr id="18514" name="Line 83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5" name="Line 84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16" name="Text Box 85"/>
          <p:cNvSpPr txBox="1">
            <a:spLocks noChangeArrowheads="1"/>
          </p:cNvSpPr>
          <p:nvPr/>
        </p:nvSpPr>
        <p:spPr bwMode="auto">
          <a:xfrm>
            <a:off x="150813" y="1363663"/>
            <a:ext cx="2441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b="0">
                <a:ea typeface="宋体" panose="02010600030101010101" pitchFamily="2" charset="-122"/>
              </a:rPr>
              <a:t>以列序为主序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18517" name="Text Box 86"/>
          <p:cNvSpPr txBox="1">
            <a:spLocks noChangeArrowheads="1"/>
          </p:cNvSpPr>
          <p:nvPr/>
        </p:nvSpPr>
        <p:spPr bwMode="auto">
          <a:xfrm>
            <a:off x="531813" y="2025650"/>
            <a:ext cx="1608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FORTRAN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ChangeArrowheads="1"/>
          </p:cNvSpPr>
          <p:nvPr/>
        </p:nvSpPr>
        <p:spPr bwMode="auto">
          <a:xfrm>
            <a:off x="0" y="68263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br>
              <a:rPr kumimoji="1" lang="en-US" altLang="zh-CN" sz="37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</a:rPr>
            </a:br>
            <a:endParaRPr kumimoji="1" lang="en-US" altLang="zh-CN" b="0">
              <a:ea typeface="仿宋_GB2312" panose="02010609030101010101" charset="-122"/>
              <a:cs typeface="+mn-cs"/>
              <a:sym typeface="+mn-ea"/>
            </a:endParaRP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890588" y="7747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zh-CN" b="0">
              <a:ea typeface="宋体" panose="02010600030101010101" pitchFamily="2" charset="-122"/>
            </a:endParaRP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485900" y="1166813"/>
            <a:ext cx="8001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 altLang="zh-CN" sz="2000" b="0">
              <a:ea typeface="宋体" panose="02010600030101010101" pitchFamily="2" charset="-122"/>
            </a:endParaRPr>
          </a:p>
          <a:p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2286000" y="18049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zh-CN" sz="1800" b="0" i="1">
              <a:ea typeface="宋体" panose="02010600030101010101" pitchFamily="2" charset="-122"/>
            </a:endParaRPr>
          </a:p>
        </p:txBody>
      </p:sp>
      <p:sp>
        <p:nvSpPr>
          <p:cNvPr id="771078" name="Text Box 6"/>
          <p:cNvSpPr txBox="1">
            <a:spLocks noChangeArrowheads="1"/>
          </p:cNvSpPr>
          <p:nvPr/>
        </p:nvSpPr>
        <p:spPr bwMode="auto">
          <a:xfrm>
            <a:off x="323850" y="563563"/>
            <a:ext cx="8382000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rgbClr val="CC0000"/>
              </a:buClr>
              <a:buSzPct val="50000"/>
              <a:buFont typeface="Monotype Sorts" pitchFamily="2" charset="2"/>
              <a:buNone/>
              <a:defRPr/>
            </a:pPr>
            <a:r>
              <a:rPr kumimoji="1" lang="en-US" altLang="zh-CN" sz="3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a[n][m]</a:t>
            </a:r>
            <a:endParaRPr kumimoji="1" lang="en-US" altLang="zh-CN" sz="3200">
              <a:solidFill>
                <a:schemeClr val="hlink"/>
              </a:solidFill>
              <a:ea typeface="仿宋_GB2312" panose="02010609030101010101" charset="-122"/>
              <a:cs typeface="+mn-cs"/>
              <a:sym typeface="+mn-ea"/>
            </a:endParaRPr>
          </a:p>
        </p:txBody>
      </p:sp>
      <p:graphicFrame>
        <p:nvGraphicFramePr>
          <p:cNvPr id="19462" name="Object 7"/>
          <p:cNvGraphicFramePr>
            <a:graphicFrameLocks/>
          </p:cNvGraphicFramePr>
          <p:nvPr/>
        </p:nvGraphicFramePr>
        <p:xfrm>
          <a:off x="533400" y="1477963"/>
          <a:ext cx="81534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49600" imgH="1143000" progId="Equation.3">
                  <p:embed/>
                </p:oleObj>
              </mc:Choice>
              <mc:Fallback>
                <p:oleObj r:id="rId2" imgW="3149600" imgH="1143000" progId="Equation.3">
                  <p:embed/>
                  <p:pic>
                    <p:nvPicPr>
                      <p:cNvPr id="19462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77963"/>
                        <a:ext cx="81534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762000" y="4697413"/>
            <a:ext cx="76962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lnSpc>
                <a:spcPct val="105000"/>
              </a:lnSpc>
            </a:pPr>
            <a:r>
              <a:rPr lang="zh-CN" altLang="en-US" sz="3200" dirty="0">
                <a:solidFill>
                  <a:srgbClr val="333399"/>
                </a:solidFill>
                <a:ea typeface="仿宋_GB2312" charset="-122"/>
              </a:rPr>
              <a:t>设数组开始存放位置 </a:t>
            </a:r>
            <a:r>
              <a:rPr lang="en-US" altLang="zh-CN" sz="3200" dirty="0">
                <a:solidFill>
                  <a:srgbClr val="333399"/>
                </a:solidFill>
                <a:ea typeface="仿宋_GB2312" charset="-122"/>
              </a:rPr>
              <a:t>LOC( 0, 0 ) = </a:t>
            </a:r>
            <a:r>
              <a:rPr lang="en-US" altLang="zh-CN" sz="3200" i="1" dirty="0">
                <a:solidFill>
                  <a:srgbClr val="333399"/>
                </a:solidFill>
                <a:ea typeface="仿宋_GB2312" charset="-122"/>
              </a:rPr>
              <a:t>a</a:t>
            </a:r>
            <a:r>
              <a:rPr lang="en-US" altLang="zh-CN" sz="3200" dirty="0">
                <a:solidFill>
                  <a:srgbClr val="CC0000"/>
                </a:solidFill>
                <a:ea typeface="仿宋_GB2312" charset="-122"/>
              </a:rPr>
              <a:t> </a:t>
            </a:r>
          </a:p>
          <a:p>
            <a:pPr lvl="1">
              <a:lnSpc>
                <a:spcPct val="105000"/>
              </a:lnSpc>
            </a:pPr>
            <a:r>
              <a:rPr lang="en-US" altLang="zh-CN" sz="3200" dirty="0">
                <a:solidFill>
                  <a:srgbClr val="CC0000"/>
                </a:solidFill>
                <a:ea typeface="仿宋_GB2312" charset="-122"/>
              </a:rPr>
              <a:t>   </a:t>
            </a:r>
            <a:r>
              <a:rPr lang="en-US" altLang="zh-CN" sz="3200" dirty="0">
                <a:solidFill>
                  <a:srgbClr val="CC0000"/>
                </a:solidFill>
              </a:rPr>
              <a:t> 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LOC (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j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,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k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 ) =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a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 + 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j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 *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m</a:t>
            </a:r>
            <a:r>
              <a:rPr lang="en-US" altLang="zh-CN" sz="3200" dirty="0">
                <a:solidFill>
                  <a:srgbClr val="CC0000"/>
                </a:solidFill>
                <a:highlight>
                  <a:srgbClr val="00FF00"/>
                </a:highlight>
              </a:rPr>
              <a:t> + </a:t>
            </a:r>
            <a:r>
              <a:rPr lang="en-US" altLang="zh-CN" sz="3200" i="1" dirty="0">
                <a:solidFill>
                  <a:srgbClr val="CC0000"/>
                </a:solidFill>
                <a:highlight>
                  <a:srgbClr val="00FF00"/>
                </a:highlight>
              </a:rPr>
              <a:t>k</a:t>
            </a:r>
            <a:endParaRPr lang="en-US" altLang="zh-CN" sz="3200" dirty="0">
              <a:highlight>
                <a:srgbClr val="00FF00"/>
              </a:highlight>
              <a:ea typeface="宋体" panose="02010600030101010101" pitchFamily="2" charset="-122"/>
            </a:endParaRPr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39688" y="0"/>
            <a:ext cx="518001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二维数组的行序优先表示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ChangeArrowheads="1"/>
          </p:cNvSpPr>
          <p:nvPr/>
        </p:nvSpPr>
        <p:spPr bwMode="auto">
          <a:xfrm>
            <a:off x="723900" y="1927225"/>
            <a:ext cx="7239000" cy="3657600"/>
          </a:xfrm>
          <a:prstGeom prst="rect">
            <a:avLst/>
          </a:prstGeom>
          <a:solidFill>
            <a:srgbClr val="FFFFE7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20482" name="Object 3"/>
          <p:cNvGraphicFramePr>
            <a:graphicFrameLocks/>
          </p:cNvGraphicFramePr>
          <p:nvPr/>
        </p:nvGraphicFramePr>
        <p:xfrm>
          <a:off x="800100" y="2384425"/>
          <a:ext cx="3276600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38718" imgH="2008094" progId="Visio.Drawing.5">
                  <p:embed/>
                </p:oleObj>
              </mc:Choice>
              <mc:Fallback>
                <p:oleObj r:id="rId2" imgW="2738718" imgH="2008094" progId="Visio.Drawing.5">
                  <p:embed/>
                  <p:pic>
                    <p:nvPicPr>
                      <p:cNvPr id="2048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384425"/>
                        <a:ext cx="3276600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3" name="Group 4"/>
          <p:cNvGrpSpPr>
            <a:grpSpLocks/>
          </p:cNvGrpSpPr>
          <p:nvPr/>
        </p:nvGrpSpPr>
        <p:grpSpPr bwMode="auto">
          <a:xfrm>
            <a:off x="6134100" y="3146425"/>
            <a:ext cx="152400" cy="152400"/>
            <a:chOff x="4176" y="1008"/>
            <a:chExt cx="192" cy="192"/>
          </a:xfrm>
        </p:grpSpPr>
        <p:sp>
          <p:nvSpPr>
            <p:cNvPr id="20484" name="Line 5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" name="Line 6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6" name="Group 7"/>
          <p:cNvGrpSpPr>
            <a:grpSpLocks/>
          </p:cNvGrpSpPr>
          <p:nvPr/>
        </p:nvGrpSpPr>
        <p:grpSpPr bwMode="auto">
          <a:xfrm>
            <a:off x="2781300" y="2994025"/>
            <a:ext cx="152400" cy="152400"/>
            <a:chOff x="4176" y="1008"/>
            <a:chExt cx="192" cy="192"/>
          </a:xfrm>
        </p:grpSpPr>
        <p:sp>
          <p:nvSpPr>
            <p:cNvPr id="20487" name="Line 8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Line 9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9" name="Group 10"/>
          <p:cNvGrpSpPr>
            <a:grpSpLocks/>
          </p:cNvGrpSpPr>
          <p:nvPr/>
        </p:nvGrpSpPr>
        <p:grpSpPr bwMode="auto">
          <a:xfrm>
            <a:off x="5067300" y="3832225"/>
            <a:ext cx="152400" cy="152400"/>
            <a:chOff x="4176" y="1008"/>
            <a:chExt cx="192" cy="192"/>
          </a:xfrm>
        </p:grpSpPr>
        <p:sp>
          <p:nvSpPr>
            <p:cNvPr id="20490" name="Line 11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Line 12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92" name="Group 13"/>
          <p:cNvGrpSpPr>
            <a:grpSpLocks/>
          </p:cNvGrpSpPr>
          <p:nvPr/>
        </p:nvGrpSpPr>
        <p:grpSpPr bwMode="auto">
          <a:xfrm>
            <a:off x="1943100" y="3451225"/>
            <a:ext cx="152400" cy="152400"/>
            <a:chOff x="4176" y="1008"/>
            <a:chExt cx="192" cy="192"/>
          </a:xfrm>
        </p:grpSpPr>
        <p:sp>
          <p:nvSpPr>
            <p:cNvPr id="20493" name="Line 14"/>
            <p:cNvSpPr>
              <a:spLocks noChangeShapeType="1"/>
            </p:cNvSpPr>
            <p:nvPr/>
          </p:nvSpPr>
          <p:spPr bwMode="auto">
            <a:xfrm flipH="1"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Line 15"/>
            <p:cNvSpPr>
              <a:spLocks noChangeShapeType="1"/>
            </p:cNvSpPr>
            <p:nvPr/>
          </p:nvSpPr>
          <p:spPr bwMode="auto">
            <a:xfrm>
              <a:off x="4176" y="1008"/>
              <a:ext cx="192" cy="192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95" name="Line 16"/>
          <p:cNvSpPr>
            <a:spLocks noChangeShapeType="1"/>
          </p:cNvSpPr>
          <p:nvPr/>
        </p:nvSpPr>
        <p:spPr bwMode="auto">
          <a:xfrm flipV="1">
            <a:off x="1104900" y="2460625"/>
            <a:ext cx="685800" cy="6858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7"/>
          <p:cNvSpPr>
            <a:spLocks noChangeShapeType="1"/>
          </p:cNvSpPr>
          <p:nvPr/>
        </p:nvSpPr>
        <p:spPr bwMode="auto">
          <a:xfrm>
            <a:off x="876300" y="3832225"/>
            <a:ext cx="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8"/>
          <p:cNvSpPr>
            <a:spLocks noChangeShapeType="1"/>
          </p:cNvSpPr>
          <p:nvPr/>
        </p:nvSpPr>
        <p:spPr bwMode="auto">
          <a:xfrm>
            <a:off x="1790700" y="3832225"/>
            <a:ext cx="6858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9"/>
          <p:cNvSpPr>
            <a:spLocks noChangeShapeType="1"/>
          </p:cNvSpPr>
          <p:nvPr/>
        </p:nvSpPr>
        <p:spPr bwMode="auto">
          <a:xfrm flipV="1">
            <a:off x="4762500" y="2613025"/>
            <a:ext cx="685800" cy="6858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20"/>
          <p:cNvSpPr>
            <a:spLocks noChangeShapeType="1"/>
          </p:cNvSpPr>
          <p:nvPr/>
        </p:nvSpPr>
        <p:spPr bwMode="auto">
          <a:xfrm>
            <a:off x="4305300" y="4137025"/>
            <a:ext cx="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Line 21"/>
          <p:cNvSpPr>
            <a:spLocks noChangeShapeType="1"/>
          </p:cNvSpPr>
          <p:nvPr/>
        </p:nvSpPr>
        <p:spPr bwMode="auto">
          <a:xfrm>
            <a:off x="4914900" y="5203825"/>
            <a:ext cx="6858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Text Box 22"/>
          <p:cNvSpPr txBox="1">
            <a:spLocks noChangeArrowheads="1"/>
          </p:cNvSpPr>
          <p:nvPr/>
        </p:nvSpPr>
        <p:spPr bwMode="auto">
          <a:xfrm>
            <a:off x="4610100" y="26130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66FF33"/>
                </a:solidFill>
                <a:ea typeface="宋体" panose="02010600030101010101" pitchFamily="2" charset="-122"/>
              </a:rPr>
              <a:t>①</a:t>
            </a:r>
          </a:p>
        </p:txBody>
      </p:sp>
      <p:sp>
        <p:nvSpPr>
          <p:cNvPr id="20502" name="Text Box 23"/>
          <p:cNvSpPr txBox="1">
            <a:spLocks noChangeArrowheads="1"/>
          </p:cNvSpPr>
          <p:nvPr/>
        </p:nvSpPr>
        <p:spPr bwMode="auto">
          <a:xfrm>
            <a:off x="3771900" y="42894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20503" name="Text Box 24"/>
          <p:cNvSpPr txBox="1">
            <a:spLocks noChangeArrowheads="1"/>
          </p:cNvSpPr>
          <p:nvPr/>
        </p:nvSpPr>
        <p:spPr bwMode="auto">
          <a:xfrm>
            <a:off x="4914900" y="52038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339966"/>
                </a:solidFill>
                <a:ea typeface="宋体" panose="02010600030101010101" pitchFamily="2" charset="-122"/>
              </a:rPr>
              <a:t>③</a:t>
            </a:r>
          </a:p>
        </p:txBody>
      </p:sp>
      <p:pic>
        <p:nvPicPr>
          <p:cNvPr id="20504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2384425"/>
            <a:ext cx="323850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5" name="Rectangle 26"/>
          <p:cNvSpPr>
            <a:spLocks noChangeArrowheads="1"/>
          </p:cNvSpPr>
          <p:nvPr/>
        </p:nvSpPr>
        <p:spPr bwMode="auto">
          <a:xfrm>
            <a:off x="0" y="0"/>
            <a:ext cx="27813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三维数组</a:t>
            </a:r>
          </a:p>
        </p:txBody>
      </p:sp>
      <p:sp>
        <p:nvSpPr>
          <p:cNvPr id="772123" name="Rectangle 27"/>
          <p:cNvSpPr>
            <a:spLocks noChangeArrowheads="1"/>
          </p:cNvSpPr>
          <p:nvPr/>
        </p:nvSpPr>
        <p:spPr bwMode="auto">
          <a:xfrm>
            <a:off x="638175" y="876300"/>
            <a:ext cx="71342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Clr>
                <a:srgbClr val="CC0000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zh-CN" altLang="en-US" sz="320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按页</a:t>
            </a:r>
            <a:r>
              <a:rPr kumimoji="1" lang="en-US" altLang="zh-CN" sz="320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/</a:t>
            </a:r>
            <a:r>
              <a:rPr kumimoji="1" lang="zh-CN" altLang="en-US" sz="320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行</a:t>
            </a:r>
            <a:r>
              <a:rPr kumimoji="1" lang="en-US" altLang="zh-CN" sz="320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/</a:t>
            </a:r>
            <a:r>
              <a:rPr kumimoji="1" lang="zh-CN" altLang="en-US" sz="320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列存放，页优先的顺序存储</a:t>
            </a:r>
            <a:r>
              <a:rPr kumimoji="1" lang="zh-CN" altLang="en-US" sz="3200" b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+mn-cs"/>
                <a:sym typeface="+mn-ea"/>
              </a:rPr>
              <a:t> </a:t>
            </a:r>
          </a:p>
        </p:txBody>
      </p:sp>
    </p:spTree>
  </p:cSld>
  <p:clrMapOvr>
    <a:masterClrMapping/>
  </p:clrMapOvr>
  <p:transition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1773238"/>
            <a:ext cx="91519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7493" name="Text Box 5"/>
          <p:cNvSpPr txBox="1">
            <a:spLocks noChangeArrowheads="1"/>
          </p:cNvSpPr>
          <p:nvPr/>
        </p:nvSpPr>
        <p:spPr bwMode="auto">
          <a:xfrm>
            <a:off x="34925" y="620713"/>
            <a:ext cx="762000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b="0"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4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二维数组           三维数组</a:t>
            </a:r>
            <a:endParaRPr kumimoji="1" lang="zh-CN" altLang="en-US" b="0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ChangeArrowheads="1"/>
          </p:cNvSpPr>
          <p:nvPr/>
        </p:nvSpPr>
        <p:spPr bwMode="auto">
          <a:xfrm>
            <a:off x="371475" y="1196975"/>
            <a:ext cx="74866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1">
              <a:lnSpc>
                <a:spcPct val="8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仿宋_GB2312" panose="02010609030101010101" charset="-122"/>
              </a:rPr>
              <a:t>a[m1][m2] [m3]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仿宋_GB2312" panose="02010609030101010101" charset="-122"/>
              </a:rPr>
              <a:t> </a:t>
            </a:r>
            <a:r>
              <a:rPr lang="zh-CN" altLang="en-US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各维元素个数为</a:t>
            </a:r>
            <a:r>
              <a:rPr lang="zh-CN" altLang="en-US" b="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  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m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m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m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3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endParaRPr lang="en-US" altLang="zh-CN" i="1" baseline="-25000">
              <a:solidFill>
                <a:schemeClr val="accent2"/>
              </a:solidFill>
              <a:ea typeface="仿宋_GB2312" panose="02010609030101010101" charset="-122"/>
              <a:cs typeface="仿宋_GB2312" panose="02010609030101010101" charset="-122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lang="en-US" altLang="zh-CN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 </a:t>
            </a:r>
            <a:r>
              <a:rPr lang="zh-CN" altLang="en-US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下标为 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i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3</a:t>
            </a:r>
            <a:r>
              <a:rPr lang="zh-CN" altLang="en-US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的数组元素的存储位置：</a:t>
            </a:r>
            <a:r>
              <a:rPr lang="zh-CN" altLang="en-US" sz="2800">
                <a:ea typeface="仿宋_GB2312" panose="02010609030101010101" charset="-122"/>
                <a:cs typeface="仿宋_GB2312" panose="02010609030101010101" charset="-122"/>
              </a:rPr>
              <a:t>    </a:t>
            </a:r>
          </a:p>
        </p:txBody>
      </p:sp>
      <p:sp>
        <p:nvSpPr>
          <p:cNvPr id="773123" name="Text Box 3"/>
          <p:cNvSpPr txBox="1">
            <a:spLocks noChangeArrowheads="1"/>
          </p:cNvSpPr>
          <p:nvPr/>
        </p:nvSpPr>
        <p:spPr bwMode="auto">
          <a:xfrm>
            <a:off x="1314450" y="2971800"/>
            <a:ext cx="64262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en-US" altLang="zh-CN" sz="3600" dirty="0">
                <a:solidFill>
                  <a:srgbClr val="FF3300"/>
                </a:solidFill>
                <a:highlight>
                  <a:srgbClr val="00FF00"/>
                </a:highlight>
                <a:ea typeface="宋体" panose="02010600030101010101" pitchFamily="2" charset="-122"/>
              </a:rPr>
              <a:t>LOC (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3</a:t>
            </a:r>
            <a:r>
              <a:rPr lang="en-US" altLang="zh-CN" sz="36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 ) =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a</a:t>
            </a:r>
            <a:r>
              <a:rPr lang="en-US" altLang="zh-CN" sz="36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 +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　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sz="36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*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m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2 </a:t>
            </a:r>
            <a:r>
              <a:rPr lang="en-US" altLang="zh-CN" sz="36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*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m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3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+ 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* m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3 </a:t>
            </a:r>
            <a:r>
              <a:rPr lang="en-US" altLang="zh-CN" sz="3600" i="1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+ i</a:t>
            </a:r>
            <a:r>
              <a:rPr lang="en-US" altLang="zh-CN" sz="3600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 panose="02010609030101010101" charset="-122"/>
                <a:cs typeface="仿宋_GB2312" panose="02010609030101010101" charset="-122"/>
              </a:rPr>
              <a:t>3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highlight>
                <a:srgbClr val="00FF00"/>
              </a:highlight>
              <a:ea typeface="仿宋_GB2312" panose="02010609030101010101" charset="-122"/>
              <a:cs typeface="仿宋_GB2312" panose="02010609030101010101" charset="-122"/>
            </a:endParaRPr>
          </a:p>
        </p:txBody>
      </p:sp>
      <p:sp>
        <p:nvSpPr>
          <p:cNvPr id="22531" name="AutoShape 4"/>
          <p:cNvSpPr>
            <a:spLocks/>
          </p:cNvSpPr>
          <p:nvPr/>
        </p:nvSpPr>
        <p:spPr bwMode="auto">
          <a:xfrm rot="-5400000">
            <a:off x="2838450" y="3409950"/>
            <a:ext cx="228600" cy="1943100"/>
          </a:xfrm>
          <a:prstGeom prst="leftBrace">
            <a:avLst>
              <a:gd name="adj1" fmla="val 70637"/>
              <a:gd name="adj2" fmla="val 50000"/>
            </a:avLst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2057400" y="4419600"/>
            <a:ext cx="18288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>
                <a:solidFill>
                  <a:schemeClr val="accent2"/>
                </a:solidFill>
                <a:ea typeface="仿宋_GB2312" charset="-122"/>
              </a:rPr>
              <a:t>前</a:t>
            </a:r>
            <a:r>
              <a:rPr lang="en-US" altLang="zh-CN" sz="3600" i="1">
                <a:solidFill>
                  <a:schemeClr val="tx2"/>
                </a:solidFill>
                <a:ea typeface="仿宋_GB2312" charset="-122"/>
              </a:rPr>
              <a:t>i</a:t>
            </a:r>
            <a:r>
              <a:rPr lang="en-US" altLang="zh-CN" sz="3600" baseline="-25000">
                <a:solidFill>
                  <a:schemeClr val="tx2"/>
                </a:solidFill>
                <a:ea typeface="仿宋_GB2312" charset="-122"/>
              </a:rPr>
              <a:t>1</a:t>
            </a:r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页总</a:t>
            </a:r>
          </a:p>
          <a:p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元素个数</a:t>
            </a:r>
          </a:p>
        </p:txBody>
      </p:sp>
      <p:sp>
        <p:nvSpPr>
          <p:cNvPr id="22533" name="AutoShape 6"/>
          <p:cNvSpPr>
            <a:spLocks/>
          </p:cNvSpPr>
          <p:nvPr/>
        </p:nvSpPr>
        <p:spPr bwMode="auto">
          <a:xfrm rot="-5400000">
            <a:off x="4895850" y="3829050"/>
            <a:ext cx="228600" cy="1104900"/>
          </a:xfrm>
          <a:prstGeom prst="leftBrace">
            <a:avLst>
              <a:gd name="adj1" fmla="val 40166"/>
              <a:gd name="adj2" fmla="val 50000"/>
            </a:avLst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4114800" y="4419600"/>
            <a:ext cx="182880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>
                <a:solidFill>
                  <a:schemeClr val="accent2"/>
                </a:solidFill>
                <a:ea typeface="仿宋_GB2312" charset="-122"/>
              </a:rPr>
              <a:t>第</a:t>
            </a:r>
            <a:r>
              <a:rPr lang="en-US" altLang="zh-CN" sz="3600" i="1">
                <a:solidFill>
                  <a:schemeClr val="tx2"/>
                </a:solidFill>
                <a:ea typeface="仿宋_GB2312" charset="-122"/>
              </a:rPr>
              <a:t>i</a:t>
            </a:r>
            <a:r>
              <a:rPr lang="en-US" altLang="zh-CN" sz="3600" baseline="-25000">
                <a:solidFill>
                  <a:schemeClr val="tx2"/>
                </a:solidFill>
                <a:ea typeface="仿宋_GB2312" charset="-122"/>
              </a:rPr>
              <a:t>1</a:t>
            </a:r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页的</a:t>
            </a:r>
          </a:p>
          <a:p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前</a:t>
            </a:r>
            <a:r>
              <a:rPr lang="en-US" altLang="zh-CN" sz="3600" i="1">
                <a:solidFill>
                  <a:srgbClr val="FF3300"/>
                </a:solidFill>
                <a:ea typeface="仿宋_GB2312" charset="-122"/>
              </a:rPr>
              <a:t>i</a:t>
            </a:r>
            <a:r>
              <a:rPr lang="en-US" altLang="zh-CN" sz="3600" baseline="-25000">
                <a:solidFill>
                  <a:srgbClr val="FF3300"/>
                </a:solidFill>
                <a:ea typeface="仿宋_GB2312" charset="-122"/>
              </a:rPr>
              <a:t>2</a:t>
            </a:r>
            <a:r>
              <a:rPr lang="zh-CN" altLang="en-US" sz="3600">
                <a:solidFill>
                  <a:schemeClr val="accent2"/>
                </a:solidFill>
                <a:ea typeface="仿宋_GB2312" charset="-122"/>
              </a:rPr>
              <a:t>行</a:t>
            </a:r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总元素个数</a:t>
            </a:r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5924550" y="4448175"/>
            <a:ext cx="23622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>
                <a:solidFill>
                  <a:schemeClr val="accent2"/>
                </a:solidFill>
                <a:ea typeface="仿宋_GB2312" charset="-122"/>
              </a:rPr>
              <a:t>第 </a:t>
            </a:r>
            <a:r>
              <a:rPr lang="en-US" altLang="zh-CN" sz="3600" i="1">
                <a:solidFill>
                  <a:schemeClr val="tx2"/>
                </a:solidFill>
                <a:ea typeface="仿宋_GB2312" charset="-122"/>
              </a:rPr>
              <a:t>i</a:t>
            </a:r>
            <a:r>
              <a:rPr lang="en-US" altLang="zh-CN" sz="3600" baseline="-25000">
                <a:solidFill>
                  <a:schemeClr val="tx2"/>
                </a:solidFill>
                <a:ea typeface="仿宋_GB2312" charset="-122"/>
              </a:rPr>
              <a:t>2 </a:t>
            </a:r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行前 </a:t>
            </a:r>
            <a:r>
              <a:rPr lang="en-US" altLang="zh-CN" sz="3600" i="1">
                <a:solidFill>
                  <a:srgbClr val="FF3300"/>
                </a:solidFill>
                <a:ea typeface="仿宋_GB2312" charset="-122"/>
              </a:rPr>
              <a:t>i</a:t>
            </a:r>
            <a:r>
              <a:rPr lang="en-US" altLang="zh-CN" sz="3600" baseline="-25000">
                <a:solidFill>
                  <a:srgbClr val="FF3300"/>
                </a:solidFill>
                <a:ea typeface="仿宋_GB2312" charset="-122"/>
              </a:rPr>
              <a:t>3 </a:t>
            </a:r>
            <a:r>
              <a:rPr lang="zh-CN" altLang="en-US" sz="3600">
                <a:solidFill>
                  <a:schemeClr val="accent2"/>
                </a:solidFill>
                <a:ea typeface="仿宋_GB2312" charset="-122"/>
              </a:rPr>
              <a:t>列</a:t>
            </a:r>
            <a:r>
              <a:rPr lang="zh-CN" altLang="en-US" sz="3200">
                <a:solidFill>
                  <a:schemeClr val="accent2"/>
                </a:solidFill>
                <a:ea typeface="仿宋_GB2312" charset="-122"/>
              </a:rPr>
              <a:t>元素个数</a:t>
            </a:r>
          </a:p>
        </p:txBody>
      </p:sp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0" y="0"/>
            <a:ext cx="27813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三维数组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ChangeArrowheads="1"/>
          </p:cNvSpPr>
          <p:nvPr/>
        </p:nvSpPr>
        <p:spPr bwMode="auto">
          <a:xfrm>
            <a:off x="457200" y="723900"/>
            <a:ext cx="83629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1"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lang="en-US" altLang="zh-CN" sz="3600">
                <a:effectLst>
                  <a:outerShdw blurRad="38100" dist="38100" dir="2700000" algn="tl">
                    <a:srgbClr val="C0C0C0"/>
                  </a:outerShdw>
                </a:effectLst>
                <a:ea typeface="仿宋_GB2312" panose="02010609030101010101" charset="-122"/>
                <a:cs typeface="仿宋_GB2312" panose="02010609030101010101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各维元素个数为</a:t>
            </a:r>
            <a:r>
              <a:rPr lang="zh-CN" altLang="en-US" sz="2800" b="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  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m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m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m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3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…, m</a:t>
            </a:r>
            <a:r>
              <a:rPr lang="en-US" altLang="zh-CN" sz="2800" i="1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n</a:t>
            </a:r>
          </a:p>
          <a:p>
            <a:pPr lvl="1"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lang="en-US" altLang="zh-CN" sz="28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下标为 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i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1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2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i</a:t>
            </a:r>
            <a:r>
              <a:rPr lang="en-US" altLang="zh-CN" sz="2800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3</a:t>
            </a:r>
            <a:r>
              <a:rPr lang="en-US" altLang="zh-CN" sz="2800" i="1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, …, i</a:t>
            </a:r>
            <a:r>
              <a:rPr lang="en-US" altLang="zh-CN" sz="2800" i="1" baseline="-250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n</a:t>
            </a:r>
            <a:r>
              <a:rPr lang="en-US" altLang="zh-CN" sz="28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ea typeface="仿宋_GB2312" panose="02010609030101010101" charset="-122"/>
                <a:cs typeface="仿宋_GB2312" panose="02010609030101010101" charset="-122"/>
              </a:rPr>
              <a:t>的数组元素的存储位置：</a:t>
            </a:r>
            <a:r>
              <a:rPr lang="zh-CN" altLang="en-US" sz="2800">
                <a:ea typeface="仿宋_GB2312" panose="02010609030101010101" charset="-122"/>
                <a:cs typeface="仿宋_GB2312" panose="02010609030101010101" charset="-122"/>
              </a:rPr>
              <a:t> </a:t>
            </a:r>
          </a:p>
        </p:txBody>
      </p:sp>
      <p:graphicFrame>
        <p:nvGraphicFramePr>
          <p:cNvPr id="23554" name="Object 3"/>
          <p:cNvGraphicFramePr>
            <a:graphicFrameLocks/>
          </p:cNvGraphicFramePr>
          <p:nvPr/>
        </p:nvGraphicFramePr>
        <p:xfrm>
          <a:off x="158750" y="2019300"/>
          <a:ext cx="87503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05100" imgH="965200" progId="Equation.3">
                  <p:embed/>
                </p:oleObj>
              </mc:Choice>
              <mc:Fallback>
                <p:oleObj r:id="rId2" imgW="2705100" imgH="965200" progId="Equation.3">
                  <p:embed/>
                  <p:pic>
                    <p:nvPicPr>
                      <p:cNvPr id="2355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2019300"/>
                        <a:ext cx="875030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0" y="0"/>
            <a:ext cx="27813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3200" dirty="0">
                <a:highlight>
                  <a:srgbClr val="00FF00"/>
                </a:highlight>
                <a:latin typeface="楷体_GB2312"/>
              </a:rPr>
              <a:t>n</a:t>
            </a:r>
            <a:r>
              <a:rPr lang="zh-CN" altLang="en-US" sz="3200" dirty="0">
                <a:highlight>
                  <a:srgbClr val="00FF00"/>
                </a:highlight>
                <a:latin typeface="楷体_GB2312"/>
              </a:rPr>
              <a:t>维数组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7" name="Object 2"/>
          <p:cNvGraphicFramePr>
            <a:graphicFrameLocks/>
          </p:cNvGraphicFramePr>
          <p:nvPr/>
        </p:nvGraphicFramePr>
        <p:xfrm>
          <a:off x="381000" y="1111250"/>
          <a:ext cx="80772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48000" imgH="457200" progId="Equation.3">
                  <p:embed/>
                </p:oleObj>
              </mc:Choice>
              <mc:Fallback>
                <p:oleObj r:id="rId2" imgW="3048000" imgH="457200" progId="Equation.3">
                  <p:embed/>
                  <p:pic>
                    <p:nvPicPr>
                      <p:cNvPr id="24577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11250"/>
                        <a:ext cx="8077200" cy="10969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8" name="Object 3"/>
          <p:cNvGraphicFramePr>
            <a:graphicFrameLocks/>
          </p:cNvGraphicFramePr>
          <p:nvPr/>
        </p:nvGraphicFramePr>
        <p:xfrm>
          <a:off x="381000" y="2528888"/>
          <a:ext cx="80010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27200" imgH="228600" progId="Equation.3">
                  <p:embed/>
                </p:oleObj>
              </mc:Choice>
              <mc:Fallback>
                <p:oleObj r:id="rId4" imgW="1727200" imgH="228600" progId="Equation.3">
                  <p:embed/>
                  <p:pic>
                    <p:nvPicPr>
                      <p:cNvPr id="2457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28888"/>
                        <a:ext cx="8001000" cy="6254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0" y="0"/>
            <a:ext cx="27813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3200">
                <a:latin typeface="楷体_GB2312"/>
              </a:rPr>
              <a:t>n</a:t>
            </a:r>
            <a:r>
              <a:rPr lang="zh-CN" altLang="en-US" sz="3200">
                <a:latin typeface="楷体_GB2312"/>
              </a:rPr>
              <a:t>维数组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ChangeArrowheads="1"/>
          </p:cNvSpPr>
          <p:nvPr/>
        </p:nvSpPr>
        <p:spPr bwMode="auto">
          <a:xfrm>
            <a:off x="514350" y="895350"/>
            <a:ext cx="7867650" cy="2711450"/>
          </a:xfrm>
          <a:prstGeom prst="rect">
            <a:avLst/>
          </a:prstGeom>
          <a:noFill/>
          <a:ln w="57150">
            <a:solidFill>
              <a:srgbClr val="CC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zh-CN" altLang="en-US" sz="2800">
                <a:latin typeface="楷体_GB2312"/>
              </a:rPr>
              <a:t>设有一个二维数组</a:t>
            </a:r>
            <a:r>
              <a:rPr lang="en-US" altLang="zh-CN" sz="2800" i="1">
                <a:latin typeface="楷体_GB2312"/>
              </a:rPr>
              <a:t>A</a:t>
            </a:r>
            <a:r>
              <a:rPr lang="en-US" altLang="zh-CN" sz="2800">
                <a:latin typeface="楷体_GB2312"/>
              </a:rPr>
              <a:t>[</a:t>
            </a:r>
            <a:r>
              <a:rPr lang="en-US" altLang="zh-CN" sz="2800" i="1">
                <a:latin typeface="楷体_GB2312"/>
              </a:rPr>
              <a:t>m</a:t>
            </a:r>
            <a:r>
              <a:rPr lang="en-US" altLang="zh-CN" sz="2800">
                <a:latin typeface="楷体_GB2312"/>
              </a:rPr>
              <a:t>][</a:t>
            </a:r>
            <a:r>
              <a:rPr lang="en-US" altLang="zh-CN" sz="2800" i="1">
                <a:latin typeface="楷体_GB2312"/>
              </a:rPr>
              <a:t>n</a:t>
            </a:r>
            <a:r>
              <a:rPr lang="en-US" altLang="zh-CN" sz="2800">
                <a:latin typeface="楷体_GB2312"/>
              </a:rPr>
              <a:t>]</a:t>
            </a:r>
            <a:r>
              <a:rPr lang="zh-CN" altLang="en-US" sz="2800">
                <a:solidFill>
                  <a:srgbClr val="FF0000"/>
                </a:solidFill>
              </a:rPr>
              <a:t>按行优先</a:t>
            </a:r>
            <a:r>
              <a:rPr lang="zh-CN" altLang="en-US" sz="2800"/>
              <a:t>顺序存储</a:t>
            </a:r>
            <a:r>
              <a:rPr lang="zh-CN" altLang="en-US" sz="2800">
                <a:latin typeface="楷体_GB2312"/>
              </a:rPr>
              <a:t>，假设</a:t>
            </a:r>
            <a:r>
              <a:rPr lang="en-US" altLang="zh-CN" sz="2800" i="1">
                <a:latin typeface="楷体_GB2312"/>
              </a:rPr>
              <a:t>A</a:t>
            </a:r>
            <a:r>
              <a:rPr lang="en-US" altLang="zh-CN" sz="2800">
                <a:latin typeface="楷体_GB2312"/>
              </a:rPr>
              <a:t>[0][0]</a:t>
            </a:r>
            <a:r>
              <a:rPr lang="zh-CN" altLang="en-US" sz="2800">
                <a:latin typeface="楷体_GB2312"/>
              </a:rPr>
              <a:t>存放位置在</a:t>
            </a:r>
            <a:r>
              <a:rPr lang="en-US" altLang="zh-CN" sz="2800">
                <a:latin typeface="楷体_GB2312"/>
              </a:rPr>
              <a:t>644</a:t>
            </a:r>
            <a:r>
              <a:rPr lang="en-US" altLang="zh-CN" sz="2800" baseline="-30000">
                <a:latin typeface="楷体_GB2312"/>
              </a:rPr>
              <a:t>(10)</a:t>
            </a:r>
            <a:r>
              <a:rPr lang="zh-CN" altLang="en-US" sz="2800">
                <a:latin typeface="楷体_GB2312"/>
              </a:rPr>
              <a:t>，</a:t>
            </a:r>
            <a:r>
              <a:rPr lang="en-US" altLang="zh-CN" sz="2800" i="1">
                <a:latin typeface="楷体_GB2312"/>
              </a:rPr>
              <a:t>A</a:t>
            </a:r>
            <a:r>
              <a:rPr lang="en-US" altLang="zh-CN" sz="2800">
                <a:latin typeface="楷体_GB2312"/>
              </a:rPr>
              <a:t>[2][2]</a:t>
            </a:r>
            <a:r>
              <a:rPr lang="zh-CN" altLang="en-US" sz="2800">
                <a:latin typeface="楷体_GB2312"/>
              </a:rPr>
              <a:t>存放位置在</a:t>
            </a:r>
            <a:r>
              <a:rPr lang="en-US" altLang="zh-CN" sz="2800">
                <a:latin typeface="楷体_GB2312"/>
              </a:rPr>
              <a:t>676</a:t>
            </a:r>
            <a:r>
              <a:rPr lang="en-US" altLang="zh-CN" sz="2800" baseline="-30000">
                <a:latin typeface="楷体_GB2312"/>
              </a:rPr>
              <a:t>(10)</a:t>
            </a:r>
            <a:r>
              <a:rPr lang="zh-CN" altLang="en-US" sz="2800">
                <a:latin typeface="楷体_GB2312"/>
              </a:rPr>
              <a:t>，每个元素占一个空间，问</a:t>
            </a:r>
            <a:r>
              <a:rPr lang="en-US" altLang="zh-CN" sz="2800" i="1">
                <a:latin typeface="楷体_GB2312"/>
              </a:rPr>
              <a:t>A</a:t>
            </a:r>
            <a:r>
              <a:rPr lang="en-US" altLang="zh-CN" sz="2800">
                <a:latin typeface="楷体_GB2312"/>
              </a:rPr>
              <a:t>[3][3]</a:t>
            </a:r>
            <a:r>
              <a:rPr lang="en-US" altLang="zh-CN" sz="2800" baseline="-30000">
                <a:latin typeface="楷体_GB2312"/>
              </a:rPr>
              <a:t>(10)</a:t>
            </a:r>
            <a:r>
              <a:rPr lang="zh-CN" altLang="en-US" sz="2800">
                <a:latin typeface="楷体_GB2312"/>
              </a:rPr>
              <a:t>存放在什么位置？脚注</a:t>
            </a:r>
            <a:r>
              <a:rPr lang="en-US" altLang="zh-CN" sz="2800" baseline="-30000">
                <a:latin typeface="楷体_GB2312"/>
              </a:rPr>
              <a:t>(10)</a:t>
            </a:r>
            <a:r>
              <a:rPr lang="zh-CN" altLang="en-US" sz="2800">
                <a:latin typeface="楷体_GB2312"/>
              </a:rPr>
              <a:t>表示用</a:t>
            </a:r>
            <a:r>
              <a:rPr lang="en-US" altLang="zh-CN" sz="2800">
                <a:latin typeface="楷体_GB2312"/>
              </a:rPr>
              <a:t>10</a:t>
            </a:r>
            <a:r>
              <a:rPr lang="zh-CN" altLang="en-US" sz="2800">
                <a:latin typeface="楷体_GB2312"/>
              </a:rPr>
              <a:t>进制表示。</a:t>
            </a:r>
          </a:p>
          <a:p>
            <a:pPr eaLnBrk="0" hangingPunct="0"/>
            <a:endParaRPr lang="en-US" altLang="zh-CN" sz="2800">
              <a:latin typeface="楷体_GB2312"/>
            </a:endParaRP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304800" y="3771900"/>
            <a:ext cx="8591550" cy="19177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 eaLnBrk="0" hangingPunct="0"/>
            <a:r>
              <a:rPr lang="zh-CN" altLang="en-US">
                <a:ea typeface="宋体" panose="02010600030101010101" pitchFamily="2" charset="-122"/>
              </a:rPr>
              <a:t>设数组元素</a:t>
            </a:r>
            <a:r>
              <a:rPr lang="en-US" altLang="zh-CN">
                <a:ea typeface="宋体" panose="02010600030101010101" pitchFamily="2" charset="-122"/>
              </a:rPr>
              <a:t>A[i][j]</a:t>
            </a:r>
            <a:r>
              <a:rPr lang="zh-CN" altLang="en-US">
                <a:ea typeface="宋体" panose="02010600030101010101" pitchFamily="2" charset="-122"/>
              </a:rPr>
              <a:t>存放在起始地址为</a:t>
            </a:r>
            <a:r>
              <a:rPr lang="en-US" altLang="zh-CN">
                <a:ea typeface="宋体" panose="02010600030101010101" pitchFamily="2" charset="-122"/>
              </a:rPr>
              <a:t>Loc ( i, j ) </a:t>
            </a:r>
            <a:r>
              <a:rPr lang="zh-CN" altLang="en-US">
                <a:ea typeface="宋体" panose="02010600030101010101" pitchFamily="2" charset="-122"/>
              </a:rPr>
              <a:t>的存储单元中</a:t>
            </a:r>
          </a:p>
          <a:p>
            <a:pPr algn="just" eaLnBrk="0" hangingPunct="0"/>
            <a:endParaRPr lang="zh-CN" altLang="en-US">
              <a:ea typeface="宋体" panose="02010600030101010101" pitchFamily="2" charset="-122"/>
            </a:endParaRPr>
          </a:p>
          <a:p>
            <a:pPr algn="just" eaLnBrk="0" hangingPunct="0"/>
            <a:r>
              <a:rPr lang="zh-CN" altLang="en-US">
                <a:ea typeface="宋体" panose="02010600030101010101" pitchFamily="2" charset="-122"/>
              </a:rPr>
              <a:t>∵ </a:t>
            </a:r>
            <a:r>
              <a:rPr lang="en-US" altLang="zh-CN">
                <a:ea typeface="宋体" panose="02010600030101010101" pitchFamily="2" charset="-122"/>
              </a:rPr>
              <a:t>Loc ( 2, 2 ) = Loc ( 0, 0 ) + 2 * n + 2 = 644 + 2 * n + 2 = 676.</a:t>
            </a:r>
          </a:p>
          <a:p>
            <a:pPr algn="just" eaLnBrk="0" hangingPunct="0"/>
            <a:r>
              <a:rPr lang="en-US" altLang="zh-CN">
                <a:ea typeface="宋体" panose="02010600030101010101" pitchFamily="2" charset="-122"/>
              </a:rPr>
              <a:t>∴ n = ( 676 </a:t>
            </a:r>
            <a:r>
              <a:rPr lang="en-US" altLang="zh-CN"/>
              <a:t>-</a:t>
            </a:r>
            <a:r>
              <a:rPr lang="en-US" altLang="zh-CN">
                <a:ea typeface="宋体" panose="02010600030101010101" pitchFamily="2" charset="-122"/>
              </a:rPr>
              <a:t> 2 </a:t>
            </a:r>
            <a:r>
              <a:rPr lang="en-US" altLang="zh-CN"/>
              <a:t>-</a:t>
            </a:r>
            <a:r>
              <a:rPr lang="en-US" altLang="zh-CN">
                <a:ea typeface="宋体" panose="02010600030101010101" pitchFamily="2" charset="-122"/>
              </a:rPr>
              <a:t> 644 ) / 2 = 15</a:t>
            </a:r>
          </a:p>
          <a:p>
            <a:pPr algn="just" eaLnBrk="0" hangingPunct="0"/>
            <a:r>
              <a:rPr lang="en-US" altLang="zh-CN">
                <a:ea typeface="宋体" panose="02010600030101010101" pitchFamily="2" charset="-122"/>
              </a:rPr>
              <a:t>∴ Loc ( 3, 3 ) = Loc ( 0, 0 ) + 3 * 15 + 3 = 644 + 45 + 3 = 692.</a:t>
            </a:r>
            <a:endParaRPr lang="en-US" altLang="zh-CN">
              <a:ea typeface="仿宋_GB2312" charset="-122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0" y="0"/>
            <a:ext cx="2339975" cy="685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4000">
                <a:solidFill>
                  <a:srgbClr val="FF33CC"/>
                </a:solidFill>
                <a:latin typeface="楷体_GB2312"/>
              </a:rPr>
              <a:t>练习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ChangeArrowheads="1"/>
          </p:cNvSpPr>
          <p:nvPr/>
        </p:nvSpPr>
        <p:spPr bwMode="auto">
          <a:xfrm>
            <a:off x="250825" y="981075"/>
            <a:ext cx="85693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800">
                <a:latin typeface="楷体_GB2312"/>
              </a:rPr>
              <a:t>设有二维数组</a:t>
            </a:r>
            <a:r>
              <a:rPr lang="en-US" altLang="zh-CN" sz="2800">
                <a:latin typeface="楷体_GB2312"/>
              </a:rPr>
              <a:t>A[10,20]</a:t>
            </a:r>
            <a:r>
              <a:rPr lang="zh-CN" altLang="en-US" sz="2800">
                <a:latin typeface="楷体_GB2312"/>
              </a:rPr>
              <a:t>，其每个元素占两个字节， </a:t>
            </a:r>
            <a:r>
              <a:rPr lang="en-US" altLang="zh-CN" sz="2800" i="1">
                <a:latin typeface="楷体_GB2312"/>
              </a:rPr>
              <a:t>A</a:t>
            </a:r>
            <a:r>
              <a:rPr lang="en-US" altLang="zh-CN" sz="2800">
                <a:latin typeface="楷体_GB2312"/>
              </a:rPr>
              <a:t>[0][0]</a:t>
            </a:r>
            <a:r>
              <a:rPr lang="zh-CN" altLang="en-US" sz="2800">
                <a:latin typeface="楷体_GB2312"/>
              </a:rPr>
              <a:t>存储地址为</a:t>
            </a:r>
            <a:r>
              <a:rPr lang="en-US" altLang="zh-CN" sz="2800">
                <a:latin typeface="楷体_GB2312"/>
              </a:rPr>
              <a:t>100</a:t>
            </a:r>
            <a:r>
              <a:rPr lang="zh-CN" altLang="en-US" sz="2800">
                <a:latin typeface="楷体_GB2312"/>
              </a:rPr>
              <a:t>，若</a:t>
            </a:r>
            <a:r>
              <a:rPr lang="zh-CN" altLang="en-US" sz="2800">
                <a:solidFill>
                  <a:srgbClr val="FF0000"/>
                </a:solidFill>
                <a:latin typeface="楷体_GB2312"/>
              </a:rPr>
              <a:t>按行优先</a:t>
            </a:r>
            <a:r>
              <a:rPr lang="zh-CN" altLang="en-US" sz="2800">
                <a:latin typeface="楷体_GB2312"/>
              </a:rPr>
              <a:t>顺序存储，则元素</a:t>
            </a:r>
            <a:r>
              <a:rPr lang="en-US" altLang="zh-CN" sz="2800">
                <a:latin typeface="楷体_GB2312"/>
              </a:rPr>
              <a:t>A[6,6]</a:t>
            </a:r>
            <a:r>
              <a:rPr lang="zh-CN" altLang="en-US" sz="2800">
                <a:latin typeface="楷体_GB2312"/>
              </a:rPr>
              <a:t>的存储地址为</a:t>
            </a:r>
            <a:r>
              <a:rPr lang="zh-CN" altLang="en-US" sz="2800" u="sng">
                <a:latin typeface="楷体_GB2312"/>
              </a:rPr>
              <a:t>         </a:t>
            </a:r>
            <a:r>
              <a:rPr lang="zh-CN" altLang="en-US" sz="2800">
                <a:latin typeface="楷体_GB2312"/>
              </a:rPr>
              <a:t>，</a:t>
            </a:r>
            <a:r>
              <a:rPr lang="zh-CN" altLang="en-US" sz="2800">
                <a:solidFill>
                  <a:srgbClr val="FF0000"/>
                </a:solidFill>
                <a:latin typeface="楷体_GB2312"/>
              </a:rPr>
              <a:t>按列优先</a:t>
            </a:r>
            <a:r>
              <a:rPr lang="zh-CN" altLang="en-US" sz="2800">
                <a:latin typeface="楷体_GB2312"/>
              </a:rPr>
              <a:t>顺序存储，元素</a:t>
            </a:r>
            <a:r>
              <a:rPr lang="en-US" altLang="zh-CN" sz="2800">
                <a:latin typeface="楷体_GB2312"/>
              </a:rPr>
              <a:t>A[6,6]</a:t>
            </a:r>
            <a:r>
              <a:rPr lang="zh-CN" altLang="en-US" sz="2800">
                <a:latin typeface="楷体_GB2312"/>
              </a:rPr>
              <a:t>的存储地址为</a:t>
            </a:r>
            <a:r>
              <a:rPr lang="zh-CN" altLang="en-US" sz="2800" u="sng">
                <a:latin typeface="楷体_GB2312"/>
              </a:rPr>
              <a:t>         </a:t>
            </a:r>
            <a:r>
              <a:rPr lang="zh-CN" altLang="en-US" sz="2800">
                <a:latin typeface="楷体_GB2312"/>
              </a:rPr>
              <a:t>。 </a:t>
            </a:r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0" y="0"/>
            <a:ext cx="2339975" cy="685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4000">
                <a:solidFill>
                  <a:srgbClr val="FF33CC"/>
                </a:solidFill>
                <a:latin typeface="楷体_GB2312"/>
              </a:rPr>
              <a:t>练习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283075" y="1885950"/>
            <a:ext cx="808038" cy="322263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chemeClr val="hlink"/>
                </a:solidFill>
                <a:latin typeface="楷体_GB2312"/>
              </a:rPr>
              <a:t>352</a:t>
            </a: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5292725" y="2409825"/>
            <a:ext cx="800100" cy="320675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chemeClr val="hlink"/>
                </a:solidFill>
                <a:latin typeface="楷体_GB2312"/>
              </a:rPr>
              <a:t>232</a:t>
            </a: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1476375" y="3357563"/>
            <a:ext cx="4319588" cy="1077218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chemeClr val="hlink"/>
                </a:solidFill>
                <a:latin typeface="楷体_GB2312"/>
              </a:rPr>
              <a:t>(6*</a:t>
            </a:r>
            <a:r>
              <a:rPr lang="en-US" altLang="zh-CN" sz="3200" dirty="0">
                <a:solidFill>
                  <a:schemeClr val="hlink"/>
                </a:solidFill>
                <a:highlight>
                  <a:srgbClr val="00FF00"/>
                </a:highlight>
                <a:latin typeface="楷体_GB2312"/>
              </a:rPr>
              <a:t>20</a:t>
            </a:r>
            <a:r>
              <a:rPr lang="en-US" altLang="zh-CN" sz="3200" dirty="0">
                <a:solidFill>
                  <a:schemeClr val="hlink"/>
                </a:solidFill>
                <a:latin typeface="楷体_GB2312"/>
              </a:rPr>
              <a:t>+6)*2+100=352</a:t>
            </a: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1476375" y="4210050"/>
            <a:ext cx="4319588" cy="636588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>
                <a:solidFill>
                  <a:schemeClr val="hlink"/>
                </a:solidFill>
                <a:latin typeface="楷体_GB2312"/>
              </a:rPr>
              <a:t>(6*10+6)*2+100=232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91D7ED-82C4-E188-7A64-A3AE9156D330}"/>
              </a:ext>
            </a:extLst>
          </p:cNvPr>
          <p:cNvSpPr txBox="1"/>
          <p:nvPr/>
        </p:nvSpPr>
        <p:spPr>
          <a:xfrm>
            <a:off x="827584" y="5373216"/>
            <a:ext cx="7992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按行存储则</a:t>
            </a:r>
            <a:r>
              <a:rPr lang="en-US" altLang="zh-CN" dirty="0">
                <a:highlight>
                  <a:srgbClr val="00FF00"/>
                </a:highlight>
              </a:rPr>
              <a:t>A[a,b] a×</a:t>
            </a:r>
            <a:r>
              <a:rPr lang="zh-CN" altLang="en-US" dirty="0">
                <a:highlight>
                  <a:srgbClr val="00FF00"/>
                </a:highlight>
              </a:rPr>
              <a:t>列数</a:t>
            </a:r>
            <a:r>
              <a:rPr lang="en-US" altLang="zh-CN" dirty="0">
                <a:highlight>
                  <a:srgbClr val="00FF00"/>
                </a:highlight>
              </a:rPr>
              <a:t>+b</a:t>
            </a:r>
          </a:p>
          <a:p>
            <a:r>
              <a:rPr lang="zh-CN" altLang="en-US" dirty="0">
                <a:highlight>
                  <a:srgbClr val="00FF00"/>
                </a:highlight>
              </a:rPr>
              <a:t>按列存储则</a:t>
            </a:r>
            <a:r>
              <a:rPr lang="en-US" altLang="zh-CN" dirty="0">
                <a:highlight>
                  <a:srgbClr val="00FF00"/>
                </a:highlight>
              </a:rPr>
              <a:t>A[a,b] b×</a:t>
            </a:r>
            <a:r>
              <a:rPr lang="zh-CN" altLang="en-US" dirty="0">
                <a:highlight>
                  <a:srgbClr val="00FF00"/>
                </a:highlight>
              </a:rPr>
              <a:t>行数</a:t>
            </a:r>
            <a:r>
              <a:rPr lang="en-US" altLang="zh-CN" dirty="0">
                <a:highlight>
                  <a:srgbClr val="00FF00"/>
                </a:highlight>
              </a:rPr>
              <a:t>+a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5"/>
          <p:cNvSpPr>
            <a:spLocks noChangeArrowheads="1"/>
          </p:cNvSpPr>
          <p:nvPr/>
        </p:nvSpPr>
        <p:spPr bwMode="auto">
          <a:xfrm>
            <a:off x="228600" y="1125538"/>
            <a:ext cx="84899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1. </a:t>
            </a:r>
            <a:r>
              <a:rPr lang="zh-CN" altLang="en-US" sz="2800">
                <a:solidFill>
                  <a:srgbClr val="FF0000"/>
                </a:solidFill>
              </a:rPr>
              <a:t>什么是压缩存储？</a:t>
            </a:r>
          </a:p>
          <a:p>
            <a:pPr>
              <a:spcBef>
                <a:spcPct val="20000"/>
              </a:spcBef>
            </a:pPr>
            <a:r>
              <a:rPr lang="zh-CN" altLang="en-US" sz="2800"/>
              <a:t>若多个数据元素的</a:t>
            </a:r>
            <a:r>
              <a:rPr lang="zh-CN" altLang="en-US" sz="2800">
                <a:solidFill>
                  <a:schemeClr val="accent2"/>
                </a:solidFill>
              </a:rPr>
              <a:t>值都相同</a:t>
            </a:r>
            <a:r>
              <a:rPr lang="zh-CN" altLang="en-US" sz="2800"/>
              <a:t>，则只分配一个元素值的存储空间，且零元素不占存储空间。</a:t>
            </a:r>
          </a:p>
          <a:p>
            <a:pPr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2. </a:t>
            </a:r>
            <a:r>
              <a:rPr lang="zh-CN" altLang="en-US" sz="2800">
                <a:solidFill>
                  <a:srgbClr val="FF0000"/>
                </a:solidFill>
              </a:rPr>
              <a:t>什么样的矩阵能够压缩？</a:t>
            </a:r>
            <a:r>
              <a:rPr lang="zh-CN" altLang="en-US" sz="2800"/>
              <a:t>       </a:t>
            </a:r>
          </a:p>
          <a:p>
            <a:pPr>
              <a:spcBef>
                <a:spcPct val="20000"/>
              </a:spcBef>
            </a:pPr>
            <a:r>
              <a:rPr lang="zh-CN" altLang="en-US" sz="2800"/>
              <a:t>一些特殊矩阵，如：对称矩阵，对角矩阵，三角矩阵，稀疏矩阵等。</a:t>
            </a:r>
          </a:p>
          <a:p>
            <a:pPr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3. </a:t>
            </a:r>
            <a:r>
              <a:rPr lang="zh-CN" altLang="en-US" sz="2800">
                <a:solidFill>
                  <a:srgbClr val="FF0000"/>
                </a:solidFill>
              </a:rPr>
              <a:t>什么叫稀疏矩阵？</a:t>
            </a:r>
          </a:p>
          <a:p>
            <a:pPr>
              <a:spcBef>
                <a:spcPct val="20000"/>
              </a:spcBef>
            </a:pPr>
            <a:r>
              <a:rPr lang="zh-CN" altLang="en-US" sz="2800">
                <a:latin typeface="楷体_GB2312"/>
              </a:rPr>
              <a:t>矩阵中非零元素的个数较少（一般小于</a:t>
            </a:r>
            <a:r>
              <a:rPr lang="en-US" altLang="zh-CN" sz="2800">
                <a:latin typeface="楷体_GB2312"/>
              </a:rPr>
              <a:t>5%</a:t>
            </a:r>
            <a:r>
              <a:rPr lang="zh-CN" altLang="en-US" sz="2800">
                <a:latin typeface="楷体_GB2312"/>
              </a:rPr>
              <a:t>）</a:t>
            </a:r>
          </a:p>
        </p:txBody>
      </p:sp>
      <p:sp>
        <p:nvSpPr>
          <p:cNvPr id="27650" name="Rectangle 6"/>
          <p:cNvSpPr>
            <a:spLocks noChangeArrowheads="1"/>
          </p:cNvSpPr>
          <p:nvPr/>
        </p:nvSpPr>
        <p:spPr bwMode="auto">
          <a:xfrm>
            <a:off x="34925" y="44450"/>
            <a:ext cx="532447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特殊矩阵的压缩存储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571500"/>
            <a:ext cx="77724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1" dirty="0">
                <a:solidFill>
                  <a:srgbClr val="CC6600"/>
                </a:solidFill>
              </a:rPr>
              <a:t>1.  </a:t>
            </a:r>
            <a:r>
              <a:rPr lang="zh-CN" altLang="en-US" sz="2800" b="1" dirty="0">
                <a:solidFill>
                  <a:srgbClr val="CC6600"/>
                </a:solidFill>
              </a:rPr>
              <a:t>对称矩阵</a:t>
            </a:r>
            <a:endParaRPr lang="zh-CN" altLang="en-US" sz="2800" dirty="0"/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特点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 err="1"/>
              <a:t>n</a:t>
            </a:r>
            <a:r>
              <a:rPr lang="en-US" altLang="zh-CN" sz="2400" dirty="0" err="1">
                <a:sym typeface="Symbol" panose="05050102010706020507" pitchFamily="18" charset="2"/>
              </a:rPr>
              <a:t>n</a:t>
            </a:r>
            <a:r>
              <a:rPr lang="zh-CN" altLang="en-US" sz="2400" dirty="0">
                <a:sym typeface="Symbol" panose="05050102010706020507" pitchFamily="18" charset="2"/>
              </a:rPr>
              <a:t>的矩阵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中，满足如下性质：</a:t>
            </a:r>
          </a:p>
          <a:p>
            <a:pPr algn="ctr">
              <a:buFontTx/>
              <a:buNone/>
            </a:pPr>
            <a:r>
              <a:rPr lang="en-US" altLang="zh-CN" sz="2400" dirty="0" err="1">
                <a:sym typeface="Symbol" panose="05050102010706020507" pitchFamily="18" charset="2"/>
              </a:rPr>
              <a:t>a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=a</a:t>
            </a:r>
            <a:r>
              <a:rPr lang="en-US" altLang="zh-CN" sz="2400" baseline="-25000" dirty="0">
                <a:sym typeface="Symbol" panose="05050102010706020507" pitchFamily="18" charset="2"/>
              </a:rPr>
              <a:t>ji</a:t>
            </a:r>
            <a:r>
              <a:rPr lang="en-US" altLang="zh-CN" sz="2400" dirty="0">
                <a:sym typeface="Symbol" panose="05050102010706020507" pitchFamily="18" charset="2"/>
              </a:rPr>
              <a:t>  (1  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j  n)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  <a:sym typeface="Symbol" panose="05050102010706020507" pitchFamily="18" charset="2"/>
              </a:rPr>
              <a:t>存储方法</a:t>
            </a:r>
            <a:r>
              <a:rPr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]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只存储下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ym typeface="Symbol" panose="05050102010706020507" pitchFamily="18" charset="2"/>
              </a:rPr>
              <a:t>或者上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三角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ym typeface="Symbol" panose="05050102010706020507" pitchFamily="18" charset="2"/>
              </a:rPr>
              <a:t>包括主对角线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的数据元素。共占用</a:t>
            </a:r>
            <a:r>
              <a:rPr lang="en-US" altLang="zh-CN" sz="2400" dirty="0">
                <a:sym typeface="Symbol" panose="05050102010706020507" pitchFamily="18" charset="2"/>
              </a:rPr>
              <a:t>n(n+1)/2</a:t>
            </a:r>
            <a:r>
              <a:rPr lang="zh-CN" altLang="en-US" sz="2400" dirty="0">
                <a:sym typeface="Symbol" panose="05050102010706020507" pitchFamily="18" charset="2"/>
              </a:rPr>
              <a:t>个元素空间。</a:t>
            </a:r>
          </a:p>
          <a:p>
            <a:pPr>
              <a:buFontTx/>
              <a:buNone/>
            </a:pPr>
            <a:endParaRPr lang="zh-CN" altLang="en-US" sz="28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zh-CN" altLang="en-US" sz="2800" dirty="0">
              <a:sym typeface="Symbol" panose="05050102010706020507" pitchFamily="18" charset="2"/>
            </a:endParaRPr>
          </a:p>
          <a:p>
            <a:pPr algn="ctr">
              <a:buFontTx/>
              <a:buNone/>
            </a:pPr>
            <a:r>
              <a:rPr lang="en-US" altLang="zh-CN" sz="2800" dirty="0"/>
              <a:t>k=   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(i-1)/2+j     </a:t>
            </a:r>
            <a:r>
              <a:rPr lang="zh-CN" altLang="zh-CN" sz="2800" dirty="0"/>
              <a:t>当</a:t>
            </a:r>
            <a:r>
              <a:rPr lang="en-US" altLang="zh-CN" sz="2800" dirty="0" err="1"/>
              <a:t>i</a:t>
            </a:r>
            <a:r>
              <a:rPr lang="en-US" altLang="zh-CN" sz="2800" dirty="0" err="1">
                <a:sym typeface="Symbol" panose="05050102010706020507" pitchFamily="18" charset="2"/>
              </a:rPr>
              <a:t>j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800" dirty="0"/>
              <a:t>                                 j(j-1)/2+i     </a:t>
            </a:r>
            <a:r>
              <a:rPr lang="zh-CN" altLang="zh-CN" sz="2800" dirty="0"/>
              <a:t>当</a:t>
            </a:r>
            <a:r>
              <a:rPr lang="en-US" altLang="zh-CN" sz="2800" dirty="0" err="1"/>
              <a:t>i</a:t>
            </a:r>
            <a:r>
              <a:rPr lang="en-US" altLang="zh-CN" sz="2800" dirty="0"/>
              <a:t>&lt;j</a:t>
            </a:r>
          </a:p>
        </p:txBody>
      </p:sp>
      <p:sp>
        <p:nvSpPr>
          <p:cNvPr id="28674" name="Text Box 8"/>
          <p:cNvSpPr txBox="1">
            <a:spLocks noChangeArrowheads="1"/>
          </p:cNvSpPr>
          <p:nvPr/>
        </p:nvSpPr>
        <p:spPr bwMode="auto">
          <a:xfrm>
            <a:off x="1676400" y="2857500"/>
            <a:ext cx="5486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a</a:t>
            </a:r>
            <a:r>
              <a:rPr lang="en-US" altLang="zh-CN" baseline="-25000"/>
              <a:t>11</a:t>
            </a:r>
            <a:r>
              <a:rPr lang="en-US" altLang="zh-CN"/>
              <a:t>  a</a:t>
            </a:r>
            <a:r>
              <a:rPr lang="en-US" altLang="zh-CN" baseline="-25000"/>
              <a:t>21</a:t>
            </a:r>
            <a:r>
              <a:rPr lang="en-US" altLang="zh-CN"/>
              <a:t>  a</a:t>
            </a:r>
            <a:r>
              <a:rPr lang="en-US" altLang="zh-CN" baseline="-25000"/>
              <a:t>22</a:t>
            </a:r>
            <a:r>
              <a:rPr lang="en-US" altLang="zh-CN"/>
              <a:t>  a</a:t>
            </a:r>
            <a:r>
              <a:rPr lang="en-US" altLang="zh-CN" baseline="-25000"/>
              <a:t>31</a:t>
            </a:r>
            <a:r>
              <a:rPr lang="en-US" altLang="zh-CN"/>
              <a:t>              a</a:t>
            </a:r>
            <a:r>
              <a:rPr lang="en-US" altLang="zh-CN" baseline="-25000"/>
              <a:t>ij</a:t>
            </a:r>
            <a:r>
              <a:rPr lang="en-US" altLang="zh-CN"/>
              <a:t>(a</a:t>
            </a:r>
            <a:r>
              <a:rPr lang="en-US" altLang="zh-CN" baseline="-25000"/>
              <a:t>ji</a:t>
            </a:r>
            <a:r>
              <a:rPr lang="en-US" altLang="zh-CN"/>
              <a:t>)                a</a:t>
            </a:r>
            <a:r>
              <a:rPr lang="en-US" altLang="zh-CN" baseline="-25000"/>
              <a:t>nn</a:t>
            </a:r>
            <a:endParaRPr lang="en-US" altLang="zh-CN"/>
          </a:p>
        </p:txBody>
      </p:sp>
      <p:sp>
        <p:nvSpPr>
          <p:cNvPr id="28675" name="Line 9"/>
          <p:cNvSpPr>
            <a:spLocks noChangeShapeType="1"/>
          </p:cNvSpPr>
          <p:nvPr/>
        </p:nvSpPr>
        <p:spPr bwMode="auto">
          <a:xfrm>
            <a:off x="22098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Line 10"/>
          <p:cNvSpPr>
            <a:spLocks noChangeShapeType="1"/>
          </p:cNvSpPr>
          <p:nvPr/>
        </p:nvSpPr>
        <p:spPr bwMode="auto">
          <a:xfrm>
            <a:off x="26670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Line 11"/>
          <p:cNvSpPr>
            <a:spLocks noChangeShapeType="1"/>
          </p:cNvSpPr>
          <p:nvPr/>
        </p:nvSpPr>
        <p:spPr bwMode="auto">
          <a:xfrm>
            <a:off x="31242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Line 12"/>
          <p:cNvSpPr>
            <a:spLocks noChangeShapeType="1"/>
          </p:cNvSpPr>
          <p:nvPr/>
        </p:nvSpPr>
        <p:spPr bwMode="auto">
          <a:xfrm>
            <a:off x="35814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Line 13"/>
          <p:cNvSpPr>
            <a:spLocks noChangeShapeType="1"/>
          </p:cNvSpPr>
          <p:nvPr/>
        </p:nvSpPr>
        <p:spPr bwMode="auto">
          <a:xfrm>
            <a:off x="45720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Line 14"/>
          <p:cNvSpPr>
            <a:spLocks noChangeShapeType="1"/>
          </p:cNvSpPr>
          <p:nvPr/>
        </p:nvSpPr>
        <p:spPr bwMode="auto">
          <a:xfrm>
            <a:off x="54102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Line 15"/>
          <p:cNvSpPr>
            <a:spLocks noChangeShapeType="1"/>
          </p:cNvSpPr>
          <p:nvPr/>
        </p:nvSpPr>
        <p:spPr bwMode="auto">
          <a:xfrm>
            <a:off x="6553200" y="2857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Text Box 18"/>
          <p:cNvSpPr txBox="1">
            <a:spLocks noChangeArrowheads="1"/>
          </p:cNvSpPr>
          <p:nvPr/>
        </p:nvSpPr>
        <p:spPr bwMode="auto">
          <a:xfrm>
            <a:off x="1066800" y="3389313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     k    1      2       3     4                                               n(n+1)/2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28683" name="AutoShape 19"/>
          <p:cNvSpPr>
            <a:spLocks/>
          </p:cNvSpPr>
          <p:nvPr/>
        </p:nvSpPr>
        <p:spPr bwMode="auto">
          <a:xfrm>
            <a:off x="3314700" y="3924300"/>
            <a:ext cx="76200" cy="762000"/>
          </a:xfrm>
          <a:prstGeom prst="leftBrace">
            <a:avLst>
              <a:gd name="adj1" fmla="val 8310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8684" name="Text Box 20"/>
          <p:cNvSpPr txBox="1">
            <a:spLocks noChangeArrowheads="1"/>
          </p:cNvSpPr>
          <p:nvPr/>
        </p:nvSpPr>
        <p:spPr bwMode="auto">
          <a:xfrm>
            <a:off x="1219200" y="28575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sa</a:t>
            </a:r>
          </a:p>
        </p:txBody>
      </p:sp>
      <p:sp>
        <p:nvSpPr>
          <p:cNvPr id="28685" name="Line 21"/>
          <p:cNvSpPr>
            <a:spLocks noChangeShapeType="1"/>
          </p:cNvSpPr>
          <p:nvPr/>
        </p:nvSpPr>
        <p:spPr bwMode="auto">
          <a:xfrm>
            <a:off x="6553200" y="41529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22"/>
          <p:cNvSpPr>
            <a:spLocks noChangeShapeType="1"/>
          </p:cNvSpPr>
          <p:nvPr/>
        </p:nvSpPr>
        <p:spPr bwMode="auto">
          <a:xfrm>
            <a:off x="8305800" y="407670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24"/>
          <p:cNvSpPr>
            <a:spLocks noChangeShapeType="1"/>
          </p:cNvSpPr>
          <p:nvPr/>
        </p:nvSpPr>
        <p:spPr bwMode="auto">
          <a:xfrm>
            <a:off x="6705600" y="4152900"/>
            <a:ext cx="1447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25"/>
          <p:cNvSpPr>
            <a:spLocks noChangeShapeType="1"/>
          </p:cNvSpPr>
          <p:nvPr/>
        </p:nvSpPr>
        <p:spPr bwMode="auto">
          <a:xfrm>
            <a:off x="8153400" y="41529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Line 26"/>
          <p:cNvSpPr>
            <a:spLocks noChangeShapeType="1"/>
          </p:cNvSpPr>
          <p:nvPr/>
        </p:nvSpPr>
        <p:spPr bwMode="auto">
          <a:xfrm>
            <a:off x="6705600" y="41529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0" name="Line 27"/>
          <p:cNvSpPr>
            <a:spLocks noChangeShapeType="1"/>
          </p:cNvSpPr>
          <p:nvPr/>
        </p:nvSpPr>
        <p:spPr bwMode="auto">
          <a:xfrm>
            <a:off x="6705600" y="5600700"/>
            <a:ext cx="1447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1" name="Text Box 29"/>
          <p:cNvSpPr txBox="1">
            <a:spLocks noChangeArrowheads="1"/>
          </p:cNvSpPr>
          <p:nvPr/>
        </p:nvSpPr>
        <p:spPr bwMode="auto">
          <a:xfrm>
            <a:off x="7543800" y="41529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aseline="-25000">
                <a:solidFill>
                  <a:schemeClr val="accent2"/>
                </a:solidFill>
                <a:sym typeface="Symbol" panose="05050102010706020507" pitchFamily="18" charset="2"/>
              </a:rPr>
              <a:t>ji</a:t>
            </a:r>
          </a:p>
        </p:txBody>
      </p:sp>
      <p:sp>
        <p:nvSpPr>
          <p:cNvPr id="28692" name="AutoShape 34"/>
          <p:cNvSpPr>
            <a:spLocks noChangeArrowheads="1"/>
          </p:cNvSpPr>
          <p:nvPr/>
        </p:nvSpPr>
        <p:spPr bwMode="auto">
          <a:xfrm>
            <a:off x="6705600" y="4152900"/>
            <a:ext cx="1447800" cy="14478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8693" name="Text Box 35"/>
          <p:cNvSpPr txBox="1">
            <a:spLocks noChangeArrowheads="1"/>
          </p:cNvSpPr>
          <p:nvPr/>
        </p:nvSpPr>
        <p:spPr bwMode="auto">
          <a:xfrm>
            <a:off x="6934200" y="46863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aseline="-25000">
                <a:solidFill>
                  <a:schemeClr val="accent2"/>
                </a:solidFill>
                <a:sym typeface="Symbol" panose="05050102010706020507" pitchFamily="18" charset="2"/>
              </a:rPr>
              <a:t>ij</a:t>
            </a:r>
          </a:p>
        </p:txBody>
      </p:sp>
      <p:sp>
        <p:nvSpPr>
          <p:cNvPr id="28694" name="Line 36"/>
          <p:cNvSpPr>
            <a:spLocks noChangeShapeType="1"/>
          </p:cNvSpPr>
          <p:nvPr/>
        </p:nvSpPr>
        <p:spPr bwMode="auto">
          <a:xfrm flipH="1">
            <a:off x="7239000" y="4610100"/>
            <a:ext cx="381000" cy="381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5" name="Rectangle 6"/>
          <p:cNvSpPr>
            <a:spLocks noChangeArrowheads="1"/>
          </p:cNvSpPr>
          <p:nvPr/>
        </p:nvSpPr>
        <p:spPr bwMode="auto">
          <a:xfrm>
            <a:off x="0" y="4763"/>
            <a:ext cx="5359400" cy="5556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2800"/>
              <a:t> </a:t>
            </a:r>
            <a:r>
              <a:rPr lang="zh-CN" altLang="en-US" sz="2800">
                <a:solidFill>
                  <a:schemeClr val="accent2"/>
                </a:solidFill>
              </a:rPr>
              <a:t>数组下标</a:t>
            </a:r>
            <a:r>
              <a:rPr lang="en-US" altLang="zh-CN" sz="2800">
                <a:solidFill>
                  <a:schemeClr val="accent2"/>
                </a:solidFill>
              </a:rPr>
              <a:t>(i,j)    </a:t>
            </a:r>
            <a:r>
              <a:rPr lang="zh-CN" altLang="en-US" sz="2800">
                <a:solidFill>
                  <a:schemeClr val="accent2"/>
                </a:solidFill>
              </a:rPr>
              <a:t>确定</a:t>
            </a:r>
            <a:r>
              <a:rPr lang="en-US" altLang="zh-CN" sz="2800">
                <a:solidFill>
                  <a:schemeClr val="accent2"/>
                </a:solidFill>
              </a:rPr>
              <a:t>      </a:t>
            </a:r>
            <a:r>
              <a:rPr lang="zh-CN" altLang="en-US" sz="2800">
                <a:solidFill>
                  <a:schemeClr val="accent2"/>
                </a:solidFill>
              </a:rPr>
              <a:t>存储地址</a:t>
            </a:r>
            <a:endParaRPr lang="zh-CN" altLang="en-US" sz="2800">
              <a:latin typeface="楷体_GB231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386696-CDE8-5D57-9C7F-CF4E29829F6D}"/>
              </a:ext>
            </a:extLst>
          </p:cNvPr>
          <p:cNvSpPr txBox="1"/>
          <p:nvPr/>
        </p:nvSpPr>
        <p:spPr>
          <a:xfrm>
            <a:off x="276064" y="4866742"/>
            <a:ext cx="56962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假设储存在</a:t>
            </a:r>
            <a:r>
              <a:rPr lang="zh-CN" altLang="en-US" sz="2400" dirty="0">
                <a:highlight>
                  <a:srgbClr val="00FF00"/>
                </a:highlight>
              </a:rPr>
              <a:t>下</a:t>
            </a:r>
            <a:r>
              <a:rPr lang="zh-CN" altLang="en-US" sz="2400" dirty="0"/>
              <a:t>三角行列式</a:t>
            </a:r>
            <a:r>
              <a:rPr lang="en-US" altLang="zh-CN" sz="2400" dirty="0"/>
              <a:t>,</a:t>
            </a:r>
            <a:r>
              <a:rPr lang="zh-CN" altLang="en-US" sz="2400" dirty="0"/>
              <a:t>则第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行前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列存储</a:t>
            </a:r>
            <a:r>
              <a:rPr lang="en-US" altLang="zh-CN" sz="2400" dirty="0"/>
              <a:t>.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ym typeface="Symbol" panose="05050102010706020507" pitchFamily="18" charset="2"/>
              </a:rPr>
              <a:t>a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zh-CN" altLang="en-US" sz="2400" dirty="0"/>
              <a:t>第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行前</a:t>
            </a:r>
            <a:r>
              <a:rPr lang="en-US" altLang="zh-CN" sz="2400" dirty="0">
                <a:highlight>
                  <a:srgbClr val="00FF00"/>
                </a:highlight>
              </a:rPr>
              <a:t>i-1</a:t>
            </a:r>
            <a:r>
              <a:rPr lang="zh-CN" altLang="en-US" sz="2400" dirty="0">
                <a:highlight>
                  <a:srgbClr val="00FF00"/>
                </a:highlight>
              </a:rPr>
              <a:t>行有</a:t>
            </a:r>
            <a:r>
              <a:rPr lang="en-US" altLang="zh-CN" sz="2400" dirty="0" err="1">
                <a:highlight>
                  <a:srgbClr val="00FF00"/>
                </a:highlight>
              </a:rPr>
              <a:t>i</a:t>
            </a:r>
            <a:r>
              <a:rPr lang="en-US" altLang="zh-CN" sz="2400" dirty="0">
                <a:highlight>
                  <a:srgbClr val="00FF00"/>
                </a:highlight>
              </a:rPr>
              <a:t>(i-1)/2</a:t>
            </a:r>
            <a:r>
              <a:rPr lang="zh-CN" altLang="en-US" sz="2400" dirty="0"/>
              <a:t>个</a:t>
            </a:r>
            <a:r>
              <a:rPr lang="en-US" altLang="zh-CN" sz="2400" dirty="0"/>
              <a:t>;</a:t>
            </a:r>
            <a:r>
              <a:rPr lang="zh-CN" altLang="en-US" sz="2400" dirty="0"/>
              <a:t>再加上第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行有</a:t>
            </a:r>
            <a:r>
              <a:rPr lang="en-US" altLang="zh-CN" sz="2400" dirty="0"/>
              <a:t>j</a:t>
            </a:r>
            <a:r>
              <a:rPr lang="zh-CN" altLang="en-US" sz="2400" dirty="0"/>
              <a:t>列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在上三角部分</a:t>
            </a:r>
            <a:r>
              <a:rPr lang="zh-CN" altLang="en-US" sz="2400" dirty="0">
                <a:highlight>
                  <a:srgbClr val="00FF00"/>
                </a:highlight>
              </a:rPr>
              <a:t>交换</a:t>
            </a:r>
            <a:r>
              <a:rPr lang="en-US" altLang="zh-CN" sz="2400" dirty="0" err="1">
                <a:highlight>
                  <a:srgbClr val="00FF00"/>
                </a:highlight>
              </a:rPr>
              <a:t>i</a:t>
            </a:r>
            <a:r>
              <a:rPr lang="zh-CN" altLang="en-US" dirty="0">
                <a:highlight>
                  <a:srgbClr val="00FF00"/>
                </a:highlight>
              </a:rPr>
              <a:t>与</a:t>
            </a:r>
            <a:r>
              <a:rPr lang="en-US" altLang="zh-CN" dirty="0">
                <a:highlight>
                  <a:srgbClr val="00FF00"/>
                </a:highlight>
              </a:rPr>
              <a:t>j</a:t>
            </a:r>
            <a:r>
              <a:rPr lang="en-US" altLang="zh-CN" dirty="0"/>
              <a:t>.</a:t>
            </a:r>
            <a:endParaRPr lang="en-US" altLang="zh-CN" sz="24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8" y="571500"/>
            <a:ext cx="7772400" cy="609600"/>
          </a:xfrm>
        </p:spPr>
        <p:txBody>
          <a:bodyPr/>
          <a:lstStyle/>
          <a:p>
            <a:pPr algn="l">
              <a:defRPr/>
            </a:pPr>
            <a:r>
              <a:rPr kumimoji="1" lang="en-US" altLang="zh-CN" sz="2800" dirty="0">
                <a:solidFill>
                  <a:srgbClr val="CC6600"/>
                </a:solidFill>
              </a:rPr>
              <a:t>2.  </a:t>
            </a:r>
            <a:r>
              <a:rPr kumimoji="1" lang="zh-CN" altLang="en-US" sz="2800" dirty="0">
                <a:solidFill>
                  <a:srgbClr val="CC6600"/>
                </a:solidFill>
              </a:rPr>
              <a:t>三角矩阵</a:t>
            </a:r>
            <a:endParaRPr kumimoji="1" lang="zh-CN" altLang="en-US" sz="4000" dirty="0"/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23838" y="1114909"/>
            <a:ext cx="76962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特点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b="1" dirty="0"/>
              <a:t> </a:t>
            </a:r>
            <a:r>
              <a:rPr lang="zh-CN" altLang="en-US" sz="2400" dirty="0"/>
              <a:t>对角线以下</a:t>
            </a:r>
            <a:r>
              <a:rPr lang="en-US" altLang="zh-CN" sz="2400" dirty="0"/>
              <a:t>(</a:t>
            </a:r>
            <a:r>
              <a:rPr lang="zh-CN" altLang="en-US" sz="2400" dirty="0"/>
              <a:t>或者以上</a:t>
            </a:r>
            <a:r>
              <a:rPr lang="en-US" altLang="zh-CN" sz="2400" dirty="0"/>
              <a:t>)</a:t>
            </a:r>
            <a:r>
              <a:rPr lang="zh-CN" altLang="en-US" sz="2400" dirty="0"/>
              <a:t>的数据元素</a:t>
            </a:r>
            <a:r>
              <a:rPr lang="en-US" altLang="zh-CN" sz="2400" dirty="0"/>
              <a:t>(</a:t>
            </a:r>
            <a:r>
              <a:rPr lang="zh-CN" altLang="en-US" sz="2400" dirty="0"/>
              <a:t>不包括对角线</a:t>
            </a:r>
            <a:r>
              <a:rPr lang="en-US" altLang="zh-CN" sz="2400" dirty="0"/>
              <a:t>)</a:t>
            </a:r>
            <a:r>
              <a:rPr lang="zh-CN" altLang="en-US" sz="2400" dirty="0"/>
              <a:t>全部为常数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  <a:p>
            <a:pPr>
              <a:buFontTx/>
              <a:buNone/>
            </a:pPr>
            <a:endParaRPr lang="zh-CN" altLang="en-US" sz="2800" dirty="0"/>
          </a:p>
          <a:p>
            <a:pPr>
              <a:buFontTx/>
              <a:buNone/>
            </a:pPr>
            <a:endParaRPr lang="zh-CN" altLang="en-US" sz="2800" dirty="0"/>
          </a:p>
          <a:p>
            <a:pPr>
              <a:buFontTx/>
              <a:buNone/>
            </a:pPr>
            <a:endParaRPr lang="zh-CN" altLang="en-US" sz="2800" dirty="0"/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存储方法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b="1" dirty="0"/>
              <a:t> </a:t>
            </a:r>
            <a:r>
              <a:rPr lang="zh-CN" altLang="en-US" sz="2400" dirty="0"/>
              <a:t>重复元素</a:t>
            </a:r>
            <a:r>
              <a:rPr lang="en-US" altLang="zh-CN" sz="2400" dirty="0"/>
              <a:t>c</a:t>
            </a:r>
            <a:r>
              <a:rPr lang="zh-CN" altLang="en-US" sz="2400" dirty="0"/>
              <a:t>共享一个元素存储空间，</a:t>
            </a:r>
            <a:r>
              <a:rPr lang="zh-CN" altLang="en-US" sz="2400" dirty="0">
                <a:sym typeface="Symbol" panose="05050102010706020507" pitchFamily="18" charset="2"/>
              </a:rPr>
              <a:t>共占用</a:t>
            </a:r>
            <a:r>
              <a:rPr lang="en-US" altLang="zh-CN" sz="2400" dirty="0">
                <a:sym typeface="Symbol" panose="05050102010706020507" pitchFamily="18" charset="2"/>
              </a:rPr>
              <a:t>n(n+1)/2+1</a:t>
            </a:r>
            <a:r>
              <a:rPr lang="zh-CN" altLang="en-US" sz="2400" dirty="0">
                <a:sym typeface="Symbol" panose="05050102010706020507" pitchFamily="18" charset="2"/>
              </a:rPr>
              <a:t>个元素空间</a:t>
            </a:r>
            <a:r>
              <a:rPr lang="en-US" altLang="zh-CN" sz="2400" dirty="0">
                <a:sym typeface="Symbol" panose="05050102010706020507" pitchFamily="18" charset="2"/>
              </a:rPr>
              <a:t>: </a:t>
            </a:r>
            <a:r>
              <a:rPr lang="en-US" altLang="zh-CN" sz="2400" dirty="0" err="1">
                <a:sym typeface="Symbol" panose="05050102010706020507" pitchFamily="18" charset="2"/>
              </a:rPr>
              <a:t>sa</a:t>
            </a:r>
            <a:r>
              <a:rPr lang="en-US" altLang="zh-CN" sz="2400" dirty="0">
                <a:sym typeface="Symbol" panose="05050102010706020507" pitchFamily="18" charset="2"/>
              </a:rPr>
              <a:t>[1.. n(n+1)/2+1]</a:t>
            </a: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上三角矩阵                       下三角矩阵</a:t>
            </a:r>
          </a:p>
          <a:p>
            <a:pPr>
              <a:buFontTx/>
              <a:buNone/>
            </a:pPr>
            <a:r>
              <a:rPr lang="zh-CN" altLang="en-US" sz="2800" dirty="0"/>
              <a:t> </a:t>
            </a:r>
            <a:r>
              <a:rPr lang="en-US" altLang="zh-CN" sz="2400" dirty="0"/>
              <a:t>k=  (i-1)</a:t>
            </a:r>
            <a:r>
              <a:rPr lang="en-US" altLang="zh-CN" sz="2400" dirty="0">
                <a:sym typeface="Symbol" panose="05050102010706020507" pitchFamily="18" charset="2"/>
              </a:rPr>
              <a:t>(2n-i+2)/2+j-i+1   </a:t>
            </a:r>
            <a:r>
              <a:rPr lang="en-US" altLang="zh-CN" sz="2400" dirty="0" err="1">
                <a:sym typeface="Symbol" panose="05050102010706020507" pitchFamily="18" charset="2"/>
              </a:rPr>
              <a:t>ij</a:t>
            </a:r>
            <a:r>
              <a:rPr lang="en-US" altLang="zh-CN" sz="2400" dirty="0">
                <a:sym typeface="Symbol" panose="05050102010706020507" pitchFamily="18" charset="2"/>
              </a:rPr>
              <a:t>         </a:t>
            </a:r>
            <a:r>
              <a:rPr lang="en-US" altLang="zh-CN" sz="2400" dirty="0"/>
              <a:t>k=  </a:t>
            </a:r>
            <a:r>
              <a:rPr lang="en-US" altLang="zh-CN" sz="2400" dirty="0" err="1"/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(i-1)/2+j         </a:t>
            </a:r>
            <a:r>
              <a:rPr lang="en-US" altLang="zh-CN" sz="2400" dirty="0" err="1">
                <a:sym typeface="Symbol" panose="05050102010706020507" pitchFamily="18" charset="2"/>
              </a:rPr>
              <a:t>ij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n(n+1)/2+1                    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&gt;j</a:t>
            </a:r>
            <a:r>
              <a:rPr lang="en-US" altLang="zh-CN" sz="2800" dirty="0"/>
              <a:t>             </a:t>
            </a:r>
            <a:r>
              <a:rPr lang="en-US" altLang="zh-CN" sz="2400" dirty="0">
                <a:sym typeface="Symbol" panose="05050102010706020507" pitchFamily="18" charset="2"/>
              </a:rPr>
              <a:t>n(n+1)/2+1        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&lt;j</a:t>
            </a:r>
          </a:p>
        </p:txBody>
      </p:sp>
      <p:sp>
        <p:nvSpPr>
          <p:cNvPr id="29699" name="Line 4"/>
          <p:cNvSpPr>
            <a:spLocks noChangeShapeType="1"/>
          </p:cNvSpPr>
          <p:nvPr/>
        </p:nvSpPr>
        <p:spPr bwMode="auto">
          <a:xfrm>
            <a:off x="1138238" y="19431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5"/>
          <p:cNvSpPr>
            <a:spLocks noChangeShapeType="1"/>
          </p:cNvSpPr>
          <p:nvPr/>
        </p:nvSpPr>
        <p:spPr bwMode="auto">
          <a:xfrm>
            <a:off x="2586038" y="19431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9"/>
          <p:cNvSpPr txBox="1">
            <a:spLocks noChangeArrowheads="1"/>
          </p:cNvSpPr>
          <p:nvPr/>
        </p:nvSpPr>
        <p:spPr bwMode="auto">
          <a:xfrm>
            <a:off x="1290638" y="2324100"/>
            <a:ext cx="457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>
                <a:solidFill>
                  <a:schemeClr val="accent2"/>
                </a:solidFill>
              </a:rPr>
              <a:t>C</a:t>
            </a:r>
            <a:endParaRPr lang="en-US" altLang="zh-CN" sz="3600">
              <a:solidFill>
                <a:schemeClr val="accent1"/>
              </a:solidFill>
            </a:endParaRPr>
          </a:p>
        </p:txBody>
      </p:sp>
      <p:sp>
        <p:nvSpPr>
          <p:cNvPr id="29702" name="Line 10"/>
          <p:cNvSpPr>
            <a:spLocks noChangeShapeType="1"/>
          </p:cNvSpPr>
          <p:nvPr/>
        </p:nvSpPr>
        <p:spPr bwMode="auto">
          <a:xfrm>
            <a:off x="4643438" y="18669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3" name="Line 11"/>
          <p:cNvSpPr>
            <a:spLocks noChangeShapeType="1"/>
          </p:cNvSpPr>
          <p:nvPr/>
        </p:nvSpPr>
        <p:spPr bwMode="auto">
          <a:xfrm>
            <a:off x="6015038" y="18669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Text Box 15"/>
          <p:cNvSpPr txBox="1">
            <a:spLocks noChangeArrowheads="1"/>
          </p:cNvSpPr>
          <p:nvPr/>
        </p:nvSpPr>
        <p:spPr bwMode="auto">
          <a:xfrm>
            <a:off x="5405438" y="1790700"/>
            <a:ext cx="60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29705" name="Text Box 16"/>
          <p:cNvSpPr txBox="1">
            <a:spLocks noChangeArrowheads="1"/>
          </p:cNvSpPr>
          <p:nvPr/>
        </p:nvSpPr>
        <p:spPr bwMode="auto">
          <a:xfrm>
            <a:off x="1062038" y="29337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</a:rPr>
              <a:t>上三角矩阵</a:t>
            </a:r>
            <a:endParaRPr lang="zh-CN" altLang="en-US"/>
          </a:p>
        </p:txBody>
      </p:sp>
      <p:sp>
        <p:nvSpPr>
          <p:cNvPr id="29706" name="Text Box 17"/>
          <p:cNvSpPr txBox="1">
            <a:spLocks noChangeArrowheads="1"/>
          </p:cNvSpPr>
          <p:nvPr/>
        </p:nvSpPr>
        <p:spPr bwMode="auto">
          <a:xfrm>
            <a:off x="4491038" y="29337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</a:rPr>
              <a:t>下三角矩阵</a:t>
            </a:r>
          </a:p>
        </p:txBody>
      </p:sp>
      <p:sp>
        <p:nvSpPr>
          <p:cNvPr id="29707" name="AutoShape 18"/>
          <p:cNvSpPr>
            <a:spLocks/>
          </p:cNvSpPr>
          <p:nvPr/>
        </p:nvSpPr>
        <p:spPr bwMode="auto">
          <a:xfrm>
            <a:off x="757238" y="4991100"/>
            <a:ext cx="76200" cy="533400"/>
          </a:xfrm>
          <a:prstGeom prst="leftBrace">
            <a:avLst>
              <a:gd name="adj1" fmla="val 5817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9708" name="AutoShape 19"/>
          <p:cNvSpPr>
            <a:spLocks/>
          </p:cNvSpPr>
          <p:nvPr/>
        </p:nvSpPr>
        <p:spPr bwMode="auto">
          <a:xfrm>
            <a:off x="5176838" y="5067300"/>
            <a:ext cx="76200" cy="609600"/>
          </a:xfrm>
          <a:prstGeom prst="leftBrace">
            <a:avLst>
              <a:gd name="adj1" fmla="val 664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9709" name="AutoShape 20"/>
          <p:cNvSpPr>
            <a:spLocks noChangeArrowheads="1"/>
          </p:cNvSpPr>
          <p:nvPr/>
        </p:nvSpPr>
        <p:spPr bwMode="auto">
          <a:xfrm flipH="1" flipV="1">
            <a:off x="1290638" y="2019300"/>
            <a:ext cx="1219200" cy="7620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29710" name="AutoShape 21"/>
          <p:cNvSpPr>
            <a:spLocks noChangeArrowheads="1"/>
          </p:cNvSpPr>
          <p:nvPr/>
        </p:nvSpPr>
        <p:spPr bwMode="auto">
          <a:xfrm>
            <a:off x="4719638" y="1943100"/>
            <a:ext cx="1219200" cy="7620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333A32-CDE4-BE38-4E54-91E6D79F219A}"/>
              </a:ext>
            </a:extLst>
          </p:cNvPr>
          <p:cNvSpPr txBox="1"/>
          <p:nvPr/>
        </p:nvSpPr>
        <p:spPr>
          <a:xfrm>
            <a:off x="4643438" y="5877272"/>
            <a:ext cx="4033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分析同前</a:t>
            </a:r>
            <a:r>
              <a:rPr lang="en-US" altLang="zh-CN" dirty="0"/>
              <a:t>,</a:t>
            </a:r>
            <a:r>
              <a:rPr lang="zh-CN" altLang="en-US" dirty="0"/>
              <a:t>但是上三角全为</a:t>
            </a:r>
            <a:r>
              <a:rPr lang="en-US" altLang="zh-CN" dirty="0"/>
              <a:t>0</a:t>
            </a:r>
            <a:r>
              <a:rPr lang="zh-CN" altLang="en-US" dirty="0"/>
              <a:t>统一存储在最后一个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3C3E43-BABA-BE9A-5A5B-FD09E54DCD72}"/>
              </a:ext>
            </a:extLst>
          </p:cNvPr>
          <p:cNvSpPr txBox="1"/>
          <p:nvPr/>
        </p:nvSpPr>
        <p:spPr>
          <a:xfrm>
            <a:off x="179512" y="5689732"/>
            <a:ext cx="413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行有个</a:t>
            </a:r>
            <a:r>
              <a:rPr lang="en-US" altLang="zh-CN" sz="1800" dirty="0"/>
              <a:t>,</a:t>
            </a:r>
            <a:r>
              <a:rPr lang="zh-CN" altLang="en-US" sz="1800" dirty="0"/>
              <a:t>前</a:t>
            </a:r>
            <a:r>
              <a:rPr lang="en-US" altLang="zh-CN" sz="1800" dirty="0"/>
              <a:t>i-1</a:t>
            </a:r>
            <a:r>
              <a:rPr lang="zh-CN" altLang="en-US" sz="1800" dirty="0"/>
              <a:t>行有</a:t>
            </a:r>
            <a:r>
              <a:rPr lang="en-US" altLang="zh-CN" sz="1800" dirty="0"/>
              <a:t>(n+n-i+1)(i-1)/2</a:t>
            </a:r>
            <a:r>
              <a:rPr lang="zh-CN" altLang="en-US" sz="1800" dirty="0"/>
              <a:t>个再加上第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行</a:t>
            </a:r>
            <a:r>
              <a:rPr lang="en-US" altLang="zh-CN" sz="1800" dirty="0"/>
              <a:t>j</a:t>
            </a:r>
            <a:r>
              <a:rPr lang="zh-CN" altLang="en-US" sz="1800" dirty="0"/>
              <a:t>个</a:t>
            </a:r>
            <a:r>
              <a:rPr lang="en-US" altLang="zh-CN" sz="1800" dirty="0"/>
              <a:t>(</a:t>
            </a:r>
            <a:r>
              <a:rPr lang="zh-CN" altLang="en-US" sz="1800" dirty="0"/>
              <a:t>除去前面的没有储存的</a:t>
            </a:r>
            <a:r>
              <a:rPr lang="en-US" altLang="zh-CN" sz="1800" dirty="0"/>
              <a:t>j-i+1.</a:t>
            </a:r>
            <a:r>
              <a:rPr lang="zh-CN" altLang="en-US" sz="1800" dirty="0"/>
              <a:t>因为第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行有</a:t>
            </a:r>
            <a:r>
              <a:rPr lang="en-US" altLang="zh-CN" sz="1800" dirty="0"/>
              <a:t>n-i+1,</a:t>
            </a:r>
            <a:r>
              <a:rPr lang="zh-CN" altLang="en-US" sz="1800" dirty="0"/>
              <a:t>则没存储的有</a:t>
            </a:r>
            <a:r>
              <a:rPr lang="en-US" altLang="zh-CN" sz="1800" dirty="0"/>
              <a:t>n</a:t>
            </a:r>
            <a:r>
              <a:rPr lang="zh-CN" altLang="en-US" sz="1800" dirty="0"/>
              <a:t>减去上述数即</a:t>
            </a:r>
            <a:r>
              <a:rPr lang="en-US" altLang="zh-CN" sz="1800" dirty="0"/>
              <a:t>i-1</a:t>
            </a:r>
            <a:r>
              <a:rPr lang="zh-CN" altLang="en-US" sz="1800" dirty="0"/>
              <a:t>个</a:t>
            </a:r>
            <a:r>
              <a:rPr lang="en-US" altLang="zh-CN" sz="1800" dirty="0"/>
              <a:t>,</a:t>
            </a:r>
            <a:r>
              <a:rPr lang="zh-CN" altLang="en-US" sz="1800" dirty="0"/>
              <a:t>再让</a:t>
            </a:r>
            <a:r>
              <a:rPr lang="en-US" altLang="zh-CN" sz="1800" dirty="0"/>
              <a:t>j</a:t>
            </a:r>
            <a:r>
              <a:rPr lang="zh-CN" altLang="en-US" sz="1800" dirty="0"/>
              <a:t>减去</a:t>
            </a:r>
            <a:r>
              <a:rPr lang="en-US" altLang="zh-CN" sz="1800" dirty="0"/>
              <a:t>)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696200" cy="838200"/>
          </a:xfrm>
        </p:spPr>
        <p:txBody>
          <a:bodyPr/>
          <a:lstStyle/>
          <a:p>
            <a:pPr algn="l">
              <a:defRPr/>
            </a:pPr>
            <a:r>
              <a:rPr kumimoji="1" lang="en-US" altLang="zh-CN" sz="2800" dirty="0">
                <a:solidFill>
                  <a:srgbClr val="CC6600"/>
                </a:solidFill>
              </a:rPr>
              <a:t>3. </a:t>
            </a:r>
            <a:r>
              <a:rPr kumimoji="1" lang="zh-CN" altLang="en-US" sz="2800" dirty="0">
                <a:solidFill>
                  <a:srgbClr val="CC6600"/>
                </a:solidFill>
                <a:highlight>
                  <a:srgbClr val="00FF00"/>
                </a:highlight>
              </a:rPr>
              <a:t>对角矩阵（带状矩阵）</a:t>
            </a:r>
            <a:endParaRPr kumimoji="1" lang="zh-CN" altLang="en-US" sz="4000" dirty="0">
              <a:highlight>
                <a:srgbClr val="00FF00"/>
              </a:highlight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143000"/>
            <a:ext cx="77724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特点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b="1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 err="1"/>
              <a:t>n</a:t>
            </a:r>
            <a:r>
              <a:rPr lang="en-US" altLang="zh-CN" sz="2400" dirty="0" err="1">
                <a:sym typeface="Symbol" panose="05050102010706020507" pitchFamily="18" charset="2"/>
              </a:rPr>
              <a:t>n</a:t>
            </a:r>
            <a:r>
              <a:rPr lang="zh-CN" altLang="en-US" sz="2400" dirty="0">
                <a:sym typeface="Symbol" panose="05050102010706020507" pitchFamily="18" charset="2"/>
              </a:rPr>
              <a:t>的方阵中，非零元素集中在</a:t>
            </a:r>
            <a:r>
              <a:rPr lang="zh-CN" altLang="en-US" sz="2400" dirty="0">
                <a:highlight>
                  <a:srgbClr val="00FF00"/>
                </a:highlight>
                <a:sym typeface="Symbol" panose="05050102010706020507" pitchFamily="18" charset="2"/>
              </a:rPr>
              <a:t>主对角线及其两侧共</a:t>
            </a:r>
            <a:r>
              <a:rPr lang="en-US" altLang="zh-CN" sz="2400" dirty="0">
                <a:highlight>
                  <a:srgbClr val="00FF00"/>
                </a:highlight>
                <a:sym typeface="Symbol" panose="05050102010706020507" pitchFamily="18" charset="2"/>
              </a:rPr>
              <a:t>L(</a:t>
            </a:r>
            <a:r>
              <a:rPr lang="zh-CN" altLang="en-US" sz="2400" dirty="0">
                <a:highlight>
                  <a:srgbClr val="00FF00"/>
                </a:highlight>
                <a:sym typeface="Symbol" panose="05050102010706020507" pitchFamily="18" charset="2"/>
              </a:rPr>
              <a:t>奇数</a:t>
            </a:r>
            <a:r>
              <a:rPr lang="en-US" altLang="zh-CN" sz="2400" dirty="0">
                <a:highlight>
                  <a:srgbClr val="00FF00"/>
                </a:highlight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条对角线的带状区域内 </a:t>
            </a:r>
            <a:r>
              <a:rPr lang="en-US" altLang="zh-CN" sz="2400" dirty="0">
                <a:sym typeface="Symbol" panose="05050102010706020507" pitchFamily="18" charset="2"/>
              </a:rPr>
              <a:t>— L</a:t>
            </a:r>
            <a:r>
              <a:rPr lang="zh-CN" altLang="en-US" sz="2400" dirty="0">
                <a:sym typeface="Symbol" panose="05050102010706020507" pitchFamily="18" charset="2"/>
              </a:rPr>
              <a:t>对角矩阵。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  <a:sym typeface="Symbol" panose="05050102010706020507" pitchFamily="18" charset="2"/>
              </a:rPr>
              <a:t>存储方法</a:t>
            </a:r>
            <a:r>
              <a:rPr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]</a:t>
            </a:r>
            <a:endParaRPr lang="en-US" altLang="zh-CN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r>
              <a:rPr lang="zh-CN" altLang="en-US" sz="2400" b="1" dirty="0">
                <a:highlight>
                  <a:srgbClr val="00FF00"/>
                </a:highlight>
                <a:sym typeface="Symbol" panose="05050102010706020507" pitchFamily="18" charset="2"/>
              </a:rPr>
              <a:t>以对角线的顺序存储</a:t>
            </a:r>
            <a:endParaRPr lang="zh-CN" altLang="en-US" sz="2400" dirty="0">
              <a:highlight>
                <a:srgbClr val="00FF00"/>
              </a:highlight>
              <a:sym typeface="Symbol" panose="05050102010706020507" pitchFamily="18" charset="2"/>
            </a:endParaRPr>
          </a:p>
          <a:p>
            <a:endParaRPr lang="zh-CN" altLang="en-US" sz="24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     </a:t>
            </a:r>
            <a:r>
              <a:rPr lang="en-US" altLang="zh-CN" sz="2000" dirty="0">
                <a:solidFill>
                  <a:srgbClr val="FF3300"/>
                </a:solidFill>
              </a:rPr>
              <a:t>8   2   3</a:t>
            </a:r>
            <a:r>
              <a:rPr lang="en-US" altLang="zh-CN" sz="2000" dirty="0"/>
              <a:t>   0   0   0</a:t>
            </a:r>
          </a:p>
          <a:p>
            <a:pPr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000" dirty="0">
                <a:solidFill>
                  <a:srgbClr val="FF3300"/>
                </a:solidFill>
              </a:rPr>
              <a:t>4   2   0   3</a:t>
            </a:r>
            <a:r>
              <a:rPr lang="en-US" altLang="zh-CN" sz="2000" dirty="0"/>
              <a:t>   0   0</a:t>
            </a:r>
          </a:p>
          <a:p>
            <a:pPr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000" dirty="0">
                <a:solidFill>
                  <a:srgbClr val="FF3300"/>
                </a:solidFill>
              </a:rPr>
              <a:t>5   7   7   6   8</a:t>
            </a:r>
            <a:r>
              <a:rPr lang="en-US" altLang="zh-CN" sz="2000" dirty="0"/>
              <a:t>   0</a:t>
            </a:r>
          </a:p>
          <a:p>
            <a:pPr>
              <a:buFontTx/>
              <a:buNone/>
            </a:pPr>
            <a:r>
              <a:rPr lang="en-US" altLang="zh-CN" sz="2000" dirty="0"/>
              <a:t>     0   </a:t>
            </a:r>
            <a:r>
              <a:rPr lang="en-US" altLang="zh-CN" sz="2000" dirty="0">
                <a:solidFill>
                  <a:srgbClr val="FF3300"/>
                </a:solidFill>
              </a:rPr>
              <a:t>9   6   9   1   5</a:t>
            </a:r>
          </a:p>
          <a:p>
            <a:pPr>
              <a:buFontTx/>
              <a:buNone/>
            </a:pPr>
            <a:r>
              <a:rPr lang="en-US" altLang="zh-CN" sz="2000" dirty="0"/>
              <a:t>     0   0   </a:t>
            </a:r>
            <a:r>
              <a:rPr lang="en-US" altLang="zh-CN" sz="2000" dirty="0">
                <a:solidFill>
                  <a:srgbClr val="FF3300"/>
                </a:solidFill>
              </a:rPr>
              <a:t>6   1   4   2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altLang="zh-CN" sz="2000" dirty="0"/>
              <a:t>     0   0   0   </a:t>
            </a:r>
            <a:r>
              <a:rPr lang="en-US" altLang="zh-CN" sz="2000" dirty="0">
                <a:solidFill>
                  <a:srgbClr val="FF3300"/>
                </a:solidFill>
              </a:rPr>
              <a:t>2   8   3</a:t>
            </a:r>
            <a:endParaRPr lang="en-US" altLang="zh-CN" sz="2000" dirty="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30723" name="AutoShape 5"/>
          <p:cNvSpPr>
            <a:spLocks noChangeArrowheads="1"/>
          </p:cNvSpPr>
          <p:nvPr/>
        </p:nvSpPr>
        <p:spPr bwMode="auto">
          <a:xfrm>
            <a:off x="838200" y="3276600"/>
            <a:ext cx="2209800" cy="21336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30724" name="Line 6"/>
          <p:cNvSpPr>
            <a:spLocks noChangeShapeType="1"/>
          </p:cNvSpPr>
          <p:nvPr/>
        </p:nvSpPr>
        <p:spPr bwMode="auto">
          <a:xfrm>
            <a:off x="1219200" y="3505200"/>
            <a:ext cx="1524000" cy="1828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1295400" y="54102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</a:rPr>
              <a:t>五对角矩阵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4038600" y="2743200"/>
            <a:ext cx="2209800" cy="2295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     </a:t>
            </a:r>
            <a:r>
              <a:rPr kumimoji="1" lang="en-US" altLang="zh-CN" sz="2000">
                <a:sym typeface="+mn-ea"/>
              </a:rPr>
              <a:t>3   3    8    5</a:t>
            </a:r>
          </a:p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000">
                <a:sym typeface="+mn-ea"/>
              </a:rPr>
              <a:t>      2   0   6    1    2</a:t>
            </a:r>
          </a:p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000">
                <a:sym typeface="+mn-ea"/>
              </a:rPr>
              <a:t> 8   2   7   9    4    3</a:t>
            </a:r>
          </a:p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000">
                <a:sym typeface="+mn-ea"/>
              </a:rPr>
              <a:t> 4   7   6   1    8</a:t>
            </a:r>
          </a:p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000">
                <a:sym typeface="+mn-ea"/>
              </a:rPr>
              <a:t> 5   9   6   2</a:t>
            </a:r>
            <a:endParaRPr kumimoji="1" lang="en-US" altLang="zh-CN" sz="200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  <p:sp>
        <p:nvSpPr>
          <p:cNvPr id="30727" name="Line 9"/>
          <p:cNvSpPr>
            <a:spLocks noChangeShapeType="1"/>
          </p:cNvSpPr>
          <p:nvPr/>
        </p:nvSpPr>
        <p:spPr bwMode="auto">
          <a:xfrm>
            <a:off x="4038600" y="3200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Line 10"/>
          <p:cNvSpPr>
            <a:spLocks noChangeShapeType="1"/>
          </p:cNvSpPr>
          <p:nvPr/>
        </p:nvSpPr>
        <p:spPr bwMode="auto">
          <a:xfrm>
            <a:off x="4038600" y="3657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9" name="Line 11"/>
          <p:cNvSpPr>
            <a:spLocks noChangeShapeType="1"/>
          </p:cNvSpPr>
          <p:nvPr/>
        </p:nvSpPr>
        <p:spPr bwMode="auto">
          <a:xfrm>
            <a:off x="4038600" y="4114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0" name="Line 12"/>
          <p:cNvSpPr>
            <a:spLocks noChangeShapeType="1"/>
          </p:cNvSpPr>
          <p:nvPr/>
        </p:nvSpPr>
        <p:spPr bwMode="auto">
          <a:xfrm>
            <a:off x="4038600" y="4572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1" name="Text Box 13"/>
          <p:cNvSpPr txBox="1">
            <a:spLocks noChangeArrowheads="1"/>
          </p:cNvSpPr>
          <p:nvPr/>
        </p:nvSpPr>
        <p:spPr bwMode="auto">
          <a:xfrm>
            <a:off x="4191000" y="51054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dirty="0"/>
              <a:t>s[-2..2;  1..6]</a:t>
            </a: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3657600" y="2743200"/>
            <a:ext cx="6096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-2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-1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 0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 1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 2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3962400" y="23622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</a:rPr>
              <a:t>  1   2   3   4    5    6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6629400" y="2819400"/>
            <a:ext cx="1295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i1=i-j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/>
              <a:t>j1=j</a:t>
            </a:r>
          </a:p>
        </p:txBody>
      </p:sp>
      <p:sp>
        <p:nvSpPr>
          <p:cNvPr id="30735" name="AutoShape 17"/>
          <p:cNvSpPr>
            <a:spLocks/>
          </p:cNvSpPr>
          <p:nvPr/>
        </p:nvSpPr>
        <p:spPr bwMode="auto">
          <a:xfrm>
            <a:off x="6400800" y="30480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6477000" y="4038600"/>
            <a:ext cx="14478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en-US" altLang="zh-CN" sz="1800">
                <a:sym typeface="+mn-ea"/>
              </a:rPr>
              <a:t>|i-j|</a:t>
            </a:r>
            <a:r>
              <a:rPr kumimoji="1" lang="en-US" altLang="zh-CN" sz="1800">
                <a:sym typeface="Symbol" panose="05050102010706020507" pitchFamily="18" charset="2"/>
              </a:rPr>
              <a:t>(L-1)/2</a:t>
            </a:r>
            <a:endParaRPr kumimoji="1" lang="en-US" altLang="zh-CN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  <p:sp>
        <p:nvSpPr>
          <p:cNvPr id="30737" name="Rectangle 19"/>
          <p:cNvSpPr>
            <a:spLocks noChangeArrowheads="1"/>
          </p:cNvSpPr>
          <p:nvPr/>
        </p:nvSpPr>
        <p:spPr bwMode="auto">
          <a:xfrm>
            <a:off x="6781800" y="4876800"/>
            <a:ext cx="1905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30738" name="Text Box 20"/>
          <p:cNvSpPr txBox="1">
            <a:spLocks noChangeArrowheads="1"/>
          </p:cNvSpPr>
          <p:nvPr/>
        </p:nvSpPr>
        <p:spPr bwMode="auto">
          <a:xfrm>
            <a:off x="6553200" y="51816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/>
              <a:t>k 1                      n*L</a:t>
            </a:r>
          </a:p>
        </p:txBody>
      </p:sp>
      <p:sp>
        <p:nvSpPr>
          <p:cNvPr id="30739" name="Line 21"/>
          <p:cNvSpPr>
            <a:spLocks noChangeShapeType="1"/>
          </p:cNvSpPr>
          <p:nvPr/>
        </p:nvSpPr>
        <p:spPr bwMode="auto">
          <a:xfrm>
            <a:off x="70104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0" name="Line 22"/>
          <p:cNvSpPr>
            <a:spLocks noChangeShapeType="1"/>
          </p:cNvSpPr>
          <p:nvPr/>
        </p:nvSpPr>
        <p:spPr bwMode="auto">
          <a:xfrm>
            <a:off x="83820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1" name="Text Box 23"/>
          <p:cNvSpPr txBox="1">
            <a:spLocks noChangeArrowheads="1"/>
          </p:cNvSpPr>
          <p:nvPr/>
        </p:nvSpPr>
        <p:spPr bwMode="auto">
          <a:xfrm>
            <a:off x="6400800" y="4876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sa</a:t>
            </a:r>
          </a:p>
        </p:txBody>
      </p:sp>
      <p:sp>
        <p:nvSpPr>
          <p:cNvPr id="70680" name="Text Box 24"/>
          <p:cNvSpPr txBox="1">
            <a:spLocks noChangeArrowheads="1"/>
          </p:cNvSpPr>
          <p:nvPr/>
        </p:nvSpPr>
        <p:spPr bwMode="auto">
          <a:xfrm>
            <a:off x="4787900" y="5805488"/>
            <a:ext cx="42259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k=(i1+2)*n+j1=(i-j+2)*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n+j</a:t>
            </a:r>
            <a:endParaRPr kumimoji="1" lang="en-US" altLang="zh-CN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  <p:sp>
        <p:nvSpPr>
          <p:cNvPr id="30743" name="AutoShape 25"/>
          <p:cNvSpPr>
            <a:spLocks noChangeArrowheads="1"/>
          </p:cNvSpPr>
          <p:nvPr/>
        </p:nvSpPr>
        <p:spPr bwMode="auto">
          <a:xfrm>
            <a:off x="3200400" y="38100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30744" name="Freeform 26"/>
          <p:cNvSpPr>
            <a:spLocks noChangeArrowheads="1"/>
          </p:cNvSpPr>
          <p:nvPr/>
        </p:nvSpPr>
        <p:spPr bwMode="auto">
          <a:xfrm>
            <a:off x="3505200" y="2590800"/>
            <a:ext cx="4876800" cy="3086100"/>
          </a:xfrm>
          <a:custGeom>
            <a:avLst/>
            <a:gdLst>
              <a:gd name="T0" fmla="*/ 0 w 3072"/>
              <a:gd name="T1" fmla="*/ 1776 h 1944"/>
              <a:gd name="T2" fmla="*/ 576 w 3072"/>
              <a:gd name="T3" fmla="*/ 1920 h 1944"/>
              <a:gd name="T4" fmla="*/ 1344 w 3072"/>
              <a:gd name="T5" fmla="*/ 1920 h 1944"/>
              <a:gd name="T6" fmla="*/ 1728 w 3072"/>
              <a:gd name="T7" fmla="*/ 1824 h 1944"/>
              <a:gd name="T8" fmla="*/ 1776 w 3072"/>
              <a:gd name="T9" fmla="*/ 1584 h 1944"/>
              <a:gd name="T10" fmla="*/ 1968 w 3072"/>
              <a:gd name="T11" fmla="*/ 1344 h 1944"/>
              <a:gd name="T12" fmla="*/ 2448 w 3072"/>
              <a:gd name="T13" fmla="*/ 1248 h 1944"/>
              <a:gd name="T14" fmla="*/ 2880 w 3072"/>
              <a:gd name="T15" fmla="*/ 912 h 1944"/>
              <a:gd name="T16" fmla="*/ 3024 w 3072"/>
              <a:gd name="T17" fmla="*/ 480 h 1944"/>
              <a:gd name="T18" fmla="*/ 3072 w 3072"/>
              <a:gd name="T19" fmla="*/ 0 h 1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72" h="1944">
                <a:moveTo>
                  <a:pt x="0" y="1776"/>
                </a:moveTo>
                <a:cubicBezTo>
                  <a:pt x="176" y="1836"/>
                  <a:pt x="352" y="1896"/>
                  <a:pt x="576" y="1920"/>
                </a:cubicBezTo>
                <a:cubicBezTo>
                  <a:pt x="800" y="1944"/>
                  <a:pt x="1152" y="1936"/>
                  <a:pt x="1344" y="1920"/>
                </a:cubicBezTo>
                <a:cubicBezTo>
                  <a:pt x="1536" y="1904"/>
                  <a:pt x="1656" y="1880"/>
                  <a:pt x="1728" y="1824"/>
                </a:cubicBezTo>
                <a:cubicBezTo>
                  <a:pt x="1800" y="1768"/>
                  <a:pt x="1736" y="1664"/>
                  <a:pt x="1776" y="1584"/>
                </a:cubicBezTo>
                <a:cubicBezTo>
                  <a:pt x="1816" y="1504"/>
                  <a:pt x="1856" y="1400"/>
                  <a:pt x="1968" y="1344"/>
                </a:cubicBezTo>
                <a:cubicBezTo>
                  <a:pt x="2080" y="1288"/>
                  <a:pt x="2296" y="1320"/>
                  <a:pt x="2448" y="1248"/>
                </a:cubicBezTo>
                <a:cubicBezTo>
                  <a:pt x="2600" y="1176"/>
                  <a:pt x="2784" y="1040"/>
                  <a:pt x="2880" y="912"/>
                </a:cubicBezTo>
                <a:cubicBezTo>
                  <a:pt x="2976" y="784"/>
                  <a:pt x="2992" y="632"/>
                  <a:pt x="3024" y="480"/>
                </a:cubicBezTo>
                <a:cubicBezTo>
                  <a:pt x="3056" y="328"/>
                  <a:pt x="3064" y="80"/>
                  <a:pt x="3072" y="0"/>
                </a:cubicBezTo>
              </a:path>
            </a:pathLst>
          </a:custGeom>
          <a:noFill/>
          <a:ln w="9525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6875463" y="6354763"/>
            <a:ext cx="144780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en-US" altLang="zh-CN" sz="1800">
                <a:sym typeface="+mn-ea"/>
              </a:rPr>
              <a:t>|i-j|</a:t>
            </a:r>
            <a:r>
              <a:rPr kumimoji="1" lang="en-US" altLang="zh-CN" sz="1800">
                <a:sym typeface="Symbol" panose="05050102010706020507" pitchFamily="18" charset="2"/>
              </a:rPr>
              <a:t>(L-1)/2</a:t>
            </a:r>
            <a:endParaRPr kumimoji="1" lang="en-US" altLang="zh-CN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  <p:sp>
        <p:nvSpPr>
          <p:cNvPr id="30746" name="AutoShape 28"/>
          <p:cNvSpPr>
            <a:spLocks noChangeArrowheads="1"/>
          </p:cNvSpPr>
          <p:nvPr/>
        </p:nvSpPr>
        <p:spPr bwMode="auto">
          <a:xfrm rot="1698557">
            <a:off x="6553200" y="45720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051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7772400" cy="5486400"/>
          </a:xfrm>
        </p:spPr>
        <p:txBody>
          <a:bodyPr/>
          <a:lstStyle/>
          <a:p>
            <a:r>
              <a:rPr lang="zh-CN" altLang="en-US" sz="2400" b="1" dirty="0">
                <a:sym typeface="Symbol" panose="05050102010706020507" pitchFamily="18" charset="2"/>
              </a:rPr>
              <a:t>只存储带状区内的元素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          </a:t>
            </a:r>
            <a:r>
              <a:rPr lang="zh-CN" altLang="en-US" sz="2400" dirty="0">
                <a:highlight>
                  <a:srgbClr val="00FF00"/>
                </a:highlight>
                <a:sym typeface="Symbol" panose="05050102010706020507" pitchFamily="18" charset="2"/>
              </a:rPr>
              <a:t>除首行和末行</a:t>
            </a:r>
            <a:r>
              <a:rPr lang="zh-CN" altLang="en-US" sz="2400" dirty="0">
                <a:sym typeface="Symbol" panose="05050102010706020507" pitchFamily="18" charset="2"/>
              </a:rPr>
              <a:t>，按每行 </a:t>
            </a:r>
            <a:r>
              <a:rPr lang="en-US" altLang="zh-CN" sz="2400" dirty="0">
                <a:sym typeface="Symbol" panose="05050102010706020507" pitchFamily="18" charset="2"/>
              </a:rPr>
              <a:t>L</a:t>
            </a:r>
            <a:r>
              <a:rPr lang="zh-CN" altLang="zh-CN" sz="2400" dirty="0">
                <a:sym typeface="Symbol" panose="05050102010706020507" pitchFamily="18" charset="2"/>
              </a:rPr>
              <a:t>个元素，共</a:t>
            </a:r>
            <a:r>
              <a:rPr lang="en-US" altLang="zh-CN" sz="2400" dirty="0">
                <a:highlight>
                  <a:srgbClr val="00FF00"/>
                </a:highlight>
                <a:sym typeface="Symbol" panose="05050102010706020507" pitchFamily="18" charset="2"/>
              </a:rPr>
              <a:t>(n-2)L+(L+1)</a:t>
            </a:r>
            <a:r>
              <a:rPr lang="zh-CN" altLang="zh-CN" sz="2400" dirty="0">
                <a:sym typeface="Symbol" panose="05050102010706020507" pitchFamily="18" charset="2"/>
              </a:rPr>
              <a:t>个元素。</a:t>
            </a:r>
            <a:r>
              <a:rPr lang="en-US" altLang="zh-CN" sz="2400" dirty="0" err="1">
                <a:sym typeface="Symbol" panose="05050102010706020507" pitchFamily="18" charset="2"/>
              </a:rPr>
              <a:t>sa</a:t>
            </a:r>
            <a:r>
              <a:rPr lang="en-US" altLang="zh-CN" sz="2400" dirty="0">
                <a:sym typeface="Symbol" panose="05050102010706020507" pitchFamily="18" charset="2"/>
              </a:rPr>
              <a:t>[1..(n-1)L+1]</a:t>
            </a:r>
            <a:r>
              <a:rPr lang="en-US" altLang="zh-CN" sz="2400" dirty="0"/>
              <a:t> </a:t>
            </a:r>
          </a:p>
          <a:p>
            <a:pPr>
              <a:buFontTx/>
              <a:buNone/>
            </a:pPr>
            <a:r>
              <a:rPr lang="en-US" altLang="zh-CN" sz="2400" dirty="0"/>
              <a:t>             k=(i-1)L+1+(j-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            |</a:t>
            </a:r>
            <a:r>
              <a:rPr lang="en-US" altLang="zh-CN" sz="2400" dirty="0" err="1"/>
              <a:t>i</a:t>
            </a:r>
            <a:r>
              <a:rPr lang="en-US" altLang="zh-CN" sz="2400" dirty="0"/>
              <a:t>-j|</a:t>
            </a:r>
            <a:r>
              <a:rPr lang="en-US" altLang="zh-CN" sz="2400" dirty="0">
                <a:sym typeface="Symbol" panose="05050102010706020507" pitchFamily="18" charset="2"/>
              </a:rPr>
              <a:t>(L-1)/2</a:t>
            </a:r>
            <a:endParaRPr lang="en-US" altLang="zh-CN" sz="2400" dirty="0"/>
          </a:p>
          <a:p>
            <a:pPr>
              <a:buFontTx/>
              <a:buNone/>
            </a:pPr>
            <a:endParaRPr lang="en-US" altLang="zh-CN" sz="2800" dirty="0"/>
          </a:p>
          <a:p>
            <a:pPr>
              <a:buFontTx/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3300"/>
                </a:solidFill>
              </a:rPr>
              <a:t>8   2   3</a:t>
            </a:r>
            <a:r>
              <a:rPr lang="en-US" altLang="zh-CN" sz="2800" dirty="0"/>
              <a:t>   0   0   0</a:t>
            </a:r>
          </a:p>
          <a:p>
            <a:pPr>
              <a:buFontTx/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3300"/>
                </a:solidFill>
              </a:rPr>
              <a:t>4   2   0   3</a:t>
            </a:r>
            <a:r>
              <a:rPr lang="en-US" altLang="zh-CN" sz="2800" dirty="0"/>
              <a:t>   0   0</a:t>
            </a:r>
          </a:p>
          <a:p>
            <a:pPr>
              <a:buFontTx/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3300"/>
                </a:solidFill>
              </a:rPr>
              <a:t>5   7   7   6   8</a:t>
            </a:r>
            <a:r>
              <a:rPr lang="en-US" altLang="zh-CN" sz="2800" dirty="0"/>
              <a:t>   0</a:t>
            </a:r>
          </a:p>
          <a:p>
            <a:pPr>
              <a:buFontTx/>
              <a:buNone/>
            </a:pPr>
            <a:r>
              <a:rPr lang="en-US" altLang="zh-CN" sz="2800" dirty="0"/>
              <a:t>     0   </a:t>
            </a:r>
            <a:r>
              <a:rPr lang="en-US" altLang="zh-CN" sz="2800" dirty="0">
                <a:solidFill>
                  <a:srgbClr val="FF3300"/>
                </a:solidFill>
              </a:rPr>
              <a:t>9   6   9   1   5</a:t>
            </a:r>
            <a:endParaRPr lang="en-US" altLang="zh-CN" sz="2800" dirty="0"/>
          </a:p>
          <a:p>
            <a:pPr>
              <a:buFontTx/>
              <a:buNone/>
            </a:pPr>
            <a:r>
              <a:rPr lang="en-US" altLang="zh-CN" sz="2800" dirty="0"/>
              <a:t>     0   0   </a:t>
            </a:r>
            <a:r>
              <a:rPr lang="en-US" altLang="zh-CN" sz="2800" dirty="0">
                <a:solidFill>
                  <a:srgbClr val="FF3300"/>
                </a:solidFill>
              </a:rPr>
              <a:t>6   1   4   2</a:t>
            </a:r>
            <a:endParaRPr lang="en-US" altLang="zh-CN" sz="2800" dirty="0"/>
          </a:p>
          <a:p>
            <a:pPr>
              <a:buFontTx/>
              <a:buNone/>
            </a:pPr>
            <a:r>
              <a:rPr lang="en-US" altLang="zh-CN" sz="2800" dirty="0"/>
              <a:t>     0   0   0   </a:t>
            </a:r>
            <a:r>
              <a:rPr lang="en-US" altLang="zh-CN" sz="2800" dirty="0">
                <a:solidFill>
                  <a:srgbClr val="FF3300"/>
                </a:solidFill>
              </a:rPr>
              <a:t>2   8   3</a:t>
            </a:r>
            <a:endParaRPr lang="en-US" altLang="zh-CN" sz="2800" dirty="0"/>
          </a:p>
        </p:txBody>
      </p:sp>
      <p:sp>
        <p:nvSpPr>
          <p:cNvPr id="31746" name="Line 2053"/>
          <p:cNvSpPr>
            <a:spLocks noChangeShapeType="1"/>
          </p:cNvSpPr>
          <p:nvPr/>
        </p:nvSpPr>
        <p:spPr bwMode="auto">
          <a:xfrm>
            <a:off x="914400" y="30480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7" name="Line 2055"/>
          <p:cNvSpPr>
            <a:spLocks noChangeShapeType="1"/>
          </p:cNvSpPr>
          <p:nvPr/>
        </p:nvSpPr>
        <p:spPr bwMode="auto">
          <a:xfrm>
            <a:off x="914400" y="3048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2056"/>
          <p:cNvSpPr>
            <a:spLocks noChangeShapeType="1"/>
          </p:cNvSpPr>
          <p:nvPr/>
        </p:nvSpPr>
        <p:spPr bwMode="auto">
          <a:xfrm>
            <a:off x="9144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Line 2057"/>
          <p:cNvSpPr>
            <a:spLocks noChangeShapeType="1"/>
          </p:cNvSpPr>
          <p:nvPr/>
        </p:nvSpPr>
        <p:spPr bwMode="auto">
          <a:xfrm>
            <a:off x="3886200" y="30480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0" name="Line 2058"/>
          <p:cNvSpPr>
            <a:spLocks noChangeShapeType="1"/>
          </p:cNvSpPr>
          <p:nvPr/>
        </p:nvSpPr>
        <p:spPr bwMode="auto">
          <a:xfrm flipH="1">
            <a:off x="3733800" y="3048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1" name="Line 2059"/>
          <p:cNvSpPr>
            <a:spLocks noChangeShapeType="1"/>
          </p:cNvSpPr>
          <p:nvPr/>
        </p:nvSpPr>
        <p:spPr bwMode="auto">
          <a:xfrm flipH="1">
            <a:off x="37338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2" name="Line 2060"/>
          <p:cNvSpPr>
            <a:spLocks noChangeShapeType="1"/>
          </p:cNvSpPr>
          <p:nvPr/>
        </p:nvSpPr>
        <p:spPr bwMode="auto">
          <a:xfrm>
            <a:off x="2286000" y="3200400"/>
            <a:ext cx="121920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2061"/>
          <p:cNvSpPr>
            <a:spLocks noChangeShapeType="1"/>
          </p:cNvSpPr>
          <p:nvPr/>
        </p:nvSpPr>
        <p:spPr bwMode="auto">
          <a:xfrm>
            <a:off x="1295400" y="4191000"/>
            <a:ext cx="1295400" cy="1524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Text Box 2067"/>
          <p:cNvSpPr txBox="1">
            <a:spLocks noChangeArrowheads="1"/>
          </p:cNvSpPr>
          <p:nvPr/>
        </p:nvSpPr>
        <p:spPr bwMode="auto">
          <a:xfrm>
            <a:off x="4419600" y="3276600"/>
            <a:ext cx="3352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8  2  3      4  2  0  3  5  7</a:t>
            </a:r>
          </a:p>
        </p:txBody>
      </p:sp>
      <p:sp>
        <p:nvSpPr>
          <p:cNvPr id="31755" name="Text Box 2068"/>
          <p:cNvSpPr txBox="1">
            <a:spLocks noChangeArrowheads="1"/>
          </p:cNvSpPr>
          <p:nvPr/>
        </p:nvSpPr>
        <p:spPr bwMode="auto">
          <a:xfrm>
            <a:off x="4419600" y="4191000"/>
            <a:ext cx="3276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7  6  8  9  6   9  1  5  6  1 </a:t>
            </a:r>
          </a:p>
        </p:txBody>
      </p:sp>
      <p:sp>
        <p:nvSpPr>
          <p:cNvPr id="31756" name="Text Box 2069"/>
          <p:cNvSpPr txBox="1">
            <a:spLocks noChangeArrowheads="1"/>
          </p:cNvSpPr>
          <p:nvPr/>
        </p:nvSpPr>
        <p:spPr bwMode="auto">
          <a:xfrm>
            <a:off x="4419600" y="5105400"/>
            <a:ext cx="3276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4  2       2  8  3</a:t>
            </a:r>
          </a:p>
        </p:txBody>
      </p:sp>
      <p:sp>
        <p:nvSpPr>
          <p:cNvPr id="31757" name="Line 2070"/>
          <p:cNvSpPr>
            <a:spLocks noChangeShapeType="1"/>
          </p:cNvSpPr>
          <p:nvPr/>
        </p:nvSpPr>
        <p:spPr bwMode="auto">
          <a:xfrm>
            <a:off x="59436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2071"/>
          <p:cNvSpPr>
            <a:spLocks noChangeShapeType="1"/>
          </p:cNvSpPr>
          <p:nvPr/>
        </p:nvSpPr>
        <p:spPr bwMode="auto">
          <a:xfrm>
            <a:off x="59436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2072"/>
          <p:cNvSpPr>
            <a:spLocks noChangeShapeType="1"/>
          </p:cNvSpPr>
          <p:nvPr/>
        </p:nvSpPr>
        <p:spPr bwMode="auto">
          <a:xfrm>
            <a:off x="6019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0" name="Line 2073"/>
          <p:cNvSpPr>
            <a:spLocks noChangeShapeType="1"/>
          </p:cNvSpPr>
          <p:nvPr/>
        </p:nvSpPr>
        <p:spPr bwMode="auto">
          <a:xfrm>
            <a:off x="4724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2074"/>
          <p:cNvSpPr>
            <a:spLocks noChangeShapeType="1"/>
          </p:cNvSpPr>
          <p:nvPr/>
        </p:nvSpPr>
        <p:spPr bwMode="auto">
          <a:xfrm>
            <a:off x="50292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2075"/>
          <p:cNvSpPr>
            <a:spLocks noChangeShapeType="1"/>
          </p:cNvSpPr>
          <p:nvPr/>
        </p:nvSpPr>
        <p:spPr bwMode="auto">
          <a:xfrm>
            <a:off x="53340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2076"/>
          <p:cNvSpPr>
            <a:spLocks noChangeShapeType="1"/>
          </p:cNvSpPr>
          <p:nvPr/>
        </p:nvSpPr>
        <p:spPr bwMode="auto">
          <a:xfrm>
            <a:off x="56388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2077"/>
          <p:cNvSpPr>
            <a:spLocks noChangeShapeType="1"/>
          </p:cNvSpPr>
          <p:nvPr/>
        </p:nvSpPr>
        <p:spPr bwMode="auto">
          <a:xfrm>
            <a:off x="1371600" y="3276600"/>
            <a:ext cx="1981200" cy="2286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Text Box 2081"/>
          <p:cNvSpPr txBox="1">
            <a:spLocks noChangeArrowheads="1"/>
          </p:cNvSpPr>
          <p:nvPr/>
        </p:nvSpPr>
        <p:spPr bwMode="auto">
          <a:xfrm>
            <a:off x="40386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sa</a:t>
            </a:r>
          </a:p>
        </p:txBody>
      </p:sp>
      <p:sp>
        <p:nvSpPr>
          <p:cNvPr id="31766" name="Text Box 2082"/>
          <p:cNvSpPr txBox="1">
            <a:spLocks noChangeArrowheads="1"/>
          </p:cNvSpPr>
          <p:nvPr/>
        </p:nvSpPr>
        <p:spPr bwMode="auto">
          <a:xfrm>
            <a:off x="4038600" y="37338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k   </a:t>
            </a:r>
            <a:r>
              <a:rPr lang="en-US" altLang="zh-CN" sz="2000"/>
              <a:t>1   2   3  4    5   6  7    8  9  10</a:t>
            </a:r>
          </a:p>
        </p:txBody>
      </p:sp>
      <p:sp>
        <p:nvSpPr>
          <p:cNvPr id="31767" name="Text Box 2083"/>
          <p:cNvSpPr txBox="1">
            <a:spLocks noChangeArrowheads="1"/>
          </p:cNvSpPr>
          <p:nvPr/>
        </p:nvSpPr>
        <p:spPr bwMode="auto">
          <a:xfrm>
            <a:off x="4419600" y="46482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/>
              <a:t>11 12 13 14 15 16 17 18 19 20</a:t>
            </a:r>
          </a:p>
        </p:txBody>
      </p:sp>
      <p:sp>
        <p:nvSpPr>
          <p:cNvPr id="31768" name="Text Box 2084"/>
          <p:cNvSpPr txBox="1">
            <a:spLocks noChangeArrowheads="1"/>
          </p:cNvSpPr>
          <p:nvPr/>
        </p:nvSpPr>
        <p:spPr bwMode="auto">
          <a:xfrm>
            <a:off x="4419600" y="563880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/>
              <a:t>21 22 23 24 25 26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1198563" y="3429000"/>
            <a:ext cx="164623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1187450" y="3886200"/>
            <a:ext cx="3603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E132BC-17AE-AEB0-D95C-848F59097475}"/>
              </a:ext>
            </a:extLst>
          </p:cNvPr>
          <p:cNvSpPr txBox="1"/>
          <p:nvPr/>
        </p:nvSpPr>
        <p:spPr>
          <a:xfrm>
            <a:off x="759303" y="2357040"/>
            <a:ext cx="7557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</a:t>
            </a:r>
            <a:r>
              <a:rPr lang="en-US" altLang="zh-CN" dirty="0"/>
              <a:t>:</a:t>
            </a:r>
            <a:r>
              <a:rPr lang="zh-CN" altLang="en-US" dirty="0">
                <a:highlight>
                  <a:srgbClr val="00FF00"/>
                </a:highlight>
              </a:rPr>
              <a:t>首行 空 余下</a:t>
            </a:r>
            <a:r>
              <a:rPr lang="en-US" altLang="zh-CN" dirty="0">
                <a:highlight>
                  <a:srgbClr val="00FF00"/>
                </a:highlight>
              </a:rPr>
              <a:t>(</a:t>
            </a:r>
            <a:r>
              <a:rPr lang="zh-CN" altLang="en-US" dirty="0">
                <a:highlight>
                  <a:srgbClr val="00FF00"/>
                </a:highlight>
              </a:rPr>
              <a:t>从左到右从上到下</a:t>
            </a:r>
            <a:r>
              <a:rPr lang="en-US" altLang="zh-CN" dirty="0">
                <a:highlight>
                  <a:srgbClr val="00FF00"/>
                </a:highlight>
              </a:rPr>
              <a:t>)</a:t>
            </a:r>
            <a:r>
              <a:rPr lang="zh-CN" altLang="en-US" dirty="0">
                <a:highlight>
                  <a:srgbClr val="00FF00"/>
                </a:highlight>
              </a:rPr>
              <a:t> 空 末行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7772400" cy="533400"/>
          </a:xfrm>
        </p:spPr>
        <p:txBody>
          <a:bodyPr/>
          <a:lstStyle/>
          <a:p>
            <a:pPr algn="l">
              <a:defRPr/>
            </a:pPr>
            <a:r>
              <a:rPr kumimoji="1" lang="en-US" altLang="zh-CN" sz="2800" dirty="0">
                <a:solidFill>
                  <a:srgbClr val="CC6600"/>
                </a:solidFill>
              </a:rPr>
              <a:t> </a:t>
            </a:r>
            <a:r>
              <a:rPr kumimoji="1" lang="zh-CN" altLang="en-US" sz="2800" dirty="0">
                <a:solidFill>
                  <a:srgbClr val="CC6600"/>
                </a:solidFill>
              </a:rPr>
              <a:t>稀疏矩阵</a:t>
            </a:r>
            <a:endParaRPr kumimoji="1" lang="zh-CN" altLang="en-US" sz="2800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28775"/>
            <a:ext cx="77724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特点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b="1" dirty="0"/>
              <a:t> </a:t>
            </a:r>
            <a:r>
              <a:rPr lang="zh-CN" altLang="en-US" sz="2400" dirty="0"/>
              <a:t>大多数元素为零。</a:t>
            </a:r>
          </a:p>
          <a:p>
            <a:pP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[</a:t>
            </a:r>
            <a:r>
              <a:rPr lang="zh-CN" altLang="en-US" sz="2400" b="1" dirty="0">
                <a:solidFill>
                  <a:srgbClr val="FF3300"/>
                </a:solidFill>
              </a:rPr>
              <a:t>常用存储方法</a:t>
            </a:r>
            <a:r>
              <a:rPr lang="en-US" altLang="zh-CN" sz="2400" b="1" dirty="0">
                <a:solidFill>
                  <a:srgbClr val="FF3300"/>
                </a:solidFill>
              </a:rPr>
              <a:t>]</a:t>
            </a:r>
            <a:r>
              <a:rPr lang="en-US" altLang="zh-CN" sz="2400" b="1" dirty="0"/>
              <a:t>  </a:t>
            </a:r>
            <a:r>
              <a:rPr lang="zh-CN" altLang="zh-CN" sz="2400" dirty="0">
                <a:highlight>
                  <a:srgbClr val="00FF00"/>
                </a:highlight>
              </a:rPr>
              <a:t>只</a:t>
            </a:r>
            <a:r>
              <a:rPr lang="zh-CN" altLang="en-US" sz="2400" dirty="0">
                <a:highlight>
                  <a:srgbClr val="00FF00"/>
                </a:highlight>
              </a:rPr>
              <a:t>记录每一非零元素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i,j,a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 )</a:t>
            </a:r>
          </a:p>
          <a:p>
            <a:pPr>
              <a:buFontTx/>
              <a:buNone/>
            </a:pPr>
            <a:r>
              <a:rPr lang="en-US" altLang="zh-CN" sz="2400" dirty="0"/>
              <a:t>                            </a:t>
            </a:r>
            <a:r>
              <a:rPr lang="zh-CN" altLang="en-US" sz="2400" dirty="0">
                <a:solidFill>
                  <a:schemeClr val="accent2"/>
                </a:solidFill>
              </a:rPr>
              <a:t>节省空间，</a:t>
            </a:r>
            <a:r>
              <a:rPr lang="zh-CN" altLang="en-US" sz="2400" dirty="0">
                <a:solidFill>
                  <a:schemeClr val="accent2"/>
                </a:solidFill>
                <a:highlight>
                  <a:srgbClr val="00FF00"/>
                </a:highlight>
              </a:rPr>
              <a:t>但丧失随机存取功能</a:t>
            </a:r>
            <a:endParaRPr lang="zh-CN" altLang="en-US" sz="2400" dirty="0">
              <a:highlight>
                <a:srgbClr val="00FF00"/>
              </a:highlight>
            </a:endParaRPr>
          </a:p>
          <a:p>
            <a:r>
              <a:rPr lang="zh-CN" altLang="en-US" sz="2400" dirty="0"/>
              <a:t>顺序存储：三元组表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zh-CN" altLang="en-US" sz="2800" dirty="0"/>
              <a:t>                 </a:t>
            </a:r>
            <a:r>
              <a:rPr lang="en-US" altLang="zh-CN" sz="2800" dirty="0">
                <a:solidFill>
                  <a:srgbClr val="FF00FF"/>
                </a:solidFill>
              </a:rPr>
              <a:t>15</a:t>
            </a:r>
            <a:r>
              <a:rPr lang="en-US" altLang="zh-CN" sz="2800" dirty="0"/>
              <a:t>      0      0      </a:t>
            </a:r>
            <a:r>
              <a:rPr lang="en-US" altLang="zh-CN" sz="2800" dirty="0">
                <a:solidFill>
                  <a:srgbClr val="FF00FF"/>
                </a:solidFill>
              </a:rPr>
              <a:t>22 </a:t>
            </a:r>
            <a:r>
              <a:rPr lang="en-US" altLang="zh-CN" sz="2800" dirty="0"/>
              <a:t>     0     </a:t>
            </a:r>
            <a:r>
              <a:rPr lang="en-US" altLang="zh-CN" sz="2800" dirty="0">
                <a:solidFill>
                  <a:srgbClr val="FF00FF"/>
                </a:solidFill>
              </a:rPr>
              <a:t>-15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en-US" altLang="zh-CN" sz="2800" dirty="0"/>
              <a:t>                   0     </a:t>
            </a:r>
            <a:r>
              <a:rPr lang="en-US" altLang="zh-CN" sz="2800" dirty="0">
                <a:solidFill>
                  <a:srgbClr val="FF00FF"/>
                </a:solidFill>
              </a:rPr>
              <a:t>11  </a:t>
            </a: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00FF"/>
                </a:solidFill>
              </a:rPr>
              <a:t>3</a:t>
            </a:r>
            <a:r>
              <a:rPr lang="en-US" altLang="zh-CN" sz="2800" dirty="0"/>
              <a:t>       0       0       0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en-US" altLang="zh-CN" sz="2800" dirty="0"/>
              <a:t>                   0      0      0       </a:t>
            </a:r>
            <a:r>
              <a:rPr lang="en-US" altLang="zh-CN" sz="2800" dirty="0">
                <a:solidFill>
                  <a:srgbClr val="FF00FF"/>
                </a:solidFill>
              </a:rPr>
              <a:t>-6</a:t>
            </a:r>
            <a:r>
              <a:rPr lang="en-US" altLang="zh-CN" sz="2800" dirty="0"/>
              <a:t>      0       0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en-US" altLang="zh-CN" sz="2800" dirty="0"/>
              <a:t>                   0      0      0        0      0       0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en-US" altLang="zh-CN" sz="2800" dirty="0"/>
              <a:t>                 </a:t>
            </a:r>
            <a:r>
              <a:rPr lang="en-US" altLang="zh-CN" sz="2800" dirty="0">
                <a:solidFill>
                  <a:srgbClr val="FF00FF"/>
                </a:solidFill>
              </a:rPr>
              <a:t>91   </a:t>
            </a:r>
            <a:r>
              <a:rPr lang="en-US" altLang="zh-CN" sz="2800" dirty="0"/>
              <a:t>   0      0        0      0       0</a:t>
            </a:r>
          </a:p>
          <a:p>
            <a:pPr>
              <a:lnSpc>
                <a:spcPct val="85000"/>
              </a:lnSpc>
              <a:buFontTx/>
              <a:buNone/>
            </a:pPr>
            <a:r>
              <a:rPr lang="en-US" altLang="zh-CN" sz="2800" dirty="0"/>
              <a:t>                   0      0     </a:t>
            </a:r>
            <a:r>
              <a:rPr lang="en-US" altLang="zh-CN" sz="2800" dirty="0">
                <a:solidFill>
                  <a:srgbClr val="FF00FF"/>
                </a:solidFill>
              </a:rPr>
              <a:t>28</a:t>
            </a:r>
            <a:r>
              <a:rPr lang="en-US" altLang="zh-CN" sz="2800" dirty="0"/>
              <a:t>       0      0       0</a:t>
            </a:r>
          </a:p>
        </p:txBody>
      </p:sp>
      <p:sp>
        <p:nvSpPr>
          <p:cNvPr id="32771" name="Line 4"/>
          <p:cNvSpPr>
            <a:spLocks noChangeShapeType="1"/>
          </p:cNvSpPr>
          <p:nvPr/>
        </p:nvSpPr>
        <p:spPr bwMode="auto">
          <a:xfrm>
            <a:off x="1905000" y="33528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Line 5"/>
          <p:cNvSpPr>
            <a:spLocks noChangeShapeType="1"/>
          </p:cNvSpPr>
          <p:nvPr/>
        </p:nvSpPr>
        <p:spPr bwMode="auto">
          <a:xfrm>
            <a:off x="1905000" y="3352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3" name="Line 9"/>
          <p:cNvSpPr>
            <a:spLocks noChangeShapeType="1"/>
          </p:cNvSpPr>
          <p:nvPr/>
        </p:nvSpPr>
        <p:spPr bwMode="auto">
          <a:xfrm>
            <a:off x="6934200" y="33528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4" name="Line 10"/>
          <p:cNvSpPr>
            <a:spLocks noChangeShapeType="1"/>
          </p:cNvSpPr>
          <p:nvPr/>
        </p:nvSpPr>
        <p:spPr bwMode="auto">
          <a:xfrm flipH="1">
            <a:off x="6705600" y="3352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Text Box 12"/>
          <p:cNvSpPr txBox="1">
            <a:spLocks noChangeArrowheads="1"/>
          </p:cNvSpPr>
          <p:nvPr/>
        </p:nvSpPr>
        <p:spPr bwMode="auto">
          <a:xfrm>
            <a:off x="7086600" y="5715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/>
              <a:t>6</a:t>
            </a:r>
            <a:r>
              <a:rPr lang="en-US" altLang="zh-CN">
                <a:sym typeface="Symbol" panose="05050102010706020507" pitchFamily="18" charset="2"/>
              </a:rPr>
              <a:t>6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677863"/>
            <a:ext cx="7793038" cy="700087"/>
          </a:xfrm>
        </p:spPr>
        <p:txBody>
          <a:bodyPr anchor="b"/>
          <a:lstStyle/>
          <a:p>
            <a:pPr algn="l">
              <a:defRPr/>
            </a:pPr>
            <a:r>
              <a:rPr kumimoji="1" lang="en-US" altLang="zh-CN" sz="2800" dirty="0">
                <a:solidFill>
                  <a:srgbClr val="CC6600"/>
                </a:solidFill>
              </a:rPr>
              <a:t>三列二维数组表示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11188" y="1773238"/>
            <a:ext cx="8139112" cy="38893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）非零元素所在的</a:t>
            </a:r>
            <a:r>
              <a:rPr lang="zh-CN" altLang="en-US" dirty="0">
                <a:highlight>
                  <a:srgbClr val="00FF00"/>
                </a:highlight>
              </a:rPr>
              <a:t>行</a:t>
            </a:r>
            <a:r>
              <a:rPr lang="zh-CN" altLang="en-US" dirty="0"/>
              <a:t>号</a:t>
            </a:r>
            <a:r>
              <a:rPr lang="en-US" altLang="zh-CN" dirty="0" err="1"/>
              <a:t>i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）非零元素所在的</a:t>
            </a:r>
            <a:r>
              <a:rPr lang="zh-CN" altLang="en-US" dirty="0">
                <a:highlight>
                  <a:srgbClr val="00FF00"/>
                </a:highlight>
              </a:rPr>
              <a:t>列</a:t>
            </a:r>
            <a:r>
              <a:rPr lang="zh-CN" altLang="en-US" dirty="0"/>
              <a:t>号</a:t>
            </a:r>
            <a:r>
              <a:rPr lang="en-US" altLang="zh-CN" dirty="0"/>
              <a:t>j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）非零元素的</a:t>
            </a:r>
            <a:r>
              <a:rPr lang="zh-CN" altLang="en-US" dirty="0">
                <a:highlight>
                  <a:srgbClr val="00FF00"/>
                </a:highlight>
              </a:rPr>
              <a:t>值</a:t>
            </a:r>
            <a:r>
              <a:rPr lang="en-US" altLang="zh-CN" dirty="0">
                <a:highlight>
                  <a:srgbClr val="00FF00"/>
                </a:highlight>
              </a:rPr>
              <a:t>V</a:t>
            </a:r>
            <a:r>
              <a:rPr lang="zh-CN" altLang="en-US" dirty="0"/>
              <a:t>。 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  即每一个非零元素可以用下列三元组表示：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（</a:t>
            </a:r>
            <a:r>
              <a:rPr lang="en-US" altLang="zh-CN" dirty="0" err="1">
                <a:highlight>
                  <a:srgbClr val="00FF00"/>
                </a:highlight>
              </a:rPr>
              <a:t>i</a:t>
            </a:r>
            <a:r>
              <a:rPr lang="zh-CN" altLang="en-US" dirty="0">
                <a:highlight>
                  <a:srgbClr val="00FF00"/>
                </a:highlight>
              </a:rPr>
              <a:t>，</a:t>
            </a:r>
            <a:r>
              <a:rPr lang="en-US" altLang="zh-CN" dirty="0">
                <a:highlight>
                  <a:srgbClr val="00FF00"/>
                </a:highlight>
              </a:rPr>
              <a:t>j</a:t>
            </a:r>
            <a:r>
              <a:rPr lang="zh-CN" altLang="en-US" dirty="0">
                <a:highlight>
                  <a:srgbClr val="00FF00"/>
                </a:highlight>
              </a:rPr>
              <a:t>，</a:t>
            </a:r>
            <a:r>
              <a:rPr lang="en-US" altLang="zh-CN" dirty="0">
                <a:highlight>
                  <a:srgbClr val="00FF00"/>
                </a:highlight>
              </a:rPr>
              <a:t>V</a:t>
            </a:r>
            <a:r>
              <a:rPr lang="zh-CN" altLang="en-US" dirty="0"/>
              <a:t>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95288" y="549275"/>
            <a:ext cx="8424862" cy="5688013"/>
          </a:xfrm>
        </p:spPr>
        <p:txBody>
          <a:bodyPr lIns="0"/>
          <a:lstStyle/>
          <a:p>
            <a:pPr algn="just" eaLnBrk="1" hangingPunct="1">
              <a:lnSpc>
                <a:spcPct val="135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solidFill>
                  <a:schemeClr val="hlink"/>
                </a:solidFill>
              </a:rPr>
              <a:t>例如，</a:t>
            </a:r>
            <a:r>
              <a:rPr lang="zh-CN" altLang="en-US" sz="2800" dirty="0"/>
              <a:t>上述稀疏矩阵</a:t>
            </a:r>
            <a:r>
              <a:rPr lang="en-US" altLang="zh-CN" sz="2800" dirty="0"/>
              <a:t>A</a:t>
            </a:r>
            <a:r>
              <a:rPr lang="zh-CN" altLang="en-US" sz="2800" dirty="0"/>
              <a:t>中的</a:t>
            </a:r>
            <a:r>
              <a:rPr lang="en-US" altLang="zh-CN" sz="2800" dirty="0"/>
              <a:t>8</a:t>
            </a:r>
            <a:r>
              <a:rPr lang="zh-CN" altLang="en-US" sz="2800" dirty="0"/>
              <a:t>个非零元素可以用以下</a:t>
            </a:r>
            <a:r>
              <a:rPr lang="en-US" altLang="zh-CN" sz="2800" dirty="0"/>
              <a:t>8</a:t>
            </a:r>
            <a:r>
              <a:rPr lang="zh-CN" altLang="en-US" sz="2800" dirty="0"/>
              <a:t>个二元组表示（以行为主的顺序排列）：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z="2800" dirty="0"/>
              <a:t>   （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）  （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8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）（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9</a:t>
            </a:r>
            <a:r>
              <a:rPr lang="zh-CN" altLang="en-US" sz="2800" dirty="0"/>
              <a:t>）（</a:t>
            </a:r>
            <a:r>
              <a:rPr lang="en-US" altLang="zh-CN" sz="2800" dirty="0"/>
              <a:t>4</a:t>
            </a:r>
            <a:r>
              <a:rPr lang="zh-CN" altLang="en-US" sz="2800" dirty="0"/>
              <a:t>，</a:t>
            </a:r>
            <a:r>
              <a:rPr lang="en-US" altLang="zh-CN" sz="2800" dirty="0"/>
              <a:t>5</a:t>
            </a:r>
            <a:r>
              <a:rPr lang="zh-CN" altLang="en-US" sz="2800" dirty="0"/>
              <a:t>，</a:t>
            </a:r>
            <a:r>
              <a:rPr lang="en-US" altLang="zh-CN" sz="2800" dirty="0"/>
              <a:t>7</a:t>
            </a:r>
            <a:r>
              <a:rPr lang="zh-CN" altLang="en-US" sz="2800" dirty="0"/>
              <a:t>）  （</a:t>
            </a:r>
            <a:r>
              <a:rPr lang="en-US" altLang="zh-CN" sz="2800" dirty="0"/>
              <a:t>5</a:t>
            </a:r>
            <a:r>
              <a:rPr lang="zh-CN" altLang="en-US" sz="2800" dirty="0"/>
              <a:t>，</a:t>
            </a:r>
            <a:r>
              <a:rPr lang="en-US" altLang="zh-CN" sz="2800" dirty="0"/>
              <a:t>7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） （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4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）（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）   </a:t>
            </a:r>
            <a:r>
              <a:rPr lang="en-US" altLang="zh-CN" sz="2800" dirty="0"/>
              <a:t>(7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5</a:t>
            </a:r>
            <a:r>
              <a:rPr lang="zh-CN" altLang="en-US" sz="2800" dirty="0"/>
              <a:t>）</a:t>
            </a:r>
          </a:p>
          <a:p>
            <a:pPr algn="just" eaLnBrk="1" hangingPunct="1">
              <a:lnSpc>
                <a:spcPct val="135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/>
              <a:t>为了表示的唯一性，除了每一个非零元素用一个三元组表示外，</a:t>
            </a:r>
            <a:r>
              <a:rPr lang="zh-CN" altLang="en-US" sz="2800" dirty="0">
                <a:highlight>
                  <a:srgbClr val="00FF00"/>
                </a:highlight>
              </a:rPr>
              <a:t>在所有表示非零元素的三元组之前再添加一个三元组</a:t>
            </a:r>
            <a:r>
              <a:rPr lang="zh-CN" altLang="en-US" sz="2800" dirty="0"/>
              <a:t>：（</a:t>
            </a:r>
            <a:r>
              <a:rPr lang="en-US" altLang="zh-CN" sz="2800" dirty="0"/>
              <a:t>I</a:t>
            </a:r>
            <a:r>
              <a:rPr lang="zh-CN" altLang="en-US" sz="2800" dirty="0"/>
              <a:t>，</a:t>
            </a:r>
            <a:r>
              <a:rPr lang="en-US" altLang="zh-CN" sz="2800" dirty="0"/>
              <a:t>J</a:t>
            </a:r>
            <a:r>
              <a:rPr lang="zh-CN" altLang="en-US" sz="2800" dirty="0"/>
              <a:t>，</a:t>
            </a:r>
            <a:r>
              <a:rPr lang="en-US" altLang="zh-CN" sz="2800" dirty="0"/>
              <a:t>t</a:t>
            </a:r>
            <a:r>
              <a:rPr lang="zh-CN" altLang="en-US" sz="2800" dirty="0"/>
              <a:t>） 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/>
              <a:t>其中</a:t>
            </a:r>
            <a:r>
              <a:rPr lang="en-US" altLang="zh-CN" sz="2800" dirty="0"/>
              <a:t>I</a:t>
            </a:r>
            <a:r>
              <a:rPr lang="zh-CN" altLang="en-US" sz="2800" dirty="0"/>
              <a:t>表示稀疏矩阵的</a:t>
            </a:r>
            <a:r>
              <a:rPr lang="zh-CN" altLang="en-US" sz="2800" dirty="0">
                <a:highlight>
                  <a:srgbClr val="00FF00"/>
                </a:highlight>
              </a:rPr>
              <a:t>总行数</a:t>
            </a:r>
            <a:r>
              <a:rPr lang="zh-CN" altLang="en-US" sz="2800" dirty="0"/>
              <a:t>，</a:t>
            </a:r>
            <a:r>
              <a:rPr lang="en-US" altLang="zh-CN" sz="2800" dirty="0"/>
              <a:t>J</a:t>
            </a:r>
            <a:r>
              <a:rPr lang="zh-CN" altLang="en-US" sz="2800" dirty="0"/>
              <a:t>表示稀疏矩阵的</a:t>
            </a:r>
            <a:r>
              <a:rPr lang="zh-CN" altLang="en-US" sz="2800" dirty="0">
                <a:highlight>
                  <a:srgbClr val="00FF00"/>
                </a:highlight>
              </a:rPr>
              <a:t>总列数</a:t>
            </a:r>
            <a:r>
              <a:rPr lang="zh-CN" altLang="en-US" sz="2800" dirty="0"/>
              <a:t>，</a:t>
            </a:r>
            <a:r>
              <a:rPr lang="en-US" altLang="zh-CN" sz="2800" dirty="0"/>
              <a:t>t</a:t>
            </a:r>
            <a:r>
              <a:rPr lang="zh-CN" altLang="en-US" sz="2800" dirty="0"/>
              <a:t>表示稀疏矩阵中非零元素的总</a:t>
            </a:r>
            <a:r>
              <a:rPr lang="zh-CN" altLang="en-US" sz="2800" dirty="0">
                <a:highlight>
                  <a:srgbClr val="00FF00"/>
                </a:highlight>
              </a:rPr>
              <a:t>个数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250825" y="520700"/>
            <a:ext cx="8686800" cy="63373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上述稀疏矩阵</a:t>
            </a:r>
            <a:r>
              <a:rPr lang="en-US" altLang="zh-CN" dirty="0"/>
              <a:t>A</a:t>
            </a:r>
            <a:r>
              <a:rPr lang="zh-CN" altLang="en-US" dirty="0"/>
              <a:t>可以用以下</a:t>
            </a:r>
            <a:r>
              <a:rPr lang="en-US" altLang="zh-CN" dirty="0"/>
              <a:t>9</a:t>
            </a:r>
            <a:r>
              <a:rPr lang="zh-CN" altLang="en-US" dirty="0"/>
              <a:t>个三元组表示：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dirty="0"/>
              <a:t>  （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）（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）（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dirty="0"/>
              <a:t>  （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）（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zh-CN" altLang="en-US" dirty="0"/>
              <a:t>  （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）（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）（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其中第一个三元组表示了稀疏矩阵的</a:t>
            </a:r>
            <a:r>
              <a:rPr lang="zh-CN" altLang="en-US" dirty="0">
                <a:highlight>
                  <a:srgbClr val="00FF00"/>
                </a:highlight>
              </a:rPr>
              <a:t>总体信息</a:t>
            </a:r>
            <a:r>
              <a:rPr lang="zh-CN" altLang="en-US" dirty="0"/>
              <a:t>（总行数，总列数、非零元素个数），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其后的</a:t>
            </a:r>
            <a:r>
              <a:rPr lang="en-US" altLang="zh-CN" dirty="0"/>
              <a:t>8</a:t>
            </a:r>
            <a:r>
              <a:rPr lang="zh-CN" altLang="en-US" dirty="0"/>
              <a:t>个三元组依次（以行为主排列）表示稀疏矩阵中每一个非零元素的信息（所在的行号、列号以及非零元素值）。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04800" y="1752600"/>
            <a:ext cx="5130800" cy="40528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   </a:t>
            </a:r>
            <a:r>
              <a:rPr lang="zh-CN" altLang="en-US" dirty="0"/>
              <a:t>为了使各三元组的结构更紧凑，通常将这些三元组组织成</a:t>
            </a:r>
            <a:r>
              <a:rPr lang="zh-CN" altLang="en-US" dirty="0">
                <a:solidFill>
                  <a:schemeClr val="hlink"/>
                </a:solidFill>
                <a:highlight>
                  <a:srgbClr val="00FF00"/>
                </a:highlight>
              </a:rPr>
              <a:t>三列二维表格的形式</a:t>
            </a:r>
            <a:r>
              <a:rPr lang="zh-CN" altLang="en-US" dirty="0"/>
              <a:t>，一般又表示成三列二维数组的形式，并简称为三列二维数组。 </a:t>
            </a:r>
          </a:p>
        </p:txBody>
      </p:sp>
      <p:graphicFrame>
        <p:nvGraphicFramePr>
          <p:cNvPr id="273413" name="Object 2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791200" y="1371600"/>
          <a:ext cx="2116138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52500" imgH="2057400" progId="Equation.3">
                  <p:embed/>
                </p:oleObj>
              </mc:Choice>
              <mc:Fallback>
                <p:oleObj r:id="rId4" imgW="952500" imgH="2057400" progId="Equation.3">
                  <p:embed/>
                  <p:pic>
                    <p:nvPicPr>
                      <p:cNvPr id="2734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371600"/>
                        <a:ext cx="2116138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539750" y="836613"/>
            <a:ext cx="8353425" cy="5262979"/>
          </a:xfrm>
        </p:spPr>
        <p:txBody>
          <a:bodyPr>
            <a:spAutoFit/>
          </a:bodyPr>
          <a:lstStyle/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zh-CN" altLang="en-US" sz="2800" dirty="0"/>
              <a:t>为了便于在三列二维数组</a:t>
            </a:r>
            <a:r>
              <a:rPr lang="en-US" altLang="zh-CN" sz="2800" dirty="0"/>
              <a:t>B</a:t>
            </a:r>
            <a:r>
              <a:rPr lang="zh-CN" altLang="en-US" sz="2800" dirty="0"/>
              <a:t>中访问稀疏矩阵</a:t>
            </a:r>
            <a:r>
              <a:rPr lang="en-US" altLang="zh-CN" sz="2800" dirty="0"/>
              <a:t>A</a:t>
            </a:r>
            <a:r>
              <a:rPr lang="zh-CN" altLang="en-US" sz="2800" dirty="0"/>
              <a:t>中的各元素，通常还附设</a:t>
            </a:r>
            <a:r>
              <a:rPr lang="zh-CN" altLang="en-US" sz="2800" dirty="0">
                <a:highlight>
                  <a:srgbClr val="00FF00"/>
                </a:highlight>
              </a:rPr>
              <a:t>两个长度与稀疏矩阵</a:t>
            </a:r>
            <a:r>
              <a:rPr lang="en-US" altLang="zh-CN" sz="2800" dirty="0">
                <a:highlight>
                  <a:srgbClr val="00FF00"/>
                </a:highlight>
              </a:rPr>
              <a:t>A(</a:t>
            </a:r>
            <a:r>
              <a:rPr lang="zh-CN" altLang="en-US" sz="2800" b="1" dirty="0">
                <a:highlight>
                  <a:srgbClr val="00FF00"/>
                </a:highlight>
              </a:rPr>
              <a:t>与矩阵相同不是和三列二维数组相同</a:t>
            </a:r>
            <a:r>
              <a:rPr lang="en-US" altLang="zh-CN" sz="2800" dirty="0">
                <a:highlight>
                  <a:srgbClr val="00FF00"/>
                </a:highlight>
              </a:rPr>
              <a:t>)</a:t>
            </a:r>
            <a:r>
              <a:rPr lang="zh-CN" altLang="en-US" sz="2800" dirty="0">
                <a:highlight>
                  <a:srgbClr val="00FF00"/>
                </a:highlight>
              </a:rPr>
              <a:t>的行数相同的向量</a:t>
            </a:r>
            <a:r>
              <a:rPr lang="en-US" altLang="zh-CN" sz="2800" dirty="0">
                <a:highlight>
                  <a:srgbClr val="00FF00"/>
                </a:highlight>
              </a:rPr>
              <a:t>POS</a:t>
            </a:r>
            <a:r>
              <a:rPr lang="zh-CN" altLang="en-US" sz="2800" dirty="0">
                <a:highlight>
                  <a:srgbClr val="00FF00"/>
                </a:highlight>
              </a:rPr>
              <a:t>与</a:t>
            </a:r>
            <a:r>
              <a:rPr lang="en-US" altLang="zh-CN" sz="2800" dirty="0">
                <a:highlight>
                  <a:srgbClr val="00FF00"/>
                </a:highlight>
              </a:rPr>
              <a:t>NUM</a:t>
            </a:r>
            <a:r>
              <a:rPr lang="zh-CN" altLang="en-US" sz="2800" dirty="0"/>
              <a:t>，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zh-CN" sz="2800" dirty="0"/>
              <a:t>POS</a:t>
            </a:r>
            <a:r>
              <a:rPr lang="zh-CN" altLang="en-US" sz="2800" dirty="0"/>
              <a:t>（</a:t>
            </a:r>
            <a:r>
              <a:rPr lang="en-US" altLang="zh-CN" sz="2800" dirty="0"/>
              <a:t>k</a:t>
            </a:r>
            <a:r>
              <a:rPr lang="zh-CN" altLang="en-US" sz="2800" dirty="0"/>
              <a:t>）表示稀疏矩阵</a:t>
            </a:r>
            <a:r>
              <a:rPr lang="en-US" altLang="zh-CN" sz="2800" dirty="0"/>
              <a:t>A</a:t>
            </a:r>
            <a:r>
              <a:rPr lang="zh-CN" altLang="en-US" sz="2800" dirty="0"/>
              <a:t>中</a:t>
            </a:r>
            <a:r>
              <a:rPr lang="zh-CN" altLang="en-US" sz="2800" dirty="0">
                <a:highlight>
                  <a:srgbClr val="00FF00"/>
                </a:highlight>
              </a:rPr>
              <a:t>第</a:t>
            </a:r>
            <a:r>
              <a:rPr lang="en-US" altLang="zh-CN" sz="2800" dirty="0">
                <a:highlight>
                  <a:srgbClr val="00FF00"/>
                </a:highlight>
              </a:rPr>
              <a:t>k</a:t>
            </a:r>
            <a:r>
              <a:rPr lang="zh-CN" altLang="en-US" sz="2800" dirty="0">
                <a:highlight>
                  <a:srgbClr val="00FF00"/>
                </a:highlight>
              </a:rPr>
              <a:t>行的第一个非零元素</a:t>
            </a:r>
            <a:r>
              <a:rPr lang="zh-CN" altLang="en-US" sz="2800" dirty="0"/>
              <a:t>（如果有的话）在</a:t>
            </a:r>
            <a:r>
              <a:rPr lang="zh-CN" altLang="en-US" sz="2800" dirty="0">
                <a:highlight>
                  <a:srgbClr val="00FF00"/>
                </a:highlight>
              </a:rPr>
              <a:t>三列二维数组</a:t>
            </a:r>
            <a:r>
              <a:rPr lang="en-US" altLang="zh-CN" sz="2800" dirty="0"/>
              <a:t>B</a:t>
            </a:r>
            <a:r>
              <a:rPr lang="zh-CN" altLang="en-US" sz="2800" dirty="0"/>
              <a:t>中的</a:t>
            </a:r>
            <a:r>
              <a:rPr lang="zh-CN" altLang="en-US" sz="2800" dirty="0">
                <a:highlight>
                  <a:srgbClr val="00FF00"/>
                </a:highlight>
              </a:rPr>
              <a:t>行</a:t>
            </a:r>
            <a:r>
              <a:rPr lang="zh-CN" altLang="en-US" sz="2800" dirty="0"/>
              <a:t>号，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zh-CN" sz="2800" dirty="0"/>
              <a:t>NUM</a:t>
            </a:r>
            <a:r>
              <a:rPr lang="zh-CN" altLang="en-US" sz="2800" dirty="0"/>
              <a:t>（</a:t>
            </a:r>
            <a:r>
              <a:rPr lang="en-US" altLang="zh-CN" sz="2800" dirty="0"/>
              <a:t>k</a:t>
            </a:r>
            <a:r>
              <a:rPr lang="zh-CN" altLang="en-US" sz="2800" dirty="0"/>
              <a:t>）表示稀疏矩阵</a:t>
            </a:r>
            <a:r>
              <a:rPr lang="en-US" altLang="zh-CN" sz="2800" dirty="0"/>
              <a:t>A</a:t>
            </a:r>
            <a:r>
              <a:rPr lang="zh-CN" altLang="en-US" sz="2800" dirty="0"/>
              <a:t>中</a:t>
            </a:r>
            <a:r>
              <a:rPr lang="zh-CN" altLang="en-US" sz="2800" dirty="0">
                <a:highlight>
                  <a:srgbClr val="00FF00"/>
                </a:highlight>
              </a:rPr>
              <a:t>第</a:t>
            </a:r>
            <a:r>
              <a:rPr lang="en-US" altLang="zh-CN" sz="2800" dirty="0">
                <a:highlight>
                  <a:srgbClr val="00FF00"/>
                </a:highlight>
              </a:rPr>
              <a:t>k</a:t>
            </a:r>
            <a:r>
              <a:rPr lang="zh-CN" altLang="en-US" sz="2800" dirty="0">
                <a:highlight>
                  <a:srgbClr val="00FF00"/>
                </a:highlight>
              </a:rPr>
              <a:t>行中非零元素的个数</a:t>
            </a:r>
            <a:r>
              <a:rPr lang="zh-CN" altLang="en-US" sz="2800" dirty="0"/>
              <a:t>，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zh-CN" altLang="en-US" sz="2800" dirty="0"/>
              <a:t>这两个向量之间存在以下关系：</a:t>
            </a:r>
          </a:p>
          <a:p>
            <a:pPr algn="just" eaLnBrk="1" hangingPunct="1">
              <a:buFontTx/>
              <a:buNone/>
            </a:pPr>
            <a:r>
              <a:rPr lang="zh-CN" altLang="en-US" sz="2800" dirty="0"/>
              <a:t>    </a:t>
            </a:r>
            <a:r>
              <a:rPr lang="en-US" altLang="zh-CN" sz="2800" dirty="0">
                <a:highlight>
                  <a:srgbClr val="00FF00"/>
                </a:highlight>
              </a:rPr>
              <a:t>POS(1)</a:t>
            </a:r>
            <a:r>
              <a:rPr lang="zh-CN" altLang="en-US" sz="2800" dirty="0">
                <a:highlight>
                  <a:srgbClr val="00FF00"/>
                </a:highlight>
              </a:rPr>
              <a:t>＝</a:t>
            </a:r>
            <a:r>
              <a:rPr lang="en-US" altLang="zh-CN" sz="2800" dirty="0">
                <a:highlight>
                  <a:srgbClr val="00FF00"/>
                </a:highlight>
              </a:rPr>
              <a:t>2</a:t>
            </a:r>
            <a:r>
              <a:rPr lang="en-US" altLang="zh-CN" sz="2800" dirty="0"/>
              <a:t>   </a:t>
            </a:r>
            <a:r>
              <a:rPr lang="en-US" altLang="zh-CN" sz="2000" dirty="0"/>
              <a:t>A</a:t>
            </a:r>
            <a:r>
              <a:rPr lang="zh-CN" altLang="en-US" sz="2000" dirty="0"/>
              <a:t>第一行的第一个元素在三列二维数组中排第二个</a:t>
            </a:r>
            <a:endParaRPr lang="en-US" altLang="zh-CN" sz="2800" dirty="0"/>
          </a:p>
          <a:p>
            <a:pPr algn="just" eaLnBrk="1" hangingPunct="1">
              <a:buFontTx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highlight>
                  <a:srgbClr val="00FF00"/>
                </a:highlight>
              </a:rPr>
              <a:t>POS(k)</a:t>
            </a:r>
            <a:r>
              <a:rPr lang="zh-CN" altLang="en-US" sz="2800" dirty="0">
                <a:highlight>
                  <a:srgbClr val="00FF00"/>
                </a:highlight>
              </a:rPr>
              <a:t>＝</a:t>
            </a:r>
            <a:r>
              <a:rPr lang="en-US" altLang="zh-CN" sz="2800" dirty="0">
                <a:highlight>
                  <a:srgbClr val="00FF00"/>
                </a:highlight>
              </a:rPr>
              <a:t>POS(k-1)</a:t>
            </a:r>
            <a:r>
              <a:rPr lang="zh-CN" altLang="en-US" sz="2800" dirty="0">
                <a:highlight>
                  <a:srgbClr val="00FF00"/>
                </a:highlight>
              </a:rPr>
              <a:t>十</a:t>
            </a:r>
            <a:r>
              <a:rPr lang="en-US" altLang="zh-CN" sz="2800" dirty="0">
                <a:highlight>
                  <a:srgbClr val="00FF00"/>
                </a:highlight>
              </a:rPr>
              <a:t>NUM(k-1)</a:t>
            </a:r>
            <a:r>
              <a:rPr lang="zh-CN" altLang="en-US" sz="2800" dirty="0"/>
              <a:t>，</a:t>
            </a:r>
            <a:r>
              <a:rPr lang="en-US" altLang="zh-CN" sz="2800" dirty="0"/>
              <a:t>2 ≤ k ≤ 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2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2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2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2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2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2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2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2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57275" y="1025525"/>
            <a:ext cx="6400800" cy="685800"/>
          </a:xfrm>
        </p:spPr>
        <p:txBody>
          <a:bodyPr anchor="b"/>
          <a:lstStyle/>
          <a:p>
            <a:r>
              <a:rPr lang="zh-CN" altLang="en-US" noProof="1"/>
              <a:t>练习</a:t>
            </a:r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82625" y="1844675"/>
          <a:ext cx="3500438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32000" imgH="1600200" progId="Equation.DSMT4">
                  <p:embed/>
                </p:oleObj>
              </mc:Choice>
              <mc:Fallback>
                <p:oleObj r:id="rId5" imgW="2032000" imgH="1600200" progId="Equation.DSMT4">
                  <p:embed/>
                  <p:pic>
                    <p:nvPicPr>
                      <p:cNvPr id="389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844675"/>
                        <a:ext cx="3500438" cy="275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Text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97438" y="4059238"/>
            <a:ext cx="34655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zh-CN" sz="2000">
                <a:ea typeface="隶书" panose="02010509060101010101" pitchFamily="49" charset="-122"/>
              </a:rPr>
              <a:t>(1) </a:t>
            </a:r>
            <a:r>
              <a:rPr lang="zh-CN" altLang="en-US" sz="2000">
                <a:ea typeface="隶书" panose="02010509060101010101" pitchFamily="49" charset="-122"/>
              </a:rPr>
              <a:t>请用三列二维数组表示；</a:t>
            </a:r>
          </a:p>
          <a:p>
            <a:pPr>
              <a:buFontTx/>
              <a:buNone/>
            </a:pPr>
            <a:r>
              <a:rPr lang="en-US" altLang="zh-CN" sz="2000">
                <a:ea typeface="隶书" panose="02010509060101010101" pitchFamily="49" charset="-122"/>
              </a:rPr>
              <a:t>(2) </a:t>
            </a:r>
            <a:r>
              <a:rPr lang="zh-CN" altLang="en-US" sz="2000">
                <a:ea typeface="隶书" panose="02010509060101010101" pitchFamily="49" charset="-122"/>
              </a:rPr>
              <a:t>写出其</a:t>
            </a:r>
            <a:r>
              <a:rPr lang="en-US" altLang="zh-CN" sz="2000">
                <a:ea typeface="隶书" panose="02010509060101010101" pitchFamily="49" charset="-122"/>
              </a:rPr>
              <a:t>POS</a:t>
            </a:r>
            <a:r>
              <a:rPr lang="zh-CN" altLang="en-US" sz="2000">
                <a:ea typeface="隶书" panose="02010509060101010101" pitchFamily="49" charset="-122"/>
              </a:rPr>
              <a:t>和</a:t>
            </a:r>
            <a:r>
              <a:rPr lang="en-US" altLang="zh-CN" sz="2000">
                <a:ea typeface="隶书" panose="02010509060101010101" pitchFamily="49" charset="-122"/>
              </a:rPr>
              <a:t>NUM</a:t>
            </a:r>
            <a:r>
              <a:rPr lang="zh-CN" altLang="en-US" sz="2000">
                <a:ea typeface="隶书" panose="02010509060101010101" pitchFamily="49" charset="-122"/>
              </a:rPr>
              <a:t>向量；</a:t>
            </a:r>
          </a:p>
          <a:p>
            <a:pPr>
              <a:buFontTx/>
              <a:buNone/>
            </a:pPr>
            <a:endParaRPr lang="zh-CN" altLang="en-US" sz="2000"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f7c158a-347f-4003-8b2b-0d038543c948"/>
  <p:tag name="COMMONDATA" val="eyJoZGlkIjoiY2Y2Yjk0MTRhNDE3ODVjMmEwNjgxMjAyZTMxMTkzO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2182</Words>
  <Application>Microsoft Office PowerPoint</Application>
  <PresentationFormat>全屏显示(4:3)</PresentationFormat>
  <Paragraphs>199</Paragraphs>
  <Slides>28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Monotype Sorts</vt:lpstr>
      <vt:lpstr>仿宋_GB2312</vt:lpstr>
      <vt:lpstr>华文行楷</vt:lpstr>
      <vt:lpstr>楷体_GB2312</vt:lpstr>
      <vt:lpstr>隶书</vt:lpstr>
      <vt:lpstr>宋体</vt:lpstr>
      <vt:lpstr>Arial</vt:lpstr>
      <vt:lpstr>Arial Narrow</vt:lpstr>
      <vt:lpstr>Symbol</vt:lpstr>
      <vt:lpstr>Times New Roman</vt:lpstr>
      <vt:lpstr>Wingdings</vt:lpstr>
      <vt:lpstr>默认设计模板</vt:lpstr>
      <vt:lpstr>1_默认设计模板</vt:lpstr>
      <vt:lpstr>Equation.3</vt:lpstr>
      <vt:lpstr>Visio.Drawing.5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 三角矩阵</vt:lpstr>
      <vt:lpstr>3. 对角矩阵（带状矩阵）</vt:lpstr>
      <vt:lpstr>PowerPoint 演示文稿</vt:lpstr>
      <vt:lpstr> 稀疏矩阵</vt:lpstr>
      <vt:lpstr>三列二维数组表示 </vt:lpstr>
      <vt:lpstr>PowerPoint 演示文稿</vt:lpstr>
      <vt:lpstr>PowerPoint 演示文稿</vt:lpstr>
      <vt:lpstr>PowerPoint 演示文稿</vt:lpstr>
      <vt:lpstr>PowerPoint 演示文稿</vt:lpstr>
      <vt:lpstr>练习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744311194@qq.com</cp:lastModifiedBy>
  <cp:revision>1085</cp:revision>
  <dcterms:created xsi:type="dcterms:W3CDTF">1996-07-15T15:40:02Z</dcterms:created>
  <dcterms:modified xsi:type="dcterms:W3CDTF">2025-04-16T01:17:23Z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84AEC2C7D7E34FAD98B274843E5C3FE0</vt:lpwstr>
  </property>
</Properties>
</file>