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1002" r:id="rId2"/>
    <p:sldId id="1005" r:id="rId3"/>
    <p:sldId id="1081" r:id="rId4"/>
    <p:sldId id="1042" r:id="rId5"/>
    <p:sldId id="1045" r:id="rId6"/>
    <p:sldId id="1048" r:id="rId7"/>
    <p:sldId id="1053" r:id="rId8"/>
    <p:sldId id="1054" r:id="rId9"/>
    <p:sldId id="1049" r:id="rId10"/>
    <p:sldId id="1050" r:id="rId11"/>
    <p:sldId id="1051" r:id="rId12"/>
    <p:sldId id="1159" r:id="rId13"/>
    <p:sldId id="1160" r:id="rId14"/>
    <p:sldId id="1013" r:id="rId15"/>
    <p:sldId id="1055" r:id="rId16"/>
    <p:sldId id="1056" r:id="rId17"/>
    <p:sldId id="1057" r:id="rId18"/>
    <p:sldId id="1058" r:id="rId19"/>
    <p:sldId id="1059" r:id="rId20"/>
    <p:sldId id="1060" r:id="rId21"/>
    <p:sldId id="1092" r:id="rId22"/>
    <p:sldId id="868" r:id="rId23"/>
    <p:sldId id="870" r:id="rId24"/>
    <p:sldId id="871" r:id="rId25"/>
    <p:sldId id="1061" r:id="rId26"/>
    <p:sldId id="1094" r:id="rId27"/>
    <p:sldId id="1063" r:id="rId28"/>
    <p:sldId id="1083" r:id="rId29"/>
    <p:sldId id="1084" r:id="rId30"/>
    <p:sldId id="1162" r:id="rId31"/>
    <p:sldId id="1166" r:id="rId32"/>
    <p:sldId id="1164" r:id="rId33"/>
    <p:sldId id="1165" r:id="rId34"/>
    <p:sldId id="1017" r:id="rId35"/>
    <p:sldId id="874" r:id="rId36"/>
    <p:sldId id="967" r:id="rId37"/>
    <p:sldId id="875" r:id="rId38"/>
    <p:sldId id="1018" r:id="rId39"/>
    <p:sldId id="1086" r:id="rId40"/>
    <p:sldId id="1027" r:id="rId41"/>
    <p:sldId id="1065" r:id="rId42"/>
    <p:sldId id="1066" r:id="rId43"/>
    <p:sldId id="877" r:id="rId44"/>
    <p:sldId id="1021" r:id="rId45"/>
    <p:sldId id="1020" r:id="rId46"/>
    <p:sldId id="1152" r:id="rId47"/>
    <p:sldId id="1036" r:id="rId48"/>
    <p:sldId id="880" r:id="rId49"/>
    <p:sldId id="1140" r:id="rId50"/>
    <p:sldId id="881" r:id="rId51"/>
    <p:sldId id="1070" r:id="rId52"/>
    <p:sldId id="980" r:id="rId53"/>
    <p:sldId id="1141" r:id="rId54"/>
    <p:sldId id="1099" r:id="rId55"/>
    <p:sldId id="1167" r:id="rId56"/>
    <p:sldId id="1039" r:id="rId57"/>
    <p:sldId id="1137" r:id="rId58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CC99"/>
    <a:srgbClr val="92E9D4"/>
    <a:srgbClr val="FF3300"/>
    <a:srgbClr val="FFFFE7"/>
    <a:srgbClr val="99FFCC"/>
    <a:srgbClr val="CCFFCC"/>
    <a:srgbClr val="009999"/>
    <a:srgbClr val="CC00CC"/>
    <a:srgbClr val="CC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27397-0747-45F4-B0ED-AC22C3579B1A}" v="84" dt="2025-04-16T07:20:30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6296" autoAdjust="0"/>
  </p:normalViewPr>
  <p:slideViewPr>
    <p:cSldViewPr snapToObjects="1" showGuides="1">
      <p:cViewPr>
        <p:scale>
          <a:sx n="88" d="100"/>
          <a:sy n="88" d="100"/>
        </p:scale>
        <p:origin x="1740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1" d="100"/>
          <a:sy n="51" d="100"/>
        </p:scale>
        <p:origin x="-2744" y="-8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58E27397-0747-45F4-B0ED-AC22C3579B1A}"/>
    <pc:docChg chg="undo custSel addSld delSld modSld sldOrd">
      <pc:chgData name="744311194@qq.com" userId="e2a28223f2085f4b" providerId="LiveId" clId="{58E27397-0747-45F4-B0ED-AC22C3579B1A}" dt="2025-04-23T03:23:48.994" v="5088" actId="47"/>
      <pc:docMkLst>
        <pc:docMk/>
      </pc:docMkLst>
      <pc:sldChg chg="addSp modSp mod">
        <pc:chgData name="744311194@qq.com" userId="e2a28223f2085f4b" providerId="LiveId" clId="{58E27397-0747-45F4-B0ED-AC22C3579B1A}" dt="2025-04-16T04:49:03.298" v="1018" actId="1076"/>
        <pc:sldMkLst>
          <pc:docMk/>
          <pc:sldMk cId="0" sldId="870"/>
        </pc:sldMkLst>
        <pc:spChg chg="add mod">
          <ac:chgData name="744311194@qq.com" userId="e2a28223f2085f4b" providerId="LiveId" clId="{58E27397-0747-45F4-B0ED-AC22C3579B1A}" dt="2025-04-16T04:49:03.298" v="1018" actId="1076"/>
          <ac:spMkLst>
            <pc:docMk/>
            <pc:sldMk cId="0" sldId="870"/>
            <ac:spMk id="2" creationId="{505CBF08-893E-40D0-0E0D-57AD7C3D9A2D}"/>
          </ac:spMkLst>
        </pc:spChg>
        <pc:spChg chg="mod">
          <ac:chgData name="744311194@qq.com" userId="e2a28223f2085f4b" providerId="LiveId" clId="{58E27397-0747-45F4-B0ED-AC22C3579B1A}" dt="2025-04-16T04:45:43.582" v="802" actId="13926"/>
          <ac:spMkLst>
            <pc:docMk/>
            <pc:sldMk cId="0" sldId="870"/>
            <ac:spMk id="4098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45:13.441" v="796" actId="13926"/>
          <ac:spMkLst>
            <pc:docMk/>
            <pc:sldMk cId="0" sldId="870"/>
            <ac:spMk id="4098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27:31.440" v="793" actId="13926"/>
          <ac:spMkLst>
            <pc:docMk/>
            <pc:sldMk cId="0" sldId="870"/>
            <ac:spMk id="4099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45:04.198" v="795" actId="13926"/>
          <ac:spMkLst>
            <pc:docMk/>
            <pc:sldMk cId="0" sldId="870"/>
            <ac:spMk id="747568" creationId="{00000000-0000-0000-0000-000000000000}"/>
          </ac:spMkLst>
        </pc:spChg>
        <pc:graphicFrameChg chg="modGraphic">
          <ac:chgData name="744311194@qq.com" userId="e2a28223f2085f4b" providerId="LiveId" clId="{58E27397-0747-45F4-B0ED-AC22C3579B1A}" dt="2025-04-16T04:45:39.244" v="801" actId="13926"/>
          <ac:graphicFrameMkLst>
            <pc:docMk/>
            <pc:sldMk cId="0" sldId="870"/>
            <ac:graphicFrameMk id="747569" creationId="{00000000-0000-0000-0000-000000000000}"/>
          </ac:graphicFrameMkLst>
        </pc:graphicFrameChg>
        <pc:graphicFrameChg chg="modGraphic">
          <ac:chgData name="744311194@qq.com" userId="e2a28223f2085f4b" providerId="LiveId" clId="{58E27397-0747-45F4-B0ED-AC22C3579B1A}" dt="2025-04-16T04:45:26.219" v="799" actId="13926"/>
          <ac:graphicFrameMkLst>
            <pc:docMk/>
            <pc:sldMk cId="0" sldId="870"/>
            <ac:graphicFrameMk id="747579" creationId="{00000000-0000-0000-0000-000000000000}"/>
          </ac:graphicFrameMkLst>
        </pc:graphicFrameChg>
      </pc:sldChg>
      <pc:sldChg chg="addSp modSp mod">
        <pc:chgData name="744311194@qq.com" userId="e2a28223f2085f4b" providerId="LiveId" clId="{58E27397-0747-45F4-B0ED-AC22C3579B1A}" dt="2025-04-16T04:49:30.379" v="1069" actId="13926"/>
        <pc:sldMkLst>
          <pc:docMk/>
          <pc:sldMk cId="0" sldId="871"/>
        </pc:sldMkLst>
        <pc:spChg chg="add mod">
          <ac:chgData name="744311194@qq.com" userId="e2a28223f2085f4b" providerId="LiveId" clId="{58E27397-0747-45F4-B0ED-AC22C3579B1A}" dt="2025-04-16T04:49:30.379" v="1069" actId="13926"/>
          <ac:spMkLst>
            <pc:docMk/>
            <pc:sldMk cId="0" sldId="871"/>
            <ac:spMk id="7" creationId="{C11E0A9C-64F8-AD56-D458-B0C9D130F140}"/>
          </ac:spMkLst>
        </pc:spChg>
        <pc:spChg chg="mod">
          <ac:chgData name="744311194@qq.com" userId="e2a28223f2085f4b" providerId="LiveId" clId="{58E27397-0747-45F4-B0ED-AC22C3579B1A}" dt="2025-04-16T04:45:56.685" v="804" actId="13926"/>
          <ac:spMkLst>
            <pc:docMk/>
            <pc:sldMk cId="0" sldId="871"/>
            <ac:spMk id="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45:53.152" v="803" actId="13926"/>
          <ac:spMkLst>
            <pc:docMk/>
            <pc:sldMk cId="0" sldId="871"/>
            <ac:spMk id="4202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46:42.683" v="865" actId="13926"/>
          <ac:spMkLst>
            <pc:docMk/>
            <pc:sldMk cId="0" sldId="871"/>
            <ac:spMk id="74886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46:48.869" v="866" actId="13926"/>
          <ac:spMkLst>
            <pc:docMk/>
            <pc:sldMk cId="0" sldId="871"/>
            <ac:spMk id="748865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6:57:51.742" v="3380" actId="13926"/>
        <pc:sldMkLst>
          <pc:docMk/>
          <pc:sldMk cId="0" sldId="875"/>
        </pc:sldMkLst>
        <pc:spChg chg="mod">
          <ac:chgData name="744311194@qq.com" userId="e2a28223f2085f4b" providerId="LiveId" clId="{58E27397-0747-45F4-B0ED-AC22C3579B1A}" dt="2025-04-16T06:57:51.742" v="3380" actId="13926"/>
          <ac:spMkLst>
            <pc:docMk/>
            <pc:sldMk cId="0" sldId="875"/>
            <ac:spMk id="752661" creationId="{00000000-0000-0000-0000-000000000000}"/>
          </ac:spMkLst>
        </pc:spChg>
      </pc:sldChg>
      <pc:sldChg chg="modSp">
        <pc:chgData name="744311194@qq.com" userId="e2a28223f2085f4b" providerId="LiveId" clId="{58E27397-0747-45F4-B0ED-AC22C3579B1A}" dt="2025-04-16T06:59:44.310" v="3391" actId="13926"/>
        <pc:sldMkLst>
          <pc:docMk/>
          <pc:sldMk cId="0" sldId="877"/>
        </pc:sldMkLst>
        <pc:spChg chg="mod">
          <ac:chgData name="744311194@qq.com" userId="e2a28223f2085f4b" providerId="LiveId" clId="{58E27397-0747-45F4-B0ED-AC22C3579B1A}" dt="2025-04-16T06:59:44.310" v="3391" actId="13926"/>
          <ac:spMkLst>
            <pc:docMk/>
            <pc:sldMk cId="0" sldId="877"/>
            <ac:spMk id="754699" creationId="{00000000-0000-0000-0000-000000000000}"/>
          </ac:spMkLst>
        </pc:spChg>
      </pc:sldChg>
      <pc:sldChg chg="modSp">
        <pc:chgData name="744311194@qq.com" userId="e2a28223f2085f4b" providerId="LiveId" clId="{58E27397-0747-45F4-B0ED-AC22C3579B1A}" dt="2025-04-16T07:01:30.412" v="3397" actId="13926"/>
        <pc:sldMkLst>
          <pc:docMk/>
          <pc:sldMk cId="0" sldId="880"/>
        </pc:sldMkLst>
        <pc:spChg chg="mod">
          <ac:chgData name="744311194@qq.com" userId="e2a28223f2085f4b" providerId="LiveId" clId="{58E27397-0747-45F4-B0ED-AC22C3579B1A}" dt="2025-04-16T07:01:30.412" v="3397" actId="13926"/>
          <ac:spMkLst>
            <pc:docMk/>
            <pc:sldMk cId="0" sldId="880"/>
            <ac:spMk id="757781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7:08:29.350" v="3976" actId="13926"/>
        <pc:sldMkLst>
          <pc:docMk/>
          <pc:sldMk cId="0" sldId="881"/>
        </pc:sldMkLst>
        <pc:spChg chg="mod">
          <ac:chgData name="744311194@qq.com" userId="e2a28223f2085f4b" providerId="LiveId" clId="{58E27397-0747-45F4-B0ED-AC22C3579B1A}" dt="2025-04-16T07:08:29.350" v="3976" actId="13926"/>
          <ac:spMkLst>
            <pc:docMk/>
            <pc:sldMk cId="0" sldId="881"/>
            <ac:spMk id="758798" creationId="{00000000-0000-0000-0000-000000000000}"/>
          </ac:spMkLst>
        </pc:spChg>
      </pc:sldChg>
      <pc:sldChg chg="del">
        <pc:chgData name="744311194@qq.com" userId="e2a28223f2085f4b" providerId="LiveId" clId="{58E27397-0747-45F4-B0ED-AC22C3579B1A}" dt="2025-04-16T05:09:12.543" v="2242" actId="47"/>
        <pc:sldMkLst>
          <pc:docMk/>
          <pc:sldMk cId="0" sldId="921"/>
        </pc:sldMkLst>
      </pc:sldChg>
      <pc:sldChg chg="modSp mod">
        <pc:chgData name="744311194@qq.com" userId="e2a28223f2085f4b" providerId="LiveId" clId="{58E27397-0747-45F4-B0ED-AC22C3579B1A}" dt="2025-04-16T07:09:18.053" v="3994" actId="13926"/>
        <pc:sldMkLst>
          <pc:docMk/>
          <pc:sldMk cId="0" sldId="980"/>
        </pc:sldMkLst>
        <pc:spChg chg="mod">
          <ac:chgData name="744311194@qq.com" userId="e2a28223f2085f4b" providerId="LiveId" clId="{58E27397-0747-45F4-B0ED-AC22C3579B1A}" dt="2025-04-16T07:08:57.967" v="3992" actId="13926"/>
          <ac:spMkLst>
            <pc:docMk/>
            <pc:sldMk cId="0" sldId="980"/>
            <ac:spMk id="103427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9:18.053" v="3994" actId="13926"/>
          <ac:spMkLst>
            <pc:docMk/>
            <pc:sldMk cId="0" sldId="980"/>
            <ac:spMk id="861193" creationId="{00000000-0000-0000-0000-000000000000}"/>
          </ac:spMkLst>
        </pc:spChg>
      </pc:sldChg>
      <pc:sldChg chg="del">
        <pc:chgData name="744311194@qq.com" userId="e2a28223f2085f4b" providerId="LiveId" clId="{58E27397-0747-45F4-B0ED-AC22C3579B1A}" dt="2025-04-16T05:09:37.710" v="2243" actId="47"/>
        <pc:sldMkLst>
          <pc:docMk/>
          <pc:sldMk cId="0" sldId="981"/>
        </pc:sldMkLst>
      </pc:sldChg>
      <pc:sldChg chg="del">
        <pc:chgData name="744311194@qq.com" userId="e2a28223f2085f4b" providerId="LiveId" clId="{58E27397-0747-45F4-B0ED-AC22C3579B1A}" dt="2025-04-16T03:19:16.346" v="0" actId="47"/>
        <pc:sldMkLst>
          <pc:docMk/>
          <pc:sldMk cId="0" sldId="1003"/>
        </pc:sldMkLst>
      </pc:sldChg>
      <pc:sldChg chg="del">
        <pc:chgData name="744311194@qq.com" userId="e2a28223f2085f4b" providerId="LiveId" clId="{58E27397-0747-45F4-B0ED-AC22C3579B1A}" dt="2025-04-16T03:19:17.524" v="1" actId="47"/>
        <pc:sldMkLst>
          <pc:docMk/>
          <pc:sldMk cId="0" sldId="1004"/>
        </pc:sldMkLst>
      </pc:sldChg>
      <pc:sldChg chg="modSp mod">
        <pc:chgData name="744311194@qq.com" userId="e2a28223f2085f4b" providerId="LiveId" clId="{58E27397-0747-45F4-B0ED-AC22C3579B1A}" dt="2025-04-16T04:06:53.134" v="4" actId="13926"/>
        <pc:sldMkLst>
          <pc:docMk/>
          <pc:sldMk cId="0" sldId="1005"/>
        </pc:sldMkLst>
        <pc:spChg chg="mod">
          <ac:chgData name="744311194@qq.com" userId="e2a28223f2085f4b" providerId="LiveId" clId="{58E27397-0747-45F4-B0ED-AC22C3579B1A}" dt="2025-04-16T04:06:53.134" v="4" actId="13926"/>
          <ac:spMkLst>
            <pc:docMk/>
            <pc:sldMk cId="0" sldId="1005"/>
            <ac:spMk id="2055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16:56.225" v="240" actId="20577"/>
        <pc:sldMkLst>
          <pc:docMk/>
          <pc:sldMk cId="0" sldId="1013"/>
        </pc:sldMkLst>
        <pc:spChg chg="mod">
          <ac:chgData name="744311194@qq.com" userId="e2a28223f2085f4b" providerId="LiveId" clId="{58E27397-0747-45F4-B0ED-AC22C3579B1A}" dt="2025-04-16T04:16:56.225" v="240" actId="20577"/>
          <ac:spMkLst>
            <pc:docMk/>
            <pc:sldMk cId="0" sldId="1013"/>
            <ac:spMk id="31746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6:56:42.999" v="3375" actId="13926"/>
        <pc:sldMkLst>
          <pc:docMk/>
          <pc:sldMk cId="0" sldId="1017"/>
        </pc:sldMkLst>
        <pc:spChg chg="mod">
          <ac:chgData name="744311194@qq.com" userId="e2a28223f2085f4b" providerId="LiveId" clId="{58E27397-0747-45F4-B0ED-AC22C3579B1A}" dt="2025-04-16T06:56:39.046" v="3374" actId="13926"/>
          <ac:spMkLst>
            <pc:docMk/>
            <pc:sldMk cId="0" sldId="1017"/>
            <ac:spMk id="90419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6:56:42.999" v="3375" actId="13926"/>
          <ac:spMkLst>
            <pc:docMk/>
            <pc:sldMk cId="0" sldId="1017"/>
            <ac:spMk id="904200" creationId="{00000000-0000-0000-0000-000000000000}"/>
          </ac:spMkLst>
        </pc:spChg>
      </pc:sldChg>
      <pc:sldChg chg="addSp modSp mod modAnim">
        <pc:chgData name="744311194@qq.com" userId="e2a28223f2085f4b" providerId="LiveId" clId="{58E27397-0747-45F4-B0ED-AC22C3579B1A}" dt="2025-04-16T06:59:08.214" v="3388" actId="1076"/>
        <pc:sldMkLst>
          <pc:docMk/>
          <pc:sldMk cId="0" sldId="1018"/>
        </pc:sldMkLst>
        <pc:spChg chg="add mod">
          <ac:chgData name="744311194@qq.com" userId="e2a28223f2085f4b" providerId="LiveId" clId="{58E27397-0747-45F4-B0ED-AC22C3579B1A}" dt="2025-04-16T06:59:08.214" v="3388" actId="1076"/>
          <ac:spMkLst>
            <pc:docMk/>
            <pc:sldMk cId="0" sldId="1018"/>
            <ac:spMk id="1045524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7:00:05.618" v="3393" actId="13926"/>
        <pc:sldMkLst>
          <pc:docMk/>
          <pc:sldMk cId="0" sldId="1020"/>
        </pc:sldMkLst>
        <pc:spChg chg="mod">
          <ac:chgData name="744311194@qq.com" userId="e2a28223f2085f4b" providerId="LiveId" clId="{58E27397-0747-45F4-B0ED-AC22C3579B1A}" dt="2025-04-16T07:00:00.715" v="3392" actId="13926"/>
          <ac:spMkLst>
            <pc:docMk/>
            <pc:sldMk cId="0" sldId="1020"/>
            <ac:spMk id="72706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0:05.618" v="3393" actId="13926"/>
          <ac:spMkLst>
            <pc:docMk/>
            <pc:sldMk cId="0" sldId="1020"/>
            <ac:spMk id="907283" creationId="{00000000-0000-0000-0000-000000000000}"/>
          </ac:spMkLst>
        </pc:spChg>
      </pc:sldChg>
      <pc:sldChg chg="modSp">
        <pc:chgData name="744311194@qq.com" userId="e2a28223f2085f4b" providerId="LiveId" clId="{58E27397-0747-45F4-B0ED-AC22C3579B1A}" dt="2025-04-16T07:00:20.727" v="3394" actId="13926"/>
        <pc:sldMkLst>
          <pc:docMk/>
          <pc:sldMk cId="0" sldId="1036"/>
        </pc:sldMkLst>
        <pc:spChg chg="mod">
          <ac:chgData name="744311194@qq.com" userId="e2a28223f2085f4b" providerId="LiveId" clId="{58E27397-0747-45F4-B0ED-AC22C3579B1A}" dt="2025-04-16T07:00:20.727" v="3394" actId="13926"/>
          <ac:spMkLst>
            <pc:docMk/>
            <pc:sldMk cId="0" sldId="1036"/>
            <ac:spMk id="933943" creationId="{00000000-0000-0000-0000-000000000000}"/>
          </ac:spMkLst>
        </pc:spChg>
      </pc:sldChg>
      <pc:sldChg chg="del">
        <pc:chgData name="744311194@qq.com" userId="e2a28223f2085f4b" providerId="LiveId" clId="{58E27397-0747-45F4-B0ED-AC22C3579B1A}" dt="2025-04-16T07:15:23.353" v="4234" actId="47"/>
        <pc:sldMkLst>
          <pc:docMk/>
          <pc:sldMk cId="0" sldId="1038"/>
        </pc:sldMkLst>
      </pc:sldChg>
      <pc:sldChg chg="addSp modSp mod">
        <pc:chgData name="744311194@qq.com" userId="e2a28223f2085f4b" providerId="LiveId" clId="{58E27397-0747-45F4-B0ED-AC22C3579B1A}" dt="2025-04-16T07:24:46.818" v="5078" actId="1076"/>
        <pc:sldMkLst>
          <pc:docMk/>
          <pc:sldMk cId="0" sldId="1039"/>
        </pc:sldMkLst>
        <pc:spChg chg="add mod">
          <ac:chgData name="744311194@qq.com" userId="e2a28223f2085f4b" providerId="LiveId" clId="{58E27397-0747-45F4-B0ED-AC22C3579B1A}" dt="2025-04-16T07:24:46.818" v="5078" actId="1076"/>
          <ac:spMkLst>
            <pc:docMk/>
            <pc:sldMk cId="0" sldId="1039"/>
            <ac:spMk id="9" creationId="{B839FCD0-7D54-41EE-8363-440B75D368EB}"/>
          </ac:spMkLst>
        </pc:spChg>
      </pc:sldChg>
      <pc:sldChg chg="modSp mod">
        <pc:chgData name="744311194@qq.com" userId="e2a28223f2085f4b" providerId="LiveId" clId="{58E27397-0747-45F4-B0ED-AC22C3579B1A}" dt="2025-04-16T04:08:47.646" v="18" actId="13926"/>
        <pc:sldMkLst>
          <pc:docMk/>
          <pc:sldMk cId="0" sldId="1042"/>
        </pc:sldMkLst>
        <pc:spChg chg="mod">
          <ac:chgData name="744311194@qq.com" userId="e2a28223f2085f4b" providerId="LiveId" clId="{58E27397-0747-45F4-B0ED-AC22C3579B1A}" dt="2025-04-16T04:08:47.646" v="18" actId="13926"/>
          <ac:spMkLst>
            <pc:docMk/>
            <pc:sldMk cId="0" sldId="1042"/>
            <ac:spMk id="21506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13:46.093" v="77" actId="13926"/>
        <pc:sldMkLst>
          <pc:docMk/>
          <pc:sldMk cId="0" sldId="1045"/>
        </pc:sldMkLst>
        <pc:spChg chg="mod">
          <ac:chgData name="744311194@qq.com" userId="e2a28223f2085f4b" providerId="LiveId" clId="{58E27397-0747-45F4-B0ED-AC22C3579B1A}" dt="2025-04-16T04:13:02.153" v="50" actId="14100"/>
          <ac:spMkLst>
            <pc:docMk/>
            <pc:sldMk cId="0" sldId="1045"/>
            <ac:spMk id="22530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3:39.001" v="76" actId="13926"/>
          <ac:spMkLst>
            <pc:docMk/>
            <pc:sldMk cId="0" sldId="1045"/>
            <ac:spMk id="94310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3:46.093" v="77" actId="13926"/>
          <ac:spMkLst>
            <pc:docMk/>
            <pc:sldMk cId="0" sldId="1045"/>
            <ac:spMk id="943110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3:24.789" v="73" actId="1076"/>
          <ac:spMkLst>
            <pc:docMk/>
            <pc:sldMk cId="0" sldId="1045"/>
            <ac:spMk id="943123" creationId="{00000000-0000-0000-0000-000000000000}"/>
          </ac:spMkLst>
        </pc:spChg>
        <pc:grpChg chg="mod">
          <ac:chgData name="744311194@qq.com" userId="e2a28223f2085f4b" providerId="LiveId" clId="{58E27397-0747-45F4-B0ED-AC22C3579B1A}" dt="2025-04-16T04:13:27.901" v="74" actId="1076"/>
          <ac:grpSpMkLst>
            <pc:docMk/>
            <pc:sldMk cId="0" sldId="1045"/>
            <ac:grpSpMk id="2" creationId="{00000000-0000-0000-0000-000000000000}"/>
          </ac:grpSpMkLst>
        </pc:grpChg>
      </pc:sldChg>
      <pc:sldChg chg="modSp mod">
        <pc:chgData name="744311194@qq.com" userId="e2a28223f2085f4b" providerId="LiveId" clId="{58E27397-0747-45F4-B0ED-AC22C3579B1A}" dt="2025-04-16T04:14:23.023" v="115" actId="20577"/>
        <pc:sldMkLst>
          <pc:docMk/>
          <pc:sldMk cId="0" sldId="1048"/>
        </pc:sldMkLst>
        <pc:spChg chg="mod">
          <ac:chgData name="744311194@qq.com" userId="e2a28223f2085f4b" providerId="LiveId" clId="{58E27397-0747-45F4-B0ED-AC22C3579B1A}" dt="2025-04-16T04:14:23.023" v="115" actId="20577"/>
          <ac:spMkLst>
            <pc:docMk/>
            <pc:sldMk cId="0" sldId="1048"/>
            <ac:spMk id="23554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16:12.743" v="203" actId="1076"/>
        <pc:sldMkLst>
          <pc:docMk/>
          <pc:sldMk cId="0" sldId="1049"/>
        </pc:sldMkLst>
        <pc:spChg chg="mod">
          <ac:chgData name="744311194@qq.com" userId="e2a28223f2085f4b" providerId="LiveId" clId="{58E27397-0747-45F4-B0ED-AC22C3579B1A}" dt="2025-04-16T04:16:12.743" v="203" actId="1076"/>
          <ac:spMkLst>
            <pc:docMk/>
            <pc:sldMk cId="0" sldId="1049"/>
            <ac:spMk id="26627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7.999" v="201" actId="1076"/>
          <ac:spMkLst>
            <pc:docMk/>
            <pc:sldMk cId="0" sldId="1049"/>
            <ac:spMk id="2662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5:57.024" v="198" actId="20577"/>
          <ac:spMkLst>
            <pc:docMk/>
            <pc:sldMk cId="0" sldId="1049"/>
            <ac:spMk id="2663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5.733" v="200" actId="1076"/>
          <ac:spMkLst>
            <pc:docMk/>
            <pc:sldMk cId="0" sldId="1049"/>
            <ac:spMk id="2663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5.733" v="200" actId="1076"/>
          <ac:spMkLst>
            <pc:docMk/>
            <pc:sldMk cId="0" sldId="1049"/>
            <ac:spMk id="2664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5.733" v="200" actId="1076"/>
          <ac:spMkLst>
            <pc:docMk/>
            <pc:sldMk cId="0" sldId="1049"/>
            <ac:spMk id="2664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5.733" v="200" actId="1076"/>
          <ac:spMkLst>
            <pc:docMk/>
            <pc:sldMk cId="0" sldId="1049"/>
            <ac:spMk id="26643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5.733" v="200" actId="1076"/>
          <ac:spMkLst>
            <pc:docMk/>
            <pc:sldMk cId="0" sldId="1049"/>
            <ac:spMk id="2664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3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5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6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5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6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01.505" v="199" actId="1076"/>
          <ac:spMkLst>
            <pc:docMk/>
            <pc:sldMk cId="0" sldId="1049"/>
            <ac:spMk id="2666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7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7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3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5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7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16:10.135" v="202" actId="1076"/>
          <ac:spMkLst>
            <pc:docMk/>
            <pc:sldMk cId="0" sldId="1049"/>
            <ac:spMk id="26689" creationId="{00000000-0000-0000-0000-000000000000}"/>
          </ac:spMkLst>
        </pc:spChg>
        <pc:grpChg chg="mod">
          <ac:chgData name="744311194@qq.com" userId="e2a28223f2085f4b" providerId="LiveId" clId="{58E27397-0747-45F4-B0ED-AC22C3579B1A}" dt="2025-04-16T04:16:05.733" v="200" actId="1076"/>
          <ac:grpSpMkLst>
            <pc:docMk/>
            <pc:sldMk cId="0" sldId="1049"/>
            <ac:grpSpMk id="26633" creationId="{00000000-0000-0000-0000-000000000000}"/>
          </ac:grpSpMkLst>
        </pc:grpChg>
        <pc:grpChg chg="mod">
          <ac:chgData name="744311194@qq.com" userId="e2a28223f2085f4b" providerId="LiveId" clId="{58E27397-0747-45F4-B0ED-AC22C3579B1A}" dt="2025-04-16T04:16:05.733" v="200" actId="1076"/>
          <ac:grpSpMkLst>
            <pc:docMk/>
            <pc:sldMk cId="0" sldId="1049"/>
            <ac:grpSpMk id="26639" creationId="{00000000-0000-0000-0000-000000000000}"/>
          </ac:grpSpMkLst>
        </pc:grpChg>
        <pc:grpChg chg="mod">
          <ac:chgData name="744311194@qq.com" userId="e2a28223f2085f4b" providerId="LiveId" clId="{58E27397-0747-45F4-B0ED-AC22C3579B1A}" dt="2025-04-16T04:16:05.733" v="200" actId="1076"/>
          <ac:grpSpMkLst>
            <pc:docMk/>
            <pc:sldMk cId="0" sldId="1049"/>
            <ac:grpSpMk id="26640" creationId="{00000000-0000-0000-0000-000000000000}"/>
          </ac:grpSpMkLst>
        </pc:grpChg>
      </pc:sldChg>
      <pc:sldChg chg="modSp mod">
        <pc:chgData name="744311194@qq.com" userId="e2a28223f2085f4b" providerId="LiveId" clId="{58E27397-0747-45F4-B0ED-AC22C3579B1A}" dt="2025-04-16T04:16:18.175" v="204" actId="13926"/>
        <pc:sldMkLst>
          <pc:docMk/>
          <pc:sldMk cId="0" sldId="1050"/>
        </pc:sldMkLst>
        <pc:spChg chg="mod">
          <ac:chgData name="744311194@qq.com" userId="e2a28223f2085f4b" providerId="LiveId" clId="{58E27397-0747-45F4-B0ED-AC22C3579B1A}" dt="2025-04-16T04:16:18.175" v="204" actId="13926"/>
          <ac:spMkLst>
            <pc:docMk/>
            <pc:sldMk cId="0" sldId="1050"/>
            <ac:spMk id="27650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16:40.990" v="207" actId="13926"/>
        <pc:sldMkLst>
          <pc:docMk/>
          <pc:sldMk cId="0" sldId="1051"/>
        </pc:sldMkLst>
        <pc:spChg chg="mod">
          <ac:chgData name="744311194@qq.com" userId="e2a28223f2085f4b" providerId="LiveId" clId="{58E27397-0747-45F4-B0ED-AC22C3579B1A}" dt="2025-04-16T04:16:40.990" v="207" actId="13926"/>
          <ac:spMkLst>
            <pc:docMk/>
            <pc:sldMk cId="0" sldId="1051"/>
            <ac:spMk id="949252" creationId="{00000000-0000-0000-0000-000000000000}"/>
          </ac:spMkLst>
        </pc:spChg>
      </pc:sldChg>
      <pc:sldChg chg="addSp modSp mod">
        <pc:chgData name="744311194@qq.com" userId="e2a28223f2085f4b" providerId="LiveId" clId="{58E27397-0747-45F4-B0ED-AC22C3579B1A}" dt="2025-04-16T04:15:08.890" v="146" actId="13926"/>
        <pc:sldMkLst>
          <pc:docMk/>
          <pc:sldMk cId="0" sldId="1053"/>
        </pc:sldMkLst>
        <pc:spChg chg="add mod">
          <ac:chgData name="744311194@qq.com" userId="e2a28223f2085f4b" providerId="LiveId" clId="{58E27397-0747-45F4-B0ED-AC22C3579B1A}" dt="2025-04-16T04:15:00.223" v="145" actId="313"/>
          <ac:spMkLst>
            <pc:docMk/>
            <pc:sldMk cId="0" sldId="1053"/>
            <ac:spMk id="2" creationId="{9BF4E5F1-81FA-B0DB-B0CE-2B45B182B5E6}"/>
          </ac:spMkLst>
        </pc:spChg>
        <pc:spChg chg="mod">
          <ac:chgData name="744311194@qq.com" userId="e2a28223f2085f4b" providerId="LiveId" clId="{58E27397-0747-45F4-B0ED-AC22C3579B1A}" dt="2025-04-16T04:15:08.890" v="146" actId="13926"/>
          <ac:spMkLst>
            <pc:docMk/>
            <pc:sldMk cId="0" sldId="1053"/>
            <ac:spMk id="24588" creationId="{00000000-0000-0000-0000-000000000000}"/>
          </ac:spMkLst>
        </pc:spChg>
      </pc:sldChg>
      <pc:sldChg chg="addSp modSp mod">
        <pc:chgData name="744311194@qq.com" userId="e2a28223f2085f4b" providerId="LiveId" clId="{58E27397-0747-45F4-B0ED-AC22C3579B1A}" dt="2025-04-16T04:17:49.908" v="332" actId="20577"/>
        <pc:sldMkLst>
          <pc:docMk/>
          <pc:sldMk cId="0" sldId="1055"/>
        </pc:sldMkLst>
        <pc:spChg chg="add mod">
          <ac:chgData name="744311194@qq.com" userId="e2a28223f2085f4b" providerId="LiveId" clId="{58E27397-0747-45F4-B0ED-AC22C3579B1A}" dt="2025-04-16T04:17:49.908" v="332" actId="20577"/>
          <ac:spMkLst>
            <pc:docMk/>
            <pc:sldMk cId="0" sldId="1055"/>
            <ac:spMk id="2" creationId="{C49E3FDD-59A1-5633-4033-E91746166AE2}"/>
          </ac:spMkLst>
        </pc:spChg>
      </pc:sldChg>
      <pc:sldChg chg="modSp mod">
        <pc:chgData name="744311194@qq.com" userId="e2a28223f2085f4b" providerId="LiveId" clId="{58E27397-0747-45F4-B0ED-AC22C3579B1A}" dt="2025-04-16T04:21:42.255" v="481" actId="207"/>
        <pc:sldMkLst>
          <pc:docMk/>
          <pc:sldMk cId="0" sldId="1056"/>
        </pc:sldMkLst>
        <pc:spChg chg="mod">
          <ac:chgData name="744311194@qq.com" userId="e2a28223f2085f4b" providerId="LiveId" clId="{58E27397-0747-45F4-B0ED-AC22C3579B1A}" dt="2025-04-16T04:21:42.255" v="481" actId="207"/>
          <ac:spMkLst>
            <pc:docMk/>
            <pc:sldMk cId="0" sldId="1056"/>
            <ac:spMk id="954397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23:30.191" v="523" actId="13926"/>
        <pc:sldMkLst>
          <pc:docMk/>
          <pc:sldMk cId="0" sldId="1057"/>
        </pc:sldMkLst>
        <pc:spChg chg="mod">
          <ac:chgData name="744311194@qq.com" userId="e2a28223f2085f4b" providerId="LiveId" clId="{58E27397-0747-45F4-B0ED-AC22C3579B1A}" dt="2025-04-16T04:23:02.304" v="518" actId="13926"/>
          <ac:spMkLst>
            <pc:docMk/>
            <pc:sldMk cId="0" sldId="1057"/>
            <ac:spMk id="955397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23:30.191" v="523" actId="13926"/>
          <ac:spMkLst>
            <pc:docMk/>
            <pc:sldMk cId="0" sldId="1057"/>
            <ac:spMk id="955415" creationId="{00000000-0000-0000-0000-000000000000}"/>
          </ac:spMkLst>
        </pc:spChg>
      </pc:sldChg>
      <pc:sldChg chg="addSp delSp modSp mod">
        <pc:chgData name="744311194@qq.com" userId="e2a28223f2085f4b" providerId="LiveId" clId="{58E27397-0747-45F4-B0ED-AC22C3579B1A}" dt="2025-04-16T04:26:48.983" v="759" actId="13926"/>
        <pc:sldMkLst>
          <pc:docMk/>
          <pc:sldMk cId="0" sldId="1058"/>
        </pc:sldMkLst>
        <pc:spChg chg="add mod">
          <ac:chgData name="744311194@qq.com" userId="e2a28223f2085f4b" providerId="LiveId" clId="{58E27397-0747-45F4-B0ED-AC22C3579B1A}" dt="2025-04-16T04:25:11.654" v="555" actId="1076"/>
          <ac:spMkLst>
            <pc:docMk/>
            <pc:sldMk cId="0" sldId="1058"/>
            <ac:spMk id="5" creationId="{907A5644-1F36-D6D9-BCE0-EE96C1002FE5}"/>
          </ac:spMkLst>
        </pc:spChg>
        <pc:spChg chg="add mod">
          <ac:chgData name="744311194@qq.com" userId="e2a28223f2085f4b" providerId="LiveId" clId="{58E27397-0747-45F4-B0ED-AC22C3579B1A}" dt="2025-04-16T04:26:48.983" v="759" actId="13926"/>
          <ac:spMkLst>
            <pc:docMk/>
            <pc:sldMk cId="0" sldId="1058"/>
            <ac:spMk id="6" creationId="{735CC03B-0823-95EA-21BB-230C232DEBE7}"/>
          </ac:spMkLst>
        </pc:spChg>
        <pc:spChg chg="mod">
          <ac:chgData name="744311194@qq.com" userId="e2a28223f2085f4b" providerId="LiveId" clId="{58E27397-0747-45F4-B0ED-AC22C3579B1A}" dt="2025-04-16T04:24:18.022" v="524" actId="13926"/>
          <ac:spMkLst>
            <pc:docMk/>
            <pc:sldMk cId="0" sldId="1058"/>
            <ac:spMk id="34856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27:07.834" v="760" actId="13926"/>
        <pc:sldMkLst>
          <pc:docMk/>
          <pc:sldMk cId="0" sldId="1059"/>
        </pc:sldMkLst>
        <pc:spChg chg="mod">
          <ac:chgData name="744311194@qq.com" userId="e2a28223f2085f4b" providerId="LiveId" clId="{58E27397-0747-45F4-B0ED-AC22C3579B1A}" dt="2025-04-16T04:27:07.834" v="760" actId="13926"/>
          <ac:spMkLst>
            <pc:docMk/>
            <pc:sldMk cId="0" sldId="1059"/>
            <ac:spMk id="957446" creationId="{00000000-0000-0000-0000-000000000000}"/>
          </ac:spMkLst>
        </pc:spChg>
      </pc:sldChg>
      <pc:sldChg chg="addSp modSp mod">
        <pc:chgData name="744311194@qq.com" userId="e2a28223f2085f4b" providerId="LiveId" clId="{58E27397-0747-45F4-B0ED-AC22C3579B1A}" dt="2025-04-16T04:50:29.109" v="1097" actId="20577"/>
        <pc:sldMkLst>
          <pc:docMk/>
          <pc:sldMk cId="0" sldId="1061"/>
        </pc:sldMkLst>
        <pc:spChg chg="add mod">
          <ac:chgData name="744311194@qq.com" userId="e2a28223f2085f4b" providerId="LiveId" clId="{58E27397-0747-45F4-B0ED-AC22C3579B1A}" dt="2025-04-16T04:50:29.109" v="1097" actId="20577"/>
          <ac:spMkLst>
            <pc:docMk/>
            <pc:sldMk cId="0" sldId="1061"/>
            <ac:spMk id="4" creationId="{7F399B9B-DEB0-8AA4-7504-CA0FD0B224DC}"/>
          </ac:spMkLst>
        </pc:spChg>
        <pc:spChg chg="mod">
          <ac:chgData name="744311194@qq.com" userId="e2a28223f2085f4b" providerId="LiveId" clId="{58E27397-0747-45F4-B0ED-AC22C3579B1A}" dt="2025-04-16T04:47:05.165" v="867" actId="13926"/>
          <ac:spMkLst>
            <pc:docMk/>
            <pc:sldMk cId="0" sldId="1061"/>
            <ac:spMk id="4302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50:03.748" v="1070" actId="13926"/>
          <ac:spMkLst>
            <pc:docMk/>
            <pc:sldMk cId="0" sldId="1061"/>
            <ac:spMk id="959797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50:10.160" v="1071" actId="13926"/>
          <ac:spMkLst>
            <pc:docMk/>
            <pc:sldMk cId="0" sldId="1061"/>
            <ac:spMk id="959801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50:43.836" v="1099" actId="13926"/>
        <pc:sldMkLst>
          <pc:docMk/>
          <pc:sldMk cId="0" sldId="1063"/>
        </pc:sldMkLst>
        <pc:spChg chg="mod">
          <ac:chgData name="744311194@qq.com" userId="e2a28223f2085f4b" providerId="LiveId" clId="{58E27397-0747-45F4-B0ED-AC22C3579B1A}" dt="2025-04-16T04:50:43.836" v="1099" actId="13926"/>
          <ac:spMkLst>
            <pc:docMk/>
            <pc:sldMk cId="0" sldId="1063"/>
            <ac:spMk id="961541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5:10:15.899" v="2275" actId="20577"/>
        <pc:sldMkLst>
          <pc:docMk/>
          <pc:sldMk cId="0" sldId="1070"/>
        </pc:sldMkLst>
        <pc:spChg chg="mod">
          <ac:chgData name="744311194@qq.com" userId="e2a28223f2085f4b" providerId="LiveId" clId="{58E27397-0747-45F4-B0ED-AC22C3579B1A}" dt="2025-04-16T05:10:15.899" v="2275" actId="20577"/>
          <ac:spMkLst>
            <pc:docMk/>
            <pc:sldMk cId="0" sldId="1070"/>
            <ac:spMk id="96260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08:03.315" v="11" actId="13926"/>
        <pc:sldMkLst>
          <pc:docMk/>
          <pc:sldMk cId="0" sldId="1081"/>
        </pc:sldMkLst>
        <pc:spChg chg="mod">
          <ac:chgData name="744311194@qq.com" userId="e2a28223f2085f4b" providerId="LiveId" clId="{58E27397-0747-45F4-B0ED-AC22C3579B1A}" dt="2025-04-16T04:07:06.933" v="7" actId="13926"/>
          <ac:spMkLst>
            <pc:docMk/>
            <pc:sldMk cId="0" sldId="1081"/>
            <ac:spMk id="2048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08:00.853" v="10" actId="13926"/>
          <ac:spMkLst>
            <pc:docMk/>
            <pc:sldMk cId="0" sldId="1081"/>
            <ac:spMk id="97997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08:03.315" v="11" actId="13926"/>
          <ac:spMkLst>
            <pc:docMk/>
            <pc:sldMk cId="0" sldId="1081"/>
            <ac:spMk id="979979" creationId="{00000000-0000-0000-0000-000000000000}"/>
          </ac:spMkLst>
        </pc:spChg>
      </pc:sldChg>
      <pc:sldChg chg="modSp">
        <pc:chgData name="744311194@qq.com" userId="e2a28223f2085f4b" providerId="LiveId" clId="{58E27397-0747-45F4-B0ED-AC22C3579B1A}" dt="2025-04-16T04:50:57.396" v="1101" actId="13926"/>
        <pc:sldMkLst>
          <pc:docMk/>
          <pc:sldMk cId="0" sldId="1083"/>
        </pc:sldMkLst>
        <pc:spChg chg="mod">
          <ac:chgData name="744311194@qq.com" userId="e2a28223f2085f4b" providerId="LiveId" clId="{58E27397-0747-45F4-B0ED-AC22C3579B1A}" dt="2025-04-16T04:50:57.396" v="1101" actId="13926"/>
          <ac:spMkLst>
            <pc:docMk/>
            <pc:sldMk cId="0" sldId="1083"/>
            <ac:spMk id="983249" creationId="{00000000-0000-0000-0000-000000000000}"/>
          </ac:spMkLst>
        </pc:spChg>
      </pc:sldChg>
      <pc:sldChg chg="modSp mod">
        <pc:chgData name="744311194@qq.com" userId="e2a28223f2085f4b" providerId="LiveId" clId="{58E27397-0747-45F4-B0ED-AC22C3579B1A}" dt="2025-04-16T04:51:33.020" v="1105" actId="13926"/>
        <pc:sldMkLst>
          <pc:docMk/>
          <pc:sldMk cId="0" sldId="1084"/>
        </pc:sldMkLst>
        <pc:spChg chg="mod">
          <ac:chgData name="744311194@qq.com" userId="e2a28223f2085f4b" providerId="LiveId" clId="{58E27397-0747-45F4-B0ED-AC22C3579B1A}" dt="2025-04-16T04:51:33.020" v="1105" actId="13926"/>
          <ac:spMkLst>
            <pc:docMk/>
            <pc:sldMk cId="0" sldId="1084"/>
            <ac:spMk id="984068" creationId="{00000000-0000-0000-0000-000000000000}"/>
          </ac:spMkLst>
        </pc:spChg>
      </pc:sldChg>
      <pc:sldChg chg="add del">
        <pc:chgData name="744311194@qq.com" userId="e2a28223f2085f4b" providerId="LiveId" clId="{58E27397-0747-45F4-B0ED-AC22C3579B1A}" dt="2025-04-16T06:58:41.573" v="3383" actId="47"/>
        <pc:sldMkLst>
          <pc:docMk/>
          <pc:sldMk cId="0" sldId="1088"/>
        </pc:sldMkLst>
      </pc:sldChg>
      <pc:sldChg chg="del">
        <pc:chgData name="744311194@qq.com" userId="e2a28223f2085f4b" providerId="LiveId" clId="{58E27397-0747-45F4-B0ED-AC22C3579B1A}" dt="2025-04-16T07:15:26.414" v="4235" actId="47"/>
        <pc:sldMkLst>
          <pc:docMk/>
          <pc:sldMk cId="0" sldId="1089"/>
        </pc:sldMkLst>
      </pc:sldChg>
      <pc:sldChg chg="delSp modSp del mod delAnim">
        <pc:chgData name="744311194@qq.com" userId="e2a28223f2085f4b" providerId="LiveId" clId="{58E27397-0747-45F4-B0ED-AC22C3579B1A}" dt="2025-04-16T07:15:32.198" v="4237" actId="47"/>
        <pc:sldMkLst>
          <pc:docMk/>
          <pc:sldMk cId="0" sldId="1090"/>
        </pc:sldMkLst>
      </pc:sldChg>
      <pc:sldChg chg="del">
        <pc:chgData name="744311194@qq.com" userId="e2a28223f2085f4b" providerId="LiveId" clId="{58E27397-0747-45F4-B0ED-AC22C3579B1A}" dt="2025-04-16T07:15:21.781" v="4233" actId="47"/>
        <pc:sldMkLst>
          <pc:docMk/>
          <pc:sldMk cId="0" sldId="1091"/>
        </pc:sldMkLst>
      </pc:sldChg>
      <pc:sldChg chg="del">
        <pc:chgData name="744311194@qq.com" userId="e2a28223f2085f4b" providerId="LiveId" clId="{58E27397-0747-45F4-B0ED-AC22C3579B1A}" dt="2025-04-16T04:50:37.578" v="1098" actId="47"/>
        <pc:sldMkLst>
          <pc:docMk/>
          <pc:sldMk cId="0" sldId="1095"/>
        </pc:sldMkLst>
      </pc:sldChg>
      <pc:sldChg chg="del">
        <pc:chgData name="744311194@qq.com" userId="e2a28223f2085f4b" providerId="LiveId" clId="{58E27397-0747-45F4-B0ED-AC22C3579B1A}" dt="2025-04-16T07:01:23.664" v="3395" actId="47"/>
        <pc:sldMkLst>
          <pc:docMk/>
          <pc:sldMk cId="0" sldId="1097"/>
        </pc:sldMkLst>
      </pc:sldChg>
      <pc:sldChg chg="modSp del mod">
        <pc:chgData name="744311194@qq.com" userId="e2a28223f2085f4b" providerId="LiveId" clId="{58E27397-0747-45F4-B0ED-AC22C3579B1A}" dt="2025-04-16T05:10:06.252" v="2251" actId="47"/>
        <pc:sldMkLst>
          <pc:docMk/>
          <pc:sldMk cId="0" sldId="1098"/>
        </pc:sldMkLst>
      </pc:sldChg>
      <pc:sldChg chg="addSp modSp mod modAnim">
        <pc:chgData name="744311194@qq.com" userId="e2a28223f2085f4b" providerId="LiveId" clId="{58E27397-0747-45F4-B0ED-AC22C3579B1A}" dt="2025-04-16T07:15:39.640" v="4239" actId="1076"/>
        <pc:sldMkLst>
          <pc:docMk/>
          <pc:sldMk cId="0" sldId="1099"/>
        </pc:sldMkLst>
        <pc:spChg chg="mod">
          <ac:chgData name="744311194@qq.com" userId="e2a28223f2085f4b" providerId="LiveId" clId="{58E27397-0747-45F4-B0ED-AC22C3579B1A}" dt="2025-04-16T07:13:23.320" v="4214" actId="403"/>
          <ac:spMkLst>
            <pc:docMk/>
            <pc:sldMk cId="0" sldId="1099"/>
            <ac:spMk id="10547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3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5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6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7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0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3:30.927" v="4216"/>
          <ac:spMkLst>
            <pc:docMk/>
            <pc:sldMk cId="0" sldId="1099"/>
            <ac:spMk id="106510" creationId="{00000000-0000-0000-0000-000000000000}"/>
          </ac:spMkLst>
        </pc:spChg>
        <pc:spChg chg="add mod">
          <ac:chgData name="744311194@qq.com" userId="e2a28223f2085f4b" providerId="LiveId" clId="{58E27397-0747-45F4-B0ED-AC22C3579B1A}" dt="2025-04-16T07:15:39.640" v="4239" actId="1076"/>
          <ac:spMkLst>
            <pc:docMk/>
            <pc:sldMk cId="0" sldId="1099"/>
            <ac:spMk id="992261" creationId="{00000000-0000-0000-0000-000000000000}"/>
          </ac:spMkLst>
        </pc:spChg>
      </pc:sldChg>
      <pc:sldChg chg="delSp modSp del mod">
        <pc:chgData name="744311194@qq.com" userId="e2a28223f2085f4b" providerId="LiveId" clId="{58E27397-0747-45F4-B0ED-AC22C3579B1A}" dt="2025-04-16T07:13:33.148" v="4217" actId="47"/>
        <pc:sldMkLst>
          <pc:docMk/>
          <pc:sldMk cId="0" sldId="1100"/>
        </pc:sldMkLst>
      </pc:sldChg>
      <pc:sldChg chg="del">
        <pc:chgData name="744311194@qq.com" userId="e2a28223f2085f4b" providerId="LiveId" clId="{58E27397-0747-45F4-B0ED-AC22C3579B1A}" dt="2025-04-16T05:09:50.792" v="2249" actId="47"/>
        <pc:sldMkLst>
          <pc:docMk/>
          <pc:sldMk cId="0" sldId="1114"/>
        </pc:sldMkLst>
      </pc:sldChg>
      <pc:sldChg chg="del">
        <pc:chgData name="744311194@qq.com" userId="e2a28223f2085f4b" providerId="LiveId" clId="{58E27397-0747-45F4-B0ED-AC22C3579B1A}" dt="2025-04-16T05:09:41.674" v="2245" actId="47"/>
        <pc:sldMkLst>
          <pc:docMk/>
          <pc:sldMk cId="0" sldId="1117"/>
        </pc:sldMkLst>
      </pc:sldChg>
      <pc:sldChg chg="del">
        <pc:chgData name="744311194@qq.com" userId="e2a28223f2085f4b" providerId="LiveId" clId="{58E27397-0747-45F4-B0ED-AC22C3579B1A}" dt="2025-04-16T05:09:46.736" v="2247" actId="47"/>
        <pc:sldMkLst>
          <pc:docMk/>
          <pc:sldMk cId="0" sldId="1118"/>
        </pc:sldMkLst>
      </pc:sldChg>
      <pc:sldChg chg="del">
        <pc:chgData name="744311194@qq.com" userId="e2a28223f2085f4b" providerId="LiveId" clId="{58E27397-0747-45F4-B0ED-AC22C3579B1A}" dt="2025-04-16T05:09:48.346" v="2248" actId="47"/>
        <pc:sldMkLst>
          <pc:docMk/>
          <pc:sldMk cId="0" sldId="1119"/>
        </pc:sldMkLst>
      </pc:sldChg>
      <pc:sldChg chg="del">
        <pc:chgData name="744311194@qq.com" userId="e2a28223f2085f4b" providerId="LiveId" clId="{58E27397-0747-45F4-B0ED-AC22C3579B1A}" dt="2025-04-23T03:23:48.994" v="5088" actId="47"/>
        <pc:sldMkLst>
          <pc:docMk/>
          <pc:sldMk cId="0" sldId="1125"/>
        </pc:sldMkLst>
      </pc:sldChg>
      <pc:sldChg chg="del">
        <pc:chgData name="744311194@qq.com" userId="e2a28223f2085f4b" providerId="LiveId" clId="{58E27397-0747-45F4-B0ED-AC22C3579B1A}" dt="2025-04-16T05:09:44.472" v="2246" actId="47"/>
        <pc:sldMkLst>
          <pc:docMk/>
          <pc:sldMk cId="0" sldId="1127"/>
        </pc:sldMkLst>
      </pc:sldChg>
      <pc:sldChg chg="del">
        <pc:chgData name="744311194@qq.com" userId="e2a28223f2085f4b" providerId="LiveId" clId="{58E27397-0747-45F4-B0ED-AC22C3579B1A}" dt="2025-04-16T05:09:39.991" v="2244" actId="47"/>
        <pc:sldMkLst>
          <pc:docMk/>
          <pc:sldMk cId="0" sldId="1128"/>
        </pc:sldMkLst>
      </pc:sldChg>
      <pc:sldChg chg="delSp modSp mod">
        <pc:chgData name="744311194@qq.com" userId="e2a28223f2085f4b" providerId="LiveId" clId="{58E27397-0747-45F4-B0ED-AC22C3579B1A}" dt="2025-04-16T07:15:11.512" v="4232" actId="1076"/>
        <pc:sldMkLst>
          <pc:docMk/>
          <pc:sldMk cId="0" sldId="1137"/>
        </pc:sldMkLst>
        <pc:spChg chg="mod">
          <ac:chgData name="744311194@qq.com" userId="e2a28223f2085f4b" providerId="LiveId" clId="{58E27397-0747-45F4-B0ED-AC22C3579B1A}" dt="2025-04-16T07:15:11.512" v="4232" actId="1076"/>
          <ac:spMkLst>
            <pc:docMk/>
            <pc:sldMk cId="0" sldId="1137"/>
            <ac:spMk id="130075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15:11.512" v="4232" actId="1076"/>
          <ac:spMkLst>
            <pc:docMk/>
            <pc:sldMk cId="0" sldId="1137"/>
            <ac:spMk id="130078" creationId="{00000000-0000-0000-0000-000000000000}"/>
          </ac:spMkLst>
        </pc:spChg>
        <pc:grpChg chg="mod">
          <ac:chgData name="744311194@qq.com" userId="e2a28223f2085f4b" providerId="LiveId" clId="{58E27397-0747-45F4-B0ED-AC22C3579B1A}" dt="2025-04-16T07:15:11.512" v="4232" actId="1076"/>
          <ac:grpSpMkLst>
            <pc:docMk/>
            <pc:sldMk cId="0" sldId="1137"/>
            <ac:grpSpMk id="130072" creationId="{00000000-0000-0000-0000-000000000000}"/>
          </ac:grpSpMkLst>
        </pc:grpChg>
      </pc:sldChg>
      <pc:sldChg chg="delSp del mod delAnim">
        <pc:chgData name="744311194@qq.com" userId="e2a28223f2085f4b" providerId="LiveId" clId="{58E27397-0747-45F4-B0ED-AC22C3579B1A}" dt="2025-04-16T06:59:03.005" v="3385" actId="47"/>
        <pc:sldMkLst>
          <pc:docMk/>
          <pc:sldMk cId="0" sldId="1139"/>
        </pc:sldMkLst>
      </pc:sldChg>
      <pc:sldChg chg="addSp modSp mod">
        <pc:chgData name="744311194@qq.com" userId="e2a28223f2085f4b" providerId="LiveId" clId="{58E27397-0747-45F4-B0ED-AC22C3579B1A}" dt="2025-04-16T07:08:22.095" v="3975" actId="13926"/>
        <pc:sldMkLst>
          <pc:docMk/>
          <pc:sldMk cId="0" sldId="1140"/>
        </pc:sldMkLst>
        <pc:spChg chg="add mod">
          <ac:chgData name="744311194@qq.com" userId="e2a28223f2085f4b" providerId="LiveId" clId="{58E27397-0747-45F4-B0ED-AC22C3579B1A}" dt="2025-04-16T07:08:22.095" v="3975" actId="13926"/>
          <ac:spMkLst>
            <pc:docMk/>
            <pc:sldMk cId="0" sldId="1140"/>
            <ac:spMk id="2" creationId="{E10F83CA-9C7D-212D-23C1-1C08068972E2}"/>
          </ac:spMkLst>
        </pc:spChg>
        <pc:spChg chg="mod">
          <ac:chgData name="744311194@qq.com" userId="e2a28223f2085f4b" providerId="LiveId" clId="{58E27397-0747-45F4-B0ED-AC22C3579B1A}" dt="2025-04-16T07:06:09.781" v="3806" actId="1076"/>
          <ac:spMkLst>
            <pc:docMk/>
            <pc:sldMk cId="0" sldId="1140"/>
            <ac:spMk id="7680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03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04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10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12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13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5.858" v="3804" actId="1076"/>
          <ac:spMkLst>
            <pc:docMk/>
            <pc:sldMk cId="0" sldId="1140"/>
            <ac:spMk id="7681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2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2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29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38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09.090" v="3805" actId="1076"/>
          <ac:spMkLst>
            <pc:docMk/>
            <pc:sldMk cId="0" sldId="1140"/>
            <ac:spMk id="76841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7:06:16.199" v="3808" actId="14100"/>
          <ac:spMkLst>
            <pc:docMk/>
            <pc:sldMk cId="0" sldId="1140"/>
            <ac:spMk id="1046573" creationId="{00000000-0000-0000-0000-000000000000}"/>
          </ac:spMkLst>
        </pc:spChg>
      </pc:sldChg>
      <pc:sldChg chg="addSp delSp modSp mod">
        <pc:chgData name="744311194@qq.com" userId="e2a28223f2085f4b" providerId="LiveId" clId="{58E27397-0747-45F4-B0ED-AC22C3579B1A}" dt="2025-04-16T07:20:54.413" v="4740" actId="478"/>
        <pc:sldMkLst>
          <pc:docMk/>
          <pc:sldMk cId="0" sldId="1141"/>
        </pc:sldMkLst>
        <pc:spChg chg="add mod">
          <ac:chgData name="744311194@qq.com" userId="e2a28223f2085f4b" providerId="LiveId" clId="{58E27397-0747-45F4-B0ED-AC22C3579B1A}" dt="2025-04-16T07:12:36.042" v="4197" actId="13926"/>
          <ac:spMkLst>
            <pc:docMk/>
            <pc:sldMk cId="0" sldId="1141"/>
            <ac:spMk id="3" creationId="{D0169DDB-73D6-8816-9733-01BF68B12358}"/>
          </ac:spMkLst>
        </pc:spChg>
      </pc:sldChg>
      <pc:sldChg chg="del">
        <pc:chgData name="744311194@qq.com" userId="e2a28223f2085f4b" providerId="LiveId" clId="{58E27397-0747-45F4-B0ED-AC22C3579B1A}" dt="2025-04-23T03:20:52.045" v="5087" actId="47"/>
        <pc:sldMkLst>
          <pc:docMk/>
          <pc:sldMk cId="0" sldId="1143"/>
        </pc:sldMkLst>
      </pc:sldChg>
      <pc:sldChg chg="del">
        <pc:chgData name="744311194@qq.com" userId="e2a28223f2085f4b" providerId="LiveId" clId="{58E27397-0747-45F4-B0ED-AC22C3579B1A}" dt="2025-04-23T03:20:50.439" v="5085" actId="47"/>
        <pc:sldMkLst>
          <pc:docMk/>
          <pc:sldMk cId="0" sldId="1144"/>
        </pc:sldMkLst>
      </pc:sldChg>
      <pc:sldChg chg="del">
        <pc:chgData name="744311194@qq.com" userId="e2a28223f2085f4b" providerId="LiveId" clId="{58E27397-0747-45F4-B0ED-AC22C3579B1A}" dt="2025-04-16T05:10:41.454" v="2276" actId="47"/>
        <pc:sldMkLst>
          <pc:docMk/>
          <pc:sldMk cId="0" sldId="1145"/>
        </pc:sldMkLst>
      </pc:sldChg>
      <pc:sldChg chg="del">
        <pc:chgData name="744311194@qq.com" userId="e2a28223f2085f4b" providerId="LiveId" clId="{58E27397-0747-45F4-B0ED-AC22C3579B1A}" dt="2025-04-23T03:20:49.586" v="5084" actId="47"/>
        <pc:sldMkLst>
          <pc:docMk/>
          <pc:sldMk cId="0" sldId="1147"/>
        </pc:sldMkLst>
      </pc:sldChg>
      <pc:sldChg chg="del">
        <pc:chgData name="744311194@qq.com" userId="e2a28223f2085f4b" providerId="LiveId" clId="{58E27397-0747-45F4-B0ED-AC22C3579B1A}" dt="2025-04-23T03:20:46.772" v="5081" actId="47"/>
        <pc:sldMkLst>
          <pc:docMk/>
          <pc:sldMk cId="0" sldId="1149"/>
        </pc:sldMkLst>
      </pc:sldChg>
      <pc:sldChg chg="del">
        <pc:chgData name="744311194@qq.com" userId="e2a28223f2085f4b" providerId="LiveId" clId="{58E27397-0747-45F4-B0ED-AC22C3579B1A}" dt="2025-04-23T03:20:45.893" v="5080" actId="47"/>
        <pc:sldMkLst>
          <pc:docMk/>
          <pc:sldMk cId="0" sldId="1150"/>
        </pc:sldMkLst>
      </pc:sldChg>
      <pc:sldChg chg="del">
        <pc:chgData name="744311194@qq.com" userId="e2a28223f2085f4b" providerId="LiveId" clId="{58E27397-0747-45F4-B0ED-AC22C3579B1A}" dt="2025-04-23T03:20:44.305" v="5079" actId="47"/>
        <pc:sldMkLst>
          <pc:docMk/>
          <pc:sldMk cId="0" sldId="1151"/>
        </pc:sldMkLst>
      </pc:sldChg>
      <pc:sldChg chg="del">
        <pc:chgData name="744311194@qq.com" userId="e2a28223f2085f4b" providerId="LiveId" clId="{58E27397-0747-45F4-B0ED-AC22C3579B1A}" dt="2025-04-23T03:20:48.380" v="5083" actId="47"/>
        <pc:sldMkLst>
          <pc:docMk/>
          <pc:sldMk cId="0" sldId="1153"/>
        </pc:sldMkLst>
      </pc:sldChg>
      <pc:sldChg chg="del">
        <pc:chgData name="744311194@qq.com" userId="e2a28223f2085f4b" providerId="LiveId" clId="{58E27397-0747-45F4-B0ED-AC22C3579B1A}" dt="2025-04-23T03:20:47.599" v="5082" actId="47"/>
        <pc:sldMkLst>
          <pc:docMk/>
          <pc:sldMk cId="0" sldId="1154"/>
        </pc:sldMkLst>
      </pc:sldChg>
      <pc:sldChg chg="modSp add del mod">
        <pc:chgData name="744311194@qq.com" userId="e2a28223f2085f4b" providerId="LiveId" clId="{58E27397-0747-45F4-B0ED-AC22C3579B1A}" dt="2025-04-23T03:20:51.124" v="5086" actId="47"/>
        <pc:sldMkLst>
          <pc:docMk/>
          <pc:sldMk cId="0" sldId="1155"/>
        </pc:sldMkLst>
      </pc:sldChg>
      <pc:sldChg chg="addSp delSp modSp mod">
        <pc:chgData name="744311194@qq.com" userId="e2a28223f2085f4b" providerId="LiveId" clId="{58E27397-0747-45F4-B0ED-AC22C3579B1A}" dt="2025-04-16T05:02:22.489" v="1880" actId="13926"/>
        <pc:sldMkLst>
          <pc:docMk/>
          <pc:sldMk cId="0" sldId="1162"/>
        </pc:sldMkLst>
        <pc:spChg chg="add mod">
          <ac:chgData name="744311194@qq.com" userId="e2a28223f2085f4b" providerId="LiveId" clId="{58E27397-0747-45F4-B0ED-AC22C3579B1A}" dt="2025-04-16T05:02:22.489" v="1880" actId="13926"/>
          <ac:spMkLst>
            <pc:docMk/>
            <pc:sldMk cId="0" sldId="1162"/>
            <ac:spMk id="3" creationId="{5C89CC92-874F-5E4D-5D50-80104B2F193A}"/>
          </ac:spMkLst>
        </pc:spChg>
        <pc:spChg chg="mod">
          <ac:chgData name="744311194@qq.com" userId="e2a28223f2085f4b" providerId="LiveId" clId="{58E27397-0747-45F4-B0ED-AC22C3579B1A}" dt="2025-04-16T04:54:03.052" v="1302" actId="207"/>
          <ac:spMkLst>
            <pc:docMk/>
            <pc:sldMk cId="0" sldId="1162"/>
            <ac:spMk id="50205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54:17.099" v="1315" actId="14100"/>
          <ac:spMkLst>
            <pc:docMk/>
            <pc:sldMk cId="0" sldId="1162"/>
            <ac:spMk id="50206" creationId="{00000000-0000-0000-0000-000000000000}"/>
          </ac:spMkLst>
        </pc:spChg>
        <pc:spChg chg="mod">
          <ac:chgData name="744311194@qq.com" userId="e2a28223f2085f4b" providerId="LiveId" clId="{58E27397-0747-45F4-B0ED-AC22C3579B1A}" dt="2025-04-16T04:52:31.358" v="1124" actId="13926"/>
          <ac:spMkLst>
            <pc:docMk/>
            <pc:sldMk cId="0" sldId="1162"/>
            <ac:spMk id="50213" creationId="{00000000-0000-0000-0000-000000000000}"/>
          </ac:spMkLst>
        </pc:spChg>
      </pc:sldChg>
      <pc:sldChg chg="addSp modSp mod">
        <pc:chgData name="744311194@qq.com" userId="e2a28223f2085f4b" providerId="LiveId" clId="{58E27397-0747-45F4-B0ED-AC22C3579B1A}" dt="2025-04-16T06:41:16.180" v="2645" actId="20577"/>
        <pc:sldMkLst>
          <pc:docMk/>
          <pc:sldMk cId="0" sldId="1164"/>
        </pc:sldMkLst>
        <pc:spChg chg="add mod">
          <ac:chgData name="744311194@qq.com" userId="e2a28223f2085f4b" providerId="LiveId" clId="{58E27397-0747-45F4-B0ED-AC22C3579B1A}" dt="2025-04-16T06:41:16.180" v="2645" actId="20577"/>
          <ac:spMkLst>
            <pc:docMk/>
            <pc:sldMk cId="0" sldId="1164"/>
            <ac:spMk id="2" creationId="{98B6341E-ADA2-0768-CBD8-5AC5BA528BCB}"/>
          </ac:spMkLst>
        </pc:spChg>
        <pc:spChg chg="mod">
          <ac:chgData name="744311194@qq.com" userId="e2a28223f2085f4b" providerId="LiveId" clId="{58E27397-0747-45F4-B0ED-AC22C3579B1A}" dt="2025-04-16T06:37:15.104" v="2353" actId="13926"/>
          <ac:spMkLst>
            <pc:docMk/>
            <pc:sldMk cId="0" sldId="1164"/>
            <ac:spMk id="52249" creationId="{00000000-0000-0000-0000-000000000000}"/>
          </ac:spMkLst>
        </pc:spChg>
      </pc:sldChg>
      <pc:sldChg chg="addSp delSp modSp mod">
        <pc:chgData name="744311194@qq.com" userId="e2a28223f2085f4b" providerId="LiveId" clId="{58E27397-0747-45F4-B0ED-AC22C3579B1A}" dt="2025-04-16T06:55:54.024" v="3373" actId="20577"/>
        <pc:sldMkLst>
          <pc:docMk/>
          <pc:sldMk cId="0" sldId="1165"/>
        </pc:sldMkLst>
        <pc:spChg chg="add mod">
          <ac:chgData name="744311194@qq.com" userId="e2a28223f2085f4b" providerId="LiveId" clId="{58E27397-0747-45F4-B0ED-AC22C3579B1A}" dt="2025-04-16T06:38:05.894" v="2357" actId="1076"/>
          <ac:spMkLst>
            <pc:docMk/>
            <pc:sldMk cId="0" sldId="1165"/>
            <ac:spMk id="2" creationId="{791B40B5-EAA4-13CC-2C5F-98A4C23AA676}"/>
          </ac:spMkLst>
        </pc:spChg>
        <pc:spChg chg="add mod">
          <ac:chgData name="744311194@qq.com" userId="e2a28223f2085f4b" providerId="LiveId" clId="{58E27397-0747-45F4-B0ED-AC22C3579B1A}" dt="2025-04-16T06:55:54.024" v="3373" actId="20577"/>
          <ac:spMkLst>
            <pc:docMk/>
            <pc:sldMk cId="0" sldId="1165"/>
            <ac:spMk id="5" creationId="{551118D9-B6FD-96C9-0818-7A6A01BEE4E5}"/>
          </ac:spMkLst>
        </pc:spChg>
        <pc:spChg chg="mod">
          <ac:chgData name="744311194@qq.com" userId="e2a28223f2085f4b" providerId="LiveId" clId="{58E27397-0747-45F4-B0ED-AC22C3579B1A}" dt="2025-04-16T06:38:03.659" v="2356" actId="1076"/>
          <ac:spMkLst>
            <pc:docMk/>
            <pc:sldMk cId="0" sldId="1165"/>
            <ac:spMk id="53252" creationId="{00000000-0000-0000-0000-000000000000}"/>
          </ac:spMkLst>
        </pc:spChg>
      </pc:sldChg>
      <pc:sldChg chg="addSp modSp mod">
        <pc:chgData name="744311194@qq.com" userId="e2a28223f2085f4b" providerId="LiveId" clId="{58E27397-0747-45F4-B0ED-AC22C3579B1A}" dt="2025-04-16T06:55:08.869" v="3372" actId="1076"/>
        <pc:sldMkLst>
          <pc:docMk/>
          <pc:sldMk cId="0" sldId="1166"/>
        </pc:sldMkLst>
        <pc:spChg chg="add mod">
          <ac:chgData name="744311194@qq.com" userId="e2a28223f2085f4b" providerId="LiveId" clId="{58E27397-0747-45F4-B0ED-AC22C3579B1A}" dt="2025-04-16T06:53:36.490" v="3333" actId="21"/>
          <ac:spMkLst>
            <pc:docMk/>
            <pc:sldMk cId="0" sldId="1166"/>
            <ac:spMk id="2" creationId="{5C804D8E-A950-D366-2EC5-CD7C05C43E8A}"/>
          </ac:spMkLst>
        </pc:spChg>
        <pc:spChg chg="add mod">
          <ac:chgData name="744311194@qq.com" userId="e2a28223f2085f4b" providerId="LiveId" clId="{58E27397-0747-45F4-B0ED-AC22C3579B1A}" dt="2025-04-16T04:58:43.883" v="1499" actId="20577"/>
          <ac:spMkLst>
            <pc:docMk/>
            <pc:sldMk cId="0" sldId="1166"/>
            <ac:spMk id="3" creationId="{753C6B94-2FEB-DFB7-DB01-72B7BFC57FDD}"/>
          </ac:spMkLst>
        </pc:spChg>
        <pc:spChg chg="add mod">
          <ac:chgData name="744311194@qq.com" userId="e2a28223f2085f4b" providerId="LiveId" clId="{58E27397-0747-45F4-B0ED-AC22C3579B1A}" dt="2025-04-16T05:03:13.868" v="1949" actId="113"/>
          <ac:spMkLst>
            <pc:docMk/>
            <pc:sldMk cId="0" sldId="1166"/>
            <ac:spMk id="4" creationId="{92720B2E-3A66-2178-7ABA-7F71BFE960C9}"/>
          </ac:spMkLst>
        </pc:spChg>
        <pc:spChg chg="add mod">
          <ac:chgData name="744311194@qq.com" userId="e2a28223f2085f4b" providerId="LiveId" clId="{58E27397-0747-45F4-B0ED-AC22C3579B1A}" dt="2025-04-16T06:55:08.869" v="3372" actId="1076"/>
          <ac:spMkLst>
            <pc:docMk/>
            <pc:sldMk cId="0" sldId="1166"/>
            <ac:spMk id="5" creationId="{32C7A324-7CE0-1A99-C160-15A0BAA562B4}"/>
          </ac:spMkLst>
        </pc:spChg>
        <pc:picChg chg="mod">
          <ac:chgData name="744311194@qq.com" userId="e2a28223f2085f4b" providerId="LiveId" clId="{58E27397-0747-45F4-B0ED-AC22C3579B1A}" dt="2025-04-16T06:55:05.685" v="3371" actId="1076"/>
          <ac:picMkLst>
            <pc:docMk/>
            <pc:sldMk cId="0" sldId="1166"/>
            <ac:picMk id="51202" creationId="{00000000-0000-0000-0000-000000000000}"/>
          </ac:picMkLst>
        </pc:picChg>
      </pc:sldChg>
      <pc:sldChg chg="addSp modSp new mod ord">
        <pc:chgData name="744311194@qq.com" userId="e2a28223f2085f4b" providerId="LiveId" clId="{58E27397-0747-45F4-B0ED-AC22C3579B1A}" dt="2025-04-16T07:22:48.683" v="4956" actId="13926"/>
        <pc:sldMkLst>
          <pc:docMk/>
          <pc:sldMk cId="3266445673" sldId="1167"/>
        </pc:sldMkLst>
        <pc:spChg chg="add mod">
          <ac:chgData name="744311194@qq.com" userId="e2a28223f2085f4b" providerId="LiveId" clId="{58E27397-0747-45F4-B0ED-AC22C3579B1A}" dt="2025-04-16T07:16:09.579" v="4259" actId="20577"/>
          <ac:spMkLst>
            <pc:docMk/>
            <pc:sldMk cId="3266445673" sldId="1167"/>
            <ac:spMk id="2" creationId="{E20AD115-3741-D546-D8E3-292EEDC58BB4}"/>
          </ac:spMkLst>
        </pc:spChg>
        <pc:spChg chg="add mod">
          <ac:chgData name="744311194@qq.com" userId="e2a28223f2085f4b" providerId="LiveId" clId="{58E27397-0747-45F4-B0ED-AC22C3579B1A}" dt="2025-04-16T07:22:48.683" v="4956" actId="13926"/>
          <ac:spMkLst>
            <pc:docMk/>
            <pc:sldMk cId="3266445673" sldId="1167"/>
            <ac:spMk id="3" creationId="{70FD5A28-564A-2588-6345-A70C5F913AC0}"/>
          </ac:spMkLst>
        </pc:spChg>
      </pc:sldChg>
      <pc:sldChg chg="del">
        <pc:chgData name="744311194@qq.com" userId="e2a28223f2085f4b" providerId="LiveId" clId="{58E27397-0747-45F4-B0ED-AC22C3579B1A}" dt="2025-04-16T05:09:09.357" v="2241" actId="47"/>
        <pc:sldMkLst>
          <pc:docMk/>
          <pc:sldMk cId="0" sldId="11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/>
            </a:lvl1pPr>
          </a:lstStyle>
          <a:p>
            <a:fld id="{51F6C34C-0573-4A4E-A480-DA1F96C60848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/>
            </a:lvl1pPr>
          </a:lstStyle>
          <a:p>
            <a:fld id="{1E364566-5745-4464-9644-0D3ED69D8E2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fld id="{6A928EEC-F4A6-468A-8707-FD212B5F169A}" type="slidenum">
              <a:rPr altLang="zh-CN" sz="1200" b="0" noProof="1"/>
              <a:t>30</a:t>
            </a:fld>
            <a:endParaRPr lang="zh-CN" altLang="zh-CN" sz="1200" b="0" noProof="1"/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65175" y="384175"/>
            <a:ext cx="5514975" cy="4137025"/>
          </a:xfrm>
        </p:spPr>
      </p:sp>
      <p:sp>
        <p:nvSpPr>
          <p:cNvPr id="133124" name="Rectangle 4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>
              <a:ea typeface="仿宋_GB2312" panose="02010609030101010101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fld id="{147E4B19-BBE1-4208-88D0-9B1E1CCA5303}" type="slidenum">
              <a:rPr altLang="zh-CN" sz="1200" b="0" noProof="1"/>
              <a:t>32</a:t>
            </a:fld>
            <a:endParaRPr lang="zh-CN" altLang="zh-CN" sz="1200" b="0" noProof="1"/>
          </a:p>
        </p:txBody>
      </p:sp>
      <p:sp>
        <p:nvSpPr>
          <p:cNvPr id="134147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65175" y="384175"/>
            <a:ext cx="5514975" cy="4137025"/>
          </a:xfrm>
        </p:spPr>
      </p:sp>
      <p:sp>
        <p:nvSpPr>
          <p:cNvPr id="134148" name="Rectangle 4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>
              <a:ea typeface="仿宋_GB2312" panose="02010609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fld id="{27B4C161-BE90-4BEC-9D1D-13193B2F2D9E}" type="slidenum">
              <a:rPr altLang="zh-CN" sz="1200" b="0" noProof="1"/>
              <a:t>33</a:t>
            </a:fld>
            <a:endParaRPr lang="zh-CN" altLang="zh-CN" sz="1200" b="0" noProof="1"/>
          </a:p>
        </p:txBody>
      </p:sp>
      <p:sp>
        <p:nvSpPr>
          <p:cNvPr id="135171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65175" y="384175"/>
            <a:ext cx="5514975" cy="4137025"/>
          </a:xfrm>
        </p:spPr>
      </p:sp>
      <p:sp>
        <p:nvSpPr>
          <p:cNvPr id="135172" name="Rectangle 4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>
              <a:ea typeface="仿宋_GB2312" panose="02010609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D442EAD6-1348-4C5D-9338-F8C20B4F0ACB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DC5643B4-B0A3-469E-ABF8-2C9E18218E5C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FB19BB8D-6B03-43CA-B632-DF37F4E13326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A98459AC-350B-4B5B-A359-0685679B9C54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7AD079BC-F45C-4ED2-B6E6-8E1365259B20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B15E95A3-7E30-452C-8A8F-40C9B6452F55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DF76537D-9128-48EF-8EB2-73A9D02DC1D2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2101671B-90CF-4960-99C5-54A52F27BE6D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00D16C80-35C3-4819-B57D-3B456D275BEA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338" y="609600"/>
            <a:ext cx="1995487" cy="55657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9288" y="609600"/>
            <a:ext cx="5835650" cy="55657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38EFE0F6-38D4-4E27-95B4-A1812A737DFC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noProof="1"/>
              <a:t>单击以编辑</a:t>
            </a:r>
            <a:r>
              <a:rPr lang="zh-CN" altLang="en-US" noProof="1"/>
              <a:t>母版标题样式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49288" y="1449388"/>
            <a:ext cx="7983537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37125" y="6240463"/>
            <a:ext cx="441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50000"/>
              </a:spcBef>
              <a:buFontTx/>
              <a:buNone/>
              <a:defRPr kumimoji="1" sz="14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                    </a:t>
            </a:r>
            <a:fld id="{EEBEF1CB-397E-4FE7-93C7-788B46FE015A}" type="datetime2">
              <a:rPr lang="zh-CN" altLang="en-US"/>
              <a:t>2025年4月23日</a:t>
            </a:fld>
            <a:r>
              <a:rPr lang="en-US" altLang="zh-CN"/>
              <a:t>        </a:t>
            </a:r>
          </a:p>
        </p:txBody>
      </p:sp>
      <p:sp>
        <p:nvSpPr>
          <p:cNvPr id="1030" name="Line 9"/>
          <p:cNvSpPr>
            <a:spLocks noChangeShapeType="1"/>
          </p:cNvSpPr>
          <p:nvPr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1" name="Line 18"/>
          <p:cNvSpPr>
            <a:spLocks noChangeShapeType="1"/>
          </p:cNvSpPr>
          <p:nvPr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5368" name="WordArt 20"/>
          <p:cNvSpPr>
            <a:spLocks noChangeArrowheads="1" noChangeShapeType="1" noTextEdit="1"/>
          </p:cNvSpPr>
          <p:nvPr/>
        </p:nvSpPr>
        <p:spPr bwMode="auto">
          <a:xfrm rot="46488">
            <a:off x="211138" y="-11113"/>
            <a:ext cx="2095500" cy="49530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200" i="1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2154000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Narrow" panose="020B0606020202030204" pitchFamily="34" charset="0"/>
              </a:rPr>
              <a:t>data structure</a:t>
            </a:r>
            <a:endParaRPr lang="zh-CN" altLang="en-US" sz="3200" i="1" kern="1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2154000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15369" name="图片 9" descr="1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5" y="5999163"/>
            <a:ext cx="7747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仿宋_GB2312" panose="0201060903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0.png"/><Relationship Id="rId4" Type="http://schemas.openxmlformats.org/officeDocument/2006/relationships/oleObject" Target="../embeddings/oleObject7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4"/>
          <p:cNvSpPr txBox="1">
            <a:spLocks noChangeArrowheads="1"/>
          </p:cNvSpPr>
          <p:nvPr/>
        </p:nvSpPr>
        <p:spPr>
          <a:xfrm>
            <a:off x="1428750" y="2357438"/>
            <a:ext cx="6335713" cy="169545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 sz="66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第</a:t>
            </a:r>
            <a:r>
              <a:rPr kumimoji="1" lang="en-US" altLang="zh-CN" sz="66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华文行楷" panose="02010800040101010101" pitchFamily="2" charset="-122"/>
                <a:cs typeface="+mj-cs"/>
                <a:sym typeface="+mn-ea"/>
              </a:rPr>
              <a:t>6</a:t>
            </a:r>
            <a:r>
              <a:rPr kumimoji="1" lang="zh-CN" altLang="en-US" sz="66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章 图</a:t>
            </a:r>
            <a:br>
              <a:rPr kumimoji="1" lang="zh-CN" altLang="en-US" sz="66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</a:br>
            <a:endParaRPr kumimoji="1" lang="zh-CN" altLang="en-US" sz="6600" i="1" kern="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6.1 </a:t>
            </a:r>
            <a:r>
              <a:rPr lang="zh-CN" altLang="en-US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图的定义和术语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4" name="Picture 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90903" name="Object 23"/>
          <p:cNvGraphicFramePr/>
          <p:nvPr/>
        </p:nvGraphicFramePr>
        <p:xfrm>
          <a:off x="6553200" y="1268413"/>
          <a:ext cx="2108200" cy="237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73580" imgH="2217420" progId="Visio.Drawing.5">
                  <p:embed/>
                </p:oleObj>
              </mc:Choice>
              <mc:Fallback>
                <p:oleObj r:id="rId3" imgW="1973580" imgH="2217420" progId="Visio.Drawing.5">
                  <p:embed/>
                  <p:pic>
                    <p:nvPicPr>
                      <p:cNvPr id="890903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268413"/>
                        <a:ext cx="2108200" cy="237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04" name="Object 24"/>
          <p:cNvGraphicFramePr/>
          <p:nvPr/>
        </p:nvGraphicFramePr>
        <p:xfrm>
          <a:off x="6553200" y="3581400"/>
          <a:ext cx="2174875" cy="244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73580" imgH="2217420" progId="Visio.Drawing.5">
                  <p:embed/>
                </p:oleObj>
              </mc:Choice>
              <mc:Fallback>
                <p:oleObj r:id="rId5" imgW="1973580" imgH="2217420" progId="Visio.Drawing.5">
                  <p:embed/>
                  <p:pic>
                    <p:nvPicPr>
                      <p:cNvPr id="890904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581400"/>
                        <a:ext cx="2174875" cy="244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26"/>
          <p:cNvSpPr>
            <a:spLocks noChangeArrowheads="1"/>
          </p:cNvSpPr>
          <p:nvPr/>
        </p:nvSpPr>
        <p:spPr bwMode="auto">
          <a:xfrm>
            <a:off x="250825" y="1371600"/>
            <a:ext cx="6302375" cy="1336675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rgbClr val="FF3300"/>
                </a:solidFill>
                <a:sym typeface="Symbol" panose="05050102010706020507" pitchFamily="18" charset="2"/>
              </a:rPr>
              <a:t>图：</a:t>
            </a:r>
            <a:r>
              <a:rPr lang="en-US" altLang="zh-CN" dirty="0">
                <a:sym typeface="Symbol" panose="05050102010706020507" pitchFamily="18" charset="2"/>
              </a:rPr>
              <a:t>Graph=(V,E)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sym typeface="Symbol" panose="05050102010706020507" pitchFamily="18" charset="2"/>
              </a:rPr>
              <a:t>  V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zh-CN" altLang="en-US" dirty="0">
                <a:highlight>
                  <a:srgbClr val="00FF00"/>
                </a:highlight>
                <a:sym typeface="Symbol" panose="05050102010706020507" pitchFamily="18" charset="2"/>
              </a:rPr>
              <a:t>顶点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数据元素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sym typeface="Symbol" panose="05050102010706020507" pitchFamily="18" charset="2"/>
              </a:rPr>
              <a:t>有穷非空</a:t>
            </a:r>
            <a:r>
              <a:rPr lang="zh-CN" altLang="en-US" dirty="0">
                <a:sym typeface="Symbol" panose="05050102010706020507" pitchFamily="18" charset="2"/>
              </a:rPr>
              <a:t>集合；</a:t>
            </a:r>
          </a:p>
          <a:p>
            <a:pPr>
              <a:spcBef>
                <a:spcPct val="20000"/>
              </a:spcBef>
            </a:pPr>
            <a:r>
              <a:rPr lang="zh-CN" altLang="en-US" dirty="0">
                <a:sym typeface="Symbol" panose="05050102010706020507" pitchFamily="18" charset="2"/>
              </a:rPr>
              <a:t>  </a:t>
            </a:r>
            <a:r>
              <a:rPr lang="en-US" altLang="zh-CN" dirty="0">
                <a:sym typeface="Symbol" panose="05050102010706020507" pitchFamily="18" charset="2"/>
              </a:rPr>
              <a:t>E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zh-CN" altLang="en-US" dirty="0">
                <a:highlight>
                  <a:srgbClr val="00FF00"/>
                </a:highlight>
                <a:sym typeface="Symbol" panose="05050102010706020507" pitchFamily="18" charset="2"/>
              </a:rPr>
              <a:t>边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sym typeface="Symbol" panose="05050102010706020507" pitchFamily="18" charset="2"/>
              </a:rPr>
              <a:t>有穷</a:t>
            </a:r>
            <a:r>
              <a:rPr lang="zh-CN" altLang="en-US" dirty="0">
                <a:sym typeface="Symbol" panose="05050102010706020507" pitchFamily="18" charset="2"/>
              </a:rPr>
              <a:t>集合。</a:t>
            </a:r>
          </a:p>
        </p:txBody>
      </p:sp>
      <p:sp>
        <p:nvSpPr>
          <p:cNvPr id="890907" name="Text Box 27"/>
          <p:cNvSpPr txBox="1">
            <a:spLocks noChangeArrowheads="1"/>
          </p:cNvSpPr>
          <p:nvPr/>
        </p:nvSpPr>
        <p:spPr bwMode="auto">
          <a:xfrm>
            <a:off x="152400" y="3581400"/>
            <a:ext cx="17557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无向图：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有向图：</a:t>
            </a:r>
          </a:p>
        </p:txBody>
      </p:sp>
      <p:sp>
        <p:nvSpPr>
          <p:cNvPr id="890908" name="Text Box 28"/>
          <p:cNvSpPr txBox="1">
            <a:spLocks noChangeArrowheads="1"/>
          </p:cNvSpPr>
          <p:nvPr/>
        </p:nvSpPr>
        <p:spPr bwMode="auto">
          <a:xfrm>
            <a:off x="1447800" y="3581400"/>
            <a:ext cx="503872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每条边都是无方向的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每条边都是有方向的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684213" y="647700"/>
            <a:ext cx="6292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完全图</a:t>
            </a:r>
            <a:r>
              <a:rPr lang="zh-CN" altLang="en-US" dirty="0">
                <a:solidFill>
                  <a:srgbClr val="FF3300"/>
                </a:solidFill>
              </a:rPr>
              <a:t>：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任意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两个点都有一条边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相连</a:t>
            </a:r>
          </a:p>
        </p:txBody>
      </p:sp>
      <p:pic>
        <p:nvPicPr>
          <p:cNvPr id="2048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1438"/>
            <a:ext cx="2509838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341438"/>
            <a:ext cx="2786063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9976" name="AutoShape 8"/>
          <p:cNvSpPr>
            <a:spLocks noChangeArrowheads="1"/>
          </p:cNvSpPr>
          <p:nvPr/>
        </p:nvSpPr>
        <p:spPr bwMode="auto">
          <a:xfrm>
            <a:off x="971550" y="4191000"/>
            <a:ext cx="1905000" cy="457200"/>
          </a:xfrm>
          <a:prstGeom prst="wedgeRectCallout">
            <a:avLst>
              <a:gd name="adj1" fmla="val -24333"/>
              <a:gd name="adj2" fmla="val -261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无向完全图</a:t>
            </a:r>
          </a:p>
        </p:txBody>
      </p:sp>
      <p:sp>
        <p:nvSpPr>
          <p:cNvPr id="979977" name="AutoShape 9"/>
          <p:cNvSpPr>
            <a:spLocks noChangeArrowheads="1"/>
          </p:cNvSpPr>
          <p:nvPr/>
        </p:nvSpPr>
        <p:spPr bwMode="auto">
          <a:xfrm>
            <a:off x="4932363" y="4191000"/>
            <a:ext cx="1828800" cy="457200"/>
          </a:xfrm>
          <a:prstGeom prst="wedgeRectCallout">
            <a:avLst>
              <a:gd name="adj1" fmla="val -2778"/>
              <a:gd name="adj2" fmla="val -2465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有向完全图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9978" name="Rectangle 10"/>
              <p:cNvSpPr>
                <a:spLocks noChangeArrowheads="1"/>
              </p:cNvSpPr>
              <p:nvPr/>
            </p:nvSpPr>
            <p:spPr bwMode="auto">
              <a:xfrm>
                <a:off x="1181100" y="4876800"/>
                <a:ext cx="1920719" cy="83099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buFontTx/>
                  <a:buNone/>
                  <a:defRPr/>
                </a:pPr>
                <a:r>
                  <a:rPr kumimoji="1" lang="en-US" altLang="zh-CN" sz="2400" i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n</a:t>
                </a:r>
                <a:r>
                  <a:rPr kumimoji="1" lang="en-US" altLang="zh-CN" sz="240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(</a:t>
                </a:r>
                <a:r>
                  <a:rPr kumimoji="1" lang="en-US" altLang="zh-CN" sz="2400" i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n</a:t>
                </a:r>
                <a:r>
                  <a:rPr kumimoji="1" lang="en-US" altLang="zh-CN" sz="240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-1)/2 </a:t>
                </a:r>
                <a:r>
                  <a:rPr kumimoji="1" lang="zh-CN" altLang="en-US" sz="240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条边</a:t>
                </a:r>
                <a:endParaRPr kumimoji="1" lang="en-US" altLang="zh-CN" sz="24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anose="02010609030101010101" charset="-122"/>
                  <a:cs typeface="+mn-cs"/>
                  <a:sym typeface="+mn-ea"/>
                </a:endParaRPr>
              </a:p>
              <a:p>
                <a:pPr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400" i="1" smtClean="0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</m:ctrlPr>
                        </m:sSubSupPr>
                        <m:e>
                          <m:r>
                            <a:rPr kumimoji="1" lang="zh-CN" altLang="en-US" sz="2400" i="1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  <m:t>𝑛</m:t>
                          </m:r>
                        </m:sub>
                        <m:sup>
                          <m:r>
                            <a:rPr kumimoji="1" lang="zh-CN" altLang="en-US" sz="2400" i="0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CN" altLang="en-US" sz="24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00FF00"/>
                  </a:highlight>
                  <a:cs typeface="+mn-cs"/>
                  <a:sym typeface="+mn-ea"/>
                </a:endParaRPr>
              </a:p>
            </p:txBody>
          </p:sp>
        </mc:Choice>
        <mc:Fallback xmlns="">
          <p:sp>
            <p:nvSpPr>
              <p:cNvPr id="97997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1100" y="4876800"/>
                <a:ext cx="1920719" cy="830997"/>
              </a:xfrm>
              <a:prstGeom prst="rect">
                <a:avLst/>
              </a:prstGeom>
              <a:blipFill>
                <a:blip r:embed="rId4"/>
                <a:stretch>
                  <a:fillRect l="-5397" t="-6618" r="-5397" b="-2941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9979" name="Rectangle 11"/>
              <p:cNvSpPr>
                <a:spLocks noChangeArrowheads="1"/>
              </p:cNvSpPr>
              <p:nvPr/>
            </p:nvSpPr>
            <p:spPr bwMode="auto">
              <a:xfrm>
                <a:off x="5091113" y="4800600"/>
                <a:ext cx="1681871" cy="83099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buFontTx/>
                  <a:buNone/>
                  <a:defRPr/>
                </a:pPr>
                <a:r>
                  <a:rPr kumimoji="1" lang="en-US" altLang="zh-CN" sz="2400" i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n</a:t>
                </a:r>
                <a:r>
                  <a:rPr kumimoji="1" lang="en-US" altLang="zh-CN" sz="240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(</a:t>
                </a:r>
                <a:r>
                  <a:rPr kumimoji="1" lang="en-US" altLang="zh-CN" sz="2400" i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n</a:t>
                </a:r>
                <a:r>
                  <a:rPr kumimoji="1" lang="en-US" altLang="zh-CN" sz="240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-1) </a:t>
                </a:r>
                <a:r>
                  <a:rPr kumimoji="1" lang="zh-CN" altLang="en-US" sz="240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anose="02010609030101010101" charset="-122"/>
                    <a:cs typeface="+mn-cs"/>
                    <a:sym typeface="+mn-ea"/>
                  </a:rPr>
                  <a:t>条边</a:t>
                </a:r>
                <a:endParaRPr kumimoji="1" lang="en-US" altLang="zh-CN" sz="24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anose="02010609030101010101" charset="-122"/>
                  <a:cs typeface="+mn-cs"/>
                  <a:sym typeface="+mn-ea"/>
                </a:endParaRPr>
              </a:p>
              <a:p>
                <a:pPr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400" i="1" smtClean="0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</m:ctrlPr>
                        </m:sSubSupPr>
                        <m:e>
                          <m:r>
                            <a:rPr kumimoji="1" lang="zh-CN" altLang="en-US" sz="2400" i="1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  <m:t>𝑛</m:t>
                          </m:r>
                        </m:sub>
                        <m:sup>
                          <m:r>
                            <a:rPr kumimoji="1" lang="zh-CN" altLang="en-US" sz="2400" i="0">
                              <a:solidFill>
                                <a:srgbClr val="FF33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cs typeface="+mn-cs"/>
                              <a:sym typeface="+mn-ea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CN" altLang="en-US" sz="24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00FF00"/>
                  </a:highlight>
                  <a:cs typeface="+mn-cs"/>
                  <a:sym typeface="+mn-ea"/>
                </a:endParaRPr>
              </a:p>
            </p:txBody>
          </p:sp>
        </mc:Choice>
        <mc:Fallback xmlns="">
          <p:sp>
            <p:nvSpPr>
              <p:cNvPr id="979979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1113" y="4800600"/>
                <a:ext cx="1681871" cy="830997"/>
              </a:xfrm>
              <a:prstGeom prst="rect">
                <a:avLst/>
              </a:prstGeom>
              <a:blipFill>
                <a:blip r:embed="rId5"/>
                <a:stretch>
                  <a:fillRect l="-5797" t="-6618" r="-6522" b="-2941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457200" y="762000"/>
            <a:ext cx="8229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稀疏图</a:t>
            </a:r>
            <a:r>
              <a:rPr lang="zh-CN" altLang="en-US" sz="2400" dirty="0"/>
              <a:t>：有很少</a:t>
            </a:r>
            <a:r>
              <a:rPr lang="zh-CN" altLang="en-US" sz="2400" dirty="0">
                <a:highlight>
                  <a:srgbClr val="00FF00"/>
                </a:highlight>
              </a:rPr>
              <a:t>边或弧</a:t>
            </a:r>
            <a:r>
              <a:rPr lang="zh-CN" altLang="en-US" sz="2400" dirty="0"/>
              <a:t>的图。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稠密图</a:t>
            </a:r>
            <a:r>
              <a:rPr lang="zh-CN" altLang="en-US" sz="2400" dirty="0"/>
              <a:t>：有较多</a:t>
            </a:r>
            <a:r>
              <a:rPr lang="zh-CN" altLang="en-US" sz="2400" dirty="0">
                <a:highlight>
                  <a:srgbClr val="00FF00"/>
                </a:highlight>
              </a:rPr>
              <a:t>边或弧</a:t>
            </a:r>
            <a:r>
              <a:rPr lang="zh-CN" altLang="en-US" sz="2400" dirty="0"/>
              <a:t>的图。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网</a:t>
            </a:r>
            <a:r>
              <a:rPr lang="zh-CN" altLang="en-US" sz="2400" dirty="0"/>
              <a:t>：边</a:t>
            </a:r>
            <a:r>
              <a:rPr lang="en-US" altLang="zh-CN" sz="2400" dirty="0"/>
              <a:t>/</a:t>
            </a:r>
            <a:r>
              <a:rPr lang="zh-CN" altLang="en-US" sz="2400" dirty="0"/>
              <a:t>弧带</a:t>
            </a:r>
            <a:r>
              <a:rPr lang="zh-CN" altLang="en-US" sz="2400" dirty="0">
                <a:highlight>
                  <a:srgbClr val="00FF00"/>
                </a:highlight>
              </a:rPr>
              <a:t>权</a:t>
            </a:r>
            <a:r>
              <a:rPr lang="zh-CN" altLang="en-US" sz="2400" dirty="0"/>
              <a:t>的图。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邻接</a:t>
            </a:r>
            <a:r>
              <a:rPr lang="zh-CN" altLang="en-US" sz="2400" dirty="0"/>
              <a:t>：有边</a:t>
            </a:r>
            <a:r>
              <a:rPr lang="en-US" altLang="zh-CN" sz="2400" dirty="0"/>
              <a:t>/</a:t>
            </a:r>
            <a:r>
              <a:rPr lang="zh-CN" altLang="en-US" sz="2400" dirty="0"/>
              <a:t>弧</a:t>
            </a:r>
            <a:r>
              <a:rPr lang="zh-CN" altLang="en-US" sz="2400" dirty="0">
                <a:highlight>
                  <a:srgbClr val="00FF00"/>
                </a:highlight>
              </a:rPr>
              <a:t>相连的两个顶点</a:t>
            </a:r>
            <a:r>
              <a:rPr lang="zh-CN" altLang="en-US" sz="2400" dirty="0"/>
              <a:t>之间的关系。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            存在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)</a:t>
            </a:r>
            <a:r>
              <a:rPr lang="zh-CN" altLang="en-US" sz="2400" dirty="0"/>
              <a:t>，则称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互为</a:t>
            </a:r>
            <a:r>
              <a:rPr lang="zh-CN" altLang="en-US" sz="2400" dirty="0">
                <a:solidFill>
                  <a:srgbClr val="FF3300"/>
                </a:solidFill>
              </a:rPr>
              <a:t>邻接点</a:t>
            </a:r>
            <a:r>
              <a:rPr lang="zh-CN" altLang="en-US" sz="2400" dirty="0"/>
              <a:t>；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              存在</a:t>
            </a:r>
            <a:r>
              <a:rPr lang="en-US" altLang="zh-CN" sz="2400" dirty="0"/>
              <a:t>&lt;v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&gt;</a:t>
            </a:r>
            <a:r>
              <a:rPr lang="zh-CN" altLang="en-US" sz="2400" dirty="0"/>
              <a:t>，则称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</a:t>
            </a:r>
            <a:r>
              <a:rPr lang="zh-CN" altLang="en-US" sz="2400" dirty="0">
                <a:solidFill>
                  <a:srgbClr val="FF3300"/>
                </a:solidFill>
              </a:rPr>
              <a:t>邻接</a:t>
            </a:r>
            <a:r>
              <a:rPr lang="zh-CN" altLang="en-US" sz="2400" dirty="0">
                <a:solidFill>
                  <a:srgbClr val="FF3300"/>
                </a:solidFill>
                <a:highlight>
                  <a:srgbClr val="00FF00"/>
                </a:highlight>
              </a:rPr>
              <a:t>到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，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>
                <a:solidFill>
                  <a:srgbClr val="FF3300"/>
                </a:solidFill>
              </a:rPr>
              <a:t>邻接</a:t>
            </a:r>
            <a:r>
              <a:rPr lang="zh-CN" altLang="en-US" sz="2400" dirty="0">
                <a:solidFill>
                  <a:srgbClr val="FF3300"/>
                </a:solidFill>
                <a:highlight>
                  <a:srgbClr val="00FF00"/>
                </a:highlight>
              </a:rPr>
              <a:t>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</a:t>
            </a:r>
            <a:r>
              <a:rPr lang="en-US" altLang="zh-CN" sz="2400" i="1" dirty="0"/>
              <a:t> 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关联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zh-CN" altLang="en-US" sz="2400" dirty="0">
                <a:solidFill>
                  <a:srgbClr val="FF3300"/>
                </a:solidFill>
              </a:rPr>
              <a:t>依附</a:t>
            </a:r>
            <a:r>
              <a:rPr lang="en-US" altLang="zh-CN" sz="2400" dirty="0">
                <a:solidFill>
                  <a:srgbClr val="FF3300"/>
                </a:solidFill>
              </a:rPr>
              <a:t>)</a:t>
            </a:r>
            <a:r>
              <a:rPr lang="zh-CN" altLang="en-US" sz="2400" dirty="0">
                <a:solidFill>
                  <a:srgbClr val="FF3300"/>
                </a:solidFill>
              </a:rPr>
              <a:t>：</a:t>
            </a:r>
            <a:r>
              <a:rPr lang="zh-CN" altLang="en-US" sz="2400" dirty="0"/>
              <a:t>边</a:t>
            </a:r>
            <a:r>
              <a:rPr lang="en-US" altLang="zh-CN" sz="2400" dirty="0"/>
              <a:t>/</a:t>
            </a:r>
            <a:r>
              <a:rPr lang="zh-CN" altLang="en-US" sz="2400" dirty="0"/>
              <a:t>弧与顶点之间的关系。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            存在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)/ &lt;v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&gt;</a:t>
            </a:r>
            <a:r>
              <a:rPr lang="zh-CN" altLang="en-US" sz="2400" dirty="0"/>
              <a:t>， 则称该边</a:t>
            </a:r>
            <a:r>
              <a:rPr lang="en-US" altLang="zh-CN" sz="2400" dirty="0"/>
              <a:t>/</a:t>
            </a:r>
            <a:r>
              <a:rPr lang="zh-CN" altLang="en-US" sz="2400" dirty="0"/>
              <a:t>弧关联于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215900" y="313418"/>
            <a:ext cx="8532813" cy="883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rgbClr val="FF3300"/>
                </a:solidFill>
              </a:rPr>
              <a:t>顶点的度</a:t>
            </a:r>
            <a:r>
              <a:rPr lang="zh-CN" altLang="en-US" dirty="0"/>
              <a:t>：与该顶点</a:t>
            </a:r>
            <a:r>
              <a:rPr lang="zh-CN" altLang="en-US" dirty="0">
                <a:highlight>
                  <a:srgbClr val="00FF00"/>
                </a:highlight>
              </a:rPr>
              <a:t>相关联的边的数目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有几条线延伸出去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  <a:r>
              <a:rPr lang="zh-CN" altLang="en-US" dirty="0"/>
              <a:t>，记为</a:t>
            </a:r>
            <a:r>
              <a:rPr lang="en-US" altLang="zh-CN" dirty="0"/>
              <a:t>TD(v)</a:t>
            </a:r>
          </a:p>
        </p:txBody>
      </p:sp>
      <p:sp>
        <p:nvSpPr>
          <p:cNvPr id="943109" name="Rectangle 5"/>
          <p:cNvSpPr>
            <a:spLocks noChangeArrowheads="1"/>
          </p:cNvSpPr>
          <p:nvPr/>
        </p:nvSpPr>
        <p:spPr bwMode="auto">
          <a:xfrm>
            <a:off x="0" y="1412875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tx2"/>
                </a:solidFill>
              </a:rPr>
              <a:t>在</a:t>
            </a:r>
            <a:r>
              <a:rPr lang="zh-CN" altLang="en-US" dirty="0">
                <a:solidFill>
                  <a:schemeClr val="hlink"/>
                </a:solidFill>
                <a:highlight>
                  <a:srgbClr val="00FF00"/>
                </a:highlight>
              </a:rPr>
              <a:t>有向</a:t>
            </a:r>
            <a:r>
              <a:rPr lang="zh-CN" altLang="en-US" dirty="0">
                <a:solidFill>
                  <a:schemeClr val="hlink"/>
                </a:solidFill>
              </a:rPr>
              <a:t>图</a:t>
            </a:r>
            <a:r>
              <a:rPr lang="zh-CN" altLang="en-US" dirty="0">
                <a:solidFill>
                  <a:schemeClr val="tx2"/>
                </a:solidFill>
              </a:rPr>
              <a:t>中</a:t>
            </a:r>
            <a:r>
              <a:rPr lang="en-US" altLang="zh-CN" dirty="0">
                <a:solidFill>
                  <a:schemeClr val="tx2"/>
                </a:solidFill>
              </a:rPr>
              <a:t>, </a:t>
            </a:r>
            <a:r>
              <a:rPr lang="zh-CN" altLang="en-US" dirty="0">
                <a:solidFill>
                  <a:schemeClr val="tx2"/>
                </a:solidFill>
              </a:rPr>
              <a:t>顶点的度等于该顶点的</a:t>
            </a:r>
            <a:r>
              <a:rPr lang="zh-CN" altLang="en-US" dirty="0">
                <a:solidFill>
                  <a:schemeClr val="hlink"/>
                </a:solidFill>
                <a:highlight>
                  <a:srgbClr val="00FF00"/>
                </a:highlight>
              </a:rPr>
              <a:t>入度</a:t>
            </a:r>
            <a:r>
              <a:rPr lang="zh-CN" altLang="en-US" dirty="0">
                <a:solidFill>
                  <a:schemeClr val="tx2"/>
                </a:solidFill>
                <a:highlight>
                  <a:srgbClr val="00FF00"/>
                </a:highlight>
              </a:rPr>
              <a:t>与</a:t>
            </a:r>
            <a:r>
              <a:rPr lang="zh-CN" altLang="en-US" dirty="0">
                <a:solidFill>
                  <a:schemeClr val="hlink"/>
                </a:solidFill>
                <a:highlight>
                  <a:srgbClr val="00FF00"/>
                </a:highlight>
              </a:rPr>
              <a:t>出度</a:t>
            </a:r>
            <a:r>
              <a:rPr lang="zh-CN" altLang="en-US" dirty="0">
                <a:solidFill>
                  <a:schemeClr val="tx2"/>
                </a:solidFill>
              </a:rPr>
              <a:t>之和。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dirty="0"/>
              <a:t>顶点 </a:t>
            </a:r>
            <a:r>
              <a:rPr lang="en-US" altLang="zh-CN" dirty="0">
                <a:solidFill>
                  <a:schemeClr val="hlink"/>
                </a:solidFill>
              </a:rPr>
              <a:t>v </a:t>
            </a:r>
            <a:r>
              <a:rPr lang="zh-CN" altLang="en-US" dirty="0">
                <a:solidFill>
                  <a:schemeClr val="hlink"/>
                </a:solidFill>
              </a:rPr>
              <a:t>的入度</a:t>
            </a:r>
            <a:r>
              <a:rPr lang="zh-CN" altLang="en-US" dirty="0"/>
              <a:t>是以 </a:t>
            </a:r>
            <a:r>
              <a:rPr lang="en-US" altLang="zh-CN" dirty="0"/>
              <a:t>v </a:t>
            </a:r>
            <a:r>
              <a:rPr lang="zh-CN" altLang="en-US" dirty="0"/>
              <a:t>为终点的有向边的条数</a:t>
            </a:r>
            <a:r>
              <a:rPr lang="en-US" altLang="zh-CN" dirty="0"/>
              <a:t>(</a:t>
            </a:r>
            <a:r>
              <a:rPr lang="zh-CN" altLang="en-US" dirty="0">
                <a:highlight>
                  <a:srgbClr val="00FF00"/>
                </a:highlight>
              </a:rPr>
              <a:t>进入该顶点</a:t>
            </a:r>
            <a:r>
              <a:rPr lang="en-US" altLang="zh-CN" dirty="0"/>
              <a:t>), </a:t>
            </a:r>
            <a:r>
              <a:rPr lang="zh-CN" altLang="en-US" dirty="0"/>
              <a:t>记作 </a:t>
            </a:r>
            <a:r>
              <a:rPr lang="en-US" altLang="zh-CN" dirty="0">
                <a:solidFill>
                  <a:srgbClr val="FF3300"/>
                </a:solidFill>
              </a:rPr>
              <a:t>ID(v)</a:t>
            </a:r>
            <a:r>
              <a:rPr lang="en-US" altLang="zh-CN" dirty="0"/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dirty="0"/>
              <a:t>顶点 </a:t>
            </a:r>
            <a:r>
              <a:rPr lang="en-US" altLang="zh-CN" dirty="0">
                <a:solidFill>
                  <a:schemeClr val="hlink"/>
                </a:solidFill>
              </a:rPr>
              <a:t>v </a:t>
            </a:r>
            <a:r>
              <a:rPr lang="zh-CN" altLang="en-US" dirty="0">
                <a:solidFill>
                  <a:schemeClr val="hlink"/>
                </a:solidFill>
              </a:rPr>
              <a:t>的出度</a:t>
            </a:r>
            <a:r>
              <a:rPr lang="zh-CN" altLang="en-US" dirty="0"/>
              <a:t>是以 </a:t>
            </a:r>
            <a:r>
              <a:rPr lang="en-US" altLang="zh-CN" dirty="0"/>
              <a:t>v </a:t>
            </a:r>
            <a:r>
              <a:rPr lang="zh-CN" altLang="en-US" dirty="0"/>
              <a:t>为始点的有向边的条数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dirty="0">
                <a:solidFill>
                  <a:srgbClr val="FF3300"/>
                </a:solidFill>
              </a:rPr>
              <a:t>OD(v)</a:t>
            </a:r>
          </a:p>
        </p:txBody>
      </p:sp>
      <p:sp>
        <p:nvSpPr>
          <p:cNvPr id="943110" name="Text Box 6"/>
          <p:cNvSpPr txBox="1">
            <a:spLocks noChangeArrowheads="1"/>
          </p:cNvSpPr>
          <p:nvPr/>
        </p:nvSpPr>
        <p:spPr bwMode="auto">
          <a:xfrm>
            <a:off x="45829" y="4813640"/>
            <a:ext cx="6781800" cy="9461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66750" indent="-666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问：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当有向图中仅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个顶点的入度为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,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其余顶点的入度均为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，此时是何形状？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6969014" y="4499276"/>
            <a:ext cx="2057400" cy="2176462"/>
            <a:chOff x="1249" y="3072"/>
            <a:chExt cx="1055" cy="672"/>
          </a:xfrm>
        </p:grpSpPr>
        <p:sp>
          <p:nvSpPr>
            <p:cNvPr id="22535" name="Oval 8"/>
            <p:cNvSpPr>
              <a:spLocks noChangeArrowheads="1"/>
            </p:cNvSpPr>
            <p:nvPr/>
          </p:nvSpPr>
          <p:spPr bwMode="auto">
            <a:xfrm>
              <a:off x="1825" y="3072"/>
              <a:ext cx="143" cy="1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endParaRPr lang="zh-CN" altLang="zh-CN">
                <a:ea typeface="PMingLiU" pitchFamily="18" charset="-120"/>
              </a:endParaRPr>
            </a:p>
          </p:txBody>
        </p:sp>
        <p:sp>
          <p:nvSpPr>
            <p:cNvPr id="22536" name="Line 9"/>
            <p:cNvSpPr>
              <a:spLocks noChangeShapeType="1"/>
            </p:cNvSpPr>
            <p:nvPr/>
          </p:nvSpPr>
          <p:spPr bwMode="auto">
            <a:xfrm flipH="1">
              <a:off x="1632" y="3168"/>
              <a:ext cx="192" cy="192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Oval 10"/>
            <p:cNvSpPr>
              <a:spLocks noChangeArrowheads="1"/>
            </p:cNvSpPr>
            <p:nvPr/>
          </p:nvSpPr>
          <p:spPr bwMode="auto">
            <a:xfrm>
              <a:off x="1489" y="3312"/>
              <a:ext cx="144" cy="1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22538" name="Oval 11"/>
            <p:cNvSpPr>
              <a:spLocks noChangeArrowheads="1"/>
            </p:cNvSpPr>
            <p:nvPr/>
          </p:nvSpPr>
          <p:spPr bwMode="auto">
            <a:xfrm>
              <a:off x="1249" y="3600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22539" name="Line 12"/>
            <p:cNvSpPr>
              <a:spLocks noChangeShapeType="1"/>
            </p:cNvSpPr>
            <p:nvPr/>
          </p:nvSpPr>
          <p:spPr bwMode="auto">
            <a:xfrm flipH="1">
              <a:off x="1345" y="3408"/>
              <a:ext cx="144" cy="192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Line 13"/>
            <p:cNvSpPr>
              <a:spLocks noChangeShapeType="1"/>
            </p:cNvSpPr>
            <p:nvPr/>
          </p:nvSpPr>
          <p:spPr bwMode="auto">
            <a:xfrm>
              <a:off x="1634" y="3456"/>
              <a:ext cx="144" cy="192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Oval 14"/>
            <p:cNvSpPr>
              <a:spLocks noChangeArrowheads="1"/>
            </p:cNvSpPr>
            <p:nvPr/>
          </p:nvSpPr>
          <p:spPr bwMode="auto">
            <a:xfrm>
              <a:off x="1872" y="3402"/>
              <a:ext cx="143" cy="1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endParaRPr lang="zh-CN" altLang="zh-CN">
                <a:ea typeface="PMingLiU" pitchFamily="18" charset="-120"/>
              </a:endParaRPr>
            </a:p>
          </p:txBody>
        </p:sp>
        <p:sp>
          <p:nvSpPr>
            <p:cNvPr id="22542" name="Line 15"/>
            <p:cNvSpPr>
              <a:spLocks noChangeShapeType="1"/>
            </p:cNvSpPr>
            <p:nvPr/>
          </p:nvSpPr>
          <p:spPr bwMode="auto">
            <a:xfrm>
              <a:off x="1920" y="3216"/>
              <a:ext cx="0" cy="192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Oval 16"/>
            <p:cNvSpPr>
              <a:spLocks noChangeArrowheads="1"/>
            </p:cNvSpPr>
            <p:nvPr/>
          </p:nvSpPr>
          <p:spPr bwMode="auto">
            <a:xfrm>
              <a:off x="2160" y="3360"/>
              <a:ext cx="144" cy="1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22544" name="Oval 17"/>
            <p:cNvSpPr>
              <a:spLocks noChangeArrowheads="1"/>
            </p:cNvSpPr>
            <p:nvPr/>
          </p:nvSpPr>
          <p:spPr bwMode="auto">
            <a:xfrm>
              <a:off x="1730" y="3600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22545" name="Line 18"/>
            <p:cNvSpPr>
              <a:spLocks noChangeShapeType="1"/>
            </p:cNvSpPr>
            <p:nvPr/>
          </p:nvSpPr>
          <p:spPr bwMode="auto">
            <a:xfrm>
              <a:off x="1968" y="3168"/>
              <a:ext cx="240" cy="192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3123" name="Rectangle 19"/>
          <p:cNvSpPr>
            <a:spLocks noChangeArrowheads="1"/>
          </p:cNvSpPr>
          <p:nvPr/>
        </p:nvSpPr>
        <p:spPr bwMode="auto">
          <a:xfrm>
            <a:off x="249094" y="5877272"/>
            <a:ext cx="5435600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答：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是树！而且是一棵有向树！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/>
          </p:cNvSpPr>
          <p:nvPr/>
        </p:nvSpPr>
        <p:spPr bwMode="auto">
          <a:xfrm>
            <a:off x="215900" y="685800"/>
            <a:ext cx="860425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路径</a:t>
            </a:r>
            <a:r>
              <a:rPr lang="zh-CN" altLang="en-US" sz="2400" dirty="0"/>
              <a:t>：接续的边构成的顶点序列。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路径长度</a:t>
            </a:r>
            <a:r>
              <a:rPr lang="zh-CN" altLang="en-US" sz="2400" dirty="0"/>
              <a:t>：路径上边或弧的</a:t>
            </a:r>
            <a:r>
              <a:rPr lang="zh-CN" altLang="en-US" sz="2400" dirty="0">
                <a:highlight>
                  <a:srgbClr val="00FF00"/>
                </a:highlight>
              </a:rPr>
              <a:t>数目</a:t>
            </a:r>
            <a:r>
              <a:rPr lang="en-US" altLang="zh-CN" sz="2400" dirty="0">
                <a:highlight>
                  <a:srgbClr val="00FF00"/>
                </a:highlight>
              </a:rPr>
              <a:t>/</a:t>
            </a:r>
            <a:r>
              <a:rPr lang="zh-CN" altLang="en-US" sz="2400" dirty="0">
                <a:highlight>
                  <a:srgbClr val="00FF00"/>
                </a:highlight>
              </a:rPr>
              <a:t>权值</a:t>
            </a:r>
            <a:r>
              <a:rPr lang="zh-CN" altLang="en-US" sz="2400" dirty="0"/>
              <a:t>之和。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回路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zh-CN" altLang="en-US" sz="2400" dirty="0">
                <a:solidFill>
                  <a:srgbClr val="FF3300"/>
                </a:solidFill>
              </a:rPr>
              <a:t>环</a:t>
            </a:r>
            <a:r>
              <a:rPr lang="en-US" altLang="zh-CN" sz="2400" dirty="0">
                <a:solidFill>
                  <a:srgbClr val="FF3300"/>
                </a:solidFill>
              </a:rPr>
              <a:t>)</a:t>
            </a:r>
            <a:r>
              <a:rPr lang="zh-CN" altLang="en-US" sz="2400" dirty="0">
                <a:solidFill>
                  <a:srgbClr val="FF3300"/>
                </a:solidFill>
              </a:rPr>
              <a:t>：</a:t>
            </a:r>
            <a:r>
              <a:rPr lang="zh-CN" altLang="en-US" sz="2400" dirty="0"/>
              <a:t>第一个顶点和最后一个顶点相同的路径。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简单路径：</a:t>
            </a:r>
            <a:r>
              <a:rPr lang="zh-CN" altLang="en-US" sz="2400" dirty="0"/>
              <a:t>除路径起点和终点可以相同外，其余顶点均</a:t>
            </a:r>
            <a:r>
              <a:rPr lang="zh-CN" altLang="en-US" sz="2400" dirty="0">
                <a:highlight>
                  <a:srgbClr val="00FF00"/>
                </a:highlight>
              </a:rPr>
              <a:t>不相同</a:t>
            </a:r>
            <a:r>
              <a:rPr lang="zh-CN" altLang="en-US" sz="2400" dirty="0"/>
              <a:t>的路径。</a:t>
            </a:r>
            <a:r>
              <a:rPr lang="en-US" altLang="zh-CN" sz="2400" dirty="0"/>
              <a:t>(</a:t>
            </a:r>
            <a:r>
              <a:rPr lang="zh-CN" altLang="en-US" sz="2400" dirty="0"/>
              <a:t>除了终点起点不重复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简单回路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zh-CN" altLang="en-US" sz="2400" dirty="0">
                <a:solidFill>
                  <a:srgbClr val="FF3300"/>
                </a:solidFill>
              </a:rPr>
              <a:t>简单环</a:t>
            </a:r>
            <a:r>
              <a:rPr lang="en-US" altLang="zh-CN" sz="2400" dirty="0">
                <a:solidFill>
                  <a:srgbClr val="FF3300"/>
                </a:solidFill>
              </a:rPr>
              <a:t>)</a:t>
            </a:r>
            <a:r>
              <a:rPr lang="zh-CN" altLang="en-US" sz="2400" dirty="0">
                <a:solidFill>
                  <a:srgbClr val="FF3300"/>
                </a:solidFill>
              </a:rPr>
              <a:t>：</a:t>
            </a:r>
            <a:r>
              <a:rPr lang="zh-CN" altLang="en-US" sz="2400" dirty="0"/>
              <a:t>除路径起点和终点相同外，其余顶点均不相同的路径。</a:t>
            </a:r>
          </a:p>
        </p:txBody>
      </p:sp>
      <p:pic>
        <p:nvPicPr>
          <p:cNvPr id="9461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933825"/>
            <a:ext cx="6248400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6910388" y="2284413"/>
            <a:ext cx="61118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非连通图</a:t>
            </a:r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814388" y="2360613"/>
            <a:ext cx="61118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连通图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738188" y="4341813"/>
            <a:ext cx="61118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强连通图</a:t>
            </a:r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6896100" y="4265613"/>
            <a:ext cx="6111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非强连通图</a:t>
            </a:r>
          </a:p>
        </p:txBody>
      </p:sp>
      <p:grpSp>
        <p:nvGrpSpPr>
          <p:cNvPr id="24582" name="Group 8"/>
          <p:cNvGrpSpPr/>
          <p:nvPr/>
        </p:nvGrpSpPr>
        <p:grpSpPr bwMode="auto">
          <a:xfrm>
            <a:off x="4381500" y="4570413"/>
            <a:ext cx="1866900" cy="1690687"/>
            <a:chOff x="432" y="1680"/>
            <a:chExt cx="1176" cy="1065"/>
          </a:xfrm>
        </p:grpSpPr>
        <p:sp>
          <p:nvSpPr>
            <p:cNvPr id="24653" name="Line 9"/>
            <p:cNvSpPr>
              <a:spLocks noChangeShapeType="1"/>
            </p:cNvSpPr>
            <p:nvPr/>
          </p:nvSpPr>
          <p:spPr bwMode="auto">
            <a:xfrm>
              <a:off x="618" y="2019"/>
              <a:ext cx="0" cy="4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Line 10"/>
            <p:cNvSpPr>
              <a:spLocks noChangeShapeType="1"/>
            </p:cNvSpPr>
            <p:nvPr/>
          </p:nvSpPr>
          <p:spPr bwMode="auto">
            <a:xfrm>
              <a:off x="752" y="2602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Line 11"/>
            <p:cNvSpPr>
              <a:spLocks noChangeShapeType="1"/>
            </p:cNvSpPr>
            <p:nvPr/>
          </p:nvSpPr>
          <p:spPr bwMode="auto">
            <a:xfrm>
              <a:off x="752" y="1848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6" name="Line 12"/>
            <p:cNvSpPr>
              <a:spLocks noChangeShapeType="1"/>
            </p:cNvSpPr>
            <p:nvPr/>
          </p:nvSpPr>
          <p:spPr bwMode="auto">
            <a:xfrm flipH="1" flipV="1">
              <a:off x="672" y="1920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57" name="Group 13"/>
            <p:cNvGrpSpPr/>
            <p:nvPr/>
          </p:nvGrpSpPr>
          <p:grpSpPr bwMode="auto">
            <a:xfrm>
              <a:off x="432" y="1680"/>
              <a:ext cx="408" cy="297"/>
              <a:chOff x="432" y="1680"/>
              <a:chExt cx="408" cy="297"/>
            </a:xfrm>
          </p:grpSpPr>
          <p:sp>
            <p:nvSpPr>
              <p:cNvPr id="24667" name="Oval 1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68" name="Text Box 1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4658" name="Group 16"/>
            <p:cNvGrpSpPr/>
            <p:nvPr/>
          </p:nvGrpSpPr>
          <p:grpSpPr bwMode="auto">
            <a:xfrm>
              <a:off x="1200" y="1682"/>
              <a:ext cx="408" cy="297"/>
              <a:chOff x="432" y="1680"/>
              <a:chExt cx="408" cy="297"/>
            </a:xfrm>
          </p:grpSpPr>
          <p:sp>
            <p:nvSpPr>
              <p:cNvPr id="24665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66" name="Text Box 1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4659" name="Group 19"/>
            <p:cNvGrpSpPr/>
            <p:nvPr/>
          </p:nvGrpSpPr>
          <p:grpSpPr bwMode="auto">
            <a:xfrm>
              <a:off x="432" y="2448"/>
              <a:ext cx="408" cy="297"/>
              <a:chOff x="432" y="1680"/>
              <a:chExt cx="408" cy="297"/>
            </a:xfrm>
          </p:grpSpPr>
          <p:sp>
            <p:nvSpPr>
              <p:cNvPr id="24663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64" name="Text Box 21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24660" name="Group 22"/>
            <p:cNvGrpSpPr/>
            <p:nvPr/>
          </p:nvGrpSpPr>
          <p:grpSpPr bwMode="auto">
            <a:xfrm>
              <a:off x="1200" y="2448"/>
              <a:ext cx="408" cy="297"/>
              <a:chOff x="432" y="1680"/>
              <a:chExt cx="408" cy="297"/>
            </a:xfrm>
          </p:grpSpPr>
          <p:sp>
            <p:nvSpPr>
              <p:cNvPr id="24661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62" name="Text Box 2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</p:grpSp>
      <p:grpSp>
        <p:nvGrpSpPr>
          <p:cNvPr id="24583" name="Group 25"/>
          <p:cNvGrpSpPr/>
          <p:nvPr/>
        </p:nvGrpSpPr>
        <p:grpSpPr bwMode="auto">
          <a:xfrm>
            <a:off x="1866900" y="2665413"/>
            <a:ext cx="1790700" cy="1614487"/>
            <a:chOff x="672" y="1920"/>
            <a:chExt cx="1128" cy="1017"/>
          </a:xfrm>
        </p:grpSpPr>
        <p:grpSp>
          <p:nvGrpSpPr>
            <p:cNvPr id="24631" name="Group 26"/>
            <p:cNvGrpSpPr/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24647" name="Line 27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8" name="Line 28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9" name="Line 29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0" name="Line 30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1" name="Line 31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2" name="Line 32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32" name="Group 33"/>
            <p:cNvGrpSpPr/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24645" name="Oval 3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46" name="Text Box 3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4633" name="Group 36"/>
            <p:cNvGrpSpPr/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24643" name="Oval 3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44" name="Text Box 3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4634" name="Group 39"/>
            <p:cNvGrpSpPr/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24641" name="Oval 4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42" name="Text Box 41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4635" name="Group 42"/>
            <p:cNvGrpSpPr/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24639" name="Oval 43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40" name="Text Box 44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4636" name="Group 45"/>
            <p:cNvGrpSpPr/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24637" name="Oval 46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38" name="Text Box 47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24584" name="Group 48"/>
          <p:cNvGrpSpPr/>
          <p:nvPr/>
        </p:nvGrpSpPr>
        <p:grpSpPr bwMode="auto">
          <a:xfrm>
            <a:off x="1714500" y="4494213"/>
            <a:ext cx="1866900" cy="1690687"/>
            <a:chOff x="1200" y="2736"/>
            <a:chExt cx="1176" cy="1065"/>
          </a:xfrm>
        </p:grpSpPr>
        <p:sp>
          <p:nvSpPr>
            <p:cNvPr id="24614" name="Line 49"/>
            <p:cNvSpPr>
              <a:spLocks noChangeShapeType="1"/>
            </p:cNvSpPr>
            <p:nvPr/>
          </p:nvSpPr>
          <p:spPr bwMode="auto">
            <a:xfrm>
              <a:off x="1392" y="3024"/>
              <a:ext cx="0" cy="48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Line 50"/>
            <p:cNvSpPr>
              <a:spLocks noChangeShapeType="1"/>
            </p:cNvSpPr>
            <p:nvPr/>
          </p:nvSpPr>
          <p:spPr bwMode="auto">
            <a:xfrm>
              <a:off x="1520" y="3658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Line 51"/>
            <p:cNvSpPr>
              <a:spLocks noChangeShapeType="1"/>
            </p:cNvSpPr>
            <p:nvPr/>
          </p:nvSpPr>
          <p:spPr bwMode="auto">
            <a:xfrm>
              <a:off x="1520" y="2904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7" name="Line 52"/>
            <p:cNvSpPr>
              <a:spLocks noChangeShapeType="1"/>
            </p:cNvSpPr>
            <p:nvPr/>
          </p:nvSpPr>
          <p:spPr bwMode="auto">
            <a:xfrm flipH="1" flipV="1">
              <a:off x="1440" y="2976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18" name="Group 53"/>
            <p:cNvGrpSpPr/>
            <p:nvPr/>
          </p:nvGrpSpPr>
          <p:grpSpPr bwMode="auto">
            <a:xfrm>
              <a:off x="1200" y="2736"/>
              <a:ext cx="408" cy="297"/>
              <a:chOff x="432" y="1680"/>
              <a:chExt cx="408" cy="297"/>
            </a:xfrm>
          </p:grpSpPr>
          <p:sp>
            <p:nvSpPr>
              <p:cNvPr id="24629" name="Oval 5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30" name="Text Box 5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4619" name="Group 56"/>
            <p:cNvGrpSpPr/>
            <p:nvPr/>
          </p:nvGrpSpPr>
          <p:grpSpPr bwMode="auto">
            <a:xfrm>
              <a:off x="1968" y="2738"/>
              <a:ext cx="408" cy="297"/>
              <a:chOff x="432" y="1680"/>
              <a:chExt cx="408" cy="297"/>
            </a:xfrm>
          </p:grpSpPr>
          <p:sp>
            <p:nvSpPr>
              <p:cNvPr id="24627" name="Oval 5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28" name="Text Box 5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4620" name="Group 59"/>
            <p:cNvGrpSpPr/>
            <p:nvPr/>
          </p:nvGrpSpPr>
          <p:grpSpPr bwMode="auto">
            <a:xfrm>
              <a:off x="1200" y="3504"/>
              <a:ext cx="408" cy="297"/>
              <a:chOff x="432" y="1680"/>
              <a:chExt cx="408" cy="297"/>
            </a:xfrm>
          </p:grpSpPr>
          <p:sp>
            <p:nvSpPr>
              <p:cNvPr id="24625" name="Oval 6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26" name="Text Box 61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24621" name="Group 62"/>
            <p:cNvGrpSpPr/>
            <p:nvPr/>
          </p:nvGrpSpPr>
          <p:grpSpPr bwMode="auto">
            <a:xfrm>
              <a:off x="1968" y="3504"/>
              <a:ext cx="408" cy="297"/>
              <a:chOff x="432" y="1680"/>
              <a:chExt cx="408" cy="297"/>
            </a:xfrm>
          </p:grpSpPr>
          <p:sp>
            <p:nvSpPr>
              <p:cNvPr id="24623" name="Oval 6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624" name="Text Box 6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sp>
          <p:nvSpPr>
            <p:cNvPr id="24622" name="Line 65"/>
            <p:cNvSpPr>
              <a:spLocks noChangeShapeType="1"/>
            </p:cNvSpPr>
            <p:nvPr/>
          </p:nvSpPr>
          <p:spPr bwMode="auto">
            <a:xfrm flipV="1">
              <a:off x="1488" y="3024"/>
              <a:ext cx="576" cy="528"/>
            </a:xfrm>
            <a:prstGeom prst="line">
              <a:avLst/>
            </a:prstGeom>
            <a:noFill/>
            <a:ln w="34925">
              <a:solidFill>
                <a:srgbClr val="FF66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5" name="Group 66"/>
          <p:cNvGrpSpPr/>
          <p:nvPr/>
        </p:nvGrpSpPr>
        <p:grpSpPr bwMode="auto">
          <a:xfrm>
            <a:off x="4152900" y="2817813"/>
            <a:ext cx="1755775" cy="1462087"/>
            <a:chOff x="1174" y="2688"/>
            <a:chExt cx="1106" cy="921"/>
          </a:xfrm>
        </p:grpSpPr>
        <p:grpSp>
          <p:nvGrpSpPr>
            <p:cNvPr id="24596" name="Group 67"/>
            <p:cNvGrpSpPr/>
            <p:nvPr/>
          </p:nvGrpSpPr>
          <p:grpSpPr bwMode="auto">
            <a:xfrm>
              <a:off x="1334" y="2823"/>
              <a:ext cx="735" cy="567"/>
              <a:chOff x="1334" y="2823"/>
              <a:chExt cx="735" cy="567"/>
            </a:xfrm>
          </p:grpSpPr>
          <p:sp>
            <p:nvSpPr>
              <p:cNvPr id="24610" name="Line 68"/>
              <p:cNvSpPr>
                <a:spLocks noChangeShapeType="1"/>
              </p:cNvSpPr>
              <p:nvPr/>
            </p:nvSpPr>
            <p:spPr bwMode="auto">
              <a:xfrm>
                <a:off x="1488" y="2919"/>
                <a:ext cx="474" cy="471"/>
              </a:xfrm>
              <a:prstGeom prst="line">
                <a:avLst/>
              </a:prstGeom>
              <a:noFill/>
              <a:ln w="38100" cap="rnd">
                <a:solidFill>
                  <a:srgbClr val="FF64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1" name="Line 69"/>
              <p:cNvSpPr>
                <a:spLocks noChangeShapeType="1"/>
              </p:cNvSpPr>
              <p:nvPr/>
            </p:nvSpPr>
            <p:spPr bwMode="auto">
              <a:xfrm>
                <a:off x="1334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2" name="Line 70"/>
              <p:cNvSpPr>
                <a:spLocks noChangeShapeType="1"/>
              </p:cNvSpPr>
              <p:nvPr/>
            </p:nvSpPr>
            <p:spPr bwMode="auto">
              <a:xfrm>
                <a:off x="1494" y="2823"/>
                <a:ext cx="44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3" name="Line 71"/>
              <p:cNvSpPr>
                <a:spLocks noChangeShapeType="1"/>
              </p:cNvSpPr>
              <p:nvPr/>
            </p:nvSpPr>
            <p:spPr bwMode="auto">
              <a:xfrm>
                <a:off x="2069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597" name="Group 72"/>
            <p:cNvGrpSpPr/>
            <p:nvPr/>
          </p:nvGrpSpPr>
          <p:grpSpPr bwMode="auto">
            <a:xfrm>
              <a:off x="1174" y="2688"/>
              <a:ext cx="1106" cy="921"/>
              <a:chOff x="1174" y="2688"/>
              <a:chExt cx="1106" cy="921"/>
            </a:xfrm>
          </p:grpSpPr>
          <p:grpSp>
            <p:nvGrpSpPr>
              <p:cNvPr id="24598" name="Group 73"/>
              <p:cNvGrpSpPr/>
              <p:nvPr/>
            </p:nvGrpSpPr>
            <p:grpSpPr bwMode="auto">
              <a:xfrm>
                <a:off x="1176" y="2688"/>
                <a:ext cx="408" cy="297"/>
                <a:chOff x="432" y="1680"/>
                <a:chExt cx="408" cy="297"/>
              </a:xfrm>
            </p:grpSpPr>
            <p:sp>
              <p:nvSpPr>
                <p:cNvPr id="24608" name="Oval 74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4609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V0</a:t>
                  </a:r>
                </a:p>
              </p:txBody>
            </p:sp>
          </p:grpSp>
          <p:grpSp>
            <p:nvGrpSpPr>
              <p:cNvPr id="24599" name="Group 76"/>
              <p:cNvGrpSpPr/>
              <p:nvPr/>
            </p:nvGrpSpPr>
            <p:grpSpPr bwMode="auto">
              <a:xfrm>
                <a:off x="1872" y="3312"/>
                <a:ext cx="408" cy="297"/>
                <a:chOff x="432" y="1680"/>
                <a:chExt cx="408" cy="297"/>
              </a:xfrm>
            </p:grpSpPr>
            <p:sp>
              <p:nvSpPr>
                <p:cNvPr id="24606" name="Oval 77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4607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V2</a:t>
                  </a:r>
                </a:p>
              </p:txBody>
            </p:sp>
          </p:grpSp>
          <p:grpSp>
            <p:nvGrpSpPr>
              <p:cNvPr id="24600" name="Group 79"/>
              <p:cNvGrpSpPr/>
              <p:nvPr/>
            </p:nvGrpSpPr>
            <p:grpSpPr bwMode="auto">
              <a:xfrm>
                <a:off x="1174" y="3312"/>
                <a:ext cx="408" cy="297"/>
                <a:chOff x="432" y="1680"/>
                <a:chExt cx="408" cy="297"/>
              </a:xfrm>
            </p:grpSpPr>
            <p:sp>
              <p:nvSpPr>
                <p:cNvPr id="24604" name="Oval 80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4605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V3</a:t>
                  </a:r>
                </a:p>
              </p:txBody>
            </p:sp>
          </p:grpSp>
          <p:grpSp>
            <p:nvGrpSpPr>
              <p:cNvPr id="24601" name="Group 82"/>
              <p:cNvGrpSpPr/>
              <p:nvPr/>
            </p:nvGrpSpPr>
            <p:grpSpPr bwMode="auto">
              <a:xfrm>
                <a:off x="1872" y="2688"/>
                <a:ext cx="408" cy="294"/>
                <a:chOff x="2928" y="3312"/>
                <a:chExt cx="408" cy="294"/>
              </a:xfrm>
            </p:grpSpPr>
            <p:sp>
              <p:nvSpPr>
                <p:cNvPr id="24602" name="Oval 83"/>
                <p:cNvSpPr>
                  <a:spLocks noChangeArrowheads="1"/>
                </p:cNvSpPr>
                <p:nvPr/>
              </p:nvSpPr>
              <p:spPr bwMode="auto">
                <a:xfrm>
                  <a:off x="2976" y="3312"/>
                  <a:ext cx="295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4603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2928" y="3312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V1</a:t>
                  </a:r>
                </a:p>
              </p:txBody>
            </p:sp>
          </p:grpSp>
        </p:grpSp>
      </p:grpSp>
      <p:grpSp>
        <p:nvGrpSpPr>
          <p:cNvPr id="24586" name="Group 85"/>
          <p:cNvGrpSpPr/>
          <p:nvPr/>
        </p:nvGrpSpPr>
        <p:grpSpPr bwMode="auto">
          <a:xfrm>
            <a:off x="5829300" y="2817813"/>
            <a:ext cx="685800" cy="1462087"/>
            <a:chOff x="3600" y="2736"/>
            <a:chExt cx="432" cy="921"/>
          </a:xfrm>
        </p:grpSpPr>
        <p:sp>
          <p:nvSpPr>
            <p:cNvPr id="24589" name="Line 86"/>
            <p:cNvSpPr>
              <a:spLocks noChangeShapeType="1"/>
            </p:cNvSpPr>
            <p:nvPr/>
          </p:nvSpPr>
          <p:spPr bwMode="auto">
            <a:xfrm>
              <a:off x="3806" y="2999"/>
              <a:ext cx="0" cy="36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590" name="Group 87"/>
            <p:cNvGrpSpPr/>
            <p:nvPr/>
          </p:nvGrpSpPr>
          <p:grpSpPr bwMode="auto">
            <a:xfrm>
              <a:off x="3600" y="3360"/>
              <a:ext cx="408" cy="297"/>
              <a:chOff x="432" y="1680"/>
              <a:chExt cx="408" cy="297"/>
            </a:xfrm>
          </p:grpSpPr>
          <p:sp>
            <p:nvSpPr>
              <p:cNvPr id="24594" name="Oval 8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595" name="Text Box 8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V5</a:t>
                </a:r>
              </a:p>
            </p:txBody>
          </p:sp>
        </p:grpSp>
        <p:grpSp>
          <p:nvGrpSpPr>
            <p:cNvPr id="24591" name="Group 90"/>
            <p:cNvGrpSpPr/>
            <p:nvPr/>
          </p:nvGrpSpPr>
          <p:grpSpPr bwMode="auto">
            <a:xfrm>
              <a:off x="3624" y="2736"/>
              <a:ext cx="408" cy="297"/>
              <a:chOff x="432" y="1680"/>
              <a:chExt cx="408" cy="297"/>
            </a:xfrm>
          </p:grpSpPr>
          <p:sp>
            <p:nvSpPr>
              <p:cNvPr id="24592" name="Oval 9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4593" name="Text Box 9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</p:grpSp>
      <p:sp>
        <p:nvSpPr>
          <p:cNvPr id="951389" name="Rectangle 93"/>
          <p:cNvSpPr>
            <a:spLocks noChangeArrowheads="1"/>
          </p:cNvSpPr>
          <p:nvPr/>
        </p:nvSpPr>
        <p:spPr bwMode="auto">
          <a:xfrm>
            <a:off x="647700" y="631825"/>
            <a:ext cx="33988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连通图（强连通图）</a:t>
            </a:r>
          </a:p>
        </p:txBody>
      </p:sp>
      <p:sp>
        <p:nvSpPr>
          <p:cNvPr id="24588" name="Rectangle 94"/>
          <p:cNvSpPr>
            <a:spLocks noChangeArrowheads="1"/>
          </p:cNvSpPr>
          <p:nvPr/>
        </p:nvSpPr>
        <p:spPr bwMode="auto">
          <a:xfrm>
            <a:off x="266700" y="1141413"/>
            <a:ext cx="83058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在无（有）向图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G=( V, {E} )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中，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若对任何两个顶点 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、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u 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都存在从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v 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到 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u 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的路径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，则称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是连通图（强连通图）。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F4E5F1-81FA-B0DB-B0CE-2B45B182B5E6}"/>
              </a:ext>
            </a:extLst>
          </p:cNvPr>
          <p:cNvSpPr txBox="1"/>
          <p:nvPr/>
        </p:nvSpPr>
        <p:spPr>
          <a:xfrm>
            <a:off x="7740352" y="4725144"/>
            <a:ext cx="11702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有向图加上</a:t>
            </a:r>
            <a:r>
              <a:rPr lang="en-US" altLang="zh-CN" dirty="0"/>
              <a:t>”</a:t>
            </a:r>
            <a:r>
              <a:rPr lang="zh-CN" altLang="en-US" dirty="0"/>
              <a:t>强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1171575" y="5878513"/>
            <a:ext cx="1125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(a)</a:t>
            </a:r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3686175" y="5878513"/>
            <a:ext cx="1125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(b)</a:t>
            </a: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6276975" y="5878513"/>
            <a:ext cx="1125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(c)</a:t>
            </a:r>
          </a:p>
        </p:txBody>
      </p:sp>
      <p:grpSp>
        <p:nvGrpSpPr>
          <p:cNvPr id="25605" name="Group 7"/>
          <p:cNvGrpSpPr/>
          <p:nvPr/>
        </p:nvGrpSpPr>
        <p:grpSpPr bwMode="auto">
          <a:xfrm>
            <a:off x="3457575" y="3897313"/>
            <a:ext cx="1790700" cy="1614487"/>
            <a:chOff x="2256" y="1968"/>
            <a:chExt cx="1128" cy="1017"/>
          </a:xfrm>
        </p:grpSpPr>
        <p:sp>
          <p:nvSpPr>
            <p:cNvPr id="25653" name="Line 8"/>
            <p:cNvSpPr>
              <a:spLocks noChangeShapeType="1"/>
            </p:cNvSpPr>
            <p:nvPr/>
          </p:nvSpPr>
          <p:spPr bwMode="auto">
            <a:xfrm>
              <a:off x="2571" y="2112"/>
              <a:ext cx="47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4" name="Line 9"/>
            <p:cNvSpPr>
              <a:spLocks noChangeShapeType="1"/>
            </p:cNvSpPr>
            <p:nvPr/>
          </p:nvSpPr>
          <p:spPr bwMode="auto">
            <a:xfrm>
              <a:off x="3183" y="2286"/>
              <a:ext cx="0" cy="415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5" name="Line 10"/>
            <p:cNvSpPr>
              <a:spLocks noChangeShapeType="1"/>
            </p:cNvSpPr>
            <p:nvPr/>
          </p:nvSpPr>
          <p:spPr bwMode="auto">
            <a:xfrm flipH="1">
              <a:off x="2536" y="2597"/>
              <a:ext cx="171" cy="17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6" name="Line 11"/>
            <p:cNvSpPr>
              <a:spLocks noChangeShapeType="1"/>
            </p:cNvSpPr>
            <p:nvPr/>
          </p:nvSpPr>
          <p:spPr bwMode="auto">
            <a:xfrm>
              <a:off x="2898" y="2620"/>
              <a:ext cx="149" cy="14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57" name="Group 12"/>
            <p:cNvGrpSpPr/>
            <p:nvPr/>
          </p:nvGrpSpPr>
          <p:grpSpPr bwMode="auto">
            <a:xfrm>
              <a:off x="2258" y="1968"/>
              <a:ext cx="408" cy="297"/>
              <a:chOff x="432" y="1680"/>
              <a:chExt cx="408" cy="297"/>
            </a:xfrm>
          </p:grpSpPr>
          <p:sp>
            <p:nvSpPr>
              <p:cNvPr id="25670" name="Oval 1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71" name="Text Box 1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5658" name="Group 15"/>
            <p:cNvGrpSpPr/>
            <p:nvPr/>
          </p:nvGrpSpPr>
          <p:grpSpPr bwMode="auto">
            <a:xfrm>
              <a:off x="2976" y="2688"/>
              <a:ext cx="408" cy="297"/>
              <a:chOff x="432" y="1680"/>
              <a:chExt cx="408" cy="297"/>
            </a:xfrm>
          </p:grpSpPr>
          <p:sp>
            <p:nvSpPr>
              <p:cNvPr id="25668" name="Oval 16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69" name="Text Box 17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5659" name="Group 18"/>
            <p:cNvGrpSpPr/>
            <p:nvPr/>
          </p:nvGrpSpPr>
          <p:grpSpPr bwMode="auto">
            <a:xfrm>
              <a:off x="2256" y="2688"/>
              <a:ext cx="408" cy="297"/>
              <a:chOff x="432" y="1680"/>
              <a:chExt cx="408" cy="297"/>
            </a:xfrm>
          </p:grpSpPr>
          <p:sp>
            <p:nvSpPr>
              <p:cNvPr id="25666" name="Oval 1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67" name="Text Box 2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5660" name="Group 21"/>
            <p:cNvGrpSpPr/>
            <p:nvPr/>
          </p:nvGrpSpPr>
          <p:grpSpPr bwMode="auto">
            <a:xfrm>
              <a:off x="2954" y="1968"/>
              <a:ext cx="408" cy="294"/>
              <a:chOff x="2928" y="3312"/>
              <a:chExt cx="408" cy="294"/>
            </a:xfrm>
          </p:grpSpPr>
          <p:sp>
            <p:nvSpPr>
              <p:cNvPr id="25664" name="Oval 22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65" name="Text Box 23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5661" name="Group 24"/>
            <p:cNvGrpSpPr/>
            <p:nvPr/>
          </p:nvGrpSpPr>
          <p:grpSpPr bwMode="auto">
            <a:xfrm>
              <a:off x="2592" y="2352"/>
              <a:ext cx="408" cy="294"/>
              <a:chOff x="1008" y="2304"/>
              <a:chExt cx="408" cy="294"/>
            </a:xfrm>
          </p:grpSpPr>
          <p:sp>
            <p:nvSpPr>
              <p:cNvPr id="25662" name="Oval 25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63" name="Text Box 26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25606" name="Group 27"/>
          <p:cNvGrpSpPr/>
          <p:nvPr/>
        </p:nvGrpSpPr>
        <p:grpSpPr bwMode="auto">
          <a:xfrm>
            <a:off x="6048375" y="3897313"/>
            <a:ext cx="1790700" cy="1614487"/>
            <a:chOff x="4176" y="1968"/>
            <a:chExt cx="1128" cy="1017"/>
          </a:xfrm>
        </p:grpSpPr>
        <p:sp>
          <p:nvSpPr>
            <p:cNvPr id="25634" name="Line 28"/>
            <p:cNvSpPr>
              <a:spLocks noChangeShapeType="1"/>
            </p:cNvSpPr>
            <p:nvPr/>
          </p:nvSpPr>
          <p:spPr bwMode="auto">
            <a:xfrm>
              <a:off x="4320" y="2286"/>
              <a:ext cx="0" cy="415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29"/>
            <p:cNvSpPr>
              <a:spLocks noChangeShapeType="1"/>
            </p:cNvSpPr>
            <p:nvPr/>
          </p:nvSpPr>
          <p:spPr bwMode="auto">
            <a:xfrm>
              <a:off x="5103" y="2286"/>
              <a:ext cx="0" cy="415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30"/>
            <p:cNvSpPr>
              <a:spLocks noChangeShapeType="1"/>
            </p:cNvSpPr>
            <p:nvPr/>
          </p:nvSpPr>
          <p:spPr bwMode="auto">
            <a:xfrm flipH="1">
              <a:off x="4831" y="2251"/>
              <a:ext cx="171" cy="17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31"/>
            <p:cNvSpPr>
              <a:spLocks noChangeShapeType="1"/>
            </p:cNvSpPr>
            <p:nvPr/>
          </p:nvSpPr>
          <p:spPr bwMode="auto">
            <a:xfrm>
              <a:off x="4818" y="2620"/>
              <a:ext cx="149" cy="14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38" name="Group 32"/>
            <p:cNvGrpSpPr/>
            <p:nvPr/>
          </p:nvGrpSpPr>
          <p:grpSpPr bwMode="auto">
            <a:xfrm>
              <a:off x="4178" y="1968"/>
              <a:ext cx="408" cy="297"/>
              <a:chOff x="432" y="1680"/>
              <a:chExt cx="408" cy="297"/>
            </a:xfrm>
          </p:grpSpPr>
          <p:sp>
            <p:nvSpPr>
              <p:cNvPr id="25651" name="Oval 3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52" name="Text Box 3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5639" name="Group 35"/>
            <p:cNvGrpSpPr/>
            <p:nvPr/>
          </p:nvGrpSpPr>
          <p:grpSpPr bwMode="auto">
            <a:xfrm>
              <a:off x="4896" y="2688"/>
              <a:ext cx="408" cy="297"/>
              <a:chOff x="432" y="1680"/>
              <a:chExt cx="408" cy="297"/>
            </a:xfrm>
          </p:grpSpPr>
          <p:sp>
            <p:nvSpPr>
              <p:cNvPr id="25649" name="Oval 36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50" name="Text Box 37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5640" name="Group 38"/>
            <p:cNvGrpSpPr/>
            <p:nvPr/>
          </p:nvGrpSpPr>
          <p:grpSpPr bwMode="auto">
            <a:xfrm>
              <a:off x="4176" y="2688"/>
              <a:ext cx="408" cy="297"/>
              <a:chOff x="432" y="1680"/>
              <a:chExt cx="408" cy="297"/>
            </a:xfrm>
          </p:grpSpPr>
          <p:sp>
            <p:nvSpPr>
              <p:cNvPr id="25647" name="Oval 3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48" name="Text Box 4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5641" name="Group 41"/>
            <p:cNvGrpSpPr/>
            <p:nvPr/>
          </p:nvGrpSpPr>
          <p:grpSpPr bwMode="auto">
            <a:xfrm>
              <a:off x="4874" y="1968"/>
              <a:ext cx="408" cy="294"/>
              <a:chOff x="2928" y="3312"/>
              <a:chExt cx="408" cy="294"/>
            </a:xfrm>
          </p:grpSpPr>
          <p:sp>
            <p:nvSpPr>
              <p:cNvPr id="25645" name="Oval 42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46" name="Text Box 43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5642" name="Group 44"/>
            <p:cNvGrpSpPr/>
            <p:nvPr/>
          </p:nvGrpSpPr>
          <p:grpSpPr bwMode="auto">
            <a:xfrm>
              <a:off x="4512" y="2352"/>
              <a:ext cx="408" cy="294"/>
              <a:chOff x="1008" y="2304"/>
              <a:chExt cx="408" cy="294"/>
            </a:xfrm>
          </p:grpSpPr>
          <p:sp>
            <p:nvSpPr>
              <p:cNvPr id="25643" name="Oval 45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44" name="Text Box 46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25607" name="Group 47"/>
          <p:cNvGrpSpPr/>
          <p:nvPr/>
        </p:nvGrpSpPr>
        <p:grpSpPr bwMode="auto">
          <a:xfrm>
            <a:off x="1019175" y="3897313"/>
            <a:ext cx="1790700" cy="1614487"/>
            <a:chOff x="672" y="1920"/>
            <a:chExt cx="1128" cy="1017"/>
          </a:xfrm>
        </p:grpSpPr>
        <p:grpSp>
          <p:nvGrpSpPr>
            <p:cNvPr id="25612" name="Group 48"/>
            <p:cNvGrpSpPr/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25628" name="Line 49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9" name="Line 50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0" name="Line 51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1" name="Line 52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2" name="Line 53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3" name="Line 54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613" name="Group 55"/>
            <p:cNvGrpSpPr/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25626" name="Oval 56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27" name="Text Box 57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5614" name="Group 58"/>
            <p:cNvGrpSpPr/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25624" name="Oval 5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25" name="Text Box 6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5615" name="Group 61"/>
            <p:cNvGrpSpPr/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25622" name="Oval 6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23" name="Text Box 63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5616" name="Group 64"/>
            <p:cNvGrpSpPr/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25620" name="Oval 65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21" name="Text Box 66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5617" name="Group 67"/>
            <p:cNvGrpSpPr/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25618" name="Oval 68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5619" name="Text Box 69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sp>
        <p:nvSpPr>
          <p:cNvPr id="952390" name="Rectangle 70"/>
          <p:cNvSpPr>
            <a:spLocks noChangeArrowheads="1"/>
          </p:cNvSpPr>
          <p:nvPr/>
        </p:nvSpPr>
        <p:spPr bwMode="auto">
          <a:xfrm>
            <a:off x="638175" y="1916113"/>
            <a:ext cx="89852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  <a:buFontTx/>
              <a:buNone/>
              <a:defRPr/>
            </a:pPr>
            <a:r>
              <a:rPr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子图</a:t>
            </a:r>
          </a:p>
        </p:txBody>
      </p:sp>
      <p:sp>
        <p:nvSpPr>
          <p:cNvPr id="25609" name="Rectangle 71"/>
          <p:cNvSpPr>
            <a:spLocks noChangeArrowheads="1"/>
          </p:cNvSpPr>
          <p:nvPr/>
        </p:nvSpPr>
        <p:spPr bwMode="auto">
          <a:xfrm>
            <a:off x="638175" y="2373313"/>
            <a:ext cx="77724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设有两个图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G=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{E}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）、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G1=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V1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{E1}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），若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V1</a:t>
            </a:r>
            <a:r>
              <a:rPr lang="en-US" altLang="zh-CN"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  V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E1 </a:t>
            </a:r>
            <a:r>
              <a:rPr lang="en-US" altLang="zh-CN"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 E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，则称 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G1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是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G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的子图。</a:t>
            </a:r>
            <a:br>
              <a:rPr lang="zh-CN" altLang="en-US">
                <a:latin typeface="楷体_GB2312"/>
                <a:ea typeface="楷体_GB2312"/>
                <a:cs typeface="楷体_GB2312"/>
              </a:rPr>
            </a:br>
            <a:r>
              <a:rPr lang="zh-CN" altLang="en-US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:(b)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、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(c)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是 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(a)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的子图</a:t>
            </a:r>
          </a:p>
        </p:txBody>
      </p:sp>
      <p:sp>
        <p:nvSpPr>
          <p:cNvPr id="952393" name="Text Box 73"/>
          <p:cNvSpPr txBox="1">
            <a:spLocks noChangeArrowheads="1"/>
          </p:cNvSpPr>
          <p:nvPr/>
        </p:nvSpPr>
        <p:spPr bwMode="auto">
          <a:xfrm>
            <a:off x="658813" y="512763"/>
            <a:ext cx="23622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权与网</a:t>
            </a:r>
          </a:p>
        </p:txBody>
      </p:sp>
      <p:sp>
        <p:nvSpPr>
          <p:cNvPr id="952394" name="Text Box 74"/>
          <p:cNvSpPr txBox="1">
            <a:spLocks noChangeArrowheads="1"/>
          </p:cNvSpPr>
          <p:nvPr/>
        </p:nvSpPr>
        <p:spPr bwMode="auto">
          <a:xfrm>
            <a:off x="658813" y="969963"/>
            <a:ext cx="83058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>
                <a:ea typeface="楷体_GB2312" pitchFamily="49" charset="-122"/>
                <a:cs typeface="+mn-cs"/>
                <a:sym typeface="+mn-ea"/>
              </a:rPr>
              <a:t>图中边或弧所具有的相关数称为权。表明从一个顶点到另一个顶点的距离或耗费。</a:t>
            </a:r>
            <a:r>
              <a:rPr kumimoji="1" lang="zh-CN" altLang="en-US">
                <a:latin typeface="宋体" panose="02010600030101010101" pitchFamily="2" charset="-122"/>
                <a:ea typeface="楷体_GB2312" pitchFamily="49" charset="-122"/>
                <a:cs typeface="+mn-cs"/>
                <a:sym typeface="+mn-ea"/>
              </a:rPr>
              <a:t>带权的图称为</a:t>
            </a:r>
            <a:r>
              <a:rPr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网</a:t>
            </a:r>
            <a:r>
              <a:rPr kumimoji="1" lang="zh-CN" altLang="en-US">
                <a:latin typeface="宋体" panose="02010600030101010101" pitchFamily="2" charset="-122"/>
                <a:ea typeface="楷体_GB2312" pitchFamily="49" charset="-122"/>
                <a:cs typeface="+mn-cs"/>
                <a:sym typeface="+mn-ea"/>
              </a:rPr>
              <a:t>。</a:t>
            </a:r>
            <a:endParaRPr kumimoji="1" lang="zh-CN" altLang="en-US">
              <a:ea typeface="楷体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4" name="Text Box 4"/>
          <p:cNvSpPr txBox="1">
            <a:spLocks noChangeArrowheads="1"/>
          </p:cNvSpPr>
          <p:nvPr/>
        </p:nvSpPr>
        <p:spPr bwMode="auto">
          <a:xfrm>
            <a:off x="395288" y="471488"/>
            <a:ext cx="5486400" cy="519112"/>
          </a:xfrm>
          <a:prstGeom prst="rect">
            <a:avLst/>
          </a:prstGeom>
          <a:noFill/>
          <a:ln w="12700" cap="rnd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0" hangingPunct="0">
              <a:spcBef>
                <a:spcPct val="20000"/>
              </a:spcBef>
              <a:buFontTx/>
              <a:buNone/>
              <a:defRPr/>
            </a:pPr>
            <a:r>
              <a:rPr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连通分量（强连通分量）</a:t>
            </a:r>
          </a:p>
        </p:txBody>
      </p:sp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270922" y="3963195"/>
            <a:ext cx="6111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非连通图</a:t>
            </a:r>
          </a:p>
        </p:txBody>
      </p:sp>
      <p:sp>
        <p:nvSpPr>
          <p:cNvPr id="26628" name="Oval 6"/>
          <p:cNvSpPr>
            <a:spLocks noChangeArrowheads="1"/>
          </p:cNvSpPr>
          <p:nvPr/>
        </p:nvSpPr>
        <p:spPr bwMode="auto">
          <a:xfrm>
            <a:off x="3286206" y="4033241"/>
            <a:ext cx="2632075" cy="1939925"/>
          </a:xfrm>
          <a:prstGeom prst="ellipse">
            <a:avLst/>
          </a:prstGeom>
          <a:noFill/>
          <a:ln w="12700" cap="rnd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26629" name="Group 7"/>
          <p:cNvGrpSpPr/>
          <p:nvPr/>
        </p:nvGrpSpPr>
        <p:grpSpPr bwMode="auto">
          <a:xfrm>
            <a:off x="3790618" y="4231363"/>
            <a:ext cx="1755775" cy="1462087"/>
            <a:chOff x="1174" y="2688"/>
            <a:chExt cx="1106" cy="921"/>
          </a:xfrm>
        </p:grpSpPr>
        <p:grpSp>
          <p:nvGrpSpPr>
            <p:cNvPr id="26672" name="Group 8"/>
            <p:cNvGrpSpPr/>
            <p:nvPr/>
          </p:nvGrpSpPr>
          <p:grpSpPr bwMode="auto">
            <a:xfrm>
              <a:off x="1334" y="2823"/>
              <a:ext cx="735" cy="567"/>
              <a:chOff x="1334" y="2823"/>
              <a:chExt cx="735" cy="567"/>
            </a:xfrm>
          </p:grpSpPr>
          <p:sp>
            <p:nvSpPr>
              <p:cNvPr id="26686" name="Line 9"/>
              <p:cNvSpPr>
                <a:spLocks noChangeShapeType="1"/>
              </p:cNvSpPr>
              <p:nvPr/>
            </p:nvSpPr>
            <p:spPr bwMode="auto">
              <a:xfrm>
                <a:off x="1488" y="2919"/>
                <a:ext cx="474" cy="471"/>
              </a:xfrm>
              <a:prstGeom prst="line">
                <a:avLst/>
              </a:prstGeom>
              <a:noFill/>
              <a:ln w="38100" cap="rnd">
                <a:solidFill>
                  <a:srgbClr val="FF64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7" name="Line 10"/>
              <p:cNvSpPr>
                <a:spLocks noChangeShapeType="1"/>
              </p:cNvSpPr>
              <p:nvPr/>
            </p:nvSpPr>
            <p:spPr bwMode="auto">
              <a:xfrm>
                <a:off x="1334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8" name="Line 11"/>
              <p:cNvSpPr>
                <a:spLocks noChangeShapeType="1"/>
              </p:cNvSpPr>
              <p:nvPr/>
            </p:nvSpPr>
            <p:spPr bwMode="auto">
              <a:xfrm>
                <a:off x="1494" y="2823"/>
                <a:ext cx="44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9" name="Line 12"/>
              <p:cNvSpPr>
                <a:spLocks noChangeShapeType="1"/>
              </p:cNvSpPr>
              <p:nvPr/>
            </p:nvSpPr>
            <p:spPr bwMode="auto">
              <a:xfrm>
                <a:off x="2069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673" name="Group 13"/>
            <p:cNvGrpSpPr/>
            <p:nvPr/>
          </p:nvGrpSpPr>
          <p:grpSpPr bwMode="auto">
            <a:xfrm>
              <a:off x="1174" y="2688"/>
              <a:ext cx="1106" cy="921"/>
              <a:chOff x="1174" y="2688"/>
              <a:chExt cx="1106" cy="921"/>
            </a:xfrm>
          </p:grpSpPr>
          <p:grpSp>
            <p:nvGrpSpPr>
              <p:cNvPr id="26674" name="Group 14"/>
              <p:cNvGrpSpPr/>
              <p:nvPr/>
            </p:nvGrpSpPr>
            <p:grpSpPr bwMode="auto">
              <a:xfrm>
                <a:off x="1176" y="2688"/>
                <a:ext cx="408" cy="297"/>
                <a:chOff x="432" y="1680"/>
                <a:chExt cx="408" cy="297"/>
              </a:xfrm>
            </p:grpSpPr>
            <p:sp>
              <p:nvSpPr>
                <p:cNvPr id="26684" name="Oval 15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85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V0</a:t>
                  </a:r>
                </a:p>
              </p:txBody>
            </p:sp>
          </p:grpSp>
          <p:grpSp>
            <p:nvGrpSpPr>
              <p:cNvPr id="26675" name="Group 17"/>
              <p:cNvGrpSpPr/>
              <p:nvPr/>
            </p:nvGrpSpPr>
            <p:grpSpPr bwMode="auto">
              <a:xfrm>
                <a:off x="1872" y="3312"/>
                <a:ext cx="408" cy="297"/>
                <a:chOff x="432" y="1680"/>
                <a:chExt cx="408" cy="297"/>
              </a:xfrm>
            </p:grpSpPr>
            <p:sp>
              <p:nvSpPr>
                <p:cNvPr id="26682" name="Oval 18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8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V2</a:t>
                  </a:r>
                </a:p>
              </p:txBody>
            </p:sp>
          </p:grpSp>
          <p:grpSp>
            <p:nvGrpSpPr>
              <p:cNvPr id="26676" name="Group 20"/>
              <p:cNvGrpSpPr/>
              <p:nvPr/>
            </p:nvGrpSpPr>
            <p:grpSpPr bwMode="auto">
              <a:xfrm>
                <a:off x="1174" y="3312"/>
                <a:ext cx="408" cy="297"/>
                <a:chOff x="432" y="1680"/>
                <a:chExt cx="408" cy="297"/>
              </a:xfrm>
            </p:grpSpPr>
            <p:sp>
              <p:nvSpPr>
                <p:cNvPr id="26680" name="Oval 21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81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V3</a:t>
                  </a:r>
                </a:p>
              </p:txBody>
            </p:sp>
          </p:grpSp>
          <p:grpSp>
            <p:nvGrpSpPr>
              <p:cNvPr id="26677" name="Group 23"/>
              <p:cNvGrpSpPr/>
              <p:nvPr/>
            </p:nvGrpSpPr>
            <p:grpSpPr bwMode="auto">
              <a:xfrm>
                <a:off x="1872" y="2688"/>
                <a:ext cx="408" cy="294"/>
                <a:chOff x="2928" y="3312"/>
                <a:chExt cx="408" cy="294"/>
              </a:xfrm>
            </p:grpSpPr>
            <p:sp>
              <p:nvSpPr>
                <p:cNvPr id="26678" name="Oval 24"/>
                <p:cNvSpPr>
                  <a:spLocks noChangeArrowheads="1"/>
                </p:cNvSpPr>
                <p:nvPr/>
              </p:nvSpPr>
              <p:spPr bwMode="auto">
                <a:xfrm>
                  <a:off x="2976" y="3312"/>
                  <a:ext cx="295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7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28" y="3312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V1</a:t>
                  </a:r>
                </a:p>
              </p:txBody>
            </p:sp>
          </p:grpSp>
        </p:grpSp>
      </p:grpSp>
      <p:grpSp>
        <p:nvGrpSpPr>
          <p:cNvPr id="26630" name="Group 26"/>
          <p:cNvGrpSpPr/>
          <p:nvPr/>
        </p:nvGrpSpPr>
        <p:grpSpPr bwMode="auto">
          <a:xfrm>
            <a:off x="7024688" y="3976688"/>
            <a:ext cx="914400" cy="1939925"/>
            <a:chOff x="3504" y="2592"/>
            <a:chExt cx="576" cy="1222"/>
          </a:xfrm>
        </p:grpSpPr>
        <p:sp>
          <p:nvSpPr>
            <p:cNvPr id="26663" name="Oval 27"/>
            <p:cNvSpPr>
              <a:spLocks noChangeArrowheads="1"/>
            </p:cNvSpPr>
            <p:nvPr/>
          </p:nvSpPr>
          <p:spPr bwMode="auto">
            <a:xfrm>
              <a:off x="3504" y="2592"/>
              <a:ext cx="576" cy="1222"/>
            </a:xfrm>
            <a:prstGeom prst="ellipse">
              <a:avLst/>
            </a:prstGeom>
            <a:noFill/>
            <a:ln w="12700" cap="rnd">
              <a:solidFill>
                <a:srgbClr val="FF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pSp>
          <p:nvGrpSpPr>
            <p:cNvPr id="26664" name="Group 28"/>
            <p:cNvGrpSpPr/>
            <p:nvPr/>
          </p:nvGrpSpPr>
          <p:grpSpPr bwMode="auto">
            <a:xfrm>
              <a:off x="3600" y="2736"/>
              <a:ext cx="432" cy="921"/>
              <a:chOff x="3600" y="2736"/>
              <a:chExt cx="432" cy="921"/>
            </a:xfrm>
          </p:grpSpPr>
          <p:sp>
            <p:nvSpPr>
              <p:cNvPr id="26665" name="Line 29"/>
              <p:cNvSpPr>
                <a:spLocks noChangeShapeType="1"/>
              </p:cNvSpPr>
              <p:nvPr/>
            </p:nvSpPr>
            <p:spPr bwMode="auto">
              <a:xfrm>
                <a:off x="3806" y="2999"/>
                <a:ext cx="0" cy="369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6666" name="Group 30"/>
              <p:cNvGrpSpPr/>
              <p:nvPr/>
            </p:nvGrpSpPr>
            <p:grpSpPr bwMode="auto">
              <a:xfrm>
                <a:off x="3600" y="3360"/>
                <a:ext cx="408" cy="297"/>
                <a:chOff x="432" y="1680"/>
                <a:chExt cx="408" cy="297"/>
              </a:xfrm>
            </p:grpSpPr>
            <p:sp>
              <p:nvSpPr>
                <p:cNvPr id="26670" name="Oval 31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7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V5</a:t>
                  </a:r>
                </a:p>
              </p:txBody>
            </p:sp>
          </p:grpSp>
          <p:grpSp>
            <p:nvGrpSpPr>
              <p:cNvPr id="26667" name="Group 33"/>
              <p:cNvGrpSpPr/>
              <p:nvPr/>
            </p:nvGrpSpPr>
            <p:grpSpPr bwMode="auto">
              <a:xfrm>
                <a:off x="3624" y="2736"/>
                <a:ext cx="408" cy="297"/>
                <a:chOff x="432" y="1680"/>
                <a:chExt cx="408" cy="297"/>
              </a:xfrm>
            </p:grpSpPr>
            <p:sp>
              <p:nvSpPr>
                <p:cNvPr id="26668" name="Oval 34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6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V4</a:t>
                  </a:r>
                </a:p>
              </p:txBody>
            </p:sp>
          </p:grpSp>
        </p:grpSp>
      </p:grpSp>
      <p:sp>
        <p:nvSpPr>
          <p:cNvPr id="26631" name="Rectangle 36"/>
          <p:cNvSpPr>
            <a:spLocks noChangeArrowheads="1"/>
          </p:cNvSpPr>
          <p:nvPr/>
        </p:nvSpPr>
        <p:spPr bwMode="auto">
          <a:xfrm>
            <a:off x="242888" y="1081088"/>
            <a:ext cx="82296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无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向图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极大连通子图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称为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的连通分量。</a:t>
            </a:r>
            <a:br>
              <a:rPr lang="zh-CN" altLang="en-US" dirty="0">
                <a:latin typeface="楷体_GB2312"/>
                <a:ea typeface="楷体_GB2312"/>
                <a:cs typeface="楷体_GB2312"/>
              </a:rPr>
            </a:br>
            <a:r>
              <a:rPr lang="zh-CN" altLang="en-US" dirty="0">
                <a:latin typeface="楷体_GB2312"/>
                <a:ea typeface="楷体_GB2312"/>
                <a:cs typeface="楷体_GB2312"/>
              </a:rPr>
              <a:t>极大连通子图意思是：该子图是 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连通子图，将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的任何不在该子图中的顶点加入，子图不再连通。</a:t>
            </a: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找一个属于该图的一部分且连通</a:t>
            </a:r>
          </a:p>
        </p:txBody>
      </p:sp>
      <p:grpSp>
        <p:nvGrpSpPr>
          <p:cNvPr id="26632" name="Group 37"/>
          <p:cNvGrpSpPr/>
          <p:nvPr/>
        </p:nvGrpSpPr>
        <p:grpSpPr bwMode="auto">
          <a:xfrm>
            <a:off x="920750" y="4007842"/>
            <a:ext cx="1755775" cy="1462087"/>
            <a:chOff x="1174" y="2688"/>
            <a:chExt cx="1106" cy="921"/>
          </a:xfrm>
        </p:grpSpPr>
        <p:grpSp>
          <p:nvGrpSpPr>
            <p:cNvPr id="26645" name="Group 38"/>
            <p:cNvGrpSpPr/>
            <p:nvPr/>
          </p:nvGrpSpPr>
          <p:grpSpPr bwMode="auto">
            <a:xfrm>
              <a:off x="1334" y="2823"/>
              <a:ext cx="735" cy="567"/>
              <a:chOff x="1334" y="2823"/>
              <a:chExt cx="735" cy="567"/>
            </a:xfrm>
          </p:grpSpPr>
          <p:sp>
            <p:nvSpPr>
              <p:cNvPr id="26659" name="Line 39"/>
              <p:cNvSpPr>
                <a:spLocks noChangeShapeType="1"/>
              </p:cNvSpPr>
              <p:nvPr/>
            </p:nvSpPr>
            <p:spPr bwMode="auto">
              <a:xfrm>
                <a:off x="1488" y="2919"/>
                <a:ext cx="474" cy="471"/>
              </a:xfrm>
              <a:prstGeom prst="line">
                <a:avLst/>
              </a:prstGeom>
              <a:noFill/>
              <a:ln w="38100" cap="rnd">
                <a:solidFill>
                  <a:srgbClr val="FF64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0" name="Line 40"/>
              <p:cNvSpPr>
                <a:spLocks noChangeShapeType="1"/>
              </p:cNvSpPr>
              <p:nvPr/>
            </p:nvSpPr>
            <p:spPr bwMode="auto">
              <a:xfrm>
                <a:off x="1334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1" name="Line 41"/>
              <p:cNvSpPr>
                <a:spLocks noChangeShapeType="1"/>
              </p:cNvSpPr>
              <p:nvPr/>
            </p:nvSpPr>
            <p:spPr bwMode="auto">
              <a:xfrm>
                <a:off x="1494" y="2823"/>
                <a:ext cx="44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2" name="Line 42"/>
              <p:cNvSpPr>
                <a:spLocks noChangeShapeType="1"/>
              </p:cNvSpPr>
              <p:nvPr/>
            </p:nvSpPr>
            <p:spPr bwMode="auto">
              <a:xfrm>
                <a:off x="2069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646" name="Group 43"/>
            <p:cNvGrpSpPr/>
            <p:nvPr/>
          </p:nvGrpSpPr>
          <p:grpSpPr bwMode="auto">
            <a:xfrm>
              <a:off x="1174" y="2688"/>
              <a:ext cx="1106" cy="921"/>
              <a:chOff x="1174" y="2688"/>
              <a:chExt cx="1106" cy="921"/>
            </a:xfrm>
          </p:grpSpPr>
          <p:grpSp>
            <p:nvGrpSpPr>
              <p:cNvPr id="26647" name="Group 44"/>
              <p:cNvGrpSpPr/>
              <p:nvPr/>
            </p:nvGrpSpPr>
            <p:grpSpPr bwMode="auto">
              <a:xfrm>
                <a:off x="1176" y="2688"/>
                <a:ext cx="408" cy="297"/>
                <a:chOff x="432" y="1680"/>
                <a:chExt cx="408" cy="297"/>
              </a:xfrm>
            </p:grpSpPr>
            <p:sp>
              <p:nvSpPr>
                <p:cNvPr id="26657" name="Oval 45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58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V0</a:t>
                  </a:r>
                </a:p>
              </p:txBody>
            </p:sp>
          </p:grpSp>
          <p:grpSp>
            <p:nvGrpSpPr>
              <p:cNvPr id="26648" name="Group 47"/>
              <p:cNvGrpSpPr/>
              <p:nvPr/>
            </p:nvGrpSpPr>
            <p:grpSpPr bwMode="auto">
              <a:xfrm>
                <a:off x="1872" y="3312"/>
                <a:ext cx="408" cy="297"/>
                <a:chOff x="432" y="1680"/>
                <a:chExt cx="408" cy="297"/>
              </a:xfrm>
            </p:grpSpPr>
            <p:sp>
              <p:nvSpPr>
                <p:cNvPr id="26655" name="Oval 48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56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V2</a:t>
                  </a:r>
                </a:p>
              </p:txBody>
            </p:sp>
          </p:grpSp>
          <p:grpSp>
            <p:nvGrpSpPr>
              <p:cNvPr id="26649" name="Group 50"/>
              <p:cNvGrpSpPr/>
              <p:nvPr/>
            </p:nvGrpSpPr>
            <p:grpSpPr bwMode="auto">
              <a:xfrm>
                <a:off x="1174" y="3312"/>
                <a:ext cx="408" cy="297"/>
                <a:chOff x="432" y="1680"/>
                <a:chExt cx="408" cy="297"/>
              </a:xfrm>
            </p:grpSpPr>
            <p:sp>
              <p:nvSpPr>
                <p:cNvPr id="26653" name="Oval 51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54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V3</a:t>
                  </a:r>
                </a:p>
              </p:txBody>
            </p:sp>
          </p:grpSp>
          <p:grpSp>
            <p:nvGrpSpPr>
              <p:cNvPr id="26650" name="Group 53"/>
              <p:cNvGrpSpPr/>
              <p:nvPr/>
            </p:nvGrpSpPr>
            <p:grpSpPr bwMode="auto">
              <a:xfrm>
                <a:off x="1872" y="2688"/>
                <a:ext cx="408" cy="294"/>
                <a:chOff x="2928" y="3312"/>
                <a:chExt cx="408" cy="294"/>
              </a:xfrm>
            </p:grpSpPr>
            <p:sp>
              <p:nvSpPr>
                <p:cNvPr id="26651" name="Oval 54"/>
                <p:cNvSpPr>
                  <a:spLocks noChangeArrowheads="1"/>
                </p:cNvSpPr>
                <p:nvPr/>
              </p:nvSpPr>
              <p:spPr bwMode="auto">
                <a:xfrm>
                  <a:off x="2976" y="3312"/>
                  <a:ext cx="295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6652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928" y="3312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V1</a:t>
                  </a:r>
                </a:p>
              </p:txBody>
            </p:sp>
          </p:grpSp>
        </p:grpSp>
      </p:grpSp>
      <p:grpSp>
        <p:nvGrpSpPr>
          <p:cNvPr id="26633" name="Group 56"/>
          <p:cNvGrpSpPr/>
          <p:nvPr/>
        </p:nvGrpSpPr>
        <p:grpSpPr bwMode="auto">
          <a:xfrm>
            <a:off x="2557463" y="3993555"/>
            <a:ext cx="685800" cy="1462087"/>
            <a:chOff x="3600" y="2736"/>
            <a:chExt cx="432" cy="921"/>
          </a:xfrm>
        </p:grpSpPr>
        <p:sp>
          <p:nvSpPr>
            <p:cNvPr id="26638" name="Line 57"/>
            <p:cNvSpPr>
              <a:spLocks noChangeShapeType="1"/>
            </p:cNvSpPr>
            <p:nvPr/>
          </p:nvSpPr>
          <p:spPr bwMode="auto">
            <a:xfrm>
              <a:off x="3806" y="2999"/>
              <a:ext cx="0" cy="36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39" name="Group 58"/>
            <p:cNvGrpSpPr/>
            <p:nvPr/>
          </p:nvGrpSpPr>
          <p:grpSpPr bwMode="auto">
            <a:xfrm>
              <a:off x="3600" y="3360"/>
              <a:ext cx="408" cy="297"/>
              <a:chOff x="432" y="1680"/>
              <a:chExt cx="408" cy="297"/>
            </a:xfrm>
          </p:grpSpPr>
          <p:sp>
            <p:nvSpPr>
              <p:cNvPr id="26643" name="Oval 5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6644" name="Text Box 6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V5</a:t>
                </a:r>
              </a:p>
            </p:txBody>
          </p:sp>
        </p:grpSp>
        <p:grpSp>
          <p:nvGrpSpPr>
            <p:cNvPr id="26640" name="Group 61"/>
            <p:cNvGrpSpPr/>
            <p:nvPr/>
          </p:nvGrpSpPr>
          <p:grpSpPr bwMode="auto">
            <a:xfrm>
              <a:off x="3624" y="2736"/>
              <a:ext cx="408" cy="297"/>
              <a:chOff x="432" y="1680"/>
              <a:chExt cx="408" cy="297"/>
            </a:xfrm>
          </p:grpSpPr>
          <p:sp>
            <p:nvSpPr>
              <p:cNvPr id="26641" name="Oval 6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6642" name="Text Box 63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</p:grpSp>
      <p:grpSp>
        <p:nvGrpSpPr>
          <p:cNvPr id="26634" name="Group 64"/>
          <p:cNvGrpSpPr/>
          <p:nvPr/>
        </p:nvGrpSpPr>
        <p:grpSpPr bwMode="auto">
          <a:xfrm>
            <a:off x="4510088" y="3367088"/>
            <a:ext cx="3048000" cy="609600"/>
            <a:chOff x="3456" y="2352"/>
            <a:chExt cx="1920" cy="384"/>
          </a:xfrm>
        </p:grpSpPr>
        <p:sp>
          <p:nvSpPr>
            <p:cNvPr id="26635" name="Oval 65"/>
            <p:cNvSpPr>
              <a:spLocks noChangeArrowheads="1"/>
            </p:cNvSpPr>
            <p:nvPr/>
          </p:nvSpPr>
          <p:spPr bwMode="auto">
            <a:xfrm>
              <a:off x="3648" y="2352"/>
              <a:ext cx="1584" cy="384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rgbClr val="3E4DBA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连通分量</a:t>
              </a:r>
            </a:p>
          </p:txBody>
        </p:sp>
        <p:sp>
          <p:nvSpPr>
            <p:cNvPr id="26636" name="Line 66"/>
            <p:cNvSpPr>
              <a:spLocks noChangeShapeType="1"/>
            </p:cNvSpPr>
            <p:nvPr/>
          </p:nvSpPr>
          <p:spPr bwMode="auto">
            <a:xfrm flipH="1">
              <a:off x="3456" y="2592"/>
              <a:ext cx="192" cy="144"/>
            </a:xfrm>
            <a:prstGeom prst="line">
              <a:avLst/>
            </a:prstGeom>
            <a:noFill/>
            <a:ln w="34925">
              <a:solidFill>
                <a:srgbClr val="3E4DBA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Line 67"/>
            <p:cNvSpPr>
              <a:spLocks noChangeShapeType="1"/>
            </p:cNvSpPr>
            <p:nvPr/>
          </p:nvSpPr>
          <p:spPr bwMode="auto">
            <a:xfrm>
              <a:off x="5184" y="2592"/>
              <a:ext cx="192" cy="144"/>
            </a:xfrm>
            <a:prstGeom prst="line">
              <a:avLst/>
            </a:prstGeom>
            <a:noFill/>
            <a:ln w="34925">
              <a:solidFill>
                <a:srgbClr val="3E4DBA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457200" y="533400"/>
            <a:ext cx="8153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有向图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极大强连通子图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称为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的强连通分量。极大强连通子图意思是：该子图是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G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的强连通子图，将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D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的任何不在该子图中的顶点加入，子图不再是强连通的。</a:t>
            </a:r>
          </a:p>
        </p:txBody>
      </p:sp>
      <p:grpSp>
        <p:nvGrpSpPr>
          <p:cNvPr id="27651" name="Group 5"/>
          <p:cNvGrpSpPr/>
          <p:nvPr/>
        </p:nvGrpSpPr>
        <p:grpSpPr bwMode="auto">
          <a:xfrm>
            <a:off x="4495800" y="1981200"/>
            <a:ext cx="3048000" cy="609600"/>
            <a:chOff x="3456" y="2352"/>
            <a:chExt cx="1920" cy="384"/>
          </a:xfrm>
        </p:grpSpPr>
        <p:sp>
          <p:nvSpPr>
            <p:cNvPr id="27689" name="Oval 6"/>
            <p:cNvSpPr>
              <a:spLocks noChangeArrowheads="1"/>
            </p:cNvSpPr>
            <p:nvPr/>
          </p:nvSpPr>
          <p:spPr bwMode="auto">
            <a:xfrm>
              <a:off x="3648" y="2352"/>
              <a:ext cx="1584" cy="384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rgbClr val="3E4DBA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强连通分量</a:t>
              </a:r>
            </a:p>
          </p:txBody>
        </p:sp>
        <p:sp>
          <p:nvSpPr>
            <p:cNvPr id="27690" name="Line 7"/>
            <p:cNvSpPr>
              <a:spLocks noChangeShapeType="1"/>
            </p:cNvSpPr>
            <p:nvPr/>
          </p:nvSpPr>
          <p:spPr bwMode="auto">
            <a:xfrm flipH="1">
              <a:off x="3456" y="2592"/>
              <a:ext cx="192" cy="144"/>
            </a:xfrm>
            <a:prstGeom prst="line">
              <a:avLst/>
            </a:prstGeom>
            <a:noFill/>
            <a:ln w="34925">
              <a:solidFill>
                <a:srgbClr val="3E4DBA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1" name="Line 8"/>
            <p:cNvSpPr>
              <a:spLocks noChangeShapeType="1"/>
            </p:cNvSpPr>
            <p:nvPr/>
          </p:nvSpPr>
          <p:spPr bwMode="auto">
            <a:xfrm>
              <a:off x="5184" y="2592"/>
              <a:ext cx="192" cy="144"/>
            </a:xfrm>
            <a:prstGeom prst="line">
              <a:avLst/>
            </a:prstGeom>
            <a:noFill/>
            <a:ln w="34925">
              <a:solidFill>
                <a:srgbClr val="3E4DBA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652" name="Group 9"/>
          <p:cNvGrpSpPr/>
          <p:nvPr/>
        </p:nvGrpSpPr>
        <p:grpSpPr bwMode="auto">
          <a:xfrm>
            <a:off x="914400" y="2743200"/>
            <a:ext cx="1866900" cy="1690688"/>
            <a:chOff x="432" y="1680"/>
            <a:chExt cx="1176" cy="1065"/>
          </a:xfrm>
        </p:grpSpPr>
        <p:sp>
          <p:nvSpPr>
            <p:cNvPr id="27673" name="Line 10"/>
            <p:cNvSpPr>
              <a:spLocks noChangeShapeType="1"/>
            </p:cNvSpPr>
            <p:nvPr/>
          </p:nvSpPr>
          <p:spPr bwMode="auto">
            <a:xfrm>
              <a:off x="618" y="2019"/>
              <a:ext cx="0" cy="4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Line 11"/>
            <p:cNvSpPr>
              <a:spLocks noChangeShapeType="1"/>
            </p:cNvSpPr>
            <p:nvPr/>
          </p:nvSpPr>
          <p:spPr bwMode="auto">
            <a:xfrm>
              <a:off x="752" y="2602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Line 12"/>
            <p:cNvSpPr>
              <a:spLocks noChangeShapeType="1"/>
            </p:cNvSpPr>
            <p:nvPr/>
          </p:nvSpPr>
          <p:spPr bwMode="auto">
            <a:xfrm>
              <a:off x="752" y="1848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13"/>
            <p:cNvSpPr>
              <a:spLocks noChangeShapeType="1"/>
            </p:cNvSpPr>
            <p:nvPr/>
          </p:nvSpPr>
          <p:spPr bwMode="auto">
            <a:xfrm flipH="1" flipV="1">
              <a:off x="672" y="1920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677" name="Group 14"/>
            <p:cNvGrpSpPr/>
            <p:nvPr/>
          </p:nvGrpSpPr>
          <p:grpSpPr bwMode="auto">
            <a:xfrm>
              <a:off x="432" y="1680"/>
              <a:ext cx="408" cy="297"/>
              <a:chOff x="432" y="1680"/>
              <a:chExt cx="408" cy="297"/>
            </a:xfrm>
          </p:grpSpPr>
          <p:sp>
            <p:nvSpPr>
              <p:cNvPr id="27687" name="Oval 1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7688" name="Text Box 1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7678" name="Group 17"/>
            <p:cNvGrpSpPr/>
            <p:nvPr/>
          </p:nvGrpSpPr>
          <p:grpSpPr bwMode="auto">
            <a:xfrm>
              <a:off x="1200" y="1682"/>
              <a:ext cx="408" cy="297"/>
              <a:chOff x="432" y="1680"/>
              <a:chExt cx="408" cy="297"/>
            </a:xfrm>
          </p:grpSpPr>
          <p:sp>
            <p:nvSpPr>
              <p:cNvPr id="27685" name="Oval 1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7686" name="Text Box 1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7679" name="Group 20"/>
            <p:cNvGrpSpPr/>
            <p:nvPr/>
          </p:nvGrpSpPr>
          <p:grpSpPr bwMode="auto">
            <a:xfrm>
              <a:off x="432" y="2448"/>
              <a:ext cx="408" cy="297"/>
              <a:chOff x="432" y="1680"/>
              <a:chExt cx="408" cy="297"/>
            </a:xfrm>
          </p:grpSpPr>
          <p:sp>
            <p:nvSpPr>
              <p:cNvPr id="27683" name="Oval 2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7684" name="Text Box 2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27680" name="Group 23"/>
            <p:cNvGrpSpPr/>
            <p:nvPr/>
          </p:nvGrpSpPr>
          <p:grpSpPr bwMode="auto">
            <a:xfrm>
              <a:off x="1200" y="2448"/>
              <a:ext cx="408" cy="297"/>
              <a:chOff x="432" y="1680"/>
              <a:chExt cx="408" cy="297"/>
            </a:xfrm>
          </p:grpSpPr>
          <p:sp>
            <p:nvSpPr>
              <p:cNvPr id="27681" name="Oval 2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7682" name="Text Box 2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</p:grpSp>
      <p:grpSp>
        <p:nvGrpSpPr>
          <p:cNvPr id="27653" name="Group 26"/>
          <p:cNvGrpSpPr/>
          <p:nvPr/>
        </p:nvGrpSpPr>
        <p:grpSpPr bwMode="auto">
          <a:xfrm>
            <a:off x="3352800" y="2590800"/>
            <a:ext cx="4800600" cy="2057400"/>
            <a:chOff x="2208" y="1584"/>
            <a:chExt cx="3024" cy="1296"/>
          </a:xfrm>
        </p:grpSpPr>
        <p:grpSp>
          <p:nvGrpSpPr>
            <p:cNvPr id="27654" name="Group 27"/>
            <p:cNvGrpSpPr/>
            <p:nvPr/>
          </p:nvGrpSpPr>
          <p:grpSpPr bwMode="auto">
            <a:xfrm>
              <a:off x="2496" y="1680"/>
              <a:ext cx="1176" cy="1065"/>
              <a:chOff x="2496" y="1680"/>
              <a:chExt cx="1176" cy="1065"/>
            </a:xfrm>
          </p:grpSpPr>
          <p:sp>
            <p:nvSpPr>
              <p:cNvPr id="27661" name="Line 28"/>
              <p:cNvSpPr>
                <a:spLocks noChangeShapeType="1"/>
              </p:cNvSpPr>
              <p:nvPr/>
            </p:nvSpPr>
            <p:spPr bwMode="auto">
              <a:xfrm>
                <a:off x="2682" y="2019"/>
                <a:ext cx="0" cy="4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2" name="Line 29"/>
              <p:cNvSpPr>
                <a:spLocks noChangeShapeType="1"/>
              </p:cNvSpPr>
              <p:nvPr/>
            </p:nvSpPr>
            <p:spPr bwMode="auto">
              <a:xfrm>
                <a:off x="2816" y="2602"/>
                <a:ext cx="50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3" name="Line 30"/>
              <p:cNvSpPr>
                <a:spLocks noChangeShapeType="1"/>
              </p:cNvSpPr>
              <p:nvPr/>
            </p:nvSpPr>
            <p:spPr bwMode="auto">
              <a:xfrm flipH="1" flipV="1">
                <a:off x="2736" y="1920"/>
                <a:ext cx="672" cy="624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664" name="Group 31"/>
              <p:cNvGrpSpPr/>
              <p:nvPr/>
            </p:nvGrpSpPr>
            <p:grpSpPr bwMode="auto">
              <a:xfrm>
                <a:off x="2496" y="1680"/>
                <a:ext cx="408" cy="297"/>
                <a:chOff x="432" y="1680"/>
                <a:chExt cx="408" cy="297"/>
              </a:xfrm>
            </p:grpSpPr>
            <p:sp>
              <p:nvSpPr>
                <p:cNvPr id="27671" name="Oval 32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767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V0</a:t>
                  </a:r>
                </a:p>
              </p:txBody>
            </p:sp>
          </p:grpSp>
          <p:grpSp>
            <p:nvGrpSpPr>
              <p:cNvPr id="27665" name="Group 34"/>
              <p:cNvGrpSpPr/>
              <p:nvPr/>
            </p:nvGrpSpPr>
            <p:grpSpPr bwMode="auto">
              <a:xfrm>
                <a:off x="2496" y="2448"/>
                <a:ext cx="408" cy="297"/>
                <a:chOff x="432" y="1680"/>
                <a:chExt cx="408" cy="297"/>
              </a:xfrm>
            </p:grpSpPr>
            <p:sp>
              <p:nvSpPr>
                <p:cNvPr id="27669" name="Oval 35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767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V2</a:t>
                  </a:r>
                </a:p>
              </p:txBody>
            </p:sp>
          </p:grpSp>
          <p:grpSp>
            <p:nvGrpSpPr>
              <p:cNvPr id="27666" name="Group 37"/>
              <p:cNvGrpSpPr/>
              <p:nvPr/>
            </p:nvGrpSpPr>
            <p:grpSpPr bwMode="auto">
              <a:xfrm>
                <a:off x="3264" y="2448"/>
                <a:ext cx="408" cy="297"/>
                <a:chOff x="432" y="1680"/>
                <a:chExt cx="408" cy="297"/>
              </a:xfrm>
            </p:grpSpPr>
            <p:sp>
              <p:nvSpPr>
                <p:cNvPr id="27667" name="Oval 38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766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V3</a:t>
                  </a:r>
                </a:p>
              </p:txBody>
            </p:sp>
          </p:grpSp>
        </p:grpSp>
        <p:sp>
          <p:nvSpPr>
            <p:cNvPr id="27655" name="Oval 40"/>
            <p:cNvSpPr>
              <a:spLocks noChangeArrowheads="1"/>
            </p:cNvSpPr>
            <p:nvPr/>
          </p:nvSpPr>
          <p:spPr bwMode="auto">
            <a:xfrm>
              <a:off x="2208" y="1584"/>
              <a:ext cx="1632" cy="1296"/>
            </a:xfrm>
            <a:prstGeom prst="ellipse">
              <a:avLst/>
            </a:prstGeom>
            <a:noFill/>
            <a:ln w="9525">
              <a:solidFill>
                <a:srgbClr val="FF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pSp>
          <p:nvGrpSpPr>
            <p:cNvPr id="27656" name="Group 41"/>
            <p:cNvGrpSpPr/>
            <p:nvPr/>
          </p:nvGrpSpPr>
          <p:grpSpPr bwMode="auto">
            <a:xfrm>
              <a:off x="4368" y="1680"/>
              <a:ext cx="864" cy="528"/>
              <a:chOff x="4368" y="1680"/>
              <a:chExt cx="864" cy="528"/>
            </a:xfrm>
          </p:grpSpPr>
          <p:grpSp>
            <p:nvGrpSpPr>
              <p:cNvPr id="27657" name="Group 42"/>
              <p:cNvGrpSpPr/>
              <p:nvPr/>
            </p:nvGrpSpPr>
            <p:grpSpPr bwMode="auto">
              <a:xfrm>
                <a:off x="4656" y="1776"/>
                <a:ext cx="408" cy="297"/>
                <a:chOff x="432" y="1680"/>
                <a:chExt cx="408" cy="297"/>
              </a:xfrm>
            </p:grpSpPr>
            <p:sp>
              <p:nvSpPr>
                <p:cNvPr id="27659" name="Oval 43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27660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r>
                    <a:rPr lang="en-US" altLang="zh-CN" sz="10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V1</a:t>
                  </a:r>
                </a:p>
              </p:txBody>
            </p:sp>
          </p:grpSp>
          <p:sp>
            <p:nvSpPr>
              <p:cNvPr id="27658" name="Oval 45"/>
              <p:cNvSpPr>
                <a:spLocks noChangeArrowheads="1"/>
              </p:cNvSpPr>
              <p:nvPr/>
            </p:nvSpPr>
            <p:spPr bwMode="auto">
              <a:xfrm>
                <a:off x="4368" y="1680"/>
                <a:ext cx="864" cy="528"/>
              </a:xfrm>
              <a:prstGeom prst="ellipse">
                <a:avLst/>
              </a:prstGeom>
              <a:noFill/>
              <a:ln w="9525">
                <a:solidFill>
                  <a:srgbClr val="FF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2" name="Text Box 4"/>
          <p:cNvSpPr txBox="1">
            <a:spLocks noChangeArrowheads="1"/>
          </p:cNvSpPr>
          <p:nvPr/>
        </p:nvSpPr>
        <p:spPr bwMode="auto">
          <a:xfrm>
            <a:off x="555625" y="836613"/>
            <a:ext cx="8283575" cy="2227262"/>
          </a:xfrm>
          <a:prstGeom prst="rect">
            <a:avLst/>
          </a:prstGeom>
          <a:noFill/>
          <a:ln w="12700" cap="rnd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极小连通子图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：该子图是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G 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的连通子图，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在该子图中删除任何一条边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，子图不再连通。</a:t>
            </a:r>
            <a:b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</a:rPr>
            </a:b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生成树：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包含无向图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G 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所有顶点的极小连通子图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。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  <a:sym typeface="+mn-ea"/>
              </a:rPr>
              <a:t>生成森林：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对非连通图，由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各个连通分量的生成树的集合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。        </a:t>
            </a: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685800" y="5257800"/>
            <a:ext cx="225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连通图 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G1</a:t>
            </a:r>
          </a:p>
        </p:txBody>
      </p:sp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3733800" y="5334000"/>
            <a:ext cx="225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楷体_GB2312"/>
                <a:ea typeface="楷体_GB2312"/>
                <a:cs typeface="楷体_GB2312"/>
              </a:rPr>
              <a:t>G1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的生成树</a:t>
            </a:r>
          </a:p>
        </p:txBody>
      </p:sp>
      <p:grpSp>
        <p:nvGrpSpPr>
          <p:cNvPr id="28677" name="Group 7"/>
          <p:cNvGrpSpPr/>
          <p:nvPr/>
        </p:nvGrpSpPr>
        <p:grpSpPr bwMode="auto">
          <a:xfrm>
            <a:off x="3657600" y="3429000"/>
            <a:ext cx="1790700" cy="1614488"/>
            <a:chOff x="2832" y="2592"/>
            <a:chExt cx="1128" cy="1017"/>
          </a:xfrm>
        </p:grpSpPr>
        <p:sp>
          <p:nvSpPr>
            <p:cNvPr id="28722" name="Line 8"/>
            <p:cNvSpPr>
              <a:spLocks noChangeShapeType="1"/>
            </p:cNvSpPr>
            <p:nvPr/>
          </p:nvSpPr>
          <p:spPr bwMode="auto">
            <a:xfrm>
              <a:off x="2976" y="2910"/>
              <a:ext cx="0" cy="415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3" name="Line 9"/>
            <p:cNvSpPr>
              <a:spLocks noChangeShapeType="1"/>
            </p:cNvSpPr>
            <p:nvPr/>
          </p:nvSpPr>
          <p:spPr bwMode="auto">
            <a:xfrm>
              <a:off x="3147" y="2736"/>
              <a:ext cx="47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4" name="Line 10"/>
            <p:cNvSpPr>
              <a:spLocks noChangeShapeType="1"/>
            </p:cNvSpPr>
            <p:nvPr/>
          </p:nvSpPr>
          <p:spPr bwMode="auto">
            <a:xfrm>
              <a:off x="3759" y="2910"/>
              <a:ext cx="0" cy="415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5" name="Line 11"/>
            <p:cNvSpPr>
              <a:spLocks noChangeShapeType="1"/>
            </p:cNvSpPr>
            <p:nvPr/>
          </p:nvSpPr>
          <p:spPr bwMode="auto">
            <a:xfrm flipH="1">
              <a:off x="3487" y="2875"/>
              <a:ext cx="171" cy="17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26" name="Group 12"/>
            <p:cNvGrpSpPr/>
            <p:nvPr/>
          </p:nvGrpSpPr>
          <p:grpSpPr bwMode="auto">
            <a:xfrm>
              <a:off x="2834" y="2592"/>
              <a:ext cx="408" cy="297"/>
              <a:chOff x="432" y="1680"/>
              <a:chExt cx="408" cy="297"/>
            </a:xfrm>
          </p:grpSpPr>
          <p:sp>
            <p:nvSpPr>
              <p:cNvPr id="28739" name="Oval 1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40" name="Text Box 1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8727" name="Group 15"/>
            <p:cNvGrpSpPr/>
            <p:nvPr/>
          </p:nvGrpSpPr>
          <p:grpSpPr bwMode="auto">
            <a:xfrm>
              <a:off x="3552" y="3312"/>
              <a:ext cx="408" cy="297"/>
              <a:chOff x="432" y="1680"/>
              <a:chExt cx="408" cy="297"/>
            </a:xfrm>
          </p:grpSpPr>
          <p:sp>
            <p:nvSpPr>
              <p:cNvPr id="28737" name="Oval 16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38" name="Text Box 17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8728" name="Group 18"/>
            <p:cNvGrpSpPr/>
            <p:nvPr/>
          </p:nvGrpSpPr>
          <p:grpSpPr bwMode="auto">
            <a:xfrm>
              <a:off x="2832" y="3312"/>
              <a:ext cx="408" cy="297"/>
              <a:chOff x="432" y="1680"/>
              <a:chExt cx="408" cy="297"/>
            </a:xfrm>
          </p:grpSpPr>
          <p:sp>
            <p:nvSpPr>
              <p:cNvPr id="28735" name="Oval 1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36" name="Text Box 2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8729" name="Group 21"/>
            <p:cNvGrpSpPr/>
            <p:nvPr/>
          </p:nvGrpSpPr>
          <p:grpSpPr bwMode="auto">
            <a:xfrm>
              <a:off x="3530" y="2592"/>
              <a:ext cx="408" cy="294"/>
              <a:chOff x="2928" y="3312"/>
              <a:chExt cx="408" cy="294"/>
            </a:xfrm>
          </p:grpSpPr>
          <p:sp>
            <p:nvSpPr>
              <p:cNvPr id="28733" name="Oval 22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34" name="Text Box 23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8730" name="Group 24"/>
            <p:cNvGrpSpPr/>
            <p:nvPr/>
          </p:nvGrpSpPr>
          <p:grpSpPr bwMode="auto">
            <a:xfrm>
              <a:off x="3168" y="2976"/>
              <a:ext cx="408" cy="294"/>
              <a:chOff x="1008" y="2304"/>
              <a:chExt cx="408" cy="294"/>
            </a:xfrm>
          </p:grpSpPr>
          <p:sp>
            <p:nvSpPr>
              <p:cNvPr id="28731" name="Oval 25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32" name="Text Box 26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28678" name="Group 27"/>
          <p:cNvGrpSpPr/>
          <p:nvPr/>
        </p:nvGrpSpPr>
        <p:grpSpPr bwMode="auto">
          <a:xfrm>
            <a:off x="838200" y="3429000"/>
            <a:ext cx="1790700" cy="1614488"/>
            <a:chOff x="672" y="1920"/>
            <a:chExt cx="1128" cy="1017"/>
          </a:xfrm>
        </p:grpSpPr>
        <p:grpSp>
          <p:nvGrpSpPr>
            <p:cNvPr id="28700" name="Group 28"/>
            <p:cNvGrpSpPr/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28716" name="Line 29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7" name="Line 30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8" name="Line 31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9" name="Line 32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0" name="Line 33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1" name="Line 34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01" name="Group 35"/>
            <p:cNvGrpSpPr/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28714" name="Oval 36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15" name="Text Box 37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8702" name="Group 38"/>
            <p:cNvGrpSpPr/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28712" name="Oval 3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13" name="Text Box 4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8703" name="Group 41"/>
            <p:cNvGrpSpPr/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28710" name="Oval 4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11" name="Text Box 43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8704" name="Group 44"/>
            <p:cNvGrpSpPr/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28708" name="Oval 45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09" name="Text Box 46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8705" name="Group 47"/>
            <p:cNvGrpSpPr/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28706" name="Oval 48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707" name="Text Box 49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15" name="Group 50"/>
          <p:cNvGrpSpPr/>
          <p:nvPr/>
        </p:nvGrpSpPr>
        <p:grpSpPr bwMode="auto">
          <a:xfrm>
            <a:off x="5715000" y="3352800"/>
            <a:ext cx="2895600" cy="1690688"/>
            <a:chOff x="3936" y="1344"/>
            <a:chExt cx="1824" cy="1065"/>
          </a:xfrm>
        </p:grpSpPr>
        <p:sp>
          <p:nvSpPr>
            <p:cNvPr id="28681" name="Line 51"/>
            <p:cNvSpPr>
              <a:spLocks noChangeShapeType="1"/>
            </p:cNvSpPr>
            <p:nvPr/>
          </p:nvSpPr>
          <p:spPr bwMode="auto">
            <a:xfrm flipH="1">
              <a:off x="4224" y="1584"/>
              <a:ext cx="288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2" name="Line 52"/>
            <p:cNvSpPr>
              <a:spLocks noChangeShapeType="1"/>
            </p:cNvSpPr>
            <p:nvPr/>
          </p:nvSpPr>
          <p:spPr bwMode="auto">
            <a:xfrm>
              <a:off x="5184" y="1920"/>
              <a:ext cx="24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3" name="Line 53"/>
            <p:cNvSpPr>
              <a:spLocks noChangeShapeType="1"/>
            </p:cNvSpPr>
            <p:nvPr/>
          </p:nvSpPr>
          <p:spPr bwMode="auto">
            <a:xfrm flipH="1">
              <a:off x="4831" y="2011"/>
              <a:ext cx="171" cy="17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684" name="Group 54"/>
            <p:cNvGrpSpPr/>
            <p:nvPr/>
          </p:nvGrpSpPr>
          <p:grpSpPr bwMode="auto">
            <a:xfrm>
              <a:off x="4416" y="1344"/>
              <a:ext cx="408" cy="297"/>
              <a:chOff x="432" y="1680"/>
              <a:chExt cx="408" cy="297"/>
            </a:xfrm>
          </p:grpSpPr>
          <p:sp>
            <p:nvSpPr>
              <p:cNvPr id="28698" name="Oval 5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699" name="Text Box 5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8685" name="Group 57"/>
            <p:cNvGrpSpPr/>
            <p:nvPr/>
          </p:nvGrpSpPr>
          <p:grpSpPr bwMode="auto">
            <a:xfrm>
              <a:off x="5352" y="2112"/>
              <a:ext cx="408" cy="297"/>
              <a:chOff x="432" y="1680"/>
              <a:chExt cx="408" cy="297"/>
            </a:xfrm>
          </p:grpSpPr>
          <p:sp>
            <p:nvSpPr>
              <p:cNvPr id="28696" name="Oval 5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697" name="Text Box 5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8686" name="Group 60"/>
            <p:cNvGrpSpPr/>
            <p:nvPr/>
          </p:nvGrpSpPr>
          <p:grpSpPr bwMode="auto">
            <a:xfrm>
              <a:off x="3936" y="1776"/>
              <a:ext cx="408" cy="297"/>
              <a:chOff x="432" y="1680"/>
              <a:chExt cx="408" cy="297"/>
            </a:xfrm>
          </p:grpSpPr>
          <p:sp>
            <p:nvSpPr>
              <p:cNvPr id="28694" name="Oval 6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695" name="Text Box 6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8687" name="Group 63"/>
            <p:cNvGrpSpPr/>
            <p:nvPr/>
          </p:nvGrpSpPr>
          <p:grpSpPr bwMode="auto">
            <a:xfrm>
              <a:off x="4874" y="1728"/>
              <a:ext cx="408" cy="294"/>
              <a:chOff x="2928" y="3312"/>
              <a:chExt cx="408" cy="294"/>
            </a:xfrm>
          </p:grpSpPr>
          <p:sp>
            <p:nvSpPr>
              <p:cNvPr id="28692" name="Oval 6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693" name="Text Box 6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8688" name="Group 66"/>
            <p:cNvGrpSpPr/>
            <p:nvPr/>
          </p:nvGrpSpPr>
          <p:grpSpPr bwMode="auto">
            <a:xfrm>
              <a:off x="4512" y="2112"/>
              <a:ext cx="408" cy="294"/>
              <a:chOff x="1008" y="2304"/>
              <a:chExt cx="408" cy="294"/>
            </a:xfrm>
          </p:grpSpPr>
          <p:sp>
            <p:nvSpPr>
              <p:cNvPr id="28690" name="Oval 67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8691" name="Text Box 68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r>
                  <a:rPr lang="en-US" altLang="zh-CN" sz="100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sp>
          <p:nvSpPr>
            <p:cNvPr id="28689" name="Line 69"/>
            <p:cNvSpPr>
              <a:spLocks noChangeShapeType="1"/>
            </p:cNvSpPr>
            <p:nvPr/>
          </p:nvSpPr>
          <p:spPr bwMode="auto">
            <a:xfrm>
              <a:off x="4704" y="1584"/>
              <a:ext cx="24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9319" name="AutoShape 71"/>
          <p:cNvSpPr>
            <a:spLocks noChangeArrowheads="1"/>
          </p:cNvSpPr>
          <p:nvPr/>
        </p:nvSpPr>
        <p:spPr bwMode="auto">
          <a:xfrm>
            <a:off x="5486400" y="36576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3E4DBA"/>
            </a:solidFill>
            <a:miter lim="800000"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sz="2400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3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6.2 </a:t>
            </a:r>
            <a:r>
              <a:rPr lang="zh-CN" altLang="en-US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案例引入</a:t>
            </a:r>
          </a:p>
        </p:txBody>
      </p:sp>
      <p:sp>
        <p:nvSpPr>
          <p:cNvPr id="29699" name="Line 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0" name="Picture 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154"/>
          <p:cNvSpPr txBox="1">
            <a:spLocks noChangeArrowheads="1"/>
          </p:cNvSpPr>
          <p:nvPr/>
        </p:nvSpPr>
        <p:spPr bwMode="auto">
          <a:xfrm>
            <a:off x="0" y="1444625"/>
            <a:ext cx="4933950" cy="6096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6.1 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：六度空间理论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14313" y="2286000"/>
            <a:ext cx="3529012" cy="2320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indent="254000" eaLnBrk="0" hangingPunct="0">
              <a:spcBef>
                <a:spcPct val="20000"/>
              </a:spcBef>
              <a:buFontTx/>
              <a:buNone/>
              <a:defRPr/>
            </a:pPr>
            <a:endParaRPr kumimoji="1" lang="zh-CN" altLang="zh-CN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你和任何一个陌生人之间所间隔的人不会超过</a:t>
            </a:r>
            <a:r>
              <a:rPr kumimoji="1" lang="en-US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6</a:t>
            </a: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个，也就是说，最多通过</a:t>
            </a:r>
            <a:r>
              <a:rPr kumimoji="1" lang="en-US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6</a:t>
            </a: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个中间人你就能够认识任何一个陌生人。</a:t>
            </a:r>
          </a:p>
        </p:txBody>
      </p:sp>
      <p:pic>
        <p:nvPicPr>
          <p:cNvPr id="12902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0"/>
            <a:ext cx="3211513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" descr="C:\Users\Administrator\AppData\Roaming\Tencent\Users\597999009\QQ\WinTemp\RichOle\]P$UM_UWH`ZMN}7VZS`UEWV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14625"/>
            <a:ext cx="434975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6.3 </a:t>
            </a:r>
            <a:r>
              <a:rPr lang="zh-CN" altLang="en-US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图的类型定义</a:t>
            </a:r>
          </a:p>
        </p:txBody>
      </p:sp>
      <p:sp>
        <p:nvSpPr>
          <p:cNvPr id="30723" name="Line 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4" name="Picture 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530225" y="1571625"/>
            <a:ext cx="828516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CreateGraph(&amp;G,V,VR)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初始条件：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是图的顶点集，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VR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是图中弧的集合。</a:t>
            </a:r>
            <a:endParaRPr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操作结果：按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VR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的定义</a:t>
            </a:r>
            <a:r>
              <a:rPr lang="zh-CN" altLang="en-US" sz="24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构造图</a:t>
            </a:r>
            <a:r>
              <a:rPr lang="en-US" altLang="zh-CN" sz="24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spcBef>
                <a:spcPct val="20000"/>
              </a:spcBef>
            </a:pPr>
            <a:endParaRPr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DFSTraverse(G)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初始条件：图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存在。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操作结果：对图进行</a:t>
            </a:r>
            <a:r>
              <a:rPr lang="zh-CN" altLang="en-US" sz="24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深度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优先遍历。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BFSTraverse(G)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初始条件：图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存在。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操作结果：对图进行</a:t>
            </a:r>
            <a:r>
              <a:rPr lang="zh-CN" altLang="en-US" sz="24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广度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优先遍历。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000" dirty="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6.4 </a:t>
            </a:r>
            <a:r>
              <a:rPr lang="zh-CN" altLang="en-US" sz="4000" dirty="0">
                <a:solidFill>
                  <a:srgbClr val="CC00CC"/>
                </a:solidFill>
                <a:highlight>
                  <a:srgbClr val="00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图的存储结构 重点</a:t>
            </a:r>
            <a:r>
              <a:rPr lang="en-US" altLang="zh-CN" sz="4000" dirty="0">
                <a:solidFill>
                  <a:srgbClr val="CC00CC"/>
                </a:solidFill>
                <a:highlight>
                  <a:srgbClr val="00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!!!</a:t>
            </a:r>
            <a:endParaRPr lang="zh-CN" altLang="en-US" sz="4000" dirty="0">
              <a:solidFill>
                <a:srgbClr val="CC00CC"/>
              </a:solidFill>
              <a:highlight>
                <a:srgbClr val="00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747" name="Line 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748" name="Picture 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0146" name="Rectangle 50"/>
          <p:cNvSpPr>
            <a:spLocks noChangeArrowheads="1"/>
          </p:cNvSpPr>
          <p:nvPr/>
        </p:nvSpPr>
        <p:spPr bwMode="auto">
          <a:xfrm>
            <a:off x="3505200" y="3200400"/>
            <a:ext cx="2133600" cy="1196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5750" indent="-28575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邻接表</a:t>
            </a:r>
          </a:p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邻接多重表</a:t>
            </a:r>
          </a:p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十字链表</a:t>
            </a:r>
          </a:p>
        </p:txBody>
      </p:sp>
      <p:sp>
        <p:nvSpPr>
          <p:cNvPr id="900148" name="Rectangle 52"/>
          <p:cNvSpPr>
            <a:spLocks noChangeArrowheads="1"/>
          </p:cNvSpPr>
          <p:nvPr/>
        </p:nvSpPr>
        <p:spPr bwMode="auto">
          <a:xfrm>
            <a:off x="304800" y="23622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链式存储结构：</a:t>
            </a:r>
          </a:p>
        </p:txBody>
      </p:sp>
      <p:sp>
        <p:nvSpPr>
          <p:cNvPr id="900149" name="Rectangle 53"/>
          <p:cNvSpPr>
            <a:spLocks noChangeArrowheads="1"/>
          </p:cNvSpPr>
          <p:nvPr/>
        </p:nvSpPr>
        <p:spPr bwMode="auto">
          <a:xfrm>
            <a:off x="304800" y="13716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顺序存储结构：</a:t>
            </a:r>
          </a:p>
        </p:txBody>
      </p:sp>
      <p:sp>
        <p:nvSpPr>
          <p:cNvPr id="900151" name="Rectangle 55"/>
          <p:cNvSpPr>
            <a:spLocks noChangeArrowheads="1"/>
          </p:cNvSpPr>
          <p:nvPr/>
        </p:nvSpPr>
        <p:spPr bwMode="auto">
          <a:xfrm>
            <a:off x="3429000" y="1371600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latin typeface="楷体_GB2312"/>
                <a:ea typeface="楷体_GB2312"/>
                <a:cs typeface="楷体_GB2312"/>
              </a:rPr>
              <a:t>数组表示法（邻接矩阵）</a:t>
            </a:r>
          </a:p>
        </p:txBody>
      </p:sp>
      <p:sp>
        <p:nvSpPr>
          <p:cNvPr id="900152" name="Rectangle 56"/>
          <p:cNvSpPr>
            <a:spLocks noChangeArrowheads="1"/>
          </p:cNvSpPr>
          <p:nvPr/>
        </p:nvSpPr>
        <p:spPr bwMode="auto">
          <a:xfrm>
            <a:off x="3505200" y="2362200"/>
            <a:ext cx="166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latin typeface="楷体_GB2312"/>
                <a:ea typeface="楷体_GB2312"/>
                <a:cs typeface="楷体_GB2312"/>
              </a:rPr>
              <a:t>多重链表</a:t>
            </a:r>
          </a:p>
        </p:txBody>
      </p:sp>
      <p:sp>
        <p:nvSpPr>
          <p:cNvPr id="900153" name="AutoShape 57"/>
          <p:cNvSpPr>
            <a:spLocks noChangeArrowheads="1"/>
          </p:cNvSpPr>
          <p:nvPr/>
        </p:nvSpPr>
        <p:spPr bwMode="auto">
          <a:xfrm>
            <a:off x="4038600" y="2819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00154" name="Rectangle 58"/>
          <p:cNvSpPr>
            <a:spLocks noChangeArrowheads="1"/>
          </p:cNvSpPr>
          <p:nvPr/>
        </p:nvSpPr>
        <p:spPr bwMode="auto">
          <a:xfrm>
            <a:off x="609600" y="4814888"/>
            <a:ext cx="1970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重点介绍：</a:t>
            </a:r>
          </a:p>
        </p:txBody>
      </p:sp>
      <p:sp>
        <p:nvSpPr>
          <p:cNvPr id="900155" name="Rectangle 59"/>
          <p:cNvSpPr>
            <a:spLocks noChangeArrowheads="1"/>
          </p:cNvSpPr>
          <p:nvPr/>
        </p:nvSpPr>
        <p:spPr bwMode="auto">
          <a:xfrm>
            <a:off x="2514600" y="4724400"/>
            <a:ext cx="4495800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邻接矩阵</a:t>
            </a:r>
            <a:r>
              <a:rPr kumimoji="1"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(</a:t>
            </a:r>
            <a:r>
              <a:rPr kumimoji="1"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数组</a:t>
            </a:r>
            <a:r>
              <a:rPr kumimoji="1"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)</a:t>
            </a:r>
            <a:r>
              <a:rPr kumimoji="1"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表示法</a:t>
            </a:r>
            <a:endParaRPr kumimoji="1" lang="zh-CN" altLang="en-US" sz="3200"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邻接表</a:t>
            </a:r>
            <a:r>
              <a:rPr kumimoji="1"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(</a:t>
            </a:r>
            <a:r>
              <a:rPr kumimoji="1"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链式</a:t>
            </a:r>
            <a:r>
              <a:rPr kumimoji="1"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)</a:t>
            </a:r>
            <a:r>
              <a:rPr kumimoji="1"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表示法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3349" name="Object 5"/>
          <p:cNvGraphicFramePr/>
          <p:nvPr/>
        </p:nvGraphicFramePr>
        <p:xfrm>
          <a:off x="39688" y="3213100"/>
          <a:ext cx="87757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89630" imgH="482600" progId="Equation.3">
                  <p:embed/>
                </p:oleObj>
              </mc:Choice>
              <mc:Fallback>
                <p:oleObj r:id="rId2" imgW="3389630" imgH="482600" progId="Equation.3">
                  <p:embed/>
                  <p:pic>
                    <p:nvPicPr>
                      <p:cNvPr id="953349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8" y="3213100"/>
                        <a:ext cx="8775700" cy="1203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1" name="Rectangle 7"/>
          <p:cNvSpPr>
            <a:spLocks noChangeArrowheads="1"/>
          </p:cNvSpPr>
          <p:nvPr/>
        </p:nvSpPr>
        <p:spPr bwMode="auto">
          <a:xfrm>
            <a:off x="0" y="533400"/>
            <a:ext cx="8815388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85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建立一个</a:t>
            </a: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顶点表</a:t>
            </a:r>
            <a:r>
              <a:rPr lang="zh-CN" altLang="en-US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（记录各个顶点信息）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和一个</a:t>
            </a: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邻接矩阵</a:t>
            </a:r>
            <a:r>
              <a:rPr lang="zh-CN" altLang="en-US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（表示各个顶点之间关系）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设图 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A = (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E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)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有 </a:t>
            </a:r>
            <a:r>
              <a:rPr lang="en-US" altLang="zh-CN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n</a:t>
            </a:r>
            <a:r>
              <a:rPr lang="en-US" altLang="zh-CN" i="1">
                <a:solidFill>
                  <a:srgbClr val="99FF33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个顶点，则图的邻接矩阵是一个二维数组 </a:t>
            </a:r>
            <a:r>
              <a:rPr lang="en-US" altLang="zh-CN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A.Edge[n][n]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，定义为：</a:t>
            </a:r>
          </a:p>
        </p:txBody>
      </p:sp>
      <p:sp>
        <p:nvSpPr>
          <p:cNvPr id="3076" name="Rectangle 35"/>
          <p:cNvSpPr>
            <a:spLocks noChangeArrowheads="1"/>
          </p:cNvSpPr>
          <p:nvPr/>
        </p:nvSpPr>
        <p:spPr bwMode="auto">
          <a:xfrm>
            <a:off x="39688" y="0"/>
            <a:ext cx="57562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数组（邻接矩阵）表示法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9E3FDD-59A1-5633-4033-E91746166AE2}"/>
              </a:ext>
            </a:extLst>
          </p:cNvPr>
          <p:cNvSpPr txBox="1"/>
          <p:nvPr/>
        </p:nvSpPr>
        <p:spPr>
          <a:xfrm>
            <a:off x="179512" y="4725144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顶点</a:t>
            </a:r>
            <a:r>
              <a:rPr lang="en-US" altLang="zh-CN" dirty="0" err="1"/>
              <a:t>i</a:t>
            </a:r>
            <a:r>
              <a:rPr lang="zh-CN" altLang="en-US" dirty="0"/>
              <a:t>与</a:t>
            </a:r>
            <a:r>
              <a:rPr lang="en-US" altLang="zh-CN" dirty="0"/>
              <a:t>j</a:t>
            </a:r>
            <a:r>
              <a:rPr lang="zh-CN" altLang="en-US" dirty="0"/>
              <a:t>相连则元素值为</a:t>
            </a:r>
            <a:r>
              <a:rPr lang="en-US" altLang="zh-CN" dirty="0"/>
              <a:t>1,</a:t>
            </a:r>
            <a:r>
              <a:rPr lang="zh-CN" altLang="en-US" dirty="0"/>
              <a:t>不相连则值为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2"/>
          <p:cNvSpPr txBox="1">
            <a:spLocks noChangeArrowheads="1"/>
          </p:cNvSpPr>
          <p:nvPr/>
        </p:nvSpPr>
        <p:spPr bwMode="auto">
          <a:xfrm>
            <a:off x="4235450" y="1425575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hlink"/>
                </a:solidFill>
                <a:ea typeface="黑体" panose="02010609060101010101" pitchFamily="49" charset="-122"/>
              </a:rPr>
              <a:t>邻接矩阵：</a:t>
            </a:r>
          </a:p>
        </p:txBody>
      </p:sp>
      <p:sp>
        <p:nvSpPr>
          <p:cNvPr id="32771" name="AutoShape 23"/>
          <p:cNvSpPr/>
          <p:nvPr/>
        </p:nvSpPr>
        <p:spPr bwMode="auto">
          <a:xfrm>
            <a:off x="5911850" y="1425575"/>
            <a:ext cx="152400" cy="1600200"/>
          </a:xfrm>
          <a:prstGeom prst="leftBracket">
            <a:avLst>
              <a:gd name="adj" fmla="val 87500"/>
            </a:avLst>
          </a:prstGeom>
          <a:noFill/>
          <a:ln w="38100">
            <a:solidFill>
              <a:srgbClr val="BADE7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2772" name="AutoShape 24"/>
          <p:cNvSpPr/>
          <p:nvPr/>
        </p:nvSpPr>
        <p:spPr bwMode="auto">
          <a:xfrm>
            <a:off x="7761288" y="1425575"/>
            <a:ext cx="207962" cy="1600200"/>
          </a:xfrm>
          <a:prstGeom prst="rightBracket">
            <a:avLst>
              <a:gd name="adj" fmla="val 64122"/>
            </a:avLst>
          </a:prstGeom>
          <a:noFill/>
          <a:ln w="38100">
            <a:solidFill>
              <a:srgbClr val="BADE7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2773" name="Text Box 25"/>
          <p:cNvSpPr txBox="1">
            <a:spLocks noChangeArrowheads="1"/>
          </p:cNvSpPr>
          <p:nvPr/>
        </p:nvSpPr>
        <p:spPr bwMode="auto">
          <a:xfrm>
            <a:off x="4311650" y="1806575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1"/>
                </a:solidFill>
                <a:ea typeface="黑体" panose="02010609060101010101" pitchFamily="49" charset="-122"/>
              </a:rPr>
              <a:t>A.</a:t>
            </a:r>
            <a:r>
              <a:rPr lang="en-US" altLang="zh-CN" i="1">
                <a:solidFill>
                  <a:schemeClr val="accent1"/>
                </a:solidFill>
                <a:ea typeface="黑体" panose="02010609060101010101" pitchFamily="49" charset="-122"/>
              </a:rPr>
              <a:t>Edge</a:t>
            </a:r>
            <a:r>
              <a:rPr lang="en-US" altLang="zh-CN">
                <a:ea typeface="黑体" panose="02010609060101010101" pitchFamily="49" charset="-122"/>
              </a:rPr>
              <a:t> =</a:t>
            </a:r>
          </a:p>
        </p:txBody>
      </p:sp>
      <p:sp>
        <p:nvSpPr>
          <p:cNvPr id="32774" name="Rectangle 26"/>
          <p:cNvSpPr>
            <a:spLocks noChangeArrowheads="1"/>
          </p:cNvSpPr>
          <p:nvPr/>
        </p:nvSpPr>
        <p:spPr bwMode="auto">
          <a:xfrm>
            <a:off x="5759450" y="1044575"/>
            <a:ext cx="2590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3300"/>
                </a:solidFill>
                <a:ea typeface="黑体" panose="02010609060101010101" pitchFamily="49" charset="-122"/>
              </a:rPr>
              <a:t>（ </a:t>
            </a:r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v1 v2</a:t>
            </a:r>
            <a:r>
              <a:rPr lang="en-US" altLang="zh-CN" sz="2000" baseline="-6000">
                <a:solidFill>
                  <a:srgbClr val="FF3300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v3 v4 v5   </a:t>
            </a:r>
            <a:r>
              <a:rPr lang="zh-CN" altLang="en-US" sz="2000">
                <a:solidFill>
                  <a:srgbClr val="FF3300"/>
                </a:solidFill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2775" name="Rectangle 27"/>
          <p:cNvSpPr>
            <a:spLocks noChangeArrowheads="1"/>
          </p:cNvSpPr>
          <p:nvPr/>
        </p:nvSpPr>
        <p:spPr bwMode="auto">
          <a:xfrm>
            <a:off x="8045450" y="1273175"/>
            <a:ext cx="457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v1</a:t>
            </a:r>
          </a:p>
          <a:p>
            <a:pPr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v2</a:t>
            </a:r>
          </a:p>
          <a:p>
            <a:pPr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v3</a:t>
            </a:r>
          </a:p>
          <a:p>
            <a:pPr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v4</a:t>
            </a:r>
          </a:p>
          <a:p>
            <a:pPr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v5</a:t>
            </a:r>
          </a:p>
        </p:txBody>
      </p:sp>
      <p:sp>
        <p:nvSpPr>
          <p:cNvPr id="32776" name="Rectangle 28"/>
          <p:cNvSpPr>
            <a:spLocks noChangeArrowheads="1"/>
          </p:cNvSpPr>
          <p:nvPr/>
        </p:nvSpPr>
        <p:spPr bwMode="auto">
          <a:xfrm>
            <a:off x="6216650" y="1425575"/>
            <a:ext cx="15795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0   0   0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0   0   0   0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0   0   0   0   0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0   0   0   0   0</a:t>
            </a:r>
          </a:p>
        </p:txBody>
      </p:sp>
      <p:sp>
        <p:nvSpPr>
          <p:cNvPr id="954397" name="Rectangle 29"/>
          <p:cNvSpPr>
            <a:spLocks noChangeArrowheads="1"/>
          </p:cNvSpPr>
          <p:nvPr/>
        </p:nvSpPr>
        <p:spPr bwMode="auto">
          <a:xfrm>
            <a:off x="501650" y="3357563"/>
            <a:ext cx="86423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分析</a:t>
            </a:r>
            <a:r>
              <a:rPr lang="en-US" altLang="zh-CN" dirty="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dirty="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：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无向图的邻接矩阵是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对称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的；</a:t>
            </a:r>
          </a:p>
          <a:p>
            <a:pPr eaLnBrk="1" hangingPunct="1"/>
            <a:r>
              <a:rPr lang="zh-CN" altLang="en-US" dirty="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分析</a:t>
            </a:r>
            <a:r>
              <a:rPr lang="en-US" altLang="zh-CN" dirty="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 dirty="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：</a:t>
            </a:r>
            <a:r>
              <a:rPr lang="zh-CN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顶点</a:t>
            </a:r>
            <a:r>
              <a:rPr lang="en-US" altLang="zh-CN" i="1" dirty="0" err="1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i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的</a:t>
            </a:r>
            <a:r>
              <a:rPr lang="zh-CN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度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＝第 </a:t>
            </a:r>
            <a:r>
              <a:rPr lang="en-US" altLang="zh-CN" i="1" dirty="0" err="1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i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行 (列) 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中</a:t>
            </a:r>
            <a:r>
              <a:rPr lang="zh-CN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1 </a:t>
            </a:r>
            <a:r>
              <a:rPr lang="zh-CN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的个数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；</a:t>
            </a: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/>
            <a:r>
              <a:rPr lang="zh-CN" altLang="en-US" dirty="0">
                <a:solidFill>
                  <a:srgbClr val="00CC99"/>
                </a:solidFill>
                <a:latin typeface="楷体_GB2312"/>
                <a:ea typeface="楷体_GB2312"/>
                <a:cs typeface="楷体_GB2312"/>
              </a:rPr>
              <a:t>分析</a:t>
            </a:r>
            <a:r>
              <a:rPr lang="en-US" altLang="zh-CN" dirty="0">
                <a:solidFill>
                  <a:srgbClr val="00CC99"/>
                </a:solidFill>
                <a:latin typeface="楷体_GB2312"/>
                <a:ea typeface="楷体_GB2312"/>
                <a:cs typeface="楷体_GB2312"/>
              </a:rPr>
              <a:t>3: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对角线元素均为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0(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因为自己与自己不可连接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)</a:t>
            </a:r>
            <a:endParaRPr lang="zh-CN" altLang="en-US" dirty="0">
              <a:latin typeface="楷体_GB2312"/>
              <a:ea typeface="楷体_GB2312"/>
              <a:cs typeface="楷体_GB2312"/>
            </a:endParaRPr>
          </a:p>
          <a:p>
            <a:pPr eaLnBrk="1" hangingPunct="1"/>
            <a:endParaRPr lang="en-US" altLang="zh-CN" dirty="0">
              <a:solidFill>
                <a:schemeClr val="accent2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/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特别：</a:t>
            </a:r>
            <a:r>
              <a:rPr lang="zh-CN" altLang="en-US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完全图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每两个顶点均可相连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的邻接矩阵中，</a:t>
            </a:r>
            <a:r>
              <a:rPr lang="zh-CN" altLang="en-US" dirty="0">
                <a:solidFill>
                  <a:schemeClr val="accent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对角元素为</a:t>
            </a:r>
            <a:r>
              <a:rPr lang="en-US" altLang="zh-CN" dirty="0">
                <a:solidFill>
                  <a:schemeClr val="accent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dirty="0">
                <a:solidFill>
                  <a:schemeClr val="accent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，其余</a:t>
            </a:r>
            <a:r>
              <a:rPr lang="en-US" altLang="zh-CN" dirty="0">
                <a:solidFill>
                  <a:schemeClr val="accent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。</a:t>
            </a:r>
          </a:p>
        </p:txBody>
      </p:sp>
      <p:sp>
        <p:nvSpPr>
          <p:cNvPr id="32778" name="Rectangle 30"/>
          <p:cNvSpPr>
            <a:spLocks noChangeArrowheads="1"/>
          </p:cNvSpPr>
          <p:nvPr/>
        </p:nvSpPr>
        <p:spPr bwMode="auto">
          <a:xfrm>
            <a:off x="6216650" y="1425575"/>
            <a:ext cx="1579563" cy="1600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</a:t>
            </a:r>
          </a:p>
          <a:p>
            <a:pPr eaLnBrk="1" hangingPunct="1"/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 </a:t>
            </a:r>
            <a:r>
              <a:rPr lang="en-US" altLang="zh-CN" sz="2000">
                <a:ea typeface="黑体" panose="02010609060101010101" pitchFamily="49" charset="-122"/>
              </a:rPr>
              <a:t>  0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  </a:t>
            </a:r>
            <a:r>
              <a:rPr lang="en-US" altLang="zh-CN" sz="2000">
                <a:ea typeface="黑体" panose="02010609060101010101" pitchFamily="49" charset="-122"/>
              </a:rPr>
              <a:t> 0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1   1</a:t>
            </a:r>
          </a:p>
          <a:p>
            <a:pPr eaLnBrk="1" hangingPunct="1"/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 </a:t>
            </a:r>
            <a:r>
              <a:rPr lang="en-US" altLang="zh-CN" sz="2000">
                <a:ea typeface="黑体" panose="02010609060101010101" pitchFamily="49" charset="-122"/>
              </a:rPr>
              <a:t>  0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1   1</a:t>
            </a:r>
            <a:r>
              <a:rPr lang="en-US" altLang="zh-CN" sz="2000">
                <a:ea typeface="黑体" panose="02010609060101010101" pitchFamily="49" charset="-122"/>
              </a:rPr>
              <a:t>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1 </a:t>
            </a:r>
            <a:r>
              <a:rPr lang="en-US" altLang="zh-CN" sz="2000">
                <a:ea typeface="黑体" panose="02010609060101010101" pitchFamily="49" charset="-122"/>
              </a:rPr>
              <a:t>  0</a:t>
            </a:r>
          </a:p>
        </p:txBody>
      </p:sp>
      <p:sp>
        <p:nvSpPr>
          <p:cNvPr id="32779" name="Rectangle 31"/>
          <p:cNvSpPr>
            <a:spLocks noChangeArrowheads="1"/>
          </p:cNvSpPr>
          <p:nvPr/>
        </p:nvSpPr>
        <p:spPr bwMode="auto">
          <a:xfrm>
            <a:off x="6216650" y="1425575"/>
            <a:ext cx="15795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</a:t>
            </a:r>
          </a:p>
          <a:p>
            <a:pPr eaLnBrk="1" hangingPunct="1"/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  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ea typeface="黑体" panose="02010609060101010101" pitchFamily="49" charset="-122"/>
              </a:rPr>
              <a:t> 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1   1</a:t>
            </a:r>
          </a:p>
          <a:p>
            <a:pPr eaLnBrk="1" hangingPunct="1"/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 </a:t>
            </a:r>
            <a:r>
              <a:rPr lang="en-US" altLang="zh-CN" sz="2000">
                <a:ea typeface="黑体" panose="02010609060101010101" pitchFamily="49" charset="-122"/>
              </a:rPr>
              <a:t>  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1   1</a:t>
            </a:r>
            <a:r>
              <a:rPr lang="en-US" altLang="zh-CN" sz="2000">
                <a:ea typeface="黑体" panose="02010609060101010101" pitchFamily="49" charset="-12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   0</a:t>
            </a:r>
          </a:p>
        </p:txBody>
      </p:sp>
      <p:sp>
        <p:nvSpPr>
          <p:cNvPr id="32780" name="Rectangle 32"/>
          <p:cNvSpPr>
            <a:spLocks noChangeArrowheads="1"/>
          </p:cNvSpPr>
          <p:nvPr/>
        </p:nvSpPr>
        <p:spPr bwMode="auto">
          <a:xfrm>
            <a:off x="4464050" y="94615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hlink"/>
                </a:solidFill>
                <a:ea typeface="黑体" panose="02010609060101010101" pitchFamily="49" charset="-122"/>
              </a:rPr>
              <a:t>顶点表：</a:t>
            </a:r>
          </a:p>
        </p:txBody>
      </p:sp>
      <p:sp>
        <p:nvSpPr>
          <p:cNvPr id="32781" name="Rectangle 35"/>
          <p:cNvSpPr>
            <a:spLocks noChangeArrowheads="1"/>
          </p:cNvSpPr>
          <p:nvPr/>
        </p:nvSpPr>
        <p:spPr bwMode="auto">
          <a:xfrm>
            <a:off x="39688" y="0"/>
            <a:ext cx="5253037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无向图的邻接矩阵表示法</a:t>
            </a:r>
          </a:p>
        </p:txBody>
      </p:sp>
      <p:grpSp>
        <p:nvGrpSpPr>
          <p:cNvPr id="32782" name="Group 36"/>
          <p:cNvGrpSpPr/>
          <p:nvPr/>
        </p:nvGrpSpPr>
        <p:grpSpPr bwMode="auto">
          <a:xfrm>
            <a:off x="971550" y="1022350"/>
            <a:ext cx="2146300" cy="1295400"/>
            <a:chOff x="40" y="413"/>
            <a:chExt cx="1352" cy="816"/>
          </a:xfrm>
        </p:grpSpPr>
        <p:sp>
          <p:nvSpPr>
            <p:cNvPr id="32783" name="Oval 37"/>
            <p:cNvSpPr>
              <a:spLocks noChangeArrowheads="1"/>
            </p:cNvSpPr>
            <p:nvPr/>
          </p:nvSpPr>
          <p:spPr bwMode="auto">
            <a:xfrm>
              <a:off x="40" y="441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32784" name="Oval 38"/>
            <p:cNvSpPr>
              <a:spLocks noChangeArrowheads="1"/>
            </p:cNvSpPr>
            <p:nvPr/>
          </p:nvSpPr>
          <p:spPr bwMode="auto">
            <a:xfrm>
              <a:off x="976" y="413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32785" name="Oval 39"/>
            <p:cNvSpPr>
              <a:spLocks noChangeArrowheads="1"/>
            </p:cNvSpPr>
            <p:nvPr/>
          </p:nvSpPr>
          <p:spPr bwMode="auto">
            <a:xfrm>
              <a:off x="508" y="723"/>
              <a:ext cx="312" cy="1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32786" name="Oval 40"/>
            <p:cNvSpPr>
              <a:spLocks noChangeArrowheads="1"/>
            </p:cNvSpPr>
            <p:nvPr/>
          </p:nvSpPr>
          <p:spPr bwMode="auto">
            <a:xfrm>
              <a:off x="1080" y="1032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32787" name="Line 41"/>
            <p:cNvSpPr>
              <a:spLocks noChangeShapeType="1"/>
            </p:cNvSpPr>
            <p:nvPr/>
          </p:nvSpPr>
          <p:spPr bwMode="auto">
            <a:xfrm>
              <a:off x="352" y="526"/>
              <a:ext cx="62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Line 42"/>
            <p:cNvSpPr>
              <a:spLocks noChangeShapeType="1"/>
            </p:cNvSpPr>
            <p:nvPr/>
          </p:nvSpPr>
          <p:spPr bwMode="auto">
            <a:xfrm flipH="1">
              <a:off x="196" y="638"/>
              <a:ext cx="0" cy="36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9" name="Line 43"/>
            <p:cNvSpPr>
              <a:spLocks noChangeShapeType="1"/>
            </p:cNvSpPr>
            <p:nvPr/>
          </p:nvSpPr>
          <p:spPr bwMode="auto">
            <a:xfrm>
              <a:off x="352" y="1145"/>
              <a:ext cx="72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Line 44"/>
            <p:cNvSpPr>
              <a:spLocks noChangeShapeType="1"/>
            </p:cNvSpPr>
            <p:nvPr/>
          </p:nvSpPr>
          <p:spPr bwMode="auto">
            <a:xfrm>
              <a:off x="820" y="891"/>
              <a:ext cx="364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Oval 45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rgbClr val="111147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rgbClr val="CDE5F3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32792" name="Line 46"/>
            <p:cNvSpPr>
              <a:spLocks noChangeShapeType="1"/>
            </p:cNvSpPr>
            <p:nvPr/>
          </p:nvSpPr>
          <p:spPr bwMode="auto">
            <a:xfrm flipH="1">
              <a:off x="300" y="891"/>
              <a:ext cx="260" cy="14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Line 47"/>
            <p:cNvSpPr>
              <a:spLocks noChangeShapeType="1"/>
            </p:cNvSpPr>
            <p:nvPr/>
          </p:nvSpPr>
          <p:spPr bwMode="auto">
            <a:xfrm flipH="1">
              <a:off x="768" y="582"/>
              <a:ext cx="260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48"/>
            <p:cNvSpPr>
              <a:spLocks noChangeShapeType="1"/>
            </p:cNvSpPr>
            <p:nvPr/>
          </p:nvSpPr>
          <p:spPr bwMode="auto">
            <a:xfrm>
              <a:off x="1184" y="610"/>
              <a:ext cx="0" cy="42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Oval 49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7" name="Rectangle 5"/>
          <p:cNvSpPr>
            <a:spLocks noChangeArrowheads="1"/>
          </p:cNvSpPr>
          <p:nvPr/>
        </p:nvSpPr>
        <p:spPr bwMode="auto">
          <a:xfrm>
            <a:off x="381000" y="3832225"/>
            <a:ext cx="8175625" cy="26776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None/>
              <a:defRPr/>
            </a:pPr>
            <a:r>
              <a:rPr kumimoji="1"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分析</a:t>
            </a:r>
            <a:r>
              <a:rPr kumimoji="1" lang="en-US" altLang="zh-CN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</a:t>
            </a:r>
            <a:r>
              <a:rPr kumimoji="1"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有向图的邻接矩阵</a:t>
            </a:r>
            <a:r>
              <a:rPr kumimoji="1"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可能是不对称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的。</a:t>
            </a:r>
          </a:p>
          <a:p>
            <a:pPr>
              <a:buFontTx/>
              <a:buNone/>
              <a:defRPr/>
            </a:pPr>
            <a:r>
              <a:rPr kumimoji="1"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分析</a:t>
            </a:r>
            <a:r>
              <a:rPr kumimoji="1" lang="en-US" altLang="zh-CN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顶点的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出度</a:t>
            </a:r>
            <a:r>
              <a:rPr kumimoji="1" lang="en-US" altLang="zh-CN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=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第</a:t>
            </a:r>
            <a:r>
              <a:rPr kumimoji="1" lang="en-US" altLang="zh-CN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i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行元素之和</a:t>
            </a:r>
            <a:endParaRPr kumimoji="1" lang="zh-CN" altLang="en-US" dirty="0"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>
              <a:buFontTx/>
              <a:buNone/>
              <a:defRPr/>
            </a:pP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      顶点的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入度</a:t>
            </a:r>
            <a:r>
              <a:rPr kumimoji="1" lang="en-US" altLang="zh-CN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=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第</a:t>
            </a:r>
            <a:r>
              <a:rPr kumimoji="1" lang="en-US" altLang="zh-CN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i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列元素之和</a:t>
            </a:r>
            <a:endParaRPr kumimoji="1" lang="zh-CN" altLang="en-US" i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>
              <a:buFontTx/>
              <a:buNone/>
              <a:defRPr/>
            </a:pP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      顶点的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度</a:t>
            </a:r>
            <a:r>
              <a:rPr kumimoji="1" lang="en-US" altLang="zh-CN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=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第</a:t>
            </a:r>
            <a:r>
              <a:rPr kumimoji="1" lang="en-US" altLang="zh-CN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i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行元素之和</a:t>
            </a:r>
            <a:r>
              <a:rPr kumimoji="1"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+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第</a:t>
            </a:r>
            <a:r>
              <a:rPr kumimoji="1" lang="en-US" altLang="zh-CN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i</a:t>
            </a:r>
            <a:r>
              <a:rPr kumimoji="1"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列元素之和</a:t>
            </a:r>
            <a:endParaRPr kumimoji="1" lang="en-US" altLang="zh-CN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>
              <a:buFontTx/>
              <a:buNone/>
              <a:defRPr/>
            </a:pPr>
            <a:r>
              <a:rPr kumimoji="1"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分析</a:t>
            </a:r>
            <a:r>
              <a:rPr kumimoji="1" lang="en-US" altLang="zh-CN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3</a:t>
            </a:r>
            <a:r>
              <a:rPr kumimoji="1"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对角线元素为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0</a:t>
            </a:r>
            <a:endParaRPr kumimoji="1" lang="zh-CN" altLang="en-US" dirty="0"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>
              <a:buFontTx/>
              <a:buNone/>
              <a:defRPr/>
            </a:pP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        </a:t>
            </a:r>
            <a:endParaRPr kumimoji="1" lang="zh-CN" altLang="en-US" i="1" dirty="0"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33795" name="Oval 7"/>
          <p:cNvSpPr>
            <a:spLocks noChangeArrowheads="1"/>
          </p:cNvSpPr>
          <p:nvPr/>
        </p:nvSpPr>
        <p:spPr bwMode="auto">
          <a:xfrm>
            <a:off x="1155700" y="946150"/>
            <a:ext cx="511175" cy="37782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bg1"/>
                </a:solidFill>
                <a:ea typeface="黑体" panose="02010609060101010101" pitchFamily="49" charset="-122"/>
              </a:rPr>
              <a:t>v1</a:t>
            </a:r>
          </a:p>
        </p:txBody>
      </p:sp>
      <p:sp>
        <p:nvSpPr>
          <p:cNvPr id="33796" name="Oval 8"/>
          <p:cNvSpPr>
            <a:spLocks noChangeArrowheads="1"/>
          </p:cNvSpPr>
          <p:nvPr/>
        </p:nvSpPr>
        <p:spPr bwMode="auto">
          <a:xfrm>
            <a:off x="2689225" y="892175"/>
            <a:ext cx="511175" cy="37782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bg1"/>
                </a:solidFill>
                <a:ea typeface="黑体" panose="02010609060101010101" pitchFamily="49" charset="-122"/>
              </a:rPr>
              <a:t>v2</a:t>
            </a:r>
          </a:p>
        </p:txBody>
      </p:sp>
      <p:sp>
        <p:nvSpPr>
          <p:cNvPr id="33797" name="Oval 9"/>
          <p:cNvSpPr>
            <a:spLocks noChangeArrowheads="1"/>
          </p:cNvSpPr>
          <p:nvPr/>
        </p:nvSpPr>
        <p:spPr bwMode="auto">
          <a:xfrm>
            <a:off x="1071563" y="1809750"/>
            <a:ext cx="511175" cy="37782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bg1"/>
                </a:solidFill>
                <a:ea typeface="黑体" panose="02010609060101010101" pitchFamily="49" charset="-122"/>
              </a:rPr>
              <a:t>v3</a:t>
            </a:r>
          </a:p>
        </p:txBody>
      </p:sp>
      <p:sp>
        <p:nvSpPr>
          <p:cNvPr id="33798" name="Oval 10"/>
          <p:cNvSpPr>
            <a:spLocks noChangeArrowheads="1"/>
          </p:cNvSpPr>
          <p:nvPr/>
        </p:nvSpPr>
        <p:spPr bwMode="auto">
          <a:xfrm>
            <a:off x="2689225" y="1809750"/>
            <a:ext cx="511175" cy="37782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bg1"/>
                </a:solidFill>
                <a:ea typeface="黑体" panose="02010609060101010101" pitchFamily="49" charset="-122"/>
              </a:rPr>
              <a:t>v4</a:t>
            </a:r>
          </a:p>
        </p:txBody>
      </p:sp>
      <p:sp>
        <p:nvSpPr>
          <p:cNvPr id="33799" name="Line 11"/>
          <p:cNvSpPr>
            <a:spLocks noChangeShapeType="1"/>
          </p:cNvSpPr>
          <p:nvPr/>
        </p:nvSpPr>
        <p:spPr bwMode="auto">
          <a:xfrm>
            <a:off x="1666875" y="1108075"/>
            <a:ext cx="10223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Line 12"/>
          <p:cNvSpPr>
            <a:spLocks noChangeShapeType="1"/>
          </p:cNvSpPr>
          <p:nvPr/>
        </p:nvSpPr>
        <p:spPr bwMode="auto">
          <a:xfrm flipH="1">
            <a:off x="1411288" y="1323975"/>
            <a:ext cx="0" cy="4857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1" name="Line 13"/>
          <p:cNvSpPr>
            <a:spLocks noChangeShapeType="1"/>
          </p:cNvSpPr>
          <p:nvPr/>
        </p:nvSpPr>
        <p:spPr bwMode="auto">
          <a:xfrm>
            <a:off x="1582738" y="2025650"/>
            <a:ext cx="110648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2" name="Line 14"/>
          <p:cNvSpPr>
            <a:spLocks noChangeShapeType="1"/>
          </p:cNvSpPr>
          <p:nvPr/>
        </p:nvSpPr>
        <p:spPr bwMode="auto">
          <a:xfrm>
            <a:off x="1582738" y="1270000"/>
            <a:ext cx="1192212" cy="5937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5407" name="Rectangle 15"/>
          <p:cNvSpPr>
            <a:spLocks noChangeArrowheads="1"/>
          </p:cNvSpPr>
          <p:nvPr/>
        </p:nvSpPr>
        <p:spPr bwMode="auto">
          <a:xfrm>
            <a:off x="228600" y="1295400"/>
            <a:ext cx="422275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600">
                <a:effectLst>
                  <a:outerShdw blurRad="38100" dist="38100" dir="2700000" algn="tl">
                    <a:srgbClr val="C0C0C0"/>
                  </a:outerShdw>
                </a:effectLst>
                <a:sym typeface="仿宋_GB2312" panose="02010609030101010101" charset="-122"/>
              </a:rPr>
              <a:t>A</a:t>
            </a:r>
          </a:p>
        </p:txBody>
      </p:sp>
      <p:sp>
        <p:nvSpPr>
          <p:cNvPr id="33804" name="Text Box 16"/>
          <p:cNvSpPr txBox="1">
            <a:spLocks noChangeArrowheads="1"/>
          </p:cNvSpPr>
          <p:nvPr/>
        </p:nvSpPr>
        <p:spPr bwMode="auto">
          <a:xfrm>
            <a:off x="3810000" y="1120775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hlink"/>
                </a:solidFill>
                <a:ea typeface="黑体" panose="02010609060101010101" pitchFamily="49" charset="-122"/>
              </a:rPr>
              <a:t>邻接矩阵：</a:t>
            </a:r>
          </a:p>
        </p:txBody>
      </p:sp>
      <p:sp>
        <p:nvSpPr>
          <p:cNvPr id="33805" name="AutoShape 17"/>
          <p:cNvSpPr/>
          <p:nvPr/>
        </p:nvSpPr>
        <p:spPr bwMode="auto">
          <a:xfrm>
            <a:off x="5735638" y="1196975"/>
            <a:ext cx="152400" cy="1219200"/>
          </a:xfrm>
          <a:prstGeom prst="leftBracket">
            <a:avLst>
              <a:gd name="adj" fmla="val 66667"/>
            </a:avLst>
          </a:prstGeom>
          <a:noFill/>
          <a:ln w="38100">
            <a:solidFill>
              <a:srgbClr val="BADE7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3806" name="AutoShape 18"/>
          <p:cNvSpPr/>
          <p:nvPr/>
        </p:nvSpPr>
        <p:spPr bwMode="auto">
          <a:xfrm>
            <a:off x="7107238" y="1196975"/>
            <a:ext cx="207962" cy="1219200"/>
          </a:xfrm>
          <a:prstGeom prst="rightBracket">
            <a:avLst>
              <a:gd name="adj" fmla="val 48855"/>
            </a:avLst>
          </a:prstGeom>
          <a:noFill/>
          <a:ln w="38100">
            <a:solidFill>
              <a:srgbClr val="BADE7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3807" name="Text Box 19"/>
          <p:cNvSpPr txBox="1">
            <a:spLocks noChangeArrowheads="1"/>
          </p:cNvSpPr>
          <p:nvPr/>
        </p:nvSpPr>
        <p:spPr bwMode="auto">
          <a:xfrm>
            <a:off x="4038600" y="1425575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1"/>
                </a:solidFill>
                <a:ea typeface="黑体" panose="02010609060101010101" pitchFamily="49" charset="-122"/>
              </a:rPr>
              <a:t>A.</a:t>
            </a:r>
            <a:r>
              <a:rPr lang="en-US" altLang="zh-CN" i="1">
                <a:solidFill>
                  <a:schemeClr val="accent1"/>
                </a:solidFill>
                <a:ea typeface="黑体" panose="02010609060101010101" pitchFamily="49" charset="-122"/>
              </a:rPr>
              <a:t>Edge</a:t>
            </a:r>
            <a:r>
              <a:rPr lang="en-US" altLang="zh-CN">
                <a:ea typeface="黑体" panose="02010609060101010101" pitchFamily="49" charset="-122"/>
              </a:rPr>
              <a:t> =</a:t>
            </a:r>
          </a:p>
        </p:txBody>
      </p:sp>
      <p:sp>
        <p:nvSpPr>
          <p:cNvPr id="33808" name="Rectangle 20"/>
          <p:cNvSpPr>
            <a:spLocks noChangeArrowheads="1"/>
          </p:cNvSpPr>
          <p:nvPr/>
        </p:nvSpPr>
        <p:spPr bwMode="auto">
          <a:xfrm>
            <a:off x="5638800" y="812800"/>
            <a:ext cx="18843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( v1 v2</a:t>
            </a:r>
            <a:r>
              <a:rPr lang="en-US" altLang="zh-CN" sz="2000" baseline="-6000">
                <a:solidFill>
                  <a:srgbClr val="FF3300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v3 v4 )</a:t>
            </a:r>
          </a:p>
        </p:txBody>
      </p:sp>
      <p:sp>
        <p:nvSpPr>
          <p:cNvPr id="33809" name="Rectangle 21"/>
          <p:cNvSpPr>
            <a:spLocks noChangeArrowheads="1"/>
          </p:cNvSpPr>
          <p:nvPr/>
        </p:nvSpPr>
        <p:spPr bwMode="auto">
          <a:xfrm>
            <a:off x="7370763" y="1120775"/>
            <a:ext cx="457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v1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v2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v3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v4</a:t>
            </a:r>
          </a:p>
        </p:txBody>
      </p:sp>
      <p:sp>
        <p:nvSpPr>
          <p:cNvPr id="33810" name="Rectangle 22"/>
          <p:cNvSpPr>
            <a:spLocks noChangeArrowheads="1"/>
          </p:cNvSpPr>
          <p:nvPr/>
        </p:nvSpPr>
        <p:spPr bwMode="auto">
          <a:xfrm>
            <a:off x="5867400" y="1120775"/>
            <a:ext cx="1295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   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0   0   0  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0   0   0   0  </a:t>
            </a:r>
          </a:p>
        </p:txBody>
      </p:sp>
      <p:sp>
        <p:nvSpPr>
          <p:cNvPr id="955415" name="Text Box 23"/>
          <p:cNvSpPr txBox="1">
            <a:spLocks noChangeArrowheads="1"/>
          </p:cNvSpPr>
          <p:nvPr/>
        </p:nvSpPr>
        <p:spPr bwMode="auto">
          <a:xfrm>
            <a:off x="381000" y="2644775"/>
            <a:ext cx="6934200" cy="120032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注：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在有向图的邻接矩阵中，</a:t>
            </a:r>
          </a:p>
          <a:p>
            <a:pPr eaLnBrk="1" hangingPunct="1"/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   第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行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含义：以结点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latin typeface="楷体_GB2312"/>
                <a:ea typeface="楷体_GB2312"/>
                <a:cs typeface="楷体_GB2312"/>
              </a:rPr>
              <a:t>i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为尾的弧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即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出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度边）；</a:t>
            </a:r>
          </a:p>
          <a:p>
            <a:pPr eaLnBrk="1" hangingPunct="1"/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   第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列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含义：以结点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latin typeface="楷体_GB2312"/>
                <a:ea typeface="楷体_GB2312"/>
                <a:cs typeface="楷体_GB2312"/>
              </a:rPr>
              <a:t>i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为头的弧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即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入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度边）。</a:t>
            </a:r>
          </a:p>
        </p:txBody>
      </p:sp>
      <p:sp>
        <p:nvSpPr>
          <p:cNvPr id="33812" name="Rectangle 25"/>
          <p:cNvSpPr>
            <a:spLocks noChangeArrowheads="1"/>
          </p:cNvSpPr>
          <p:nvPr/>
        </p:nvSpPr>
        <p:spPr bwMode="auto">
          <a:xfrm>
            <a:off x="4070350" y="7397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hlink"/>
                </a:solidFill>
                <a:ea typeface="黑体" panose="02010609060101010101" pitchFamily="49" charset="-122"/>
              </a:rPr>
              <a:t>顶点表：</a:t>
            </a:r>
          </a:p>
        </p:txBody>
      </p:sp>
      <p:sp>
        <p:nvSpPr>
          <p:cNvPr id="33813" name="Rectangle 26"/>
          <p:cNvSpPr>
            <a:spLocks noChangeArrowheads="1"/>
          </p:cNvSpPr>
          <p:nvPr/>
        </p:nvSpPr>
        <p:spPr bwMode="auto">
          <a:xfrm>
            <a:off x="5867400" y="1120775"/>
            <a:ext cx="1295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aseline="-6000">
                <a:ea typeface="黑体" panose="02010609060101010101" pitchFamily="49" charset="-122"/>
              </a:rPr>
              <a:t> 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   </a:t>
            </a:r>
            <a:endParaRPr lang="en-US" altLang="zh-CN" sz="200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ea typeface="黑体" panose="02010609060101010101" pitchFamily="49" charset="-122"/>
              </a:rPr>
              <a:t> 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</a:p>
          <a:p>
            <a:pPr eaLnBrk="1" hangingPunct="1"/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  0   0   0  </a:t>
            </a:r>
          </a:p>
        </p:txBody>
      </p:sp>
      <p:sp>
        <p:nvSpPr>
          <p:cNvPr id="33814" name="Rectangle 27"/>
          <p:cNvSpPr>
            <a:spLocks noChangeArrowheads="1"/>
          </p:cNvSpPr>
          <p:nvPr/>
        </p:nvSpPr>
        <p:spPr bwMode="auto">
          <a:xfrm>
            <a:off x="5867400" y="1120775"/>
            <a:ext cx="1295400" cy="1447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aseline="-6000">
                <a:ea typeface="黑体" panose="02010609060101010101" pitchFamily="49" charset="-122"/>
              </a:rPr>
              <a:t> 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0   0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0   0   </a:t>
            </a:r>
            <a:endParaRPr lang="en-US" altLang="zh-CN" sz="200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 baseline="-6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ea typeface="黑体" panose="02010609060101010101" pitchFamily="49" charset="-122"/>
              </a:rPr>
              <a:t> 0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</a:p>
          <a:p>
            <a:pPr eaLnBrk="1" hangingPunct="1"/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  0   0   0  </a:t>
            </a:r>
          </a:p>
        </p:txBody>
      </p:sp>
      <p:sp>
        <p:nvSpPr>
          <p:cNvPr id="33815" name="Rectangle 28"/>
          <p:cNvSpPr>
            <a:spLocks noChangeArrowheads="1"/>
          </p:cNvSpPr>
          <p:nvPr/>
        </p:nvSpPr>
        <p:spPr bwMode="auto">
          <a:xfrm>
            <a:off x="39688" y="0"/>
            <a:ext cx="5253037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有向图的邻接矩阵表示法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22" name="Text Box 6"/>
          <p:cNvSpPr txBox="1">
            <a:spLocks noChangeArrowheads="1"/>
          </p:cNvSpPr>
          <p:nvPr/>
        </p:nvSpPr>
        <p:spPr bwMode="auto">
          <a:xfrm>
            <a:off x="487363" y="8001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ea typeface="黑体" panose="02010609060101010101" pitchFamily="49" charset="-122"/>
              </a:rPr>
              <a:t>定义为：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1858963" y="571500"/>
            <a:ext cx="7010400" cy="838200"/>
            <a:chOff x="1104" y="480"/>
            <a:chExt cx="4416" cy="528"/>
          </a:xfrm>
        </p:grpSpPr>
        <p:sp>
          <p:nvSpPr>
            <p:cNvPr id="34857" name="AutoShape 8"/>
            <p:cNvSpPr/>
            <p:nvPr/>
          </p:nvSpPr>
          <p:spPr bwMode="auto">
            <a:xfrm>
              <a:off x="2496" y="528"/>
              <a:ext cx="48" cy="480"/>
            </a:xfrm>
            <a:prstGeom prst="leftBrace">
              <a:avLst>
                <a:gd name="adj1" fmla="val 83241"/>
                <a:gd name="adj2" fmla="val 50000"/>
              </a:avLst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34858" name="Rectangle 9"/>
            <p:cNvSpPr>
              <a:spLocks noChangeArrowheads="1"/>
            </p:cNvSpPr>
            <p:nvPr/>
          </p:nvSpPr>
          <p:spPr bwMode="auto">
            <a:xfrm>
              <a:off x="1104" y="624"/>
              <a:ext cx="13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chemeClr val="accent1"/>
                  </a:solidFill>
                  <a:ea typeface="黑体" panose="02010609060101010101" pitchFamily="49" charset="-122"/>
                </a:rPr>
                <a:t>A.</a:t>
              </a:r>
              <a:r>
                <a:rPr lang="en-US" altLang="zh-CN" sz="2400" i="1">
                  <a:solidFill>
                    <a:schemeClr val="accent1"/>
                  </a:solidFill>
                  <a:ea typeface="黑体" panose="02010609060101010101" pitchFamily="49" charset="-122"/>
                </a:rPr>
                <a:t>Edge</a:t>
              </a:r>
              <a:r>
                <a:rPr lang="en-US" altLang="zh-CN" sz="2400">
                  <a:ea typeface="黑体" panose="02010609060101010101" pitchFamily="49" charset="-122"/>
                </a:rPr>
                <a:t>[ i ][ j ]=</a:t>
              </a:r>
            </a:p>
          </p:txBody>
        </p:sp>
        <p:sp>
          <p:nvSpPr>
            <p:cNvPr id="34859" name="Rectangle 10"/>
            <p:cNvSpPr>
              <a:spLocks noChangeArrowheads="1"/>
            </p:cNvSpPr>
            <p:nvPr/>
          </p:nvSpPr>
          <p:spPr bwMode="auto">
            <a:xfrm>
              <a:off x="2688" y="480"/>
              <a:ext cx="28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chemeClr val="tx2"/>
                  </a:solidFill>
                  <a:ea typeface="黑体" panose="02010609060101010101" pitchFamily="49" charset="-122"/>
                </a:rPr>
                <a:t>W</a:t>
              </a:r>
              <a:r>
                <a:rPr lang="en-US" altLang="zh-CN" sz="2400" baseline="-25000">
                  <a:solidFill>
                    <a:schemeClr val="tx2"/>
                  </a:solidFill>
                  <a:ea typeface="黑体" panose="02010609060101010101" pitchFamily="49" charset="-122"/>
                </a:rPr>
                <a:t>ij</a:t>
              </a:r>
              <a:r>
                <a:rPr lang="en-US" altLang="zh-CN" sz="2400">
                  <a:solidFill>
                    <a:schemeClr val="tx2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400">
                  <a:ea typeface="黑体" panose="02010609060101010101" pitchFamily="49" charset="-122"/>
                </a:rPr>
                <a:t>   &lt;vi, vj&gt; </a:t>
              </a:r>
              <a:r>
                <a:rPr lang="zh-CN" altLang="en-US" sz="2400">
                  <a:ea typeface="黑体" panose="02010609060101010101" pitchFamily="49" charset="-122"/>
                </a:rPr>
                <a:t>或（</a:t>
              </a:r>
              <a:r>
                <a:rPr lang="en-US" altLang="zh-CN" sz="2400">
                  <a:ea typeface="黑体" panose="02010609060101010101" pitchFamily="49" charset="-122"/>
                </a:rPr>
                <a:t>vi, vj</a:t>
              </a:r>
              <a:r>
                <a:rPr lang="zh-CN" altLang="en-US" sz="2400">
                  <a:ea typeface="黑体" panose="02010609060101010101" pitchFamily="49" charset="-122"/>
                </a:rPr>
                <a:t>）∈</a:t>
              </a:r>
              <a:r>
                <a:rPr lang="en-US" altLang="zh-CN" sz="2400">
                  <a:ea typeface="黑体" panose="02010609060101010101" pitchFamily="49" charset="-122"/>
                </a:rPr>
                <a:t>VR</a:t>
              </a:r>
            </a:p>
          </p:txBody>
        </p:sp>
        <p:sp>
          <p:nvSpPr>
            <p:cNvPr id="34860" name="Rectangle 11"/>
            <p:cNvSpPr>
              <a:spLocks noChangeArrowheads="1"/>
            </p:cNvSpPr>
            <p:nvPr/>
          </p:nvSpPr>
          <p:spPr bwMode="auto">
            <a:xfrm>
              <a:off x="2736" y="720"/>
              <a:ext cx="16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chemeClr val="tx2"/>
                  </a:solidFill>
                  <a:ea typeface="黑体" panose="02010609060101010101" pitchFamily="49" charset="-122"/>
                </a:rPr>
                <a:t>∞ </a:t>
              </a:r>
              <a:r>
                <a:rPr lang="en-US" altLang="zh-CN" sz="2400">
                  <a:ea typeface="黑体" panose="02010609060101010101" pitchFamily="49" charset="-122"/>
                </a:rPr>
                <a:t>      </a:t>
              </a:r>
              <a:r>
                <a:rPr lang="zh-CN" altLang="en-US" sz="2400">
                  <a:ea typeface="黑体" panose="02010609060101010101" pitchFamily="49" charset="-122"/>
                </a:rPr>
                <a:t>无边（弧）</a:t>
              </a:r>
            </a:p>
          </p:txBody>
        </p:sp>
      </p:grpSp>
      <p:sp>
        <p:nvSpPr>
          <p:cNvPr id="34820" name="Oval 13"/>
          <p:cNvSpPr>
            <a:spLocks noChangeArrowheads="1"/>
          </p:cNvSpPr>
          <p:nvPr/>
        </p:nvSpPr>
        <p:spPr bwMode="auto">
          <a:xfrm>
            <a:off x="1143000" y="2306638"/>
            <a:ext cx="473075" cy="319087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v1</a:t>
            </a:r>
          </a:p>
        </p:txBody>
      </p:sp>
      <p:sp>
        <p:nvSpPr>
          <p:cNvPr id="34821" name="Oval 14"/>
          <p:cNvSpPr>
            <a:spLocks noChangeArrowheads="1"/>
          </p:cNvSpPr>
          <p:nvPr/>
        </p:nvSpPr>
        <p:spPr bwMode="auto">
          <a:xfrm>
            <a:off x="3271838" y="2306638"/>
            <a:ext cx="473075" cy="319087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v2</a:t>
            </a:r>
          </a:p>
        </p:txBody>
      </p:sp>
      <p:sp>
        <p:nvSpPr>
          <p:cNvPr id="34822" name="Oval 15"/>
          <p:cNvSpPr>
            <a:spLocks noChangeArrowheads="1"/>
          </p:cNvSpPr>
          <p:nvPr/>
        </p:nvSpPr>
        <p:spPr bwMode="auto">
          <a:xfrm>
            <a:off x="3824288" y="2946400"/>
            <a:ext cx="473075" cy="32067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v3</a:t>
            </a:r>
          </a:p>
        </p:txBody>
      </p:sp>
      <p:sp>
        <p:nvSpPr>
          <p:cNvPr id="34823" name="Oval 16"/>
          <p:cNvSpPr>
            <a:spLocks noChangeArrowheads="1"/>
          </p:cNvSpPr>
          <p:nvPr/>
        </p:nvSpPr>
        <p:spPr bwMode="auto">
          <a:xfrm>
            <a:off x="2955925" y="3770313"/>
            <a:ext cx="473075" cy="32067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v4</a:t>
            </a:r>
          </a:p>
        </p:txBody>
      </p:sp>
      <p:sp>
        <p:nvSpPr>
          <p:cNvPr id="34824" name="Line 17"/>
          <p:cNvSpPr>
            <a:spLocks noChangeShapeType="1"/>
          </p:cNvSpPr>
          <p:nvPr/>
        </p:nvSpPr>
        <p:spPr bwMode="auto">
          <a:xfrm>
            <a:off x="1570038" y="2443163"/>
            <a:ext cx="16557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5" name="Line 18"/>
          <p:cNvSpPr>
            <a:spLocks noChangeShapeType="1"/>
          </p:cNvSpPr>
          <p:nvPr/>
        </p:nvSpPr>
        <p:spPr bwMode="auto">
          <a:xfrm flipH="1">
            <a:off x="938213" y="2625725"/>
            <a:ext cx="395287" cy="4587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6" name="Line 19"/>
          <p:cNvSpPr>
            <a:spLocks noChangeShapeType="1"/>
          </p:cNvSpPr>
          <p:nvPr/>
        </p:nvSpPr>
        <p:spPr bwMode="auto">
          <a:xfrm flipV="1">
            <a:off x="1570038" y="3954463"/>
            <a:ext cx="1339850" cy="1365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Line 20"/>
          <p:cNvSpPr>
            <a:spLocks noChangeShapeType="1"/>
          </p:cNvSpPr>
          <p:nvPr/>
        </p:nvSpPr>
        <p:spPr bwMode="auto">
          <a:xfrm>
            <a:off x="1570038" y="2581275"/>
            <a:ext cx="2208212" cy="5492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Text Box 21"/>
          <p:cNvSpPr txBox="1">
            <a:spLocks noChangeArrowheads="1"/>
          </p:cNvSpPr>
          <p:nvPr/>
        </p:nvSpPr>
        <p:spPr bwMode="auto">
          <a:xfrm>
            <a:off x="60325" y="27019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34829" name="Oval 22"/>
          <p:cNvSpPr>
            <a:spLocks noChangeArrowheads="1"/>
          </p:cNvSpPr>
          <p:nvPr/>
        </p:nvSpPr>
        <p:spPr bwMode="auto">
          <a:xfrm>
            <a:off x="1220788" y="3862388"/>
            <a:ext cx="473075" cy="32067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v5</a:t>
            </a:r>
          </a:p>
        </p:txBody>
      </p:sp>
      <p:sp>
        <p:nvSpPr>
          <p:cNvPr id="34830" name="Oval 23"/>
          <p:cNvSpPr>
            <a:spLocks noChangeArrowheads="1"/>
          </p:cNvSpPr>
          <p:nvPr/>
        </p:nvSpPr>
        <p:spPr bwMode="auto">
          <a:xfrm>
            <a:off x="669925" y="3084513"/>
            <a:ext cx="473075" cy="320675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v6</a:t>
            </a:r>
          </a:p>
        </p:txBody>
      </p:sp>
      <p:sp>
        <p:nvSpPr>
          <p:cNvPr id="34831" name="Line 24"/>
          <p:cNvSpPr>
            <a:spLocks noChangeShapeType="1"/>
          </p:cNvSpPr>
          <p:nvPr/>
        </p:nvSpPr>
        <p:spPr bwMode="auto">
          <a:xfrm flipV="1">
            <a:off x="3382963" y="3267075"/>
            <a:ext cx="552450" cy="5953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Line 25"/>
          <p:cNvSpPr>
            <a:spLocks noChangeShapeType="1"/>
          </p:cNvSpPr>
          <p:nvPr/>
        </p:nvSpPr>
        <p:spPr bwMode="auto">
          <a:xfrm flipV="1">
            <a:off x="1096963" y="3221038"/>
            <a:ext cx="27606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Line 26"/>
          <p:cNvSpPr>
            <a:spLocks noChangeShapeType="1"/>
          </p:cNvSpPr>
          <p:nvPr/>
        </p:nvSpPr>
        <p:spPr bwMode="auto">
          <a:xfrm>
            <a:off x="1096963" y="3359150"/>
            <a:ext cx="18923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27"/>
          <p:cNvSpPr>
            <a:spLocks noChangeShapeType="1"/>
          </p:cNvSpPr>
          <p:nvPr/>
        </p:nvSpPr>
        <p:spPr bwMode="auto">
          <a:xfrm>
            <a:off x="1490663" y="2625725"/>
            <a:ext cx="1577975" cy="1144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28"/>
          <p:cNvSpPr>
            <a:spLocks noChangeShapeType="1"/>
          </p:cNvSpPr>
          <p:nvPr/>
        </p:nvSpPr>
        <p:spPr bwMode="auto">
          <a:xfrm>
            <a:off x="860425" y="3405188"/>
            <a:ext cx="3937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Line 29"/>
          <p:cNvSpPr>
            <a:spLocks noChangeShapeType="1"/>
          </p:cNvSpPr>
          <p:nvPr/>
        </p:nvSpPr>
        <p:spPr bwMode="auto">
          <a:xfrm>
            <a:off x="3621088" y="2625725"/>
            <a:ext cx="314325" cy="3206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Text Box 30"/>
          <p:cNvSpPr txBox="1">
            <a:spLocks noChangeArrowheads="1"/>
          </p:cNvSpPr>
          <p:nvPr/>
        </p:nvSpPr>
        <p:spPr bwMode="auto">
          <a:xfrm>
            <a:off x="2043113" y="216852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34838" name="Text Box 31"/>
          <p:cNvSpPr txBox="1">
            <a:spLocks noChangeArrowheads="1"/>
          </p:cNvSpPr>
          <p:nvPr/>
        </p:nvSpPr>
        <p:spPr bwMode="auto">
          <a:xfrm>
            <a:off x="3778250" y="248920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34839" name="Text Box 32"/>
          <p:cNvSpPr txBox="1">
            <a:spLocks noChangeArrowheads="1"/>
          </p:cNvSpPr>
          <p:nvPr/>
        </p:nvSpPr>
        <p:spPr bwMode="auto">
          <a:xfrm>
            <a:off x="2673350" y="253365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34840" name="Text Box 33"/>
          <p:cNvSpPr txBox="1">
            <a:spLocks noChangeArrowheads="1"/>
          </p:cNvSpPr>
          <p:nvPr/>
        </p:nvSpPr>
        <p:spPr bwMode="auto">
          <a:xfrm>
            <a:off x="2595563" y="2944813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9</a:t>
            </a:r>
          </a:p>
        </p:txBody>
      </p:sp>
      <p:sp>
        <p:nvSpPr>
          <p:cNvPr id="34841" name="Text Box 34"/>
          <p:cNvSpPr txBox="1">
            <a:spLocks noChangeArrowheads="1"/>
          </p:cNvSpPr>
          <p:nvPr/>
        </p:nvSpPr>
        <p:spPr bwMode="auto">
          <a:xfrm>
            <a:off x="1806575" y="270510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7</a:t>
            </a:r>
          </a:p>
        </p:txBody>
      </p:sp>
      <p:sp>
        <p:nvSpPr>
          <p:cNvPr id="34842" name="Text Box 35"/>
          <p:cNvSpPr txBox="1">
            <a:spLocks noChangeArrowheads="1"/>
          </p:cNvSpPr>
          <p:nvPr/>
        </p:nvSpPr>
        <p:spPr bwMode="auto">
          <a:xfrm>
            <a:off x="3621088" y="349567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34843" name="Text Box 36"/>
          <p:cNvSpPr txBox="1">
            <a:spLocks noChangeArrowheads="1"/>
          </p:cNvSpPr>
          <p:nvPr/>
        </p:nvSpPr>
        <p:spPr bwMode="auto">
          <a:xfrm>
            <a:off x="2122488" y="400050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34844" name="Text Box 37"/>
          <p:cNvSpPr txBox="1">
            <a:spLocks noChangeArrowheads="1"/>
          </p:cNvSpPr>
          <p:nvPr/>
        </p:nvSpPr>
        <p:spPr bwMode="auto">
          <a:xfrm>
            <a:off x="1806575" y="3309938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6</a:t>
            </a:r>
          </a:p>
        </p:txBody>
      </p:sp>
      <p:sp>
        <p:nvSpPr>
          <p:cNvPr id="34845" name="Text Box 38"/>
          <p:cNvSpPr txBox="1">
            <a:spLocks noChangeArrowheads="1"/>
          </p:cNvSpPr>
          <p:nvPr/>
        </p:nvSpPr>
        <p:spPr bwMode="auto">
          <a:xfrm>
            <a:off x="669925" y="349567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4846" name="Text Box 39"/>
          <p:cNvSpPr txBox="1">
            <a:spLocks noChangeArrowheads="1"/>
          </p:cNvSpPr>
          <p:nvPr/>
        </p:nvSpPr>
        <p:spPr bwMode="auto">
          <a:xfrm>
            <a:off x="701675" y="2671763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3300"/>
                </a:solidFill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956457" name="Text Box 41"/>
          <p:cNvSpPr txBox="1">
            <a:spLocks noChangeArrowheads="1"/>
          </p:cNvSpPr>
          <p:nvPr/>
        </p:nvSpPr>
        <p:spPr bwMode="auto">
          <a:xfrm>
            <a:off x="4251325" y="2095500"/>
            <a:ext cx="1798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hlink"/>
                </a:solidFill>
                <a:ea typeface="黑体" panose="02010609060101010101" pitchFamily="49" charset="-122"/>
              </a:rPr>
              <a:t>邻接矩阵：</a:t>
            </a:r>
          </a:p>
        </p:txBody>
      </p:sp>
      <p:sp>
        <p:nvSpPr>
          <p:cNvPr id="956458" name="AutoShape 42"/>
          <p:cNvSpPr/>
          <p:nvPr/>
        </p:nvSpPr>
        <p:spPr bwMode="auto">
          <a:xfrm>
            <a:off x="6049963" y="2171700"/>
            <a:ext cx="76200" cy="2103438"/>
          </a:xfrm>
          <a:prstGeom prst="leftBracket">
            <a:avLst>
              <a:gd name="adj" fmla="val 230035"/>
            </a:avLst>
          </a:prstGeom>
          <a:noFill/>
          <a:ln w="38100">
            <a:solidFill>
              <a:srgbClr val="BADE7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56459" name="AutoShape 43"/>
          <p:cNvSpPr/>
          <p:nvPr/>
        </p:nvSpPr>
        <p:spPr bwMode="auto">
          <a:xfrm>
            <a:off x="8640763" y="2171700"/>
            <a:ext cx="152400" cy="2209800"/>
          </a:xfrm>
          <a:prstGeom prst="rightBracket">
            <a:avLst>
              <a:gd name="adj" fmla="val 120833"/>
            </a:avLst>
          </a:prstGeom>
          <a:noFill/>
          <a:ln w="38100">
            <a:solidFill>
              <a:srgbClr val="BADE7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56460" name="Rectangle 44"/>
          <p:cNvSpPr>
            <a:spLocks noChangeArrowheads="1"/>
          </p:cNvSpPr>
          <p:nvPr/>
        </p:nvSpPr>
        <p:spPr bwMode="auto">
          <a:xfrm>
            <a:off x="6202363" y="2247900"/>
            <a:ext cx="2667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endParaRPr lang="en-US" altLang="zh-CN" sz="240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endParaRPr lang="en-US" altLang="zh-CN" sz="240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</p:txBody>
      </p:sp>
      <p:sp>
        <p:nvSpPr>
          <p:cNvPr id="956461" name="Text Box 45"/>
          <p:cNvSpPr txBox="1">
            <a:spLocks noChangeArrowheads="1"/>
          </p:cNvSpPr>
          <p:nvPr/>
        </p:nvSpPr>
        <p:spPr bwMode="auto">
          <a:xfrm>
            <a:off x="4525963" y="25527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黑体" panose="02010609060101010101" pitchFamily="49" charset="-122"/>
              </a:rPr>
              <a:t>N</a:t>
            </a:r>
            <a:r>
              <a:rPr lang="en-US" altLang="zh-CN" i="1">
                <a:ea typeface="黑体" panose="02010609060101010101" pitchFamily="49" charset="-122"/>
              </a:rPr>
              <a:t>.Edge =</a:t>
            </a:r>
          </a:p>
        </p:txBody>
      </p:sp>
      <p:sp>
        <p:nvSpPr>
          <p:cNvPr id="956462" name="Rectangle 46"/>
          <p:cNvSpPr>
            <a:spLocks noChangeArrowheads="1"/>
          </p:cNvSpPr>
          <p:nvPr/>
        </p:nvSpPr>
        <p:spPr bwMode="auto">
          <a:xfrm>
            <a:off x="6049963" y="1714500"/>
            <a:ext cx="2667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(   v1  v2</a:t>
            </a:r>
            <a:r>
              <a:rPr lang="en-US" altLang="zh-CN" sz="2000" baseline="-6000">
                <a:solidFill>
                  <a:srgbClr val="FF3300"/>
                </a:solidFill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v3  v4  v5  v6</a:t>
            </a:r>
            <a:r>
              <a:rPr lang="en-US" altLang="zh-CN" sz="2000">
                <a:solidFill>
                  <a:srgbClr val="99FF3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rgbClr val="FF3300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956466" name="Rectangle 50"/>
          <p:cNvSpPr>
            <a:spLocks noChangeArrowheads="1"/>
          </p:cNvSpPr>
          <p:nvPr/>
        </p:nvSpPr>
        <p:spPr bwMode="auto">
          <a:xfrm>
            <a:off x="4373563" y="17145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hlink"/>
                </a:solidFill>
                <a:ea typeface="黑体" panose="02010609060101010101" pitchFamily="49" charset="-122"/>
              </a:rPr>
              <a:t>顶点表：</a:t>
            </a:r>
          </a:p>
        </p:txBody>
      </p:sp>
      <p:sp>
        <p:nvSpPr>
          <p:cNvPr id="956467" name="Rectangle 51"/>
          <p:cNvSpPr>
            <a:spLocks noChangeArrowheads="1"/>
          </p:cNvSpPr>
          <p:nvPr/>
        </p:nvSpPr>
        <p:spPr bwMode="auto">
          <a:xfrm>
            <a:off x="6126163" y="2247900"/>
            <a:ext cx="2819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  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5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 </a:t>
            </a:r>
            <a:r>
              <a:rPr lang="en-US" altLang="zh-CN" sz="24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7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       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     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 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</a:p>
          <a:p>
            <a:pPr eaLnBrk="1" hangingPunct="1"/>
            <a:r>
              <a:rPr lang="en-US" altLang="zh-CN" sz="2400">
                <a:solidFill>
                  <a:schemeClr val="accent1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8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                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9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          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5 </a:t>
            </a:r>
            <a:r>
              <a:rPr lang="en-US" altLang="zh-CN" sz="2400">
                <a:ea typeface="黑体" panose="02010609060101010101" pitchFamily="49" charset="-122"/>
              </a:rPr>
              <a:t>         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6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          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5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</a:p>
          <a:p>
            <a:pPr eaLnBrk="1" hangingPunct="1"/>
            <a:r>
              <a:rPr lang="en-US" altLang="zh-CN" sz="24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           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56468" name="Rectangle 52"/>
          <p:cNvSpPr>
            <a:spLocks noChangeArrowheads="1"/>
          </p:cNvSpPr>
          <p:nvPr/>
        </p:nvSpPr>
        <p:spPr bwMode="auto">
          <a:xfrm>
            <a:off x="6126163" y="2247900"/>
            <a:ext cx="2667000" cy="20574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5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400">
                <a:ea typeface="黑体" panose="02010609060101010101" pitchFamily="49" charset="-122"/>
              </a:rPr>
              <a:t>∞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7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  <a:p>
            <a:pPr eaLnBrk="1" hangingPunct="1"/>
            <a:r>
              <a:rPr lang="en-US" altLang="zh-CN" sz="24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8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∞  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9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 5 </a:t>
            </a:r>
            <a:r>
              <a:rPr lang="en-US" altLang="zh-CN" sz="2400">
                <a:ea typeface="黑体" panose="02010609060101010101" pitchFamily="49" charset="-122"/>
              </a:rPr>
              <a:t> 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6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∞ 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5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  <a:p>
            <a:pPr eaLnBrk="1" hangingPunct="1"/>
            <a:r>
              <a:rPr lang="en-US" altLang="zh-CN" sz="240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  <a:r>
              <a:rPr lang="en-US" altLang="zh-CN" sz="2000" baseline="-6000">
                <a:solidFill>
                  <a:srgbClr val="C64BD3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400">
                <a:ea typeface="黑体" panose="02010609060101010101" pitchFamily="49" charset="-122"/>
              </a:rPr>
              <a:t>∞  ∞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>
                <a:solidFill>
                  <a:schemeClr val="hlink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CDE5F3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400">
                <a:ea typeface="黑体" panose="02010609060101010101" pitchFamily="49" charset="-122"/>
              </a:rPr>
              <a:t>∞</a:t>
            </a:r>
          </a:p>
        </p:txBody>
      </p:sp>
      <p:sp>
        <p:nvSpPr>
          <p:cNvPr id="34856" name="Rectangle 53"/>
          <p:cNvSpPr>
            <a:spLocks noChangeArrowheads="1"/>
          </p:cNvSpPr>
          <p:nvPr/>
        </p:nvSpPr>
        <p:spPr bwMode="auto">
          <a:xfrm>
            <a:off x="39688" y="0"/>
            <a:ext cx="64039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网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（即有权图）的邻接矩阵表示法</a:t>
            </a: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907A5644-1F36-D6D9-BCE0-EE96C1002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8404" y="2643188"/>
            <a:ext cx="457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v1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v2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v3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v4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v5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FF3300"/>
                </a:solidFill>
                <a:ea typeface="黑体" panose="02010609060101010101" pitchFamily="49" charset="-122"/>
              </a:rPr>
              <a:t>v6</a:t>
            </a:r>
          </a:p>
          <a:p>
            <a:pPr eaLnBrk="1" hangingPunct="1">
              <a:spcBef>
                <a:spcPct val="10000"/>
              </a:spcBef>
            </a:pPr>
            <a:endParaRPr lang="en-US" altLang="zh-CN" sz="2000" dirty="0">
              <a:solidFill>
                <a:srgbClr val="FF3300"/>
              </a:solidFill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5CC03B-0823-95EA-21BB-230C232DEBE7}"/>
              </a:ext>
            </a:extLst>
          </p:cNvPr>
          <p:cNvSpPr txBox="1"/>
          <p:nvPr/>
        </p:nvSpPr>
        <p:spPr>
          <a:xfrm>
            <a:off x="1057275" y="4653136"/>
            <a:ext cx="68270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与有向图的邻接矩阵类似</a:t>
            </a:r>
            <a:r>
              <a:rPr lang="en-US" altLang="zh-CN" dirty="0"/>
              <a:t>(</a:t>
            </a:r>
            <a:r>
              <a:rPr lang="zh-CN" altLang="en-US" dirty="0"/>
              <a:t>行为</a:t>
            </a:r>
            <a:r>
              <a:rPr lang="en-US" altLang="zh-CN" dirty="0" err="1"/>
              <a:t>i</a:t>
            </a:r>
            <a:r>
              <a:rPr lang="zh-CN" altLang="en-US" dirty="0"/>
              <a:t>作为出</a:t>
            </a:r>
            <a:r>
              <a:rPr lang="en-US" altLang="zh-CN" dirty="0"/>
              <a:t>,</a:t>
            </a:r>
            <a:r>
              <a:rPr lang="zh-CN" altLang="en-US" dirty="0"/>
              <a:t>列为</a:t>
            </a:r>
            <a:r>
              <a:rPr lang="en-US" altLang="zh-CN" dirty="0" err="1"/>
              <a:t>i</a:t>
            </a:r>
            <a:r>
              <a:rPr lang="zh-CN" altLang="en-US" dirty="0"/>
              <a:t>作为入</a:t>
            </a:r>
            <a:r>
              <a:rPr lang="en-US" altLang="zh-CN" dirty="0"/>
              <a:t>).</a:t>
            </a:r>
          </a:p>
          <a:p>
            <a:r>
              <a:rPr lang="zh-CN" altLang="en-US" dirty="0"/>
              <a:t>但是把</a:t>
            </a:r>
            <a:r>
              <a:rPr lang="en-US" altLang="zh-CN" dirty="0">
                <a:highlight>
                  <a:srgbClr val="00FF00"/>
                </a:highlight>
              </a:rPr>
              <a:t>0--&gt;</a:t>
            </a:r>
            <a:r>
              <a:rPr lang="zh-CN" altLang="en-US" dirty="0">
                <a:highlight>
                  <a:srgbClr val="00FF00"/>
                </a:highlight>
              </a:rPr>
              <a:t>∞</a:t>
            </a:r>
            <a:r>
              <a:rPr lang="en-US" altLang="zh-CN" dirty="0">
                <a:highlight>
                  <a:srgbClr val="00FF00"/>
                </a:highlight>
              </a:rPr>
              <a:t>;</a:t>
            </a:r>
            <a:r>
              <a:rPr lang="zh-CN" altLang="en-US" dirty="0">
                <a:highlight>
                  <a:srgbClr val="00FF00"/>
                </a:highlight>
              </a:rPr>
              <a:t>把</a:t>
            </a:r>
            <a:r>
              <a:rPr lang="en-US" altLang="zh-CN" dirty="0">
                <a:highlight>
                  <a:srgbClr val="00FF00"/>
                </a:highlight>
              </a:rPr>
              <a:t>1--&gt;</a:t>
            </a:r>
            <a:r>
              <a:rPr lang="zh-CN" altLang="en-US" dirty="0">
                <a:highlight>
                  <a:srgbClr val="00FF00"/>
                </a:highlight>
              </a:rPr>
              <a:t>权重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5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5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95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95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95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95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95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"/>
                                        <p:tgtEl>
                                          <p:spTgt spid="95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5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422" grpId="0"/>
      <p:bldP spid="956457" grpId="0"/>
      <p:bldP spid="956458" grpId="0" animBg="1"/>
      <p:bldP spid="956459" grpId="0" animBg="1"/>
      <p:bldP spid="956460" grpId="0"/>
      <p:bldP spid="956461" grpId="0"/>
      <p:bldP spid="956462" grpId="0"/>
      <p:bldP spid="956466" grpId="0"/>
      <p:bldP spid="956467" grpId="0" build="p"/>
      <p:bldP spid="9564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5" name="Rectangle 5"/>
          <p:cNvSpPr>
            <a:spLocks noChangeArrowheads="1"/>
          </p:cNvSpPr>
          <p:nvPr/>
        </p:nvSpPr>
        <p:spPr bwMode="auto">
          <a:xfrm>
            <a:off x="149225" y="1000125"/>
            <a:ext cx="8207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优点：</a:t>
            </a:r>
            <a:r>
              <a:rPr lang="zh-CN" altLang="en-US">
                <a:ea typeface="楷体_GB2312"/>
                <a:cs typeface="楷体_GB2312"/>
              </a:rPr>
              <a:t>容易实现图的操作，如：求某顶点的度、判断顶点之间是否有边、找顶点的邻接点等等。</a:t>
            </a:r>
            <a:endParaRPr lang="zh-CN" altLang="en-US">
              <a:solidFill>
                <a:schemeClr val="accent1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957446" name="Rectangle 6"/>
          <p:cNvSpPr>
            <a:spLocks noChangeArrowheads="1"/>
          </p:cNvSpPr>
          <p:nvPr/>
        </p:nvSpPr>
        <p:spPr bwMode="auto">
          <a:xfrm>
            <a:off x="149225" y="2565400"/>
            <a:ext cx="80327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缺点：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n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个顶点需要</a:t>
            </a:r>
            <a:r>
              <a:rPr lang="en-US" altLang="zh-CN" i="1" dirty="0">
                <a:latin typeface="楷体_GB2312"/>
                <a:ea typeface="楷体_GB2312"/>
                <a:cs typeface="楷体_GB2312"/>
              </a:rPr>
              <a:t>n*n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个单元存储边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;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空间效率为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O(</a:t>
            </a:r>
            <a:r>
              <a:rPr lang="en-US" altLang="zh-CN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2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。 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对稀疏图而言尤其浪费空间。</a:t>
            </a:r>
          </a:p>
          <a:p>
            <a:pPr eaLnBrk="1" hangingPunct="1"/>
            <a:endParaRPr lang="en-US" altLang="zh-CN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5844" name="Rectangle 7"/>
          <p:cNvSpPr>
            <a:spLocks noChangeArrowheads="1"/>
          </p:cNvSpPr>
          <p:nvPr/>
        </p:nvSpPr>
        <p:spPr bwMode="auto">
          <a:xfrm>
            <a:off x="39688" y="0"/>
            <a:ext cx="64039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邻接矩阵表示法的特点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8" name="Text Box 4"/>
          <p:cNvSpPr txBox="1">
            <a:spLocks noChangeArrowheads="1"/>
          </p:cNvSpPr>
          <p:nvPr/>
        </p:nvSpPr>
        <p:spPr bwMode="auto">
          <a:xfrm>
            <a:off x="228600" y="609600"/>
            <a:ext cx="8915400" cy="445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用两个数组分别存储顶点表和邻接矩阵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#define </a:t>
            </a:r>
            <a:r>
              <a:rPr lang="en-US" altLang="zh-CN" sz="2400" dirty="0" err="1">
                <a:sym typeface="Symbol" panose="05050102010706020507" pitchFamily="18" charset="2"/>
              </a:rPr>
              <a:t>MaxInt</a:t>
            </a:r>
            <a:r>
              <a:rPr lang="en-US" altLang="zh-CN" sz="2400" dirty="0">
                <a:sym typeface="Symbol" panose="05050102010706020507" pitchFamily="18" charset="2"/>
              </a:rPr>
              <a:t> 32767                    	//</a:t>
            </a:r>
            <a:r>
              <a:rPr lang="zh-CN" altLang="en-US" sz="2400" dirty="0">
                <a:sym typeface="Symbol" panose="05050102010706020507" pitchFamily="18" charset="2"/>
              </a:rPr>
              <a:t>表示极大值，即∞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#define </a:t>
            </a:r>
            <a:r>
              <a:rPr lang="en-US" altLang="zh-CN" sz="2400" dirty="0" err="1">
                <a:sym typeface="Symbol" panose="05050102010706020507" pitchFamily="18" charset="2"/>
              </a:rPr>
              <a:t>MVNum</a:t>
            </a:r>
            <a:r>
              <a:rPr lang="en-US" altLang="zh-CN" sz="2400" dirty="0">
                <a:sym typeface="Symbol" panose="05050102010706020507" pitchFamily="18" charset="2"/>
              </a:rPr>
              <a:t> 100                       	//</a:t>
            </a:r>
            <a:r>
              <a:rPr lang="zh-CN" altLang="en-US" sz="2400" dirty="0">
                <a:sym typeface="Symbol" panose="05050102010706020507" pitchFamily="18" charset="2"/>
              </a:rPr>
              <a:t>最大顶点数 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sym typeface="Symbol" panose="05050102010706020507" pitchFamily="18" charset="2"/>
              </a:rPr>
              <a:t>typedef</a:t>
            </a:r>
            <a:r>
              <a:rPr lang="en-US" altLang="zh-CN" sz="2400" dirty="0">
                <a:sym typeface="Symbol" panose="05050102010706020507" pitchFamily="18" charset="2"/>
              </a:rPr>
              <a:t> char </a:t>
            </a:r>
            <a:r>
              <a:rPr lang="en-US" altLang="zh-CN" sz="2400" dirty="0" err="1">
                <a:sym typeface="Symbol" panose="05050102010706020507" pitchFamily="18" charset="2"/>
              </a:rPr>
              <a:t>VerTexType</a:t>
            </a:r>
            <a:r>
              <a:rPr lang="en-US" altLang="zh-CN" sz="2400" dirty="0">
                <a:sym typeface="Symbol" panose="05050102010706020507" pitchFamily="18" charset="2"/>
              </a:rPr>
              <a:t>;              	//</a:t>
            </a:r>
            <a:r>
              <a:rPr lang="zh-CN" altLang="en-US" sz="2400" dirty="0">
                <a:sym typeface="Symbol" panose="05050102010706020507" pitchFamily="18" charset="2"/>
              </a:rPr>
              <a:t>假设顶点的数据类型为字符型 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sym typeface="Symbol" panose="05050102010706020507" pitchFamily="18" charset="2"/>
              </a:rPr>
              <a:t>typedef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int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ArcType</a:t>
            </a:r>
            <a:r>
              <a:rPr lang="en-US" altLang="zh-CN" sz="2400" dirty="0">
                <a:sym typeface="Symbol" panose="05050102010706020507" pitchFamily="18" charset="2"/>
              </a:rPr>
              <a:t>;                  	//</a:t>
            </a:r>
            <a:r>
              <a:rPr lang="zh-CN" altLang="en-US" sz="2400" dirty="0">
                <a:sym typeface="Symbol" panose="05050102010706020507" pitchFamily="18" charset="2"/>
              </a:rPr>
              <a:t>假设边的权值类型为整型 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sym typeface="Symbol" panose="05050102010706020507" pitchFamily="18" charset="2"/>
              </a:rPr>
              <a:t>typedef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struct</a:t>
            </a:r>
            <a:r>
              <a:rPr lang="en-US" altLang="zh-CN" sz="2400" dirty="0">
                <a:sym typeface="Symbol" panose="05050102010706020507" pitchFamily="18" charset="2"/>
              </a:rPr>
              <a:t>{ 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  </a:t>
            </a:r>
            <a:r>
              <a:rPr lang="en-US" altLang="zh-CN" sz="2400" dirty="0" err="1">
                <a:sym typeface="Symbol" panose="05050102010706020507" pitchFamily="18" charset="2"/>
              </a:rPr>
              <a:t>VerTexType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vexs</a:t>
            </a:r>
            <a:r>
              <a:rPr lang="en-US" altLang="zh-CN" sz="2400" dirty="0">
                <a:sym typeface="Symbol" panose="05050102010706020507" pitchFamily="18" charset="2"/>
              </a:rPr>
              <a:t>[</a:t>
            </a:r>
            <a:r>
              <a:rPr lang="en-US" altLang="zh-CN" sz="2400" dirty="0" err="1">
                <a:sym typeface="Symbol" panose="05050102010706020507" pitchFamily="18" charset="2"/>
              </a:rPr>
              <a:t>MVNum</a:t>
            </a:r>
            <a:r>
              <a:rPr lang="en-US" altLang="zh-CN" sz="2400" dirty="0">
                <a:sym typeface="Symbol" panose="05050102010706020507" pitchFamily="18" charset="2"/>
              </a:rPr>
              <a:t>];            		//</a:t>
            </a:r>
            <a:r>
              <a:rPr lang="zh-CN" altLang="en-US" sz="2400" dirty="0">
                <a:sym typeface="Symbol" panose="05050102010706020507" pitchFamily="18" charset="2"/>
              </a:rPr>
              <a:t>顶点表 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ym typeface="Symbol" panose="05050102010706020507" pitchFamily="18" charset="2"/>
              </a:rPr>
              <a:t>  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ArcType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arcs[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MVNum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][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MVNum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];      </a:t>
            </a:r>
            <a:r>
              <a:rPr lang="en-US" altLang="zh-CN" sz="2400" dirty="0">
                <a:sym typeface="Symbol" panose="05050102010706020507" pitchFamily="18" charset="2"/>
              </a:rPr>
              <a:t>		//</a:t>
            </a:r>
            <a:r>
              <a:rPr lang="zh-CN" altLang="en-US" sz="2400" dirty="0">
                <a:sym typeface="Symbol" panose="05050102010706020507" pitchFamily="18" charset="2"/>
              </a:rPr>
              <a:t>邻接矩阵 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sym typeface="Symbol" panose="05050102010706020507" pitchFamily="18" charset="2"/>
              </a:rPr>
              <a:t>  </a:t>
            </a:r>
            <a:r>
              <a:rPr lang="en-US" altLang="zh-CN" sz="2400" dirty="0" err="1">
                <a:sym typeface="Symbol" panose="05050102010706020507" pitchFamily="18" charset="2"/>
              </a:rPr>
              <a:t>int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vexnum,arcnum</a:t>
            </a:r>
            <a:r>
              <a:rPr lang="en-US" altLang="zh-CN" sz="2400" dirty="0">
                <a:sym typeface="Symbol" panose="05050102010706020507" pitchFamily="18" charset="2"/>
              </a:rPr>
              <a:t>;                		//</a:t>
            </a:r>
            <a:r>
              <a:rPr lang="zh-CN" altLang="en-US" sz="2400" dirty="0">
                <a:sym typeface="Symbol" panose="05050102010706020507" pitchFamily="18" charset="2"/>
              </a:rPr>
              <a:t>图的当前点数和边数 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}</a:t>
            </a:r>
            <a:r>
              <a:rPr lang="en-US" altLang="zh-CN" sz="2400" dirty="0" err="1">
                <a:sym typeface="Symbol" panose="05050102010706020507" pitchFamily="18" charset="2"/>
              </a:rPr>
              <a:t>AMGraph</a:t>
            </a:r>
            <a:r>
              <a:rPr lang="en-US" altLang="zh-CN" sz="2400" dirty="0">
                <a:sym typeface="Symbol" panose="05050102010706020507" pitchFamily="18" charset="2"/>
              </a:rPr>
              <a:t>; </a:t>
            </a:r>
          </a:p>
        </p:txBody>
      </p:sp>
      <p:sp>
        <p:nvSpPr>
          <p:cNvPr id="36867" name="Rectangle 10"/>
          <p:cNvSpPr>
            <a:spLocks noChangeArrowheads="1"/>
          </p:cNvSpPr>
          <p:nvPr/>
        </p:nvSpPr>
        <p:spPr bwMode="auto">
          <a:xfrm>
            <a:off x="39688" y="0"/>
            <a:ext cx="5253037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邻接矩阵的存储表示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Rot="1" noChangeArrowheads="1"/>
          </p:cNvSpPr>
          <p:nvPr/>
        </p:nvSpPr>
        <p:spPr bwMode="auto">
          <a:xfrm>
            <a:off x="179388" y="1628775"/>
            <a:ext cx="878522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CN" sz="4000">
              <a:latin typeface="楷体_GB2312"/>
              <a:ea typeface="楷体_GB2312"/>
              <a:cs typeface="楷体_GB2312"/>
            </a:endParaRP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）输入</a:t>
            </a: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总顶点数和总边数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）依次输入</a:t>
            </a: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点的信息存入顶点表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中。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3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</a:t>
            </a: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初始化邻接矩阵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，使每个权值初始化为极大值。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4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</a:t>
            </a: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构造邻接矩阵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。</a:t>
            </a:r>
            <a:r>
              <a:rPr lang="zh-CN" altLang="en-US"/>
              <a:t> </a:t>
            </a:r>
          </a:p>
        </p:txBody>
      </p:sp>
      <p:sp>
        <p:nvSpPr>
          <p:cNvPr id="37891" name="Rectangle 5"/>
          <p:cNvSpPr>
            <a:spLocks noChangeArrowheads="1"/>
          </p:cNvSpPr>
          <p:nvPr/>
        </p:nvSpPr>
        <p:spPr bwMode="auto">
          <a:xfrm>
            <a:off x="179388" y="765175"/>
            <a:ext cx="3775075" cy="6064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400">
                <a:ea typeface="楷体_GB2312"/>
                <a:cs typeface="楷体_GB2312"/>
              </a:rPr>
              <a:t>【</a:t>
            </a:r>
            <a:r>
              <a:rPr lang="zh-CN" altLang="en-US" sz="4400">
                <a:ea typeface="楷体_GB2312"/>
                <a:cs typeface="楷体_GB2312"/>
              </a:rPr>
              <a:t>算法思想</a:t>
            </a:r>
            <a:r>
              <a:rPr lang="en-US" altLang="zh-CN" sz="4400">
                <a:ea typeface="楷体_GB2312"/>
                <a:cs typeface="楷体_GB2312"/>
              </a:rPr>
              <a:t>】</a:t>
            </a: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39688" y="0"/>
            <a:ext cx="62611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采用邻接矩阵表示法创建无向网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786688" y="0"/>
            <a:ext cx="1357312" cy="2549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4    5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solidFill>
                  <a:srgbClr val="FF0000"/>
                </a:solidFill>
                <a:ea typeface="楷体_GB2312" pitchFamily="49" charset="-122"/>
                <a:cs typeface="+mn-cs"/>
                <a:sym typeface="+mn-ea"/>
              </a:rPr>
              <a:t>A B C D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A B 500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A C 200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A D 150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B C 400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C D 600</a:t>
            </a:r>
            <a:endParaRPr kumimoji="1" lang="en-US" altLang="zh-CN" sz="2400" dirty="0">
              <a:ea typeface="楷体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1"/>
          <p:cNvSpPr>
            <a:spLocks noGrp="1" noChangeArrowheads="1"/>
          </p:cNvSpPr>
          <p:nvPr>
            <p:ph type="dt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kumimoji="0" lang="en-US" altLang="zh-CN" sz="1400" b="0"/>
              <a:t>                            </a:t>
            </a:r>
          </a:p>
        </p:txBody>
      </p:sp>
      <p:sp>
        <p:nvSpPr>
          <p:cNvPr id="745552" name="Rectangle 80"/>
          <p:cNvSpPr>
            <a:spLocks noChangeArrowheads="1"/>
          </p:cNvSpPr>
          <p:nvPr/>
        </p:nvSpPr>
        <p:spPr bwMode="auto">
          <a:xfrm>
            <a:off x="381000" y="757238"/>
            <a:ext cx="87630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sym typeface="Symbol" panose="05050102010706020507" pitchFamily="18" charset="2"/>
              </a:rPr>
              <a:t>Status </a:t>
            </a:r>
            <a:r>
              <a:rPr lang="en-US" altLang="zh-CN" sz="2000" dirty="0" err="1">
                <a:sym typeface="Symbol" panose="05050102010706020507" pitchFamily="18" charset="2"/>
              </a:rPr>
              <a:t>CreateUDN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AMGraph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*</a:t>
            </a:r>
            <a:r>
              <a:rPr lang="en-US" altLang="zh-CN" sz="2000" dirty="0">
                <a:sym typeface="Symbol" panose="05050102010706020507" pitchFamily="18" charset="2"/>
              </a:rPr>
              <a:t>G){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ym typeface="Symbol" panose="05050102010706020507" pitchFamily="18" charset="2"/>
              </a:rPr>
              <a:t>  </a:t>
            </a:r>
            <a:r>
              <a:rPr lang="zh-CN" altLang="en-US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…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ym typeface="Symbol" panose="05050102010706020507" pitchFamily="18" charset="2"/>
              </a:rPr>
              <a:t>   return OK;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ym typeface="Symbol" panose="05050102010706020507" pitchFamily="18" charset="2"/>
              </a:rPr>
              <a:t>}//</a:t>
            </a:r>
            <a:r>
              <a:rPr lang="en-US" altLang="zh-CN" sz="2000" dirty="0" err="1">
                <a:sym typeface="Symbol" panose="05050102010706020507" pitchFamily="18" charset="2"/>
              </a:rPr>
              <a:t>CreateUDN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8916" name="Rectangle 87"/>
          <p:cNvSpPr>
            <a:spLocks noChangeArrowheads="1"/>
          </p:cNvSpPr>
          <p:nvPr/>
        </p:nvSpPr>
        <p:spPr bwMode="auto">
          <a:xfrm>
            <a:off x="4763" y="-26988"/>
            <a:ext cx="377507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400">
                <a:ea typeface="楷体_GB2312"/>
                <a:cs typeface="楷体_GB2312"/>
              </a:rPr>
              <a:t>【</a:t>
            </a:r>
            <a:r>
              <a:rPr lang="zh-CN" altLang="en-US" sz="4400">
                <a:ea typeface="楷体_GB2312"/>
                <a:cs typeface="楷体_GB2312"/>
              </a:rPr>
              <a:t>算法描述</a:t>
            </a:r>
            <a:r>
              <a:rPr lang="en-US" altLang="zh-CN" sz="4400">
                <a:ea typeface="楷体_GB2312"/>
                <a:cs typeface="楷体_GB2312"/>
              </a:rPr>
              <a:t>】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786688" y="0"/>
            <a:ext cx="1357312" cy="2549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4    5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solidFill>
                  <a:srgbClr val="FF0000"/>
                </a:solidFill>
                <a:ea typeface="楷体_GB2312" pitchFamily="49" charset="-122"/>
                <a:cs typeface="+mn-cs"/>
                <a:sym typeface="+mn-ea"/>
              </a:rPr>
              <a:t>A B C D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A B 500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A C 200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A D 150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B C 400</a:t>
            </a:r>
          </a:p>
          <a:p>
            <a:pPr eaLnBrk="0" hangingPunct="0">
              <a:buFontTx/>
              <a:buNone/>
              <a:defRPr/>
            </a:pPr>
            <a:r>
              <a:rPr kumimoji="1" lang="pt-BR" altLang="zh-CN" sz="2400" dirty="0">
                <a:ea typeface="楷体_GB2312" pitchFamily="49" charset="-122"/>
                <a:cs typeface="+mn-cs"/>
                <a:sym typeface="+mn-ea"/>
              </a:rPr>
              <a:t>C D 600</a:t>
            </a:r>
            <a:endParaRPr kumimoji="1" lang="en-US" altLang="zh-CN" sz="2400" dirty="0"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3284984"/>
            <a:ext cx="38674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参考代码</a:t>
            </a:r>
            <a:r>
              <a:rPr lang="en-US" altLang="zh-CN" dirty="0" err="1">
                <a:solidFill>
                  <a:srgbClr val="FF0000"/>
                </a:solidFill>
              </a:rPr>
              <a:t>GraphTestDev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CreateUDN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函数</a:t>
            </a:r>
            <a:endParaRPr lang="en-US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不要求掌握</a:t>
            </a:r>
          </a:p>
        </p:txBody>
      </p:sp>
    </p:spTree>
  </p:cSld>
  <p:clrMapOvr>
    <a:masterClrMapping/>
  </p:clrMapOvr>
  <p:transition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7"/>
          <p:cNvSpPr txBox="1">
            <a:spLocks noChangeArrowheads="1"/>
          </p:cNvSpPr>
          <p:nvPr/>
        </p:nvSpPr>
        <p:spPr bwMode="auto">
          <a:xfrm>
            <a:off x="-38100" y="777875"/>
            <a:ext cx="8763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400" dirty="0"/>
              <a:t>对每个顶点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 </a:t>
            </a:r>
            <a:r>
              <a:rPr lang="zh-CN" altLang="en-US" sz="2400" dirty="0"/>
              <a:t>建立一个</a:t>
            </a:r>
            <a:r>
              <a:rPr lang="zh-CN" altLang="en-US" sz="2400" dirty="0">
                <a:solidFill>
                  <a:schemeClr val="hlink"/>
                </a:solidFill>
              </a:rPr>
              <a:t>单链表</a:t>
            </a:r>
            <a:r>
              <a:rPr lang="zh-CN" altLang="en-US" sz="2400" dirty="0"/>
              <a:t>，把与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有关联的</a:t>
            </a:r>
            <a:r>
              <a:rPr lang="zh-CN" altLang="en-US" sz="2400" dirty="0">
                <a:solidFill>
                  <a:schemeClr val="hlink"/>
                </a:solidFill>
              </a:rPr>
              <a:t>边的信息链接</a:t>
            </a:r>
            <a:r>
              <a:rPr lang="zh-CN" altLang="en-US" sz="2400" dirty="0"/>
              <a:t>起来，每个结点设为</a:t>
            </a:r>
            <a:r>
              <a:rPr lang="en-US" altLang="zh-CN" sz="2400" dirty="0"/>
              <a:t>3</a:t>
            </a:r>
            <a:r>
              <a:rPr lang="zh-CN" altLang="en-US" sz="2400" dirty="0"/>
              <a:t>个域；</a:t>
            </a:r>
          </a:p>
        </p:txBody>
      </p:sp>
      <p:sp>
        <p:nvSpPr>
          <p:cNvPr id="747568" name="Text Box 48"/>
          <p:cNvSpPr txBox="1">
            <a:spLocks noChangeArrowheads="1"/>
          </p:cNvSpPr>
          <p:nvPr/>
        </p:nvSpPr>
        <p:spPr bwMode="auto">
          <a:xfrm>
            <a:off x="-38100" y="44354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81000" indent="-381000"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eaLnBrk="0" hangingPunct="0"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3810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每个单链表有一个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</a:rPr>
              <a:t>头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结点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</a:rPr>
              <a:t>设为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</a:rPr>
              <a:t>个域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），存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信息；</a:t>
            </a:r>
          </a:p>
        </p:txBody>
      </p:sp>
      <p:graphicFrame>
        <p:nvGraphicFramePr>
          <p:cNvPr id="74756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73109"/>
              </p:ext>
            </p:extLst>
          </p:nvPr>
        </p:nvGraphicFramePr>
        <p:xfrm>
          <a:off x="4305300" y="2073275"/>
          <a:ext cx="3810000" cy="517956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adjvex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nextarc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info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7579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485524"/>
              </p:ext>
            </p:extLst>
          </p:nvPr>
        </p:nvGraphicFramePr>
        <p:xfrm>
          <a:off x="241300" y="2089150"/>
          <a:ext cx="2540000" cy="517956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data</a:t>
                      </a: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firstarc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7587" name="Rectangle 67"/>
          <p:cNvSpPr>
            <a:spLocks noChangeArrowheads="1"/>
          </p:cNvSpPr>
          <p:nvPr/>
        </p:nvSpPr>
        <p:spPr bwMode="auto">
          <a:xfrm>
            <a:off x="5676900" y="1539875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表结点</a:t>
            </a:r>
          </a:p>
        </p:txBody>
      </p:sp>
      <p:sp>
        <p:nvSpPr>
          <p:cNvPr id="747588" name="Rectangle 68"/>
          <p:cNvSpPr>
            <a:spLocks noChangeArrowheads="1"/>
          </p:cNvSpPr>
          <p:nvPr/>
        </p:nvSpPr>
        <p:spPr bwMode="auto">
          <a:xfrm>
            <a:off x="774700" y="1539875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头结点</a:t>
            </a:r>
          </a:p>
        </p:txBody>
      </p:sp>
      <p:sp>
        <p:nvSpPr>
          <p:cNvPr id="40984" name="AutoShape 69"/>
          <p:cNvSpPr>
            <a:spLocks noChangeArrowheads="1"/>
          </p:cNvSpPr>
          <p:nvPr/>
        </p:nvSpPr>
        <p:spPr bwMode="auto">
          <a:xfrm>
            <a:off x="3695700" y="3063875"/>
            <a:ext cx="1752600" cy="990600"/>
          </a:xfrm>
          <a:prstGeom prst="wedgeRectCallout">
            <a:avLst>
              <a:gd name="adj1" fmla="val 11773"/>
              <a:gd name="adj2" fmla="val -967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hlink"/>
                </a:solidFill>
              </a:rPr>
              <a:t>邻接点域</a:t>
            </a:r>
            <a:r>
              <a:rPr lang="zh-CN" altLang="en-US" sz="2000" dirty="0">
                <a:solidFill>
                  <a:schemeClr val="bg1"/>
                </a:solidFill>
              </a:rPr>
              <a:t>，</a:t>
            </a:r>
            <a:r>
              <a:rPr lang="zh-CN" altLang="en-US" sz="2000" dirty="0">
                <a:solidFill>
                  <a:srgbClr val="FF3300"/>
                </a:solidFill>
              </a:rPr>
              <a:t>表示</a:t>
            </a:r>
            <a:r>
              <a:rPr lang="en-US" altLang="zh-CN" sz="2000" dirty="0">
                <a:solidFill>
                  <a:srgbClr val="FF3300"/>
                </a:solidFill>
              </a:rPr>
              <a:t>v</a:t>
            </a:r>
            <a:r>
              <a:rPr lang="en-US" altLang="zh-CN" sz="2000" baseline="-25000" dirty="0">
                <a:solidFill>
                  <a:srgbClr val="FF3300"/>
                </a:solidFill>
              </a:rPr>
              <a:t>i</a:t>
            </a:r>
            <a:r>
              <a:rPr lang="zh-CN" altLang="en-US" sz="2000" dirty="0">
                <a:solidFill>
                  <a:srgbClr val="FF3300"/>
                </a:solidFill>
              </a:rPr>
              <a:t>一个邻接点的</a:t>
            </a:r>
            <a:r>
              <a:rPr lang="zh-CN" altLang="en-US" sz="2000" dirty="0">
                <a:solidFill>
                  <a:srgbClr val="FF3300"/>
                </a:solidFill>
                <a:highlight>
                  <a:srgbClr val="00FF00"/>
                </a:highlight>
              </a:rPr>
              <a:t>位置</a:t>
            </a:r>
          </a:p>
        </p:txBody>
      </p:sp>
      <p:sp>
        <p:nvSpPr>
          <p:cNvPr id="40985" name="AutoShape 70"/>
          <p:cNvSpPr>
            <a:spLocks noChangeArrowheads="1"/>
          </p:cNvSpPr>
          <p:nvPr/>
        </p:nvSpPr>
        <p:spPr bwMode="auto">
          <a:xfrm>
            <a:off x="5676900" y="3063875"/>
            <a:ext cx="1524000" cy="990600"/>
          </a:xfrm>
          <a:prstGeom prst="wedgeRectCallout">
            <a:avLst>
              <a:gd name="adj1" fmla="val -310"/>
              <a:gd name="adj2" fmla="val -8910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hlink"/>
                </a:solidFill>
              </a:rPr>
              <a:t>链域</a:t>
            </a:r>
            <a:r>
              <a:rPr lang="zh-CN" altLang="en-US" sz="2000" dirty="0">
                <a:solidFill>
                  <a:schemeClr val="bg1"/>
                </a:solidFill>
              </a:rPr>
              <a:t>，</a:t>
            </a:r>
            <a:r>
              <a:rPr lang="zh-CN" altLang="en-US" sz="2000" dirty="0">
                <a:solidFill>
                  <a:srgbClr val="FF3300"/>
                </a:solidFill>
              </a:rPr>
              <a:t>指向</a:t>
            </a:r>
            <a:r>
              <a:rPr lang="en-US" altLang="zh-CN" sz="2000" dirty="0">
                <a:solidFill>
                  <a:srgbClr val="FF3300"/>
                </a:solidFill>
              </a:rPr>
              <a:t>v</a:t>
            </a:r>
            <a:r>
              <a:rPr lang="en-US" altLang="zh-CN" sz="2000" baseline="-25000" dirty="0">
                <a:solidFill>
                  <a:srgbClr val="FF3300"/>
                </a:solidFill>
              </a:rPr>
              <a:t>i</a:t>
            </a:r>
            <a:r>
              <a:rPr lang="zh-CN" altLang="en-US" sz="2000" dirty="0">
                <a:solidFill>
                  <a:srgbClr val="FF3300"/>
                </a:solidFill>
              </a:rPr>
              <a:t>下一个边或弧的结点</a:t>
            </a:r>
          </a:p>
        </p:txBody>
      </p:sp>
      <p:sp>
        <p:nvSpPr>
          <p:cNvPr id="40986" name="AutoShape 71"/>
          <p:cNvSpPr>
            <a:spLocks noChangeArrowheads="1"/>
          </p:cNvSpPr>
          <p:nvPr/>
        </p:nvSpPr>
        <p:spPr bwMode="auto">
          <a:xfrm>
            <a:off x="7353300" y="3063875"/>
            <a:ext cx="1524000" cy="990600"/>
          </a:xfrm>
          <a:prstGeom prst="wedgeRectCallout">
            <a:avLst>
              <a:gd name="adj1" fmla="val -20102"/>
              <a:gd name="adj2" fmla="val -98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</a:rPr>
              <a:t>数据域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zh-CN" altLang="en-US" sz="2000">
                <a:solidFill>
                  <a:srgbClr val="FF3300"/>
                </a:solidFill>
              </a:rPr>
              <a:t>与边有关信息（如权值）</a:t>
            </a:r>
          </a:p>
        </p:txBody>
      </p:sp>
      <p:sp>
        <p:nvSpPr>
          <p:cNvPr id="40987" name="AutoShape 72"/>
          <p:cNvSpPr>
            <a:spLocks noChangeArrowheads="1"/>
          </p:cNvSpPr>
          <p:nvPr/>
        </p:nvSpPr>
        <p:spPr bwMode="auto">
          <a:xfrm>
            <a:off x="22225" y="3063875"/>
            <a:ext cx="1524000" cy="990600"/>
          </a:xfrm>
          <a:prstGeom prst="wedgeRectCallout">
            <a:avLst>
              <a:gd name="adj1" fmla="val 21042"/>
              <a:gd name="adj2" fmla="val -8910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</a:rPr>
              <a:t>数据域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zh-CN" altLang="en-US" sz="2000"/>
              <a:t>存储顶点</a:t>
            </a:r>
            <a:r>
              <a:rPr lang="en-US" altLang="zh-CN" sz="2000"/>
              <a:t>v</a:t>
            </a:r>
            <a:r>
              <a:rPr lang="en-US" altLang="zh-CN" sz="2000" baseline="-25000"/>
              <a:t>i</a:t>
            </a:r>
            <a:r>
              <a:rPr lang="en-US" altLang="zh-CN" sz="2000"/>
              <a:t> </a:t>
            </a:r>
            <a:r>
              <a:rPr lang="zh-CN" altLang="en-US" sz="2000"/>
              <a:t>信息</a:t>
            </a:r>
          </a:p>
        </p:txBody>
      </p:sp>
      <p:sp>
        <p:nvSpPr>
          <p:cNvPr id="40988" name="AutoShape 73"/>
          <p:cNvSpPr>
            <a:spLocks noChangeArrowheads="1"/>
          </p:cNvSpPr>
          <p:nvPr/>
        </p:nvSpPr>
        <p:spPr bwMode="auto">
          <a:xfrm>
            <a:off x="1714500" y="3063875"/>
            <a:ext cx="1524000" cy="990600"/>
          </a:xfrm>
          <a:prstGeom prst="wedgeRectCallout">
            <a:avLst>
              <a:gd name="adj1" fmla="val -23435"/>
              <a:gd name="adj2" fmla="val -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hlink"/>
                </a:solidFill>
              </a:rPr>
              <a:t>链域</a:t>
            </a:r>
            <a:r>
              <a:rPr lang="zh-CN" altLang="en-US" sz="2000" dirty="0">
                <a:solidFill>
                  <a:srgbClr val="FF3300"/>
                </a:solidFill>
              </a:rPr>
              <a:t>，指向单链表的</a:t>
            </a:r>
            <a:r>
              <a:rPr lang="zh-CN" altLang="en-US" sz="2000" dirty="0">
                <a:solidFill>
                  <a:srgbClr val="FF3300"/>
                </a:solidFill>
                <a:highlight>
                  <a:srgbClr val="00FF00"/>
                </a:highlight>
              </a:rPr>
              <a:t>第一个结点</a:t>
            </a:r>
          </a:p>
        </p:txBody>
      </p:sp>
      <p:sp>
        <p:nvSpPr>
          <p:cNvPr id="40989" name="Line 74"/>
          <p:cNvSpPr>
            <a:spLocks noChangeShapeType="1"/>
          </p:cNvSpPr>
          <p:nvPr/>
        </p:nvSpPr>
        <p:spPr bwMode="auto">
          <a:xfrm>
            <a:off x="2781300" y="2301875"/>
            <a:ext cx="1524000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96" name="Rectangle 76"/>
          <p:cNvSpPr>
            <a:spLocks noChangeArrowheads="1"/>
          </p:cNvSpPr>
          <p:nvPr/>
        </p:nvSpPr>
        <p:spPr bwMode="auto">
          <a:xfrm>
            <a:off x="-38100" y="4989513"/>
            <a:ext cx="7042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tx2"/>
              </a:buClr>
              <a:buFont typeface="Wingdings" panose="05000000000000000000" pitchFamily="2" charset="2"/>
              <a:buChar char="v"/>
              <a:defRPr/>
            </a:pP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  </a:t>
            </a:r>
            <a:r>
              <a: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每个单链表的</a:t>
            </a:r>
            <a:r>
              <a:rPr kumimoji="1"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头结点另外用顺序存储</a:t>
            </a:r>
            <a:r>
              <a: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结构存储。</a:t>
            </a:r>
          </a:p>
        </p:txBody>
      </p:sp>
      <p:sp>
        <p:nvSpPr>
          <p:cNvPr id="40991" name="Rectangle 77"/>
          <p:cNvSpPr>
            <a:spLocks noChangeArrowheads="1"/>
          </p:cNvSpPr>
          <p:nvPr/>
        </p:nvSpPr>
        <p:spPr bwMode="auto">
          <a:xfrm>
            <a:off x="39688" y="0"/>
            <a:ext cx="57562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邻接表（链式）表示法 </a:t>
            </a:r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重点</a:t>
            </a:r>
            <a:r>
              <a:rPr lang="en-US" altLang="zh-CN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!!!</a:t>
            </a:r>
            <a:endParaRPr lang="zh-CN" altLang="en-US" sz="3200" dirty="0">
              <a:highlight>
                <a:srgbClr val="00FF00"/>
              </a:highlight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5CBF08-893E-40D0-0E0D-57AD7C3D9A2D}"/>
              </a:ext>
            </a:extLst>
          </p:cNvPr>
          <p:cNvSpPr txBox="1"/>
          <p:nvPr/>
        </p:nvSpPr>
        <p:spPr>
          <a:xfrm>
            <a:off x="338436" y="5387627"/>
            <a:ext cx="7776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rtl="0" eaLnBrk="0" fontAlgn="base" latinLnBrk="0" hangingPunct="0">
              <a:spcBef>
                <a:spcPts val="576"/>
              </a:spcBef>
              <a:buNone/>
            </a:pPr>
            <a:r>
              <a:rPr lang="zh-CN" altLang="en-US" dirty="0"/>
              <a:t>头结点</a:t>
            </a:r>
            <a:r>
              <a:rPr lang="en-US" altLang="zh-CN" dirty="0"/>
              <a:t>:data </a:t>
            </a:r>
            <a:r>
              <a:rPr lang="zh-CN" altLang="en-US" dirty="0"/>
              <a:t>写表示哪个结点</a:t>
            </a:r>
            <a:r>
              <a:rPr kumimoji="1" lang="en-US" altLang="zh-CN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1</a:t>
            </a:r>
            <a:r>
              <a:rPr lang="en-US" altLang="zh-CN" b="0" dirty="0">
                <a:latin typeface="Arial" panose="020B0604020202020204" pitchFamily="34" charset="0"/>
              </a:rPr>
              <a:t>,</a:t>
            </a:r>
            <a:r>
              <a:rPr kumimoji="1" lang="en-US" altLang="zh-CN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2</a:t>
            </a:r>
            <a:r>
              <a:rPr lang="en-US" altLang="zh-CN" b="0" dirty="0">
                <a:latin typeface="Arial" panose="020B0604020202020204" pitchFamily="34" charset="0"/>
              </a:rPr>
              <a:t>,</a:t>
            </a:r>
            <a:r>
              <a:rPr kumimoji="1" lang="en-US" altLang="zh-CN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3,…</a:t>
            </a:r>
            <a:endParaRPr lang="en-US" altLang="zh-CN" dirty="0"/>
          </a:p>
          <a:p>
            <a:r>
              <a:rPr lang="en-US" altLang="zh-CN" dirty="0" err="1"/>
              <a:t>Adjvex</a:t>
            </a:r>
            <a:r>
              <a:rPr lang="en-US" altLang="zh-CN" dirty="0"/>
              <a:t>:</a:t>
            </a:r>
            <a:r>
              <a:rPr lang="zh-CN" altLang="en-US" dirty="0"/>
              <a:t>写顶点的编号即</a:t>
            </a:r>
            <a:r>
              <a:rPr lang="en-US" altLang="zh-CN" dirty="0"/>
              <a:t>1,2,3,…</a:t>
            </a:r>
          </a:p>
          <a:p>
            <a:r>
              <a:rPr lang="en-US" altLang="zh-CN" dirty="0"/>
              <a:t>Info:</a:t>
            </a:r>
            <a:r>
              <a:rPr lang="zh-CN" altLang="en-US" dirty="0"/>
              <a:t>实际画图时不表示</a:t>
            </a:r>
          </a:p>
        </p:txBody>
      </p:sp>
    </p:spTree>
  </p:cSld>
  <p:clrMapOvr>
    <a:masterClrMapping/>
  </p:clrMapOvr>
  <p:transition>
    <p:check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0"/>
          <p:cNvSpPr>
            <a:spLocks noChangeArrowheads="1"/>
          </p:cNvSpPr>
          <p:nvPr/>
        </p:nvSpPr>
        <p:spPr bwMode="auto">
          <a:xfrm>
            <a:off x="4902200" y="2682875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="0"/>
          </a:p>
        </p:txBody>
      </p:sp>
      <p:sp>
        <p:nvSpPr>
          <p:cNvPr id="41987" name="Rectangle 31"/>
          <p:cNvSpPr>
            <a:spLocks noChangeArrowheads="1"/>
          </p:cNvSpPr>
          <p:nvPr/>
        </p:nvSpPr>
        <p:spPr bwMode="auto">
          <a:xfrm>
            <a:off x="4419600" y="2682875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aseline="-25000">
              <a:solidFill>
                <a:srgbClr val="0000FF"/>
              </a:solidFill>
            </a:endParaRPr>
          </a:p>
        </p:txBody>
      </p:sp>
      <p:sp>
        <p:nvSpPr>
          <p:cNvPr id="41988" name="Rectangle 32"/>
          <p:cNvSpPr>
            <a:spLocks noChangeArrowheads="1"/>
          </p:cNvSpPr>
          <p:nvPr/>
        </p:nvSpPr>
        <p:spPr bwMode="auto">
          <a:xfrm>
            <a:off x="4902200" y="2227263"/>
            <a:ext cx="5080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="0"/>
          </a:p>
        </p:txBody>
      </p:sp>
      <p:sp>
        <p:nvSpPr>
          <p:cNvPr id="41989" name="Rectangle 33"/>
          <p:cNvSpPr>
            <a:spLocks noChangeArrowheads="1"/>
          </p:cNvSpPr>
          <p:nvPr/>
        </p:nvSpPr>
        <p:spPr bwMode="auto">
          <a:xfrm>
            <a:off x="4419600" y="2227263"/>
            <a:ext cx="4826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aseline="-25000">
              <a:solidFill>
                <a:srgbClr val="0000FF"/>
              </a:solidFill>
            </a:endParaRPr>
          </a:p>
        </p:txBody>
      </p:sp>
      <p:sp>
        <p:nvSpPr>
          <p:cNvPr id="41990" name="Rectangle 34"/>
          <p:cNvSpPr>
            <a:spLocks noChangeArrowheads="1"/>
          </p:cNvSpPr>
          <p:nvPr/>
        </p:nvSpPr>
        <p:spPr bwMode="auto">
          <a:xfrm>
            <a:off x="4902200" y="1771650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="0"/>
          </a:p>
        </p:txBody>
      </p:sp>
      <p:sp>
        <p:nvSpPr>
          <p:cNvPr id="41991" name="Rectangle 35"/>
          <p:cNvSpPr>
            <a:spLocks noChangeArrowheads="1"/>
          </p:cNvSpPr>
          <p:nvPr/>
        </p:nvSpPr>
        <p:spPr bwMode="auto">
          <a:xfrm>
            <a:off x="4419600" y="1771650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aseline="-25000">
              <a:solidFill>
                <a:srgbClr val="0000FF"/>
              </a:solidFill>
            </a:endParaRPr>
          </a:p>
        </p:txBody>
      </p:sp>
      <p:sp>
        <p:nvSpPr>
          <p:cNvPr id="41992" name="Rectangle 36"/>
          <p:cNvSpPr>
            <a:spLocks noChangeArrowheads="1"/>
          </p:cNvSpPr>
          <p:nvPr/>
        </p:nvSpPr>
        <p:spPr bwMode="auto">
          <a:xfrm>
            <a:off x="4902200" y="1316038"/>
            <a:ext cx="5080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="0"/>
          </a:p>
        </p:txBody>
      </p:sp>
      <p:sp>
        <p:nvSpPr>
          <p:cNvPr id="41993" name="Rectangle 37"/>
          <p:cNvSpPr>
            <a:spLocks noChangeArrowheads="1"/>
          </p:cNvSpPr>
          <p:nvPr/>
        </p:nvSpPr>
        <p:spPr bwMode="auto">
          <a:xfrm>
            <a:off x="4419600" y="1316038"/>
            <a:ext cx="4826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aseline="-25000">
              <a:solidFill>
                <a:srgbClr val="0000FF"/>
              </a:solidFill>
            </a:endParaRPr>
          </a:p>
        </p:txBody>
      </p:sp>
      <p:sp>
        <p:nvSpPr>
          <p:cNvPr id="41994" name="Rectangle 38"/>
          <p:cNvSpPr>
            <a:spLocks noChangeArrowheads="1"/>
          </p:cNvSpPr>
          <p:nvPr/>
        </p:nvSpPr>
        <p:spPr bwMode="auto">
          <a:xfrm>
            <a:off x="4902200" y="860425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="0"/>
          </a:p>
        </p:txBody>
      </p:sp>
      <p:sp>
        <p:nvSpPr>
          <p:cNvPr id="41995" name="Rectangle 39"/>
          <p:cNvSpPr>
            <a:spLocks noChangeArrowheads="1"/>
          </p:cNvSpPr>
          <p:nvPr/>
        </p:nvSpPr>
        <p:spPr bwMode="auto">
          <a:xfrm>
            <a:off x="4419600" y="860425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2400" baseline="-25000">
              <a:solidFill>
                <a:srgbClr val="0000FF"/>
              </a:solidFill>
            </a:endParaRPr>
          </a:p>
        </p:txBody>
      </p:sp>
      <p:sp>
        <p:nvSpPr>
          <p:cNvPr id="41996" name="Line 40"/>
          <p:cNvSpPr>
            <a:spLocks noChangeShapeType="1"/>
          </p:cNvSpPr>
          <p:nvPr/>
        </p:nvSpPr>
        <p:spPr bwMode="auto">
          <a:xfrm>
            <a:off x="4419600" y="860425"/>
            <a:ext cx="0" cy="22780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7" name="Line 41"/>
          <p:cNvSpPr>
            <a:spLocks noChangeShapeType="1"/>
          </p:cNvSpPr>
          <p:nvPr/>
        </p:nvSpPr>
        <p:spPr bwMode="auto">
          <a:xfrm>
            <a:off x="4902200" y="860425"/>
            <a:ext cx="0" cy="22780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8" name="Line 42"/>
          <p:cNvSpPr>
            <a:spLocks noChangeShapeType="1"/>
          </p:cNvSpPr>
          <p:nvPr/>
        </p:nvSpPr>
        <p:spPr bwMode="auto">
          <a:xfrm>
            <a:off x="5410200" y="860425"/>
            <a:ext cx="0" cy="2278063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9" name="Line 43"/>
          <p:cNvSpPr>
            <a:spLocks noChangeShapeType="1"/>
          </p:cNvSpPr>
          <p:nvPr/>
        </p:nvSpPr>
        <p:spPr bwMode="auto">
          <a:xfrm>
            <a:off x="4419600" y="860425"/>
            <a:ext cx="990600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Line 44"/>
          <p:cNvSpPr>
            <a:spLocks noChangeShapeType="1"/>
          </p:cNvSpPr>
          <p:nvPr/>
        </p:nvSpPr>
        <p:spPr bwMode="auto">
          <a:xfrm>
            <a:off x="4419600" y="1316038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1" name="Line 45"/>
          <p:cNvSpPr>
            <a:spLocks noChangeShapeType="1"/>
          </p:cNvSpPr>
          <p:nvPr/>
        </p:nvSpPr>
        <p:spPr bwMode="auto">
          <a:xfrm>
            <a:off x="4419600" y="1771650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2" name="Line 46"/>
          <p:cNvSpPr>
            <a:spLocks noChangeShapeType="1"/>
          </p:cNvSpPr>
          <p:nvPr/>
        </p:nvSpPr>
        <p:spPr bwMode="auto">
          <a:xfrm>
            <a:off x="4419600" y="2227263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3" name="Line 47"/>
          <p:cNvSpPr>
            <a:spLocks noChangeShapeType="1"/>
          </p:cNvSpPr>
          <p:nvPr/>
        </p:nvSpPr>
        <p:spPr bwMode="auto">
          <a:xfrm>
            <a:off x="4419600" y="2682875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4" name="Line 48"/>
          <p:cNvSpPr>
            <a:spLocks noChangeShapeType="1"/>
          </p:cNvSpPr>
          <p:nvPr/>
        </p:nvSpPr>
        <p:spPr bwMode="auto">
          <a:xfrm>
            <a:off x="4419600" y="3138488"/>
            <a:ext cx="990600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006" name="表格 42005"/>
          <p:cNvGraphicFramePr>
            <a:graphicFrameLocks noGrp="1"/>
          </p:cNvGraphicFramePr>
          <p:nvPr/>
        </p:nvGraphicFramePr>
        <p:xfrm>
          <a:off x="3886200" y="877888"/>
          <a:ext cx="533400" cy="2286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48611" name="Line 67"/>
          <p:cNvSpPr>
            <a:spLocks noChangeShapeType="1"/>
          </p:cNvSpPr>
          <p:nvPr/>
        </p:nvSpPr>
        <p:spPr bwMode="auto">
          <a:xfrm>
            <a:off x="5257800" y="109855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8612" name="Line 68"/>
          <p:cNvSpPr>
            <a:spLocks noChangeShapeType="1"/>
          </p:cNvSpPr>
          <p:nvPr/>
        </p:nvSpPr>
        <p:spPr bwMode="auto">
          <a:xfrm>
            <a:off x="5257800" y="247015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8613" name="Line 69"/>
          <p:cNvSpPr>
            <a:spLocks noChangeShapeType="1"/>
          </p:cNvSpPr>
          <p:nvPr/>
        </p:nvSpPr>
        <p:spPr bwMode="auto">
          <a:xfrm>
            <a:off x="5257800" y="292735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8614" name="Line 70"/>
          <p:cNvSpPr>
            <a:spLocks noChangeShapeType="1"/>
          </p:cNvSpPr>
          <p:nvPr/>
        </p:nvSpPr>
        <p:spPr bwMode="auto">
          <a:xfrm>
            <a:off x="5257800" y="155575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8615" name="Line 71"/>
          <p:cNvSpPr>
            <a:spLocks noChangeShapeType="1"/>
          </p:cNvSpPr>
          <p:nvPr/>
        </p:nvSpPr>
        <p:spPr bwMode="auto">
          <a:xfrm>
            <a:off x="5257800" y="201295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2"/>
          <p:cNvGrpSpPr/>
          <p:nvPr/>
        </p:nvGrpSpPr>
        <p:grpSpPr bwMode="auto">
          <a:xfrm>
            <a:off x="5791200" y="931863"/>
            <a:ext cx="2133600" cy="395287"/>
            <a:chOff x="3168" y="816"/>
            <a:chExt cx="1344" cy="249"/>
          </a:xfrm>
        </p:grpSpPr>
        <p:sp>
          <p:nvSpPr>
            <p:cNvPr id="42139" name="Rectangle 73"/>
            <p:cNvSpPr>
              <a:spLocks noChangeArrowheads="1"/>
            </p:cNvSpPr>
            <p:nvPr/>
          </p:nvSpPr>
          <p:spPr bwMode="auto">
            <a:xfrm>
              <a:off x="4224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2140" name="Rectangle 74"/>
            <p:cNvSpPr>
              <a:spLocks noChangeArrowheads="1"/>
            </p:cNvSpPr>
            <p:nvPr/>
          </p:nvSpPr>
          <p:spPr bwMode="auto">
            <a:xfrm>
              <a:off x="3936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2141" name="Line 75"/>
            <p:cNvSpPr>
              <a:spLocks noChangeShapeType="1"/>
            </p:cNvSpPr>
            <p:nvPr/>
          </p:nvSpPr>
          <p:spPr bwMode="auto">
            <a:xfrm>
              <a:off x="3936" y="81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2" name="Line 76"/>
            <p:cNvSpPr>
              <a:spLocks noChangeShapeType="1"/>
            </p:cNvSpPr>
            <p:nvPr/>
          </p:nvSpPr>
          <p:spPr bwMode="auto">
            <a:xfrm>
              <a:off x="3936" y="1065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3" name="Line 77"/>
            <p:cNvSpPr>
              <a:spLocks noChangeShapeType="1"/>
            </p:cNvSpPr>
            <p:nvPr/>
          </p:nvSpPr>
          <p:spPr bwMode="auto">
            <a:xfrm>
              <a:off x="3936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4" name="Line 78"/>
            <p:cNvSpPr>
              <a:spLocks noChangeShapeType="1"/>
            </p:cNvSpPr>
            <p:nvPr/>
          </p:nvSpPr>
          <p:spPr bwMode="auto">
            <a:xfrm>
              <a:off x="4224" y="816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5" name="Line 79"/>
            <p:cNvSpPr>
              <a:spLocks noChangeShapeType="1"/>
            </p:cNvSpPr>
            <p:nvPr/>
          </p:nvSpPr>
          <p:spPr bwMode="auto">
            <a:xfrm>
              <a:off x="4512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6" name="Rectangle 80"/>
            <p:cNvSpPr>
              <a:spLocks noChangeArrowheads="1"/>
            </p:cNvSpPr>
            <p:nvPr/>
          </p:nvSpPr>
          <p:spPr bwMode="auto">
            <a:xfrm>
              <a:off x="3456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147" name="Rectangle 81"/>
            <p:cNvSpPr>
              <a:spLocks noChangeArrowheads="1"/>
            </p:cNvSpPr>
            <p:nvPr/>
          </p:nvSpPr>
          <p:spPr bwMode="auto">
            <a:xfrm>
              <a:off x="3168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2148" name="Line 82"/>
            <p:cNvSpPr>
              <a:spLocks noChangeShapeType="1"/>
            </p:cNvSpPr>
            <p:nvPr/>
          </p:nvSpPr>
          <p:spPr bwMode="auto">
            <a:xfrm>
              <a:off x="3168" y="81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9" name="Line 83"/>
            <p:cNvSpPr>
              <a:spLocks noChangeShapeType="1"/>
            </p:cNvSpPr>
            <p:nvPr/>
          </p:nvSpPr>
          <p:spPr bwMode="auto">
            <a:xfrm>
              <a:off x="3168" y="1065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50" name="Line 84"/>
            <p:cNvSpPr>
              <a:spLocks noChangeShapeType="1"/>
            </p:cNvSpPr>
            <p:nvPr/>
          </p:nvSpPr>
          <p:spPr bwMode="auto">
            <a:xfrm>
              <a:off x="3168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51" name="Line 85"/>
            <p:cNvSpPr>
              <a:spLocks noChangeShapeType="1"/>
            </p:cNvSpPr>
            <p:nvPr/>
          </p:nvSpPr>
          <p:spPr bwMode="auto">
            <a:xfrm>
              <a:off x="3456" y="816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52" name="Line 86"/>
            <p:cNvSpPr>
              <a:spLocks noChangeShapeType="1"/>
            </p:cNvSpPr>
            <p:nvPr/>
          </p:nvSpPr>
          <p:spPr bwMode="auto">
            <a:xfrm>
              <a:off x="3744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53" name="Line 87"/>
            <p:cNvSpPr>
              <a:spLocks noChangeShapeType="1"/>
            </p:cNvSpPr>
            <p:nvPr/>
          </p:nvSpPr>
          <p:spPr bwMode="auto">
            <a:xfrm>
              <a:off x="3600" y="960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8"/>
          <p:cNvGrpSpPr/>
          <p:nvPr/>
        </p:nvGrpSpPr>
        <p:grpSpPr bwMode="auto">
          <a:xfrm>
            <a:off x="5791200" y="1846263"/>
            <a:ext cx="3352800" cy="395287"/>
            <a:chOff x="3168" y="1488"/>
            <a:chExt cx="2112" cy="249"/>
          </a:xfrm>
        </p:grpSpPr>
        <p:sp>
          <p:nvSpPr>
            <p:cNvPr id="42116" name="Rectangle 89"/>
            <p:cNvSpPr>
              <a:spLocks noChangeArrowheads="1"/>
            </p:cNvSpPr>
            <p:nvPr/>
          </p:nvSpPr>
          <p:spPr bwMode="auto">
            <a:xfrm>
              <a:off x="422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117" name="Rectangle 90"/>
            <p:cNvSpPr>
              <a:spLocks noChangeArrowheads="1"/>
            </p:cNvSpPr>
            <p:nvPr/>
          </p:nvSpPr>
          <p:spPr bwMode="auto">
            <a:xfrm>
              <a:off x="3936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2118" name="Line 91"/>
            <p:cNvSpPr>
              <a:spLocks noChangeShapeType="1"/>
            </p:cNvSpPr>
            <p:nvPr/>
          </p:nvSpPr>
          <p:spPr bwMode="auto">
            <a:xfrm>
              <a:off x="3936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9" name="Line 92"/>
            <p:cNvSpPr>
              <a:spLocks noChangeShapeType="1"/>
            </p:cNvSpPr>
            <p:nvPr/>
          </p:nvSpPr>
          <p:spPr bwMode="auto">
            <a:xfrm>
              <a:off x="3936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0" name="Line 93"/>
            <p:cNvSpPr>
              <a:spLocks noChangeShapeType="1"/>
            </p:cNvSpPr>
            <p:nvPr/>
          </p:nvSpPr>
          <p:spPr bwMode="auto">
            <a:xfrm>
              <a:off x="4224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1" name="Line 94"/>
            <p:cNvSpPr>
              <a:spLocks noChangeShapeType="1"/>
            </p:cNvSpPr>
            <p:nvPr/>
          </p:nvSpPr>
          <p:spPr bwMode="auto">
            <a:xfrm>
              <a:off x="4512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2" name="Rectangle 95"/>
            <p:cNvSpPr>
              <a:spLocks noChangeArrowheads="1"/>
            </p:cNvSpPr>
            <p:nvPr/>
          </p:nvSpPr>
          <p:spPr bwMode="auto">
            <a:xfrm>
              <a:off x="3456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123" name="Rectangle 96"/>
            <p:cNvSpPr>
              <a:spLocks noChangeArrowheads="1"/>
            </p:cNvSpPr>
            <p:nvPr/>
          </p:nvSpPr>
          <p:spPr bwMode="auto">
            <a:xfrm>
              <a:off x="3168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2124" name="Line 97"/>
            <p:cNvSpPr>
              <a:spLocks noChangeShapeType="1"/>
            </p:cNvSpPr>
            <p:nvPr/>
          </p:nvSpPr>
          <p:spPr bwMode="auto">
            <a:xfrm>
              <a:off x="3168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5" name="Line 98"/>
            <p:cNvSpPr>
              <a:spLocks noChangeShapeType="1"/>
            </p:cNvSpPr>
            <p:nvPr/>
          </p:nvSpPr>
          <p:spPr bwMode="auto">
            <a:xfrm>
              <a:off x="3168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6" name="Line 99"/>
            <p:cNvSpPr>
              <a:spLocks noChangeShapeType="1"/>
            </p:cNvSpPr>
            <p:nvPr/>
          </p:nvSpPr>
          <p:spPr bwMode="auto">
            <a:xfrm>
              <a:off x="3168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7" name="Line 100"/>
            <p:cNvSpPr>
              <a:spLocks noChangeShapeType="1"/>
            </p:cNvSpPr>
            <p:nvPr/>
          </p:nvSpPr>
          <p:spPr bwMode="auto">
            <a:xfrm>
              <a:off x="3456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8" name="Line 101"/>
            <p:cNvSpPr>
              <a:spLocks noChangeShapeType="1"/>
            </p:cNvSpPr>
            <p:nvPr/>
          </p:nvSpPr>
          <p:spPr bwMode="auto">
            <a:xfrm>
              <a:off x="3744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9" name="Rectangle 102"/>
            <p:cNvSpPr>
              <a:spLocks noChangeArrowheads="1"/>
            </p:cNvSpPr>
            <p:nvPr/>
          </p:nvSpPr>
          <p:spPr bwMode="auto">
            <a:xfrm>
              <a:off x="4992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2130" name="Rectangle 103"/>
            <p:cNvSpPr>
              <a:spLocks noChangeArrowheads="1"/>
            </p:cNvSpPr>
            <p:nvPr/>
          </p:nvSpPr>
          <p:spPr bwMode="auto">
            <a:xfrm>
              <a:off x="470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2131" name="Line 104"/>
            <p:cNvSpPr>
              <a:spLocks noChangeShapeType="1"/>
            </p:cNvSpPr>
            <p:nvPr/>
          </p:nvSpPr>
          <p:spPr bwMode="auto">
            <a:xfrm>
              <a:off x="4704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2" name="Line 105"/>
            <p:cNvSpPr>
              <a:spLocks noChangeShapeType="1"/>
            </p:cNvSpPr>
            <p:nvPr/>
          </p:nvSpPr>
          <p:spPr bwMode="auto">
            <a:xfrm>
              <a:off x="4704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3" name="Line 106"/>
            <p:cNvSpPr>
              <a:spLocks noChangeShapeType="1"/>
            </p:cNvSpPr>
            <p:nvPr/>
          </p:nvSpPr>
          <p:spPr bwMode="auto">
            <a:xfrm>
              <a:off x="4704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4" name="Line 107"/>
            <p:cNvSpPr>
              <a:spLocks noChangeShapeType="1"/>
            </p:cNvSpPr>
            <p:nvPr/>
          </p:nvSpPr>
          <p:spPr bwMode="auto">
            <a:xfrm>
              <a:off x="4992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5" name="Line 108"/>
            <p:cNvSpPr>
              <a:spLocks noChangeShapeType="1"/>
            </p:cNvSpPr>
            <p:nvPr/>
          </p:nvSpPr>
          <p:spPr bwMode="auto">
            <a:xfrm>
              <a:off x="5280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6" name="Line 109"/>
            <p:cNvSpPr>
              <a:spLocks noChangeShapeType="1"/>
            </p:cNvSpPr>
            <p:nvPr/>
          </p:nvSpPr>
          <p:spPr bwMode="auto">
            <a:xfrm>
              <a:off x="3600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7" name="Line 110"/>
            <p:cNvSpPr>
              <a:spLocks noChangeShapeType="1"/>
            </p:cNvSpPr>
            <p:nvPr/>
          </p:nvSpPr>
          <p:spPr bwMode="auto">
            <a:xfrm>
              <a:off x="4368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8" name="Line 111"/>
            <p:cNvSpPr>
              <a:spLocks noChangeShapeType="1"/>
            </p:cNvSpPr>
            <p:nvPr/>
          </p:nvSpPr>
          <p:spPr bwMode="auto">
            <a:xfrm>
              <a:off x="3936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12"/>
          <p:cNvGrpSpPr/>
          <p:nvPr/>
        </p:nvGrpSpPr>
        <p:grpSpPr bwMode="auto">
          <a:xfrm>
            <a:off x="5791200" y="1389063"/>
            <a:ext cx="3352800" cy="395287"/>
            <a:chOff x="3168" y="1152"/>
            <a:chExt cx="2112" cy="249"/>
          </a:xfrm>
        </p:grpSpPr>
        <p:sp>
          <p:nvSpPr>
            <p:cNvPr id="42092" name="Line 113"/>
            <p:cNvSpPr>
              <a:spLocks noChangeShapeType="1"/>
            </p:cNvSpPr>
            <p:nvPr/>
          </p:nvSpPr>
          <p:spPr bwMode="auto">
            <a:xfrm>
              <a:off x="3936" y="139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3" name="Rectangle 114"/>
            <p:cNvSpPr>
              <a:spLocks noChangeArrowheads="1"/>
            </p:cNvSpPr>
            <p:nvPr/>
          </p:nvSpPr>
          <p:spPr bwMode="auto">
            <a:xfrm>
              <a:off x="3456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094" name="Rectangle 115"/>
            <p:cNvSpPr>
              <a:spLocks noChangeArrowheads="1"/>
            </p:cNvSpPr>
            <p:nvPr/>
          </p:nvSpPr>
          <p:spPr bwMode="auto">
            <a:xfrm>
              <a:off x="3168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2095" name="Line 116"/>
            <p:cNvSpPr>
              <a:spLocks noChangeShapeType="1"/>
            </p:cNvSpPr>
            <p:nvPr/>
          </p:nvSpPr>
          <p:spPr bwMode="auto">
            <a:xfrm>
              <a:off x="3936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6" name="Line 117"/>
            <p:cNvSpPr>
              <a:spLocks noChangeShapeType="1"/>
            </p:cNvSpPr>
            <p:nvPr/>
          </p:nvSpPr>
          <p:spPr bwMode="auto">
            <a:xfrm>
              <a:off x="3168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7" name="Line 118"/>
            <p:cNvSpPr>
              <a:spLocks noChangeShapeType="1"/>
            </p:cNvSpPr>
            <p:nvPr/>
          </p:nvSpPr>
          <p:spPr bwMode="auto">
            <a:xfrm>
              <a:off x="3168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8" name="Line 119"/>
            <p:cNvSpPr>
              <a:spLocks noChangeShapeType="1"/>
            </p:cNvSpPr>
            <p:nvPr/>
          </p:nvSpPr>
          <p:spPr bwMode="auto">
            <a:xfrm>
              <a:off x="3456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9" name="Line 120"/>
            <p:cNvSpPr>
              <a:spLocks noChangeShapeType="1"/>
            </p:cNvSpPr>
            <p:nvPr/>
          </p:nvSpPr>
          <p:spPr bwMode="auto">
            <a:xfrm>
              <a:off x="374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0" name="Rectangle 121"/>
            <p:cNvSpPr>
              <a:spLocks noChangeArrowheads="1"/>
            </p:cNvSpPr>
            <p:nvPr/>
          </p:nvSpPr>
          <p:spPr bwMode="auto">
            <a:xfrm>
              <a:off x="422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101" name="Rectangle 122"/>
            <p:cNvSpPr>
              <a:spLocks noChangeArrowheads="1"/>
            </p:cNvSpPr>
            <p:nvPr/>
          </p:nvSpPr>
          <p:spPr bwMode="auto">
            <a:xfrm>
              <a:off x="3936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2102" name="Line 123"/>
            <p:cNvSpPr>
              <a:spLocks noChangeShapeType="1"/>
            </p:cNvSpPr>
            <p:nvPr/>
          </p:nvSpPr>
          <p:spPr bwMode="auto">
            <a:xfrm>
              <a:off x="3168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" name="Line 124"/>
            <p:cNvSpPr>
              <a:spLocks noChangeShapeType="1"/>
            </p:cNvSpPr>
            <p:nvPr/>
          </p:nvSpPr>
          <p:spPr bwMode="auto">
            <a:xfrm>
              <a:off x="3936" y="139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4" name="Line 125"/>
            <p:cNvSpPr>
              <a:spLocks noChangeShapeType="1"/>
            </p:cNvSpPr>
            <p:nvPr/>
          </p:nvSpPr>
          <p:spPr bwMode="auto">
            <a:xfrm>
              <a:off x="3936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5" name="Line 126"/>
            <p:cNvSpPr>
              <a:spLocks noChangeShapeType="1"/>
            </p:cNvSpPr>
            <p:nvPr/>
          </p:nvSpPr>
          <p:spPr bwMode="auto">
            <a:xfrm>
              <a:off x="4224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" name="Line 127"/>
            <p:cNvSpPr>
              <a:spLocks noChangeShapeType="1"/>
            </p:cNvSpPr>
            <p:nvPr/>
          </p:nvSpPr>
          <p:spPr bwMode="auto">
            <a:xfrm>
              <a:off x="4512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7" name="Rectangle 128"/>
            <p:cNvSpPr>
              <a:spLocks noChangeArrowheads="1"/>
            </p:cNvSpPr>
            <p:nvPr/>
          </p:nvSpPr>
          <p:spPr bwMode="auto">
            <a:xfrm>
              <a:off x="4992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2108" name="Rectangle 129"/>
            <p:cNvSpPr>
              <a:spLocks noChangeArrowheads="1"/>
            </p:cNvSpPr>
            <p:nvPr/>
          </p:nvSpPr>
          <p:spPr bwMode="auto">
            <a:xfrm>
              <a:off x="470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42109" name="Line 130"/>
            <p:cNvSpPr>
              <a:spLocks noChangeShapeType="1"/>
            </p:cNvSpPr>
            <p:nvPr/>
          </p:nvSpPr>
          <p:spPr bwMode="auto">
            <a:xfrm>
              <a:off x="4704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0" name="Line 131"/>
            <p:cNvSpPr>
              <a:spLocks noChangeShapeType="1"/>
            </p:cNvSpPr>
            <p:nvPr/>
          </p:nvSpPr>
          <p:spPr bwMode="auto">
            <a:xfrm>
              <a:off x="4704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1" name="Line 132"/>
            <p:cNvSpPr>
              <a:spLocks noChangeShapeType="1"/>
            </p:cNvSpPr>
            <p:nvPr/>
          </p:nvSpPr>
          <p:spPr bwMode="auto">
            <a:xfrm>
              <a:off x="470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2" name="Line 133"/>
            <p:cNvSpPr>
              <a:spLocks noChangeShapeType="1"/>
            </p:cNvSpPr>
            <p:nvPr/>
          </p:nvSpPr>
          <p:spPr bwMode="auto">
            <a:xfrm>
              <a:off x="4992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3" name="Line 134"/>
            <p:cNvSpPr>
              <a:spLocks noChangeShapeType="1"/>
            </p:cNvSpPr>
            <p:nvPr/>
          </p:nvSpPr>
          <p:spPr bwMode="auto">
            <a:xfrm>
              <a:off x="5280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4" name="Line 135"/>
            <p:cNvSpPr>
              <a:spLocks noChangeShapeType="1"/>
            </p:cNvSpPr>
            <p:nvPr/>
          </p:nvSpPr>
          <p:spPr bwMode="auto">
            <a:xfrm>
              <a:off x="3600" y="129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5" name="Line 136"/>
            <p:cNvSpPr>
              <a:spLocks noChangeShapeType="1"/>
            </p:cNvSpPr>
            <p:nvPr/>
          </p:nvSpPr>
          <p:spPr bwMode="auto">
            <a:xfrm>
              <a:off x="4368" y="129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8793" name="Rectangle 249"/>
          <p:cNvSpPr>
            <a:spLocks noChangeArrowheads="1"/>
          </p:cNvSpPr>
          <p:nvPr/>
        </p:nvSpPr>
        <p:spPr bwMode="auto">
          <a:xfrm>
            <a:off x="39688" y="3429000"/>
            <a:ext cx="9104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/>
                <a:cs typeface="楷体_GB2312"/>
              </a:rPr>
              <a:t>注：</a:t>
            </a:r>
            <a:r>
              <a:rPr lang="zh-CN" altLang="en-US">
                <a:solidFill>
                  <a:srgbClr val="FF3300"/>
                </a:solidFill>
                <a:ea typeface="楷体_GB2312"/>
                <a:cs typeface="楷体_GB2312"/>
              </a:rPr>
              <a:t>邻接表不唯一</a:t>
            </a:r>
            <a:r>
              <a:rPr lang="zh-CN" altLang="en-US">
                <a:ea typeface="楷体_GB2312"/>
                <a:cs typeface="楷体_GB2312"/>
              </a:rPr>
              <a:t>，因各个边结点的链入顺序是任意的</a:t>
            </a:r>
          </a:p>
        </p:txBody>
      </p:sp>
      <p:graphicFrame>
        <p:nvGraphicFramePr>
          <p:cNvPr id="748794" name="Group 250"/>
          <p:cNvGraphicFramePr>
            <a:graphicFrameLocks noGrp="1"/>
          </p:cNvGraphicFramePr>
          <p:nvPr/>
        </p:nvGraphicFramePr>
        <p:xfrm>
          <a:off x="4394200" y="877888"/>
          <a:ext cx="482600" cy="228600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268"/>
          <p:cNvGrpSpPr/>
          <p:nvPr/>
        </p:nvGrpSpPr>
        <p:grpSpPr bwMode="auto">
          <a:xfrm>
            <a:off x="5791200" y="2836863"/>
            <a:ext cx="3352800" cy="395287"/>
            <a:chOff x="3168" y="1488"/>
            <a:chExt cx="2112" cy="249"/>
          </a:xfrm>
        </p:grpSpPr>
        <p:sp>
          <p:nvSpPr>
            <p:cNvPr id="42069" name="Rectangle 269"/>
            <p:cNvSpPr>
              <a:spLocks noChangeArrowheads="1"/>
            </p:cNvSpPr>
            <p:nvPr/>
          </p:nvSpPr>
          <p:spPr bwMode="auto">
            <a:xfrm>
              <a:off x="422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070" name="Rectangle 270"/>
            <p:cNvSpPr>
              <a:spLocks noChangeArrowheads="1"/>
            </p:cNvSpPr>
            <p:nvPr/>
          </p:nvSpPr>
          <p:spPr bwMode="auto">
            <a:xfrm>
              <a:off x="3936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2071" name="Line 271"/>
            <p:cNvSpPr>
              <a:spLocks noChangeShapeType="1"/>
            </p:cNvSpPr>
            <p:nvPr/>
          </p:nvSpPr>
          <p:spPr bwMode="auto">
            <a:xfrm>
              <a:off x="3936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2" name="Line 272"/>
            <p:cNvSpPr>
              <a:spLocks noChangeShapeType="1"/>
            </p:cNvSpPr>
            <p:nvPr/>
          </p:nvSpPr>
          <p:spPr bwMode="auto">
            <a:xfrm>
              <a:off x="3936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3" name="Line 273"/>
            <p:cNvSpPr>
              <a:spLocks noChangeShapeType="1"/>
            </p:cNvSpPr>
            <p:nvPr/>
          </p:nvSpPr>
          <p:spPr bwMode="auto">
            <a:xfrm>
              <a:off x="4224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4" name="Line 274"/>
            <p:cNvSpPr>
              <a:spLocks noChangeShapeType="1"/>
            </p:cNvSpPr>
            <p:nvPr/>
          </p:nvSpPr>
          <p:spPr bwMode="auto">
            <a:xfrm>
              <a:off x="4512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5" name="Rectangle 275"/>
            <p:cNvSpPr>
              <a:spLocks noChangeArrowheads="1"/>
            </p:cNvSpPr>
            <p:nvPr/>
          </p:nvSpPr>
          <p:spPr bwMode="auto">
            <a:xfrm>
              <a:off x="3456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076" name="Rectangle 276"/>
            <p:cNvSpPr>
              <a:spLocks noChangeArrowheads="1"/>
            </p:cNvSpPr>
            <p:nvPr/>
          </p:nvSpPr>
          <p:spPr bwMode="auto">
            <a:xfrm>
              <a:off x="3168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2077" name="Line 277"/>
            <p:cNvSpPr>
              <a:spLocks noChangeShapeType="1"/>
            </p:cNvSpPr>
            <p:nvPr/>
          </p:nvSpPr>
          <p:spPr bwMode="auto">
            <a:xfrm>
              <a:off x="3168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8" name="Line 278"/>
            <p:cNvSpPr>
              <a:spLocks noChangeShapeType="1"/>
            </p:cNvSpPr>
            <p:nvPr/>
          </p:nvSpPr>
          <p:spPr bwMode="auto">
            <a:xfrm>
              <a:off x="3168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9" name="Line 279"/>
            <p:cNvSpPr>
              <a:spLocks noChangeShapeType="1"/>
            </p:cNvSpPr>
            <p:nvPr/>
          </p:nvSpPr>
          <p:spPr bwMode="auto">
            <a:xfrm>
              <a:off x="3168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0" name="Line 280"/>
            <p:cNvSpPr>
              <a:spLocks noChangeShapeType="1"/>
            </p:cNvSpPr>
            <p:nvPr/>
          </p:nvSpPr>
          <p:spPr bwMode="auto">
            <a:xfrm>
              <a:off x="3456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1" name="Line 281"/>
            <p:cNvSpPr>
              <a:spLocks noChangeShapeType="1"/>
            </p:cNvSpPr>
            <p:nvPr/>
          </p:nvSpPr>
          <p:spPr bwMode="auto">
            <a:xfrm>
              <a:off x="3744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2" name="Rectangle 282"/>
            <p:cNvSpPr>
              <a:spLocks noChangeArrowheads="1"/>
            </p:cNvSpPr>
            <p:nvPr/>
          </p:nvSpPr>
          <p:spPr bwMode="auto">
            <a:xfrm>
              <a:off x="4992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2083" name="Rectangle 283"/>
            <p:cNvSpPr>
              <a:spLocks noChangeArrowheads="1"/>
            </p:cNvSpPr>
            <p:nvPr/>
          </p:nvSpPr>
          <p:spPr bwMode="auto">
            <a:xfrm>
              <a:off x="470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2084" name="Line 284"/>
            <p:cNvSpPr>
              <a:spLocks noChangeShapeType="1"/>
            </p:cNvSpPr>
            <p:nvPr/>
          </p:nvSpPr>
          <p:spPr bwMode="auto">
            <a:xfrm>
              <a:off x="4704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5" name="Line 285"/>
            <p:cNvSpPr>
              <a:spLocks noChangeShapeType="1"/>
            </p:cNvSpPr>
            <p:nvPr/>
          </p:nvSpPr>
          <p:spPr bwMode="auto">
            <a:xfrm>
              <a:off x="4704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6" name="Line 286"/>
            <p:cNvSpPr>
              <a:spLocks noChangeShapeType="1"/>
            </p:cNvSpPr>
            <p:nvPr/>
          </p:nvSpPr>
          <p:spPr bwMode="auto">
            <a:xfrm>
              <a:off x="4704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7" name="Line 287"/>
            <p:cNvSpPr>
              <a:spLocks noChangeShapeType="1"/>
            </p:cNvSpPr>
            <p:nvPr/>
          </p:nvSpPr>
          <p:spPr bwMode="auto">
            <a:xfrm>
              <a:off x="4992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8" name="Line 288"/>
            <p:cNvSpPr>
              <a:spLocks noChangeShapeType="1"/>
            </p:cNvSpPr>
            <p:nvPr/>
          </p:nvSpPr>
          <p:spPr bwMode="auto">
            <a:xfrm>
              <a:off x="5280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9" name="Line 289"/>
            <p:cNvSpPr>
              <a:spLocks noChangeShapeType="1"/>
            </p:cNvSpPr>
            <p:nvPr/>
          </p:nvSpPr>
          <p:spPr bwMode="auto">
            <a:xfrm>
              <a:off x="3600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0" name="Line 290"/>
            <p:cNvSpPr>
              <a:spLocks noChangeShapeType="1"/>
            </p:cNvSpPr>
            <p:nvPr/>
          </p:nvSpPr>
          <p:spPr bwMode="auto">
            <a:xfrm>
              <a:off x="4368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91" name="Line 291"/>
            <p:cNvSpPr>
              <a:spLocks noChangeShapeType="1"/>
            </p:cNvSpPr>
            <p:nvPr/>
          </p:nvSpPr>
          <p:spPr bwMode="auto">
            <a:xfrm>
              <a:off x="3936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92"/>
          <p:cNvGrpSpPr/>
          <p:nvPr/>
        </p:nvGrpSpPr>
        <p:grpSpPr bwMode="auto">
          <a:xfrm>
            <a:off x="5791200" y="2317750"/>
            <a:ext cx="3352800" cy="395288"/>
            <a:chOff x="3168" y="1152"/>
            <a:chExt cx="2112" cy="249"/>
          </a:xfrm>
        </p:grpSpPr>
        <p:sp>
          <p:nvSpPr>
            <p:cNvPr id="42045" name="Line 293"/>
            <p:cNvSpPr>
              <a:spLocks noChangeShapeType="1"/>
            </p:cNvSpPr>
            <p:nvPr/>
          </p:nvSpPr>
          <p:spPr bwMode="auto">
            <a:xfrm>
              <a:off x="3936" y="139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6" name="Rectangle 294"/>
            <p:cNvSpPr>
              <a:spLocks noChangeArrowheads="1"/>
            </p:cNvSpPr>
            <p:nvPr/>
          </p:nvSpPr>
          <p:spPr bwMode="auto">
            <a:xfrm>
              <a:off x="3456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047" name="Rectangle 295"/>
            <p:cNvSpPr>
              <a:spLocks noChangeArrowheads="1"/>
            </p:cNvSpPr>
            <p:nvPr/>
          </p:nvSpPr>
          <p:spPr bwMode="auto">
            <a:xfrm>
              <a:off x="3168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2048" name="Line 296"/>
            <p:cNvSpPr>
              <a:spLocks noChangeShapeType="1"/>
            </p:cNvSpPr>
            <p:nvPr/>
          </p:nvSpPr>
          <p:spPr bwMode="auto">
            <a:xfrm>
              <a:off x="3936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9" name="Line 297"/>
            <p:cNvSpPr>
              <a:spLocks noChangeShapeType="1"/>
            </p:cNvSpPr>
            <p:nvPr/>
          </p:nvSpPr>
          <p:spPr bwMode="auto">
            <a:xfrm>
              <a:off x="3168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0" name="Line 298"/>
            <p:cNvSpPr>
              <a:spLocks noChangeShapeType="1"/>
            </p:cNvSpPr>
            <p:nvPr/>
          </p:nvSpPr>
          <p:spPr bwMode="auto">
            <a:xfrm>
              <a:off x="3168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1" name="Line 299"/>
            <p:cNvSpPr>
              <a:spLocks noChangeShapeType="1"/>
            </p:cNvSpPr>
            <p:nvPr/>
          </p:nvSpPr>
          <p:spPr bwMode="auto">
            <a:xfrm>
              <a:off x="3456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2" name="Line 300"/>
            <p:cNvSpPr>
              <a:spLocks noChangeShapeType="1"/>
            </p:cNvSpPr>
            <p:nvPr/>
          </p:nvSpPr>
          <p:spPr bwMode="auto">
            <a:xfrm>
              <a:off x="374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3" name="Rectangle 301"/>
            <p:cNvSpPr>
              <a:spLocks noChangeArrowheads="1"/>
            </p:cNvSpPr>
            <p:nvPr/>
          </p:nvSpPr>
          <p:spPr bwMode="auto">
            <a:xfrm>
              <a:off x="422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2054" name="Rectangle 302"/>
            <p:cNvSpPr>
              <a:spLocks noChangeArrowheads="1"/>
            </p:cNvSpPr>
            <p:nvPr/>
          </p:nvSpPr>
          <p:spPr bwMode="auto">
            <a:xfrm>
              <a:off x="3936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2055" name="Line 303"/>
            <p:cNvSpPr>
              <a:spLocks noChangeShapeType="1"/>
            </p:cNvSpPr>
            <p:nvPr/>
          </p:nvSpPr>
          <p:spPr bwMode="auto">
            <a:xfrm>
              <a:off x="3168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6" name="Line 304"/>
            <p:cNvSpPr>
              <a:spLocks noChangeShapeType="1"/>
            </p:cNvSpPr>
            <p:nvPr/>
          </p:nvSpPr>
          <p:spPr bwMode="auto">
            <a:xfrm>
              <a:off x="3936" y="139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7" name="Line 305"/>
            <p:cNvSpPr>
              <a:spLocks noChangeShapeType="1"/>
            </p:cNvSpPr>
            <p:nvPr/>
          </p:nvSpPr>
          <p:spPr bwMode="auto">
            <a:xfrm>
              <a:off x="3936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8" name="Line 306"/>
            <p:cNvSpPr>
              <a:spLocks noChangeShapeType="1"/>
            </p:cNvSpPr>
            <p:nvPr/>
          </p:nvSpPr>
          <p:spPr bwMode="auto">
            <a:xfrm>
              <a:off x="4224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9" name="Line 307"/>
            <p:cNvSpPr>
              <a:spLocks noChangeShapeType="1"/>
            </p:cNvSpPr>
            <p:nvPr/>
          </p:nvSpPr>
          <p:spPr bwMode="auto">
            <a:xfrm>
              <a:off x="4512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0" name="Rectangle 308"/>
            <p:cNvSpPr>
              <a:spLocks noChangeArrowheads="1"/>
            </p:cNvSpPr>
            <p:nvPr/>
          </p:nvSpPr>
          <p:spPr bwMode="auto">
            <a:xfrm>
              <a:off x="4992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2061" name="Rectangle 309"/>
            <p:cNvSpPr>
              <a:spLocks noChangeArrowheads="1"/>
            </p:cNvSpPr>
            <p:nvPr/>
          </p:nvSpPr>
          <p:spPr bwMode="auto">
            <a:xfrm>
              <a:off x="470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42062" name="Line 310"/>
            <p:cNvSpPr>
              <a:spLocks noChangeShapeType="1"/>
            </p:cNvSpPr>
            <p:nvPr/>
          </p:nvSpPr>
          <p:spPr bwMode="auto">
            <a:xfrm>
              <a:off x="4704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3" name="Line 311"/>
            <p:cNvSpPr>
              <a:spLocks noChangeShapeType="1"/>
            </p:cNvSpPr>
            <p:nvPr/>
          </p:nvSpPr>
          <p:spPr bwMode="auto">
            <a:xfrm>
              <a:off x="4704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4" name="Line 312"/>
            <p:cNvSpPr>
              <a:spLocks noChangeShapeType="1"/>
            </p:cNvSpPr>
            <p:nvPr/>
          </p:nvSpPr>
          <p:spPr bwMode="auto">
            <a:xfrm>
              <a:off x="470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5" name="Line 313"/>
            <p:cNvSpPr>
              <a:spLocks noChangeShapeType="1"/>
            </p:cNvSpPr>
            <p:nvPr/>
          </p:nvSpPr>
          <p:spPr bwMode="auto">
            <a:xfrm>
              <a:off x="4992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6" name="Line 314"/>
            <p:cNvSpPr>
              <a:spLocks noChangeShapeType="1"/>
            </p:cNvSpPr>
            <p:nvPr/>
          </p:nvSpPr>
          <p:spPr bwMode="auto">
            <a:xfrm>
              <a:off x="5280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7" name="Line 315"/>
            <p:cNvSpPr>
              <a:spLocks noChangeShapeType="1"/>
            </p:cNvSpPr>
            <p:nvPr/>
          </p:nvSpPr>
          <p:spPr bwMode="auto">
            <a:xfrm>
              <a:off x="3600" y="129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8" name="Line 316"/>
            <p:cNvSpPr>
              <a:spLocks noChangeShapeType="1"/>
            </p:cNvSpPr>
            <p:nvPr/>
          </p:nvSpPr>
          <p:spPr bwMode="auto">
            <a:xfrm>
              <a:off x="4368" y="129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28" name="Rectangle 318"/>
          <p:cNvSpPr>
            <a:spLocks noChangeArrowheads="1"/>
          </p:cNvSpPr>
          <p:nvPr/>
        </p:nvSpPr>
        <p:spPr bwMode="auto">
          <a:xfrm>
            <a:off x="39688" y="0"/>
            <a:ext cx="57562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无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向图的邻接表表示</a:t>
            </a:r>
          </a:p>
        </p:txBody>
      </p:sp>
      <p:sp>
        <p:nvSpPr>
          <p:cNvPr id="748864" name="Rectangle 320"/>
          <p:cNvSpPr>
            <a:spLocks noChangeArrowheads="1"/>
          </p:cNvSpPr>
          <p:nvPr/>
        </p:nvSpPr>
        <p:spPr bwMode="auto">
          <a:xfrm>
            <a:off x="123825" y="4121150"/>
            <a:ext cx="8704263" cy="9461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/>
                <a:ea typeface="楷体_GB2312"/>
                <a:cs typeface="楷体_GB2312"/>
              </a:rPr>
              <a:t>空间效率为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O(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n+2e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若是稀疏图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(e&lt;&lt;n</a:t>
            </a:r>
            <a:r>
              <a:rPr lang="en-US" altLang="zh-CN" baseline="30000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，比邻接矩阵表示法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O(n</a:t>
            </a:r>
            <a:r>
              <a:rPr lang="en-US" altLang="zh-CN" baseline="30000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省空间。</a:t>
            </a:r>
          </a:p>
        </p:txBody>
      </p:sp>
      <p:sp>
        <p:nvSpPr>
          <p:cNvPr id="748865" name="Rectangle 321"/>
          <p:cNvSpPr>
            <a:spLocks noChangeArrowheads="1"/>
          </p:cNvSpPr>
          <p:nvPr/>
        </p:nvSpPr>
        <p:spPr bwMode="auto">
          <a:xfrm>
            <a:off x="1492250" y="5300663"/>
            <a:ext cx="5557932" cy="52322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TD(Vi)=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单链表中链接的结点个数</a:t>
            </a:r>
          </a:p>
        </p:txBody>
      </p:sp>
      <p:grpSp>
        <p:nvGrpSpPr>
          <p:cNvPr id="42031" name="Group 322"/>
          <p:cNvGrpSpPr/>
          <p:nvPr/>
        </p:nvGrpSpPr>
        <p:grpSpPr bwMode="auto">
          <a:xfrm>
            <a:off x="971550" y="1022350"/>
            <a:ext cx="2146300" cy="1295400"/>
            <a:chOff x="40" y="413"/>
            <a:chExt cx="1352" cy="816"/>
          </a:xfrm>
        </p:grpSpPr>
        <p:sp>
          <p:nvSpPr>
            <p:cNvPr id="42032" name="Oval 323"/>
            <p:cNvSpPr>
              <a:spLocks noChangeArrowheads="1"/>
            </p:cNvSpPr>
            <p:nvPr/>
          </p:nvSpPr>
          <p:spPr bwMode="auto">
            <a:xfrm>
              <a:off x="40" y="441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42033" name="Oval 324"/>
            <p:cNvSpPr>
              <a:spLocks noChangeArrowheads="1"/>
            </p:cNvSpPr>
            <p:nvPr/>
          </p:nvSpPr>
          <p:spPr bwMode="auto">
            <a:xfrm>
              <a:off x="976" y="413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42034" name="Oval 325"/>
            <p:cNvSpPr>
              <a:spLocks noChangeArrowheads="1"/>
            </p:cNvSpPr>
            <p:nvPr/>
          </p:nvSpPr>
          <p:spPr bwMode="auto">
            <a:xfrm>
              <a:off x="508" y="723"/>
              <a:ext cx="312" cy="1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42035" name="Oval 326"/>
            <p:cNvSpPr>
              <a:spLocks noChangeArrowheads="1"/>
            </p:cNvSpPr>
            <p:nvPr/>
          </p:nvSpPr>
          <p:spPr bwMode="auto">
            <a:xfrm>
              <a:off x="1080" y="1032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42036" name="Line 327"/>
            <p:cNvSpPr>
              <a:spLocks noChangeShapeType="1"/>
            </p:cNvSpPr>
            <p:nvPr/>
          </p:nvSpPr>
          <p:spPr bwMode="auto">
            <a:xfrm>
              <a:off x="352" y="526"/>
              <a:ext cx="62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7" name="Line 328"/>
            <p:cNvSpPr>
              <a:spLocks noChangeShapeType="1"/>
            </p:cNvSpPr>
            <p:nvPr/>
          </p:nvSpPr>
          <p:spPr bwMode="auto">
            <a:xfrm flipH="1">
              <a:off x="196" y="638"/>
              <a:ext cx="0" cy="36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8" name="Line 329"/>
            <p:cNvSpPr>
              <a:spLocks noChangeShapeType="1"/>
            </p:cNvSpPr>
            <p:nvPr/>
          </p:nvSpPr>
          <p:spPr bwMode="auto">
            <a:xfrm>
              <a:off x="352" y="1145"/>
              <a:ext cx="72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9" name="Line 330"/>
            <p:cNvSpPr>
              <a:spLocks noChangeShapeType="1"/>
            </p:cNvSpPr>
            <p:nvPr/>
          </p:nvSpPr>
          <p:spPr bwMode="auto">
            <a:xfrm>
              <a:off x="820" y="891"/>
              <a:ext cx="364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0" name="Oval 331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rgbClr val="111147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rgbClr val="CDE5F3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42041" name="Line 332"/>
            <p:cNvSpPr>
              <a:spLocks noChangeShapeType="1"/>
            </p:cNvSpPr>
            <p:nvPr/>
          </p:nvSpPr>
          <p:spPr bwMode="auto">
            <a:xfrm flipH="1">
              <a:off x="300" y="891"/>
              <a:ext cx="260" cy="14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2" name="Line 333"/>
            <p:cNvSpPr>
              <a:spLocks noChangeShapeType="1"/>
            </p:cNvSpPr>
            <p:nvPr/>
          </p:nvSpPr>
          <p:spPr bwMode="auto">
            <a:xfrm flipH="1">
              <a:off x="768" y="582"/>
              <a:ext cx="260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3" name="Line 334"/>
            <p:cNvSpPr>
              <a:spLocks noChangeShapeType="1"/>
            </p:cNvSpPr>
            <p:nvPr/>
          </p:nvSpPr>
          <p:spPr bwMode="auto">
            <a:xfrm>
              <a:off x="1184" y="610"/>
              <a:ext cx="0" cy="42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4" name="Oval 335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178454" y="3949700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课程约定：</a:t>
            </a:r>
            <a:r>
              <a:rPr lang="zh-CN" altLang="en-US" dirty="0">
                <a:solidFill>
                  <a:srgbClr val="FF0000"/>
                </a:solidFill>
                <a:highlight>
                  <a:srgbClr val="00FF00"/>
                </a:highlight>
              </a:rPr>
              <a:t>大编号在前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1E0A9C-64F8-AD56-D458-B0C9D130F140}"/>
              </a:ext>
            </a:extLst>
          </p:cNvPr>
          <p:cNvSpPr txBox="1"/>
          <p:nvPr/>
        </p:nvSpPr>
        <p:spPr>
          <a:xfrm>
            <a:off x="251520" y="6165304"/>
            <a:ext cx="85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头结点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某个顶点</a:t>
            </a:r>
            <a:r>
              <a:rPr lang="en-US" altLang="zh-CN" dirty="0">
                <a:highlight>
                  <a:srgbClr val="00FF00"/>
                </a:highlight>
              </a:rPr>
              <a:t>)--&gt;</a:t>
            </a:r>
            <a:r>
              <a:rPr lang="zh-CN" altLang="en-US" dirty="0">
                <a:highlight>
                  <a:srgbClr val="00FF00"/>
                </a:highlight>
              </a:rPr>
              <a:t>表结点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与该顶点连接的所有顶点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</p:cSld>
  <p:clrMapOvr>
    <a:masterClrMapping/>
  </p:clrMapOvr>
  <p:transition>
    <p:checke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Oval 130"/>
          <p:cNvSpPr>
            <a:spLocks noChangeArrowheads="1"/>
          </p:cNvSpPr>
          <p:nvPr/>
        </p:nvSpPr>
        <p:spPr bwMode="auto">
          <a:xfrm>
            <a:off x="292100" y="1422400"/>
            <a:ext cx="511175" cy="377825"/>
          </a:xfrm>
          <a:prstGeom prst="ellipse">
            <a:avLst/>
          </a:prstGeom>
          <a:solidFill>
            <a:srgbClr val="CCFFFF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v1</a:t>
            </a:r>
          </a:p>
        </p:txBody>
      </p:sp>
      <p:sp>
        <p:nvSpPr>
          <p:cNvPr id="43011" name="Oval 131"/>
          <p:cNvSpPr>
            <a:spLocks noChangeArrowheads="1"/>
          </p:cNvSpPr>
          <p:nvPr/>
        </p:nvSpPr>
        <p:spPr bwMode="auto">
          <a:xfrm>
            <a:off x="1825625" y="1368425"/>
            <a:ext cx="511175" cy="377825"/>
          </a:xfrm>
          <a:prstGeom prst="ellipse">
            <a:avLst/>
          </a:prstGeom>
          <a:solidFill>
            <a:srgbClr val="CCFFFF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v2</a:t>
            </a:r>
          </a:p>
        </p:txBody>
      </p:sp>
      <p:sp>
        <p:nvSpPr>
          <p:cNvPr id="43012" name="Oval 132"/>
          <p:cNvSpPr>
            <a:spLocks noChangeArrowheads="1"/>
          </p:cNvSpPr>
          <p:nvPr/>
        </p:nvSpPr>
        <p:spPr bwMode="auto">
          <a:xfrm>
            <a:off x="207963" y="2286000"/>
            <a:ext cx="511175" cy="377825"/>
          </a:xfrm>
          <a:prstGeom prst="ellipse">
            <a:avLst/>
          </a:prstGeom>
          <a:solidFill>
            <a:srgbClr val="CCFFFF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v3</a:t>
            </a:r>
          </a:p>
        </p:txBody>
      </p:sp>
      <p:sp>
        <p:nvSpPr>
          <p:cNvPr id="43013" name="Oval 133"/>
          <p:cNvSpPr>
            <a:spLocks noChangeArrowheads="1"/>
          </p:cNvSpPr>
          <p:nvPr/>
        </p:nvSpPr>
        <p:spPr bwMode="auto">
          <a:xfrm>
            <a:off x="1825625" y="2286000"/>
            <a:ext cx="511175" cy="377825"/>
          </a:xfrm>
          <a:prstGeom prst="ellipse">
            <a:avLst/>
          </a:prstGeom>
          <a:solidFill>
            <a:srgbClr val="CCFFFF"/>
          </a:solidFill>
          <a:ln w="38100">
            <a:solidFill>
              <a:srgbClr val="BADE78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v4</a:t>
            </a:r>
          </a:p>
        </p:txBody>
      </p:sp>
      <p:sp>
        <p:nvSpPr>
          <p:cNvPr id="43014" name="Line 134"/>
          <p:cNvSpPr>
            <a:spLocks noChangeShapeType="1"/>
          </p:cNvSpPr>
          <p:nvPr/>
        </p:nvSpPr>
        <p:spPr bwMode="auto">
          <a:xfrm>
            <a:off x="803275" y="1584325"/>
            <a:ext cx="10223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5" name="Line 135"/>
          <p:cNvSpPr>
            <a:spLocks noChangeShapeType="1"/>
          </p:cNvSpPr>
          <p:nvPr/>
        </p:nvSpPr>
        <p:spPr bwMode="auto">
          <a:xfrm flipH="1">
            <a:off x="547688" y="1800225"/>
            <a:ext cx="0" cy="4857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6" name="Line 136"/>
          <p:cNvSpPr>
            <a:spLocks noChangeShapeType="1"/>
          </p:cNvSpPr>
          <p:nvPr/>
        </p:nvSpPr>
        <p:spPr bwMode="auto">
          <a:xfrm>
            <a:off x="719138" y="2501900"/>
            <a:ext cx="110648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Line 137"/>
          <p:cNvSpPr>
            <a:spLocks noChangeShapeType="1"/>
          </p:cNvSpPr>
          <p:nvPr/>
        </p:nvSpPr>
        <p:spPr bwMode="auto">
          <a:xfrm>
            <a:off x="719138" y="1746250"/>
            <a:ext cx="1192212" cy="5937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38"/>
          <p:cNvGrpSpPr/>
          <p:nvPr/>
        </p:nvGrpSpPr>
        <p:grpSpPr bwMode="auto">
          <a:xfrm>
            <a:off x="2798763" y="1368425"/>
            <a:ext cx="3124200" cy="1589088"/>
            <a:chOff x="1776" y="2839"/>
            <a:chExt cx="1968" cy="1001"/>
          </a:xfrm>
        </p:grpSpPr>
        <p:sp>
          <p:nvSpPr>
            <p:cNvPr id="43077" name="Rectangle 139"/>
            <p:cNvSpPr>
              <a:spLocks noChangeArrowheads="1"/>
            </p:cNvSpPr>
            <p:nvPr/>
          </p:nvSpPr>
          <p:spPr bwMode="auto">
            <a:xfrm>
              <a:off x="2099" y="3586"/>
              <a:ext cx="396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3078" name="Rectangle 140"/>
            <p:cNvSpPr>
              <a:spLocks noChangeArrowheads="1"/>
            </p:cNvSpPr>
            <p:nvPr/>
          </p:nvSpPr>
          <p:spPr bwMode="auto">
            <a:xfrm>
              <a:off x="1776" y="3586"/>
              <a:ext cx="323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V</a:t>
              </a:r>
              <a:r>
                <a:rPr lang="en-US" altLang="zh-CN" sz="2000" baseline="-25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3079" name="Rectangle 141"/>
            <p:cNvSpPr>
              <a:spLocks noChangeArrowheads="1"/>
            </p:cNvSpPr>
            <p:nvPr/>
          </p:nvSpPr>
          <p:spPr bwMode="auto">
            <a:xfrm>
              <a:off x="2099" y="3337"/>
              <a:ext cx="396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3080" name="Rectangle 142"/>
            <p:cNvSpPr>
              <a:spLocks noChangeArrowheads="1"/>
            </p:cNvSpPr>
            <p:nvPr/>
          </p:nvSpPr>
          <p:spPr bwMode="auto">
            <a:xfrm>
              <a:off x="1776" y="3337"/>
              <a:ext cx="323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V</a:t>
              </a:r>
              <a:r>
                <a:rPr lang="en-US" altLang="zh-CN" sz="2000" baseline="-25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3081" name="Rectangle 143"/>
            <p:cNvSpPr>
              <a:spLocks noChangeArrowheads="1"/>
            </p:cNvSpPr>
            <p:nvPr/>
          </p:nvSpPr>
          <p:spPr bwMode="auto">
            <a:xfrm>
              <a:off x="2099" y="3088"/>
              <a:ext cx="396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3082" name="Rectangle 144"/>
            <p:cNvSpPr>
              <a:spLocks noChangeArrowheads="1"/>
            </p:cNvSpPr>
            <p:nvPr/>
          </p:nvSpPr>
          <p:spPr bwMode="auto">
            <a:xfrm>
              <a:off x="1776" y="3088"/>
              <a:ext cx="323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V</a:t>
              </a:r>
              <a:r>
                <a:rPr lang="en-US" altLang="zh-CN" sz="2000" baseline="-25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3083" name="Rectangle 145"/>
            <p:cNvSpPr>
              <a:spLocks noChangeArrowheads="1"/>
            </p:cNvSpPr>
            <p:nvPr/>
          </p:nvSpPr>
          <p:spPr bwMode="auto">
            <a:xfrm>
              <a:off x="2099" y="2839"/>
              <a:ext cx="396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3084" name="Rectangle 146"/>
            <p:cNvSpPr>
              <a:spLocks noChangeArrowheads="1"/>
            </p:cNvSpPr>
            <p:nvPr/>
          </p:nvSpPr>
          <p:spPr bwMode="auto">
            <a:xfrm>
              <a:off x="1776" y="2839"/>
              <a:ext cx="323" cy="249"/>
            </a:xfrm>
            <a:prstGeom prst="rect">
              <a:avLst/>
            </a:prstGeom>
            <a:solidFill>
              <a:srgbClr val="CD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V</a:t>
              </a:r>
              <a:r>
                <a:rPr lang="en-US" altLang="zh-CN" sz="2000" baseline="-25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3085" name="Line 147"/>
            <p:cNvSpPr>
              <a:spLocks noChangeShapeType="1"/>
            </p:cNvSpPr>
            <p:nvPr/>
          </p:nvSpPr>
          <p:spPr bwMode="auto">
            <a:xfrm>
              <a:off x="1776" y="2839"/>
              <a:ext cx="71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86" name="Line 148"/>
            <p:cNvSpPr>
              <a:spLocks noChangeShapeType="1"/>
            </p:cNvSpPr>
            <p:nvPr/>
          </p:nvSpPr>
          <p:spPr bwMode="auto">
            <a:xfrm>
              <a:off x="1776" y="3088"/>
              <a:ext cx="7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87" name="Line 149"/>
            <p:cNvSpPr>
              <a:spLocks noChangeShapeType="1"/>
            </p:cNvSpPr>
            <p:nvPr/>
          </p:nvSpPr>
          <p:spPr bwMode="auto">
            <a:xfrm>
              <a:off x="1776" y="3337"/>
              <a:ext cx="7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88" name="Line 150"/>
            <p:cNvSpPr>
              <a:spLocks noChangeShapeType="1"/>
            </p:cNvSpPr>
            <p:nvPr/>
          </p:nvSpPr>
          <p:spPr bwMode="auto">
            <a:xfrm>
              <a:off x="1776" y="3586"/>
              <a:ext cx="7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89" name="Line 151"/>
            <p:cNvSpPr>
              <a:spLocks noChangeShapeType="1"/>
            </p:cNvSpPr>
            <p:nvPr/>
          </p:nvSpPr>
          <p:spPr bwMode="auto">
            <a:xfrm>
              <a:off x="1776" y="3835"/>
              <a:ext cx="71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0" name="Line 152"/>
            <p:cNvSpPr>
              <a:spLocks noChangeShapeType="1"/>
            </p:cNvSpPr>
            <p:nvPr/>
          </p:nvSpPr>
          <p:spPr bwMode="auto">
            <a:xfrm>
              <a:off x="1776" y="283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1" name="Line 153"/>
            <p:cNvSpPr>
              <a:spLocks noChangeShapeType="1"/>
            </p:cNvSpPr>
            <p:nvPr/>
          </p:nvSpPr>
          <p:spPr bwMode="auto">
            <a:xfrm>
              <a:off x="2099" y="283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2" name="Line 154"/>
            <p:cNvSpPr>
              <a:spLocks noChangeShapeType="1"/>
            </p:cNvSpPr>
            <p:nvPr/>
          </p:nvSpPr>
          <p:spPr bwMode="auto">
            <a:xfrm>
              <a:off x="2495" y="283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3" name="Line 155"/>
            <p:cNvSpPr>
              <a:spLocks noChangeShapeType="1"/>
            </p:cNvSpPr>
            <p:nvPr/>
          </p:nvSpPr>
          <p:spPr bwMode="auto">
            <a:xfrm>
              <a:off x="2419" y="2967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4" name="Line 156"/>
            <p:cNvSpPr>
              <a:spLocks noChangeShapeType="1"/>
            </p:cNvSpPr>
            <p:nvPr/>
          </p:nvSpPr>
          <p:spPr bwMode="auto">
            <a:xfrm>
              <a:off x="2419" y="3456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5" name="Line 157"/>
            <p:cNvSpPr>
              <a:spLocks noChangeShapeType="1"/>
            </p:cNvSpPr>
            <p:nvPr/>
          </p:nvSpPr>
          <p:spPr bwMode="auto">
            <a:xfrm>
              <a:off x="2419" y="3696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6" name="Rectangle 158"/>
            <p:cNvSpPr>
              <a:spLocks noChangeArrowheads="1"/>
            </p:cNvSpPr>
            <p:nvPr/>
          </p:nvSpPr>
          <p:spPr bwMode="auto">
            <a:xfrm>
              <a:off x="2911" y="2871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3097" name="Rectangle 159"/>
            <p:cNvSpPr>
              <a:spLocks noChangeArrowheads="1"/>
            </p:cNvSpPr>
            <p:nvPr/>
          </p:nvSpPr>
          <p:spPr bwMode="auto">
            <a:xfrm>
              <a:off x="2684" y="2871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3098" name="Line 160"/>
            <p:cNvSpPr>
              <a:spLocks noChangeShapeType="1"/>
            </p:cNvSpPr>
            <p:nvPr/>
          </p:nvSpPr>
          <p:spPr bwMode="auto">
            <a:xfrm>
              <a:off x="2684" y="2871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9" name="Line 161"/>
            <p:cNvSpPr>
              <a:spLocks noChangeShapeType="1"/>
            </p:cNvSpPr>
            <p:nvPr/>
          </p:nvSpPr>
          <p:spPr bwMode="auto">
            <a:xfrm>
              <a:off x="2684" y="3120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0" name="Line 162"/>
            <p:cNvSpPr>
              <a:spLocks noChangeShapeType="1"/>
            </p:cNvSpPr>
            <p:nvPr/>
          </p:nvSpPr>
          <p:spPr bwMode="auto">
            <a:xfrm>
              <a:off x="2684" y="287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1" name="Line 163"/>
            <p:cNvSpPr>
              <a:spLocks noChangeShapeType="1"/>
            </p:cNvSpPr>
            <p:nvPr/>
          </p:nvSpPr>
          <p:spPr bwMode="auto">
            <a:xfrm>
              <a:off x="2911" y="287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2" name="Line 164"/>
            <p:cNvSpPr>
              <a:spLocks noChangeShapeType="1"/>
            </p:cNvSpPr>
            <p:nvPr/>
          </p:nvSpPr>
          <p:spPr bwMode="auto">
            <a:xfrm>
              <a:off x="3138" y="287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3" name="Line 165"/>
            <p:cNvSpPr>
              <a:spLocks noChangeShapeType="1"/>
            </p:cNvSpPr>
            <p:nvPr/>
          </p:nvSpPr>
          <p:spPr bwMode="auto">
            <a:xfrm>
              <a:off x="3025" y="2976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4" name="Rectangle 166"/>
            <p:cNvSpPr>
              <a:spLocks noChangeArrowheads="1"/>
            </p:cNvSpPr>
            <p:nvPr/>
          </p:nvSpPr>
          <p:spPr bwMode="auto">
            <a:xfrm>
              <a:off x="2911" y="3303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3105" name="Rectangle 167"/>
            <p:cNvSpPr>
              <a:spLocks noChangeArrowheads="1"/>
            </p:cNvSpPr>
            <p:nvPr/>
          </p:nvSpPr>
          <p:spPr bwMode="auto">
            <a:xfrm>
              <a:off x="2684" y="3303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3106" name="Line 168"/>
            <p:cNvSpPr>
              <a:spLocks noChangeShapeType="1"/>
            </p:cNvSpPr>
            <p:nvPr/>
          </p:nvSpPr>
          <p:spPr bwMode="auto">
            <a:xfrm>
              <a:off x="2684" y="3303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7" name="Line 169"/>
            <p:cNvSpPr>
              <a:spLocks noChangeShapeType="1"/>
            </p:cNvSpPr>
            <p:nvPr/>
          </p:nvSpPr>
          <p:spPr bwMode="auto">
            <a:xfrm>
              <a:off x="2684" y="3552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8" name="Line 170"/>
            <p:cNvSpPr>
              <a:spLocks noChangeShapeType="1"/>
            </p:cNvSpPr>
            <p:nvPr/>
          </p:nvSpPr>
          <p:spPr bwMode="auto">
            <a:xfrm>
              <a:off x="2684" y="3303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09" name="Line 171"/>
            <p:cNvSpPr>
              <a:spLocks noChangeShapeType="1"/>
            </p:cNvSpPr>
            <p:nvPr/>
          </p:nvSpPr>
          <p:spPr bwMode="auto">
            <a:xfrm>
              <a:off x="2911" y="330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0" name="Line 172"/>
            <p:cNvSpPr>
              <a:spLocks noChangeShapeType="1"/>
            </p:cNvSpPr>
            <p:nvPr/>
          </p:nvSpPr>
          <p:spPr bwMode="auto">
            <a:xfrm>
              <a:off x="3138" y="3303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1" name="Rectangle 173"/>
            <p:cNvSpPr>
              <a:spLocks noChangeArrowheads="1"/>
            </p:cNvSpPr>
            <p:nvPr/>
          </p:nvSpPr>
          <p:spPr bwMode="auto">
            <a:xfrm>
              <a:off x="2911" y="3591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3112" name="Rectangle 174"/>
            <p:cNvSpPr>
              <a:spLocks noChangeArrowheads="1"/>
            </p:cNvSpPr>
            <p:nvPr/>
          </p:nvSpPr>
          <p:spPr bwMode="auto">
            <a:xfrm>
              <a:off x="2684" y="3591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43113" name="Line 175"/>
            <p:cNvSpPr>
              <a:spLocks noChangeShapeType="1"/>
            </p:cNvSpPr>
            <p:nvPr/>
          </p:nvSpPr>
          <p:spPr bwMode="auto">
            <a:xfrm>
              <a:off x="2684" y="3591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4" name="Line 176"/>
            <p:cNvSpPr>
              <a:spLocks noChangeShapeType="1"/>
            </p:cNvSpPr>
            <p:nvPr/>
          </p:nvSpPr>
          <p:spPr bwMode="auto">
            <a:xfrm>
              <a:off x="2684" y="3840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5" name="Line 177"/>
            <p:cNvSpPr>
              <a:spLocks noChangeShapeType="1"/>
            </p:cNvSpPr>
            <p:nvPr/>
          </p:nvSpPr>
          <p:spPr bwMode="auto">
            <a:xfrm>
              <a:off x="2684" y="359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6" name="Line 178"/>
            <p:cNvSpPr>
              <a:spLocks noChangeShapeType="1"/>
            </p:cNvSpPr>
            <p:nvPr/>
          </p:nvSpPr>
          <p:spPr bwMode="auto">
            <a:xfrm>
              <a:off x="2911" y="359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7" name="Line 179"/>
            <p:cNvSpPr>
              <a:spLocks noChangeShapeType="1"/>
            </p:cNvSpPr>
            <p:nvPr/>
          </p:nvSpPr>
          <p:spPr bwMode="auto">
            <a:xfrm>
              <a:off x="3138" y="359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8" name="Rectangle 180"/>
            <p:cNvSpPr>
              <a:spLocks noChangeArrowheads="1"/>
            </p:cNvSpPr>
            <p:nvPr/>
          </p:nvSpPr>
          <p:spPr bwMode="auto">
            <a:xfrm>
              <a:off x="3517" y="2871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3119" name="Rectangle 181"/>
            <p:cNvSpPr>
              <a:spLocks noChangeArrowheads="1"/>
            </p:cNvSpPr>
            <p:nvPr/>
          </p:nvSpPr>
          <p:spPr bwMode="auto">
            <a:xfrm>
              <a:off x="3290" y="2871"/>
              <a:ext cx="227" cy="249"/>
            </a:xfrm>
            <a:prstGeom prst="rect">
              <a:avLst/>
            </a:prstGeom>
            <a:solidFill>
              <a:srgbClr val="CED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3120" name="Line 182"/>
            <p:cNvSpPr>
              <a:spLocks noChangeShapeType="1"/>
            </p:cNvSpPr>
            <p:nvPr/>
          </p:nvSpPr>
          <p:spPr bwMode="auto">
            <a:xfrm>
              <a:off x="3290" y="2871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1" name="Line 183"/>
            <p:cNvSpPr>
              <a:spLocks noChangeShapeType="1"/>
            </p:cNvSpPr>
            <p:nvPr/>
          </p:nvSpPr>
          <p:spPr bwMode="auto">
            <a:xfrm>
              <a:off x="3290" y="3120"/>
              <a:ext cx="4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2" name="Line 184"/>
            <p:cNvSpPr>
              <a:spLocks noChangeShapeType="1"/>
            </p:cNvSpPr>
            <p:nvPr/>
          </p:nvSpPr>
          <p:spPr bwMode="auto">
            <a:xfrm>
              <a:off x="3290" y="287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3" name="Line 185"/>
            <p:cNvSpPr>
              <a:spLocks noChangeShapeType="1"/>
            </p:cNvSpPr>
            <p:nvPr/>
          </p:nvSpPr>
          <p:spPr bwMode="auto">
            <a:xfrm>
              <a:off x="3517" y="287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4" name="Line 186"/>
            <p:cNvSpPr>
              <a:spLocks noChangeShapeType="1"/>
            </p:cNvSpPr>
            <p:nvPr/>
          </p:nvSpPr>
          <p:spPr bwMode="auto">
            <a:xfrm>
              <a:off x="3744" y="287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9675" name="Text Box 187"/>
          <p:cNvSpPr txBox="1">
            <a:spLocks noChangeArrowheads="1"/>
          </p:cNvSpPr>
          <p:nvPr/>
        </p:nvSpPr>
        <p:spPr bwMode="auto">
          <a:xfrm>
            <a:off x="3255963" y="814388"/>
            <a:ext cx="2024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邻接表</a:t>
            </a:r>
            <a:r>
              <a:rPr lang="en-US" altLang="zh-CN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出边</a:t>
            </a:r>
            <a:r>
              <a:rPr lang="en-US" altLang="zh-CN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)</a:t>
            </a:r>
          </a:p>
        </p:txBody>
      </p:sp>
      <p:grpSp>
        <p:nvGrpSpPr>
          <p:cNvPr id="3" name="Group 314"/>
          <p:cNvGrpSpPr/>
          <p:nvPr/>
        </p:nvGrpSpPr>
        <p:grpSpPr bwMode="auto">
          <a:xfrm>
            <a:off x="6303963" y="814388"/>
            <a:ext cx="2330450" cy="2117725"/>
            <a:chOff x="3971" y="513"/>
            <a:chExt cx="1468" cy="1334"/>
          </a:xfrm>
        </p:grpSpPr>
        <p:grpSp>
          <p:nvGrpSpPr>
            <p:cNvPr id="43026" name="Group 188"/>
            <p:cNvGrpSpPr/>
            <p:nvPr/>
          </p:nvGrpSpPr>
          <p:grpSpPr bwMode="auto">
            <a:xfrm>
              <a:off x="3971" y="814"/>
              <a:ext cx="1344" cy="1033"/>
              <a:chOff x="4112" y="2448"/>
              <a:chExt cx="1344" cy="1033"/>
            </a:xfrm>
          </p:grpSpPr>
          <p:sp>
            <p:nvSpPr>
              <p:cNvPr id="43028" name="Rectangle 189"/>
              <p:cNvSpPr>
                <a:spLocks noChangeArrowheads="1"/>
              </p:cNvSpPr>
              <p:nvPr/>
            </p:nvSpPr>
            <p:spPr bwMode="auto">
              <a:xfrm>
                <a:off x="4436" y="3220"/>
                <a:ext cx="396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43029" name="Rectangle 190"/>
              <p:cNvSpPr>
                <a:spLocks noChangeArrowheads="1"/>
              </p:cNvSpPr>
              <p:nvPr/>
            </p:nvSpPr>
            <p:spPr bwMode="auto">
              <a:xfrm>
                <a:off x="4112" y="3220"/>
                <a:ext cx="324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</a:rPr>
                  <a:t>V4</a:t>
                </a:r>
              </a:p>
            </p:txBody>
          </p:sp>
          <p:sp>
            <p:nvSpPr>
              <p:cNvPr id="43030" name="Rectangle 191"/>
              <p:cNvSpPr>
                <a:spLocks noChangeArrowheads="1"/>
              </p:cNvSpPr>
              <p:nvPr/>
            </p:nvSpPr>
            <p:spPr bwMode="auto">
              <a:xfrm>
                <a:off x="4436" y="2971"/>
                <a:ext cx="396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43031" name="Rectangle 192"/>
              <p:cNvSpPr>
                <a:spLocks noChangeArrowheads="1"/>
              </p:cNvSpPr>
              <p:nvPr/>
            </p:nvSpPr>
            <p:spPr bwMode="auto">
              <a:xfrm>
                <a:off x="4112" y="2971"/>
                <a:ext cx="324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</a:rPr>
                  <a:t>V3</a:t>
                </a:r>
              </a:p>
            </p:txBody>
          </p:sp>
          <p:sp>
            <p:nvSpPr>
              <p:cNvPr id="43032" name="Rectangle 193"/>
              <p:cNvSpPr>
                <a:spLocks noChangeArrowheads="1"/>
              </p:cNvSpPr>
              <p:nvPr/>
            </p:nvSpPr>
            <p:spPr bwMode="auto">
              <a:xfrm>
                <a:off x="4436" y="2722"/>
                <a:ext cx="396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43033" name="Rectangle 194"/>
              <p:cNvSpPr>
                <a:spLocks noChangeArrowheads="1"/>
              </p:cNvSpPr>
              <p:nvPr/>
            </p:nvSpPr>
            <p:spPr bwMode="auto">
              <a:xfrm>
                <a:off x="4112" y="2722"/>
                <a:ext cx="324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</a:rPr>
                  <a:t>V2</a:t>
                </a:r>
              </a:p>
            </p:txBody>
          </p:sp>
          <p:sp>
            <p:nvSpPr>
              <p:cNvPr id="43034" name="Rectangle 195"/>
              <p:cNvSpPr>
                <a:spLocks noChangeArrowheads="1"/>
              </p:cNvSpPr>
              <p:nvPr/>
            </p:nvSpPr>
            <p:spPr bwMode="auto">
              <a:xfrm>
                <a:off x="4436" y="2473"/>
                <a:ext cx="396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43035" name="Rectangle 196"/>
              <p:cNvSpPr>
                <a:spLocks noChangeArrowheads="1"/>
              </p:cNvSpPr>
              <p:nvPr/>
            </p:nvSpPr>
            <p:spPr bwMode="auto">
              <a:xfrm>
                <a:off x="4112" y="2473"/>
                <a:ext cx="324" cy="249"/>
              </a:xfrm>
              <a:prstGeom prst="rect">
                <a:avLst/>
              </a:prstGeom>
              <a:solidFill>
                <a:srgbClr val="CDE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</a:rPr>
                  <a:t>V</a:t>
                </a:r>
                <a:r>
                  <a:rPr lang="en-US" altLang="zh-CN" sz="2000" baseline="-250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43036" name="Line 197"/>
              <p:cNvSpPr>
                <a:spLocks noChangeShapeType="1"/>
              </p:cNvSpPr>
              <p:nvPr/>
            </p:nvSpPr>
            <p:spPr bwMode="auto">
              <a:xfrm>
                <a:off x="4112" y="2473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" name="Line 198"/>
              <p:cNvSpPr>
                <a:spLocks noChangeShapeType="1"/>
              </p:cNvSpPr>
              <p:nvPr/>
            </p:nvSpPr>
            <p:spPr bwMode="auto">
              <a:xfrm>
                <a:off x="4112" y="2722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8" name="Line 199"/>
              <p:cNvSpPr>
                <a:spLocks noChangeShapeType="1"/>
              </p:cNvSpPr>
              <p:nvPr/>
            </p:nvSpPr>
            <p:spPr bwMode="auto">
              <a:xfrm>
                <a:off x="4112" y="2971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9" name="Line 200"/>
              <p:cNvSpPr>
                <a:spLocks noChangeShapeType="1"/>
              </p:cNvSpPr>
              <p:nvPr/>
            </p:nvSpPr>
            <p:spPr bwMode="auto">
              <a:xfrm>
                <a:off x="4112" y="322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0" name="Line 201"/>
              <p:cNvSpPr>
                <a:spLocks noChangeShapeType="1"/>
              </p:cNvSpPr>
              <p:nvPr/>
            </p:nvSpPr>
            <p:spPr bwMode="auto">
              <a:xfrm>
                <a:off x="4112" y="3469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1" name="Line 202"/>
              <p:cNvSpPr>
                <a:spLocks noChangeShapeType="1"/>
              </p:cNvSpPr>
              <p:nvPr/>
            </p:nvSpPr>
            <p:spPr bwMode="auto">
              <a:xfrm>
                <a:off x="4112" y="2473"/>
                <a:ext cx="0" cy="9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2" name="Line 203"/>
              <p:cNvSpPr>
                <a:spLocks noChangeShapeType="1"/>
              </p:cNvSpPr>
              <p:nvPr/>
            </p:nvSpPr>
            <p:spPr bwMode="auto">
              <a:xfrm>
                <a:off x="4436" y="2473"/>
                <a:ext cx="1" cy="9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3" name="Line 204"/>
              <p:cNvSpPr>
                <a:spLocks noChangeShapeType="1"/>
              </p:cNvSpPr>
              <p:nvPr/>
            </p:nvSpPr>
            <p:spPr bwMode="auto">
              <a:xfrm>
                <a:off x="4832" y="2473"/>
                <a:ext cx="1" cy="9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4" name="Line 205"/>
              <p:cNvSpPr>
                <a:spLocks noChangeShapeType="1"/>
              </p:cNvSpPr>
              <p:nvPr/>
            </p:nvSpPr>
            <p:spPr bwMode="auto">
              <a:xfrm>
                <a:off x="4747" y="2601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5" name="Line 206"/>
              <p:cNvSpPr>
                <a:spLocks noChangeShapeType="1"/>
              </p:cNvSpPr>
              <p:nvPr/>
            </p:nvSpPr>
            <p:spPr bwMode="auto">
              <a:xfrm>
                <a:off x="4747" y="3136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6" name="Line 207"/>
              <p:cNvSpPr>
                <a:spLocks noChangeShapeType="1"/>
              </p:cNvSpPr>
              <p:nvPr/>
            </p:nvSpPr>
            <p:spPr bwMode="auto">
              <a:xfrm>
                <a:off x="4747" y="3385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7" name="Line 208"/>
              <p:cNvSpPr>
                <a:spLocks noChangeShapeType="1"/>
              </p:cNvSpPr>
              <p:nvPr/>
            </p:nvSpPr>
            <p:spPr bwMode="auto">
              <a:xfrm>
                <a:off x="4747" y="2857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048" name="Group 209"/>
              <p:cNvGrpSpPr/>
              <p:nvPr/>
            </p:nvGrpSpPr>
            <p:grpSpPr bwMode="auto">
              <a:xfrm>
                <a:off x="5008" y="2448"/>
                <a:ext cx="448" cy="1033"/>
                <a:chOff x="4832" y="2736"/>
                <a:chExt cx="448" cy="1033"/>
              </a:xfrm>
            </p:grpSpPr>
            <p:sp>
              <p:nvSpPr>
                <p:cNvPr id="43049" name="Rectangle 210"/>
                <p:cNvSpPr>
                  <a:spLocks noChangeArrowheads="1"/>
                </p:cNvSpPr>
                <p:nvPr/>
              </p:nvSpPr>
              <p:spPr bwMode="auto">
                <a:xfrm>
                  <a:off x="5056" y="2736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^</a:t>
                  </a:r>
                </a:p>
              </p:txBody>
            </p:sp>
            <p:sp>
              <p:nvSpPr>
                <p:cNvPr id="43050" name="Rectangle 211"/>
                <p:cNvSpPr>
                  <a:spLocks noChangeArrowheads="1"/>
                </p:cNvSpPr>
                <p:nvPr/>
              </p:nvSpPr>
              <p:spPr bwMode="auto">
                <a:xfrm>
                  <a:off x="4832" y="2736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3</a:t>
                  </a:r>
                </a:p>
              </p:txBody>
            </p:sp>
            <p:sp>
              <p:nvSpPr>
                <p:cNvPr id="43051" name="Line 212"/>
                <p:cNvSpPr>
                  <a:spLocks noChangeShapeType="1"/>
                </p:cNvSpPr>
                <p:nvPr/>
              </p:nvSpPr>
              <p:spPr bwMode="auto">
                <a:xfrm>
                  <a:off x="4832" y="2736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52" name="Line 213"/>
                <p:cNvSpPr>
                  <a:spLocks noChangeShapeType="1"/>
                </p:cNvSpPr>
                <p:nvPr/>
              </p:nvSpPr>
              <p:spPr bwMode="auto">
                <a:xfrm>
                  <a:off x="4832" y="2985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53" name="Line 214"/>
                <p:cNvSpPr>
                  <a:spLocks noChangeShapeType="1"/>
                </p:cNvSpPr>
                <p:nvPr/>
              </p:nvSpPr>
              <p:spPr bwMode="auto">
                <a:xfrm>
                  <a:off x="4832" y="2736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54" name="Line 215"/>
                <p:cNvSpPr>
                  <a:spLocks noChangeShapeType="1"/>
                </p:cNvSpPr>
                <p:nvPr/>
              </p:nvSpPr>
              <p:spPr bwMode="auto">
                <a:xfrm>
                  <a:off x="5056" y="2736"/>
                  <a:ext cx="0" cy="24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55" name="Line 216"/>
                <p:cNvSpPr>
                  <a:spLocks noChangeShapeType="1"/>
                </p:cNvSpPr>
                <p:nvPr/>
              </p:nvSpPr>
              <p:spPr bwMode="auto">
                <a:xfrm>
                  <a:off x="5280" y="2736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56" name="Rectangle 217"/>
                <p:cNvSpPr>
                  <a:spLocks noChangeArrowheads="1"/>
                </p:cNvSpPr>
                <p:nvPr/>
              </p:nvSpPr>
              <p:spPr bwMode="auto">
                <a:xfrm>
                  <a:off x="5056" y="3271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^</a:t>
                  </a:r>
                </a:p>
              </p:txBody>
            </p:sp>
            <p:sp>
              <p:nvSpPr>
                <p:cNvPr id="43057" name="Rectangle 218"/>
                <p:cNvSpPr>
                  <a:spLocks noChangeArrowheads="1"/>
                </p:cNvSpPr>
                <p:nvPr/>
              </p:nvSpPr>
              <p:spPr bwMode="auto">
                <a:xfrm>
                  <a:off x="4832" y="3271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0</a:t>
                  </a:r>
                </a:p>
              </p:txBody>
            </p:sp>
            <p:sp>
              <p:nvSpPr>
                <p:cNvPr id="43058" name="Line 219"/>
                <p:cNvSpPr>
                  <a:spLocks noChangeShapeType="1"/>
                </p:cNvSpPr>
                <p:nvPr/>
              </p:nvSpPr>
              <p:spPr bwMode="auto">
                <a:xfrm>
                  <a:off x="4832" y="3271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59" name="Line 220"/>
                <p:cNvSpPr>
                  <a:spLocks noChangeShapeType="1"/>
                </p:cNvSpPr>
                <p:nvPr/>
              </p:nvSpPr>
              <p:spPr bwMode="auto">
                <a:xfrm>
                  <a:off x="4832" y="3520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0" name="Line 221"/>
                <p:cNvSpPr>
                  <a:spLocks noChangeShapeType="1"/>
                </p:cNvSpPr>
                <p:nvPr/>
              </p:nvSpPr>
              <p:spPr bwMode="auto">
                <a:xfrm>
                  <a:off x="4832" y="3271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1" name="Line 222"/>
                <p:cNvSpPr>
                  <a:spLocks noChangeShapeType="1"/>
                </p:cNvSpPr>
                <p:nvPr/>
              </p:nvSpPr>
              <p:spPr bwMode="auto">
                <a:xfrm>
                  <a:off x="5056" y="3271"/>
                  <a:ext cx="0" cy="24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2" name="Line 223"/>
                <p:cNvSpPr>
                  <a:spLocks noChangeShapeType="1"/>
                </p:cNvSpPr>
                <p:nvPr/>
              </p:nvSpPr>
              <p:spPr bwMode="auto">
                <a:xfrm>
                  <a:off x="5280" y="3271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3" name="Rectangle 224"/>
                <p:cNvSpPr>
                  <a:spLocks noChangeArrowheads="1"/>
                </p:cNvSpPr>
                <p:nvPr/>
              </p:nvSpPr>
              <p:spPr bwMode="auto">
                <a:xfrm>
                  <a:off x="5056" y="3520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^</a:t>
                  </a:r>
                </a:p>
              </p:txBody>
            </p:sp>
            <p:sp>
              <p:nvSpPr>
                <p:cNvPr id="43064" name="Rectangle 225"/>
                <p:cNvSpPr>
                  <a:spLocks noChangeArrowheads="1"/>
                </p:cNvSpPr>
                <p:nvPr/>
              </p:nvSpPr>
              <p:spPr bwMode="auto">
                <a:xfrm>
                  <a:off x="4832" y="3520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2</a:t>
                  </a:r>
                </a:p>
              </p:txBody>
            </p:sp>
            <p:sp>
              <p:nvSpPr>
                <p:cNvPr id="43065" name="Line 226"/>
                <p:cNvSpPr>
                  <a:spLocks noChangeShapeType="1"/>
                </p:cNvSpPr>
                <p:nvPr/>
              </p:nvSpPr>
              <p:spPr bwMode="auto">
                <a:xfrm>
                  <a:off x="4832" y="3520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6" name="Line 227"/>
                <p:cNvSpPr>
                  <a:spLocks noChangeShapeType="1"/>
                </p:cNvSpPr>
                <p:nvPr/>
              </p:nvSpPr>
              <p:spPr bwMode="auto">
                <a:xfrm>
                  <a:off x="4832" y="3769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7" name="Line 228"/>
                <p:cNvSpPr>
                  <a:spLocks noChangeShapeType="1"/>
                </p:cNvSpPr>
                <p:nvPr/>
              </p:nvSpPr>
              <p:spPr bwMode="auto">
                <a:xfrm>
                  <a:off x="4832" y="3520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8" name="Line 229"/>
                <p:cNvSpPr>
                  <a:spLocks noChangeShapeType="1"/>
                </p:cNvSpPr>
                <p:nvPr/>
              </p:nvSpPr>
              <p:spPr bwMode="auto">
                <a:xfrm>
                  <a:off x="5056" y="3520"/>
                  <a:ext cx="0" cy="24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69" name="Line 230"/>
                <p:cNvSpPr>
                  <a:spLocks noChangeShapeType="1"/>
                </p:cNvSpPr>
                <p:nvPr/>
              </p:nvSpPr>
              <p:spPr bwMode="auto">
                <a:xfrm>
                  <a:off x="5280" y="3520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0" name="Rectangle 231"/>
                <p:cNvSpPr>
                  <a:spLocks noChangeArrowheads="1"/>
                </p:cNvSpPr>
                <p:nvPr/>
              </p:nvSpPr>
              <p:spPr bwMode="auto">
                <a:xfrm>
                  <a:off x="5056" y="2992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^</a:t>
                  </a:r>
                </a:p>
              </p:txBody>
            </p:sp>
            <p:sp>
              <p:nvSpPr>
                <p:cNvPr id="43071" name="Rectangle 232"/>
                <p:cNvSpPr>
                  <a:spLocks noChangeArrowheads="1"/>
                </p:cNvSpPr>
                <p:nvPr/>
              </p:nvSpPr>
              <p:spPr bwMode="auto">
                <a:xfrm>
                  <a:off x="4832" y="2992"/>
                  <a:ext cx="224" cy="249"/>
                </a:xfrm>
                <a:prstGeom prst="rect">
                  <a:avLst/>
                </a:prstGeom>
                <a:solidFill>
                  <a:srgbClr val="CEDD8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anose="02010609030101010101" charset="-122"/>
                      <a:cs typeface="仿宋_GB2312" panose="02010609030101010101" charset="-12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r>
                    <a:rPr lang="en-US" altLang="zh-CN" sz="2000">
                      <a:solidFill>
                        <a:srgbClr val="FF3300"/>
                      </a:solidFill>
                    </a:rPr>
                    <a:t>0</a:t>
                  </a:r>
                </a:p>
              </p:txBody>
            </p:sp>
            <p:sp>
              <p:nvSpPr>
                <p:cNvPr id="43072" name="Line 233"/>
                <p:cNvSpPr>
                  <a:spLocks noChangeShapeType="1"/>
                </p:cNvSpPr>
                <p:nvPr/>
              </p:nvSpPr>
              <p:spPr bwMode="auto">
                <a:xfrm>
                  <a:off x="4832" y="2992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3" name="Line 234"/>
                <p:cNvSpPr>
                  <a:spLocks noChangeShapeType="1"/>
                </p:cNvSpPr>
                <p:nvPr/>
              </p:nvSpPr>
              <p:spPr bwMode="auto">
                <a:xfrm>
                  <a:off x="4832" y="3241"/>
                  <a:ext cx="44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4" name="Line 235"/>
                <p:cNvSpPr>
                  <a:spLocks noChangeShapeType="1"/>
                </p:cNvSpPr>
                <p:nvPr/>
              </p:nvSpPr>
              <p:spPr bwMode="auto">
                <a:xfrm>
                  <a:off x="4832" y="2992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5" name="Line 236"/>
                <p:cNvSpPr>
                  <a:spLocks noChangeShapeType="1"/>
                </p:cNvSpPr>
                <p:nvPr/>
              </p:nvSpPr>
              <p:spPr bwMode="auto">
                <a:xfrm>
                  <a:off x="5056" y="2992"/>
                  <a:ext cx="0" cy="24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6" name="Line 237"/>
                <p:cNvSpPr>
                  <a:spLocks noChangeShapeType="1"/>
                </p:cNvSpPr>
                <p:nvPr/>
              </p:nvSpPr>
              <p:spPr bwMode="auto">
                <a:xfrm>
                  <a:off x="5280" y="2992"/>
                  <a:ext cx="0" cy="24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3027" name="Text Box 238"/>
            <p:cNvSpPr txBox="1">
              <a:spLocks noChangeArrowheads="1"/>
            </p:cNvSpPr>
            <p:nvPr/>
          </p:nvSpPr>
          <p:spPr bwMode="auto">
            <a:xfrm>
              <a:off x="3971" y="513"/>
              <a:ext cx="14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hlink"/>
                  </a:solidFill>
                  <a:latin typeface="楷体_GB2312"/>
                  <a:ea typeface="楷体_GB2312"/>
                  <a:cs typeface="楷体_GB2312"/>
                </a:rPr>
                <a:t>逆邻接表</a:t>
              </a:r>
              <a:r>
                <a:rPr lang="en-US" altLang="zh-CN" sz="2400">
                  <a:solidFill>
                    <a:schemeClr val="hlink"/>
                  </a:solidFill>
                  <a:latin typeface="楷体_GB2312"/>
                  <a:ea typeface="楷体_GB2312"/>
                  <a:cs typeface="楷体_GB2312"/>
                </a:rPr>
                <a:t>(</a:t>
              </a:r>
              <a:r>
                <a:rPr lang="zh-CN" altLang="en-US" sz="2400">
                  <a:solidFill>
                    <a:schemeClr val="hlink"/>
                  </a:solidFill>
                  <a:latin typeface="楷体_GB2312"/>
                  <a:ea typeface="楷体_GB2312"/>
                  <a:cs typeface="楷体_GB2312"/>
                </a:rPr>
                <a:t>入边</a:t>
              </a:r>
              <a:r>
                <a:rPr lang="en-US" altLang="zh-CN" sz="2400">
                  <a:solidFill>
                    <a:schemeClr val="hlink"/>
                  </a:solidFill>
                  <a:latin typeface="楷体_GB2312"/>
                  <a:ea typeface="楷体_GB2312"/>
                  <a:cs typeface="楷体_GB2312"/>
                </a:rPr>
                <a:t>)</a:t>
              </a:r>
            </a:p>
          </p:txBody>
        </p:sp>
      </p:grpSp>
      <p:sp>
        <p:nvSpPr>
          <p:cNvPr id="43021" name="Rectangle 308"/>
          <p:cNvSpPr>
            <a:spLocks noChangeArrowheads="1"/>
          </p:cNvSpPr>
          <p:nvPr/>
        </p:nvSpPr>
        <p:spPr bwMode="auto">
          <a:xfrm>
            <a:off x="34925" y="0"/>
            <a:ext cx="57562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有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向图的邻接表表示</a:t>
            </a:r>
          </a:p>
        </p:txBody>
      </p:sp>
      <p:sp>
        <p:nvSpPr>
          <p:cNvPr id="959797" name="Rectangle 309"/>
          <p:cNvSpPr>
            <a:spLocks noChangeArrowheads="1"/>
          </p:cNvSpPr>
          <p:nvPr/>
        </p:nvSpPr>
        <p:spPr bwMode="auto">
          <a:xfrm>
            <a:off x="47625" y="3143250"/>
            <a:ext cx="3208338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66675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/>
                <a:ea typeface="楷体_GB2312"/>
                <a:cs typeface="楷体_GB2312"/>
              </a:rPr>
              <a:t>空间效率为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O(</a:t>
            </a:r>
            <a:r>
              <a:rPr lang="en-US" altLang="zh-CN" dirty="0" err="1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n+e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</a:t>
            </a:r>
            <a:endParaRPr lang="en-US" altLang="zh-CN" dirty="0">
              <a:solidFill>
                <a:schemeClr val="tx2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959798" name="Rectangle 310"/>
          <p:cNvSpPr>
            <a:spLocks noChangeArrowheads="1"/>
          </p:cNvSpPr>
          <p:nvPr/>
        </p:nvSpPr>
        <p:spPr bwMode="auto">
          <a:xfrm>
            <a:off x="292100" y="3817938"/>
            <a:ext cx="1778000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zh-CN" altLang="en-US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出度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入度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度：</a:t>
            </a:r>
          </a:p>
        </p:txBody>
      </p:sp>
      <p:sp>
        <p:nvSpPr>
          <p:cNvPr id="959800" name="Rectangle 312"/>
          <p:cNvSpPr>
            <a:spLocks noChangeArrowheads="1"/>
          </p:cNvSpPr>
          <p:nvPr/>
        </p:nvSpPr>
        <p:spPr bwMode="auto">
          <a:xfrm>
            <a:off x="1416050" y="3914775"/>
            <a:ext cx="685641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OD(Vi)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＝单链出边表中链接的结点数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ID(Vi)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＝邻接点域为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Vi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的弧个数</a:t>
            </a:r>
          </a:p>
        </p:txBody>
      </p:sp>
      <p:sp>
        <p:nvSpPr>
          <p:cNvPr id="959801" name="Rectangle 313"/>
          <p:cNvSpPr>
            <a:spLocks noChangeArrowheads="1"/>
          </p:cNvSpPr>
          <p:nvPr/>
        </p:nvSpPr>
        <p:spPr bwMode="auto">
          <a:xfrm>
            <a:off x="1263650" y="4946650"/>
            <a:ext cx="477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TD(Vi) = OD( Vi )  +  I D( Vi 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399B9B-DEB0-8AA4-7504-CA0FD0B224DC}"/>
              </a:ext>
            </a:extLst>
          </p:cNvPr>
          <p:cNvSpPr txBox="1"/>
          <p:nvPr/>
        </p:nvSpPr>
        <p:spPr>
          <a:xfrm>
            <a:off x="4781551" y="3143250"/>
            <a:ext cx="3490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出入边分开表示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Rot="1" noChangeArrowheads="1"/>
          </p:cNvSpPr>
          <p:nvPr/>
        </p:nvSpPr>
        <p:spPr bwMode="auto">
          <a:xfrm>
            <a:off x="179388" y="1628775"/>
            <a:ext cx="878522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CN" sz="4000">
              <a:latin typeface="楷体_GB2312"/>
              <a:ea typeface="楷体_GB2312"/>
              <a:cs typeface="楷体_GB2312"/>
            </a:endParaRP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）输入总顶点数和总边数。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）依次输入点的信息存入顶点表中，使每个表头结点的指针域初始化为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NULL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3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）创建邻接表。 </a:t>
            </a:r>
          </a:p>
        </p:txBody>
      </p:sp>
      <p:sp>
        <p:nvSpPr>
          <p:cNvPr id="45059" name="Rectangle 5"/>
          <p:cNvSpPr>
            <a:spLocks noChangeArrowheads="1"/>
          </p:cNvSpPr>
          <p:nvPr/>
        </p:nvSpPr>
        <p:spPr bwMode="auto">
          <a:xfrm>
            <a:off x="179388" y="765175"/>
            <a:ext cx="3775075" cy="6064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400">
                <a:ea typeface="楷体_GB2312"/>
                <a:cs typeface="楷体_GB2312"/>
              </a:rPr>
              <a:t>【</a:t>
            </a:r>
            <a:r>
              <a:rPr lang="zh-CN" altLang="en-US" sz="4400">
                <a:ea typeface="楷体_GB2312"/>
                <a:cs typeface="楷体_GB2312"/>
              </a:rPr>
              <a:t>算法思想</a:t>
            </a:r>
            <a:r>
              <a:rPr lang="en-US" altLang="zh-CN" sz="4400">
                <a:ea typeface="楷体_GB2312"/>
                <a:cs typeface="楷体_GB2312"/>
              </a:rPr>
              <a:t>】</a:t>
            </a:r>
          </a:p>
        </p:txBody>
      </p:sp>
      <p:sp>
        <p:nvSpPr>
          <p:cNvPr id="45060" name="Rectangle 6"/>
          <p:cNvSpPr>
            <a:spLocks noChangeArrowheads="1"/>
          </p:cNvSpPr>
          <p:nvPr/>
        </p:nvSpPr>
        <p:spPr bwMode="auto">
          <a:xfrm>
            <a:off x="39688" y="0"/>
            <a:ext cx="60452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采用邻接表表示法创建无向网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40" name="Rectangle 4"/>
          <p:cNvSpPr>
            <a:spLocks noChangeArrowheads="1"/>
          </p:cNvSpPr>
          <p:nvPr/>
        </p:nvSpPr>
        <p:spPr bwMode="auto">
          <a:xfrm>
            <a:off x="149225" y="1000125"/>
            <a:ext cx="8207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优点：</a:t>
            </a:r>
            <a:r>
              <a:rPr lang="zh-CN" altLang="en-US">
                <a:ea typeface="楷体_GB2312"/>
                <a:cs typeface="楷体_GB2312"/>
              </a:rPr>
              <a:t>空间效率高，容易寻找顶点的邻接点；</a:t>
            </a:r>
          </a:p>
        </p:txBody>
      </p:sp>
      <p:sp>
        <p:nvSpPr>
          <p:cNvPr id="961541" name="Rectangle 5"/>
          <p:cNvSpPr>
            <a:spLocks noChangeArrowheads="1"/>
          </p:cNvSpPr>
          <p:nvPr/>
        </p:nvSpPr>
        <p:spPr bwMode="auto">
          <a:xfrm>
            <a:off x="179388" y="1844675"/>
            <a:ext cx="8032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缺点：</a:t>
            </a:r>
            <a:r>
              <a:rPr lang="zh-CN" altLang="en-US" dirty="0">
                <a:ea typeface="楷体_GB2312"/>
                <a:cs typeface="楷体_GB2312"/>
              </a:rPr>
              <a:t>判断两顶点间是否有边或弧，</a:t>
            </a:r>
            <a:r>
              <a:rPr lang="zh-CN" altLang="en-US" dirty="0">
                <a:highlight>
                  <a:srgbClr val="00FF00"/>
                </a:highlight>
                <a:ea typeface="楷体_GB2312"/>
                <a:cs typeface="楷体_GB2312"/>
              </a:rPr>
              <a:t>需搜索两结点对应的单链表</a:t>
            </a:r>
            <a:r>
              <a:rPr lang="zh-CN" altLang="en-US" dirty="0">
                <a:ea typeface="楷体_GB2312"/>
                <a:cs typeface="楷体_GB2312"/>
              </a:rPr>
              <a:t>，没有邻接矩阵方便。</a:t>
            </a:r>
          </a:p>
        </p:txBody>
      </p:sp>
      <p:sp>
        <p:nvSpPr>
          <p:cNvPr id="47108" name="Rectangle 6"/>
          <p:cNvSpPr>
            <a:spLocks noChangeArrowheads="1"/>
          </p:cNvSpPr>
          <p:nvPr/>
        </p:nvSpPr>
        <p:spPr bwMode="auto">
          <a:xfrm>
            <a:off x="39688" y="0"/>
            <a:ext cx="64039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邻接表表示法的特点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10"/>
          <p:cNvGrpSpPr/>
          <p:nvPr/>
        </p:nvGrpSpPr>
        <p:grpSpPr bwMode="auto">
          <a:xfrm>
            <a:off x="63500" y="655638"/>
            <a:ext cx="2146300" cy="1295400"/>
            <a:chOff x="40" y="413"/>
            <a:chExt cx="1352" cy="816"/>
          </a:xfrm>
        </p:grpSpPr>
        <p:sp>
          <p:nvSpPr>
            <p:cNvPr id="48309" name="Oval 5"/>
            <p:cNvSpPr>
              <a:spLocks noChangeArrowheads="1"/>
            </p:cNvSpPr>
            <p:nvPr/>
          </p:nvSpPr>
          <p:spPr bwMode="auto">
            <a:xfrm>
              <a:off x="40" y="441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48310" name="Oval 6"/>
            <p:cNvSpPr>
              <a:spLocks noChangeArrowheads="1"/>
            </p:cNvSpPr>
            <p:nvPr/>
          </p:nvSpPr>
          <p:spPr bwMode="auto">
            <a:xfrm>
              <a:off x="976" y="413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48311" name="Oval 7"/>
            <p:cNvSpPr>
              <a:spLocks noChangeArrowheads="1"/>
            </p:cNvSpPr>
            <p:nvPr/>
          </p:nvSpPr>
          <p:spPr bwMode="auto">
            <a:xfrm>
              <a:off x="508" y="723"/>
              <a:ext cx="312" cy="1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48312" name="Oval 8"/>
            <p:cNvSpPr>
              <a:spLocks noChangeArrowheads="1"/>
            </p:cNvSpPr>
            <p:nvPr/>
          </p:nvSpPr>
          <p:spPr bwMode="auto">
            <a:xfrm>
              <a:off x="1080" y="1032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48313" name="Line 9"/>
            <p:cNvSpPr>
              <a:spLocks noChangeShapeType="1"/>
            </p:cNvSpPr>
            <p:nvPr/>
          </p:nvSpPr>
          <p:spPr bwMode="auto">
            <a:xfrm>
              <a:off x="352" y="526"/>
              <a:ext cx="62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4" name="Line 10"/>
            <p:cNvSpPr>
              <a:spLocks noChangeShapeType="1"/>
            </p:cNvSpPr>
            <p:nvPr/>
          </p:nvSpPr>
          <p:spPr bwMode="auto">
            <a:xfrm flipH="1">
              <a:off x="196" y="638"/>
              <a:ext cx="0" cy="36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5" name="Line 11"/>
            <p:cNvSpPr>
              <a:spLocks noChangeShapeType="1"/>
            </p:cNvSpPr>
            <p:nvPr/>
          </p:nvSpPr>
          <p:spPr bwMode="auto">
            <a:xfrm>
              <a:off x="352" y="1145"/>
              <a:ext cx="72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6" name="Line 12"/>
            <p:cNvSpPr>
              <a:spLocks noChangeShapeType="1"/>
            </p:cNvSpPr>
            <p:nvPr/>
          </p:nvSpPr>
          <p:spPr bwMode="auto">
            <a:xfrm>
              <a:off x="820" y="891"/>
              <a:ext cx="364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7" name="Oval 13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rgbClr val="111147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rgbClr val="CDE5F3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48318" name="Line 14"/>
            <p:cNvSpPr>
              <a:spLocks noChangeShapeType="1"/>
            </p:cNvSpPr>
            <p:nvPr/>
          </p:nvSpPr>
          <p:spPr bwMode="auto">
            <a:xfrm flipH="1">
              <a:off x="300" y="891"/>
              <a:ext cx="260" cy="14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9" name="Line 15"/>
            <p:cNvSpPr>
              <a:spLocks noChangeShapeType="1"/>
            </p:cNvSpPr>
            <p:nvPr/>
          </p:nvSpPr>
          <p:spPr bwMode="auto">
            <a:xfrm flipH="1">
              <a:off x="768" y="582"/>
              <a:ext cx="260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20" name="Line 16"/>
            <p:cNvSpPr>
              <a:spLocks noChangeShapeType="1"/>
            </p:cNvSpPr>
            <p:nvPr/>
          </p:nvSpPr>
          <p:spPr bwMode="auto">
            <a:xfrm>
              <a:off x="1184" y="610"/>
              <a:ext cx="0" cy="42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21" name="Oval 17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</p:grpSp>
      <p:grpSp>
        <p:nvGrpSpPr>
          <p:cNvPr id="48131" name="Group 196"/>
          <p:cNvGrpSpPr/>
          <p:nvPr/>
        </p:nvGrpSpPr>
        <p:grpSpPr bwMode="auto">
          <a:xfrm>
            <a:off x="2984500" y="765175"/>
            <a:ext cx="5257800" cy="2371725"/>
            <a:chOff x="2120" y="606"/>
            <a:chExt cx="3312" cy="1494"/>
          </a:xfrm>
        </p:grpSpPr>
        <p:sp>
          <p:nvSpPr>
            <p:cNvPr id="48142" name="Rectangle 18"/>
            <p:cNvSpPr>
              <a:spLocks noChangeArrowheads="1"/>
            </p:cNvSpPr>
            <p:nvPr/>
          </p:nvSpPr>
          <p:spPr bwMode="auto">
            <a:xfrm>
              <a:off x="2760" y="1754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="0"/>
            </a:p>
          </p:txBody>
        </p:sp>
        <p:sp>
          <p:nvSpPr>
            <p:cNvPr id="48143" name="Rectangle 19"/>
            <p:cNvSpPr>
              <a:spLocks noChangeArrowheads="1"/>
            </p:cNvSpPr>
            <p:nvPr/>
          </p:nvSpPr>
          <p:spPr bwMode="auto">
            <a:xfrm>
              <a:off x="2456" y="1754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aseline="-25000">
                <a:solidFill>
                  <a:srgbClr val="0000FF"/>
                </a:solidFill>
              </a:endParaRPr>
            </a:p>
          </p:txBody>
        </p:sp>
        <p:sp>
          <p:nvSpPr>
            <p:cNvPr id="48144" name="Rectangle 20"/>
            <p:cNvSpPr>
              <a:spLocks noChangeArrowheads="1"/>
            </p:cNvSpPr>
            <p:nvPr/>
          </p:nvSpPr>
          <p:spPr bwMode="auto">
            <a:xfrm>
              <a:off x="2760" y="1467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="0"/>
            </a:p>
          </p:txBody>
        </p:sp>
        <p:sp>
          <p:nvSpPr>
            <p:cNvPr id="48145" name="Rectangle 21"/>
            <p:cNvSpPr>
              <a:spLocks noChangeArrowheads="1"/>
            </p:cNvSpPr>
            <p:nvPr/>
          </p:nvSpPr>
          <p:spPr bwMode="auto">
            <a:xfrm>
              <a:off x="2456" y="1467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aseline="-25000">
                <a:solidFill>
                  <a:srgbClr val="0000FF"/>
                </a:solidFill>
              </a:endParaRPr>
            </a:p>
          </p:txBody>
        </p:sp>
        <p:sp>
          <p:nvSpPr>
            <p:cNvPr id="48146" name="Rectangle 22"/>
            <p:cNvSpPr>
              <a:spLocks noChangeArrowheads="1"/>
            </p:cNvSpPr>
            <p:nvPr/>
          </p:nvSpPr>
          <p:spPr bwMode="auto">
            <a:xfrm>
              <a:off x="2760" y="1180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="0"/>
            </a:p>
          </p:txBody>
        </p:sp>
        <p:sp>
          <p:nvSpPr>
            <p:cNvPr id="48147" name="Rectangle 23"/>
            <p:cNvSpPr>
              <a:spLocks noChangeArrowheads="1"/>
            </p:cNvSpPr>
            <p:nvPr/>
          </p:nvSpPr>
          <p:spPr bwMode="auto">
            <a:xfrm>
              <a:off x="2456" y="1180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aseline="-25000">
                <a:solidFill>
                  <a:srgbClr val="0000FF"/>
                </a:solidFill>
              </a:endParaRPr>
            </a:p>
          </p:txBody>
        </p:sp>
        <p:sp>
          <p:nvSpPr>
            <p:cNvPr id="48148" name="Rectangle 24"/>
            <p:cNvSpPr>
              <a:spLocks noChangeArrowheads="1"/>
            </p:cNvSpPr>
            <p:nvPr/>
          </p:nvSpPr>
          <p:spPr bwMode="auto">
            <a:xfrm>
              <a:off x="2760" y="893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="0"/>
            </a:p>
          </p:txBody>
        </p:sp>
        <p:sp>
          <p:nvSpPr>
            <p:cNvPr id="48149" name="Rectangle 25"/>
            <p:cNvSpPr>
              <a:spLocks noChangeArrowheads="1"/>
            </p:cNvSpPr>
            <p:nvPr/>
          </p:nvSpPr>
          <p:spPr bwMode="auto">
            <a:xfrm>
              <a:off x="2456" y="893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aseline="-25000">
                <a:solidFill>
                  <a:srgbClr val="0000FF"/>
                </a:solidFill>
              </a:endParaRPr>
            </a:p>
          </p:txBody>
        </p:sp>
        <p:sp>
          <p:nvSpPr>
            <p:cNvPr id="48150" name="Rectangle 26"/>
            <p:cNvSpPr>
              <a:spLocks noChangeArrowheads="1"/>
            </p:cNvSpPr>
            <p:nvPr/>
          </p:nvSpPr>
          <p:spPr bwMode="auto">
            <a:xfrm>
              <a:off x="2760" y="606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="0"/>
            </a:p>
          </p:txBody>
        </p:sp>
        <p:sp>
          <p:nvSpPr>
            <p:cNvPr id="48151" name="Rectangle 27"/>
            <p:cNvSpPr>
              <a:spLocks noChangeArrowheads="1"/>
            </p:cNvSpPr>
            <p:nvPr/>
          </p:nvSpPr>
          <p:spPr bwMode="auto">
            <a:xfrm>
              <a:off x="2456" y="606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400" baseline="-25000">
                <a:solidFill>
                  <a:srgbClr val="0000FF"/>
                </a:solidFill>
              </a:endParaRPr>
            </a:p>
          </p:txBody>
        </p:sp>
        <p:sp>
          <p:nvSpPr>
            <p:cNvPr id="48152" name="Line 28"/>
            <p:cNvSpPr>
              <a:spLocks noChangeShapeType="1"/>
            </p:cNvSpPr>
            <p:nvPr/>
          </p:nvSpPr>
          <p:spPr bwMode="auto">
            <a:xfrm>
              <a:off x="2456" y="606"/>
              <a:ext cx="0" cy="143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3" name="Line 29"/>
            <p:cNvSpPr>
              <a:spLocks noChangeShapeType="1"/>
            </p:cNvSpPr>
            <p:nvPr/>
          </p:nvSpPr>
          <p:spPr bwMode="auto">
            <a:xfrm>
              <a:off x="2760" y="606"/>
              <a:ext cx="0" cy="143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4" name="Line 30"/>
            <p:cNvSpPr>
              <a:spLocks noChangeShapeType="1"/>
            </p:cNvSpPr>
            <p:nvPr/>
          </p:nvSpPr>
          <p:spPr bwMode="auto">
            <a:xfrm>
              <a:off x="3080" y="606"/>
              <a:ext cx="0" cy="1435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5" name="Line 31"/>
            <p:cNvSpPr>
              <a:spLocks noChangeShapeType="1"/>
            </p:cNvSpPr>
            <p:nvPr/>
          </p:nvSpPr>
          <p:spPr bwMode="auto">
            <a:xfrm>
              <a:off x="2456" y="606"/>
              <a:ext cx="624" cy="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6" name="Line 32"/>
            <p:cNvSpPr>
              <a:spLocks noChangeShapeType="1"/>
            </p:cNvSpPr>
            <p:nvPr/>
          </p:nvSpPr>
          <p:spPr bwMode="auto">
            <a:xfrm>
              <a:off x="2456" y="893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Line 33"/>
            <p:cNvSpPr>
              <a:spLocks noChangeShapeType="1"/>
            </p:cNvSpPr>
            <p:nvPr/>
          </p:nvSpPr>
          <p:spPr bwMode="auto">
            <a:xfrm>
              <a:off x="2456" y="1180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Line 34"/>
            <p:cNvSpPr>
              <a:spLocks noChangeShapeType="1"/>
            </p:cNvSpPr>
            <p:nvPr/>
          </p:nvSpPr>
          <p:spPr bwMode="auto">
            <a:xfrm>
              <a:off x="2456" y="1467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9" name="Line 35"/>
            <p:cNvSpPr>
              <a:spLocks noChangeShapeType="1"/>
            </p:cNvSpPr>
            <p:nvPr/>
          </p:nvSpPr>
          <p:spPr bwMode="auto">
            <a:xfrm>
              <a:off x="2456" y="1754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Line 36"/>
            <p:cNvSpPr>
              <a:spLocks noChangeShapeType="1"/>
            </p:cNvSpPr>
            <p:nvPr/>
          </p:nvSpPr>
          <p:spPr bwMode="auto">
            <a:xfrm>
              <a:off x="2456" y="2041"/>
              <a:ext cx="624" cy="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Rectangle 38"/>
            <p:cNvSpPr>
              <a:spLocks noChangeArrowheads="1"/>
            </p:cNvSpPr>
            <p:nvPr/>
          </p:nvSpPr>
          <p:spPr bwMode="auto">
            <a:xfrm>
              <a:off x="2120" y="1765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zh-CN" sz="2400" b="0"/>
                <a:t>4</a:t>
              </a:r>
            </a:p>
          </p:txBody>
        </p:sp>
        <p:sp>
          <p:nvSpPr>
            <p:cNvPr id="48162" name="Rectangle 39"/>
            <p:cNvSpPr>
              <a:spLocks noChangeArrowheads="1"/>
            </p:cNvSpPr>
            <p:nvPr/>
          </p:nvSpPr>
          <p:spPr bwMode="auto">
            <a:xfrm>
              <a:off x="2120" y="1478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zh-CN" sz="2400" b="0"/>
                <a:t>3</a:t>
              </a:r>
            </a:p>
          </p:txBody>
        </p:sp>
        <p:sp>
          <p:nvSpPr>
            <p:cNvPr id="48163" name="Rectangle 40"/>
            <p:cNvSpPr>
              <a:spLocks noChangeArrowheads="1"/>
            </p:cNvSpPr>
            <p:nvPr/>
          </p:nvSpPr>
          <p:spPr bwMode="auto">
            <a:xfrm>
              <a:off x="2120" y="1191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zh-CN" sz="2400" b="0"/>
                <a:t>2</a:t>
              </a:r>
            </a:p>
          </p:txBody>
        </p:sp>
        <p:sp>
          <p:nvSpPr>
            <p:cNvPr id="48164" name="Rectangle 41"/>
            <p:cNvSpPr>
              <a:spLocks noChangeArrowheads="1"/>
            </p:cNvSpPr>
            <p:nvPr/>
          </p:nvSpPr>
          <p:spPr bwMode="auto">
            <a:xfrm>
              <a:off x="2120" y="904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8165" name="Rectangle 42"/>
            <p:cNvSpPr>
              <a:spLocks noChangeArrowheads="1"/>
            </p:cNvSpPr>
            <p:nvPr/>
          </p:nvSpPr>
          <p:spPr bwMode="auto">
            <a:xfrm>
              <a:off x="2120" y="617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8166" name="Line 43"/>
            <p:cNvSpPr>
              <a:spLocks noChangeShapeType="1"/>
            </p:cNvSpPr>
            <p:nvPr/>
          </p:nvSpPr>
          <p:spPr bwMode="auto">
            <a:xfrm>
              <a:off x="2120" y="617"/>
              <a:ext cx="336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Line 44"/>
            <p:cNvSpPr>
              <a:spLocks noChangeShapeType="1"/>
            </p:cNvSpPr>
            <p:nvPr/>
          </p:nvSpPr>
          <p:spPr bwMode="auto">
            <a:xfrm>
              <a:off x="2120" y="2052"/>
              <a:ext cx="336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Line 45"/>
            <p:cNvSpPr>
              <a:spLocks noChangeShapeType="1"/>
            </p:cNvSpPr>
            <p:nvPr/>
          </p:nvSpPr>
          <p:spPr bwMode="auto">
            <a:xfrm>
              <a:off x="2120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9" name="Line 46"/>
            <p:cNvSpPr>
              <a:spLocks noChangeShapeType="1"/>
            </p:cNvSpPr>
            <p:nvPr/>
          </p:nvSpPr>
          <p:spPr bwMode="auto">
            <a:xfrm>
              <a:off x="2456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0" name="Line 47"/>
            <p:cNvSpPr>
              <a:spLocks noChangeShapeType="1"/>
            </p:cNvSpPr>
            <p:nvPr/>
          </p:nvSpPr>
          <p:spPr bwMode="auto">
            <a:xfrm>
              <a:off x="2120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1" name="Line 48"/>
            <p:cNvSpPr>
              <a:spLocks noChangeShapeType="1"/>
            </p:cNvSpPr>
            <p:nvPr/>
          </p:nvSpPr>
          <p:spPr bwMode="auto">
            <a:xfrm>
              <a:off x="2456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Line 49"/>
            <p:cNvSpPr>
              <a:spLocks noChangeShapeType="1"/>
            </p:cNvSpPr>
            <p:nvPr/>
          </p:nvSpPr>
          <p:spPr bwMode="auto">
            <a:xfrm>
              <a:off x="2120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Line 50"/>
            <p:cNvSpPr>
              <a:spLocks noChangeShapeType="1"/>
            </p:cNvSpPr>
            <p:nvPr/>
          </p:nvSpPr>
          <p:spPr bwMode="auto">
            <a:xfrm>
              <a:off x="2456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Line 51"/>
            <p:cNvSpPr>
              <a:spLocks noChangeShapeType="1"/>
            </p:cNvSpPr>
            <p:nvPr/>
          </p:nvSpPr>
          <p:spPr bwMode="auto">
            <a:xfrm>
              <a:off x="2120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5" name="Line 52"/>
            <p:cNvSpPr>
              <a:spLocks noChangeShapeType="1"/>
            </p:cNvSpPr>
            <p:nvPr/>
          </p:nvSpPr>
          <p:spPr bwMode="auto">
            <a:xfrm>
              <a:off x="2456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6" name="Line 53"/>
            <p:cNvSpPr>
              <a:spLocks noChangeShapeType="1"/>
            </p:cNvSpPr>
            <p:nvPr/>
          </p:nvSpPr>
          <p:spPr bwMode="auto">
            <a:xfrm>
              <a:off x="2120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Line 54"/>
            <p:cNvSpPr>
              <a:spLocks noChangeShapeType="1"/>
            </p:cNvSpPr>
            <p:nvPr/>
          </p:nvSpPr>
          <p:spPr bwMode="auto">
            <a:xfrm>
              <a:off x="2456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8" name="Line 55"/>
            <p:cNvSpPr>
              <a:spLocks noChangeShapeType="1"/>
            </p:cNvSpPr>
            <p:nvPr/>
          </p:nvSpPr>
          <p:spPr bwMode="auto">
            <a:xfrm>
              <a:off x="2984" y="75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9" name="Line 56"/>
            <p:cNvSpPr>
              <a:spLocks noChangeShapeType="1"/>
            </p:cNvSpPr>
            <p:nvPr/>
          </p:nvSpPr>
          <p:spPr bwMode="auto">
            <a:xfrm>
              <a:off x="2984" y="1620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0" name="Line 57"/>
            <p:cNvSpPr>
              <a:spLocks noChangeShapeType="1"/>
            </p:cNvSpPr>
            <p:nvPr/>
          </p:nvSpPr>
          <p:spPr bwMode="auto">
            <a:xfrm>
              <a:off x="2984" y="190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Line 58"/>
            <p:cNvSpPr>
              <a:spLocks noChangeShapeType="1"/>
            </p:cNvSpPr>
            <p:nvPr/>
          </p:nvSpPr>
          <p:spPr bwMode="auto">
            <a:xfrm>
              <a:off x="2984" y="104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Line 59"/>
            <p:cNvSpPr>
              <a:spLocks noChangeShapeType="1"/>
            </p:cNvSpPr>
            <p:nvPr/>
          </p:nvSpPr>
          <p:spPr bwMode="auto">
            <a:xfrm>
              <a:off x="2984" y="13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Rectangle 61"/>
            <p:cNvSpPr>
              <a:spLocks noChangeArrowheads="1"/>
            </p:cNvSpPr>
            <p:nvPr/>
          </p:nvSpPr>
          <p:spPr bwMode="auto">
            <a:xfrm>
              <a:off x="4376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8184" name="Rectangle 62"/>
            <p:cNvSpPr>
              <a:spLocks noChangeArrowheads="1"/>
            </p:cNvSpPr>
            <p:nvPr/>
          </p:nvSpPr>
          <p:spPr bwMode="auto">
            <a:xfrm>
              <a:off x="4088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8185" name="Line 63"/>
            <p:cNvSpPr>
              <a:spLocks noChangeShapeType="1"/>
            </p:cNvSpPr>
            <p:nvPr/>
          </p:nvSpPr>
          <p:spPr bwMode="auto">
            <a:xfrm>
              <a:off x="4088" y="6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6" name="Line 64"/>
            <p:cNvSpPr>
              <a:spLocks noChangeShapeType="1"/>
            </p:cNvSpPr>
            <p:nvPr/>
          </p:nvSpPr>
          <p:spPr bwMode="auto">
            <a:xfrm>
              <a:off x="4088" y="9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7" name="Line 65"/>
            <p:cNvSpPr>
              <a:spLocks noChangeShapeType="1"/>
            </p:cNvSpPr>
            <p:nvPr/>
          </p:nvSpPr>
          <p:spPr bwMode="auto">
            <a:xfrm>
              <a:off x="4088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8" name="Line 66"/>
            <p:cNvSpPr>
              <a:spLocks noChangeShapeType="1"/>
            </p:cNvSpPr>
            <p:nvPr/>
          </p:nvSpPr>
          <p:spPr bwMode="auto">
            <a:xfrm>
              <a:off x="4376" y="6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9" name="Line 67"/>
            <p:cNvSpPr>
              <a:spLocks noChangeShapeType="1"/>
            </p:cNvSpPr>
            <p:nvPr/>
          </p:nvSpPr>
          <p:spPr bwMode="auto">
            <a:xfrm>
              <a:off x="4664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0" name="Rectangle 68"/>
            <p:cNvSpPr>
              <a:spLocks noChangeArrowheads="1"/>
            </p:cNvSpPr>
            <p:nvPr/>
          </p:nvSpPr>
          <p:spPr bwMode="auto">
            <a:xfrm>
              <a:off x="3608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191" name="Rectangle 69"/>
            <p:cNvSpPr>
              <a:spLocks noChangeArrowheads="1"/>
            </p:cNvSpPr>
            <p:nvPr/>
          </p:nvSpPr>
          <p:spPr bwMode="auto">
            <a:xfrm>
              <a:off x="3320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8192" name="Line 70"/>
            <p:cNvSpPr>
              <a:spLocks noChangeShapeType="1"/>
            </p:cNvSpPr>
            <p:nvPr/>
          </p:nvSpPr>
          <p:spPr bwMode="auto">
            <a:xfrm>
              <a:off x="3320" y="6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3" name="Line 71"/>
            <p:cNvSpPr>
              <a:spLocks noChangeShapeType="1"/>
            </p:cNvSpPr>
            <p:nvPr/>
          </p:nvSpPr>
          <p:spPr bwMode="auto">
            <a:xfrm>
              <a:off x="3320" y="9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4" name="Line 72"/>
            <p:cNvSpPr>
              <a:spLocks noChangeShapeType="1"/>
            </p:cNvSpPr>
            <p:nvPr/>
          </p:nvSpPr>
          <p:spPr bwMode="auto">
            <a:xfrm>
              <a:off x="3320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5" name="Line 73"/>
            <p:cNvSpPr>
              <a:spLocks noChangeShapeType="1"/>
            </p:cNvSpPr>
            <p:nvPr/>
          </p:nvSpPr>
          <p:spPr bwMode="auto">
            <a:xfrm>
              <a:off x="3608" y="6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Line 74"/>
            <p:cNvSpPr>
              <a:spLocks noChangeShapeType="1"/>
            </p:cNvSpPr>
            <p:nvPr/>
          </p:nvSpPr>
          <p:spPr bwMode="auto">
            <a:xfrm>
              <a:off x="3896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7" name="Line 75"/>
            <p:cNvSpPr>
              <a:spLocks noChangeShapeType="1"/>
            </p:cNvSpPr>
            <p:nvPr/>
          </p:nvSpPr>
          <p:spPr bwMode="auto">
            <a:xfrm>
              <a:off x="3752" y="795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Rectangle 77"/>
            <p:cNvSpPr>
              <a:spLocks noChangeArrowheads="1"/>
            </p:cNvSpPr>
            <p:nvPr/>
          </p:nvSpPr>
          <p:spPr bwMode="auto">
            <a:xfrm>
              <a:off x="4376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199" name="Rectangle 78"/>
            <p:cNvSpPr>
              <a:spLocks noChangeArrowheads="1"/>
            </p:cNvSpPr>
            <p:nvPr/>
          </p:nvSpPr>
          <p:spPr bwMode="auto">
            <a:xfrm>
              <a:off x="4088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8200" name="Line 79"/>
            <p:cNvSpPr>
              <a:spLocks noChangeShapeType="1"/>
            </p:cNvSpPr>
            <p:nvPr/>
          </p:nvSpPr>
          <p:spPr bwMode="auto">
            <a:xfrm>
              <a:off x="4088" y="147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Line 80"/>
            <p:cNvSpPr>
              <a:spLocks noChangeShapeType="1"/>
            </p:cNvSpPr>
            <p:nvPr/>
          </p:nvSpPr>
          <p:spPr bwMode="auto">
            <a:xfrm>
              <a:off x="4088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2" name="Line 81"/>
            <p:cNvSpPr>
              <a:spLocks noChangeShapeType="1"/>
            </p:cNvSpPr>
            <p:nvPr/>
          </p:nvSpPr>
          <p:spPr bwMode="auto">
            <a:xfrm>
              <a:off x="4376" y="122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Line 82"/>
            <p:cNvSpPr>
              <a:spLocks noChangeShapeType="1"/>
            </p:cNvSpPr>
            <p:nvPr/>
          </p:nvSpPr>
          <p:spPr bwMode="auto">
            <a:xfrm>
              <a:off x="4664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Rectangle 83"/>
            <p:cNvSpPr>
              <a:spLocks noChangeArrowheads="1"/>
            </p:cNvSpPr>
            <p:nvPr/>
          </p:nvSpPr>
          <p:spPr bwMode="auto">
            <a:xfrm>
              <a:off x="3608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05" name="Rectangle 84"/>
            <p:cNvSpPr>
              <a:spLocks noChangeArrowheads="1"/>
            </p:cNvSpPr>
            <p:nvPr/>
          </p:nvSpPr>
          <p:spPr bwMode="auto">
            <a:xfrm>
              <a:off x="3320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8206" name="Line 85"/>
            <p:cNvSpPr>
              <a:spLocks noChangeShapeType="1"/>
            </p:cNvSpPr>
            <p:nvPr/>
          </p:nvSpPr>
          <p:spPr bwMode="auto">
            <a:xfrm>
              <a:off x="3320" y="122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7" name="Line 86"/>
            <p:cNvSpPr>
              <a:spLocks noChangeShapeType="1"/>
            </p:cNvSpPr>
            <p:nvPr/>
          </p:nvSpPr>
          <p:spPr bwMode="auto">
            <a:xfrm>
              <a:off x="3320" y="147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8" name="Line 87"/>
            <p:cNvSpPr>
              <a:spLocks noChangeShapeType="1"/>
            </p:cNvSpPr>
            <p:nvPr/>
          </p:nvSpPr>
          <p:spPr bwMode="auto">
            <a:xfrm>
              <a:off x="3320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9" name="Line 88"/>
            <p:cNvSpPr>
              <a:spLocks noChangeShapeType="1"/>
            </p:cNvSpPr>
            <p:nvPr/>
          </p:nvSpPr>
          <p:spPr bwMode="auto">
            <a:xfrm>
              <a:off x="3608" y="122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0" name="Line 89"/>
            <p:cNvSpPr>
              <a:spLocks noChangeShapeType="1"/>
            </p:cNvSpPr>
            <p:nvPr/>
          </p:nvSpPr>
          <p:spPr bwMode="auto">
            <a:xfrm>
              <a:off x="3896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1" name="Rectangle 90"/>
            <p:cNvSpPr>
              <a:spLocks noChangeArrowheads="1"/>
            </p:cNvSpPr>
            <p:nvPr/>
          </p:nvSpPr>
          <p:spPr bwMode="auto">
            <a:xfrm>
              <a:off x="5144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8212" name="Rectangle 91"/>
            <p:cNvSpPr>
              <a:spLocks noChangeArrowheads="1"/>
            </p:cNvSpPr>
            <p:nvPr/>
          </p:nvSpPr>
          <p:spPr bwMode="auto">
            <a:xfrm>
              <a:off x="4856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8213" name="Line 92"/>
            <p:cNvSpPr>
              <a:spLocks noChangeShapeType="1"/>
            </p:cNvSpPr>
            <p:nvPr/>
          </p:nvSpPr>
          <p:spPr bwMode="auto">
            <a:xfrm>
              <a:off x="4856" y="122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4" name="Line 93"/>
            <p:cNvSpPr>
              <a:spLocks noChangeShapeType="1"/>
            </p:cNvSpPr>
            <p:nvPr/>
          </p:nvSpPr>
          <p:spPr bwMode="auto">
            <a:xfrm>
              <a:off x="4856" y="147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5" name="Line 94"/>
            <p:cNvSpPr>
              <a:spLocks noChangeShapeType="1"/>
            </p:cNvSpPr>
            <p:nvPr/>
          </p:nvSpPr>
          <p:spPr bwMode="auto">
            <a:xfrm>
              <a:off x="4856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6" name="Line 95"/>
            <p:cNvSpPr>
              <a:spLocks noChangeShapeType="1"/>
            </p:cNvSpPr>
            <p:nvPr/>
          </p:nvSpPr>
          <p:spPr bwMode="auto">
            <a:xfrm>
              <a:off x="5144" y="122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7" name="Line 96"/>
            <p:cNvSpPr>
              <a:spLocks noChangeShapeType="1"/>
            </p:cNvSpPr>
            <p:nvPr/>
          </p:nvSpPr>
          <p:spPr bwMode="auto">
            <a:xfrm>
              <a:off x="5432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8" name="Line 97"/>
            <p:cNvSpPr>
              <a:spLocks noChangeShapeType="1"/>
            </p:cNvSpPr>
            <p:nvPr/>
          </p:nvSpPr>
          <p:spPr bwMode="auto">
            <a:xfrm>
              <a:off x="3752" y="1371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9" name="Line 98"/>
            <p:cNvSpPr>
              <a:spLocks noChangeShapeType="1"/>
            </p:cNvSpPr>
            <p:nvPr/>
          </p:nvSpPr>
          <p:spPr bwMode="auto">
            <a:xfrm>
              <a:off x="4520" y="1371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0" name="Line 99"/>
            <p:cNvSpPr>
              <a:spLocks noChangeShapeType="1"/>
            </p:cNvSpPr>
            <p:nvPr/>
          </p:nvSpPr>
          <p:spPr bwMode="auto">
            <a:xfrm>
              <a:off x="4088" y="122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1" name="Line 101"/>
            <p:cNvSpPr>
              <a:spLocks noChangeShapeType="1"/>
            </p:cNvSpPr>
            <p:nvPr/>
          </p:nvSpPr>
          <p:spPr bwMode="auto">
            <a:xfrm>
              <a:off x="4088" y="117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2" name="Rectangle 102"/>
            <p:cNvSpPr>
              <a:spLocks noChangeArrowheads="1"/>
            </p:cNvSpPr>
            <p:nvPr/>
          </p:nvSpPr>
          <p:spPr bwMode="auto">
            <a:xfrm>
              <a:off x="3608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23" name="Rectangle 103"/>
            <p:cNvSpPr>
              <a:spLocks noChangeArrowheads="1"/>
            </p:cNvSpPr>
            <p:nvPr/>
          </p:nvSpPr>
          <p:spPr bwMode="auto">
            <a:xfrm>
              <a:off x="3320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8224" name="Line 104"/>
            <p:cNvSpPr>
              <a:spLocks noChangeShapeType="1"/>
            </p:cNvSpPr>
            <p:nvPr/>
          </p:nvSpPr>
          <p:spPr bwMode="auto">
            <a:xfrm>
              <a:off x="4088" y="93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5" name="Line 105"/>
            <p:cNvSpPr>
              <a:spLocks noChangeShapeType="1"/>
            </p:cNvSpPr>
            <p:nvPr/>
          </p:nvSpPr>
          <p:spPr bwMode="auto">
            <a:xfrm>
              <a:off x="3320" y="11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6" name="Line 106"/>
            <p:cNvSpPr>
              <a:spLocks noChangeShapeType="1"/>
            </p:cNvSpPr>
            <p:nvPr/>
          </p:nvSpPr>
          <p:spPr bwMode="auto">
            <a:xfrm>
              <a:off x="3320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7" name="Line 107"/>
            <p:cNvSpPr>
              <a:spLocks noChangeShapeType="1"/>
            </p:cNvSpPr>
            <p:nvPr/>
          </p:nvSpPr>
          <p:spPr bwMode="auto">
            <a:xfrm>
              <a:off x="3608" y="93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8" name="Line 108"/>
            <p:cNvSpPr>
              <a:spLocks noChangeShapeType="1"/>
            </p:cNvSpPr>
            <p:nvPr/>
          </p:nvSpPr>
          <p:spPr bwMode="auto">
            <a:xfrm>
              <a:off x="3896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9" name="Rectangle 109"/>
            <p:cNvSpPr>
              <a:spLocks noChangeArrowheads="1"/>
            </p:cNvSpPr>
            <p:nvPr/>
          </p:nvSpPr>
          <p:spPr bwMode="auto">
            <a:xfrm>
              <a:off x="4376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30" name="Rectangle 110"/>
            <p:cNvSpPr>
              <a:spLocks noChangeArrowheads="1"/>
            </p:cNvSpPr>
            <p:nvPr/>
          </p:nvSpPr>
          <p:spPr bwMode="auto">
            <a:xfrm>
              <a:off x="4088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8231" name="Line 111"/>
            <p:cNvSpPr>
              <a:spLocks noChangeShapeType="1"/>
            </p:cNvSpPr>
            <p:nvPr/>
          </p:nvSpPr>
          <p:spPr bwMode="auto">
            <a:xfrm>
              <a:off x="3320" y="93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2" name="Line 112"/>
            <p:cNvSpPr>
              <a:spLocks noChangeShapeType="1"/>
            </p:cNvSpPr>
            <p:nvPr/>
          </p:nvSpPr>
          <p:spPr bwMode="auto">
            <a:xfrm>
              <a:off x="4088" y="117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3" name="Line 113"/>
            <p:cNvSpPr>
              <a:spLocks noChangeShapeType="1"/>
            </p:cNvSpPr>
            <p:nvPr/>
          </p:nvSpPr>
          <p:spPr bwMode="auto">
            <a:xfrm>
              <a:off x="4088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4" name="Line 114"/>
            <p:cNvSpPr>
              <a:spLocks noChangeShapeType="1"/>
            </p:cNvSpPr>
            <p:nvPr/>
          </p:nvSpPr>
          <p:spPr bwMode="auto">
            <a:xfrm>
              <a:off x="4376" y="93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5" name="Line 115"/>
            <p:cNvSpPr>
              <a:spLocks noChangeShapeType="1"/>
            </p:cNvSpPr>
            <p:nvPr/>
          </p:nvSpPr>
          <p:spPr bwMode="auto">
            <a:xfrm>
              <a:off x="4664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6" name="Rectangle 116"/>
            <p:cNvSpPr>
              <a:spLocks noChangeArrowheads="1"/>
            </p:cNvSpPr>
            <p:nvPr/>
          </p:nvSpPr>
          <p:spPr bwMode="auto">
            <a:xfrm>
              <a:off x="5144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8237" name="Rectangle 117"/>
            <p:cNvSpPr>
              <a:spLocks noChangeArrowheads="1"/>
            </p:cNvSpPr>
            <p:nvPr/>
          </p:nvSpPr>
          <p:spPr bwMode="auto">
            <a:xfrm>
              <a:off x="4856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48238" name="Line 118"/>
            <p:cNvSpPr>
              <a:spLocks noChangeShapeType="1"/>
            </p:cNvSpPr>
            <p:nvPr/>
          </p:nvSpPr>
          <p:spPr bwMode="auto">
            <a:xfrm>
              <a:off x="4856" y="93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9" name="Line 119"/>
            <p:cNvSpPr>
              <a:spLocks noChangeShapeType="1"/>
            </p:cNvSpPr>
            <p:nvPr/>
          </p:nvSpPr>
          <p:spPr bwMode="auto">
            <a:xfrm>
              <a:off x="4856" y="11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0" name="Line 120"/>
            <p:cNvSpPr>
              <a:spLocks noChangeShapeType="1"/>
            </p:cNvSpPr>
            <p:nvPr/>
          </p:nvSpPr>
          <p:spPr bwMode="auto">
            <a:xfrm>
              <a:off x="4856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1" name="Line 121"/>
            <p:cNvSpPr>
              <a:spLocks noChangeShapeType="1"/>
            </p:cNvSpPr>
            <p:nvPr/>
          </p:nvSpPr>
          <p:spPr bwMode="auto">
            <a:xfrm>
              <a:off x="5144" y="93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2" name="Line 122"/>
            <p:cNvSpPr>
              <a:spLocks noChangeShapeType="1"/>
            </p:cNvSpPr>
            <p:nvPr/>
          </p:nvSpPr>
          <p:spPr bwMode="auto">
            <a:xfrm>
              <a:off x="5432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3" name="Line 123"/>
            <p:cNvSpPr>
              <a:spLocks noChangeShapeType="1"/>
            </p:cNvSpPr>
            <p:nvPr/>
          </p:nvSpPr>
          <p:spPr bwMode="auto">
            <a:xfrm>
              <a:off x="3752" y="1083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4" name="Line 124"/>
            <p:cNvSpPr>
              <a:spLocks noChangeShapeType="1"/>
            </p:cNvSpPr>
            <p:nvPr/>
          </p:nvSpPr>
          <p:spPr bwMode="auto">
            <a:xfrm>
              <a:off x="4520" y="1083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5" name="Rectangle 127"/>
            <p:cNvSpPr>
              <a:spLocks noChangeArrowheads="1"/>
            </p:cNvSpPr>
            <p:nvPr/>
          </p:nvSpPr>
          <p:spPr bwMode="auto">
            <a:xfrm>
              <a:off x="2440" y="1765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400">
                  <a:solidFill>
                    <a:srgbClr val="0000FF"/>
                  </a:solidFill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48246" name="Rectangle 128"/>
            <p:cNvSpPr>
              <a:spLocks noChangeArrowheads="1"/>
            </p:cNvSpPr>
            <p:nvPr/>
          </p:nvSpPr>
          <p:spPr bwMode="auto">
            <a:xfrm>
              <a:off x="2440" y="1478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400">
                  <a:solidFill>
                    <a:srgbClr val="0000FF"/>
                  </a:solidFill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8247" name="Rectangle 129"/>
            <p:cNvSpPr>
              <a:spLocks noChangeArrowheads="1"/>
            </p:cNvSpPr>
            <p:nvPr/>
          </p:nvSpPr>
          <p:spPr bwMode="auto">
            <a:xfrm>
              <a:off x="2440" y="1191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400">
                  <a:solidFill>
                    <a:srgbClr val="0000FF"/>
                  </a:solidFill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8248" name="Rectangle 130"/>
            <p:cNvSpPr>
              <a:spLocks noChangeArrowheads="1"/>
            </p:cNvSpPr>
            <p:nvPr/>
          </p:nvSpPr>
          <p:spPr bwMode="auto">
            <a:xfrm>
              <a:off x="2440" y="904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400">
                  <a:solidFill>
                    <a:srgbClr val="0000FF"/>
                  </a:solidFill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8249" name="Rectangle 131"/>
            <p:cNvSpPr>
              <a:spLocks noChangeArrowheads="1"/>
            </p:cNvSpPr>
            <p:nvPr/>
          </p:nvSpPr>
          <p:spPr bwMode="auto">
            <a:xfrm>
              <a:off x="2440" y="617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400">
                  <a:solidFill>
                    <a:srgbClr val="0000FF"/>
                  </a:solidFill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8250" name="Line 132"/>
            <p:cNvSpPr>
              <a:spLocks noChangeShapeType="1"/>
            </p:cNvSpPr>
            <p:nvPr/>
          </p:nvSpPr>
          <p:spPr bwMode="auto">
            <a:xfrm>
              <a:off x="2440" y="617"/>
              <a:ext cx="3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1" name="Line 133"/>
            <p:cNvSpPr>
              <a:spLocks noChangeShapeType="1"/>
            </p:cNvSpPr>
            <p:nvPr/>
          </p:nvSpPr>
          <p:spPr bwMode="auto">
            <a:xfrm>
              <a:off x="2440" y="2052"/>
              <a:ext cx="3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2" name="Line 134"/>
            <p:cNvSpPr>
              <a:spLocks noChangeShapeType="1"/>
            </p:cNvSpPr>
            <p:nvPr/>
          </p:nvSpPr>
          <p:spPr bwMode="auto">
            <a:xfrm>
              <a:off x="2440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3" name="Line 135"/>
            <p:cNvSpPr>
              <a:spLocks noChangeShapeType="1"/>
            </p:cNvSpPr>
            <p:nvPr/>
          </p:nvSpPr>
          <p:spPr bwMode="auto">
            <a:xfrm>
              <a:off x="2744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4" name="Line 136"/>
            <p:cNvSpPr>
              <a:spLocks noChangeShapeType="1"/>
            </p:cNvSpPr>
            <p:nvPr/>
          </p:nvSpPr>
          <p:spPr bwMode="auto">
            <a:xfrm>
              <a:off x="2440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5" name="Line 137"/>
            <p:cNvSpPr>
              <a:spLocks noChangeShapeType="1"/>
            </p:cNvSpPr>
            <p:nvPr/>
          </p:nvSpPr>
          <p:spPr bwMode="auto">
            <a:xfrm>
              <a:off x="2744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6" name="Line 138"/>
            <p:cNvSpPr>
              <a:spLocks noChangeShapeType="1"/>
            </p:cNvSpPr>
            <p:nvPr/>
          </p:nvSpPr>
          <p:spPr bwMode="auto">
            <a:xfrm>
              <a:off x="2440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7" name="Line 139"/>
            <p:cNvSpPr>
              <a:spLocks noChangeShapeType="1"/>
            </p:cNvSpPr>
            <p:nvPr/>
          </p:nvSpPr>
          <p:spPr bwMode="auto">
            <a:xfrm>
              <a:off x="2744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8" name="Line 140"/>
            <p:cNvSpPr>
              <a:spLocks noChangeShapeType="1"/>
            </p:cNvSpPr>
            <p:nvPr/>
          </p:nvSpPr>
          <p:spPr bwMode="auto">
            <a:xfrm>
              <a:off x="2440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9" name="Line 141"/>
            <p:cNvSpPr>
              <a:spLocks noChangeShapeType="1"/>
            </p:cNvSpPr>
            <p:nvPr/>
          </p:nvSpPr>
          <p:spPr bwMode="auto">
            <a:xfrm>
              <a:off x="2744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Line 142"/>
            <p:cNvSpPr>
              <a:spLocks noChangeShapeType="1"/>
            </p:cNvSpPr>
            <p:nvPr/>
          </p:nvSpPr>
          <p:spPr bwMode="auto">
            <a:xfrm>
              <a:off x="2440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1" name="Line 143"/>
            <p:cNvSpPr>
              <a:spLocks noChangeShapeType="1"/>
            </p:cNvSpPr>
            <p:nvPr/>
          </p:nvSpPr>
          <p:spPr bwMode="auto">
            <a:xfrm>
              <a:off x="2744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2" name="Rectangle 145"/>
            <p:cNvSpPr>
              <a:spLocks noChangeArrowheads="1"/>
            </p:cNvSpPr>
            <p:nvPr/>
          </p:nvSpPr>
          <p:spPr bwMode="auto">
            <a:xfrm>
              <a:off x="4376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63" name="Rectangle 146"/>
            <p:cNvSpPr>
              <a:spLocks noChangeArrowheads="1"/>
            </p:cNvSpPr>
            <p:nvPr/>
          </p:nvSpPr>
          <p:spPr bwMode="auto">
            <a:xfrm>
              <a:off x="4088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8264" name="Line 147"/>
            <p:cNvSpPr>
              <a:spLocks noChangeShapeType="1"/>
            </p:cNvSpPr>
            <p:nvPr/>
          </p:nvSpPr>
          <p:spPr bwMode="auto">
            <a:xfrm>
              <a:off x="4088" y="21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Line 148"/>
            <p:cNvSpPr>
              <a:spLocks noChangeShapeType="1"/>
            </p:cNvSpPr>
            <p:nvPr/>
          </p:nvSpPr>
          <p:spPr bwMode="auto">
            <a:xfrm>
              <a:off x="4088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6" name="Line 149"/>
            <p:cNvSpPr>
              <a:spLocks noChangeShapeType="1"/>
            </p:cNvSpPr>
            <p:nvPr/>
          </p:nvSpPr>
          <p:spPr bwMode="auto">
            <a:xfrm>
              <a:off x="4376" y="18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7" name="Line 150"/>
            <p:cNvSpPr>
              <a:spLocks noChangeShapeType="1"/>
            </p:cNvSpPr>
            <p:nvPr/>
          </p:nvSpPr>
          <p:spPr bwMode="auto">
            <a:xfrm>
              <a:off x="4664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8" name="Rectangle 151"/>
            <p:cNvSpPr>
              <a:spLocks noChangeArrowheads="1"/>
            </p:cNvSpPr>
            <p:nvPr/>
          </p:nvSpPr>
          <p:spPr bwMode="auto">
            <a:xfrm>
              <a:off x="3608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69" name="Rectangle 152"/>
            <p:cNvSpPr>
              <a:spLocks noChangeArrowheads="1"/>
            </p:cNvSpPr>
            <p:nvPr/>
          </p:nvSpPr>
          <p:spPr bwMode="auto">
            <a:xfrm>
              <a:off x="3320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3</a:t>
              </a:r>
            </a:p>
          </p:txBody>
        </p:sp>
        <p:sp>
          <p:nvSpPr>
            <p:cNvPr id="48270" name="Line 153"/>
            <p:cNvSpPr>
              <a:spLocks noChangeShapeType="1"/>
            </p:cNvSpPr>
            <p:nvPr/>
          </p:nvSpPr>
          <p:spPr bwMode="auto">
            <a:xfrm>
              <a:off x="3320" y="18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1" name="Line 154"/>
            <p:cNvSpPr>
              <a:spLocks noChangeShapeType="1"/>
            </p:cNvSpPr>
            <p:nvPr/>
          </p:nvSpPr>
          <p:spPr bwMode="auto">
            <a:xfrm>
              <a:off x="3320" y="21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2" name="Line 155"/>
            <p:cNvSpPr>
              <a:spLocks noChangeShapeType="1"/>
            </p:cNvSpPr>
            <p:nvPr/>
          </p:nvSpPr>
          <p:spPr bwMode="auto">
            <a:xfrm>
              <a:off x="3320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3" name="Line 156"/>
            <p:cNvSpPr>
              <a:spLocks noChangeShapeType="1"/>
            </p:cNvSpPr>
            <p:nvPr/>
          </p:nvSpPr>
          <p:spPr bwMode="auto">
            <a:xfrm>
              <a:off x="3608" y="18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4" name="Line 157"/>
            <p:cNvSpPr>
              <a:spLocks noChangeShapeType="1"/>
            </p:cNvSpPr>
            <p:nvPr/>
          </p:nvSpPr>
          <p:spPr bwMode="auto">
            <a:xfrm>
              <a:off x="3896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5" name="Rectangle 158"/>
            <p:cNvSpPr>
              <a:spLocks noChangeArrowheads="1"/>
            </p:cNvSpPr>
            <p:nvPr/>
          </p:nvSpPr>
          <p:spPr bwMode="auto">
            <a:xfrm>
              <a:off x="5144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8276" name="Rectangle 159"/>
            <p:cNvSpPr>
              <a:spLocks noChangeArrowheads="1"/>
            </p:cNvSpPr>
            <p:nvPr/>
          </p:nvSpPr>
          <p:spPr bwMode="auto">
            <a:xfrm>
              <a:off x="4856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8277" name="Line 160"/>
            <p:cNvSpPr>
              <a:spLocks noChangeShapeType="1"/>
            </p:cNvSpPr>
            <p:nvPr/>
          </p:nvSpPr>
          <p:spPr bwMode="auto">
            <a:xfrm>
              <a:off x="4856" y="18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8" name="Line 161"/>
            <p:cNvSpPr>
              <a:spLocks noChangeShapeType="1"/>
            </p:cNvSpPr>
            <p:nvPr/>
          </p:nvSpPr>
          <p:spPr bwMode="auto">
            <a:xfrm>
              <a:off x="4856" y="21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9" name="Line 162"/>
            <p:cNvSpPr>
              <a:spLocks noChangeShapeType="1"/>
            </p:cNvSpPr>
            <p:nvPr/>
          </p:nvSpPr>
          <p:spPr bwMode="auto">
            <a:xfrm>
              <a:off x="4856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0" name="Line 163"/>
            <p:cNvSpPr>
              <a:spLocks noChangeShapeType="1"/>
            </p:cNvSpPr>
            <p:nvPr/>
          </p:nvSpPr>
          <p:spPr bwMode="auto">
            <a:xfrm>
              <a:off x="5144" y="18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1" name="Line 164"/>
            <p:cNvSpPr>
              <a:spLocks noChangeShapeType="1"/>
            </p:cNvSpPr>
            <p:nvPr/>
          </p:nvSpPr>
          <p:spPr bwMode="auto">
            <a:xfrm>
              <a:off x="5432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2" name="Line 165"/>
            <p:cNvSpPr>
              <a:spLocks noChangeShapeType="1"/>
            </p:cNvSpPr>
            <p:nvPr/>
          </p:nvSpPr>
          <p:spPr bwMode="auto">
            <a:xfrm>
              <a:off x="3752" y="1995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3" name="Line 166"/>
            <p:cNvSpPr>
              <a:spLocks noChangeShapeType="1"/>
            </p:cNvSpPr>
            <p:nvPr/>
          </p:nvSpPr>
          <p:spPr bwMode="auto">
            <a:xfrm>
              <a:off x="4520" y="1995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4" name="Line 167"/>
            <p:cNvSpPr>
              <a:spLocks noChangeShapeType="1"/>
            </p:cNvSpPr>
            <p:nvPr/>
          </p:nvSpPr>
          <p:spPr bwMode="auto">
            <a:xfrm>
              <a:off x="4088" y="18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5" name="Line 169"/>
            <p:cNvSpPr>
              <a:spLocks noChangeShapeType="1"/>
            </p:cNvSpPr>
            <p:nvPr/>
          </p:nvSpPr>
          <p:spPr bwMode="auto">
            <a:xfrm>
              <a:off x="4088" y="176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6" name="Rectangle 170"/>
            <p:cNvSpPr>
              <a:spLocks noChangeArrowheads="1"/>
            </p:cNvSpPr>
            <p:nvPr/>
          </p:nvSpPr>
          <p:spPr bwMode="auto">
            <a:xfrm>
              <a:off x="3608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87" name="Rectangle 171"/>
            <p:cNvSpPr>
              <a:spLocks noChangeArrowheads="1"/>
            </p:cNvSpPr>
            <p:nvPr/>
          </p:nvSpPr>
          <p:spPr bwMode="auto">
            <a:xfrm>
              <a:off x="3320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48288" name="Line 172"/>
            <p:cNvSpPr>
              <a:spLocks noChangeShapeType="1"/>
            </p:cNvSpPr>
            <p:nvPr/>
          </p:nvSpPr>
          <p:spPr bwMode="auto">
            <a:xfrm>
              <a:off x="4088" y="152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9" name="Line 173"/>
            <p:cNvSpPr>
              <a:spLocks noChangeShapeType="1"/>
            </p:cNvSpPr>
            <p:nvPr/>
          </p:nvSpPr>
          <p:spPr bwMode="auto">
            <a:xfrm>
              <a:off x="3320" y="1773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0" name="Line 174"/>
            <p:cNvSpPr>
              <a:spLocks noChangeShapeType="1"/>
            </p:cNvSpPr>
            <p:nvPr/>
          </p:nvSpPr>
          <p:spPr bwMode="auto">
            <a:xfrm>
              <a:off x="3320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1" name="Line 175"/>
            <p:cNvSpPr>
              <a:spLocks noChangeShapeType="1"/>
            </p:cNvSpPr>
            <p:nvPr/>
          </p:nvSpPr>
          <p:spPr bwMode="auto">
            <a:xfrm>
              <a:off x="3608" y="1524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2" name="Line 176"/>
            <p:cNvSpPr>
              <a:spLocks noChangeShapeType="1"/>
            </p:cNvSpPr>
            <p:nvPr/>
          </p:nvSpPr>
          <p:spPr bwMode="auto">
            <a:xfrm>
              <a:off x="3896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3" name="Rectangle 177"/>
            <p:cNvSpPr>
              <a:spLocks noChangeArrowheads="1"/>
            </p:cNvSpPr>
            <p:nvPr/>
          </p:nvSpPr>
          <p:spPr bwMode="auto">
            <a:xfrm>
              <a:off x="4376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48294" name="Rectangle 178"/>
            <p:cNvSpPr>
              <a:spLocks noChangeArrowheads="1"/>
            </p:cNvSpPr>
            <p:nvPr/>
          </p:nvSpPr>
          <p:spPr bwMode="auto">
            <a:xfrm>
              <a:off x="4088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48295" name="Line 179"/>
            <p:cNvSpPr>
              <a:spLocks noChangeShapeType="1"/>
            </p:cNvSpPr>
            <p:nvPr/>
          </p:nvSpPr>
          <p:spPr bwMode="auto">
            <a:xfrm>
              <a:off x="3320" y="152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6" name="Line 180"/>
            <p:cNvSpPr>
              <a:spLocks noChangeShapeType="1"/>
            </p:cNvSpPr>
            <p:nvPr/>
          </p:nvSpPr>
          <p:spPr bwMode="auto">
            <a:xfrm>
              <a:off x="4088" y="176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7" name="Line 181"/>
            <p:cNvSpPr>
              <a:spLocks noChangeShapeType="1"/>
            </p:cNvSpPr>
            <p:nvPr/>
          </p:nvSpPr>
          <p:spPr bwMode="auto">
            <a:xfrm>
              <a:off x="4088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8" name="Line 182"/>
            <p:cNvSpPr>
              <a:spLocks noChangeShapeType="1"/>
            </p:cNvSpPr>
            <p:nvPr/>
          </p:nvSpPr>
          <p:spPr bwMode="auto">
            <a:xfrm>
              <a:off x="4376" y="1524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9" name="Line 183"/>
            <p:cNvSpPr>
              <a:spLocks noChangeShapeType="1"/>
            </p:cNvSpPr>
            <p:nvPr/>
          </p:nvSpPr>
          <p:spPr bwMode="auto">
            <a:xfrm>
              <a:off x="4664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0" name="Rectangle 184"/>
            <p:cNvSpPr>
              <a:spLocks noChangeArrowheads="1"/>
            </p:cNvSpPr>
            <p:nvPr/>
          </p:nvSpPr>
          <p:spPr bwMode="auto">
            <a:xfrm>
              <a:off x="5144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^</a:t>
              </a:r>
            </a:p>
          </p:txBody>
        </p:sp>
        <p:sp>
          <p:nvSpPr>
            <p:cNvPr id="48301" name="Rectangle 185"/>
            <p:cNvSpPr>
              <a:spLocks noChangeArrowheads="1"/>
            </p:cNvSpPr>
            <p:nvPr/>
          </p:nvSpPr>
          <p:spPr bwMode="auto">
            <a:xfrm>
              <a:off x="4856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48302" name="Line 186"/>
            <p:cNvSpPr>
              <a:spLocks noChangeShapeType="1"/>
            </p:cNvSpPr>
            <p:nvPr/>
          </p:nvSpPr>
          <p:spPr bwMode="auto">
            <a:xfrm>
              <a:off x="4856" y="152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3" name="Line 187"/>
            <p:cNvSpPr>
              <a:spLocks noChangeShapeType="1"/>
            </p:cNvSpPr>
            <p:nvPr/>
          </p:nvSpPr>
          <p:spPr bwMode="auto">
            <a:xfrm>
              <a:off x="4856" y="1773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4" name="Line 188"/>
            <p:cNvSpPr>
              <a:spLocks noChangeShapeType="1"/>
            </p:cNvSpPr>
            <p:nvPr/>
          </p:nvSpPr>
          <p:spPr bwMode="auto">
            <a:xfrm>
              <a:off x="4856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5" name="Line 189"/>
            <p:cNvSpPr>
              <a:spLocks noChangeShapeType="1"/>
            </p:cNvSpPr>
            <p:nvPr/>
          </p:nvSpPr>
          <p:spPr bwMode="auto">
            <a:xfrm>
              <a:off x="5144" y="1524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6" name="Line 190"/>
            <p:cNvSpPr>
              <a:spLocks noChangeShapeType="1"/>
            </p:cNvSpPr>
            <p:nvPr/>
          </p:nvSpPr>
          <p:spPr bwMode="auto">
            <a:xfrm>
              <a:off x="5432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7" name="Line 191"/>
            <p:cNvSpPr>
              <a:spLocks noChangeShapeType="1"/>
            </p:cNvSpPr>
            <p:nvPr/>
          </p:nvSpPr>
          <p:spPr bwMode="auto">
            <a:xfrm>
              <a:off x="3752" y="166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8" name="Line 192"/>
            <p:cNvSpPr>
              <a:spLocks noChangeShapeType="1"/>
            </p:cNvSpPr>
            <p:nvPr/>
          </p:nvSpPr>
          <p:spPr bwMode="auto">
            <a:xfrm>
              <a:off x="4520" y="166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132" name="Group 207"/>
          <p:cNvGrpSpPr/>
          <p:nvPr/>
        </p:nvGrpSpPr>
        <p:grpSpPr bwMode="auto">
          <a:xfrm>
            <a:off x="39688" y="2230438"/>
            <a:ext cx="2743200" cy="2057400"/>
            <a:chOff x="3440" y="532"/>
            <a:chExt cx="1728" cy="1296"/>
          </a:xfrm>
        </p:grpSpPr>
        <p:sp>
          <p:nvSpPr>
            <p:cNvPr id="48135" name="AutoShape 198"/>
            <p:cNvSpPr/>
            <p:nvPr/>
          </p:nvSpPr>
          <p:spPr bwMode="auto">
            <a:xfrm>
              <a:off x="3536" y="772"/>
              <a:ext cx="96" cy="1008"/>
            </a:xfrm>
            <a:prstGeom prst="leftBracket">
              <a:avLst>
                <a:gd name="adj" fmla="val 87500"/>
              </a:avLst>
            </a:prstGeom>
            <a:noFill/>
            <a:ln w="38100">
              <a:solidFill>
                <a:srgbClr val="BADE7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48136" name="AutoShape 199"/>
            <p:cNvSpPr/>
            <p:nvPr/>
          </p:nvSpPr>
          <p:spPr bwMode="auto">
            <a:xfrm>
              <a:off x="4701" y="772"/>
              <a:ext cx="131" cy="1008"/>
            </a:xfrm>
            <a:prstGeom prst="rightBracket">
              <a:avLst>
                <a:gd name="adj" fmla="val 64122"/>
              </a:avLst>
            </a:prstGeom>
            <a:noFill/>
            <a:ln w="38100">
              <a:solidFill>
                <a:srgbClr val="BADE7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48137" name="Rectangle 201"/>
            <p:cNvSpPr>
              <a:spLocks noChangeArrowheads="1"/>
            </p:cNvSpPr>
            <p:nvPr/>
          </p:nvSpPr>
          <p:spPr bwMode="auto">
            <a:xfrm>
              <a:off x="3440" y="532"/>
              <a:ext cx="163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3300"/>
                  </a:solidFill>
                  <a:ea typeface="黑体" panose="02010609060101010101" pitchFamily="49" charset="-122"/>
                </a:rPr>
                <a:t>（ </a:t>
              </a: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v1 v2</a:t>
              </a:r>
              <a:r>
                <a:rPr lang="en-US" altLang="zh-CN" sz="2000" baseline="-6000">
                  <a:solidFill>
                    <a:srgbClr val="FF3300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v3 v4 v5   </a:t>
              </a:r>
              <a:r>
                <a:rPr lang="zh-CN" altLang="en-US" sz="2000">
                  <a:solidFill>
                    <a:srgbClr val="FF3300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48138" name="Rectangle 202"/>
            <p:cNvSpPr>
              <a:spLocks noChangeArrowheads="1"/>
            </p:cNvSpPr>
            <p:nvPr/>
          </p:nvSpPr>
          <p:spPr bwMode="auto">
            <a:xfrm>
              <a:off x="4880" y="676"/>
              <a:ext cx="288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v1</a:t>
              </a:r>
            </a:p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v2</a:t>
              </a:r>
            </a:p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v3</a:t>
              </a:r>
            </a:p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v4</a:t>
              </a:r>
            </a:p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48139" name="Rectangle 203"/>
            <p:cNvSpPr>
              <a:spLocks noChangeArrowheads="1"/>
            </p:cNvSpPr>
            <p:nvPr/>
          </p:nvSpPr>
          <p:spPr bwMode="auto">
            <a:xfrm>
              <a:off x="3728" y="772"/>
              <a:ext cx="995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0   0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0   0   0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0   0   0   0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0   0   0   0   0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0   0   0   0   0</a:t>
              </a:r>
            </a:p>
          </p:txBody>
        </p:sp>
        <p:sp>
          <p:nvSpPr>
            <p:cNvPr id="48140" name="Rectangle 204"/>
            <p:cNvSpPr>
              <a:spLocks noChangeArrowheads="1"/>
            </p:cNvSpPr>
            <p:nvPr/>
          </p:nvSpPr>
          <p:spPr bwMode="auto">
            <a:xfrm>
              <a:off x="3728" y="772"/>
              <a:ext cx="995" cy="100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</a:p>
            <a:p>
              <a:pPr eaLnBrk="1" hangingPunct="1"/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 </a:t>
              </a:r>
              <a:r>
                <a:rPr lang="en-US" altLang="zh-CN" sz="2000">
                  <a:ea typeface="黑体" panose="02010609060101010101" pitchFamily="49" charset="-122"/>
                </a:rPr>
                <a:t>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1   1</a:t>
              </a:r>
            </a:p>
            <a:p>
              <a:pPr eaLnBrk="1" hangingPunct="1"/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1   1</a:t>
              </a:r>
              <a:r>
                <a:rPr lang="en-US" altLang="zh-CN" sz="2000">
                  <a:ea typeface="黑体" panose="02010609060101010101" pitchFamily="49" charset="-122"/>
                </a:rPr>
                <a:t>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</a:t>
              </a:r>
            </a:p>
          </p:txBody>
        </p:sp>
        <p:sp>
          <p:nvSpPr>
            <p:cNvPr id="48141" name="Rectangle 205"/>
            <p:cNvSpPr>
              <a:spLocks noChangeArrowheads="1"/>
            </p:cNvSpPr>
            <p:nvPr/>
          </p:nvSpPr>
          <p:spPr bwMode="auto">
            <a:xfrm>
              <a:off x="3728" y="772"/>
              <a:ext cx="995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</a:p>
            <a:p>
              <a:pPr eaLnBrk="1" hangingPunct="1"/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>
                  <a:ea typeface="黑体" panose="02010609060101010101" pitchFamily="49" charset="-122"/>
                </a:rPr>
                <a:t>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1   1</a:t>
              </a:r>
            </a:p>
            <a:p>
              <a:pPr eaLnBrk="1" hangingPunct="1"/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/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1   1</a:t>
              </a:r>
              <a:r>
                <a:rPr lang="en-US" altLang="zh-CN" sz="2000">
                  <a:ea typeface="黑体" panose="02010609060101010101" pitchFamily="49" charset="-122"/>
                </a:rPr>
                <a:t>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</a:p>
          </p:txBody>
        </p:sp>
      </p:grpSp>
      <p:sp>
        <p:nvSpPr>
          <p:cNvPr id="48133" name="Rectangle 208"/>
          <p:cNvSpPr>
            <a:spLocks noChangeArrowheads="1"/>
          </p:cNvSpPr>
          <p:nvPr/>
        </p:nvSpPr>
        <p:spPr bwMode="auto">
          <a:xfrm>
            <a:off x="39688" y="0"/>
            <a:ext cx="77724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邻接矩阵与邻接表表示法的关系</a:t>
            </a:r>
          </a:p>
        </p:txBody>
      </p:sp>
      <p:sp>
        <p:nvSpPr>
          <p:cNvPr id="983249" name="Text Box 209"/>
          <p:cNvSpPr txBox="1">
            <a:spLocks noChangeArrowheads="1"/>
          </p:cNvSpPr>
          <p:nvPr/>
        </p:nvSpPr>
        <p:spPr bwMode="auto">
          <a:xfrm>
            <a:off x="165100" y="4519613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1. 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联系：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邻接表中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每个链表对应于邻接矩阵中的一行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，链表中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结点个数等于一行中非零元素的个数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83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4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8" name="Text Box 4"/>
          <p:cNvSpPr txBox="1">
            <a:spLocks noChangeArrowheads="1"/>
          </p:cNvSpPr>
          <p:nvPr/>
        </p:nvSpPr>
        <p:spPr bwMode="auto">
          <a:xfrm>
            <a:off x="152400" y="836613"/>
            <a:ext cx="8686800" cy="393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2. 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区别：</a:t>
            </a:r>
          </a:p>
          <a:p>
            <a:pPr eaLnBrk="1" hangingPunct="1"/>
            <a:r>
              <a:rPr lang="zh-CN" altLang="en-US" dirty="0">
                <a:latin typeface="楷体_GB2312"/>
                <a:ea typeface="楷体_GB2312"/>
                <a:cs typeface="楷体_GB2312"/>
              </a:rPr>
              <a:t>① 对于任一确定的无向图，邻接矩阵是</a:t>
            </a:r>
            <a:r>
              <a:rPr lang="zh-CN" altLang="en-US" dirty="0">
                <a:solidFill>
                  <a:schemeClr val="accent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唯一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的（行列号与顶点编号一致），但邻接表</a:t>
            </a:r>
            <a:r>
              <a:rPr lang="zh-CN" altLang="en-US" dirty="0">
                <a:solidFill>
                  <a:schemeClr val="accent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不唯一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（链接次序与顶点编号无关）。</a:t>
            </a:r>
          </a:p>
          <a:p>
            <a:pPr eaLnBrk="1" hangingPunct="1"/>
            <a:r>
              <a:rPr lang="zh-CN" altLang="en-US" dirty="0">
                <a:latin typeface="楷体_GB2312"/>
                <a:ea typeface="楷体_GB2312"/>
                <a:cs typeface="楷体_GB2312"/>
              </a:rPr>
              <a:t>② 邻接矩阵的空间复杂度为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O(n</a:t>
            </a:r>
            <a:r>
              <a:rPr lang="en-US" altLang="zh-CN" baseline="30000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2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),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而邻接表的空间复杂度为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O(</a:t>
            </a:r>
            <a:r>
              <a:rPr lang="en-US" altLang="zh-CN" dirty="0" err="1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n+e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/>
            <a:endParaRPr lang="zh-CN" altLang="en-US" dirty="0">
              <a:latin typeface="楷体_GB2312"/>
              <a:ea typeface="楷体_GB2312"/>
              <a:cs typeface="楷体_GB2312"/>
            </a:endParaRPr>
          </a:p>
          <a:p>
            <a:pPr eaLnBrk="1" hangingPunct="1"/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3. 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用途：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邻接矩阵多用于</a:t>
            </a: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稠密图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；而邻接表多用于</a:t>
            </a: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稀疏图</a:t>
            </a:r>
          </a:p>
        </p:txBody>
      </p:sp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39688" y="0"/>
            <a:ext cx="77724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邻接矩阵与邻接表表示法的关系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AutoShape 213"/>
          <p:cNvSpPr/>
          <p:nvPr/>
        </p:nvSpPr>
        <p:spPr bwMode="auto">
          <a:xfrm>
            <a:off x="4624388" y="2095500"/>
            <a:ext cx="152400" cy="1676400"/>
          </a:xfrm>
          <a:prstGeom prst="leftBracket">
            <a:avLst>
              <a:gd name="adj" fmla="val 9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0179" name="Line 214"/>
          <p:cNvSpPr>
            <a:spLocks noChangeShapeType="1"/>
          </p:cNvSpPr>
          <p:nvPr/>
        </p:nvSpPr>
        <p:spPr bwMode="auto">
          <a:xfrm>
            <a:off x="2033588" y="1333500"/>
            <a:ext cx="152400" cy="990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Line 215"/>
          <p:cNvSpPr>
            <a:spLocks noChangeShapeType="1"/>
          </p:cNvSpPr>
          <p:nvPr/>
        </p:nvSpPr>
        <p:spPr bwMode="auto">
          <a:xfrm>
            <a:off x="71438" y="17145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1" name="Line 216"/>
          <p:cNvSpPr>
            <a:spLocks noChangeShapeType="1"/>
          </p:cNvSpPr>
          <p:nvPr/>
        </p:nvSpPr>
        <p:spPr bwMode="auto">
          <a:xfrm flipV="1">
            <a:off x="71438" y="17145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2" name="Line 217"/>
          <p:cNvSpPr>
            <a:spLocks noChangeShapeType="1"/>
          </p:cNvSpPr>
          <p:nvPr/>
        </p:nvSpPr>
        <p:spPr bwMode="auto">
          <a:xfrm>
            <a:off x="71438" y="21717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3" name="Line 218"/>
          <p:cNvSpPr>
            <a:spLocks noChangeShapeType="1"/>
          </p:cNvSpPr>
          <p:nvPr/>
        </p:nvSpPr>
        <p:spPr bwMode="auto">
          <a:xfrm flipV="1">
            <a:off x="1366838" y="17145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4" name="Line 219"/>
          <p:cNvSpPr>
            <a:spLocks noChangeShapeType="1"/>
          </p:cNvSpPr>
          <p:nvPr/>
        </p:nvSpPr>
        <p:spPr bwMode="auto">
          <a:xfrm flipV="1">
            <a:off x="2814638" y="17145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5" name="Text Box 220"/>
          <p:cNvSpPr txBox="1">
            <a:spLocks noChangeArrowheads="1"/>
          </p:cNvSpPr>
          <p:nvPr/>
        </p:nvSpPr>
        <p:spPr bwMode="auto">
          <a:xfrm>
            <a:off x="147638" y="17907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dirty="0"/>
              <a:t>data</a:t>
            </a:r>
          </a:p>
        </p:txBody>
      </p:sp>
      <p:sp>
        <p:nvSpPr>
          <p:cNvPr id="50186" name="Text Box 221"/>
          <p:cNvSpPr txBox="1">
            <a:spLocks noChangeArrowheads="1"/>
          </p:cNvSpPr>
          <p:nvPr/>
        </p:nvSpPr>
        <p:spPr bwMode="auto">
          <a:xfrm>
            <a:off x="1519238" y="17907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firstin</a:t>
            </a:r>
          </a:p>
        </p:txBody>
      </p:sp>
      <p:sp>
        <p:nvSpPr>
          <p:cNvPr id="50187" name="Line 222"/>
          <p:cNvSpPr>
            <a:spLocks noChangeShapeType="1"/>
          </p:cNvSpPr>
          <p:nvPr/>
        </p:nvSpPr>
        <p:spPr bwMode="auto">
          <a:xfrm>
            <a:off x="2814638" y="17145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223"/>
          <p:cNvSpPr>
            <a:spLocks noChangeShapeType="1"/>
          </p:cNvSpPr>
          <p:nvPr/>
        </p:nvSpPr>
        <p:spPr bwMode="auto">
          <a:xfrm flipV="1">
            <a:off x="4262438" y="17145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9" name="Line 224"/>
          <p:cNvSpPr>
            <a:spLocks noChangeShapeType="1"/>
          </p:cNvSpPr>
          <p:nvPr/>
        </p:nvSpPr>
        <p:spPr bwMode="auto">
          <a:xfrm>
            <a:off x="2814638" y="21717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0" name="Text Box 225"/>
          <p:cNvSpPr txBox="1">
            <a:spLocks noChangeArrowheads="1"/>
          </p:cNvSpPr>
          <p:nvPr/>
        </p:nvSpPr>
        <p:spPr bwMode="auto">
          <a:xfrm>
            <a:off x="2890838" y="17907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firstout</a:t>
            </a:r>
          </a:p>
        </p:txBody>
      </p:sp>
      <p:sp>
        <p:nvSpPr>
          <p:cNvPr id="50191" name="Line 226"/>
          <p:cNvSpPr>
            <a:spLocks noChangeShapeType="1"/>
          </p:cNvSpPr>
          <p:nvPr/>
        </p:nvSpPr>
        <p:spPr bwMode="auto">
          <a:xfrm>
            <a:off x="3328988" y="3086100"/>
            <a:ext cx="152400" cy="990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2" name="Line 227"/>
          <p:cNvSpPr>
            <a:spLocks noChangeShapeType="1"/>
          </p:cNvSpPr>
          <p:nvPr/>
        </p:nvSpPr>
        <p:spPr bwMode="auto">
          <a:xfrm>
            <a:off x="71438" y="314325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3" name="Line 228"/>
          <p:cNvSpPr>
            <a:spLocks noChangeShapeType="1"/>
          </p:cNvSpPr>
          <p:nvPr/>
        </p:nvSpPr>
        <p:spPr bwMode="auto">
          <a:xfrm flipV="1">
            <a:off x="71438" y="31432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4" name="Line 229"/>
          <p:cNvSpPr>
            <a:spLocks noChangeShapeType="1"/>
          </p:cNvSpPr>
          <p:nvPr/>
        </p:nvSpPr>
        <p:spPr bwMode="auto">
          <a:xfrm>
            <a:off x="71438" y="360045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5" name="Line 230"/>
          <p:cNvSpPr>
            <a:spLocks noChangeShapeType="1"/>
          </p:cNvSpPr>
          <p:nvPr/>
        </p:nvSpPr>
        <p:spPr bwMode="auto">
          <a:xfrm flipV="1">
            <a:off x="681038" y="31432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6" name="Line 231"/>
          <p:cNvSpPr>
            <a:spLocks noChangeShapeType="1"/>
          </p:cNvSpPr>
          <p:nvPr/>
        </p:nvSpPr>
        <p:spPr bwMode="auto">
          <a:xfrm flipV="1">
            <a:off x="1519238" y="31432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7" name="Text Box 232"/>
          <p:cNvSpPr txBox="1">
            <a:spLocks noChangeArrowheads="1"/>
          </p:cNvSpPr>
          <p:nvPr/>
        </p:nvSpPr>
        <p:spPr bwMode="auto">
          <a:xfrm>
            <a:off x="147638" y="321945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info</a:t>
            </a:r>
          </a:p>
        </p:txBody>
      </p:sp>
      <p:sp>
        <p:nvSpPr>
          <p:cNvPr id="50198" name="Text Box 233"/>
          <p:cNvSpPr txBox="1">
            <a:spLocks noChangeArrowheads="1"/>
          </p:cNvSpPr>
          <p:nvPr/>
        </p:nvSpPr>
        <p:spPr bwMode="auto">
          <a:xfrm>
            <a:off x="528638" y="321945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/>
              <a:t>tailvex</a:t>
            </a:r>
          </a:p>
        </p:txBody>
      </p:sp>
      <p:sp>
        <p:nvSpPr>
          <p:cNvPr id="50199" name="Line 234"/>
          <p:cNvSpPr>
            <a:spLocks noChangeShapeType="1"/>
          </p:cNvSpPr>
          <p:nvPr/>
        </p:nvSpPr>
        <p:spPr bwMode="auto">
          <a:xfrm>
            <a:off x="2814638" y="314325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0" name="Line 235"/>
          <p:cNvSpPr>
            <a:spLocks noChangeShapeType="1"/>
          </p:cNvSpPr>
          <p:nvPr/>
        </p:nvSpPr>
        <p:spPr bwMode="auto">
          <a:xfrm flipV="1">
            <a:off x="4262438" y="31432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1" name="Line 236"/>
          <p:cNvSpPr>
            <a:spLocks noChangeShapeType="1"/>
          </p:cNvSpPr>
          <p:nvPr/>
        </p:nvSpPr>
        <p:spPr bwMode="auto">
          <a:xfrm>
            <a:off x="2814638" y="360045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2" name="Text Box 237"/>
          <p:cNvSpPr txBox="1">
            <a:spLocks noChangeArrowheads="1"/>
          </p:cNvSpPr>
          <p:nvPr/>
        </p:nvSpPr>
        <p:spPr bwMode="auto">
          <a:xfrm>
            <a:off x="1366838" y="321945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/>
              <a:t>headvex</a:t>
            </a:r>
          </a:p>
        </p:txBody>
      </p:sp>
      <p:sp>
        <p:nvSpPr>
          <p:cNvPr id="50203" name="Text Box 238"/>
          <p:cNvSpPr txBox="1">
            <a:spLocks noChangeArrowheads="1"/>
          </p:cNvSpPr>
          <p:nvPr/>
        </p:nvSpPr>
        <p:spPr bwMode="auto">
          <a:xfrm>
            <a:off x="0" y="2497138"/>
            <a:ext cx="53006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folHlink"/>
                </a:solidFill>
              </a:rPr>
              <a:t>边结点表中的结点的表示：</a:t>
            </a:r>
            <a:endParaRPr lang="zh-CN" altLang="en-US"/>
          </a:p>
        </p:txBody>
      </p:sp>
      <p:sp>
        <p:nvSpPr>
          <p:cNvPr id="50204" name="Text Box 239"/>
          <p:cNvSpPr txBox="1">
            <a:spLocks noChangeArrowheads="1"/>
          </p:cNvSpPr>
          <p:nvPr/>
        </p:nvSpPr>
        <p:spPr bwMode="auto">
          <a:xfrm>
            <a:off x="52388" y="80010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folHlink"/>
                </a:solidFill>
              </a:rPr>
              <a:t>结点表中的结点的表示：</a:t>
            </a:r>
            <a:endParaRPr lang="zh-CN" altLang="en-US"/>
          </a:p>
        </p:txBody>
      </p:sp>
      <p:sp>
        <p:nvSpPr>
          <p:cNvPr id="50205" name="Text Box 240"/>
          <p:cNvSpPr txBox="1">
            <a:spLocks noChangeArrowheads="1"/>
          </p:cNvSpPr>
          <p:nvPr/>
        </p:nvSpPr>
        <p:spPr bwMode="auto">
          <a:xfrm>
            <a:off x="4776788" y="571500"/>
            <a:ext cx="4367212" cy="2200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marL="0" marR="0" indent="0" algn="l" rtl="0" eaLnBrk="0" fontAlgn="base" latinLnBrk="0" hangingPunct="0">
              <a:spcBef>
                <a:spcPts val="576"/>
              </a:spcBef>
              <a:buNone/>
            </a:pPr>
            <a:r>
              <a:rPr lang="en-US" altLang="zh-CN" sz="1600" dirty="0"/>
              <a:t>data</a:t>
            </a:r>
            <a:r>
              <a:rPr lang="zh-CN" altLang="en-US" sz="1600" dirty="0"/>
              <a:t>：</a:t>
            </a:r>
            <a:r>
              <a:rPr lang="zh-CN" altLang="zh-CN" sz="1600" dirty="0"/>
              <a:t>结点的数据</a:t>
            </a:r>
            <a:r>
              <a:rPr lang="zh-CN" altLang="en-US" sz="1600" dirty="0"/>
              <a:t>域</a:t>
            </a:r>
            <a:r>
              <a:rPr lang="zh-CN" altLang="zh-CN" sz="1600" dirty="0"/>
              <a:t>，保存结点的数据值。</a:t>
            </a:r>
            <a:r>
              <a:rPr lang="zh-CN" altLang="en-US" sz="1600" dirty="0"/>
              <a:t>写法与单链表一样为</a:t>
            </a:r>
            <a:r>
              <a:rPr kumimoji="1" lang="en-US" altLang="zh-CN" sz="1800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sz="1800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1</a:t>
            </a:r>
            <a:r>
              <a:rPr lang="en-US" altLang="zh-CN" sz="1800" b="0" dirty="0">
                <a:latin typeface="Arial" panose="020B0604020202020204" pitchFamily="34" charset="0"/>
              </a:rPr>
              <a:t>,</a:t>
            </a:r>
            <a:r>
              <a:rPr kumimoji="1" lang="en-US" altLang="zh-CN" sz="1800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sz="1800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2</a:t>
            </a:r>
            <a:r>
              <a:rPr lang="en-US" altLang="zh-CN" sz="1800" b="0" dirty="0">
                <a:latin typeface="Arial" panose="020B0604020202020204" pitchFamily="34" charset="0"/>
              </a:rPr>
              <a:t>,</a:t>
            </a:r>
            <a:r>
              <a:rPr kumimoji="1" lang="en-US" altLang="zh-CN" sz="1800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sz="1800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3</a:t>
            </a:r>
            <a:r>
              <a:rPr lang="en-US" altLang="zh-CN" sz="1800" b="0" dirty="0">
                <a:latin typeface="Arial" panose="020B0604020202020204" pitchFamily="34" charset="0"/>
              </a:rPr>
              <a:t>,</a:t>
            </a:r>
            <a:r>
              <a:rPr kumimoji="1" lang="en-US" altLang="zh-CN" sz="1800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sz="1800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4</a:t>
            </a:r>
            <a:r>
              <a:rPr lang="en-US" altLang="zh-CN" sz="1800" b="0" dirty="0">
                <a:latin typeface="Arial" panose="020B0604020202020204" pitchFamily="34" charset="0"/>
              </a:rPr>
              <a:t>,</a:t>
            </a:r>
            <a:r>
              <a:rPr kumimoji="1" lang="en-US" altLang="zh-CN" sz="1800" b="1" i="0" u="none" strike="noStrike" kern="120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v</a:t>
            </a:r>
            <a:r>
              <a:rPr kumimoji="1" lang="en-US" altLang="zh-CN" sz="1800" b="1" i="0" u="none" strike="noStrike" kern="1200" baseline="-2500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_GB2312" panose="02010609030101010101"/>
              </a:rPr>
              <a:t>5,…</a:t>
            </a:r>
          </a:p>
          <a:p>
            <a:pPr marL="0" marR="0" indent="0" algn="l" rtl="0" eaLnBrk="0" fontAlgn="base" latinLnBrk="0" hangingPunct="0">
              <a:spcBef>
                <a:spcPts val="576"/>
              </a:spcBef>
              <a:buNone/>
            </a:pPr>
            <a:r>
              <a:rPr kumimoji="1" lang="zh-CN" altLang="en-US" sz="1800" baseline="-25000" dirty="0">
                <a:ea typeface="仿宋_GB2312" panose="02010609030101010101"/>
              </a:rPr>
              <a:t>设置两个指针域</a:t>
            </a:r>
            <a:r>
              <a:rPr kumimoji="1" lang="en-US" altLang="zh-CN" sz="1800" baseline="-25000" dirty="0">
                <a:ea typeface="仿宋_GB2312" panose="02010609030101010101"/>
              </a:rPr>
              <a:t>:</a:t>
            </a:r>
            <a:r>
              <a:rPr kumimoji="1" lang="zh-CN" altLang="en-US" sz="1800" baseline="-25000" dirty="0">
                <a:ea typeface="仿宋_GB2312" panose="02010609030101010101"/>
              </a:rPr>
              <a:t>表示出和入</a:t>
            </a:r>
            <a:r>
              <a:rPr kumimoji="1" lang="en-US" altLang="zh-CN" sz="1800" baseline="-25000" dirty="0">
                <a:ea typeface="仿宋_GB2312" panose="02010609030101010101"/>
              </a:rPr>
              <a:t>(</a:t>
            </a:r>
            <a:r>
              <a:rPr kumimoji="1" lang="zh-CN" altLang="en-US" sz="1800" baseline="-25000" dirty="0">
                <a:ea typeface="仿宋_GB2312" panose="02010609030101010101"/>
              </a:rPr>
              <a:t>相当于把原来的邻接表合二为一</a:t>
            </a:r>
            <a:r>
              <a:rPr kumimoji="1" lang="en-US" altLang="zh-CN" sz="1800" baseline="-25000" dirty="0">
                <a:ea typeface="仿宋_GB2312" panose="02010609030101010101"/>
              </a:rPr>
              <a:t>)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600" dirty="0" err="1"/>
              <a:t>firstin</a:t>
            </a:r>
            <a:r>
              <a:rPr lang="en-US" altLang="zh-CN" sz="1600" dirty="0"/>
              <a:t>:   </a:t>
            </a:r>
            <a:r>
              <a:rPr lang="zh-CN" altLang="zh-CN" sz="1600" dirty="0"/>
              <a:t>结点的指针</a:t>
            </a:r>
            <a:r>
              <a:rPr lang="zh-CN" altLang="en-US" sz="1600" dirty="0"/>
              <a:t>域</a:t>
            </a:r>
            <a:r>
              <a:rPr lang="zh-CN" altLang="zh-CN" sz="1600" dirty="0"/>
              <a:t>，给出自该结点出发的的第一条边的边结点的地址。</a:t>
            </a:r>
          </a:p>
          <a:p>
            <a:pPr>
              <a:spcBef>
                <a:spcPct val="50000"/>
              </a:spcBef>
            </a:pPr>
            <a:r>
              <a:rPr lang="en-US" altLang="zh-CN" sz="1600" dirty="0" err="1"/>
              <a:t>firstout</a:t>
            </a:r>
            <a:r>
              <a:rPr lang="zh-CN" altLang="en-US" sz="1600" dirty="0"/>
              <a:t>：</a:t>
            </a:r>
            <a:r>
              <a:rPr lang="zh-CN" altLang="zh-CN" sz="1600" dirty="0"/>
              <a:t>结点的指针场，给出进入该结点的第一条边的 边结点的地址。</a:t>
            </a:r>
            <a:endParaRPr lang="zh-CN" altLang="en-US" sz="1600" dirty="0"/>
          </a:p>
        </p:txBody>
      </p:sp>
      <p:sp>
        <p:nvSpPr>
          <p:cNvPr id="50206" name="Text Box 241"/>
          <p:cNvSpPr txBox="1">
            <a:spLocks noChangeArrowheads="1"/>
          </p:cNvSpPr>
          <p:nvPr/>
        </p:nvSpPr>
        <p:spPr bwMode="auto">
          <a:xfrm>
            <a:off x="323850" y="3698875"/>
            <a:ext cx="45361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 dirty="0"/>
              <a:t>info:</a:t>
            </a:r>
            <a:r>
              <a:rPr lang="zh-CN" altLang="zh-CN" sz="1400" dirty="0"/>
              <a:t>边结点的数据</a:t>
            </a:r>
            <a:r>
              <a:rPr lang="zh-CN" altLang="en-US" sz="1400" dirty="0"/>
              <a:t>域</a:t>
            </a:r>
            <a:r>
              <a:rPr lang="zh-CN" altLang="zh-CN" sz="1400" dirty="0"/>
              <a:t>，保存边的权值等。</a:t>
            </a:r>
            <a:r>
              <a:rPr lang="zh-CN" altLang="en-US" sz="1400" dirty="0"/>
              <a:t>实际不写</a:t>
            </a:r>
            <a:endParaRPr lang="zh-CN" altLang="zh-CN" sz="1400" dirty="0"/>
          </a:p>
        </p:txBody>
      </p:sp>
      <p:sp>
        <p:nvSpPr>
          <p:cNvPr id="50207" name="Line 242"/>
          <p:cNvSpPr>
            <a:spLocks noChangeShapeType="1"/>
          </p:cNvSpPr>
          <p:nvPr/>
        </p:nvSpPr>
        <p:spPr bwMode="auto">
          <a:xfrm flipV="1">
            <a:off x="2357438" y="31432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8" name="Line 243"/>
          <p:cNvSpPr>
            <a:spLocks noChangeShapeType="1"/>
          </p:cNvSpPr>
          <p:nvPr/>
        </p:nvSpPr>
        <p:spPr bwMode="auto">
          <a:xfrm flipV="1">
            <a:off x="3348038" y="31432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9" name="Text Box 244"/>
          <p:cNvSpPr txBox="1">
            <a:spLocks noChangeArrowheads="1"/>
          </p:cNvSpPr>
          <p:nvPr/>
        </p:nvSpPr>
        <p:spPr bwMode="auto">
          <a:xfrm>
            <a:off x="2281238" y="321945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/>
              <a:t>hlink</a:t>
            </a:r>
          </a:p>
        </p:txBody>
      </p:sp>
      <p:sp>
        <p:nvSpPr>
          <p:cNvPr id="50210" name="Text Box 245"/>
          <p:cNvSpPr txBox="1">
            <a:spLocks noChangeArrowheads="1"/>
          </p:cNvSpPr>
          <p:nvPr/>
        </p:nvSpPr>
        <p:spPr bwMode="auto">
          <a:xfrm>
            <a:off x="3271838" y="321945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b="0"/>
              <a:t>tlink</a:t>
            </a:r>
          </a:p>
        </p:txBody>
      </p:sp>
      <p:sp>
        <p:nvSpPr>
          <p:cNvPr id="50211" name="Text Box 246"/>
          <p:cNvSpPr txBox="1">
            <a:spLocks noChangeArrowheads="1"/>
          </p:cNvSpPr>
          <p:nvPr/>
        </p:nvSpPr>
        <p:spPr bwMode="auto">
          <a:xfrm>
            <a:off x="71438" y="4222750"/>
            <a:ext cx="2952750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/>
              <a:t>tailvex:   </a:t>
            </a:r>
            <a:r>
              <a:rPr lang="zh-CN" altLang="en-US" sz="1400"/>
              <a:t>本条边的出发结点</a:t>
            </a:r>
          </a:p>
          <a:p>
            <a:pPr>
              <a:spcBef>
                <a:spcPct val="50000"/>
              </a:spcBef>
            </a:pPr>
            <a:r>
              <a:rPr lang="zh-CN" altLang="en-US" sz="1400"/>
              <a:t>               的</a:t>
            </a:r>
            <a:r>
              <a:rPr lang="zh-CN" altLang="zh-CN" sz="1400"/>
              <a:t>地址。</a:t>
            </a:r>
          </a:p>
          <a:p>
            <a:pPr>
              <a:spcBef>
                <a:spcPct val="50000"/>
              </a:spcBef>
            </a:pPr>
            <a:r>
              <a:rPr lang="en-US" altLang="zh-CN" sz="1400"/>
              <a:t>headvex:</a:t>
            </a:r>
            <a:r>
              <a:rPr lang="zh-CN" altLang="en-US" sz="1400"/>
              <a:t>本条边的终止结点</a:t>
            </a:r>
          </a:p>
          <a:p>
            <a:pPr>
              <a:spcBef>
                <a:spcPct val="50000"/>
              </a:spcBef>
            </a:pPr>
            <a:r>
              <a:rPr lang="zh-CN" altLang="en-US" sz="1400"/>
              <a:t>                </a:t>
            </a:r>
            <a:r>
              <a:rPr lang="zh-CN" altLang="zh-CN" sz="1400"/>
              <a:t>的地址。</a:t>
            </a:r>
          </a:p>
        </p:txBody>
      </p:sp>
      <p:sp>
        <p:nvSpPr>
          <p:cNvPr id="50212" name="Text Box 247"/>
          <p:cNvSpPr txBox="1">
            <a:spLocks noChangeArrowheads="1"/>
          </p:cNvSpPr>
          <p:nvPr/>
        </p:nvSpPr>
        <p:spPr bwMode="auto">
          <a:xfrm>
            <a:off x="3024188" y="4237038"/>
            <a:ext cx="2590800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/>
              <a:t>hlink:</a:t>
            </a:r>
            <a:r>
              <a:rPr lang="zh-CN" altLang="en-US" sz="1400"/>
              <a:t>终止</a:t>
            </a:r>
            <a:r>
              <a:rPr lang="zh-CN" altLang="zh-CN" sz="1400"/>
              <a:t>结点相同的边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中的下一条边的地址。</a:t>
            </a:r>
          </a:p>
          <a:p>
            <a:pPr>
              <a:spcBef>
                <a:spcPct val="50000"/>
              </a:spcBef>
            </a:pPr>
            <a:r>
              <a:rPr lang="en-US" altLang="zh-CN" sz="1400"/>
              <a:t>tlink:</a:t>
            </a:r>
            <a:r>
              <a:rPr lang="zh-CN" altLang="en-US" sz="1400"/>
              <a:t>出发</a:t>
            </a:r>
            <a:r>
              <a:rPr lang="zh-CN" altLang="zh-CN" sz="1400"/>
              <a:t>结点相同的边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中的下一条边的地址。</a:t>
            </a:r>
            <a:endParaRPr lang="zh-CN" altLang="en-US"/>
          </a:p>
        </p:txBody>
      </p:sp>
      <p:sp>
        <p:nvSpPr>
          <p:cNvPr id="50213" name="Rectangle 77"/>
          <p:cNvSpPr>
            <a:spLocks noChangeArrowheads="1"/>
          </p:cNvSpPr>
          <p:nvPr/>
        </p:nvSpPr>
        <p:spPr bwMode="auto">
          <a:xfrm>
            <a:off x="39688" y="0"/>
            <a:ext cx="6188496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十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字链表</a:t>
            </a:r>
            <a:r>
              <a:rPr lang="en-US" altLang="zh-CN" sz="3200" dirty="0">
                <a:latin typeface="楷体_GB2312"/>
                <a:ea typeface="楷体_GB2312"/>
                <a:cs typeface="楷体_GB2312"/>
              </a:rPr>
              <a:t>---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用于</a:t>
            </a:r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有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向图 重点</a:t>
            </a:r>
            <a:r>
              <a:rPr lang="en-US" altLang="zh-CN" sz="3200" dirty="0">
                <a:latin typeface="楷体_GB2312"/>
                <a:ea typeface="楷体_GB2312"/>
                <a:cs typeface="楷体_GB2312"/>
              </a:rPr>
              <a:t>!!!</a:t>
            </a:r>
            <a:endParaRPr lang="zh-CN" altLang="en-US" sz="3200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89CC92-874F-5E4D-5D50-80104B2F193A}"/>
              </a:ext>
            </a:extLst>
          </p:cNvPr>
          <p:cNvSpPr txBox="1"/>
          <p:nvPr/>
        </p:nvSpPr>
        <p:spPr>
          <a:xfrm>
            <a:off x="5580112" y="3219450"/>
            <a:ext cx="30352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实际绘制时</a:t>
            </a:r>
            <a:r>
              <a:rPr lang="en-US" altLang="zh-CN" dirty="0">
                <a:highlight>
                  <a:srgbClr val="00FF00"/>
                </a:highlight>
              </a:rPr>
              <a:t>,</a:t>
            </a:r>
            <a:r>
              <a:rPr lang="zh-CN" altLang="en-US" dirty="0">
                <a:highlight>
                  <a:srgbClr val="00FF00"/>
                </a:highlight>
              </a:rPr>
              <a:t>头结点同邻接表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多一个指针域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</a:p>
          <a:p>
            <a:r>
              <a:rPr lang="zh-CN" altLang="en-US" dirty="0">
                <a:highlight>
                  <a:srgbClr val="00FF00"/>
                </a:highlight>
              </a:rPr>
              <a:t>表结点位为两个地址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实际上写两个数</a:t>
            </a:r>
            <a:r>
              <a:rPr lang="en-US" altLang="zh-CN" dirty="0">
                <a:highlight>
                  <a:srgbClr val="00FF00"/>
                </a:highlight>
              </a:rPr>
              <a:t>)+</a:t>
            </a:r>
            <a:r>
              <a:rPr lang="zh-CN" altLang="en-US" dirty="0">
                <a:highlight>
                  <a:srgbClr val="00FF00"/>
                </a:highlight>
              </a:rPr>
              <a:t>指向下一个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左为列右为行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</p:cSld>
  <p:clrMapOvr>
    <a:masterClrMapping/>
  </p:clrMapOvr>
  <p:transition advClick="0" advTm="1000"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06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31712"/>
            <a:ext cx="6420085" cy="3505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77"/>
          <p:cNvSpPr>
            <a:spLocks noChangeArrowheads="1"/>
          </p:cNvSpPr>
          <p:nvPr/>
        </p:nvSpPr>
        <p:spPr bwMode="auto">
          <a:xfrm>
            <a:off x="39688" y="0"/>
            <a:ext cx="33893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十字链表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804D8E-A950-D366-2EC5-CD7C05C43E8A}"/>
              </a:ext>
            </a:extLst>
          </p:cNvPr>
          <p:cNvSpPr txBox="1"/>
          <p:nvPr/>
        </p:nvSpPr>
        <p:spPr>
          <a:xfrm>
            <a:off x="39688" y="4797152"/>
            <a:ext cx="88250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highlight>
                  <a:srgbClr val="00FF00"/>
                </a:highlight>
              </a:rPr>
              <a:t>行</a:t>
            </a:r>
            <a:r>
              <a:rPr lang="en-US" altLang="zh-CN" sz="2000" dirty="0">
                <a:highlight>
                  <a:srgbClr val="00FF00"/>
                </a:highlight>
              </a:rPr>
              <a:t>:</a:t>
            </a:r>
            <a:r>
              <a:rPr lang="zh-CN" altLang="en-US" sz="2000" dirty="0">
                <a:highlight>
                  <a:srgbClr val="00FF00"/>
                </a:highlight>
              </a:rPr>
              <a:t>出 列</a:t>
            </a:r>
            <a:r>
              <a:rPr lang="en-US" altLang="zh-CN" sz="2000" dirty="0">
                <a:highlight>
                  <a:srgbClr val="00FF00"/>
                </a:highlight>
              </a:rPr>
              <a:t>:</a:t>
            </a:r>
            <a:r>
              <a:rPr lang="zh-CN" altLang="en-US" sz="2000" dirty="0">
                <a:highlight>
                  <a:srgbClr val="00FF00"/>
                </a:highlight>
              </a:rPr>
              <a:t>入</a:t>
            </a:r>
            <a:r>
              <a:rPr lang="en-US" altLang="zh-CN" sz="2000" dirty="0"/>
              <a:t>(</a:t>
            </a:r>
            <a:r>
              <a:rPr lang="zh-CN" altLang="en-US" sz="2000" dirty="0"/>
              <a:t>同有向图的邻接矩阵</a:t>
            </a:r>
            <a:r>
              <a:rPr lang="en-US" altLang="zh-CN" sz="2000" dirty="0"/>
              <a:t>)</a:t>
            </a:r>
          </a:p>
          <a:p>
            <a:r>
              <a:rPr lang="zh-CN" altLang="en-US" sz="2000" dirty="0"/>
              <a:t>地址域</a:t>
            </a:r>
            <a:r>
              <a:rPr lang="en-US" altLang="zh-CN" sz="2000" dirty="0"/>
              <a:t>: </a:t>
            </a:r>
            <a:r>
              <a:rPr lang="zh-CN" altLang="en-US" sz="2000" dirty="0"/>
              <a:t>每一行的</a:t>
            </a:r>
            <a:r>
              <a:rPr lang="zh-CN" altLang="en-US" sz="2000" dirty="0">
                <a:highlight>
                  <a:srgbClr val="00FF00"/>
                </a:highlight>
              </a:rPr>
              <a:t>表</a:t>
            </a:r>
            <a:r>
              <a:rPr lang="zh-CN" altLang="en-US" sz="2000" dirty="0"/>
              <a:t>结点第</a:t>
            </a:r>
            <a:r>
              <a:rPr lang="zh-CN" altLang="en-US" sz="2000" dirty="0">
                <a:highlight>
                  <a:srgbClr val="00FF00"/>
                </a:highlight>
              </a:rPr>
              <a:t>一</a:t>
            </a:r>
            <a:r>
              <a:rPr lang="zh-CN" altLang="en-US" sz="2000" dirty="0"/>
              <a:t>个数</a:t>
            </a:r>
            <a:r>
              <a:rPr lang="zh-CN" altLang="en-US" sz="2000" dirty="0">
                <a:highlight>
                  <a:srgbClr val="00FF00"/>
                </a:highlight>
              </a:rPr>
              <a:t>同行数</a:t>
            </a:r>
            <a:r>
              <a:rPr lang="en-US" altLang="zh-CN" sz="2000" dirty="0"/>
              <a:t>,</a:t>
            </a:r>
            <a:r>
              <a:rPr lang="zh-CN" altLang="en-US" sz="2000" dirty="0"/>
              <a:t>表示</a:t>
            </a:r>
            <a:r>
              <a:rPr lang="zh-CN" altLang="en-US" sz="2000" dirty="0">
                <a:highlight>
                  <a:srgbClr val="00FF00"/>
                </a:highlight>
              </a:rPr>
              <a:t>出</a:t>
            </a:r>
            <a:r>
              <a:rPr lang="zh-CN" altLang="en-US" sz="2000" dirty="0"/>
              <a:t>的结点</a:t>
            </a:r>
            <a:r>
              <a:rPr lang="en-US" altLang="zh-CN" sz="2000" dirty="0"/>
              <a:t>,</a:t>
            </a:r>
            <a:r>
              <a:rPr lang="zh-CN" altLang="en-US" sz="2000" dirty="0"/>
              <a:t>第</a:t>
            </a:r>
            <a:r>
              <a:rPr lang="zh-CN" altLang="en-US" sz="2000" dirty="0">
                <a:highlight>
                  <a:srgbClr val="00FF00"/>
                </a:highlight>
              </a:rPr>
              <a:t>二</a:t>
            </a:r>
            <a:r>
              <a:rPr lang="zh-CN" altLang="en-US" sz="2000" dirty="0"/>
              <a:t>个数表示</a:t>
            </a:r>
            <a:r>
              <a:rPr lang="zh-CN" altLang="en-US" sz="2000" dirty="0">
                <a:highlight>
                  <a:srgbClr val="00FF00"/>
                </a:highlight>
              </a:rPr>
              <a:t>入</a:t>
            </a:r>
            <a:r>
              <a:rPr lang="zh-CN" altLang="en-US" sz="2000" dirty="0"/>
              <a:t>的结点</a:t>
            </a:r>
            <a:r>
              <a:rPr lang="zh-CN" altLang="en-US" sz="2000" dirty="0">
                <a:highlight>
                  <a:srgbClr val="00FF00"/>
                </a:highlight>
              </a:rPr>
              <a:t>同列数</a:t>
            </a:r>
            <a:endParaRPr lang="en-US" altLang="zh-CN" sz="2000" dirty="0">
              <a:highlight>
                <a:srgbClr val="00FF00"/>
              </a:highlight>
            </a:endParaRPr>
          </a:p>
          <a:p>
            <a:r>
              <a:rPr lang="zh-CN" altLang="en-US" sz="2000" dirty="0"/>
              <a:t>指针域</a:t>
            </a:r>
            <a:r>
              <a:rPr lang="en-US" altLang="zh-CN" sz="2000" dirty="0"/>
              <a:t>:</a:t>
            </a:r>
          </a:p>
          <a:p>
            <a:r>
              <a:rPr lang="zh-CN" altLang="en-US" sz="2000" dirty="0">
                <a:highlight>
                  <a:srgbClr val="00FF00"/>
                </a:highlight>
              </a:rPr>
              <a:t>头</a:t>
            </a:r>
            <a:r>
              <a:rPr lang="zh-CN" altLang="en-US" sz="2000" dirty="0"/>
              <a:t>结点出指针指向</a:t>
            </a:r>
            <a:r>
              <a:rPr lang="zh-CN" altLang="en-US" sz="2000" dirty="0">
                <a:highlight>
                  <a:srgbClr val="00FF00"/>
                </a:highlight>
              </a:rPr>
              <a:t>同行</a:t>
            </a:r>
            <a:r>
              <a:rPr lang="zh-CN" altLang="en-US" sz="2000" dirty="0"/>
              <a:t>第</a:t>
            </a:r>
            <a:r>
              <a:rPr lang="zh-CN" altLang="en-US" sz="2000" dirty="0">
                <a:highlight>
                  <a:srgbClr val="00FF00"/>
                </a:highlight>
              </a:rPr>
              <a:t>一</a:t>
            </a:r>
            <a:r>
              <a:rPr lang="zh-CN" altLang="en-US" sz="2000" dirty="0"/>
              <a:t>个表结点</a:t>
            </a:r>
            <a:r>
              <a:rPr lang="en-US" altLang="zh-CN" sz="2000" dirty="0"/>
              <a:t>,</a:t>
            </a:r>
            <a:r>
              <a:rPr lang="zh-CN" altLang="en-US" sz="2000" dirty="0"/>
              <a:t>入指针指向其</a:t>
            </a:r>
            <a:r>
              <a:rPr lang="zh-CN" altLang="en-US" sz="2000" dirty="0">
                <a:highlight>
                  <a:srgbClr val="00FF00"/>
                </a:highlight>
              </a:rPr>
              <a:t>对应列</a:t>
            </a:r>
            <a:r>
              <a:rPr lang="zh-CN" altLang="en-US" sz="2000" dirty="0"/>
              <a:t>第</a:t>
            </a:r>
            <a:r>
              <a:rPr lang="zh-CN" altLang="en-US" sz="2000" dirty="0">
                <a:highlight>
                  <a:srgbClr val="00FF00"/>
                </a:highlight>
              </a:rPr>
              <a:t>一</a:t>
            </a:r>
            <a:r>
              <a:rPr lang="zh-CN" altLang="en-US" sz="2000" dirty="0"/>
              <a:t>个表结点</a:t>
            </a:r>
            <a:r>
              <a:rPr lang="en-US" altLang="zh-CN" sz="2000" dirty="0"/>
              <a:t>.</a:t>
            </a:r>
          </a:p>
          <a:p>
            <a:r>
              <a:rPr lang="zh-CN" altLang="en-US" sz="2000" dirty="0">
                <a:highlight>
                  <a:srgbClr val="00FF00"/>
                </a:highlight>
              </a:rPr>
              <a:t>表</a:t>
            </a:r>
            <a:r>
              <a:rPr lang="zh-CN" altLang="en-US" sz="2000" dirty="0"/>
              <a:t>结点出指针指向</a:t>
            </a:r>
            <a:r>
              <a:rPr lang="zh-CN" altLang="en-US" sz="2000" dirty="0">
                <a:highlight>
                  <a:srgbClr val="00FF00"/>
                </a:highlight>
              </a:rPr>
              <a:t>同行下一个</a:t>
            </a:r>
            <a:r>
              <a:rPr lang="zh-CN" altLang="en-US" sz="2000" dirty="0"/>
              <a:t>表结点</a:t>
            </a:r>
            <a:r>
              <a:rPr lang="en-US" altLang="zh-CN" sz="2000" dirty="0"/>
              <a:t>,</a:t>
            </a:r>
            <a:r>
              <a:rPr lang="zh-CN" altLang="en-US" sz="2000" dirty="0"/>
              <a:t>入指针指向</a:t>
            </a:r>
            <a:r>
              <a:rPr lang="zh-CN" altLang="en-US" sz="2000" dirty="0">
                <a:highlight>
                  <a:srgbClr val="00FF00"/>
                </a:highlight>
              </a:rPr>
              <a:t>同列下一个</a:t>
            </a:r>
            <a:r>
              <a:rPr lang="zh-CN" altLang="en-US" sz="2000" dirty="0"/>
              <a:t>结点</a:t>
            </a:r>
            <a:endParaRPr lang="en-US" altLang="zh-CN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3C6B94-2FEB-DFB7-DB01-72B7BFC57FDD}"/>
              </a:ext>
            </a:extLst>
          </p:cNvPr>
          <p:cNvSpPr txBox="1"/>
          <p:nvPr/>
        </p:nvSpPr>
        <p:spPr>
          <a:xfrm>
            <a:off x="3131840" y="260648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表结点中数值应该</a:t>
            </a:r>
            <a:r>
              <a:rPr lang="en-US" altLang="zh-CN" dirty="0"/>
              <a:t>+1</a:t>
            </a:r>
            <a:r>
              <a:rPr lang="zh-CN" altLang="en-US" dirty="0"/>
              <a:t>为实际数值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720B2E-3A66-2178-7ABA-7F71BFE960C9}"/>
              </a:ext>
            </a:extLst>
          </p:cNvPr>
          <p:cNvSpPr txBox="1"/>
          <p:nvPr/>
        </p:nvSpPr>
        <p:spPr>
          <a:xfrm>
            <a:off x="3887352" y="551698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b="0" dirty="0"/>
              <a:t>0                1             2         3</a:t>
            </a:r>
            <a:endParaRPr lang="zh-CN" altLang="en-US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C7A324-7CE0-1A99-C160-15A0BAA562B4}"/>
              </a:ext>
            </a:extLst>
          </p:cNvPr>
          <p:cNvSpPr txBox="1"/>
          <p:nvPr/>
        </p:nvSpPr>
        <p:spPr>
          <a:xfrm>
            <a:off x="6516216" y="1299642"/>
            <a:ext cx="28023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可以把十字链表想象成</a:t>
            </a:r>
            <a:r>
              <a:rPr lang="zh-CN" altLang="en-US" sz="1800" dirty="0">
                <a:highlight>
                  <a:srgbClr val="00FF00"/>
                </a:highlight>
              </a:rPr>
              <a:t>邻接矩阵</a:t>
            </a:r>
            <a:r>
              <a:rPr lang="en-US" altLang="zh-CN" sz="1800" dirty="0"/>
              <a:t>.</a:t>
            </a:r>
          </a:p>
          <a:p>
            <a:r>
              <a:rPr lang="zh-CN" altLang="en-US" sz="1800" dirty="0"/>
              <a:t>元素值</a:t>
            </a:r>
            <a:r>
              <a:rPr lang="en-US" altLang="zh-CN" sz="1800" dirty="0"/>
              <a:t>=</a:t>
            </a:r>
            <a:r>
              <a:rPr lang="en-US" altLang="zh-CN" sz="1800" dirty="0">
                <a:highlight>
                  <a:srgbClr val="00FF00"/>
                </a:highlight>
              </a:rPr>
              <a:t>0</a:t>
            </a:r>
            <a:r>
              <a:rPr lang="zh-CN" altLang="en-US" sz="1800" dirty="0"/>
              <a:t>即</a:t>
            </a:r>
            <a:r>
              <a:rPr lang="zh-CN" altLang="en-US" sz="1800" dirty="0">
                <a:highlight>
                  <a:srgbClr val="00FF00"/>
                </a:highlight>
              </a:rPr>
              <a:t>无表结点</a:t>
            </a:r>
            <a:r>
              <a:rPr lang="en-US" altLang="zh-CN" sz="1800" dirty="0"/>
              <a:t>.</a:t>
            </a:r>
            <a:r>
              <a:rPr lang="zh-CN" altLang="en-US" sz="1800" dirty="0"/>
              <a:t>元素值</a:t>
            </a:r>
            <a:r>
              <a:rPr lang="en-US" altLang="zh-CN" sz="1800" dirty="0"/>
              <a:t>=</a:t>
            </a:r>
            <a:r>
              <a:rPr lang="en-US" altLang="zh-CN" sz="1800" dirty="0">
                <a:highlight>
                  <a:srgbClr val="00FF00"/>
                </a:highlight>
              </a:rPr>
              <a:t>1</a:t>
            </a:r>
            <a:r>
              <a:rPr lang="zh-CN" altLang="en-US" sz="1800" dirty="0"/>
              <a:t>即</a:t>
            </a:r>
            <a:r>
              <a:rPr lang="zh-CN" altLang="en-US" sz="1800" dirty="0">
                <a:highlight>
                  <a:srgbClr val="00FF00"/>
                </a:highlight>
              </a:rPr>
              <a:t>有结点</a:t>
            </a:r>
            <a:endParaRPr lang="en-US" altLang="zh-CN" sz="1800" dirty="0">
              <a:highlight>
                <a:srgbClr val="00FF00"/>
              </a:highlight>
            </a:endParaRPr>
          </a:p>
          <a:p>
            <a:r>
              <a:rPr lang="zh-CN" altLang="en-US" sz="1800" dirty="0">
                <a:highlight>
                  <a:srgbClr val="00FF00"/>
                </a:highlight>
              </a:rPr>
              <a:t>左</a:t>
            </a:r>
            <a:r>
              <a:rPr lang="zh-CN" altLang="en-US" sz="1800" dirty="0"/>
              <a:t>地址</a:t>
            </a:r>
            <a:r>
              <a:rPr lang="zh-CN" altLang="en-US" sz="1800" dirty="0">
                <a:highlight>
                  <a:srgbClr val="00FF00"/>
                </a:highlight>
              </a:rPr>
              <a:t>即行数</a:t>
            </a:r>
            <a:r>
              <a:rPr lang="en-US" altLang="zh-CN" sz="1800" dirty="0"/>
              <a:t>(</a:t>
            </a:r>
            <a:r>
              <a:rPr lang="zh-CN" altLang="en-US" sz="1800" dirty="0"/>
              <a:t>出</a:t>
            </a:r>
            <a:r>
              <a:rPr lang="en-US" altLang="zh-CN" sz="1800" dirty="0"/>
              <a:t>),</a:t>
            </a:r>
            <a:r>
              <a:rPr lang="zh-CN" altLang="en-US" sz="1800" dirty="0">
                <a:highlight>
                  <a:srgbClr val="00FF00"/>
                </a:highlight>
              </a:rPr>
              <a:t>右地址</a:t>
            </a:r>
            <a:r>
              <a:rPr lang="zh-CN" altLang="en-US" sz="1800" dirty="0"/>
              <a:t>即</a:t>
            </a:r>
            <a:r>
              <a:rPr lang="zh-CN" altLang="en-US" sz="1800" dirty="0">
                <a:highlight>
                  <a:srgbClr val="00FF00"/>
                </a:highlight>
              </a:rPr>
              <a:t>列</a:t>
            </a:r>
            <a:r>
              <a:rPr lang="zh-CN" altLang="en-US" sz="1800" dirty="0"/>
              <a:t>数</a:t>
            </a:r>
            <a:r>
              <a:rPr lang="en-US" altLang="zh-CN" sz="1800" dirty="0"/>
              <a:t>(</a:t>
            </a:r>
            <a:r>
              <a:rPr lang="zh-CN" altLang="en-US" sz="1800" dirty="0"/>
              <a:t>入</a:t>
            </a:r>
            <a:r>
              <a:rPr lang="en-US" altLang="zh-CN" sz="1800" dirty="0"/>
              <a:t>)</a:t>
            </a:r>
          </a:p>
          <a:p>
            <a:r>
              <a:rPr lang="zh-CN" altLang="en-US" sz="1800" dirty="0">
                <a:highlight>
                  <a:srgbClr val="00FF00"/>
                </a:highlight>
              </a:rPr>
              <a:t>右</a:t>
            </a:r>
            <a:r>
              <a:rPr lang="zh-CN" altLang="en-US" sz="1800" dirty="0"/>
              <a:t>指针域即</a:t>
            </a:r>
            <a:r>
              <a:rPr lang="zh-CN" altLang="en-US" sz="1800" dirty="0">
                <a:highlight>
                  <a:srgbClr val="00FF00"/>
                </a:highlight>
              </a:rPr>
              <a:t>出</a:t>
            </a:r>
            <a:r>
              <a:rPr lang="zh-CN" altLang="en-US" sz="1800" dirty="0"/>
              <a:t>点</a:t>
            </a:r>
            <a:r>
              <a:rPr lang="en-US" altLang="zh-CN" sz="1800" dirty="0"/>
              <a:t>,</a:t>
            </a:r>
            <a:r>
              <a:rPr lang="zh-CN" altLang="en-US" sz="1800" dirty="0">
                <a:highlight>
                  <a:srgbClr val="00FF00"/>
                </a:highlight>
              </a:rPr>
              <a:t>左</a:t>
            </a:r>
            <a:r>
              <a:rPr lang="zh-CN" altLang="en-US" sz="1800" dirty="0"/>
              <a:t>指针域即</a:t>
            </a:r>
            <a:r>
              <a:rPr lang="zh-CN" altLang="en-US" sz="1800" dirty="0">
                <a:highlight>
                  <a:srgbClr val="00FF00"/>
                </a:highlight>
              </a:rPr>
              <a:t>入</a:t>
            </a:r>
            <a:r>
              <a:rPr lang="zh-CN" altLang="en-US" sz="1800" dirty="0"/>
              <a:t>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4"/>
          <p:cNvSpPr/>
          <p:nvPr/>
        </p:nvSpPr>
        <p:spPr bwMode="auto">
          <a:xfrm>
            <a:off x="5486400" y="2667000"/>
            <a:ext cx="152400" cy="1676400"/>
          </a:xfrm>
          <a:prstGeom prst="leftBracket">
            <a:avLst>
              <a:gd name="adj" fmla="val 9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2227" name="Line 5"/>
          <p:cNvSpPr>
            <a:spLocks noChangeShapeType="1"/>
          </p:cNvSpPr>
          <p:nvPr/>
        </p:nvSpPr>
        <p:spPr bwMode="auto">
          <a:xfrm>
            <a:off x="2895600" y="1905000"/>
            <a:ext cx="152400" cy="990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Line 6"/>
          <p:cNvSpPr>
            <a:spLocks noChangeShapeType="1"/>
          </p:cNvSpPr>
          <p:nvPr/>
        </p:nvSpPr>
        <p:spPr bwMode="auto">
          <a:xfrm>
            <a:off x="457200" y="12192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Line 7"/>
          <p:cNvSpPr>
            <a:spLocks noChangeShapeType="1"/>
          </p:cNvSpPr>
          <p:nvPr/>
        </p:nvSpPr>
        <p:spPr bwMode="auto">
          <a:xfrm flipV="1">
            <a:off x="457200" y="1219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0" name="Line 8"/>
          <p:cNvSpPr>
            <a:spLocks noChangeShapeType="1"/>
          </p:cNvSpPr>
          <p:nvPr/>
        </p:nvSpPr>
        <p:spPr bwMode="auto">
          <a:xfrm>
            <a:off x="457200" y="16764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1" name="Line 9"/>
          <p:cNvSpPr>
            <a:spLocks noChangeShapeType="1"/>
          </p:cNvSpPr>
          <p:nvPr/>
        </p:nvSpPr>
        <p:spPr bwMode="auto">
          <a:xfrm flipV="1">
            <a:off x="1752600" y="1219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2" name="Line 10"/>
          <p:cNvSpPr>
            <a:spLocks noChangeShapeType="1"/>
          </p:cNvSpPr>
          <p:nvPr/>
        </p:nvSpPr>
        <p:spPr bwMode="auto">
          <a:xfrm flipV="1">
            <a:off x="3200400" y="12192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3" name="Text Box 11"/>
          <p:cNvSpPr txBox="1">
            <a:spLocks noChangeArrowheads="1"/>
          </p:cNvSpPr>
          <p:nvPr/>
        </p:nvSpPr>
        <p:spPr bwMode="auto">
          <a:xfrm>
            <a:off x="533400" y="12954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data</a:t>
            </a:r>
          </a:p>
        </p:txBody>
      </p:sp>
      <p:sp>
        <p:nvSpPr>
          <p:cNvPr id="52234" name="Text Box 12"/>
          <p:cNvSpPr txBox="1">
            <a:spLocks noChangeArrowheads="1"/>
          </p:cNvSpPr>
          <p:nvPr/>
        </p:nvSpPr>
        <p:spPr bwMode="auto">
          <a:xfrm>
            <a:off x="1905000" y="12954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firstedge</a:t>
            </a:r>
          </a:p>
        </p:txBody>
      </p:sp>
      <p:sp>
        <p:nvSpPr>
          <p:cNvPr id="52235" name="Line 17"/>
          <p:cNvSpPr>
            <a:spLocks noChangeShapeType="1"/>
          </p:cNvSpPr>
          <p:nvPr/>
        </p:nvSpPr>
        <p:spPr bwMode="auto">
          <a:xfrm>
            <a:off x="3033713" y="2324100"/>
            <a:ext cx="152400" cy="990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Line 18"/>
          <p:cNvSpPr>
            <a:spLocks noChangeShapeType="1"/>
          </p:cNvSpPr>
          <p:nvPr/>
        </p:nvSpPr>
        <p:spPr bwMode="auto">
          <a:xfrm>
            <a:off x="442913" y="27051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7" name="Line 19"/>
          <p:cNvSpPr>
            <a:spLocks noChangeShapeType="1"/>
          </p:cNvSpPr>
          <p:nvPr/>
        </p:nvSpPr>
        <p:spPr bwMode="auto">
          <a:xfrm flipV="1">
            <a:off x="4429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8" name="Line 20"/>
          <p:cNvSpPr>
            <a:spLocks noChangeShapeType="1"/>
          </p:cNvSpPr>
          <p:nvPr/>
        </p:nvSpPr>
        <p:spPr bwMode="auto">
          <a:xfrm>
            <a:off x="442913" y="31623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9" name="Line 21"/>
          <p:cNvSpPr>
            <a:spLocks noChangeShapeType="1"/>
          </p:cNvSpPr>
          <p:nvPr/>
        </p:nvSpPr>
        <p:spPr bwMode="auto">
          <a:xfrm flipV="1">
            <a:off x="10525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0" name="Line 22"/>
          <p:cNvSpPr>
            <a:spLocks noChangeShapeType="1"/>
          </p:cNvSpPr>
          <p:nvPr/>
        </p:nvSpPr>
        <p:spPr bwMode="auto">
          <a:xfrm flipV="1">
            <a:off x="16621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1" name="Text Box 23"/>
          <p:cNvSpPr txBox="1">
            <a:spLocks noChangeArrowheads="1"/>
          </p:cNvSpPr>
          <p:nvPr/>
        </p:nvSpPr>
        <p:spPr bwMode="auto">
          <a:xfrm>
            <a:off x="366713" y="27813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mark</a:t>
            </a:r>
          </a:p>
        </p:txBody>
      </p:sp>
      <p:sp>
        <p:nvSpPr>
          <p:cNvPr id="52242" name="Text Box 24"/>
          <p:cNvSpPr txBox="1">
            <a:spLocks noChangeArrowheads="1"/>
          </p:cNvSpPr>
          <p:nvPr/>
        </p:nvSpPr>
        <p:spPr bwMode="auto">
          <a:xfrm>
            <a:off x="747713" y="27813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ivex</a:t>
            </a:r>
          </a:p>
        </p:txBody>
      </p:sp>
      <p:sp>
        <p:nvSpPr>
          <p:cNvPr id="52243" name="Line 25"/>
          <p:cNvSpPr>
            <a:spLocks noChangeShapeType="1"/>
          </p:cNvSpPr>
          <p:nvPr/>
        </p:nvSpPr>
        <p:spPr bwMode="auto">
          <a:xfrm>
            <a:off x="3186113" y="27051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4" name="Line 26"/>
          <p:cNvSpPr>
            <a:spLocks noChangeShapeType="1"/>
          </p:cNvSpPr>
          <p:nvPr/>
        </p:nvSpPr>
        <p:spPr bwMode="auto">
          <a:xfrm flipV="1">
            <a:off x="46339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5" name="Line 27"/>
          <p:cNvSpPr>
            <a:spLocks noChangeShapeType="1"/>
          </p:cNvSpPr>
          <p:nvPr/>
        </p:nvSpPr>
        <p:spPr bwMode="auto">
          <a:xfrm>
            <a:off x="3186113" y="31623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Text Box 28"/>
          <p:cNvSpPr txBox="1">
            <a:spLocks noChangeArrowheads="1"/>
          </p:cNvSpPr>
          <p:nvPr/>
        </p:nvSpPr>
        <p:spPr bwMode="auto">
          <a:xfrm>
            <a:off x="1357313" y="27813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ilink</a:t>
            </a:r>
          </a:p>
        </p:txBody>
      </p:sp>
      <p:sp>
        <p:nvSpPr>
          <p:cNvPr id="52247" name="Text Box 29"/>
          <p:cNvSpPr txBox="1">
            <a:spLocks noChangeArrowheads="1"/>
          </p:cNvSpPr>
          <p:nvPr/>
        </p:nvSpPr>
        <p:spPr bwMode="auto">
          <a:xfrm>
            <a:off x="152400" y="2071688"/>
            <a:ext cx="419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边结点表中的结点的表示：</a:t>
            </a:r>
          </a:p>
        </p:txBody>
      </p:sp>
      <p:sp>
        <p:nvSpPr>
          <p:cNvPr id="52248" name="Text Box 30"/>
          <p:cNvSpPr txBox="1">
            <a:spLocks noChangeArrowheads="1"/>
          </p:cNvSpPr>
          <p:nvPr/>
        </p:nvSpPr>
        <p:spPr bwMode="auto">
          <a:xfrm>
            <a:off x="76200" y="698500"/>
            <a:ext cx="396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结点表中的结点的表示：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249" name="Text Box 31"/>
          <p:cNvSpPr txBox="1">
            <a:spLocks noChangeArrowheads="1"/>
          </p:cNvSpPr>
          <p:nvPr/>
        </p:nvSpPr>
        <p:spPr bwMode="auto">
          <a:xfrm>
            <a:off x="4000500" y="698500"/>
            <a:ext cx="50006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 dirty="0"/>
              <a:t>data:</a:t>
            </a:r>
            <a:r>
              <a:rPr lang="zh-CN" altLang="zh-CN" sz="1400" dirty="0"/>
              <a:t>结点的数据</a:t>
            </a:r>
            <a:r>
              <a:rPr lang="zh-CN" altLang="en-US" sz="1400" dirty="0"/>
              <a:t>域</a:t>
            </a:r>
            <a:r>
              <a:rPr lang="zh-CN" altLang="zh-CN" sz="1400" dirty="0"/>
              <a:t>，保存结点的数据值。</a:t>
            </a:r>
          </a:p>
          <a:p>
            <a:pPr>
              <a:spcBef>
                <a:spcPct val="50000"/>
              </a:spcBef>
            </a:pPr>
            <a:r>
              <a:rPr lang="en-US" altLang="zh-CN" sz="1400" dirty="0" err="1"/>
              <a:t>firstedge</a:t>
            </a:r>
            <a:r>
              <a:rPr lang="en-US" altLang="zh-CN" sz="1400" dirty="0"/>
              <a:t>: </a:t>
            </a:r>
            <a:r>
              <a:rPr lang="zh-CN" altLang="zh-CN" sz="1400" dirty="0"/>
              <a:t>结点的指针</a:t>
            </a:r>
            <a:r>
              <a:rPr lang="zh-CN" altLang="en-US" sz="1400" dirty="0"/>
              <a:t>域</a:t>
            </a:r>
            <a:r>
              <a:rPr lang="zh-CN" altLang="zh-CN" sz="1400" dirty="0"/>
              <a:t>，给出自该结点出发的的第一条边的                  边结点的地址。</a:t>
            </a:r>
            <a:endParaRPr lang="en-US" altLang="zh-CN" sz="1400" dirty="0"/>
          </a:p>
          <a:p>
            <a:pPr>
              <a:spcBef>
                <a:spcPct val="50000"/>
              </a:spcBef>
            </a:pPr>
            <a:r>
              <a:rPr lang="zh-CN" altLang="en-US" sz="1400" dirty="0">
                <a:highlight>
                  <a:srgbClr val="00FF00"/>
                </a:highlight>
              </a:rPr>
              <a:t>由于不需要表示出入所以头结点的只恨与只需要一个</a:t>
            </a:r>
            <a:endParaRPr lang="zh-CN" altLang="zh-CN" sz="1200" dirty="0">
              <a:highlight>
                <a:srgbClr val="00FF00"/>
              </a:highlight>
            </a:endParaRPr>
          </a:p>
        </p:txBody>
      </p:sp>
      <p:sp>
        <p:nvSpPr>
          <p:cNvPr id="52250" name="Text Box 32"/>
          <p:cNvSpPr txBox="1">
            <a:spLocks noChangeArrowheads="1"/>
          </p:cNvSpPr>
          <p:nvPr/>
        </p:nvSpPr>
        <p:spPr bwMode="auto">
          <a:xfrm>
            <a:off x="4938713" y="2324100"/>
            <a:ext cx="3276600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/>
              <a:t>info:  </a:t>
            </a:r>
            <a:r>
              <a:rPr lang="zh-CN" altLang="zh-CN" sz="1400"/>
              <a:t>边结点的数据</a:t>
            </a:r>
            <a:r>
              <a:rPr lang="zh-CN" altLang="en-US" sz="1400"/>
              <a:t>域</a:t>
            </a:r>
            <a:r>
              <a:rPr lang="zh-CN" altLang="zh-CN" sz="1400"/>
              <a:t>，保存边的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权值等。</a:t>
            </a:r>
          </a:p>
          <a:p>
            <a:pPr>
              <a:spcBef>
                <a:spcPct val="50000"/>
              </a:spcBef>
            </a:pPr>
            <a:r>
              <a:rPr lang="en-US" altLang="zh-CN" sz="1400"/>
              <a:t>mark:</a:t>
            </a:r>
            <a:r>
              <a:rPr lang="zh-CN" altLang="zh-CN" sz="1400"/>
              <a:t>边结点的标志域，用于标识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 该条边是否被访问过。</a:t>
            </a:r>
          </a:p>
        </p:txBody>
      </p:sp>
      <p:sp>
        <p:nvSpPr>
          <p:cNvPr id="52251" name="Line 33"/>
          <p:cNvSpPr>
            <a:spLocks noChangeShapeType="1"/>
          </p:cNvSpPr>
          <p:nvPr/>
        </p:nvSpPr>
        <p:spPr bwMode="auto">
          <a:xfrm flipV="1">
            <a:off x="22717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Line 34"/>
          <p:cNvSpPr>
            <a:spLocks noChangeShapeType="1"/>
          </p:cNvSpPr>
          <p:nvPr/>
        </p:nvSpPr>
        <p:spPr bwMode="auto">
          <a:xfrm flipV="1">
            <a:off x="28813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3" name="Text Box 35"/>
          <p:cNvSpPr txBox="1">
            <a:spLocks noChangeArrowheads="1"/>
          </p:cNvSpPr>
          <p:nvPr/>
        </p:nvSpPr>
        <p:spPr bwMode="auto">
          <a:xfrm>
            <a:off x="1966913" y="27813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jvex</a:t>
            </a:r>
          </a:p>
        </p:txBody>
      </p:sp>
      <p:sp>
        <p:nvSpPr>
          <p:cNvPr id="52254" name="Text Box 36"/>
          <p:cNvSpPr txBox="1">
            <a:spLocks noChangeArrowheads="1"/>
          </p:cNvSpPr>
          <p:nvPr/>
        </p:nvSpPr>
        <p:spPr bwMode="auto">
          <a:xfrm>
            <a:off x="3643313" y="27813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info</a:t>
            </a:r>
          </a:p>
        </p:txBody>
      </p:sp>
      <p:sp>
        <p:nvSpPr>
          <p:cNvPr id="52255" name="Text Box 37"/>
          <p:cNvSpPr txBox="1">
            <a:spLocks noChangeArrowheads="1"/>
          </p:cNvSpPr>
          <p:nvPr/>
        </p:nvSpPr>
        <p:spPr bwMode="auto">
          <a:xfrm>
            <a:off x="214313" y="3290888"/>
            <a:ext cx="2133600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/>
              <a:t>ivex: </a:t>
            </a:r>
            <a:r>
              <a:rPr lang="zh-CN" altLang="en-US" sz="1400"/>
              <a:t>本条边</a:t>
            </a:r>
            <a:r>
              <a:rPr lang="zh-CN" altLang="zh-CN" sz="1400"/>
              <a:t>依附的一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个</a:t>
            </a:r>
            <a:r>
              <a:rPr lang="zh-CN" altLang="en-US" sz="1400"/>
              <a:t>结点的地址</a:t>
            </a:r>
            <a:r>
              <a:rPr lang="zh-CN" altLang="zh-CN" sz="1400"/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1400"/>
              <a:t>ilink: </a:t>
            </a:r>
            <a:r>
              <a:rPr lang="zh-CN" altLang="zh-CN" sz="1400"/>
              <a:t>依附于该结点（地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址由</a:t>
            </a:r>
            <a:r>
              <a:rPr lang="en-US" altLang="zh-CN" sz="1400"/>
              <a:t>ivex</a:t>
            </a:r>
            <a:r>
              <a:rPr lang="zh-CN" altLang="zh-CN" sz="1400"/>
              <a:t>给出）的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边中的下一条边的</a:t>
            </a:r>
          </a:p>
          <a:p>
            <a:pPr>
              <a:spcBef>
                <a:spcPct val="50000"/>
              </a:spcBef>
            </a:pPr>
            <a:r>
              <a:rPr lang="zh-CN" altLang="en-US" sz="1400"/>
              <a:t>         </a:t>
            </a:r>
            <a:r>
              <a:rPr lang="zh-CN" altLang="zh-CN" sz="1400"/>
              <a:t>的地址。</a:t>
            </a:r>
          </a:p>
        </p:txBody>
      </p:sp>
      <p:sp>
        <p:nvSpPr>
          <p:cNvPr id="52256" name="Line 39"/>
          <p:cNvSpPr>
            <a:spLocks noChangeShapeType="1"/>
          </p:cNvSpPr>
          <p:nvPr/>
        </p:nvSpPr>
        <p:spPr bwMode="auto">
          <a:xfrm flipV="1">
            <a:off x="3719513" y="27051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7" name="Text Box 41"/>
          <p:cNvSpPr txBox="1">
            <a:spLocks noChangeArrowheads="1"/>
          </p:cNvSpPr>
          <p:nvPr/>
        </p:nvSpPr>
        <p:spPr bwMode="auto">
          <a:xfrm>
            <a:off x="2728913" y="274955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/>
              <a:t>jlink</a:t>
            </a:r>
          </a:p>
        </p:txBody>
      </p:sp>
      <p:sp>
        <p:nvSpPr>
          <p:cNvPr id="52258" name="Text Box 42"/>
          <p:cNvSpPr txBox="1">
            <a:spLocks noChangeArrowheads="1"/>
          </p:cNvSpPr>
          <p:nvPr/>
        </p:nvSpPr>
        <p:spPr bwMode="auto">
          <a:xfrm>
            <a:off x="2424113" y="3314700"/>
            <a:ext cx="2133600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/>
              <a:t>jvex: </a:t>
            </a:r>
            <a:r>
              <a:rPr lang="zh-CN" altLang="en-US" sz="1400"/>
              <a:t>本条边</a:t>
            </a:r>
            <a:r>
              <a:rPr lang="zh-CN" altLang="zh-CN" sz="1400"/>
              <a:t>依附的另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 一个</a:t>
            </a:r>
            <a:r>
              <a:rPr lang="zh-CN" altLang="en-US" sz="1400"/>
              <a:t>结点的地址</a:t>
            </a:r>
            <a:r>
              <a:rPr lang="zh-CN" altLang="zh-CN" sz="1400"/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1400"/>
              <a:t>jlink: </a:t>
            </a:r>
            <a:r>
              <a:rPr lang="zh-CN" altLang="zh-CN" sz="1400"/>
              <a:t>依附于该结点（地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址由</a:t>
            </a:r>
            <a:r>
              <a:rPr lang="en-US" altLang="zh-CN" sz="1400"/>
              <a:t>jvex</a:t>
            </a:r>
            <a:r>
              <a:rPr lang="zh-CN" altLang="zh-CN" sz="1400"/>
              <a:t>给出）的</a:t>
            </a:r>
          </a:p>
          <a:p>
            <a:pPr>
              <a:spcBef>
                <a:spcPct val="50000"/>
              </a:spcBef>
            </a:pPr>
            <a:r>
              <a:rPr lang="zh-CN" altLang="zh-CN" sz="1400"/>
              <a:t>         边中的下一条边的</a:t>
            </a:r>
          </a:p>
          <a:p>
            <a:pPr>
              <a:spcBef>
                <a:spcPct val="50000"/>
              </a:spcBef>
            </a:pPr>
            <a:r>
              <a:rPr lang="zh-CN" altLang="en-US" sz="1400"/>
              <a:t>         </a:t>
            </a:r>
            <a:r>
              <a:rPr lang="zh-CN" altLang="zh-CN" sz="1400"/>
              <a:t>的地址。</a:t>
            </a:r>
          </a:p>
        </p:txBody>
      </p:sp>
      <p:sp>
        <p:nvSpPr>
          <p:cNvPr id="52259" name="Rectangle 77"/>
          <p:cNvSpPr>
            <a:spLocks noChangeArrowheads="1"/>
          </p:cNvSpPr>
          <p:nvPr/>
        </p:nvSpPr>
        <p:spPr bwMode="auto">
          <a:xfrm>
            <a:off x="39688" y="0"/>
            <a:ext cx="4960937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十字链表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---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用于无向图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B6341E-ADA2-0768-CBD8-5AC5BA528BCB}"/>
              </a:ext>
            </a:extLst>
          </p:cNvPr>
          <p:cNvSpPr txBox="1"/>
          <p:nvPr/>
        </p:nvSpPr>
        <p:spPr>
          <a:xfrm>
            <a:off x="4938713" y="3861048"/>
            <a:ext cx="30896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mark</a:t>
            </a:r>
            <a:r>
              <a:rPr lang="zh-CN" altLang="en-US" dirty="0"/>
              <a:t>用于标记</a:t>
            </a:r>
            <a:r>
              <a:rPr lang="en-US" altLang="zh-CN" dirty="0"/>
              <a:t>,</a:t>
            </a:r>
            <a:r>
              <a:rPr lang="zh-CN" altLang="en-US" dirty="0"/>
              <a:t>一般会表示但是不会额外写什么多一个空</a:t>
            </a:r>
            <a:r>
              <a:rPr lang="en-US" altLang="zh-CN" dirty="0"/>
              <a:t>)info</a:t>
            </a:r>
            <a:r>
              <a:rPr lang="zh-CN" altLang="en-US" dirty="0"/>
              <a:t>不写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advClick="0" advTm="1000"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06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1143000"/>
            <a:ext cx="645160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3" descr="C:\Users\Administrator\AppData\Roaming\Tencent\Users\597999009\QQ\WinTemp\RichOle\5}N7EM]}J`(84APT(NM86R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725" y="0"/>
            <a:ext cx="22002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77"/>
          <p:cNvSpPr>
            <a:spLocks noChangeArrowheads="1"/>
          </p:cNvSpPr>
          <p:nvPr/>
        </p:nvSpPr>
        <p:spPr bwMode="auto">
          <a:xfrm>
            <a:off x="76394" y="6320"/>
            <a:ext cx="4960937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十字链表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1B40B5-EAA4-13CC-2C5F-98A4C23AA676}"/>
              </a:ext>
            </a:extLst>
          </p:cNvPr>
          <p:cNvSpPr txBox="1"/>
          <p:nvPr/>
        </p:nvSpPr>
        <p:spPr>
          <a:xfrm>
            <a:off x="1115616" y="522258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表结点中数值应该</a:t>
            </a:r>
            <a:r>
              <a:rPr lang="en-US" altLang="zh-CN" dirty="0"/>
              <a:t>+1</a:t>
            </a:r>
            <a:r>
              <a:rPr lang="zh-CN" altLang="en-US" dirty="0"/>
              <a:t>为实际数值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1118D9-B6FD-96C9-0818-7A6A01BEE4E5}"/>
              </a:ext>
            </a:extLst>
          </p:cNvPr>
          <p:cNvSpPr txBox="1"/>
          <p:nvPr/>
        </p:nvSpPr>
        <p:spPr>
          <a:xfrm>
            <a:off x="73347" y="5218845"/>
            <a:ext cx="88250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highlight>
                  <a:srgbClr val="00FF00"/>
                </a:highlight>
              </a:rPr>
              <a:t>可以将所有的边表示为</a:t>
            </a:r>
            <a:r>
              <a:rPr lang="en-US" altLang="zh-CN" sz="2000" dirty="0" err="1">
                <a:highlight>
                  <a:srgbClr val="00FF00"/>
                </a:highlight>
              </a:rPr>
              <a:t>i</a:t>
            </a:r>
            <a:r>
              <a:rPr lang="en-US" altLang="zh-CN" sz="2000" dirty="0">
                <a:highlight>
                  <a:srgbClr val="00FF00"/>
                </a:highlight>
              </a:rPr>
              <a:t>-j,</a:t>
            </a:r>
            <a:r>
              <a:rPr lang="zh-CN" altLang="en-US" sz="2000" dirty="0">
                <a:highlight>
                  <a:srgbClr val="00FF00"/>
                </a:highlight>
              </a:rPr>
              <a:t>都从大小排列</a:t>
            </a:r>
            <a:r>
              <a:rPr lang="en-US" altLang="zh-CN" sz="2000" dirty="0">
                <a:highlight>
                  <a:srgbClr val="00FF00"/>
                </a:highlight>
              </a:rPr>
              <a:t>(eg0-1,0-3,21-2,1-4,2-3,2-4)</a:t>
            </a:r>
          </a:p>
          <a:p>
            <a:r>
              <a:rPr lang="zh-CN" altLang="en-US" sz="2000" dirty="0">
                <a:highlight>
                  <a:srgbClr val="00FF00"/>
                </a:highlight>
              </a:rPr>
              <a:t>之后第一个元素相同的排在一行</a:t>
            </a:r>
            <a:r>
              <a:rPr lang="en-US" altLang="zh-CN" sz="2000" dirty="0">
                <a:highlight>
                  <a:srgbClr val="00FF00"/>
                </a:highlight>
              </a:rPr>
              <a:t>.</a:t>
            </a:r>
            <a:r>
              <a:rPr lang="zh-CN" altLang="en-US" sz="2000" dirty="0">
                <a:highlight>
                  <a:srgbClr val="00FF00"/>
                </a:highlight>
              </a:rPr>
              <a:t>头结点依次串联起有头结点元素的表结点</a:t>
            </a:r>
            <a:endParaRPr lang="en-US" altLang="zh-CN" sz="2000" dirty="0">
              <a:highlight>
                <a:srgbClr val="00FF00"/>
              </a:highlight>
            </a:endParaRPr>
          </a:p>
          <a:p>
            <a:r>
              <a:rPr lang="en-US" altLang="zh-CN" sz="2000" dirty="0">
                <a:highlight>
                  <a:srgbClr val="00FF00"/>
                </a:highlight>
              </a:rPr>
              <a:t>(</a:t>
            </a:r>
            <a:r>
              <a:rPr lang="zh-CN" altLang="en-US" sz="2000" dirty="0">
                <a:highlight>
                  <a:srgbClr val="00FF00"/>
                </a:highlight>
              </a:rPr>
              <a:t>注意如果头结点元素在左则使用左指针域</a:t>
            </a:r>
            <a:r>
              <a:rPr lang="en-US" altLang="zh-CN" sz="2000" dirty="0">
                <a:highlight>
                  <a:srgbClr val="00FF00"/>
                </a:highlight>
              </a:rPr>
              <a:t>,</a:t>
            </a:r>
            <a:r>
              <a:rPr lang="zh-CN" altLang="en-US" sz="2000" dirty="0">
                <a:highlight>
                  <a:srgbClr val="00FF00"/>
                </a:highlight>
              </a:rPr>
              <a:t>在右使用右指针域</a:t>
            </a:r>
            <a:r>
              <a:rPr lang="en-US" altLang="zh-CN" sz="2000" dirty="0">
                <a:highlight>
                  <a:srgbClr val="00FF00"/>
                </a:highlight>
              </a:rPr>
              <a:t>)</a:t>
            </a:r>
          </a:p>
        </p:txBody>
      </p:sp>
    </p:spTree>
  </p:cSld>
  <p:clrMapOvr>
    <a:masterClrMapping/>
  </p:clrMapOvr>
  <p:transition advClick="0" advTm="1000"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9" name="Rectangle 7"/>
          <p:cNvSpPr>
            <a:spLocks noChangeArrowheads="1"/>
          </p:cNvSpPr>
          <p:nvPr/>
        </p:nvSpPr>
        <p:spPr bwMode="auto">
          <a:xfrm>
            <a:off x="127000" y="1525588"/>
            <a:ext cx="8534400" cy="1373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579755" indent="-579755">
              <a:buFontTx/>
              <a:buNone/>
              <a:defRPr/>
            </a:pPr>
            <a:r>
              <a:rPr kumimoji="1" lang="zh-CN" altLang="en-US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遍历定义：</a:t>
            </a:r>
            <a:r>
              <a:rPr kumimoji="1"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从已给的连通图中某一顶点出发，沿着一些边访遍图中所有的顶点，且使每个顶点仅被访问一次，就叫做</a:t>
            </a:r>
            <a:r>
              <a:rPr kumimoji="1"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图的遍历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，它是</a:t>
            </a:r>
            <a:r>
              <a:rPr kumimoji="1"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图的</a:t>
            </a:r>
            <a:r>
              <a:rPr kumimoji="1" lang="zh-CN" altLang="en-US" dirty="0">
                <a:solidFill>
                  <a:schemeClr val="accent2"/>
                </a:solidFill>
                <a:highlight>
                  <a:srgbClr val="00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基本运算</a:t>
            </a:r>
            <a:r>
              <a:rPr kumimoji="1"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。</a:t>
            </a:r>
          </a:p>
        </p:txBody>
      </p:sp>
      <p:sp>
        <p:nvSpPr>
          <p:cNvPr id="904200" name="Rectangle 8"/>
          <p:cNvSpPr>
            <a:spLocks noChangeArrowheads="1"/>
          </p:cNvSpPr>
          <p:nvPr/>
        </p:nvSpPr>
        <p:spPr bwMode="auto">
          <a:xfrm>
            <a:off x="0" y="2898775"/>
            <a:ext cx="8534400" cy="2014538"/>
          </a:xfrm>
          <a:prstGeom prst="rect">
            <a:avLst/>
          </a:prstGeom>
          <a:solidFill>
            <a:srgbClr val="FFFFE7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666750" indent="-666750">
              <a:buFontTx/>
              <a:buNone/>
              <a:defRPr/>
            </a:pPr>
            <a:r>
              <a:rPr kumimoji="1" lang="zh-CN" altLang="en-US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遍历实质：</a:t>
            </a:r>
            <a:r>
              <a:rPr kumimoji="1"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找每个顶点的邻接点的过程。</a:t>
            </a:r>
          </a:p>
          <a:p>
            <a:pPr marL="666750" indent="-666750">
              <a:spcBef>
                <a:spcPct val="50000"/>
              </a:spcBef>
              <a:buFontTx/>
              <a:buNone/>
              <a:defRPr/>
            </a:pPr>
            <a:r>
              <a:rPr kumimoji="1" lang="zh-CN" altLang="en-US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图的特点：</a:t>
            </a:r>
            <a:r>
              <a:rPr kumimoji="1"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图中可能存在</a:t>
            </a:r>
            <a:r>
              <a:rPr kumimoji="1" lang="zh-CN" altLang="en-US" dirty="0">
                <a:solidFill>
                  <a:schemeClr val="accent2"/>
                </a:solidFill>
                <a:highlight>
                  <a:srgbClr val="00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回路</a:t>
            </a:r>
            <a:r>
              <a:rPr kumimoji="1"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，且图的任一顶点都可能与其它顶点相通，在访问完某个顶点之后可能会沿着某些边</a:t>
            </a:r>
            <a:r>
              <a:rPr kumimoji="1" lang="zh-CN" altLang="en-US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又回到了曾经访问过的顶点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。</a:t>
            </a:r>
            <a:endParaRPr kumimoji="1" lang="zh-CN" altLang="en-US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+mn-ea"/>
            </a:endParaRPr>
          </a:p>
        </p:txBody>
      </p:sp>
      <p:sp>
        <p:nvSpPr>
          <p:cNvPr id="54276" name="Rectangle 1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6.5 </a:t>
            </a:r>
            <a:r>
              <a:rPr lang="zh-CN" altLang="en-US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图的遍历</a:t>
            </a:r>
          </a:p>
        </p:txBody>
      </p:sp>
      <p:sp>
        <p:nvSpPr>
          <p:cNvPr id="54277" name="Line 1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4278" name="Picture 1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25" name="Rectangle 9"/>
          <p:cNvSpPr>
            <a:spLocks noChangeArrowheads="1"/>
          </p:cNvSpPr>
          <p:nvPr/>
        </p:nvSpPr>
        <p:spPr bwMode="auto">
          <a:xfrm>
            <a:off x="2268538" y="3644900"/>
            <a:ext cx="3165475" cy="1747838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楷体_GB2312"/>
                <a:cs typeface="楷体_GB2312"/>
              </a:rPr>
              <a:t>图常用的遍历：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zh-CN" altLang="en-US" sz="3200">
                <a:solidFill>
                  <a:srgbClr val="FF3300"/>
                </a:solidFill>
                <a:ea typeface="楷体_GB2312"/>
                <a:cs typeface="楷体_GB2312"/>
              </a:rPr>
              <a:t>深度优先搜索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zh-CN" altLang="en-US" sz="3200">
                <a:solidFill>
                  <a:srgbClr val="FF3300"/>
                </a:solidFill>
                <a:ea typeface="楷体_GB2312"/>
                <a:cs typeface="楷体_GB2312"/>
              </a:rPr>
              <a:t>广度优先搜索</a:t>
            </a:r>
          </a:p>
        </p:txBody>
      </p:sp>
      <p:sp>
        <p:nvSpPr>
          <p:cNvPr id="751626" name="Rectangle 10"/>
          <p:cNvSpPr>
            <a:spLocks noChangeArrowheads="1"/>
          </p:cNvSpPr>
          <p:nvPr/>
        </p:nvSpPr>
        <p:spPr bwMode="auto">
          <a:xfrm>
            <a:off x="152400" y="1100138"/>
            <a:ext cx="87407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66750" indent="-666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  <a:ea typeface="楷体_GB2312"/>
                <a:cs typeface="楷体_GB2312"/>
              </a:rPr>
              <a:t>解决思路：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设置</a:t>
            </a:r>
            <a:r>
              <a:rPr lang="zh-CN" altLang="en-US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辅助数组</a:t>
            </a:r>
            <a:r>
              <a:rPr lang="zh-CN" altLang="en-US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i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visited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 [n ]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，用来标记每个被访问过的顶点。</a:t>
            </a: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初始状态为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0</a:t>
            </a: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en-US" altLang="zh-CN" i="1">
                <a:latin typeface="楷体_GB2312"/>
                <a:ea typeface="楷体_GB2312"/>
                <a:cs typeface="楷体_GB2312"/>
              </a:rPr>
              <a:t>i</a:t>
            </a:r>
            <a:r>
              <a:rPr lang="en-US" altLang="zh-CN" i="1" baseline="-2500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被访问，改 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visited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 [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i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]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为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，防止被多次访问</a:t>
            </a:r>
            <a:endParaRPr lang="zh-CN" altLang="en-US">
              <a:solidFill>
                <a:schemeClr val="accent1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2468" name="Rectangle 11"/>
          <p:cNvSpPr>
            <a:spLocks noChangeArrowheads="1"/>
          </p:cNvSpPr>
          <p:nvPr/>
        </p:nvSpPr>
        <p:spPr bwMode="auto">
          <a:xfrm>
            <a:off x="152400" y="571500"/>
            <a:ext cx="3408363" cy="528638"/>
          </a:xfrm>
          <a:prstGeom prst="rect">
            <a:avLst/>
          </a:prstGeom>
          <a:solidFill>
            <a:srgbClr val="CCFFFF"/>
          </a:solidFill>
          <a:ln w="9525">
            <a:solidFill>
              <a:srgbClr val="CCFFFF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怎样避免重复访问？</a:t>
            </a:r>
          </a:p>
        </p:txBody>
      </p:sp>
    </p:spTree>
  </p:cSld>
  <p:clrMapOvr>
    <a:masterClrMapping/>
  </p:clrMapOvr>
  <p:transition>
    <p:cover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98" name="Rectangle 50"/>
          <p:cNvSpPr>
            <a:spLocks noChangeArrowheads="1"/>
          </p:cNvSpPr>
          <p:nvPr/>
        </p:nvSpPr>
        <p:spPr bwMode="auto">
          <a:xfrm>
            <a:off x="228600" y="685800"/>
            <a:ext cx="853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just" eaLnBrk="1" hangingPunct="1"/>
            <a:r>
              <a:rPr lang="zh-CN" altLang="en-US" sz="3200">
                <a:solidFill>
                  <a:srgbClr val="FF3300"/>
                </a:solidFill>
                <a:latin typeface="黑体" panose="02010609060101010101" pitchFamily="49" charset="-122"/>
                <a:ea typeface="楷体_GB2312"/>
                <a:cs typeface="楷体_GB2312"/>
              </a:rPr>
              <a:t>基本思想：</a:t>
            </a:r>
            <a:r>
              <a:rPr lang="en-US" altLang="zh-CN" sz="3200">
                <a:solidFill>
                  <a:schemeClr val="tx2"/>
                </a:solidFill>
                <a:ea typeface="楷体_GB2312"/>
                <a:cs typeface="楷体_GB2312"/>
              </a:rPr>
              <a:t>——</a:t>
            </a:r>
            <a:r>
              <a:rPr lang="zh-CN" altLang="en-US" sz="3200">
                <a:solidFill>
                  <a:schemeClr val="tx2"/>
                </a:solidFill>
                <a:ea typeface="楷体_GB2312"/>
                <a:cs typeface="楷体_GB2312"/>
              </a:rPr>
              <a:t>仿树的先序遍历过程。</a:t>
            </a:r>
          </a:p>
        </p:txBody>
      </p:sp>
      <p:sp>
        <p:nvSpPr>
          <p:cNvPr id="846901" name="Text Box 53"/>
          <p:cNvSpPr txBox="1">
            <a:spLocks noChangeArrowheads="1"/>
          </p:cNvSpPr>
          <p:nvPr/>
        </p:nvSpPr>
        <p:spPr bwMode="auto">
          <a:xfrm>
            <a:off x="4665663" y="1935163"/>
            <a:ext cx="609600" cy="57943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v1</a:t>
            </a:r>
          </a:p>
        </p:txBody>
      </p:sp>
      <p:grpSp>
        <p:nvGrpSpPr>
          <p:cNvPr id="2" name="Group 54"/>
          <p:cNvGrpSpPr/>
          <p:nvPr/>
        </p:nvGrpSpPr>
        <p:grpSpPr bwMode="auto">
          <a:xfrm>
            <a:off x="457200" y="1447800"/>
            <a:ext cx="3657600" cy="2413000"/>
            <a:chOff x="192" y="2182"/>
            <a:chExt cx="2304" cy="1520"/>
          </a:xfrm>
        </p:grpSpPr>
        <p:sp>
          <p:nvSpPr>
            <p:cNvPr id="63512" name="Oval 55"/>
            <p:cNvSpPr>
              <a:spLocks noChangeArrowheads="1"/>
            </p:cNvSpPr>
            <p:nvPr/>
          </p:nvSpPr>
          <p:spPr bwMode="auto">
            <a:xfrm>
              <a:off x="928" y="2182"/>
              <a:ext cx="234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63513" name="Oval 56"/>
            <p:cNvSpPr>
              <a:spLocks noChangeArrowheads="1"/>
            </p:cNvSpPr>
            <p:nvPr/>
          </p:nvSpPr>
          <p:spPr bwMode="auto">
            <a:xfrm>
              <a:off x="540" y="2584"/>
              <a:ext cx="234" cy="269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63514" name="Oval 57"/>
            <p:cNvSpPr>
              <a:spLocks noChangeArrowheads="1"/>
            </p:cNvSpPr>
            <p:nvPr/>
          </p:nvSpPr>
          <p:spPr bwMode="auto">
            <a:xfrm>
              <a:off x="1853" y="2542"/>
              <a:ext cx="232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63515" name="Oval 58"/>
            <p:cNvSpPr>
              <a:spLocks noChangeArrowheads="1"/>
            </p:cNvSpPr>
            <p:nvPr/>
          </p:nvSpPr>
          <p:spPr bwMode="auto">
            <a:xfrm>
              <a:off x="618" y="3432"/>
              <a:ext cx="233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v8</a:t>
              </a:r>
            </a:p>
          </p:txBody>
        </p:sp>
        <p:sp>
          <p:nvSpPr>
            <p:cNvPr id="63516" name="Line 59"/>
            <p:cNvSpPr>
              <a:spLocks noChangeShapeType="1"/>
            </p:cNvSpPr>
            <p:nvPr/>
          </p:nvSpPr>
          <p:spPr bwMode="auto">
            <a:xfrm>
              <a:off x="1162" y="2298"/>
              <a:ext cx="735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7" name="Line 60"/>
            <p:cNvSpPr>
              <a:spLocks noChangeShapeType="1"/>
            </p:cNvSpPr>
            <p:nvPr/>
          </p:nvSpPr>
          <p:spPr bwMode="auto">
            <a:xfrm flipH="1">
              <a:off x="696" y="2374"/>
              <a:ext cx="272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8" name="Line 61"/>
            <p:cNvSpPr>
              <a:spLocks noChangeShapeType="1"/>
            </p:cNvSpPr>
            <p:nvPr/>
          </p:nvSpPr>
          <p:spPr bwMode="auto">
            <a:xfrm>
              <a:off x="734" y="2815"/>
              <a:ext cx="156" cy="1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9" name="Line 62"/>
            <p:cNvSpPr>
              <a:spLocks noChangeShapeType="1"/>
            </p:cNvSpPr>
            <p:nvPr/>
          </p:nvSpPr>
          <p:spPr bwMode="auto">
            <a:xfrm>
              <a:off x="2047" y="2774"/>
              <a:ext cx="311" cy="3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63"/>
            <p:cNvSpPr>
              <a:spLocks noChangeShapeType="1"/>
            </p:cNvSpPr>
            <p:nvPr/>
          </p:nvSpPr>
          <p:spPr bwMode="auto">
            <a:xfrm flipH="1">
              <a:off x="1775" y="2812"/>
              <a:ext cx="156" cy="3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Oval 64"/>
            <p:cNvSpPr>
              <a:spLocks noChangeArrowheads="1"/>
            </p:cNvSpPr>
            <p:nvPr/>
          </p:nvSpPr>
          <p:spPr bwMode="auto">
            <a:xfrm>
              <a:off x="2264" y="3069"/>
              <a:ext cx="232" cy="271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v7</a:t>
              </a:r>
            </a:p>
          </p:txBody>
        </p:sp>
        <p:sp>
          <p:nvSpPr>
            <p:cNvPr id="63522" name="Oval 65"/>
            <p:cNvSpPr>
              <a:spLocks noChangeArrowheads="1"/>
            </p:cNvSpPr>
            <p:nvPr/>
          </p:nvSpPr>
          <p:spPr bwMode="auto">
            <a:xfrm>
              <a:off x="1620" y="3082"/>
              <a:ext cx="233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v6</a:t>
              </a:r>
            </a:p>
          </p:txBody>
        </p:sp>
        <p:sp>
          <p:nvSpPr>
            <p:cNvPr id="63523" name="Oval 66"/>
            <p:cNvSpPr>
              <a:spLocks noChangeArrowheads="1"/>
            </p:cNvSpPr>
            <p:nvPr/>
          </p:nvSpPr>
          <p:spPr bwMode="auto">
            <a:xfrm>
              <a:off x="192" y="3008"/>
              <a:ext cx="232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63524" name="Oval 67"/>
            <p:cNvSpPr>
              <a:spLocks noChangeArrowheads="1"/>
            </p:cNvSpPr>
            <p:nvPr/>
          </p:nvSpPr>
          <p:spPr bwMode="auto">
            <a:xfrm>
              <a:off x="890" y="2969"/>
              <a:ext cx="232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63525" name="Line 68"/>
            <p:cNvSpPr>
              <a:spLocks noChangeShapeType="1"/>
            </p:cNvSpPr>
            <p:nvPr/>
          </p:nvSpPr>
          <p:spPr bwMode="auto">
            <a:xfrm flipH="1">
              <a:off x="386" y="2776"/>
              <a:ext cx="154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6" name="Line 69"/>
            <p:cNvSpPr>
              <a:spLocks noChangeShapeType="1"/>
            </p:cNvSpPr>
            <p:nvPr/>
          </p:nvSpPr>
          <p:spPr bwMode="auto">
            <a:xfrm>
              <a:off x="386" y="3278"/>
              <a:ext cx="272" cy="1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7" name="Line 70"/>
            <p:cNvSpPr>
              <a:spLocks noChangeShapeType="1"/>
            </p:cNvSpPr>
            <p:nvPr/>
          </p:nvSpPr>
          <p:spPr bwMode="auto">
            <a:xfrm flipH="1">
              <a:off x="851" y="3239"/>
              <a:ext cx="117" cy="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6919" name="Rectangle 71"/>
          <p:cNvSpPr>
            <a:spLocks noChangeArrowheads="1"/>
          </p:cNvSpPr>
          <p:nvPr/>
        </p:nvSpPr>
        <p:spPr bwMode="auto">
          <a:xfrm>
            <a:off x="5429250" y="1462088"/>
            <a:ext cx="1660525" cy="51911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DFS 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结果</a:t>
            </a:r>
          </a:p>
        </p:txBody>
      </p:sp>
      <p:sp>
        <p:nvSpPr>
          <p:cNvPr id="846921" name="Rectangle 73"/>
          <p:cNvSpPr>
            <a:spLocks noChangeArrowheads="1"/>
          </p:cNvSpPr>
          <p:nvPr/>
        </p:nvSpPr>
        <p:spPr bwMode="auto">
          <a:xfrm>
            <a:off x="5046663" y="19351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2" name="Rectangle 74"/>
          <p:cNvSpPr>
            <a:spLocks noChangeArrowheads="1"/>
          </p:cNvSpPr>
          <p:nvPr/>
        </p:nvSpPr>
        <p:spPr bwMode="auto">
          <a:xfrm>
            <a:off x="5902325" y="1935163"/>
            <a:ext cx="59213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3" name="Rectangle 75"/>
          <p:cNvSpPr>
            <a:spLocks noChangeArrowheads="1"/>
          </p:cNvSpPr>
          <p:nvPr/>
        </p:nvSpPr>
        <p:spPr bwMode="auto">
          <a:xfrm>
            <a:off x="6799263" y="19351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4" name="Rectangle 76"/>
          <p:cNvSpPr>
            <a:spLocks noChangeArrowheads="1"/>
          </p:cNvSpPr>
          <p:nvPr/>
        </p:nvSpPr>
        <p:spPr bwMode="auto">
          <a:xfrm>
            <a:off x="7713663" y="19351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5" name="Rectangle 77"/>
          <p:cNvSpPr>
            <a:spLocks noChangeArrowheads="1"/>
          </p:cNvSpPr>
          <p:nvPr/>
        </p:nvSpPr>
        <p:spPr bwMode="auto">
          <a:xfrm>
            <a:off x="5122863" y="23923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6" name="Rectangle 78"/>
          <p:cNvSpPr>
            <a:spLocks noChangeArrowheads="1"/>
          </p:cNvSpPr>
          <p:nvPr/>
        </p:nvSpPr>
        <p:spPr bwMode="auto">
          <a:xfrm>
            <a:off x="6037263" y="23923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7" name="Rectangle 79"/>
          <p:cNvSpPr>
            <a:spLocks noChangeArrowheads="1"/>
          </p:cNvSpPr>
          <p:nvPr/>
        </p:nvSpPr>
        <p:spPr bwMode="auto">
          <a:xfrm>
            <a:off x="6875463" y="23923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846928" name="Rectangle 80"/>
          <p:cNvSpPr>
            <a:spLocks noChangeArrowheads="1"/>
          </p:cNvSpPr>
          <p:nvPr/>
        </p:nvSpPr>
        <p:spPr bwMode="auto">
          <a:xfrm>
            <a:off x="5503863" y="19351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v2</a:t>
            </a:r>
          </a:p>
        </p:txBody>
      </p:sp>
      <p:sp>
        <p:nvSpPr>
          <p:cNvPr id="846929" name="Rectangle 81"/>
          <p:cNvSpPr>
            <a:spLocks noChangeArrowheads="1"/>
          </p:cNvSpPr>
          <p:nvPr/>
        </p:nvSpPr>
        <p:spPr bwMode="auto">
          <a:xfrm>
            <a:off x="6342063" y="19351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v4</a:t>
            </a:r>
          </a:p>
        </p:txBody>
      </p:sp>
      <p:sp>
        <p:nvSpPr>
          <p:cNvPr id="846930" name="Rectangle 82"/>
          <p:cNvSpPr>
            <a:spLocks noChangeArrowheads="1"/>
          </p:cNvSpPr>
          <p:nvPr/>
        </p:nvSpPr>
        <p:spPr bwMode="auto">
          <a:xfrm>
            <a:off x="7199313" y="19351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v8</a:t>
            </a:r>
          </a:p>
        </p:txBody>
      </p:sp>
      <p:sp>
        <p:nvSpPr>
          <p:cNvPr id="846931" name="Rectangle 83"/>
          <p:cNvSpPr>
            <a:spLocks noChangeArrowheads="1"/>
          </p:cNvSpPr>
          <p:nvPr/>
        </p:nvSpPr>
        <p:spPr bwMode="auto">
          <a:xfrm>
            <a:off x="4684713" y="23923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v5</a:t>
            </a:r>
          </a:p>
        </p:txBody>
      </p:sp>
      <p:sp>
        <p:nvSpPr>
          <p:cNvPr id="846932" name="Rectangle 84"/>
          <p:cNvSpPr>
            <a:spLocks noChangeArrowheads="1"/>
          </p:cNvSpPr>
          <p:nvPr/>
        </p:nvSpPr>
        <p:spPr bwMode="auto">
          <a:xfrm>
            <a:off x="5599113" y="23923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v3</a:t>
            </a:r>
          </a:p>
        </p:txBody>
      </p:sp>
      <p:sp>
        <p:nvSpPr>
          <p:cNvPr id="846933" name="Rectangle 85"/>
          <p:cNvSpPr>
            <a:spLocks noChangeArrowheads="1"/>
          </p:cNvSpPr>
          <p:nvPr/>
        </p:nvSpPr>
        <p:spPr bwMode="auto">
          <a:xfrm>
            <a:off x="6437313" y="23923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v6</a:t>
            </a:r>
          </a:p>
        </p:txBody>
      </p:sp>
      <p:sp>
        <p:nvSpPr>
          <p:cNvPr id="846934" name="Rectangle 86"/>
          <p:cNvSpPr>
            <a:spLocks noChangeArrowheads="1"/>
          </p:cNvSpPr>
          <p:nvPr/>
        </p:nvSpPr>
        <p:spPr bwMode="auto">
          <a:xfrm>
            <a:off x="7275513" y="2392363"/>
            <a:ext cx="5905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v7</a:t>
            </a:r>
          </a:p>
        </p:txBody>
      </p:sp>
      <p:sp>
        <p:nvSpPr>
          <p:cNvPr id="846935" name="Line 87"/>
          <p:cNvSpPr>
            <a:spLocks noChangeShapeType="1"/>
          </p:cNvSpPr>
          <p:nvPr/>
        </p:nvSpPr>
        <p:spPr bwMode="auto">
          <a:xfrm>
            <a:off x="1905000" y="1828800"/>
            <a:ext cx="914400" cy="381000"/>
          </a:xfrm>
          <a:prstGeom prst="line">
            <a:avLst/>
          </a:prstGeom>
          <a:noFill/>
          <a:ln w="222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6941" name="AutoShape 93"/>
          <p:cNvSpPr>
            <a:spLocks noChangeArrowheads="1"/>
          </p:cNvSpPr>
          <p:nvPr/>
        </p:nvSpPr>
        <p:spPr bwMode="auto">
          <a:xfrm>
            <a:off x="2743200" y="1295400"/>
            <a:ext cx="990600" cy="457200"/>
          </a:xfrm>
          <a:prstGeom prst="wedgeEllipseCallout">
            <a:avLst>
              <a:gd name="adj1" fmla="val -124519"/>
              <a:gd name="adj2" fmla="val 1042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起点</a:t>
            </a:r>
          </a:p>
        </p:txBody>
      </p:sp>
      <p:sp>
        <p:nvSpPr>
          <p:cNvPr id="846945" name="Freeform 97"/>
          <p:cNvSpPr>
            <a:spLocks noChangeArrowheads="1"/>
          </p:cNvSpPr>
          <p:nvPr/>
        </p:nvSpPr>
        <p:spPr bwMode="auto">
          <a:xfrm>
            <a:off x="279400" y="1703388"/>
            <a:ext cx="1701800" cy="2259012"/>
          </a:xfrm>
          <a:custGeom>
            <a:avLst/>
            <a:gdLst>
              <a:gd name="T0" fmla="*/ 1701800 w 1105"/>
              <a:gd name="T1" fmla="*/ 1349088 h 1430"/>
              <a:gd name="T2" fmla="*/ 1624796 w 1105"/>
              <a:gd name="T3" fmla="*/ 1489684 h 1430"/>
              <a:gd name="T4" fmla="*/ 1564732 w 1105"/>
              <a:gd name="T5" fmla="*/ 1725064 h 1430"/>
              <a:gd name="T6" fmla="*/ 1503128 w 1105"/>
              <a:gd name="T7" fmla="*/ 1944646 h 1430"/>
              <a:gd name="T8" fmla="*/ 1136587 w 1105"/>
              <a:gd name="T9" fmla="*/ 2243215 h 1430"/>
              <a:gd name="T10" fmla="*/ 922514 w 1105"/>
              <a:gd name="T11" fmla="*/ 2259012 h 1430"/>
              <a:gd name="T12" fmla="*/ 723842 w 1105"/>
              <a:gd name="T13" fmla="*/ 2243215 h 1430"/>
              <a:gd name="T14" fmla="*/ 662239 w 1105"/>
              <a:gd name="T15" fmla="*/ 2164228 h 1430"/>
              <a:gd name="T16" fmla="*/ 417365 w 1105"/>
              <a:gd name="T17" fmla="*/ 1849862 h 1430"/>
              <a:gd name="T18" fmla="*/ 355761 w 1105"/>
              <a:gd name="T19" fmla="*/ 1772456 h 1430"/>
              <a:gd name="T20" fmla="*/ 340360 w 1105"/>
              <a:gd name="T21" fmla="*/ 1725064 h 1430"/>
              <a:gd name="T22" fmla="*/ 280296 w 1105"/>
              <a:gd name="T23" fmla="*/ 1630280 h 1430"/>
              <a:gd name="T24" fmla="*/ 249495 w 1105"/>
              <a:gd name="T25" fmla="*/ 1584468 h 1430"/>
              <a:gd name="T26" fmla="*/ 187891 w 1105"/>
              <a:gd name="T27" fmla="*/ 1489684 h 1430"/>
              <a:gd name="T28" fmla="*/ 126287 w 1105"/>
              <a:gd name="T29" fmla="*/ 1394900 h 1430"/>
              <a:gd name="T30" fmla="*/ 50823 w 1105"/>
              <a:gd name="T31" fmla="*/ 1270102 h 1430"/>
              <a:gd name="T32" fmla="*/ 141688 w 1105"/>
              <a:gd name="T33" fmla="*/ 894127 h 1430"/>
              <a:gd name="T34" fmla="*/ 264896 w 1105"/>
              <a:gd name="T35" fmla="*/ 767748 h 1430"/>
              <a:gd name="T36" fmla="*/ 508230 w 1105"/>
              <a:gd name="T37" fmla="*/ 454962 h 1430"/>
              <a:gd name="T38" fmla="*/ 554433 w 1105"/>
              <a:gd name="T39" fmla="*/ 407570 h 1430"/>
              <a:gd name="T40" fmla="*/ 677640 w 1105"/>
              <a:gd name="T41" fmla="*/ 375975 h 1430"/>
              <a:gd name="T42" fmla="*/ 814708 w 1105"/>
              <a:gd name="T43" fmla="*/ 249597 h 1430"/>
              <a:gd name="T44" fmla="*/ 922514 w 1105"/>
              <a:gd name="T45" fmla="*/ 140596 h 1430"/>
              <a:gd name="T46" fmla="*/ 1090384 w 1105"/>
              <a:gd name="T47" fmla="*/ 45812 h 1430"/>
              <a:gd name="T48" fmla="*/ 1181249 w 1105"/>
              <a:gd name="T49" fmla="*/ 0 h 143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105"/>
              <a:gd name="T76" fmla="*/ 0 h 1430"/>
              <a:gd name="T77" fmla="*/ 1105 w 1105"/>
              <a:gd name="T78" fmla="*/ 1430 h 1430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105" h="1430">
                <a:moveTo>
                  <a:pt x="1105" y="854"/>
                </a:moveTo>
                <a:cubicBezTo>
                  <a:pt x="1085" y="884"/>
                  <a:pt x="1075" y="913"/>
                  <a:pt x="1055" y="943"/>
                </a:cubicBezTo>
                <a:cubicBezTo>
                  <a:pt x="1040" y="992"/>
                  <a:pt x="1032" y="1043"/>
                  <a:pt x="1016" y="1092"/>
                </a:cubicBezTo>
                <a:cubicBezTo>
                  <a:pt x="1003" y="1179"/>
                  <a:pt x="1014" y="1147"/>
                  <a:pt x="976" y="1231"/>
                </a:cubicBezTo>
                <a:cubicBezTo>
                  <a:pt x="917" y="1361"/>
                  <a:pt x="875" y="1407"/>
                  <a:pt x="738" y="1420"/>
                </a:cubicBezTo>
                <a:cubicBezTo>
                  <a:pt x="692" y="1424"/>
                  <a:pt x="645" y="1427"/>
                  <a:pt x="599" y="1430"/>
                </a:cubicBezTo>
                <a:cubicBezTo>
                  <a:pt x="556" y="1427"/>
                  <a:pt x="512" y="1428"/>
                  <a:pt x="470" y="1420"/>
                </a:cubicBezTo>
                <a:cubicBezTo>
                  <a:pt x="431" y="1413"/>
                  <a:pt x="444" y="1395"/>
                  <a:pt x="430" y="1370"/>
                </a:cubicBezTo>
                <a:cubicBezTo>
                  <a:pt x="390" y="1297"/>
                  <a:pt x="329" y="1229"/>
                  <a:pt x="271" y="1171"/>
                </a:cubicBezTo>
                <a:cubicBezTo>
                  <a:pt x="245" y="1097"/>
                  <a:pt x="283" y="1187"/>
                  <a:pt x="231" y="1122"/>
                </a:cubicBezTo>
                <a:cubicBezTo>
                  <a:pt x="224" y="1114"/>
                  <a:pt x="226" y="1101"/>
                  <a:pt x="221" y="1092"/>
                </a:cubicBezTo>
                <a:cubicBezTo>
                  <a:pt x="210" y="1071"/>
                  <a:pt x="195" y="1052"/>
                  <a:pt x="182" y="1032"/>
                </a:cubicBezTo>
                <a:cubicBezTo>
                  <a:pt x="176" y="1022"/>
                  <a:pt x="162" y="1003"/>
                  <a:pt x="162" y="1003"/>
                </a:cubicBezTo>
                <a:cubicBezTo>
                  <a:pt x="138" y="932"/>
                  <a:pt x="172" y="1018"/>
                  <a:pt x="122" y="943"/>
                </a:cubicBezTo>
                <a:cubicBezTo>
                  <a:pt x="64" y="856"/>
                  <a:pt x="178" y="979"/>
                  <a:pt x="82" y="883"/>
                </a:cubicBezTo>
                <a:cubicBezTo>
                  <a:pt x="58" y="813"/>
                  <a:pt x="79" y="836"/>
                  <a:pt x="33" y="804"/>
                </a:cubicBezTo>
                <a:cubicBezTo>
                  <a:pt x="0" y="704"/>
                  <a:pt x="7" y="620"/>
                  <a:pt x="92" y="566"/>
                </a:cubicBezTo>
                <a:cubicBezTo>
                  <a:pt x="115" y="532"/>
                  <a:pt x="143" y="515"/>
                  <a:pt x="172" y="486"/>
                </a:cubicBezTo>
                <a:cubicBezTo>
                  <a:pt x="211" y="365"/>
                  <a:pt x="241" y="364"/>
                  <a:pt x="330" y="288"/>
                </a:cubicBezTo>
                <a:cubicBezTo>
                  <a:pt x="341" y="279"/>
                  <a:pt x="347" y="264"/>
                  <a:pt x="360" y="258"/>
                </a:cubicBezTo>
                <a:cubicBezTo>
                  <a:pt x="385" y="247"/>
                  <a:pt x="413" y="245"/>
                  <a:pt x="440" y="238"/>
                </a:cubicBezTo>
                <a:cubicBezTo>
                  <a:pt x="475" y="211"/>
                  <a:pt x="493" y="182"/>
                  <a:pt x="529" y="158"/>
                </a:cubicBezTo>
                <a:cubicBezTo>
                  <a:pt x="575" y="90"/>
                  <a:pt x="546" y="107"/>
                  <a:pt x="599" y="89"/>
                </a:cubicBezTo>
                <a:cubicBezTo>
                  <a:pt x="629" y="42"/>
                  <a:pt x="658" y="46"/>
                  <a:pt x="708" y="29"/>
                </a:cubicBezTo>
                <a:cubicBezTo>
                  <a:pt x="724" y="24"/>
                  <a:pt x="767" y="22"/>
                  <a:pt x="767" y="0"/>
                </a:cubicBezTo>
              </a:path>
            </a:pathLst>
          </a:custGeom>
          <a:noFill/>
          <a:ln w="25400">
            <a:solidFill>
              <a:schemeClr val="tx2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endParaRPr lang="zh-CN" altLang="en-US"/>
          </a:p>
        </p:txBody>
      </p:sp>
      <p:sp>
        <p:nvSpPr>
          <p:cNvPr id="63511" name="Rectangle 98"/>
          <p:cNvSpPr>
            <a:spLocks noChangeArrowheads="1"/>
          </p:cNvSpPr>
          <p:nvPr/>
        </p:nvSpPr>
        <p:spPr bwMode="auto">
          <a:xfrm>
            <a:off x="39688" y="0"/>
            <a:ext cx="87233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深度优先搜索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( DFS 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－ 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Depth_First Search)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84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4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4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98" grpId="0"/>
      <p:bldP spid="846901" grpId="0"/>
      <p:bldP spid="846919" grpId="0"/>
      <p:bldP spid="846921" grpId="0"/>
      <p:bldP spid="846922" grpId="0"/>
      <p:bldP spid="846923" grpId="0"/>
      <p:bldP spid="846924" grpId="0"/>
      <p:bldP spid="846925" grpId="0"/>
      <p:bldP spid="846926" grpId="0"/>
      <p:bldP spid="846927" grpId="0"/>
      <p:bldP spid="846928" grpId="0"/>
      <p:bldP spid="846929" grpId="0"/>
      <p:bldP spid="846930" grpId="0"/>
      <p:bldP spid="846931" grpId="0"/>
      <p:bldP spid="846932" grpId="0"/>
      <p:bldP spid="846933" grpId="0"/>
      <p:bldP spid="846934" grpId="0"/>
      <p:bldP spid="84694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0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深度优先搜索的步骤</a:t>
            </a:r>
          </a:p>
        </p:txBody>
      </p:sp>
      <p:sp>
        <p:nvSpPr>
          <p:cNvPr id="752661" name="Text Box 21"/>
          <p:cNvSpPr txBox="1">
            <a:spLocks noChangeArrowheads="1"/>
          </p:cNvSpPr>
          <p:nvPr/>
        </p:nvSpPr>
        <p:spPr bwMode="auto">
          <a:xfrm>
            <a:off x="1031875" y="765175"/>
            <a:ext cx="81121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简单归纳：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访问起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始点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dirty="0">
                <a:latin typeface="楷体_GB2312"/>
                <a:ea typeface="楷体_GB2312"/>
                <a:cs typeface="楷体_GB2312"/>
              </a:rPr>
              <a:t>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若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第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个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邻接点没访问过，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深度遍历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此邻接点；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若当前邻接点已访问过，再找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的第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个邻接点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重新遍历。</a:t>
            </a:r>
          </a:p>
        </p:txBody>
      </p:sp>
    </p:spTree>
  </p:cSld>
  <p:clrMapOvr>
    <a:masterClrMapping/>
  </p:clrMapOvr>
  <p:transition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70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深度优先搜索的步骤</a:t>
            </a:r>
          </a:p>
        </p:txBody>
      </p:sp>
      <p:sp>
        <p:nvSpPr>
          <p:cNvPr id="905288" name="Rectangle 72"/>
          <p:cNvSpPr>
            <a:spLocks noChangeArrowheads="1"/>
          </p:cNvSpPr>
          <p:nvPr/>
        </p:nvSpPr>
        <p:spPr bwMode="auto">
          <a:xfrm>
            <a:off x="4284663" y="692150"/>
            <a:ext cx="4603750" cy="417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详细归纳：</a:t>
            </a:r>
          </a:p>
          <a:p>
            <a:pPr eaLnBrk="1" hangingPunct="1">
              <a:buFont typeface="Wingdings 2" panose="05020102010507070707" pitchFamily="18" charset="2"/>
              <a:buChar char="E"/>
            </a:pPr>
            <a:r>
              <a:rPr lang="zh-CN" altLang="en-US" sz="2400">
                <a:ea typeface="楷体_GB2312"/>
                <a:cs typeface="楷体_GB2312"/>
              </a:rPr>
              <a:t>在访问图中某一起始顶点</a:t>
            </a:r>
            <a:r>
              <a:rPr lang="zh-CN" altLang="en-US" sz="2400"/>
              <a:t> </a:t>
            </a:r>
            <a:r>
              <a:rPr lang="en-US" altLang="zh-CN" sz="2400" i="1">
                <a:solidFill>
                  <a:schemeClr val="hlink"/>
                </a:solidFill>
              </a:rPr>
              <a:t>v</a:t>
            </a:r>
            <a:r>
              <a:rPr lang="en-US" altLang="zh-CN" sz="2400" i="1"/>
              <a:t> </a:t>
            </a:r>
            <a:r>
              <a:rPr lang="zh-CN" altLang="en-US" sz="2400">
                <a:ea typeface="楷体_GB2312"/>
                <a:cs typeface="楷体_GB2312"/>
              </a:rPr>
              <a:t>后，由</a:t>
            </a:r>
            <a:r>
              <a:rPr lang="zh-CN" altLang="en-US" sz="2400"/>
              <a:t> </a:t>
            </a:r>
            <a:r>
              <a:rPr lang="en-US" altLang="zh-CN" sz="2400" i="1"/>
              <a:t>v </a:t>
            </a:r>
            <a:r>
              <a:rPr lang="zh-CN" altLang="en-US" sz="2400">
                <a:ea typeface="楷体_GB2312"/>
                <a:cs typeface="楷体_GB2312"/>
              </a:rPr>
              <a:t>出发，访问</a:t>
            </a:r>
            <a:r>
              <a:rPr lang="zh-CN" altLang="en-US" sz="2400">
                <a:solidFill>
                  <a:schemeClr val="hlink"/>
                </a:solidFill>
                <a:ea typeface="楷体_GB2312"/>
                <a:cs typeface="楷体_GB2312"/>
              </a:rPr>
              <a:t>它的任一邻接顶点</a:t>
            </a:r>
            <a:r>
              <a:rPr lang="zh-CN" altLang="en-US" sz="2400">
                <a:solidFill>
                  <a:schemeClr val="hlink"/>
                </a:solidFill>
              </a:rPr>
              <a:t> </a:t>
            </a:r>
            <a:r>
              <a:rPr lang="en-US" altLang="zh-CN" sz="2400" i="1">
                <a:solidFill>
                  <a:schemeClr val="hlink"/>
                </a:solidFill>
              </a:rPr>
              <a:t>w</a:t>
            </a:r>
            <a:r>
              <a:rPr lang="en-US" altLang="zh-CN" sz="2400" baseline="-25000">
                <a:solidFill>
                  <a:schemeClr val="hlink"/>
                </a:solidFill>
              </a:rPr>
              <a:t>1</a:t>
            </a:r>
            <a:r>
              <a:rPr lang="zh-CN" altLang="en-US" sz="2400"/>
              <a:t>；</a:t>
            </a:r>
          </a:p>
          <a:p>
            <a:pPr eaLnBrk="1" hangingPunct="1">
              <a:buFont typeface="Wingdings 2" panose="05020102010507070707" pitchFamily="18" charset="2"/>
              <a:buChar char="E"/>
            </a:pPr>
            <a:r>
              <a:rPr lang="zh-CN" altLang="en-US" sz="2400">
                <a:ea typeface="楷体_GB2312"/>
                <a:cs typeface="楷体_GB2312"/>
              </a:rPr>
              <a:t>再从</a:t>
            </a:r>
            <a:r>
              <a:rPr lang="zh-CN" altLang="en-US" sz="2400"/>
              <a:t> </a:t>
            </a:r>
            <a:r>
              <a:rPr lang="en-US" altLang="zh-CN" sz="2400" i="1"/>
              <a:t>w</a:t>
            </a:r>
            <a:r>
              <a:rPr lang="en-US" altLang="zh-CN" sz="2400" baseline="-25000"/>
              <a:t>1 </a:t>
            </a:r>
            <a:r>
              <a:rPr lang="zh-CN" altLang="en-US" sz="2400">
                <a:ea typeface="楷体_GB2312"/>
                <a:cs typeface="楷体_GB2312"/>
              </a:rPr>
              <a:t>出发，访问</a:t>
            </a:r>
            <a:r>
              <a:rPr lang="zh-CN" altLang="en-US" sz="2400">
                <a:solidFill>
                  <a:schemeClr val="hlink"/>
                </a:solidFill>
                <a:ea typeface="楷体_GB2312"/>
                <a:cs typeface="楷体_GB2312"/>
              </a:rPr>
              <a:t>与</a:t>
            </a:r>
            <a:r>
              <a:rPr lang="zh-CN" altLang="en-US" sz="2400">
                <a:solidFill>
                  <a:schemeClr val="hlink"/>
                </a:solidFill>
              </a:rPr>
              <a:t> </a:t>
            </a:r>
            <a:r>
              <a:rPr lang="en-US" altLang="zh-CN" sz="2400" i="1">
                <a:solidFill>
                  <a:schemeClr val="hlink"/>
                </a:solidFill>
              </a:rPr>
              <a:t>w</a:t>
            </a:r>
            <a:r>
              <a:rPr lang="en-US" altLang="zh-CN" sz="2400" baseline="-25000">
                <a:solidFill>
                  <a:schemeClr val="hlink"/>
                </a:solidFill>
              </a:rPr>
              <a:t>1</a:t>
            </a:r>
            <a:r>
              <a:rPr lang="zh-CN" altLang="en-US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邻接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但还</a:t>
            </a:r>
            <a:r>
              <a:rPr lang="zh-CN" altLang="en-US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未被访问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过的顶点</a:t>
            </a:r>
            <a:r>
              <a:rPr lang="zh-CN" altLang="en-US" sz="2400"/>
              <a:t> </a:t>
            </a:r>
            <a:r>
              <a:rPr lang="en-US" altLang="zh-CN" sz="2400" i="1"/>
              <a:t>w</a:t>
            </a:r>
            <a:r>
              <a:rPr lang="en-US" altLang="zh-CN" sz="2400" baseline="-25000"/>
              <a:t>2</a:t>
            </a:r>
            <a:r>
              <a:rPr lang="zh-CN" altLang="en-US" sz="2400"/>
              <a:t>；</a:t>
            </a:r>
          </a:p>
          <a:p>
            <a:pPr eaLnBrk="1" hangingPunct="1">
              <a:buFont typeface="Wingdings 2" panose="05020102010507070707" pitchFamily="18" charset="2"/>
              <a:buChar char="E"/>
            </a:pPr>
            <a:r>
              <a:rPr lang="zh-CN" altLang="en-US" sz="2400">
                <a:ea typeface="楷体_GB2312"/>
                <a:cs typeface="楷体_GB2312"/>
              </a:rPr>
              <a:t>然后再从</a:t>
            </a:r>
            <a:r>
              <a:rPr lang="zh-CN" altLang="en-US" sz="2400"/>
              <a:t> </a:t>
            </a:r>
            <a:r>
              <a:rPr lang="en-US" altLang="zh-CN" sz="2400" i="1"/>
              <a:t>w</a:t>
            </a:r>
            <a:r>
              <a:rPr lang="en-US" altLang="zh-CN" sz="2400" baseline="-25000"/>
              <a:t>2 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出发，进行类似的访问，</a:t>
            </a:r>
            <a:r>
              <a:rPr lang="en-US" altLang="zh-CN" sz="2400">
                <a:ea typeface="楷体_GB2312"/>
                <a:cs typeface="楷体_GB2312"/>
              </a:rPr>
              <a:t>…</a:t>
            </a:r>
            <a:r>
              <a:rPr lang="en-US" altLang="zh-CN" sz="2400">
                <a:latin typeface="楷体_GB2312"/>
                <a:ea typeface="楷体_GB2312"/>
                <a:cs typeface="楷体_GB2312"/>
              </a:rPr>
              <a:t> </a:t>
            </a:r>
          </a:p>
          <a:p>
            <a:pPr eaLnBrk="1" hangingPunct="1">
              <a:buFont typeface="Wingdings 2" panose="05020102010507070707" pitchFamily="18" charset="2"/>
              <a:buChar char="E"/>
            </a:pPr>
            <a:r>
              <a:rPr lang="zh-CN" altLang="en-US" sz="2400">
                <a:latin typeface="楷体_GB2312"/>
                <a:ea typeface="楷体_GB2312"/>
                <a:cs typeface="楷体_GB2312"/>
              </a:rPr>
              <a:t>如此进行下去，直至到达所有的邻接顶点都被访问过的顶点</a:t>
            </a:r>
            <a:r>
              <a:rPr lang="zh-CN" altLang="en-US" sz="2400"/>
              <a:t> </a:t>
            </a:r>
            <a:r>
              <a:rPr lang="en-US" altLang="zh-CN" sz="2400" i="1"/>
              <a:t>u </a:t>
            </a:r>
            <a:r>
              <a:rPr lang="zh-CN" altLang="en-US" sz="2400">
                <a:ea typeface="楷体_GB2312"/>
                <a:cs typeface="楷体_GB2312"/>
              </a:rPr>
              <a:t>为止。</a:t>
            </a:r>
          </a:p>
        </p:txBody>
      </p:sp>
      <p:grpSp>
        <p:nvGrpSpPr>
          <p:cNvPr id="8197" name="Group 92"/>
          <p:cNvGrpSpPr/>
          <p:nvPr/>
        </p:nvGrpSpPr>
        <p:grpSpPr bwMode="auto">
          <a:xfrm>
            <a:off x="0" y="692150"/>
            <a:ext cx="3752850" cy="4968875"/>
            <a:chOff x="0" y="436"/>
            <a:chExt cx="2364" cy="3130"/>
          </a:xfrm>
        </p:grpSpPr>
        <p:graphicFrame>
          <p:nvGraphicFramePr>
            <p:cNvPr id="8194" name="Object 90"/>
            <p:cNvGraphicFramePr/>
            <p:nvPr/>
          </p:nvGraphicFramePr>
          <p:xfrm>
            <a:off x="204" y="436"/>
            <a:ext cx="2160" cy="3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58595" imgH="1234440" progId="Photoshop.Image.5">
                    <p:embed/>
                  </p:oleObj>
                </mc:Choice>
                <mc:Fallback>
                  <p:oleObj r:id="rId2" imgW="1458595" imgH="1234440" progId="Photoshop.Image.5">
                    <p:embed/>
                    <p:pic>
                      <p:nvPicPr>
                        <p:cNvPr id="8194" name="Object 9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436"/>
                          <a:ext cx="2160" cy="3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9" name="AutoShape 91"/>
            <p:cNvSpPr>
              <a:spLocks noChangeArrowheads="1"/>
            </p:cNvSpPr>
            <p:nvPr/>
          </p:nvSpPr>
          <p:spPr bwMode="auto">
            <a:xfrm>
              <a:off x="0" y="1071"/>
              <a:ext cx="624" cy="288"/>
            </a:xfrm>
            <a:prstGeom prst="wedgeEllipseCallout">
              <a:avLst>
                <a:gd name="adj1" fmla="val 16667"/>
                <a:gd name="adj2" fmla="val 163542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chemeClr val="tx2"/>
                  </a:solidFill>
                  <a:ea typeface="宋体" panose="02010600030101010101" pitchFamily="2" charset="-122"/>
                </a:rPr>
                <a:t>起点</a:t>
              </a:r>
            </a:p>
          </p:txBody>
        </p:sp>
      </p:grpSp>
      <p:sp>
        <p:nvSpPr>
          <p:cNvPr id="905309" name="Oval 93"/>
          <p:cNvSpPr>
            <a:spLocks noChangeArrowheads="1"/>
          </p:cNvSpPr>
          <p:nvPr/>
        </p:nvSpPr>
        <p:spPr bwMode="auto">
          <a:xfrm>
            <a:off x="1763713" y="3141663"/>
            <a:ext cx="504825" cy="6477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045524" name="Text Box 20"/>
          <p:cNvSpPr txBox="1">
            <a:spLocks noChangeArrowheads="1"/>
          </p:cNvSpPr>
          <p:nvPr/>
        </p:nvSpPr>
        <p:spPr bwMode="auto">
          <a:xfrm>
            <a:off x="4355976" y="5301208"/>
            <a:ext cx="4267200" cy="579438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2→1→3→5→4→6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5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5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5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05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05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905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905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4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88" grpId="0" build="p"/>
      <p:bldP spid="905309" grpId="0" animBg="1"/>
      <p:bldP spid="10455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深度优先搜索的步骤</a:t>
            </a:r>
          </a:p>
        </p:txBody>
      </p:sp>
      <p:sp>
        <p:nvSpPr>
          <p:cNvPr id="987141" name="Rectangle 5"/>
          <p:cNvSpPr>
            <a:spLocks noChangeArrowheads="1"/>
          </p:cNvSpPr>
          <p:nvPr/>
        </p:nvSpPr>
        <p:spPr bwMode="auto">
          <a:xfrm>
            <a:off x="4140200" y="692150"/>
            <a:ext cx="4752975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详细归纳：</a:t>
            </a:r>
          </a:p>
          <a:p>
            <a:pPr eaLnBrk="1" hangingPunct="1">
              <a:buFont typeface="Wingdings 2" panose="05020102010507070707" pitchFamily="18" charset="2"/>
              <a:buChar char="E"/>
            </a:pPr>
            <a:r>
              <a:rPr lang="zh-CN" altLang="en-US" sz="2400">
                <a:ea typeface="楷体_GB2312"/>
                <a:cs typeface="楷体_GB2312"/>
              </a:rPr>
              <a:t>接着，退回一步，</a:t>
            </a:r>
            <a:r>
              <a:rPr lang="zh-CN" altLang="en-US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退到前一次刚访问过的顶点</a:t>
            </a:r>
            <a:r>
              <a:rPr lang="zh-CN" altLang="en-US" sz="2400">
                <a:ea typeface="楷体_GB2312"/>
                <a:cs typeface="楷体_GB2312"/>
              </a:rPr>
              <a:t>，看是否还有其它没有被访问的邻接顶点。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>
                <a:solidFill>
                  <a:srgbClr val="99FF33"/>
                </a:solidFill>
                <a:ea typeface="楷体_GB2312"/>
                <a:cs typeface="楷体_GB2312"/>
              </a:rPr>
              <a:t>    </a:t>
            </a:r>
            <a:r>
              <a:rPr lang="zh-CN" altLang="en-US" sz="2400">
                <a:solidFill>
                  <a:schemeClr val="accent2"/>
                </a:solidFill>
                <a:ea typeface="楷体_GB2312"/>
                <a:cs typeface="楷体_GB2312"/>
              </a:rPr>
              <a:t>如果有，</a:t>
            </a:r>
            <a:r>
              <a:rPr lang="zh-CN" altLang="en-US" sz="2400">
                <a:ea typeface="楷体_GB2312"/>
                <a:cs typeface="楷体_GB2312"/>
              </a:rPr>
              <a:t>则访问此顶点，之后再从此顶点出发，进行与前述类似的访问；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>
                <a:solidFill>
                  <a:srgbClr val="99FF33"/>
                </a:solidFill>
                <a:ea typeface="楷体_GB2312"/>
                <a:cs typeface="楷体_GB2312"/>
              </a:rPr>
              <a:t>    </a:t>
            </a:r>
            <a:r>
              <a:rPr lang="zh-CN" altLang="en-US" sz="2400">
                <a:solidFill>
                  <a:schemeClr val="accent2"/>
                </a:solidFill>
                <a:ea typeface="楷体_GB2312"/>
                <a:cs typeface="楷体_GB2312"/>
              </a:rPr>
              <a:t>如果没有，</a:t>
            </a:r>
            <a:r>
              <a:rPr lang="zh-CN" altLang="en-US" sz="2400">
                <a:ea typeface="楷体_GB2312"/>
                <a:cs typeface="楷体_GB2312"/>
              </a:rPr>
              <a:t>就</a:t>
            </a:r>
            <a:r>
              <a:rPr lang="zh-CN" altLang="en-US" sz="240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再退回一步</a:t>
            </a:r>
            <a:r>
              <a:rPr lang="zh-CN" altLang="en-US" sz="2400">
                <a:ea typeface="楷体_GB2312"/>
                <a:cs typeface="楷体_GB2312"/>
              </a:rPr>
              <a:t>进行搜索。重复上述过程，直到连通图中所有顶点都被访问过为止。</a:t>
            </a:r>
          </a:p>
        </p:txBody>
      </p:sp>
      <p:grpSp>
        <p:nvGrpSpPr>
          <p:cNvPr id="9221" name="Group 23"/>
          <p:cNvGrpSpPr/>
          <p:nvPr/>
        </p:nvGrpSpPr>
        <p:grpSpPr bwMode="auto">
          <a:xfrm>
            <a:off x="0" y="692150"/>
            <a:ext cx="3752850" cy="4968875"/>
            <a:chOff x="0" y="436"/>
            <a:chExt cx="2364" cy="3130"/>
          </a:xfrm>
        </p:grpSpPr>
        <p:graphicFrame>
          <p:nvGraphicFramePr>
            <p:cNvPr id="9218" name="Object 24"/>
            <p:cNvGraphicFramePr/>
            <p:nvPr/>
          </p:nvGraphicFramePr>
          <p:xfrm>
            <a:off x="204" y="436"/>
            <a:ext cx="2160" cy="3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58595" imgH="1234440" progId="Photoshop.Image.5">
                    <p:embed/>
                  </p:oleObj>
                </mc:Choice>
                <mc:Fallback>
                  <p:oleObj r:id="rId2" imgW="1458595" imgH="1234440" progId="Photoshop.Image.5">
                    <p:embed/>
                    <p:pic>
                      <p:nvPicPr>
                        <p:cNvPr id="9218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436"/>
                          <a:ext cx="2160" cy="3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AutoShape 25"/>
            <p:cNvSpPr>
              <a:spLocks noChangeArrowheads="1"/>
            </p:cNvSpPr>
            <p:nvPr/>
          </p:nvSpPr>
          <p:spPr bwMode="auto">
            <a:xfrm>
              <a:off x="0" y="1071"/>
              <a:ext cx="624" cy="288"/>
            </a:xfrm>
            <a:prstGeom prst="wedgeEllipseCallout">
              <a:avLst>
                <a:gd name="adj1" fmla="val 16667"/>
                <a:gd name="adj2" fmla="val 163542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chemeClr val="tx2"/>
                  </a:solidFill>
                  <a:ea typeface="宋体" panose="02010600030101010101" pitchFamily="2" charset="-122"/>
                </a:rPr>
                <a:t>起点</a:t>
              </a:r>
            </a:p>
          </p:txBody>
        </p:sp>
      </p:grpSp>
      <p:sp>
        <p:nvSpPr>
          <p:cNvPr id="987162" name="Text Box 26"/>
          <p:cNvSpPr txBox="1">
            <a:spLocks noChangeArrowheads="1"/>
          </p:cNvSpPr>
          <p:nvPr/>
        </p:nvSpPr>
        <p:spPr bwMode="auto">
          <a:xfrm>
            <a:off x="4343400" y="4692650"/>
            <a:ext cx="4267200" cy="519113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2→1→3→5→4→6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7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87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87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87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8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7141" grpId="0" build="p"/>
      <p:bldP spid="98716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1"/>
          <p:cNvSpPr>
            <a:spLocks noGrp="1" noChangeArrowheads="1"/>
          </p:cNvSpPr>
          <p:nvPr>
            <p:ph type="dt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kumimoji="0" lang="en-US" altLang="zh-CN" sz="1400" b="0"/>
              <a:t>                    </a:t>
            </a:r>
            <a:fld id="{C511C66D-4637-4C4F-A911-01AA9386C0BF}" type="datetime2">
              <a:rPr kumimoji="0" lang="zh-CN" altLang="en-US" sz="1400" b="0" smtClean="0"/>
              <a:t>2025年4月23日</a:t>
            </a:fld>
            <a:r>
              <a:rPr kumimoji="0" lang="en-US" altLang="zh-CN" sz="1400" b="0"/>
              <a:t>        </a:t>
            </a:r>
          </a:p>
        </p:txBody>
      </p:sp>
      <p:sp>
        <p:nvSpPr>
          <p:cNvPr id="66564" name="Rectangle 5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682" name="Rectangle 58"/>
          <p:cNvSpPr>
            <a:spLocks noChangeArrowheads="1"/>
          </p:cNvSpPr>
          <p:nvPr/>
        </p:nvSpPr>
        <p:spPr bwMode="auto">
          <a:xfrm>
            <a:off x="152400" y="228600"/>
            <a:ext cx="4876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2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讨论</a:t>
            </a:r>
            <a:r>
              <a:rPr lang="en-US" altLang="zh-CN" sz="2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2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：计算机如何实现</a:t>
            </a:r>
            <a:r>
              <a:rPr lang="en-US" altLang="zh-CN" sz="2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DFS</a:t>
            </a:r>
            <a:r>
              <a:rPr lang="zh-CN" altLang="en-US" sz="2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？</a:t>
            </a:r>
          </a:p>
        </p:txBody>
      </p:sp>
      <p:graphicFrame>
        <p:nvGraphicFramePr>
          <p:cNvPr id="66566" name="表格 66565"/>
          <p:cNvGraphicFramePr>
            <a:graphicFrameLocks noGrp="1"/>
          </p:cNvGraphicFramePr>
          <p:nvPr/>
        </p:nvGraphicFramePr>
        <p:xfrm>
          <a:off x="838200" y="620713"/>
          <a:ext cx="2819400" cy="3200400"/>
        </p:xfrm>
        <a:graphic>
          <a:graphicData uri="http://schemas.openxmlformats.org/drawingml/2006/table">
            <a:tbl>
              <a:tblPr/>
              <a:tblGrid>
                <a:gridCol w="43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  <a:cs typeface="仿宋_GB2312" panose="0201060903010101010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6630" name="表格 66629"/>
          <p:cNvGraphicFramePr>
            <a:graphicFrameLocks noGrp="1"/>
          </p:cNvGraphicFramePr>
          <p:nvPr/>
        </p:nvGraphicFramePr>
        <p:xfrm>
          <a:off x="4702175" y="1076325"/>
          <a:ext cx="392113" cy="2743200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646" name="表格 66645"/>
          <p:cNvGraphicFramePr>
            <a:graphicFrameLocks noGrp="1"/>
          </p:cNvGraphicFramePr>
          <p:nvPr/>
        </p:nvGraphicFramePr>
        <p:xfrm>
          <a:off x="4321175" y="1076325"/>
          <a:ext cx="457200" cy="277971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653" name="表格 66652"/>
          <p:cNvGraphicFramePr>
            <a:graphicFrameLocks noGrp="1"/>
          </p:cNvGraphicFramePr>
          <p:nvPr/>
        </p:nvGraphicFramePr>
        <p:xfrm>
          <a:off x="5246688" y="1076325"/>
          <a:ext cx="392112" cy="2743200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669" name="表格 66668"/>
          <p:cNvGraphicFramePr>
            <a:graphicFrameLocks noGrp="1"/>
          </p:cNvGraphicFramePr>
          <p:nvPr/>
        </p:nvGraphicFramePr>
        <p:xfrm>
          <a:off x="5780088" y="1076325"/>
          <a:ext cx="392112" cy="2743200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685" name="表格 66684"/>
          <p:cNvGraphicFramePr>
            <a:graphicFrameLocks noGrp="1"/>
          </p:cNvGraphicFramePr>
          <p:nvPr/>
        </p:nvGraphicFramePr>
        <p:xfrm>
          <a:off x="6378575" y="1076325"/>
          <a:ext cx="392113" cy="2743200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701" name="表格 66700"/>
          <p:cNvGraphicFramePr>
            <a:graphicFrameLocks noGrp="1"/>
          </p:cNvGraphicFramePr>
          <p:nvPr/>
        </p:nvGraphicFramePr>
        <p:xfrm>
          <a:off x="6999288" y="1066800"/>
          <a:ext cx="392112" cy="2743200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717" name="表格 66716"/>
          <p:cNvGraphicFramePr>
            <a:graphicFrameLocks noGrp="1"/>
          </p:cNvGraphicFramePr>
          <p:nvPr/>
        </p:nvGraphicFramePr>
        <p:xfrm>
          <a:off x="7608888" y="1076325"/>
          <a:ext cx="392112" cy="2743200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733" name="表格 66732"/>
          <p:cNvGraphicFramePr>
            <a:graphicFrameLocks noGrp="1"/>
          </p:cNvGraphicFramePr>
          <p:nvPr/>
        </p:nvGraphicFramePr>
        <p:xfrm>
          <a:off x="8218488" y="1066800"/>
          <a:ext cx="392112" cy="2743200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2896" name="Rectangle 272"/>
          <p:cNvSpPr>
            <a:spLocks noChangeArrowheads="1"/>
          </p:cNvSpPr>
          <p:nvPr/>
        </p:nvSpPr>
        <p:spPr bwMode="auto">
          <a:xfrm>
            <a:off x="5334000" y="4357688"/>
            <a:ext cx="1752600" cy="51911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DFS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结果</a:t>
            </a:r>
          </a:p>
        </p:txBody>
      </p:sp>
      <p:sp>
        <p:nvSpPr>
          <p:cNvPr id="922897" name="Text Box 273"/>
          <p:cNvSpPr txBox="1">
            <a:spLocks noChangeArrowheads="1"/>
          </p:cNvSpPr>
          <p:nvPr/>
        </p:nvSpPr>
        <p:spPr bwMode="auto">
          <a:xfrm>
            <a:off x="228600" y="1430338"/>
            <a:ext cx="533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</a:rPr>
              <a:t>邻接矩阵</a:t>
            </a:r>
          </a:p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22898" name="Text Box 274"/>
          <p:cNvSpPr txBox="1">
            <a:spLocks noChangeArrowheads="1"/>
          </p:cNvSpPr>
          <p:nvPr/>
        </p:nvSpPr>
        <p:spPr bwMode="auto">
          <a:xfrm>
            <a:off x="5018088" y="6096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辅助数组 </a:t>
            </a:r>
            <a:r>
              <a:rPr lang="en-US" altLang="zh-CN" sz="2400" i="1">
                <a:solidFill>
                  <a:schemeClr val="accent2"/>
                </a:solidFill>
                <a:ea typeface="楷体_GB2312"/>
                <a:cs typeface="楷体_GB2312"/>
              </a:rPr>
              <a:t>visited</a:t>
            </a:r>
            <a:r>
              <a:rPr lang="en-US" altLang="zh-CN" sz="2400">
                <a:solidFill>
                  <a:schemeClr val="accent2"/>
                </a:solidFill>
                <a:ea typeface="楷体_GB2312"/>
                <a:cs typeface="楷体_GB2312"/>
              </a:rPr>
              <a:t> [n ]</a:t>
            </a:r>
          </a:p>
        </p:txBody>
      </p:sp>
      <p:sp>
        <p:nvSpPr>
          <p:cNvPr id="922902" name="Rectangle 278"/>
          <p:cNvSpPr>
            <a:spLocks noChangeArrowheads="1"/>
          </p:cNvSpPr>
          <p:nvPr/>
        </p:nvSpPr>
        <p:spPr bwMode="auto">
          <a:xfrm>
            <a:off x="4802188" y="152400"/>
            <a:ext cx="4341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开辅助数组</a:t>
            </a:r>
            <a:r>
              <a:rPr lang="zh-CN" altLang="en-US" sz="24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i="1">
                <a:solidFill>
                  <a:schemeClr val="tx2"/>
                </a:solidFill>
                <a:ea typeface="楷体_GB2312"/>
                <a:cs typeface="楷体_GB2312"/>
              </a:rPr>
              <a:t>visited</a:t>
            </a:r>
            <a:r>
              <a:rPr lang="en-US" altLang="zh-CN" sz="2400">
                <a:solidFill>
                  <a:schemeClr val="tx2"/>
                </a:solidFill>
                <a:ea typeface="楷体_GB2312"/>
                <a:cs typeface="楷体_GB2312"/>
              </a:rPr>
              <a:t> [n ]</a:t>
            </a:r>
            <a:r>
              <a:rPr lang="zh-CN" altLang="en-US" sz="2400">
                <a:solidFill>
                  <a:schemeClr val="tx2"/>
                </a:solidFill>
                <a:ea typeface="楷体_GB2312"/>
                <a:cs typeface="楷体_GB2312"/>
              </a:rPr>
              <a:t>！</a:t>
            </a:r>
          </a:p>
        </p:txBody>
      </p:sp>
      <p:graphicFrame>
        <p:nvGraphicFramePr>
          <p:cNvPr id="66753" name="表格 66752"/>
          <p:cNvGraphicFramePr>
            <a:graphicFrameLocks noGrp="1"/>
          </p:cNvGraphicFramePr>
          <p:nvPr/>
        </p:nvGraphicFramePr>
        <p:xfrm>
          <a:off x="838200" y="609600"/>
          <a:ext cx="2819400" cy="3200400"/>
        </p:xfrm>
        <a:graphic>
          <a:graphicData uri="http://schemas.openxmlformats.org/drawingml/2006/table">
            <a:tbl>
              <a:tblPr/>
              <a:tblGrid>
                <a:gridCol w="43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  <a:cs typeface="仿宋_GB2312" panose="0201060903010101010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2984" name="Oval 360"/>
          <p:cNvSpPr>
            <a:spLocks noChangeArrowheads="1"/>
          </p:cNvSpPr>
          <p:nvPr/>
        </p:nvSpPr>
        <p:spPr bwMode="auto">
          <a:xfrm>
            <a:off x="838200" y="16002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85" name="Oval 361"/>
          <p:cNvSpPr>
            <a:spLocks noChangeArrowheads="1"/>
          </p:cNvSpPr>
          <p:nvPr/>
        </p:nvSpPr>
        <p:spPr bwMode="auto">
          <a:xfrm>
            <a:off x="1295400" y="16002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86" name="Oval 362"/>
          <p:cNvSpPr>
            <a:spLocks noChangeArrowheads="1"/>
          </p:cNvSpPr>
          <p:nvPr/>
        </p:nvSpPr>
        <p:spPr bwMode="auto">
          <a:xfrm>
            <a:off x="838200" y="1600200"/>
            <a:ext cx="381000" cy="304800"/>
          </a:xfrm>
          <a:prstGeom prst="ellips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87" name="Oval 363"/>
          <p:cNvSpPr>
            <a:spLocks noChangeArrowheads="1"/>
          </p:cNvSpPr>
          <p:nvPr/>
        </p:nvSpPr>
        <p:spPr bwMode="auto">
          <a:xfrm>
            <a:off x="1295400" y="1600200"/>
            <a:ext cx="381000" cy="304800"/>
          </a:xfrm>
          <a:prstGeom prst="ellips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88" name="Oval 364"/>
          <p:cNvSpPr>
            <a:spLocks noChangeArrowheads="1"/>
          </p:cNvSpPr>
          <p:nvPr/>
        </p:nvSpPr>
        <p:spPr bwMode="auto">
          <a:xfrm>
            <a:off x="2819400" y="20574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89" name="Oval 365"/>
          <p:cNvSpPr>
            <a:spLocks noChangeArrowheads="1"/>
          </p:cNvSpPr>
          <p:nvPr/>
        </p:nvSpPr>
        <p:spPr bwMode="auto">
          <a:xfrm>
            <a:off x="2057400" y="11430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90" name="Oval 366"/>
          <p:cNvSpPr>
            <a:spLocks noChangeArrowheads="1"/>
          </p:cNvSpPr>
          <p:nvPr/>
        </p:nvSpPr>
        <p:spPr bwMode="auto">
          <a:xfrm>
            <a:off x="2057400" y="1143000"/>
            <a:ext cx="381000" cy="304800"/>
          </a:xfrm>
          <a:prstGeom prst="ellips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91" name="Oval 367"/>
          <p:cNvSpPr>
            <a:spLocks noChangeArrowheads="1"/>
          </p:cNvSpPr>
          <p:nvPr/>
        </p:nvSpPr>
        <p:spPr bwMode="auto">
          <a:xfrm>
            <a:off x="3276600" y="25146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92" name="Oval 368"/>
          <p:cNvSpPr>
            <a:spLocks noChangeArrowheads="1"/>
          </p:cNvSpPr>
          <p:nvPr/>
        </p:nvSpPr>
        <p:spPr bwMode="auto">
          <a:xfrm>
            <a:off x="2819400" y="2057400"/>
            <a:ext cx="381000" cy="304800"/>
          </a:xfrm>
          <a:prstGeom prst="ellips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93" name="Oval 369"/>
          <p:cNvSpPr>
            <a:spLocks noChangeArrowheads="1"/>
          </p:cNvSpPr>
          <p:nvPr/>
        </p:nvSpPr>
        <p:spPr bwMode="auto">
          <a:xfrm>
            <a:off x="2438400" y="11430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22994" name="Oval 370"/>
          <p:cNvSpPr>
            <a:spLocks noChangeArrowheads="1"/>
          </p:cNvSpPr>
          <p:nvPr/>
        </p:nvSpPr>
        <p:spPr bwMode="auto">
          <a:xfrm>
            <a:off x="2438400" y="1143000"/>
            <a:ext cx="381000" cy="304800"/>
          </a:xfrm>
          <a:prstGeom prst="ellips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66828" name="Group 371"/>
          <p:cNvGrpSpPr/>
          <p:nvPr/>
        </p:nvGrpSpPr>
        <p:grpSpPr bwMode="auto">
          <a:xfrm>
            <a:off x="152400" y="3911600"/>
            <a:ext cx="3914775" cy="2644775"/>
            <a:chOff x="22" y="572"/>
            <a:chExt cx="2172" cy="2820"/>
          </a:xfrm>
        </p:grpSpPr>
        <p:pic>
          <p:nvPicPr>
            <p:cNvPr id="66830" name="Picture 37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" y="572"/>
              <a:ext cx="2172" cy="2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31" name="Oval 373"/>
            <p:cNvSpPr>
              <a:spLocks noChangeArrowheads="1"/>
            </p:cNvSpPr>
            <p:nvPr/>
          </p:nvSpPr>
          <p:spPr bwMode="auto">
            <a:xfrm>
              <a:off x="431" y="1656"/>
              <a:ext cx="318" cy="40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320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6832" name="Line 374"/>
            <p:cNvSpPr>
              <a:spLocks noChangeShapeType="1"/>
            </p:cNvSpPr>
            <p:nvPr/>
          </p:nvSpPr>
          <p:spPr bwMode="auto">
            <a:xfrm flipH="1">
              <a:off x="698" y="1111"/>
              <a:ext cx="271" cy="58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33" name="Line 375"/>
            <p:cNvSpPr>
              <a:spLocks noChangeShapeType="1"/>
            </p:cNvSpPr>
            <p:nvPr/>
          </p:nvSpPr>
          <p:spPr bwMode="auto">
            <a:xfrm>
              <a:off x="1247" y="945"/>
              <a:ext cx="635" cy="4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34" name="Line 376"/>
            <p:cNvSpPr>
              <a:spLocks noChangeShapeType="1"/>
            </p:cNvSpPr>
            <p:nvPr/>
          </p:nvSpPr>
          <p:spPr bwMode="auto">
            <a:xfrm>
              <a:off x="2018" y="1656"/>
              <a:ext cx="0" cy="82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35" name="Line 377"/>
            <p:cNvSpPr>
              <a:spLocks noChangeShapeType="1"/>
            </p:cNvSpPr>
            <p:nvPr/>
          </p:nvSpPr>
          <p:spPr bwMode="auto">
            <a:xfrm>
              <a:off x="1156" y="1071"/>
              <a:ext cx="91" cy="95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36" name="Line 378"/>
            <p:cNvSpPr>
              <a:spLocks noChangeShapeType="1"/>
            </p:cNvSpPr>
            <p:nvPr/>
          </p:nvSpPr>
          <p:spPr bwMode="auto">
            <a:xfrm>
              <a:off x="611" y="2064"/>
              <a:ext cx="138" cy="82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37" name="Line 379"/>
            <p:cNvSpPr>
              <a:spLocks noChangeShapeType="1"/>
            </p:cNvSpPr>
            <p:nvPr/>
          </p:nvSpPr>
          <p:spPr bwMode="auto">
            <a:xfrm flipH="1">
              <a:off x="886" y="2341"/>
              <a:ext cx="316" cy="68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38" name="Oval 380"/>
            <p:cNvSpPr>
              <a:spLocks noChangeArrowheads="1"/>
            </p:cNvSpPr>
            <p:nvPr/>
          </p:nvSpPr>
          <p:spPr bwMode="auto">
            <a:xfrm>
              <a:off x="954" y="709"/>
              <a:ext cx="318" cy="40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320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6839" name="Oval 381"/>
            <p:cNvSpPr>
              <a:spLocks noChangeArrowheads="1"/>
            </p:cNvSpPr>
            <p:nvPr/>
          </p:nvSpPr>
          <p:spPr bwMode="auto">
            <a:xfrm>
              <a:off x="1125" y="1979"/>
              <a:ext cx="318" cy="40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320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6840" name="Oval 382"/>
            <p:cNvSpPr>
              <a:spLocks noChangeArrowheads="1"/>
            </p:cNvSpPr>
            <p:nvPr/>
          </p:nvSpPr>
          <p:spPr bwMode="auto">
            <a:xfrm>
              <a:off x="1839" y="1208"/>
              <a:ext cx="318" cy="40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320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66841" name="Oval 383"/>
            <p:cNvSpPr>
              <a:spLocks noChangeArrowheads="1"/>
            </p:cNvSpPr>
            <p:nvPr/>
          </p:nvSpPr>
          <p:spPr bwMode="auto">
            <a:xfrm>
              <a:off x="631" y="2936"/>
              <a:ext cx="318" cy="40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320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6842" name="Oval 384"/>
            <p:cNvSpPr>
              <a:spLocks noChangeArrowheads="1"/>
            </p:cNvSpPr>
            <p:nvPr/>
          </p:nvSpPr>
          <p:spPr bwMode="auto">
            <a:xfrm>
              <a:off x="1866" y="2498"/>
              <a:ext cx="318" cy="40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320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</a:p>
          </p:txBody>
        </p:sp>
      </p:grpSp>
      <p:sp>
        <p:nvSpPr>
          <p:cNvPr id="923009" name="Text Box 385"/>
          <p:cNvSpPr txBox="1">
            <a:spLocks noChangeArrowheads="1"/>
          </p:cNvSpPr>
          <p:nvPr/>
        </p:nvSpPr>
        <p:spPr bwMode="auto">
          <a:xfrm>
            <a:off x="4343400" y="5094288"/>
            <a:ext cx="4267200" cy="519112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2→1→3→5→4→6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2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2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2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2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82" grpId="0"/>
      <p:bldP spid="922896" grpId="0"/>
      <p:bldP spid="922897" grpId="0"/>
      <p:bldP spid="922898" grpId="0"/>
      <p:bldP spid="922902" grpId="0"/>
      <p:bldP spid="922984" grpId="0" animBg="1"/>
      <p:bldP spid="922985" grpId="0" animBg="1"/>
      <p:bldP spid="922986" grpId="0" animBg="1"/>
      <p:bldP spid="922987" grpId="0" animBg="1"/>
      <p:bldP spid="922988" grpId="0" animBg="1"/>
      <p:bldP spid="922989" grpId="0" animBg="1"/>
      <p:bldP spid="922990" grpId="0" animBg="1"/>
      <p:bldP spid="922991" grpId="0" animBg="1"/>
      <p:bldP spid="922992" grpId="0" animBg="1"/>
      <p:bldP spid="922993" grpId="0" animBg="1"/>
      <p:bldP spid="922994" grpId="0" animBg="1"/>
      <p:bldP spid="92300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1"/>
          <p:cNvSpPr>
            <a:spLocks noGrp="1" noChangeArrowheads="1"/>
          </p:cNvSpPr>
          <p:nvPr>
            <p:ph type="dt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kumimoji="0" lang="en-US" altLang="zh-CN" sz="1400" b="0"/>
              <a:t>                    </a:t>
            </a:r>
            <a:fld id="{36CA170B-BAB7-441E-ADE2-CC64E08FD829}" type="datetime2">
              <a:rPr kumimoji="0" lang="zh-CN" altLang="en-US" sz="1400" b="0" smtClean="0"/>
              <a:t>2025年4月23日</a:t>
            </a:fld>
            <a:r>
              <a:rPr kumimoji="0" lang="en-US" altLang="zh-CN" sz="1400" b="0"/>
              <a:t>        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pic>
        <p:nvPicPr>
          <p:cNvPr id="963589" name="Picture 5" descr="自测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6400800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3590" name="Rectangle 6"/>
          <p:cNvSpPr>
            <a:spLocks noChangeArrowheads="1"/>
          </p:cNvSpPr>
          <p:nvPr/>
        </p:nvSpPr>
        <p:spPr bwMode="auto">
          <a:xfrm>
            <a:off x="1447800" y="2286000"/>
            <a:ext cx="533400" cy="4572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591" name="Rectangle 7"/>
          <p:cNvSpPr>
            <a:spLocks noChangeArrowheads="1"/>
          </p:cNvSpPr>
          <p:nvPr/>
        </p:nvSpPr>
        <p:spPr bwMode="auto">
          <a:xfrm>
            <a:off x="152400" y="228600"/>
            <a:ext cx="5943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讨论</a:t>
            </a:r>
            <a:r>
              <a:rPr kumimoji="1" lang="en-US" altLang="zh-CN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3</a:t>
            </a:r>
            <a:r>
              <a:rPr kumimoji="1" lang="zh-CN" altLang="en-US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：在图的邻接表中如何进行</a:t>
            </a:r>
            <a:r>
              <a:rPr kumimoji="1" lang="en-US" altLang="zh-CN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DFS</a:t>
            </a:r>
            <a:r>
              <a:rPr kumimoji="1" lang="zh-CN" altLang="en-US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？</a:t>
            </a:r>
          </a:p>
        </p:txBody>
      </p:sp>
      <p:sp>
        <p:nvSpPr>
          <p:cNvPr id="963593" name="Text Box 9"/>
          <p:cNvSpPr txBox="1">
            <a:spLocks noChangeArrowheads="1"/>
          </p:cNvSpPr>
          <p:nvPr/>
        </p:nvSpPr>
        <p:spPr bwMode="auto">
          <a:xfrm>
            <a:off x="4495800" y="4343400"/>
            <a:ext cx="3429000" cy="5191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v0 → v1 → v2 → v3</a:t>
            </a:r>
          </a:p>
        </p:txBody>
      </p:sp>
      <p:sp>
        <p:nvSpPr>
          <p:cNvPr id="963594" name="Rectangle 10"/>
          <p:cNvSpPr>
            <a:spLocks noChangeArrowheads="1"/>
          </p:cNvSpPr>
          <p:nvPr/>
        </p:nvSpPr>
        <p:spPr bwMode="auto">
          <a:xfrm>
            <a:off x="5048250" y="3886200"/>
            <a:ext cx="1657350" cy="5191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DFS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结果</a:t>
            </a:r>
          </a:p>
        </p:txBody>
      </p:sp>
      <p:graphicFrame>
        <p:nvGraphicFramePr>
          <p:cNvPr id="68618" name="表格 68617"/>
          <p:cNvGraphicFramePr>
            <a:graphicFrameLocks noGrp="1"/>
          </p:cNvGraphicFramePr>
          <p:nvPr/>
        </p:nvGraphicFramePr>
        <p:xfrm>
          <a:off x="750888" y="4419600"/>
          <a:ext cx="392112" cy="1828800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630" name="表格 68629"/>
          <p:cNvGraphicFramePr>
            <a:graphicFrameLocks noGrp="1"/>
          </p:cNvGraphicFramePr>
          <p:nvPr/>
        </p:nvGraphicFramePr>
        <p:xfrm>
          <a:off x="369888" y="4419600"/>
          <a:ext cx="45720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3622" name="Text Box 38"/>
          <p:cNvSpPr txBox="1">
            <a:spLocks noChangeArrowheads="1"/>
          </p:cNvSpPr>
          <p:nvPr/>
        </p:nvSpPr>
        <p:spPr bwMode="auto">
          <a:xfrm>
            <a:off x="685800" y="38100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辅助数组 </a:t>
            </a:r>
            <a:r>
              <a:rPr lang="en-US" altLang="zh-CN" sz="2400" i="1">
                <a:solidFill>
                  <a:schemeClr val="accent2"/>
                </a:solidFill>
                <a:ea typeface="楷体_GB2312"/>
                <a:cs typeface="楷体_GB2312"/>
              </a:rPr>
              <a:t>visited</a:t>
            </a:r>
            <a:r>
              <a:rPr lang="en-US" altLang="zh-CN" sz="2400">
                <a:solidFill>
                  <a:schemeClr val="accent2"/>
                </a:solidFill>
                <a:ea typeface="楷体_GB2312"/>
                <a:cs typeface="楷体_GB2312"/>
              </a:rPr>
              <a:t> [n ]</a:t>
            </a:r>
          </a:p>
        </p:txBody>
      </p:sp>
      <p:graphicFrame>
        <p:nvGraphicFramePr>
          <p:cNvPr id="68636" name="表格 68635"/>
          <p:cNvGraphicFramePr>
            <a:graphicFrameLocks noGrp="1"/>
          </p:cNvGraphicFramePr>
          <p:nvPr/>
        </p:nvGraphicFramePr>
        <p:xfrm>
          <a:off x="1371600" y="4419600"/>
          <a:ext cx="392113" cy="1828800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648" name="表格 68647"/>
          <p:cNvGraphicFramePr>
            <a:graphicFrameLocks noGrp="1"/>
          </p:cNvGraphicFramePr>
          <p:nvPr/>
        </p:nvGraphicFramePr>
        <p:xfrm>
          <a:off x="1981200" y="4419600"/>
          <a:ext cx="392113" cy="1831976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660" name="表格 68659"/>
          <p:cNvGraphicFramePr>
            <a:graphicFrameLocks noGrp="1"/>
          </p:cNvGraphicFramePr>
          <p:nvPr/>
        </p:nvGraphicFramePr>
        <p:xfrm>
          <a:off x="2590800" y="4419600"/>
          <a:ext cx="392113" cy="1828800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672" name="表格 68671"/>
          <p:cNvGraphicFramePr>
            <a:graphicFrameLocks noGrp="1"/>
          </p:cNvGraphicFramePr>
          <p:nvPr/>
        </p:nvGraphicFramePr>
        <p:xfrm>
          <a:off x="3200400" y="4419600"/>
          <a:ext cx="392113" cy="1828800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  <a:cs typeface="仿宋_GB2312" panose="02010609030101010101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3672" name="Rectangle 88"/>
          <p:cNvSpPr>
            <a:spLocks noChangeArrowheads="1"/>
          </p:cNvSpPr>
          <p:nvPr/>
        </p:nvSpPr>
        <p:spPr bwMode="auto">
          <a:xfrm>
            <a:off x="5791200" y="3048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—</a:t>
            </a:r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照样借用</a:t>
            </a:r>
            <a:r>
              <a:rPr lang="en-US" altLang="zh-CN" sz="2400" i="1">
                <a:solidFill>
                  <a:schemeClr val="tx2"/>
                </a:solidFill>
                <a:ea typeface="楷体_GB2312"/>
                <a:cs typeface="楷体_GB2312"/>
              </a:rPr>
              <a:t>visited</a:t>
            </a:r>
            <a:r>
              <a:rPr lang="en-US" altLang="zh-CN" sz="2400">
                <a:solidFill>
                  <a:schemeClr val="tx2"/>
                </a:solidFill>
                <a:ea typeface="楷体_GB2312"/>
                <a:cs typeface="楷体_GB2312"/>
              </a:rPr>
              <a:t> [n ]</a:t>
            </a:r>
            <a:r>
              <a:rPr lang="zh-CN" altLang="en-US" sz="2400">
                <a:solidFill>
                  <a:schemeClr val="tx2"/>
                </a:solidFill>
                <a:ea typeface="楷体_GB2312"/>
                <a:cs typeface="楷体_GB2312"/>
              </a:rPr>
              <a:t>！</a:t>
            </a:r>
          </a:p>
        </p:txBody>
      </p:sp>
      <p:sp>
        <p:nvSpPr>
          <p:cNvPr id="963673" name="AutoShape 89"/>
          <p:cNvSpPr>
            <a:spLocks noChangeArrowheads="1"/>
          </p:cNvSpPr>
          <p:nvPr/>
        </p:nvSpPr>
        <p:spPr bwMode="auto">
          <a:xfrm>
            <a:off x="76200" y="1676400"/>
            <a:ext cx="990600" cy="457200"/>
          </a:xfrm>
          <a:prstGeom prst="wedgeEllipseCallout">
            <a:avLst>
              <a:gd name="adj1" fmla="val 108972"/>
              <a:gd name="adj2" fmla="val -122569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起点</a:t>
            </a:r>
          </a:p>
        </p:txBody>
      </p:sp>
      <p:sp>
        <p:nvSpPr>
          <p:cNvPr id="963674" name="Text Box 90"/>
          <p:cNvSpPr txBox="1">
            <a:spLocks noChangeArrowheads="1"/>
          </p:cNvSpPr>
          <p:nvPr/>
        </p:nvSpPr>
        <p:spPr bwMode="auto">
          <a:xfrm>
            <a:off x="1066800" y="1143000"/>
            <a:ext cx="304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en-US" altLang="zh-CN" sz="2400" b="0">
                <a:ea typeface="宋体" panose="02010600030101010101" pitchFamily="2" charset="-122"/>
              </a:rPr>
              <a:t>0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sz="2400" b="0">
                <a:ea typeface="宋体" panose="02010600030101010101" pitchFamily="2" charset="-122"/>
              </a:rPr>
              <a:t>1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sz="2400" b="0">
                <a:ea typeface="宋体" panose="02010600030101010101" pitchFamily="2" charset="-122"/>
              </a:rPr>
              <a:t>2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sz="2400" b="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63676" name="Rectangle 92"/>
          <p:cNvSpPr>
            <a:spLocks noChangeArrowheads="1"/>
          </p:cNvSpPr>
          <p:nvPr/>
        </p:nvSpPr>
        <p:spPr bwMode="auto">
          <a:xfrm>
            <a:off x="2971800" y="1066800"/>
            <a:ext cx="533400" cy="4572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77" name="Rectangle 93"/>
          <p:cNvSpPr>
            <a:spLocks noChangeArrowheads="1"/>
          </p:cNvSpPr>
          <p:nvPr/>
        </p:nvSpPr>
        <p:spPr bwMode="auto">
          <a:xfrm>
            <a:off x="1447800" y="1676400"/>
            <a:ext cx="533400" cy="4572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78" name="Rectangle 94"/>
          <p:cNvSpPr>
            <a:spLocks noChangeArrowheads="1"/>
          </p:cNvSpPr>
          <p:nvPr/>
        </p:nvSpPr>
        <p:spPr bwMode="auto">
          <a:xfrm>
            <a:off x="2971800" y="1066800"/>
            <a:ext cx="5334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79" name="Rectangle 95"/>
          <p:cNvSpPr>
            <a:spLocks noChangeArrowheads="1"/>
          </p:cNvSpPr>
          <p:nvPr/>
        </p:nvSpPr>
        <p:spPr bwMode="auto">
          <a:xfrm>
            <a:off x="1447800" y="1066800"/>
            <a:ext cx="533400" cy="4572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0" name="Rectangle 96"/>
          <p:cNvSpPr>
            <a:spLocks noChangeArrowheads="1"/>
          </p:cNvSpPr>
          <p:nvPr/>
        </p:nvSpPr>
        <p:spPr bwMode="auto">
          <a:xfrm>
            <a:off x="1447800" y="1066800"/>
            <a:ext cx="5334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1" name="Rectangle 97"/>
          <p:cNvSpPr>
            <a:spLocks noChangeArrowheads="1"/>
          </p:cNvSpPr>
          <p:nvPr/>
        </p:nvSpPr>
        <p:spPr bwMode="auto">
          <a:xfrm>
            <a:off x="1447800" y="1676400"/>
            <a:ext cx="5334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2" name="Rectangle 98"/>
          <p:cNvSpPr>
            <a:spLocks noChangeArrowheads="1"/>
          </p:cNvSpPr>
          <p:nvPr/>
        </p:nvSpPr>
        <p:spPr bwMode="auto">
          <a:xfrm>
            <a:off x="5791200" y="2209800"/>
            <a:ext cx="533400" cy="4572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3" name="Rectangle 99"/>
          <p:cNvSpPr>
            <a:spLocks noChangeArrowheads="1"/>
          </p:cNvSpPr>
          <p:nvPr/>
        </p:nvSpPr>
        <p:spPr bwMode="auto">
          <a:xfrm>
            <a:off x="1524000" y="2895600"/>
            <a:ext cx="533400" cy="4572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4" name="Rectangle 100"/>
          <p:cNvSpPr>
            <a:spLocks noChangeArrowheads="1"/>
          </p:cNvSpPr>
          <p:nvPr/>
        </p:nvSpPr>
        <p:spPr bwMode="auto">
          <a:xfrm>
            <a:off x="1447800" y="2286000"/>
            <a:ext cx="5334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5" name="Rectangle 101"/>
          <p:cNvSpPr>
            <a:spLocks noChangeArrowheads="1"/>
          </p:cNvSpPr>
          <p:nvPr/>
        </p:nvSpPr>
        <p:spPr bwMode="auto">
          <a:xfrm>
            <a:off x="4419600" y="1676400"/>
            <a:ext cx="533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6" name="Rectangle 102"/>
          <p:cNvSpPr>
            <a:spLocks noChangeArrowheads="1"/>
          </p:cNvSpPr>
          <p:nvPr/>
        </p:nvSpPr>
        <p:spPr bwMode="auto">
          <a:xfrm>
            <a:off x="4419600" y="1676400"/>
            <a:ext cx="5334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3687" name="Rectangle 103"/>
          <p:cNvSpPr>
            <a:spLocks noChangeArrowheads="1"/>
          </p:cNvSpPr>
          <p:nvPr/>
        </p:nvSpPr>
        <p:spPr bwMode="auto">
          <a:xfrm>
            <a:off x="5791200" y="2209800"/>
            <a:ext cx="5334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6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63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63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90" grpId="0" animBg="1"/>
      <p:bldP spid="963591" grpId="0"/>
      <p:bldP spid="963593" grpId="0"/>
      <p:bldP spid="963594" grpId="0"/>
      <p:bldP spid="963622" grpId="0"/>
      <p:bldP spid="963672" grpId="0"/>
      <p:bldP spid="963673" grpId="0" animBg="1"/>
      <p:bldP spid="963674" grpId="0"/>
      <p:bldP spid="963676" grpId="0" animBg="1"/>
      <p:bldP spid="963677" grpId="0" animBg="1"/>
      <p:bldP spid="963678" grpId="0" animBg="1"/>
      <p:bldP spid="963679" grpId="0" animBg="1"/>
      <p:bldP spid="963680" grpId="0" animBg="1"/>
      <p:bldP spid="963681" grpId="0" animBg="1"/>
      <p:bldP spid="963682" grpId="0" animBg="1"/>
      <p:bldP spid="963683" grpId="0" animBg="1"/>
      <p:bldP spid="963684" grpId="0" animBg="1"/>
      <p:bldP spid="963685" grpId="0" animBg="1"/>
      <p:bldP spid="963686" grpId="0" animBg="1"/>
      <p:bldP spid="96368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/>
          <p:cNvSpPr>
            <a:spLocks noGrp="1" noChangeArrowheads="1"/>
          </p:cNvSpPr>
          <p:nvPr>
            <p:ph type="dt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kumimoji="0" lang="en-US" altLang="zh-CN" sz="1400" b="0"/>
              <a:t>                    </a:t>
            </a:r>
            <a:fld id="{99048762-217E-42BD-ABCE-CD8331285273}" type="datetime2">
              <a:rPr kumimoji="0" lang="zh-CN" altLang="en-US" sz="1400" b="0" smtClean="0"/>
              <a:t>2025年4月23日</a:t>
            </a:fld>
            <a:r>
              <a:rPr kumimoji="0" lang="en-US" altLang="zh-CN" sz="1400" b="0"/>
              <a:t>        </a:t>
            </a: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64613" name="Rectangle 5"/>
          <p:cNvSpPr>
            <a:spLocks noChangeArrowheads="1"/>
          </p:cNvSpPr>
          <p:nvPr/>
        </p:nvSpPr>
        <p:spPr bwMode="auto">
          <a:xfrm>
            <a:off x="304800" y="304800"/>
            <a:ext cx="5867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讨论</a:t>
            </a:r>
            <a:r>
              <a:rPr kumimoji="1" lang="en-US" altLang="zh-CN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4</a:t>
            </a:r>
            <a:r>
              <a:rPr kumimoji="1" lang="zh-CN" altLang="en-US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：邻接表的</a:t>
            </a:r>
            <a:r>
              <a:rPr kumimoji="1" lang="en-US" altLang="zh-CN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DFS</a:t>
            </a:r>
            <a:r>
              <a:rPr kumimoji="1" lang="zh-CN" altLang="en-US" sz="2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算法如何编程？</a:t>
            </a:r>
          </a:p>
        </p:txBody>
      </p:sp>
      <p:sp>
        <p:nvSpPr>
          <p:cNvPr id="964615" name="Rectangle 7"/>
          <p:cNvSpPr>
            <a:spLocks noChangeArrowheads="1"/>
          </p:cNvSpPr>
          <p:nvPr/>
        </p:nvSpPr>
        <p:spPr bwMode="auto">
          <a:xfrm>
            <a:off x="239713" y="1700808"/>
            <a:ext cx="901065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/>
              <a:t>void DFS_ALG(</a:t>
            </a:r>
            <a:r>
              <a:rPr lang="en-US" altLang="zh-CN" sz="2000" dirty="0" err="1"/>
              <a:t>ALGraph</a:t>
            </a:r>
            <a:r>
              <a:rPr lang="en-US" altLang="zh-CN" sz="2000" dirty="0"/>
              <a:t> G,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v){        		//</a:t>
            </a:r>
            <a:r>
              <a:rPr lang="zh-CN" altLang="en-US" sz="2000" dirty="0"/>
              <a:t>图</a:t>
            </a:r>
            <a:r>
              <a:rPr lang="en-US" altLang="zh-CN" sz="2000" dirty="0"/>
              <a:t>G</a:t>
            </a:r>
            <a:r>
              <a:rPr lang="zh-CN" altLang="en-US" sz="2000" dirty="0"/>
              <a:t>为邻接表类型 </a:t>
            </a:r>
          </a:p>
          <a:p>
            <a:pPr>
              <a:spcBef>
                <a:spcPct val="20000"/>
              </a:spcBef>
            </a:pPr>
            <a:r>
              <a:rPr lang="zh-CN" altLang="en-US" sz="2000" dirty="0"/>
              <a:t>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visited[</a:t>
            </a:r>
            <a:r>
              <a:rPr lang="en-US" altLang="zh-CN" sz="2000" dirty="0" err="1"/>
              <a:t>MVNum</a:t>
            </a:r>
            <a:r>
              <a:rPr lang="en-US" altLang="zh-CN" sz="2000" dirty="0"/>
              <a:t>]={0},w;</a:t>
            </a:r>
          </a:p>
          <a:p>
            <a:pPr>
              <a:spcBef>
                <a:spcPct val="20000"/>
              </a:spcBef>
            </a:pPr>
            <a:r>
              <a:rPr lang="en-US" altLang="zh-CN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("%d ",v);   </a:t>
            </a:r>
          </a:p>
          <a:p>
            <a:pPr>
              <a:spcBef>
                <a:spcPct val="20000"/>
              </a:spcBef>
            </a:pPr>
            <a:r>
              <a:rPr lang="en-US" altLang="zh-CN" sz="2000" dirty="0"/>
              <a:t>  visited[v] = 1;    		//</a:t>
            </a:r>
            <a:r>
              <a:rPr lang="zh-CN" altLang="en-US" sz="2000" dirty="0"/>
              <a:t>访问第</a:t>
            </a:r>
            <a:r>
              <a:rPr lang="en-US" altLang="zh-CN" sz="2000" dirty="0"/>
              <a:t>v</a:t>
            </a:r>
            <a:r>
              <a:rPr lang="zh-CN" altLang="en-US" sz="2000" dirty="0"/>
              <a:t>个顶点</a:t>
            </a:r>
          </a:p>
          <a:p>
            <a:pPr>
              <a:spcBef>
                <a:spcPct val="20000"/>
              </a:spcBef>
            </a:pPr>
            <a:r>
              <a:rPr lang="zh-CN" altLang="en-US" sz="2000" dirty="0"/>
              <a:t>  </a:t>
            </a:r>
            <a:r>
              <a:rPr lang="en-US" altLang="zh-CN" sz="2000" dirty="0" err="1"/>
              <a:t>ArcNode</a:t>
            </a:r>
            <a:r>
              <a:rPr lang="en-US" altLang="zh-CN" sz="2000" dirty="0"/>
              <a:t> *p= </a:t>
            </a:r>
            <a:r>
              <a:rPr lang="en-US" altLang="zh-CN" sz="2000" dirty="0" err="1"/>
              <a:t>G.vertices</a:t>
            </a:r>
            <a:r>
              <a:rPr lang="en-US" altLang="zh-CN" sz="2000" dirty="0"/>
              <a:t>[v].</a:t>
            </a:r>
            <a:r>
              <a:rPr lang="en-US" altLang="zh-CN" sz="2000" dirty="0" err="1"/>
              <a:t>firstarc</a:t>
            </a:r>
            <a:r>
              <a:rPr lang="en-US" altLang="zh-CN" sz="2000" dirty="0"/>
              <a:t>;     //p</a:t>
            </a:r>
            <a:r>
              <a:rPr lang="zh-CN" altLang="en-US" sz="2000" dirty="0"/>
              <a:t>指向</a:t>
            </a:r>
            <a:r>
              <a:rPr lang="en-US" altLang="zh-CN" sz="2000" dirty="0"/>
              <a:t>v</a:t>
            </a:r>
            <a:r>
              <a:rPr lang="zh-CN" altLang="en-US" sz="2000" dirty="0"/>
              <a:t>的边链表的第一个边结点 </a:t>
            </a:r>
          </a:p>
          <a:p>
            <a:pPr>
              <a:spcBef>
                <a:spcPct val="20000"/>
              </a:spcBef>
            </a:pPr>
            <a:r>
              <a:rPr lang="zh-CN" altLang="en-US" sz="2000" dirty="0"/>
              <a:t>  </a:t>
            </a:r>
            <a:r>
              <a:rPr lang="en-US" altLang="zh-CN" sz="2000" dirty="0"/>
              <a:t>while(p!=NULL){              	//</a:t>
            </a:r>
            <a:r>
              <a:rPr lang="zh-CN" altLang="en-US" sz="2000" dirty="0"/>
              <a:t>边结点非空 </a:t>
            </a:r>
          </a:p>
          <a:p>
            <a:pPr>
              <a:spcBef>
                <a:spcPct val="20000"/>
              </a:spcBef>
            </a:pPr>
            <a:r>
              <a:rPr lang="zh-CN" altLang="en-US" sz="2000" dirty="0"/>
              <a:t>  </a:t>
            </a:r>
            <a:r>
              <a:rPr lang="en-US" altLang="zh-CN" sz="2000" dirty="0"/>
              <a:t>w=p-&gt;</a:t>
            </a:r>
            <a:r>
              <a:rPr lang="en-US" altLang="zh-CN" sz="2000" dirty="0" err="1"/>
              <a:t>adjvex</a:t>
            </a:r>
            <a:r>
              <a:rPr lang="en-US" altLang="zh-CN" sz="2000" dirty="0"/>
              <a:t>;               	//</a:t>
            </a:r>
            <a:r>
              <a:rPr lang="zh-CN" altLang="en-US" sz="2000" dirty="0"/>
              <a:t>表示</a:t>
            </a:r>
            <a:r>
              <a:rPr lang="en-US" altLang="zh-CN" sz="2000" dirty="0"/>
              <a:t>w</a:t>
            </a:r>
            <a:r>
              <a:rPr lang="zh-CN" altLang="en-US" sz="2000" dirty="0"/>
              <a:t>是</a:t>
            </a:r>
            <a:r>
              <a:rPr lang="en-US" altLang="zh-CN" sz="2000" dirty="0"/>
              <a:t>v</a:t>
            </a:r>
            <a:r>
              <a:rPr lang="zh-CN" altLang="en-US" sz="2000" dirty="0"/>
              <a:t>的邻接点 </a:t>
            </a:r>
          </a:p>
          <a:p>
            <a:pPr>
              <a:spcBef>
                <a:spcPct val="20000"/>
              </a:spcBef>
            </a:pPr>
            <a:r>
              <a:rPr lang="zh-CN" altLang="en-US" sz="2000" dirty="0"/>
              <a:t>  </a:t>
            </a:r>
            <a:r>
              <a:rPr lang="en-US" altLang="zh-CN" sz="2000" dirty="0"/>
              <a:t>if(!visited[w]) DFS_ALG(G, w); 	//</a:t>
            </a:r>
            <a:r>
              <a:rPr lang="zh-CN" altLang="en-US" sz="2000" dirty="0"/>
              <a:t>如果</a:t>
            </a:r>
            <a:r>
              <a:rPr lang="en-US" altLang="zh-CN" sz="2000" dirty="0"/>
              <a:t>w</a:t>
            </a:r>
            <a:r>
              <a:rPr lang="zh-CN" altLang="en-US" sz="2000" dirty="0"/>
              <a:t>未访问，则递归调用</a:t>
            </a:r>
            <a:r>
              <a:rPr lang="en-US" altLang="zh-CN" sz="2000" dirty="0"/>
              <a:t>DFS </a:t>
            </a:r>
          </a:p>
          <a:p>
            <a:pPr>
              <a:spcBef>
                <a:spcPct val="20000"/>
              </a:spcBef>
            </a:pPr>
            <a:r>
              <a:rPr lang="en-US" altLang="zh-CN" sz="2000" dirty="0"/>
              <a:t>  p=p-&gt;</a:t>
            </a:r>
            <a:r>
              <a:rPr lang="en-US" altLang="zh-CN" sz="2000" dirty="0" err="1"/>
              <a:t>nextarc</a:t>
            </a:r>
            <a:r>
              <a:rPr lang="en-US" altLang="zh-CN" sz="2000" dirty="0"/>
              <a:t>;                	//p</a:t>
            </a:r>
            <a:r>
              <a:rPr lang="zh-CN" altLang="en-US" sz="2000" dirty="0"/>
              <a:t>指向下一个边结点 </a:t>
            </a:r>
          </a:p>
          <a:p>
            <a:pPr>
              <a:spcBef>
                <a:spcPct val="20000"/>
              </a:spcBef>
            </a:pPr>
            <a:r>
              <a:rPr lang="zh-CN" altLang="en-US" sz="2000" dirty="0"/>
              <a:t> </a:t>
            </a:r>
            <a:r>
              <a:rPr lang="en-US" altLang="zh-CN" sz="2000" dirty="0"/>
              <a:t>} </a:t>
            </a:r>
          </a:p>
          <a:p>
            <a:pPr>
              <a:spcBef>
                <a:spcPct val="20000"/>
              </a:spcBef>
            </a:pPr>
            <a:r>
              <a:rPr lang="en-US" altLang="zh-CN" sz="2000" dirty="0"/>
              <a:t>}</a:t>
            </a:r>
          </a:p>
        </p:txBody>
      </p:sp>
      <p:sp>
        <p:nvSpPr>
          <p:cNvPr id="69639" name="Rectangle 15"/>
          <p:cNvSpPr>
            <a:spLocks noChangeArrowheads="1"/>
          </p:cNvSpPr>
          <p:nvPr/>
        </p:nvSpPr>
        <p:spPr bwMode="auto">
          <a:xfrm>
            <a:off x="5886450" y="381000"/>
            <a:ext cx="294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仍可用递归算法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9" name="Rectangle 11"/>
          <p:cNvSpPr>
            <a:spLocks noChangeArrowheads="1"/>
          </p:cNvSpPr>
          <p:nvPr/>
        </p:nvSpPr>
        <p:spPr bwMode="auto">
          <a:xfrm>
            <a:off x="381000" y="685800"/>
            <a:ext cx="815340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用</a:t>
            </a:r>
            <a:r>
              <a:rPr lang="zh-CN" altLang="en-US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邻接矩阵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来表示图，遍历图中每一个顶点都要</a:t>
            </a:r>
            <a:r>
              <a:rPr lang="zh-CN" altLang="en-US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从头扫描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该顶点所在行，时间复杂度为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用</a:t>
            </a:r>
            <a:r>
              <a:rPr lang="zh-CN" altLang="en-US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邻接表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来表示图，虽然有 </a:t>
            </a:r>
            <a:r>
              <a:rPr lang="en-US" altLang="zh-CN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lang="en-US" altLang="zh-CN" i="1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e</a:t>
            </a:r>
            <a:r>
              <a:rPr lang="en-US" altLang="zh-CN" i="1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个表结点，但只需扫描 </a:t>
            </a:r>
            <a:r>
              <a:rPr lang="en-US" altLang="zh-CN" i="1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e 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个结点即可完成遍历，加上访问 </a:t>
            </a:r>
            <a:r>
              <a:rPr lang="en-US" altLang="zh-CN" i="1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n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个头结点的时间，时间复杂度为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O(</a:t>
            </a:r>
            <a:r>
              <a:rPr lang="en-US" altLang="zh-CN" i="1" dirty="0" err="1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n</a:t>
            </a:r>
            <a:r>
              <a:rPr lang="en-US" altLang="zh-CN" dirty="0" err="1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+</a:t>
            </a:r>
            <a:r>
              <a:rPr lang="en-US" altLang="zh-CN" i="1" dirty="0" err="1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e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。</a:t>
            </a:r>
          </a:p>
        </p:txBody>
      </p:sp>
      <p:sp>
        <p:nvSpPr>
          <p:cNvPr id="754701" name="Rectangle 13"/>
          <p:cNvSpPr>
            <a:spLocks noChangeArrowheads="1"/>
          </p:cNvSpPr>
          <p:nvPr/>
        </p:nvSpPr>
        <p:spPr bwMode="auto">
          <a:xfrm>
            <a:off x="914400" y="3389313"/>
            <a:ext cx="7186613" cy="13731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结论：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稠密图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适于在邻接矩阵上进行深度遍历；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稀疏图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适于在邻接表上进行深度遍历。</a:t>
            </a:r>
          </a:p>
        </p:txBody>
      </p:sp>
      <p:sp>
        <p:nvSpPr>
          <p:cNvPr id="70660" name="Rectangle 15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DFS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算法效率分析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54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54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4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4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9" grpId="0" build="p"/>
      <p:bldP spid="75470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311" name="Rectangle 23"/>
          <p:cNvSpPr>
            <a:spLocks noChangeArrowheads="1"/>
          </p:cNvSpPr>
          <p:nvPr/>
        </p:nvSpPr>
        <p:spPr bwMode="auto">
          <a:xfrm>
            <a:off x="141288" y="692150"/>
            <a:ext cx="853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just" eaLnBrk="1" hangingPunct="1"/>
            <a:r>
              <a:rPr lang="zh-CN" altLang="en-US" sz="3200">
                <a:solidFill>
                  <a:srgbClr val="FF3300"/>
                </a:solidFill>
                <a:latin typeface="黑体" panose="02010609060101010101" pitchFamily="49" charset="-122"/>
                <a:ea typeface="楷体_GB2312"/>
                <a:cs typeface="楷体_GB2312"/>
              </a:rPr>
              <a:t>基本思想：</a:t>
            </a:r>
            <a:r>
              <a:rPr lang="en-US" altLang="zh-CN" sz="3200">
                <a:solidFill>
                  <a:schemeClr val="tx2"/>
                </a:solidFill>
                <a:ea typeface="楷体_GB2312"/>
                <a:cs typeface="楷体_GB2312"/>
              </a:rPr>
              <a:t>——</a:t>
            </a:r>
            <a:r>
              <a:rPr lang="zh-CN" altLang="en-US" sz="3200">
                <a:solidFill>
                  <a:schemeClr val="tx2"/>
                </a:solidFill>
                <a:ea typeface="楷体_GB2312"/>
                <a:cs typeface="楷体_GB2312"/>
              </a:rPr>
              <a:t>仿树的层次遍历过程</a:t>
            </a:r>
          </a:p>
        </p:txBody>
      </p:sp>
      <p:sp>
        <p:nvSpPr>
          <p:cNvPr id="71683" name="Rectangle 60"/>
          <p:cNvSpPr>
            <a:spLocks noChangeArrowheads="1"/>
          </p:cNvSpPr>
          <p:nvPr/>
        </p:nvSpPr>
        <p:spPr bwMode="auto">
          <a:xfrm>
            <a:off x="39688" y="0"/>
            <a:ext cx="91043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广度优先搜索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( BFS 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－ 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Breadth_First Search)</a:t>
            </a:r>
          </a:p>
        </p:txBody>
      </p:sp>
      <p:sp>
        <p:nvSpPr>
          <p:cNvPr id="908350" name="Text Box 62"/>
          <p:cNvSpPr txBox="1">
            <a:spLocks noChangeArrowheads="1"/>
          </p:cNvSpPr>
          <p:nvPr/>
        </p:nvSpPr>
        <p:spPr bwMode="auto">
          <a:xfrm>
            <a:off x="4665663" y="2087563"/>
            <a:ext cx="609600" cy="57943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v1</a:t>
            </a:r>
          </a:p>
        </p:txBody>
      </p:sp>
      <p:grpSp>
        <p:nvGrpSpPr>
          <p:cNvPr id="2" name="Group 63"/>
          <p:cNvGrpSpPr/>
          <p:nvPr/>
        </p:nvGrpSpPr>
        <p:grpSpPr bwMode="auto">
          <a:xfrm>
            <a:off x="838200" y="1447800"/>
            <a:ext cx="3505200" cy="2057400"/>
            <a:chOff x="192" y="2182"/>
            <a:chExt cx="2304" cy="1520"/>
          </a:xfrm>
        </p:grpSpPr>
        <p:sp>
          <p:nvSpPr>
            <p:cNvPr id="71706" name="Oval 64"/>
            <p:cNvSpPr>
              <a:spLocks noChangeArrowheads="1"/>
            </p:cNvSpPr>
            <p:nvPr/>
          </p:nvSpPr>
          <p:spPr bwMode="auto">
            <a:xfrm>
              <a:off x="928" y="2182"/>
              <a:ext cx="234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71707" name="Oval 65"/>
            <p:cNvSpPr>
              <a:spLocks noChangeArrowheads="1"/>
            </p:cNvSpPr>
            <p:nvPr/>
          </p:nvSpPr>
          <p:spPr bwMode="auto">
            <a:xfrm>
              <a:off x="540" y="2584"/>
              <a:ext cx="234" cy="269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71708" name="Oval 66"/>
            <p:cNvSpPr>
              <a:spLocks noChangeArrowheads="1"/>
            </p:cNvSpPr>
            <p:nvPr/>
          </p:nvSpPr>
          <p:spPr bwMode="auto">
            <a:xfrm>
              <a:off x="1853" y="2542"/>
              <a:ext cx="232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71709" name="Oval 67"/>
            <p:cNvSpPr>
              <a:spLocks noChangeArrowheads="1"/>
            </p:cNvSpPr>
            <p:nvPr/>
          </p:nvSpPr>
          <p:spPr bwMode="auto">
            <a:xfrm>
              <a:off x="618" y="3432"/>
              <a:ext cx="233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v8</a:t>
              </a:r>
            </a:p>
          </p:txBody>
        </p:sp>
        <p:sp>
          <p:nvSpPr>
            <p:cNvPr id="71710" name="Line 68"/>
            <p:cNvSpPr>
              <a:spLocks noChangeShapeType="1"/>
            </p:cNvSpPr>
            <p:nvPr/>
          </p:nvSpPr>
          <p:spPr bwMode="auto">
            <a:xfrm>
              <a:off x="1162" y="2298"/>
              <a:ext cx="735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1" name="Line 69"/>
            <p:cNvSpPr>
              <a:spLocks noChangeShapeType="1"/>
            </p:cNvSpPr>
            <p:nvPr/>
          </p:nvSpPr>
          <p:spPr bwMode="auto">
            <a:xfrm flipH="1">
              <a:off x="696" y="2374"/>
              <a:ext cx="272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2" name="Line 70"/>
            <p:cNvSpPr>
              <a:spLocks noChangeShapeType="1"/>
            </p:cNvSpPr>
            <p:nvPr/>
          </p:nvSpPr>
          <p:spPr bwMode="auto">
            <a:xfrm>
              <a:off x="734" y="2815"/>
              <a:ext cx="156" cy="1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71"/>
            <p:cNvSpPr>
              <a:spLocks noChangeShapeType="1"/>
            </p:cNvSpPr>
            <p:nvPr/>
          </p:nvSpPr>
          <p:spPr bwMode="auto">
            <a:xfrm>
              <a:off x="2047" y="2774"/>
              <a:ext cx="311" cy="3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Line 72"/>
            <p:cNvSpPr>
              <a:spLocks noChangeShapeType="1"/>
            </p:cNvSpPr>
            <p:nvPr/>
          </p:nvSpPr>
          <p:spPr bwMode="auto">
            <a:xfrm flipH="1">
              <a:off x="1775" y="2812"/>
              <a:ext cx="156" cy="3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5" name="Oval 73"/>
            <p:cNvSpPr>
              <a:spLocks noChangeArrowheads="1"/>
            </p:cNvSpPr>
            <p:nvPr/>
          </p:nvSpPr>
          <p:spPr bwMode="auto">
            <a:xfrm>
              <a:off x="2264" y="3069"/>
              <a:ext cx="232" cy="271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v7</a:t>
              </a:r>
            </a:p>
          </p:txBody>
        </p:sp>
        <p:sp>
          <p:nvSpPr>
            <p:cNvPr id="71716" name="Oval 74"/>
            <p:cNvSpPr>
              <a:spLocks noChangeArrowheads="1"/>
            </p:cNvSpPr>
            <p:nvPr/>
          </p:nvSpPr>
          <p:spPr bwMode="auto">
            <a:xfrm>
              <a:off x="1620" y="3082"/>
              <a:ext cx="233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v6</a:t>
              </a:r>
            </a:p>
          </p:txBody>
        </p:sp>
        <p:sp>
          <p:nvSpPr>
            <p:cNvPr id="71717" name="Oval 75"/>
            <p:cNvSpPr>
              <a:spLocks noChangeArrowheads="1"/>
            </p:cNvSpPr>
            <p:nvPr/>
          </p:nvSpPr>
          <p:spPr bwMode="auto">
            <a:xfrm>
              <a:off x="192" y="3008"/>
              <a:ext cx="232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71718" name="Oval 76"/>
            <p:cNvSpPr>
              <a:spLocks noChangeArrowheads="1"/>
            </p:cNvSpPr>
            <p:nvPr/>
          </p:nvSpPr>
          <p:spPr bwMode="auto">
            <a:xfrm>
              <a:off x="890" y="2969"/>
              <a:ext cx="232" cy="270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hlink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71719" name="Line 77"/>
            <p:cNvSpPr>
              <a:spLocks noChangeShapeType="1"/>
            </p:cNvSpPr>
            <p:nvPr/>
          </p:nvSpPr>
          <p:spPr bwMode="auto">
            <a:xfrm flipH="1">
              <a:off x="386" y="2776"/>
              <a:ext cx="154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Line 78"/>
            <p:cNvSpPr>
              <a:spLocks noChangeShapeType="1"/>
            </p:cNvSpPr>
            <p:nvPr/>
          </p:nvSpPr>
          <p:spPr bwMode="auto">
            <a:xfrm>
              <a:off x="386" y="3278"/>
              <a:ext cx="272" cy="1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1" name="Line 79"/>
            <p:cNvSpPr>
              <a:spLocks noChangeShapeType="1"/>
            </p:cNvSpPr>
            <p:nvPr/>
          </p:nvSpPr>
          <p:spPr bwMode="auto">
            <a:xfrm flipH="1">
              <a:off x="851" y="3239"/>
              <a:ext cx="117" cy="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8368" name="Rectangle 80"/>
          <p:cNvSpPr>
            <a:spLocks noChangeArrowheads="1"/>
          </p:cNvSpPr>
          <p:nvPr/>
        </p:nvSpPr>
        <p:spPr bwMode="auto">
          <a:xfrm>
            <a:off x="5449888" y="1538288"/>
            <a:ext cx="1639887" cy="51911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BFS 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结果</a:t>
            </a:r>
          </a:p>
        </p:txBody>
      </p:sp>
      <p:sp>
        <p:nvSpPr>
          <p:cNvPr id="908369" name="Rectangle 81"/>
          <p:cNvSpPr>
            <a:spLocks noChangeArrowheads="1"/>
          </p:cNvSpPr>
          <p:nvPr/>
        </p:nvSpPr>
        <p:spPr bwMode="auto">
          <a:xfrm>
            <a:off x="5046663" y="20875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908370" name="Rectangle 82"/>
          <p:cNvSpPr>
            <a:spLocks noChangeArrowheads="1"/>
          </p:cNvSpPr>
          <p:nvPr/>
        </p:nvSpPr>
        <p:spPr bwMode="auto">
          <a:xfrm>
            <a:off x="6799263" y="2087563"/>
            <a:ext cx="5921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sp>
        <p:nvSpPr>
          <p:cNvPr id="908371" name="Rectangle 83"/>
          <p:cNvSpPr>
            <a:spLocks noChangeArrowheads="1"/>
          </p:cNvSpPr>
          <p:nvPr/>
        </p:nvSpPr>
        <p:spPr bwMode="auto">
          <a:xfrm>
            <a:off x="5961063" y="2667000"/>
            <a:ext cx="592137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→</a:t>
            </a:r>
          </a:p>
        </p:txBody>
      </p:sp>
      <p:grpSp>
        <p:nvGrpSpPr>
          <p:cNvPr id="3" name="Group 84"/>
          <p:cNvGrpSpPr/>
          <p:nvPr/>
        </p:nvGrpSpPr>
        <p:grpSpPr bwMode="auto">
          <a:xfrm>
            <a:off x="5503863" y="2087563"/>
            <a:ext cx="1428750" cy="579437"/>
            <a:chOff x="3467" y="1219"/>
            <a:chExt cx="900" cy="365"/>
          </a:xfrm>
        </p:grpSpPr>
        <p:sp>
          <p:nvSpPr>
            <p:cNvPr id="908373" name="Rectangle 85"/>
            <p:cNvSpPr>
              <a:spLocks noChangeArrowheads="1"/>
            </p:cNvSpPr>
            <p:nvPr/>
          </p:nvSpPr>
          <p:spPr bwMode="auto">
            <a:xfrm>
              <a:off x="3718" y="1219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→</a:t>
              </a:r>
            </a:p>
          </p:txBody>
        </p:sp>
        <p:sp>
          <p:nvSpPr>
            <p:cNvPr id="908374" name="Rectangle 86"/>
            <p:cNvSpPr>
              <a:spLocks noChangeArrowheads="1"/>
            </p:cNvSpPr>
            <p:nvPr/>
          </p:nvSpPr>
          <p:spPr bwMode="auto">
            <a:xfrm>
              <a:off x="3467" y="1219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v2</a:t>
              </a:r>
            </a:p>
          </p:txBody>
        </p:sp>
        <p:sp>
          <p:nvSpPr>
            <p:cNvPr id="908375" name="Rectangle 87"/>
            <p:cNvSpPr>
              <a:spLocks noChangeArrowheads="1"/>
            </p:cNvSpPr>
            <p:nvPr/>
          </p:nvSpPr>
          <p:spPr bwMode="auto">
            <a:xfrm>
              <a:off x="3995" y="1219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v3</a:t>
              </a:r>
            </a:p>
          </p:txBody>
        </p:sp>
      </p:grpSp>
      <p:grpSp>
        <p:nvGrpSpPr>
          <p:cNvPr id="4" name="Group 88"/>
          <p:cNvGrpSpPr/>
          <p:nvPr/>
        </p:nvGrpSpPr>
        <p:grpSpPr bwMode="auto">
          <a:xfrm>
            <a:off x="4800600" y="2667000"/>
            <a:ext cx="1371600" cy="579438"/>
            <a:chOff x="3024" y="1584"/>
            <a:chExt cx="864" cy="365"/>
          </a:xfrm>
        </p:grpSpPr>
        <p:sp>
          <p:nvSpPr>
            <p:cNvPr id="908377" name="Rectangle 89"/>
            <p:cNvSpPr>
              <a:spLocks noChangeArrowheads="1"/>
            </p:cNvSpPr>
            <p:nvPr/>
          </p:nvSpPr>
          <p:spPr bwMode="auto">
            <a:xfrm>
              <a:off x="3275" y="1584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→</a:t>
              </a:r>
            </a:p>
          </p:txBody>
        </p:sp>
        <p:sp>
          <p:nvSpPr>
            <p:cNvPr id="908378" name="Rectangle 90"/>
            <p:cNvSpPr>
              <a:spLocks noChangeArrowheads="1"/>
            </p:cNvSpPr>
            <p:nvPr/>
          </p:nvSpPr>
          <p:spPr bwMode="auto">
            <a:xfrm>
              <a:off x="3024" y="1584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v4</a:t>
              </a:r>
            </a:p>
          </p:txBody>
        </p:sp>
        <p:sp>
          <p:nvSpPr>
            <p:cNvPr id="908379" name="Rectangle 91"/>
            <p:cNvSpPr>
              <a:spLocks noChangeArrowheads="1"/>
            </p:cNvSpPr>
            <p:nvPr/>
          </p:nvSpPr>
          <p:spPr bwMode="auto">
            <a:xfrm>
              <a:off x="3516" y="1584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v5</a:t>
              </a:r>
            </a:p>
          </p:txBody>
        </p:sp>
      </p:grpSp>
      <p:grpSp>
        <p:nvGrpSpPr>
          <p:cNvPr id="5" name="Group 92"/>
          <p:cNvGrpSpPr/>
          <p:nvPr/>
        </p:nvGrpSpPr>
        <p:grpSpPr bwMode="auto">
          <a:xfrm>
            <a:off x="6324600" y="2667000"/>
            <a:ext cx="1428750" cy="579438"/>
            <a:chOff x="3527" y="1795"/>
            <a:chExt cx="900" cy="365"/>
          </a:xfrm>
        </p:grpSpPr>
        <p:sp>
          <p:nvSpPr>
            <p:cNvPr id="908381" name="Rectangle 93"/>
            <p:cNvSpPr>
              <a:spLocks noChangeArrowheads="1"/>
            </p:cNvSpPr>
            <p:nvPr/>
          </p:nvSpPr>
          <p:spPr bwMode="auto">
            <a:xfrm>
              <a:off x="3803" y="1795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→</a:t>
              </a:r>
            </a:p>
          </p:txBody>
        </p:sp>
        <p:sp>
          <p:nvSpPr>
            <p:cNvPr id="908382" name="Rectangle 94"/>
            <p:cNvSpPr>
              <a:spLocks noChangeArrowheads="1"/>
            </p:cNvSpPr>
            <p:nvPr/>
          </p:nvSpPr>
          <p:spPr bwMode="auto">
            <a:xfrm>
              <a:off x="3527" y="1795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v6</a:t>
              </a:r>
            </a:p>
          </p:txBody>
        </p:sp>
        <p:sp>
          <p:nvSpPr>
            <p:cNvPr id="908383" name="Rectangle 95"/>
            <p:cNvSpPr>
              <a:spLocks noChangeArrowheads="1"/>
            </p:cNvSpPr>
            <p:nvPr/>
          </p:nvSpPr>
          <p:spPr bwMode="auto">
            <a:xfrm>
              <a:off x="4055" y="1795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v7</a:t>
              </a:r>
            </a:p>
          </p:txBody>
        </p:sp>
      </p:grpSp>
      <p:grpSp>
        <p:nvGrpSpPr>
          <p:cNvPr id="6" name="Group 96"/>
          <p:cNvGrpSpPr/>
          <p:nvPr/>
        </p:nvGrpSpPr>
        <p:grpSpPr bwMode="auto">
          <a:xfrm>
            <a:off x="7543800" y="2667000"/>
            <a:ext cx="990600" cy="579438"/>
            <a:chOff x="4331" y="1795"/>
            <a:chExt cx="624" cy="365"/>
          </a:xfrm>
        </p:grpSpPr>
        <p:sp>
          <p:nvSpPr>
            <p:cNvPr id="908385" name="Rectangle 97"/>
            <p:cNvSpPr>
              <a:spLocks noChangeArrowheads="1"/>
            </p:cNvSpPr>
            <p:nvPr/>
          </p:nvSpPr>
          <p:spPr bwMode="auto">
            <a:xfrm>
              <a:off x="4331" y="1795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→</a:t>
              </a:r>
            </a:p>
          </p:txBody>
        </p:sp>
        <p:sp>
          <p:nvSpPr>
            <p:cNvPr id="908386" name="Rectangle 98"/>
            <p:cNvSpPr>
              <a:spLocks noChangeArrowheads="1"/>
            </p:cNvSpPr>
            <p:nvPr/>
          </p:nvSpPr>
          <p:spPr bwMode="auto">
            <a:xfrm>
              <a:off x="4583" y="1795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cs typeface="+mn-cs"/>
                  <a:sym typeface="+mn-ea"/>
                </a:rPr>
                <a:t>v8</a:t>
              </a:r>
            </a:p>
          </p:txBody>
        </p:sp>
      </p:grpSp>
      <p:sp>
        <p:nvSpPr>
          <p:cNvPr id="908387" name="AutoShape 99"/>
          <p:cNvSpPr>
            <a:spLocks noChangeArrowheads="1"/>
          </p:cNvSpPr>
          <p:nvPr/>
        </p:nvSpPr>
        <p:spPr bwMode="auto">
          <a:xfrm>
            <a:off x="2895600" y="1387475"/>
            <a:ext cx="990600" cy="457200"/>
          </a:xfrm>
          <a:prstGeom prst="wedgeEllipseCallout">
            <a:avLst>
              <a:gd name="adj1" fmla="val -104806"/>
              <a:gd name="adj2" fmla="val -26389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起点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90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0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311" grpId="0"/>
      <p:bldP spid="908350" grpId="0"/>
      <p:bldP spid="908368" grpId="0"/>
      <p:bldP spid="908369" grpId="0"/>
      <p:bldP spid="908370" grpId="0"/>
      <p:bldP spid="908371" grpId="0"/>
      <p:bldP spid="90838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18"/>
          <p:cNvSpPr txBox="1">
            <a:spLocks noChangeArrowheads="1"/>
          </p:cNvSpPr>
          <p:nvPr/>
        </p:nvSpPr>
        <p:spPr bwMode="auto">
          <a:xfrm>
            <a:off x="381000" y="914400"/>
            <a:ext cx="85121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简单归纳：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在访问了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起始点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之后，</a:t>
            </a:r>
            <a:r>
              <a:rPr lang="zh-CN" altLang="en-US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依次访问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的邻接点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；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  <a:ea typeface="楷体_GB2312"/>
                <a:cs typeface="楷体_GB2312"/>
              </a:rPr>
              <a:t>然后再依次访问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这些顶点中未被访问过的邻接点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；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直到所有顶点都被访问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过为止。</a:t>
            </a:r>
          </a:p>
        </p:txBody>
      </p:sp>
      <p:sp>
        <p:nvSpPr>
          <p:cNvPr id="907283" name="Rectangle 19"/>
          <p:cNvSpPr>
            <a:spLocks noChangeArrowheads="1"/>
          </p:cNvSpPr>
          <p:nvPr/>
        </p:nvSpPr>
        <p:spPr bwMode="auto">
          <a:xfrm>
            <a:off x="609600" y="3124200"/>
            <a:ext cx="762000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广度优先搜索是一种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分层</a:t>
            </a: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的搜索过程，每向前走一步可能访问一批顶点，不像深度优先搜索那样有回退的情况。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因此，广度优先搜索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不是一个递归</a:t>
            </a:r>
            <a:r>
              <a:rPr lang="zh-CN" altLang="en-US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的过程，其算法也不是递归的。</a:t>
            </a:r>
          </a:p>
        </p:txBody>
      </p:sp>
      <p:sp>
        <p:nvSpPr>
          <p:cNvPr id="72708" name="Rectangle 21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广度优先搜索的步骤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7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7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8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4"/>
          <p:cNvSpPr txBox="1">
            <a:spLocks noChangeArrowheads="1"/>
          </p:cNvSpPr>
          <p:nvPr/>
        </p:nvSpPr>
        <p:spPr bwMode="auto">
          <a:xfrm>
            <a:off x="250825" y="765175"/>
            <a:ext cx="7921625" cy="333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）从图中某个顶点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出发，访问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，并置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visited[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]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的值为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true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，然后将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v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进队。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）只要队列不空，则重复下述处理。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   ① 队头顶点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u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出队。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   ② 依次检查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u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的所有邻接点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w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，如果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visited[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w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]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的值为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false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，则访问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w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，并置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visited[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w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]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的值为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true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，然后将</a:t>
            </a:r>
            <a:r>
              <a:rPr lang="en-US" altLang="zh-CN" i="1">
                <a:latin typeface="楷体_GB2312"/>
                <a:ea typeface="楷体_GB2312"/>
                <a:cs typeface="楷体_GB2312"/>
              </a:rPr>
              <a:t>w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进队。</a:t>
            </a:r>
          </a:p>
        </p:txBody>
      </p:sp>
      <p:sp>
        <p:nvSpPr>
          <p:cNvPr id="73731" name="Rectangle 5"/>
          <p:cNvSpPr>
            <a:spLocks noChangeArrowheads="1"/>
          </p:cNvSpPr>
          <p:nvPr/>
        </p:nvSpPr>
        <p:spPr bwMode="auto">
          <a:xfrm>
            <a:off x="4763" y="-26988"/>
            <a:ext cx="377507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400">
                <a:ea typeface="楷体_GB2312"/>
                <a:cs typeface="楷体_GB2312"/>
              </a:rPr>
              <a:t>【</a:t>
            </a:r>
            <a:r>
              <a:rPr lang="zh-CN" altLang="en-US" sz="4400">
                <a:ea typeface="楷体_GB2312"/>
                <a:cs typeface="楷体_GB2312"/>
              </a:rPr>
              <a:t>算法思想</a:t>
            </a:r>
            <a:r>
              <a:rPr lang="en-US" altLang="zh-CN" sz="4400">
                <a:ea typeface="楷体_GB2312"/>
                <a:cs typeface="楷体_GB2312"/>
              </a:rPr>
              <a:t>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日期占位符 1"/>
          <p:cNvSpPr>
            <a:spLocks noGrp="1" noChangeArrowheads="1"/>
          </p:cNvSpPr>
          <p:nvPr>
            <p:ph type="dt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kumimoji="0" lang="en-US" altLang="zh-CN" sz="1400" b="0"/>
              <a:t>                    </a:t>
            </a:r>
            <a:fld id="{47CEEE35-426C-4CAD-8B02-8539D9D50AE1}" type="datetime2">
              <a:rPr kumimoji="0" lang="zh-CN" altLang="en-US" sz="1400" b="0" smtClean="0"/>
              <a:t>2025年4月23日</a:t>
            </a:fld>
            <a:r>
              <a:rPr kumimoji="0" lang="en-US" altLang="zh-CN" sz="1400" b="0"/>
              <a:t>        </a:t>
            </a:r>
          </a:p>
        </p:txBody>
      </p:sp>
      <p:sp>
        <p:nvSpPr>
          <p:cNvPr id="10247" name="Rectangle 47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2" name="Group 48"/>
          <p:cNvGrpSpPr/>
          <p:nvPr/>
        </p:nvGrpSpPr>
        <p:grpSpPr bwMode="auto">
          <a:xfrm>
            <a:off x="4635500" y="1130300"/>
            <a:ext cx="4267200" cy="5410200"/>
            <a:chOff x="2832" y="672"/>
            <a:chExt cx="2688" cy="3408"/>
          </a:xfrm>
        </p:grpSpPr>
        <p:graphicFrame>
          <p:nvGraphicFramePr>
            <p:cNvPr id="10244" name="Object 49"/>
            <p:cNvGraphicFramePr/>
            <p:nvPr/>
          </p:nvGraphicFramePr>
          <p:xfrm>
            <a:off x="2832" y="672"/>
            <a:ext cx="2688" cy="3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874520" imgH="3383280" progId="Photoshop.Image.5">
                    <p:embed/>
                  </p:oleObj>
                </mc:Choice>
                <mc:Fallback>
                  <p:oleObj r:id="rId2" imgW="1874520" imgH="3383280" progId="Photoshop.Image.5">
                    <p:embed/>
                    <p:pic>
                      <p:nvPicPr>
                        <p:cNvPr id="10244" name="Object 4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672"/>
                          <a:ext cx="2688" cy="3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1" name="Rectangle 50"/>
            <p:cNvSpPr>
              <a:spLocks noChangeArrowheads="1"/>
            </p:cNvSpPr>
            <p:nvPr/>
          </p:nvSpPr>
          <p:spPr bwMode="auto">
            <a:xfrm>
              <a:off x="2880" y="816"/>
              <a:ext cx="144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aphicFrame>
        <p:nvGraphicFramePr>
          <p:cNvPr id="933939" name="Object 51"/>
          <p:cNvGraphicFramePr/>
          <p:nvPr/>
        </p:nvGraphicFramePr>
        <p:xfrm>
          <a:off x="444500" y="3113088"/>
          <a:ext cx="3581400" cy="304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70075" imgH="1668780" progId="Photoshop.Image.5">
                  <p:embed/>
                </p:oleObj>
              </mc:Choice>
              <mc:Fallback>
                <p:oleObj r:id="rId4" imgW="1870075" imgH="1668780" progId="Photoshop.Image.5">
                  <p:embed/>
                  <p:pic>
                    <p:nvPicPr>
                      <p:cNvPr id="933939" name="Object 5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3113088"/>
                        <a:ext cx="3581400" cy="304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940" name="Rectangle 52"/>
          <p:cNvSpPr>
            <a:spLocks noChangeArrowheads="1"/>
          </p:cNvSpPr>
          <p:nvPr/>
        </p:nvSpPr>
        <p:spPr bwMode="auto">
          <a:xfrm>
            <a:off x="107950" y="292100"/>
            <a:ext cx="4876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讨论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：计算机如何实现</a:t>
            </a:r>
            <a:r>
              <a:rPr lang="en-US" altLang="zh-CN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BFS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？</a:t>
            </a:r>
          </a:p>
        </p:txBody>
      </p:sp>
      <p:sp>
        <p:nvSpPr>
          <p:cNvPr id="933941" name="Text Box 53"/>
          <p:cNvSpPr txBox="1">
            <a:spLocks noChangeArrowheads="1"/>
          </p:cNvSpPr>
          <p:nvPr/>
        </p:nvSpPr>
        <p:spPr bwMode="auto">
          <a:xfrm>
            <a:off x="901700" y="2882900"/>
            <a:ext cx="2514600" cy="4667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tx2"/>
                </a:solidFill>
              </a:rPr>
              <a:t>邻接表</a:t>
            </a:r>
          </a:p>
        </p:txBody>
      </p:sp>
      <p:sp>
        <p:nvSpPr>
          <p:cNvPr id="933943" name="Rectangle 55"/>
          <p:cNvSpPr>
            <a:spLocks noChangeArrowheads="1"/>
          </p:cNvSpPr>
          <p:nvPr/>
        </p:nvSpPr>
        <p:spPr bwMode="auto">
          <a:xfrm>
            <a:off x="4941888" y="79375"/>
            <a:ext cx="41132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—</a:t>
            </a:r>
            <a:r>
              <a:rPr lang="zh-CN" altLang="en-US" sz="2400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除辅助数组</a:t>
            </a:r>
            <a:r>
              <a:rPr lang="en-US" altLang="zh-CN" sz="2400" i="1" dirty="0">
                <a:solidFill>
                  <a:schemeClr val="tx2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visited</a:t>
            </a:r>
            <a:r>
              <a:rPr lang="en-US" altLang="zh-CN" sz="2400" dirty="0">
                <a:solidFill>
                  <a:schemeClr val="tx2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 [n ]</a:t>
            </a:r>
            <a:r>
              <a:rPr lang="zh-CN" altLang="en-US" sz="2400" dirty="0">
                <a:solidFill>
                  <a:schemeClr val="tx2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外，还需再开一辅助队列</a:t>
            </a:r>
          </a:p>
        </p:txBody>
      </p:sp>
      <p:graphicFrame>
        <p:nvGraphicFramePr>
          <p:cNvPr id="933945" name="Object 57"/>
          <p:cNvGraphicFramePr/>
          <p:nvPr/>
        </p:nvGraphicFramePr>
        <p:xfrm>
          <a:off x="1130300" y="901700"/>
          <a:ext cx="22860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07465" imgH="1271270" progId="Photoshop.Image.5">
                  <p:embed/>
                </p:oleObj>
              </mc:Choice>
              <mc:Fallback>
                <p:oleObj r:id="rId6" imgW="1307465" imgH="1271270" progId="Photoshop.Image.5">
                  <p:embed/>
                  <p:pic>
                    <p:nvPicPr>
                      <p:cNvPr id="933945" name="Object 5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862" b="7362"/>
                      <a:stretch>
                        <a:fillRect/>
                      </a:stretch>
                    </p:blipFill>
                    <p:spPr bwMode="auto">
                      <a:xfrm>
                        <a:off x="1130300" y="901700"/>
                        <a:ext cx="22860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946" name="AutoShape 58"/>
          <p:cNvSpPr>
            <a:spLocks noChangeArrowheads="1"/>
          </p:cNvSpPr>
          <p:nvPr/>
        </p:nvSpPr>
        <p:spPr bwMode="auto">
          <a:xfrm>
            <a:off x="139700" y="1206500"/>
            <a:ext cx="990600" cy="457200"/>
          </a:xfrm>
          <a:prstGeom prst="wedgeEllipseCallout">
            <a:avLst>
              <a:gd name="adj1" fmla="val 58014"/>
              <a:gd name="adj2" fmla="val 113889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起点</a:t>
            </a:r>
          </a:p>
        </p:txBody>
      </p:sp>
      <p:sp>
        <p:nvSpPr>
          <p:cNvPr id="933947" name="Text Box 59"/>
          <p:cNvSpPr txBox="1">
            <a:spLocks noChangeArrowheads="1"/>
          </p:cNvSpPr>
          <p:nvPr/>
        </p:nvSpPr>
        <p:spPr bwMode="auto">
          <a:xfrm>
            <a:off x="5092700" y="901700"/>
            <a:ext cx="2514600" cy="4667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tx2"/>
                </a:solidFill>
                <a:ea typeface="楷体_GB2312"/>
                <a:cs typeface="楷体_GB2312"/>
              </a:rPr>
              <a:t>辅助队列</a:t>
            </a:r>
          </a:p>
        </p:txBody>
      </p:sp>
      <p:sp>
        <p:nvSpPr>
          <p:cNvPr id="933948" name="Rectangle 60"/>
          <p:cNvSpPr>
            <a:spLocks noChangeArrowheads="1"/>
          </p:cNvSpPr>
          <p:nvPr/>
        </p:nvSpPr>
        <p:spPr bwMode="auto">
          <a:xfrm>
            <a:off x="7302500" y="3340100"/>
            <a:ext cx="171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tx2"/>
                </a:solidFill>
                <a:ea typeface="楷体_GB2312"/>
                <a:cs typeface="楷体_GB2312"/>
              </a:rPr>
              <a:t>v2</a:t>
            </a:r>
            <a:r>
              <a:rPr lang="zh-CN" altLang="en-US" sz="2000">
                <a:solidFill>
                  <a:schemeClr val="tx2"/>
                </a:solidFill>
                <a:ea typeface="楷体_GB2312"/>
                <a:cs typeface="楷体_GB2312"/>
              </a:rPr>
              <a:t>已访问过了</a:t>
            </a:r>
          </a:p>
        </p:txBody>
      </p:sp>
      <p:sp>
        <p:nvSpPr>
          <p:cNvPr id="933949" name="AutoShape 61"/>
          <p:cNvSpPr>
            <a:spLocks noChangeArrowheads="1"/>
          </p:cNvSpPr>
          <p:nvPr/>
        </p:nvSpPr>
        <p:spPr bwMode="auto">
          <a:xfrm>
            <a:off x="2730500" y="6311900"/>
            <a:ext cx="2514600" cy="457200"/>
          </a:xfrm>
          <a:prstGeom prst="wedgeRectCallout">
            <a:avLst>
              <a:gd name="adj1" fmla="val 47792"/>
              <a:gd name="adj2" fmla="val -753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BFS </a:t>
            </a:r>
            <a:r>
              <a:rPr lang="zh-CN" altLang="en-US" sz="24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遍历结果</a:t>
            </a:r>
          </a:p>
        </p:txBody>
      </p:sp>
      <p:sp>
        <p:nvSpPr>
          <p:cNvPr id="933950" name="Oval 62"/>
          <p:cNvSpPr>
            <a:spLocks noChangeArrowheads="1"/>
          </p:cNvSpPr>
          <p:nvPr/>
        </p:nvSpPr>
        <p:spPr bwMode="auto">
          <a:xfrm>
            <a:off x="7302500" y="1663700"/>
            <a:ext cx="990600" cy="5334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3951" name="Rectangle 63"/>
          <p:cNvSpPr>
            <a:spLocks noChangeArrowheads="1"/>
          </p:cNvSpPr>
          <p:nvPr/>
        </p:nvSpPr>
        <p:spPr bwMode="auto">
          <a:xfrm>
            <a:off x="8293100" y="1663700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2"/>
                </a:solidFill>
                <a:ea typeface="楷体_GB2312"/>
                <a:cs typeface="楷体_GB2312"/>
              </a:rPr>
              <a:t>入队！</a:t>
            </a:r>
          </a:p>
        </p:txBody>
      </p:sp>
      <p:sp>
        <p:nvSpPr>
          <p:cNvPr id="933953" name="Oval 65"/>
          <p:cNvSpPr>
            <a:spLocks noChangeArrowheads="1"/>
          </p:cNvSpPr>
          <p:nvPr/>
        </p:nvSpPr>
        <p:spPr bwMode="auto">
          <a:xfrm>
            <a:off x="749300" y="3873500"/>
            <a:ext cx="3048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3954" name="Oval 66"/>
          <p:cNvSpPr>
            <a:spLocks noChangeArrowheads="1"/>
          </p:cNvSpPr>
          <p:nvPr/>
        </p:nvSpPr>
        <p:spPr bwMode="auto">
          <a:xfrm>
            <a:off x="5397500" y="3492500"/>
            <a:ext cx="6096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3955" name="Oval 67"/>
          <p:cNvSpPr>
            <a:spLocks noChangeArrowheads="1"/>
          </p:cNvSpPr>
          <p:nvPr/>
        </p:nvSpPr>
        <p:spPr bwMode="auto">
          <a:xfrm>
            <a:off x="673100" y="3492500"/>
            <a:ext cx="3810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3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33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3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33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3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3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33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33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33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33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33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33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33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33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33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33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3940" grpId="0"/>
      <p:bldP spid="933941" grpId="0" animBg="1"/>
      <p:bldP spid="933943" grpId="0"/>
      <p:bldP spid="933946" grpId="0" animBg="1"/>
      <p:bldP spid="933947" grpId="0" animBg="1"/>
      <p:bldP spid="933948" grpId="0"/>
      <p:bldP spid="933949" grpId="0" animBg="1"/>
      <p:bldP spid="933950" grpId="0" animBg="1"/>
      <p:bldP spid="933951" grpId="0"/>
      <p:bldP spid="933953" grpId="0" animBg="1"/>
      <p:bldP spid="933954" grpId="0" animBg="1"/>
      <p:bldP spid="93395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1" name="Rectangle 21"/>
          <p:cNvSpPr>
            <a:spLocks noChangeArrowheads="1"/>
          </p:cNvSpPr>
          <p:nvPr/>
        </p:nvSpPr>
        <p:spPr bwMode="auto">
          <a:xfrm>
            <a:off x="152400" y="838200"/>
            <a:ext cx="845820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ea typeface="楷体_GB2312"/>
                <a:cs typeface="楷体_GB2312"/>
              </a:rPr>
              <a:t>如果使用邻接矩阵，则</a:t>
            </a:r>
            <a:r>
              <a:rPr lang="en-US" altLang="zh-CN" sz="2600" dirty="0">
                <a:ea typeface="楷体_GB2312"/>
                <a:cs typeface="楷体_GB2312"/>
              </a:rPr>
              <a:t>BFS</a:t>
            </a:r>
            <a:r>
              <a:rPr lang="zh-CN" altLang="en-US" sz="2600" dirty="0">
                <a:ea typeface="楷体_GB2312"/>
                <a:cs typeface="楷体_GB2312"/>
              </a:rPr>
              <a:t>对于每一个被访问到的顶点，都要循环检测矩阵中的整整一行（</a:t>
            </a:r>
            <a:r>
              <a:rPr lang="zh-CN" altLang="en-US" sz="2600" dirty="0"/>
              <a:t> </a:t>
            </a:r>
            <a:r>
              <a:rPr lang="en-US" altLang="zh-CN" sz="2600" i="1" dirty="0"/>
              <a:t>n </a:t>
            </a:r>
            <a:r>
              <a:rPr lang="zh-CN" altLang="en-US" sz="2600" dirty="0">
                <a:ea typeface="楷体_GB2312"/>
                <a:cs typeface="楷体_GB2312"/>
              </a:rPr>
              <a:t>个元素），总的时间代价为</a:t>
            </a:r>
            <a:r>
              <a:rPr lang="en-US" altLang="zh-CN" sz="2600" dirty="0">
                <a:solidFill>
                  <a:srgbClr val="FF3300"/>
                </a:solidFill>
                <a:highlight>
                  <a:srgbClr val="00FF00"/>
                </a:highlight>
              </a:rPr>
              <a:t>O(</a:t>
            </a:r>
            <a:r>
              <a:rPr lang="en-US" altLang="zh-CN" sz="2600" i="1" dirty="0">
                <a:solidFill>
                  <a:srgbClr val="FF3300"/>
                </a:solidFill>
                <a:highlight>
                  <a:srgbClr val="00FF00"/>
                </a:highlight>
              </a:rPr>
              <a:t>n</a:t>
            </a:r>
            <a:r>
              <a:rPr lang="en-US" altLang="zh-CN" sz="2600" baseline="30000" dirty="0">
                <a:solidFill>
                  <a:srgbClr val="FF3300"/>
                </a:solidFill>
                <a:highlight>
                  <a:srgbClr val="00FF00"/>
                </a:highlight>
              </a:rPr>
              <a:t>2</a:t>
            </a:r>
            <a:r>
              <a:rPr lang="en-US" altLang="zh-CN" sz="2600" dirty="0">
                <a:solidFill>
                  <a:srgbClr val="FF3300"/>
                </a:solidFill>
                <a:highlight>
                  <a:srgbClr val="00FF00"/>
                </a:highlight>
              </a:rPr>
              <a:t>)</a:t>
            </a:r>
            <a:r>
              <a:rPr lang="zh-CN" altLang="en-US" sz="2600" dirty="0"/>
              <a:t>。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ea typeface="楷体_GB2312"/>
                <a:cs typeface="楷体_GB2312"/>
              </a:rPr>
              <a:t>用邻接表来表示图，虽然有 </a:t>
            </a:r>
            <a:r>
              <a:rPr lang="en-US" altLang="zh-CN" sz="2600" dirty="0">
                <a:ea typeface="楷体_GB2312"/>
                <a:cs typeface="楷体_GB2312"/>
              </a:rPr>
              <a:t>2e </a:t>
            </a:r>
            <a:r>
              <a:rPr lang="zh-CN" altLang="en-US" sz="2600" dirty="0">
                <a:ea typeface="楷体_GB2312"/>
                <a:cs typeface="楷体_GB2312"/>
              </a:rPr>
              <a:t>个表结点，但只需扫描 </a:t>
            </a:r>
            <a:r>
              <a:rPr lang="en-US" altLang="zh-CN" sz="2600" dirty="0">
                <a:ea typeface="楷体_GB2312"/>
                <a:cs typeface="楷体_GB2312"/>
              </a:rPr>
              <a:t>e </a:t>
            </a:r>
            <a:r>
              <a:rPr lang="zh-CN" altLang="en-US" sz="2600" dirty="0">
                <a:ea typeface="楷体_GB2312"/>
                <a:cs typeface="楷体_GB2312"/>
              </a:rPr>
              <a:t>个结点即可完成遍历，加上访问 </a:t>
            </a:r>
            <a:r>
              <a:rPr lang="en-US" altLang="zh-CN" sz="2600" dirty="0">
                <a:ea typeface="楷体_GB2312"/>
                <a:cs typeface="楷体_GB2312"/>
              </a:rPr>
              <a:t>n</a:t>
            </a:r>
            <a:r>
              <a:rPr lang="zh-CN" altLang="en-US" sz="2600" dirty="0">
                <a:ea typeface="楷体_GB2312"/>
                <a:cs typeface="楷体_GB2312"/>
              </a:rPr>
              <a:t>个头结点的时间，时间复杂度为</a:t>
            </a:r>
            <a:r>
              <a:rPr lang="en-US" altLang="zh-CN" sz="2600" dirty="0">
                <a:solidFill>
                  <a:srgbClr val="FF3300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O(</a:t>
            </a:r>
            <a:r>
              <a:rPr lang="en-US" altLang="zh-CN" sz="2600" dirty="0" err="1">
                <a:solidFill>
                  <a:srgbClr val="FF3300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n+e</a:t>
            </a:r>
            <a:r>
              <a:rPr lang="en-US" altLang="zh-CN" sz="2600" dirty="0">
                <a:solidFill>
                  <a:srgbClr val="FF3300"/>
                </a:solidFill>
                <a:highlight>
                  <a:srgbClr val="00FF00"/>
                </a:highlight>
                <a:ea typeface="楷体_GB2312"/>
                <a:cs typeface="楷体_GB2312"/>
              </a:rPr>
              <a:t>)</a:t>
            </a:r>
            <a:r>
              <a:rPr lang="zh-CN" altLang="en-US" sz="2600" dirty="0">
                <a:ea typeface="楷体_GB2312"/>
                <a:cs typeface="楷体_GB2312"/>
              </a:rPr>
              <a:t>。</a:t>
            </a:r>
          </a:p>
        </p:txBody>
      </p:sp>
      <p:sp>
        <p:nvSpPr>
          <p:cNvPr id="75779" name="Rectangle 23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BFS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算法效率分析</a:t>
            </a:r>
          </a:p>
        </p:txBody>
      </p:sp>
    </p:spTree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ChangeArrowheads="1"/>
          </p:cNvSpPr>
          <p:nvPr/>
        </p:nvSpPr>
        <p:spPr bwMode="auto">
          <a:xfrm>
            <a:off x="685800" y="1054100"/>
            <a:ext cx="77724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zh-CN" altLang="en-US" sz="2400" dirty="0"/>
              <a:t>已知图的邻接表，分别给出用深度优先搜索和广度优先搜索从</a:t>
            </a:r>
            <a:r>
              <a:rPr lang="zh-CN" altLang="en-US" sz="2400" dirty="0">
                <a:solidFill>
                  <a:srgbClr val="FF3300"/>
                </a:solidFill>
              </a:rPr>
              <a:t>顶点</a:t>
            </a:r>
            <a:r>
              <a:rPr lang="en-US" altLang="zh-CN" sz="2400" dirty="0">
                <a:solidFill>
                  <a:srgbClr val="FF3300"/>
                </a:solidFill>
              </a:rPr>
              <a:t>3</a:t>
            </a:r>
            <a:r>
              <a:rPr lang="zh-CN" altLang="en-US" sz="2400" dirty="0">
                <a:solidFill>
                  <a:srgbClr val="FF3300"/>
                </a:solidFill>
              </a:rPr>
              <a:t>出发</a:t>
            </a:r>
            <a:r>
              <a:rPr lang="zh-CN" altLang="en-US" sz="2400" dirty="0"/>
              <a:t>的遍历序列。</a:t>
            </a:r>
          </a:p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        </a:t>
            </a:r>
            <a:r>
              <a:rPr lang="en-US" altLang="zh-CN" dirty="0"/>
              <a:t>1         ^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        2                    4            1   ^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        3                    6            2   ^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        4                    6            5           3   ^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        5                    1   ^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        6                    5             2          1   ^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chemeClr val="accent2"/>
                </a:solidFill>
              </a:rPr>
              <a:t>  </a:t>
            </a:r>
          </a:p>
        </p:txBody>
      </p:sp>
      <p:sp>
        <p:nvSpPr>
          <p:cNvPr id="76803" name="Rectangle 5"/>
          <p:cNvSpPr>
            <a:spLocks noChangeArrowheads="1"/>
          </p:cNvSpPr>
          <p:nvPr/>
        </p:nvSpPr>
        <p:spPr bwMode="auto">
          <a:xfrm>
            <a:off x="1828800" y="1968500"/>
            <a:ext cx="9906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04" name="Line 6"/>
          <p:cNvSpPr>
            <a:spLocks noChangeShapeType="1"/>
          </p:cNvSpPr>
          <p:nvPr/>
        </p:nvSpPr>
        <p:spPr bwMode="auto">
          <a:xfrm>
            <a:off x="2362200" y="19685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5" name="Line 7"/>
          <p:cNvSpPr>
            <a:spLocks noChangeShapeType="1"/>
          </p:cNvSpPr>
          <p:nvPr/>
        </p:nvSpPr>
        <p:spPr bwMode="auto">
          <a:xfrm>
            <a:off x="1828800" y="24257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6" name="Line 8"/>
          <p:cNvSpPr>
            <a:spLocks noChangeShapeType="1"/>
          </p:cNvSpPr>
          <p:nvPr/>
        </p:nvSpPr>
        <p:spPr bwMode="auto">
          <a:xfrm>
            <a:off x="1828800" y="28829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7" name="Line 9"/>
          <p:cNvSpPr>
            <a:spLocks noChangeShapeType="1"/>
          </p:cNvSpPr>
          <p:nvPr/>
        </p:nvSpPr>
        <p:spPr bwMode="auto">
          <a:xfrm>
            <a:off x="1828800" y="34163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8" name="Line 10"/>
          <p:cNvSpPr>
            <a:spLocks noChangeShapeType="1"/>
          </p:cNvSpPr>
          <p:nvPr/>
        </p:nvSpPr>
        <p:spPr bwMode="auto">
          <a:xfrm>
            <a:off x="1828800" y="38735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9" name="Line 11"/>
          <p:cNvSpPr>
            <a:spLocks noChangeShapeType="1"/>
          </p:cNvSpPr>
          <p:nvPr/>
        </p:nvSpPr>
        <p:spPr bwMode="auto">
          <a:xfrm>
            <a:off x="1828800" y="44069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0" name="Rectangle 12"/>
          <p:cNvSpPr>
            <a:spLocks noChangeArrowheads="1"/>
          </p:cNvSpPr>
          <p:nvPr/>
        </p:nvSpPr>
        <p:spPr bwMode="auto">
          <a:xfrm>
            <a:off x="3276600" y="2501900"/>
            <a:ext cx="914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11" name="Rectangle 13"/>
          <p:cNvSpPr>
            <a:spLocks noChangeArrowheads="1"/>
          </p:cNvSpPr>
          <p:nvPr/>
        </p:nvSpPr>
        <p:spPr bwMode="auto">
          <a:xfrm>
            <a:off x="4572000" y="25019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12" name="Line 14"/>
          <p:cNvSpPr>
            <a:spLocks noChangeShapeType="1"/>
          </p:cNvSpPr>
          <p:nvPr/>
        </p:nvSpPr>
        <p:spPr bwMode="auto">
          <a:xfrm>
            <a:off x="3733800" y="25019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3" name="Line 15"/>
          <p:cNvSpPr>
            <a:spLocks noChangeShapeType="1"/>
          </p:cNvSpPr>
          <p:nvPr/>
        </p:nvSpPr>
        <p:spPr bwMode="auto">
          <a:xfrm>
            <a:off x="4953000" y="25019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4" name="Line 16"/>
          <p:cNvSpPr>
            <a:spLocks noChangeShapeType="1"/>
          </p:cNvSpPr>
          <p:nvPr/>
        </p:nvSpPr>
        <p:spPr bwMode="auto">
          <a:xfrm>
            <a:off x="2590800" y="2654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5" name="Line 17"/>
          <p:cNvSpPr>
            <a:spLocks noChangeShapeType="1"/>
          </p:cNvSpPr>
          <p:nvPr/>
        </p:nvSpPr>
        <p:spPr bwMode="auto">
          <a:xfrm>
            <a:off x="4038600" y="2654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6" name="Rectangle 18"/>
          <p:cNvSpPr>
            <a:spLocks noChangeArrowheads="1"/>
          </p:cNvSpPr>
          <p:nvPr/>
        </p:nvSpPr>
        <p:spPr bwMode="auto">
          <a:xfrm>
            <a:off x="3276600" y="3035300"/>
            <a:ext cx="914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17" name="Line 19"/>
          <p:cNvSpPr>
            <a:spLocks noChangeShapeType="1"/>
          </p:cNvSpPr>
          <p:nvPr/>
        </p:nvSpPr>
        <p:spPr bwMode="auto">
          <a:xfrm>
            <a:off x="3733800" y="30353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8" name="Line 20"/>
          <p:cNvSpPr>
            <a:spLocks noChangeShapeType="1"/>
          </p:cNvSpPr>
          <p:nvPr/>
        </p:nvSpPr>
        <p:spPr bwMode="auto">
          <a:xfrm>
            <a:off x="2590800" y="3187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9" name="Rectangle 21"/>
          <p:cNvSpPr>
            <a:spLocks noChangeArrowheads="1"/>
          </p:cNvSpPr>
          <p:nvPr/>
        </p:nvSpPr>
        <p:spPr bwMode="auto">
          <a:xfrm>
            <a:off x="3276600" y="34925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20" name="Line 22"/>
          <p:cNvSpPr>
            <a:spLocks noChangeShapeType="1"/>
          </p:cNvSpPr>
          <p:nvPr/>
        </p:nvSpPr>
        <p:spPr bwMode="auto">
          <a:xfrm>
            <a:off x="3810000" y="34925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1" name="Line 23"/>
          <p:cNvSpPr>
            <a:spLocks noChangeShapeType="1"/>
          </p:cNvSpPr>
          <p:nvPr/>
        </p:nvSpPr>
        <p:spPr bwMode="auto">
          <a:xfrm>
            <a:off x="2590800" y="36449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2" name="Rectangle 24"/>
          <p:cNvSpPr>
            <a:spLocks noChangeArrowheads="1"/>
          </p:cNvSpPr>
          <p:nvPr/>
        </p:nvSpPr>
        <p:spPr bwMode="auto">
          <a:xfrm>
            <a:off x="3352800" y="4025900"/>
            <a:ext cx="91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23" name="Line 25"/>
          <p:cNvSpPr>
            <a:spLocks noChangeShapeType="1"/>
          </p:cNvSpPr>
          <p:nvPr/>
        </p:nvSpPr>
        <p:spPr bwMode="auto">
          <a:xfrm>
            <a:off x="3810000" y="4025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4" name="Line 26"/>
          <p:cNvSpPr>
            <a:spLocks noChangeShapeType="1"/>
          </p:cNvSpPr>
          <p:nvPr/>
        </p:nvSpPr>
        <p:spPr bwMode="auto">
          <a:xfrm>
            <a:off x="2590800" y="4178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5" name="Rectangle 27"/>
          <p:cNvSpPr>
            <a:spLocks noChangeArrowheads="1"/>
          </p:cNvSpPr>
          <p:nvPr/>
        </p:nvSpPr>
        <p:spPr bwMode="auto">
          <a:xfrm>
            <a:off x="3352800" y="4559300"/>
            <a:ext cx="91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26" name="Rectangle 28"/>
          <p:cNvSpPr>
            <a:spLocks noChangeArrowheads="1"/>
          </p:cNvSpPr>
          <p:nvPr/>
        </p:nvSpPr>
        <p:spPr bwMode="auto">
          <a:xfrm>
            <a:off x="4724400" y="4559300"/>
            <a:ext cx="762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27" name="Line 29"/>
          <p:cNvSpPr>
            <a:spLocks noChangeShapeType="1"/>
          </p:cNvSpPr>
          <p:nvPr/>
        </p:nvSpPr>
        <p:spPr bwMode="auto">
          <a:xfrm>
            <a:off x="3886200" y="4559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8" name="Line 30"/>
          <p:cNvSpPr>
            <a:spLocks noChangeShapeType="1"/>
          </p:cNvSpPr>
          <p:nvPr/>
        </p:nvSpPr>
        <p:spPr bwMode="auto">
          <a:xfrm>
            <a:off x="5105400" y="4559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9" name="Line 31"/>
          <p:cNvSpPr>
            <a:spLocks noChangeShapeType="1"/>
          </p:cNvSpPr>
          <p:nvPr/>
        </p:nvSpPr>
        <p:spPr bwMode="auto">
          <a:xfrm>
            <a:off x="2590800" y="46355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0" name="Line 32"/>
          <p:cNvSpPr>
            <a:spLocks noChangeShapeType="1"/>
          </p:cNvSpPr>
          <p:nvPr/>
        </p:nvSpPr>
        <p:spPr bwMode="auto">
          <a:xfrm>
            <a:off x="4114800" y="4711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1" name="Rectangle 33"/>
          <p:cNvSpPr>
            <a:spLocks noChangeArrowheads="1"/>
          </p:cNvSpPr>
          <p:nvPr/>
        </p:nvSpPr>
        <p:spPr bwMode="auto">
          <a:xfrm>
            <a:off x="4495800" y="29591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32" name="Line 34"/>
          <p:cNvSpPr>
            <a:spLocks noChangeShapeType="1"/>
          </p:cNvSpPr>
          <p:nvPr/>
        </p:nvSpPr>
        <p:spPr bwMode="auto">
          <a:xfrm>
            <a:off x="4953000" y="2959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3" name="Line 35"/>
          <p:cNvSpPr>
            <a:spLocks noChangeShapeType="1"/>
          </p:cNvSpPr>
          <p:nvPr/>
        </p:nvSpPr>
        <p:spPr bwMode="auto">
          <a:xfrm>
            <a:off x="3962400" y="31877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4" name="Rectangle 36"/>
          <p:cNvSpPr>
            <a:spLocks noChangeArrowheads="1"/>
          </p:cNvSpPr>
          <p:nvPr/>
        </p:nvSpPr>
        <p:spPr bwMode="auto">
          <a:xfrm>
            <a:off x="4495800" y="34925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35" name="Rectangle 37"/>
          <p:cNvSpPr>
            <a:spLocks noChangeArrowheads="1"/>
          </p:cNvSpPr>
          <p:nvPr/>
        </p:nvSpPr>
        <p:spPr bwMode="auto">
          <a:xfrm>
            <a:off x="5715000" y="34925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36" name="Line 38"/>
          <p:cNvSpPr>
            <a:spLocks noChangeShapeType="1"/>
          </p:cNvSpPr>
          <p:nvPr/>
        </p:nvSpPr>
        <p:spPr bwMode="auto">
          <a:xfrm>
            <a:off x="4953000" y="34925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7" name="Line 39"/>
          <p:cNvSpPr>
            <a:spLocks noChangeShapeType="1"/>
          </p:cNvSpPr>
          <p:nvPr/>
        </p:nvSpPr>
        <p:spPr bwMode="auto">
          <a:xfrm>
            <a:off x="6172200" y="34925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8" name="Line 40"/>
          <p:cNvSpPr>
            <a:spLocks noChangeShapeType="1"/>
          </p:cNvSpPr>
          <p:nvPr/>
        </p:nvSpPr>
        <p:spPr bwMode="auto">
          <a:xfrm>
            <a:off x="4038600" y="37211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9" name="Line 41"/>
          <p:cNvSpPr>
            <a:spLocks noChangeShapeType="1"/>
          </p:cNvSpPr>
          <p:nvPr/>
        </p:nvSpPr>
        <p:spPr bwMode="auto">
          <a:xfrm>
            <a:off x="5181600" y="37211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40" name="Rectangle 42"/>
          <p:cNvSpPr>
            <a:spLocks noChangeArrowheads="1"/>
          </p:cNvSpPr>
          <p:nvPr/>
        </p:nvSpPr>
        <p:spPr bwMode="auto">
          <a:xfrm>
            <a:off x="5791200" y="45593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6841" name="Line 43"/>
          <p:cNvSpPr>
            <a:spLocks noChangeShapeType="1"/>
          </p:cNvSpPr>
          <p:nvPr/>
        </p:nvSpPr>
        <p:spPr bwMode="auto">
          <a:xfrm>
            <a:off x="6248400" y="4559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42" name="Line 44"/>
          <p:cNvSpPr>
            <a:spLocks noChangeShapeType="1"/>
          </p:cNvSpPr>
          <p:nvPr/>
        </p:nvSpPr>
        <p:spPr bwMode="auto">
          <a:xfrm>
            <a:off x="5257800" y="47879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73" name="Rectangle 45"/>
          <p:cNvSpPr>
            <a:spLocks noChangeArrowheads="1"/>
          </p:cNvSpPr>
          <p:nvPr/>
        </p:nvSpPr>
        <p:spPr bwMode="auto">
          <a:xfrm>
            <a:off x="4267200" y="22225"/>
            <a:ext cx="4810125" cy="1041400"/>
          </a:xfrm>
          <a:prstGeom prst="rect">
            <a:avLst/>
          </a:prstGeom>
          <a:solidFill>
            <a:srgbClr val="CC99FF"/>
          </a:solidFill>
          <a:ln w="9525">
            <a:solidFill>
              <a:srgbClr val="FFCC00"/>
            </a:solidFill>
            <a:miter lim="800000"/>
          </a:ln>
        </p:spPr>
        <p:txBody>
          <a:bodyPr wrap="squar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zh-CN" altLang="en-US" dirty="0">
                <a:solidFill>
                  <a:srgbClr val="FF3300"/>
                </a:solidFill>
              </a:rPr>
              <a:t>深度：</a:t>
            </a:r>
            <a:r>
              <a:rPr lang="en-US" altLang="zh-CN" dirty="0">
                <a:solidFill>
                  <a:srgbClr val="FF3300"/>
                </a:solidFill>
              </a:rPr>
              <a:t>3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6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5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1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4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zh-CN" altLang="en-US" dirty="0">
                <a:solidFill>
                  <a:srgbClr val="FF3300"/>
                </a:solidFill>
              </a:rPr>
              <a:t>广度：</a:t>
            </a:r>
            <a:r>
              <a:rPr lang="en-US" altLang="zh-CN" dirty="0">
                <a:solidFill>
                  <a:srgbClr val="FF3300"/>
                </a:solidFill>
              </a:rPr>
              <a:t>3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6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5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1</a:t>
            </a:r>
            <a:r>
              <a:rPr lang="zh-CN" altLang="en-US" dirty="0">
                <a:solidFill>
                  <a:srgbClr val="FF3300"/>
                </a:solidFill>
              </a:rPr>
              <a:t>，</a:t>
            </a:r>
            <a:r>
              <a:rPr lang="en-US" altLang="zh-CN" dirty="0">
                <a:solidFill>
                  <a:srgbClr val="FF3300"/>
                </a:solidFill>
              </a:rPr>
              <a:t>4</a:t>
            </a:r>
          </a:p>
        </p:txBody>
      </p:sp>
      <p:sp>
        <p:nvSpPr>
          <p:cNvPr id="76844" name="Rectangle 46"/>
          <p:cNvSpPr>
            <a:spLocks noChangeArrowheads="1"/>
          </p:cNvSpPr>
          <p:nvPr/>
        </p:nvSpPr>
        <p:spPr bwMode="auto">
          <a:xfrm>
            <a:off x="39688" y="0"/>
            <a:ext cx="27797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0F83CA-9C7D-212D-23C1-1C08068972E2}"/>
              </a:ext>
            </a:extLst>
          </p:cNvPr>
          <p:cNvSpPr txBox="1"/>
          <p:nvPr/>
        </p:nvSpPr>
        <p:spPr>
          <a:xfrm>
            <a:off x="200962" y="4940299"/>
            <a:ext cx="8897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highlight>
                  <a:srgbClr val="00FF00"/>
                </a:highlight>
              </a:rPr>
              <a:t>邻接表代表的是与头结点相连的顶点</a:t>
            </a:r>
            <a:endParaRPr lang="en-US" altLang="zh-CN" sz="1800" dirty="0">
              <a:highlight>
                <a:srgbClr val="00FF00"/>
              </a:highlight>
            </a:endParaRPr>
          </a:p>
          <a:p>
            <a:r>
              <a:rPr lang="en-US" altLang="zh-CN" sz="1800" dirty="0">
                <a:highlight>
                  <a:srgbClr val="00FF00"/>
                </a:highlight>
              </a:rPr>
              <a:t>1.</a:t>
            </a:r>
            <a:r>
              <a:rPr lang="zh-CN" altLang="en-US" sz="1800" dirty="0">
                <a:highlight>
                  <a:srgbClr val="00FF00"/>
                </a:highlight>
              </a:rPr>
              <a:t>可以画出图来判断</a:t>
            </a:r>
            <a:endParaRPr lang="en-US" altLang="zh-CN" sz="1800" dirty="0">
              <a:highlight>
                <a:srgbClr val="00FF00"/>
              </a:highlight>
            </a:endParaRPr>
          </a:p>
          <a:p>
            <a:r>
              <a:rPr lang="en-US" altLang="zh-CN" sz="1800" dirty="0">
                <a:highlight>
                  <a:srgbClr val="00FF00"/>
                </a:highlight>
              </a:rPr>
              <a:t>2.</a:t>
            </a:r>
            <a:r>
              <a:rPr lang="zh-CN" altLang="en-US" sz="1800" dirty="0">
                <a:highlight>
                  <a:srgbClr val="00FF00"/>
                </a:highlight>
              </a:rPr>
              <a:t>直接</a:t>
            </a:r>
            <a:r>
              <a:rPr lang="en-US" altLang="zh-CN" sz="1800" dirty="0">
                <a:highlight>
                  <a:srgbClr val="00FF00"/>
                </a:highlight>
              </a:rPr>
              <a:t>:</a:t>
            </a:r>
            <a:r>
              <a:rPr lang="zh-CN" altLang="en-US" sz="1800" dirty="0">
                <a:highlight>
                  <a:srgbClr val="00FF00"/>
                </a:highlight>
              </a:rPr>
              <a:t>深度</a:t>
            </a:r>
            <a:r>
              <a:rPr lang="en-US" altLang="zh-CN" sz="1800" dirty="0">
                <a:highlight>
                  <a:srgbClr val="00FF00"/>
                </a:highlight>
              </a:rPr>
              <a:t>:</a:t>
            </a:r>
            <a:r>
              <a:rPr lang="zh-CN" altLang="en-US" sz="1800" dirty="0">
                <a:highlight>
                  <a:srgbClr val="00FF00"/>
                </a:highlight>
              </a:rPr>
              <a:t>从起点出发每遇到一个表结点转移到其对应的头结点那一列从</a:t>
            </a:r>
            <a:r>
              <a:rPr lang="en-US" altLang="zh-CN" sz="1800" dirty="0">
                <a:highlight>
                  <a:srgbClr val="00FF00"/>
                </a:highlight>
              </a:rPr>
              <a:t>1st</a:t>
            </a:r>
            <a:r>
              <a:rPr lang="zh-CN" altLang="en-US" sz="1800" dirty="0">
                <a:highlight>
                  <a:srgbClr val="00FF00"/>
                </a:highlight>
              </a:rPr>
              <a:t>开始访问</a:t>
            </a:r>
            <a:r>
              <a:rPr lang="en-US" altLang="zh-CN" sz="1800" dirty="0">
                <a:highlight>
                  <a:srgbClr val="00FF00"/>
                </a:highlight>
              </a:rPr>
              <a:t>(</a:t>
            </a:r>
            <a:r>
              <a:rPr lang="zh-CN" altLang="en-US" sz="1800" dirty="0">
                <a:highlight>
                  <a:srgbClr val="00FF00"/>
                </a:highlight>
              </a:rPr>
              <a:t>一次之访问一个</a:t>
            </a:r>
            <a:r>
              <a:rPr lang="en-US" altLang="zh-CN" sz="1800" dirty="0">
                <a:highlight>
                  <a:srgbClr val="00FF00"/>
                </a:highlight>
              </a:rPr>
              <a:t>,</a:t>
            </a:r>
            <a:r>
              <a:rPr lang="zh-CN" altLang="en-US" sz="1800" dirty="0">
                <a:highlight>
                  <a:srgbClr val="00FF00"/>
                </a:highlight>
              </a:rPr>
              <a:t>依次递进</a:t>
            </a:r>
            <a:r>
              <a:rPr lang="en-US" altLang="zh-CN" sz="1800" dirty="0">
                <a:highlight>
                  <a:srgbClr val="00FF00"/>
                </a:highlight>
              </a:rPr>
              <a:t>) </a:t>
            </a:r>
            <a:r>
              <a:rPr lang="zh-CN" altLang="en-US" sz="1800" dirty="0"/>
              <a:t>可以理解为一行一个</a:t>
            </a:r>
            <a:endParaRPr lang="en-US" altLang="zh-CN" sz="1800" dirty="0"/>
          </a:p>
          <a:p>
            <a:r>
              <a:rPr lang="zh-CN" altLang="en-US" sz="1800" dirty="0">
                <a:highlight>
                  <a:srgbClr val="00FF00"/>
                </a:highlight>
              </a:rPr>
              <a:t>广度</a:t>
            </a:r>
            <a:r>
              <a:rPr lang="en-US" altLang="zh-CN" sz="1800" dirty="0">
                <a:highlight>
                  <a:srgbClr val="00FF00"/>
                </a:highlight>
              </a:rPr>
              <a:t>:</a:t>
            </a:r>
            <a:r>
              <a:rPr lang="zh-CN" altLang="en-US" sz="1800" dirty="0">
                <a:highlight>
                  <a:srgbClr val="00FF00"/>
                </a:highlight>
              </a:rPr>
              <a:t>先把一行访问完</a:t>
            </a:r>
            <a:r>
              <a:rPr lang="en-US" altLang="zh-CN" sz="1800" dirty="0">
                <a:highlight>
                  <a:srgbClr val="00FF00"/>
                </a:highlight>
              </a:rPr>
              <a:t>,</a:t>
            </a:r>
            <a:r>
              <a:rPr lang="zh-CN" altLang="en-US" sz="1800" dirty="0">
                <a:highlight>
                  <a:srgbClr val="00FF00"/>
                </a:highlight>
              </a:rPr>
              <a:t>再访问该行从左到右表结点对应的其他行</a:t>
            </a:r>
            <a:r>
              <a:rPr lang="zh-CN" altLang="en-US" sz="1800" dirty="0"/>
              <a:t> 可以理解为一行完全</a:t>
            </a: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6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6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7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98" name="Rectangle 14"/>
          <p:cNvSpPr>
            <a:spLocks noChangeArrowheads="1"/>
          </p:cNvSpPr>
          <p:nvPr/>
        </p:nvSpPr>
        <p:spPr bwMode="auto">
          <a:xfrm>
            <a:off x="250825" y="1052513"/>
            <a:ext cx="88931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空间复杂度相同，都是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O(n)</a:t>
            </a:r>
            <a:r>
              <a:rPr lang="en-US" altLang="zh-CN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借用了堆栈或队列）；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zh-CN" altLang="en-US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时间复杂度只与存储结构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（邻接矩阵或邻接表）</a:t>
            </a:r>
            <a:r>
              <a:rPr lang="zh-CN" altLang="en-US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有关，而与搜索路径无关。</a:t>
            </a:r>
          </a:p>
        </p:txBody>
      </p:sp>
      <p:sp>
        <p:nvSpPr>
          <p:cNvPr id="77827" name="Rectangle 15"/>
          <p:cNvSpPr>
            <a:spLocks noChangeArrowheads="1"/>
          </p:cNvSpPr>
          <p:nvPr/>
        </p:nvSpPr>
        <p:spPr bwMode="auto">
          <a:xfrm>
            <a:off x="39688" y="0"/>
            <a:ext cx="51085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DFS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与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BFS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算法效率比较</a:t>
            </a:r>
          </a:p>
        </p:txBody>
      </p:sp>
    </p:spTree>
  </p:cSld>
  <p:clrMapOvr>
    <a:masterClrMapping/>
  </p:clrMapOvr>
  <p:transition>
    <p:blinds dir="vert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11" name="Rectangle 7"/>
          <p:cNvSpPr>
            <a:spLocks noChangeArrowheads="1"/>
          </p:cNvSpPr>
          <p:nvPr/>
        </p:nvSpPr>
        <p:spPr bwMode="auto">
          <a:xfrm>
            <a:off x="39688" y="981075"/>
            <a:ext cx="8839200" cy="286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9900FF"/>
                </a:solidFill>
                <a:latin typeface="楷体_GB2312"/>
                <a:ea typeface="楷体_GB2312"/>
                <a:cs typeface="楷体_GB2312"/>
              </a:rPr>
              <a:t>典型用途：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交通问题。如：城市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A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到城市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B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有多条线路，但每条线路的交通费（或所需时间）不同，那么，</a:t>
            </a:r>
            <a:r>
              <a:rPr lang="zh-CN" altLang="en-US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如何选择一条线路，使总费用（或总时间）最少？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9900FF"/>
                </a:solidFill>
                <a:latin typeface="楷体_GB2312"/>
                <a:ea typeface="楷体_GB2312"/>
                <a:cs typeface="楷体_GB2312"/>
              </a:rPr>
              <a:t>问题抽象：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在</a:t>
            </a:r>
            <a:r>
              <a:rPr lang="zh-CN" altLang="en-US">
                <a:solidFill>
                  <a:srgbClr val="006666"/>
                </a:solidFill>
                <a:latin typeface="楷体_GB2312"/>
                <a:ea typeface="楷体_GB2312"/>
                <a:cs typeface="楷体_GB2312"/>
              </a:rPr>
              <a:t>带权有向图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中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A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点（源点）到达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B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点（终点）的多条路径中，寻找一条</a:t>
            </a:r>
            <a:r>
              <a:rPr lang="zh-CN" altLang="en-US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各边权值之和最小</a:t>
            </a:r>
            <a:r>
              <a:rPr lang="zh-CN" altLang="en-US">
                <a:latin typeface="楷体_GB2312"/>
                <a:ea typeface="楷体_GB2312"/>
                <a:cs typeface="楷体_GB2312"/>
              </a:rPr>
              <a:t>的路径，即最短路径。</a:t>
            </a:r>
          </a:p>
        </p:txBody>
      </p:sp>
      <p:sp>
        <p:nvSpPr>
          <p:cNvPr id="968712" name="Rectangle 8"/>
          <p:cNvSpPr>
            <a:spLocks noChangeArrowheads="1"/>
          </p:cNvSpPr>
          <p:nvPr/>
        </p:nvSpPr>
        <p:spPr bwMode="auto">
          <a:xfrm>
            <a:off x="395288" y="4006850"/>
            <a:ext cx="82804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3200">
                <a:solidFill>
                  <a:srgbClr val="FF00FF"/>
                </a:solidFill>
                <a:latin typeface="楷体_GB2312"/>
                <a:ea typeface="楷体_GB2312"/>
                <a:cs typeface="楷体_GB2312"/>
              </a:rPr>
              <a:t>（注：最短路径与最小生成树不同，路径上不一定包含</a:t>
            </a:r>
            <a:r>
              <a:rPr lang="en-US" altLang="zh-CN" sz="3200">
                <a:solidFill>
                  <a:srgbClr val="FF00FF"/>
                </a:solidFill>
                <a:latin typeface="楷体_GB2312"/>
                <a:ea typeface="楷体_GB2312"/>
                <a:cs typeface="楷体_GB2312"/>
              </a:rPr>
              <a:t>n</a:t>
            </a:r>
            <a:r>
              <a:rPr lang="zh-CN" altLang="en-US" sz="3200">
                <a:solidFill>
                  <a:srgbClr val="FF00FF"/>
                </a:solidFill>
                <a:latin typeface="楷体_GB2312"/>
                <a:ea typeface="楷体_GB2312"/>
                <a:cs typeface="楷体_GB2312"/>
              </a:rPr>
              <a:t>个顶点）</a:t>
            </a:r>
          </a:p>
        </p:txBody>
      </p:sp>
      <p:sp>
        <p:nvSpPr>
          <p:cNvPr id="96260" name="Rectangle 9"/>
          <p:cNvSpPr>
            <a:spLocks noChangeArrowheads="1"/>
          </p:cNvSpPr>
          <p:nvPr/>
        </p:nvSpPr>
        <p:spPr bwMode="auto">
          <a:xfrm>
            <a:off x="39688" y="0"/>
            <a:ext cx="5324475" cy="7651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zh-CN" altLang="en-US" sz="4000" dirty="0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图的应用 最短路径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8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8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8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68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11" grpId="0" build="p"/>
      <p:bldP spid="9687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93" name="Text Box 9"/>
          <p:cNvSpPr txBox="1">
            <a:spLocks noChangeArrowheads="1"/>
          </p:cNvSpPr>
          <p:nvPr/>
        </p:nvSpPr>
        <p:spPr bwMode="auto">
          <a:xfrm>
            <a:off x="228600" y="738188"/>
            <a:ext cx="4708525" cy="5424487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1.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初始化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：先找出从源点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到各终点</a:t>
            </a:r>
            <a:r>
              <a:rPr lang="en-US" altLang="zh-CN" sz="2400" dirty="0" err="1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 err="1"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的直达路径（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,v</a:t>
            </a:r>
            <a:r>
              <a:rPr lang="en-US" altLang="zh-CN" sz="2400" baseline="-25000" dirty="0"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），即通过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一条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弧到达的路径。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2.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选择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：从这些路径中找出一条长度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最短的路径（</a:t>
            </a:r>
            <a:r>
              <a:rPr lang="en-US" altLang="zh-CN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,u</a:t>
            </a:r>
            <a:r>
              <a:rPr lang="zh-CN" altLang="en-US" sz="24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）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3.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更新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：然后对其余各条路径进行适当调整：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若在图中存在弧（</a:t>
            </a:r>
            <a:r>
              <a:rPr lang="en-US" altLang="zh-CN" sz="2400" dirty="0" err="1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u,v</a:t>
            </a:r>
            <a:r>
              <a:rPr lang="en-US" altLang="zh-CN" sz="2400" baseline="-25000" dirty="0" err="1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），且（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,u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）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+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 sz="2400" dirty="0" err="1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u,v</a:t>
            </a:r>
            <a:r>
              <a:rPr lang="en-US" altLang="zh-CN" sz="2400" baseline="-25000" dirty="0" err="1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）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&lt;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,v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）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,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则以路径（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,u,v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）代替（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en-US" altLang="zh-CN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,v</a:t>
            </a:r>
            <a:r>
              <a:rPr lang="en-US" altLang="zh-CN" sz="2400" baseline="-250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2400" dirty="0">
                <a:solidFill>
                  <a:schemeClr val="hlink"/>
                </a:solidFill>
                <a:latin typeface="楷体_GB2312"/>
                <a:ea typeface="楷体_GB2312"/>
                <a:cs typeface="楷体_GB2312"/>
              </a:rPr>
              <a:t>）。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在调整后的各条路径中，再找长度最短的路径，依此类推。</a:t>
            </a:r>
          </a:p>
        </p:txBody>
      </p:sp>
      <p:sp>
        <p:nvSpPr>
          <p:cNvPr id="103427" name="Rectangle 10"/>
          <p:cNvSpPr>
            <a:spLocks noChangeArrowheads="1"/>
          </p:cNvSpPr>
          <p:nvPr/>
        </p:nvSpPr>
        <p:spPr bwMode="auto">
          <a:xfrm>
            <a:off x="39688" y="0"/>
            <a:ext cx="561243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3200" dirty="0">
                <a:latin typeface="楷体_GB2312"/>
                <a:ea typeface="楷体_GB2312"/>
                <a:cs typeface="楷体_GB2312"/>
              </a:rPr>
              <a:t>Dijkstra</a:t>
            </a:r>
            <a:r>
              <a:rPr lang="zh-CN" altLang="en-US" sz="3200" dirty="0">
                <a:latin typeface="楷体_GB2312"/>
                <a:ea typeface="楷体_GB2312"/>
                <a:cs typeface="楷体_GB2312"/>
              </a:rPr>
              <a:t>算法的思想 </a:t>
            </a:r>
            <a:r>
              <a:rPr lang="zh-CN" altLang="en-US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重点</a:t>
            </a:r>
            <a:r>
              <a:rPr lang="en-US" altLang="zh-CN" sz="3200" dirty="0">
                <a:highlight>
                  <a:srgbClr val="00FF00"/>
                </a:highlight>
                <a:latin typeface="楷体_GB2312"/>
                <a:ea typeface="楷体_GB2312"/>
                <a:cs typeface="楷体_GB2312"/>
              </a:rPr>
              <a:t>!!!</a:t>
            </a:r>
            <a:endParaRPr lang="zh-CN" altLang="en-US" sz="3200" dirty="0">
              <a:highlight>
                <a:srgbClr val="00FF00"/>
              </a:highlight>
              <a:latin typeface="楷体_GB2312"/>
              <a:ea typeface="楷体_GB2312"/>
              <a:cs typeface="楷体_GB2312"/>
            </a:endParaRPr>
          </a:p>
        </p:txBody>
      </p:sp>
      <p:grpSp>
        <p:nvGrpSpPr>
          <p:cNvPr id="103428" name="Group 209"/>
          <p:cNvGrpSpPr/>
          <p:nvPr/>
        </p:nvGrpSpPr>
        <p:grpSpPr bwMode="auto">
          <a:xfrm>
            <a:off x="6156325" y="1484313"/>
            <a:ext cx="2590800" cy="2590800"/>
            <a:chOff x="144" y="1104"/>
            <a:chExt cx="1632" cy="1632"/>
          </a:xfrm>
        </p:grpSpPr>
        <p:sp>
          <p:nvSpPr>
            <p:cNvPr id="103432" name="Text Box 210"/>
            <p:cNvSpPr txBox="1">
              <a:spLocks noChangeArrowheads="1"/>
            </p:cNvSpPr>
            <p:nvPr/>
          </p:nvSpPr>
          <p:spPr bwMode="auto">
            <a:xfrm>
              <a:off x="480" y="2400"/>
              <a:ext cx="19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03433" name="Oval 211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5</a:t>
              </a:r>
            </a:p>
          </p:txBody>
        </p:sp>
        <p:sp>
          <p:nvSpPr>
            <p:cNvPr id="103434" name="Oval 212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103435" name="Oval 213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3436" name="Oval 214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03437" name="Oval 215"/>
            <p:cNvSpPr>
              <a:spLocks noChangeArrowheads="1"/>
            </p:cNvSpPr>
            <p:nvPr/>
          </p:nvSpPr>
          <p:spPr bwMode="auto">
            <a:xfrm>
              <a:off x="144" y="2568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3438" name="Oval 216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3439" name="Line 217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0" name="Text Box 218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103441" name="Line 219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2" name="Text Box 220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103443" name="Line 221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4" name="Text Box 222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103445" name="Line 223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6" name="Text Box 224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03447" name="Line 225"/>
            <p:cNvSpPr>
              <a:spLocks noChangeShapeType="1"/>
            </p:cNvSpPr>
            <p:nvPr/>
          </p:nvSpPr>
          <p:spPr bwMode="auto">
            <a:xfrm>
              <a:off x="872" y="1308"/>
              <a:ext cx="371" cy="8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8" name="Text Box 226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03449" name="Line 227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0" name="Text Box 228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103451" name="Line 229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2" name="Text Box 230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103453" name="Line 231"/>
            <p:cNvSpPr>
              <a:spLocks noChangeShapeType="1"/>
            </p:cNvSpPr>
            <p:nvPr/>
          </p:nvSpPr>
          <p:spPr bwMode="auto">
            <a:xfrm>
              <a:off x="371" y="2647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62760" name="Oval 552"/>
          <p:cNvSpPr>
            <a:spLocks noChangeArrowheads="1"/>
          </p:cNvSpPr>
          <p:nvPr/>
        </p:nvSpPr>
        <p:spPr bwMode="auto">
          <a:xfrm>
            <a:off x="6111875" y="2324100"/>
            <a:ext cx="381000" cy="301625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227" name="Line 267"/>
          <p:cNvSpPr>
            <a:spLocks noChangeShapeType="1"/>
          </p:cNvSpPr>
          <p:nvPr/>
        </p:nvSpPr>
        <p:spPr bwMode="auto">
          <a:xfrm>
            <a:off x="6394450" y="2636838"/>
            <a:ext cx="8382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92" name="Line 56"/>
          <p:cNvSpPr>
            <a:spLocks noChangeShapeType="1"/>
          </p:cNvSpPr>
          <p:nvPr/>
        </p:nvSpPr>
        <p:spPr bwMode="auto">
          <a:xfrm flipV="1">
            <a:off x="7454900" y="3357563"/>
            <a:ext cx="373063" cy="4111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61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61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61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61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61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61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3000" fill="hold"/>
                                        <p:tgtEl>
                                          <p:spTgt spid="862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193" grpId="0" build="p"/>
      <p:bldP spid="86276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5"/>
          <p:cNvSpPr>
            <a:spLocks noChangeArrowheads="1"/>
          </p:cNvSpPr>
          <p:nvPr/>
        </p:nvSpPr>
        <p:spPr bwMode="auto">
          <a:xfrm>
            <a:off x="39688" y="727075"/>
            <a:ext cx="738505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latin typeface="楷体_GB2312"/>
                <a:ea typeface="楷体_GB2312"/>
                <a:cs typeface="楷体_GB2312"/>
              </a:rPr>
              <a:t>主：邻接矩阵</a:t>
            </a:r>
            <a:r>
              <a:rPr lang="en-US" altLang="zh-CN" sz="2400">
                <a:latin typeface="楷体_GB2312"/>
                <a:ea typeface="楷体_GB2312"/>
                <a:cs typeface="楷体_GB2312"/>
              </a:rPr>
              <a:t>G[n][n] (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或者邻接表</a:t>
            </a:r>
            <a:r>
              <a:rPr lang="en-US" altLang="zh-CN" sz="2400">
                <a:latin typeface="楷体_GB2312"/>
                <a:ea typeface="楷体_GB2312"/>
                <a:cs typeface="楷体_GB2312"/>
              </a:rPr>
              <a:t>)</a:t>
            </a:r>
          </a:p>
          <a:p>
            <a:pPr>
              <a:lnSpc>
                <a:spcPct val="8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latin typeface="楷体_GB2312"/>
                <a:ea typeface="楷体_GB2312"/>
                <a:cs typeface="楷体_GB2312"/>
              </a:rPr>
              <a:t>辅：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400">
                <a:latin typeface="楷体_GB2312"/>
                <a:ea typeface="楷体_GB2312"/>
                <a:cs typeface="楷体_GB2312"/>
              </a:rPr>
              <a:t>数组</a:t>
            </a:r>
            <a:r>
              <a:rPr lang="en-US" altLang="zh-CN" sz="2400">
                <a:latin typeface="楷体_GB2312"/>
                <a:ea typeface="楷体_GB2312"/>
                <a:cs typeface="楷体_GB2312"/>
              </a:rPr>
              <a:t>S[n]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：记录相应顶点是否已被确定最短距离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400">
                <a:latin typeface="楷体_GB2312"/>
                <a:ea typeface="楷体_GB2312"/>
                <a:cs typeface="楷体_GB2312"/>
              </a:rPr>
              <a:t>数组</a:t>
            </a:r>
            <a:r>
              <a:rPr lang="en-US" altLang="zh-CN" sz="2400">
                <a:latin typeface="楷体_GB2312"/>
                <a:ea typeface="楷体_GB2312"/>
                <a:cs typeface="楷体_GB2312"/>
              </a:rPr>
              <a:t>D[n]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：记录源点到相应顶点路径长度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400">
                <a:latin typeface="楷体_GB2312"/>
                <a:ea typeface="楷体_GB2312"/>
                <a:cs typeface="楷体_GB2312"/>
              </a:rPr>
              <a:t>数组</a:t>
            </a:r>
            <a:r>
              <a:rPr lang="en-US" altLang="zh-CN" sz="2400">
                <a:latin typeface="楷体_GB2312"/>
                <a:ea typeface="楷体_GB2312"/>
                <a:cs typeface="楷体_GB2312"/>
              </a:rPr>
              <a:t>Path[n]</a:t>
            </a:r>
            <a:r>
              <a:rPr lang="zh-CN" altLang="en-US" sz="2400">
                <a:latin typeface="楷体_GB2312"/>
                <a:ea typeface="楷体_GB2312"/>
                <a:cs typeface="楷体_GB2312"/>
              </a:rPr>
              <a:t>：记录相应顶点的前驱顶点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  <a:ea typeface="楷体_GB2312"/>
                <a:cs typeface="楷体_GB2312"/>
              </a:rPr>
              <a:t>     </a:t>
            </a:r>
            <a:endParaRPr lang="en-US" altLang="zh-CN" sz="24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049619" name="Rectangle 19"/>
          <p:cNvSpPr>
            <a:spLocks noChangeArrowheads="1"/>
          </p:cNvSpPr>
          <p:nvPr/>
        </p:nvSpPr>
        <p:spPr bwMode="auto">
          <a:xfrm>
            <a:off x="39688" y="0"/>
            <a:ext cx="4684712" cy="5159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存储结构</a:t>
            </a: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（顶点个数为</a:t>
            </a: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n</a:t>
            </a: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）</a:t>
            </a:r>
          </a:p>
        </p:txBody>
      </p:sp>
      <p:grpSp>
        <p:nvGrpSpPr>
          <p:cNvPr id="104452" name="Group 209"/>
          <p:cNvGrpSpPr/>
          <p:nvPr/>
        </p:nvGrpSpPr>
        <p:grpSpPr bwMode="auto">
          <a:xfrm>
            <a:off x="6643688" y="1704975"/>
            <a:ext cx="2460625" cy="2246313"/>
            <a:chOff x="144" y="1104"/>
            <a:chExt cx="1632" cy="1632"/>
          </a:xfrm>
        </p:grpSpPr>
        <p:sp>
          <p:nvSpPr>
            <p:cNvPr id="104494" name="Text Box 210"/>
            <p:cNvSpPr txBox="1">
              <a:spLocks noChangeArrowheads="1"/>
            </p:cNvSpPr>
            <p:nvPr/>
          </p:nvSpPr>
          <p:spPr bwMode="auto">
            <a:xfrm>
              <a:off x="480" y="2400"/>
              <a:ext cx="19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04495" name="Oval 211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5</a:t>
              </a:r>
            </a:p>
          </p:txBody>
        </p:sp>
        <p:sp>
          <p:nvSpPr>
            <p:cNvPr id="104496" name="Oval 212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104497" name="Oval 213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4498" name="Oval 214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04499" name="Oval 215"/>
            <p:cNvSpPr>
              <a:spLocks noChangeArrowheads="1"/>
            </p:cNvSpPr>
            <p:nvPr/>
          </p:nvSpPr>
          <p:spPr bwMode="auto">
            <a:xfrm>
              <a:off x="144" y="2568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04500" name="Oval 216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04501" name="Line 217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02" name="Text Box 218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104503" name="Line 219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04" name="Text Box 220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104505" name="Line 221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06" name="Text Box 222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104507" name="Line 223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08" name="Text Box 224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04509" name="Line 225"/>
            <p:cNvSpPr>
              <a:spLocks noChangeShapeType="1"/>
            </p:cNvSpPr>
            <p:nvPr/>
          </p:nvSpPr>
          <p:spPr bwMode="auto">
            <a:xfrm>
              <a:off x="872" y="1308"/>
              <a:ext cx="371" cy="8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10" name="Text Box 226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04511" name="Line 227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12" name="Text Box 228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104513" name="Line 229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14" name="Text Box 230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104515" name="Line 231"/>
            <p:cNvSpPr>
              <a:spLocks noChangeShapeType="1"/>
            </p:cNvSpPr>
            <p:nvPr/>
          </p:nvSpPr>
          <p:spPr bwMode="auto">
            <a:xfrm>
              <a:off x="371" y="2647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471488" y="4143375"/>
          <a:ext cx="7839077" cy="1463676"/>
        </p:xfrm>
        <a:graphic>
          <a:graphicData uri="http://schemas.openxmlformats.org/drawingml/2006/table">
            <a:tbl>
              <a:tblPr/>
              <a:tblGrid>
                <a:gridCol w="1564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400" kern="1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v</a:t>
                      </a:r>
                      <a:r>
                        <a:rPr lang="en-US" sz="2400" i="1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 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= </a:t>
                      </a: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0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v</a:t>
                      </a:r>
                      <a:r>
                        <a:rPr lang="en-US" sz="2400" i="1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 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= </a:t>
                      </a: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1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v</a:t>
                      </a:r>
                      <a:r>
                        <a:rPr lang="en-US" sz="2400" i="1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 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= </a:t>
                      </a: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2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v</a:t>
                      </a:r>
                      <a:r>
                        <a:rPr lang="en-US" sz="2400" i="1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 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= </a:t>
                      </a: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3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v</a:t>
                      </a:r>
                      <a:r>
                        <a:rPr lang="en-US" sz="2400" i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 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= </a:t>
                      </a: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4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v</a:t>
                      </a:r>
                      <a:r>
                        <a:rPr lang="en-US" sz="2400" i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 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= </a:t>
                      </a: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5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S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true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false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false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false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false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false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D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0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∞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10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∞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30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100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i="1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Path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− 1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−1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0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− 1</a:t>
                      </a:r>
                      <a:endParaRPr lang="zh-CN" sz="2400" kern="100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0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400" kern="100" dirty="0">
                          <a:latin typeface="Times New Roman" panose="02020603050405020304"/>
                          <a:ea typeface="方正书宋简体"/>
                          <a:cs typeface="Times New Roman" panose="02020603050405020304"/>
                        </a:rPr>
                        <a:t>0</a:t>
                      </a:r>
                      <a:endParaRPr lang="zh-CN" sz="2400" kern="1000" dirty="0">
                        <a:latin typeface="Times New Roman" panose="02020603050405020304"/>
                        <a:ea typeface="方正书宋简体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493" name="Rectangle 22"/>
          <p:cNvSpPr>
            <a:spLocks noChangeArrowheads="1"/>
          </p:cNvSpPr>
          <p:nvPr/>
        </p:nvSpPr>
        <p:spPr bwMode="auto">
          <a:xfrm>
            <a:off x="2928938" y="3514725"/>
            <a:ext cx="299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52730" eaLnBrk="0" hangingPunct="0"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667000" algn="ct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accent2"/>
                </a:solidFill>
                <a:latin typeface="Arial" panose="020B0604020202020204" pitchFamily="34" charset="0"/>
              </a:rPr>
              <a:t>算法初始化结果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169DDB-73D6-8816-9733-01BF68B12358}"/>
              </a:ext>
            </a:extLst>
          </p:cNvPr>
          <p:cNvSpPr txBox="1"/>
          <p:nvPr/>
        </p:nvSpPr>
        <p:spPr>
          <a:xfrm>
            <a:off x="395536" y="5805264"/>
            <a:ext cx="8061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横坐标</a:t>
            </a:r>
            <a:r>
              <a:rPr lang="en-US" altLang="zh-CN" dirty="0"/>
              <a:t>:v=</a:t>
            </a:r>
            <a:r>
              <a:rPr lang="en-US" altLang="zh-CN" dirty="0" err="1"/>
              <a:t>i</a:t>
            </a:r>
            <a:r>
              <a:rPr lang="zh-CN" altLang="en-US" dirty="0"/>
              <a:t>代表</a:t>
            </a:r>
            <a:r>
              <a:rPr lang="zh-CN" altLang="en-US" dirty="0">
                <a:highlight>
                  <a:srgbClr val="00FF00"/>
                </a:highlight>
              </a:rPr>
              <a:t>行走步数</a:t>
            </a:r>
            <a:r>
              <a:rPr lang="en-US" altLang="zh-CN" dirty="0"/>
              <a:t>,</a:t>
            </a:r>
            <a:r>
              <a:rPr lang="zh-CN" altLang="en-US" dirty="0"/>
              <a:t>列以此为</a:t>
            </a:r>
            <a:r>
              <a:rPr lang="en-US" altLang="zh-CN" dirty="0">
                <a:highlight>
                  <a:srgbClr val="00FF00"/>
                </a:highlight>
              </a:rPr>
              <a:t>S</a:t>
            </a:r>
            <a:r>
              <a:rPr lang="en-US" altLang="zh-CN" dirty="0"/>
              <a:t>(</a:t>
            </a:r>
            <a:r>
              <a:rPr lang="zh-CN" altLang="en-US" dirty="0"/>
              <a:t>是否找到最短路径</a:t>
            </a:r>
            <a:r>
              <a:rPr lang="en-US" altLang="zh-CN" dirty="0"/>
              <a:t>),</a:t>
            </a:r>
            <a:r>
              <a:rPr lang="en-US" altLang="zh-CN" dirty="0">
                <a:highlight>
                  <a:srgbClr val="00FF00"/>
                </a:highlight>
              </a:rPr>
              <a:t>D</a:t>
            </a:r>
            <a:r>
              <a:rPr lang="en-US" altLang="zh-CN" dirty="0"/>
              <a:t>(</a:t>
            </a:r>
            <a:r>
              <a:rPr lang="zh-CN" altLang="en-US" dirty="0"/>
              <a:t>路径长度</a:t>
            </a:r>
            <a:r>
              <a:rPr lang="en-US" altLang="zh-CN" dirty="0"/>
              <a:t>),</a:t>
            </a:r>
            <a:r>
              <a:rPr lang="en-US" altLang="zh-CN" dirty="0">
                <a:highlight>
                  <a:srgbClr val="00FF00"/>
                </a:highlight>
              </a:rPr>
              <a:t>Path</a:t>
            </a:r>
            <a:r>
              <a:rPr lang="en-US" altLang="zh-CN" dirty="0"/>
              <a:t>(</a:t>
            </a:r>
            <a:r>
              <a:rPr lang="zh-CN" altLang="en-US" dirty="0"/>
              <a:t>直接前驱即上一个顶点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4"/>
          <p:cNvSpPr txBox="1">
            <a:spLocks noChangeArrowheads="1"/>
          </p:cNvSpPr>
          <p:nvPr/>
        </p:nvSpPr>
        <p:spPr bwMode="auto">
          <a:xfrm>
            <a:off x="107504" y="579438"/>
            <a:ext cx="8718550" cy="6814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/>
              <a:t>① </a:t>
            </a:r>
            <a:r>
              <a:rPr lang="zh-CN" altLang="en-US" sz="2400" dirty="0">
                <a:solidFill>
                  <a:srgbClr val="FF3300"/>
                </a:solidFill>
              </a:rPr>
              <a:t>初始化</a:t>
            </a:r>
            <a:r>
              <a:rPr lang="zh-CN" altLang="en-US" sz="2400" dirty="0"/>
              <a:t>：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●将源点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加到</a:t>
            </a:r>
            <a:r>
              <a:rPr lang="en-US" altLang="zh-CN" sz="2400" i="1" dirty="0"/>
              <a:t>S</a:t>
            </a:r>
            <a:r>
              <a:rPr lang="zh-CN" altLang="en-US" sz="2400" dirty="0"/>
              <a:t>中，即</a:t>
            </a:r>
            <a:r>
              <a:rPr lang="en-US" altLang="zh-CN" sz="2400" dirty="0"/>
              <a:t>S[</a:t>
            </a:r>
            <a:r>
              <a:rPr lang="en-US" altLang="zh-CN" sz="2400" i="1" dirty="0"/>
              <a:t>v</a:t>
            </a:r>
            <a:r>
              <a:rPr lang="en-US" altLang="zh-CN" sz="2400" dirty="0"/>
              <a:t>0]</a:t>
            </a:r>
            <a:r>
              <a:rPr lang="en-US" altLang="zh-CN" sz="2400" i="1" dirty="0"/>
              <a:t> </a:t>
            </a:r>
            <a:r>
              <a:rPr lang="en-US" altLang="zh-CN" sz="2400" dirty="0"/>
              <a:t>= true</a:t>
            </a:r>
            <a:r>
              <a:rPr lang="zh-CN" altLang="en-US" sz="2400" dirty="0"/>
              <a:t>；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●将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到各个终点的最短路径长度初始化为权值，即</a:t>
            </a:r>
            <a:r>
              <a:rPr lang="en-US" altLang="zh-CN" sz="2400" dirty="0"/>
              <a:t>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en-US" altLang="zh-CN" sz="2400" i="1" dirty="0"/>
              <a:t> </a:t>
            </a:r>
            <a:r>
              <a:rPr lang="en-US" altLang="zh-CN" sz="2400" dirty="0"/>
              <a:t>= 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v</a:t>
            </a:r>
            <a:r>
              <a:rPr lang="en-US" altLang="zh-CN" sz="2400" dirty="0"/>
              <a:t>0][</a:t>
            </a:r>
            <a:r>
              <a:rPr lang="en-US" altLang="zh-CN" sz="2400" i="1" dirty="0"/>
              <a:t>v</a:t>
            </a:r>
            <a:r>
              <a:rPr lang="en-US" altLang="zh-CN" sz="2400" dirty="0"/>
              <a:t>i]</a:t>
            </a:r>
            <a:r>
              <a:rPr lang="zh-CN" altLang="en-US" sz="2400" dirty="0"/>
              <a:t>，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i∈</a:t>
            </a:r>
            <a:r>
              <a:rPr lang="en-US" altLang="zh-CN" sz="2400" i="1" dirty="0" err="1"/>
              <a:t>V</a:t>
            </a:r>
            <a:r>
              <a:rPr lang="en-US" altLang="zh-CN" sz="2400" i="1" dirty="0"/>
              <a:t> </a:t>
            </a:r>
            <a:r>
              <a:rPr lang="en-US" altLang="zh-CN" sz="2400" dirty="0"/>
              <a:t>−</a:t>
            </a:r>
            <a:r>
              <a:rPr lang="en-US" altLang="zh-CN" sz="2400" i="1" dirty="0"/>
              <a:t> S</a:t>
            </a:r>
            <a:r>
              <a:rPr lang="en-US" altLang="zh-CN" sz="2400" dirty="0"/>
              <a:t>)</a:t>
            </a:r>
            <a:r>
              <a:rPr lang="zh-CN" altLang="en-US" sz="2400" dirty="0"/>
              <a:t>；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●如果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和顶点</a:t>
            </a:r>
            <a:r>
              <a:rPr lang="en-US" altLang="zh-CN" sz="2400" i="1" dirty="0"/>
              <a:t>v</a:t>
            </a:r>
            <a:r>
              <a:rPr lang="en-US" altLang="zh-CN" sz="2400" dirty="0"/>
              <a:t>i</a:t>
            </a:r>
            <a:r>
              <a:rPr lang="zh-CN" altLang="en-US" sz="2400" dirty="0"/>
              <a:t>之间有弧，则将</a:t>
            </a:r>
            <a:r>
              <a:rPr lang="en-US" altLang="zh-CN" sz="2400" i="1" dirty="0"/>
              <a:t>v</a:t>
            </a:r>
            <a:r>
              <a:rPr lang="en-US" altLang="zh-CN" sz="2400" dirty="0"/>
              <a:t>i</a:t>
            </a:r>
            <a:r>
              <a:rPr lang="zh-CN" altLang="en-US" sz="2400" dirty="0"/>
              <a:t>的前驱置为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，即</a:t>
            </a:r>
            <a:r>
              <a:rPr lang="en-US" altLang="zh-CN" sz="2400" dirty="0"/>
              <a:t>Path[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en-US" altLang="zh-CN" sz="2400" i="1" dirty="0"/>
              <a:t> </a:t>
            </a:r>
            <a:r>
              <a:rPr lang="en-US" altLang="zh-CN" sz="2400" dirty="0"/>
              <a:t>= 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，否则</a:t>
            </a:r>
            <a:r>
              <a:rPr lang="en-US" altLang="zh-CN" sz="2400" dirty="0"/>
              <a:t>Path[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en-US" altLang="zh-CN" sz="2400" i="1" dirty="0"/>
              <a:t> </a:t>
            </a:r>
            <a:r>
              <a:rPr lang="en-US" altLang="zh-CN" sz="2400" dirty="0"/>
              <a:t>= −1</a:t>
            </a:r>
            <a:r>
              <a:rPr lang="zh-CN" altLang="en-US" sz="2400" dirty="0"/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② </a:t>
            </a:r>
            <a:r>
              <a:rPr lang="zh-CN" altLang="en-US" sz="2400" dirty="0">
                <a:solidFill>
                  <a:srgbClr val="FF3300"/>
                </a:solidFill>
              </a:rPr>
              <a:t>选择</a:t>
            </a:r>
            <a:r>
              <a:rPr lang="zh-CN" altLang="en-US" sz="2400" dirty="0"/>
              <a:t>下一条最短路径的终点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k</a:t>
            </a:r>
            <a:r>
              <a:rPr lang="zh-CN" altLang="en-US" sz="2400" dirty="0"/>
              <a:t>，使得：</a:t>
            </a:r>
          </a:p>
          <a:p>
            <a:pPr>
              <a:spcBef>
                <a:spcPct val="20000"/>
              </a:spcBef>
            </a:pPr>
            <a:r>
              <a:rPr lang="en-US" altLang="zh-CN" sz="2400" dirty="0"/>
              <a:t>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</a:t>
            </a:r>
            <a:r>
              <a:rPr lang="en-US" altLang="zh-CN" sz="2400" i="1" dirty="0"/>
              <a:t> </a:t>
            </a:r>
            <a:r>
              <a:rPr lang="en-US" altLang="zh-CN" sz="2400" dirty="0"/>
              <a:t>= Min{D[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]|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i∈</a:t>
            </a:r>
            <a:r>
              <a:rPr lang="en-US" altLang="zh-CN" sz="2400" i="1" dirty="0" err="1"/>
              <a:t>V</a:t>
            </a:r>
            <a:r>
              <a:rPr lang="en-US" altLang="zh-CN" sz="2400" i="1" dirty="0"/>
              <a:t> </a:t>
            </a:r>
            <a:r>
              <a:rPr lang="en-US" altLang="zh-CN" sz="2400" dirty="0"/>
              <a:t>−</a:t>
            </a:r>
            <a:r>
              <a:rPr lang="en-US" altLang="zh-CN" sz="2400" i="1" dirty="0"/>
              <a:t> S</a:t>
            </a:r>
            <a:r>
              <a:rPr lang="en-US" altLang="zh-CN" sz="2400" dirty="0"/>
              <a:t>} </a:t>
            </a:r>
          </a:p>
          <a:p>
            <a:pPr>
              <a:spcBef>
                <a:spcPct val="20000"/>
              </a:spcBef>
            </a:pPr>
            <a:r>
              <a:rPr lang="en-US" altLang="zh-CN" sz="2400" dirty="0"/>
              <a:t>③ </a:t>
            </a:r>
            <a:r>
              <a:rPr lang="zh-CN" altLang="en-US" sz="2400" dirty="0"/>
              <a:t>将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k</a:t>
            </a:r>
            <a:r>
              <a:rPr lang="zh-CN" altLang="en-US" sz="2400" dirty="0"/>
              <a:t>加到</a:t>
            </a:r>
            <a:r>
              <a:rPr lang="en-US" altLang="zh-CN" sz="2400" i="1" dirty="0"/>
              <a:t>S</a:t>
            </a:r>
            <a:r>
              <a:rPr lang="zh-CN" altLang="en-US" sz="2400" dirty="0"/>
              <a:t>中，即</a:t>
            </a:r>
            <a:r>
              <a:rPr lang="en-US" altLang="zh-CN" sz="2400" i="1" dirty="0"/>
              <a:t>S</a:t>
            </a:r>
            <a:r>
              <a:rPr lang="en-US" altLang="zh-CN" sz="2400" dirty="0"/>
              <a:t>[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k</a:t>
            </a:r>
            <a:r>
              <a:rPr lang="en-US" altLang="zh-CN" sz="2400" dirty="0"/>
              <a:t>]</a:t>
            </a:r>
            <a:r>
              <a:rPr lang="en-US" altLang="zh-CN" sz="2400" i="1" dirty="0"/>
              <a:t> </a:t>
            </a:r>
            <a:r>
              <a:rPr lang="en-US" altLang="zh-CN" sz="2400" dirty="0"/>
              <a:t>= true</a:t>
            </a:r>
            <a:r>
              <a:rPr lang="zh-CN" altLang="en-US" sz="2400" dirty="0"/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④ </a:t>
            </a:r>
            <a:r>
              <a:rPr lang="zh-CN" altLang="en-US" sz="2400" dirty="0">
                <a:solidFill>
                  <a:srgbClr val="FF3300"/>
                </a:solidFill>
              </a:rPr>
              <a:t>更新</a:t>
            </a:r>
            <a:r>
              <a:rPr lang="zh-CN" altLang="en-US" sz="2400" dirty="0"/>
              <a:t>从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出发到集合</a:t>
            </a:r>
            <a:r>
              <a:rPr lang="en-US" altLang="zh-CN" sz="2400" i="1" dirty="0"/>
              <a:t>V </a:t>
            </a:r>
            <a:r>
              <a:rPr lang="en-US" altLang="zh-CN" sz="2400" dirty="0"/>
              <a:t>−</a:t>
            </a:r>
            <a:r>
              <a:rPr lang="en-US" altLang="zh-CN" sz="2400" i="1" dirty="0"/>
              <a:t> S</a:t>
            </a:r>
            <a:r>
              <a:rPr lang="zh-CN" altLang="en-US" sz="2400" dirty="0"/>
              <a:t>上任一顶点的最短路径的长度，同时更改</a:t>
            </a:r>
            <a:r>
              <a:rPr lang="en-US" altLang="zh-CN" sz="2400" i="1" dirty="0"/>
              <a:t>v</a:t>
            </a:r>
            <a:r>
              <a:rPr lang="en-US" altLang="zh-CN" sz="2400" dirty="0"/>
              <a:t>i</a:t>
            </a:r>
            <a:r>
              <a:rPr lang="zh-CN" altLang="en-US" sz="2400" dirty="0"/>
              <a:t>的前驱为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k</a:t>
            </a:r>
            <a:r>
              <a:rPr lang="zh-CN" altLang="en-US" sz="2400" dirty="0"/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若</a:t>
            </a:r>
            <a:r>
              <a:rPr lang="en-US" altLang="zh-CN" sz="2400" b="0" dirty="0"/>
              <a:t>S[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]=false </a:t>
            </a:r>
            <a:r>
              <a:rPr lang="zh-CN" altLang="en-US" sz="2400" b="0" dirty="0"/>
              <a:t>且</a:t>
            </a:r>
            <a:r>
              <a:rPr lang="zh-CN" altLang="en-US" sz="2400" dirty="0"/>
              <a:t> </a:t>
            </a:r>
            <a:r>
              <a:rPr lang="en-US" altLang="zh-CN" sz="2400" dirty="0"/>
              <a:t>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]&lt;D[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zh-CN" altLang="en-US" sz="2400" dirty="0"/>
              <a:t>，则</a:t>
            </a:r>
            <a:r>
              <a:rPr lang="en-US" altLang="zh-CN" sz="2400" dirty="0"/>
              <a:t>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]=D[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 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]; Path 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]=k;</a:t>
            </a:r>
            <a:r>
              <a:rPr lang="zh-CN" altLang="en-US" sz="2400" dirty="0"/>
              <a:t>。 </a:t>
            </a:r>
          </a:p>
          <a:p>
            <a:pPr>
              <a:spcBef>
                <a:spcPct val="20000"/>
              </a:spcBef>
            </a:pPr>
            <a:r>
              <a:rPr lang="zh-CN" altLang="en-US" sz="2400" dirty="0"/>
              <a:t>⑤ 重复②～④ </a:t>
            </a:r>
            <a:r>
              <a:rPr lang="en-US" altLang="zh-CN" sz="2400" i="1" dirty="0"/>
              <a:t>n </a:t>
            </a:r>
            <a:r>
              <a:rPr lang="en-US" altLang="zh-CN" sz="2400" dirty="0"/>
              <a:t>− 1</a:t>
            </a:r>
            <a:r>
              <a:rPr lang="zh-CN" altLang="en-US" sz="2400" dirty="0"/>
              <a:t>次，即可按照路径长度的递增顺序，逐个求得从</a:t>
            </a:r>
            <a:r>
              <a:rPr lang="en-US" altLang="zh-CN" sz="2400" i="1" dirty="0"/>
              <a:t>v</a:t>
            </a:r>
            <a:r>
              <a:rPr lang="en-US" altLang="zh-CN" sz="2400" dirty="0"/>
              <a:t>0</a:t>
            </a:r>
            <a:r>
              <a:rPr lang="zh-CN" altLang="en-US" sz="2400" dirty="0"/>
              <a:t>到图上其余各顶点的最短路径。</a:t>
            </a:r>
          </a:p>
          <a:p>
            <a:pPr>
              <a:spcBef>
                <a:spcPct val="20000"/>
              </a:spcBef>
            </a:pPr>
            <a:endParaRPr lang="en-US" altLang="zh-CN" dirty="0"/>
          </a:p>
        </p:txBody>
      </p:sp>
      <p:sp>
        <p:nvSpPr>
          <p:cNvPr id="105475" name="Rectangle 5"/>
          <p:cNvSpPr>
            <a:spLocks noChangeArrowheads="1"/>
          </p:cNvSpPr>
          <p:nvPr/>
        </p:nvSpPr>
        <p:spPr bwMode="auto">
          <a:xfrm>
            <a:off x="4763" y="-26988"/>
            <a:ext cx="377507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400" dirty="0">
                <a:ea typeface="楷体_GB2312"/>
                <a:cs typeface="楷体_GB2312"/>
              </a:rPr>
              <a:t>【</a:t>
            </a:r>
            <a:r>
              <a:rPr lang="zh-CN" altLang="en-US" sz="4400" dirty="0">
                <a:ea typeface="楷体_GB2312"/>
                <a:cs typeface="楷体_GB2312"/>
              </a:rPr>
              <a:t>算法思想</a:t>
            </a:r>
            <a:r>
              <a:rPr lang="en-US" altLang="zh-CN" sz="4400" dirty="0">
                <a:ea typeface="楷体_GB2312"/>
                <a:cs typeface="楷体_GB2312"/>
              </a:rPr>
              <a:t>】</a:t>
            </a:r>
          </a:p>
        </p:txBody>
      </p:sp>
      <p:grpSp>
        <p:nvGrpSpPr>
          <p:cNvPr id="106500" name="Group 6"/>
          <p:cNvGrpSpPr/>
          <p:nvPr/>
        </p:nvGrpSpPr>
        <p:grpSpPr bwMode="auto">
          <a:xfrm>
            <a:off x="5867400" y="-106363"/>
            <a:ext cx="3276600" cy="1855788"/>
            <a:chOff x="3888" y="816"/>
            <a:chExt cx="1536" cy="765"/>
          </a:xfrm>
        </p:grpSpPr>
        <p:sp>
          <p:nvSpPr>
            <p:cNvPr id="106501" name="Oval 7"/>
            <p:cNvSpPr>
              <a:spLocks noChangeArrowheads="1"/>
            </p:cNvSpPr>
            <p:nvPr/>
          </p:nvSpPr>
          <p:spPr bwMode="auto">
            <a:xfrm>
              <a:off x="4608" y="96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6502" name="Oval 8"/>
            <p:cNvSpPr>
              <a:spLocks noChangeArrowheads="1"/>
            </p:cNvSpPr>
            <p:nvPr/>
          </p:nvSpPr>
          <p:spPr bwMode="auto">
            <a:xfrm>
              <a:off x="4608" y="13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6503" name="Oval 9"/>
            <p:cNvSpPr>
              <a:spLocks noChangeArrowheads="1"/>
            </p:cNvSpPr>
            <p:nvPr/>
          </p:nvSpPr>
          <p:spPr bwMode="auto">
            <a:xfrm>
              <a:off x="4992" y="12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6504" name="Freeform 10"/>
            <p:cNvSpPr>
              <a:spLocks noChangeArrowheads="1"/>
            </p:cNvSpPr>
            <p:nvPr/>
          </p:nvSpPr>
          <p:spPr bwMode="auto">
            <a:xfrm>
              <a:off x="4704" y="1056"/>
              <a:ext cx="336" cy="192"/>
            </a:xfrm>
            <a:custGeom>
              <a:avLst/>
              <a:gdLst>
                <a:gd name="T0" fmla="*/ 0 w 336"/>
                <a:gd name="T1" fmla="*/ 0 h 192"/>
                <a:gd name="T2" fmla="*/ 144 w 336"/>
                <a:gd name="T3" fmla="*/ 48 h 192"/>
                <a:gd name="T4" fmla="*/ 192 w 336"/>
                <a:gd name="T5" fmla="*/ 144 h 192"/>
                <a:gd name="T6" fmla="*/ 336 w 336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192"/>
                <a:gd name="T14" fmla="*/ 336 w 3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192">
                  <a:moveTo>
                    <a:pt x="0" y="0"/>
                  </a:moveTo>
                  <a:cubicBezTo>
                    <a:pt x="56" y="12"/>
                    <a:pt x="112" y="24"/>
                    <a:pt x="144" y="48"/>
                  </a:cubicBezTo>
                  <a:cubicBezTo>
                    <a:pt x="176" y="72"/>
                    <a:pt x="160" y="120"/>
                    <a:pt x="192" y="144"/>
                  </a:cubicBezTo>
                  <a:cubicBezTo>
                    <a:pt x="224" y="168"/>
                    <a:pt x="304" y="184"/>
                    <a:pt x="336" y="1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505" name="Line 11"/>
            <p:cNvSpPr>
              <a:spLocks noChangeShapeType="1"/>
            </p:cNvSpPr>
            <p:nvPr/>
          </p:nvSpPr>
          <p:spPr bwMode="auto">
            <a:xfrm flipH="1">
              <a:off x="4704" y="1344"/>
              <a:ext cx="336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06" name="Text Box 12"/>
            <p:cNvSpPr txBox="1">
              <a:spLocks noChangeArrowheads="1"/>
            </p:cNvSpPr>
            <p:nvPr/>
          </p:nvSpPr>
          <p:spPr bwMode="auto">
            <a:xfrm>
              <a:off x="4464" y="816"/>
              <a:ext cx="144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06507" name="Text Box 13"/>
            <p:cNvSpPr txBox="1">
              <a:spLocks noChangeArrowheads="1"/>
            </p:cNvSpPr>
            <p:nvPr/>
          </p:nvSpPr>
          <p:spPr bwMode="auto">
            <a:xfrm>
              <a:off x="4560" y="1392"/>
              <a:ext cx="14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06508" name="Text Box 14"/>
            <p:cNvSpPr txBox="1">
              <a:spLocks noChangeArrowheads="1"/>
            </p:cNvSpPr>
            <p:nvPr/>
          </p:nvSpPr>
          <p:spPr bwMode="auto">
            <a:xfrm>
              <a:off x="5088" y="1200"/>
              <a:ext cx="192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106509" name="Freeform 15"/>
            <p:cNvSpPr>
              <a:spLocks noChangeArrowheads="1"/>
            </p:cNvSpPr>
            <p:nvPr/>
          </p:nvSpPr>
          <p:spPr bwMode="auto">
            <a:xfrm>
              <a:off x="4272" y="1032"/>
              <a:ext cx="336" cy="480"/>
            </a:xfrm>
            <a:custGeom>
              <a:avLst/>
              <a:gdLst>
                <a:gd name="T0" fmla="*/ 336 w 336"/>
                <a:gd name="T1" fmla="*/ 24 h 480"/>
                <a:gd name="T2" fmla="*/ 96 w 336"/>
                <a:gd name="T3" fmla="*/ 24 h 480"/>
                <a:gd name="T4" fmla="*/ 0 w 336"/>
                <a:gd name="T5" fmla="*/ 168 h 480"/>
                <a:gd name="T6" fmla="*/ 96 w 336"/>
                <a:gd name="T7" fmla="*/ 264 h 480"/>
                <a:gd name="T8" fmla="*/ 144 w 336"/>
                <a:gd name="T9" fmla="*/ 456 h 480"/>
                <a:gd name="T10" fmla="*/ 336 w 336"/>
                <a:gd name="T11" fmla="*/ 408 h 4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6"/>
                <a:gd name="T19" fmla="*/ 0 h 480"/>
                <a:gd name="T20" fmla="*/ 336 w 336"/>
                <a:gd name="T21" fmla="*/ 480 h 4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6" h="480">
                  <a:moveTo>
                    <a:pt x="336" y="24"/>
                  </a:moveTo>
                  <a:cubicBezTo>
                    <a:pt x="244" y="12"/>
                    <a:pt x="152" y="0"/>
                    <a:pt x="96" y="24"/>
                  </a:cubicBezTo>
                  <a:cubicBezTo>
                    <a:pt x="40" y="48"/>
                    <a:pt x="0" y="128"/>
                    <a:pt x="0" y="168"/>
                  </a:cubicBezTo>
                  <a:cubicBezTo>
                    <a:pt x="0" y="208"/>
                    <a:pt x="72" y="216"/>
                    <a:pt x="96" y="264"/>
                  </a:cubicBezTo>
                  <a:cubicBezTo>
                    <a:pt x="120" y="312"/>
                    <a:pt x="104" y="432"/>
                    <a:pt x="144" y="456"/>
                  </a:cubicBezTo>
                  <a:cubicBezTo>
                    <a:pt x="184" y="480"/>
                    <a:pt x="260" y="444"/>
                    <a:pt x="336" y="408"/>
                  </a:cubicBezTo>
                </a:path>
              </a:pathLst>
            </a:custGeom>
            <a:noFill/>
            <a:ln w="381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510" name="Text Box 16"/>
            <p:cNvSpPr txBox="1">
              <a:spLocks noChangeArrowheads="1"/>
            </p:cNvSpPr>
            <p:nvPr/>
          </p:nvSpPr>
          <p:spPr bwMode="auto">
            <a:xfrm>
              <a:off x="3888" y="1104"/>
              <a:ext cx="528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>
                  <a:ea typeface="宋体" panose="02010600030101010101" pitchFamily="2" charset="-122"/>
                </a:rPr>
                <a:t>D[i]</a:t>
              </a:r>
            </a:p>
          </p:txBody>
        </p:sp>
        <p:sp>
          <p:nvSpPr>
            <p:cNvPr id="106511" name="Text Box 17"/>
            <p:cNvSpPr txBox="1">
              <a:spLocks noChangeArrowheads="1"/>
            </p:cNvSpPr>
            <p:nvPr/>
          </p:nvSpPr>
          <p:spPr bwMode="auto">
            <a:xfrm>
              <a:off x="4848" y="960"/>
              <a:ext cx="57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>
                  <a:ea typeface="宋体" panose="02010600030101010101" pitchFamily="2" charset="-122"/>
                </a:rPr>
                <a:t>D[k]</a:t>
              </a:r>
            </a:p>
          </p:txBody>
        </p:sp>
      </p:grpSp>
      <p:sp>
        <p:nvSpPr>
          <p:cNvPr id="992261" name="Rectangle 5"/>
          <p:cNvSpPr>
            <a:spLocks noChangeArrowheads="1"/>
          </p:cNvSpPr>
          <p:nvPr/>
        </p:nvSpPr>
        <p:spPr bwMode="auto">
          <a:xfrm>
            <a:off x="5148064" y="3618668"/>
            <a:ext cx="3575050" cy="579438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时间复杂度</a:t>
            </a:r>
            <a:r>
              <a:rPr kumimoji="1" lang="zh-CN" altLang="en-US" sz="3200" b="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：</a:t>
            </a:r>
            <a:r>
              <a:rPr kumimoji="1"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O(</a:t>
            </a:r>
            <a:r>
              <a:rPr kumimoji="1" lang="en-US" altLang="zh-CN" sz="3200" i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3200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2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2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20AD115-3741-D546-D8E3-292EEDC58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-26988"/>
            <a:ext cx="377507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lang="en-US" altLang="zh-CN" sz="4400" dirty="0">
                <a:ea typeface="楷体_GB2312"/>
                <a:cs typeface="楷体_GB2312"/>
              </a:rPr>
              <a:t>【</a:t>
            </a:r>
            <a:r>
              <a:rPr lang="zh-CN" altLang="en-US" sz="4400" dirty="0">
                <a:ea typeface="楷体_GB2312"/>
                <a:cs typeface="楷体_GB2312"/>
              </a:rPr>
              <a:t>算法实现</a:t>
            </a:r>
            <a:r>
              <a:rPr lang="en-US" altLang="zh-CN" sz="4400" dirty="0">
                <a:ea typeface="楷体_GB2312"/>
                <a:cs typeface="楷体_GB2312"/>
              </a:rPr>
              <a:t>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FD5A28-564A-2588-6345-A70C5F913AC0}"/>
              </a:ext>
            </a:extLst>
          </p:cNvPr>
          <p:cNvSpPr txBox="1"/>
          <p:nvPr/>
        </p:nvSpPr>
        <p:spPr>
          <a:xfrm>
            <a:off x="107504" y="764704"/>
            <a:ext cx="89289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从</a:t>
            </a:r>
            <a:r>
              <a:rPr lang="zh-CN" altLang="en-US" dirty="0">
                <a:highlight>
                  <a:srgbClr val="00FF00"/>
                </a:highlight>
              </a:rPr>
              <a:t>起点</a:t>
            </a:r>
            <a:r>
              <a:rPr lang="zh-CN" altLang="en-US" dirty="0"/>
              <a:t>开始</a:t>
            </a:r>
            <a:r>
              <a:rPr lang="en-US" altLang="zh-CN" dirty="0"/>
              <a:t>,</a:t>
            </a:r>
            <a:r>
              <a:rPr lang="zh-CN" altLang="en-US" dirty="0"/>
              <a:t>写出其经过</a:t>
            </a:r>
            <a:r>
              <a:rPr lang="zh-CN" altLang="en-US" dirty="0">
                <a:highlight>
                  <a:srgbClr val="00FF00"/>
                </a:highlight>
              </a:rPr>
              <a:t>一步</a:t>
            </a:r>
            <a:r>
              <a:rPr lang="zh-CN" altLang="en-US" dirty="0"/>
              <a:t>即可到达的顶点并记录下距离</a:t>
            </a:r>
            <a:r>
              <a:rPr lang="en-US" altLang="zh-CN" dirty="0"/>
              <a:t>(</a:t>
            </a:r>
            <a:r>
              <a:rPr lang="zh-CN" altLang="en-US" dirty="0"/>
              <a:t>即权重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从上述距离中挑选出</a:t>
            </a:r>
            <a:r>
              <a:rPr lang="zh-CN" altLang="en-US" dirty="0">
                <a:highlight>
                  <a:srgbClr val="00FF00"/>
                </a:highlight>
              </a:rPr>
              <a:t>距离最小</a:t>
            </a:r>
            <a:r>
              <a:rPr lang="zh-CN" altLang="en-US" dirty="0"/>
              <a:t>的顶点</a:t>
            </a:r>
            <a:r>
              <a:rPr lang="en-US" altLang="zh-CN" dirty="0"/>
              <a:t>(</a:t>
            </a:r>
            <a:r>
              <a:rPr lang="zh-CN" altLang="en-US" dirty="0">
                <a:highlight>
                  <a:srgbClr val="00FF00"/>
                </a:highlight>
              </a:rPr>
              <a:t>则该顶点的最段距离已经找到</a:t>
            </a:r>
            <a:r>
              <a:rPr lang="en-US" altLang="zh-CN" dirty="0"/>
              <a:t>),</a:t>
            </a:r>
            <a:r>
              <a:rPr lang="zh-CN" altLang="en-US" dirty="0"/>
              <a:t>以该顶点为</a:t>
            </a:r>
            <a:r>
              <a:rPr lang="zh-CN" altLang="en-US" dirty="0">
                <a:highlight>
                  <a:srgbClr val="00FF00"/>
                </a:highlight>
              </a:rPr>
              <a:t>新的起点</a:t>
            </a:r>
            <a:r>
              <a:rPr lang="en-US" altLang="zh-CN" dirty="0"/>
              <a:t>,</a:t>
            </a:r>
            <a:r>
              <a:rPr lang="zh-CN" altLang="en-US" dirty="0"/>
              <a:t>找出其可以一步到达的点并记录下其大小</a:t>
            </a:r>
            <a:r>
              <a:rPr lang="en-US" altLang="zh-CN" dirty="0"/>
              <a:t>.</a:t>
            </a:r>
            <a:r>
              <a:rPr lang="zh-CN" altLang="en-US" dirty="0"/>
              <a:t>如果新距离</a:t>
            </a:r>
            <a:r>
              <a:rPr lang="zh-CN" altLang="en-US" dirty="0">
                <a:highlight>
                  <a:srgbClr val="00FF00"/>
                </a:highlight>
              </a:rPr>
              <a:t>小于</a:t>
            </a:r>
            <a:r>
              <a:rPr lang="zh-CN" altLang="en-US" dirty="0"/>
              <a:t>原来的距离则</a:t>
            </a:r>
            <a:r>
              <a:rPr lang="zh-CN" altLang="en-US" dirty="0">
                <a:highlight>
                  <a:srgbClr val="00FF00"/>
                </a:highlight>
              </a:rPr>
              <a:t>更新</a:t>
            </a:r>
            <a:r>
              <a:rPr lang="zh-CN" altLang="en-US" dirty="0"/>
              <a:t>距离</a:t>
            </a:r>
            <a:r>
              <a:rPr lang="en-US" altLang="zh-CN" dirty="0"/>
              <a:t>,</a:t>
            </a:r>
            <a:r>
              <a:rPr lang="zh-CN" altLang="en-US" dirty="0"/>
              <a:t>否则不变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不断循环</a:t>
            </a:r>
            <a:r>
              <a:rPr lang="en-US" altLang="zh-CN" dirty="0"/>
              <a:t>2</a:t>
            </a:r>
            <a:r>
              <a:rPr lang="zh-CN" altLang="en-US" dirty="0"/>
              <a:t>直到所有结点都找到最短路径</a:t>
            </a:r>
            <a:r>
              <a:rPr lang="en-US" altLang="zh-CN" dirty="0"/>
              <a:t>(</a:t>
            </a:r>
            <a:r>
              <a:rPr lang="zh-CN" altLang="en-US" dirty="0"/>
              <a:t>除了到达不了的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注意</a:t>
            </a:r>
            <a:r>
              <a:rPr lang="en-US" altLang="zh-CN" dirty="0"/>
              <a:t>:</a:t>
            </a:r>
            <a:r>
              <a:rPr lang="zh-CN" altLang="en-US" dirty="0">
                <a:highlight>
                  <a:srgbClr val="00FF00"/>
                </a:highlight>
              </a:rPr>
              <a:t>有</a:t>
            </a:r>
            <a:r>
              <a:rPr lang="zh-CN" altLang="en-US" dirty="0"/>
              <a:t>向图要注意</a:t>
            </a:r>
            <a:r>
              <a:rPr lang="zh-CN" altLang="en-US" dirty="0">
                <a:highlight>
                  <a:srgbClr val="00FF00"/>
                </a:highlight>
              </a:rPr>
              <a:t>方向</a:t>
            </a:r>
            <a:endParaRPr lang="en-US" altLang="zh-CN" dirty="0">
              <a:highlight>
                <a:srgbClr val="00FF00"/>
              </a:highlight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4456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日期占位符 1"/>
          <p:cNvSpPr>
            <a:spLocks noGrp="1" noChangeArrowheads="1"/>
          </p:cNvSpPr>
          <p:nvPr>
            <p:ph type="dt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r>
              <a:rPr kumimoji="0" lang="en-US" altLang="zh-CN" sz="1400" b="0"/>
              <a:t>                    </a:t>
            </a:r>
            <a:fld id="{DE3D287E-0348-41AB-A84B-ED69D8E5D6C4}" type="datetime2">
              <a:rPr kumimoji="0" lang="zh-CN" altLang="en-US" sz="1400" b="0" smtClean="0"/>
              <a:t>2025年4月23日</a:t>
            </a:fld>
            <a:r>
              <a:rPr kumimoji="0" lang="en-US" altLang="zh-CN" sz="1400" b="0"/>
              <a:t>        </a:t>
            </a:r>
          </a:p>
        </p:txBody>
      </p:sp>
      <p:sp>
        <p:nvSpPr>
          <p:cNvPr id="14341" name="Rectangle 7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104" name="AutoShape 144"/>
          <p:cNvSpPr>
            <a:spLocks noChangeArrowheads="1"/>
          </p:cNvSpPr>
          <p:nvPr/>
        </p:nvSpPr>
        <p:spPr bwMode="auto">
          <a:xfrm>
            <a:off x="5562600" y="5145088"/>
            <a:ext cx="2438400" cy="381000"/>
          </a:xfrm>
          <a:prstGeom prst="wedgeRoundRectCallout">
            <a:avLst>
              <a:gd name="adj1" fmla="val -34894"/>
              <a:gd name="adj2" fmla="val -73375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(</a:t>
            </a:r>
            <a:r>
              <a:rPr lang="en-US" altLang="zh-CN" sz="1800"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ea typeface="宋体" panose="02010600030101010101" pitchFamily="2" charset="-122"/>
              </a:rPr>
              <a:t>0</a:t>
            </a:r>
            <a:r>
              <a:rPr lang="en-US" altLang="zh-CN" sz="1800">
                <a:ea typeface="宋体" panose="02010600030101010101" pitchFamily="2" charset="-122"/>
              </a:rPr>
              <a:t>,v</a:t>
            </a:r>
            <a:r>
              <a:rPr lang="en-US" altLang="zh-CN" sz="1800" baseline="-25000">
                <a:ea typeface="宋体" panose="02010600030101010101" pitchFamily="2" charset="-122"/>
              </a:rPr>
              <a:t>2</a:t>
            </a:r>
            <a:r>
              <a:rPr lang="en-US" altLang="zh-CN" sz="1800">
                <a:ea typeface="宋体" panose="02010600030101010101" pitchFamily="2" charset="-122"/>
              </a:rPr>
              <a:t>)+ (v</a:t>
            </a:r>
            <a:r>
              <a:rPr lang="en-US" altLang="zh-CN" sz="1800" baseline="-25000">
                <a:ea typeface="宋体" panose="02010600030101010101" pitchFamily="2" charset="-122"/>
              </a:rPr>
              <a:t>2</a:t>
            </a:r>
            <a:r>
              <a:rPr lang="en-US" altLang="zh-CN" sz="1800">
                <a:ea typeface="宋体" panose="02010600030101010101" pitchFamily="2" charset="-122"/>
              </a:rPr>
              <a:t>,v</a:t>
            </a:r>
            <a:r>
              <a:rPr lang="en-US" altLang="zh-CN" sz="1800" baseline="-25000">
                <a:ea typeface="宋体" panose="02010600030101010101" pitchFamily="2" charset="-122"/>
              </a:rPr>
              <a:t>3</a:t>
            </a:r>
            <a:r>
              <a:rPr lang="en-US" altLang="zh-CN" sz="1800">
                <a:ea typeface="宋体" panose="02010600030101010101" pitchFamily="2" charset="-122"/>
              </a:rPr>
              <a:t>)&lt;</a:t>
            </a:r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(v</a:t>
            </a:r>
            <a:r>
              <a:rPr lang="en-US" altLang="zh-CN" sz="2000" baseline="-2500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2000" baseline="-25000">
                <a:solidFill>
                  <a:schemeClr val="tx2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0395" name="Group 155"/>
          <p:cNvGraphicFramePr>
            <a:graphicFrameLocks noGrp="1"/>
          </p:cNvGraphicFramePr>
          <p:nvPr/>
        </p:nvGraphicFramePr>
        <p:xfrm>
          <a:off x="2971800" y="115888"/>
          <a:ext cx="6019800" cy="424978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终点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            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从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到各终点的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长度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和最短路径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1</a:t>
                      </a:r>
                    </a:p>
                  </a:txBody>
                  <a:tcPr marT="45716" marB="45716" anchor="ctr" anchorCtr="1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1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2</a:t>
                      </a:r>
                    </a:p>
                  </a:txBody>
                  <a:tcPr marT="45716" marB="45716" anchor="ctr" anchorCtr="1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3</a:t>
                      </a:r>
                    </a:p>
                  </a:txBody>
                  <a:tcPr marT="45716" marB="45716" anchor="ctr" anchorCtr="1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9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4</a:t>
                      </a:r>
                    </a:p>
                  </a:txBody>
                  <a:tcPr marT="45716" marB="45716" anchor="ctr" anchorCtr="1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5</a:t>
                      </a:r>
                    </a:p>
                  </a:txBody>
                  <a:tcPr marT="45716" marB="45716" anchor="ctr" anchorCtr="1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j</a:t>
                      </a:r>
                    </a:p>
                  </a:txBody>
                  <a:tcPr marT="45716" marB="45716" anchor="ctr" anchorCtr="1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37153" name="AutoShape 193"/>
          <p:cNvSpPr>
            <a:spLocks noChangeArrowheads="1"/>
          </p:cNvSpPr>
          <p:nvPr/>
        </p:nvSpPr>
        <p:spPr bwMode="auto">
          <a:xfrm>
            <a:off x="3276600" y="4992688"/>
            <a:ext cx="2133600" cy="685800"/>
          </a:xfrm>
          <a:prstGeom prst="wedgeRoundRectCallout">
            <a:avLst>
              <a:gd name="adj1" fmla="val -40847"/>
              <a:gd name="adj2" fmla="val -15833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S</a:t>
            </a:r>
            <a:r>
              <a:rPr lang="zh-CN" altLang="en-US" sz="20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之外的当前最短路径之顶点</a:t>
            </a:r>
          </a:p>
        </p:txBody>
      </p:sp>
      <p:grpSp>
        <p:nvGrpSpPr>
          <p:cNvPr id="2" name="Group 194"/>
          <p:cNvGrpSpPr/>
          <p:nvPr/>
        </p:nvGrpSpPr>
        <p:grpSpPr bwMode="auto">
          <a:xfrm>
            <a:off x="4876800" y="2187575"/>
            <a:ext cx="1266825" cy="595313"/>
            <a:chOff x="4272" y="2400"/>
            <a:chExt cx="798" cy="375"/>
          </a:xfrm>
        </p:grpSpPr>
        <p:sp>
          <p:nvSpPr>
            <p:cNvPr id="14488" name="Text Box 195"/>
            <p:cNvSpPr txBox="1">
              <a:spLocks noChangeArrowheads="1"/>
            </p:cNvSpPr>
            <p:nvPr/>
          </p:nvSpPr>
          <p:spPr bwMode="auto">
            <a:xfrm>
              <a:off x="4434" y="24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14489" name="Text Box 196"/>
            <p:cNvSpPr txBox="1">
              <a:spLocks noChangeArrowheads="1"/>
            </p:cNvSpPr>
            <p:nvPr/>
          </p:nvSpPr>
          <p:spPr bwMode="auto">
            <a:xfrm>
              <a:off x="4272" y="2544"/>
              <a:ext cx="7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{v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2</a:t>
              </a:r>
              <a:r>
                <a:rPr lang="en-US" altLang="zh-CN" sz="1800" b="0"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3</a:t>
              </a:r>
              <a:r>
                <a:rPr lang="en-US" altLang="zh-CN" sz="1800" b="0"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3" name="Group 197"/>
          <p:cNvGrpSpPr/>
          <p:nvPr/>
        </p:nvGrpSpPr>
        <p:grpSpPr bwMode="auto">
          <a:xfrm>
            <a:off x="6200775" y="2187575"/>
            <a:ext cx="1266825" cy="595313"/>
            <a:chOff x="4272" y="2400"/>
            <a:chExt cx="798" cy="375"/>
          </a:xfrm>
        </p:grpSpPr>
        <p:sp>
          <p:nvSpPr>
            <p:cNvPr id="14486" name="Text Box 198"/>
            <p:cNvSpPr txBox="1">
              <a:spLocks noChangeArrowheads="1"/>
            </p:cNvSpPr>
            <p:nvPr/>
          </p:nvSpPr>
          <p:spPr bwMode="auto">
            <a:xfrm>
              <a:off x="4434" y="24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14487" name="Text Box 199"/>
            <p:cNvSpPr txBox="1">
              <a:spLocks noChangeArrowheads="1"/>
            </p:cNvSpPr>
            <p:nvPr/>
          </p:nvSpPr>
          <p:spPr bwMode="auto">
            <a:xfrm>
              <a:off x="4272" y="2544"/>
              <a:ext cx="7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{v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4" name="Group 200"/>
          <p:cNvGrpSpPr/>
          <p:nvPr/>
        </p:nvGrpSpPr>
        <p:grpSpPr bwMode="auto">
          <a:xfrm>
            <a:off x="4876800" y="2797175"/>
            <a:ext cx="1266825" cy="595313"/>
            <a:chOff x="4272" y="2400"/>
            <a:chExt cx="798" cy="375"/>
          </a:xfrm>
        </p:grpSpPr>
        <p:sp>
          <p:nvSpPr>
            <p:cNvPr id="14484" name="Text Box 201"/>
            <p:cNvSpPr txBox="1">
              <a:spLocks noChangeArrowheads="1"/>
            </p:cNvSpPr>
            <p:nvPr/>
          </p:nvSpPr>
          <p:spPr bwMode="auto">
            <a:xfrm>
              <a:off x="4434" y="24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14485" name="Text Box 202"/>
            <p:cNvSpPr txBox="1">
              <a:spLocks noChangeArrowheads="1"/>
            </p:cNvSpPr>
            <p:nvPr/>
          </p:nvSpPr>
          <p:spPr bwMode="auto">
            <a:xfrm>
              <a:off x="4272" y="2544"/>
              <a:ext cx="7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{v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5" name="Group 203"/>
          <p:cNvGrpSpPr/>
          <p:nvPr/>
        </p:nvGrpSpPr>
        <p:grpSpPr bwMode="auto">
          <a:xfrm>
            <a:off x="6200775" y="3406775"/>
            <a:ext cx="1266825" cy="595313"/>
            <a:chOff x="4272" y="2400"/>
            <a:chExt cx="798" cy="375"/>
          </a:xfrm>
        </p:grpSpPr>
        <p:sp>
          <p:nvSpPr>
            <p:cNvPr id="14482" name="Text Box 204"/>
            <p:cNvSpPr txBox="1">
              <a:spLocks noChangeArrowheads="1"/>
            </p:cNvSpPr>
            <p:nvPr/>
          </p:nvSpPr>
          <p:spPr bwMode="auto">
            <a:xfrm>
              <a:off x="4434" y="24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90</a:t>
              </a:r>
            </a:p>
          </p:txBody>
        </p:sp>
        <p:sp>
          <p:nvSpPr>
            <p:cNvPr id="14483" name="Text Box 205"/>
            <p:cNvSpPr txBox="1">
              <a:spLocks noChangeArrowheads="1"/>
            </p:cNvSpPr>
            <p:nvPr/>
          </p:nvSpPr>
          <p:spPr bwMode="auto">
            <a:xfrm>
              <a:off x="4272" y="2544"/>
              <a:ext cx="7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{v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4</a:t>
              </a:r>
              <a:r>
                <a:rPr lang="en-US" altLang="zh-CN" sz="1800" b="0">
                  <a:ea typeface="宋体" panose="02010600030101010101" pitchFamily="2" charset="-122"/>
                </a:rPr>
                <a:t>, 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5</a:t>
              </a:r>
              <a:r>
                <a:rPr lang="en-US" altLang="zh-CN" sz="1800" b="0"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6" name="Group 206"/>
          <p:cNvGrpSpPr/>
          <p:nvPr/>
        </p:nvGrpSpPr>
        <p:grpSpPr bwMode="auto">
          <a:xfrm>
            <a:off x="7543800" y="3392488"/>
            <a:ext cx="1266825" cy="595312"/>
            <a:chOff x="4272" y="2400"/>
            <a:chExt cx="798" cy="375"/>
          </a:xfrm>
        </p:grpSpPr>
        <p:sp>
          <p:nvSpPr>
            <p:cNvPr id="14480" name="Text Box 207"/>
            <p:cNvSpPr txBox="1">
              <a:spLocks noChangeArrowheads="1"/>
            </p:cNvSpPr>
            <p:nvPr/>
          </p:nvSpPr>
          <p:spPr bwMode="auto">
            <a:xfrm>
              <a:off x="4434" y="24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14481" name="Text Box 208"/>
            <p:cNvSpPr txBox="1">
              <a:spLocks noChangeArrowheads="1"/>
            </p:cNvSpPr>
            <p:nvPr/>
          </p:nvSpPr>
          <p:spPr bwMode="auto">
            <a:xfrm>
              <a:off x="4272" y="2544"/>
              <a:ext cx="7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{v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,v</a:t>
              </a:r>
              <a:r>
                <a:rPr lang="en-US" altLang="zh-CN" sz="1800" b="0" baseline="-25000">
                  <a:solidFill>
                    <a:srgbClr val="0000CC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sz="1800" b="0">
                  <a:solidFill>
                    <a:srgbClr val="0000CC"/>
                  </a:solidFill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7" name="Group 209"/>
          <p:cNvGrpSpPr/>
          <p:nvPr/>
        </p:nvGrpSpPr>
        <p:grpSpPr bwMode="auto">
          <a:xfrm>
            <a:off x="228600" y="496888"/>
            <a:ext cx="2590800" cy="2590800"/>
            <a:chOff x="144" y="1104"/>
            <a:chExt cx="1632" cy="1632"/>
          </a:xfrm>
        </p:grpSpPr>
        <p:sp>
          <p:nvSpPr>
            <p:cNvPr id="14458" name="Text Box 210"/>
            <p:cNvSpPr txBox="1">
              <a:spLocks noChangeArrowheads="1"/>
            </p:cNvSpPr>
            <p:nvPr/>
          </p:nvSpPr>
          <p:spPr bwMode="auto">
            <a:xfrm>
              <a:off x="480" y="2400"/>
              <a:ext cx="19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459" name="Oval 211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5</a:t>
              </a:r>
            </a:p>
          </p:txBody>
        </p:sp>
        <p:sp>
          <p:nvSpPr>
            <p:cNvPr id="14460" name="Oval 212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14461" name="Oval 213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4462" name="Oval 214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4463" name="Oval 215"/>
            <p:cNvSpPr>
              <a:spLocks noChangeArrowheads="1"/>
            </p:cNvSpPr>
            <p:nvPr/>
          </p:nvSpPr>
          <p:spPr bwMode="auto">
            <a:xfrm>
              <a:off x="144" y="2568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4464" name="Oval 216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4465" name="Line 217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6" name="Text Box 218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14467" name="Line 219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8" name="Text Box 220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14469" name="Line 221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0" name="Text Box 222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14471" name="Line 223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2" name="Text Box 224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4473" name="Line 225"/>
            <p:cNvSpPr>
              <a:spLocks noChangeShapeType="1"/>
            </p:cNvSpPr>
            <p:nvPr/>
          </p:nvSpPr>
          <p:spPr bwMode="auto">
            <a:xfrm>
              <a:off x="872" y="1308"/>
              <a:ext cx="371" cy="8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4" name="Text Box 226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4475" name="Line 227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6" name="Text Box 228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14477" name="Line 229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8" name="Text Box 230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14479" name="Line 231"/>
            <p:cNvSpPr>
              <a:spLocks noChangeShapeType="1"/>
            </p:cNvSpPr>
            <p:nvPr/>
          </p:nvSpPr>
          <p:spPr bwMode="auto">
            <a:xfrm>
              <a:off x="371" y="2647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37192" name="Group 232"/>
          <p:cNvGraphicFramePr>
            <a:graphicFrameLocks noGrp="1"/>
          </p:cNvGraphicFramePr>
          <p:nvPr/>
        </p:nvGraphicFramePr>
        <p:xfrm>
          <a:off x="2971800" y="4383088"/>
          <a:ext cx="6019800" cy="381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仿宋_GB2312" panose="02010609030101010101" charset="-122"/>
                        </a:rPr>
                        <a:t>s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_GB2312" panose="0201060903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7206" name="Rectangle 246"/>
          <p:cNvSpPr>
            <a:spLocks noChangeArrowheads="1"/>
          </p:cNvSpPr>
          <p:nvPr/>
        </p:nvSpPr>
        <p:spPr bwMode="auto">
          <a:xfrm>
            <a:off x="3886200" y="4383088"/>
            <a:ext cx="803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800">
                <a:ea typeface="宋体" panose="02010600030101010101" pitchFamily="2" charset="-122"/>
              </a:rPr>
              <a:t>{v</a:t>
            </a:r>
            <a:r>
              <a:rPr lang="en-US" altLang="zh-CN" sz="1800" baseline="-25000">
                <a:ea typeface="宋体" panose="02010600030101010101" pitchFamily="2" charset="-122"/>
              </a:rPr>
              <a:t>0</a:t>
            </a:r>
            <a:r>
              <a:rPr lang="en-US" altLang="zh-CN" sz="1800">
                <a:ea typeface="宋体" panose="02010600030101010101" pitchFamily="2" charset="-122"/>
              </a:rPr>
              <a:t>,</a:t>
            </a:r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937207" name="Rectangle 247"/>
          <p:cNvSpPr>
            <a:spLocks noChangeArrowheads="1"/>
          </p:cNvSpPr>
          <p:nvPr/>
        </p:nvSpPr>
        <p:spPr bwMode="auto">
          <a:xfrm>
            <a:off x="4953000" y="4383088"/>
            <a:ext cx="1127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800">
                <a:ea typeface="宋体" panose="02010600030101010101" pitchFamily="2" charset="-122"/>
              </a:rPr>
              <a:t>{v</a:t>
            </a:r>
            <a:r>
              <a:rPr lang="en-US" altLang="zh-CN" sz="1800" baseline="-25000">
                <a:ea typeface="宋体" panose="02010600030101010101" pitchFamily="2" charset="-122"/>
              </a:rPr>
              <a:t>0 </a:t>
            </a:r>
            <a:r>
              <a:rPr lang="en-US" altLang="zh-CN" sz="1800">
                <a:ea typeface="宋体" panose="02010600030101010101" pitchFamily="2" charset="-122"/>
              </a:rPr>
              <a:t>,v</a:t>
            </a:r>
            <a:r>
              <a:rPr lang="en-US" altLang="zh-CN" sz="1800" baseline="-25000">
                <a:ea typeface="宋体" panose="02010600030101010101" pitchFamily="2" charset="-122"/>
              </a:rPr>
              <a:t>2 </a:t>
            </a:r>
            <a:r>
              <a:rPr lang="en-US" altLang="zh-CN" sz="1800">
                <a:ea typeface="宋体" panose="02010600030101010101" pitchFamily="2" charset="-122"/>
              </a:rPr>
              <a:t>,</a:t>
            </a:r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tx2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937208" name="Rectangle 248"/>
          <p:cNvSpPr>
            <a:spLocks noChangeArrowheads="1"/>
          </p:cNvSpPr>
          <p:nvPr/>
        </p:nvSpPr>
        <p:spPr bwMode="auto">
          <a:xfrm>
            <a:off x="6172200" y="4383088"/>
            <a:ext cx="1285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600">
                <a:ea typeface="宋体" panose="02010600030101010101" pitchFamily="2" charset="-122"/>
              </a:rPr>
              <a:t>{v</a:t>
            </a:r>
            <a:r>
              <a:rPr lang="en-US" altLang="zh-CN" sz="1600" baseline="-25000">
                <a:ea typeface="宋体" panose="02010600030101010101" pitchFamily="2" charset="-122"/>
              </a:rPr>
              <a:t>0 </a:t>
            </a:r>
            <a:r>
              <a:rPr lang="en-US" altLang="zh-CN" sz="1600">
                <a:ea typeface="宋体" panose="02010600030101010101" pitchFamily="2" charset="-122"/>
              </a:rPr>
              <a:t>,v</a:t>
            </a:r>
            <a:r>
              <a:rPr lang="en-US" altLang="zh-CN" sz="1600" baseline="-25000">
                <a:ea typeface="宋体" panose="02010600030101010101" pitchFamily="2" charset="-122"/>
              </a:rPr>
              <a:t>2 </a:t>
            </a:r>
            <a:r>
              <a:rPr lang="en-US" altLang="zh-CN" sz="1600">
                <a:ea typeface="宋体" panose="02010600030101010101" pitchFamily="2" charset="-122"/>
              </a:rPr>
              <a:t>,v</a:t>
            </a:r>
            <a:r>
              <a:rPr lang="en-US" altLang="zh-CN" sz="1600" baseline="-25000">
                <a:ea typeface="宋体" panose="02010600030101010101" pitchFamily="2" charset="-122"/>
              </a:rPr>
              <a:t>4 </a:t>
            </a:r>
            <a:r>
              <a:rPr lang="en-US" altLang="zh-CN" sz="1600">
                <a:solidFill>
                  <a:schemeClr val="tx2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1600" baseline="-25000">
                <a:solidFill>
                  <a:schemeClr val="tx2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0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937209" name="Rectangle 249"/>
          <p:cNvSpPr>
            <a:spLocks noChangeArrowheads="1"/>
          </p:cNvSpPr>
          <p:nvPr/>
        </p:nvSpPr>
        <p:spPr bwMode="auto">
          <a:xfrm>
            <a:off x="7413625" y="4383088"/>
            <a:ext cx="1543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600">
                <a:ea typeface="宋体" panose="02010600030101010101" pitchFamily="2" charset="-122"/>
              </a:rPr>
              <a:t>{v</a:t>
            </a:r>
            <a:r>
              <a:rPr lang="en-US" altLang="zh-CN" sz="1600" baseline="-25000">
                <a:ea typeface="宋体" panose="02010600030101010101" pitchFamily="2" charset="-122"/>
              </a:rPr>
              <a:t>0 </a:t>
            </a:r>
            <a:r>
              <a:rPr lang="en-US" altLang="zh-CN" sz="1600">
                <a:ea typeface="宋体" panose="02010600030101010101" pitchFamily="2" charset="-122"/>
              </a:rPr>
              <a:t>,v</a:t>
            </a:r>
            <a:r>
              <a:rPr lang="en-US" altLang="zh-CN" sz="1600" baseline="-25000">
                <a:ea typeface="宋体" panose="02010600030101010101" pitchFamily="2" charset="-122"/>
              </a:rPr>
              <a:t>2 </a:t>
            </a:r>
            <a:r>
              <a:rPr lang="en-US" altLang="zh-CN" sz="1600">
                <a:ea typeface="宋体" panose="02010600030101010101" pitchFamily="2" charset="-122"/>
              </a:rPr>
              <a:t>,v</a:t>
            </a:r>
            <a:r>
              <a:rPr lang="en-US" altLang="zh-CN" sz="1600" baseline="-25000">
                <a:ea typeface="宋体" panose="02010600030101010101" pitchFamily="2" charset="-122"/>
              </a:rPr>
              <a:t>4 </a:t>
            </a:r>
            <a:r>
              <a:rPr lang="en-US" altLang="zh-CN" sz="1600">
                <a:ea typeface="宋体" panose="02010600030101010101" pitchFamily="2" charset="-122"/>
              </a:rPr>
              <a:t>,v</a:t>
            </a:r>
            <a:r>
              <a:rPr lang="en-US" altLang="zh-CN" sz="1600" baseline="-25000">
                <a:ea typeface="宋体" panose="02010600030101010101" pitchFamily="2" charset="-122"/>
              </a:rPr>
              <a:t>3 </a:t>
            </a:r>
            <a:r>
              <a:rPr lang="en-US" altLang="zh-CN" sz="1600">
                <a:ea typeface="宋体" panose="02010600030101010101" pitchFamily="2" charset="-122"/>
              </a:rPr>
              <a:t>,</a:t>
            </a:r>
            <a:r>
              <a:rPr lang="en-US" altLang="zh-CN" sz="16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600" baseline="-25000">
                <a:solidFill>
                  <a:schemeClr val="tx2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600">
                <a:ea typeface="宋体" panose="02010600030101010101" pitchFamily="2" charset="-122"/>
              </a:rPr>
              <a:t>}</a:t>
            </a:r>
          </a:p>
        </p:txBody>
      </p:sp>
      <p:grpSp>
        <p:nvGrpSpPr>
          <p:cNvPr id="8" name="Group 250"/>
          <p:cNvGrpSpPr/>
          <p:nvPr/>
        </p:nvGrpSpPr>
        <p:grpSpPr bwMode="auto">
          <a:xfrm>
            <a:off x="3581400" y="938213"/>
            <a:ext cx="1371600" cy="3063875"/>
            <a:chOff x="2256" y="662"/>
            <a:chExt cx="864" cy="1930"/>
          </a:xfrm>
        </p:grpSpPr>
        <p:grpSp>
          <p:nvGrpSpPr>
            <p:cNvPr id="14445" name="Group 251"/>
            <p:cNvGrpSpPr/>
            <p:nvPr/>
          </p:nvGrpSpPr>
          <p:grpSpPr bwMode="auto">
            <a:xfrm>
              <a:off x="2322" y="1065"/>
              <a:ext cx="798" cy="375"/>
              <a:chOff x="4272" y="2400"/>
              <a:chExt cx="798" cy="375"/>
            </a:xfrm>
          </p:grpSpPr>
          <p:sp>
            <p:nvSpPr>
              <p:cNvPr id="14456" name="Text Box 252"/>
              <p:cNvSpPr txBox="1">
                <a:spLocks noChangeArrowheads="1"/>
              </p:cNvSpPr>
              <p:nvPr/>
            </p:nvSpPr>
            <p:spPr bwMode="auto">
              <a:xfrm>
                <a:off x="4434" y="2400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0">
                    <a:solidFill>
                      <a:srgbClr val="0000CC"/>
                    </a:solidFill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14457" name="Text Box 253"/>
              <p:cNvSpPr txBox="1">
                <a:spLocks noChangeArrowheads="1"/>
              </p:cNvSpPr>
              <p:nvPr/>
            </p:nvSpPr>
            <p:spPr bwMode="auto">
              <a:xfrm>
                <a:off x="4272" y="2544"/>
                <a:ext cx="7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0">
                    <a:solidFill>
                      <a:srgbClr val="0000CC"/>
                    </a:solidFill>
                    <a:ea typeface="宋体" panose="02010600030101010101" pitchFamily="2" charset="-122"/>
                  </a:rPr>
                  <a:t>{v</a:t>
                </a:r>
                <a:r>
                  <a:rPr lang="en-US" altLang="zh-CN" sz="1800" b="0" baseline="-25000">
                    <a:solidFill>
                      <a:srgbClr val="0000CC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1800" b="0">
                    <a:solidFill>
                      <a:srgbClr val="0000CC"/>
                    </a:solidFill>
                    <a:ea typeface="宋体" panose="02010600030101010101" pitchFamily="2" charset="-122"/>
                  </a:rPr>
                  <a:t>,v</a:t>
                </a:r>
                <a:r>
                  <a:rPr lang="en-US" altLang="zh-CN" sz="1800" b="0" baseline="-25000">
                    <a:solidFill>
                      <a:srgbClr val="0000CC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en-US" altLang="zh-CN" sz="1800" b="0">
                    <a:solidFill>
                      <a:srgbClr val="0000CC"/>
                    </a:solidFill>
                    <a:ea typeface="宋体" panose="02010600030101010101" pitchFamily="2" charset="-122"/>
                  </a:rPr>
                  <a:t>}</a:t>
                </a:r>
              </a:p>
            </p:txBody>
          </p:sp>
        </p:grpSp>
        <p:grpSp>
          <p:nvGrpSpPr>
            <p:cNvPr id="14446" name="Group 254"/>
            <p:cNvGrpSpPr/>
            <p:nvPr/>
          </p:nvGrpSpPr>
          <p:grpSpPr bwMode="auto">
            <a:xfrm>
              <a:off x="2256" y="1488"/>
              <a:ext cx="798" cy="394"/>
              <a:chOff x="4272" y="2400"/>
              <a:chExt cx="798" cy="394"/>
            </a:xfrm>
          </p:grpSpPr>
          <p:sp>
            <p:nvSpPr>
              <p:cNvPr id="14454" name="Text Box 255"/>
              <p:cNvSpPr txBox="1">
                <a:spLocks noChangeArrowheads="1"/>
              </p:cNvSpPr>
              <p:nvPr/>
            </p:nvSpPr>
            <p:spPr bwMode="auto">
              <a:xfrm>
                <a:off x="4434" y="2400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0">
                    <a:ea typeface="宋体" panose="02010600030101010101" pitchFamily="2" charset="-122"/>
                  </a:rPr>
                  <a:t>∞</a:t>
                </a:r>
              </a:p>
            </p:txBody>
          </p:sp>
          <p:sp>
            <p:nvSpPr>
              <p:cNvPr id="14455" name="Text Box 256"/>
              <p:cNvSpPr txBox="1">
                <a:spLocks noChangeArrowheads="1"/>
              </p:cNvSpPr>
              <p:nvPr/>
            </p:nvSpPr>
            <p:spPr bwMode="auto">
              <a:xfrm>
                <a:off x="4272" y="2544"/>
                <a:ext cx="79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0">
                    <a:ea typeface="宋体" panose="02010600030101010101" pitchFamily="2" charset="-122"/>
                  </a:rPr>
                  <a:t>	</a:t>
                </a:r>
              </a:p>
            </p:txBody>
          </p:sp>
        </p:grpSp>
        <p:grpSp>
          <p:nvGrpSpPr>
            <p:cNvPr id="14447" name="Group 257"/>
            <p:cNvGrpSpPr/>
            <p:nvPr/>
          </p:nvGrpSpPr>
          <p:grpSpPr bwMode="auto">
            <a:xfrm>
              <a:off x="2274" y="1830"/>
              <a:ext cx="798" cy="378"/>
              <a:chOff x="4272" y="2400"/>
              <a:chExt cx="798" cy="369"/>
            </a:xfrm>
          </p:grpSpPr>
          <p:sp>
            <p:nvSpPr>
              <p:cNvPr id="14452" name="Text Box 258"/>
              <p:cNvSpPr txBox="1">
                <a:spLocks noChangeArrowheads="1"/>
              </p:cNvSpPr>
              <p:nvPr/>
            </p:nvSpPr>
            <p:spPr bwMode="auto">
              <a:xfrm>
                <a:off x="4434" y="2400"/>
                <a:ext cx="528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0">
                    <a:ea typeface="宋体" panose="02010600030101010101" pitchFamily="2" charset="-122"/>
                  </a:rPr>
                  <a:t>30</a:t>
                </a:r>
              </a:p>
            </p:txBody>
          </p:sp>
          <p:sp>
            <p:nvSpPr>
              <p:cNvPr id="14453" name="Text Box 259"/>
              <p:cNvSpPr txBox="1">
                <a:spLocks noChangeArrowheads="1"/>
              </p:cNvSpPr>
              <p:nvPr/>
            </p:nvSpPr>
            <p:spPr bwMode="auto">
              <a:xfrm>
                <a:off x="4272" y="2544"/>
                <a:ext cx="798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0">
                    <a:ea typeface="宋体" panose="02010600030101010101" pitchFamily="2" charset="-122"/>
                  </a:rPr>
                  <a:t>{v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0</a:t>
                </a:r>
                <a:r>
                  <a:rPr lang="en-US" altLang="zh-CN" sz="1800" b="0">
                    <a:ea typeface="宋体" panose="02010600030101010101" pitchFamily="2" charset="-122"/>
                  </a:rPr>
                  <a:t>,v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4</a:t>
                </a:r>
                <a:r>
                  <a:rPr lang="en-US" altLang="zh-CN" sz="1800" b="0">
                    <a:ea typeface="宋体" panose="02010600030101010101" pitchFamily="2" charset="-122"/>
                  </a:rPr>
                  <a:t>}</a:t>
                </a:r>
              </a:p>
            </p:txBody>
          </p:sp>
        </p:grpSp>
        <p:grpSp>
          <p:nvGrpSpPr>
            <p:cNvPr id="14448" name="Group 260"/>
            <p:cNvGrpSpPr/>
            <p:nvPr/>
          </p:nvGrpSpPr>
          <p:grpSpPr bwMode="auto">
            <a:xfrm>
              <a:off x="2304" y="2217"/>
              <a:ext cx="798" cy="375"/>
              <a:chOff x="4272" y="2400"/>
              <a:chExt cx="798" cy="375"/>
            </a:xfrm>
          </p:grpSpPr>
          <p:sp>
            <p:nvSpPr>
              <p:cNvPr id="14450" name="Text Box 261"/>
              <p:cNvSpPr txBox="1">
                <a:spLocks noChangeArrowheads="1"/>
              </p:cNvSpPr>
              <p:nvPr/>
            </p:nvSpPr>
            <p:spPr bwMode="auto">
              <a:xfrm>
                <a:off x="4434" y="2400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0">
                    <a:ea typeface="宋体" panose="02010600030101010101" pitchFamily="2" charset="-122"/>
                  </a:rPr>
                  <a:t>100</a:t>
                </a:r>
              </a:p>
            </p:txBody>
          </p:sp>
          <p:sp>
            <p:nvSpPr>
              <p:cNvPr id="14451" name="Text Box 262"/>
              <p:cNvSpPr txBox="1">
                <a:spLocks noChangeArrowheads="1"/>
              </p:cNvSpPr>
              <p:nvPr/>
            </p:nvSpPr>
            <p:spPr bwMode="auto">
              <a:xfrm>
                <a:off x="4272" y="2544"/>
                <a:ext cx="7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anose="02010609030101010101" charset="-122"/>
                    <a:cs typeface="仿宋_GB2312" panose="02010609030101010101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0">
                    <a:ea typeface="宋体" panose="02010600030101010101" pitchFamily="2" charset="-122"/>
                  </a:rPr>
                  <a:t>{v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0</a:t>
                </a:r>
                <a:r>
                  <a:rPr lang="en-US" altLang="zh-CN" sz="1800" b="0">
                    <a:ea typeface="宋体" panose="02010600030101010101" pitchFamily="2" charset="-122"/>
                  </a:rPr>
                  <a:t>, v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5</a:t>
                </a:r>
                <a:r>
                  <a:rPr lang="en-US" altLang="zh-CN" sz="1800" b="0">
                    <a:ea typeface="宋体" panose="02010600030101010101" pitchFamily="2" charset="-122"/>
                  </a:rPr>
                  <a:t>}</a:t>
                </a:r>
              </a:p>
            </p:txBody>
          </p:sp>
        </p:grpSp>
        <p:sp>
          <p:nvSpPr>
            <p:cNvPr id="14449" name="Rectangle 263"/>
            <p:cNvSpPr>
              <a:spLocks noChangeArrowheads="1"/>
            </p:cNvSpPr>
            <p:nvPr/>
          </p:nvSpPr>
          <p:spPr bwMode="auto">
            <a:xfrm>
              <a:off x="2544" y="662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000" b="0">
                  <a:latin typeface="Arial" panose="020B0604020202020204" pitchFamily="34" charset="0"/>
                  <a:ea typeface="宋体" panose="02010600030101010101" pitchFamily="2" charset="-122"/>
                </a:rPr>
                <a:t>∞</a:t>
              </a:r>
            </a:p>
          </p:txBody>
        </p:sp>
      </p:grpSp>
      <p:sp>
        <p:nvSpPr>
          <p:cNvPr id="937224" name="Rectangle 264"/>
          <p:cNvSpPr>
            <a:spLocks noChangeArrowheads="1"/>
          </p:cNvSpPr>
          <p:nvPr/>
        </p:nvSpPr>
        <p:spPr bwMode="auto">
          <a:xfrm>
            <a:off x="5353050" y="9540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 b="0">
                <a:latin typeface="Arial" panose="020B0604020202020204" pitchFamily="34" charset="0"/>
                <a:ea typeface="宋体" panose="02010600030101010101" pitchFamily="2" charset="-122"/>
              </a:rPr>
              <a:t>∞</a:t>
            </a:r>
          </a:p>
        </p:txBody>
      </p:sp>
      <p:sp>
        <p:nvSpPr>
          <p:cNvPr id="937225" name="Rectangle 265"/>
          <p:cNvSpPr>
            <a:spLocks noChangeArrowheads="1"/>
          </p:cNvSpPr>
          <p:nvPr/>
        </p:nvSpPr>
        <p:spPr bwMode="auto">
          <a:xfrm>
            <a:off x="6553200" y="9540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 b="0">
                <a:latin typeface="Arial" panose="020B0604020202020204" pitchFamily="34" charset="0"/>
                <a:ea typeface="宋体" panose="02010600030101010101" pitchFamily="2" charset="-122"/>
              </a:rPr>
              <a:t>∞</a:t>
            </a:r>
          </a:p>
        </p:txBody>
      </p:sp>
      <p:sp>
        <p:nvSpPr>
          <p:cNvPr id="937226" name="Rectangle 266"/>
          <p:cNvSpPr>
            <a:spLocks noChangeArrowheads="1"/>
          </p:cNvSpPr>
          <p:nvPr/>
        </p:nvSpPr>
        <p:spPr bwMode="auto">
          <a:xfrm>
            <a:off x="8020050" y="9540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2000" b="0">
                <a:latin typeface="Arial" panose="020B0604020202020204" pitchFamily="34" charset="0"/>
                <a:ea typeface="宋体" panose="02010600030101010101" pitchFamily="2" charset="-122"/>
              </a:rPr>
              <a:t>∞</a:t>
            </a:r>
          </a:p>
        </p:txBody>
      </p:sp>
      <p:sp>
        <p:nvSpPr>
          <p:cNvPr id="937227" name="Line 267"/>
          <p:cNvSpPr>
            <a:spLocks noChangeShapeType="1"/>
          </p:cNvSpPr>
          <p:nvPr/>
        </p:nvSpPr>
        <p:spPr bwMode="auto">
          <a:xfrm>
            <a:off x="457200" y="1639888"/>
            <a:ext cx="8382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28" name="Line 268"/>
          <p:cNvSpPr>
            <a:spLocks noChangeShapeType="1"/>
          </p:cNvSpPr>
          <p:nvPr/>
        </p:nvSpPr>
        <p:spPr bwMode="auto">
          <a:xfrm>
            <a:off x="533400" y="1487488"/>
            <a:ext cx="1916113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29" name="Line 269"/>
          <p:cNvSpPr>
            <a:spLocks noChangeShapeType="1"/>
          </p:cNvSpPr>
          <p:nvPr/>
        </p:nvSpPr>
        <p:spPr bwMode="auto">
          <a:xfrm flipH="1">
            <a:off x="2062163" y="1563688"/>
            <a:ext cx="452437" cy="604837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30" name="Line 270"/>
          <p:cNvSpPr>
            <a:spLocks noChangeShapeType="1"/>
          </p:cNvSpPr>
          <p:nvPr/>
        </p:nvSpPr>
        <p:spPr bwMode="auto">
          <a:xfrm>
            <a:off x="598488" y="1492250"/>
            <a:ext cx="1916112" cy="1588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31" name="Line 271"/>
          <p:cNvSpPr>
            <a:spLocks noChangeShapeType="1"/>
          </p:cNvSpPr>
          <p:nvPr/>
        </p:nvSpPr>
        <p:spPr bwMode="auto">
          <a:xfrm>
            <a:off x="1392238" y="839788"/>
            <a:ext cx="588962" cy="13335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32" name="Line 272"/>
          <p:cNvSpPr>
            <a:spLocks noChangeShapeType="1"/>
          </p:cNvSpPr>
          <p:nvPr/>
        </p:nvSpPr>
        <p:spPr bwMode="auto">
          <a:xfrm flipH="1">
            <a:off x="2062163" y="1563688"/>
            <a:ext cx="452437" cy="60483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33" name="Line 273"/>
          <p:cNvSpPr>
            <a:spLocks noChangeShapeType="1"/>
          </p:cNvSpPr>
          <p:nvPr/>
        </p:nvSpPr>
        <p:spPr bwMode="auto">
          <a:xfrm>
            <a:off x="609600" y="1487488"/>
            <a:ext cx="1916113" cy="63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7234" name="Rectangle 274"/>
          <p:cNvSpPr>
            <a:spLocks noChangeArrowheads="1"/>
          </p:cNvSpPr>
          <p:nvPr/>
        </p:nvSpPr>
        <p:spPr bwMode="auto">
          <a:xfrm>
            <a:off x="304800" y="115888"/>
            <a:ext cx="12954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例</a:t>
            </a:r>
          </a:p>
        </p:txBody>
      </p:sp>
      <p:graphicFrame>
        <p:nvGraphicFramePr>
          <p:cNvPr id="937235" name="Object 275"/>
          <p:cNvGraphicFramePr/>
          <p:nvPr/>
        </p:nvGraphicFramePr>
        <p:xfrm>
          <a:off x="0" y="3240088"/>
          <a:ext cx="29718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32865" imgH="774065" progId="Equation.3">
                  <p:embed/>
                </p:oleObj>
              </mc:Choice>
              <mc:Fallback>
                <p:oleObj r:id="rId2" imgW="1332865" imgH="774065" progId="Equation.3">
                  <p:embed/>
                  <p:pic>
                    <p:nvPicPr>
                      <p:cNvPr id="937235" name="Object 27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40088"/>
                        <a:ext cx="2971800" cy="2362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236" name="Oval 276"/>
          <p:cNvSpPr>
            <a:spLocks noChangeArrowheads="1"/>
          </p:cNvSpPr>
          <p:nvPr/>
        </p:nvSpPr>
        <p:spPr bwMode="auto">
          <a:xfrm>
            <a:off x="228600" y="1335088"/>
            <a:ext cx="3810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237" name="Rectangle 277"/>
          <p:cNvSpPr>
            <a:spLocks noChangeArrowheads="1"/>
          </p:cNvSpPr>
          <p:nvPr/>
        </p:nvSpPr>
        <p:spPr bwMode="auto">
          <a:xfrm>
            <a:off x="4114800" y="4002088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37238" name="Rectangle 278"/>
          <p:cNvSpPr>
            <a:spLocks noChangeArrowheads="1"/>
          </p:cNvSpPr>
          <p:nvPr/>
        </p:nvSpPr>
        <p:spPr bwMode="auto">
          <a:xfrm>
            <a:off x="3733800" y="1563688"/>
            <a:ext cx="1143000" cy="609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239" name="Rectangle 279"/>
          <p:cNvSpPr>
            <a:spLocks noChangeArrowheads="1"/>
          </p:cNvSpPr>
          <p:nvPr/>
        </p:nvSpPr>
        <p:spPr bwMode="auto">
          <a:xfrm>
            <a:off x="5340350" y="4002088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tx2"/>
                </a:solidFill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37240" name="Rectangle 280"/>
          <p:cNvSpPr>
            <a:spLocks noChangeArrowheads="1"/>
          </p:cNvSpPr>
          <p:nvPr/>
        </p:nvSpPr>
        <p:spPr bwMode="auto">
          <a:xfrm>
            <a:off x="4953000" y="2782888"/>
            <a:ext cx="1143000" cy="609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241" name="Rectangle 281"/>
          <p:cNvSpPr>
            <a:spLocks noChangeArrowheads="1"/>
          </p:cNvSpPr>
          <p:nvPr/>
        </p:nvSpPr>
        <p:spPr bwMode="auto">
          <a:xfrm>
            <a:off x="6248400" y="2173288"/>
            <a:ext cx="1143000" cy="609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242" name="Rectangle 282"/>
          <p:cNvSpPr>
            <a:spLocks noChangeArrowheads="1"/>
          </p:cNvSpPr>
          <p:nvPr/>
        </p:nvSpPr>
        <p:spPr bwMode="auto">
          <a:xfrm>
            <a:off x="6635750" y="4002088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tx2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37243" name="Rectangle 283"/>
          <p:cNvSpPr>
            <a:spLocks noChangeArrowheads="1"/>
          </p:cNvSpPr>
          <p:nvPr/>
        </p:nvSpPr>
        <p:spPr bwMode="auto">
          <a:xfrm>
            <a:off x="7620000" y="3392488"/>
            <a:ext cx="1295400" cy="609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937244" name="Rectangle 284"/>
          <p:cNvSpPr>
            <a:spLocks noChangeArrowheads="1"/>
          </p:cNvSpPr>
          <p:nvPr/>
        </p:nvSpPr>
        <p:spPr bwMode="auto">
          <a:xfrm>
            <a:off x="8083550" y="4002088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solidFill>
                  <a:schemeClr val="tx2"/>
                </a:solidFill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" name="Group 285"/>
          <p:cNvGrpSpPr/>
          <p:nvPr/>
        </p:nvGrpSpPr>
        <p:grpSpPr bwMode="auto">
          <a:xfrm>
            <a:off x="4876800" y="3406775"/>
            <a:ext cx="1266825" cy="595313"/>
            <a:chOff x="4272" y="2400"/>
            <a:chExt cx="798" cy="375"/>
          </a:xfrm>
        </p:grpSpPr>
        <p:sp>
          <p:nvSpPr>
            <p:cNvPr id="14443" name="Text Box 286"/>
            <p:cNvSpPr txBox="1">
              <a:spLocks noChangeArrowheads="1"/>
            </p:cNvSpPr>
            <p:nvPr/>
          </p:nvSpPr>
          <p:spPr bwMode="auto">
            <a:xfrm>
              <a:off x="4434" y="24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14444" name="Text Box 287"/>
            <p:cNvSpPr txBox="1">
              <a:spLocks noChangeArrowheads="1"/>
            </p:cNvSpPr>
            <p:nvPr/>
          </p:nvSpPr>
          <p:spPr bwMode="auto">
            <a:xfrm>
              <a:off x="4272" y="2544"/>
              <a:ext cx="7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{v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ea typeface="宋体" panose="02010600030101010101" pitchFamily="2" charset="-122"/>
                </a:rPr>
                <a:t>, v</a:t>
              </a:r>
              <a:r>
                <a:rPr lang="en-US" altLang="zh-CN" sz="1800" b="0" baseline="-25000">
                  <a:ea typeface="宋体" panose="02010600030101010101" pitchFamily="2" charset="-122"/>
                </a:rPr>
                <a:t>5</a:t>
              </a:r>
              <a:r>
                <a:rPr lang="en-US" altLang="zh-CN" sz="1800" b="0">
                  <a:ea typeface="宋体" panose="02010600030101010101" pitchFamily="2" charset="-122"/>
                </a:rPr>
                <a:t>}</a:t>
              </a:r>
            </a:p>
          </p:txBody>
        </p:sp>
      </p:grpSp>
      <p:sp>
        <p:nvSpPr>
          <p:cNvPr id="937249" name="Text Box 289"/>
          <p:cNvSpPr txBox="1">
            <a:spLocks noChangeArrowheads="1"/>
          </p:cNvSpPr>
          <p:nvPr/>
        </p:nvSpPr>
        <p:spPr bwMode="auto">
          <a:xfrm>
            <a:off x="304800" y="3392488"/>
            <a:ext cx="381000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1800">
                <a:ea typeface="宋体" panose="02010600030101010101" pitchFamily="2" charset="-122"/>
              </a:rPr>
              <a:t>1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1800">
                <a:ea typeface="宋体" panose="02010600030101010101" pitchFamily="2" charset="-122"/>
              </a:rPr>
              <a:t>2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1800">
                <a:ea typeface="宋体" panose="02010600030101010101" pitchFamily="2" charset="-122"/>
              </a:rPr>
              <a:t>3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1800">
                <a:ea typeface="宋体" panose="02010600030101010101" pitchFamily="2" charset="-122"/>
              </a:rPr>
              <a:t>4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37250" name="Rectangle 290"/>
          <p:cNvSpPr>
            <a:spLocks noChangeArrowheads="1"/>
          </p:cNvSpPr>
          <p:nvPr/>
        </p:nvSpPr>
        <p:spPr bwMode="auto">
          <a:xfrm>
            <a:off x="3810000" y="344488"/>
            <a:ext cx="9144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D[w]</a:t>
            </a:r>
          </a:p>
        </p:txBody>
      </p:sp>
      <p:sp>
        <p:nvSpPr>
          <p:cNvPr id="937251" name="Text Box 291"/>
          <p:cNvSpPr txBox="1">
            <a:spLocks noChangeArrowheads="1"/>
          </p:cNvSpPr>
          <p:nvPr/>
        </p:nvSpPr>
        <p:spPr bwMode="auto">
          <a:xfrm>
            <a:off x="152400" y="3087688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0    1     2      3      4      5</a:t>
            </a:r>
          </a:p>
        </p:txBody>
      </p:sp>
      <p:sp>
        <p:nvSpPr>
          <p:cNvPr id="937253" name="Text Box 293"/>
          <p:cNvSpPr txBox="1">
            <a:spLocks noChangeArrowheads="1"/>
          </p:cNvSpPr>
          <p:nvPr/>
        </p:nvSpPr>
        <p:spPr bwMode="auto">
          <a:xfrm>
            <a:off x="7696200" y="1639888"/>
            <a:ext cx="1143000" cy="5556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10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{v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}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  <p:sp>
        <p:nvSpPr>
          <p:cNvPr id="937254" name="Text Box 294"/>
          <p:cNvSpPr txBox="1">
            <a:spLocks noChangeArrowheads="1"/>
          </p:cNvSpPr>
          <p:nvPr/>
        </p:nvSpPr>
        <p:spPr bwMode="auto">
          <a:xfrm>
            <a:off x="7696200" y="2227263"/>
            <a:ext cx="1143000" cy="5556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50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{v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937255" name="Text Box 295"/>
          <p:cNvSpPr txBox="1">
            <a:spLocks noChangeArrowheads="1"/>
          </p:cNvSpPr>
          <p:nvPr/>
        </p:nvSpPr>
        <p:spPr bwMode="auto">
          <a:xfrm>
            <a:off x="7696200" y="2836863"/>
            <a:ext cx="1143000" cy="5302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30</a:t>
            </a:r>
          </a:p>
          <a:p>
            <a:pPr algn="ctr" eaLnBrk="1" hangingPunct="1">
              <a:lnSpc>
                <a:spcPct val="75000"/>
              </a:lnSpc>
            </a:pP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{v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1800" b="0" baseline="-25000">
                <a:solidFill>
                  <a:srgbClr val="0000CC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 b="0">
                <a:solidFill>
                  <a:srgbClr val="0000CC"/>
                </a:solidFill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39FCD0-7D54-41EE-8363-440B75D368EB}"/>
              </a:ext>
            </a:extLst>
          </p:cNvPr>
          <p:cNvSpPr txBox="1"/>
          <p:nvPr/>
        </p:nvSpPr>
        <p:spPr>
          <a:xfrm>
            <a:off x="323850" y="5827883"/>
            <a:ext cx="8936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这个表格要能够画</a:t>
            </a:r>
            <a:endParaRPr lang="en-US" altLang="zh-CN" dirty="0">
              <a:highlight>
                <a:srgbClr val="00FF00"/>
              </a:highlight>
            </a:endParaRPr>
          </a:p>
          <a:p>
            <a:r>
              <a:rPr lang="zh-CN" altLang="en-US" dirty="0">
                <a:highlight>
                  <a:srgbClr val="00FF00"/>
                </a:highlight>
              </a:rPr>
              <a:t>竖为顶点及每次找到的最短路径及顶点</a:t>
            </a:r>
            <a:r>
              <a:rPr lang="en-US" altLang="zh-CN" dirty="0">
                <a:highlight>
                  <a:srgbClr val="00FF00"/>
                </a:highlight>
              </a:rPr>
              <a:t>,</a:t>
            </a:r>
            <a:r>
              <a:rPr lang="zh-CN" altLang="en-US" dirty="0">
                <a:highlight>
                  <a:srgbClr val="00FF00"/>
                </a:highlight>
              </a:rPr>
              <a:t>横为距离</a:t>
            </a:r>
            <a:r>
              <a:rPr lang="en-US" altLang="zh-CN" dirty="0">
                <a:highlight>
                  <a:srgbClr val="00FF00"/>
                </a:highlight>
              </a:rPr>
              <a:t>+</a:t>
            </a:r>
            <a:r>
              <a:rPr lang="zh-CN" altLang="en-US" dirty="0">
                <a:highlight>
                  <a:srgbClr val="00FF00"/>
                </a:highlight>
              </a:rPr>
              <a:t>路径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7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7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3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3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3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3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3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9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93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93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9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9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9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93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93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93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93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104" grpId="0" animBg="1"/>
      <p:bldP spid="937153" grpId="0" animBg="1"/>
      <p:bldP spid="937206" grpId="0"/>
      <p:bldP spid="937207" grpId="0"/>
      <p:bldP spid="937208" grpId="0"/>
      <p:bldP spid="937209" grpId="0"/>
      <p:bldP spid="937224" grpId="0"/>
      <p:bldP spid="937225" grpId="0"/>
      <p:bldP spid="937226" grpId="0"/>
      <p:bldP spid="937236" grpId="0" animBg="1"/>
      <p:bldP spid="937237" grpId="0"/>
      <p:bldP spid="937238" grpId="0" animBg="1"/>
      <p:bldP spid="937239" grpId="0"/>
      <p:bldP spid="937240" grpId="0" animBg="1"/>
      <p:bldP spid="937241" grpId="0" animBg="1"/>
      <p:bldP spid="937242" grpId="0"/>
      <p:bldP spid="937243" grpId="0" animBg="1"/>
      <p:bldP spid="937244" grpId="0"/>
      <p:bldP spid="937249" grpId="0"/>
      <p:bldP spid="937250" grpId="0"/>
      <p:bldP spid="937251" grpId="0"/>
      <p:bldP spid="937253" grpId="0" animBg="1"/>
      <p:bldP spid="937254" grpId="0" animBg="1"/>
      <p:bldP spid="93725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Oval 2"/>
          <p:cNvSpPr>
            <a:spLocks noChangeArrowheads="1"/>
          </p:cNvSpPr>
          <p:nvPr/>
        </p:nvSpPr>
        <p:spPr bwMode="auto">
          <a:xfrm>
            <a:off x="3352800" y="2832100"/>
            <a:ext cx="762000" cy="762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algn="ctr" eaLnBrk="1" hangingPunct="1"/>
            <a:r>
              <a:rPr lang="zh-CN" altLang="en-US">
                <a:ea typeface="楷体_GB2312"/>
                <a:cs typeface="楷体_GB2312"/>
              </a:rPr>
              <a:t>图</a:t>
            </a:r>
          </a:p>
        </p:txBody>
      </p:sp>
      <p:sp>
        <p:nvSpPr>
          <p:cNvPr id="130051" name="AutoShape 3"/>
          <p:cNvSpPr/>
          <p:nvPr/>
        </p:nvSpPr>
        <p:spPr bwMode="auto">
          <a:xfrm>
            <a:off x="4267200" y="2970213"/>
            <a:ext cx="368300" cy="1081087"/>
          </a:xfrm>
          <a:prstGeom prst="leftBrace">
            <a:avLst>
              <a:gd name="adj1" fmla="val 24434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4648200" y="28575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存储结构</a:t>
            </a:r>
          </a:p>
        </p:txBody>
      </p:sp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4724400" y="37465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遍   历</a:t>
            </a:r>
          </a:p>
        </p:txBody>
      </p: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6248400" y="24892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</a:rPr>
              <a:t>邻接矩阵</a:t>
            </a:r>
          </a:p>
        </p:txBody>
      </p:sp>
      <p:sp>
        <p:nvSpPr>
          <p:cNvPr id="130055" name="Rectangle 7"/>
          <p:cNvSpPr>
            <a:spLocks noChangeArrowheads="1"/>
          </p:cNvSpPr>
          <p:nvPr/>
        </p:nvSpPr>
        <p:spPr bwMode="auto">
          <a:xfrm>
            <a:off x="6248400" y="2946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</a:rPr>
              <a:t>邻 接 表</a:t>
            </a:r>
          </a:p>
        </p:txBody>
      </p:sp>
      <p:sp>
        <p:nvSpPr>
          <p:cNvPr id="130056" name="AutoShape 8"/>
          <p:cNvSpPr/>
          <p:nvPr/>
        </p:nvSpPr>
        <p:spPr bwMode="auto">
          <a:xfrm>
            <a:off x="6096000" y="3670300"/>
            <a:ext cx="203200" cy="685800"/>
          </a:xfrm>
          <a:prstGeom prst="leftBrace">
            <a:avLst>
              <a:gd name="adj1" fmla="val 28125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57" name="Rectangle 9"/>
          <p:cNvSpPr>
            <a:spLocks noChangeArrowheads="1"/>
          </p:cNvSpPr>
          <p:nvPr/>
        </p:nvSpPr>
        <p:spPr bwMode="auto">
          <a:xfrm>
            <a:off x="6299200" y="34417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</a:rPr>
              <a:t>深度优先搜索</a:t>
            </a:r>
            <a:r>
              <a:rPr lang="en-US" altLang="zh-CN" sz="2400">
                <a:solidFill>
                  <a:srgbClr val="FF3300"/>
                </a:solidFill>
              </a:rPr>
              <a:t>DFS</a:t>
            </a:r>
          </a:p>
        </p:txBody>
      </p:sp>
      <p:sp>
        <p:nvSpPr>
          <p:cNvPr id="130058" name="Rectangle 10"/>
          <p:cNvSpPr>
            <a:spLocks noChangeArrowheads="1"/>
          </p:cNvSpPr>
          <p:nvPr/>
        </p:nvSpPr>
        <p:spPr bwMode="auto">
          <a:xfrm>
            <a:off x="6299200" y="39751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3300"/>
                </a:solidFill>
              </a:rPr>
              <a:t>广度优先搜索</a:t>
            </a:r>
            <a:r>
              <a:rPr lang="en-US" altLang="zh-CN" sz="2400">
                <a:solidFill>
                  <a:srgbClr val="FF3300"/>
                </a:solidFill>
              </a:rPr>
              <a:t>BFS</a:t>
            </a:r>
          </a:p>
        </p:txBody>
      </p:sp>
      <p:grpSp>
        <p:nvGrpSpPr>
          <p:cNvPr id="130061" name="Group 13"/>
          <p:cNvGrpSpPr/>
          <p:nvPr/>
        </p:nvGrpSpPr>
        <p:grpSpPr bwMode="auto">
          <a:xfrm>
            <a:off x="914400" y="2984500"/>
            <a:ext cx="2286000" cy="609600"/>
            <a:chOff x="816" y="1872"/>
            <a:chExt cx="1440" cy="384"/>
          </a:xfrm>
        </p:grpSpPr>
        <p:sp>
          <p:nvSpPr>
            <p:cNvPr id="130090" name="AutoShape 14"/>
            <p:cNvSpPr>
              <a:spLocks noChangeArrowheads="1"/>
            </p:cNvSpPr>
            <p:nvPr/>
          </p:nvSpPr>
          <p:spPr bwMode="auto">
            <a:xfrm>
              <a:off x="1584" y="1872"/>
              <a:ext cx="672" cy="336"/>
            </a:xfrm>
            <a:prstGeom prst="leftArrow">
              <a:avLst>
                <a:gd name="adj1" fmla="val 50000"/>
                <a:gd name="adj2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43471" name="Rectangle 15"/>
            <p:cNvSpPr>
              <a:spLocks noChangeArrowheads="1"/>
            </p:cNvSpPr>
            <p:nvPr/>
          </p:nvSpPr>
          <p:spPr bwMode="auto">
            <a:xfrm>
              <a:off x="816" y="1920"/>
              <a:ext cx="672" cy="3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应用</a:t>
              </a:r>
            </a:p>
          </p:txBody>
        </p:sp>
      </p:grpSp>
      <p:grpSp>
        <p:nvGrpSpPr>
          <p:cNvPr id="130063" name="Group 22"/>
          <p:cNvGrpSpPr/>
          <p:nvPr/>
        </p:nvGrpSpPr>
        <p:grpSpPr bwMode="auto">
          <a:xfrm>
            <a:off x="152400" y="1689100"/>
            <a:ext cx="2667000" cy="1295400"/>
            <a:chOff x="96" y="624"/>
            <a:chExt cx="1680" cy="816"/>
          </a:xfrm>
        </p:grpSpPr>
        <p:sp>
          <p:nvSpPr>
            <p:cNvPr id="130083" name="Line 23"/>
            <p:cNvSpPr>
              <a:spLocks noChangeShapeType="1"/>
            </p:cNvSpPr>
            <p:nvPr/>
          </p:nvSpPr>
          <p:spPr bwMode="auto">
            <a:xfrm flipV="1">
              <a:off x="912" y="912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80" name="Rectangle 24"/>
            <p:cNvSpPr>
              <a:spLocks noChangeArrowheads="1"/>
            </p:cNvSpPr>
            <p:nvPr/>
          </p:nvSpPr>
          <p:spPr bwMode="auto">
            <a:xfrm>
              <a:off x="96" y="624"/>
              <a:ext cx="1680" cy="3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zh-CN" altLang="en-US" sz="2400">
                  <a:ea typeface="楷体_GB2312" pitchFamily="49" charset="-122"/>
                  <a:cs typeface="+mn-cs"/>
                  <a:sym typeface="+mn-ea"/>
                </a:rPr>
                <a:t>有向图的应用</a:t>
              </a:r>
            </a:p>
          </p:txBody>
        </p:sp>
      </p:grpSp>
      <p:sp>
        <p:nvSpPr>
          <p:cNvPr id="130064" name="Line 25"/>
          <p:cNvSpPr>
            <a:spLocks noChangeShapeType="1"/>
          </p:cNvSpPr>
          <p:nvPr/>
        </p:nvSpPr>
        <p:spPr bwMode="auto">
          <a:xfrm flipV="1">
            <a:off x="1435100" y="12319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5" name="Line 26"/>
          <p:cNvSpPr>
            <a:spLocks noChangeShapeType="1"/>
          </p:cNvSpPr>
          <p:nvPr/>
        </p:nvSpPr>
        <p:spPr bwMode="auto">
          <a:xfrm>
            <a:off x="1435100" y="12319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8" name="AutoShape 32"/>
          <p:cNvSpPr/>
          <p:nvPr/>
        </p:nvSpPr>
        <p:spPr bwMode="auto">
          <a:xfrm>
            <a:off x="6057900" y="2743200"/>
            <a:ext cx="203200" cy="685800"/>
          </a:xfrm>
          <a:prstGeom prst="leftBrace">
            <a:avLst>
              <a:gd name="adj1" fmla="val 28125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charset="-122"/>
                <a:cs typeface="仿宋_GB2312" panose="02010609030101010101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69" name="Line 33"/>
          <p:cNvSpPr>
            <a:spLocks noChangeShapeType="1"/>
          </p:cNvSpPr>
          <p:nvPr/>
        </p:nvSpPr>
        <p:spPr bwMode="auto">
          <a:xfrm>
            <a:off x="1417638" y="573405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0072" name="Group 36"/>
          <p:cNvGrpSpPr/>
          <p:nvPr/>
        </p:nvGrpSpPr>
        <p:grpSpPr bwMode="auto">
          <a:xfrm>
            <a:off x="2651125" y="993776"/>
            <a:ext cx="3178175" cy="458788"/>
            <a:chOff x="2190" y="802"/>
            <a:chExt cx="2002" cy="289"/>
          </a:xfrm>
        </p:grpSpPr>
        <p:sp>
          <p:nvSpPr>
            <p:cNvPr id="130075" name="Rectangle 37"/>
            <p:cNvSpPr>
              <a:spLocks noChangeArrowheads="1"/>
            </p:cNvSpPr>
            <p:nvPr/>
          </p:nvSpPr>
          <p:spPr bwMode="auto">
            <a:xfrm>
              <a:off x="2190" y="803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2"/>
                  </a:solidFill>
                  <a:latin typeface="楷体_GB2312"/>
                  <a:ea typeface="楷体_GB2312"/>
                  <a:cs typeface="楷体_GB2312"/>
                </a:rPr>
                <a:t>最短路径</a:t>
              </a:r>
            </a:p>
          </p:txBody>
        </p:sp>
        <p:sp>
          <p:nvSpPr>
            <p:cNvPr id="130078" name="Rectangle 40"/>
            <p:cNvSpPr>
              <a:spLocks noChangeArrowheads="1"/>
            </p:cNvSpPr>
            <p:nvPr/>
          </p:nvSpPr>
          <p:spPr bwMode="auto">
            <a:xfrm>
              <a:off x="2992" y="802"/>
              <a:ext cx="1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charset="-122"/>
                  <a:cs typeface="仿宋_GB2312" panose="02010609030101010101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3300"/>
                  </a:solidFill>
                </a:rPr>
                <a:t>Dijkstra</a:t>
              </a:r>
              <a:r>
                <a:rPr lang="zh-CN" altLang="en-US" sz="2400">
                  <a:solidFill>
                    <a:srgbClr val="FF3300"/>
                  </a:solidFill>
                </a:rPr>
                <a:t>算法</a:t>
              </a:r>
            </a:p>
          </p:txBody>
        </p:sp>
      </p:grpSp>
      <p:sp>
        <p:nvSpPr>
          <p:cNvPr id="1043499" name="Comment 43"/>
          <p:cNvSpPr>
            <a:spLocks noChangeArrowheads="1"/>
          </p:cNvSpPr>
          <p:nvPr/>
        </p:nvSpPr>
        <p:spPr bwMode="auto">
          <a:xfrm>
            <a:off x="7292975" y="-63500"/>
            <a:ext cx="1676400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 sz="3600">
                <a:solidFill>
                  <a:schemeClr val="accent2"/>
                </a:solidFill>
                <a:ea typeface="楷体_GB2312" pitchFamily="49" charset="-122"/>
                <a:cs typeface="+mn-cs"/>
                <a:sym typeface="+mn-ea"/>
              </a:rPr>
              <a:t>小结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M2MjJlYmI3NmRjNjQ5OTI3YWIwMjUzMDA1Mjk3NTk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默认设计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anose="0201060903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anose="0201060903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6080</Words>
  <Application>Microsoft Office PowerPoint</Application>
  <PresentationFormat>全屏显示(4:3)</PresentationFormat>
  <Paragraphs>1100</Paragraphs>
  <Slides>57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57</vt:i4>
      </vt:variant>
    </vt:vector>
  </HeadingPairs>
  <TitlesOfParts>
    <vt:vector size="76" baseType="lpstr">
      <vt:lpstr>PMingLiU</vt:lpstr>
      <vt:lpstr>仿宋_GB2312</vt:lpstr>
      <vt:lpstr>黑体</vt:lpstr>
      <vt:lpstr>华文楷体</vt:lpstr>
      <vt:lpstr>华文行楷</vt:lpstr>
      <vt:lpstr>楷体_GB2312</vt:lpstr>
      <vt:lpstr>宋体</vt:lpstr>
      <vt:lpstr>Arial</vt:lpstr>
      <vt:lpstr>Arial Narrow</vt:lpstr>
      <vt:lpstr>Cambria Math</vt:lpstr>
      <vt:lpstr>Symbol</vt:lpstr>
      <vt:lpstr>Times New Roman</vt:lpstr>
      <vt:lpstr>Verdana</vt:lpstr>
      <vt:lpstr>Wingdings</vt:lpstr>
      <vt:lpstr>Wingdings 2</vt:lpstr>
      <vt:lpstr>默认设计模板</vt:lpstr>
      <vt:lpstr>Visio.Drawing.5</vt:lpstr>
      <vt:lpstr>Equation.3</vt:lpstr>
      <vt:lpstr>Photoshop.Image.5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cyuyan</dc:title>
  <dc:creator>lidongmei</dc:creator>
  <cp:lastModifiedBy>744311194@qq.com</cp:lastModifiedBy>
  <cp:revision>1114</cp:revision>
  <dcterms:created xsi:type="dcterms:W3CDTF">1996-07-15T15:40:00Z</dcterms:created>
  <dcterms:modified xsi:type="dcterms:W3CDTF">2025-04-23T03:23:58Z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FABFE2CEA0C64F72BEE623AB07F59F63</vt:lpwstr>
  </property>
</Properties>
</file>