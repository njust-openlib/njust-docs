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6"/>
  </p:notesMasterIdLst>
  <p:handoutMasterIdLst>
    <p:handoutMasterId r:id="rId77"/>
  </p:handoutMasterIdLst>
  <p:sldIdLst>
    <p:sldId id="1002" r:id="rId2"/>
    <p:sldId id="1181" r:id="rId3"/>
    <p:sldId id="1145" r:id="rId4"/>
    <p:sldId id="1182" r:id="rId5"/>
    <p:sldId id="1087" r:id="rId6"/>
    <p:sldId id="1005" r:id="rId7"/>
    <p:sldId id="1089" r:id="rId8"/>
    <p:sldId id="1090" r:id="rId9"/>
    <p:sldId id="1091" r:id="rId10"/>
    <p:sldId id="1092" r:id="rId11"/>
    <p:sldId id="1093" r:id="rId12"/>
    <p:sldId id="1124" r:id="rId13"/>
    <p:sldId id="1096" r:id="rId14"/>
    <p:sldId id="1098" r:id="rId15"/>
    <p:sldId id="1099" r:id="rId16"/>
    <p:sldId id="1095" r:id="rId17"/>
    <p:sldId id="1163" r:id="rId18"/>
    <p:sldId id="1126" r:id="rId19"/>
    <p:sldId id="1102" r:id="rId20"/>
    <p:sldId id="1128" r:id="rId21"/>
    <p:sldId id="1104" r:id="rId22"/>
    <p:sldId id="1097" r:id="rId23"/>
    <p:sldId id="1177" r:id="rId24"/>
    <p:sldId id="1178" r:id="rId25"/>
    <p:sldId id="1180" r:id="rId26"/>
    <p:sldId id="1179" r:id="rId27"/>
    <p:sldId id="1183" r:id="rId28"/>
    <p:sldId id="1081" r:id="rId29"/>
    <p:sldId id="1045" r:id="rId30"/>
    <p:sldId id="1048" r:id="rId31"/>
    <p:sldId id="1109" r:id="rId32"/>
    <p:sldId id="1053" r:id="rId33"/>
    <p:sldId id="1146" r:id="rId34"/>
    <p:sldId id="1054" r:id="rId35"/>
    <p:sldId id="1112" r:id="rId36"/>
    <p:sldId id="1113" r:id="rId37"/>
    <p:sldId id="1051" r:id="rId38"/>
    <p:sldId id="1114" r:id="rId39"/>
    <p:sldId id="1136" r:id="rId40"/>
    <p:sldId id="1130" r:id="rId41"/>
    <p:sldId id="1133" r:id="rId42"/>
    <p:sldId id="1134" r:id="rId43"/>
    <p:sldId id="1171" r:id="rId44"/>
    <p:sldId id="1115" r:id="rId45"/>
    <p:sldId id="1055" r:id="rId46"/>
    <p:sldId id="1117" r:id="rId47"/>
    <p:sldId id="1116" r:id="rId48"/>
    <p:sldId id="1056" r:id="rId49"/>
    <p:sldId id="1057" r:id="rId50"/>
    <p:sldId id="1129" r:id="rId51"/>
    <p:sldId id="1058" r:id="rId52"/>
    <p:sldId id="1059" r:id="rId53"/>
    <p:sldId id="1060" r:id="rId54"/>
    <p:sldId id="1118" r:id="rId55"/>
    <p:sldId id="868" r:id="rId56"/>
    <p:sldId id="1082" r:id="rId57"/>
    <p:sldId id="870" r:id="rId58"/>
    <p:sldId id="871" r:id="rId59"/>
    <p:sldId id="1152" r:id="rId60"/>
    <p:sldId id="1061" r:id="rId61"/>
    <p:sldId id="1062" r:id="rId62"/>
    <p:sldId id="1085" r:id="rId63"/>
    <p:sldId id="1063" r:id="rId64"/>
    <p:sldId id="1144" r:id="rId65"/>
    <p:sldId id="873" r:id="rId66"/>
    <p:sldId id="1154" r:id="rId67"/>
    <p:sldId id="1121" r:id="rId68"/>
    <p:sldId id="874" r:id="rId69"/>
    <p:sldId id="967" r:id="rId70"/>
    <p:sldId id="1120" r:id="rId71"/>
    <p:sldId id="1123" r:id="rId72"/>
    <p:sldId id="875" r:id="rId73"/>
    <p:sldId id="1119" r:id="rId74"/>
    <p:sldId id="1122" r:id="rId75"/>
  </p:sldIdLst>
  <p:sldSz cx="9144000" cy="6858000" type="screen4x3"/>
  <p:notesSz cx="6858000" cy="9144000"/>
  <p:custDataLst>
    <p:tags r:id="rId78"/>
  </p:custDataLst>
  <p:defaultTextStyle>
    <a:defPPr>
      <a:defRPr lang="zh-CN"/>
    </a:defPPr>
    <a:lvl1pPr algn="l" rtl="0" eaLnBrk="0" fontAlgn="base" hangingPunct="0">
      <a:spcBef>
        <a:spcPct val="0"/>
      </a:spcBef>
      <a:spcAft>
        <a:spcPct val="0"/>
      </a:spcAft>
      <a:defRPr sz="2800" b="1" kern="1200">
        <a:solidFill>
          <a:schemeClr val="tx1"/>
        </a:solidFill>
        <a:latin typeface="Times New Roman" panose="02020603050405020304" pitchFamily="18" charset="0"/>
        <a:ea typeface="楷体_GB2312"/>
        <a:cs typeface="楷体_GB2312"/>
      </a:defRPr>
    </a:lvl1pPr>
    <a:lvl2pPr marL="457200" algn="l" rtl="0" eaLnBrk="0" fontAlgn="base" hangingPunct="0">
      <a:spcBef>
        <a:spcPct val="0"/>
      </a:spcBef>
      <a:spcAft>
        <a:spcPct val="0"/>
      </a:spcAft>
      <a:defRPr sz="2800" b="1" kern="1200">
        <a:solidFill>
          <a:schemeClr val="tx1"/>
        </a:solidFill>
        <a:latin typeface="Times New Roman" panose="02020603050405020304" pitchFamily="18" charset="0"/>
        <a:ea typeface="楷体_GB2312"/>
        <a:cs typeface="楷体_GB2312"/>
      </a:defRPr>
    </a:lvl2pPr>
    <a:lvl3pPr marL="914400" algn="l" rtl="0" eaLnBrk="0" fontAlgn="base" hangingPunct="0">
      <a:spcBef>
        <a:spcPct val="0"/>
      </a:spcBef>
      <a:spcAft>
        <a:spcPct val="0"/>
      </a:spcAft>
      <a:defRPr sz="2800" b="1" kern="1200">
        <a:solidFill>
          <a:schemeClr val="tx1"/>
        </a:solidFill>
        <a:latin typeface="Times New Roman" panose="02020603050405020304" pitchFamily="18" charset="0"/>
        <a:ea typeface="楷体_GB2312"/>
        <a:cs typeface="楷体_GB2312"/>
      </a:defRPr>
    </a:lvl3pPr>
    <a:lvl4pPr marL="1371600" algn="l" rtl="0" eaLnBrk="0" fontAlgn="base" hangingPunct="0">
      <a:spcBef>
        <a:spcPct val="0"/>
      </a:spcBef>
      <a:spcAft>
        <a:spcPct val="0"/>
      </a:spcAft>
      <a:defRPr sz="2800" b="1" kern="1200">
        <a:solidFill>
          <a:schemeClr val="tx1"/>
        </a:solidFill>
        <a:latin typeface="Times New Roman" panose="02020603050405020304" pitchFamily="18" charset="0"/>
        <a:ea typeface="楷体_GB2312"/>
        <a:cs typeface="楷体_GB2312"/>
      </a:defRPr>
    </a:lvl4pPr>
    <a:lvl5pPr marL="1828800" algn="l" rtl="0" eaLnBrk="0" fontAlgn="base" hangingPunct="0">
      <a:spcBef>
        <a:spcPct val="0"/>
      </a:spcBef>
      <a:spcAft>
        <a:spcPct val="0"/>
      </a:spcAft>
      <a:defRPr sz="2800" b="1" kern="1200">
        <a:solidFill>
          <a:schemeClr val="tx1"/>
        </a:solidFill>
        <a:latin typeface="Times New Roman" panose="02020603050405020304" pitchFamily="18" charset="0"/>
        <a:ea typeface="楷体_GB2312"/>
        <a:cs typeface="楷体_GB2312"/>
      </a:defRPr>
    </a:lvl5pPr>
    <a:lvl6pPr marL="2286000" algn="l" defTabSz="914400" rtl="0" eaLnBrk="1" latinLnBrk="0" hangingPunct="1">
      <a:defRPr sz="2800" b="1" kern="1200">
        <a:solidFill>
          <a:schemeClr val="tx1"/>
        </a:solidFill>
        <a:latin typeface="Times New Roman" panose="02020603050405020304" pitchFamily="18" charset="0"/>
        <a:ea typeface="楷体_GB2312"/>
        <a:cs typeface="楷体_GB2312"/>
      </a:defRPr>
    </a:lvl6pPr>
    <a:lvl7pPr marL="2743200" algn="l" defTabSz="914400" rtl="0" eaLnBrk="1" latinLnBrk="0" hangingPunct="1">
      <a:defRPr sz="2800" b="1" kern="1200">
        <a:solidFill>
          <a:schemeClr val="tx1"/>
        </a:solidFill>
        <a:latin typeface="Times New Roman" panose="02020603050405020304" pitchFamily="18" charset="0"/>
        <a:ea typeface="楷体_GB2312"/>
        <a:cs typeface="楷体_GB2312"/>
      </a:defRPr>
    </a:lvl7pPr>
    <a:lvl8pPr marL="3200400" algn="l" defTabSz="914400" rtl="0" eaLnBrk="1" latinLnBrk="0" hangingPunct="1">
      <a:defRPr sz="2800" b="1" kern="1200">
        <a:solidFill>
          <a:schemeClr val="tx1"/>
        </a:solidFill>
        <a:latin typeface="Times New Roman" panose="02020603050405020304" pitchFamily="18" charset="0"/>
        <a:ea typeface="楷体_GB2312"/>
        <a:cs typeface="楷体_GB2312"/>
      </a:defRPr>
    </a:lvl8pPr>
    <a:lvl9pPr marL="3657600" algn="l" defTabSz="914400" rtl="0" eaLnBrk="1" latinLnBrk="0" hangingPunct="1">
      <a:defRPr sz="2800" b="1" kern="1200">
        <a:solidFill>
          <a:schemeClr val="tx1"/>
        </a:solidFill>
        <a:latin typeface="Times New Roman" panose="02020603050405020304" pitchFamily="18" charset="0"/>
        <a:ea typeface="楷体_GB2312"/>
        <a:cs typeface="楷体_GB2312"/>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66"/>
    <a:srgbClr val="FFFFE7"/>
    <a:srgbClr val="FF3300"/>
    <a:srgbClr val="99FFCC"/>
    <a:srgbClr val="CCFFCC"/>
    <a:srgbClr val="009999"/>
    <a:srgbClr val="CC00CC"/>
    <a:srgbClr val="CCCC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F3AC58-771A-4CD9-839B-04D7DBE12AD2}" v="482" dt="2025-04-21T15:45:28.2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60" autoAdjust="0"/>
    <p:restoredTop sz="94753" autoAdjust="0"/>
  </p:normalViewPr>
  <p:slideViewPr>
    <p:cSldViewPr snapToObjects="1">
      <p:cViewPr varScale="1">
        <p:scale>
          <a:sx n="92" d="100"/>
          <a:sy n="92" d="100"/>
        </p:scale>
        <p:origin x="1596"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86" d="100"/>
          <a:sy n="86" d="100"/>
        </p:scale>
        <p:origin x="3348"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gs" Target="tags/tag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744311194@qq.com" userId="e2a28223f2085f4b" providerId="LiveId" clId="{CCF3AC58-771A-4CD9-839B-04D7DBE12AD2}"/>
    <pc:docChg chg="undo custSel addSld delSld modSld sldOrd">
      <pc:chgData name="744311194@qq.com" userId="e2a28223f2085f4b" providerId="LiveId" clId="{CCF3AC58-771A-4CD9-839B-04D7DBE12AD2}" dt="2025-04-21T15:48:24.868" v="2851" actId="1076"/>
      <pc:docMkLst>
        <pc:docMk/>
      </pc:docMkLst>
      <pc:sldChg chg="modSp mod">
        <pc:chgData name="744311194@qq.com" userId="e2a28223f2085f4b" providerId="LiveId" clId="{CCF3AC58-771A-4CD9-839B-04D7DBE12AD2}" dt="2025-04-17T06:13:39.761" v="1717" actId="13926"/>
        <pc:sldMkLst>
          <pc:docMk/>
          <pc:sldMk cId="0" sldId="868"/>
        </pc:sldMkLst>
        <pc:spChg chg="mod">
          <ac:chgData name="744311194@qq.com" userId="e2a28223f2085f4b" providerId="LiveId" clId="{CCF3AC58-771A-4CD9-839B-04D7DBE12AD2}" dt="2025-04-17T06:13:39.761" v="1717" actId="13926"/>
          <ac:spMkLst>
            <pc:docMk/>
            <pc:sldMk cId="0" sldId="868"/>
            <ac:spMk id="745559" creationId="{00000000-0000-0000-0000-000000000000}"/>
          </ac:spMkLst>
        </pc:spChg>
        <pc:spChg chg="mod">
          <ac:chgData name="744311194@qq.com" userId="e2a28223f2085f4b" providerId="LiveId" clId="{CCF3AC58-771A-4CD9-839B-04D7DBE12AD2}" dt="2025-04-17T06:13:26.489" v="1713" actId="13926"/>
          <ac:spMkLst>
            <pc:docMk/>
            <pc:sldMk cId="0" sldId="868"/>
            <ac:spMk id="745560" creationId="{00000000-0000-0000-0000-000000000000}"/>
          </ac:spMkLst>
        </pc:spChg>
      </pc:sldChg>
      <pc:sldChg chg="addSp modSp mod">
        <pc:chgData name="744311194@qq.com" userId="e2a28223f2085f4b" providerId="LiveId" clId="{CCF3AC58-771A-4CD9-839B-04D7DBE12AD2}" dt="2025-04-17T06:24:00.617" v="2205" actId="20577"/>
        <pc:sldMkLst>
          <pc:docMk/>
          <pc:sldMk cId="0" sldId="873"/>
        </pc:sldMkLst>
        <pc:spChg chg="add mod">
          <ac:chgData name="744311194@qq.com" userId="e2a28223f2085f4b" providerId="LiveId" clId="{CCF3AC58-771A-4CD9-839B-04D7DBE12AD2}" dt="2025-04-17T06:24:00.617" v="2205" actId="20577"/>
          <ac:spMkLst>
            <pc:docMk/>
            <pc:sldMk cId="0" sldId="873"/>
            <ac:spMk id="3" creationId="{75D85511-450C-CEA0-778D-0DB8AC830CCF}"/>
          </ac:spMkLst>
        </pc:spChg>
        <pc:spChg chg="mod">
          <ac:chgData name="744311194@qq.com" userId="e2a28223f2085f4b" providerId="LiveId" clId="{CCF3AC58-771A-4CD9-839B-04D7DBE12AD2}" dt="2025-04-17T06:19:41.721" v="2027" actId="13926"/>
          <ac:spMkLst>
            <pc:docMk/>
            <pc:sldMk cId="0" sldId="873"/>
            <ac:spMk id="103427" creationId="{00000000-0000-0000-0000-000000000000}"/>
          </ac:spMkLst>
        </pc:spChg>
        <pc:spChg chg="mod">
          <ac:chgData name="744311194@qq.com" userId="e2a28223f2085f4b" providerId="LiveId" clId="{CCF3AC58-771A-4CD9-839B-04D7DBE12AD2}" dt="2025-04-17T06:21:53.735" v="2043" actId="403"/>
          <ac:spMkLst>
            <pc:docMk/>
            <pc:sldMk cId="0" sldId="873"/>
            <ac:spMk id="103430" creationId="{00000000-0000-0000-0000-000000000000}"/>
          </ac:spMkLst>
        </pc:spChg>
        <pc:spChg chg="mod">
          <ac:chgData name="744311194@qq.com" userId="e2a28223f2085f4b" providerId="LiveId" clId="{CCF3AC58-771A-4CD9-839B-04D7DBE12AD2}" dt="2025-04-17T06:22:39.278" v="2045" actId="1076"/>
          <ac:spMkLst>
            <pc:docMk/>
            <pc:sldMk cId="0" sldId="873"/>
            <ac:spMk id="103453" creationId="{00000000-0000-0000-0000-000000000000}"/>
          </ac:spMkLst>
        </pc:spChg>
        <pc:spChg chg="mod">
          <ac:chgData name="744311194@qq.com" userId="e2a28223f2085f4b" providerId="LiveId" clId="{CCF3AC58-771A-4CD9-839B-04D7DBE12AD2}" dt="2025-04-17T06:22:39.278" v="2045" actId="1076"/>
          <ac:spMkLst>
            <pc:docMk/>
            <pc:sldMk cId="0" sldId="873"/>
            <ac:spMk id="103456" creationId="{00000000-0000-0000-0000-000000000000}"/>
          </ac:spMkLst>
        </pc:spChg>
        <pc:spChg chg="mod">
          <ac:chgData name="744311194@qq.com" userId="e2a28223f2085f4b" providerId="LiveId" clId="{CCF3AC58-771A-4CD9-839B-04D7DBE12AD2}" dt="2025-04-17T06:22:39.278" v="2045" actId="1076"/>
          <ac:spMkLst>
            <pc:docMk/>
            <pc:sldMk cId="0" sldId="873"/>
            <ac:spMk id="103459" creationId="{00000000-0000-0000-0000-000000000000}"/>
          </ac:spMkLst>
        </pc:spChg>
        <pc:spChg chg="mod">
          <ac:chgData name="744311194@qq.com" userId="e2a28223f2085f4b" providerId="LiveId" clId="{CCF3AC58-771A-4CD9-839B-04D7DBE12AD2}" dt="2025-04-17T06:22:39.278" v="2045" actId="1076"/>
          <ac:spMkLst>
            <pc:docMk/>
            <pc:sldMk cId="0" sldId="873"/>
            <ac:spMk id="103479" creationId="{00000000-0000-0000-0000-000000000000}"/>
          </ac:spMkLst>
        </pc:spChg>
        <pc:spChg chg="mod">
          <ac:chgData name="744311194@qq.com" userId="e2a28223f2085f4b" providerId="LiveId" clId="{CCF3AC58-771A-4CD9-839B-04D7DBE12AD2}" dt="2025-04-17T06:22:39.278" v="2045" actId="1076"/>
          <ac:spMkLst>
            <pc:docMk/>
            <pc:sldMk cId="0" sldId="873"/>
            <ac:spMk id="103481" creationId="{00000000-0000-0000-0000-000000000000}"/>
          </ac:spMkLst>
        </pc:spChg>
        <pc:spChg chg="mod">
          <ac:chgData name="744311194@qq.com" userId="e2a28223f2085f4b" providerId="LiveId" clId="{CCF3AC58-771A-4CD9-839B-04D7DBE12AD2}" dt="2025-04-17T06:22:39.278" v="2045" actId="1076"/>
          <ac:spMkLst>
            <pc:docMk/>
            <pc:sldMk cId="0" sldId="873"/>
            <ac:spMk id="103494" creationId="{00000000-0000-0000-0000-000000000000}"/>
          </ac:spMkLst>
        </pc:spChg>
        <pc:spChg chg="mod">
          <ac:chgData name="744311194@qq.com" userId="e2a28223f2085f4b" providerId="LiveId" clId="{CCF3AC58-771A-4CD9-839B-04D7DBE12AD2}" dt="2025-04-17T06:22:39.278" v="2045" actId="1076"/>
          <ac:spMkLst>
            <pc:docMk/>
            <pc:sldMk cId="0" sldId="873"/>
            <ac:spMk id="103497" creationId="{00000000-0000-0000-0000-000000000000}"/>
          </ac:spMkLst>
        </pc:spChg>
        <pc:spChg chg="mod">
          <ac:chgData name="744311194@qq.com" userId="e2a28223f2085f4b" providerId="LiveId" clId="{CCF3AC58-771A-4CD9-839B-04D7DBE12AD2}" dt="2025-04-17T06:22:39.278" v="2045" actId="1076"/>
          <ac:spMkLst>
            <pc:docMk/>
            <pc:sldMk cId="0" sldId="873"/>
            <ac:spMk id="103498" creationId="{00000000-0000-0000-0000-000000000000}"/>
          </ac:spMkLst>
        </pc:spChg>
        <pc:spChg chg="mod">
          <ac:chgData name="744311194@qq.com" userId="e2a28223f2085f4b" providerId="LiveId" clId="{CCF3AC58-771A-4CD9-839B-04D7DBE12AD2}" dt="2025-04-17T06:22:39.278" v="2045" actId="1076"/>
          <ac:spMkLst>
            <pc:docMk/>
            <pc:sldMk cId="0" sldId="873"/>
            <ac:spMk id="103501" creationId="{00000000-0000-0000-0000-000000000000}"/>
          </ac:spMkLst>
        </pc:spChg>
        <pc:spChg chg="mod">
          <ac:chgData name="744311194@qq.com" userId="e2a28223f2085f4b" providerId="LiveId" clId="{CCF3AC58-771A-4CD9-839B-04D7DBE12AD2}" dt="2025-04-17T06:22:39.278" v="2045" actId="1076"/>
          <ac:spMkLst>
            <pc:docMk/>
            <pc:sldMk cId="0" sldId="873"/>
            <ac:spMk id="103503" creationId="{00000000-0000-0000-0000-000000000000}"/>
          </ac:spMkLst>
        </pc:spChg>
      </pc:sldChg>
      <pc:sldChg chg="modSp">
        <pc:chgData name="744311194@qq.com" userId="e2a28223f2085f4b" providerId="LiveId" clId="{CCF3AC58-771A-4CD9-839B-04D7DBE12AD2}" dt="2025-04-17T06:27:13.056" v="2448" actId="13926"/>
        <pc:sldMkLst>
          <pc:docMk/>
          <pc:sldMk cId="0" sldId="875"/>
        </pc:sldMkLst>
        <pc:spChg chg="mod">
          <ac:chgData name="744311194@qq.com" userId="e2a28223f2085f4b" providerId="LiveId" clId="{CCF3AC58-771A-4CD9-839B-04D7DBE12AD2}" dt="2025-04-17T06:27:04.954" v="2447" actId="13926"/>
          <ac:spMkLst>
            <pc:docMk/>
            <pc:sldMk cId="0" sldId="875"/>
            <ac:spMk id="752663" creationId="{00000000-0000-0000-0000-000000000000}"/>
          </ac:spMkLst>
        </pc:spChg>
        <pc:spChg chg="mod">
          <ac:chgData name="744311194@qq.com" userId="e2a28223f2085f4b" providerId="LiveId" clId="{CCF3AC58-771A-4CD9-839B-04D7DBE12AD2}" dt="2025-04-17T06:27:13.056" v="2448" actId="13926"/>
          <ac:spMkLst>
            <pc:docMk/>
            <pc:sldMk cId="0" sldId="875"/>
            <ac:spMk id="752666" creationId="{00000000-0000-0000-0000-000000000000}"/>
          </ac:spMkLst>
        </pc:spChg>
      </pc:sldChg>
      <pc:sldChg chg="del">
        <pc:chgData name="744311194@qq.com" userId="e2a28223f2085f4b" providerId="LiveId" clId="{CCF3AC58-771A-4CD9-839B-04D7DBE12AD2}" dt="2025-04-16T07:30:49.083" v="3" actId="47"/>
        <pc:sldMkLst>
          <pc:docMk/>
          <pc:sldMk cId="0" sldId="921"/>
        </pc:sldMkLst>
      </pc:sldChg>
      <pc:sldChg chg="addSp modSp mod">
        <pc:chgData name="744311194@qq.com" userId="e2a28223f2085f4b" providerId="LiveId" clId="{CCF3AC58-771A-4CD9-839B-04D7DBE12AD2}" dt="2025-04-17T06:26:08.158" v="2411" actId="13926"/>
        <pc:sldMkLst>
          <pc:docMk/>
          <pc:sldMk cId="0" sldId="967"/>
        </pc:sldMkLst>
        <pc:spChg chg="add mod">
          <ac:chgData name="744311194@qq.com" userId="e2a28223f2085f4b" providerId="LiveId" clId="{CCF3AC58-771A-4CD9-839B-04D7DBE12AD2}" dt="2025-04-17T06:26:08.158" v="2411" actId="13926"/>
          <ac:spMkLst>
            <pc:docMk/>
            <pc:sldMk cId="0" sldId="967"/>
            <ac:spMk id="2" creationId="{4263E646-0B2B-A59A-9E6E-1082C10777E4}"/>
          </ac:spMkLst>
        </pc:spChg>
        <pc:spChg chg="mod">
          <ac:chgData name="744311194@qq.com" userId="e2a28223f2085f4b" providerId="LiveId" clId="{CCF3AC58-771A-4CD9-839B-04D7DBE12AD2}" dt="2025-04-17T06:24:31.483" v="2206" actId="13926"/>
          <ac:spMkLst>
            <pc:docMk/>
            <pc:sldMk cId="0" sldId="967"/>
            <ac:spMk id="847025" creationId="{00000000-0000-0000-0000-000000000000}"/>
          </ac:spMkLst>
        </pc:spChg>
      </pc:sldChg>
      <pc:sldChg chg="delSp">
        <pc:chgData name="744311194@qq.com" userId="e2a28223f2085f4b" providerId="LiveId" clId="{CCF3AC58-771A-4CD9-839B-04D7DBE12AD2}" dt="2025-04-16T07:28:07.362" v="0" actId="478"/>
        <pc:sldMkLst>
          <pc:docMk/>
          <pc:sldMk cId="0" sldId="1002"/>
        </pc:sldMkLst>
      </pc:sldChg>
      <pc:sldChg chg="del">
        <pc:chgData name="744311194@qq.com" userId="e2a28223f2085f4b" providerId="LiveId" clId="{CCF3AC58-771A-4CD9-839B-04D7DBE12AD2}" dt="2025-04-16T07:28:14.466" v="1" actId="47"/>
        <pc:sldMkLst>
          <pc:docMk/>
          <pc:sldMk cId="0" sldId="1003"/>
        </pc:sldMkLst>
      </pc:sldChg>
      <pc:sldChg chg="del">
        <pc:chgData name="744311194@qq.com" userId="e2a28223f2085f4b" providerId="LiveId" clId="{CCF3AC58-771A-4CD9-839B-04D7DBE12AD2}" dt="2025-04-16T07:28:16.197" v="2" actId="47"/>
        <pc:sldMkLst>
          <pc:docMk/>
          <pc:sldMk cId="0" sldId="1004"/>
        </pc:sldMkLst>
      </pc:sldChg>
      <pc:sldChg chg="addSp delSp modSp mod">
        <pc:chgData name="744311194@qq.com" userId="e2a28223f2085f4b" providerId="LiveId" clId="{CCF3AC58-771A-4CD9-839B-04D7DBE12AD2}" dt="2025-04-21T15:45:24.731" v="2508" actId="21"/>
        <pc:sldMkLst>
          <pc:docMk/>
          <pc:sldMk cId="0" sldId="1045"/>
        </pc:sldMkLst>
        <pc:spChg chg="add mod">
          <ac:chgData name="744311194@qq.com" userId="e2a28223f2085f4b" providerId="LiveId" clId="{CCF3AC58-771A-4CD9-839B-04D7DBE12AD2}" dt="2025-04-17T05:52:35.225" v="706" actId="13926"/>
          <ac:spMkLst>
            <pc:docMk/>
            <pc:sldMk cId="0" sldId="1045"/>
            <ac:spMk id="2" creationId="{A21128D6-9D80-D26E-203C-5674CF2CD6B2}"/>
          </ac:spMkLst>
        </pc:spChg>
        <pc:spChg chg="add del mod">
          <ac:chgData name="744311194@qq.com" userId="e2a28223f2085f4b" providerId="LiveId" clId="{CCF3AC58-771A-4CD9-839B-04D7DBE12AD2}" dt="2025-04-21T15:45:24.731" v="2508" actId="21"/>
          <ac:spMkLst>
            <pc:docMk/>
            <pc:sldMk cId="0" sldId="1045"/>
            <ac:spMk id="3" creationId="{79F9EEBE-82F5-6D2C-BEE1-A9314202C750}"/>
          </ac:spMkLst>
        </pc:spChg>
        <pc:spChg chg="mod">
          <ac:chgData name="744311194@qq.com" userId="e2a28223f2085f4b" providerId="LiveId" clId="{CCF3AC58-771A-4CD9-839B-04D7DBE12AD2}" dt="2025-04-17T05:51:29.381" v="565" actId="13926"/>
          <ac:spMkLst>
            <pc:docMk/>
            <pc:sldMk cId="0" sldId="1045"/>
            <ac:spMk id="46082" creationId="{00000000-0000-0000-0000-000000000000}"/>
          </ac:spMkLst>
        </pc:spChg>
      </pc:sldChg>
      <pc:sldChg chg="modSp mod">
        <pc:chgData name="744311194@qq.com" userId="e2a28223f2085f4b" providerId="LiveId" clId="{CCF3AC58-771A-4CD9-839B-04D7DBE12AD2}" dt="2025-04-17T05:53:36.191" v="716" actId="13926"/>
        <pc:sldMkLst>
          <pc:docMk/>
          <pc:sldMk cId="0" sldId="1053"/>
        </pc:sldMkLst>
        <pc:spChg chg="mod">
          <ac:chgData name="744311194@qq.com" userId="e2a28223f2085f4b" providerId="LiveId" clId="{CCF3AC58-771A-4CD9-839B-04D7DBE12AD2}" dt="2025-04-17T05:53:36.191" v="716" actId="13926"/>
          <ac:spMkLst>
            <pc:docMk/>
            <pc:sldMk cId="0" sldId="1053"/>
            <ac:spMk id="49154" creationId="{00000000-0000-0000-0000-000000000000}"/>
          </ac:spMkLst>
        </pc:spChg>
      </pc:sldChg>
      <pc:sldChg chg="modSp">
        <pc:chgData name="744311194@qq.com" userId="e2a28223f2085f4b" providerId="LiveId" clId="{CCF3AC58-771A-4CD9-839B-04D7DBE12AD2}" dt="2025-04-17T05:56:58.774" v="726" actId="14100"/>
        <pc:sldMkLst>
          <pc:docMk/>
          <pc:sldMk cId="0" sldId="1054"/>
        </pc:sldMkLst>
        <pc:spChg chg="mod">
          <ac:chgData name="744311194@qq.com" userId="e2a28223f2085f4b" providerId="LiveId" clId="{CCF3AC58-771A-4CD9-839B-04D7DBE12AD2}" dt="2025-04-17T05:56:58.774" v="726" actId="14100"/>
          <ac:spMkLst>
            <pc:docMk/>
            <pc:sldMk cId="0" sldId="1054"/>
            <ac:spMk id="952397" creationId="{00000000-0000-0000-0000-000000000000}"/>
          </ac:spMkLst>
        </pc:spChg>
        <pc:spChg chg="mod">
          <ac:chgData name="744311194@qq.com" userId="e2a28223f2085f4b" providerId="LiveId" clId="{CCF3AC58-771A-4CD9-839B-04D7DBE12AD2}" dt="2025-04-17T05:54:13.968" v="722" actId="13926"/>
          <ac:spMkLst>
            <pc:docMk/>
            <pc:sldMk cId="0" sldId="1054"/>
            <ac:spMk id="952398" creationId="{00000000-0000-0000-0000-000000000000}"/>
          </ac:spMkLst>
        </pc:spChg>
      </pc:sldChg>
      <pc:sldChg chg="addSp modSp mod">
        <pc:chgData name="744311194@qq.com" userId="e2a28223f2085f4b" providerId="LiveId" clId="{CCF3AC58-771A-4CD9-839B-04D7DBE12AD2}" dt="2025-04-17T06:10:50.339" v="1523" actId="13926"/>
        <pc:sldMkLst>
          <pc:docMk/>
          <pc:sldMk cId="0" sldId="1055"/>
        </pc:sldMkLst>
        <pc:spChg chg="add mod">
          <ac:chgData name="744311194@qq.com" userId="e2a28223f2085f4b" providerId="LiveId" clId="{CCF3AC58-771A-4CD9-839B-04D7DBE12AD2}" dt="2025-04-17T06:10:50.339" v="1523" actId="13926"/>
          <ac:spMkLst>
            <pc:docMk/>
            <pc:sldMk cId="0" sldId="1055"/>
            <ac:spMk id="3" creationId="{C682FC44-E226-39F3-58EF-F1E40B9CED53}"/>
          </ac:spMkLst>
        </pc:spChg>
        <pc:spChg chg="mod">
          <ac:chgData name="744311194@qq.com" userId="e2a28223f2085f4b" providerId="LiveId" clId="{CCF3AC58-771A-4CD9-839B-04D7DBE12AD2}" dt="2025-04-17T06:09:45.157" v="1443" actId="20577"/>
          <ac:spMkLst>
            <pc:docMk/>
            <pc:sldMk cId="0" sldId="1055"/>
            <ac:spMk id="79879" creationId="{00000000-0000-0000-0000-000000000000}"/>
          </ac:spMkLst>
        </pc:spChg>
        <pc:spChg chg="mod">
          <ac:chgData name="744311194@qq.com" userId="e2a28223f2085f4b" providerId="LiveId" clId="{CCF3AC58-771A-4CD9-839B-04D7DBE12AD2}" dt="2025-04-17T06:10:30.915" v="1455" actId="1076"/>
          <ac:spMkLst>
            <pc:docMk/>
            <pc:sldMk cId="0" sldId="1055"/>
            <ac:spMk id="79880" creationId="{00000000-0000-0000-0000-000000000000}"/>
          </ac:spMkLst>
        </pc:spChg>
        <pc:spChg chg="mod">
          <ac:chgData name="744311194@qq.com" userId="e2a28223f2085f4b" providerId="LiveId" clId="{CCF3AC58-771A-4CD9-839B-04D7DBE12AD2}" dt="2025-04-17T06:10:30.915" v="1455" actId="1076"/>
          <ac:spMkLst>
            <pc:docMk/>
            <pc:sldMk cId="0" sldId="1055"/>
            <ac:spMk id="79884" creationId="{00000000-0000-0000-0000-000000000000}"/>
          </ac:spMkLst>
        </pc:spChg>
        <pc:spChg chg="mod">
          <ac:chgData name="744311194@qq.com" userId="e2a28223f2085f4b" providerId="LiveId" clId="{CCF3AC58-771A-4CD9-839B-04D7DBE12AD2}" dt="2025-04-17T06:10:30.915" v="1455" actId="1076"/>
          <ac:spMkLst>
            <pc:docMk/>
            <pc:sldMk cId="0" sldId="1055"/>
            <ac:spMk id="79887" creationId="{00000000-0000-0000-0000-000000000000}"/>
          </ac:spMkLst>
        </pc:spChg>
        <pc:spChg chg="mod">
          <ac:chgData name="744311194@qq.com" userId="e2a28223f2085f4b" providerId="LiveId" clId="{CCF3AC58-771A-4CD9-839B-04D7DBE12AD2}" dt="2025-04-17T06:10:30.915" v="1455" actId="1076"/>
          <ac:spMkLst>
            <pc:docMk/>
            <pc:sldMk cId="0" sldId="1055"/>
            <ac:spMk id="79898" creationId="{00000000-0000-0000-0000-000000000000}"/>
          </ac:spMkLst>
        </pc:spChg>
        <pc:spChg chg="mod">
          <ac:chgData name="744311194@qq.com" userId="e2a28223f2085f4b" providerId="LiveId" clId="{CCF3AC58-771A-4CD9-839B-04D7DBE12AD2}" dt="2025-04-17T06:10:30.915" v="1455" actId="1076"/>
          <ac:spMkLst>
            <pc:docMk/>
            <pc:sldMk cId="0" sldId="1055"/>
            <ac:spMk id="79900" creationId="{00000000-0000-0000-0000-000000000000}"/>
          </ac:spMkLst>
        </pc:spChg>
        <pc:spChg chg="mod">
          <ac:chgData name="744311194@qq.com" userId="e2a28223f2085f4b" providerId="LiveId" clId="{CCF3AC58-771A-4CD9-839B-04D7DBE12AD2}" dt="2025-04-17T06:10:30.915" v="1455" actId="1076"/>
          <ac:spMkLst>
            <pc:docMk/>
            <pc:sldMk cId="0" sldId="1055"/>
            <ac:spMk id="79909" creationId="{00000000-0000-0000-0000-000000000000}"/>
          </ac:spMkLst>
        </pc:spChg>
        <pc:spChg chg="mod">
          <ac:chgData name="744311194@qq.com" userId="e2a28223f2085f4b" providerId="LiveId" clId="{CCF3AC58-771A-4CD9-839B-04D7DBE12AD2}" dt="2025-04-17T06:10:30.915" v="1455" actId="1076"/>
          <ac:spMkLst>
            <pc:docMk/>
            <pc:sldMk cId="0" sldId="1055"/>
            <ac:spMk id="79920" creationId="{00000000-0000-0000-0000-000000000000}"/>
          </ac:spMkLst>
        </pc:spChg>
        <pc:spChg chg="mod">
          <ac:chgData name="744311194@qq.com" userId="e2a28223f2085f4b" providerId="LiveId" clId="{CCF3AC58-771A-4CD9-839B-04D7DBE12AD2}" dt="2025-04-17T06:10:30.915" v="1455" actId="1076"/>
          <ac:spMkLst>
            <pc:docMk/>
            <pc:sldMk cId="0" sldId="1055"/>
            <ac:spMk id="79931" creationId="{00000000-0000-0000-0000-000000000000}"/>
          </ac:spMkLst>
        </pc:spChg>
        <pc:spChg chg="mod">
          <ac:chgData name="744311194@qq.com" userId="e2a28223f2085f4b" providerId="LiveId" clId="{CCF3AC58-771A-4CD9-839B-04D7DBE12AD2}" dt="2025-04-17T06:10:30.915" v="1455" actId="1076"/>
          <ac:spMkLst>
            <pc:docMk/>
            <pc:sldMk cId="0" sldId="1055"/>
            <ac:spMk id="79942" creationId="{00000000-0000-0000-0000-000000000000}"/>
          </ac:spMkLst>
        </pc:spChg>
        <pc:spChg chg="mod">
          <ac:chgData name="744311194@qq.com" userId="e2a28223f2085f4b" providerId="LiveId" clId="{CCF3AC58-771A-4CD9-839B-04D7DBE12AD2}" dt="2025-04-17T06:10:30.915" v="1455" actId="1076"/>
          <ac:spMkLst>
            <pc:docMk/>
            <pc:sldMk cId="0" sldId="1055"/>
            <ac:spMk id="79943" creationId="{00000000-0000-0000-0000-000000000000}"/>
          </ac:spMkLst>
        </pc:spChg>
      </pc:sldChg>
      <pc:sldChg chg="addSp delSp modSp">
        <pc:chgData name="744311194@qq.com" userId="e2a28223f2085f4b" providerId="LiveId" clId="{CCF3AC58-771A-4CD9-839B-04D7DBE12AD2}" dt="2025-04-17T06:11:59.331" v="1540" actId="13926"/>
        <pc:sldMkLst>
          <pc:docMk/>
          <pc:sldMk cId="0" sldId="1056"/>
        </pc:sldMkLst>
        <pc:spChg chg="mod">
          <ac:chgData name="744311194@qq.com" userId="e2a28223f2085f4b" providerId="LiveId" clId="{CCF3AC58-771A-4CD9-839B-04D7DBE12AD2}" dt="2025-04-17T06:11:45.596" v="1538" actId="14100"/>
          <ac:spMkLst>
            <pc:docMk/>
            <pc:sldMk cId="0" sldId="1056"/>
            <ac:spMk id="4" creationId="{3BF6F6AF-4C72-55E3-B410-6AB8661CC3B4}"/>
          </ac:spMkLst>
        </pc:spChg>
        <pc:spChg chg="mod">
          <ac:chgData name="744311194@qq.com" userId="e2a28223f2085f4b" providerId="LiveId" clId="{CCF3AC58-771A-4CD9-839B-04D7DBE12AD2}" dt="2025-04-17T06:11:45.596" v="1538" actId="14100"/>
          <ac:spMkLst>
            <pc:docMk/>
            <pc:sldMk cId="0" sldId="1056"/>
            <ac:spMk id="12" creationId="{91EF8E02-DB3B-C1B1-09F6-881A9FE96CAA}"/>
          </ac:spMkLst>
        </pc:spChg>
        <pc:spChg chg="mod">
          <ac:chgData name="744311194@qq.com" userId="e2a28223f2085f4b" providerId="LiveId" clId="{CCF3AC58-771A-4CD9-839B-04D7DBE12AD2}" dt="2025-04-17T06:11:43.709" v="1537" actId="1076"/>
          <ac:spMkLst>
            <pc:docMk/>
            <pc:sldMk cId="0" sldId="1056"/>
            <ac:spMk id="16" creationId="{B38207BA-D3C6-3107-06EB-1B293624CB07}"/>
          </ac:spMkLst>
        </pc:spChg>
        <pc:spChg chg="mod">
          <ac:chgData name="744311194@qq.com" userId="e2a28223f2085f4b" providerId="LiveId" clId="{CCF3AC58-771A-4CD9-839B-04D7DBE12AD2}" dt="2025-04-17T06:11:45.596" v="1538" actId="14100"/>
          <ac:spMkLst>
            <pc:docMk/>
            <pc:sldMk cId="0" sldId="1056"/>
            <ac:spMk id="17" creationId="{C99B4B82-EA51-FC3A-E788-F442877A8930}"/>
          </ac:spMkLst>
        </pc:spChg>
        <pc:spChg chg="mod">
          <ac:chgData name="744311194@qq.com" userId="e2a28223f2085f4b" providerId="LiveId" clId="{CCF3AC58-771A-4CD9-839B-04D7DBE12AD2}" dt="2025-04-17T06:11:43.709" v="1537" actId="1076"/>
          <ac:spMkLst>
            <pc:docMk/>
            <pc:sldMk cId="0" sldId="1056"/>
            <ac:spMk id="18" creationId="{5EC9CA2C-E6F9-A0A0-8639-26AED11EEFD3}"/>
          </ac:spMkLst>
        </pc:spChg>
        <pc:spChg chg="mod">
          <ac:chgData name="744311194@qq.com" userId="e2a28223f2085f4b" providerId="LiveId" clId="{CCF3AC58-771A-4CD9-839B-04D7DBE12AD2}" dt="2025-04-17T06:11:43.709" v="1537" actId="1076"/>
          <ac:spMkLst>
            <pc:docMk/>
            <pc:sldMk cId="0" sldId="1056"/>
            <ac:spMk id="19" creationId="{05562682-2941-EC68-DD5D-9EE4E90EDE26}"/>
          </ac:spMkLst>
        </pc:spChg>
        <pc:spChg chg="mod">
          <ac:chgData name="744311194@qq.com" userId="e2a28223f2085f4b" providerId="LiveId" clId="{CCF3AC58-771A-4CD9-839B-04D7DBE12AD2}" dt="2025-04-17T06:11:45.596" v="1538" actId="14100"/>
          <ac:spMkLst>
            <pc:docMk/>
            <pc:sldMk cId="0" sldId="1056"/>
            <ac:spMk id="20" creationId="{AC39B85F-66FB-343A-C735-0B1D5C28F99E}"/>
          </ac:spMkLst>
        </pc:spChg>
        <pc:spChg chg="mod">
          <ac:chgData name="744311194@qq.com" userId="e2a28223f2085f4b" providerId="LiveId" clId="{CCF3AC58-771A-4CD9-839B-04D7DBE12AD2}" dt="2025-04-17T06:11:45.596" v="1538" actId="14100"/>
          <ac:spMkLst>
            <pc:docMk/>
            <pc:sldMk cId="0" sldId="1056"/>
            <ac:spMk id="24" creationId="{16631271-E03C-7AB5-3EAC-3F90BC9CFCBB}"/>
          </ac:spMkLst>
        </pc:spChg>
        <pc:spChg chg="mod">
          <ac:chgData name="744311194@qq.com" userId="e2a28223f2085f4b" providerId="LiveId" clId="{CCF3AC58-771A-4CD9-839B-04D7DBE12AD2}" dt="2025-04-17T06:11:43.709" v="1537" actId="1076"/>
          <ac:spMkLst>
            <pc:docMk/>
            <pc:sldMk cId="0" sldId="1056"/>
            <ac:spMk id="26" creationId="{0BF0218E-892F-54BD-156B-3BC4BBD184D1}"/>
          </ac:spMkLst>
        </pc:spChg>
        <pc:spChg chg="mod">
          <ac:chgData name="744311194@qq.com" userId="e2a28223f2085f4b" providerId="LiveId" clId="{CCF3AC58-771A-4CD9-839B-04D7DBE12AD2}" dt="2025-04-17T06:11:45.596" v="1538" actId="14100"/>
          <ac:spMkLst>
            <pc:docMk/>
            <pc:sldMk cId="0" sldId="1056"/>
            <ac:spMk id="35" creationId="{188A67D9-2E8A-28F8-B070-58887E8DE326}"/>
          </ac:spMkLst>
        </pc:spChg>
        <pc:spChg chg="mod">
          <ac:chgData name="744311194@qq.com" userId="e2a28223f2085f4b" providerId="LiveId" clId="{CCF3AC58-771A-4CD9-839B-04D7DBE12AD2}" dt="2025-04-17T06:11:43.709" v="1537" actId="1076"/>
          <ac:spMkLst>
            <pc:docMk/>
            <pc:sldMk cId="0" sldId="1056"/>
            <ac:spMk id="37" creationId="{FA3A25D9-9E86-D3CD-E8C4-EDEE2D2A5F30}"/>
          </ac:spMkLst>
        </pc:spChg>
        <pc:spChg chg="mod">
          <ac:chgData name="744311194@qq.com" userId="e2a28223f2085f4b" providerId="LiveId" clId="{CCF3AC58-771A-4CD9-839B-04D7DBE12AD2}" dt="2025-04-17T06:11:43.709" v="1537" actId="1076"/>
          <ac:spMkLst>
            <pc:docMk/>
            <pc:sldMk cId="0" sldId="1056"/>
            <ac:spMk id="39" creationId="{B84F1C42-B4F0-EA03-4360-62AE3D4D7B7E}"/>
          </ac:spMkLst>
        </pc:spChg>
        <pc:spChg chg="mod">
          <ac:chgData name="744311194@qq.com" userId="e2a28223f2085f4b" providerId="LiveId" clId="{CCF3AC58-771A-4CD9-839B-04D7DBE12AD2}" dt="2025-04-17T06:11:43.709" v="1537" actId="1076"/>
          <ac:spMkLst>
            <pc:docMk/>
            <pc:sldMk cId="0" sldId="1056"/>
            <ac:spMk id="42" creationId="{EAC900C3-4A43-1C32-DD2E-E347DCDB9FE4}"/>
          </ac:spMkLst>
        </pc:spChg>
        <pc:spChg chg="mod">
          <ac:chgData name="744311194@qq.com" userId="e2a28223f2085f4b" providerId="LiveId" clId="{CCF3AC58-771A-4CD9-839B-04D7DBE12AD2}" dt="2025-04-17T06:11:45.596" v="1538" actId="14100"/>
          <ac:spMkLst>
            <pc:docMk/>
            <pc:sldMk cId="0" sldId="1056"/>
            <ac:spMk id="48" creationId="{D5F2B0CB-9BF7-24AC-F488-E139772475E2}"/>
          </ac:spMkLst>
        </pc:spChg>
        <pc:spChg chg="mod">
          <ac:chgData name="744311194@qq.com" userId="e2a28223f2085f4b" providerId="LiveId" clId="{CCF3AC58-771A-4CD9-839B-04D7DBE12AD2}" dt="2025-04-17T06:11:43.709" v="1537" actId="1076"/>
          <ac:spMkLst>
            <pc:docMk/>
            <pc:sldMk cId="0" sldId="1056"/>
            <ac:spMk id="49" creationId="{34E3BB58-8948-83EB-05E3-D0FECCED91F7}"/>
          </ac:spMkLst>
        </pc:spChg>
        <pc:spChg chg="mod">
          <ac:chgData name="744311194@qq.com" userId="e2a28223f2085f4b" providerId="LiveId" clId="{CCF3AC58-771A-4CD9-839B-04D7DBE12AD2}" dt="2025-04-17T06:11:45.596" v="1538" actId="14100"/>
          <ac:spMkLst>
            <pc:docMk/>
            <pc:sldMk cId="0" sldId="1056"/>
            <ac:spMk id="50" creationId="{3CF672B5-0AFF-0E6C-E141-7F5C989E5BBA}"/>
          </ac:spMkLst>
        </pc:spChg>
        <pc:spChg chg="mod">
          <ac:chgData name="744311194@qq.com" userId="e2a28223f2085f4b" providerId="LiveId" clId="{CCF3AC58-771A-4CD9-839B-04D7DBE12AD2}" dt="2025-04-17T06:11:45.596" v="1538" actId="14100"/>
          <ac:spMkLst>
            <pc:docMk/>
            <pc:sldMk cId="0" sldId="1056"/>
            <ac:spMk id="54" creationId="{F0019751-82E0-133A-5C91-9EFAA5CB38B0}"/>
          </ac:spMkLst>
        </pc:spChg>
        <pc:spChg chg="mod">
          <ac:chgData name="744311194@qq.com" userId="e2a28223f2085f4b" providerId="LiveId" clId="{CCF3AC58-771A-4CD9-839B-04D7DBE12AD2}" dt="2025-04-17T06:11:45.596" v="1538" actId="14100"/>
          <ac:spMkLst>
            <pc:docMk/>
            <pc:sldMk cId="0" sldId="1056"/>
            <ac:spMk id="61" creationId="{CAF80175-2E2F-6C32-3B1A-F39688D5B5A4}"/>
          </ac:spMkLst>
        </pc:spChg>
        <pc:spChg chg="mod">
          <ac:chgData name="744311194@qq.com" userId="e2a28223f2085f4b" providerId="LiveId" clId="{CCF3AC58-771A-4CD9-839B-04D7DBE12AD2}" dt="2025-04-17T06:11:43.709" v="1537" actId="1076"/>
          <ac:spMkLst>
            <pc:docMk/>
            <pc:sldMk cId="0" sldId="1056"/>
            <ac:spMk id="82951" creationId="{56501DF1-AEC9-2788-DCA5-CF23329C709B}"/>
          </ac:spMkLst>
        </pc:spChg>
        <pc:spChg chg="mod">
          <ac:chgData name="744311194@qq.com" userId="e2a28223f2085f4b" providerId="LiveId" clId="{CCF3AC58-771A-4CD9-839B-04D7DBE12AD2}" dt="2025-04-17T06:11:55.404" v="1539" actId="13926"/>
          <ac:spMkLst>
            <pc:docMk/>
            <pc:sldMk cId="0" sldId="1056"/>
            <ac:spMk id="954405" creationId="{00000000-0000-0000-0000-000000000000}"/>
          </ac:spMkLst>
        </pc:spChg>
        <pc:spChg chg="mod">
          <ac:chgData name="744311194@qq.com" userId="e2a28223f2085f4b" providerId="LiveId" clId="{CCF3AC58-771A-4CD9-839B-04D7DBE12AD2}" dt="2025-04-17T06:11:59.331" v="1540" actId="13926"/>
          <ac:spMkLst>
            <pc:docMk/>
            <pc:sldMk cId="0" sldId="1056"/>
            <ac:spMk id="954479" creationId="{00000000-0000-0000-0000-000000000000}"/>
          </ac:spMkLst>
        </pc:spChg>
      </pc:sldChg>
      <pc:sldChg chg="modSp">
        <pc:chgData name="744311194@qq.com" userId="e2a28223f2085f4b" providerId="LiveId" clId="{CCF3AC58-771A-4CD9-839B-04D7DBE12AD2}" dt="2025-04-17T06:12:27.201" v="1543" actId="13926"/>
        <pc:sldMkLst>
          <pc:docMk/>
          <pc:sldMk cId="0" sldId="1060"/>
        </pc:sldMkLst>
        <pc:spChg chg="mod">
          <ac:chgData name="744311194@qq.com" userId="e2a28223f2085f4b" providerId="LiveId" clId="{CCF3AC58-771A-4CD9-839B-04D7DBE12AD2}" dt="2025-04-17T06:12:27.201" v="1543" actId="13926"/>
          <ac:spMkLst>
            <pc:docMk/>
            <pc:sldMk cId="0" sldId="1060"/>
            <ac:spMk id="958481" creationId="{00000000-0000-0000-0000-000000000000}"/>
          </ac:spMkLst>
        </pc:spChg>
      </pc:sldChg>
      <pc:sldChg chg="modSp">
        <pc:chgData name="744311194@qq.com" userId="e2a28223f2085f4b" providerId="LiveId" clId="{CCF3AC58-771A-4CD9-839B-04D7DBE12AD2}" dt="2025-04-17T06:14:00.676" v="1719" actId="13926"/>
        <pc:sldMkLst>
          <pc:docMk/>
          <pc:sldMk cId="0" sldId="1061"/>
        </pc:sldMkLst>
        <pc:spChg chg="mod">
          <ac:chgData name="744311194@qq.com" userId="e2a28223f2085f4b" providerId="LiveId" clId="{CCF3AC58-771A-4CD9-839B-04D7DBE12AD2}" dt="2025-04-17T06:14:00.676" v="1719" actId="13926"/>
          <ac:spMkLst>
            <pc:docMk/>
            <pc:sldMk cId="0" sldId="1061"/>
            <ac:spMk id="959803" creationId="{00000000-0000-0000-0000-000000000000}"/>
          </ac:spMkLst>
        </pc:spChg>
      </pc:sldChg>
      <pc:sldChg chg="addSp modSp mod">
        <pc:chgData name="744311194@qq.com" userId="e2a28223f2085f4b" providerId="LiveId" clId="{CCF3AC58-771A-4CD9-839B-04D7DBE12AD2}" dt="2025-04-17T06:17:49.091" v="1969" actId="404"/>
        <pc:sldMkLst>
          <pc:docMk/>
          <pc:sldMk cId="0" sldId="1062"/>
        </pc:sldMkLst>
        <pc:spChg chg="add mod">
          <ac:chgData name="744311194@qq.com" userId="e2a28223f2085f4b" providerId="LiveId" clId="{CCF3AC58-771A-4CD9-839B-04D7DBE12AD2}" dt="2025-04-17T06:17:49.091" v="1969" actId="404"/>
          <ac:spMkLst>
            <pc:docMk/>
            <pc:sldMk cId="0" sldId="1062"/>
            <ac:spMk id="3" creationId="{894DF59C-C310-3D78-FA48-38B2F72EF2C0}"/>
          </ac:spMkLst>
        </pc:spChg>
        <pc:spChg chg="mod">
          <ac:chgData name="744311194@qq.com" userId="e2a28223f2085f4b" providerId="LiveId" clId="{CCF3AC58-771A-4CD9-839B-04D7DBE12AD2}" dt="2025-04-17T06:15:35.085" v="1721" actId="13926"/>
          <ac:spMkLst>
            <pc:docMk/>
            <pc:sldMk cId="0" sldId="1062"/>
            <ac:spMk id="98306" creationId="{00000000-0000-0000-0000-000000000000}"/>
          </ac:spMkLst>
        </pc:spChg>
      </pc:sldChg>
      <pc:sldChg chg="addSp modSp mod">
        <pc:chgData name="744311194@qq.com" userId="e2a28223f2085f4b" providerId="LiveId" clId="{CCF3AC58-771A-4CD9-839B-04D7DBE12AD2}" dt="2025-04-17T06:18:41.082" v="2006" actId="13926"/>
        <pc:sldMkLst>
          <pc:docMk/>
          <pc:sldMk cId="0" sldId="1063"/>
        </pc:sldMkLst>
        <pc:spChg chg="add mod">
          <ac:chgData name="744311194@qq.com" userId="e2a28223f2085f4b" providerId="LiveId" clId="{CCF3AC58-771A-4CD9-839B-04D7DBE12AD2}" dt="2025-04-17T06:18:36.743" v="2005" actId="13926"/>
          <ac:spMkLst>
            <pc:docMk/>
            <pc:sldMk cId="0" sldId="1063"/>
            <ac:spMk id="3" creationId="{B86BCF10-D53C-8271-4A4D-49E7138B8D58}"/>
          </ac:spMkLst>
        </pc:spChg>
        <pc:spChg chg="mod">
          <ac:chgData name="744311194@qq.com" userId="e2a28223f2085f4b" providerId="LiveId" clId="{CCF3AC58-771A-4CD9-839B-04D7DBE12AD2}" dt="2025-04-17T06:18:41.082" v="2006" actId="13926"/>
          <ac:spMkLst>
            <pc:docMk/>
            <pc:sldMk cId="0" sldId="1063"/>
            <ac:spMk id="961545" creationId="{00000000-0000-0000-0000-000000000000}"/>
          </ac:spMkLst>
        </pc:spChg>
      </pc:sldChg>
      <pc:sldChg chg="modSp mod">
        <pc:chgData name="744311194@qq.com" userId="e2a28223f2085f4b" providerId="LiveId" clId="{CCF3AC58-771A-4CD9-839B-04D7DBE12AD2}" dt="2025-04-17T05:51:16.474" v="564" actId="13926"/>
        <pc:sldMkLst>
          <pc:docMk/>
          <pc:sldMk cId="0" sldId="1081"/>
        </pc:sldMkLst>
        <pc:spChg chg="mod">
          <ac:chgData name="744311194@qq.com" userId="e2a28223f2085f4b" providerId="LiveId" clId="{CCF3AC58-771A-4CD9-839B-04D7DBE12AD2}" dt="2025-04-17T05:51:05.995" v="563" actId="1076"/>
          <ac:spMkLst>
            <pc:docMk/>
            <pc:sldMk cId="0" sldId="1081"/>
            <ac:spMk id="45064" creationId="{00000000-0000-0000-0000-000000000000}"/>
          </ac:spMkLst>
        </pc:spChg>
        <pc:spChg chg="mod">
          <ac:chgData name="744311194@qq.com" userId="e2a28223f2085f4b" providerId="LiveId" clId="{CCF3AC58-771A-4CD9-839B-04D7DBE12AD2}" dt="2025-04-17T05:51:05.995" v="563" actId="1076"/>
          <ac:spMkLst>
            <pc:docMk/>
            <pc:sldMk cId="0" sldId="1081"/>
            <ac:spMk id="45065" creationId="{00000000-0000-0000-0000-000000000000}"/>
          </ac:spMkLst>
        </pc:spChg>
        <pc:spChg chg="mod">
          <ac:chgData name="744311194@qq.com" userId="e2a28223f2085f4b" providerId="LiveId" clId="{CCF3AC58-771A-4CD9-839B-04D7DBE12AD2}" dt="2025-04-17T05:51:16.474" v="564" actId="13926"/>
          <ac:spMkLst>
            <pc:docMk/>
            <pc:sldMk cId="0" sldId="1081"/>
            <ac:spMk id="979987" creationId="{00000000-0000-0000-0000-000000000000}"/>
          </ac:spMkLst>
        </pc:spChg>
        <pc:grpChg chg="mod">
          <ac:chgData name="744311194@qq.com" userId="e2a28223f2085f4b" providerId="LiveId" clId="{CCF3AC58-771A-4CD9-839B-04D7DBE12AD2}" dt="2025-04-17T05:51:05.995" v="563" actId="1076"/>
          <ac:grpSpMkLst>
            <pc:docMk/>
            <pc:sldMk cId="0" sldId="1081"/>
            <ac:grpSpMk id="2" creationId="{00000000-0000-0000-0000-000000000000}"/>
          </ac:grpSpMkLst>
        </pc:grpChg>
      </pc:sldChg>
      <pc:sldChg chg="addSp modSp mod">
        <pc:chgData name="744311194@qq.com" userId="e2a28223f2085f4b" providerId="LiveId" clId="{CCF3AC58-771A-4CD9-839B-04D7DBE12AD2}" dt="2025-04-17T06:17:44.323" v="1968" actId="13926"/>
        <pc:sldMkLst>
          <pc:docMk/>
          <pc:sldMk cId="0" sldId="1085"/>
        </pc:sldMkLst>
        <pc:spChg chg="add mod">
          <ac:chgData name="744311194@qq.com" userId="e2a28223f2085f4b" providerId="LiveId" clId="{CCF3AC58-771A-4CD9-839B-04D7DBE12AD2}" dt="2025-04-17T06:17:44.323" v="1968" actId="13926"/>
          <ac:spMkLst>
            <pc:docMk/>
            <pc:sldMk cId="0" sldId="1085"/>
            <ac:spMk id="3" creationId="{BBA31718-58C9-D0AB-BE73-EBF6C397DEC0}"/>
          </ac:spMkLst>
        </pc:spChg>
        <pc:spChg chg="mod">
          <ac:chgData name="744311194@qq.com" userId="e2a28223f2085f4b" providerId="LiveId" clId="{CCF3AC58-771A-4CD9-839B-04D7DBE12AD2}" dt="2025-04-17T06:17:25.426" v="1926" actId="13926"/>
          <ac:spMkLst>
            <pc:docMk/>
            <pc:sldMk cId="0" sldId="1085"/>
            <ac:spMk id="985096" creationId="{00000000-0000-0000-0000-000000000000}"/>
          </ac:spMkLst>
        </pc:spChg>
      </pc:sldChg>
      <pc:sldChg chg="modSp">
        <pc:chgData name="744311194@qq.com" userId="e2a28223f2085f4b" providerId="LiveId" clId="{CCF3AC58-771A-4CD9-839B-04D7DBE12AD2}" dt="2025-04-16T07:49:20.305" v="18" actId="13926"/>
        <pc:sldMkLst>
          <pc:docMk/>
          <pc:sldMk cId="0" sldId="1087"/>
        </pc:sldMkLst>
        <pc:spChg chg="mod">
          <ac:chgData name="744311194@qq.com" userId="e2a28223f2085f4b" providerId="LiveId" clId="{CCF3AC58-771A-4CD9-839B-04D7DBE12AD2}" dt="2025-04-16T07:49:20.305" v="18" actId="13926"/>
          <ac:spMkLst>
            <pc:docMk/>
            <pc:sldMk cId="0" sldId="1087"/>
            <ac:spMk id="988164" creationId="{00000000-0000-0000-0000-000000000000}"/>
          </ac:spMkLst>
        </pc:spChg>
      </pc:sldChg>
      <pc:sldChg chg="modSp mod">
        <pc:chgData name="744311194@qq.com" userId="e2a28223f2085f4b" providerId="LiveId" clId="{CCF3AC58-771A-4CD9-839B-04D7DBE12AD2}" dt="2025-04-16T07:50:12.314" v="23" actId="1076"/>
        <pc:sldMkLst>
          <pc:docMk/>
          <pc:sldMk cId="0" sldId="1089"/>
        </pc:sldMkLst>
        <pc:spChg chg="mod">
          <ac:chgData name="744311194@qq.com" userId="e2a28223f2085f4b" providerId="LiveId" clId="{CCF3AC58-771A-4CD9-839B-04D7DBE12AD2}" dt="2025-04-16T07:50:12.314" v="23" actId="1076"/>
          <ac:spMkLst>
            <pc:docMk/>
            <pc:sldMk cId="0" sldId="1089"/>
            <ac:spMk id="3" creationId="{00000000-0000-0000-0000-000000000000}"/>
          </ac:spMkLst>
        </pc:spChg>
        <pc:spChg chg="mod">
          <ac:chgData name="744311194@qq.com" userId="e2a28223f2085f4b" providerId="LiveId" clId="{CCF3AC58-771A-4CD9-839B-04D7DBE12AD2}" dt="2025-04-16T07:50:02.881" v="22" actId="13926"/>
          <ac:spMkLst>
            <pc:docMk/>
            <pc:sldMk cId="0" sldId="1089"/>
            <ac:spMk id="9" creationId="{00000000-0000-0000-0000-000000000000}"/>
          </ac:spMkLst>
        </pc:spChg>
        <pc:picChg chg="mod">
          <ac:chgData name="744311194@qq.com" userId="e2a28223f2085f4b" providerId="LiveId" clId="{CCF3AC58-771A-4CD9-839B-04D7DBE12AD2}" dt="2025-04-16T07:49:51.336" v="21" actId="1076"/>
          <ac:picMkLst>
            <pc:docMk/>
            <pc:sldMk cId="0" sldId="1089"/>
            <ac:picMk id="4" creationId="{00000000-0000-0000-0000-000000000000}"/>
          </ac:picMkLst>
        </pc:picChg>
      </pc:sldChg>
      <pc:sldChg chg="modSp">
        <pc:chgData name="744311194@qq.com" userId="e2a28223f2085f4b" providerId="LiveId" clId="{CCF3AC58-771A-4CD9-839B-04D7DBE12AD2}" dt="2025-04-16T07:50:28.952" v="25" actId="13926"/>
        <pc:sldMkLst>
          <pc:docMk/>
          <pc:sldMk cId="0" sldId="1090"/>
        </pc:sldMkLst>
        <pc:spChg chg="mod">
          <ac:chgData name="744311194@qq.com" userId="e2a28223f2085f4b" providerId="LiveId" clId="{CCF3AC58-771A-4CD9-839B-04D7DBE12AD2}" dt="2025-04-16T07:50:28.952" v="25" actId="13926"/>
          <ac:spMkLst>
            <pc:docMk/>
            <pc:sldMk cId="0" sldId="1090"/>
            <ac:spMk id="991237" creationId="{00000000-0000-0000-0000-000000000000}"/>
          </ac:spMkLst>
        </pc:spChg>
      </pc:sldChg>
      <pc:sldChg chg="modSp">
        <pc:chgData name="744311194@qq.com" userId="e2a28223f2085f4b" providerId="LiveId" clId="{CCF3AC58-771A-4CD9-839B-04D7DBE12AD2}" dt="2025-04-16T08:04:57.930" v="110" actId="13926"/>
        <pc:sldMkLst>
          <pc:docMk/>
          <pc:sldMk cId="0" sldId="1091"/>
        </pc:sldMkLst>
        <pc:spChg chg="mod">
          <ac:chgData name="744311194@qq.com" userId="e2a28223f2085f4b" providerId="LiveId" clId="{CCF3AC58-771A-4CD9-839B-04D7DBE12AD2}" dt="2025-04-16T08:04:57.930" v="110" actId="13926"/>
          <ac:spMkLst>
            <pc:docMk/>
            <pc:sldMk cId="0" sldId="1091"/>
            <ac:spMk id="992262" creationId="{00000000-0000-0000-0000-000000000000}"/>
          </ac:spMkLst>
        </pc:spChg>
      </pc:sldChg>
      <pc:sldChg chg="modSp mod">
        <pc:chgData name="744311194@qq.com" userId="e2a28223f2085f4b" providerId="LiveId" clId="{CCF3AC58-771A-4CD9-839B-04D7DBE12AD2}" dt="2025-04-17T05:46:14.869" v="553" actId="13926"/>
        <pc:sldMkLst>
          <pc:docMk/>
          <pc:sldMk cId="0" sldId="1092"/>
        </pc:sldMkLst>
        <pc:spChg chg="mod">
          <ac:chgData name="744311194@qq.com" userId="e2a28223f2085f4b" providerId="LiveId" clId="{CCF3AC58-771A-4CD9-839B-04D7DBE12AD2}" dt="2025-04-17T05:46:14.869" v="553" actId="13926"/>
          <ac:spMkLst>
            <pc:docMk/>
            <pc:sldMk cId="0" sldId="1092"/>
            <ac:spMk id="24578" creationId="{00000000-0000-0000-0000-000000000000}"/>
          </ac:spMkLst>
        </pc:spChg>
      </pc:sldChg>
      <pc:sldChg chg="modSp">
        <pc:chgData name="744311194@qq.com" userId="e2a28223f2085f4b" providerId="LiveId" clId="{CCF3AC58-771A-4CD9-839B-04D7DBE12AD2}" dt="2025-04-16T08:05:59.154" v="112" actId="13926"/>
        <pc:sldMkLst>
          <pc:docMk/>
          <pc:sldMk cId="0" sldId="1095"/>
        </pc:sldMkLst>
        <pc:spChg chg="mod">
          <ac:chgData name="744311194@qq.com" userId="e2a28223f2085f4b" providerId="LiveId" clId="{CCF3AC58-771A-4CD9-839B-04D7DBE12AD2}" dt="2025-04-16T08:05:59.154" v="112" actId="13926"/>
          <ac:spMkLst>
            <pc:docMk/>
            <pc:sldMk cId="0" sldId="1095"/>
            <ac:spMk id="996358" creationId="{00000000-0000-0000-0000-000000000000}"/>
          </ac:spMkLst>
        </pc:spChg>
      </pc:sldChg>
      <pc:sldChg chg="modSp">
        <pc:chgData name="744311194@qq.com" userId="e2a28223f2085f4b" providerId="LiveId" clId="{CCF3AC58-771A-4CD9-839B-04D7DBE12AD2}" dt="2025-04-16T09:17:57.686" v="545" actId="13926"/>
        <pc:sldMkLst>
          <pc:docMk/>
          <pc:sldMk cId="0" sldId="1097"/>
        </pc:sldMkLst>
        <pc:spChg chg="mod">
          <ac:chgData name="744311194@qq.com" userId="e2a28223f2085f4b" providerId="LiveId" clId="{CCF3AC58-771A-4CD9-839B-04D7DBE12AD2}" dt="2025-04-16T09:17:57.686" v="545" actId="13926"/>
          <ac:spMkLst>
            <pc:docMk/>
            <pc:sldMk cId="0" sldId="1097"/>
            <ac:spMk id="998404" creationId="{00000000-0000-0000-0000-000000000000}"/>
          </ac:spMkLst>
        </pc:spChg>
      </pc:sldChg>
      <pc:sldChg chg="addSp modSp mod">
        <pc:chgData name="744311194@qq.com" userId="e2a28223f2085f4b" providerId="LiveId" clId="{CCF3AC58-771A-4CD9-839B-04D7DBE12AD2}" dt="2025-04-16T09:14:43.127" v="332" actId="13926"/>
        <pc:sldMkLst>
          <pc:docMk/>
          <pc:sldMk cId="0" sldId="1102"/>
        </pc:sldMkLst>
        <pc:spChg chg="add mod">
          <ac:chgData name="744311194@qq.com" userId="e2a28223f2085f4b" providerId="LiveId" clId="{CCF3AC58-771A-4CD9-839B-04D7DBE12AD2}" dt="2025-04-16T09:14:43.127" v="332" actId="13926"/>
          <ac:spMkLst>
            <pc:docMk/>
            <pc:sldMk cId="0" sldId="1102"/>
            <ac:spMk id="2" creationId="{359A5C8B-7AA0-0030-35CF-756BC59E0123}"/>
          </ac:spMkLst>
        </pc:spChg>
        <pc:spChg chg="mod">
          <ac:chgData name="744311194@qq.com" userId="e2a28223f2085f4b" providerId="LiveId" clId="{CCF3AC58-771A-4CD9-839B-04D7DBE12AD2}" dt="2025-04-16T08:08:33.252" v="122" actId="13926"/>
          <ac:spMkLst>
            <pc:docMk/>
            <pc:sldMk cId="0" sldId="1102"/>
            <ac:spMk id="34819" creationId="{00000000-0000-0000-0000-000000000000}"/>
          </ac:spMkLst>
        </pc:spChg>
      </pc:sldChg>
      <pc:sldChg chg="modSp">
        <pc:chgData name="744311194@qq.com" userId="e2a28223f2085f4b" providerId="LiveId" clId="{CCF3AC58-771A-4CD9-839B-04D7DBE12AD2}" dt="2025-04-16T09:17:31.526" v="543" actId="13926"/>
        <pc:sldMkLst>
          <pc:docMk/>
          <pc:sldMk cId="0" sldId="1104"/>
        </pc:sldMkLst>
        <pc:spChg chg="mod">
          <ac:chgData name="744311194@qq.com" userId="e2a28223f2085f4b" providerId="LiveId" clId="{CCF3AC58-771A-4CD9-839B-04D7DBE12AD2}" dt="2025-04-16T09:17:31.526" v="543" actId="13926"/>
          <ac:spMkLst>
            <pc:docMk/>
            <pc:sldMk cId="0" sldId="1104"/>
            <ac:spMk id="1006597" creationId="{00000000-0000-0000-0000-000000000000}"/>
          </ac:spMkLst>
        </pc:spChg>
      </pc:sldChg>
      <pc:sldChg chg="modSp mod">
        <pc:chgData name="744311194@qq.com" userId="e2a28223f2085f4b" providerId="LiveId" clId="{CCF3AC58-771A-4CD9-839B-04D7DBE12AD2}" dt="2025-04-17T05:53:11.072" v="714" actId="13926"/>
        <pc:sldMkLst>
          <pc:docMk/>
          <pc:sldMk cId="0" sldId="1109"/>
        </pc:sldMkLst>
        <pc:spChg chg="mod">
          <ac:chgData name="744311194@qq.com" userId="e2a28223f2085f4b" providerId="LiveId" clId="{CCF3AC58-771A-4CD9-839B-04D7DBE12AD2}" dt="2025-04-17T05:53:02.885" v="712" actId="20577"/>
          <ac:spMkLst>
            <pc:docMk/>
            <pc:sldMk cId="0" sldId="1109"/>
            <ac:spMk id="48134" creationId="{00000000-0000-0000-0000-000000000000}"/>
          </ac:spMkLst>
        </pc:spChg>
        <pc:spChg chg="mod">
          <ac:chgData name="744311194@qq.com" userId="e2a28223f2085f4b" providerId="LiveId" clId="{CCF3AC58-771A-4CD9-839B-04D7DBE12AD2}" dt="2025-04-17T05:53:11.072" v="714" actId="13926"/>
          <ac:spMkLst>
            <pc:docMk/>
            <pc:sldMk cId="0" sldId="1109"/>
            <ac:spMk id="1015835" creationId="{00000000-0000-0000-0000-000000000000}"/>
          </ac:spMkLst>
        </pc:spChg>
      </pc:sldChg>
      <pc:sldChg chg="addSp modSp mod">
        <pc:chgData name="744311194@qq.com" userId="e2a28223f2085f4b" providerId="LiveId" clId="{CCF3AC58-771A-4CD9-839B-04D7DBE12AD2}" dt="2025-04-21T15:48:24.868" v="2851" actId="1076"/>
        <pc:sldMkLst>
          <pc:docMk/>
          <pc:sldMk cId="0" sldId="1113"/>
        </pc:sldMkLst>
        <pc:spChg chg="add mod">
          <ac:chgData name="744311194@qq.com" userId="e2a28223f2085f4b" providerId="LiveId" clId="{CCF3AC58-771A-4CD9-839B-04D7DBE12AD2}" dt="2025-04-21T15:48:24.868" v="2851" actId="1076"/>
          <ac:spMkLst>
            <pc:docMk/>
            <pc:sldMk cId="0" sldId="1113"/>
            <ac:spMk id="4" creationId="{79F9EEBE-82F5-6D2C-BEE1-A9314202C750}"/>
          </ac:spMkLst>
        </pc:spChg>
      </pc:sldChg>
      <pc:sldChg chg="modSp">
        <pc:chgData name="744311194@qq.com" userId="e2a28223f2085f4b" providerId="LiveId" clId="{CCF3AC58-771A-4CD9-839B-04D7DBE12AD2}" dt="2025-04-17T06:11:05.842" v="1525" actId="13926"/>
        <pc:sldMkLst>
          <pc:docMk/>
          <pc:sldMk cId="0" sldId="1116"/>
        </pc:sldMkLst>
        <pc:spChg chg="mod">
          <ac:chgData name="744311194@qq.com" userId="e2a28223f2085f4b" providerId="LiveId" clId="{CCF3AC58-771A-4CD9-839B-04D7DBE12AD2}" dt="2025-04-17T06:11:05.842" v="1525" actId="13926"/>
          <ac:spMkLst>
            <pc:docMk/>
            <pc:sldMk cId="0" sldId="1116"/>
            <ac:spMk id="1022982" creationId="{00000000-0000-0000-0000-000000000000}"/>
          </ac:spMkLst>
        </pc:spChg>
      </pc:sldChg>
      <pc:sldChg chg="modSp">
        <pc:chgData name="744311194@qq.com" userId="e2a28223f2085f4b" providerId="LiveId" clId="{CCF3AC58-771A-4CD9-839B-04D7DBE12AD2}" dt="2025-04-17T06:11:36.553" v="1535" actId="14100"/>
        <pc:sldMkLst>
          <pc:docMk/>
          <pc:sldMk cId="0" sldId="1117"/>
        </pc:sldMkLst>
        <pc:spChg chg="mod">
          <ac:chgData name="744311194@qq.com" userId="e2a28223f2085f4b" providerId="LiveId" clId="{CCF3AC58-771A-4CD9-839B-04D7DBE12AD2}" dt="2025-04-17T06:11:36.553" v="1535" actId="14100"/>
          <ac:spMkLst>
            <pc:docMk/>
            <pc:sldMk cId="0" sldId="1117"/>
            <ac:spMk id="80903" creationId="{00000000-0000-0000-0000-000000000000}"/>
          </ac:spMkLst>
        </pc:spChg>
        <pc:spChg chg="mod">
          <ac:chgData name="744311194@qq.com" userId="e2a28223f2085f4b" providerId="LiveId" clId="{CCF3AC58-771A-4CD9-839B-04D7DBE12AD2}" dt="2025-04-17T06:11:36.553" v="1535" actId="14100"/>
          <ac:spMkLst>
            <pc:docMk/>
            <pc:sldMk cId="0" sldId="1117"/>
            <ac:spMk id="80912" creationId="{00000000-0000-0000-0000-000000000000}"/>
          </ac:spMkLst>
        </pc:spChg>
        <pc:spChg chg="mod">
          <ac:chgData name="744311194@qq.com" userId="e2a28223f2085f4b" providerId="LiveId" clId="{CCF3AC58-771A-4CD9-839B-04D7DBE12AD2}" dt="2025-04-17T06:11:36.553" v="1535" actId="14100"/>
          <ac:spMkLst>
            <pc:docMk/>
            <pc:sldMk cId="0" sldId="1117"/>
            <ac:spMk id="80914" creationId="{00000000-0000-0000-0000-000000000000}"/>
          </ac:spMkLst>
        </pc:spChg>
        <pc:spChg chg="mod">
          <ac:chgData name="744311194@qq.com" userId="e2a28223f2085f4b" providerId="LiveId" clId="{CCF3AC58-771A-4CD9-839B-04D7DBE12AD2}" dt="2025-04-17T06:11:36.553" v="1535" actId="14100"/>
          <ac:spMkLst>
            <pc:docMk/>
            <pc:sldMk cId="0" sldId="1117"/>
            <ac:spMk id="80917" creationId="{00000000-0000-0000-0000-000000000000}"/>
          </ac:spMkLst>
        </pc:spChg>
        <pc:spChg chg="mod">
          <ac:chgData name="744311194@qq.com" userId="e2a28223f2085f4b" providerId="LiveId" clId="{CCF3AC58-771A-4CD9-839B-04D7DBE12AD2}" dt="2025-04-17T06:11:36.553" v="1535" actId="14100"/>
          <ac:spMkLst>
            <pc:docMk/>
            <pc:sldMk cId="0" sldId="1117"/>
            <ac:spMk id="80923" creationId="{00000000-0000-0000-0000-000000000000}"/>
          </ac:spMkLst>
        </pc:spChg>
        <pc:spChg chg="mod">
          <ac:chgData name="744311194@qq.com" userId="e2a28223f2085f4b" providerId="LiveId" clId="{CCF3AC58-771A-4CD9-839B-04D7DBE12AD2}" dt="2025-04-17T06:11:36.553" v="1535" actId="14100"/>
          <ac:spMkLst>
            <pc:docMk/>
            <pc:sldMk cId="0" sldId="1117"/>
            <ac:spMk id="80924" creationId="{00000000-0000-0000-0000-000000000000}"/>
          </ac:spMkLst>
        </pc:spChg>
        <pc:spChg chg="mod">
          <ac:chgData name="744311194@qq.com" userId="e2a28223f2085f4b" providerId="LiveId" clId="{CCF3AC58-771A-4CD9-839B-04D7DBE12AD2}" dt="2025-04-17T06:11:36.553" v="1535" actId="14100"/>
          <ac:spMkLst>
            <pc:docMk/>
            <pc:sldMk cId="0" sldId="1117"/>
            <ac:spMk id="80939" creationId="{00000000-0000-0000-0000-000000000000}"/>
          </ac:spMkLst>
        </pc:spChg>
        <pc:spChg chg="mod">
          <ac:chgData name="744311194@qq.com" userId="e2a28223f2085f4b" providerId="LiveId" clId="{CCF3AC58-771A-4CD9-839B-04D7DBE12AD2}" dt="2025-04-17T06:11:36.553" v="1535" actId="14100"/>
          <ac:spMkLst>
            <pc:docMk/>
            <pc:sldMk cId="0" sldId="1117"/>
            <ac:spMk id="80942" creationId="{00000000-0000-0000-0000-000000000000}"/>
          </ac:spMkLst>
        </pc:spChg>
        <pc:spChg chg="mod">
          <ac:chgData name="744311194@qq.com" userId="e2a28223f2085f4b" providerId="LiveId" clId="{CCF3AC58-771A-4CD9-839B-04D7DBE12AD2}" dt="2025-04-17T06:11:36.553" v="1535" actId="14100"/>
          <ac:spMkLst>
            <pc:docMk/>
            <pc:sldMk cId="0" sldId="1117"/>
            <ac:spMk id="80962" creationId="{00000000-0000-0000-0000-000000000000}"/>
          </ac:spMkLst>
        </pc:spChg>
        <pc:spChg chg="mod">
          <ac:chgData name="744311194@qq.com" userId="e2a28223f2085f4b" providerId="LiveId" clId="{CCF3AC58-771A-4CD9-839B-04D7DBE12AD2}" dt="2025-04-17T06:11:36.553" v="1535" actId="14100"/>
          <ac:spMkLst>
            <pc:docMk/>
            <pc:sldMk cId="0" sldId="1117"/>
            <ac:spMk id="80966" creationId="{00000000-0000-0000-0000-000000000000}"/>
          </ac:spMkLst>
        </pc:spChg>
        <pc:spChg chg="mod">
          <ac:chgData name="744311194@qq.com" userId="e2a28223f2085f4b" providerId="LiveId" clId="{CCF3AC58-771A-4CD9-839B-04D7DBE12AD2}" dt="2025-04-17T06:10:55.431" v="1524" actId="13926"/>
          <ac:spMkLst>
            <pc:docMk/>
            <pc:sldMk cId="0" sldId="1117"/>
            <ac:spMk id="1024004" creationId="{00000000-0000-0000-0000-000000000000}"/>
          </ac:spMkLst>
        </pc:spChg>
      </pc:sldChg>
      <pc:sldChg chg="addSp modSp mod">
        <pc:chgData name="744311194@qq.com" userId="e2a28223f2085f4b" providerId="LiveId" clId="{CCF3AC58-771A-4CD9-839B-04D7DBE12AD2}" dt="2025-04-17T06:13:21.922" v="1712"/>
        <pc:sldMkLst>
          <pc:docMk/>
          <pc:sldMk cId="0" sldId="1118"/>
        </pc:sldMkLst>
        <pc:spChg chg="add mod">
          <ac:chgData name="744311194@qq.com" userId="e2a28223f2085f4b" providerId="LiveId" clId="{CCF3AC58-771A-4CD9-839B-04D7DBE12AD2}" dt="2025-04-17T06:13:21.922" v="1712"/>
          <ac:spMkLst>
            <pc:docMk/>
            <pc:sldMk cId="0" sldId="1118"/>
            <ac:spMk id="3" creationId="{297E1342-9E64-8710-D235-D59A4144E13D}"/>
          </ac:spMkLst>
        </pc:spChg>
      </pc:sldChg>
      <pc:sldChg chg="addSp modSp mod">
        <pc:chgData name="744311194@qq.com" userId="e2a28223f2085f4b" providerId="LiveId" clId="{CCF3AC58-771A-4CD9-839B-04D7DBE12AD2}" dt="2025-04-17T06:29:07.171" v="2465" actId="9405"/>
        <pc:sldMkLst>
          <pc:docMk/>
          <pc:sldMk cId="0" sldId="1119"/>
        </pc:sldMkLst>
        <pc:spChg chg="mod">
          <ac:chgData name="744311194@qq.com" userId="e2a28223f2085f4b" providerId="LiveId" clId="{CCF3AC58-771A-4CD9-839B-04D7DBE12AD2}" dt="2025-04-17T06:27:22.202" v="2450" actId="13926"/>
          <ac:spMkLst>
            <pc:docMk/>
            <pc:sldMk cId="0" sldId="1119"/>
            <ac:spMk id="111619" creationId="{00000000-0000-0000-0000-000000000000}"/>
          </ac:spMkLst>
        </pc:spChg>
        <pc:spChg chg="mod">
          <ac:chgData name="744311194@qq.com" userId="e2a28223f2085f4b" providerId="LiveId" clId="{CCF3AC58-771A-4CD9-839B-04D7DBE12AD2}" dt="2025-04-17T06:27:27.433" v="2462" actId="20577"/>
          <ac:spMkLst>
            <pc:docMk/>
            <pc:sldMk cId="0" sldId="1119"/>
            <ac:spMk id="111620" creationId="{00000000-0000-0000-0000-000000000000}"/>
          </ac:spMkLst>
        </pc:spChg>
        <pc:inkChg chg="add">
          <ac:chgData name="744311194@qq.com" userId="e2a28223f2085f4b" providerId="LiveId" clId="{CCF3AC58-771A-4CD9-839B-04D7DBE12AD2}" dt="2025-04-17T06:29:05.281" v="2463" actId="9405"/>
          <ac:inkMkLst>
            <pc:docMk/>
            <pc:sldMk cId="0" sldId="1119"/>
            <ac:inkMk id="2" creationId="{37579B7C-9EAA-AF95-F0C5-3EDD6D2BB167}"/>
          </ac:inkMkLst>
        </pc:inkChg>
        <pc:inkChg chg="add">
          <ac:chgData name="744311194@qq.com" userId="e2a28223f2085f4b" providerId="LiveId" clId="{CCF3AC58-771A-4CD9-839B-04D7DBE12AD2}" dt="2025-04-17T06:29:06.189" v="2464" actId="9405"/>
          <ac:inkMkLst>
            <pc:docMk/>
            <pc:sldMk cId="0" sldId="1119"/>
            <ac:inkMk id="3" creationId="{3A306E35-BA47-7FAD-FFD4-80E878591A26}"/>
          </ac:inkMkLst>
        </pc:inkChg>
        <pc:inkChg chg="add">
          <ac:chgData name="744311194@qq.com" userId="e2a28223f2085f4b" providerId="LiveId" clId="{CCF3AC58-771A-4CD9-839B-04D7DBE12AD2}" dt="2025-04-17T06:29:07.171" v="2465" actId="9405"/>
          <ac:inkMkLst>
            <pc:docMk/>
            <pc:sldMk cId="0" sldId="1119"/>
            <ac:inkMk id="4" creationId="{D6E8FE49-2709-C9E1-A8A0-BD64887A2DDF}"/>
          </ac:inkMkLst>
        </pc:inkChg>
      </pc:sldChg>
      <pc:sldChg chg="addSp modSp mod">
        <pc:chgData name="744311194@qq.com" userId="e2a28223f2085f4b" providerId="LiveId" clId="{CCF3AC58-771A-4CD9-839B-04D7DBE12AD2}" dt="2025-04-17T06:26:35.967" v="2445" actId="13926"/>
        <pc:sldMkLst>
          <pc:docMk/>
          <pc:sldMk cId="0" sldId="1120"/>
        </pc:sldMkLst>
        <pc:spChg chg="add mod">
          <ac:chgData name="744311194@qq.com" userId="e2a28223f2085f4b" providerId="LiveId" clId="{CCF3AC58-771A-4CD9-839B-04D7DBE12AD2}" dt="2025-04-17T06:26:35.967" v="2445" actId="13926"/>
          <ac:spMkLst>
            <pc:docMk/>
            <pc:sldMk cId="0" sldId="1120"/>
            <ac:spMk id="3" creationId="{85FB7D00-72AE-201A-5884-CAAF768EA46A}"/>
          </ac:spMkLst>
        </pc:spChg>
      </pc:sldChg>
      <pc:sldChg chg="modSp">
        <pc:chgData name="744311194@qq.com" userId="e2a28223f2085f4b" providerId="LiveId" clId="{CCF3AC58-771A-4CD9-839B-04D7DBE12AD2}" dt="2025-04-17T06:21:35.422" v="2037" actId="13926"/>
        <pc:sldMkLst>
          <pc:docMk/>
          <pc:sldMk cId="0" sldId="1121"/>
        </pc:sldMkLst>
        <pc:spChg chg="mod">
          <ac:chgData name="744311194@qq.com" userId="e2a28223f2085f4b" providerId="LiveId" clId="{CCF3AC58-771A-4CD9-839B-04D7DBE12AD2}" dt="2025-04-17T06:21:35.422" v="2037" actId="13926"/>
          <ac:spMkLst>
            <pc:docMk/>
            <pc:sldMk cId="0" sldId="1121"/>
            <ac:spMk id="1029125" creationId="{00000000-0000-0000-0000-000000000000}"/>
          </ac:spMkLst>
        </pc:spChg>
      </pc:sldChg>
      <pc:sldChg chg="modSp">
        <pc:chgData name="744311194@qq.com" userId="e2a28223f2085f4b" providerId="LiveId" clId="{CCF3AC58-771A-4CD9-839B-04D7DBE12AD2}" dt="2025-04-16T08:05:18.338" v="111" actId="13926"/>
        <pc:sldMkLst>
          <pc:docMk/>
          <pc:sldMk cId="0" sldId="1124"/>
        </pc:sldMkLst>
        <pc:spChg chg="mod">
          <ac:chgData name="744311194@qq.com" userId="e2a28223f2085f4b" providerId="LiveId" clId="{CCF3AC58-771A-4CD9-839B-04D7DBE12AD2}" dt="2025-04-16T08:05:18.338" v="111" actId="13926"/>
          <ac:spMkLst>
            <pc:docMk/>
            <pc:sldMk cId="0" sldId="1124"/>
            <ac:spMk id="1032198" creationId="{00000000-0000-0000-0000-000000000000}"/>
          </ac:spMkLst>
        </pc:spChg>
      </pc:sldChg>
      <pc:sldChg chg="modSp mod">
        <pc:chgData name="744311194@qq.com" userId="e2a28223f2085f4b" providerId="LiveId" clId="{CCF3AC58-771A-4CD9-839B-04D7DBE12AD2}" dt="2025-04-16T08:07:36.804" v="121" actId="13926"/>
        <pc:sldMkLst>
          <pc:docMk/>
          <pc:sldMk cId="0" sldId="1126"/>
        </pc:sldMkLst>
        <pc:spChg chg="mod">
          <ac:chgData name="744311194@qq.com" userId="e2a28223f2085f4b" providerId="LiveId" clId="{CCF3AC58-771A-4CD9-839B-04D7DBE12AD2}" dt="2025-04-16T08:07:36.804" v="121" actId="13926"/>
          <ac:spMkLst>
            <pc:docMk/>
            <pc:sldMk cId="0" sldId="1126"/>
            <ac:spMk id="1035269" creationId="{00000000-0000-0000-0000-000000000000}"/>
          </ac:spMkLst>
        </pc:spChg>
      </pc:sldChg>
      <pc:sldChg chg="modSp mod">
        <pc:chgData name="744311194@qq.com" userId="e2a28223f2085f4b" providerId="LiveId" clId="{CCF3AC58-771A-4CD9-839B-04D7DBE12AD2}" dt="2025-04-16T09:17:22.134" v="542" actId="13926"/>
        <pc:sldMkLst>
          <pc:docMk/>
          <pc:sldMk cId="0" sldId="1128"/>
        </pc:sldMkLst>
        <pc:spChg chg="mod">
          <ac:chgData name="744311194@qq.com" userId="e2a28223f2085f4b" providerId="LiveId" clId="{CCF3AC58-771A-4CD9-839B-04D7DBE12AD2}" dt="2025-04-16T09:17:22.134" v="542" actId="13926"/>
          <ac:spMkLst>
            <pc:docMk/>
            <pc:sldMk cId="0" sldId="1128"/>
            <ac:spMk id="35843" creationId="{00000000-0000-0000-0000-000000000000}"/>
          </ac:spMkLst>
        </pc:spChg>
      </pc:sldChg>
      <pc:sldChg chg="addSp modSp mod ord">
        <pc:chgData name="744311194@qq.com" userId="e2a28223f2085f4b" providerId="LiveId" clId="{CCF3AC58-771A-4CD9-839B-04D7DBE12AD2}" dt="2025-04-17T06:06:33.343" v="1328"/>
        <pc:sldMkLst>
          <pc:docMk/>
          <pc:sldMk cId="0" sldId="1130"/>
        </pc:sldMkLst>
        <pc:spChg chg="add mod">
          <ac:chgData name="744311194@qq.com" userId="e2a28223f2085f4b" providerId="LiveId" clId="{CCF3AC58-771A-4CD9-839B-04D7DBE12AD2}" dt="2025-04-17T06:06:28.202" v="1326" actId="1076"/>
          <ac:spMkLst>
            <pc:docMk/>
            <pc:sldMk cId="0" sldId="1130"/>
            <ac:spMk id="2" creationId="{AA87A427-604A-61DC-FA5E-BB5E6B38933F}"/>
          </ac:spMkLst>
        </pc:spChg>
      </pc:sldChg>
      <pc:sldChg chg="del">
        <pc:chgData name="744311194@qq.com" userId="e2a28223f2085f4b" providerId="LiveId" clId="{CCF3AC58-771A-4CD9-839B-04D7DBE12AD2}" dt="2025-04-17T06:07:22.644" v="1360" actId="47"/>
        <pc:sldMkLst>
          <pc:docMk/>
          <pc:sldMk cId="0" sldId="1131"/>
        </pc:sldMkLst>
      </pc:sldChg>
      <pc:sldChg chg="addSp modSp mod">
        <pc:chgData name="744311194@qq.com" userId="e2a28223f2085f4b" providerId="LiveId" clId="{CCF3AC58-771A-4CD9-839B-04D7DBE12AD2}" dt="2025-04-17T06:07:02.454" v="1354" actId="20577"/>
        <pc:sldMkLst>
          <pc:docMk/>
          <pc:sldMk cId="0" sldId="1133"/>
        </pc:sldMkLst>
        <pc:spChg chg="add mod">
          <ac:chgData name="744311194@qq.com" userId="e2a28223f2085f4b" providerId="LiveId" clId="{CCF3AC58-771A-4CD9-839B-04D7DBE12AD2}" dt="2025-04-17T06:07:02.454" v="1354" actId="20577"/>
          <ac:spMkLst>
            <pc:docMk/>
            <pc:sldMk cId="0" sldId="1133"/>
            <ac:spMk id="2" creationId="{DD25A68E-874F-BD21-B402-B487CC38FB2E}"/>
          </ac:spMkLst>
        </pc:spChg>
      </pc:sldChg>
      <pc:sldChg chg="modSp mod">
        <pc:chgData name="744311194@qq.com" userId="e2a28223f2085f4b" providerId="LiveId" clId="{CCF3AC58-771A-4CD9-839B-04D7DBE12AD2}" dt="2025-04-17T06:07:18.302" v="1359" actId="13926"/>
        <pc:sldMkLst>
          <pc:docMk/>
          <pc:sldMk cId="0" sldId="1134"/>
        </pc:sldMkLst>
        <pc:spChg chg="mod">
          <ac:chgData name="744311194@qq.com" userId="e2a28223f2085f4b" providerId="LiveId" clId="{CCF3AC58-771A-4CD9-839B-04D7DBE12AD2}" dt="2025-04-17T06:07:18.302" v="1359" actId="13926"/>
          <ac:spMkLst>
            <pc:docMk/>
            <pc:sldMk cId="0" sldId="1134"/>
            <ac:spMk id="60418" creationId="{00000000-0000-0000-0000-000000000000}"/>
          </ac:spMkLst>
        </pc:spChg>
      </pc:sldChg>
      <pc:sldChg chg="modSp modAnim">
        <pc:chgData name="744311194@qq.com" userId="e2a28223f2085f4b" providerId="LiveId" clId="{CCF3AC58-771A-4CD9-839B-04D7DBE12AD2}" dt="2025-04-17T06:03:50.128" v="999" actId="13926"/>
        <pc:sldMkLst>
          <pc:docMk/>
          <pc:sldMk cId="0" sldId="1136"/>
        </pc:sldMkLst>
        <pc:spChg chg="mod">
          <ac:chgData name="744311194@qq.com" userId="e2a28223f2085f4b" providerId="LiveId" clId="{CCF3AC58-771A-4CD9-839B-04D7DBE12AD2}" dt="2025-04-17T06:03:50.128" v="999" actId="13926"/>
          <ac:spMkLst>
            <pc:docMk/>
            <pc:sldMk cId="0" sldId="1136"/>
            <ac:spMk id="1046532" creationId="{00000000-0000-0000-0000-000000000000}"/>
          </ac:spMkLst>
        </pc:spChg>
      </pc:sldChg>
      <pc:sldChg chg="modSp mod">
        <pc:chgData name="744311194@qq.com" userId="e2a28223f2085f4b" providerId="LiveId" clId="{CCF3AC58-771A-4CD9-839B-04D7DBE12AD2}" dt="2025-04-17T06:18:56.853" v="2007" actId="13926"/>
        <pc:sldMkLst>
          <pc:docMk/>
          <pc:sldMk cId="0" sldId="1144"/>
        </pc:sldMkLst>
        <pc:spChg chg="mod">
          <ac:chgData name="744311194@qq.com" userId="e2a28223f2085f4b" providerId="LiveId" clId="{CCF3AC58-771A-4CD9-839B-04D7DBE12AD2}" dt="2025-04-17T06:18:56.853" v="2007" actId="13926"/>
          <ac:spMkLst>
            <pc:docMk/>
            <pc:sldMk cId="0" sldId="1144"/>
            <ac:spMk id="101379" creationId="{00000000-0000-0000-0000-000000000000}"/>
          </ac:spMkLst>
        </pc:spChg>
      </pc:sldChg>
      <pc:sldChg chg="modSp mod">
        <pc:chgData name="744311194@qq.com" userId="e2a28223f2085f4b" providerId="LiveId" clId="{CCF3AC58-771A-4CD9-839B-04D7DBE12AD2}" dt="2025-04-16T07:48:57.161" v="4" actId="13926"/>
        <pc:sldMkLst>
          <pc:docMk/>
          <pc:sldMk cId="0" sldId="1145"/>
        </pc:sldMkLst>
        <pc:spChg chg="mod">
          <ac:chgData name="744311194@qq.com" userId="e2a28223f2085f4b" providerId="LiveId" clId="{CCF3AC58-771A-4CD9-839B-04D7DBE12AD2}" dt="2025-04-16T07:48:57.161" v="4" actId="13926"/>
          <ac:spMkLst>
            <pc:docMk/>
            <pc:sldMk cId="0" sldId="1145"/>
            <ac:spMk id="18437" creationId="{00000000-0000-0000-0000-000000000000}"/>
          </ac:spMkLst>
        </pc:spChg>
      </pc:sldChg>
      <pc:sldChg chg="del">
        <pc:chgData name="744311194@qq.com" userId="e2a28223f2085f4b" providerId="LiveId" clId="{CCF3AC58-771A-4CD9-839B-04D7DBE12AD2}" dt="2025-04-17T05:53:49.426" v="717" actId="47"/>
        <pc:sldMkLst>
          <pc:docMk/>
          <pc:sldMk cId="0" sldId="1147"/>
        </pc:sldMkLst>
      </pc:sldChg>
      <pc:sldChg chg="modSp del mod">
        <pc:chgData name="744311194@qq.com" userId="e2a28223f2085f4b" providerId="LiveId" clId="{CCF3AC58-771A-4CD9-839B-04D7DBE12AD2}" dt="2025-04-17T06:20:46.806" v="2030" actId="2696"/>
        <pc:sldMkLst>
          <pc:docMk/>
          <pc:sldMk cId="0" sldId="1152"/>
        </pc:sldMkLst>
      </pc:sldChg>
      <pc:sldChg chg="add">
        <pc:chgData name="744311194@qq.com" userId="e2a28223f2085f4b" providerId="LiveId" clId="{CCF3AC58-771A-4CD9-839B-04D7DBE12AD2}" dt="2025-04-17T06:20:55.168" v="2031"/>
        <pc:sldMkLst>
          <pc:docMk/>
          <pc:sldMk cId="587289713" sldId="1152"/>
        </pc:sldMkLst>
      </pc:sldChg>
      <pc:sldChg chg="modSp ord">
        <pc:chgData name="744311194@qq.com" userId="e2a28223f2085f4b" providerId="LiveId" clId="{CCF3AC58-771A-4CD9-839B-04D7DBE12AD2}" dt="2025-04-17T06:21:06.420" v="2035"/>
        <pc:sldMkLst>
          <pc:docMk/>
          <pc:sldMk cId="0" sldId="1154"/>
        </pc:sldMkLst>
        <pc:spChg chg="mod">
          <ac:chgData name="744311194@qq.com" userId="e2a28223f2085f4b" providerId="LiveId" clId="{CCF3AC58-771A-4CD9-839B-04D7DBE12AD2}" dt="2025-04-17T06:20:21.517" v="2028" actId="13926"/>
          <ac:spMkLst>
            <pc:docMk/>
            <pc:sldMk cId="0" sldId="1154"/>
            <ac:spMk id="1064964" creationId="{00000000-0000-0000-0000-000000000000}"/>
          </ac:spMkLst>
        </pc:spChg>
      </pc:sldChg>
      <pc:sldChg chg="modSp mod">
        <pc:chgData name="744311194@qq.com" userId="e2a28223f2085f4b" providerId="LiveId" clId="{CCF3AC58-771A-4CD9-839B-04D7DBE12AD2}" dt="2025-04-16T08:06:42.869" v="114" actId="13926"/>
        <pc:sldMkLst>
          <pc:docMk/>
          <pc:sldMk cId="0" sldId="1163"/>
        </pc:sldMkLst>
        <pc:spChg chg="mod">
          <ac:chgData name="744311194@qq.com" userId="e2a28223f2085f4b" providerId="LiveId" clId="{CCF3AC58-771A-4CD9-839B-04D7DBE12AD2}" dt="2025-04-16T08:06:42.869" v="114" actId="13926"/>
          <ac:spMkLst>
            <pc:docMk/>
            <pc:sldMk cId="0" sldId="1163"/>
            <ac:spMk id="31746" creationId="{00000000-0000-0000-0000-000000000000}"/>
          </ac:spMkLst>
        </pc:spChg>
      </pc:sldChg>
      <pc:sldChg chg="delSp modSp mod">
        <pc:chgData name="744311194@qq.com" userId="e2a28223f2085f4b" providerId="LiveId" clId="{CCF3AC58-771A-4CD9-839B-04D7DBE12AD2}" dt="2025-04-17T06:09:19.590" v="1438" actId="13926"/>
        <pc:sldMkLst>
          <pc:docMk/>
          <pc:sldMk cId="0" sldId="1171"/>
        </pc:sldMkLst>
        <pc:spChg chg="mod">
          <ac:chgData name="744311194@qq.com" userId="e2a28223f2085f4b" providerId="LiveId" clId="{CCF3AC58-771A-4CD9-839B-04D7DBE12AD2}" dt="2025-04-17T06:09:12.288" v="1436" actId="1076"/>
          <ac:spMkLst>
            <pc:docMk/>
            <pc:sldMk cId="0" sldId="1171"/>
            <ac:spMk id="76802" creationId="{00000000-0000-0000-0000-000000000000}"/>
          </ac:spMkLst>
        </pc:spChg>
        <pc:spChg chg="mod">
          <ac:chgData name="744311194@qq.com" userId="e2a28223f2085f4b" providerId="LiveId" clId="{CCF3AC58-771A-4CD9-839B-04D7DBE12AD2}" dt="2025-04-17T06:09:15.995" v="1437" actId="13926"/>
          <ac:spMkLst>
            <pc:docMk/>
            <pc:sldMk cId="0" sldId="1171"/>
            <ac:spMk id="76805" creationId="{00000000-0000-0000-0000-000000000000}"/>
          </ac:spMkLst>
        </pc:spChg>
        <pc:spChg chg="mod">
          <ac:chgData name="744311194@qq.com" userId="e2a28223f2085f4b" providerId="LiveId" clId="{CCF3AC58-771A-4CD9-839B-04D7DBE12AD2}" dt="2025-04-17T06:09:19.590" v="1438" actId="13926"/>
          <ac:spMkLst>
            <pc:docMk/>
            <pc:sldMk cId="0" sldId="1171"/>
            <ac:spMk id="1083400" creationId="{00000000-0000-0000-0000-000000000000}"/>
          </ac:spMkLst>
        </pc:spChg>
      </pc:sldChg>
      <pc:sldChg chg="del">
        <pc:chgData name="744311194@qq.com" userId="e2a28223f2085f4b" providerId="LiveId" clId="{CCF3AC58-771A-4CD9-839B-04D7DBE12AD2}" dt="2025-04-17T06:07:41.043" v="1361" actId="47"/>
        <pc:sldMkLst>
          <pc:docMk/>
          <pc:sldMk cId="0" sldId="1174"/>
        </pc:sldMkLst>
      </pc:sldChg>
      <pc:sldChg chg="modSp">
        <pc:chgData name="744311194@qq.com" userId="e2a28223f2085f4b" providerId="LiveId" clId="{CCF3AC58-771A-4CD9-839B-04D7DBE12AD2}" dt="2025-04-16T09:18:26.196" v="549" actId="13926"/>
        <pc:sldMkLst>
          <pc:docMk/>
          <pc:sldMk cId="0" sldId="1177"/>
        </pc:sldMkLst>
        <pc:spChg chg="mod">
          <ac:chgData name="744311194@qq.com" userId="e2a28223f2085f4b" providerId="LiveId" clId="{CCF3AC58-771A-4CD9-839B-04D7DBE12AD2}" dt="2025-04-16T09:18:26.196" v="549" actId="13926"/>
          <ac:spMkLst>
            <pc:docMk/>
            <pc:sldMk cId="0" sldId="1177"/>
            <ac:spMk id="6" creationId="{00000000-0000-0000-0000-000000000000}"/>
          </ac:spMkLst>
        </pc:spChg>
      </pc:sldChg>
      <pc:sldChg chg="modSp">
        <pc:chgData name="744311194@qq.com" userId="e2a28223f2085f4b" providerId="LiveId" clId="{CCF3AC58-771A-4CD9-839B-04D7DBE12AD2}" dt="2025-04-16T09:18:36.508" v="551" actId="13926"/>
        <pc:sldMkLst>
          <pc:docMk/>
          <pc:sldMk cId="0" sldId="1178"/>
        </pc:sldMkLst>
        <pc:spChg chg="mod">
          <ac:chgData name="744311194@qq.com" userId="e2a28223f2085f4b" providerId="LiveId" clId="{CCF3AC58-771A-4CD9-839B-04D7DBE12AD2}" dt="2025-04-16T09:18:36.508" v="551" actId="13926"/>
          <ac:spMkLst>
            <pc:docMk/>
            <pc:sldMk cId="0" sldId="1178"/>
            <ac:spMk id="62" creationId="{00000000-0000-0000-0000-000000000000}"/>
          </ac:spMkLst>
        </pc:spChg>
      </pc:sldChg>
      <pc:sldChg chg="modSp">
        <pc:chgData name="744311194@qq.com" userId="e2a28223f2085f4b" providerId="LiveId" clId="{CCF3AC58-771A-4CD9-839B-04D7DBE12AD2}" dt="2025-04-17T05:49:40.699" v="555" actId="13926"/>
        <pc:sldMkLst>
          <pc:docMk/>
          <pc:sldMk cId="0" sldId="1179"/>
        </pc:sldMkLst>
        <pc:spChg chg="mod">
          <ac:chgData name="744311194@qq.com" userId="e2a28223f2085f4b" providerId="LiveId" clId="{CCF3AC58-771A-4CD9-839B-04D7DBE12AD2}" dt="2025-04-17T05:49:40.699" v="555" actId="13926"/>
          <ac:spMkLst>
            <pc:docMk/>
            <pc:sldMk cId="0" sldId="1179"/>
            <ac:spMk id="59" creationId="{00000000-0000-0000-0000-000000000000}"/>
          </ac:spMkLst>
        </pc:spChg>
      </pc:sldChg>
      <pc:sldChg chg="modSp mod">
        <pc:chgData name="744311194@qq.com" userId="e2a28223f2085f4b" providerId="LiveId" clId="{CCF3AC58-771A-4CD9-839B-04D7DBE12AD2}" dt="2025-04-16T07:49:05.045" v="6" actId="13926"/>
        <pc:sldMkLst>
          <pc:docMk/>
          <pc:sldMk cId="2586778002" sldId="1182"/>
        </pc:sldMkLst>
        <pc:spChg chg="mod">
          <ac:chgData name="744311194@qq.com" userId="e2a28223f2085f4b" providerId="LiveId" clId="{CCF3AC58-771A-4CD9-839B-04D7DBE12AD2}" dt="2025-04-16T07:49:05.045" v="6" actId="13926"/>
          <ac:spMkLst>
            <pc:docMk/>
            <pc:sldMk cId="2586778002" sldId="1182"/>
            <ac:spMk id="18437" creationId="{00000000-0000-0000-0000-000000000000}"/>
          </ac:spMkLst>
        </pc:spChg>
      </pc:sldChg>
      <pc:sldChg chg="modSp mod">
        <pc:chgData name="744311194@qq.com" userId="e2a28223f2085f4b" providerId="LiveId" clId="{CCF3AC58-771A-4CD9-839B-04D7DBE12AD2}" dt="2025-04-17T05:50:45.762" v="558" actId="13926"/>
        <pc:sldMkLst>
          <pc:docMk/>
          <pc:sldMk cId="2760421737" sldId="1183"/>
        </pc:sldMkLst>
        <pc:spChg chg="mod">
          <ac:chgData name="744311194@qq.com" userId="e2a28223f2085f4b" providerId="LiveId" clId="{CCF3AC58-771A-4CD9-839B-04D7DBE12AD2}" dt="2025-04-17T05:50:45.762" v="558" actId="13926"/>
          <ac:spMkLst>
            <pc:docMk/>
            <pc:sldMk cId="2760421737" sldId="1183"/>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a:cs typeface="+mn-cs"/>
              </a:defRPr>
            </a:lvl1pPr>
          </a:lstStyle>
          <a:p>
            <a:pPr>
              <a:defRPr/>
            </a:pPr>
            <a:fld id="{083D4985-ED47-4532-8530-346AF96BAE8B}" type="slidenum">
              <a:rPr lang="en-US" altLang="zh-CN"/>
              <a:pPr>
                <a:defRPr/>
              </a:pPr>
              <a:t>‹#›</a:t>
            </a:fld>
            <a:endParaRPr lang="en-US" altLang="zh-CN">
              <a:cs typeface="楷体_GB231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17T06:29:05.28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131 0,'27'2,"0"1,0 1,0 1,36 12,36 8,-22-14,106 3,79-14,-147-2,-21 2,483-27,-429 15,201 9,-183 5,-163-2,5-1,0 2,1-1,-1 1,15 3,-22-3,1-1,-1 0,0 1,1-1,-1 1,0 0,0-1,0 1,1 0,-1 0,0 0,0 0,0 0,0 0,0 0,-1 0,1 0,0 0,0 0,-1 0,1 1,-1-1,1 0,-1 1,1-1,-1 0,0 1,0-1,0 0,1 1,-1-1,-1 0,1 1,0-1,0 1,-1 1,-1 5,-1 0,0 0,-1 0,0-1,0 1,-1-1,1 0,-2 0,-9 10,-9 7,-27 21,45-40,-34 28,-83 53,102-74,0-1,0-1,-1-1,0-1,-1-1,-38 7,-15-5,-84 0,-82-10,125-1,-1123-4,1228 6,0 0,0 1,1 0,-1 1,-14 3,23-4,0 0,0 0,1 1,-1-1,0 0,1 1,0 0,-1 0,1-1,0 1,0 0,0 1,0-1,0 0,0 1,1-1,-1 1,1-1,0 1,-1 0,1-1,0 1,1 0,-1 0,1 0,-1 4,1 1,0 0,1 0,0 0,1 0,-1 0,1 0,1-1,0 1,0-1,0 1,1-1,0 0,1 0,6 7,3 5,2 0,0-2,29 25,-20-23,1-1,1-2,0 0,1-2,0-1,1-1,52 14,-11-9,1-4,91 6,285 0,2-23,-234 1,-164 2,177-8,-227 9,0-1,0 1,0 0,1 0,-1-1,0 1,0 0,0 0,1 1,-1-1,0 0,0 0,0 0,0 1,1-1,-1 1,0-1,0 1,0-1,0 1,0 0,0-1,0 1,0 0,0 0,-1 0,1 0,0-1,0 1,-1 0,1 1,-1-1,1 0,-1 0,1 0,-1 0,1 0,-1 0,0 1,0-1,0 0,0 0,0 0,0 1,0-1,0 0,0 0,0 0,-1 1,1-1,-1 1,-1 6,0 0,-1 0,0-1,-1 1,1-1,-8 10,2-6,0 0,0-1,-1-1,0 1,-1-2,0 1,0-2,-1 1,0-2,-24 11,1-4,1-2,-69 14,20-13,-139 5,-85-20,253 2,-12-5,86 0,0 2,1 0,22-1,10-1,909-174,-687 115,-222 53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17T06:29:06.1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1 159,'2984'0,"-2282"-16,-5-53,-539 43,-35 5,128-6,-139 31,-98-4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4-17T06:29:07.1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1,'0'1,"0"1,0 0,0 0,0 0,0 0,0-1,0 1,1 0,-1 0,1-1,-1 1,1 0,0 0,0-1,-1 1,1-1,1 1,-1-1,0 1,0-1,0 0,1 1,-1-1,0 0,1 0,-1 0,1 0,0 0,-1-1,1 1,0 0,-1-1,3 1,22 8,1-1,-1-1,41 4,-24-4,450 45,5-39,-475-13,2087 4,-1154-7,435 3,-1366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12292" name="Rectangle 4"/>
          <p:cNvSpPr>
            <a:spLocks noGrp="1" noRot="1" noChangeAspect="1" noChangeArrowheads="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eaLnBrk="1" hangingPunct="1">
              <a:spcBef>
                <a:spcPct val="0"/>
              </a:spcBef>
              <a:buFontTx/>
              <a:buNone/>
              <a:defRPr kumimoji="1" sz="1200" b="0">
                <a:ea typeface="仿宋_GB2312" pitchFamily="49" charset="-122"/>
                <a:cs typeface="+mn-cs"/>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spcBef>
                <a:spcPct val="0"/>
              </a:spcBef>
              <a:buFont typeface="Arial" panose="020B0604020202020204" pitchFamily="34" charset="0"/>
              <a:buNone/>
              <a:defRPr sz="1200" b="0" noProof="1">
                <a:ea typeface="仿宋_GB2312"/>
                <a:cs typeface="+mn-cs"/>
              </a:defRPr>
            </a:lvl1pPr>
          </a:lstStyle>
          <a:p>
            <a:pPr>
              <a:defRPr/>
            </a:pPr>
            <a:fld id="{88AB039D-5412-480A-B178-F3189242D94D}" type="slidenum">
              <a:rPr lang="en-US" altLang="zh-CN"/>
              <a:pPr>
                <a:defRPr/>
              </a:pPr>
              <a:t>‹#›</a:t>
            </a:fld>
            <a:endParaRPr lang="en-US" altLang="zh-CN">
              <a:cs typeface="楷体_GB2312"/>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仿宋_GB2312" pitchFamily="49" charset="-122"/>
        <a:cs typeface="仿宋_GB231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Char char="•"/>
            </a:pPr>
            <a:fld id="{40B98D6D-8097-4994-9CDC-F817A6D2B1F5}" type="slidenum">
              <a:rPr altLang="zh-CN" sz="1200" b="0" smtClean="0">
                <a:ea typeface="仿宋_GB2312"/>
                <a:cs typeface="仿宋_GB2312"/>
              </a:rPr>
              <a:pPr>
                <a:buFont typeface="Arial" panose="020B0604020202020204" pitchFamily="34" charset="0"/>
                <a:buChar char="•"/>
              </a:pPr>
              <a:t>24</a:t>
            </a:fld>
            <a:endParaRPr lang="zh-CN" altLang="zh-CN" sz="1200" b="0">
              <a:ea typeface="仿宋_GB2312"/>
              <a:cs typeface="仿宋_GB2312"/>
            </a:endParaRPr>
          </a:p>
        </p:txBody>
      </p:sp>
      <p:sp>
        <p:nvSpPr>
          <p:cNvPr id="40963" name="Rectangle 2"/>
          <p:cNvSpPr>
            <a:spLocks noGrp="1" noRot="1" noChangeAspect="1" noChangeArrowheads="1" noTextEdit="1"/>
          </p:cNvSpPr>
          <p:nvPr>
            <p:ph type="sldImg" idx="4294967295"/>
          </p:nvPr>
        </p:nvSpPr>
        <p:spPr>
          <a:xfrm>
            <a:off x="765175" y="384175"/>
            <a:ext cx="5514975" cy="4137025"/>
          </a:xfrm>
          <a:ln/>
        </p:spPr>
      </p:sp>
      <p:sp>
        <p:nvSpPr>
          <p:cNvPr id="40964" name="Rectangle 3"/>
          <p:cNvSpPr>
            <a:spLocks noGrp="1" noChangeArrowheads="1"/>
          </p:cNvSpPr>
          <p:nvPr>
            <p:ph type="body" idx="4294967295"/>
          </p:nvPr>
        </p:nvSpPr>
        <p:spPr/>
        <p:txBody>
          <a:bodyPr>
            <a:prstTxWarp prst="textNoShape">
              <a:avLst/>
            </a:prstTxWarp>
          </a:bodyPr>
          <a:lstStyle/>
          <a:p>
            <a:endParaRPr lang="zh-CN" altLang="zh-CN">
              <a:ea typeface="仿宋_GB231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Char char="•"/>
            </a:pPr>
            <a:fld id="{888F0C26-EC5D-4F05-96B9-F2EF40898895}" type="slidenum">
              <a:rPr altLang="zh-CN" sz="1200" b="0" smtClean="0">
                <a:ea typeface="仿宋_GB2312"/>
                <a:cs typeface="仿宋_GB2312"/>
              </a:rPr>
              <a:pPr>
                <a:buFont typeface="Arial" panose="020B0604020202020204" pitchFamily="34" charset="0"/>
                <a:buChar char="•"/>
              </a:pPr>
              <a:t>26</a:t>
            </a:fld>
            <a:endParaRPr lang="zh-CN" altLang="zh-CN" sz="1200" b="0">
              <a:ea typeface="仿宋_GB2312"/>
              <a:cs typeface="仿宋_GB2312"/>
            </a:endParaRPr>
          </a:p>
        </p:txBody>
      </p:sp>
      <p:sp>
        <p:nvSpPr>
          <p:cNvPr id="44035" name="Rectangle 2"/>
          <p:cNvSpPr>
            <a:spLocks noGrp="1" noRot="1" noChangeAspect="1" noChangeArrowheads="1" noTextEdit="1"/>
          </p:cNvSpPr>
          <p:nvPr>
            <p:ph type="sldImg" idx="4294967295"/>
          </p:nvPr>
        </p:nvSpPr>
        <p:spPr>
          <a:xfrm>
            <a:off x="765175" y="384175"/>
            <a:ext cx="5514975" cy="4137025"/>
          </a:xfrm>
          <a:ln/>
        </p:spPr>
      </p:sp>
      <p:sp>
        <p:nvSpPr>
          <p:cNvPr id="44036" name="Rectangle 3"/>
          <p:cNvSpPr>
            <a:spLocks noGrp="1" noChangeArrowheads="1"/>
          </p:cNvSpPr>
          <p:nvPr>
            <p:ph type="body" idx="4294967295"/>
          </p:nvPr>
        </p:nvSpPr>
        <p:spPr/>
        <p:txBody>
          <a:bodyPr>
            <a:prstTxWarp prst="textNoShape">
              <a:avLst/>
            </a:prstTxWarp>
          </a:bodyPr>
          <a:lstStyle/>
          <a:p>
            <a:endParaRPr lang="zh-CN" altLang="zh-CN">
              <a:ea typeface="仿宋_GB231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4"/>
          <p:cNvSpPr>
            <a:spLocks noGrp="1"/>
          </p:cNvSpPr>
          <p:nvPr>
            <p:ph type="dt" sz="quarter" idx="10"/>
          </p:nvPr>
        </p:nvSpPr>
        <p:spPr>
          <a:xfrm>
            <a:off x="8072438" y="6288088"/>
            <a:ext cx="1071562" cy="457200"/>
          </a:xfrm>
        </p:spPr>
        <p:txBody>
          <a:bodyPr/>
          <a:lstStyle>
            <a:lvl1pPr>
              <a:defRPr/>
            </a:lvl1pPr>
          </a:lstStyle>
          <a:p>
            <a:pPr>
              <a:defRPr/>
            </a:pPr>
            <a:endParaRPr lang="en-US" altLang="zh-CN"/>
          </a:p>
        </p:txBody>
      </p:sp>
    </p:spTree>
    <p:extLst>
      <p:ext uri="{BB962C8B-B14F-4D97-AF65-F5344CB8AC3E}">
        <p14:creationId xmlns:p14="http://schemas.microsoft.com/office/powerpoint/2010/main" val="4809438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3107760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1239851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49288" y="1449388"/>
            <a:ext cx="3914775" cy="4725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16463" y="1449388"/>
            <a:ext cx="3916362" cy="47259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406687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24065858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1199006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41459134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1_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1589111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4"/>
          <p:cNvSpPr>
            <a:spLocks noGrp="1"/>
          </p:cNvSpPr>
          <p:nvPr>
            <p:ph type="dt" sz="quarter" idx="10"/>
          </p:nvPr>
        </p:nvSpPr>
        <p:spPr>
          <a:xfrm>
            <a:off x="0" y="0"/>
            <a:ext cx="0" cy="0"/>
          </a:xfrm>
        </p:spPr>
        <p:txBody>
          <a:bodyPr/>
          <a:lstStyle>
            <a:lvl1pPr>
              <a:defRPr/>
            </a:lvl1pPr>
          </a:lstStyle>
          <a:p>
            <a:pPr>
              <a:defRPr/>
            </a:pPr>
            <a:endParaRPr lang="en-US" altLang="zh-CN"/>
          </a:p>
        </p:txBody>
      </p:sp>
    </p:spTree>
    <p:extLst>
      <p:ext uri="{BB962C8B-B14F-4D97-AF65-F5344CB8AC3E}">
        <p14:creationId xmlns:p14="http://schemas.microsoft.com/office/powerpoint/2010/main" val="4228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17588" y="609600"/>
            <a:ext cx="6400800" cy="685800"/>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49288" y="1449388"/>
            <a:ext cx="7983537" cy="4725987"/>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xfrm>
            <a:off x="4937125" y="6240463"/>
            <a:ext cx="4419600" cy="457200"/>
          </a:xfrm>
          <a:prstGeom prst="rect">
            <a:avLst/>
          </a:prstGeom>
        </p:spPr>
        <p:txBody>
          <a:bodyPr/>
          <a:lstStyle>
            <a:lvl1pPr eaLnBrk="0" hangingPunct="0">
              <a:spcBef>
                <a:spcPct val="20000"/>
              </a:spcBef>
              <a:buFontTx/>
              <a:buNone/>
              <a:defRPr kumimoji="1"/>
            </a:lvl1pPr>
          </a:lstStyle>
          <a:p>
            <a:pPr>
              <a:defRPr/>
            </a:pPr>
            <a:endParaRPr lang="en-US" altLang="zh-CN"/>
          </a:p>
        </p:txBody>
      </p:sp>
    </p:spTree>
    <p:extLst>
      <p:ext uri="{BB962C8B-B14F-4D97-AF65-F5344CB8AC3E}">
        <p14:creationId xmlns:p14="http://schemas.microsoft.com/office/powerpoint/2010/main" val="2304107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610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49288" y="609600"/>
            <a:ext cx="7983537" cy="55657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extLst>
      <p:ext uri="{BB962C8B-B14F-4D97-AF65-F5344CB8AC3E}">
        <p14:creationId xmlns:p14="http://schemas.microsoft.com/office/powerpoint/2010/main" val="3955601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Line 9"/>
          <p:cNvSpPr>
            <a:spLocks noChangeShapeType="1"/>
          </p:cNvSpPr>
          <p:nvPr/>
        </p:nvSpPr>
        <p:spPr bwMode="auto">
          <a:xfrm>
            <a:off x="0" y="6281738"/>
            <a:ext cx="91440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7" name="Line 18"/>
          <p:cNvSpPr>
            <a:spLocks noChangeShapeType="1"/>
          </p:cNvSpPr>
          <p:nvPr/>
        </p:nvSpPr>
        <p:spPr bwMode="auto">
          <a:xfrm>
            <a:off x="1588" y="568325"/>
            <a:ext cx="9142412" cy="0"/>
          </a:xfrm>
          <a:prstGeom prst="line">
            <a:avLst/>
          </a:prstGeom>
          <a:noFill/>
          <a:ln w="28575">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 name="WordArt 20"/>
          <p:cNvSpPr>
            <a:spLocks noChangeArrowheads="1" noChangeShapeType="1" noTextEdit="1"/>
          </p:cNvSpPr>
          <p:nvPr/>
        </p:nvSpPr>
        <p:spPr bwMode="auto">
          <a:xfrm rot="46488">
            <a:off x="323850" y="60325"/>
            <a:ext cx="2089150" cy="495300"/>
          </a:xfrm>
          <a:prstGeom prst="rect">
            <a:avLst/>
          </a:prstGeom>
          <a:effectLst>
            <a:outerShdw blurRad="76200" dist="12700" dir="2700000" sy="-23000" kx="-800400" algn="bl" rotWithShape="0">
              <a:schemeClr val="bg1">
                <a:alpha val="20000"/>
              </a:schemeClr>
            </a:outerShdw>
          </a:effectLst>
        </p:spPr>
        <p:txBody>
          <a:bodyPr wrap="none" fromWordArt="1">
            <a:prstTxWarp prst="textPlain">
              <a:avLst>
                <a:gd name="adj" fmla="val 50000"/>
              </a:avLst>
            </a:prstTxWarp>
          </a:bodyPr>
          <a:lstStyle/>
          <a:p>
            <a:pPr algn="ctr">
              <a:defRPr/>
            </a:pPr>
            <a:r>
              <a:rPr lang="zh-CN" altLang="en-US" sz="3200" kern="10" dirty="0">
                <a:ln w="12700">
                  <a:solidFill>
                    <a:srgbClr val="EAEAEA"/>
                  </a:solidFill>
                  <a:round/>
                  <a:headEnd type="none" w="sm" len="sm"/>
                  <a:tailEnd type="none" w="sm" len="sm"/>
                </a:ln>
                <a:solidFill>
                  <a:schemeClr val="accent6">
                    <a:lumMod val="75000"/>
                  </a:schemeClr>
                </a:solidFill>
                <a:effectLst>
                  <a:outerShdw dist="35921" dir="2700000" sx="1000" sy="1000" kx="2115830" algn="bl" rotWithShape="0">
                    <a:srgbClr val="C0C0C0"/>
                  </a:outerShdw>
                </a:effectLst>
                <a:latin typeface="华光黑体_CNKI" panose="02000500000000000000" pitchFamily="2" charset="-122"/>
                <a:ea typeface="华光黑体_CNKI" panose="02000500000000000000" pitchFamily="2" charset="-122"/>
              </a:rPr>
              <a:t>    </a:t>
            </a:r>
          </a:p>
        </p:txBody>
      </p:sp>
      <p:sp>
        <p:nvSpPr>
          <p:cNvPr id="1029" name="文本框 2"/>
          <p:cNvSpPr txBox="1">
            <a:spLocks noChangeArrowheads="1"/>
          </p:cNvSpPr>
          <p:nvPr userDrawn="1"/>
        </p:nvSpPr>
        <p:spPr bwMode="auto">
          <a:xfrm>
            <a:off x="1588" y="46038"/>
            <a:ext cx="33089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i="0" dirty="0">
                <a:solidFill>
                  <a:schemeClr val="accent6">
                    <a:lumMod val="75000"/>
                  </a:schemeClr>
                </a:solidFill>
                <a:effectLst>
                  <a:outerShdw blurRad="38100" dist="38100" dir="2700000" algn="tl">
                    <a:srgbClr val="000000">
                      <a:alpha val="43137"/>
                    </a:srgbClr>
                  </a:outerShdw>
                </a:effectLst>
                <a:latin typeface="华光楷体二_CNKI" panose="02000500000000000000" pitchFamily="2" charset="-122"/>
                <a:ea typeface="华光楷体二_CNKI" panose="02000500000000000000" pitchFamily="2" charset="-122"/>
              </a:rPr>
              <a:t>数据结构</a:t>
            </a:r>
            <a:r>
              <a:rPr lang="en-US" altLang="zh-CN" i="0" dirty="0">
                <a:solidFill>
                  <a:schemeClr val="accent6">
                    <a:lumMod val="75000"/>
                  </a:schemeClr>
                </a:solidFill>
                <a:effectLst>
                  <a:outerShdw blurRad="38100" dist="38100" dir="2700000" algn="tl">
                    <a:srgbClr val="000000">
                      <a:alpha val="43137"/>
                    </a:srgbClr>
                  </a:outerShdw>
                </a:effectLst>
                <a:latin typeface="华光楷体二_CNKI" panose="02000500000000000000" pitchFamily="2" charset="-122"/>
                <a:ea typeface="华光楷体二_CNKI" panose="02000500000000000000" pitchFamily="2" charset="-122"/>
              </a:rPr>
              <a:t>:Ch7-</a:t>
            </a:r>
            <a:r>
              <a:rPr lang="zh-CN" altLang="en-US" i="0" dirty="0">
                <a:solidFill>
                  <a:schemeClr val="accent6">
                    <a:lumMod val="75000"/>
                  </a:schemeClr>
                </a:solidFill>
                <a:effectLst>
                  <a:outerShdw blurRad="38100" dist="38100" dir="2700000" algn="tl">
                    <a:srgbClr val="000000">
                      <a:alpha val="43137"/>
                    </a:srgbClr>
                  </a:outerShdw>
                </a:effectLst>
                <a:latin typeface="华光楷体二_CNKI" panose="02000500000000000000" pitchFamily="2" charset="-122"/>
                <a:ea typeface="华光楷体二_CNKI" panose="02000500000000000000" pitchFamily="2" charset="-122"/>
              </a:rPr>
              <a:t>查找</a:t>
            </a:r>
          </a:p>
        </p:txBody>
      </p:sp>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33" r:id="rId11"/>
    <p:sldLayoutId id="2147483734" r:id="rId12"/>
  </p:sldLayoutIdLst>
  <p:hf sldNum="0" hdr="0" dt="0"/>
  <p:txStyles>
    <p:titleStyle>
      <a:lvl1pPr algn="ctr" rtl="0" eaLnBrk="0" fontAlgn="base" hangingPunct="0">
        <a:spcBef>
          <a:spcPct val="0"/>
        </a:spcBef>
        <a:spcAft>
          <a:spcPct val="0"/>
        </a:spcAft>
        <a:defRPr sz="4400" b="1">
          <a:solidFill>
            <a:schemeClr val="accent1"/>
          </a:solidFill>
          <a:effectLst>
            <a:outerShdw blurRad="38100" dist="38100" dir="2700000" algn="tl">
              <a:srgbClr val="C0C0C0"/>
            </a:outerShdw>
          </a:effectLst>
          <a:latin typeface="+mj-lt"/>
          <a:ea typeface="+mj-ea"/>
          <a:cs typeface="仿宋_GB2312"/>
        </a:defRPr>
      </a:lvl1pPr>
      <a:lvl2pPr algn="ctr" rtl="0" eaLnBrk="0" fontAlgn="base" hangingPunct="0">
        <a:spcBef>
          <a:spcPct val="0"/>
        </a:spcBef>
        <a:spcAft>
          <a:spcPct val="0"/>
        </a:spcAft>
        <a:defRPr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cs typeface="仿宋_GB2312"/>
        </a:defRPr>
      </a:lvl2pPr>
      <a:lvl3pPr algn="ctr" rtl="0" eaLnBrk="0" fontAlgn="base" hangingPunct="0">
        <a:spcBef>
          <a:spcPct val="0"/>
        </a:spcBef>
        <a:spcAft>
          <a:spcPct val="0"/>
        </a:spcAft>
        <a:defRPr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cs typeface="仿宋_GB2312"/>
        </a:defRPr>
      </a:lvl3pPr>
      <a:lvl4pPr algn="ctr" rtl="0" eaLnBrk="0" fontAlgn="base" hangingPunct="0">
        <a:spcBef>
          <a:spcPct val="0"/>
        </a:spcBef>
        <a:spcAft>
          <a:spcPct val="0"/>
        </a:spcAft>
        <a:defRPr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cs typeface="仿宋_GB2312"/>
        </a:defRPr>
      </a:lvl4pPr>
      <a:lvl5pPr algn="ctr" rtl="0" eaLnBrk="0" fontAlgn="base" hangingPunct="0">
        <a:spcBef>
          <a:spcPct val="0"/>
        </a:spcBef>
        <a:spcAft>
          <a:spcPct val="0"/>
        </a:spcAft>
        <a:defRPr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cs typeface="仿宋_GB2312"/>
        </a:defRPr>
      </a:lvl5pPr>
      <a:lvl6pPr marL="4572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6pPr>
      <a:lvl7pPr marL="9144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7pPr>
      <a:lvl8pPr marL="13716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8pPr>
      <a:lvl9pPr marL="1828800" algn="ctr" rtl="0" eaLnBrk="0" fontAlgn="base" hangingPunct="0">
        <a:spcBef>
          <a:spcPct val="0"/>
        </a:spcBef>
        <a:spcAft>
          <a:spcPct val="0"/>
        </a:spcAft>
        <a:defRPr kumimoji="1" sz="4400" b="1">
          <a:solidFill>
            <a:schemeClr val="accent1"/>
          </a:solidFill>
          <a:effectLst>
            <a:outerShdw blurRad="38100" dist="38100" dir="2700000" algn="tl">
              <a:srgbClr val="C0C0C0"/>
            </a:outerShdw>
          </a:effectLst>
          <a:latin typeface="Times New Roman" panose="02020603050405020304" pitchFamily="18" charset="0"/>
          <a:ea typeface="仿宋_GB2312"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仿宋_GB2312"/>
        </a:defRPr>
      </a:lvl1pPr>
      <a:lvl2pPr marL="742950" indent="-285750" algn="l" rtl="0" eaLnBrk="0" fontAlgn="base" hangingPunct="0">
        <a:spcBef>
          <a:spcPct val="20000"/>
        </a:spcBef>
        <a:spcAft>
          <a:spcPct val="0"/>
        </a:spcAft>
        <a:buChar char="–"/>
        <a:defRPr sz="2800">
          <a:solidFill>
            <a:schemeClr val="tx1"/>
          </a:solidFill>
          <a:latin typeface="+mn-lt"/>
          <a:ea typeface="+mn-ea"/>
          <a:cs typeface="仿宋_GB2312"/>
        </a:defRPr>
      </a:lvl2pPr>
      <a:lvl3pPr marL="1143000" indent="-228600" algn="l" rtl="0" eaLnBrk="0" fontAlgn="base" hangingPunct="0">
        <a:spcBef>
          <a:spcPct val="20000"/>
        </a:spcBef>
        <a:spcAft>
          <a:spcPct val="0"/>
        </a:spcAft>
        <a:buChar char="•"/>
        <a:defRPr sz="2400">
          <a:solidFill>
            <a:schemeClr val="tx1"/>
          </a:solidFill>
          <a:latin typeface="+mn-lt"/>
          <a:ea typeface="+mn-ea"/>
          <a:cs typeface="仿宋_GB2312"/>
        </a:defRPr>
      </a:lvl3pPr>
      <a:lvl4pPr marL="1600200" indent="-228600" algn="l" rtl="0" eaLnBrk="0" fontAlgn="base" hangingPunct="0">
        <a:spcBef>
          <a:spcPct val="20000"/>
        </a:spcBef>
        <a:spcAft>
          <a:spcPct val="0"/>
        </a:spcAft>
        <a:buChar char="–"/>
        <a:defRPr sz="2000">
          <a:solidFill>
            <a:schemeClr val="tx1"/>
          </a:solidFill>
          <a:latin typeface="+mn-lt"/>
          <a:ea typeface="+mn-ea"/>
          <a:cs typeface="仿宋_GB2312"/>
        </a:defRPr>
      </a:lvl4pPr>
      <a:lvl5pPr marL="2057400" indent="-228600" algn="l" rtl="0" eaLnBrk="0" fontAlgn="base" hangingPunct="0">
        <a:spcBef>
          <a:spcPct val="20000"/>
        </a:spcBef>
        <a:spcAft>
          <a:spcPct val="0"/>
        </a:spcAft>
        <a:buChar char="»"/>
        <a:defRPr sz="2000">
          <a:solidFill>
            <a:schemeClr val="tx1"/>
          </a:solidFill>
          <a:latin typeface="+mn-lt"/>
          <a:ea typeface="+mn-ea"/>
          <a:cs typeface="仿宋_GB2312"/>
        </a:defRPr>
      </a:lvl5pPr>
      <a:lvl6pPr marL="2514600" indent="-228600" algn="l" rtl="0" eaLnBrk="0" fontAlgn="base" hangingPunct="0">
        <a:spcBef>
          <a:spcPct val="20000"/>
        </a:spcBef>
        <a:spcAft>
          <a:spcPct val="0"/>
        </a:spcAft>
        <a:buChar char="»"/>
        <a:defRPr kumimoji="1" sz="2000">
          <a:solidFill>
            <a:schemeClr val="tx1"/>
          </a:solidFill>
          <a:latin typeface="+mn-lt"/>
          <a:ea typeface="+mn-ea"/>
        </a:defRPr>
      </a:lvl6pPr>
      <a:lvl7pPr marL="2971800" indent="-228600" algn="l" rtl="0" eaLnBrk="0" fontAlgn="base" hangingPunct="0">
        <a:spcBef>
          <a:spcPct val="20000"/>
        </a:spcBef>
        <a:spcAft>
          <a:spcPct val="0"/>
        </a:spcAft>
        <a:buChar char="»"/>
        <a:defRPr kumimoji="1" sz="2000">
          <a:solidFill>
            <a:schemeClr val="tx1"/>
          </a:solidFill>
          <a:latin typeface="+mn-lt"/>
          <a:ea typeface="+mn-ea"/>
        </a:defRPr>
      </a:lvl7pPr>
      <a:lvl8pPr marL="3429000" indent="-228600" algn="l" rtl="0" eaLnBrk="0" fontAlgn="base" hangingPunct="0">
        <a:spcBef>
          <a:spcPct val="20000"/>
        </a:spcBef>
        <a:spcAft>
          <a:spcPct val="0"/>
        </a:spcAft>
        <a:buChar char="»"/>
        <a:defRPr kumimoji="1" sz="2000">
          <a:solidFill>
            <a:schemeClr val="tx1"/>
          </a:solidFill>
          <a:latin typeface="+mn-lt"/>
          <a:ea typeface="+mn-ea"/>
        </a:defRPr>
      </a:lvl8pPr>
      <a:lvl9pPr marL="3886200" indent="-228600" algn="l" rtl="0" eaLnBrk="0" fontAlgn="base" hangingPunct="0">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3.bin"/><Relationship Id="rId1" Type="http://schemas.openxmlformats.org/officeDocument/2006/relationships/slideLayout" Target="../slideLayouts/slideLayout11.xml"/><Relationship Id="rId5" Type="http://schemas.openxmlformats.org/officeDocument/2006/relationships/image" Target="../media/image6.png"/><Relationship Id="rId4"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audio" Target="../media/audio3.wav"/><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5.bin"/><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4.wav"/><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slide" Target="slide57.xml"/><Relationship Id="rId2" Type="http://schemas.openxmlformats.org/officeDocument/2006/relationships/slide" Target="slide52.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3" Type="http://schemas.openxmlformats.org/officeDocument/2006/relationships/slide" Target="slide65.xml"/><Relationship Id="rId2" Type="http://schemas.openxmlformats.org/officeDocument/2006/relationships/slide" Target="slide58.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audio" Target="../media/audio2.wav"/><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12.wmf"/><Relationship Id="rId7" Type="http://schemas.openxmlformats.org/officeDocument/2006/relationships/image" Target="../media/image14.png"/><Relationship Id="rId2" Type="http://schemas.openxmlformats.org/officeDocument/2006/relationships/oleObject" Target="../embeddings/oleObject7.bin"/><Relationship Id="rId1" Type="http://schemas.openxmlformats.org/officeDocument/2006/relationships/slideLayout" Target="../slideLayouts/slideLayout12.xml"/><Relationship Id="rId6" Type="http://schemas.openxmlformats.org/officeDocument/2006/relationships/customXml" Target="../ink/ink2.xml"/><Relationship Id="rId5" Type="http://schemas.openxmlformats.org/officeDocument/2006/relationships/image" Target="../media/image13.png"/><Relationship Id="rId4" Type="http://schemas.openxmlformats.org/officeDocument/2006/relationships/customXml" Target="../ink/ink1.xml"/><Relationship Id="rId9" Type="http://schemas.openxmlformats.org/officeDocument/2006/relationships/image" Target="../media/image1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4"/>
          <p:cNvSpPr txBox="1">
            <a:spLocks noChangeArrowheads="1"/>
          </p:cNvSpPr>
          <p:nvPr/>
        </p:nvSpPr>
        <p:spPr>
          <a:xfrm>
            <a:off x="1115616" y="2924944"/>
            <a:ext cx="6335712" cy="1695450"/>
          </a:xfrm>
          <a:prstGeom prst="rect">
            <a:avLst/>
          </a:prstGeom>
        </p:spPr>
        <p:txBody>
          <a:bodyPr/>
          <a:lstStyle/>
          <a:p>
            <a:pPr algn="ctr">
              <a:spcBef>
                <a:spcPct val="20000"/>
              </a:spcBef>
              <a:defRPr/>
            </a:pPr>
            <a:r>
              <a:rPr kumimoji="1" lang="zh-CN" altLang="en-US" sz="6600" kern="0" dirty="0">
                <a:solidFill>
                  <a:srgbClr val="C00000"/>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j-cs"/>
                <a:sym typeface="+mn-ea"/>
              </a:rPr>
              <a:t>第</a:t>
            </a:r>
            <a:r>
              <a:rPr kumimoji="1" lang="en-US" altLang="zh-CN" sz="6600" kern="0" dirty="0">
                <a:solidFill>
                  <a:srgbClr val="C00000"/>
                </a:solidFill>
                <a:effectLst>
                  <a:outerShdw blurRad="38100" dist="38100" dir="2700000" algn="tl">
                    <a:srgbClr val="C0C0C0"/>
                  </a:outerShdw>
                </a:effectLst>
                <a:latin typeface="+mj-lt"/>
                <a:ea typeface="华文行楷" panose="02010800040101010101" pitchFamily="2" charset="-122"/>
                <a:cs typeface="+mj-cs"/>
                <a:sym typeface="+mn-ea"/>
              </a:rPr>
              <a:t>7</a:t>
            </a:r>
            <a:r>
              <a:rPr kumimoji="1" lang="zh-CN" altLang="en-US" sz="6600" kern="0" dirty="0">
                <a:solidFill>
                  <a:srgbClr val="C00000"/>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j-cs"/>
                <a:sym typeface="+mn-ea"/>
              </a:rPr>
              <a:t>章 查找</a:t>
            </a:r>
            <a:br>
              <a:rPr kumimoji="1" lang="zh-CN" altLang="en-US" sz="6600" kern="0" dirty="0">
                <a:solidFill>
                  <a:srgbClr val="C00000"/>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j-cs"/>
              </a:rPr>
            </a:br>
            <a:endParaRPr kumimoji="1" lang="zh-CN" altLang="en-US" sz="6600" i="1" kern="0" dirty="0">
              <a:solidFill>
                <a:srgbClr val="C00000"/>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mj-cs"/>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左大括号 1"/>
          <p:cNvSpPr>
            <a:spLocks/>
          </p:cNvSpPr>
          <p:nvPr/>
        </p:nvSpPr>
        <p:spPr bwMode="auto">
          <a:xfrm>
            <a:off x="1589088" y="1557338"/>
            <a:ext cx="360362" cy="3959225"/>
          </a:xfrm>
          <a:prstGeom prst="leftBrace">
            <a:avLst>
              <a:gd name="adj1" fmla="val 8342"/>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pPr>
            <a:endParaRPr kumimoji="1" lang="zh-CN" altLang="en-US"/>
          </a:p>
        </p:txBody>
      </p:sp>
      <p:sp>
        <p:nvSpPr>
          <p:cNvPr id="15363" name="文本框 2"/>
          <p:cNvSpPr txBox="1">
            <a:spLocks noChangeArrowheads="1"/>
          </p:cNvSpPr>
          <p:nvPr/>
        </p:nvSpPr>
        <p:spPr bwMode="auto">
          <a:xfrm>
            <a:off x="34925" y="3275013"/>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a:t>数据结构</a:t>
            </a:r>
          </a:p>
        </p:txBody>
      </p:sp>
      <p:sp>
        <p:nvSpPr>
          <p:cNvPr id="15364" name="文本框 3"/>
          <p:cNvSpPr txBox="1">
            <a:spLocks noChangeArrowheads="1"/>
          </p:cNvSpPr>
          <p:nvPr/>
        </p:nvSpPr>
        <p:spPr bwMode="auto">
          <a:xfrm>
            <a:off x="2124075" y="1295400"/>
            <a:ext cx="16271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a:t>逻辑结构</a:t>
            </a:r>
          </a:p>
        </p:txBody>
      </p:sp>
      <p:sp>
        <p:nvSpPr>
          <p:cNvPr id="15365" name="文本框 4"/>
          <p:cNvSpPr txBox="1">
            <a:spLocks noChangeArrowheads="1"/>
          </p:cNvSpPr>
          <p:nvPr/>
        </p:nvSpPr>
        <p:spPr bwMode="auto">
          <a:xfrm>
            <a:off x="2085975" y="3262313"/>
            <a:ext cx="5113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a:t>物理结构</a:t>
            </a:r>
            <a:r>
              <a:rPr lang="en-US" altLang="zh-CN"/>
              <a:t>(</a:t>
            </a:r>
            <a:r>
              <a:rPr lang="zh-CN" altLang="en-US"/>
              <a:t>顺序存储、链式存储</a:t>
            </a:r>
            <a:r>
              <a:rPr lang="en-US" altLang="zh-CN"/>
              <a:t>)</a:t>
            </a:r>
            <a:endParaRPr lang="zh-CN" altLang="en-US"/>
          </a:p>
        </p:txBody>
      </p:sp>
      <p:sp>
        <p:nvSpPr>
          <p:cNvPr id="15366" name="文本框 5"/>
          <p:cNvSpPr txBox="1">
            <a:spLocks noChangeArrowheads="1"/>
          </p:cNvSpPr>
          <p:nvPr/>
        </p:nvSpPr>
        <p:spPr bwMode="auto">
          <a:xfrm>
            <a:off x="2076450" y="5157788"/>
            <a:ext cx="69167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dirty="0"/>
              <a:t>数据运算</a:t>
            </a:r>
            <a:r>
              <a:rPr lang="en-US" altLang="zh-CN" dirty="0"/>
              <a:t>(</a:t>
            </a:r>
            <a:r>
              <a:rPr lang="zh-CN" altLang="en-US" dirty="0"/>
              <a:t>插入、删除、修改、</a:t>
            </a:r>
            <a:r>
              <a:rPr lang="zh-CN" altLang="en-US" dirty="0">
                <a:solidFill>
                  <a:srgbClr val="FF0000"/>
                </a:solidFill>
              </a:rPr>
              <a:t>查找</a:t>
            </a:r>
            <a:r>
              <a:rPr lang="zh-CN" altLang="en-US" dirty="0"/>
              <a:t>、排序</a:t>
            </a:r>
            <a:r>
              <a:rPr lang="en-US" altLang="zh-CN" dirty="0"/>
              <a:t>)</a:t>
            </a:r>
            <a:endParaRPr lang="zh-CN" altLang="en-US" dirty="0"/>
          </a:p>
        </p:txBody>
      </p:sp>
      <p:sp>
        <p:nvSpPr>
          <p:cNvPr id="15367" name="左大括号 6"/>
          <p:cNvSpPr>
            <a:spLocks/>
          </p:cNvSpPr>
          <p:nvPr/>
        </p:nvSpPr>
        <p:spPr bwMode="auto">
          <a:xfrm>
            <a:off x="3925888" y="908050"/>
            <a:ext cx="360362" cy="1296988"/>
          </a:xfrm>
          <a:prstGeom prst="leftBrace">
            <a:avLst>
              <a:gd name="adj1" fmla="val 8331"/>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pPr>
            <a:endParaRPr kumimoji="1" lang="zh-CN" altLang="en-US"/>
          </a:p>
        </p:txBody>
      </p:sp>
      <p:sp>
        <p:nvSpPr>
          <p:cNvPr id="15368" name="文本框 7"/>
          <p:cNvSpPr txBox="1">
            <a:spLocks noChangeArrowheads="1"/>
          </p:cNvSpPr>
          <p:nvPr/>
        </p:nvSpPr>
        <p:spPr bwMode="auto">
          <a:xfrm>
            <a:off x="4306888" y="647700"/>
            <a:ext cx="47529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a:t>线性结构</a:t>
            </a:r>
            <a:endParaRPr lang="en-US" altLang="zh-CN"/>
          </a:p>
          <a:p>
            <a:r>
              <a:rPr lang="en-US" altLang="zh-CN"/>
              <a:t>(</a:t>
            </a:r>
            <a:r>
              <a:rPr lang="zh-CN" altLang="en-US"/>
              <a:t>线性表、栈、队列、数组等</a:t>
            </a:r>
            <a:r>
              <a:rPr lang="en-US" altLang="zh-CN"/>
              <a:t>)</a:t>
            </a:r>
            <a:endParaRPr lang="zh-CN" altLang="en-US"/>
          </a:p>
        </p:txBody>
      </p:sp>
      <p:sp>
        <p:nvSpPr>
          <p:cNvPr id="15369" name="文本框 8"/>
          <p:cNvSpPr txBox="1">
            <a:spLocks noChangeArrowheads="1"/>
          </p:cNvSpPr>
          <p:nvPr/>
        </p:nvSpPr>
        <p:spPr bwMode="auto">
          <a:xfrm>
            <a:off x="4306888" y="1943100"/>
            <a:ext cx="3309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a:t>非线性结构</a:t>
            </a:r>
            <a:r>
              <a:rPr lang="en-US" altLang="zh-CN"/>
              <a:t>(</a:t>
            </a:r>
            <a:r>
              <a:rPr lang="zh-CN" altLang="en-US"/>
              <a:t>树、图</a:t>
            </a:r>
            <a:r>
              <a:rPr lang="en-US" altLang="zh-CN"/>
              <a:t>)</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0" y="511175"/>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4000" dirty="0">
                <a:solidFill>
                  <a:srgbClr val="0000FF"/>
                </a:solidFill>
                <a:latin typeface="华文楷体" panose="02010600040101010101" pitchFamily="2" charset="-122"/>
                <a:ea typeface="华文楷体" panose="02010600040101010101" pitchFamily="2" charset="-122"/>
              </a:rPr>
              <a:t>7.1 </a:t>
            </a:r>
            <a:r>
              <a:rPr lang="zh-CN" altLang="en-US" sz="4000" dirty="0">
                <a:solidFill>
                  <a:srgbClr val="0000FF"/>
                </a:solidFill>
                <a:latin typeface="华文楷体" panose="02010600040101010101" pitchFamily="2" charset="-122"/>
                <a:ea typeface="华文楷体" panose="02010600040101010101" pitchFamily="2" charset="-122"/>
              </a:rPr>
              <a:t>查找的基本概念</a:t>
            </a:r>
          </a:p>
        </p:txBody>
      </p:sp>
      <p:sp>
        <p:nvSpPr>
          <p:cNvPr id="18435" name="Line 5"/>
          <p:cNvSpPr>
            <a:spLocks noChangeShapeType="1"/>
          </p:cNvSpPr>
          <p:nvPr/>
        </p:nvSpPr>
        <p:spPr bwMode="auto">
          <a:xfrm>
            <a:off x="0" y="12684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436"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0188" y="509588"/>
            <a:ext cx="81121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7"/>
          <p:cNvSpPr>
            <a:spLocks noChangeArrowheads="1"/>
          </p:cNvSpPr>
          <p:nvPr/>
        </p:nvSpPr>
        <p:spPr bwMode="auto">
          <a:xfrm>
            <a:off x="92075" y="1301750"/>
            <a:ext cx="8569325"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查找表</a:t>
            </a:r>
            <a:r>
              <a:rPr lang="en-US" altLang="zh-CN" dirty="0">
                <a:solidFill>
                  <a:srgbClr val="FF3300"/>
                </a:solidFill>
                <a:latin typeface="华文楷体" panose="02010600040101010101" pitchFamily="2" charset="-122"/>
                <a:ea typeface="华文楷体" panose="02010600040101010101" pitchFamily="2" charset="-122"/>
              </a:rPr>
              <a:t>:</a:t>
            </a:r>
          </a:p>
          <a:p>
            <a:pPr>
              <a:lnSpc>
                <a:spcPct val="80000"/>
              </a:lnSpc>
              <a:spcBef>
                <a:spcPct val="20000"/>
              </a:spcBef>
              <a:buFont typeface="Arial" panose="020B0604020202020204" pitchFamily="34" charset="0"/>
              <a:buNone/>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由同一类型的数据元素（或记录）构成的集合</a:t>
            </a:r>
            <a:endParaRPr lang="en-US" altLang="zh-CN" dirty="0">
              <a:latin typeface="华文楷体" panose="02010600040101010101" pitchFamily="2" charset="-122"/>
              <a:ea typeface="华文楷体" panose="02010600040101010101" pitchFamily="2" charset="-122"/>
            </a:endParaRPr>
          </a:p>
          <a:p>
            <a:pPr>
              <a:lnSpc>
                <a:spcPct val="80000"/>
              </a:lnSpc>
              <a:spcBef>
                <a:spcPct val="20000"/>
              </a:spcBef>
              <a:buFont typeface="Arial" panose="020B0604020202020204" pitchFamily="34" charset="0"/>
              <a:buNone/>
            </a:pPr>
            <a:r>
              <a:rPr lang="zh-CN" altLang="en-US" dirty="0">
                <a:solidFill>
                  <a:srgbClr val="FF0000"/>
                </a:solidFill>
                <a:latin typeface="华文楷体" panose="02010600040101010101" pitchFamily="2" charset="-122"/>
                <a:ea typeface="华文楷体" panose="02010600040101010101" pitchFamily="2" charset="-122"/>
              </a:rPr>
              <a:t>    </a:t>
            </a:r>
            <a:r>
              <a:rPr lang="zh-CN" altLang="en-US" dirty="0">
                <a:solidFill>
                  <a:srgbClr val="7030A0"/>
                </a:solidFill>
                <a:latin typeface="华文楷体" panose="02010600040101010101" pitchFamily="2" charset="-122"/>
                <a:ea typeface="华文楷体" panose="02010600040101010101" pitchFamily="2" charset="-122"/>
              </a:rPr>
              <a:t>特点</a:t>
            </a:r>
            <a:r>
              <a:rPr lang="zh-CN" altLang="en-US" dirty="0">
                <a:latin typeface="华文楷体" panose="02010600040101010101" pitchFamily="2" charset="-122"/>
                <a:ea typeface="华文楷体" panose="02010600040101010101" pitchFamily="2" charset="-122"/>
              </a:rPr>
              <a:t>：数据之间松散的关系</a:t>
            </a:r>
            <a:endParaRPr lang="en-US" altLang="zh-CN" dirty="0">
              <a:latin typeface="华文楷体" panose="02010600040101010101" pitchFamily="2" charset="-122"/>
              <a:ea typeface="华文楷体" panose="02010600040101010101" pitchFamily="2" charset="-122"/>
            </a:endParaRPr>
          </a:p>
          <a:p>
            <a:pPr>
              <a:lnSpc>
                <a:spcPct val="80000"/>
              </a:lnSpc>
              <a:spcBef>
                <a:spcPct val="20000"/>
              </a:spcBef>
              <a:buFont typeface="Arial" panose="020B0604020202020204" pitchFamily="34" charset="0"/>
              <a:buNone/>
            </a:pPr>
            <a:r>
              <a:rPr lang="zh-CN" altLang="en-US" dirty="0">
                <a:solidFill>
                  <a:srgbClr val="FF0000"/>
                </a:solidFill>
                <a:latin typeface="华文楷体" panose="02010600040101010101" pitchFamily="2" charset="-122"/>
                <a:ea typeface="华文楷体" panose="02010600040101010101" pitchFamily="2" charset="-122"/>
              </a:rPr>
              <a:t>    </a:t>
            </a:r>
            <a:r>
              <a:rPr lang="zh-CN" altLang="en-US" dirty="0">
                <a:solidFill>
                  <a:srgbClr val="7030A0"/>
                </a:solidFill>
                <a:latin typeface="华文楷体" panose="02010600040101010101" pitchFamily="2" charset="-122"/>
                <a:ea typeface="华文楷体" panose="02010600040101010101" pitchFamily="2" charset="-122"/>
              </a:rPr>
              <a:t>实现</a:t>
            </a:r>
            <a:r>
              <a:rPr lang="zh-CN" altLang="en-US" dirty="0">
                <a:latin typeface="华文楷体" panose="02010600040101010101" pitchFamily="2" charset="-122"/>
                <a:ea typeface="华文楷体" panose="02010600040101010101" pitchFamily="2" charset="-122"/>
              </a:rPr>
              <a:t>：线性表、树表、散列表等</a:t>
            </a:r>
            <a:endParaRPr lang="en-US" altLang="zh-CN" dirty="0">
              <a:latin typeface="华文楷体" panose="02010600040101010101" pitchFamily="2" charset="-122"/>
              <a:ea typeface="华文楷体" panose="02010600040101010101" pitchFamily="2" charset="-122"/>
            </a:endParaRPr>
          </a:p>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静态查找表：</a:t>
            </a:r>
          </a:p>
          <a:p>
            <a:pPr>
              <a:lnSpc>
                <a:spcPct val="80000"/>
              </a:lnSpc>
              <a:spcBef>
                <a:spcPct val="2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查找的同时对查找表</a:t>
            </a:r>
            <a:r>
              <a:rPr lang="zh-CN" altLang="en-US" dirty="0">
                <a:solidFill>
                  <a:srgbClr val="FF3300"/>
                </a:solidFill>
                <a:highlight>
                  <a:srgbClr val="00FF00"/>
                </a:highlight>
                <a:latin typeface="华文楷体" panose="02010600040101010101" pitchFamily="2" charset="-122"/>
                <a:ea typeface="华文楷体" panose="02010600040101010101" pitchFamily="2" charset="-122"/>
              </a:rPr>
              <a:t>不做修改</a:t>
            </a:r>
            <a:r>
              <a:rPr lang="zh-CN" altLang="en-US" dirty="0">
                <a:latin typeface="华文楷体" panose="02010600040101010101" pitchFamily="2" charset="-122"/>
                <a:ea typeface="华文楷体" panose="02010600040101010101" pitchFamily="2" charset="-122"/>
              </a:rPr>
              <a:t>操作（如插入和删除）</a:t>
            </a:r>
          </a:p>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动态查找表：</a:t>
            </a:r>
          </a:p>
          <a:p>
            <a:pPr>
              <a:lnSpc>
                <a:spcPct val="80000"/>
              </a:lnSpc>
              <a:spcBef>
                <a:spcPct val="2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查找的同时对查找表具有</a:t>
            </a:r>
            <a:r>
              <a:rPr lang="zh-CN" altLang="en-US" dirty="0">
                <a:solidFill>
                  <a:srgbClr val="FF3300"/>
                </a:solidFill>
                <a:latin typeface="华文楷体" panose="02010600040101010101" pitchFamily="2" charset="-122"/>
                <a:ea typeface="华文楷体" panose="02010600040101010101" pitchFamily="2" charset="-122"/>
              </a:rPr>
              <a:t>修改</a:t>
            </a:r>
            <a:r>
              <a:rPr lang="zh-CN" altLang="en-US" dirty="0">
                <a:latin typeface="华文楷体" panose="02010600040101010101" pitchFamily="2" charset="-122"/>
                <a:ea typeface="华文楷体" panose="02010600040101010101" pitchFamily="2" charset="-122"/>
              </a:rPr>
              <a:t>操作</a:t>
            </a:r>
          </a:p>
        </p:txBody>
      </p:sp>
      <p:sp>
        <p:nvSpPr>
          <p:cNvPr id="1055752" name="AutoShape 8"/>
          <p:cNvSpPr>
            <a:spLocks noChangeArrowheads="1"/>
          </p:cNvSpPr>
          <p:nvPr/>
        </p:nvSpPr>
        <p:spPr bwMode="auto">
          <a:xfrm>
            <a:off x="5637213" y="509588"/>
            <a:ext cx="3419475" cy="788987"/>
          </a:xfrm>
          <a:prstGeom prst="wedgeEllipseCallout">
            <a:avLst>
              <a:gd name="adj1" fmla="val -126694"/>
              <a:gd name="adj2" fmla="val 80986"/>
            </a:avLst>
          </a:prstGeom>
          <a:solidFill>
            <a:srgbClr val="CCFFFF"/>
          </a:solidFill>
          <a:ln w="9525">
            <a:solidFill>
              <a:schemeClr val="tx1"/>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solidFill>
                  <a:schemeClr val="hlink"/>
                </a:solidFill>
                <a:latin typeface="华文楷体" panose="02010600040101010101" pitchFamily="2" charset="-122"/>
                <a:ea typeface="华文楷体" panose="02010600040101010101" pitchFamily="2" charset="-122"/>
              </a:rPr>
              <a:t>是一种数据结构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55752"/>
                                        </p:tgtEl>
                                        <p:attrNameLst>
                                          <p:attrName>style.visibility</p:attrName>
                                        </p:attrNameLst>
                                      </p:cBhvr>
                                      <p:to>
                                        <p:strVal val="visible"/>
                                      </p:to>
                                    </p:set>
                                    <p:anim calcmode="lin" valueType="num">
                                      <p:cBhvr additive="base">
                                        <p:cTn id="7" dur="500" fill="hold"/>
                                        <p:tgtEl>
                                          <p:spTgt spid="1055752"/>
                                        </p:tgtEl>
                                        <p:attrNameLst>
                                          <p:attrName>ppt_x</p:attrName>
                                        </p:attrNameLst>
                                      </p:cBhvr>
                                      <p:tavLst>
                                        <p:tav tm="0">
                                          <p:val>
                                            <p:strVal val="#ppt_x"/>
                                          </p:val>
                                        </p:tav>
                                        <p:tav tm="100000">
                                          <p:val>
                                            <p:strVal val="#ppt_x"/>
                                          </p:val>
                                        </p:tav>
                                      </p:tavLst>
                                    </p:anim>
                                    <p:anim calcmode="lin" valueType="num">
                                      <p:cBhvr additive="base">
                                        <p:cTn id="8" dur="500" fill="hold"/>
                                        <p:tgtEl>
                                          <p:spTgt spid="105575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75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a:spLocks noChangeArrowheads="1"/>
          </p:cNvSpPr>
          <p:nvPr/>
        </p:nvSpPr>
        <p:spPr bwMode="auto">
          <a:xfrm>
            <a:off x="0" y="511175"/>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4000" dirty="0">
                <a:solidFill>
                  <a:srgbClr val="0000FF"/>
                </a:solidFill>
                <a:latin typeface="华文楷体" panose="02010600040101010101" pitchFamily="2" charset="-122"/>
                <a:ea typeface="华文楷体" panose="02010600040101010101" pitchFamily="2" charset="-122"/>
              </a:rPr>
              <a:t>7.1 </a:t>
            </a:r>
            <a:r>
              <a:rPr lang="zh-CN" altLang="en-US" sz="4000" dirty="0">
                <a:solidFill>
                  <a:srgbClr val="0000FF"/>
                </a:solidFill>
                <a:latin typeface="华文楷体" panose="02010600040101010101" pitchFamily="2" charset="-122"/>
                <a:ea typeface="华文楷体" panose="02010600040101010101" pitchFamily="2" charset="-122"/>
              </a:rPr>
              <a:t>查找的基本概念</a:t>
            </a:r>
          </a:p>
        </p:txBody>
      </p:sp>
      <p:sp>
        <p:nvSpPr>
          <p:cNvPr id="18435" name="Line 5"/>
          <p:cNvSpPr>
            <a:spLocks noChangeShapeType="1"/>
          </p:cNvSpPr>
          <p:nvPr/>
        </p:nvSpPr>
        <p:spPr bwMode="auto">
          <a:xfrm>
            <a:off x="0" y="12684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8436"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0188" y="509588"/>
            <a:ext cx="81121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7"/>
          <p:cNvSpPr>
            <a:spLocks noChangeArrowheads="1"/>
          </p:cNvSpPr>
          <p:nvPr/>
        </p:nvSpPr>
        <p:spPr bwMode="auto">
          <a:xfrm>
            <a:off x="92075" y="1301750"/>
            <a:ext cx="8569325" cy="478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关键字</a:t>
            </a:r>
          </a:p>
          <a:p>
            <a:pPr>
              <a:lnSpc>
                <a:spcPct val="80000"/>
              </a:lnSpc>
              <a:spcBef>
                <a:spcPct val="2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记录中某个数据项的值，可用来</a:t>
            </a:r>
            <a:r>
              <a:rPr lang="zh-CN" altLang="en-US" dirty="0">
                <a:highlight>
                  <a:srgbClr val="00FF00"/>
                </a:highlight>
                <a:latin typeface="华文楷体" panose="02010600040101010101" pitchFamily="2" charset="-122"/>
                <a:ea typeface="华文楷体" panose="02010600040101010101" pitchFamily="2" charset="-122"/>
              </a:rPr>
              <a:t>识别一个记录</a:t>
            </a:r>
            <a:endParaRPr lang="en-US" altLang="zh-CN" dirty="0">
              <a:highlight>
                <a:srgbClr val="00FF00"/>
              </a:highlight>
              <a:latin typeface="华文楷体" panose="02010600040101010101" pitchFamily="2" charset="-122"/>
              <a:ea typeface="华文楷体" panose="02010600040101010101" pitchFamily="2" charset="-122"/>
            </a:endParaRPr>
          </a:p>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主关键字：</a:t>
            </a:r>
          </a:p>
          <a:p>
            <a:pPr>
              <a:lnSpc>
                <a:spcPct val="80000"/>
              </a:lnSpc>
              <a:spcBef>
                <a:spcPct val="2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a:t>
            </a:r>
            <a:r>
              <a:rPr lang="zh-CN" altLang="en-US" dirty="0">
                <a:highlight>
                  <a:srgbClr val="00FF00"/>
                </a:highlight>
                <a:latin typeface="华文楷体" panose="02010600040101010101" pitchFamily="2" charset="-122"/>
                <a:ea typeface="华文楷体" panose="02010600040101010101" pitchFamily="2" charset="-122"/>
              </a:rPr>
              <a:t>唯一标识数据元素</a:t>
            </a:r>
          </a:p>
          <a:p>
            <a:pPr>
              <a:lnSpc>
                <a:spcPct val="80000"/>
              </a:lnSpc>
              <a:spcBef>
                <a:spcPct val="20000"/>
              </a:spcBef>
              <a:buFont typeface="Arial" panose="020B0604020202020204" pitchFamily="34" charset="0"/>
              <a:buChar char="•"/>
            </a:pPr>
            <a:r>
              <a:rPr lang="zh-CN" altLang="en-US" dirty="0">
                <a:solidFill>
                  <a:srgbClr val="FF3300"/>
                </a:solidFill>
                <a:latin typeface="华文楷体" panose="02010600040101010101" pitchFamily="2" charset="-122"/>
                <a:ea typeface="华文楷体" panose="02010600040101010101" pitchFamily="2" charset="-122"/>
              </a:rPr>
              <a:t>次关键字：</a:t>
            </a:r>
          </a:p>
          <a:p>
            <a:pPr>
              <a:lnSpc>
                <a:spcPct val="80000"/>
              </a:lnSpc>
              <a:spcBef>
                <a:spcPct val="2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可以标识若干个数据元素</a:t>
            </a:r>
          </a:p>
        </p:txBody>
      </p:sp>
    </p:spTree>
    <p:extLst>
      <p:ext uri="{BB962C8B-B14F-4D97-AF65-F5344CB8AC3E}">
        <p14:creationId xmlns:p14="http://schemas.microsoft.com/office/powerpoint/2010/main" val="2586778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4" name="Rectangle 4"/>
          <p:cNvSpPr>
            <a:spLocks noChangeArrowheads="1"/>
          </p:cNvSpPr>
          <p:nvPr/>
        </p:nvSpPr>
        <p:spPr bwMode="auto">
          <a:xfrm>
            <a:off x="539750" y="692150"/>
            <a:ext cx="8137525" cy="1019175"/>
          </a:xfrm>
          <a:prstGeom prst="rect">
            <a:avLst/>
          </a:prstGeom>
          <a:solidFill>
            <a:srgbClr val="FFFFE7"/>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nSpc>
                <a:spcPct val="95000"/>
              </a:lnSpc>
              <a:spcBef>
                <a:spcPct val="20000"/>
              </a:spcBef>
              <a:buFont typeface="Arial" panose="020B0604020202020204" pitchFamily="34" charset="0"/>
              <a:buNone/>
            </a:pPr>
            <a:r>
              <a:rPr lang="zh-CN" altLang="en-US" sz="3200" dirty="0">
                <a:solidFill>
                  <a:srgbClr val="CC3300"/>
                </a:solidFill>
                <a:latin typeface="楷体_GB2312"/>
              </a:rPr>
              <a:t>关键字的平均比较次数</a:t>
            </a:r>
            <a:r>
              <a:rPr lang="zh-CN" altLang="en-US" sz="3200" dirty="0">
                <a:latin typeface="楷体_GB2312"/>
              </a:rPr>
              <a:t>，也称</a:t>
            </a:r>
            <a:r>
              <a:rPr lang="zh-CN" altLang="en-US" sz="3200" dirty="0">
                <a:solidFill>
                  <a:srgbClr val="FF3300"/>
                </a:solidFill>
                <a:highlight>
                  <a:srgbClr val="00FF00"/>
                </a:highlight>
                <a:latin typeface="楷体_GB2312"/>
              </a:rPr>
              <a:t>平均搜索长度</a:t>
            </a:r>
            <a:r>
              <a:rPr lang="en-US" altLang="zh-CN" sz="3200" i="1" dirty="0">
                <a:solidFill>
                  <a:srgbClr val="FF3300"/>
                </a:solidFill>
                <a:highlight>
                  <a:srgbClr val="00FF00"/>
                </a:highlight>
                <a:latin typeface="楷体_GB2312"/>
              </a:rPr>
              <a:t>ASL</a:t>
            </a:r>
            <a:r>
              <a:rPr lang="en-US" altLang="zh-CN" sz="3200" dirty="0">
                <a:latin typeface="楷体_GB2312"/>
              </a:rPr>
              <a:t>(</a:t>
            </a:r>
            <a:r>
              <a:rPr lang="en-US" altLang="zh-CN" sz="3200" i="1" dirty="0">
                <a:latin typeface="楷体_GB2312"/>
              </a:rPr>
              <a:t>Average Search Length</a:t>
            </a:r>
            <a:r>
              <a:rPr lang="en-US" altLang="zh-CN" sz="3200" dirty="0">
                <a:latin typeface="楷体_GB2312"/>
              </a:rPr>
              <a:t>)</a:t>
            </a:r>
            <a:r>
              <a:rPr lang="zh-CN" altLang="en-US" sz="3200" dirty="0">
                <a:latin typeface="楷体_GB2312"/>
              </a:rPr>
              <a:t>即</a:t>
            </a:r>
            <a:r>
              <a:rPr lang="zh-CN" altLang="en-US" sz="3200" dirty="0">
                <a:highlight>
                  <a:srgbClr val="00FF00"/>
                </a:highlight>
                <a:latin typeface="楷体_GB2312"/>
              </a:rPr>
              <a:t>期望</a:t>
            </a:r>
            <a:endParaRPr lang="en-US" altLang="zh-CN" sz="3200" dirty="0">
              <a:highlight>
                <a:srgbClr val="00FF00"/>
              </a:highlight>
              <a:latin typeface="楷体_GB2312"/>
            </a:endParaRPr>
          </a:p>
        </p:txBody>
      </p:sp>
      <p:sp>
        <p:nvSpPr>
          <p:cNvPr id="988165" name="Rectangle 5"/>
          <p:cNvSpPr>
            <a:spLocks noChangeArrowheads="1"/>
          </p:cNvSpPr>
          <p:nvPr/>
        </p:nvSpPr>
        <p:spPr bwMode="auto">
          <a:xfrm>
            <a:off x="539750" y="4324350"/>
            <a:ext cx="8137525"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a:latin typeface="楷体_GB2312"/>
              </a:rPr>
              <a:t>n</a:t>
            </a:r>
            <a:r>
              <a:rPr lang="zh-CN" altLang="en-US">
                <a:latin typeface="楷体_GB2312"/>
              </a:rPr>
              <a:t>：记录的个数</a:t>
            </a:r>
          </a:p>
          <a:p>
            <a:pPr>
              <a:spcBef>
                <a:spcPct val="20000"/>
              </a:spcBef>
              <a:buFont typeface="Arial" panose="020B0604020202020204" pitchFamily="34" charset="0"/>
              <a:buNone/>
            </a:pPr>
            <a:r>
              <a:rPr lang="en-US" altLang="zh-CN">
                <a:latin typeface="楷体_GB2312"/>
              </a:rPr>
              <a:t>pi</a:t>
            </a:r>
            <a:r>
              <a:rPr lang="zh-CN" altLang="en-US">
                <a:latin typeface="楷体_GB2312"/>
              </a:rPr>
              <a:t>：查找第</a:t>
            </a:r>
            <a:r>
              <a:rPr lang="en-US" altLang="zh-CN">
                <a:latin typeface="楷体_GB2312"/>
              </a:rPr>
              <a:t>i</a:t>
            </a:r>
            <a:r>
              <a:rPr lang="zh-CN" altLang="en-US">
                <a:latin typeface="楷体_GB2312"/>
              </a:rPr>
              <a:t>个记录的概率 </a:t>
            </a:r>
            <a:r>
              <a:rPr lang="en-US" altLang="zh-CN">
                <a:latin typeface="楷体_GB2312"/>
              </a:rPr>
              <a:t>( </a:t>
            </a:r>
            <a:r>
              <a:rPr lang="zh-CN" altLang="en-US">
                <a:latin typeface="楷体_GB2312"/>
              </a:rPr>
              <a:t>通常认为</a:t>
            </a:r>
            <a:r>
              <a:rPr lang="en-US" altLang="zh-CN">
                <a:latin typeface="楷体_GB2312"/>
              </a:rPr>
              <a:t>pi =1/n )</a:t>
            </a:r>
          </a:p>
          <a:p>
            <a:pPr>
              <a:spcBef>
                <a:spcPct val="20000"/>
              </a:spcBef>
              <a:buFont typeface="Arial" panose="020B0604020202020204" pitchFamily="34" charset="0"/>
              <a:buNone/>
            </a:pPr>
            <a:r>
              <a:rPr lang="en-US" altLang="zh-CN">
                <a:latin typeface="楷体_GB2312"/>
              </a:rPr>
              <a:t>ci</a:t>
            </a:r>
            <a:r>
              <a:rPr lang="zh-CN" altLang="en-US">
                <a:latin typeface="楷体_GB2312"/>
              </a:rPr>
              <a:t>：找到第</a:t>
            </a:r>
            <a:r>
              <a:rPr lang="en-US" altLang="zh-CN">
                <a:latin typeface="楷体_GB2312"/>
              </a:rPr>
              <a:t>i</a:t>
            </a:r>
            <a:r>
              <a:rPr lang="zh-CN" altLang="en-US">
                <a:latin typeface="楷体_GB2312"/>
              </a:rPr>
              <a:t>个记录所需的比较次数</a:t>
            </a:r>
          </a:p>
        </p:txBody>
      </p:sp>
      <p:graphicFrame>
        <p:nvGraphicFramePr>
          <p:cNvPr id="988166" name="Object 6"/>
          <p:cNvGraphicFramePr>
            <a:graphicFrameLocks/>
          </p:cNvGraphicFramePr>
          <p:nvPr/>
        </p:nvGraphicFramePr>
        <p:xfrm>
          <a:off x="539750" y="2205038"/>
          <a:ext cx="3667125" cy="1887537"/>
        </p:xfrm>
        <a:graphic>
          <a:graphicData uri="http://schemas.openxmlformats.org/presentationml/2006/ole">
            <mc:AlternateContent xmlns:mc="http://schemas.openxmlformats.org/markup-compatibility/2006">
              <mc:Choice xmlns:v="urn:schemas-microsoft-com:vml" Requires="v">
                <p:oleObj r:id="rId2" imgW="863225" imgH="431613" progId="Equation.3">
                  <p:embed/>
                </p:oleObj>
              </mc:Choice>
              <mc:Fallback>
                <p:oleObj r:id="rId2" imgW="863225" imgH="431613" progId="Equation.3">
                  <p:embed/>
                  <p:pic>
                    <p:nvPicPr>
                      <p:cNvPr id="988166" name="Object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2205038"/>
                        <a:ext cx="3667125" cy="1887537"/>
                      </a:xfrm>
                      <a:prstGeom prst="rect">
                        <a:avLst/>
                      </a:prstGeom>
                      <a:solidFill>
                        <a:srgbClr val="CC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461" name="Rectangle 7"/>
          <p:cNvSpPr>
            <a:spLocks noChangeArrowheads="1"/>
          </p:cNvSpPr>
          <p:nvPr/>
        </p:nvSpPr>
        <p:spPr bwMode="auto">
          <a:xfrm>
            <a:off x="39688" y="0"/>
            <a:ext cx="41671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a:latin typeface="楷体_GB2312"/>
              </a:rPr>
              <a:t>查找算法的评价指标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88164"/>
                                        </p:tgtEl>
                                        <p:attrNameLst>
                                          <p:attrName>style.visibility</p:attrName>
                                        </p:attrNameLst>
                                      </p:cBhvr>
                                      <p:to>
                                        <p:strVal val="visible"/>
                                      </p:to>
                                    </p:set>
                                    <p:animEffect transition="in" filter="box(in)">
                                      <p:cBhvr>
                                        <p:cTn id="7" dur="500"/>
                                        <p:tgtEl>
                                          <p:spTgt spid="9881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988166"/>
                                        </p:tgtEl>
                                        <p:attrNameLst>
                                          <p:attrName>style.visibility</p:attrName>
                                        </p:attrNameLst>
                                      </p:cBhvr>
                                      <p:to>
                                        <p:strVal val="visible"/>
                                      </p:to>
                                    </p:set>
                                    <p:anim calcmode="lin" valueType="num">
                                      <p:cBhvr additive="base">
                                        <p:cTn id="12" dur="500" fill="hold"/>
                                        <p:tgtEl>
                                          <p:spTgt spid="988166"/>
                                        </p:tgtEl>
                                        <p:attrNameLst>
                                          <p:attrName>ppt_x</p:attrName>
                                        </p:attrNameLst>
                                      </p:cBhvr>
                                      <p:tavLst>
                                        <p:tav tm="0">
                                          <p:val>
                                            <p:strVal val="#ppt_x"/>
                                          </p:val>
                                        </p:tav>
                                        <p:tav tm="100000">
                                          <p:val>
                                            <p:strVal val="#ppt_x"/>
                                          </p:val>
                                        </p:tav>
                                      </p:tavLst>
                                    </p:anim>
                                    <p:anim calcmode="lin" valueType="num">
                                      <p:cBhvr additive="base">
                                        <p:cTn id="13" dur="500" fill="hold"/>
                                        <p:tgtEl>
                                          <p:spTgt spid="988166"/>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88165"/>
                                        </p:tgtEl>
                                        <p:attrNameLst>
                                          <p:attrName>style.visibility</p:attrName>
                                        </p:attrNameLst>
                                      </p:cBhvr>
                                      <p:to>
                                        <p:strVal val="visible"/>
                                      </p:to>
                                    </p:set>
                                    <p:anim calcmode="lin" valueType="num">
                                      <p:cBhvr additive="base">
                                        <p:cTn id="18" dur="500" fill="hold"/>
                                        <p:tgtEl>
                                          <p:spTgt spid="988165"/>
                                        </p:tgtEl>
                                        <p:attrNameLst>
                                          <p:attrName>ppt_x</p:attrName>
                                        </p:attrNameLst>
                                      </p:cBhvr>
                                      <p:tavLst>
                                        <p:tav tm="0">
                                          <p:val>
                                            <p:strVal val="#ppt_x"/>
                                          </p:val>
                                        </p:tav>
                                        <p:tav tm="100000">
                                          <p:val>
                                            <p:strVal val="#ppt_x"/>
                                          </p:val>
                                        </p:tav>
                                      </p:tavLst>
                                    </p:anim>
                                    <p:anim calcmode="lin" valueType="num">
                                      <p:cBhvr additive="base">
                                        <p:cTn id="19" dur="500" fill="hold"/>
                                        <p:tgtEl>
                                          <p:spTgt spid="988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8164" grpId="0" animBg="1"/>
      <p:bldP spid="9881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ChangeArrowheads="1"/>
          </p:cNvSpPr>
          <p:nvPr/>
        </p:nvSpPr>
        <p:spPr bwMode="auto">
          <a:xfrm>
            <a:off x="0" y="511175"/>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4000" dirty="0">
                <a:solidFill>
                  <a:srgbClr val="0000FF"/>
                </a:solidFill>
                <a:latin typeface="楷体_GB2312"/>
              </a:rPr>
              <a:t>7.2 </a:t>
            </a:r>
            <a:r>
              <a:rPr lang="zh-CN" altLang="en-US" sz="4000" dirty="0">
                <a:solidFill>
                  <a:srgbClr val="0000FF"/>
                </a:solidFill>
                <a:latin typeface="楷体_GB2312"/>
              </a:rPr>
              <a:t>线性表的查找</a:t>
            </a:r>
          </a:p>
        </p:txBody>
      </p:sp>
      <p:sp>
        <p:nvSpPr>
          <p:cNvPr id="20483" name="Line 5"/>
          <p:cNvSpPr>
            <a:spLocks noChangeShapeType="1"/>
          </p:cNvSpPr>
          <p:nvPr/>
        </p:nvSpPr>
        <p:spPr bwMode="auto">
          <a:xfrm>
            <a:off x="0" y="12684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0484" name="Picture 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0188" y="509588"/>
            <a:ext cx="81121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0"/>
          <p:cNvSpPr>
            <a:spLocks noChangeArrowheads="1"/>
          </p:cNvSpPr>
          <p:nvPr/>
        </p:nvSpPr>
        <p:spPr bwMode="auto">
          <a:xfrm>
            <a:off x="900113" y="2289175"/>
            <a:ext cx="72453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3200">
                <a:solidFill>
                  <a:schemeClr val="hlink"/>
                </a:solidFill>
              </a:rPr>
              <a:t>一、顺序查找（线性查找）</a:t>
            </a:r>
          </a:p>
          <a:p>
            <a:pPr eaLnBrk="1" hangingPunct="1">
              <a:spcBef>
                <a:spcPct val="50000"/>
              </a:spcBef>
              <a:buFont typeface="Arial" panose="020B0604020202020204" pitchFamily="34" charset="0"/>
              <a:buNone/>
            </a:pPr>
            <a:r>
              <a:rPr lang="zh-CN" altLang="en-US" sz="3200">
                <a:solidFill>
                  <a:schemeClr val="hlink"/>
                </a:solidFill>
              </a:rPr>
              <a:t>二、折半查找（二分或对分查找）</a:t>
            </a:r>
            <a:endParaRPr lang="en-US" altLang="zh-CN" sz="3200">
              <a:solidFill>
                <a:schemeClr val="hlink"/>
              </a:solidFill>
            </a:endParaRPr>
          </a:p>
          <a:p>
            <a:pPr eaLnBrk="1" hangingPunct="1">
              <a:spcBef>
                <a:spcPct val="50000"/>
              </a:spcBef>
              <a:buFont typeface="Arial" panose="020B0604020202020204" pitchFamily="34" charset="0"/>
              <a:buNone/>
            </a:pPr>
            <a:r>
              <a:rPr lang="zh-CN" altLang="en-US" sz="3200">
                <a:solidFill>
                  <a:schemeClr val="hlink"/>
                </a:solidFill>
              </a:rPr>
              <a:t>三、分块查找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ChangeArrowheads="1"/>
          </p:cNvSpPr>
          <p:nvPr/>
        </p:nvSpPr>
        <p:spPr bwMode="auto">
          <a:xfrm>
            <a:off x="3347864" y="0"/>
            <a:ext cx="3092450"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顺序查找</a:t>
            </a:r>
          </a:p>
        </p:txBody>
      </p:sp>
      <p:sp>
        <p:nvSpPr>
          <p:cNvPr id="21507" name="Rectangle 7"/>
          <p:cNvSpPr>
            <a:spLocks noChangeArrowheads="1"/>
          </p:cNvSpPr>
          <p:nvPr/>
        </p:nvSpPr>
        <p:spPr bwMode="auto">
          <a:xfrm>
            <a:off x="0" y="930275"/>
            <a:ext cx="8763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1">
              <a:spcBef>
                <a:spcPct val="50000"/>
              </a:spcBef>
              <a:buFont typeface="Arial" panose="020B0604020202020204" pitchFamily="34" charset="0"/>
              <a:buChar char="•"/>
            </a:pPr>
            <a:endParaRPr lang="zh-CN" altLang="zh-CN" sz="1600">
              <a:solidFill>
                <a:schemeClr val="folHlink"/>
              </a:solidFill>
              <a:latin typeface="Arial" panose="020B0604020202020204" pitchFamily="34" charset="0"/>
              <a:ea typeface="宋体" panose="02010600030101010101" pitchFamily="2" charset="-122"/>
            </a:endParaRPr>
          </a:p>
        </p:txBody>
      </p:sp>
      <p:sp>
        <p:nvSpPr>
          <p:cNvPr id="21508" name="Rectangle 41"/>
          <p:cNvSpPr>
            <a:spLocks noChangeArrowheads="1"/>
          </p:cNvSpPr>
          <p:nvPr/>
        </p:nvSpPr>
        <p:spPr bwMode="auto">
          <a:xfrm>
            <a:off x="107504" y="692150"/>
            <a:ext cx="8655496"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3">
              <a:spcBef>
                <a:spcPct val="20000"/>
              </a:spcBef>
              <a:buFont typeface="Arial" panose="020B0604020202020204" pitchFamily="34" charset="0"/>
              <a:buNone/>
            </a:pPr>
            <a:r>
              <a:rPr lang="zh-CN" altLang="en-US" dirty="0">
                <a:solidFill>
                  <a:schemeClr val="folHlink"/>
                </a:solidFill>
              </a:rPr>
              <a:t>应用范围：</a:t>
            </a:r>
          </a:p>
          <a:p>
            <a:pPr lvl="3">
              <a:spcBef>
                <a:spcPct val="20000"/>
              </a:spcBef>
              <a:buFont typeface="Arial" panose="020B0604020202020204" pitchFamily="34" charset="0"/>
              <a:buNone/>
            </a:pPr>
            <a:r>
              <a:rPr lang="zh-CN" altLang="en-US" dirty="0">
                <a:solidFill>
                  <a:schemeClr val="folHlink"/>
                </a:solidFill>
              </a:rPr>
              <a:t>　　顺序表或线性链表表示的</a:t>
            </a:r>
            <a:r>
              <a:rPr lang="zh-CN" altLang="en-US" dirty="0">
                <a:solidFill>
                  <a:srgbClr val="C00000"/>
                </a:solidFill>
              </a:rPr>
              <a:t>静态查找表</a:t>
            </a:r>
          </a:p>
          <a:p>
            <a:pPr lvl="3">
              <a:spcBef>
                <a:spcPct val="20000"/>
              </a:spcBef>
              <a:buFont typeface="Arial" panose="020B0604020202020204" pitchFamily="34" charset="0"/>
              <a:buNone/>
            </a:pPr>
            <a:r>
              <a:rPr lang="zh-CN" altLang="en-US" dirty="0">
                <a:solidFill>
                  <a:schemeClr val="folHlink"/>
                </a:solidFill>
              </a:rPr>
              <a:t>　　表内元素之间</a:t>
            </a:r>
            <a:r>
              <a:rPr lang="zh-CN" altLang="en-US" dirty="0">
                <a:solidFill>
                  <a:srgbClr val="C00000"/>
                </a:solidFill>
              </a:rPr>
              <a:t>无序</a:t>
            </a:r>
          </a:p>
        </p:txBody>
      </p:sp>
      <p:grpSp>
        <p:nvGrpSpPr>
          <p:cNvPr id="2" name="Group 44"/>
          <p:cNvGrpSpPr>
            <a:grpSpLocks/>
          </p:cNvGrpSpPr>
          <p:nvPr/>
        </p:nvGrpSpPr>
        <p:grpSpPr bwMode="auto">
          <a:xfrm>
            <a:off x="39688" y="2376488"/>
            <a:ext cx="8723312" cy="2770188"/>
            <a:chOff x="25" y="1497"/>
            <a:chExt cx="5495" cy="1745"/>
          </a:xfrm>
        </p:grpSpPr>
        <p:sp>
          <p:nvSpPr>
            <p:cNvPr id="21510" name="Rectangle 42"/>
            <p:cNvSpPr>
              <a:spLocks noChangeArrowheads="1"/>
            </p:cNvSpPr>
            <p:nvPr/>
          </p:nvSpPr>
          <p:spPr bwMode="auto">
            <a:xfrm>
              <a:off x="144" y="2108"/>
              <a:ext cx="5376"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dirty="0" err="1">
                  <a:ea typeface="黑体" panose="02010609060101010101" pitchFamily="49" charset="-122"/>
                </a:rPr>
                <a:t>typedef</a:t>
              </a:r>
              <a:r>
                <a:rPr lang="en-US" altLang="zh-CN" dirty="0">
                  <a:ea typeface="黑体" panose="02010609060101010101" pitchFamily="49" charset="-122"/>
                </a:rPr>
                <a:t> </a:t>
              </a:r>
              <a:r>
                <a:rPr lang="en-US" altLang="zh-CN" dirty="0" err="1">
                  <a:ea typeface="黑体" panose="02010609060101010101" pitchFamily="49" charset="-122"/>
                </a:rPr>
                <a:t>struct</a:t>
              </a:r>
              <a:r>
                <a:rPr lang="en-US" altLang="zh-CN" dirty="0">
                  <a:ea typeface="黑体" panose="02010609060101010101" pitchFamily="49" charset="-122"/>
                </a:rPr>
                <a:t> {</a:t>
              </a:r>
            </a:p>
            <a:p>
              <a:pPr eaLnBrk="1" hangingPunct="1">
                <a:buFont typeface="Arial" panose="020B0604020202020204" pitchFamily="34" charset="0"/>
                <a:buNone/>
              </a:pPr>
              <a:r>
                <a:rPr lang="en-US" altLang="zh-CN" dirty="0">
                  <a:ea typeface="黑体" panose="02010609060101010101" pitchFamily="49" charset="-122"/>
                </a:rPr>
                <a:t>          </a:t>
              </a:r>
              <a:r>
                <a:rPr lang="en-US" altLang="zh-CN" dirty="0" err="1">
                  <a:ea typeface="黑体" panose="02010609060101010101" pitchFamily="49" charset="-122"/>
                </a:rPr>
                <a:t>ElemType</a:t>
              </a:r>
              <a:r>
                <a:rPr lang="en-US" altLang="zh-CN" dirty="0">
                  <a:ea typeface="黑体" panose="02010609060101010101" pitchFamily="49" charset="-122"/>
                </a:rPr>
                <a:t>   *R; </a:t>
              </a:r>
              <a:r>
                <a:rPr lang="en-US" altLang="zh-CN" dirty="0">
                  <a:solidFill>
                    <a:srgbClr val="006666"/>
                  </a:solidFill>
                  <a:latin typeface="楷体_GB2312"/>
                </a:rPr>
                <a:t>//</a:t>
              </a:r>
              <a:r>
                <a:rPr lang="zh-CN" altLang="en-US" dirty="0">
                  <a:solidFill>
                    <a:srgbClr val="006666"/>
                  </a:solidFill>
                  <a:latin typeface="楷体_GB2312"/>
                </a:rPr>
                <a:t>表基址</a:t>
              </a:r>
            </a:p>
            <a:p>
              <a:pPr eaLnBrk="1" hangingPunct="1">
                <a:buFont typeface="Arial" panose="020B0604020202020204" pitchFamily="34" charset="0"/>
                <a:buNone/>
              </a:pPr>
              <a:r>
                <a:rPr lang="zh-CN" altLang="en-US" dirty="0">
                  <a:ea typeface="黑体" panose="02010609060101010101" pitchFamily="49" charset="-122"/>
                </a:rPr>
                <a:t>          </a:t>
              </a:r>
              <a:r>
                <a:rPr lang="en-US" altLang="zh-CN" dirty="0" err="1">
                  <a:ea typeface="黑体" panose="02010609060101010101" pitchFamily="49" charset="-122"/>
                </a:rPr>
                <a:t>int</a:t>
              </a:r>
              <a:r>
                <a:rPr lang="en-US" altLang="zh-CN" dirty="0">
                  <a:ea typeface="黑体" panose="02010609060101010101" pitchFamily="49" charset="-122"/>
                </a:rPr>
                <a:t>          length;     </a:t>
              </a:r>
              <a:r>
                <a:rPr lang="en-US" altLang="zh-CN" dirty="0">
                  <a:solidFill>
                    <a:srgbClr val="006666"/>
                  </a:solidFill>
                  <a:latin typeface="楷体_GB2312"/>
                </a:rPr>
                <a:t>//</a:t>
              </a:r>
              <a:r>
                <a:rPr lang="zh-CN" altLang="en-US" dirty="0">
                  <a:solidFill>
                    <a:srgbClr val="006666"/>
                  </a:solidFill>
                  <a:latin typeface="楷体_GB2312"/>
                </a:rPr>
                <a:t>表长</a:t>
              </a:r>
            </a:p>
            <a:p>
              <a:pPr eaLnBrk="1" hangingPunct="1">
                <a:buFont typeface="Arial" panose="020B0604020202020204" pitchFamily="34" charset="0"/>
                <a:buNone/>
              </a:pPr>
              <a:r>
                <a:rPr lang="en-US" altLang="zh-CN" dirty="0">
                  <a:ea typeface="黑体" panose="02010609060101010101" pitchFamily="49" charset="-122"/>
                </a:rPr>
                <a:t>}</a:t>
              </a:r>
              <a:r>
                <a:rPr lang="en-US" altLang="zh-CN" dirty="0" err="1">
                  <a:ea typeface="黑体" panose="02010609060101010101" pitchFamily="49" charset="-122"/>
                </a:rPr>
                <a:t>SSTable</a:t>
              </a:r>
              <a:r>
                <a:rPr lang="en-US" altLang="zh-CN" dirty="0">
                  <a:ea typeface="黑体" panose="02010609060101010101" pitchFamily="49" charset="-122"/>
                </a:rPr>
                <a:t>;</a:t>
              </a:r>
            </a:p>
          </p:txBody>
        </p:sp>
        <p:sp>
          <p:nvSpPr>
            <p:cNvPr id="21511" name="Rectangle 43"/>
            <p:cNvSpPr>
              <a:spLocks noChangeArrowheads="1"/>
            </p:cNvSpPr>
            <p:nvPr/>
          </p:nvSpPr>
          <p:spPr bwMode="auto">
            <a:xfrm>
              <a:off x="25" y="1497"/>
              <a:ext cx="16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90000"/>
                </a:spcBef>
                <a:buFont typeface="Arial" panose="020B0604020202020204" pitchFamily="34" charset="0"/>
                <a:buNone/>
              </a:pPr>
              <a:r>
                <a:rPr lang="zh-CN" altLang="en-US" dirty="0">
                  <a:solidFill>
                    <a:srgbClr val="FF00FF"/>
                  </a:solidFill>
                </a:rPr>
                <a:t>顺序表的表示</a:t>
              </a:r>
              <a:endParaRPr lang="zh-CN" altLang="en-US" dirty="0"/>
            </a:p>
          </p:txBody>
        </p:sp>
      </p:grpSp>
      <p:sp>
        <p:nvSpPr>
          <p:cNvPr id="3" name="矩形 2"/>
          <p:cNvSpPr/>
          <p:nvPr/>
        </p:nvSpPr>
        <p:spPr>
          <a:xfrm>
            <a:off x="317178" y="5300764"/>
            <a:ext cx="8236148" cy="1384995"/>
          </a:xfrm>
          <a:prstGeom prst="rect">
            <a:avLst/>
          </a:prstGeom>
        </p:spPr>
        <p:txBody>
          <a:bodyPr wrap="square">
            <a:spAutoFit/>
          </a:bodyPr>
          <a:lstStyle/>
          <a:p>
            <a:r>
              <a:rPr lang="en-US" altLang="zh-CN" b="0" i="0" dirty="0">
                <a:solidFill>
                  <a:srgbClr val="0000FF"/>
                </a:solidFill>
                <a:effectLst/>
                <a:latin typeface="Helvetica Neue"/>
              </a:rPr>
              <a:t>C</a:t>
            </a:r>
            <a:r>
              <a:rPr lang="zh-CN" altLang="en-US" b="0" i="0" dirty="0">
                <a:solidFill>
                  <a:srgbClr val="0000FF"/>
                </a:solidFill>
                <a:effectLst/>
                <a:latin typeface="Helvetica Neue"/>
              </a:rPr>
              <a:t>语言可用</a:t>
            </a:r>
            <a:r>
              <a:rPr lang="en-US" altLang="zh-CN" b="0" i="0" dirty="0" err="1">
                <a:solidFill>
                  <a:srgbClr val="0000FF"/>
                </a:solidFill>
                <a:effectLst/>
                <a:latin typeface="Helvetica Neue"/>
              </a:rPr>
              <a:t>typedef</a:t>
            </a:r>
            <a:r>
              <a:rPr lang="zh-CN" altLang="en-US" b="0" i="0" dirty="0">
                <a:solidFill>
                  <a:srgbClr val="0000FF"/>
                </a:solidFill>
                <a:effectLst/>
                <a:latin typeface="Helvetica Neue"/>
              </a:rPr>
              <a:t>为一个数据类型起一个新的别名</a:t>
            </a:r>
            <a:endParaRPr lang="en-US" altLang="zh-CN" b="0" i="0" dirty="0">
              <a:solidFill>
                <a:srgbClr val="0000FF"/>
              </a:solidFill>
              <a:effectLst/>
              <a:latin typeface="Helvetica Neue"/>
            </a:endParaRPr>
          </a:p>
          <a:p>
            <a:r>
              <a:rPr lang="en-US" altLang="zh-CN" b="0" dirty="0" err="1">
                <a:solidFill>
                  <a:srgbClr val="0000FF"/>
                </a:solidFill>
              </a:rPr>
              <a:t>typedef</a:t>
            </a:r>
            <a:r>
              <a:rPr lang="en-US" altLang="zh-CN" b="0" dirty="0">
                <a:solidFill>
                  <a:srgbClr val="0000FF"/>
                </a:solidFill>
              </a:rPr>
              <a:t>  </a:t>
            </a:r>
            <a:r>
              <a:rPr lang="en-US" altLang="zh-CN" b="0" dirty="0" err="1">
                <a:solidFill>
                  <a:srgbClr val="0000FF"/>
                </a:solidFill>
              </a:rPr>
              <a:t>oldName</a:t>
            </a:r>
            <a:r>
              <a:rPr lang="en-US" altLang="zh-CN" b="0" dirty="0">
                <a:solidFill>
                  <a:srgbClr val="0000FF"/>
                </a:solidFill>
              </a:rPr>
              <a:t>  </a:t>
            </a:r>
            <a:r>
              <a:rPr lang="en-US" altLang="zh-CN" b="0" dirty="0" err="1">
                <a:solidFill>
                  <a:srgbClr val="0000FF"/>
                </a:solidFill>
              </a:rPr>
              <a:t>newName</a:t>
            </a:r>
            <a:r>
              <a:rPr lang="en-US" altLang="zh-CN" b="0" dirty="0">
                <a:solidFill>
                  <a:srgbClr val="0000FF"/>
                </a:solidFill>
              </a:rPr>
              <a:t>;</a:t>
            </a:r>
            <a:br>
              <a:rPr lang="zh-CN" altLang="en-US" dirty="0">
                <a:solidFill>
                  <a:srgbClr val="0000FF"/>
                </a:solidFill>
              </a:rPr>
            </a:br>
            <a:endParaRPr lang="zh-CN" altLang="en-US" dirty="0">
              <a:solidFill>
                <a:srgbClr val="0000FF"/>
              </a:solidFill>
            </a:endParaRPr>
          </a:p>
        </p:txBody>
      </p:sp>
      <p:sp>
        <p:nvSpPr>
          <p:cNvPr id="9" name="Rectangle 42"/>
          <p:cNvSpPr>
            <a:spLocks noChangeArrowheads="1"/>
          </p:cNvSpPr>
          <p:nvPr/>
        </p:nvSpPr>
        <p:spPr bwMode="auto">
          <a:xfrm>
            <a:off x="228600" y="2884208"/>
            <a:ext cx="853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dirty="0" err="1">
                <a:ea typeface="黑体" panose="02010609060101010101" pitchFamily="49" charset="-122"/>
              </a:rPr>
              <a:t>typedef</a:t>
            </a:r>
            <a:r>
              <a:rPr lang="en-US" altLang="zh-CN" dirty="0">
                <a:ea typeface="黑体" panose="02010609060101010101" pitchFamily="49" charset="-122"/>
              </a:rPr>
              <a:t>  </a:t>
            </a:r>
            <a:r>
              <a:rPr lang="en-US" altLang="zh-CN" dirty="0" err="1">
                <a:highlight>
                  <a:srgbClr val="00FF00"/>
                </a:highlight>
                <a:ea typeface="黑体" panose="02010609060101010101" pitchFamily="49" charset="-122"/>
              </a:rPr>
              <a:t>ElemType</a:t>
            </a:r>
            <a:r>
              <a:rPr lang="en-US" altLang="zh-CN" dirty="0">
                <a:ea typeface="黑体" panose="02010609060101010101" pitchFamily="49" charset="-122"/>
              </a:rPr>
              <a:t>  …</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3994" y="2151353"/>
            <a:ext cx="4352502" cy="17060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226998" y="612498"/>
            <a:ext cx="8642350"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nSpc>
                <a:spcPct val="200000"/>
              </a:lnSpc>
              <a:spcBef>
                <a:spcPts val="300"/>
              </a:spcBef>
              <a:buFont typeface="Arial" panose="020B0604020202020204" pitchFamily="34" charset="0"/>
              <a:buNone/>
            </a:pPr>
            <a:endParaRPr lang="en-US" altLang="zh-CN" dirty="0">
              <a:solidFill>
                <a:schemeClr val="hlink"/>
              </a:solidFill>
              <a:latin typeface="楷体_GB2312"/>
            </a:endParaRPr>
          </a:p>
          <a:p>
            <a:pPr>
              <a:lnSpc>
                <a:spcPct val="105000"/>
              </a:lnSpc>
              <a:spcBef>
                <a:spcPct val="20000"/>
              </a:spcBef>
              <a:buFont typeface="Arial" panose="020B0604020202020204" pitchFamily="34" charset="0"/>
              <a:buNone/>
            </a:pPr>
            <a:r>
              <a:rPr lang="en-US" altLang="zh-CN" dirty="0" err="1">
                <a:ea typeface="仿宋_GB2312"/>
                <a:cs typeface="仿宋_GB2312"/>
              </a:rPr>
              <a:t>int</a:t>
            </a:r>
            <a:r>
              <a:rPr lang="en-US" altLang="zh-CN" dirty="0">
                <a:ea typeface="仿宋_GB2312"/>
                <a:cs typeface="仿宋_GB2312"/>
              </a:rPr>
              <a:t> </a:t>
            </a:r>
            <a:r>
              <a:rPr lang="en-US" altLang="zh-CN" dirty="0" err="1">
                <a:solidFill>
                  <a:srgbClr val="0000FF"/>
                </a:solidFill>
                <a:ea typeface="仿宋_GB2312"/>
                <a:cs typeface="仿宋_GB2312"/>
              </a:rPr>
              <a:t>LocateELem</a:t>
            </a:r>
            <a:r>
              <a:rPr lang="en-US" altLang="zh-CN" dirty="0">
                <a:ea typeface="仿宋_GB2312"/>
                <a:cs typeface="仿宋_GB2312"/>
              </a:rPr>
              <a:t>(</a:t>
            </a:r>
            <a:r>
              <a:rPr lang="en-US" altLang="zh-CN" dirty="0" err="1">
                <a:ea typeface="仿宋_GB2312"/>
                <a:cs typeface="仿宋_GB2312"/>
              </a:rPr>
              <a:t>SqList</a:t>
            </a:r>
            <a:r>
              <a:rPr lang="en-US" altLang="zh-CN" dirty="0">
                <a:ea typeface="仿宋_GB2312"/>
                <a:cs typeface="仿宋_GB2312"/>
              </a:rPr>
              <a:t> </a:t>
            </a:r>
            <a:r>
              <a:rPr lang="en-US" altLang="zh-CN" dirty="0" err="1">
                <a:ea typeface="仿宋_GB2312"/>
                <a:cs typeface="仿宋_GB2312"/>
              </a:rPr>
              <a:t>L,ElemType</a:t>
            </a:r>
            <a:r>
              <a:rPr lang="en-US" altLang="zh-CN" dirty="0">
                <a:ea typeface="仿宋_GB2312"/>
                <a:cs typeface="仿宋_GB2312"/>
              </a:rPr>
              <a:t> e)</a:t>
            </a:r>
          </a:p>
          <a:p>
            <a:pPr>
              <a:lnSpc>
                <a:spcPct val="105000"/>
              </a:lnSpc>
              <a:spcBef>
                <a:spcPct val="20000"/>
              </a:spcBef>
              <a:buFont typeface="Arial" panose="020B0604020202020204" pitchFamily="34" charset="0"/>
              <a:buNone/>
            </a:pPr>
            <a:r>
              <a:rPr lang="en-US" altLang="zh-CN" dirty="0">
                <a:ea typeface="仿宋_GB2312"/>
                <a:cs typeface="仿宋_GB2312"/>
              </a:rPr>
              <a:t>{</a:t>
            </a:r>
            <a:r>
              <a:rPr lang="en-US" altLang="zh-CN" dirty="0">
                <a:solidFill>
                  <a:srgbClr val="FF3300"/>
                </a:solidFill>
                <a:ea typeface="仿宋_GB2312"/>
                <a:cs typeface="仿宋_GB2312"/>
              </a:rPr>
              <a:t>  for (</a:t>
            </a:r>
            <a:r>
              <a:rPr lang="en-US" altLang="zh-CN" dirty="0" err="1">
                <a:solidFill>
                  <a:srgbClr val="FF3300"/>
                </a:solidFill>
                <a:ea typeface="仿宋_GB2312"/>
                <a:cs typeface="仿宋_GB2312"/>
              </a:rPr>
              <a:t>i</a:t>
            </a:r>
            <a:r>
              <a:rPr lang="en-US" altLang="zh-CN" dirty="0">
                <a:solidFill>
                  <a:srgbClr val="FF3300"/>
                </a:solidFill>
                <a:ea typeface="仿宋_GB2312"/>
                <a:cs typeface="仿宋_GB2312"/>
              </a:rPr>
              <a:t>=0;i&lt; </a:t>
            </a:r>
            <a:r>
              <a:rPr lang="en-US" altLang="zh-CN" dirty="0" err="1">
                <a:solidFill>
                  <a:srgbClr val="FF3300"/>
                </a:solidFill>
                <a:ea typeface="仿宋_GB2312"/>
                <a:cs typeface="仿宋_GB2312"/>
              </a:rPr>
              <a:t>L.length;i</a:t>
            </a:r>
            <a:r>
              <a:rPr lang="en-US" altLang="zh-CN" dirty="0">
                <a:solidFill>
                  <a:srgbClr val="FF3300"/>
                </a:solidFill>
                <a:ea typeface="仿宋_GB2312"/>
                <a:cs typeface="仿宋_GB2312"/>
              </a:rPr>
              <a:t>++)</a:t>
            </a:r>
          </a:p>
          <a:p>
            <a:pPr>
              <a:lnSpc>
                <a:spcPct val="105000"/>
              </a:lnSpc>
              <a:spcBef>
                <a:spcPct val="20000"/>
              </a:spcBef>
              <a:buFont typeface="Arial" panose="020B0604020202020204" pitchFamily="34" charset="0"/>
              <a:buNone/>
            </a:pPr>
            <a:r>
              <a:rPr lang="en-US" altLang="zh-CN" dirty="0">
                <a:ea typeface="仿宋_GB2312"/>
                <a:cs typeface="仿宋_GB2312"/>
              </a:rPr>
              <a:t>      if (</a:t>
            </a:r>
            <a:r>
              <a:rPr lang="en-US" altLang="zh-CN" dirty="0" err="1">
                <a:ea typeface="仿宋_GB2312"/>
                <a:cs typeface="仿宋_GB2312"/>
              </a:rPr>
              <a:t>L.elem</a:t>
            </a:r>
            <a:r>
              <a:rPr lang="en-US" altLang="zh-CN" dirty="0">
                <a:ea typeface="仿宋_GB2312"/>
                <a:cs typeface="仿宋_GB2312"/>
              </a:rPr>
              <a:t>[</a:t>
            </a:r>
            <a:r>
              <a:rPr lang="en-US" altLang="zh-CN" dirty="0" err="1">
                <a:ea typeface="仿宋_GB2312"/>
                <a:cs typeface="仿宋_GB2312"/>
              </a:rPr>
              <a:t>i</a:t>
            </a:r>
            <a:r>
              <a:rPr lang="en-US" altLang="zh-CN" dirty="0">
                <a:ea typeface="仿宋_GB2312"/>
                <a:cs typeface="仿宋_GB2312"/>
              </a:rPr>
              <a:t>]==e) return i+1;                </a:t>
            </a:r>
          </a:p>
          <a:p>
            <a:pPr>
              <a:lnSpc>
                <a:spcPct val="105000"/>
              </a:lnSpc>
              <a:spcBef>
                <a:spcPct val="20000"/>
              </a:spcBef>
              <a:buFont typeface="Arial" panose="020B0604020202020204" pitchFamily="34" charset="0"/>
              <a:buNone/>
            </a:pPr>
            <a:r>
              <a:rPr lang="en-US" altLang="zh-CN" dirty="0">
                <a:ea typeface="仿宋_GB2312"/>
                <a:cs typeface="仿宋_GB2312"/>
              </a:rPr>
              <a:t>  return 0;}</a:t>
            </a:r>
          </a:p>
        </p:txBody>
      </p:sp>
      <p:sp>
        <p:nvSpPr>
          <p:cNvPr id="991237" name="Rectangle 5"/>
          <p:cNvSpPr>
            <a:spLocks noChangeArrowheads="1"/>
          </p:cNvSpPr>
          <p:nvPr/>
        </p:nvSpPr>
        <p:spPr bwMode="auto">
          <a:xfrm>
            <a:off x="189106" y="3645024"/>
            <a:ext cx="81534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dirty="0">
                <a:solidFill>
                  <a:schemeClr val="hlink"/>
                </a:solidFill>
                <a:latin typeface="楷体_GB2312"/>
              </a:rPr>
              <a:t>改进：</a:t>
            </a:r>
            <a:r>
              <a:rPr lang="zh-CN" altLang="en-US" dirty="0">
                <a:latin typeface="楷体_GB2312"/>
              </a:rPr>
              <a:t>把待查关键字</a:t>
            </a:r>
            <a:r>
              <a:rPr lang="en-US" altLang="zh-CN" dirty="0">
                <a:solidFill>
                  <a:srgbClr val="FF3300"/>
                </a:solidFill>
                <a:highlight>
                  <a:srgbClr val="00FF00"/>
                </a:highlight>
                <a:latin typeface="楷体_GB2312"/>
              </a:rPr>
              <a:t>key</a:t>
            </a:r>
            <a:r>
              <a:rPr lang="zh-CN" altLang="en-US" dirty="0">
                <a:latin typeface="楷体_GB2312"/>
              </a:rPr>
              <a:t>存入</a:t>
            </a:r>
            <a:r>
              <a:rPr lang="zh-CN" altLang="en-US" dirty="0">
                <a:highlight>
                  <a:srgbClr val="00FF00"/>
                </a:highlight>
                <a:latin typeface="楷体_GB2312"/>
              </a:rPr>
              <a:t>表头</a:t>
            </a:r>
            <a:r>
              <a:rPr lang="zh-CN" altLang="en-US" dirty="0">
                <a:latin typeface="楷体_GB2312"/>
              </a:rPr>
              <a:t>（</a:t>
            </a:r>
            <a:r>
              <a:rPr lang="zh-CN" altLang="en-US" dirty="0">
                <a:solidFill>
                  <a:srgbClr val="FF3300"/>
                </a:solidFill>
                <a:highlight>
                  <a:srgbClr val="00FF00"/>
                </a:highlight>
              </a:rPr>
              <a:t>“</a:t>
            </a:r>
            <a:r>
              <a:rPr lang="zh-CN" altLang="en-US" dirty="0">
                <a:solidFill>
                  <a:srgbClr val="FF3300"/>
                </a:solidFill>
                <a:highlight>
                  <a:srgbClr val="00FF00"/>
                </a:highlight>
                <a:latin typeface="楷体_GB2312"/>
              </a:rPr>
              <a:t>哨兵</a:t>
            </a:r>
            <a:r>
              <a:rPr lang="zh-CN" altLang="en-US" dirty="0">
                <a:solidFill>
                  <a:srgbClr val="FF3300"/>
                </a:solidFill>
                <a:highlight>
                  <a:srgbClr val="00FF00"/>
                </a:highlight>
              </a:rPr>
              <a:t>”</a:t>
            </a:r>
            <a:r>
              <a:rPr lang="zh-CN" altLang="en-US" dirty="0">
                <a:latin typeface="楷体_GB2312"/>
              </a:rPr>
              <a:t>），</a:t>
            </a:r>
            <a:r>
              <a:rPr lang="zh-CN" altLang="en-US" dirty="0">
                <a:solidFill>
                  <a:srgbClr val="FF3300"/>
                </a:solidFill>
                <a:latin typeface="楷体_GB2312"/>
              </a:rPr>
              <a:t>从后向前</a:t>
            </a:r>
            <a:r>
              <a:rPr lang="zh-CN" altLang="en-US" dirty="0">
                <a:latin typeface="楷体_GB2312"/>
              </a:rPr>
              <a:t>逐个比较，可免去查找过程中</a:t>
            </a:r>
            <a:r>
              <a:rPr lang="zh-CN" altLang="en-US" dirty="0">
                <a:solidFill>
                  <a:srgbClr val="FF3300"/>
                </a:solidFill>
                <a:latin typeface="楷体_GB2312"/>
              </a:rPr>
              <a:t>每一步都要检测是否查找完毕</a:t>
            </a:r>
            <a:r>
              <a:rPr lang="zh-CN" altLang="en-US" dirty="0">
                <a:latin typeface="楷体_GB2312"/>
              </a:rPr>
              <a:t>，</a:t>
            </a:r>
            <a:r>
              <a:rPr lang="zh-CN" altLang="en-US" dirty="0">
                <a:highlight>
                  <a:srgbClr val="00FF00"/>
                </a:highlight>
                <a:latin typeface="楷体_GB2312"/>
              </a:rPr>
              <a:t>加快速度</a:t>
            </a:r>
            <a:r>
              <a:rPr lang="zh-CN" altLang="en-US" dirty="0">
                <a:latin typeface="楷体_GB2312"/>
              </a:rPr>
              <a:t>。</a:t>
            </a:r>
          </a:p>
        </p:txBody>
      </p:sp>
      <p:sp>
        <p:nvSpPr>
          <p:cNvPr id="22532" name="Rectangle 6"/>
          <p:cNvSpPr>
            <a:spLocks noChangeArrowheads="1"/>
          </p:cNvSpPr>
          <p:nvPr/>
        </p:nvSpPr>
        <p:spPr bwMode="auto">
          <a:xfrm>
            <a:off x="3242284" y="27204"/>
            <a:ext cx="4166869"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查找值为</a:t>
            </a:r>
            <a:r>
              <a:rPr lang="en-US" altLang="zh-CN" sz="3200" dirty="0">
                <a:latin typeface="楷体_GB2312"/>
              </a:rPr>
              <a:t>e</a:t>
            </a:r>
            <a:r>
              <a:rPr lang="zh-CN" altLang="en-US" sz="3200" dirty="0">
                <a:latin typeface="楷体_GB2312"/>
              </a:rPr>
              <a:t>的数据元素</a:t>
            </a:r>
          </a:p>
        </p:txBody>
      </p:sp>
      <p:sp>
        <p:nvSpPr>
          <p:cNvPr id="2" name="文本框 1"/>
          <p:cNvSpPr txBox="1"/>
          <p:nvPr/>
        </p:nvSpPr>
        <p:spPr>
          <a:xfrm>
            <a:off x="6084168" y="2367469"/>
            <a:ext cx="1988045" cy="954107"/>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none" rtlCol="0">
            <a:spAutoFit/>
          </a:bodyPr>
          <a:lstStyle/>
          <a:p>
            <a:r>
              <a:rPr lang="zh-CN" altLang="en-US" dirty="0"/>
              <a:t>每一次循环</a:t>
            </a:r>
            <a:endParaRPr lang="en-US" altLang="zh-CN" dirty="0"/>
          </a:p>
          <a:p>
            <a:r>
              <a:rPr lang="zh-CN" altLang="en-US" dirty="0"/>
              <a:t>两次比较</a:t>
            </a:r>
          </a:p>
        </p:txBody>
      </p:sp>
      <p:sp>
        <p:nvSpPr>
          <p:cNvPr id="5" name="圆角矩形 4"/>
          <p:cNvSpPr/>
          <p:nvPr/>
        </p:nvSpPr>
        <p:spPr bwMode="auto">
          <a:xfrm>
            <a:off x="1835696" y="2132856"/>
            <a:ext cx="1728192" cy="432048"/>
          </a:xfrm>
          <a:prstGeom prst="roundRect">
            <a:avLst/>
          </a:prstGeom>
          <a:noFill/>
          <a:ln w="25400" cap="flat" cmpd="sng" algn="ctr">
            <a:solidFill>
              <a:schemeClr val="accent2"/>
            </a:solidFill>
            <a:prstDash val="sysDash"/>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
        <p:nvSpPr>
          <p:cNvPr id="9" name="圆角矩形 8"/>
          <p:cNvSpPr/>
          <p:nvPr/>
        </p:nvSpPr>
        <p:spPr bwMode="auto">
          <a:xfrm>
            <a:off x="1259632" y="2651001"/>
            <a:ext cx="2016224" cy="432048"/>
          </a:xfrm>
          <a:prstGeom prst="roundRect">
            <a:avLst/>
          </a:prstGeom>
          <a:noFill/>
          <a:ln w="25400" cap="flat" cmpd="sng" algn="ctr">
            <a:solidFill>
              <a:schemeClr val="accent2"/>
            </a:solidFill>
            <a:prstDash val="sysDash"/>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0" fontAlgn="base" latinLnBrk="0" hangingPunct="0">
              <a:lnSpc>
                <a:spcPct val="100000"/>
              </a:lnSpc>
              <a:spcBef>
                <a:spcPct val="20000"/>
              </a:spcBef>
              <a:spcAft>
                <a:spcPct val="0"/>
              </a:spcAft>
              <a:buClrTx/>
              <a:buSzTx/>
              <a:buFontTx/>
              <a:buNone/>
            </a:pPr>
            <a:endParaRPr kumimoji="1" lang="zh-CN" altLang="en-US" sz="2800" b="1" i="0" u="none" strike="noStrike" cap="none" normalizeH="0" baseline="0">
              <a:ln>
                <a:noFill/>
              </a:ln>
              <a:solidFill>
                <a:schemeClr val="tx1"/>
              </a:solidFill>
              <a:effectLst/>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991237"/>
                                        </p:tgtEl>
                                        <p:attrNameLst>
                                          <p:attrName>style.visibility</p:attrName>
                                        </p:attrNameLst>
                                      </p:cBhvr>
                                      <p:to>
                                        <p:strVal val="visible"/>
                                      </p:to>
                                    </p:set>
                                    <p:anim calcmode="lin" valueType="num">
                                      <p:cBhvr>
                                        <p:cTn id="7" dur="500" fill="hold"/>
                                        <p:tgtEl>
                                          <p:spTgt spid="991237"/>
                                        </p:tgtEl>
                                        <p:attrNameLst>
                                          <p:attrName>ppt_w</p:attrName>
                                        </p:attrNameLst>
                                      </p:cBhvr>
                                      <p:tavLst>
                                        <p:tav tm="0">
                                          <p:val>
                                            <p:fltVal val="0"/>
                                          </p:val>
                                        </p:tav>
                                        <p:tav tm="100000">
                                          <p:val>
                                            <p:strVal val="#ppt_w"/>
                                          </p:val>
                                        </p:tav>
                                      </p:tavLst>
                                    </p:anim>
                                    <p:anim calcmode="lin" valueType="num">
                                      <p:cBhvr>
                                        <p:cTn id="8" dur="500" fill="hold"/>
                                        <p:tgtEl>
                                          <p:spTgt spid="9912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12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62" name="Rectangle 6"/>
          <p:cNvSpPr>
            <a:spLocks noChangeArrowheads="1"/>
          </p:cNvSpPr>
          <p:nvPr/>
        </p:nvSpPr>
        <p:spPr bwMode="auto">
          <a:xfrm>
            <a:off x="0" y="692150"/>
            <a:ext cx="9144000" cy="526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1500" indent="-5715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50000"/>
              </a:lnSpc>
              <a:spcBef>
                <a:spcPct val="50000"/>
              </a:spcBef>
              <a:buFont typeface="Arial" panose="020B0604020202020204" pitchFamily="34" charset="0"/>
              <a:buNone/>
            </a:pPr>
            <a:r>
              <a:rPr lang="en-US" altLang="zh-CN" dirty="0" err="1">
                <a:ea typeface="黑体" panose="02010609060101010101" pitchFamily="49" charset="-122"/>
              </a:rPr>
              <a:t>int</a:t>
            </a:r>
            <a:r>
              <a:rPr lang="en-US" altLang="zh-CN" dirty="0">
                <a:ea typeface="黑体" panose="02010609060101010101" pitchFamily="49" charset="-122"/>
              </a:rPr>
              <a:t> </a:t>
            </a:r>
            <a:r>
              <a:rPr lang="en-US" altLang="zh-CN" dirty="0" err="1">
                <a:solidFill>
                  <a:srgbClr val="0000FF"/>
                </a:solidFill>
                <a:ea typeface="黑体" panose="02010609060101010101" pitchFamily="49" charset="-122"/>
              </a:rPr>
              <a:t>Search_Seq</a:t>
            </a:r>
            <a:r>
              <a:rPr lang="en-US" altLang="zh-CN" dirty="0">
                <a:ea typeface="黑体" panose="02010609060101010101" pitchFamily="49" charset="-122"/>
              </a:rPr>
              <a:t>( </a:t>
            </a:r>
            <a:r>
              <a:rPr lang="en-US" altLang="zh-CN" dirty="0" err="1">
                <a:ea typeface="黑体" panose="02010609060101010101" pitchFamily="49" charset="-122"/>
              </a:rPr>
              <a:t>SSTable</a:t>
            </a:r>
            <a:r>
              <a:rPr lang="en-US" altLang="zh-CN" dirty="0">
                <a:ea typeface="黑体" panose="02010609060101010101" pitchFamily="49" charset="-122"/>
              </a:rPr>
              <a:t>  ST , </a:t>
            </a:r>
            <a:r>
              <a:rPr lang="en-US" altLang="zh-CN" dirty="0" err="1">
                <a:ea typeface="黑体" panose="02010609060101010101" pitchFamily="49" charset="-122"/>
              </a:rPr>
              <a:t>KeyType</a:t>
            </a:r>
            <a:r>
              <a:rPr lang="en-US" altLang="zh-CN" dirty="0">
                <a:ea typeface="黑体" panose="02010609060101010101" pitchFamily="49" charset="-122"/>
              </a:rPr>
              <a:t>  key ){</a:t>
            </a:r>
          </a:p>
          <a:p>
            <a:pPr eaLnBrk="1" hangingPunct="1">
              <a:lnSpc>
                <a:spcPct val="150000"/>
              </a:lnSpc>
              <a:buFont typeface="Arial" panose="020B0604020202020204" pitchFamily="34" charset="0"/>
              <a:buNone/>
            </a:pPr>
            <a:r>
              <a:rPr lang="en-US" altLang="zh-CN" dirty="0">
                <a:ea typeface="黑体" panose="02010609060101010101" pitchFamily="49" charset="-122"/>
              </a:rPr>
              <a:t>   </a:t>
            </a:r>
            <a:r>
              <a:rPr lang="en-US" altLang="zh-CN" dirty="0">
                <a:solidFill>
                  <a:schemeClr val="hlink"/>
                </a:solidFill>
                <a:latin typeface="楷体_GB2312"/>
              </a:rPr>
              <a:t>//</a:t>
            </a:r>
            <a:r>
              <a:rPr lang="zh-CN" altLang="en-US" dirty="0">
                <a:solidFill>
                  <a:schemeClr val="hlink"/>
                </a:solidFill>
                <a:latin typeface="楷体_GB2312"/>
              </a:rPr>
              <a:t>若成功返回其位置信息，否则返回</a:t>
            </a:r>
            <a:r>
              <a:rPr lang="en-US" altLang="zh-CN" dirty="0">
                <a:solidFill>
                  <a:schemeClr val="hlink"/>
                </a:solidFill>
                <a:latin typeface="楷体_GB2312"/>
              </a:rPr>
              <a:t>0</a:t>
            </a:r>
          </a:p>
          <a:p>
            <a:pPr eaLnBrk="1" hangingPunct="1">
              <a:lnSpc>
                <a:spcPct val="150000"/>
              </a:lnSpc>
              <a:buFont typeface="Arial" panose="020B0604020202020204" pitchFamily="34" charset="0"/>
              <a:buNone/>
            </a:pPr>
            <a:r>
              <a:rPr lang="en-US" altLang="zh-CN" sz="2400" dirty="0">
                <a:highlight>
                  <a:srgbClr val="00FF00"/>
                </a:highlight>
                <a:ea typeface="黑体" panose="02010609060101010101" pitchFamily="49" charset="-122"/>
              </a:rPr>
              <a:t>  </a:t>
            </a:r>
            <a:r>
              <a:rPr lang="en-US" altLang="zh-CN" dirty="0">
                <a:solidFill>
                  <a:srgbClr val="FF3300"/>
                </a:solidFill>
                <a:highlight>
                  <a:srgbClr val="00FF00"/>
                </a:highlight>
                <a:ea typeface="黑体" panose="02010609060101010101" pitchFamily="49" charset="-122"/>
              </a:rPr>
              <a:t>ST.R[0].key =key</a:t>
            </a:r>
            <a:r>
              <a:rPr lang="en-US" altLang="zh-CN" dirty="0">
                <a:solidFill>
                  <a:srgbClr val="FF3300"/>
                </a:solidFill>
                <a:ea typeface="黑体" panose="02010609060101010101" pitchFamily="49" charset="-122"/>
              </a:rPr>
              <a:t>;</a:t>
            </a:r>
            <a:r>
              <a:rPr lang="en-US" altLang="zh-CN" sz="2400" dirty="0">
                <a:ea typeface="黑体" panose="02010609060101010101" pitchFamily="49" charset="-122"/>
              </a:rPr>
              <a:t>   </a:t>
            </a:r>
          </a:p>
          <a:p>
            <a:pPr eaLnBrk="1" hangingPunct="1">
              <a:lnSpc>
                <a:spcPct val="150000"/>
              </a:lnSpc>
              <a:buFont typeface="Arial" panose="020B0604020202020204" pitchFamily="34" charset="0"/>
              <a:buNone/>
            </a:pPr>
            <a:r>
              <a:rPr lang="en-US" altLang="zh-CN" dirty="0">
                <a:ea typeface="黑体" panose="02010609060101010101" pitchFamily="49" charset="-122"/>
              </a:rPr>
              <a:t> for( </a:t>
            </a:r>
            <a:r>
              <a:rPr lang="en-US" altLang="zh-CN" dirty="0" err="1">
                <a:solidFill>
                  <a:srgbClr val="FF3300"/>
                </a:solidFill>
                <a:highlight>
                  <a:srgbClr val="00FF00"/>
                </a:highlight>
                <a:ea typeface="黑体" panose="02010609060101010101" pitchFamily="49" charset="-122"/>
              </a:rPr>
              <a:t>i</a:t>
            </a:r>
            <a:r>
              <a:rPr lang="en-US" altLang="zh-CN" dirty="0">
                <a:solidFill>
                  <a:srgbClr val="FF3300"/>
                </a:solidFill>
                <a:highlight>
                  <a:srgbClr val="00FF00"/>
                </a:highlight>
                <a:ea typeface="黑体" panose="02010609060101010101" pitchFamily="49" charset="-122"/>
              </a:rPr>
              <a:t>=</a:t>
            </a:r>
            <a:r>
              <a:rPr lang="en-US" altLang="zh-CN" dirty="0" err="1">
                <a:solidFill>
                  <a:srgbClr val="FF3300"/>
                </a:solidFill>
                <a:highlight>
                  <a:srgbClr val="00FF00"/>
                </a:highlight>
                <a:ea typeface="黑体" panose="02010609060101010101" pitchFamily="49" charset="-122"/>
              </a:rPr>
              <a:t>ST.length</a:t>
            </a:r>
            <a:r>
              <a:rPr lang="en-US" altLang="zh-CN" dirty="0">
                <a:ea typeface="黑体" panose="02010609060101010101" pitchFamily="49" charset="-122"/>
              </a:rPr>
              <a:t>; </a:t>
            </a:r>
            <a:r>
              <a:rPr lang="en-US" altLang="zh-CN" dirty="0">
                <a:solidFill>
                  <a:srgbClr val="FF3300"/>
                </a:solidFill>
                <a:highlight>
                  <a:srgbClr val="00FF00"/>
                </a:highlight>
                <a:ea typeface="黑体" panose="02010609060101010101" pitchFamily="49" charset="-122"/>
              </a:rPr>
              <a:t>ST.R[ </a:t>
            </a:r>
            <a:r>
              <a:rPr lang="en-US" altLang="zh-CN" dirty="0" err="1">
                <a:solidFill>
                  <a:srgbClr val="FF3300"/>
                </a:solidFill>
                <a:highlight>
                  <a:srgbClr val="00FF00"/>
                </a:highlight>
                <a:ea typeface="黑体" panose="02010609060101010101" pitchFamily="49" charset="-122"/>
              </a:rPr>
              <a:t>i</a:t>
            </a:r>
            <a:r>
              <a:rPr lang="en-US" altLang="zh-CN" dirty="0">
                <a:solidFill>
                  <a:srgbClr val="FF3300"/>
                </a:solidFill>
                <a:highlight>
                  <a:srgbClr val="00FF00"/>
                </a:highlight>
                <a:ea typeface="黑体" panose="02010609060101010101" pitchFamily="49" charset="-122"/>
              </a:rPr>
              <a:t> ].key!=key</a:t>
            </a:r>
            <a:r>
              <a:rPr lang="en-US" altLang="zh-CN" dirty="0">
                <a:ea typeface="黑体" panose="02010609060101010101" pitchFamily="49" charset="-122"/>
              </a:rPr>
              <a:t>;  - - </a:t>
            </a:r>
            <a:r>
              <a:rPr lang="en-US" altLang="zh-CN" dirty="0" err="1">
                <a:ea typeface="黑体" panose="02010609060101010101" pitchFamily="49" charset="-122"/>
              </a:rPr>
              <a:t>i</a:t>
            </a:r>
            <a:r>
              <a:rPr lang="en-US" altLang="zh-CN" dirty="0">
                <a:ea typeface="黑体" panose="02010609060101010101" pitchFamily="49" charset="-122"/>
              </a:rPr>
              <a:t>  )</a:t>
            </a:r>
            <a:r>
              <a:rPr lang="en-US" altLang="zh-CN" dirty="0">
                <a:solidFill>
                  <a:srgbClr val="FF3300"/>
                </a:solidFill>
                <a:highlight>
                  <a:srgbClr val="00FF00"/>
                </a:highlight>
                <a:ea typeface="黑体" panose="02010609060101010101" pitchFamily="49" charset="-122"/>
              </a:rPr>
              <a:t>;</a:t>
            </a:r>
          </a:p>
          <a:p>
            <a:pPr eaLnBrk="1" hangingPunct="1">
              <a:lnSpc>
                <a:spcPct val="150000"/>
              </a:lnSpc>
              <a:buFont typeface="Arial" panose="020B0604020202020204" pitchFamily="34" charset="0"/>
              <a:buNone/>
            </a:pPr>
            <a:r>
              <a:rPr lang="en-US" altLang="zh-CN" dirty="0">
                <a:ea typeface="黑体" panose="02010609060101010101" pitchFamily="49" charset="-122"/>
              </a:rPr>
              <a:t> </a:t>
            </a:r>
            <a:r>
              <a:rPr lang="en-US" altLang="zh-CN" dirty="0">
                <a:solidFill>
                  <a:schemeClr val="hlink"/>
                </a:solidFill>
                <a:latin typeface="楷体_GB2312"/>
              </a:rPr>
              <a:t>//</a:t>
            </a:r>
            <a:r>
              <a:rPr lang="zh-CN" altLang="en-US" dirty="0">
                <a:solidFill>
                  <a:schemeClr val="hlink"/>
                </a:solidFill>
                <a:latin typeface="楷体_GB2312"/>
              </a:rPr>
              <a:t>不用</a:t>
            </a:r>
            <a:r>
              <a:rPr lang="en-US" altLang="zh-CN" dirty="0">
                <a:solidFill>
                  <a:schemeClr val="hlink"/>
                </a:solidFill>
                <a:latin typeface="楷体_GB2312"/>
              </a:rPr>
              <a:t>for(</a:t>
            </a:r>
            <a:r>
              <a:rPr lang="en-US" altLang="zh-CN" dirty="0" err="1">
                <a:solidFill>
                  <a:schemeClr val="hlink"/>
                </a:solidFill>
                <a:latin typeface="楷体_GB2312"/>
              </a:rPr>
              <a:t>i</a:t>
            </a:r>
            <a:r>
              <a:rPr lang="en-US" altLang="zh-CN" dirty="0">
                <a:solidFill>
                  <a:schemeClr val="hlink"/>
                </a:solidFill>
                <a:latin typeface="楷体_GB2312"/>
              </a:rPr>
              <a:t>=n; </a:t>
            </a:r>
            <a:r>
              <a:rPr lang="en-US" altLang="zh-CN" dirty="0" err="1">
                <a:solidFill>
                  <a:schemeClr val="hlink"/>
                </a:solidFill>
                <a:latin typeface="楷体_GB2312"/>
              </a:rPr>
              <a:t>i</a:t>
            </a:r>
            <a:r>
              <a:rPr lang="en-US" altLang="zh-CN" dirty="0">
                <a:solidFill>
                  <a:schemeClr val="hlink"/>
                </a:solidFill>
                <a:latin typeface="楷体_GB2312"/>
              </a:rPr>
              <a:t>&gt;0; - -</a:t>
            </a:r>
            <a:r>
              <a:rPr lang="en-US" altLang="zh-CN" dirty="0" err="1">
                <a:solidFill>
                  <a:schemeClr val="hlink"/>
                </a:solidFill>
                <a:latin typeface="楷体_GB2312"/>
              </a:rPr>
              <a:t>i</a:t>
            </a:r>
            <a:r>
              <a:rPr lang="en-US" altLang="zh-CN" dirty="0">
                <a:solidFill>
                  <a:schemeClr val="hlink"/>
                </a:solidFill>
                <a:latin typeface="楷体_GB2312"/>
              </a:rPr>
              <a:t>) </a:t>
            </a:r>
            <a:r>
              <a:rPr lang="zh-CN" altLang="en-US" dirty="0">
                <a:solidFill>
                  <a:schemeClr val="hlink"/>
                </a:solidFill>
                <a:latin typeface="楷体_GB2312"/>
              </a:rPr>
              <a:t>或 </a:t>
            </a:r>
            <a:r>
              <a:rPr lang="en-US" altLang="zh-CN" dirty="0">
                <a:solidFill>
                  <a:schemeClr val="hlink"/>
                </a:solidFill>
                <a:latin typeface="楷体_GB2312"/>
              </a:rPr>
              <a:t>for(</a:t>
            </a:r>
            <a:r>
              <a:rPr lang="en-US" altLang="zh-CN" dirty="0" err="1">
                <a:solidFill>
                  <a:schemeClr val="hlink"/>
                </a:solidFill>
                <a:latin typeface="楷体_GB2312"/>
              </a:rPr>
              <a:t>i</a:t>
            </a:r>
            <a:r>
              <a:rPr lang="en-US" altLang="zh-CN" dirty="0">
                <a:solidFill>
                  <a:schemeClr val="hlink"/>
                </a:solidFill>
                <a:latin typeface="楷体_GB2312"/>
              </a:rPr>
              <a:t>=1; </a:t>
            </a:r>
            <a:r>
              <a:rPr lang="en-US" altLang="zh-CN" dirty="0" err="1">
                <a:solidFill>
                  <a:schemeClr val="hlink"/>
                </a:solidFill>
                <a:latin typeface="楷体_GB2312"/>
              </a:rPr>
              <a:t>i</a:t>
            </a:r>
            <a:r>
              <a:rPr lang="en-US" altLang="zh-CN" dirty="0">
                <a:solidFill>
                  <a:schemeClr val="hlink"/>
                </a:solidFill>
                <a:latin typeface="楷体_GB2312"/>
              </a:rPr>
              <a:t>&lt;=n; </a:t>
            </a:r>
            <a:r>
              <a:rPr lang="en-US" altLang="zh-CN" dirty="0" err="1">
                <a:solidFill>
                  <a:schemeClr val="hlink"/>
                </a:solidFill>
                <a:latin typeface="楷体_GB2312"/>
              </a:rPr>
              <a:t>i</a:t>
            </a:r>
            <a:r>
              <a:rPr lang="en-US" altLang="zh-CN" dirty="0">
                <a:solidFill>
                  <a:schemeClr val="hlink"/>
                </a:solidFill>
                <a:latin typeface="楷体_GB2312"/>
              </a:rPr>
              <a:t>++)</a:t>
            </a:r>
            <a:r>
              <a:rPr lang="zh-CN" altLang="en-US" dirty="0">
                <a:solidFill>
                  <a:schemeClr val="hlink"/>
                </a:solidFill>
                <a:latin typeface="楷体_GB2312"/>
              </a:rPr>
              <a:t>由于把哨兵放在表头</a:t>
            </a:r>
            <a:r>
              <a:rPr lang="en-US" altLang="zh-CN" dirty="0">
                <a:solidFill>
                  <a:schemeClr val="hlink"/>
                </a:solidFill>
                <a:latin typeface="楷体_GB2312"/>
              </a:rPr>
              <a:t>,</a:t>
            </a:r>
            <a:r>
              <a:rPr lang="zh-CN" altLang="en-US" dirty="0">
                <a:solidFill>
                  <a:schemeClr val="hlink"/>
                </a:solidFill>
                <a:latin typeface="楷体_GB2312"/>
              </a:rPr>
              <a:t>所以从后开始遍历</a:t>
            </a:r>
            <a:r>
              <a:rPr lang="en-US" altLang="zh-CN" dirty="0">
                <a:ea typeface="黑体" panose="02010609060101010101" pitchFamily="49" charset="-122"/>
              </a:rPr>
              <a:t>  </a:t>
            </a:r>
          </a:p>
          <a:p>
            <a:pPr eaLnBrk="1" hangingPunct="1">
              <a:lnSpc>
                <a:spcPct val="150000"/>
              </a:lnSpc>
              <a:spcBef>
                <a:spcPct val="20000"/>
              </a:spcBef>
              <a:buFont typeface="Arial" panose="020B0604020202020204" pitchFamily="34" charset="0"/>
              <a:buNone/>
            </a:pPr>
            <a:r>
              <a:rPr lang="en-US" altLang="zh-CN" sz="2400" dirty="0">
                <a:ea typeface="黑体" panose="02010609060101010101" pitchFamily="49" charset="-122"/>
              </a:rPr>
              <a:t>   </a:t>
            </a:r>
            <a:r>
              <a:rPr lang="en-US" altLang="zh-CN" dirty="0">
                <a:ea typeface="黑体" panose="02010609060101010101" pitchFamily="49" charset="-122"/>
              </a:rPr>
              <a:t>return </a:t>
            </a:r>
            <a:r>
              <a:rPr lang="en-US" altLang="zh-CN" dirty="0" err="1">
                <a:solidFill>
                  <a:srgbClr val="FF00FF"/>
                </a:solidFill>
                <a:ea typeface="黑体" panose="02010609060101010101" pitchFamily="49" charset="-122"/>
              </a:rPr>
              <a:t>i</a:t>
            </a:r>
            <a:r>
              <a:rPr lang="en-US" altLang="zh-CN" dirty="0">
                <a:ea typeface="黑体" panose="02010609060101010101" pitchFamily="49" charset="-122"/>
              </a:rPr>
              <a:t>;</a:t>
            </a:r>
            <a:r>
              <a:rPr lang="en-US" altLang="zh-CN" sz="2400" dirty="0">
                <a:ea typeface="黑体" panose="02010609060101010101" pitchFamily="49" charset="-122"/>
              </a:rPr>
              <a:t> </a:t>
            </a:r>
            <a:endParaRPr lang="en-US" altLang="zh-CN" dirty="0">
              <a:solidFill>
                <a:schemeClr val="hlink"/>
              </a:solidFill>
              <a:latin typeface="楷体_GB2312"/>
            </a:endParaRPr>
          </a:p>
          <a:p>
            <a:pPr eaLnBrk="1" hangingPunct="1">
              <a:lnSpc>
                <a:spcPct val="150000"/>
              </a:lnSpc>
              <a:spcBef>
                <a:spcPct val="20000"/>
              </a:spcBef>
              <a:buFont typeface="Arial" panose="020B0604020202020204" pitchFamily="34" charset="0"/>
              <a:buNone/>
            </a:pPr>
            <a:r>
              <a:rPr lang="en-US" altLang="zh-CN" sz="2400" dirty="0">
                <a:ea typeface="黑体" panose="02010609060101010101" pitchFamily="49" charset="-122"/>
              </a:rPr>
              <a:t>}</a:t>
            </a:r>
            <a:endParaRPr lang="en-US" altLang="zh-CN" sz="2400" dirty="0">
              <a:solidFill>
                <a:schemeClr val="hlink"/>
              </a:solidFill>
              <a:ea typeface="黑体" panose="02010609060101010101" pitchFamily="49" charset="-122"/>
            </a:endParaRPr>
          </a:p>
        </p:txBody>
      </p:sp>
      <p:sp>
        <p:nvSpPr>
          <p:cNvPr id="3" name="Rectangle 6"/>
          <p:cNvSpPr>
            <a:spLocks noChangeArrowheads="1"/>
          </p:cNvSpPr>
          <p:nvPr/>
        </p:nvSpPr>
        <p:spPr bwMode="auto">
          <a:xfrm>
            <a:off x="3242284" y="27204"/>
            <a:ext cx="4166869"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改进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922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92262">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92262">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92262">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92262">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92262">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922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226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139700" y="1412776"/>
            <a:ext cx="864235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Char char="•"/>
            </a:pPr>
            <a:r>
              <a:rPr lang="zh-CN" altLang="en-US" dirty="0">
                <a:solidFill>
                  <a:srgbClr val="0000FF"/>
                </a:solidFill>
                <a:latin typeface="楷体_GB2312"/>
              </a:rPr>
              <a:t>空间复杂度</a:t>
            </a:r>
            <a:r>
              <a:rPr lang="zh-CN" altLang="en-US" dirty="0">
                <a:latin typeface="楷体_GB2312"/>
              </a:rPr>
              <a:t>：一个辅助空间。</a:t>
            </a:r>
          </a:p>
          <a:p>
            <a:pPr>
              <a:spcBef>
                <a:spcPct val="20000"/>
              </a:spcBef>
              <a:buFont typeface="Arial" panose="020B0604020202020204" pitchFamily="34" charset="0"/>
              <a:buChar char="•"/>
            </a:pPr>
            <a:r>
              <a:rPr lang="zh-CN" altLang="en-US" dirty="0">
                <a:solidFill>
                  <a:srgbClr val="0000FF"/>
                </a:solidFill>
                <a:latin typeface="楷体_GB2312"/>
              </a:rPr>
              <a:t>时间复杂度</a:t>
            </a:r>
            <a:r>
              <a:rPr lang="zh-CN" altLang="en-US" dirty="0">
                <a:latin typeface="楷体_GB2312"/>
              </a:rPr>
              <a:t>：</a:t>
            </a:r>
          </a:p>
          <a:p>
            <a:pPr>
              <a:spcBef>
                <a:spcPct val="20000"/>
              </a:spcBef>
              <a:buFont typeface="Arial" panose="020B0604020202020204" pitchFamily="34" charset="0"/>
              <a:buNone/>
            </a:pPr>
            <a:r>
              <a:rPr lang="en-US" altLang="zh-CN" dirty="0">
                <a:latin typeface="楷体_GB2312"/>
              </a:rPr>
              <a:t>1) </a:t>
            </a:r>
            <a:r>
              <a:rPr lang="zh-CN" altLang="en-US" dirty="0">
                <a:latin typeface="楷体_GB2312"/>
              </a:rPr>
              <a:t>查找成功时的平均查找长度</a:t>
            </a:r>
          </a:p>
          <a:p>
            <a:pPr>
              <a:spcBef>
                <a:spcPct val="20000"/>
              </a:spcBef>
              <a:buFont typeface="Arial" panose="020B0604020202020204" pitchFamily="34" charset="0"/>
              <a:buNone/>
            </a:pPr>
            <a:r>
              <a:rPr lang="zh-CN" altLang="en-US" dirty="0">
                <a:latin typeface="楷体_GB2312"/>
              </a:rPr>
              <a:t>  设表中各记录查找概率相等</a:t>
            </a:r>
          </a:p>
          <a:p>
            <a:pPr>
              <a:spcBef>
                <a:spcPct val="20000"/>
              </a:spcBef>
              <a:buFont typeface="Arial" panose="020B0604020202020204" pitchFamily="34" charset="0"/>
              <a:buNone/>
            </a:pPr>
            <a:r>
              <a:rPr lang="zh-CN" altLang="en-US" dirty="0">
                <a:latin typeface="楷体_GB2312"/>
              </a:rPr>
              <a:t>    </a:t>
            </a:r>
            <a:r>
              <a:rPr lang="en-US" altLang="zh-CN" dirty="0">
                <a:solidFill>
                  <a:srgbClr val="FF3300"/>
                </a:solidFill>
                <a:latin typeface="楷体_GB2312"/>
              </a:rPr>
              <a:t>ASL</a:t>
            </a:r>
            <a:r>
              <a:rPr lang="en-US" altLang="zh-CN" baseline="-25000" dirty="0">
                <a:solidFill>
                  <a:srgbClr val="FF3300"/>
                </a:solidFill>
                <a:latin typeface="楷体_GB2312"/>
              </a:rPr>
              <a:t>s</a:t>
            </a:r>
            <a:r>
              <a:rPr lang="en-US" altLang="zh-CN" dirty="0">
                <a:solidFill>
                  <a:srgbClr val="FF3300"/>
                </a:solidFill>
                <a:latin typeface="楷体_GB2312"/>
              </a:rPr>
              <a:t>(n)=(1+2+ ... +n)/n =(n+1)/2</a:t>
            </a:r>
          </a:p>
          <a:p>
            <a:pPr>
              <a:spcBef>
                <a:spcPct val="20000"/>
              </a:spcBef>
              <a:buFont typeface="Arial" panose="020B0604020202020204" pitchFamily="34" charset="0"/>
              <a:buNone/>
            </a:pPr>
            <a:r>
              <a:rPr lang="en-US" altLang="zh-CN" dirty="0">
                <a:latin typeface="楷体_GB2312"/>
              </a:rPr>
              <a:t>2)</a:t>
            </a:r>
            <a:r>
              <a:rPr lang="zh-CN" altLang="en-US" dirty="0">
                <a:latin typeface="楷体_GB2312"/>
              </a:rPr>
              <a:t>查找不成功时的平均查找长度    </a:t>
            </a:r>
            <a:r>
              <a:rPr lang="en-US" altLang="zh-CN" dirty="0" err="1">
                <a:latin typeface="楷体_GB2312"/>
              </a:rPr>
              <a:t>ASL</a:t>
            </a:r>
            <a:r>
              <a:rPr lang="en-US" altLang="zh-CN" baseline="-25000" dirty="0" err="1">
                <a:latin typeface="楷体_GB2312"/>
              </a:rPr>
              <a:t>f</a:t>
            </a:r>
            <a:r>
              <a:rPr lang="en-US" altLang="zh-CN" baseline="-25000" dirty="0">
                <a:latin typeface="楷体_GB2312"/>
              </a:rPr>
              <a:t> </a:t>
            </a:r>
            <a:r>
              <a:rPr lang="en-US" altLang="zh-CN" dirty="0">
                <a:latin typeface="楷体_GB2312"/>
              </a:rPr>
              <a:t>=n+1</a:t>
            </a:r>
          </a:p>
        </p:txBody>
      </p:sp>
      <p:sp>
        <p:nvSpPr>
          <p:cNvPr id="24579" name="Rectangle 5"/>
          <p:cNvSpPr>
            <a:spLocks noChangeArrowheads="1"/>
          </p:cNvSpPr>
          <p:nvPr/>
        </p:nvSpPr>
        <p:spPr bwMode="auto">
          <a:xfrm>
            <a:off x="3347864" y="7073"/>
            <a:ext cx="4460875"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顺序查找的性能分析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250825" y="765175"/>
            <a:ext cx="8207375"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en-US" altLang="zh-CN" dirty="0">
              <a:solidFill>
                <a:srgbClr val="FF3300"/>
              </a:solidFill>
              <a:latin typeface="楷体_GB2312"/>
            </a:endParaRPr>
          </a:p>
          <a:p>
            <a:pPr>
              <a:spcBef>
                <a:spcPct val="20000"/>
              </a:spcBef>
              <a:buFont typeface="Arial" panose="020B0604020202020204" pitchFamily="34" charset="0"/>
              <a:buChar char="•"/>
            </a:pPr>
            <a:r>
              <a:rPr lang="zh-CN" altLang="en-US" dirty="0">
                <a:latin typeface="楷体_GB2312"/>
              </a:rPr>
              <a:t>算法简单，对表结构无任何要求（顺序和链式）</a:t>
            </a:r>
          </a:p>
          <a:p>
            <a:pPr>
              <a:spcBef>
                <a:spcPct val="20000"/>
              </a:spcBef>
              <a:buFont typeface="Arial" panose="020B0604020202020204" pitchFamily="34" charset="0"/>
              <a:buChar char="•"/>
            </a:pPr>
            <a:r>
              <a:rPr lang="en-US" altLang="zh-CN" dirty="0">
                <a:latin typeface="楷体_GB2312"/>
              </a:rPr>
              <a:t>n</a:t>
            </a:r>
            <a:r>
              <a:rPr lang="zh-CN" altLang="en-US" dirty="0">
                <a:latin typeface="楷体_GB2312"/>
              </a:rPr>
              <a:t>很大时查找效率较低</a:t>
            </a:r>
          </a:p>
          <a:p>
            <a:pPr>
              <a:spcBef>
                <a:spcPct val="20000"/>
              </a:spcBef>
              <a:buFont typeface="Arial" panose="020B0604020202020204" pitchFamily="34" charset="0"/>
              <a:buChar char="•"/>
            </a:pPr>
            <a:endParaRPr lang="zh-CN" altLang="en-US" dirty="0">
              <a:latin typeface="楷体_GB2312"/>
            </a:endParaRPr>
          </a:p>
          <a:p>
            <a:pPr>
              <a:spcBef>
                <a:spcPct val="20000"/>
              </a:spcBef>
              <a:buFont typeface="Arial" panose="020B0604020202020204" pitchFamily="34" charset="0"/>
              <a:buChar char="•"/>
            </a:pPr>
            <a:r>
              <a:rPr lang="zh-CN" altLang="en-US" dirty="0">
                <a:latin typeface="楷体_GB2312"/>
              </a:rPr>
              <a:t>改进措施：</a:t>
            </a:r>
            <a:r>
              <a:rPr lang="zh-CN" altLang="en-US" dirty="0">
                <a:solidFill>
                  <a:srgbClr val="FF3300"/>
                </a:solidFill>
                <a:latin typeface="楷体_GB2312"/>
              </a:rPr>
              <a:t>非等概率</a:t>
            </a:r>
            <a:r>
              <a:rPr lang="zh-CN" altLang="en-US" dirty="0">
                <a:latin typeface="楷体_GB2312"/>
              </a:rPr>
              <a:t>查找时，可按照查找概率进行排序。</a:t>
            </a:r>
          </a:p>
        </p:txBody>
      </p:sp>
      <p:sp>
        <p:nvSpPr>
          <p:cNvPr id="25603" name="Rectangle 5"/>
          <p:cNvSpPr>
            <a:spLocks noChangeArrowheads="1"/>
          </p:cNvSpPr>
          <p:nvPr/>
        </p:nvSpPr>
        <p:spPr bwMode="auto">
          <a:xfrm>
            <a:off x="3203848" y="4950"/>
            <a:ext cx="4387850"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顺序查找算法有特点</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ChangeArrowheads="1"/>
          </p:cNvSpPr>
          <p:nvPr/>
        </p:nvSpPr>
        <p:spPr bwMode="auto">
          <a:xfrm>
            <a:off x="250825" y="1288146"/>
            <a:ext cx="7417519" cy="1384995"/>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dirty="0">
                <a:latin typeface="楷体_GB2312"/>
              </a:rPr>
              <a:t>n</a:t>
            </a:r>
            <a:r>
              <a:rPr lang="zh-CN" altLang="en-US" dirty="0">
                <a:latin typeface="楷体_GB2312"/>
              </a:rPr>
              <a:t>个数存在一维数组</a:t>
            </a:r>
            <a:r>
              <a:rPr lang="en-US" altLang="zh-CN" dirty="0">
                <a:latin typeface="楷体_GB2312"/>
              </a:rPr>
              <a:t>A[1].. A[n]</a:t>
            </a:r>
            <a:r>
              <a:rPr lang="zh-CN" altLang="en-US" dirty="0">
                <a:latin typeface="楷体_GB2312"/>
              </a:rPr>
              <a:t>中，在进行顺序查找时，这</a:t>
            </a:r>
            <a:r>
              <a:rPr lang="en-US" altLang="zh-CN" dirty="0">
                <a:latin typeface="楷体_GB2312"/>
              </a:rPr>
              <a:t>n</a:t>
            </a:r>
            <a:r>
              <a:rPr lang="zh-CN" altLang="en-US" dirty="0">
                <a:latin typeface="楷体_GB2312"/>
              </a:rPr>
              <a:t>个数的排列</a:t>
            </a:r>
            <a:r>
              <a:rPr lang="zh-CN" altLang="en-US" dirty="0">
                <a:solidFill>
                  <a:srgbClr val="FF3300"/>
                </a:solidFill>
                <a:latin typeface="楷体_GB2312"/>
              </a:rPr>
              <a:t>有序或无序</a:t>
            </a:r>
            <a:r>
              <a:rPr lang="zh-CN" altLang="en-US" dirty="0">
                <a:latin typeface="楷体_GB2312"/>
              </a:rPr>
              <a:t>其平均查找长度</a:t>
            </a:r>
            <a:r>
              <a:rPr lang="en-US" altLang="zh-CN" dirty="0">
                <a:latin typeface="楷体_GB2312"/>
              </a:rPr>
              <a:t>ASL</a:t>
            </a:r>
            <a:r>
              <a:rPr lang="zh-CN" altLang="en-US" dirty="0">
                <a:solidFill>
                  <a:srgbClr val="FF3300"/>
                </a:solidFill>
                <a:latin typeface="楷体_GB2312"/>
              </a:rPr>
              <a:t>不同</a:t>
            </a:r>
            <a:r>
              <a:rPr lang="zh-CN" altLang="en-US" dirty="0">
                <a:latin typeface="楷体_GB2312"/>
              </a:rPr>
              <a:t>。 </a:t>
            </a:r>
          </a:p>
        </p:txBody>
      </p:sp>
      <p:sp>
        <p:nvSpPr>
          <p:cNvPr id="26627" name="Rectangle 5"/>
          <p:cNvSpPr>
            <a:spLocks noChangeArrowheads="1"/>
          </p:cNvSpPr>
          <p:nvPr/>
        </p:nvSpPr>
        <p:spPr bwMode="auto">
          <a:xfrm>
            <a:off x="3448542" y="28575"/>
            <a:ext cx="4067175" cy="685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4000">
                <a:solidFill>
                  <a:srgbClr val="FF33CC"/>
                </a:solidFill>
                <a:latin typeface="楷体_GB2312"/>
              </a:rPr>
              <a:t>练习</a:t>
            </a:r>
            <a:r>
              <a:rPr lang="en-US" altLang="zh-CN" sz="4000" dirty="0">
                <a:solidFill>
                  <a:srgbClr val="FF33CC"/>
                </a:solidFill>
                <a:latin typeface="楷体_GB2312"/>
              </a:rPr>
              <a:t>:</a:t>
            </a:r>
            <a:r>
              <a:rPr lang="zh-CN" altLang="en-US" sz="4000" dirty="0">
                <a:solidFill>
                  <a:srgbClr val="FF33CC"/>
                </a:solidFill>
                <a:latin typeface="楷体_GB2312"/>
              </a:rPr>
              <a:t>判断对错</a:t>
            </a:r>
          </a:p>
        </p:txBody>
      </p:sp>
      <p:sp>
        <p:nvSpPr>
          <p:cNvPr id="1032198" name="Rectangle 6"/>
          <p:cNvSpPr>
            <a:spLocks noChangeArrowheads="1"/>
          </p:cNvSpPr>
          <p:nvPr/>
        </p:nvSpPr>
        <p:spPr bwMode="auto">
          <a:xfrm>
            <a:off x="207214" y="3140968"/>
            <a:ext cx="8569325" cy="1373188"/>
          </a:xfrm>
          <a:prstGeom prst="rect">
            <a:avLst/>
          </a:prstGeom>
          <a:solidFill>
            <a:schemeClr val="accent5">
              <a:lumMod val="20000"/>
              <a:lumOff val="80000"/>
            </a:schemeClr>
          </a:solidFill>
          <a:ln>
            <a:noFill/>
          </a:ln>
        </p:spPr>
        <p:txBody>
          <a:bodyPr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dirty="0">
                <a:highlight>
                  <a:srgbClr val="00FF00"/>
                </a:highlight>
              </a:rPr>
              <a:t>查找概率相等时，</a:t>
            </a:r>
            <a:r>
              <a:rPr lang="en-US" altLang="zh-CN" dirty="0">
                <a:highlight>
                  <a:srgbClr val="00FF00"/>
                </a:highlight>
              </a:rPr>
              <a:t>ASL</a:t>
            </a:r>
            <a:r>
              <a:rPr lang="zh-CN" altLang="en-US" dirty="0">
                <a:highlight>
                  <a:srgbClr val="00FF00"/>
                </a:highlight>
              </a:rPr>
              <a:t>相同；</a:t>
            </a:r>
          </a:p>
          <a:p>
            <a:pPr>
              <a:buFont typeface="Arial" panose="020B0604020202020204" pitchFamily="34" charset="0"/>
              <a:buNone/>
            </a:pPr>
            <a:r>
              <a:rPr lang="zh-CN" altLang="en-US" dirty="0"/>
              <a:t>查找概率不等时，如果从前向后查找，则按查找概率由大到小排列的有序表其</a:t>
            </a:r>
            <a:r>
              <a:rPr lang="en-US" altLang="zh-CN" dirty="0"/>
              <a:t>ASL</a:t>
            </a:r>
            <a:r>
              <a:rPr lang="zh-CN" altLang="en-US" dirty="0"/>
              <a:t>要比无序表</a:t>
            </a:r>
            <a:r>
              <a:rPr lang="en-US" altLang="zh-CN" dirty="0"/>
              <a:t>ASL</a:t>
            </a:r>
            <a:r>
              <a:rPr lang="zh-CN" altLang="en-US" dirty="0"/>
              <a:t>小。 </a:t>
            </a:r>
          </a:p>
        </p:txBody>
      </p:sp>
      <p:grpSp>
        <p:nvGrpSpPr>
          <p:cNvPr id="2" name="Group 8"/>
          <p:cNvGrpSpPr>
            <a:grpSpLocks/>
          </p:cNvGrpSpPr>
          <p:nvPr/>
        </p:nvGrpSpPr>
        <p:grpSpPr bwMode="auto">
          <a:xfrm>
            <a:off x="7917210" y="1493733"/>
            <a:ext cx="884237" cy="822325"/>
            <a:chOff x="1428" y="1188"/>
            <a:chExt cx="1704" cy="1368"/>
          </a:xfrm>
        </p:grpSpPr>
        <p:sp>
          <p:nvSpPr>
            <p:cNvPr id="26630" name="Line 9"/>
            <p:cNvSpPr>
              <a:spLocks noChangeShapeType="1"/>
            </p:cNvSpPr>
            <p:nvPr/>
          </p:nvSpPr>
          <p:spPr bwMode="auto">
            <a:xfrm>
              <a:off x="1440" y="1188"/>
              <a:ext cx="1644" cy="1368"/>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1" name="Line 10"/>
            <p:cNvSpPr>
              <a:spLocks noChangeShapeType="1"/>
            </p:cNvSpPr>
            <p:nvPr/>
          </p:nvSpPr>
          <p:spPr bwMode="auto">
            <a:xfrm flipH="1">
              <a:off x="1428" y="1284"/>
              <a:ext cx="1704" cy="1176"/>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32198"/>
                                        </p:tgtEl>
                                        <p:attrNameLst>
                                          <p:attrName>style.visibility</p:attrName>
                                        </p:attrNameLst>
                                      </p:cBhvr>
                                      <p:to>
                                        <p:strVal val="visible"/>
                                      </p:to>
                                    </p:set>
                                    <p:animEffect transition="in" filter="box(in)">
                                      <p:cBhvr>
                                        <p:cTn id="13" dur="500"/>
                                        <p:tgtEl>
                                          <p:spTgt spid="1032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219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486520" y="3340943"/>
            <a:ext cx="6461125" cy="625475"/>
            <a:chOff x="961" y="1653"/>
            <a:chExt cx="4070" cy="394"/>
          </a:xfrm>
        </p:grpSpPr>
        <p:grpSp>
          <p:nvGrpSpPr>
            <p:cNvPr id="27717" name="Group 6"/>
            <p:cNvGrpSpPr>
              <a:grpSpLocks/>
            </p:cNvGrpSpPr>
            <p:nvPr/>
          </p:nvGrpSpPr>
          <p:grpSpPr bwMode="auto">
            <a:xfrm>
              <a:off x="961" y="1657"/>
              <a:ext cx="356" cy="390"/>
              <a:chOff x="975" y="1167"/>
              <a:chExt cx="356" cy="390"/>
            </a:xfrm>
          </p:grpSpPr>
          <p:sp>
            <p:nvSpPr>
              <p:cNvPr id="27721" name="Line 7"/>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22" name="Text Box 8"/>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7718" name="Group 9"/>
            <p:cNvGrpSpPr>
              <a:grpSpLocks/>
            </p:cNvGrpSpPr>
            <p:nvPr/>
          </p:nvGrpSpPr>
          <p:grpSpPr bwMode="auto">
            <a:xfrm>
              <a:off x="4613" y="1653"/>
              <a:ext cx="418" cy="390"/>
              <a:chOff x="975" y="1167"/>
              <a:chExt cx="418" cy="390"/>
            </a:xfrm>
          </p:grpSpPr>
          <p:sp>
            <p:nvSpPr>
              <p:cNvPr id="27719" name="Line 10"/>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20" name="Text Box 11"/>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grpSp>
        <p:nvGrpSpPr>
          <p:cNvPr id="5" name="Group 12"/>
          <p:cNvGrpSpPr>
            <a:grpSpLocks/>
          </p:cNvGrpSpPr>
          <p:nvPr/>
        </p:nvGrpSpPr>
        <p:grpSpPr bwMode="auto">
          <a:xfrm>
            <a:off x="4356720" y="3306018"/>
            <a:ext cx="606425" cy="619125"/>
            <a:chOff x="975" y="1167"/>
            <a:chExt cx="382" cy="390"/>
          </a:xfrm>
        </p:grpSpPr>
        <p:sp>
          <p:nvSpPr>
            <p:cNvPr id="27715" name="Line 13"/>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716" name="Text Box 14"/>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grpSp>
        <p:nvGrpSpPr>
          <p:cNvPr id="6" name="Group 15"/>
          <p:cNvGrpSpPr>
            <a:grpSpLocks/>
          </p:cNvGrpSpPr>
          <p:nvPr/>
        </p:nvGrpSpPr>
        <p:grpSpPr bwMode="auto">
          <a:xfrm>
            <a:off x="799132" y="2164605"/>
            <a:ext cx="6967538" cy="1182688"/>
            <a:chOff x="528" y="912"/>
            <a:chExt cx="4389" cy="745"/>
          </a:xfrm>
        </p:grpSpPr>
        <p:grpSp>
          <p:nvGrpSpPr>
            <p:cNvPr id="27700" name="Group 16"/>
            <p:cNvGrpSpPr>
              <a:grpSpLocks/>
            </p:cNvGrpSpPr>
            <p:nvPr/>
          </p:nvGrpSpPr>
          <p:grpSpPr bwMode="auto">
            <a:xfrm>
              <a:off x="528" y="1181"/>
              <a:ext cx="4389" cy="476"/>
              <a:chOff x="542" y="691"/>
              <a:chExt cx="4389" cy="476"/>
            </a:xfrm>
          </p:grpSpPr>
          <p:sp>
            <p:nvSpPr>
              <p:cNvPr id="27702" name="Text Box 17"/>
              <p:cNvSpPr txBox="1">
                <a:spLocks noChangeArrowheads="1"/>
              </p:cNvSpPr>
              <p:nvPr/>
            </p:nvSpPr>
            <p:spPr bwMode="auto">
              <a:xfrm>
                <a:off x="542" y="806"/>
                <a:ext cx="1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 </a:t>
                </a:r>
              </a:p>
            </p:txBody>
          </p:sp>
          <p:sp>
            <p:nvSpPr>
              <p:cNvPr id="27703" name="Text Box 18"/>
              <p:cNvSpPr txBox="1">
                <a:spLocks noChangeArrowheads="1"/>
              </p:cNvSpPr>
              <p:nvPr/>
            </p:nvSpPr>
            <p:spPr bwMode="auto">
              <a:xfrm>
                <a:off x="1015" y="691"/>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7704" name="Rectangle 19"/>
              <p:cNvSpPr>
                <a:spLocks noChangeArrowheads="1"/>
              </p:cNvSpPr>
              <p:nvPr/>
            </p:nvSpPr>
            <p:spPr bwMode="auto">
              <a:xfrm>
                <a:off x="1033" y="912"/>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dirty="0">
                    <a:solidFill>
                      <a:srgbClr val="0000FF"/>
                    </a:solidFill>
                    <a:ea typeface="宋体" panose="02010600030101010101" pitchFamily="2" charset="-122"/>
                  </a:rPr>
                  <a:t>5</a:t>
                </a:r>
                <a:r>
                  <a:rPr lang="en-US" altLang="zh-CN" sz="2000" dirty="0">
                    <a:ea typeface="宋体" panose="02010600030101010101" pitchFamily="2" charset="-122"/>
                  </a:rPr>
                  <a:t>      13     19     21     37     </a:t>
                </a:r>
                <a:r>
                  <a:rPr lang="en-US" altLang="zh-CN" sz="2000" dirty="0">
                    <a:solidFill>
                      <a:srgbClr val="0000FF"/>
                    </a:solidFill>
                    <a:ea typeface="宋体" panose="02010600030101010101" pitchFamily="2" charset="-122"/>
                  </a:rPr>
                  <a:t>56</a:t>
                </a:r>
                <a:r>
                  <a:rPr lang="en-US" altLang="zh-CN" sz="2000" dirty="0">
                    <a:ea typeface="宋体" panose="02010600030101010101" pitchFamily="2" charset="-122"/>
                  </a:rPr>
                  <a:t>      64      75     80     88     92</a:t>
                </a:r>
              </a:p>
            </p:txBody>
          </p:sp>
          <p:sp>
            <p:nvSpPr>
              <p:cNvPr id="27705" name="Line 20"/>
              <p:cNvSpPr>
                <a:spLocks noChangeShapeType="1"/>
              </p:cNvSpPr>
              <p:nvPr/>
            </p:nvSpPr>
            <p:spPr bwMode="auto">
              <a:xfrm>
                <a:off x="1300"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6" name="Line 21"/>
              <p:cNvSpPr>
                <a:spLocks noChangeShapeType="1"/>
              </p:cNvSpPr>
              <p:nvPr/>
            </p:nvSpPr>
            <p:spPr bwMode="auto">
              <a:xfrm>
                <a:off x="1664"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7" name="Line 22"/>
              <p:cNvSpPr>
                <a:spLocks noChangeShapeType="1"/>
              </p:cNvSpPr>
              <p:nvPr/>
            </p:nvSpPr>
            <p:spPr bwMode="auto">
              <a:xfrm>
                <a:off x="2028"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8" name="Line 23"/>
              <p:cNvSpPr>
                <a:spLocks noChangeShapeType="1"/>
              </p:cNvSpPr>
              <p:nvPr/>
            </p:nvSpPr>
            <p:spPr bwMode="auto">
              <a:xfrm>
                <a:off x="2392"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09" name="Line 24"/>
              <p:cNvSpPr>
                <a:spLocks noChangeShapeType="1"/>
              </p:cNvSpPr>
              <p:nvPr/>
            </p:nvSpPr>
            <p:spPr bwMode="auto">
              <a:xfrm>
                <a:off x="2756"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0" name="Line 25"/>
              <p:cNvSpPr>
                <a:spLocks noChangeShapeType="1"/>
              </p:cNvSpPr>
              <p:nvPr/>
            </p:nvSpPr>
            <p:spPr bwMode="auto">
              <a:xfrm>
                <a:off x="3120"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1" name="Line 26"/>
              <p:cNvSpPr>
                <a:spLocks noChangeShapeType="1"/>
              </p:cNvSpPr>
              <p:nvPr/>
            </p:nvSpPr>
            <p:spPr bwMode="auto">
              <a:xfrm>
                <a:off x="3484"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2" name="Line 27"/>
              <p:cNvSpPr>
                <a:spLocks noChangeShapeType="1"/>
              </p:cNvSpPr>
              <p:nvPr/>
            </p:nvSpPr>
            <p:spPr bwMode="auto">
              <a:xfrm>
                <a:off x="3848"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3" name="Line 28"/>
              <p:cNvSpPr>
                <a:spLocks noChangeShapeType="1"/>
              </p:cNvSpPr>
              <p:nvPr/>
            </p:nvSpPr>
            <p:spPr bwMode="auto">
              <a:xfrm>
                <a:off x="4212"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714" name="Line 29"/>
              <p:cNvSpPr>
                <a:spLocks noChangeShapeType="1"/>
              </p:cNvSpPr>
              <p:nvPr/>
            </p:nvSpPr>
            <p:spPr bwMode="auto">
              <a:xfrm>
                <a:off x="4576"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7701" name="AutoShape 30"/>
            <p:cNvSpPr>
              <a:spLocks noChangeArrowheads="1"/>
            </p:cNvSpPr>
            <p:nvPr/>
          </p:nvSpPr>
          <p:spPr bwMode="auto">
            <a:xfrm>
              <a:off x="3053" y="912"/>
              <a:ext cx="1022" cy="233"/>
            </a:xfrm>
            <a:prstGeom prst="wedgeEllipseCallout">
              <a:avLst>
                <a:gd name="adj1" fmla="val -43750"/>
                <a:gd name="adj2" fmla="val 7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000">
                  <a:solidFill>
                    <a:srgbClr val="FF3300"/>
                  </a:solidFill>
                  <a:ea typeface="宋体" panose="02010600030101010101" pitchFamily="2" charset="-122"/>
                </a:rPr>
                <a:t>找</a:t>
              </a:r>
              <a:r>
                <a:rPr lang="en-US" altLang="zh-CN" sz="2000">
                  <a:solidFill>
                    <a:srgbClr val="FF3300"/>
                  </a:solidFill>
                  <a:ea typeface="宋体" panose="02010600030101010101" pitchFamily="2" charset="-122"/>
                </a:rPr>
                <a:t>21</a:t>
              </a:r>
            </a:p>
          </p:txBody>
        </p:sp>
      </p:grpSp>
      <p:grpSp>
        <p:nvGrpSpPr>
          <p:cNvPr id="8" name="Group 31"/>
          <p:cNvGrpSpPr>
            <a:grpSpLocks/>
          </p:cNvGrpSpPr>
          <p:nvPr/>
        </p:nvGrpSpPr>
        <p:grpSpPr bwMode="auto">
          <a:xfrm>
            <a:off x="1515095" y="4033093"/>
            <a:ext cx="6280150" cy="1385887"/>
            <a:chOff x="979" y="2089"/>
            <a:chExt cx="3956" cy="873"/>
          </a:xfrm>
        </p:grpSpPr>
        <p:sp>
          <p:nvSpPr>
            <p:cNvPr id="27679" name="Text Box 32"/>
            <p:cNvSpPr txBox="1">
              <a:spLocks noChangeArrowheads="1"/>
            </p:cNvSpPr>
            <p:nvPr/>
          </p:nvSpPr>
          <p:spPr bwMode="auto">
            <a:xfrm>
              <a:off x="1019" y="2089"/>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7680" name="Rectangle 33"/>
            <p:cNvSpPr>
              <a:spLocks noChangeArrowheads="1"/>
            </p:cNvSpPr>
            <p:nvPr/>
          </p:nvSpPr>
          <p:spPr bwMode="auto">
            <a:xfrm>
              <a:off x="1037" y="2310"/>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dirty="0">
                  <a:solidFill>
                    <a:srgbClr val="0000FF"/>
                  </a:solidFill>
                  <a:ea typeface="宋体" panose="02010600030101010101" pitchFamily="2" charset="-122"/>
                </a:rPr>
                <a:t>5</a:t>
              </a:r>
              <a:r>
                <a:rPr lang="en-US" altLang="zh-CN" sz="2000" dirty="0">
                  <a:ea typeface="宋体" panose="02010600030101010101" pitchFamily="2" charset="-122"/>
                </a:rPr>
                <a:t>      13     19     21     </a:t>
              </a:r>
              <a:r>
                <a:rPr lang="en-US" altLang="zh-CN" sz="2000" dirty="0">
                  <a:solidFill>
                    <a:srgbClr val="0000FF"/>
                  </a:solidFill>
                  <a:ea typeface="宋体" panose="02010600030101010101" pitchFamily="2" charset="-122"/>
                </a:rPr>
                <a:t>37</a:t>
              </a:r>
              <a:r>
                <a:rPr lang="en-US" altLang="zh-CN" sz="2000" dirty="0">
                  <a:ea typeface="宋体" panose="02010600030101010101" pitchFamily="2" charset="-122"/>
                </a:rPr>
                <a:t>     56      64      75     80     88     92</a:t>
              </a:r>
            </a:p>
          </p:txBody>
        </p:sp>
        <p:sp>
          <p:nvSpPr>
            <p:cNvPr id="27681" name="Line 34"/>
            <p:cNvSpPr>
              <a:spLocks noChangeShapeType="1"/>
            </p:cNvSpPr>
            <p:nvPr/>
          </p:nvSpPr>
          <p:spPr bwMode="auto">
            <a:xfrm>
              <a:off x="1304"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2" name="Line 35"/>
            <p:cNvSpPr>
              <a:spLocks noChangeShapeType="1"/>
            </p:cNvSpPr>
            <p:nvPr/>
          </p:nvSpPr>
          <p:spPr bwMode="auto">
            <a:xfrm>
              <a:off x="1668"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3" name="Line 36"/>
            <p:cNvSpPr>
              <a:spLocks noChangeShapeType="1"/>
            </p:cNvSpPr>
            <p:nvPr/>
          </p:nvSpPr>
          <p:spPr bwMode="auto">
            <a:xfrm>
              <a:off x="2032"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4" name="Line 37"/>
            <p:cNvSpPr>
              <a:spLocks noChangeShapeType="1"/>
            </p:cNvSpPr>
            <p:nvPr/>
          </p:nvSpPr>
          <p:spPr bwMode="auto">
            <a:xfrm>
              <a:off x="2396"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5" name="Line 38"/>
            <p:cNvSpPr>
              <a:spLocks noChangeShapeType="1"/>
            </p:cNvSpPr>
            <p:nvPr/>
          </p:nvSpPr>
          <p:spPr bwMode="auto">
            <a:xfrm>
              <a:off x="2760"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6" name="Line 39"/>
            <p:cNvSpPr>
              <a:spLocks noChangeShapeType="1"/>
            </p:cNvSpPr>
            <p:nvPr/>
          </p:nvSpPr>
          <p:spPr bwMode="auto">
            <a:xfrm>
              <a:off x="3124"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7" name="Line 40"/>
            <p:cNvSpPr>
              <a:spLocks noChangeShapeType="1"/>
            </p:cNvSpPr>
            <p:nvPr/>
          </p:nvSpPr>
          <p:spPr bwMode="auto">
            <a:xfrm>
              <a:off x="3488"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8" name="Line 41"/>
            <p:cNvSpPr>
              <a:spLocks noChangeShapeType="1"/>
            </p:cNvSpPr>
            <p:nvPr/>
          </p:nvSpPr>
          <p:spPr bwMode="auto">
            <a:xfrm>
              <a:off x="3852"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89" name="Line 42"/>
            <p:cNvSpPr>
              <a:spLocks noChangeShapeType="1"/>
            </p:cNvSpPr>
            <p:nvPr/>
          </p:nvSpPr>
          <p:spPr bwMode="auto">
            <a:xfrm>
              <a:off x="4216"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90" name="Line 43"/>
            <p:cNvSpPr>
              <a:spLocks noChangeShapeType="1"/>
            </p:cNvSpPr>
            <p:nvPr/>
          </p:nvSpPr>
          <p:spPr bwMode="auto">
            <a:xfrm>
              <a:off x="4580" y="2309"/>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691" name="Group 44"/>
            <p:cNvGrpSpPr>
              <a:grpSpLocks/>
            </p:cNvGrpSpPr>
            <p:nvPr/>
          </p:nvGrpSpPr>
          <p:grpSpPr bwMode="auto">
            <a:xfrm>
              <a:off x="979" y="2565"/>
              <a:ext cx="356" cy="390"/>
              <a:chOff x="975" y="1167"/>
              <a:chExt cx="356" cy="390"/>
            </a:xfrm>
          </p:grpSpPr>
          <p:sp>
            <p:nvSpPr>
              <p:cNvPr id="27698" name="Line 45"/>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9" name="Text Box 46"/>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7692" name="Group 47"/>
            <p:cNvGrpSpPr>
              <a:grpSpLocks/>
            </p:cNvGrpSpPr>
            <p:nvPr/>
          </p:nvGrpSpPr>
          <p:grpSpPr bwMode="auto">
            <a:xfrm>
              <a:off x="2419" y="2572"/>
              <a:ext cx="418" cy="390"/>
              <a:chOff x="975" y="1167"/>
              <a:chExt cx="418" cy="390"/>
            </a:xfrm>
          </p:grpSpPr>
          <p:sp>
            <p:nvSpPr>
              <p:cNvPr id="27696" name="Line 48"/>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7" name="Text Box 49"/>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nvGrpSpPr>
            <p:cNvPr id="27693" name="Group 50"/>
            <p:cNvGrpSpPr>
              <a:grpSpLocks/>
            </p:cNvGrpSpPr>
            <p:nvPr/>
          </p:nvGrpSpPr>
          <p:grpSpPr bwMode="auto">
            <a:xfrm>
              <a:off x="1709" y="2572"/>
              <a:ext cx="382" cy="390"/>
              <a:chOff x="975" y="1167"/>
              <a:chExt cx="382" cy="390"/>
            </a:xfrm>
          </p:grpSpPr>
          <p:sp>
            <p:nvSpPr>
              <p:cNvPr id="27694" name="Line 51"/>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95" name="Text Box 52"/>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grpSp>
      <p:grpSp>
        <p:nvGrpSpPr>
          <p:cNvPr id="12" name="Group 53"/>
          <p:cNvGrpSpPr>
            <a:grpSpLocks/>
          </p:cNvGrpSpPr>
          <p:nvPr/>
        </p:nvGrpSpPr>
        <p:grpSpPr bwMode="auto">
          <a:xfrm>
            <a:off x="1589707" y="5368180"/>
            <a:ext cx="6216650" cy="1373188"/>
            <a:chOff x="1026" y="2930"/>
            <a:chExt cx="3916" cy="865"/>
          </a:xfrm>
        </p:grpSpPr>
        <p:sp>
          <p:nvSpPr>
            <p:cNvPr id="27657" name="Text Box 54"/>
            <p:cNvSpPr txBox="1">
              <a:spLocks noChangeArrowheads="1"/>
            </p:cNvSpPr>
            <p:nvPr/>
          </p:nvSpPr>
          <p:spPr bwMode="auto">
            <a:xfrm>
              <a:off x="1026" y="2930"/>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grpSp>
          <p:nvGrpSpPr>
            <p:cNvPr id="27658" name="Group 55"/>
            <p:cNvGrpSpPr>
              <a:grpSpLocks/>
            </p:cNvGrpSpPr>
            <p:nvPr/>
          </p:nvGrpSpPr>
          <p:grpSpPr bwMode="auto">
            <a:xfrm>
              <a:off x="1044" y="3150"/>
              <a:ext cx="3879" cy="645"/>
              <a:chOff x="1058" y="2660"/>
              <a:chExt cx="3879" cy="645"/>
            </a:xfrm>
          </p:grpSpPr>
          <p:sp>
            <p:nvSpPr>
              <p:cNvPr id="27659" name="Rectangle 56"/>
              <p:cNvSpPr>
                <a:spLocks noChangeArrowheads="1"/>
              </p:cNvSpPr>
              <p:nvPr/>
            </p:nvSpPr>
            <p:spPr bwMode="auto">
              <a:xfrm>
                <a:off x="1058" y="2661"/>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a:ea typeface="宋体" panose="02010600030101010101" pitchFamily="2" charset="-122"/>
                  </a:rPr>
                  <a:t>5      13     19     </a:t>
                </a:r>
                <a:r>
                  <a:rPr lang="en-US" altLang="zh-CN" sz="2000">
                    <a:solidFill>
                      <a:srgbClr val="FF3300"/>
                    </a:solidFill>
                    <a:ea typeface="宋体" panose="02010600030101010101" pitchFamily="2" charset="-122"/>
                  </a:rPr>
                  <a:t>21</a:t>
                </a:r>
                <a:r>
                  <a:rPr lang="en-US" altLang="zh-CN" sz="2000">
                    <a:ea typeface="宋体" panose="02010600030101010101" pitchFamily="2" charset="-122"/>
                  </a:rPr>
                  <a:t>     37     56      64      75     80     88     92</a:t>
                </a:r>
              </a:p>
            </p:txBody>
          </p:sp>
          <p:sp>
            <p:nvSpPr>
              <p:cNvPr id="27660" name="Line 57"/>
              <p:cNvSpPr>
                <a:spLocks noChangeShapeType="1"/>
              </p:cNvSpPr>
              <p:nvPr/>
            </p:nvSpPr>
            <p:spPr bwMode="auto">
              <a:xfrm>
                <a:off x="1325"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1" name="Line 58"/>
              <p:cNvSpPr>
                <a:spLocks noChangeShapeType="1"/>
              </p:cNvSpPr>
              <p:nvPr/>
            </p:nvSpPr>
            <p:spPr bwMode="auto">
              <a:xfrm>
                <a:off x="1689"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2" name="Line 59"/>
              <p:cNvSpPr>
                <a:spLocks noChangeShapeType="1"/>
              </p:cNvSpPr>
              <p:nvPr/>
            </p:nvSpPr>
            <p:spPr bwMode="auto">
              <a:xfrm>
                <a:off x="2053"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3" name="Line 60"/>
              <p:cNvSpPr>
                <a:spLocks noChangeShapeType="1"/>
              </p:cNvSpPr>
              <p:nvPr/>
            </p:nvSpPr>
            <p:spPr bwMode="auto">
              <a:xfrm>
                <a:off x="2417"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4" name="Line 61"/>
              <p:cNvSpPr>
                <a:spLocks noChangeShapeType="1"/>
              </p:cNvSpPr>
              <p:nvPr/>
            </p:nvSpPr>
            <p:spPr bwMode="auto">
              <a:xfrm>
                <a:off x="2781"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5" name="Line 62"/>
              <p:cNvSpPr>
                <a:spLocks noChangeShapeType="1"/>
              </p:cNvSpPr>
              <p:nvPr/>
            </p:nvSpPr>
            <p:spPr bwMode="auto">
              <a:xfrm>
                <a:off x="3145"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6" name="Line 63"/>
              <p:cNvSpPr>
                <a:spLocks noChangeShapeType="1"/>
              </p:cNvSpPr>
              <p:nvPr/>
            </p:nvSpPr>
            <p:spPr bwMode="auto">
              <a:xfrm>
                <a:off x="3509"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7" name="Line 64"/>
              <p:cNvSpPr>
                <a:spLocks noChangeShapeType="1"/>
              </p:cNvSpPr>
              <p:nvPr/>
            </p:nvSpPr>
            <p:spPr bwMode="auto">
              <a:xfrm>
                <a:off x="3873"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8" name="Line 65"/>
              <p:cNvSpPr>
                <a:spLocks noChangeShapeType="1"/>
              </p:cNvSpPr>
              <p:nvPr/>
            </p:nvSpPr>
            <p:spPr bwMode="auto">
              <a:xfrm>
                <a:off x="4237"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69" name="Line 66"/>
              <p:cNvSpPr>
                <a:spLocks noChangeShapeType="1"/>
              </p:cNvSpPr>
              <p:nvPr/>
            </p:nvSpPr>
            <p:spPr bwMode="auto">
              <a:xfrm>
                <a:off x="4601" y="266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670" name="Group 67"/>
              <p:cNvGrpSpPr>
                <a:grpSpLocks/>
              </p:cNvGrpSpPr>
              <p:nvPr/>
            </p:nvGrpSpPr>
            <p:grpSpPr bwMode="auto">
              <a:xfrm>
                <a:off x="1932" y="2915"/>
                <a:ext cx="356" cy="390"/>
                <a:chOff x="975" y="1167"/>
                <a:chExt cx="356" cy="390"/>
              </a:xfrm>
            </p:grpSpPr>
            <p:sp>
              <p:nvSpPr>
                <p:cNvPr id="27677" name="Line 68"/>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8" name="Text Box 69"/>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7671" name="Group 70"/>
              <p:cNvGrpSpPr>
                <a:grpSpLocks/>
              </p:cNvGrpSpPr>
              <p:nvPr/>
            </p:nvGrpSpPr>
            <p:grpSpPr bwMode="auto">
              <a:xfrm>
                <a:off x="2507" y="2912"/>
                <a:ext cx="418" cy="390"/>
                <a:chOff x="975" y="1167"/>
                <a:chExt cx="418" cy="390"/>
              </a:xfrm>
            </p:grpSpPr>
            <p:sp>
              <p:nvSpPr>
                <p:cNvPr id="27675" name="Line 71"/>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6" name="Text Box 72"/>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nvGrpSpPr>
              <p:cNvPr id="27672" name="Group 73"/>
              <p:cNvGrpSpPr>
                <a:grpSpLocks/>
              </p:cNvGrpSpPr>
              <p:nvPr/>
            </p:nvGrpSpPr>
            <p:grpSpPr bwMode="auto">
              <a:xfrm>
                <a:off x="2185" y="2912"/>
                <a:ext cx="382" cy="390"/>
                <a:chOff x="975" y="1167"/>
                <a:chExt cx="382" cy="390"/>
              </a:xfrm>
            </p:grpSpPr>
            <p:sp>
              <p:nvSpPr>
                <p:cNvPr id="27673" name="Line 74"/>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674" name="Text Box 75"/>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grpSp>
      </p:grpSp>
      <p:sp>
        <p:nvSpPr>
          <p:cNvPr id="27655" name="Rectangle 80"/>
          <p:cNvSpPr>
            <a:spLocks noChangeArrowheads="1"/>
          </p:cNvSpPr>
          <p:nvPr/>
        </p:nvSpPr>
        <p:spPr bwMode="auto">
          <a:xfrm>
            <a:off x="4110657" y="19146"/>
            <a:ext cx="340677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r>
              <a:rPr lang="zh-CN" altLang="en-US" sz="2400" dirty="0">
                <a:latin typeface="楷体_GB2312"/>
              </a:rPr>
              <a:t>折半查找</a:t>
            </a:r>
            <a:r>
              <a:rPr lang="zh-CN" altLang="en-US" sz="2400" dirty="0">
                <a:solidFill>
                  <a:srgbClr val="0000FF"/>
                </a:solidFill>
              </a:rPr>
              <a:t>算法描述：</a:t>
            </a:r>
            <a:endParaRPr lang="zh-CN" altLang="en-US" sz="2400" dirty="0">
              <a:latin typeface="楷体_GB2312"/>
            </a:endParaRPr>
          </a:p>
        </p:txBody>
      </p:sp>
      <p:sp>
        <p:nvSpPr>
          <p:cNvPr id="27656" name="Rectangle 81"/>
          <p:cNvSpPr>
            <a:spLocks noChangeArrowheads="1"/>
          </p:cNvSpPr>
          <p:nvPr/>
        </p:nvSpPr>
        <p:spPr bwMode="auto">
          <a:xfrm>
            <a:off x="3523282" y="734269"/>
            <a:ext cx="5048250" cy="14001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dirty="0"/>
              <a:t>若</a:t>
            </a:r>
            <a:r>
              <a:rPr lang="en-US" altLang="zh-CN" sz="2400" dirty="0"/>
              <a:t>k==R[mid].key</a:t>
            </a:r>
            <a:r>
              <a:rPr lang="zh-CN" altLang="en-US" sz="2400" dirty="0"/>
              <a:t>，查找成功</a:t>
            </a:r>
          </a:p>
          <a:p>
            <a:pPr>
              <a:spcBef>
                <a:spcPct val="20000"/>
              </a:spcBef>
              <a:buFont typeface="Arial" panose="020B0604020202020204" pitchFamily="34" charset="0"/>
              <a:buNone/>
            </a:pPr>
            <a:r>
              <a:rPr lang="zh-CN" altLang="en-US" sz="2400" dirty="0"/>
              <a:t>若</a:t>
            </a:r>
            <a:r>
              <a:rPr lang="en-US" altLang="zh-CN" sz="2400" dirty="0"/>
              <a:t>k&lt;R[mid].key</a:t>
            </a:r>
            <a:r>
              <a:rPr lang="zh-CN" altLang="en-US" sz="2400" dirty="0"/>
              <a:t>，则</a:t>
            </a:r>
            <a:r>
              <a:rPr lang="en-US" altLang="zh-CN" sz="2400" dirty="0"/>
              <a:t>high=mid-1</a:t>
            </a:r>
          </a:p>
          <a:p>
            <a:pPr>
              <a:spcBef>
                <a:spcPct val="20000"/>
              </a:spcBef>
              <a:buFont typeface="Arial" panose="020B0604020202020204" pitchFamily="34" charset="0"/>
              <a:buNone/>
            </a:pPr>
            <a:r>
              <a:rPr lang="zh-CN" altLang="en-US" sz="2400" dirty="0"/>
              <a:t>若</a:t>
            </a:r>
            <a:r>
              <a:rPr lang="en-US" altLang="zh-CN" sz="2400" dirty="0"/>
              <a:t>k&gt;R[mid].key</a:t>
            </a:r>
            <a:r>
              <a:rPr lang="zh-CN" altLang="en-US" sz="2400" dirty="0"/>
              <a:t>，则</a:t>
            </a:r>
            <a:r>
              <a:rPr lang="en-US" altLang="zh-CN" sz="2400" dirty="0"/>
              <a:t>low=mid+1</a:t>
            </a:r>
          </a:p>
        </p:txBody>
      </p:sp>
      <p:sp>
        <p:nvSpPr>
          <p:cNvPr id="3" name="文本框 2"/>
          <p:cNvSpPr txBox="1"/>
          <p:nvPr/>
        </p:nvSpPr>
        <p:spPr>
          <a:xfrm>
            <a:off x="323528" y="1023848"/>
            <a:ext cx="1988045" cy="523220"/>
          </a:xfrm>
          <a:prstGeom prst="rect">
            <a:avLst/>
          </a:prstGeom>
          <a:noFill/>
        </p:spPr>
        <p:txBody>
          <a:bodyPr wrap="none" rtlCol="0">
            <a:spAutoFit/>
          </a:bodyPr>
          <a:lstStyle/>
          <a:p>
            <a:r>
              <a:rPr lang="zh-CN" altLang="en-US" dirty="0"/>
              <a:t>设数据有序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out)">
                                      <p:cBhvr>
                                        <p:cTn id="17" dur="500"/>
                                        <p:tgtEl>
                                          <p:spTgt spid="5"/>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ox(out)">
                                      <p:cBhvr>
                                        <p:cTn id="22" dur="500"/>
                                        <p:tgtEl>
                                          <p:spTgt spid="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ox(out)">
                                      <p:cBhvr>
                                        <p:cTn id="27" dur="500"/>
                                        <p:tgtEl>
                                          <p:spTgt spid="12"/>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402903" y="2246585"/>
            <a:ext cx="7066334" cy="1801813"/>
            <a:chOff x="542" y="422"/>
            <a:chExt cx="4503" cy="1135"/>
          </a:xfrm>
        </p:grpSpPr>
        <p:grpSp>
          <p:nvGrpSpPr>
            <p:cNvPr id="28720" name="Group 5"/>
            <p:cNvGrpSpPr>
              <a:grpSpLocks/>
            </p:cNvGrpSpPr>
            <p:nvPr/>
          </p:nvGrpSpPr>
          <p:grpSpPr bwMode="auto">
            <a:xfrm>
              <a:off x="542" y="691"/>
              <a:ext cx="4389" cy="476"/>
              <a:chOff x="542" y="691"/>
              <a:chExt cx="4389" cy="476"/>
            </a:xfrm>
          </p:grpSpPr>
          <p:sp>
            <p:nvSpPr>
              <p:cNvPr id="28731" name="Text Box 6"/>
              <p:cNvSpPr txBox="1">
                <a:spLocks noChangeArrowheads="1"/>
              </p:cNvSpPr>
              <p:nvPr/>
            </p:nvSpPr>
            <p:spPr bwMode="auto">
              <a:xfrm>
                <a:off x="542" y="806"/>
                <a:ext cx="1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 </a:t>
                </a:r>
              </a:p>
            </p:txBody>
          </p:sp>
          <p:sp>
            <p:nvSpPr>
              <p:cNvPr id="28732" name="Text Box 7"/>
              <p:cNvSpPr txBox="1">
                <a:spLocks noChangeArrowheads="1"/>
              </p:cNvSpPr>
              <p:nvPr/>
            </p:nvSpPr>
            <p:spPr bwMode="auto">
              <a:xfrm>
                <a:off x="1015" y="691"/>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8733" name="Rectangle 8"/>
              <p:cNvSpPr>
                <a:spLocks noChangeArrowheads="1"/>
              </p:cNvSpPr>
              <p:nvPr/>
            </p:nvSpPr>
            <p:spPr bwMode="auto">
              <a:xfrm>
                <a:off x="1033" y="912"/>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dirty="0">
                    <a:solidFill>
                      <a:srgbClr val="0000FF"/>
                    </a:solidFill>
                    <a:ea typeface="宋体" panose="02010600030101010101" pitchFamily="2" charset="-122"/>
                  </a:rPr>
                  <a:t>5 </a:t>
                </a:r>
                <a:r>
                  <a:rPr lang="en-US" altLang="zh-CN" sz="2000" dirty="0">
                    <a:ea typeface="宋体" panose="02010600030101010101" pitchFamily="2" charset="-122"/>
                  </a:rPr>
                  <a:t>     13     19     21     37     56      64      75     80     88     </a:t>
                </a:r>
                <a:r>
                  <a:rPr lang="en-US" altLang="zh-CN" sz="2000" dirty="0">
                    <a:solidFill>
                      <a:srgbClr val="0000FF"/>
                    </a:solidFill>
                    <a:ea typeface="宋体" panose="02010600030101010101" pitchFamily="2" charset="-122"/>
                  </a:rPr>
                  <a:t>92</a:t>
                </a:r>
              </a:p>
            </p:txBody>
          </p:sp>
          <p:sp>
            <p:nvSpPr>
              <p:cNvPr id="28734" name="Line 9"/>
              <p:cNvSpPr>
                <a:spLocks noChangeShapeType="1"/>
              </p:cNvSpPr>
              <p:nvPr/>
            </p:nvSpPr>
            <p:spPr bwMode="auto">
              <a:xfrm>
                <a:off x="1300"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5" name="Line 10"/>
              <p:cNvSpPr>
                <a:spLocks noChangeShapeType="1"/>
              </p:cNvSpPr>
              <p:nvPr/>
            </p:nvSpPr>
            <p:spPr bwMode="auto">
              <a:xfrm>
                <a:off x="1664"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6" name="Line 11"/>
              <p:cNvSpPr>
                <a:spLocks noChangeShapeType="1"/>
              </p:cNvSpPr>
              <p:nvPr/>
            </p:nvSpPr>
            <p:spPr bwMode="auto">
              <a:xfrm>
                <a:off x="2028"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7" name="Line 12"/>
              <p:cNvSpPr>
                <a:spLocks noChangeShapeType="1"/>
              </p:cNvSpPr>
              <p:nvPr/>
            </p:nvSpPr>
            <p:spPr bwMode="auto">
              <a:xfrm>
                <a:off x="2392"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8" name="Line 13"/>
              <p:cNvSpPr>
                <a:spLocks noChangeShapeType="1"/>
              </p:cNvSpPr>
              <p:nvPr/>
            </p:nvSpPr>
            <p:spPr bwMode="auto">
              <a:xfrm>
                <a:off x="2756"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39" name="Line 14"/>
              <p:cNvSpPr>
                <a:spLocks noChangeShapeType="1"/>
              </p:cNvSpPr>
              <p:nvPr/>
            </p:nvSpPr>
            <p:spPr bwMode="auto">
              <a:xfrm>
                <a:off x="3120"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0" name="Line 15"/>
              <p:cNvSpPr>
                <a:spLocks noChangeShapeType="1"/>
              </p:cNvSpPr>
              <p:nvPr/>
            </p:nvSpPr>
            <p:spPr bwMode="auto">
              <a:xfrm>
                <a:off x="3484"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1" name="Line 16"/>
              <p:cNvSpPr>
                <a:spLocks noChangeShapeType="1"/>
              </p:cNvSpPr>
              <p:nvPr/>
            </p:nvSpPr>
            <p:spPr bwMode="auto">
              <a:xfrm>
                <a:off x="3848"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2" name="Line 17"/>
              <p:cNvSpPr>
                <a:spLocks noChangeShapeType="1"/>
              </p:cNvSpPr>
              <p:nvPr/>
            </p:nvSpPr>
            <p:spPr bwMode="auto">
              <a:xfrm>
                <a:off x="4212"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43" name="Line 18"/>
              <p:cNvSpPr>
                <a:spLocks noChangeShapeType="1"/>
              </p:cNvSpPr>
              <p:nvPr/>
            </p:nvSpPr>
            <p:spPr bwMode="auto">
              <a:xfrm>
                <a:off x="4576" y="911"/>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721" name="Group 19"/>
            <p:cNvGrpSpPr>
              <a:grpSpLocks/>
            </p:cNvGrpSpPr>
            <p:nvPr/>
          </p:nvGrpSpPr>
          <p:grpSpPr bwMode="auto">
            <a:xfrm>
              <a:off x="975" y="1167"/>
              <a:ext cx="356" cy="390"/>
              <a:chOff x="975" y="1167"/>
              <a:chExt cx="356" cy="390"/>
            </a:xfrm>
          </p:grpSpPr>
          <p:sp>
            <p:nvSpPr>
              <p:cNvPr id="28729" name="Line 20"/>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30" name="Text Box 21"/>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8722" name="Group 22"/>
            <p:cNvGrpSpPr>
              <a:grpSpLocks/>
            </p:cNvGrpSpPr>
            <p:nvPr/>
          </p:nvGrpSpPr>
          <p:grpSpPr bwMode="auto">
            <a:xfrm>
              <a:off x="4627" y="1163"/>
              <a:ext cx="418" cy="390"/>
              <a:chOff x="975" y="1167"/>
              <a:chExt cx="418" cy="390"/>
            </a:xfrm>
          </p:grpSpPr>
          <p:sp>
            <p:nvSpPr>
              <p:cNvPr id="28727" name="Line 23"/>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28" name="Text Box 24"/>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nvGrpSpPr>
            <p:cNvPr id="28723" name="Group 25"/>
            <p:cNvGrpSpPr>
              <a:grpSpLocks/>
            </p:cNvGrpSpPr>
            <p:nvPr/>
          </p:nvGrpSpPr>
          <p:grpSpPr bwMode="auto">
            <a:xfrm>
              <a:off x="2783" y="1141"/>
              <a:ext cx="382" cy="390"/>
              <a:chOff x="975" y="1167"/>
              <a:chExt cx="382" cy="390"/>
            </a:xfrm>
          </p:grpSpPr>
          <p:sp>
            <p:nvSpPr>
              <p:cNvPr id="28725" name="Line 26"/>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26" name="Text Box 27"/>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sp>
          <p:nvSpPr>
            <p:cNvPr id="28724" name="AutoShape 28"/>
            <p:cNvSpPr>
              <a:spLocks noChangeArrowheads="1"/>
            </p:cNvSpPr>
            <p:nvPr/>
          </p:nvSpPr>
          <p:spPr bwMode="auto">
            <a:xfrm>
              <a:off x="3067" y="422"/>
              <a:ext cx="1022" cy="233"/>
            </a:xfrm>
            <a:prstGeom prst="wedgeEllipseCallout">
              <a:avLst>
                <a:gd name="adj1" fmla="val -43750"/>
                <a:gd name="adj2" fmla="val 7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000" dirty="0">
                  <a:solidFill>
                    <a:srgbClr val="FF3300"/>
                  </a:solidFill>
                  <a:ea typeface="宋体" panose="02010600030101010101" pitchFamily="2" charset="-122"/>
                </a:rPr>
                <a:t>找</a:t>
              </a:r>
              <a:r>
                <a:rPr lang="en-US" altLang="zh-CN" sz="2000" dirty="0">
                  <a:solidFill>
                    <a:srgbClr val="FF3300"/>
                  </a:solidFill>
                  <a:ea typeface="宋体" panose="02010600030101010101" pitchFamily="2" charset="-122"/>
                </a:rPr>
                <a:t>70</a:t>
              </a:r>
            </a:p>
          </p:txBody>
        </p:sp>
      </p:grpSp>
      <p:grpSp>
        <p:nvGrpSpPr>
          <p:cNvPr id="7" name="Group 29"/>
          <p:cNvGrpSpPr>
            <a:grpSpLocks/>
          </p:cNvGrpSpPr>
          <p:nvPr/>
        </p:nvGrpSpPr>
        <p:grpSpPr bwMode="auto">
          <a:xfrm>
            <a:off x="1047799" y="3956323"/>
            <a:ext cx="6378576" cy="1368425"/>
            <a:chOff x="933" y="1410"/>
            <a:chExt cx="4018" cy="862"/>
          </a:xfrm>
        </p:grpSpPr>
        <p:sp>
          <p:nvSpPr>
            <p:cNvPr id="28699" name="Text Box 30"/>
            <p:cNvSpPr txBox="1">
              <a:spLocks noChangeArrowheads="1"/>
            </p:cNvSpPr>
            <p:nvPr/>
          </p:nvSpPr>
          <p:spPr bwMode="auto">
            <a:xfrm>
              <a:off x="933" y="1410"/>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8700" name="Rectangle 31"/>
            <p:cNvSpPr>
              <a:spLocks noChangeArrowheads="1"/>
            </p:cNvSpPr>
            <p:nvPr/>
          </p:nvSpPr>
          <p:spPr bwMode="auto">
            <a:xfrm>
              <a:off x="951" y="1631"/>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dirty="0">
                  <a:ea typeface="宋体" panose="02010600030101010101" pitchFamily="2" charset="-122"/>
                </a:rPr>
                <a:t>5      13     19     21     37     56      </a:t>
              </a:r>
              <a:r>
                <a:rPr lang="en-US" altLang="zh-CN" sz="2000" dirty="0">
                  <a:solidFill>
                    <a:srgbClr val="0000FF"/>
                  </a:solidFill>
                  <a:ea typeface="宋体" panose="02010600030101010101" pitchFamily="2" charset="-122"/>
                </a:rPr>
                <a:t>64</a:t>
              </a:r>
              <a:r>
                <a:rPr lang="en-US" altLang="zh-CN" sz="2000" dirty="0">
                  <a:ea typeface="宋体" panose="02010600030101010101" pitchFamily="2" charset="-122"/>
                </a:rPr>
                <a:t>      75     80     88     </a:t>
              </a:r>
              <a:r>
                <a:rPr lang="en-US" altLang="zh-CN" sz="2000" dirty="0">
                  <a:solidFill>
                    <a:srgbClr val="0000FF"/>
                  </a:solidFill>
                  <a:ea typeface="宋体" panose="02010600030101010101" pitchFamily="2" charset="-122"/>
                </a:rPr>
                <a:t>92</a:t>
              </a:r>
            </a:p>
          </p:txBody>
        </p:sp>
        <p:sp>
          <p:nvSpPr>
            <p:cNvPr id="28701" name="Line 32"/>
            <p:cNvSpPr>
              <a:spLocks noChangeShapeType="1"/>
            </p:cNvSpPr>
            <p:nvPr/>
          </p:nvSpPr>
          <p:spPr bwMode="auto">
            <a:xfrm>
              <a:off x="1218"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2" name="Line 33"/>
            <p:cNvSpPr>
              <a:spLocks noChangeShapeType="1"/>
            </p:cNvSpPr>
            <p:nvPr/>
          </p:nvSpPr>
          <p:spPr bwMode="auto">
            <a:xfrm>
              <a:off x="1582"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3" name="Line 34"/>
            <p:cNvSpPr>
              <a:spLocks noChangeShapeType="1"/>
            </p:cNvSpPr>
            <p:nvPr/>
          </p:nvSpPr>
          <p:spPr bwMode="auto">
            <a:xfrm>
              <a:off x="1946"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4" name="Line 35"/>
            <p:cNvSpPr>
              <a:spLocks noChangeShapeType="1"/>
            </p:cNvSpPr>
            <p:nvPr/>
          </p:nvSpPr>
          <p:spPr bwMode="auto">
            <a:xfrm>
              <a:off x="2310"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5" name="Line 36"/>
            <p:cNvSpPr>
              <a:spLocks noChangeShapeType="1"/>
            </p:cNvSpPr>
            <p:nvPr/>
          </p:nvSpPr>
          <p:spPr bwMode="auto">
            <a:xfrm>
              <a:off x="2674"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6" name="Line 37"/>
            <p:cNvSpPr>
              <a:spLocks noChangeShapeType="1"/>
            </p:cNvSpPr>
            <p:nvPr/>
          </p:nvSpPr>
          <p:spPr bwMode="auto">
            <a:xfrm>
              <a:off x="3038"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7" name="Line 38"/>
            <p:cNvSpPr>
              <a:spLocks noChangeShapeType="1"/>
            </p:cNvSpPr>
            <p:nvPr/>
          </p:nvSpPr>
          <p:spPr bwMode="auto">
            <a:xfrm>
              <a:off x="3402"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8" name="Line 39"/>
            <p:cNvSpPr>
              <a:spLocks noChangeShapeType="1"/>
            </p:cNvSpPr>
            <p:nvPr/>
          </p:nvSpPr>
          <p:spPr bwMode="auto">
            <a:xfrm>
              <a:off x="3766"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09" name="Line 40"/>
            <p:cNvSpPr>
              <a:spLocks noChangeShapeType="1"/>
            </p:cNvSpPr>
            <p:nvPr/>
          </p:nvSpPr>
          <p:spPr bwMode="auto">
            <a:xfrm>
              <a:off x="4130"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0" name="Line 41"/>
            <p:cNvSpPr>
              <a:spLocks noChangeShapeType="1"/>
            </p:cNvSpPr>
            <p:nvPr/>
          </p:nvSpPr>
          <p:spPr bwMode="auto">
            <a:xfrm>
              <a:off x="4494" y="1630"/>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711" name="Group 42"/>
            <p:cNvGrpSpPr>
              <a:grpSpLocks/>
            </p:cNvGrpSpPr>
            <p:nvPr/>
          </p:nvGrpSpPr>
          <p:grpSpPr bwMode="auto">
            <a:xfrm>
              <a:off x="3060" y="1875"/>
              <a:ext cx="356" cy="390"/>
              <a:chOff x="975" y="1167"/>
              <a:chExt cx="356" cy="390"/>
            </a:xfrm>
          </p:grpSpPr>
          <p:sp>
            <p:nvSpPr>
              <p:cNvPr id="28718" name="Line 43"/>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9" name="Text Box 44"/>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8712" name="Group 45"/>
            <p:cNvGrpSpPr>
              <a:grpSpLocks/>
            </p:cNvGrpSpPr>
            <p:nvPr/>
          </p:nvGrpSpPr>
          <p:grpSpPr bwMode="auto">
            <a:xfrm>
              <a:off x="4533" y="1882"/>
              <a:ext cx="418" cy="390"/>
              <a:chOff x="975" y="1167"/>
              <a:chExt cx="418" cy="390"/>
            </a:xfrm>
          </p:grpSpPr>
          <p:sp>
            <p:nvSpPr>
              <p:cNvPr id="28716" name="Line 46"/>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7" name="Text Box 47"/>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nvGrpSpPr>
            <p:cNvPr id="28713" name="Group 48"/>
            <p:cNvGrpSpPr>
              <a:grpSpLocks/>
            </p:cNvGrpSpPr>
            <p:nvPr/>
          </p:nvGrpSpPr>
          <p:grpSpPr bwMode="auto">
            <a:xfrm>
              <a:off x="3835" y="1882"/>
              <a:ext cx="382" cy="390"/>
              <a:chOff x="975" y="1167"/>
              <a:chExt cx="382" cy="390"/>
            </a:xfrm>
          </p:grpSpPr>
          <p:sp>
            <p:nvSpPr>
              <p:cNvPr id="28714" name="Line 49"/>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5" name="Text Box 50"/>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grpSp>
      <p:grpSp>
        <p:nvGrpSpPr>
          <p:cNvPr id="11" name="Group 72"/>
          <p:cNvGrpSpPr>
            <a:grpSpLocks/>
          </p:cNvGrpSpPr>
          <p:nvPr/>
        </p:nvGrpSpPr>
        <p:grpSpPr bwMode="auto">
          <a:xfrm>
            <a:off x="1089075" y="5300935"/>
            <a:ext cx="6216650" cy="1368425"/>
            <a:chOff x="974" y="2406"/>
            <a:chExt cx="3916" cy="862"/>
          </a:xfrm>
        </p:grpSpPr>
        <p:sp>
          <p:nvSpPr>
            <p:cNvPr id="28678" name="Text Box 73"/>
            <p:cNvSpPr txBox="1">
              <a:spLocks noChangeArrowheads="1"/>
            </p:cNvSpPr>
            <p:nvPr/>
          </p:nvSpPr>
          <p:spPr bwMode="auto">
            <a:xfrm>
              <a:off x="974" y="2406"/>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8679" name="Rectangle 74"/>
            <p:cNvSpPr>
              <a:spLocks noChangeArrowheads="1"/>
            </p:cNvSpPr>
            <p:nvPr/>
          </p:nvSpPr>
          <p:spPr bwMode="auto">
            <a:xfrm>
              <a:off x="992" y="2627"/>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dirty="0">
                  <a:ea typeface="宋体" panose="02010600030101010101" pitchFamily="2" charset="-122"/>
                </a:rPr>
                <a:t>5      13     19     21     37     56      </a:t>
              </a:r>
              <a:r>
                <a:rPr lang="en-US" altLang="zh-CN" sz="2000" dirty="0">
                  <a:solidFill>
                    <a:srgbClr val="0000FF"/>
                  </a:solidFill>
                  <a:ea typeface="宋体" panose="02010600030101010101" pitchFamily="2" charset="-122"/>
                </a:rPr>
                <a:t>64</a:t>
              </a:r>
              <a:r>
                <a:rPr lang="en-US" altLang="zh-CN" sz="2000" dirty="0">
                  <a:ea typeface="宋体" panose="02010600030101010101" pitchFamily="2" charset="-122"/>
                </a:rPr>
                <a:t>      </a:t>
              </a:r>
              <a:r>
                <a:rPr lang="en-US" altLang="zh-CN" sz="2000" dirty="0">
                  <a:solidFill>
                    <a:srgbClr val="0000FF"/>
                  </a:solidFill>
                  <a:ea typeface="宋体" panose="02010600030101010101" pitchFamily="2" charset="-122"/>
                </a:rPr>
                <a:t>75</a:t>
              </a:r>
              <a:r>
                <a:rPr lang="en-US" altLang="zh-CN" sz="2000" dirty="0">
                  <a:ea typeface="宋体" panose="02010600030101010101" pitchFamily="2" charset="-122"/>
                </a:rPr>
                <a:t>     80     88     92</a:t>
              </a:r>
            </a:p>
          </p:txBody>
        </p:sp>
        <p:sp>
          <p:nvSpPr>
            <p:cNvPr id="28680" name="Line 75"/>
            <p:cNvSpPr>
              <a:spLocks noChangeShapeType="1"/>
            </p:cNvSpPr>
            <p:nvPr/>
          </p:nvSpPr>
          <p:spPr bwMode="auto">
            <a:xfrm>
              <a:off x="1259"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1" name="Line 76"/>
            <p:cNvSpPr>
              <a:spLocks noChangeShapeType="1"/>
            </p:cNvSpPr>
            <p:nvPr/>
          </p:nvSpPr>
          <p:spPr bwMode="auto">
            <a:xfrm>
              <a:off x="1623"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2" name="Line 77"/>
            <p:cNvSpPr>
              <a:spLocks noChangeShapeType="1"/>
            </p:cNvSpPr>
            <p:nvPr/>
          </p:nvSpPr>
          <p:spPr bwMode="auto">
            <a:xfrm>
              <a:off x="1987"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3" name="Line 78"/>
            <p:cNvSpPr>
              <a:spLocks noChangeShapeType="1"/>
            </p:cNvSpPr>
            <p:nvPr/>
          </p:nvSpPr>
          <p:spPr bwMode="auto">
            <a:xfrm>
              <a:off x="2351"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4" name="Line 79"/>
            <p:cNvSpPr>
              <a:spLocks noChangeShapeType="1"/>
            </p:cNvSpPr>
            <p:nvPr/>
          </p:nvSpPr>
          <p:spPr bwMode="auto">
            <a:xfrm>
              <a:off x="2715"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5" name="Line 80"/>
            <p:cNvSpPr>
              <a:spLocks noChangeShapeType="1"/>
            </p:cNvSpPr>
            <p:nvPr/>
          </p:nvSpPr>
          <p:spPr bwMode="auto">
            <a:xfrm>
              <a:off x="3079"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6" name="Line 81"/>
            <p:cNvSpPr>
              <a:spLocks noChangeShapeType="1"/>
            </p:cNvSpPr>
            <p:nvPr/>
          </p:nvSpPr>
          <p:spPr bwMode="auto">
            <a:xfrm>
              <a:off x="3443"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7" name="Line 82"/>
            <p:cNvSpPr>
              <a:spLocks noChangeShapeType="1"/>
            </p:cNvSpPr>
            <p:nvPr/>
          </p:nvSpPr>
          <p:spPr bwMode="auto">
            <a:xfrm>
              <a:off x="3807"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8" name="Line 83"/>
            <p:cNvSpPr>
              <a:spLocks noChangeShapeType="1"/>
            </p:cNvSpPr>
            <p:nvPr/>
          </p:nvSpPr>
          <p:spPr bwMode="auto">
            <a:xfrm>
              <a:off x="4171"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689" name="Line 84"/>
            <p:cNvSpPr>
              <a:spLocks noChangeShapeType="1"/>
            </p:cNvSpPr>
            <p:nvPr/>
          </p:nvSpPr>
          <p:spPr bwMode="auto">
            <a:xfrm>
              <a:off x="4535" y="262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8690" name="Group 85"/>
            <p:cNvGrpSpPr>
              <a:grpSpLocks/>
            </p:cNvGrpSpPr>
            <p:nvPr/>
          </p:nvGrpSpPr>
          <p:grpSpPr bwMode="auto">
            <a:xfrm>
              <a:off x="3007" y="2860"/>
              <a:ext cx="356" cy="390"/>
              <a:chOff x="981" y="1167"/>
              <a:chExt cx="356" cy="390"/>
            </a:xfrm>
          </p:grpSpPr>
          <p:sp>
            <p:nvSpPr>
              <p:cNvPr id="28697" name="Line 86"/>
              <p:cNvSpPr>
                <a:spLocks noChangeShapeType="1"/>
              </p:cNvSpPr>
              <p:nvPr/>
            </p:nvSpPr>
            <p:spPr bwMode="auto">
              <a:xfrm flipV="1">
                <a:off x="116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8" name="Text Box 87"/>
              <p:cNvSpPr txBox="1">
                <a:spLocks noChangeArrowheads="1"/>
              </p:cNvSpPr>
              <p:nvPr/>
            </p:nvSpPr>
            <p:spPr bwMode="auto">
              <a:xfrm>
                <a:off x="981"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8691" name="Group 88"/>
            <p:cNvGrpSpPr>
              <a:grpSpLocks/>
            </p:cNvGrpSpPr>
            <p:nvPr/>
          </p:nvGrpSpPr>
          <p:grpSpPr bwMode="auto">
            <a:xfrm>
              <a:off x="3607" y="2878"/>
              <a:ext cx="418" cy="390"/>
              <a:chOff x="975" y="1167"/>
              <a:chExt cx="418" cy="390"/>
            </a:xfrm>
          </p:grpSpPr>
          <p:sp>
            <p:nvSpPr>
              <p:cNvPr id="28695" name="Line 89"/>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Text Box 90"/>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nvGrpSpPr>
            <p:cNvPr id="28692" name="Group 91"/>
            <p:cNvGrpSpPr>
              <a:grpSpLocks/>
            </p:cNvGrpSpPr>
            <p:nvPr/>
          </p:nvGrpSpPr>
          <p:grpSpPr bwMode="auto">
            <a:xfrm>
              <a:off x="3276" y="2856"/>
              <a:ext cx="382" cy="390"/>
              <a:chOff x="975" y="1167"/>
              <a:chExt cx="382" cy="390"/>
            </a:xfrm>
          </p:grpSpPr>
          <p:sp>
            <p:nvSpPr>
              <p:cNvPr id="28693" name="Line 92"/>
              <p:cNvSpPr>
                <a:spLocks noChangeShapeType="1"/>
              </p:cNvSpPr>
              <p:nvPr/>
            </p:nvSpPr>
            <p:spPr bwMode="auto">
              <a:xfrm flipV="1">
                <a:off x="106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4" name="Text Box 93"/>
              <p:cNvSpPr txBox="1">
                <a:spLocks noChangeArrowheads="1"/>
              </p:cNvSpPr>
              <p:nvPr/>
            </p:nvSpPr>
            <p:spPr bwMode="auto">
              <a:xfrm>
                <a:off x="975" y="1307"/>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grpSp>
      <p:sp>
        <p:nvSpPr>
          <p:cNvPr id="28677" name="Rectangle 101"/>
          <p:cNvSpPr>
            <a:spLocks noChangeArrowheads="1"/>
          </p:cNvSpPr>
          <p:nvPr/>
        </p:nvSpPr>
        <p:spPr bwMode="auto">
          <a:xfrm>
            <a:off x="3891566" y="89595"/>
            <a:ext cx="5048250" cy="190214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dirty="0">
                <a:solidFill>
                  <a:srgbClr val="0000FF"/>
                </a:solidFill>
              </a:rPr>
              <a:t>算法描述：</a:t>
            </a:r>
            <a:endParaRPr lang="en-US" altLang="zh-CN" sz="2400" dirty="0">
              <a:solidFill>
                <a:srgbClr val="0000FF"/>
              </a:solidFill>
            </a:endParaRPr>
          </a:p>
          <a:p>
            <a:pPr>
              <a:spcBef>
                <a:spcPct val="20000"/>
              </a:spcBef>
              <a:buFont typeface="Arial" panose="020B0604020202020204" pitchFamily="34" charset="0"/>
              <a:buNone/>
            </a:pPr>
            <a:r>
              <a:rPr lang="zh-CN" altLang="en-US" sz="2400" dirty="0"/>
              <a:t>若</a:t>
            </a:r>
            <a:r>
              <a:rPr lang="en-US" altLang="zh-CN" sz="2400" dirty="0"/>
              <a:t>k==R[mid].key</a:t>
            </a:r>
            <a:r>
              <a:rPr lang="zh-CN" altLang="en-US" sz="2400" dirty="0"/>
              <a:t>，查找成功</a:t>
            </a:r>
          </a:p>
          <a:p>
            <a:pPr>
              <a:spcBef>
                <a:spcPct val="20000"/>
              </a:spcBef>
              <a:buFont typeface="Arial" panose="020B0604020202020204" pitchFamily="34" charset="0"/>
              <a:buNone/>
            </a:pPr>
            <a:r>
              <a:rPr lang="zh-CN" altLang="en-US" sz="2400" dirty="0"/>
              <a:t>若</a:t>
            </a:r>
            <a:r>
              <a:rPr lang="en-US" altLang="zh-CN" sz="2400" dirty="0"/>
              <a:t>k&lt;R[mid].key</a:t>
            </a:r>
            <a:r>
              <a:rPr lang="zh-CN" altLang="en-US" sz="2400" dirty="0"/>
              <a:t>，则</a:t>
            </a:r>
            <a:r>
              <a:rPr lang="en-US" altLang="zh-CN" sz="2400" dirty="0"/>
              <a:t>high=mid-1</a:t>
            </a:r>
          </a:p>
          <a:p>
            <a:pPr>
              <a:spcBef>
                <a:spcPct val="20000"/>
              </a:spcBef>
              <a:buFont typeface="Arial" panose="020B0604020202020204" pitchFamily="34" charset="0"/>
              <a:buNone/>
            </a:pPr>
            <a:r>
              <a:rPr lang="zh-CN" altLang="en-US" sz="2400" dirty="0"/>
              <a:t>若</a:t>
            </a:r>
            <a:r>
              <a:rPr lang="en-US" altLang="zh-CN" sz="2400" dirty="0"/>
              <a:t>k&gt;R[mid].key</a:t>
            </a:r>
            <a:r>
              <a:rPr lang="zh-CN" altLang="en-US" sz="2400" dirty="0"/>
              <a:t>，则</a:t>
            </a:r>
            <a:r>
              <a:rPr lang="en-US" altLang="zh-CN" sz="2400" dirty="0"/>
              <a:t>low=mid+1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0-#ppt_w/2"/>
                                          </p:val>
                                        </p:tav>
                                        <p:tav tm="100000">
                                          <p:val>
                                            <p:strVal val="#ppt_x"/>
                                          </p:val>
                                        </p:tav>
                                      </p:tavLst>
                                    </p:anim>
                                    <p:anim calcmode="lin" valueType="num">
                                      <p:cBhvr additive="base">
                                        <p:cTn id="14"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1163638" y="2873375"/>
            <a:ext cx="6216650" cy="1385888"/>
            <a:chOff x="934" y="786"/>
            <a:chExt cx="3916" cy="873"/>
          </a:xfrm>
        </p:grpSpPr>
        <p:sp>
          <p:nvSpPr>
            <p:cNvPr id="29721" name="Text Box 5"/>
            <p:cNvSpPr txBox="1">
              <a:spLocks noChangeArrowheads="1"/>
            </p:cNvSpPr>
            <p:nvPr/>
          </p:nvSpPr>
          <p:spPr bwMode="auto">
            <a:xfrm>
              <a:off x="934" y="786"/>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9722" name="Rectangle 6"/>
            <p:cNvSpPr>
              <a:spLocks noChangeArrowheads="1"/>
            </p:cNvSpPr>
            <p:nvPr/>
          </p:nvSpPr>
          <p:spPr bwMode="auto">
            <a:xfrm>
              <a:off x="952" y="1007"/>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a:ea typeface="宋体" panose="02010600030101010101" pitchFamily="2" charset="-122"/>
                </a:rPr>
                <a:t>5      13     19     21     37     56      64      75     80     88     92</a:t>
              </a:r>
            </a:p>
          </p:txBody>
        </p:sp>
        <p:sp>
          <p:nvSpPr>
            <p:cNvPr id="29723" name="Line 7"/>
            <p:cNvSpPr>
              <a:spLocks noChangeShapeType="1"/>
            </p:cNvSpPr>
            <p:nvPr/>
          </p:nvSpPr>
          <p:spPr bwMode="auto">
            <a:xfrm>
              <a:off x="1219"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4" name="Line 8"/>
            <p:cNvSpPr>
              <a:spLocks noChangeShapeType="1"/>
            </p:cNvSpPr>
            <p:nvPr/>
          </p:nvSpPr>
          <p:spPr bwMode="auto">
            <a:xfrm>
              <a:off x="1583"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5" name="Line 9"/>
            <p:cNvSpPr>
              <a:spLocks noChangeShapeType="1"/>
            </p:cNvSpPr>
            <p:nvPr/>
          </p:nvSpPr>
          <p:spPr bwMode="auto">
            <a:xfrm>
              <a:off x="1947"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6" name="Line 10"/>
            <p:cNvSpPr>
              <a:spLocks noChangeShapeType="1"/>
            </p:cNvSpPr>
            <p:nvPr/>
          </p:nvSpPr>
          <p:spPr bwMode="auto">
            <a:xfrm>
              <a:off x="2311"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7" name="Line 11"/>
            <p:cNvSpPr>
              <a:spLocks noChangeShapeType="1"/>
            </p:cNvSpPr>
            <p:nvPr/>
          </p:nvSpPr>
          <p:spPr bwMode="auto">
            <a:xfrm>
              <a:off x="2675"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8" name="Line 12"/>
            <p:cNvSpPr>
              <a:spLocks noChangeShapeType="1"/>
            </p:cNvSpPr>
            <p:nvPr/>
          </p:nvSpPr>
          <p:spPr bwMode="auto">
            <a:xfrm>
              <a:off x="3039"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9" name="Line 13"/>
            <p:cNvSpPr>
              <a:spLocks noChangeShapeType="1"/>
            </p:cNvSpPr>
            <p:nvPr/>
          </p:nvSpPr>
          <p:spPr bwMode="auto">
            <a:xfrm>
              <a:off x="3403"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0" name="Line 14"/>
            <p:cNvSpPr>
              <a:spLocks noChangeShapeType="1"/>
            </p:cNvSpPr>
            <p:nvPr/>
          </p:nvSpPr>
          <p:spPr bwMode="auto">
            <a:xfrm>
              <a:off x="3767"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1" name="Line 15"/>
            <p:cNvSpPr>
              <a:spLocks noChangeShapeType="1"/>
            </p:cNvSpPr>
            <p:nvPr/>
          </p:nvSpPr>
          <p:spPr bwMode="auto">
            <a:xfrm>
              <a:off x="4131"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2" name="Line 16"/>
            <p:cNvSpPr>
              <a:spLocks noChangeShapeType="1"/>
            </p:cNvSpPr>
            <p:nvPr/>
          </p:nvSpPr>
          <p:spPr bwMode="auto">
            <a:xfrm>
              <a:off x="4495" y="1006"/>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733" name="Group 17"/>
            <p:cNvGrpSpPr>
              <a:grpSpLocks/>
            </p:cNvGrpSpPr>
            <p:nvPr/>
          </p:nvGrpSpPr>
          <p:grpSpPr bwMode="auto">
            <a:xfrm>
              <a:off x="3383" y="1251"/>
              <a:ext cx="356" cy="390"/>
              <a:chOff x="975" y="1167"/>
              <a:chExt cx="356" cy="390"/>
            </a:xfrm>
          </p:grpSpPr>
          <p:sp>
            <p:nvSpPr>
              <p:cNvPr id="29737" name="Line 18"/>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8" name="Text Box 19"/>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9734" name="Group 20"/>
            <p:cNvGrpSpPr>
              <a:grpSpLocks/>
            </p:cNvGrpSpPr>
            <p:nvPr/>
          </p:nvGrpSpPr>
          <p:grpSpPr bwMode="auto">
            <a:xfrm>
              <a:off x="3010" y="1269"/>
              <a:ext cx="418" cy="390"/>
              <a:chOff x="975" y="1167"/>
              <a:chExt cx="418" cy="390"/>
            </a:xfrm>
          </p:grpSpPr>
          <p:sp>
            <p:nvSpPr>
              <p:cNvPr id="29735" name="Line 21"/>
              <p:cNvSpPr>
                <a:spLocks noChangeShapeType="1"/>
              </p:cNvSpPr>
              <p:nvPr/>
            </p:nvSpPr>
            <p:spPr bwMode="auto">
              <a:xfrm flipV="1">
                <a:off x="1122" y="1167"/>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36" name="Text Box 22"/>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grpSp>
      <p:grpSp>
        <p:nvGrpSpPr>
          <p:cNvPr id="5" name="Group 61"/>
          <p:cNvGrpSpPr>
            <a:grpSpLocks/>
          </p:cNvGrpSpPr>
          <p:nvPr/>
        </p:nvGrpSpPr>
        <p:grpSpPr bwMode="auto">
          <a:xfrm>
            <a:off x="1133475" y="1001713"/>
            <a:ext cx="6216650" cy="1651000"/>
            <a:chOff x="1040" y="2784"/>
            <a:chExt cx="3916" cy="1040"/>
          </a:xfrm>
        </p:grpSpPr>
        <p:sp>
          <p:nvSpPr>
            <p:cNvPr id="29701" name="Text Box 62"/>
            <p:cNvSpPr txBox="1">
              <a:spLocks noChangeArrowheads="1"/>
            </p:cNvSpPr>
            <p:nvPr/>
          </p:nvSpPr>
          <p:spPr bwMode="auto">
            <a:xfrm>
              <a:off x="1040" y="2784"/>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29702" name="Rectangle 63"/>
            <p:cNvSpPr>
              <a:spLocks noChangeArrowheads="1"/>
            </p:cNvSpPr>
            <p:nvPr/>
          </p:nvSpPr>
          <p:spPr bwMode="auto">
            <a:xfrm>
              <a:off x="1058" y="3005"/>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a:ea typeface="宋体" panose="02010600030101010101" pitchFamily="2" charset="-122"/>
                </a:rPr>
                <a:t>5      13     19     21     37     56      64      75     80     88     92</a:t>
              </a:r>
            </a:p>
          </p:txBody>
        </p:sp>
        <p:sp>
          <p:nvSpPr>
            <p:cNvPr id="29703" name="Line 64"/>
            <p:cNvSpPr>
              <a:spLocks noChangeShapeType="1"/>
            </p:cNvSpPr>
            <p:nvPr/>
          </p:nvSpPr>
          <p:spPr bwMode="auto">
            <a:xfrm>
              <a:off x="1325"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4" name="Line 65"/>
            <p:cNvSpPr>
              <a:spLocks noChangeShapeType="1"/>
            </p:cNvSpPr>
            <p:nvPr/>
          </p:nvSpPr>
          <p:spPr bwMode="auto">
            <a:xfrm>
              <a:off x="1689"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5" name="Line 66"/>
            <p:cNvSpPr>
              <a:spLocks noChangeShapeType="1"/>
            </p:cNvSpPr>
            <p:nvPr/>
          </p:nvSpPr>
          <p:spPr bwMode="auto">
            <a:xfrm>
              <a:off x="2053"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6" name="Line 67"/>
            <p:cNvSpPr>
              <a:spLocks noChangeShapeType="1"/>
            </p:cNvSpPr>
            <p:nvPr/>
          </p:nvSpPr>
          <p:spPr bwMode="auto">
            <a:xfrm>
              <a:off x="2417"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7" name="Line 68"/>
            <p:cNvSpPr>
              <a:spLocks noChangeShapeType="1"/>
            </p:cNvSpPr>
            <p:nvPr/>
          </p:nvSpPr>
          <p:spPr bwMode="auto">
            <a:xfrm>
              <a:off x="2781"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8" name="Line 69"/>
            <p:cNvSpPr>
              <a:spLocks noChangeShapeType="1"/>
            </p:cNvSpPr>
            <p:nvPr/>
          </p:nvSpPr>
          <p:spPr bwMode="auto">
            <a:xfrm>
              <a:off x="3145"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9" name="Line 70"/>
            <p:cNvSpPr>
              <a:spLocks noChangeShapeType="1"/>
            </p:cNvSpPr>
            <p:nvPr/>
          </p:nvSpPr>
          <p:spPr bwMode="auto">
            <a:xfrm>
              <a:off x="3509"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0" name="Line 71"/>
            <p:cNvSpPr>
              <a:spLocks noChangeShapeType="1"/>
            </p:cNvSpPr>
            <p:nvPr/>
          </p:nvSpPr>
          <p:spPr bwMode="auto">
            <a:xfrm>
              <a:off x="3873"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1" name="Line 72"/>
            <p:cNvSpPr>
              <a:spLocks noChangeShapeType="1"/>
            </p:cNvSpPr>
            <p:nvPr/>
          </p:nvSpPr>
          <p:spPr bwMode="auto">
            <a:xfrm>
              <a:off x="4237"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12" name="Line 73"/>
            <p:cNvSpPr>
              <a:spLocks noChangeShapeType="1"/>
            </p:cNvSpPr>
            <p:nvPr/>
          </p:nvSpPr>
          <p:spPr bwMode="auto">
            <a:xfrm>
              <a:off x="4601" y="3004"/>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9713" name="Group 74"/>
            <p:cNvGrpSpPr>
              <a:grpSpLocks/>
            </p:cNvGrpSpPr>
            <p:nvPr/>
          </p:nvGrpSpPr>
          <p:grpSpPr bwMode="auto">
            <a:xfrm>
              <a:off x="3400" y="3256"/>
              <a:ext cx="356" cy="383"/>
              <a:chOff x="975" y="1174"/>
              <a:chExt cx="356" cy="383"/>
            </a:xfrm>
          </p:grpSpPr>
          <p:sp>
            <p:nvSpPr>
              <p:cNvPr id="29719" name="Line 75"/>
              <p:cNvSpPr>
                <a:spLocks noChangeShapeType="1"/>
              </p:cNvSpPr>
              <p:nvPr/>
            </p:nvSpPr>
            <p:spPr bwMode="auto">
              <a:xfrm flipV="1">
                <a:off x="1189" y="1174"/>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0" name="Text Box 76"/>
              <p:cNvSpPr txBox="1">
                <a:spLocks noChangeArrowheads="1"/>
              </p:cNvSpPr>
              <p:nvPr/>
            </p:nvSpPr>
            <p:spPr bwMode="auto">
              <a:xfrm>
                <a:off x="975" y="1307"/>
                <a:ext cx="3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low</a:t>
                </a:r>
              </a:p>
            </p:txBody>
          </p:sp>
        </p:grpSp>
        <p:grpSp>
          <p:nvGrpSpPr>
            <p:cNvPr id="29714" name="Group 77"/>
            <p:cNvGrpSpPr>
              <a:grpSpLocks/>
            </p:cNvGrpSpPr>
            <p:nvPr/>
          </p:nvGrpSpPr>
          <p:grpSpPr bwMode="auto">
            <a:xfrm>
              <a:off x="3673" y="3260"/>
              <a:ext cx="418" cy="386"/>
              <a:chOff x="975" y="1171"/>
              <a:chExt cx="418" cy="386"/>
            </a:xfrm>
          </p:grpSpPr>
          <p:sp>
            <p:nvSpPr>
              <p:cNvPr id="29717" name="Line 78"/>
              <p:cNvSpPr>
                <a:spLocks noChangeShapeType="1"/>
              </p:cNvSpPr>
              <p:nvPr/>
            </p:nvSpPr>
            <p:spPr bwMode="auto">
              <a:xfrm flipV="1">
                <a:off x="1122" y="1171"/>
                <a:ext cx="0" cy="22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8" name="Text Box 79"/>
              <p:cNvSpPr txBox="1">
                <a:spLocks noChangeArrowheads="1"/>
              </p:cNvSpPr>
              <p:nvPr/>
            </p:nvSpPr>
            <p:spPr bwMode="auto">
              <a:xfrm>
                <a:off x="975" y="1307"/>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high</a:t>
                </a:r>
              </a:p>
            </p:txBody>
          </p:sp>
        </p:grpSp>
        <p:sp>
          <p:nvSpPr>
            <p:cNvPr id="29715" name="Line 80"/>
            <p:cNvSpPr>
              <a:spLocks noChangeShapeType="1"/>
            </p:cNvSpPr>
            <p:nvPr/>
          </p:nvSpPr>
          <p:spPr bwMode="auto">
            <a:xfrm flipV="1">
              <a:off x="3688" y="3234"/>
              <a:ext cx="1" cy="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16" name="Text Box 81"/>
            <p:cNvSpPr txBox="1">
              <a:spLocks noChangeArrowheads="1"/>
            </p:cNvSpPr>
            <p:nvPr/>
          </p:nvSpPr>
          <p:spPr bwMode="auto">
            <a:xfrm>
              <a:off x="3509" y="3574"/>
              <a:ext cx="38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mid</a:t>
              </a:r>
            </a:p>
          </p:txBody>
        </p:sp>
      </p:grpSp>
      <p:sp>
        <p:nvSpPr>
          <p:cNvPr id="3" name="矩形 2"/>
          <p:cNvSpPr/>
          <p:nvPr/>
        </p:nvSpPr>
        <p:spPr>
          <a:xfrm>
            <a:off x="5260975" y="37029"/>
            <a:ext cx="904414" cy="523220"/>
          </a:xfrm>
          <a:prstGeom prst="rect">
            <a:avLst/>
          </a:prstGeom>
        </p:spPr>
        <p:txBody>
          <a:bodyPr wrap="none">
            <a:spAutoFit/>
          </a:bodyPr>
          <a:lstStyle/>
          <a:p>
            <a:pPr algn="ctr" eaLnBrk="1" hangingPunct="1">
              <a:buFont typeface="Arial" panose="020B0604020202020204" pitchFamily="34" charset="0"/>
              <a:buNone/>
            </a:pPr>
            <a:r>
              <a:rPr lang="zh-CN" altLang="en-US" dirty="0">
                <a:solidFill>
                  <a:srgbClr val="FF3300"/>
                </a:solidFill>
                <a:ea typeface="宋体" panose="02010600030101010101" pitchFamily="2" charset="-122"/>
              </a:rPr>
              <a:t>找</a:t>
            </a:r>
            <a:r>
              <a:rPr lang="en-US" altLang="zh-CN" dirty="0">
                <a:solidFill>
                  <a:srgbClr val="FF3300"/>
                </a:solidFill>
                <a:ea typeface="宋体" panose="02010600030101010101" pitchFamily="2" charset="-122"/>
              </a:rPr>
              <a:t>70</a:t>
            </a:r>
          </a:p>
        </p:txBody>
      </p:sp>
      <p:sp>
        <p:nvSpPr>
          <p:cNvPr id="4" name="文本框 3"/>
          <p:cNvSpPr txBox="1"/>
          <p:nvPr/>
        </p:nvSpPr>
        <p:spPr>
          <a:xfrm>
            <a:off x="4644008" y="4797152"/>
            <a:ext cx="2419252" cy="523220"/>
          </a:xfrm>
          <a:prstGeom prst="rect">
            <a:avLst/>
          </a:prstGeom>
          <a:solidFill>
            <a:schemeClr val="accent5">
              <a:lumMod val="40000"/>
              <a:lumOff val="60000"/>
            </a:schemeClr>
          </a:solidFill>
        </p:spPr>
        <p:txBody>
          <a:bodyPr wrap="none" rtlCol="0">
            <a:spAutoFit/>
          </a:bodyPr>
          <a:lstStyle/>
          <a:p>
            <a:r>
              <a:rPr lang="en-US" altLang="zh-CN" dirty="0"/>
              <a:t>high&lt;low </a:t>
            </a:r>
            <a:r>
              <a:rPr lang="zh-CN" altLang="en-US" dirty="0"/>
              <a:t>结束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p:cNvSpPr>
            <a:spLocks noChangeArrowheads="1"/>
          </p:cNvSpPr>
          <p:nvPr/>
        </p:nvSpPr>
        <p:spPr bwMode="auto">
          <a:xfrm>
            <a:off x="3563888" y="0"/>
            <a:ext cx="438829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dirty="0">
                <a:latin typeface="楷体_GB2312"/>
              </a:rPr>
              <a:t>折半查找（非递归）</a:t>
            </a:r>
          </a:p>
        </p:txBody>
      </p:sp>
      <p:sp>
        <p:nvSpPr>
          <p:cNvPr id="996358" name="Rectangle 6"/>
          <p:cNvSpPr>
            <a:spLocks noChangeArrowheads="1"/>
          </p:cNvSpPr>
          <p:nvPr/>
        </p:nvSpPr>
        <p:spPr bwMode="auto">
          <a:xfrm>
            <a:off x="107504" y="1052736"/>
            <a:ext cx="8784084" cy="547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2">
              <a:lnSpc>
                <a:spcPts val="3800"/>
              </a:lnSpc>
              <a:spcBef>
                <a:spcPct val="20000"/>
              </a:spcBef>
              <a:buFont typeface="Arial" panose="020B0604020202020204" pitchFamily="34" charset="0"/>
              <a:buChar char="•"/>
            </a:pPr>
            <a:r>
              <a:rPr lang="zh-CN" altLang="en-US" dirty="0">
                <a:latin typeface="楷体_GB2312"/>
              </a:rPr>
              <a:t>设表长为</a:t>
            </a:r>
            <a:r>
              <a:rPr lang="en-US" altLang="zh-CN" dirty="0">
                <a:latin typeface="楷体_GB2312"/>
              </a:rPr>
              <a:t>n</a:t>
            </a:r>
          </a:p>
          <a:p>
            <a:pPr lvl="2">
              <a:lnSpc>
                <a:spcPts val="3800"/>
              </a:lnSpc>
              <a:spcBef>
                <a:spcPct val="20000"/>
              </a:spcBef>
              <a:buFont typeface="Arial" panose="020B0604020202020204" pitchFamily="34" charset="0"/>
              <a:buChar char="•"/>
            </a:pPr>
            <a:r>
              <a:rPr lang="en-US" altLang="zh-CN" dirty="0">
                <a:latin typeface="楷体_GB2312"/>
              </a:rPr>
              <a:t>low</a:t>
            </a:r>
            <a:r>
              <a:rPr lang="zh-CN" altLang="en-US" dirty="0">
                <a:latin typeface="楷体_GB2312"/>
              </a:rPr>
              <a:t>、</a:t>
            </a:r>
            <a:r>
              <a:rPr lang="en-US" altLang="zh-CN" dirty="0">
                <a:latin typeface="楷体_GB2312"/>
              </a:rPr>
              <a:t>high</a:t>
            </a:r>
            <a:r>
              <a:rPr lang="zh-CN" altLang="zh-CN" dirty="0">
                <a:latin typeface="楷体_GB2312"/>
              </a:rPr>
              <a:t>和</a:t>
            </a:r>
            <a:r>
              <a:rPr lang="en-US" altLang="zh-CN" dirty="0">
                <a:latin typeface="楷体_GB2312"/>
              </a:rPr>
              <a:t>mid</a:t>
            </a:r>
            <a:r>
              <a:rPr lang="zh-CN" altLang="zh-CN" dirty="0">
                <a:latin typeface="楷体_GB2312"/>
              </a:rPr>
              <a:t>分别指向待查元素所在区间的上界、下界和中点,</a:t>
            </a:r>
            <a:r>
              <a:rPr lang="en-US" altLang="zh-CN" dirty="0">
                <a:latin typeface="楷体_GB2312"/>
              </a:rPr>
              <a:t>k</a:t>
            </a:r>
            <a:r>
              <a:rPr lang="zh-CN" altLang="zh-CN" dirty="0">
                <a:latin typeface="楷体_GB2312"/>
              </a:rPr>
              <a:t>为给定值</a:t>
            </a:r>
          </a:p>
          <a:p>
            <a:pPr lvl="2">
              <a:lnSpc>
                <a:spcPts val="3800"/>
              </a:lnSpc>
              <a:spcBef>
                <a:spcPct val="20000"/>
              </a:spcBef>
              <a:buFont typeface="Arial" panose="020B0604020202020204" pitchFamily="34" charset="0"/>
              <a:buChar char="•"/>
            </a:pPr>
            <a:r>
              <a:rPr lang="zh-CN" altLang="zh-CN" dirty="0">
                <a:latin typeface="楷体_GB2312"/>
              </a:rPr>
              <a:t>初始时，令</a:t>
            </a:r>
            <a:r>
              <a:rPr lang="en-US" altLang="zh-CN" dirty="0">
                <a:highlight>
                  <a:srgbClr val="00FF00"/>
                </a:highlight>
                <a:latin typeface="楷体_GB2312"/>
              </a:rPr>
              <a:t>low=1,high=</a:t>
            </a:r>
            <a:r>
              <a:rPr lang="en-US" altLang="zh-CN" dirty="0" err="1">
                <a:highlight>
                  <a:srgbClr val="00FF00"/>
                </a:highlight>
                <a:latin typeface="楷体_GB2312"/>
              </a:rPr>
              <a:t>n,mid</a:t>
            </a:r>
            <a:r>
              <a:rPr lang="en-US" altLang="zh-CN" dirty="0">
                <a:highlight>
                  <a:srgbClr val="00FF00"/>
                </a:highlight>
                <a:latin typeface="楷体_GB2312"/>
              </a:rPr>
              <a:t>=</a:t>
            </a:r>
            <a:r>
              <a:rPr lang="en-US" altLang="zh-CN" dirty="0">
                <a:highlight>
                  <a:srgbClr val="00FF00"/>
                </a:highlight>
                <a:latin typeface="楷体_GB2312"/>
                <a:sym typeface="Symbol" panose="05050102010706020507" pitchFamily="18" charset="2"/>
              </a:rPr>
              <a:t>[(</a:t>
            </a:r>
            <a:r>
              <a:rPr lang="en-US" altLang="zh-CN" dirty="0" err="1">
                <a:highlight>
                  <a:srgbClr val="00FF00"/>
                </a:highlight>
                <a:latin typeface="楷体_GB2312"/>
                <a:sym typeface="Symbol" panose="05050102010706020507" pitchFamily="18" charset="2"/>
              </a:rPr>
              <a:t>low+high</a:t>
            </a:r>
            <a:r>
              <a:rPr lang="en-US" altLang="zh-CN" dirty="0">
                <a:highlight>
                  <a:srgbClr val="00FF00"/>
                </a:highlight>
                <a:latin typeface="楷体_GB2312"/>
                <a:sym typeface="Symbol" panose="05050102010706020507" pitchFamily="18" charset="2"/>
              </a:rPr>
              <a:t>)/2]</a:t>
            </a:r>
          </a:p>
          <a:p>
            <a:pPr lvl="2">
              <a:lnSpc>
                <a:spcPts val="3800"/>
              </a:lnSpc>
              <a:spcBef>
                <a:spcPct val="20000"/>
              </a:spcBef>
              <a:buFont typeface="Arial" panose="020B0604020202020204" pitchFamily="34" charset="0"/>
              <a:buChar char="•"/>
            </a:pPr>
            <a:r>
              <a:rPr lang="zh-CN" altLang="zh-CN" dirty="0">
                <a:latin typeface="楷体_GB2312"/>
                <a:sym typeface="Symbol" panose="05050102010706020507" pitchFamily="18" charset="2"/>
              </a:rPr>
              <a:t>让</a:t>
            </a:r>
            <a:r>
              <a:rPr lang="en-US" altLang="zh-CN" dirty="0">
                <a:latin typeface="楷体_GB2312"/>
                <a:sym typeface="Symbol" panose="05050102010706020507" pitchFamily="18" charset="2"/>
              </a:rPr>
              <a:t>k</a:t>
            </a:r>
            <a:r>
              <a:rPr lang="zh-CN" altLang="zh-CN" dirty="0">
                <a:latin typeface="楷体_GB2312"/>
                <a:sym typeface="Symbol" panose="05050102010706020507" pitchFamily="18" charset="2"/>
              </a:rPr>
              <a:t>与</a:t>
            </a:r>
            <a:r>
              <a:rPr lang="en-US" altLang="zh-CN" dirty="0">
                <a:latin typeface="楷体_GB2312"/>
                <a:sym typeface="Symbol" panose="05050102010706020507" pitchFamily="18" charset="2"/>
              </a:rPr>
              <a:t>mid</a:t>
            </a:r>
            <a:r>
              <a:rPr lang="zh-CN" altLang="zh-CN" dirty="0">
                <a:latin typeface="楷体_GB2312"/>
                <a:sym typeface="Symbol" panose="05050102010706020507" pitchFamily="18" charset="2"/>
              </a:rPr>
              <a:t>指向的记录比较</a:t>
            </a:r>
          </a:p>
          <a:p>
            <a:pPr lvl="3">
              <a:lnSpc>
                <a:spcPts val="3800"/>
              </a:lnSpc>
              <a:spcBef>
                <a:spcPct val="20000"/>
              </a:spcBef>
              <a:buFont typeface="Arial" panose="020B0604020202020204" pitchFamily="34" charset="0"/>
              <a:buChar char="–"/>
            </a:pPr>
            <a:r>
              <a:rPr lang="zh-CN" altLang="en-US" dirty="0">
                <a:latin typeface="楷体_GB2312"/>
              </a:rPr>
              <a:t>若</a:t>
            </a:r>
            <a:r>
              <a:rPr lang="en-US" altLang="zh-CN" dirty="0">
                <a:latin typeface="楷体_GB2312"/>
              </a:rPr>
              <a:t>k==R[mid].key</a:t>
            </a:r>
            <a:r>
              <a:rPr lang="zh-CN" altLang="en-US" dirty="0">
                <a:latin typeface="楷体_GB2312"/>
              </a:rPr>
              <a:t>，</a:t>
            </a:r>
            <a:r>
              <a:rPr lang="zh-CN" altLang="zh-CN" dirty="0">
                <a:latin typeface="楷体_GB2312"/>
              </a:rPr>
              <a:t>查找成功</a:t>
            </a:r>
          </a:p>
          <a:p>
            <a:pPr lvl="3">
              <a:lnSpc>
                <a:spcPts val="3800"/>
              </a:lnSpc>
              <a:spcBef>
                <a:spcPct val="20000"/>
              </a:spcBef>
              <a:buFont typeface="Arial" panose="020B0604020202020204" pitchFamily="34" charset="0"/>
              <a:buChar char="–"/>
            </a:pPr>
            <a:r>
              <a:rPr lang="zh-CN" altLang="zh-CN" dirty="0">
                <a:latin typeface="楷体_GB2312"/>
              </a:rPr>
              <a:t>若</a:t>
            </a:r>
            <a:r>
              <a:rPr lang="en-US" altLang="zh-CN" dirty="0">
                <a:latin typeface="楷体_GB2312"/>
              </a:rPr>
              <a:t>k&lt;R[mid].key</a:t>
            </a:r>
            <a:r>
              <a:rPr lang="zh-CN" altLang="en-US" dirty="0">
                <a:latin typeface="楷体_GB2312"/>
              </a:rPr>
              <a:t>，</a:t>
            </a:r>
            <a:r>
              <a:rPr lang="zh-CN" altLang="zh-CN" dirty="0">
                <a:latin typeface="楷体_GB2312"/>
              </a:rPr>
              <a:t>则</a:t>
            </a:r>
            <a:r>
              <a:rPr lang="en-US" altLang="zh-CN" dirty="0">
                <a:latin typeface="楷体_GB2312"/>
              </a:rPr>
              <a:t>high=mid-1</a:t>
            </a:r>
          </a:p>
          <a:p>
            <a:pPr lvl="3">
              <a:lnSpc>
                <a:spcPts val="3800"/>
              </a:lnSpc>
              <a:spcBef>
                <a:spcPct val="20000"/>
              </a:spcBef>
              <a:buFont typeface="Arial" panose="020B0604020202020204" pitchFamily="34" charset="0"/>
              <a:buChar char="–"/>
            </a:pPr>
            <a:r>
              <a:rPr lang="zh-CN" altLang="zh-CN" dirty="0">
                <a:latin typeface="楷体_GB2312"/>
              </a:rPr>
              <a:t>若</a:t>
            </a:r>
            <a:r>
              <a:rPr lang="en-US" altLang="zh-CN" dirty="0">
                <a:latin typeface="楷体_GB2312"/>
              </a:rPr>
              <a:t>k&gt;R[mid].key</a:t>
            </a:r>
            <a:r>
              <a:rPr lang="zh-CN" altLang="en-US" dirty="0">
                <a:latin typeface="楷体_GB2312"/>
              </a:rPr>
              <a:t>，</a:t>
            </a:r>
            <a:r>
              <a:rPr lang="zh-CN" altLang="zh-CN" dirty="0">
                <a:latin typeface="楷体_GB2312"/>
              </a:rPr>
              <a:t>则</a:t>
            </a:r>
            <a:r>
              <a:rPr lang="en-US" altLang="zh-CN" dirty="0">
                <a:latin typeface="楷体_GB2312"/>
              </a:rPr>
              <a:t>low=mid+1</a:t>
            </a:r>
          </a:p>
          <a:p>
            <a:pPr lvl="2">
              <a:lnSpc>
                <a:spcPts val="3800"/>
              </a:lnSpc>
              <a:spcBef>
                <a:spcPct val="20000"/>
              </a:spcBef>
              <a:buFont typeface="Arial" panose="020B0604020202020204" pitchFamily="34" charset="0"/>
              <a:buChar char="•"/>
            </a:pPr>
            <a:r>
              <a:rPr lang="zh-CN" altLang="en-US" dirty="0">
                <a:latin typeface="楷体_GB2312"/>
              </a:rPr>
              <a:t>重复上述操作，直至</a:t>
            </a:r>
            <a:r>
              <a:rPr lang="en-US" altLang="zh-CN" dirty="0">
                <a:latin typeface="楷体_GB2312"/>
              </a:rPr>
              <a:t>low&gt;high</a:t>
            </a:r>
            <a:r>
              <a:rPr lang="zh-CN" altLang="zh-CN" dirty="0">
                <a:latin typeface="楷体_GB2312"/>
              </a:rPr>
              <a:t>时，查找失败</a:t>
            </a:r>
            <a:endParaRPr lang="zh-CN" altLang="en-US" dirty="0">
              <a:latin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6358">
                                            <p:txEl>
                                              <p:pRg st="0" end="0"/>
                                            </p:txEl>
                                          </p:spTgt>
                                        </p:tgtEl>
                                        <p:attrNameLst>
                                          <p:attrName>style.visibility</p:attrName>
                                        </p:attrNameLst>
                                      </p:cBhvr>
                                      <p:to>
                                        <p:strVal val="visible"/>
                                      </p:to>
                                    </p:set>
                                    <p:anim calcmode="lin" valueType="num">
                                      <p:cBhvr additive="base">
                                        <p:cTn id="7" dur="500" fill="hold"/>
                                        <p:tgtEl>
                                          <p:spTgt spid="99635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635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6358">
                                            <p:txEl>
                                              <p:pRg st="1" end="1"/>
                                            </p:txEl>
                                          </p:spTgt>
                                        </p:tgtEl>
                                        <p:attrNameLst>
                                          <p:attrName>style.visibility</p:attrName>
                                        </p:attrNameLst>
                                      </p:cBhvr>
                                      <p:to>
                                        <p:strVal val="visible"/>
                                      </p:to>
                                    </p:set>
                                    <p:anim calcmode="lin" valueType="num">
                                      <p:cBhvr additive="base">
                                        <p:cTn id="13" dur="500" fill="hold"/>
                                        <p:tgtEl>
                                          <p:spTgt spid="99635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9635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96358">
                                            <p:txEl>
                                              <p:pRg st="2" end="2"/>
                                            </p:txEl>
                                          </p:spTgt>
                                        </p:tgtEl>
                                        <p:attrNameLst>
                                          <p:attrName>style.visibility</p:attrName>
                                        </p:attrNameLst>
                                      </p:cBhvr>
                                      <p:to>
                                        <p:strVal val="visible"/>
                                      </p:to>
                                    </p:set>
                                    <p:anim calcmode="lin" valueType="num">
                                      <p:cBhvr additive="base">
                                        <p:cTn id="19" dur="500" fill="hold"/>
                                        <p:tgtEl>
                                          <p:spTgt spid="99635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996358">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996358">
                                            <p:txEl>
                                              <p:pRg st="3" end="3"/>
                                            </p:txEl>
                                          </p:spTgt>
                                        </p:tgtEl>
                                        <p:attrNameLst>
                                          <p:attrName>style.visibility</p:attrName>
                                        </p:attrNameLst>
                                      </p:cBhvr>
                                      <p:to>
                                        <p:strVal val="visible"/>
                                      </p:to>
                                    </p:set>
                                    <p:anim calcmode="lin" valueType="num">
                                      <p:cBhvr additive="base">
                                        <p:cTn id="25" dur="500" fill="hold"/>
                                        <p:tgtEl>
                                          <p:spTgt spid="99635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996358">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96358">
                                            <p:txEl>
                                              <p:pRg st="4" end="4"/>
                                            </p:txEl>
                                          </p:spTgt>
                                        </p:tgtEl>
                                        <p:attrNameLst>
                                          <p:attrName>style.visibility</p:attrName>
                                        </p:attrNameLst>
                                      </p:cBhvr>
                                      <p:to>
                                        <p:strVal val="visible"/>
                                      </p:to>
                                    </p:set>
                                    <p:anim calcmode="lin" valueType="num">
                                      <p:cBhvr additive="base">
                                        <p:cTn id="31" dur="500" fill="hold"/>
                                        <p:tgtEl>
                                          <p:spTgt spid="99635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996358">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996358">
                                            <p:txEl>
                                              <p:pRg st="5" end="5"/>
                                            </p:txEl>
                                          </p:spTgt>
                                        </p:tgtEl>
                                        <p:attrNameLst>
                                          <p:attrName>style.visibility</p:attrName>
                                        </p:attrNameLst>
                                      </p:cBhvr>
                                      <p:to>
                                        <p:strVal val="visible"/>
                                      </p:to>
                                    </p:set>
                                    <p:anim calcmode="lin" valueType="num">
                                      <p:cBhvr additive="base">
                                        <p:cTn id="37" dur="500" fill="hold"/>
                                        <p:tgtEl>
                                          <p:spTgt spid="99635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996358">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996358">
                                            <p:txEl>
                                              <p:pRg st="6" end="6"/>
                                            </p:txEl>
                                          </p:spTgt>
                                        </p:tgtEl>
                                        <p:attrNameLst>
                                          <p:attrName>style.visibility</p:attrName>
                                        </p:attrNameLst>
                                      </p:cBhvr>
                                      <p:to>
                                        <p:strVal val="visible"/>
                                      </p:to>
                                    </p:set>
                                    <p:anim calcmode="lin" valueType="num">
                                      <p:cBhvr additive="base">
                                        <p:cTn id="43" dur="500" fill="hold"/>
                                        <p:tgtEl>
                                          <p:spTgt spid="99635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996358">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996358">
                                            <p:txEl>
                                              <p:pRg st="7" end="7"/>
                                            </p:txEl>
                                          </p:spTgt>
                                        </p:tgtEl>
                                        <p:attrNameLst>
                                          <p:attrName>style.visibility</p:attrName>
                                        </p:attrNameLst>
                                      </p:cBhvr>
                                      <p:to>
                                        <p:strVal val="visible"/>
                                      </p:to>
                                    </p:set>
                                    <p:anim calcmode="lin" valueType="num">
                                      <p:cBhvr additive="base">
                                        <p:cTn id="49" dur="500" fill="hold"/>
                                        <p:tgtEl>
                                          <p:spTgt spid="99635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996358">
                                            <p:txEl>
                                              <p:pRg st="7" end="7"/>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6358" grpId="0" build="p" bldLvl="5"/>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381000" y="836613"/>
            <a:ext cx="84582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err="1">
                <a:solidFill>
                  <a:srgbClr val="0000FF"/>
                </a:solidFill>
                <a:ea typeface="仿宋_GB2312"/>
                <a:cs typeface="仿宋_GB2312"/>
              </a:rPr>
              <a:t>int</a:t>
            </a:r>
            <a:r>
              <a:rPr lang="en-US" altLang="zh-CN" sz="2400" dirty="0">
                <a:ea typeface="仿宋_GB2312"/>
                <a:cs typeface="仿宋_GB2312"/>
              </a:rPr>
              <a:t> </a:t>
            </a:r>
            <a:r>
              <a:rPr lang="en-US" altLang="zh-CN" sz="2400" dirty="0" err="1">
                <a:solidFill>
                  <a:srgbClr val="0000FF"/>
                </a:solidFill>
                <a:ea typeface="仿宋_GB2312"/>
                <a:cs typeface="仿宋_GB2312"/>
              </a:rPr>
              <a:t>Search_Bin</a:t>
            </a:r>
            <a:r>
              <a:rPr lang="en-US" altLang="zh-CN" sz="2400" dirty="0">
                <a:ea typeface="仿宋_GB2312"/>
                <a:cs typeface="仿宋_GB2312"/>
              </a:rPr>
              <a:t>(</a:t>
            </a:r>
            <a:r>
              <a:rPr lang="en-US" altLang="zh-CN" sz="2400" dirty="0" err="1">
                <a:ea typeface="仿宋_GB2312"/>
                <a:cs typeface="仿宋_GB2312"/>
              </a:rPr>
              <a:t>SSTable</a:t>
            </a:r>
            <a:r>
              <a:rPr lang="en-US" altLang="zh-CN" sz="2400" dirty="0">
                <a:ea typeface="仿宋_GB2312"/>
                <a:cs typeface="仿宋_GB2312"/>
              </a:rPr>
              <a:t> </a:t>
            </a:r>
            <a:r>
              <a:rPr lang="en-US" altLang="zh-CN" sz="2400" dirty="0" err="1">
                <a:ea typeface="仿宋_GB2312"/>
                <a:cs typeface="仿宋_GB2312"/>
              </a:rPr>
              <a:t>ST,KeyType</a:t>
            </a:r>
            <a:r>
              <a:rPr lang="en-US" altLang="zh-CN" sz="2400" dirty="0">
                <a:ea typeface="仿宋_GB2312"/>
                <a:cs typeface="仿宋_GB2312"/>
              </a:rPr>
              <a:t> key){</a:t>
            </a:r>
          </a:p>
          <a:p>
            <a:pPr>
              <a:spcBef>
                <a:spcPct val="20000"/>
              </a:spcBef>
              <a:buFont typeface="Arial" panose="020B0604020202020204" pitchFamily="34" charset="0"/>
              <a:buNone/>
            </a:pPr>
            <a:r>
              <a:rPr lang="en-US" altLang="zh-CN" sz="2400" dirty="0">
                <a:ea typeface="仿宋_GB2312"/>
                <a:cs typeface="仿宋_GB2312"/>
              </a:rPr>
              <a:t>//</a:t>
            </a:r>
            <a:r>
              <a:rPr lang="zh-CN" altLang="en-US" sz="2400" dirty="0">
                <a:ea typeface="仿宋_GB2312"/>
                <a:cs typeface="仿宋_GB2312"/>
              </a:rPr>
              <a:t>若找到，则函数值为该元素在表中的位置，否则为</a:t>
            </a:r>
            <a:r>
              <a:rPr lang="en-US" altLang="zh-CN" sz="2400" dirty="0">
                <a:ea typeface="仿宋_GB2312"/>
                <a:cs typeface="仿宋_GB2312"/>
              </a:rPr>
              <a:t>0</a:t>
            </a:r>
          </a:p>
          <a:p>
            <a:pPr>
              <a:spcBef>
                <a:spcPct val="20000"/>
              </a:spcBef>
              <a:buFont typeface="Arial" panose="020B0604020202020204" pitchFamily="34" charset="0"/>
              <a:buNone/>
            </a:pPr>
            <a:r>
              <a:rPr lang="en-US" altLang="zh-CN" sz="2400" dirty="0">
                <a:ea typeface="仿宋_GB2312"/>
                <a:cs typeface="仿宋_GB2312"/>
              </a:rPr>
              <a:t>    </a:t>
            </a:r>
            <a:r>
              <a:rPr lang="en-US" altLang="zh-CN" sz="2400" dirty="0">
                <a:highlight>
                  <a:srgbClr val="00FF00"/>
                </a:highlight>
                <a:ea typeface="仿宋_GB2312"/>
                <a:cs typeface="仿宋_GB2312"/>
              </a:rPr>
              <a:t>low=1;high=</a:t>
            </a:r>
            <a:r>
              <a:rPr lang="en-US" altLang="zh-CN" sz="2400" dirty="0" err="1">
                <a:highlight>
                  <a:srgbClr val="00FF00"/>
                </a:highlight>
                <a:ea typeface="仿宋_GB2312"/>
                <a:cs typeface="仿宋_GB2312"/>
              </a:rPr>
              <a:t>ST.length</a:t>
            </a:r>
            <a:r>
              <a:rPr lang="en-US" altLang="zh-CN" sz="2400" dirty="0">
                <a:ea typeface="仿宋_GB2312"/>
                <a:cs typeface="仿宋_GB2312"/>
              </a:rPr>
              <a:t>;						 while(</a:t>
            </a:r>
            <a:r>
              <a:rPr lang="en-US" altLang="zh-CN" sz="2400" dirty="0">
                <a:highlight>
                  <a:srgbClr val="00FF00"/>
                </a:highlight>
                <a:ea typeface="仿宋_GB2312"/>
                <a:cs typeface="仿宋_GB2312"/>
              </a:rPr>
              <a:t>low&lt;=high</a:t>
            </a:r>
            <a:r>
              <a:rPr lang="en-US" altLang="zh-CN" sz="2400" dirty="0">
                <a:ea typeface="仿宋_GB2312"/>
                <a:cs typeface="仿宋_GB2312"/>
              </a:rPr>
              <a:t>){</a:t>
            </a:r>
          </a:p>
          <a:p>
            <a:pPr>
              <a:spcBef>
                <a:spcPct val="20000"/>
              </a:spcBef>
              <a:buFont typeface="Arial" panose="020B0604020202020204" pitchFamily="34" charset="0"/>
              <a:buNone/>
            </a:pPr>
            <a:r>
              <a:rPr lang="en-US" altLang="zh-CN" sz="2400" dirty="0">
                <a:ea typeface="仿宋_GB2312"/>
                <a:cs typeface="仿宋_GB2312"/>
              </a:rPr>
              <a:t>        mid=(</a:t>
            </a:r>
            <a:r>
              <a:rPr lang="en-US" altLang="zh-CN" sz="2400" dirty="0" err="1">
                <a:ea typeface="仿宋_GB2312"/>
                <a:cs typeface="仿宋_GB2312"/>
              </a:rPr>
              <a:t>low+high</a:t>
            </a:r>
            <a:r>
              <a:rPr lang="en-US" altLang="zh-CN" sz="2400" dirty="0">
                <a:ea typeface="仿宋_GB2312"/>
                <a:cs typeface="仿宋_GB2312"/>
              </a:rPr>
              <a:t>)/2;</a:t>
            </a:r>
          </a:p>
          <a:p>
            <a:pPr>
              <a:spcBef>
                <a:spcPct val="20000"/>
              </a:spcBef>
              <a:buFont typeface="Arial" panose="020B0604020202020204" pitchFamily="34" charset="0"/>
              <a:buNone/>
            </a:pPr>
            <a:r>
              <a:rPr lang="en-US" altLang="zh-CN" sz="2400" dirty="0">
                <a:ea typeface="仿宋_GB2312"/>
                <a:cs typeface="仿宋_GB2312"/>
              </a:rPr>
              <a:t>        </a:t>
            </a:r>
            <a:r>
              <a:rPr lang="en-US" altLang="zh-CN" sz="2400" dirty="0">
                <a:solidFill>
                  <a:srgbClr val="FF0000"/>
                </a:solidFill>
                <a:ea typeface="仿宋_GB2312"/>
                <a:cs typeface="仿宋_GB2312"/>
              </a:rPr>
              <a:t>if(key==ST.R[mid].key) </a:t>
            </a:r>
            <a:r>
              <a:rPr lang="en-US" altLang="zh-CN" sz="2400" dirty="0">
                <a:ea typeface="仿宋_GB2312"/>
                <a:cs typeface="仿宋_GB2312"/>
              </a:rPr>
              <a:t>return mid; </a:t>
            </a:r>
          </a:p>
          <a:p>
            <a:pPr>
              <a:spcBef>
                <a:spcPct val="20000"/>
              </a:spcBef>
              <a:buFont typeface="Arial" panose="020B0604020202020204" pitchFamily="34" charset="0"/>
              <a:buNone/>
            </a:pPr>
            <a:r>
              <a:rPr lang="en-US" altLang="zh-CN" sz="2400" dirty="0">
                <a:ea typeface="仿宋_GB2312"/>
                <a:cs typeface="仿宋_GB2312"/>
              </a:rPr>
              <a:t>        else if(key&lt;ST.R[mid].key) high=mid-1;//</a:t>
            </a:r>
            <a:r>
              <a:rPr lang="zh-CN" altLang="en-US" sz="2400" dirty="0">
                <a:ea typeface="仿宋_GB2312"/>
                <a:cs typeface="仿宋_GB2312"/>
              </a:rPr>
              <a:t>前一子表查找</a:t>
            </a:r>
          </a:p>
          <a:p>
            <a:pPr>
              <a:spcBef>
                <a:spcPct val="20000"/>
              </a:spcBef>
              <a:buFont typeface="Arial" panose="020B0604020202020204" pitchFamily="34" charset="0"/>
              <a:buNone/>
            </a:pPr>
            <a:r>
              <a:rPr lang="zh-CN" altLang="en-US" sz="2400" dirty="0">
                <a:ea typeface="仿宋_GB2312"/>
                <a:cs typeface="仿宋_GB2312"/>
              </a:rPr>
              <a:t>        </a:t>
            </a:r>
            <a:r>
              <a:rPr lang="en-US" altLang="zh-CN" sz="2400" dirty="0">
                <a:ea typeface="仿宋_GB2312"/>
                <a:cs typeface="仿宋_GB2312"/>
              </a:rPr>
              <a:t>else low=mid+1;                       		//</a:t>
            </a:r>
            <a:r>
              <a:rPr lang="zh-CN" altLang="en-US" sz="2400" dirty="0">
                <a:ea typeface="仿宋_GB2312"/>
                <a:cs typeface="仿宋_GB2312"/>
              </a:rPr>
              <a:t>后一子表查找</a:t>
            </a:r>
          </a:p>
          <a:p>
            <a:pPr>
              <a:spcBef>
                <a:spcPct val="20000"/>
              </a:spcBef>
              <a:buFont typeface="Arial" panose="020B0604020202020204" pitchFamily="34" charset="0"/>
              <a:buNone/>
            </a:pPr>
            <a:r>
              <a:rPr lang="zh-CN" altLang="en-US" sz="2400" dirty="0">
                <a:ea typeface="仿宋_GB2312"/>
                <a:cs typeface="仿宋_GB2312"/>
              </a:rPr>
              <a:t>    </a:t>
            </a:r>
            <a:r>
              <a:rPr lang="en-US" altLang="zh-CN" sz="2400" dirty="0">
                <a:ea typeface="仿宋_GB2312"/>
                <a:cs typeface="仿宋_GB2312"/>
              </a:rPr>
              <a:t>}									    return 0;		//</a:t>
            </a:r>
            <a:r>
              <a:rPr lang="zh-CN" altLang="en-US" sz="2400" dirty="0">
                <a:ea typeface="仿宋_GB2312"/>
                <a:cs typeface="仿宋_GB2312"/>
              </a:rPr>
              <a:t>表中不存在待查元素</a:t>
            </a:r>
            <a:endParaRPr lang="zh-CN" altLang="de-DE" sz="2400" dirty="0">
              <a:ea typeface="仿宋_GB2312"/>
              <a:cs typeface="仿宋_GB2312"/>
            </a:endParaRPr>
          </a:p>
          <a:p>
            <a:pPr>
              <a:spcBef>
                <a:spcPct val="20000"/>
              </a:spcBef>
              <a:buFont typeface="Arial" panose="020B0604020202020204" pitchFamily="34" charset="0"/>
              <a:buNone/>
            </a:pPr>
            <a:r>
              <a:rPr lang="de-DE" altLang="zh-CN" sz="2400" dirty="0">
                <a:ea typeface="仿宋_GB2312"/>
                <a:cs typeface="仿宋_GB2312"/>
              </a:rPr>
              <a:t>}										</a:t>
            </a:r>
            <a:r>
              <a:rPr lang="de-DE" altLang="zh-CN" sz="2400" b="0" dirty="0">
                <a:ea typeface="仿宋_GB2312"/>
                <a:cs typeface="仿宋_GB2312"/>
              </a:rPr>
              <a:t> </a:t>
            </a:r>
            <a:endParaRPr lang="en-US" altLang="zh-CN" sz="2400" b="0" dirty="0">
              <a:ea typeface="仿宋_GB2312"/>
              <a:cs typeface="仿宋_GB2312"/>
            </a:endParaRPr>
          </a:p>
        </p:txBody>
      </p:sp>
      <p:sp>
        <p:nvSpPr>
          <p:cNvPr id="31747" name="Rectangle 5"/>
          <p:cNvSpPr>
            <a:spLocks noChangeArrowheads="1"/>
          </p:cNvSpPr>
          <p:nvPr/>
        </p:nvSpPr>
        <p:spPr bwMode="auto">
          <a:xfrm>
            <a:off x="3419872" y="148680"/>
            <a:ext cx="4197424" cy="36004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t>算法</a:t>
            </a:r>
            <a:r>
              <a:rPr lang="en-US" altLang="zh-CN" sz="2400" dirty="0"/>
              <a:t>7.3(</a:t>
            </a:r>
            <a:r>
              <a:rPr lang="en-US" altLang="zh-CN" sz="2400" dirty="0">
                <a:solidFill>
                  <a:srgbClr val="FF3300"/>
                </a:solidFill>
              </a:rPr>
              <a:t>★ </a:t>
            </a:r>
            <a:r>
              <a:rPr lang="zh-CN" altLang="en-US" sz="2400" dirty="0">
                <a:solidFill>
                  <a:srgbClr val="FF3300"/>
                </a:solidFill>
              </a:rPr>
              <a:t>带星的重点掌握</a:t>
            </a:r>
            <a:r>
              <a:rPr lang="en-US" altLang="zh-CN" sz="24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ChangeArrowheads="1"/>
          </p:cNvSpPr>
          <p:nvPr/>
        </p:nvSpPr>
        <p:spPr bwMode="auto">
          <a:xfrm>
            <a:off x="3635896" y="44624"/>
            <a:ext cx="345219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折半查找（递归算法）</a:t>
            </a:r>
          </a:p>
        </p:txBody>
      </p:sp>
      <p:sp>
        <p:nvSpPr>
          <p:cNvPr id="1035269" name="Rectangle 5"/>
          <p:cNvSpPr>
            <a:spLocks noChangeArrowheads="1"/>
          </p:cNvSpPr>
          <p:nvPr/>
        </p:nvSpPr>
        <p:spPr bwMode="auto">
          <a:xfrm>
            <a:off x="-252413" y="836613"/>
            <a:ext cx="9144001"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2">
              <a:spcBef>
                <a:spcPct val="20000"/>
              </a:spcBef>
              <a:buFont typeface="Arial" panose="020B0604020202020204" pitchFamily="34" charset="0"/>
              <a:buNone/>
            </a:pPr>
            <a:r>
              <a:rPr lang="en-US" altLang="zh-CN" sz="2400" dirty="0" err="1">
                <a:ea typeface="仿宋_GB2312"/>
                <a:cs typeface="仿宋_GB2312"/>
              </a:rPr>
              <a:t>int</a:t>
            </a:r>
            <a:r>
              <a:rPr lang="en-US" altLang="zh-CN" sz="2400" dirty="0">
                <a:ea typeface="仿宋_GB2312"/>
                <a:cs typeface="仿宋_GB2312"/>
              </a:rPr>
              <a:t> </a:t>
            </a:r>
            <a:r>
              <a:rPr lang="en-US" altLang="zh-CN" sz="2400" dirty="0" err="1">
                <a:ea typeface="仿宋_GB2312"/>
                <a:cs typeface="仿宋_GB2312"/>
              </a:rPr>
              <a:t>Search_Bin</a:t>
            </a:r>
            <a:r>
              <a:rPr lang="en-US" altLang="zh-CN" sz="2400" dirty="0">
                <a:ea typeface="仿宋_GB2312"/>
                <a:cs typeface="仿宋_GB2312"/>
              </a:rPr>
              <a:t> (</a:t>
            </a:r>
            <a:r>
              <a:rPr lang="en-US" altLang="zh-CN" sz="2400" dirty="0" err="1">
                <a:ea typeface="仿宋_GB2312"/>
                <a:cs typeface="仿宋_GB2312"/>
              </a:rPr>
              <a:t>SSTable</a:t>
            </a:r>
            <a:r>
              <a:rPr lang="en-US" altLang="zh-CN" sz="2400" dirty="0">
                <a:ea typeface="仿宋_GB2312"/>
                <a:cs typeface="仿宋_GB2312"/>
              </a:rPr>
              <a:t> ST, </a:t>
            </a:r>
            <a:r>
              <a:rPr lang="en-US" altLang="zh-CN" sz="2400" dirty="0" err="1">
                <a:ea typeface="仿宋_GB2312"/>
                <a:cs typeface="仿宋_GB2312"/>
              </a:rPr>
              <a:t>keyType</a:t>
            </a:r>
            <a:r>
              <a:rPr lang="en-US" altLang="zh-CN" sz="2400" dirty="0">
                <a:ea typeface="仿宋_GB2312"/>
                <a:cs typeface="仿宋_GB2312"/>
              </a:rPr>
              <a:t> key</a:t>
            </a:r>
            <a:r>
              <a:rPr lang="en-US" altLang="zh-CN" sz="2400" dirty="0">
                <a:highlight>
                  <a:srgbClr val="00FF00"/>
                </a:highlight>
                <a:ea typeface="仿宋_GB2312"/>
                <a:cs typeface="仿宋_GB2312"/>
              </a:rPr>
              <a:t>, </a:t>
            </a:r>
            <a:r>
              <a:rPr lang="en-US" altLang="zh-CN" sz="2400" dirty="0" err="1">
                <a:highlight>
                  <a:srgbClr val="00FF00"/>
                </a:highlight>
                <a:ea typeface="仿宋_GB2312"/>
                <a:cs typeface="仿宋_GB2312"/>
              </a:rPr>
              <a:t>int</a:t>
            </a:r>
            <a:r>
              <a:rPr lang="en-US" altLang="zh-CN" sz="2400" dirty="0">
                <a:highlight>
                  <a:srgbClr val="00FF00"/>
                </a:highlight>
                <a:ea typeface="仿宋_GB2312"/>
                <a:cs typeface="仿宋_GB2312"/>
              </a:rPr>
              <a:t> low, </a:t>
            </a:r>
            <a:r>
              <a:rPr lang="en-US" altLang="zh-CN" sz="2400" dirty="0" err="1">
                <a:highlight>
                  <a:srgbClr val="00FF00"/>
                </a:highlight>
                <a:ea typeface="仿宋_GB2312"/>
                <a:cs typeface="仿宋_GB2312"/>
              </a:rPr>
              <a:t>int</a:t>
            </a:r>
            <a:r>
              <a:rPr lang="en-US" altLang="zh-CN" sz="2400" dirty="0">
                <a:highlight>
                  <a:srgbClr val="00FF00"/>
                </a:highlight>
                <a:ea typeface="仿宋_GB2312"/>
                <a:cs typeface="仿宋_GB2312"/>
              </a:rPr>
              <a:t> high</a:t>
            </a:r>
            <a:r>
              <a:rPr lang="en-US" altLang="zh-CN" sz="2400" dirty="0">
                <a:ea typeface="仿宋_GB2312"/>
                <a:cs typeface="仿宋_GB2312"/>
              </a:rPr>
              <a:t>) </a:t>
            </a:r>
          </a:p>
          <a:p>
            <a:pPr lvl="2">
              <a:spcBef>
                <a:spcPct val="20000"/>
              </a:spcBef>
              <a:buFont typeface="Arial" panose="020B0604020202020204" pitchFamily="34" charset="0"/>
              <a:buNone/>
            </a:pPr>
            <a:r>
              <a:rPr lang="en-US" altLang="zh-CN" sz="2400" dirty="0">
                <a:ea typeface="仿宋_GB2312"/>
                <a:cs typeface="仿宋_GB2312"/>
              </a:rPr>
              <a:t>{ </a:t>
            </a:r>
          </a:p>
          <a:p>
            <a:pPr lvl="2">
              <a:spcBef>
                <a:spcPct val="20000"/>
              </a:spcBef>
              <a:buFont typeface="Arial" panose="020B0604020202020204" pitchFamily="34" charset="0"/>
              <a:buNone/>
            </a:pPr>
            <a:r>
              <a:rPr lang="en-US" altLang="zh-CN" sz="2400" dirty="0">
                <a:ea typeface="仿宋_GB2312"/>
                <a:cs typeface="仿宋_GB2312"/>
              </a:rPr>
              <a:t>  if(low&gt;high) return 0;   //</a:t>
            </a:r>
            <a:r>
              <a:rPr lang="zh-CN" altLang="en-US" sz="2400" dirty="0">
                <a:ea typeface="仿宋_GB2312"/>
                <a:cs typeface="仿宋_GB2312"/>
              </a:rPr>
              <a:t>查找不到时返回</a:t>
            </a:r>
            <a:r>
              <a:rPr lang="en-US" altLang="zh-CN" sz="2400" dirty="0">
                <a:ea typeface="仿宋_GB2312"/>
                <a:cs typeface="仿宋_GB2312"/>
              </a:rPr>
              <a:t>0 </a:t>
            </a:r>
          </a:p>
          <a:p>
            <a:pPr lvl="2">
              <a:spcBef>
                <a:spcPct val="20000"/>
              </a:spcBef>
              <a:buFont typeface="Arial" panose="020B0604020202020204" pitchFamily="34" charset="0"/>
              <a:buNone/>
            </a:pPr>
            <a:r>
              <a:rPr lang="en-US" altLang="zh-CN" sz="2400" dirty="0">
                <a:ea typeface="仿宋_GB2312"/>
                <a:cs typeface="仿宋_GB2312"/>
              </a:rPr>
              <a:t>  mid=(</a:t>
            </a:r>
            <a:r>
              <a:rPr lang="en-US" altLang="zh-CN" sz="2400" dirty="0" err="1">
                <a:ea typeface="仿宋_GB2312"/>
                <a:cs typeface="仿宋_GB2312"/>
              </a:rPr>
              <a:t>low+high</a:t>
            </a:r>
            <a:r>
              <a:rPr lang="en-US" altLang="zh-CN" sz="2400" dirty="0">
                <a:ea typeface="仿宋_GB2312"/>
                <a:cs typeface="仿宋_GB2312"/>
              </a:rPr>
              <a:t>)/2; </a:t>
            </a:r>
          </a:p>
          <a:p>
            <a:pPr lvl="2">
              <a:spcBef>
                <a:spcPct val="20000"/>
              </a:spcBef>
              <a:buFont typeface="Arial" panose="020B0604020202020204" pitchFamily="34" charset="0"/>
              <a:buNone/>
            </a:pPr>
            <a:r>
              <a:rPr lang="en-US" altLang="zh-CN" sz="2400" dirty="0">
                <a:ea typeface="仿宋_GB2312"/>
                <a:cs typeface="仿宋_GB2312"/>
              </a:rPr>
              <a:t>  if(key==</a:t>
            </a:r>
            <a:r>
              <a:rPr lang="en-US" altLang="zh-CN" sz="2400" dirty="0" err="1">
                <a:highlight>
                  <a:srgbClr val="00FF00"/>
                </a:highlight>
                <a:ea typeface="仿宋_GB2312"/>
                <a:cs typeface="仿宋_GB2312"/>
              </a:rPr>
              <a:t>ST.elem</a:t>
            </a:r>
            <a:r>
              <a:rPr lang="en-US" altLang="zh-CN" sz="2400" dirty="0">
                <a:highlight>
                  <a:srgbClr val="00FF00"/>
                </a:highlight>
                <a:ea typeface="仿宋_GB2312"/>
                <a:cs typeface="仿宋_GB2312"/>
              </a:rPr>
              <a:t>[mid].key</a:t>
            </a:r>
            <a:r>
              <a:rPr lang="en-US" altLang="zh-CN" sz="2400" dirty="0">
                <a:ea typeface="仿宋_GB2312"/>
                <a:cs typeface="仿宋_GB2312"/>
              </a:rPr>
              <a:t>)  return mid; </a:t>
            </a:r>
          </a:p>
          <a:p>
            <a:pPr lvl="2">
              <a:spcBef>
                <a:spcPct val="20000"/>
              </a:spcBef>
              <a:buFont typeface="Arial" panose="020B0604020202020204" pitchFamily="34" charset="0"/>
              <a:buNone/>
            </a:pPr>
            <a:r>
              <a:rPr lang="en-US" altLang="zh-CN" sz="2400" dirty="0">
                <a:ea typeface="仿宋_GB2312"/>
                <a:cs typeface="仿宋_GB2312"/>
              </a:rPr>
              <a:t>  else if(key&lt;=</a:t>
            </a:r>
            <a:r>
              <a:rPr lang="en-US" altLang="zh-CN" sz="2400" dirty="0" err="1">
                <a:highlight>
                  <a:srgbClr val="00FF00"/>
                </a:highlight>
                <a:ea typeface="仿宋_GB2312"/>
                <a:cs typeface="仿宋_GB2312"/>
              </a:rPr>
              <a:t>ST.elem</a:t>
            </a:r>
            <a:r>
              <a:rPr lang="en-US" altLang="zh-CN" sz="2400" dirty="0">
                <a:highlight>
                  <a:srgbClr val="00FF00"/>
                </a:highlight>
                <a:ea typeface="仿宋_GB2312"/>
                <a:cs typeface="仿宋_GB2312"/>
              </a:rPr>
              <a:t>[mid].key</a:t>
            </a:r>
            <a:r>
              <a:rPr lang="en-US" altLang="zh-CN" sz="2400" dirty="0">
                <a:ea typeface="仿宋_GB2312"/>
                <a:cs typeface="仿宋_GB2312"/>
              </a:rPr>
              <a:t>)  </a:t>
            </a:r>
          </a:p>
          <a:p>
            <a:pPr lvl="2">
              <a:spcBef>
                <a:spcPct val="20000"/>
              </a:spcBef>
              <a:buFont typeface="Arial" panose="020B0604020202020204" pitchFamily="34" charset="0"/>
              <a:buNone/>
            </a:pPr>
            <a:r>
              <a:rPr lang="en-US" altLang="zh-CN" sz="2400" dirty="0">
                <a:ea typeface="仿宋_GB2312"/>
                <a:cs typeface="仿宋_GB2312"/>
              </a:rPr>
              <a:t>    </a:t>
            </a:r>
            <a:r>
              <a:rPr lang="en-US" altLang="zh-CN" sz="2400" dirty="0">
                <a:solidFill>
                  <a:srgbClr val="FF3300"/>
                </a:solidFill>
                <a:ea typeface="仿宋_GB2312"/>
                <a:cs typeface="仿宋_GB2312"/>
              </a:rPr>
              <a:t>……..//</a:t>
            </a:r>
            <a:r>
              <a:rPr lang="zh-CN" altLang="en-US" sz="2400" dirty="0">
                <a:solidFill>
                  <a:srgbClr val="FF3300"/>
                </a:solidFill>
                <a:ea typeface="仿宋_GB2312"/>
                <a:cs typeface="仿宋_GB2312"/>
              </a:rPr>
              <a:t>递归</a:t>
            </a:r>
          </a:p>
          <a:p>
            <a:pPr lvl="2">
              <a:spcBef>
                <a:spcPct val="20000"/>
              </a:spcBef>
              <a:buFont typeface="Arial" panose="020B0604020202020204" pitchFamily="34" charset="0"/>
              <a:buNone/>
            </a:pPr>
            <a:r>
              <a:rPr lang="zh-CN" altLang="en-US" sz="2400" dirty="0">
                <a:ea typeface="仿宋_GB2312"/>
                <a:cs typeface="仿宋_GB2312"/>
              </a:rPr>
              <a:t>  </a:t>
            </a:r>
            <a:r>
              <a:rPr lang="en-US" altLang="zh-CN" sz="2400" dirty="0">
                <a:ea typeface="仿宋_GB2312"/>
                <a:cs typeface="仿宋_GB2312"/>
              </a:rPr>
              <a:t>else</a:t>
            </a:r>
            <a:r>
              <a:rPr lang="en-US" altLang="zh-CN" sz="2400" dirty="0">
                <a:solidFill>
                  <a:srgbClr val="FF3300"/>
                </a:solidFill>
                <a:ea typeface="仿宋_GB2312"/>
                <a:cs typeface="仿宋_GB2312"/>
              </a:rPr>
              <a:t>…….  //</a:t>
            </a:r>
            <a:r>
              <a:rPr lang="zh-CN" altLang="en-US" sz="2400" dirty="0">
                <a:solidFill>
                  <a:srgbClr val="FF3300"/>
                </a:solidFill>
                <a:ea typeface="仿宋_GB2312"/>
                <a:cs typeface="仿宋_GB2312"/>
              </a:rPr>
              <a:t>递归</a:t>
            </a:r>
          </a:p>
          <a:p>
            <a:pPr lvl="2">
              <a:spcBef>
                <a:spcPct val="20000"/>
              </a:spcBef>
              <a:buFont typeface="Arial" panose="020B0604020202020204" pitchFamily="34" charset="0"/>
              <a:buNone/>
            </a:pPr>
            <a:r>
              <a:rPr lang="en-US" altLang="zh-CN" sz="2400" dirty="0">
                <a:ea typeface="仿宋_GB2312"/>
                <a:cs typeface="仿宋_GB2312"/>
              </a:rPr>
              <a:t>}</a:t>
            </a:r>
            <a:r>
              <a:rPr lang="en-US" altLang="zh-CN" sz="3200" b="0" dirty="0">
                <a:ea typeface="仿宋_GB2312"/>
                <a:cs typeface="仿宋_GB231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8" name="Group 5"/>
          <p:cNvGrpSpPr>
            <a:grpSpLocks/>
          </p:cNvGrpSpPr>
          <p:nvPr/>
        </p:nvGrpSpPr>
        <p:grpSpPr bwMode="auto">
          <a:xfrm>
            <a:off x="685800" y="1646238"/>
            <a:ext cx="8001000" cy="3292475"/>
            <a:chOff x="480" y="360"/>
            <a:chExt cx="5040" cy="2074"/>
          </a:xfrm>
        </p:grpSpPr>
        <p:sp>
          <p:nvSpPr>
            <p:cNvPr id="34834" name="Oval 6"/>
            <p:cNvSpPr>
              <a:spLocks noChangeArrowheads="1"/>
            </p:cNvSpPr>
            <p:nvPr/>
          </p:nvSpPr>
          <p:spPr bwMode="auto">
            <a:xfrm>
              <a:off x="2544" y="408"/>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35" name="Oval 7"/>
            <p:cNvSpPr>
              <a:spLocks noChangeArrowheads="1"/>
            </p:cNvSpPr>
            <p:nvPr/>
          </p:nvSpPr>
          <p:spPr bwMode="auto">
            <a:xfrm>
              <a:off x="1440"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36" name="Oval 8"/>
            <p:cNvSpPr>
              <a:spLocks noChangeArrowheads="1"/>
            </p:cNvSpPr>
            <p:nvPr/>
          </p:nvSpPr>
          <p:spPr bwMode="auto">
            <a:xfrm>
              <a:off x="3696"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37" name="Oval 9"/>
            <p:cNvSpPr>
              <a:spLocks noChangeArrowheads="1"/>
            </p:cNvSpPr>
            <p:nvPr/>
          </p:nvSpPr>
          <p:spPr bwMode="auto">
            <a:xfrm>
              <a:off x="864"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38" name="Oval 10"/>
            <p:cNvSpPr>
              <a:spLocks noChangeArrowheads="1"/>
            </p:cNvSpPr>
            <p:nvPr/>
          </p:nvSpPr>
          <p:spPr bwMode="auto">
            <a:xfrm>
              <a:off x="19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39" name="Oval 11"/>
            <p:cNvSpPr>
              <a:spLocks noChangeArrowheads="1"/>
            </p:cNvSpPr>
            <p:nvPr/>
          </p:nvSpPr>
          <p:spPr bwMode="auto">
            <a:xfrm>
              <a:off x="3120"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0" name="Oval 12"/>
            <p:cNvSpPr>
              <a:spLocks noChangeArrowheads="1"/>
            </p:cNvSpPr>
            <p:nvPr/>
          </p:nvSpPr>
          <p:spPr bwMode="auto">
            <a:xfrm>
              <a:off x="43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1" name="Text Box 13"/>
            <p:cNvSpPr txBox="1">
              <a:spLocks noChangeArrowheads="1"/>
            </p:cNvSpPr>
            <p:nvPr/>
          </p:nvSpPr>
          <p:spPr bwMode="auto">
            <a:xfrm>
              <a:off x="480" y="141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  -1</a:t>
              </a:r>
            </a:p>
          </p:txBody>
        </p:sp>
        <p:sp>
          <p:nvSpPr>
            <p:cNvPr id="34842" name="Oval 14"/>
            <p:cNvSpPr>
              <a:spLocks noChangeArrowheads="1"/>
            </p:cNvSpPr>
            <p:nvPr/>
          </p:nvSpPr>
          <p:spPr bwMode="auto">
            <a:xfrm>
              <a:off x="1056" y="141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3" name="Text Box 15"/>
            <p:cNvSpPr txBox="1">
              <a:spLocks noChangeArrowheads="1"/>
            </p:cNvSpPr>
            <p:nvPr/>
          </p:nvSpPr>
          <p:spPr bwMode="auto">
            <a:xfrm>
              <a:off x="1536" y="141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3-4</a:t>
              </a:r>
            </a:p>
          </p:txBody>
        </p:sp>
        <p:sp>
          <p:nvSpPr>
            <p:cNvPr id="34844" name="Oval 16"/>
            <p:cNvSpPr>
              <a:spLocks noChangeArrowheads="1"/>
            </p:cNvSpPr>
            <p:nvPr/>
          </p:nvSpPr>
          <p:spPr bwMode="auto">
            <a:xfrm>
              <a:off x="2256"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5" name="Text Box 17"/>
            <p:cNvSpPr txBox="1">
              <a:spLocks noChangeArrowheads="1"/>
            </p:cNvSpPr>
            <p:nvPr/>
          </p:nvSpPr>
          <p:spPr bwMode="auto">
            <a:xfrm>
              <a:off x="2784"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6-7</a:t>
              </a:r>
            </a:p>
          </p:txBody>
        </p:sp>
        <p:sp>
          <p:nvSpPr>
            <p:cNvPr id="34846" name="Oval 18"/>
            <p:cNvSpPr>
              <a:spLocks noChangeArrowheads="1"/>
            </p:cNvSpPr>
            <p:nvPr/>
          </p:nvSpPr>
          <p:spPr bwMode="auto">
            <a:xfrm>
              <a:off x="35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7" name="Text Box 19"/>
            <p:cNvSpPr txBox="1">
              <a:spLocks noChangeArrowheads="1"/>
            </p:cNvSpPr>
            <p:nvPr/>
          </p:nvSpPr>
          <p:spPr bwMode="auto">
            <a:xfrm>
              <a:off x="3888"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9-10</a:t>
              </a:r>
            </a:p>
          </p:txBody>
        </p:sp>
        <p:sp>
          <p:nvSpPr>
            <p:cNvPr id="34848" name="Oval 20"/>
            <p:cNvSpPr>
              <a:spLocks noChangeArrowheads="1"/>
            </p:cNvSpPr>
            <p:nvPr/>
          </p:nvSpPr>
          <p:spPr bwMode="auto">
            <a:xfrm>
              <a:off x="47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4849" name="Text Box 21"/>
            <p:cNvSpPr txBox="1">
              <a:spLocks noChangeArrowheads="1"/>
            </p:cNvSpPr>
            <p:nvPr/>
          </p:nvSpPr>
          <p:spPr bwMode="auto">
            <a:xfrm>
              <a:off x="576"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1-2</a:t>
              </a:r>
            </a:p>
          </p:txBody>
        </p:sp>
        <p:sp>
          <p:nvSpPr>
            <p:cNvPr id="34850" name="Text Box 22"/>
            <p:cNvSpPr txBox="1">
              <a:spLocks noChangeArrowheads="1"/>
            </p:cNvSpPr>
            <p:nvPr/>
          </p:nvSpPr>
          <p:spPr bwMode="auto">
            <a:xfrm>
              <a:off x="1152" y="189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2-3</a:t>
              </a:r>
            </a:p>
          </p:txBody>
        </p:sp>
        <p:sp>
          <p:nvSpPr>
            <p:cNvPr id="34851" name="Text Box 23"/>
            <p:cNvSpPr txBox="1">
              <a:spLocks noChangeArrowheads="1"/>
            </p:cNvSpPr>
            <p:nvPr/>
          </p:nvSpPr>
          <p:spPr bwMode="auto">
            <a:xfrm>
              <a:off x="18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4-5</a:t>
              </a:r>
            </a:p>
          </p:txBody>
        </p:sp>
        <p:sp>
          <p:nvSpPr>
            <p:cNvPr id="34852" name="Text Box 24"/>
            <p:cNvSpPr txBox="1">
              <a:spLocks noChangeArrowheads="1"/>
            </p:cNvSpPr>
            <p:nvPr/>
          </p:nvSpPr>
          <p:spPr bwMode="auto">
            <a:xfrm>
              <a:off x="235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5-6</a:t>
              </a:r>
            </a:p>
          </p:txBody>
        </p:sp>
        <p:sp>
          <p:nvSpPr>
            <p:cNvPr id="34853" name="Text Box 25"/>
            <p:cNvSpPr txBox="1">
              <a:spLocks noChangeArrowheads="1"/>
            </p:cNvSpPr>
            <p:nvPr/>
          </p:nvSpPr>
          <p:spPr bwMode="auto">
            <a:xfrm>
              <a:off x="30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7-8</a:t>
              </a:r>
            </a:p>
          </p:txBody>
        </p:sp>
        <p:sp>
          <p:nvSpPr>
            <p:cNvPr id="34854" name="Text Box 26"/>
            <p:cNvSpPr txBox="1">
              <a:spLocks noChangeArrowheads="1"/>
            </p:cNvSpPr>
            <p:nvPr/>
          </p:nvSpPr>
          <p:spPr bwMode="auto">
            <a:xfrm>
              <a:off x="3648"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8-9</a:t>
              </a:r>
            </a:p>
          </p:txBody>
        </p:sp>
        <p:sp>
          <p:nvSpPr>
            <p:cNvPr id="34855" name="Text Box 27"/>
            <p:cNvSpPr txBox="1">
              <a:spLocks noChangeArrowheads="1"/>
            </p:cNvSpPr>
            <p:nvPr/>
          </p:nvSpPr>
          <p:spPr bwMode="auto">
            <a:xfrm>
              <a:off x="4224" y="1896"/>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10-11</a:t>
              </a:r>
            </a:p>
          </p:txBody>
        </p:sp>
        <p:sp>
          <p:nvSpPr>
            <p:cNvPr id="34856" name="Text Box 28"/>
            <p:cNvSpPr txBox="1">
              <a:spLocks noChangeArrowheads="1"/>
            </p:cNvSpPr>
            <p:nvPr/>
          </p:nvSpPr>
          <p:spPr bwMode="auto">
            <a:xfrm>
              <a:off x="499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4857" name="Line 29"/>
            <p:cNvSpPr>
              <a:spLocks noChangeShapeType="1"/>
            </p:cNvSpPr>
            <p:nvPr/>
          </p:nvSpPr>
          <p:spPr bwMode="auto">
            <a:xfrm flipH="1">
              <a:off x="1680" y="552"/>
              <a:ext cx="86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8" name="Line 30"/>
            <p:cNvSpPr>
              <a:spLocks noChangeShapeType="1"/>
            </p:cNvSpPr>
            <p:nvPr/>
          </p:nvSpPr>
          <p:spPr bwMode="auto">
            <a:xfrm>
              <a:off x="2784" y="552"/>
              <a:ext cx="91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59" name="Text Box 31"/>
            <p:cNvSpPr txBox="1">
              <a:spLocks noChangeArrowheads="1"/>
            </p:cNvSpPr>
            <p:nvPr/>
          </p:nvSpPr>
          <p:spPr bwMode="auto">
            <a:xfrm>
              <a:off x="2544" y="40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a:t>
              </a:r>
            </a:p>
          </p:txBody>
        </p:sp>
        <p:sp>
          <p:nvSpPr>
            <p:cNvPr id="34860" name="Text Box 32"/>
            <p:cNvSpPr txBox="1">
              <a:spLocks noChangeArrowheads="1"/>
            </p:cNvSpPr>
            <p:nvPr/>
          </p:nvSpPr>
          <p:spPr bwMode="auto">
            <a:xfrm>
              <a:off x="1440" y="6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a:t>
              </a:r>
            </a:p>
          </p:txBody>
        </p:sp>
        <p:sp>
          <p:nvSpPr>
            <p:cNvPr id="34861" name="Text Box 33"/>
            <p:cNvSpPr txBox="1">
              <a:spLocks noChangeArrowheads="1"/>
            </p:cNvSpPr>
            <p:nvPr/>
          </p:nvSpPr>
          <p:spPr bwMode="auto">
            <a:xfrm>
              <a:off x="3744" y="6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a:t>
              </a:r>
            </a:p>
          </p:txBody>
        </p:sp>
        <p:sp>
          <p:nvSpPr>
            <p:cNvPr id="34862" name="Text Box 34"/>
            <p:cNvSpPr txBox="1">
              <a:spLocks noChangeArrowheads="1"/>
            </p:cNvSpPr>
            <p:nvPr/>
          </p:nvSpPr>
          <p:spPr bwMode="auto">
            <a:xfrm>
              <a:off x="912" y="98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4863" name="Text Box 35"/>
            <p:cNvSpPr txBox="1">
              <a:spLocks noChangeArrowheads="1"/>
            </p:cNvSpPr>
            <p:nvPr/>
          </p:nvSpPr>
          <p:spPr bwMode="auto">
            <a:xfrm>
              <a:off x="1968"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a:t>
              </a:r>
            </a:p>
          </p:txBody>
        </p:sp>
        <p:sp>
          <p:nvSpPr>
            <p:cNvPr id="34864" name="Text Box 36"/>
            <p:cNvSpPr txBox="1">
              <a:spLocks noChangeArrowheads="1"/>
            </p:cNvSpPr>
            <p:nvPr/>
          </p:nvSpPr>
          <p:spPr bwMode="auto">
            <a:xfrm>
              <a:off x="3120"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a:t>
              </a:r>
            </a:p>
          </p:txBody>
        </p:sp>
        <p:sp>
          <p:nvSpPr>
            <p:cNvPr id="34865" name="Text Box 37"/>
            <p:cNvSpPr txBox="1">
              <a:spLocks noChangeArrowheads="1"/>
            </p:cNvSpPr>
            <p:nvPr/>
          </p:nvSpPr>
          <p:spPr bwMode="auto">
            <a:xfrm>
              <a:off x="4320" y="98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a:t>
              </a:r>
            </a:p>
          </p:txBody>
        </p:sp>
        <p:sp>
          <p:nvSpPr>
            <p:cNvPr id="34866" name="Text Box 38"/>
            <p:cNvSpPr txBox="1">
              <a:spLocks noChangeArrowheads="1"/>
            </p:cNvSpPr>
            <p:nvPr/>
          </p:nvSpPr>
          <p:spPr bwMode="auto">
            <a:xfrm>
              <a:off x="1056" y="14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4867" name="Text Box 39"/>
            <p:cNvSpPr txBox="1">
              <a:spLocks noChangeArrowheads="1"/>
            </p:cNvSpPr>
            <p:nvPr/>
          </p:nvSpPr>
          <p:spPr bwMode="auto">
            <a:xfrm>
              <a:off x="2256" y="14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a:t>
              </a:r>
            </a:p>
          </p:txBody>
        </p:sp>
        <p:sp>
          <p:nvSpPr>
            <p:cNvPr id="34868" name="Text Box 40"/>
            <p:cNvSpPr txBox="1">
              <a:spLocks noChangeArrowheads="1"/>
            </p:cNvSpPr>
            <p:nvPr/>
          </p:nvSpPr>
          <p:spPr bwMode="auto">
            <a:xfrm>
              <a:off x="3504"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a:t>
              </a:r>
            </a:p>
          </p:txBody>
        </p:sp>
        <p:sp>
          <p:nvSpPr>
            <p:cNvPr id="34869" name="Text Box 41"/>
            <p:cNvSpPr txBox="1">
              <a:spLocks noChangeArrowheads="1"/>
            </p:cNvSpPr>
            <p:nvPr/>
          </p:nvSpPr>
          <p:spPr bwMode="auto">
            <a:xfrm>
              <a:off x="4656"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4870" name="Line 42"/>
            <p:cNvSpPr>
              <a:spLocks noChangeShapeType="1"/>
            </p:cNvSpPr>
            <p:nvPr/>
          </p:nvSpPr>
          <p:spPr bwMode="auto">
            <a:xfrm flipH="1">
              <a:off x="1008" y="840"/>
              <a:ext cx="43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1" name="Line 43"/>
            <p:cNvSpPr>
              <a:spLocks noChangeShapeType="1"/>
            </p:cNvSpPr>
            <p:nvPr/>
          </p:nvSpPr>
          <p:spPr bwMode="auto">
            <a:xfrm>
              <a:off x="1680" y="888"/>
              <a:ext cx="38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2" name="Line 44"/>
            <p:cNvSpPr>
              <a:spLocks noChangeShapeType="1"/>
            </p:cNvSpPr>
            <p:nvPr/>
          </p:nvSpPr>
          <p:spPr bwMode="auto">
            <a:xfrm flipH="1">
              <a:off x="3264" y="792"/>
              <a:ext cx="43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3" name="Line 45"/>
            <p:cNvSpPr>
              <a:spLocks noChangeShapeType="1"/>
            </p:cNvSpPr>
            <p:nvPr/>
          </p:nvSpPr>
          <p:spPr bwMode="auto">
            <a:xfrm>
              <a:off x="3936" y="840"/>
              <a:ext cx="52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4" name="Line 46"/>
            <p:cNvSpPr>
              <a:spLocks noChangeShapeType="1"/>
            </p:cNvSpPr>
            <p:nvPr/>
          </p:nvSpPr>
          <p:spPr bwMode="auto">
            <a:xfrm flipH="1">
              <a:off x="624" y="117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5" name="Line 47"/>
            <p:cNvSpPr>
              <a:spLocks noChangeShapeType="1"/>
            </p:cNvSpPr>
            <p:nvPr/>
          </p:nvSpPr>
          <p:spPr bwMode="auto">
            <a:xfrm>
              <a:off x="1008" y="122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6" name="Line 48"/>
            <p:cNvSpPr>
              <a:spLocks noChangeShapeType="1"/>
            </p:cNvSpPr>
            <p:nvPr/>
          </p:nvSpPr>
          <p:spPr bwMode="auto">
            <a:xfrm flipH="1">
              <a:off x="1776" y="122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7" name="Line 49"/>
            <p:cNvSpPr>
              <a:spLocks noChangeShapeType="1"/>
            </p:cNvSpPr>
            <p:nvPr/>
          </p:nvSpPr>
          <p:spPr bwMode="auto">
            <a:xfrm>
              <a:off x="2112" y="1224"/>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8" name="Line 50"/>
            <p:cNvSpPr>
              <a:spLocks noChangeShapeType="1"/>
            </p:cNvSpPr>
            <p:nvPr/>
          </p:nvSpPr>
          <p:spPr bwMode="auto">
            <a:xfrm flipH="1">
              <a:off x="3024" y="1224"/>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79" name="Line 51"/>
            <p:cNvSpPr>
              <a:spLocks noChangeShapeType="1"/>
            </p:cNvSpPr>
            <p:nvPr/>
          </p:nvSpPr>
          <p:spPr bwMode="auto">
            <a:xfrm>
              <a:off x="3264"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0" name="Line 52"/>
            <p:cNvSpPr>
              <a:spLocks noChangeShapeType="1"/>
            </p:cNvSpPr>
            <p:nvPr/>
          </p:nvSpPr>
          <p:spPr bwMode="auto">
            <a:xfrm flipH="1">
              <a:off x="4080"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1" name="Line 53"/>
            <p:cNvSpPr>
              <a:spLocks noChangeShapeType="1"/>
            </p:cNvSpPr>
            <p:nvPr/>
          </p:nvSpPr>
          <p:spPr bwMode="auto">
            <a:xfrm>
              <a:off x="4512" y="1224"/>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2" name="Line 54"/>
            <p:cNvSpPr>
              <a:spLocks noChangeShapeType="1"/>
            </p:cNvSpPr>
            <p:nvPr/>
          </p:nvSpPr>
          <p:spPr bwMode="auto">
            <a:xfrm flipH="1">
              <a:off x="864" y="165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3" name="Line 55"/>
            <p:cNvSpPr>
              <a:spLocks noChangeShapeType="1"/>
            </p:cNvSpPr>
            <p:nvPr/>
          </p:nvSpPr>
          <p:spPr bwMode="auto">
            <a:xfrm>
              <a:off x="1200" y="1656"/>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4" name="Line 56"/>
            <p:cNvSpPr>
              <a:spLocks noChangeShapeType="1"/>
            </p:cNvSpPr>
            <p:nvPr/>
          </p:nvSpPr>
          <p:spPr bwMode="auto">
            <a:xfrm flipH="1">
              <a:off x="2016" y="170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5" name="Line 57"/>
            <p:cNvSpPr>
              <a:spLocks noChangeShapeType="1"/>
            </p:cNvSpPr>
            <p:nvPr/>
          </p:nvSpPr>
          <p:spPr bwMode="auto">
            <a:xfrm>
              <a:off x="2400" y="170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6" name="Line 58"/>
            <p:cNvSpPr>
              <a:spLocks noChangeShapeType="1"/>
            </p:cNvSpPr>
            <p:nvPr/>
          </p:nvSpPr>
          <p:spPr bwMode="auto">
            <a:xfrm flipH="1">
              <a:off x="3216" y="1704"/>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7" name="Line 59"/>
            <p:cNvSpPr>
              <a:spLocks noChangeShapeType="1"/>
            </p:cNvSpPr>
            <p:nvPr/>
          </p:nvSpPr>
          <p:spPr bwMode="auto">
            <a:xfrm>
              <a:off x="3648"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8" name="Line 60"/>
            <p:cNvSpPr>
              <a:spLocks noChangeShapeType="1"/>
            </p:cNvSpPr>
            <p:nvPr/>
          </p:nvSpPr>
          <p:spPr bwMode="auto">
            <a:xfrm flipH="1">
              <a:off x="4512"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89" name="Line 61"/>
            <p:cNvSpPr>
              <a:spLocks noChangeShapeType="1"/>
            </p:cNvSpPr>
            <p:nvPr/>
          </p:nvSpPr>
          <p:spPr bwMode="auto">
            <a:xfrm>
              <a:off x="4848" y="1704"/>
              <a:ext cx="38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0" name="Line 62"/>
            <p:cNvSpPr>
              <a:spLocks noChangeShapeType="1"/>
            </p:cNvSpPr>
            <p:nvPr/>
          </p:nvSpPr>
          <p:spPr bwMode="auto">
            <a:xfrm>
              <a:off x="2880" y="504"/>
              <a:ext cx="225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1" name="Line 63"/>
            <p:cNvSpPr>
              <a:spLocks noChangeShapeType="1"/>
            </p:cNvSpPr>
            <p:nvPr/>
          </p:nvSpPr>
          <p:spPr bwMode="auto">
            <a:xfrm>
              <a:off x="3984" y="744"/>
              <a:ext cx="115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2" name="Line 64"/>
            <p:cNvSpPr>
              <a:spLocks noChangeShapeType="1"/>
            </p:cNvSpPr>
            <p:nvPr/>
          </p:nvSpPr>
          <p:spPr bwMode="auto">
            <a:xfrm>
              <a:off x="4944" y="1560"/>
              <a:ext cx="288"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93" name="Text Box 65"/>
            <p:cNvSpPr txBox="1">
              <a:spLocks noChangeArrowheads="1"/>
            </p:cNvSpPr>
            <p:nvPr/>
          </p:nvSpPr>
          <p:spPr bwMode="auto">
            <a:xfrm>
              <a:off x="5136" y="3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4894" name="Text Box 66"/>
            <p:cNvSpPr txBox="1">
              <a:spLocks noChangeArrowheads="1"/>
            </p:cNvSpPr>
            <p:nvPr/>
          </p:nvSpPr>
          <p:spPr bwMode="auto">
            <a:xfrm>
              <a:off x="5136"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4895" name="Text Box 67"/>
            <p:cNvSpPr txBox="1">
              <a:spLocks noChangeArrowheads="1"/>
            </p:cNvSpPr>
            <p:nvPr/>
          </p:nvSpPr>
          <p:spPr bwMode="auto">
            <a:xfrm>
              <a:off x="5136" y="14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h</a:t>
              </a:r>
            </a:p>
          </p:txBody>
        </p:sp>
        <p:sp>
          <p:nvSpPr>
            <p:cNvPr id="34896" name="Text Box 68"/>
            <p:cNvSpPr txBox="1">
              <a:spLocks noChangeArrowheads="1"/>
            </p:cNvSpPr>
            <p:nvPr/>
          </p:nvSpPr>
          <p:spPr bwMode="auto">
            <a:xfrm>
              <a:off x="4896" y="21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外结点</a:t>
              </a:r>
            </a:p>
          </p:txBody>
        </p:sp>
        <p:sp>
          <p:nvSpPr>
            <p:cNvPr id="34897" name="Text Box 69"/>
            <p:cNvSpPr txBox="1">
              <a:spLocks noChangeArrowheads="1"/>
            </p:cNvSpPr>
            <p:nvPr/>
          </p:nvSpPr>
          <p:spPr bwMode="auto">
            <a:xfrm>
              <a:off x="4560" y="9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内结点</a:t>
              </a:r>
              <a:endParaRPr lang="zh-CN" altLang="en-US" sz="2000">
                <a:solidFill>
                  <a:schemeClr val="accent1"/>
                </a:solidFill>
                <a:ea typeface="宋体" panose="02010600030101010101" pitchFamily="2" charset="-122"/>
              </a:endParaRPr>
            </a:p>
          </p:txBody>
        </p:sp>
        <p:sp>
          <p:nvSpPr>
            <p:cNvPr id="34898" name="Text Box 70"/>
            <p:cNvSpPr txBox="1">
              <a:spLocks noChangeArrowheads="1"/>
            </p:cNvSpPr>
            <p:nvPr/>
          </p:nvSpPr>
          <p:spPr bwMode="auto">
            <a:xfrm>
              <a:off x="2928" y="5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&gt;</a:t>
              </a:r>
              <a:endParaRPr lang="en-US" altLang="zh-CN" sz="2400">
                <a:ea typeface="宋体" panose="02010600030101010101" pitchFamily="2" charset="-122"/>
              </a:endParaRPr>
            </a:p>
          </p:txBody>
        </p:sp>
        <p:sp>
          <p:nvSpPr>
            <p:cNvPr id="34899" name="Text Box 71"/>
            <p:cNvSpPr txBox="1">
              <a:spLocks noChangeArrowheads="1"/>
            </p:cNvSpPr>
            <p:nvPr/>
          </p:nvSpPr>
          <p:spPr bwMode="auto">
            <a:xfrm>
              <a:off x="2160" y="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&lt;</a:t>
              </a:r>
            </a:p>
          </p:txBody>
        </p:sp>
        <p:sp>
          <p:nvSpPr>
            <p:cNvPr id="34900" name="Text Box 72"/>
            <p:cNvSpPr txBox="1">
              <a:spLocks noChangeArrowheads="1"/>
            </p:cNvSpPr>
            <p:nvPr/>
          </p:nvSpPr>
          <p:spPr bwMode="auto">
            <a:xfrm>
              <a:off x="2592"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a:t>
              </a:r>
            </a:p>
          </p:txBody>
        </p:sp>
      </p:grpSp>
      <p:sp>
        <p:nvSpPr>
          <p:cNvPr id="34819" name="Rectangle 73"/>
          <p:cNvSpPr>
            <a:spLocks noChangeArrowheads="1"/>
          </p:cNvSpPr>
          <p:nvPr/>
        </p:nvSpPr>
        <p:spPr bwMode="auto">
          <a:xfrm>
            <a:off x="3276600" y="16669"/>
            <a:ext cx="43037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折半查找的性能分析－</a:t>
            </a:r>
            <a:r>
              <a:rPr lang="zh-CN" altLang="en-US" sz="2400" dirty="0">
                <a:solidFill>
                  <a:srgbClr val="FF3300"/>
                </a:solidFill>
                <a:highlight>
                  <a:srgbClr val="00FF00"/>
                </a:highlight>
                <a:latin typeface="楷体_GB2312"/>
              </a:rPr>
              <a:t>判定树</a:t>
            </a:r>
          </a:p>
        </p:txBody>
      </p:sp>
      <p:grpSp>
        <p:nvGrpSpPr>
          <p:cNvPr id="34820" name="Group 111"/>
          <p:cNvGrpSpPr>
            <a:grpSpLocks/>
          </p:cNvGrpSpPr>
          <p:nvPr/>
        </p:nvGrpSpPr>
        <p:grpSpPr bwMode="auto">
          <a:xfrm>
            <a:off x="1265238" y="711200"/>
            <a:ext cx="6216650" cy="755650"/>
            <a:chOff x="797" y="448"/>
            <a:chExt cx="3916" cy="476"/>
          </a:xfrm>
        </p:grpSpPr>
        <p:sp>
          <p:nvSpPr>
            <p:cNvPr id="34822" name="Text Box 99"/>
            <p:cNvSpPr txBox="1">
              <a:spLocks noChangeArrowheads="1"/>
            </p:cNvSpPr>
            <p:nvPr/>
          </p:nvSpPr>
          <p:spPr bwMode="auto">
            <a:xfrm>
              <a:off x="797" y="448"/>
              <a:ext cx="3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1       2       3       4       5       6        7        8       9      10     11</a:t>
              </a:r>
            </a:p>
          </p:txBody>
        </p:sp>
        <p:sp>
          <p:nvSpPr>
            <p:cNvPr id="34823" name="Rectangle 100"/>
            <p:cNvSpPr>
              <a:spLocks noChangeArrowheads="1"/>
            </p:cNvSpPr>
            <p:nvPr/>
          </p:nvSpPr>
          <p:spPr bwMode="auto">
            <a:xfrm>
              <a:off x="815" y="669"/>
              <a:ext cx="3879" cy="25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a:ea typeface="宋体" panose="02010600030101010101" pitchFamily="2" charset="-122"/>
                </a:rPr>
                <a:t>5      13     19     21     37     56      64      75     80     88     92</a:t>
              </a:r>
            </a:p>
          </p:txBody>
        </p:sp>
        <p:sp>
          <p:nvSpPr>
            <p:cNvPr id="34824" name="Line 101"/>
            <p:cNvSpPr>
              <a:spLocks noChangeShapeType="1"/>
            </p:cNvSpPr>
            <p:nvPr/>
          </p:nvSpPr>
          <p:spPr bwMode="auto">
            <a:xfrm>
              <a:off x="1082"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5" name="Line 102"/>
            <p:cNvSpPr>
              <a:spLocks noChangeShapeType="1"/>
            </p:cNvSpPr>
            <p:nvPr/>
          </p:nvSpPr>
          <p:spPr bwMode="auto">
            <a:xfrm>
              <a:off x="1446"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6" name="Line 103"/>
            <p:cNvSpPr>
              <a:spLocks noChangeShapeType="1"/>
            </p:cNvSpPr>
            <p:nvPr/>
          </p:nvSpPr>
          <p:spPr bwMode="auto">
            <a:xfrm>
              <a:off x="1810"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04"/>
            <p:cNvSpPr>
              <a:spLocks noChangeShapeType="1"/>
            </p:cNvSpPr>
            <p:nvPr/>
          </p:nvSpPr>
          <p:spPr bwMode="auto">
            <a:xfrm>
              <a:off x="2174"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Line 105"/>
            <p:cNvSpPr>
              <a:spLocks noChangeShapeType="1"/>
            </p:cNvSpPr>
            <p:nvPr/>
          </p:nvSpPr>
          <p:spPr bwMode="auto">
            <a:xfrm>
              <a:off x="2538"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9" name="Line 106"/>
            <p:cNvSpPr>
              <a:spLocks noChangeShapeType="1"/>
            </p:cNvSpPr>
            <p:nvPr/>
          </p:nvSpPr>
          <p:spPr bwMode="auto">
            <a:xfrm>
              <a:off x="2902"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0" name="Line 107"/>
            <p:cNvSpPr>
              <a:spLocks noChangeShapeType="1"/>
            </p:cNvSpPr>
            <p:nvPr/>
          </p:nvSpPr>
          <p:spPr bwMode="auto">
            <a:xfrm>
              <a:off x="3266"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1" name="Line 108"/>
            <p:cNvSpPr>
              <a:spLocks noChangeShapeType="1"/>
            </p:cNvSpPr>
            <p:nvPr/>
          </p:nvSpPr>
          <p:spPr bwMode="auto">
            <a:xfrm>
              <a:off x="3630"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2" name="Line 109"/>
            <p:cNvSpPr>
              <a:spLocks noChangeShapeType="1"/>
            </p:cNvSpPr>
            <p:nvPr/>
          </p:nvSpPr>
          <p:spPr bwMode="auto">
            <a:xfrm>
              <a:off x="3994"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33" name="Line 110"/>
            <p:cNvSpPr>
              <a:spLocks noChangeShapeType="1"/>
            </p:cNvSpPr>
            <p:nvPr/>
          </p:nvSpPr>
          <p:spPr bwMode="auto">
            <a:xfrm>
              <a:off x="4358" y="668"/>
              <a:ext cx="0"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4658" name="Text Box 114"/>
          <p:cNvSpPr txBox="1">
            <a:spLocks noChangeArrowheads="1"/>
          </p:cNvSpPr>
          <p:nvPr/>
        </p:nvSpPr>
        <p:spPr bwMode="auto">
          <a:xfrm>
            <a:off x="76200" y="4938713"/>
            <a:ext cx="8839200" cy="822325"/>
          </a:xfrm>
          <a:prstGeom prst="rect">
            <a:avLst/>
          </a:prstGeom>
          <a:solidFill>
            <a:srgbClr val="CCFFFF"/>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400">
                <a:latin typeface="楷体_GB2312"/>
              </a:rPr>
              <a:t>若所有结点的空指针域设置为一个指向一个方形结点的指针，称方形结点为判定树的</a:t>
            </a:r>
            <a:r>
              <a:rPr lang="zh-CN" altLang="en-US" sz="2400">
                <a:solidFill>
                  <a:srgbClr val="FF3300"/>
                </a:solidFill>
                <a:latin typeface="楷体_GB2312"/>
              </a:rPr>
              <a:t>外部结点</a:t>
            </a:r>
            <a:r>
              <a:rPr lang="zh-CN" altLang="en-US" sz="2400">
                <a:latin typeface="楷体_GB2312"/>
              </a:rPr>
              <a:t>；对应的，圆形结点为</a:t>
            </a:r>
            <a:r>
              <a:rPr lang="zh-CN" altLang="en-US" sz="2400">
                <a:solidFill>
                  <a:srgbClr val="FF3300"/>
                </a:solidFill>
                <a:latin typeface="楷体_GB2312"/>
              </a:rPr>
              <a:t>内部结点</a:t>
            </a:r>
            <a:r>
              <a:rPr lang="zh-CN" altLang="en-US" sz="2400">
                <a:latin typeface="楷体_GB2312"/>
              </a:rPr>
              <a:t>。</a:t>
            </a:r>
          </a:p>
        </p:txBody>
      </p:sp>
      <p:sp>
        <p:nvSpPr>
          <p:cNvPr id="2" name="文本框 1">
            <a:extLst>
              <a:ext uri="{FF2B5EF4-FFF2-40B4-BE49-F238E27FC236}">
                <a16:creationId xmlns:a16="http://schemas.microsoft.com/office/drawing/2014/main" id="{359A5C8B-7AA0-0030-35CF-756BC59E0123}"/>
              </a:ext>
            </a:extLst>
          </p:cNvPr>
          <p:cNvSpPr txBox="1"/>
          <p:nvPr/>
        </p:nvSpPr>
        <p:spPr>
          <a:xfrm>
            <a:off x="467544" y="5877272"/>
            <a:ext cx="8219256" cy="954107"/>
          </a:xfrm>
          <a:prstGeom prst="rect">
            <a:avLst/>
          </a:prstGeom>
          <a:noFill/>
        </p:spPr>
        <p:txBody>
          <a:bodyPr wrap="square" rtlCol="0">
            <a:spAutoFit/>
          </a:bodyPr>
          <a:lstStyle/>
          <a:p>
            <a:r>
              <a:rPr lang="zh-CN" altLang="en-US" dirty="0">
                <a:highlight>
                  <a:srgbClr val="00FF00"/>
                </a:highlight>
              </a:rPr>
              <a:t>根结点为原表中间</a:t>
            </a:r>
            <a:r>
              <a:rPr lang="en-US" altLang="zh-CN" dirty="0">
                <a:highlight>
                  <a:srgbClr val="00FF00"/>
                </a:highlight>
              </a:rPr>
              <a:t>;</a:t>
            </a:r>
            <a:r>
              <a:rPr lang="zh-CN" altLang="en-US" dirty="0">
                <a:highlight>
                  <a:srgbClr val="00FF00"/>
                </a:highlight>
              </a:rPr>
              <a:t>其左孩子为左侧表中间</a:t>
            </a:r>
            <a:r>
              <a:rPr lang="en-US" altLang="zh-CN" dirty="0">
                <a:highlight>
                  <a:srgbClr val="00FF00"/>
                </a:highlight>
              </a:rPr>
              <a:t>,</a:t>
            </a:r>
            <a:r>
              <a:rPr lang="zh-CN" altLang="en-US" dirty="0">
                <a:highlight>
                  <a:srgbClr val="00FF00"/>
                </a:highlight>
              </a:rPr>
              <a:t>右侧表为有孩子中间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04658">
                                            <p:txEl>
                                              <p:pRg st="0" end="0"/>
                                            </p:txEl>
                                          </p:spTgt>
                                        </p:tgtEl>
                                        <p:attrNameLst>
                                          <p:attrName>style.visibility</p:attrName>
                                        </p:attrNameLst>
                                      </p:cBhvr>
                                      <p:to>
                                        <p:strVal val="visible"/>
                                      </p:to>
                                    </p:set>
                                    <p:animEffect transition="in" filter="strips(downRight)">
                                      <p:cBhvr>
                                        <p:cTn id="7" dur="500"/>
                                        <p:tgtEl>
                                          <p:spTgt spid="10046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658"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4"/>
          <p:cNvGrpSpPr>
            <a:grpSpLocks/>
          </p:cNvGrpSpPr>
          <p:nvPr/>
        </p:nvGrpSpPr>
        <p:grpSpPr bwMode="auto">
          <a:xfrm>
            <a:off x="692150" y="1820962"/>
            <a:ext cx="8001000" cy="3292475"/>
            <a:chOff x="480" y="360"/>
            <a:chExt cx="5040" cy="2074"/>
          </a:xfrm>
        </p:grpSpPr>
        <p:sp>
          <p:nvSpPr>
            <p:cNvPr id="35845" name="Oval 5"/>
            <p:cNvSpPr>
              <a:spLocks noChangeArrowheads="1"/>
            </p:cNvSpPr>
            <p:nvPr/>
          </p:nvSpPr>
          <p:spPr bwMode="auto">
            <a:xfrm>
              <a:off x="2544" y="408"/>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46" name="Oval 6"/>
            <p:cNvSpPr>
              <a:spLocks noChangeArrowheads="1"/>
            </p:cNvSpPr>
            <p:nvPr/>
          </p:nvSpPr>
          <p:spPr bwMode="auto">
            <a:xfrm>
              <a:off x="1440"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47" name="Oval 7"/>
            <p:cNvSpPr>
              <a:spLocks noChangeArrowheads="1"/>
            </p:cNvSpPr>
            <p:nvPr/>
          </p:nvSpPr>
          <p:spPr bwMode="auto">
            <a:xfrm>
              <a:off x="3696"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48" name="Oval 8"/>
            <p:cNvSpPr>
              <a:spLocks noChangeArrowheads="1"/>
            </p:cNvSpPr>
            <p:nvPr/>
          </p:nvSpPr>
          <p:spPr bwMode="auto">
            <a:xfrm>
              <a:off x="864"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49" name="Oval 9"/>
            <p:cNvSpPr>
              <a:spLocks noChangeArrowheads="1"/>
            </p:cNvSpPr>
            <p:nvPr/>
          </p:nvSpPr>
          <p:spPr bwMode="auto">
            <a:xfrm>
              <a:off x="19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0" name="Oval 10"/>
            <p:cNvSpPr>
              <a:spLocks noChangeArrowheads="1"/>
            </p:cNvSpPr>
            <p:nvPr/>
          </p:nvSpPr>
          <p:spPr bwMode="auto">
            <a:xfrm>
              <a:off x="3120"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1" name="Oval 11"/>
            <p:cNvSpPr>
              <a:spLocks noChangeArrowheads="1"/>
            </p:cNvSpPr>
            <p:nvPr/>
          </p:nvSpPr>
          <p:spPr bwMode="auto">
            <a:xfrm>
              <a:off x="43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2" name="Text Box 12"/>
            <p:cNvSpPr txBox="1">
              <a:spLocks noChangeArrowheads="1"/>
            </p:cNvSpPr>
            <p:nvPr/>
          </p:nvSpPr>
          <p:spPr bwMode="auto">
            <a:xfrm>
              <a:off x="480" y="141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  -1</a:t>
              </a:r>
            </a:p>
          </p:txBody>
        </p:sp>
        <p:sp>
          <p:nvSpPr>
            <p:cNvPr id="35853" name="Oval 13"/>
            <p:cNvSpPr>
              <a:spLocks noChangeArrowheads="1"/>
            </p:cNvSpPr>
            <p:nvPr/>
          </p:nvSpPr>
          <p:spPr bwMode="auto">
            <a:xfrm>
              <a:off x="1056" y="141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4" name="Text Box 14"/>
            <p:cNvSpPr txBox="1">
              <a:spLocks noChangeArrowheads="1"/>
            </p:cNvSpPr>
            <p:nvPr/>
          </p:nvSpPr>
          <p:spPr bwMode="auto">
            <a:xfrm>
              <a:off x="1536" y="141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3-4</a:t>
              </a:r>
            </a:p>
          </p:txBody>
        </p:sp>
        <p:sp>
          <p:nvSpPr>
            <p:cNvPr id="35855" name="Oval 15"/>
            <p:cNvSpPr>
              <a:spLocks noChangeArrowheads="1"/>
            </p:cNvSpPr>
            <p:nvPr/>
          </p:nvSpPr>
          <p:spPr bwMode="auto">
            <a:xfrm>
              <a:off x="2256"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6" name="Text Box 16"/>
            <p:cNvSpPr txBox="1">
              <a:spLocks noChangeArrowheads="1"/>
            </p:cNvSpPr>
            <p:nvPr/>
          </p:nvSpPr>
          <p:spPr bwMode="auto">
            <a:xfrm>
              <a:off x="2784"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6-7</a:t>
              </a:r>
            </a:p>
          </p:txBody>
        </p:sp>
        <p:sp>
          <p:nvSpPr>
            <p:cNvPr id="35857" name="Oval 17"/>
            <p:cNvSpPr>
              <a:spLocks noChangeArrowheads="1"/>
            </p:cNvSpPr>
            <p:nvPr/>
          </p:nvSpPr>
          <p:spPr bwMode="auto">
            <a:xfrm>
              <a:off x="35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58" name="Text Box 18"/>
            <p:cNvSpPr txBox="1">
              <a:spLocks noChangeArrowheads="1"/>
            </p:cNvSpPr>
            <p:nvPr/>
          </p:nvSpPr>
          <p:spPr bwMode="auto">
            <a:xfrm>
              <a:off x="3888"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9-10</a:t>
              </a:r>
            </a:p>
          </p:txBody>
        </p:sp>
        <p:sp>
          <p:nvSpPr>
            <p:cNvPr id="35859" name="Oval 19"/>
            <p:cNvSpPr>
              <a:spLocks noChangeArrowheads="1"/>
            </p:cNvSpPr>
            <p:nvPr/>
          </p:nvSpPr>
          <p:spPr bwMode="auto">
            <a:xfrm>
              <a:off x="47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5860" name="Text Box 20"/>
            <p:cNvSpPr txBox="1">
              <a:spLocks noChangeArrowheads="1"/>
            </p:cNvSpPr>
            <p:nvPr/>
          </p:nvSpPr>
          <p:spPr bwMode="auto">
            <a:xfrm>
              <a:off x="576"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1-2</a:t>
              </a:r>
            </a:p>
          </p:txBody>
        </p:sp>
        <p:sp>
          <p:nvSpPr>
            <p:cNvPr id="35861" name="Text Box 21"/>
            <p:cNvSpPr txBox="1">
              <a:spLocks noChangeArrowheads="1"/>
            </p:cNvSpPr>
            <p:nvPr/>
          </p:nvSpPr>
          <p:spPr bwMode="auto">
            <a:xfrm>
              <a:off x="1152" y="189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2-3</a:t>
              </a:r>
            </a:p>
          </p:txBody>
        </p:sp>
        <p:sp>
          <p:nvSpPr>
            <p:cNvPr id="35862" name="Text Box 22"/>
            <p:cNvSpPr txBox="1">
              <a:spLocks noChangeArrowheads="1"/>
            </p:cNvSpPr>
            <p:nvPr/>
          </p:nvSpPr>
          <p:spPr bwMode="auto">
            <a:xfrm>
              <a:off x="18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4-5</a:t>
              </a:r>
            </a:p>
          </p:txBody>
        </p:sp>
        <p:sp>
          <p:nvSpPr>
            <p:cNvPr id="35863" name="Text Box 23"/>
            <p:cNvSpPr txBox="1">
              <a:spLocks noChangeArrowheads="1"/>
            </p:cNvSpPr>
            <p:nvPr/>
          </p:nvSpPr>
          <p:spPr bwMode="auto">
            <a:xfrm>
              <a:off x="235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5-6</a:t>
              </a:r>
            </a:p>
          </p:txBody>
        </p:sp>
        <p:sp>
          <p:nvSpPr>
            <p:cNvPr id="35864" name="Text Box 24"/>
            <p:cNvSpPr txBox="1">
              <a:spLocks noChangeArrowheads="1"/>
            </p:cNvSpPr>
            <p:nvPr/>
          </p:nvSpPr>
          <p:spPr bwMode="auto">
            <a:xfrm>
              <a:off x="30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7-8</a:t>
              </a:r>
            </a:p>
          </p:txBody>
        </p:sp>
        <p:sp>
          <p:nvSpPr>
            <p:cNvPr id="35865" name="Text Box 25"/>
            <p:cNvSpPr txBox="1">
              <a:spLocks noChangeArrowheads="1"/>
            </p:cNvSpPr>
            <p:nvPr/>
          </p:nvSpPr>
          <p:spPr bwMode="auto">
            <a:xfrm>
              <a:off x="3648"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8-9</a:t>
              </a:r>
            </a:p>
          </p:txBody>
        </p:sp>
        <p:sp>
          <p:nvSpPr>
            <p:cNvPr id="35866" name="Text Box 26"/>
            <p:cNvSpPr txBox="1">
              <a:spLocks noChangeArrowheads="1"/>
            </p:cNvSpPr>
            <p:nvPr/>
          </p:nvSpPr>
          <p:spPr bwMode="auto">
            <a:xfrm>
              <a:off x="4224" y="1896"/>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10-11</a:t>
              </a:r>
            </a:p>
          </p:txBody>
        </p:sp>
        <p:sp>
          <p:nvSpPr>
            <p:cNvPr id="35867" name="Text Box 27"/>
            <p:cNvSpPr txBox="1">
              <a:spLocks noChangeArrowheads="1"/>
            </p:cNvSpPr>
            <p:nvPr/>
          </p:nvSpPr>
          <p:spPr bwMode="auto">
            <a:xfrm>
              <a:off x="499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5868" name="Line 28"/>
            <p:cNvSpPr>
              <a:spLocks noChangeShapeType="1"/>
            </p:cNvSpPr>
            <p:nvPr/>
          </p:nvSpPr>
          <p:spPr bwMode="auto">
            <a:xfrm flipH="1">
              <a:off x="1680" y="552"/>
              <a:ext cx="86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9" name="Line 29"/>
            <p:cNvSpPr>
              <a:spLocks noChangeShapeType="1"/>
            </p:cNvSpPr>
            <p:nvPr/>
          </p:nvSpPr>
          <p:spPr bwMode="auto">
            <a:xfrm>
              <a:off x="2784" y="552"/>
              <a:ext cx="91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0" name="Text Box 30"/>
            <p:cNvSpPr txBox="1">
              <a:spLocks noChangeArrowheads="1"/>
            </p:cNvSpPr>
            <p:nvPr/>
          </p:nvSpPr>
          <p:spPr bwMode="auto">
            <a:xfrm>
              <a:off x="2544" y="40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a:t>
              </a:r>
            </a:p>
          </p:txBody>
        </p:sp>
        <p:sp>
          <p:nvSpPr>
            <p:cNvPr id="35871" name="Text Box 31"/>
            <p:cNvSpPr txBox="1">
              <a:spLocks noChangeArrowheads="1"/>
            </p:cNvSpPr>
            <p:nvPr/>
          </p:nvSpPr>
          <p:spPr bwMode="auto">
            <a:xfrm>
              <a:off x="1440" y="6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a:t>
              </a:r>
            </a:p>
          </p:txBody>
        </p:sp>
        <p:sp>
          <p:nvSpPr>
            <p:cNvPr id="35872" name="Text Box 32"/>
            <p:cNvSpPr txBox="1">
              <a:spLocks noChangeArrowheads="1"/>
            </p:cNvSpPr>
            <p:nvPr/>
          </p:nvSpPr>
          <p:spPr bwMode="auto">
            <a:xfrm>
              <a:off x="3744" y="6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a:t>
              </a:r>
            </a:p>
          </p:txBody>
        </p:sp>
        <p:sp>
          <p:nvSpPr>
            <p:cNvPr id="35873" name="Text Box 33"/>
            <p:cNvSpPr txBox="1">
              <a:spLocks noChangeArrowheads="1"/>
            </p:cNvSpPr>
            <p:nvPr/>
          </p:nvSpPr>
          <p:spPr bwMode="auto">
            <a:xfrm>
              <a:off x="912" y="98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5874" name="Text Box 34"/>
            <p:cNvSpPr txBox="1">
              <a:spLocks noChangeArrowheads="1"/>
            </p:cNvSpPr>
            <p:nvPr/>
          </p:nvSpPr>
          <p:spPr bwMode="auto">
            <a:xfrm>
              <a:off x="1968"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a:t>
              </a:r>
            </a:p>
          </p:txBody>
        </p:sp>
        <p:sp>
          <p:nvSpPr>
            <p:cNvPr id="35875" name="Text Box 35"/>
            <p:cNvSpPr txBox="1">
              <a:spLocks noChangeArrowheads="1"/>
            </p:cNvSpPr>
            <p:nvPr/>
          </p:nvSpPr>
          <p:spPr bwMode="auto">
            <a:xfrm>
              <a:off x="3120"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a:t>
              </a:r>
            </a:p>
          </p:txBody>
        </p:sp>
        <p:sp>
          <p:nvSpPr>
            <p:cNvPr id="35876" name="Text Box 36"/>
            <p:cNvSpPr txBox="1">
              <a:spLocks noChangeArrowheads="1"/>
            </p:cNvSpPr>
            <p:nvPr/>
          </p:nvSpPr>
          <p:spPr bwMode="auto">
            <a:xfrm>
              <a:off x="4320" y="98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a:t>
              </a:r>
            </a:p>
          </p:txBody>
        </p:sp>
        <p:sp>
          <p:nvSpPr>
            <p:cNvPr id="35877" name="Text Box 37"/>
            <p:cNvSpPr txBox="1">
              <a:spLocks noChangeArrowheads="1"/>
            </p:cNvSpPr>
            <p:nvPr/>
          </p:nvSpPr>
          <p:spPr bwMode="auto">
            <a:xfrm>
              <a:off x="1056" y="14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5878" name="Text Box 38"/>
            <p:cNvSpPr txBox="1">
              <a:spLocks noChangeArrowheads="1"/>
            </p:cNvSpPr>
            <p:nvPr/>
          </p:nvSpPr>
          <p:spPr bwMode="auto">
            <a:xfrm>
              <a:off x="2256" y="14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a:t>
              </a:r>
            </a:p>
          </p:txBody>
        </p:sp>
        <p:sp>
          <p:nvSpPr>
            <p:cNvPr id="35879" name="Text Box 39"/>
            <p:cNvSpPr txBox="1">
              <a:spLocks noChangeArrowheads="1"/>
            </p:cNvSpPr>
            <p:nvPr/>
          </p:nvSpPr>
          <p:spPr bwMode="auto">
            <a:xfrm>
              <a:off x="3504"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a:t>
              </a:r>
            </a:p>
          </p:txBody>
        </p:sp>
        <p:sp>
          <p:nvSpPr>
            <p:cNvPr id="35880" name="Text Box 40"/>
            <p:cNvSpPr txBox="1">
              <a:spLocks noChangeArrowheads="1"/>
            </p:cNvSpPr>
            <p:nvPr/>
          </p:nvSpPr>
          <p:spPr bwMode="auto">
            <a:xfrm>
              <a:off x="4656"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5881" name="Line 41"/>
            <p:cNvSpPr>
              <a:spLocks noChangeShapeType="1"/>
            </p:cNvSpPr>
            <p:nvPr/>
          </p:nvSpPr>
          <p:spPr bwMode="auto">
            <a:xfrm flipH="1">
              <a:off x="1008" y="840"/>
              <a:ext cx="43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2" name="Line 42"/>
            <p:cNvSpPr>
              <a:spLocks noChangeShapeType="1"/>
            </p:cNvSpPr>
            <p:nvPr/>
          </p:nvSpPr>
          <p:spPr bwMode="auto">
            <a:xfrm>
              <a:off x="1680" y="888"/>
              <a:ext cx="38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3" name="Line 43"/>
            <p:cNvSpPr>
              <a:spLocks noChangeShapeType="1"/>
            </p:cNvSpPr>
            <p:nvPr/>
          </p:nvSpPr>
          <p:spPr bwMode="auto">
            <a:xfrm flipH="1">
              <a:off x="3264" y="792"/>
              <a:ext cx="43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4" name="Line 44"/>
            <p:cNvSpPr>
              <a:spLocks noChangeShapeType="1"/>
            </p:cNvSpPr>
            <p:nvPr/>
          </p:nvSpPr>
          <p:spPr bwMode="auto">
            <a:xfrm>
              <a:off x="3936" y="840"/>
              <a:ext cx="52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5" name="Line 45"/>
            <p:cNvSpPr>
              <a:spLocks noChangeShapeType="1"/>
            </p:cNvSpPr>
            <p:nvPr/>
          </p:nvSpPr>
          <p:spPr bwMode="auto">
            <a:xfrm flipH="1">
              <a:off x="624" y="117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6" name="Line 46"/>
            <p:cNvSpPr>
              <a:spLocks noChangeShapeType="1"/>
            </p:cNvSpPr>
            <p:nvPr/>
          </p:nvSpPr>
          <p:spPr bwMode="auto">
            <a:xfrm>
              <a:off x="1008" y="122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7" name="Line 47"/>
            <p:cNvSpPr>
              <a:spLocks noChangeShapeType="1"/>
            </p:cNvSpPr>
            <p:nvPr/>
          </p:nvSpPr>
          <p:spPr bwMode="auto">
            <a:xfrm flipH="1">
              <a:off x="1776" y="122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8" name="Line 48"/>
            <p:cNvSpPr>
              <a:spLocks noChangeShapeType="1"/>
            </p:cNvSpPr>
            <p:nvPr/>
          </p:nvSpPr>
          <p:spPr bwMode="auto">
            <a:xfrm>
              <a:off x="2112" y="1224"/>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89" name="Line 49"/>
            <p:cNvSpPr>
              <a:spLocks noChangeShapeType="1"/>
            </p:cNvSpPr>
            <p:nvPr/>
          </p:nvSpPr>
          <p:spPr bwMode="auto">
            <a:xfrm flipH="1">
              <a:off x="3024" y="1224"/>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0" name="Line 50"/>
            <p:cNvSpPr>
              <a:spLocks noChangeShapeType="1"/>
            </p:cNvSpPr>
            <p:nvPr/>
          </p:nvSpPr>
          <p:spPr bwMode="auto">
            <a:xfrm>
              <a:off x="3264"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1" name="Line 51"/>
            <p:cNvSpPr>
              <a:spLocks noChangeShapeType="1"/>
            </p:cNvSpPr>
            <p:nvPr/>
          </p:nvSpPr>
          <p:spPr bwMode="auto">
            <a:xfrm flipH="1">
              <a:off x="4080"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2" name="Line 52"/>
            <p:cNvSpPr>
              <a:spLocks noChangeShapeType="1"/>
            </p:cNvSpPr>
            <p:nvPr/>
          </p:nvSpPr>
          <p:spPr bwMode="auto">
            <a:xfrm>
              <a:off x="4512" y="1224"/>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3" name="Line 53"/>
            <p:cNvSpPr>
              <a:spLocks noChangeShapeType="1"/>
            </p:cNvSpPr>
            <p:nvPr/>
          </p:nvSpPr>
          <p:spPr bwMode="auto">
            <a:xfrm flipH="1">
              <a:off x="864" y="165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4" name="Line 54"/>
            <p:cNvSpPr>
              <a:spLocks noChangeShapeType="1"/>
            </p:cNvSpPr>
            <p:nvPr/>
          </p:nvSpPr>
          <p:spPr bwMode="auto">
            <a:xfrm>
              <a:off x="1200" y="1656"/>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5" name="Line 55"/>
            <p:cNvSpPr>
              <a:spLocks noChangeShapeType="1"/>
            </p:cNvSpPr>
            <p:nvPr/>
          </p:nvSpPr>
          <p:spPr bwMode="auto">
            <a:xfrm flipH="1">
              <a:off x="2016" y="170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6" name="Line 56"/>
            <p:cNvSpPr>
              <a:spLocks noChangeShapeType="1"/>
            </p:cNvSpPr>
            <p:nvPr/>
          </p:nvSpPr>
          <p:spPr bwMode="auto">
            <a:xfrm>
              <a:off x="2400" y="170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7" name="Line 57"/>
            <p:cNvSpPr>
              <a:spLocks noChangeShapeType="1"/>
            </p:cNvSpPr>
            <p:nvPr/>
          </p:nvSpPr>
          <p:spPr bwMode="auto">
            <a:xfrm flipH="1">
              <a:off x="3216" y="1704"/>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8" name="Line 58"/>
            <p:cNvSpPr>
              <a:spLocks noChangeShapeType="1"/>
            </p:cNvSpPr>
            <p:nvPr/>
          </p:nvSpPr>
          <p:spPr bwMode="auto">
            <a:xfrm>
              <a:off x="3648"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99" name="Line 59"/>
            <p:cNvSpPr>
              <a:spLocks noChangeShapeType="1"/>
            </p:cNvSpPr>
            <p:nvPr/>
          </p:nvSpPr>
          <p:spPr bwMode="auto">
            <a:xfrm flipH="1">
              <a:off x="4512"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0" name="Line 60"/>
            <p:cNvSpPr>
              <a:spLocks noChangeShapeType="1"/>
            </p:cNvSpPr>
            <p:nvPr/>
          </p:nvSpPr>
          <p:spPr bwMode="auto">
            <a:xfrm>
              <a:off x="4848" y="1704"/>
              <a:ext cx="38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1" name="Line 61"/>
            <p:cNvSpPr>
              <a:spLocks noChangeShapeType="1"/>
            </p:cNvSpPr>
            <p:nvPr/>
          </p:nvSpPr>
          <p:spPr bwMode="auto">
            <a:xfrm>
              <a:off x="2880" y="504"/>
              <a:ext cx="225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2" name="Line 62"/>
            <p:cNvSpPr>
              <a:spLocks noChangeShapeType="1"/>
            </p:cNvSpPr>
            <p:nvPr/>
          </p:nvSpPr>
          <p:spPr bwMode="auto">
            <a:xfrm>
              <a:off x="3984" y="744"/>
              <a:ext cx="115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3" name="Line 63"/>
            <p:cNvSpPr>
              <a:spLocks noChangeShapeType="1"/>
            </p:cNvSpPr>
            <p:nvPr/>
          </p:nvSpPr>
          <p:spPr bwMode="auto">
            <a:xfrm>
              <a:off x="4944" y="1560"/>
              <a:ext cx="288"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904" name="Text Box 64"/>
            <p:cNvSpPr txBox="1">
              <a:spLocks noChangeArrowheads="1"/>
            </p:cNvSpPr>
            <p:nvPr/>
          </p:nvSpPr>
          <p:spPr bwMode="auto">
            <a:xfrm>
              <a:off x="5136" y="3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5905" name="Text Box 65"/>
            <p:cNvSpPr txBox="1">
              <a:spLocks noChangeArrowheads="1"/>
            </p:cNvSpPr>
            <p:nvPr/>
          </p:nvSpPr>
          <p:spPr bwMode="auto">
            <a:xfrm>
              <a:off x="5136"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5906" name="Text Box 66"/>
            <p:cNvSpPr txBox="1">
              <a:spLocks noChangeArrowheads="1"/>
            </p:cNvSpPr>
            <p:nvPr/>
          </p:nvSpPr>
          <p:spPr bwMode="auto">
            <a:xfrm>
              <a:off x="5136" y="14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h</a:t>
              </a:r>
            </a:p>
          </p:txBody>
        </p:sp>
        <p:sp>
          <p:nvSpPr>
            <p:cNvPr id="35907" name="Text Box 67"/>
            <p:cNvSpPr txBox="1">
              <a:spLocks noChangeArrowheads="1"/>
            </p:cNvSpPr>
            <p:nvPr/>
          </p:nvSpPr>
          <p:spPr bwMode="auto">
            <a:xfrm>
              <a:off x="4896" y="21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外结点</a:t>
              </a:r>
            </a:p>
          </p:txBody>
        </p:sp>
        <p:sp>
          <p:nvSpPr>
            <p:cNvPr id="35908" name="Text Box 68"/>
            <p:cNvSpPr txBox="1">
              <a:spLocks noChangeArrowheads="1"/>
            </p:cNvSpPr>
            <p:nvPr/>
          </p:nvSpPr>
          <p:spPr bwMode="auto">
            <a:xfrm>
              <a:off x="4560" y="9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内结点</a:t>
              </a:r>
              <a:endParaRPr lang="zh-CN" altLang="en-US" sz="2000">
                <a:solidFill>
                  <a:schemeClr val="accent1"/>
                </a:solidFill>
                <a:ea typeface="宋体" panose="02010600030101010101" pitchFamily="2" charset="-122"/>
              </a:endParaRPr>
            </a:p>
          </p:txBody>
        </p:sp>
        <p:sp>
          <p:nvSpPr>
            <p:cNvPr id="35909" name="Text Box 69"/>
            <p:cNvSpPr txBox="1">
              <a:spLocks noChangeArrowheads="1"/>
            </p:cNvSpPr>
            <p:nvPr/>
          </p:nvSpPr>
          <p:spPr bwMode="auto">
            <a:xfrm>
              <a:off x="2928" y="5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&gt;</a:t>
              </a:r>
              <a:endParaRPr lang="en-US" altLang="zh-CN" sz="2400">
                <a:ea typeface="宋体" panose="02010600030101010101" pitchFamily="2" charset="-122"/>
              </a:endParaRPr>
            </a:p>
          </p:txBody>
        </p:sp>
        <p:sp>
          <p:nvSpPr>
            <p:cNvPr id="35910" name="Text Box 70"/>
            <p:cNvSpPr txBox="1">
              <a:spLocks noChangeArrowheads="1"/>
            </p:cNvSpPr>
            <p:nvPr/>
          </p:nvSpPr>
          <p:spPr bwMode="auto">
            <a:xfrm>
              <a:off x="2160" y="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&lt;</a:t>
              </a:r>
            </a:p>
          </p:txBody>
        </p:sp>
        <p:sp>
          <p:nvSpPr>
            <p:cNvPr id="35911" name="Text Box 71"/>
            <p:cNvSpPr txBox="1">
              <a:spLocks noChangeArrowheads="1"/>
            </p:cNvSpPr>
            <p:nvPr/>
          </p:nvSpPr>
          <p:spPr bwMode="auto">
            <a:xfrm>
              <a:off x="2592"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a:t>
              </a:r>
            </a:p>
          </p:txBody>
        </p:sp>
      </p:grpSp>
      <p:sp>
        <p:nvSpPr>
          <p:cNvPr id="35843" name="Rectangle 72"/>
          <p:cNvSpPr>
            <a:spLocks noChangeArrowheads="1"/>
          </p:cNvSpPr>
          <p:nvPr/>
        </p:nvSpPr>
        <p:spPr bwMode="auto">
          <a:xfrm>
            <a:off x="406400" y="4748759"/>
            <a:ext cx="8134350" cy="1384995"/>
          </a:xfrm>
          <a:prstGeom prst="rect">
            <a:avLst/>
          </a:prstGeom>
          <a:noFill/>
          <a:ln w="38100">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dirty="0"/>
              <a:t>ASL</a:t>
            </a:r>
            <a:r>
              <a:rPr lang="zh-CN" altLang="en-US" dirty="0"/>
              <a:t>＝</a:t>
            </a:r>
            <a:r>
              <a:rPr lang="en-US" altLang="zh-CN" dirty="0"/>
              <a:t>1/11*(</a:t>
            </a:r>
            <a:r>
              <a:rPr lang="en-US" altLang="zh-CN" dirty="0">
                <a:solidFill>
                  <a:srgbClr val="FF3300"/>
                </a:solidFill>
              </a:rPr>
              <a:t>1</a:t>
            </a:r>
            <a:r>
              <a:rPr lang="en-US" altLang="zh-CN" dirty="0"/>
              <a:t>*1</a:t>
            </a:r>
            <a:r>
              <a:rPr lang="zh-CN" altLang="en-US" dirty="0"/>
              <a:t>＋</a:t>
            </a:r>
            <a:r>
              <a:rPr lang="en-US" altLang="zh-CN" dirty="0">
                <a:solidFill>
                  <a:srgbClr val="FF3300"/>
                </a:solidFill>
              </a:rPr>
              <a:t>2</a:t>
            </a:r>
            <a:r>
              <a:rPr lang="en-US" altLang="zh-CN" dirty="0"/>
              <a:t>×2</a:t>
            </a:r>
            <a:r>
              <a:rPr lang="zh-CN" altLang="en-US" dirty="0"/>
              <a:t>＋</a:t>
            </a:r>
            <a:r>
              <a:rPr lang="en-US" altLang="zh-CN" dirty="0">
                <a:solidFill>
                  <a:srgbClr val="FF3300"/>
                </a:solidFill>
              </a:rPr>
              <a:t>4</a:t>
            </a:r>
            <a:r>
              <a:rPr lang="en-US" altLang="zh-CN" dirty="0"/>
              <a:t>×3+</a:t>
            </a:r>
            <a:r>
              <a:rPr lang="en-US" altLang="zh-CN" dirty="0">
                <a:solidFill>
                  <a:srgbClr val="FF3300"/>
                </a:solidFill>
              </a:rPr>
              <a:t>4</a:t>
            </a:r>
            <a:r>
              <a:rPr lang="en-US" altLang="zh-CN" dirty="0"/>
              <a:t>*4 )</a:t>
            </a:r>
            <a:r>
              <a:rPr lang="zh-CN" altLang="en-US" dirty="0"/>
              <a:t>＝</a:t>
            </a:r>
            <a:r>
              <a:rPr lang="en-US" altLang="zh-CN" dirty="0"/>
              <a:t>33/11=3</a:t>
            </a:r>
          </a:p>
          <a:p>
            <a:pPr>
              <a:buFont typeface="Arial" panose="020B0604020202020204" pitchFamily="34" charset="0"/>
              <a:buNone/>
            </a:pPr>
            <a:r>
              <a:rPr lang="zh-CN" altLang="en-US" dirty="0">
                <a:highlight>
                  <a:srgbClr val="00FF00"/>
                </a:highlight>
              </a:rPr>
              <a:t>从根节点到叶节点</a:t>
            </a:r>
            <a:r>
              <a:rPr lang="en-US" altLang="zh-CN" dirty="0"/>
              <a:t>,</a:t>
            </a:r>
            <a:r>
              <a:rPr lang="zh-CN" altLang="en-US" dirty="0"/>
              <a:t>层从</a:t>
            </a:r>
            <a:r>
              <a:rPr lang="en-US" altLang="zh-CN" dirty="0"/>
              <a:t>1</a:t>
            </a:r>
            <a:r>
              <a:rPr lang="zh-CN" altLang="en-US" dirty="0"/>
              <a:t>到</a:t>
            </a:r>
            <a:r>
              <a:rPr lang="en-US" altLang="zh-CN" dirty="0"/>
              <a:t>4</a:t>
            </a:r>
          </a:p>
          <a:p>
            <a:pPr>
              <a:buFont typeface="Arial" panose="020B0604020202020204" pitchFamily="34" charset="0"/>
              <a:buNone/>
            </a:pPr>
            <a:r>
              <a:rPr lang="zh-CN" altLang="en-US" dirty="0">
                <a:highlight>
                  <a:srgbClr val="00FF00"/>
                </a:highlight>
              </a:rPr>
              <a:t>概率</a:t>
            </a:r>
            <a:r>
              <a:rPr lang="en-US" altLang="zh-CN" dirty="0">
                <a:highlight>
                  <a:srgbClr val="00FF00"/>
                </a:highlight>
              </a:rPr>
              <a:t>:p=1/n,</a:t>
            </a:r>
            <a:r>
              <a:rPr lang="zh-CN" altLang="en-US" dirty="0">
                <a:highlight>
                  <a:srgbClr val="00FF00"/>
                </a:highlight>
              </a:rPr>
              <a:t>值</a:t>
            </a:r>
            <a:r>
              <a:rPr lang="en-US" altLang="zh-CN" dirty="0">
                <a:highlight>
                  <a:srgbClr val="00FF00"/>
                </a:highlight>
              </a:rPr>
              <a:t>=Σ</a:t>
            </a:r>
            <a:r>
              <a:rPr lang="zh-CN" altLang="en-US" dirty="0">
                <a:highlight>
                  <a:srgbClr val="00FF00"/>
                </a:highlight>
              </a:rPr>
              <a:t>层数</a:t>
            </a:r>
            <a:r>
              <a:rPr lang="en-US" altLang="zh-CN" dirty="0">
                <a:highlight>
                  <a:srgbClr val="00FF00"/>
                </a:highlight>
              </a:rPr>
              <a:t>×</a:t>
            </a:r>
            <a:r>
              <a:rPr lang="zh-CN" altLang="en-US" dirty="0">
                <a:highlight>
                  <a:srgbClr val="00FF00"/>
                </a:highlight>
              </a:rPr>
              <a:t>层元素个数  </a:t>
            </a:r>
            <a:r>
              <a:rPr lang="en-US" altLang="zh-CN" dirty="0">
                <a:highlight>
                  <a:srgbClr val="00FF00"/>
                </a:highlight>
              </a:rPr>
              <a:t>ASL=</a:t>
            </a:r>
            <a:r>
              <a:rPr lang="zh-CN" altLang="en-US" dirty="0">
                <a:highlight>
                  <a:srgbClr val="00FF00"/>
                </a:highlight>
              </a:rPr>
              <a:t>值</a:t>
            </a:r>
            <a:r>
              <a:rPr lang="en-US" altLang="zh-CN" dirty="0">
                <a:highlight>
                  <a:srgbClr val="00FF00"/>
                </a:highlight>
              </a:rPr>
              <a:t>×</a:t>
            </a:r>
            <a:r>
              <a:rPr lang="zh-CN" altLang="en-US" dirty="0">
                <a:highlight>
                  <a:srgbClr val="00FF00"/>
                </a:highlight>
              </a:rPr>
              <a:t>概率</a:t>
            </a:r>
            <a:endParaRPr lang="en-US" altLang="zh-CN" dirty="0">
              <a:highlight>
                <a:srgbClr val="00FF00"/>
              </a:highlight>
            </a:endParaRPr>
          </a:p>
        </p:txBody>
      </p:sp>
      <p:sp>
        <p:nvSpPr>
          <p:cNvPr id="35844" name="Rectangle 73"/>
          <p:cNvSpPr>
            <a:spLocks noChangeArrowheads="1"/>
          </p:cNvSpPr>
          <p:nvPr/>
        </p:nvSpPr>
        <p:spPr bwMode="auto">
          <a:xfrm>
            <a:off x="0" y="830362"/>
            <a:ext cx="8159750" cy="58896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solidFill>
                  <a:srgbClr val="FF33CC"/>
                </a:solidFill>
                <a:latin typeface="楷体_GB2312"/>
              </a:rPr>
              <a:t>练习</a:t>
            </a:r>
            <a:r>
              <a:rPr lang="en-US" altLang="zh-CN" sz="2400" dirty="0">
                <a:solidFill>
                  <a:srgbClr val="FF33CC"/>
                </a:solidFill>
                <a:latin typeface="楷体_GB2312"/>
              </a:rPr>
              <a:t>:</a:t>
            </a:r>
            <a:r>
              <a:rPr lang="zh-CN" altLang="en-US" sz="2000" dirty="0"/>
              <a:t>假定每个元素的查找概率相等，求查找成功时的平均查找长度。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7" name="Text Box 5"/>
          <p:cNvSpPr txBox="1">
            <a:spLocks noChangeArrowheads="1"/>
          </p:cNvSpPr>
          <p:nvPr/>
        </p:nvSpPr>
        <p:spPr bwMode="auto">
          <a:xfrm>
            <a:off x="304800" y="3644900"/>
            <a:ext cx="88392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400" dirty="0">
                <a:solidFill>
                  <a:schemeClr val="tx2"/>
                </a:solidFill>
                <a:latin typeface="楷体_GB2312"/>
              </a:rPr>
              <a:t>查找成功时</a:t>
            </a:r>
            <a:r>
              <a:rPr lang="zh-CN" altLang="en-US" sz="2400" dirty="0">
                <a:latin typeface="楷体_GB2312"/>
              </a:rPr>
              <a:t>比较次数</a:t>
            </a:r>
            <a:r>
              <a:rPr lang="zh-CN" altLang="en-US" sz="2400" dirty="0">
                <a:solidFill>
                  <a:schemeClr val="tx2"/>
                </a:solidFill>
                <a:latin typeface="楷体_GB2312"/>
              </a:rPr>
              <a:t>：</a:t>
            </a:r>
            <a:r>
              <a:rPr lang="zh-CN" altLang="en-US" sz="2400" dirty="0">
                <a:latin typeface="楷体_GB2312"/>
              </a:rPr>
              <a:t>为该结点在判定树上的层次数，</a:t>
            </a:r>
            <a:r>
              <a:rPr lang="zh-CN" altLang="en-US" sz="2400" dirty="0">
                <a:highlight>
                  <a:srgbClr val="00FF00"/>
                </a:highlight>
                <a:latin typeface="楷体_GB2312"/>
              </a:rPr>
              <a:t>不超过树的深度  </a:t>
            </a:r>
            <a:r>
              <a:rPr lang="en-US" altLang="zh-CN" sz="2400" dirty="0">
                <a:solidFill>
                  <a:srgbClr val="FF3300"/>
                </a:solidFill>
                <a:highlight>
                  <a:srgbClr val="00FF00"/>
                </a:highlight>
                <a:latin typeface="楷体_GB2312"/>
              </a:rPr>
              <a:t>d = </a:t>
            </a:r>
            <a:r>
              <a:rPr lang="en-US" altLang="zh-CN" sz="2400" dirty="0">
                <a:solidFill>
                  <a:srgbClr val="FF3300"/>
                </a:solidFill>
                <a:highlight>
                  <a:srgbClr val="00FF00"/>
                </a:highlight>
                <a:latin typeface="楷体_GB2312"/>
                <a:sym typeface="Symbol" panose="05050102010706020507" pitchFamily="18" charset="2"/>
              </a:rPr>
              <a:t> </a:t>
            </a:r>
            <a:r>
              <a:rPr lang="en-US" altLang="zh-CN" sz="2400" dirty="0">
                <a:solidFill>
                  <a:srgbClr val="FF3300"/>
                </a:solidFill>
                <a:highlight>
                  <a:srgbClr val="00FF00"/>
                </a:highlight>
                <a:latin typeface="楷体_GB2312"/>
              </a:rPr>
              <a:t>log</a:t>
            </a:r>
            <a:r>
              <a:rPr lang="en-US" altLang="zh-CN" sz="2400" baseline="-25000" dirty="0">
                <a:solidFill>
                  <a:srgbClr val="FF3300"/>
                </a:solidFill>
                <a:highlight>
                  <a:srgbClr val="00FF00"/>
                </a:highlight>
                <a:latin typeface="楷体_GB2312"/>
              </a:rPr>
              <a:t>2 </a:t>
            </a:r>
            <a:r>
              <a:rPr lang="en-US" altLang="zh-CN" sz="2400" dirty="0">
                <a:solidFill>
                  <a:srgbClr val="FF3300"/>
                </a:solidFill>
                <a:highlight>
                  <a:srgbClr val="00FF00"/>
                </a:highlight>
                <a:latin typeface="楷体_GB2312"/>
              </a:rPr>
              <a:t>n  </a:t>
            </a:r>
            <a:r>
              <a:rPr lang="en-US" altLang="zh-CN" sz="2400" dirty="0">
                <a:solidFill>
                  <a:srgbClr val="FF3300"/>
                </a:solidFill>
                <a:highlight>
                  <a:srgbClr val="00FF00"/>
                </a:highlight>
                <a:latin typeface="楷体_GB2312"/>
                <a:sym typeface="Symbol" panose="05050102010706020507" pitchFamily="18" charset="2"/>
              </a:rPr>
              <a:t> + 1</a:t>
            </a:r>
          </a:p>
          <a:p>
            <a:pPr eaLnBrk="1" hangingPunct="1">
              <a:spcBef>
                <a:spcPct val="50000"/>
              </a:spcBef>
              <a:buFont typeface="Arial" panose="020B0604020202020204" pitchFamily="34" charset="0"/>
              <a:buNone/>
            </a:pPr>
            <a:r>
              <a:rPr lang="zh-CN" altLang="en-US" sz="2400" dirty="0">
                <a:solidFill>
                  <a:schemeClr val="tx2"/>
                </a:solidFill>
                <a:latin typeface="楷体_GB2312"/>
              </a:rPr>
              <a:t>查找不成功的过程</a:t>
            </a:r>
            <a:r>
              <a:rPr lang="zh-CN" altLang="en-US" sz="2400" dirty="0">
                <a:latin typeface="楷体_GB2312"/>
              </a:rPr>
              <a:t>就是走了一条从根结点到外部结点的路径</a:t>
            </a:r>
            <a:r>
              <a:rPr lang="en-US" altLang="zh-CN" sz="2400" dirty="0">
                <a:latin typeface="楷体_GB2312"/>
              </a:rPr>
              <a:t>d</a:t>
            </a:r>
            <a:r>
              <a:rPr lang="zh-CN" altLang="en-US" sz="2400" dirty="0">
                <a:latin typeface="楷体_GB2312"/>
              </a:rPr>
              <a:t>或</a:t>
            </a:r>
            <a:r>
              <a:rPr lang="en-US" altLang="zh-CN" sz="2400" dirty="0">
                <a:latin typeface="楷体_GB2312"/>
              </a:rPr>
              <a:t>d-1</a:t>
            </a:r>
            <a:r>
              <a:rPr lang="zh-CN" altLang="en-US" sz="2400" dirty="0">
                <a:latin typeface="楷体_GB2312"/>
              </a:rPr>
              <a:t>。</a:t>
            </a:r>
          </a:p>
        </p:txBody>
      </p:sp>
      <p:sp>
        <p:nvSpPr>
          <p:cNvPr id="36867" name="Rectangle 6"/>
          <p:cNvSpPr>
            <a:spLocks noChangeArrowheads="1"/>
          </p:cNvSpPr>
          <p:nvPr/>
        </p:nvSpPr>
        <p:spPr bwMode="auto">
          <a:xfrm>
            <a:off x="0" y="0"/>
            <a:ext cx="9144000" cy="692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grpSp>
        <p:nvGrpSpPr>
          <p:cNvPr id="36868" name="Group 7"/>
          <p:cNvGrpSpPr>
            <a:grpSpLocks/>
          </p:cNvGrpSpPr>
          <p:nvPr/>
        </p:nvGrpSpPr>
        <p:grpSpPr bwMode="auto">
          <a:xfrm>
            <a:off x="609600" y="76200"/>
            <a:ext cx="8001000" cy="3292475"/>
            <a:chOff x="480" y="360"/>
            <a:chExt cx="5040" cy="2074"/>
          </a:xfrm>
        </p:grpSpPr>
        <p:sp>
          <p:nvSpPr>
            <p:cNvPr id="36869" name="Oval 8"/>
            <p:cNvSpPr>
              <a:spLocks noChangeArrowheads="1"/>
            </p:cNvSpPr>
            <p:nvPr/>
          </p:nvSpPr>
          <p:spPr bwMode="auto">
            <a:xfrm>
              <a:off x="2544" y="408"/>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0" name="Oval 9"/>
            <p:cNvSpPr>
              <a:spLocks noChangeArrowheads="1"/>
            </p:cNvSpPr>
            <p:nvPr/>
          </p:nvSpPr>
          <p:spPr bwMode="auto">
            <a:xfrm>
              <a:off x="1440"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1" name="Oval 10"/>
            <p:cNvSpPr>
              <a:spLocks noChangeArrowheads="1"/>
            </p:cNvSpPr>
            <p:nvPr/>
          </p:nvSpPr>
          <p:spPr bwMode="auto">
            <a:xfrm>
              <a:off x="3696" y="69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2" name="Oval 11"/>
            <p:cNvSpPr>
              <a:spLocks noChangeArrowheads="1"/>
            </p:cNvSpPr>
            <p:nvPr/>
          </p:nvSpPr>
          <p:spPr bwMode="auto">
            <a:xfrm>
              <a:off x="864"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3" name="Oval 12"/>
            <p:cNvSpPr>
              <a:spLocks noChangeArrowheads="1"/>
            </p:cNvSpPr>
            <p:nvPr/>
          </p:nvSpPr>
          <p:spPr bwMode="auto">
            <a:xfrm>
              <a:off x="19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4" name="Oval 13"/>
            <p:cNvSpPr>
              <a:spLocks noChangeArrowheads="1"/>
            </p:cNvSpPr>
            <p:nvPr/>
          </p:nvSpPr>
          <p:spPr bwMode="auto">
            <a:xfrm>
              <a:off x="3120"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5" name="Oval 14"/>
            <p:cNvSpPr>
              <a:spLocks noChangeArrowheads="1"/>
            </p:cNvSpPr>
            <p:nvPr/>
          </p:nvSpPr>
          <p:spPr bwMode="auto">
            <a:xfrm>
              <a:off x="4368" y="98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6" name="Text Box 15"/>
            <p:cNvSpPr txBox="1">
              <a:spLocks noChangeArrowheads="1"/>
            </p:cNvSpPr>
            <p:nvPr/>
          </p:nvSpPr>
          <p:spPr bwMode="auto">
            <a:xfrm>
              <a:off x="480" y="141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  -1</a:t>
              </a:r>
            </a:p>
          </p:txBody>
        </p:sp>
        <p:sp>
          <p:nvSpPr>
            <p:cNvPr id="36877" name="Oval 16"/>
            <p:cNvSpPr>
              <a:spLocks noChangeArrowheads="1"/>
            </p:cNvSpPr>
            <p:nvPr/>
          </p:nvSpPr>
          <p:spPr bwMode="auto">
            <a:xfrm>
              <a:off x="1056" y="1416"/>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78" name="Text Box 17"/>
            <p:cNvSpPr txBox="1">
              <a:spLocks noChangeArrowheads="1"/>
            </p:cNvSpPr>
            <p:nvPr/>
          </p:nvSpPr>
          <p:spPr bwMode="auto">
            <a:xfrm>
              <a:off x="1536" y="141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3-4</a:t>
              </a:r>
            </a:p>
          </p:txBody>
        </p:sp>
        <p:sp>
          <p:nvSpPr>
            <p:cNvPr id="36879" name="Oval 18"/>
            <p:cNvSpPr>
              <a:spLocks noChangeArrowheads="1"/>
            </p:cNvSpPr>
            <p:nvPr/>
          </p:nvSpPr>
          <p:spPr bwMode="auto">
            <a:xfrm>
              <a:off x="2256"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80" name="Text Box 19"/>
            <p:cNvSpPr txBox="1">
              <a:spLocks noChangeArrowheads="1"/>
            </p:cNvSpPr>
            <p:nvPr/>
          </p:nvSpPr>
          <p:spPr bwMode="auto">
            <a:xfrm>
              <a:off x="2784"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6-7</a:t>
              </a:r>
            </a:p>
          </p:txBody>
        </p:sp>
        <p:sp>
          <p:nvSpPr>
            <p:cNvPr id="36881" name="Oval 20"/>
            <p:cNvSpPr>
              <a:spLocks noChangeArrowheads="1"/>
            </p:cNvSpPr>
            <p:nvPr/>
          </p:nvSpPr>
          <p:spPr bwMode="auto">
            <a:xfrm>
              <a:off x="35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82" name="Text Box 21"/>
            <p:cNvSpPr txBox="1">
              <a:spLocks noChangeArrowheads="1"/>
            </p:cNvSpPr>
            <p:nvPr/>
          </p:nvSpPr>
          <p:spPr bwMode="auto">
            <a:xfrm>
              <a:off x="3888" y="1464"/>
              <a:ext cx="480"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9-10</a:t>
              </a:r>
            </a:p>
          </p:txBody>
        </p:sp>
        <p:sp>
          <p:nvSpPr>
            <p:cNvPr id="36883" name="Oval 22"/>
            <p:cNvSpPr>
              <a:spLocks noChangeArrowheads="1"/>
            </p:cNvSpPr>
            <p:nvPr/>
          </p:nvSpPr>
          <p:spPr bwMode="auto">
            <a:xfrm>
              <a:off x="4704" y="1464"/>
              <a:ext cx="240"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36884" name="Text Box 23"/>
            <p:cNvSpPr txBox="1">
              <a:spLocks noChangeArrowheads="1"/>
            </p:cNvSpPr>
            <p:nvPr/>
          </p:nvSpPr>
          <p:spPr bwMode="auto">
            <a:xfrm>
              <a:off x="576"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1-2</a:t>
              </a:r>
            </a:p>
          </p:txBody>
        </p:sp>
        <p:sp>
          <p:nvSpPr>
            <p:cNvPr id="36885" name="Text Box 24"/>
            <p:cNvSpPr txBox="1">
              <a:spLocks noChangeArrowheads="1"/>
            </p:cNvSpPr>
            <p:nvPr/>
          </p:nvSpPr>
          <p:spPr bwMode="auto">
            <a:xfrm>
              <a:off x="1152" y="1896"/>
              <a:ext cx="38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2-3</a:t>
              </a:r>
            </a:p>
          </p:txBody>
        </p:sp>
        <p:sp>
          <p:nvSpPr>
            <p:cNvPr id="36886" name="Text Box 25"/>
            <p:cNvSpPr txBox="1">
              <a:spLocks noChangeArrowheads="1"/>
            </p:cNvSpPr>
            <p:nvPr/>
          </p:nvSpPr>
          <p:spPr bwMode="auto">
            <a:xfrm>
              <a:off x="18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4-5</a:t>
              </a:r>
            </a:p>
          </p:txBody>
        </p:sp>
        <p:sp>
          <p:nvSpPr>
            <p:cNvPr id="36887" name="Text Box 26"/>
            <p:cNvSpPr txBox="1">
              <a:spLocks noChangeArrowheads="1"/>
            </p:cNvSpPr>
            <p:nvPr/>
          </p:nvSpPr>
          <p:spPr bwMode="auto">
            <a:xfrm>
              <a:off x="235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5-6</a:t>
              </a:r>
            </a:p>
          </p:txBody>
        </p:sp>
        <p:sp>
          <p:nvSpPr>
            <p:cNvPr id="36888" name="Text Box 27"/>
            <p:cNvSpPr txBox="1">
              <a:spLocks noChangeArrowheads="1"/>
            </p:cNvSpPr>
            <p:nvPr/>
          </p:nvSpPr>
          <p:spPr bwMode="auto">
            <a:xfrm>
              <a:off x="3024"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7-8</a:t>
              </a:r>
            </a:p>
          </p:txBody>
        </p:sp>
        <p:sp>
          <p:nvSpPr>
            <p:cNvPr id="36889" name="Text Box 28"/>
            <p:cNvSpPr txBox="1">
              <a:spLocks noChangeArrowheads="1"/>
            </p:cNvSpPr>
            <p:nvPr/>
          </p:nvSpPr>
          <p:spPr bwMode="auto">
            <a:xfrm>
              <a:off x="3648"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8-9</a:t>
              </a:r>
            </a:p>
          </p:txBody>
        </p:sp>
        <p:sp>
          <p:nvSpPr>
            <p:cNvPr id="36890" name="Text Box 29"/>
            <p:cNvSpPr txBox="1">
              <a:spLocks noChangeArrowheads="1"/>
            </p:cNvSpPr>
            <p:nvPr/>
          </p:nvSpPr>
          <p:spPr bwMode="auto">
            <a:xfrm>
              <a:off x="4224" y="1896"/>
              <a:ext cx="624"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10-11</a:t>
              </a:r>
            </a:p>
          </p:txBody>
        </p:sp>
        <p:sp>
          <p:nvSpPr>
            <p:cNvPr id="36891" name="Text Box 30"/>
            <p:cNvSpPr txBox="1">
              <a:spLocks noChangeArrowheads="1"/>
            </p:cNvSpPr>
            <p:nvPr/>
          </p:nvSpPr>
          <p:spPr bwMode="auto">
            <a:xfrm>
              <a:off x="4992" y="1896"/>
              <a:ext cx="43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6892" name="Line 31"/>
            <p:cNvSpPr>
              <a:spLocks noChangeShapeType="1"/>
            </p:cNvSpPr>
            <p:nvPr/>
          </p:nvSpPr>
          <p:spPr bwMode="auto">
            <a:xfrm flipH="1">
              <a:off x="1680" y="552"/>
              <a:ext cx="86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3" name="Line 32"/>
            <p:cNvSpPr>
              <a:spLocks noChangeShapeType="1"/>
            </p:cNvSpPr>
            <p:nvPr/>
          </p:nvSpPr>
          <p:spPr bwMode="auto">
            <a:xfrm>
              <a:off x="2784" y="552"/>
              <a:ext cx="91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94" name="Text Box 33"/>
            <p:cNvSpPr txBox="1">
              <a:spLocks noChangeArrowheads="1"/>
            </p:cNvSpPr>
            <p:nvPr/>
          </p:nvSpPr>
          <p:spPr bwMode="auto">
            <a:xfrm>
              <a:off x="2544" y="408"/>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6</a:t>
              </a:r>
            </a:p>
          </p:txBody>
        </p:sp>
        <p:sp>
          <p:nvSpPr>
            <p:cNvPr id="36895" name="Text Box 34"/>
            <p:cNvSpPr txBox="1">
              <a:spLocks noChangeArrowheads="1"/>
            </p:cNvSpPr>
            <p:nvPr/>
          </p:nvSpPr>
          <p:spPr bwMode="auto">
            <a:xfrm>
              <a:off x="1440" y="6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3</a:t>
              </a:r>
            </a:p>
          </p:txBody>
        </p:sp>
        <p:sp>
          <p:nvSpPr>
            <p:cNvPr id="36896" name="Text Box 35"/>
            <p:cNvSpPr txBox="1">
              <a:spLocks noChangeArrowheads="1"/>
            </p:cNvSpPr>
            <p:nvPr/>
          </p:nvSpPr>
          <p:spPr bwMode="auto">
            <a:xfrm>
              <a:off x="3744" y="69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9</a:t>
              </a:r>
            </a:p>
          </p:txBody>
        </p:sp>
        <p:sp>
          <p:nvSpPr>
            <p:cNvPr id="36897" name="Text Box 36"/>
            <p:cNvSpPr txBox="1">
              <a:spLocks noChangeArrowheads="1"/>
            </p:cNvSpPr>
            <p:nvPr/>
          </p:nvSpPr>
          <p:spPr bwMode="auto">
            <a:xfrm>
              <a:off x="912" y="98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6898" name="Text Box 37"/>
            <p:cNvSpPr txBox="1">
              <a:spLocks noChangeArrowheads="1"/>
            </p:cNvSpPr>
            <p:nvPr/>
          </p:nvSpPr>
          <p:spPr bwMode="auto">
            <a:xfrm>
              <a:off x="1968"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4</a:t>
              </a:r>
            </a:p>
          </p:txBody>
        </p:sp>
        <p:sp>
          <p:nvSpPr>
            <p:cNvPr id="36899" name="Text Box 38"/>
            <p:cNvSpPr txBox="1">
              <a:spLocks noChangeArrowheads="1"/>
            </p:cNvSpPr>
            <p:nvPr/>
          </p:nvSpPr>
          <p:spPr bwMode="auto">
            <a:xfrm>
              <a:off x="3120" y="9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7</a:t>
              </a:r>
            </a:p>
          </p:txBody>
        </p:sp>
        <p:sp>
          <p:nvSpPr>
            <p:cNvPr id="36900" name="Text Box 39"/>
            <p:cNvSpPr txBox="1">
              <a:spLocks noChangeArrowheads="1"/>
            </p:cNvSpPr>
            <p:nvPr/>
          </p:nvSpPr>
          <p:spPr bwMode="auto">
            <a:xfrm>
              <a:off x="4320" y="98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10</a:t>
              </a:r>
            </a:p>
          </p:txBody>
        </p:sp>
        <p:sp>
          <p:nvSpPr>
            <p:cNvPr id="36901" name="Text Box 40"/>
            <p:cNvSpPr txBox="1">
              <a:spLocks noChangeArrowheads="1"/>
            </p:cNvSpPr>
            <p:nvPr/>
          </p:nvSpPr>
          <p:spPr bwMode="auto">
            <a:xfrm>
              <a:off x="1056" y="141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6902" name="Text Box 41"/>
            <p:cNvSpPr txBox="1">
              <a:spLocks noChangeArrowheads="1"/>
            </p:cNvSpPr>
            <p:nvPr/>
          </p:nvSpPr>
          <p:spPr bwMode="auto">
            <a:xfrm>
              <a:off x="2256" y="1416"/>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5</a:t>
              </a:r>
            </a:p>
          </p:txBody>
        </p:sp>
        <p:sp>
          <p:nvSpPr>
            <p:cNvPr id="36903" name="Text Box 42"/>
            <p:cNvSpPr txBox="1">
              <a:spLocks noChangeArrowheads="1"/>
            </p:cNvSpPr>
            <p:nvPr/>
          </p:nvSpPr>
          <p:spPr bwMode="auto">
            <a:xfrm>
              <a:off x="3504"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8</a:t>
              </a:r>
            </a:p>
          </p:txBody>
        </p:sp>
        <p:sp>
          <p:nvSpPr>
            <p:cNvPr id="36904" name="Text Box 43"/>
            <p:cNvSpPr txBox="1">
              <a:spLocks noChangeArrowheads="1"/>
            </p:cNvSpPr>
            <p:nvPr/>
          </p:nvSpPr>
          <p:spPr bwMode="auto">
            <a:xfrm>
              <a:off x="4656" y="146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11</a:t>
              </a:r>
            </a:p>
          </p:txBody>
        </p:sp>
        <p:sp>
          <p:nvSpPr>
            <p:cNvPr id="36905" name="Line 44"/>
            <p:cNvSpPr>
              <a:spLocks noChangeShapeType="1"/>
            </p:cNvSpPr>
            <p:nvPr/>
          </p:nvSpPr>
          <p:spPr bwMode="auto">
            <a:xfrm flipH="1">
              <a:off x="1008" y="840"/>
              <a:ext cx="432"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6" name="Line 45"/>
            <p:cNvSpPr>
              <a:spLocks noChangeShapeType="1"/>
            </p:cNvSpPr>
            <p:nvPr/>
          </p:nvSpPr>
          <p:spPr bwMode="auto">
            <a:xfrm>
              <a:off x="1680" y="888"/>
              <a:ext cx="38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7" name="Line 46"/>
            <p:cNvSpPr>
              <a:spLocks noChangeShapeType="1"/>
            </p:cNvSpPr>
            <p:nvPr/>
          </p:nvSpPr>
          <p:spPr bwMode="auto">
            <a:xfrm flipH="1">
              <a:off x="3264" y="792"/>
              <a:ext cx="43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8" name="Line 47"/>
            <p:cNvSpPr>
              <a:spLocks noChangeShapeType="1"/>
            </p:cNvSpPr>
            <p:nvPr/>
          </p:nvSpPr>
          <p:spPr bwMode="auto">
            <a:xfrm>
              <a:off x="3936" y="840"/>
              <a:ext cx="528"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09" name="Line 48"/>
            <p:cNvSpPr>
              <a:spLocks noChangeShapeType="1"/>
            </p:cNvSpPr>
            <p:nvPr/>
          </p:nvSpPr>
          <p:spPr bwMode="auto">
            <a:xfrm flipH="1">
              <a:off x="624" y="117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0" name="Line 49"/>
            <p:cNvSpPr>
              <a:spLocks noChangeShapeType="1"/>
            </p:cNvSpPr>
            <p:nvPr/>
          </p:nvSpPr>
          <p:spPr bwMode="auto">
            <a:xfrm>
              <a:off x="1008" y="122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1" name="Line 50"/>
            <p:cNvSpPr>
              <a:spLocks noChangeShapeType="1"/>
            </p:cNvSpPr>
            <p:nvPr/>
          </p:nvSpPr>
          <p:spPr bwMode="auto">
            <a:xfrm flipH="1">
              <a:off x="1776" y="122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2" name="Line 51"/>
            <p:cNvSpPr>
              <a:spLocks noChangeShapeType="1"/>
            </p:cNvSpPr>
            <p:nvPr/>
          </p:nvSpPr>
          <p:spPr bwMode="auto">
            <a:xfrm>
              <a:off x="2112" y="1224"/>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3" name="Line 52"/>
            <p:cNvSpPr>
              <a:spLocks noChangeShapeType="1"/>
            </p:cNvSpPr>
            <p:nvPr/>
          </p:nvSpPr>
          <p:spPr bwMode="auto">
            <a:xfrm flipH="1">
              <a:off x="3024" y="1224"/>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4" name="Line 53"/>
            <p:cNvSpPr>
              <a:spLocks noChangeShapeType="1"/>
            </p:cNvSpPr>
            <p:nvPr/>
          </p:nvSpPr>
          <p:spPr bwMode="auto">
            <a:xfrm>
              <a:off x="3264"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5" name="Line 54"/>
            <p:cNvSpPr>
              <a:spLocks noChangeShapeType="1"/>
            </p:cNvSpPr>
            <p:nvPr/>
          </p:nvSpPr>
          <p:spPr bwMode="auto">
            <a:xfrm flipH="1">
              <a:off x="4080" y="1224"/>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6" name="Line 55"/>
            <p:cNvSpPr>
              <a:spLocks noChangeShapeType="1"/>
            </p:cNvSpPr>
            <p:nvPr/>
          </p:nvSpPr>
          <p:spPr bwMode="auto">
            <a:xfrm>
              <a:off x="4512" y="1224"/>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7" name="Line 56"/>
            <p:cNvSpPr>
              <a:spLocks noChangeShapeType="1"/>
            </p:cNvSpPr>
            <p:nvPr/>
          </p:nvSpPr>
          <p:spPr bwMode="auto">
            <a:xfrm flipH="1">
              <a:off x="864" y="1656"/>
              <a:ext cx="24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8" name="Line 57"/>
            <p:cNvSpPr>
              <a:spLocks noChangeShapeType="1"/>
            </p:cNvSpPr>
            <p:nvPr/>
          </p:nvSpPr>
          <p:spPr bwMode="auto">
            <a:xfrm>
              <a:off x="1200" y="1656"/>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19" name="Line 58"/>
            <p:cNvSpPr>
              <a:spLocks noChangeShapeType="1"/>
            </p:cNvSpPr>
            <p:nvPr/>
          </p:nvSpPr>
          <p:spPr bwMode="auto">
            <a:xfrm flipH="1">
              <a:off x="2016" y="1704"/>
              <a:ext cx="28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0" name="Line 59"/>
            <p:cNvSpPr>
              <a:spLocks noChangeShapeType="1"/>
            </p:cNvSpPr>
            <p:nvPr/>
          </p:nvSpPr>
          <p:spPr bwMode="auto">
            <a:xfrm>
              <a:off x="2400" y="170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1" name="Line 60"/>
            <p:cNvSpPr>
              <a:spLocks noChangeShapeType="1"/>
            </p:cNvSpPr>
            <p:nvPr/>
          </p:nvSpPr>
          <p:spPr bwMode="auto">
            <a:xfrm flipH="1">
              <a:off x="3216" y="1704"/>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2" name="Line 61"/>
            <p:cNvSpPr>
              <a:spLocks noChangeShapeType="1"/>
            </p:cNvSpPr>
            <p:nvPr/>
          </p:nvSpPr>
          <p:spPr bwMode="auto">
            <a:xfrm>
              <a:off x="3648"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3" name="Line 62"/>
            <p:cNvSpPr>
              <a:spLocks noChangeShapeType="1"/>
            </p:cNvSpPr>
            <p:nvPr/>
          </p:nvSpPr>
          <p:spPr bwMode="auto">
            <a:xfrm flipH="1">
              <a:off x="4512" y="1704"/>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4" name="Line 63"/>
            <p:cNvSpPr>
              <a:spLocks noChangeShapeType="1"/>
            </p:cNvSpPr>
            <p:nvPr/>
          </p:nvSpPr>
          <p:spPr bwMode="auto">
            <a:xfrm>
              <a:off x="4848" y="1704"/>
              <a:ext cx="38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5" name="Line 64"/>
            <p:cNvSpPr>
              <a:spLocks noChangeShapeType="1"/>
            </p:cNvSpPr>
            <p:nvPr/>
          </p:nvSpPr>
          <p:spPr bwMode="auto">
            <a:xfrm>
              <a:off x="2880" y="504"/>
              <a:ext cx="2256"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6" name="Line 65"/>
            <p:cNvSpPr>
              <a:spLocks noChangeShapeType="1"/>
            </p:cNvSpPr>
            <p:nvPr/>
          </p:nvSpPr>
          <p:spPr bwMode="auto">
            <a:xfrm>
              <a:off x="3984" y="744"/>
              <a:ext cx="115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7" name="Line 66"/>
            <p:cNvSpPr>
              <a:spLocks noChangeShapeType="1"/>
            </p:cNvSpPr>
            <p:nvPr/>
          </p:nvSpPr>
          <p:spPr bwMode="auto">
            <a:xfrm>
              <a:off x="4944" y="1560"/>
              <a:ext cx="288"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928" name="Text Box 67"/>
            <p:cNvSpPr txBox="1">
              <a:spLocks noChangeArrowheads="1"/>
            </p:cNvSpPr>
            <p:nvPr/>
          </p:nvSpPr>
          <p:spPr bwMode="auto">
            <a:xfrm>
              <a:off x="5136" y="3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1</a:t>
              </a:r>
            </a:p>
          </p:txBody>
        </p:sp>
        <p:sp>
          <p:nvSpPr>
            <p:cNvPr id="36929" name="Text Box 68"/>
            <p:cNvSpPr txBox="1">
              <a:spLocks noChangeArrowheads="1"/>
            </p:cNvSpPr>
            <p:nvPr/>
          </p:nvSpPr>
          <p:spPr bwMode="auto">
            <a:xfrm>
              <a:off x="5136"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2</a:t>
              </a:r>
            </a:p>
          </p:txBody>
        </p:sp>
        <p:sp>
          <p:nvSpPr>
            <p:cNvPr id="36930" name="Text Box 69"/>
            <p:cNvSpPr txBox="1">
              <a:spLocks noChangeArrowheads="1"/>
            </p:cNvSpPr>
            <p:nvPr/>
          </p:nvSpPr>
          <p:spPr bwMode="auto">
            <a:xfrm>
              <a:off x="5136" y="14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ea typeface="宋体" panose="02010600030101010101" pitchFamily="2" charset="-122"/>
                </a:rPr>
                <a:t>h</a:t>
              </a:r>
            </a:p>
          </p:txBody>
        </p:sp>
        <p:sp>
          <p:nvSpPr>
            <p:cNvPr id="36931" name="Text Box 70"/>
            <p:cNvSpPr txBox="1">
              <a:spLocks noChangeArrowheads="1"/>
            </p:cNvSpPr>
            <p:nvPr/>
          </p:nvSpPr>
          <p:spPr bwMode="auto">
            <a:xfrm>
              <a:off x="4896" y="21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外结点</a:t>
              </a:r>
            </a:p>
          </p:txBody>
        </p:sp>
        <p:sp>
          <p:nvSpPr>
            <p:cNvPr id="36932" name="Text Box 71"/>
            <p:cNvSpPr txBox="1">
              <a:spLocks noChangeArrowheads="1"/>
            </p:cNvSpPr>
            <p:nvPr/>
          </p:nvSpPr>
          <p:spPr bwMode="auto">
            <a:xfrm>
              <a:off x="4560" y="98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2000">
                  <a:solidFill>
                    <a:schemeClr val="accent2"/>
                  </a:solidFill>
                  <a:ea typeface="宋体" panose="02010600030101010101" pitchFamily="2" charset="-122"/>
                </a:rPr>
                <a:t>内结点</a:t>
              </a:r>
              <a:endParaRPr lang="zh-CN" altLang="en-US" sz="2000">
                <a:solidFill>
                  <a:schemeClr val="accent1"/>
                </a:solidFill>
                <a:ea typeface="宋体" panose="02010600030101010101" pitchFamily="2" charset="-122"/>
              </a:endParaRPr>
            </a:p>
          </p:txBody>
        </p:sp>
        <p:sp>
          <p:nvSpPr>
            <p:cNvPr id="36933" name="Text Box 72"/>
            <p:cNvSpPr txBox="1">
              <a:spLocks noChangeArrowheads="1"/>
            </p:cNvSpPr>
            <p:nvPr/>
          </p:nvSpPr>
          <p:spPr bwMode="auto">
            <a:xfrm>
              <a:off x="2928" y="5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&gt;</a:t>
              </a:r>
              <a:endParaRPr lang="en-US" altLang="zh-CN" sz="2400">
                <a:ea typeface="宋体" panose="02010600030101010101" pitchFamily="2" charset="-122"/>
              </a:endParaRPr>
            </a:p>
          </p:txBody>
        </p:sp>
        <p:sp>
          <p:nvSpPr>
            <p:cNvPr id="36934" name="Text Box 73"/>
            <p:cNvSpPr txBox="1">
              <a:spLocks noChangeArrowheads="1"/>
            </p:cNvSpPr>
            <p:nvPr/>
          </p:nvSpPr>
          <p:spPr bwMode="auto">
            <a:xfrm>
              <a:off x="2160" y="55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&lt;</a:t>
              </a:r>
            </a:p>
          </p:txBody>
        </p:sp>
        <p:sp>
          <p:nvSpPr>
            <p:cNvPr id="36935" name="Text Box 74"/>
            <p:cNvSpPr txBox="1">
              <a:spLocks noChangeArrowheads="1"/>
            </p:cNvSpPr>
            <p:nvPr/>
          </p:nvSpPr>
          <p:spPr bwMode="auto">
            <a:xfrm>
              <a:off x="2592" y="55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a:solidFill>
                    <a:schemeClr val="accent2"/>
                  </a:solidFill>
                  <a:ea typeface="宋体" panose="02010600030101010101" pitchFamily="2" charset="-122"/>
                </a:rPr>
                <a: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06597">
                                            <p:txEl>
                                              <p:pRg st="0" end="0"/>
                                            </p:txEl>
                                          </p:spTgt>
                                        </p:tgtEl>
                                        <p:attrNameLst>
                                          <p:attrName>style.visibility</p:attrName>
                                        </p:attrNameLst>
                                      </p:cBhvr>
                                      <p:to>
                                        <p:strVal val="visible"/>
                                      </p:to>
                                    </p:set>
                                    <p:animEffect transition="in" filter="strips(downRight)">
                                      <p:cBhvr>
                                        <p:cTn id="7" dur="500"/>
                                        <p:tgtEl>
                                          <p:spTgt spid="100659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06597">
                                            <p:txEl>
                                              <p:pRg st="1" end="1"/>
                                            </p:txEl>
                                          </p:spTgt>
                                        </p:tgtEl>
                                        <p:attrNameLst>
                                          <p:attrName>style.visibility</p:attrName>
                                        </p:attrNameLst>
                                      </p:cBhvr>
                                      <p:to>
                                        <p:strVal val="visible"/>
                                      </p:to>
                                    </p:set>
                                    <p:animEffect transition="in" filter="strips(downRight)">
                                      <p:cBhvr>
                                        <p:cTn id="12" dur="500"/>
                                        <p:tgtEl>
                                          <p:spTgt spid="10065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4" name="Rectangle 4"/>
          <p:cNvSpPr>
            <a:spLocks noChangeArrowheads="1"/>
          </p:cNvSpPr>
          <p:nvPr/>
        </p:nvSpPr>
        <p:spPr bwMode="auto">
          <a:xfrm>
            <a:off x="0" y="765175"/>
            <a:ext cx="8501063"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1">
              <a:spcBef>
                <a:spcPct val="20000"/>
              </a:spcBef>
              <a:buFont typeface="Arial" panose="020B0604020202020204" pitchFamily="34" charset="0"/>
              <a:buChar char="–"/>
            </a:pPr>
            <a:r>
              <a:rPr lang="zh-CN" altLang="en-US" dirty="0">
                <a:latin typeface="楷体_GB2312"/>
              </a:rPr>
              <a:t>查找过程：每次将待查记录所在区间缩小一半，比顺序查找效率高</a:t>
            </a:r>
            <a:r>
              <a:rPr lang="en-US" altLang="zh-CN" dirty="0">
                <a:latin typeface="楷体_GB2312"/>
              </a:rPr>
              <a:t>,</a:t>
            </a:r>
            <a:r>
              <a:rPr lang="zh-CN" altLang="en-US" dirty="0">
                <a:latin typeface="楷体_GB2312"/>
              </a:rPr>
              <a:t>时间复杂度</a:t>
            </a:r>
            <a:r>
              <a:rPr lang="en-US" altLang="zh-CN" dirty="0">
                <a:solidFill>
                  <a:srgbClr val="FF3300"/>
                </a:solidFill>
                <a:highlight>
                  <a:srgbClr val="00FF00"/>
                </a:highlight>
                <a:ea typeface="仿宋_GB2312"/>
                <a:cs typeface="仿宋_GB2312"/>
              </a:rPr>
              <a:t>O(log2 n)</a:t>
            </a:r>
            <a:endParaRPr lang="en-US" altLang="zh-CN" dirty="0">
              <a:solidFill>
                <a:srgbClr val="FF3300"/>
              </a:solidFill>
              <a:highlight>
                <a:srgbClr val="00FF00"/>
              </a:highlight>
              <a:ea typeface="仿宋_GB2312"/>
              <a:cs typeface="仿宋_GB2312"/>
              <a:sym typeface="Symbol" panose="05050102010706020507" pitchFamily="18" charset="2"/>
            </a:endParaRPr>
          </a:p>
          <a:p>
            <a:pPr lvl="1">
              <a:spcBef>
                <a:spcPct val="20000"/>
              </a:spcBef>
              <a:buFont typeface="Arial" panose="020B0604020202020204" pitchFamily="34" charset="0"/>
              <a:buChar char="–"/>
            </a:pPr>
            <a:endParaRPr lang="en-US" altLang="zh-CN" dirty="0">
              <a:latin typeface="楷体_GB2312"/>
            </a:endParaRPr>
          </a:p>
          <a:p>
            <a:pPr lvl="1">
              <a:spcBef>
                <a:spcPct val="20000"/>
              </a:spcBef>
              <a:buFont typeface="Arial" panose="020B0604020202020204" pitchFamily="34" charset="0"/>
              <a:buChar char="–"/>
            </a:pPr>
            <a:r>
              <a:rPr lang="zh-CN" altLang="en-US" dirty="0">
                <a:latin typeface="楷体_GB2312"/>
              </a:rPr>
              <a:t>适用条件：</a:t>
            </a:r>
            <a:r>
              <a:rPr lang="zh-CN" altLang="en-US" dirty="0">
                <a:solidFill>
                  <a:srgbClr val="FF3300"/>
                </a:solidFill>
                <a:latin typeface="楷体_GB2312"/>
              </a:rPr>
              <a:t>采用</a:t>
            </a:r>
            <a:r>
              <a:rPr lang="zh-CN" altLang="en-US" dirty="0">
                <a:solidFill>
                  <a:srgbClr val="FF3300"/>
                </a:solidFill>
                <a:highlight>
                  <a:srgbClr val="00FF00"/>
                </a:highlight>
                <a:latin typeface="楷体_GB2312"/>
              </a:rPr>
              <a:t>顺序</a:t>
            </a:r>
            <a:r>
              <a:rPr lang="zh-CN" altLang="en-US" dirty="0">
                <a:solidFill>
                  <a:srgbClr val="FF3300"/>
                </a:solidFill>
                <a:latin typeface="楷体_GB2312"/>
              </a:rPr>
              <a:t>存储结构的有序表</a:t>
            </a:r>
            <a:r>
              <a:rPr lang="zh-CN" altLang="en-US" dirty="0">
                <a:latin typeface="楷体_GB2312"/>
              </a:rPr>
              <a:t>，不宜用于链式结构</a:t>
            </a:r>
          </a:p>
          <a:p>
            <a:pPr>
              <a:spcBef>
                <a:spcPct val="20000"/>
              </a:spcBef>
              <a:buFont typeface="Arial" panose="020B0604020202020204" pitchFamily="34" charset="0"/>
              <a:buChar char="•"/>
            </a:pPr>
            <a:endParaRPr lang="en-US" altLang="zh-CN" dirty="0">
              <a:latin typeface="楷体_GB2312"/>
            </a:endParaRPr>
          </a:p>
        </p:txBody>
      </p:sp>
      <p:sp>
        <p:nvSpPr>
          <p:cNvPr id="37891" name="Rectangle 5"/>
          <p:cNvSpPr>
            <a:spLocks noChangeArrowheads="1"/>
          </p:cNvSpPr>
          <p:nvPr/>
        </p:nvSpPr>
        <p:spPr bwMode="auto">
          <a:xfrm>
            <a:off x="3275856" y="0"/>
            <a:ext cx="366821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折半查找的性能分析</a:t>
            </a:r>
            <a:endParaRPr lang="zh-CN" altLang="en-US" sz="2400" dirty="0">
              <a:solidFill>
                <a:srgbClr val="FF3300"/>
              </a:solidFill>
              <a:latin typeface="楷体_GB231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8404">
                                            <p:txEl>
                                              <p:pRg st="0" end="0"/>
                                            </p:txEl>
                                          </p:spTgt>
                                        </p:tgtEl>
                                        <p:attrNameLst>
                                          <p:attrName>style.visibility</p:attrName>
                                        </p:attrNameLst>
                                      </p:cBhvr>
                                      <p:to>
                                        <p:strVal val="visible"/>
                                      </p:to>
                                    </p:set>
                                    <p:anim calcmode="lin" valueType="num">
                                      <p:cBhvr additive="base">
                                        <p:cTn id="7" dur="500" fill="hold"/>
                                        <p:tgtEl>
                                          <p:spTgt spid="99840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998404">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98404">
                                            <p:txEl>
                                              <p:pRg st="2" end="2"/>
                                            </p:txEl>
                                          </p:spTgt>
                                        </p:tgtEl>
                                        <p:attrNameLst>
                                          <p:attrName>style.visibility</p:attrName>
                                        </p:attrNameLst>
                                      </p:cBhvr>
                                      <p:to>
                                        <p:strVal val="visible"/>
                                      </p:to>
                                    </p:set>
                                    <p:anim calcmode="lin" valueType="num">
                                      <p:cBhvr additive="base">
                                        <p:cTn id="13" dur="500" fill="hold"/>
                                        <p:tgtEl>
                                          <p:spTgt spid="998404">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998404">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4" grpId="0" build="p" bldLvl="5"/>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ChangeArrowheads="1"/>
          </p:cNvSpPr>
          <p:nvPr/>
        </p:nvSpPr>
        <p:spPr bwMode="auto">
          <a:xfrm>
            <a:off x="3212679" y="22140"/>
            <a:ext cx="489235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分块查找（</a:t>
            </a:r>
            <a:r>
              <a:rPr lang="zh-CN" altLang="en-US" sz="2400" dirty="0">
                <a:solidFill>
                  <a:srgbClr val="FF3300"/>
                </a:solidFill>
                <a:latin typeface="华文楷体" panose="02010600040101010101" pitchFamily="2" charset="-122"/>
                <a:ea typeface="华文楷体" panose="02010600040101010101" pitchFamily="2" charset="-122"/>
              </a:rPr>
              <a:t>块间有序，块内无序</a:t>
            </a:r>
            <a:r>
              <a:rPr lang="zh-CN" altLang="en-US" sz="2400" dirty="0">
                <a:latin typeface="华文楷体" panose="02010600040101010101" pitchFamily="2" charset="-122"/>
                <a:ea typeface="华文楷体" panose="02010600040101010101" pitchFamily="2" charset="-122"/>
              </a:rPr>
              <a:t>）</a:t>
            </a:r>
            <a:endParaRPr lang="zh-CN" altLang="en-US" sz="2400" dirty="0">
              <a:solidFill>
                <a:srgbClr val="FF3300"/>
              </a:solidFill>
              <a:latin typeface="华文楷体" panose="02010600040101010101" pitchFamily="2" charset="-122"/>
              <a:ea typeface="华文楷体" panose="02010600040101010101" pitchFamily="2" charset="-122"/>
            </a:endParaRPr>
          </a:p>
        </p:txBody>
      </p:sp>
      <p:sp>
        <p:nvSpPr>
          <p:cNvPr id="6" name="Rectangle 5"/>
          <p:cNvSpPr>
            <a:spLocks noChangeArrowheads="1"/>
          </p:cNvSpPr>
          <p:nvPr/>
        </p:nvSpPr>
        <p:spPr bwMode="auto">
          <a:xfrm>
            <a:off x="381000" y="785813"/>
            <a:ext cx="8458200" cy="164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575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dirty="0">
                <a:solidFill>
                  <a:srgbClr val="FF00FF"/>
                </a:solidFill>
                <a:latin typeface="华文楷体" panose="02010600040101010101" pitchFamily="2" charset="-122"/>
                <a:ea typeface="华文楷体" panose="02010600040101010101" pitchFamily="2" charset="-122"/>
              </a:rPr>
              <a:t>分块有序</a:t>
            </a:r>
            <a:r>
              <a:rPr lang="zh-CN" altLang="en-US" sz="2400" dirty="0">
                <a:latin typeface="华文楷体" panose="02010600040101010101" pitchFamily="2" charset="-122"/>
                <a:ea typeface="华文楷体" panose="02010600040101010101" pitchFamily="2" charset="-122"/>
              </a:rPr>
              <a:t>，即分成若干子表，要求</a:t>
            </a:r>
            <a:r>
              <a:rPr lang="zh-CN" altLang="en-US" sz="2400" dirty="0">
                <a:highlight>
                  <a:srgbClr val="00FF00"/>
                </a:highlight>
                <a:latin typeface="华文楷体" panose="02010600040101010101" pitchFamily="2" charset="-122"/>
                <a:ea typeface="华文楷体" panose="02010600040101010101" pitchFamily="2" charset="-122"/>
              </a:rPr>
              <a:t>每个子表中的数值都比后一块中数值小</a:t>
            </a:r>
            <a:r>
              <a:rPr lang="zh-CN" altLang="en-US" sz="2400" dirty="0">
                <a:latin typeface="华文楷体" panose="02010600040101010101" pitchFamily="2" charset="-122"/>
                <a:ea typeface="华文楷体" panose="02010600040101010101" pitchFamily="2" charset="-122"/>
              </a:rPr>
              <a:t>（</a:t>
            </a:r>
            <a:r>
              <a:rPr lang="zh-CN" altLang="en-US" sz="2400" dirty="0">
                <a:highlight>
                  <a:srgbClr val="00FF00"/>
                </a:highlight>
                <a:latin typeface="华文楷体" panose="02010600040101010101" pitchFamily="2" charset="-122"/>
                <a:ea typeface="华文楷体" panose="02010600040101010101" pitchFamily="2" charset="-122"/>
              </a:rPr>
              <a:t>但子表内部未必有序</a:t>
            </a:r>
            <a:r>
              <a:rPr lang="zh-CN" altLang="en-US" sz="2400" dirty="0">
                <a:latin typeface="华文楷体" panose="02010600040101010101" pitchFamily="2" charset="-122"/>
                <a:ea typeface="华文楷体" panose="02010600040101010101" pitchFamily="2" charset="-122"/>
              </a:rPr>
              <a:t>）。</a:t>
            </a:r>
          </a:p>
          <a:p>
            <a:pPr>
              <a:spcBef>
                <a:spcPct val="20000"/>
              </a:spcBef>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然后将各子表中的</a:t>
            </a:r>
            <a:r>
              <a:rPr lang="zh-CN" altLang="en-US" sz="2400" dirty="0">
                <a:highlight>
                  <a:srgbClr val="00FF00"/>
                </a:highlight>
                <a:latin typeface="华文楷体" panose="02010600040101010101" pitchFamily="2" charset="-122"/>
                <a:ea typeface="华文楷体" panose="02010600040101010101" pitchFamily="2" charset="-122"/>
              </a:rPr>
              <a:t>最大关键字构成一个</a:t>
            </a:r>
            <a:r>
              <a:rPr lang="zh-CN" altLang="en-US" sz="2400" dirty="0">
                <a:solidFill>
                  <a:srgbClr val="FF00FF"/>
                </a:solidFill>
                <a:highlight>
                  <a:srgbClr val="00FF00"/>
                </a:highlight>
                <a:latin typeface="华文楷体" panose="02010600040101010101" pitchFamily="2" charset="-122"/>
                <a:ea typeface="华文楷体" panose="02010600040101010101" pitchFamily="2" charset="-122"/>
              </a:rPr>
              <a:t>索引表</a:t>
            </a:r>
            <a:r>
              <a:rPr lang="zh-CN" altLang="en-US" sz="2400" dirty="0">
                <a:latin typeface="华文楷体" panose="02010600040101010101" pitchFamily="2" charset="-122"/>
                <a:ea typeface="华文楷体" panose="02010600040101010101" pitchFamily="2" charset="-122"/>
              </a:rPr>
              <a:t>，表中还要包含每个子表的</a:t>
            </a:r>
            <a:r>
              <a:rPr lang="zh-CN" altLang="en-US" sz="2400" dirty="0">
                <a:highlight>
                  <a:srgbClr val="00FF00"/>
                </a:highlight>
                <a:latin typeface="华文楷体" panose="02010600040101010101" pitchFamily="2" charset="-122"/>
                <a:ea typeface="华文楷体" panose="02010600040101010101" pitchFamily="2" charset="-122"/>
              </a:rPr>
              <a:t>起始地址（即头指针）</a:t>
            </a:r>
            <a:r>
              <a:rPr lang="zh-CN" altLang="en-US" sz="2400" dirty="0">
                <a:latin typeface="华文楷体" panose="02010600040101010101" pitchFamily="2" charset="-122"/>
                <a:ea typeface="华文楷体" panose="02010600040101010101" pitchFamily="2" charset="-122"/>
              </a:rPr>
              <a:t>。</a:t>
            </a:r>
          </a:p>
        </p:txBody>
      </p:sp>
      <p:graphicFrame>
        <p:nvGraphicFramePr>
          <p:cNvPr id="8" name="Group 32"/>
          <p:cNvGraphicFramePr>
            <a:graphicFrameLocks noGrp="1"/>
          </p:cNvGraphicFramePr>
          <p:nvPr/>
        </p:nvGraphicFramePr>
        <p:xfrm>
          <a:off x="2286000" y="3100388"/>
          <a:ext cx="2286000" cy="792248"/>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96081">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1" lang="zh-CN"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2" marB="4566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Rectangle 33"/>
          <p:cNvSpPr>
            <a:spLocks noChangeArrowheads="1"/>
          </p:cNvSpPr>
          <p:nvPr/>
        </p:nvSpPr>
        <p:spPr bwMode="auto">
          <a:xfrm>
            <a:off x="2895600" y="2643188"/>
            <a:ext cx="1946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索引表</a:t>
            </a:r>
          </a:p>
        </p:txBody>
      </p:sp>
      <p:sp>
        <p:nvSpPr>
          <p:cNvPr id="10" name="Rectangle 34"/>
          <p:cNvSpPr>
            <a:spLocks noChangeArrowheads="1"/>
          </p:cNvSpPr>
          <p:nvPr/>
        </p:nvSpPr>
        <p:spPr bwMode="auto">
          <a:xfrm>
            <a:off x="285750" y="3024188"/>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最大关键字</a:t>
            </a:r>
          </a:p>
        </p:txBody>
      </p:sp>
      <p:sp>
        <p:nvSpPr>
          <p:cNvPr id="11" name="Rectangle 35"/>
          <p:cNvSpPr>
            <a:spLocks noChangeArrowheads="1"/>
          </p:cNvSpPr>
          <p:nvPr/>
        </p:nvSpPr>
        <p:spPr bwMode="auto">
          <a:xfrm>
            <a:off x="500063" y="3405188"/>
            <a:ext cx="1828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起始地址</a:t>
            </a:r>
          </a:p>
        </p:txBody>
      </p:sp>
      <p:graphicFrame>
        <p:nvGraphicFramePr>
          <p:cNvPr id="38934" name="表格 38933"/>
          <p:cNvGraphicFramePr/>
          <p:nvPr/>
        </p:nvGraphicFramePr>
        <p:xfrm>
          <a:off x="381000" y="4229100"/>
          <a:ext cx="8229600" cy="396875"/>
        </p:xfrm>
        <a:graphic>
          <a:graphicData uri="http://schemas.openxmlformats.org/drawingml/2006/table">
            <a:tbl>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gridCol w="457200">
                  <a:extLst>
                    <a:ext uri="{9D8B030D-6E8A-4147-A177-3AD203B41FA5}">
                      <a16:colId xmlns:a16="http://schemas.microsoft.com/office/drawing/2014/main" val="20009"/>
                    </a:ext>
                  </a:extLst>
                </a:gridCol>
                <a:gridCol w="457200">
                  <a:extLst>
                    <a:ext uri="{9D8B030D-6E8A-4147-A177-3AD203B41FA5}">
                      <a16:colId xmlns:a16="http://schemas.microsoft.com/office/drawing/2014/main" val="20010"/>
                    </a:ext>
                  </a:extLst>
                </a:gridCol>
                <a:gridCol w="457200">
                  <a:extLst>
                    <a:ext uri="{9D8B030D-6E8A-4147-A177-3AD203B41FA5}">
                      <a16:colId xmlns:a16="http://schemas.microsoft.com/office/drawing/2014/main" val="20011"/>
                    </a:ext>
                  </a:extLst>
                </a:gridCol>
                <a:gridCol w="457200">
                  <a:extLst>
                    <a:ext uri="{9D8B030D-6E8A-4147-A177-3AD203B41FA5}">
                      <a16:colId xmlns:a16="http://schemas.microsoft.com/office/drawing/2014/main" val="20012"/>
                    </a:ext>
                  </a:extLst>
                </a:gridCol>
                <a:gridCol w="457200">
                  <a:extLst>
                    <a:ext uri="{9D8B030D-6E8A-4147-A177-3AD203B41FA5}">
                      <a16:colId xmlns:a16="http://schemas.microsoft.com/office/drawing/2014/main" val="20013"/>
                    </a:ext>
                  </a:extLst>
                </a:gridCol>
                <a:gridCol w="457200">
                  <a:extLst>
                    <a:ext uri="{9D8B030D-6E8A-4147-A177-3AD203B41FA5}">
                      <a16:colId xmlns:a16="http://schemas.microsoft.com/office/drawing/2014/main" val="20014"/>
                    </a:ext>
                  </a:extLst>
                </a:gridCol>
                <a:gridCol w="457200">
                  <a:extLst>
                    <a:ext uri="{9D8B030D-6E8A-4147-A177-3AD203B41FA5}">
                      <a16:colId xmlns:a16="http://schemas.microsoft.com/office/drawing/2014/main" val="20015"/>
                    </a:ext>
                  </a:extLst>
                </a:gridCol>
                <a:gridCol w="457200">
                  <a:extLst>
                    <a:ext uri="{9D8B030D-6E8A-4147-A177-3AD203B41FA5}">
                      <a16:colId xmlns:a16="http://schemas.microsoft.com/office/drawing/2014/main" val="20016"/>
                    </a:ext>
                  </a:extLst>
                </a:gridCol>
                <a:gridCol w="457200">
                  <a:extLst>
                    <a:ext uri="{9D8B030D-6E8A-4147-A177-3AD203B41FA5}">
                      <a16:colId xmlns:a16="http://schemas.microsoft.com/office/drawing/2014/main" val="20017"/>
                    </a:ext>
                  </a:extLst>
                </a:gridCol>
              </a:tblGrid>
              <a:tr h="396875">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22</a:t>
                      </a: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12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13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20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33</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42</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44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38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24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00"/>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48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folHlink"/>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60</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58</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74</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49</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86</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53</a:t>
                      </a: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00FFFF"/>
                    </a:solidFill>
                  </a:tcPr>
                </a:tc>
                <a:extLst>
                  <a:ext uri="{0D108BD9-81ED-4DB2-BD59-A6C34878D82A}">
                    <a16:rowId xmlns:a16="http://schemas.microsoft.com/office/drawing/2014/main" val="10000"/>
                  </a:ext>
                </a:extLst>
              </a:tr>
            </a:tbl>
          </a:graphicData>
        </a:graphic>
      </p:graphicFrame>
      <p:sp>
        <p:nvSpPr>
          <p:cNvPr id="13" name="Rectangle 141"/>
          <p:cNvSpPr>
            <a:spLocks noChangeArrowheads="1"/>
          </p:cNvSpPr>
          <p:nvPr/>
        </p:nvSpPr>
        <p:spPr bwMode="auto">
          <a:xfrm>
            <a:off x="1219200" y="4624388"/>
            <a:ext cx="1447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仿宋_GB2312"/>
                <a:ea typeface="仿宋_GB2312"/>
                <a:cs typeface="仿宋_GB2312"/>
              </a:rPr>
              <a:t>第</a:t>
            </a:r>
            <a:r>
              <a:rPr lang="en-US" altLang="zh-CN">
                <a:solidFill>
                  <a:srgbClr val="FF00FF"/>
                </a:solidFill>
                <a:latin typeface="仿宋_GB2312"/>
                <a:ea typeface="仿宋_GB2312"/>
                <a:cs typeface="仿宋_GB2312"/>
              </a:rPr>
              <a:t>1</a:t>
            </a:r>
            <a:r>
              <a:rPr lang="zh-CN" altLang="en-US">
                <a:solidFill>
                  <a:srgbClr val="FF00FF"/>
                </a:solidFill>
                <a:latin typeface="仿宋_GB2312"/>
                <a:ea typeface="仿宋_GB2312"/>
                <a:cs typeface="仿宋_GB2312"/>
              </a:rPr>
              <a:t>块</a:t>
            </a:r>
          </a:p>
        </p:txBody>
      </p:sp>
      <p:sp>
        <p:nvSpPr>
          <p:cNvPr id="14" name="Rectangle 142"/>
          <p:cNvSpPr>
            <a:spLocks noChangeArrowheads="1"/>
          </p:cNvSpPr>
          <p:nvPr/>
        </p:nvSpPr>
        <p:spPr bwMode="auto">
          <a:xfrm>
            <a:off x="3886200" y="4624388"/>
            <a:ext cx="1524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第</a:t>
            </a:r>
            <a:r>
              <a:rPr lang="en-US" altLang="zh-CN">
                <a:solidFill>
                  <a:srgbClr val="FF00FF"/>
                </a:solidFill>
                <a:latin typeface="华文楷体" panose="02010600040101010101" pitchFamily="2" charset="-122"/>
                <a:ea typeface="华文楷体" panose="02010600040101010101" pitchFamily="2" charset="-122"/>
              </a:rPr>
              <a:t>2</a:t>
            </a:r>
            <a:r>
              <a:rPr lang="zh-CN" altLang="en-US">
                <a:solidFill>
                  <a:srgbClr val="FF00FF"/>
                </a:solidFill>
                <a:latin typeface="华文楷体" panose="02010600040101010101" pitchFamily="2" charset="-122"/>
                <a:ea typeface="华文楷体" panose="02010600040101010101" pitchFamily="2" charset="-122"/>
              </a:rPr>
              <a:t>块</a:t>
            </a:r>
          </a:p>
        </p:txBody>
      </p:sp>
      <p:sp>
        <p:nvSpPr>
          <p:cNvPr id="15" name="Rectangle 143"/>
          <p:cNvSpPr>
            <a:spLocks noChangeArrowheads="1"/>
          </p:cNvSpPr>
          <p:nvPr/>
        </p:nvSpPr>
        <p:spPr bwMode="auto">
          <a:xfrm>
            <a:off x="6435725" y="4624388"/>
            <a:ext cx="1993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第</a:t>
            </a:r>
            <a:r>
              <a:rPr lang="en-US" altLang="zh-CN">
                <a:solidFill>
                  <a:srgbClr val="FF00FF"/>
                </a:solidFill>
                <a:latin typeface="华文楷体" panose="02010600040101010101" pitchFamily="2" charset="-122"/>
                <a:ea typeface="华文楷体" panose="02010600040101010101" pitchFamily="2" charset="-122"/>
              </a:rPr>
              <a:t>3</a:t>
            </a:r>
            <a:r>
              <a:rPr lang="zh-CN" altLang="en-US">
                <a:solidFill>
                  <a:srgbClr val="FF00FF"/>
                </a:solidFill>
                <a:latin typeface="华文楷体" panose="02010600040101010101" pitchFamily="2" charset="-122"/>
                <a:ea typeface="华文楷体" panose="02010600040101010101" pitchFamily="2" charset="-122"/>
              </a:rPr>
              <a:t>块</a:t>
            </a:r>
          </a:p>
        </p:txBody>
      </p:sp>
      <p:grpSp>
        <p:nvGrpSpPr>
          <p:cNvPr id="4" name="Group 156"/>
          <p:cNvGrpSpPr>
            <a:grpSpLocks/>
          </p:cNvGrpSpPr>
          <p:nvPr/>
        </p:nvGrpSpPr>
        <p:grpSpPr bwMode="auto">
          <a:xfrm>
            <a:off x="609600" y="3862388"/>
            <a:ext cx="2057400" cy="381000"/>
            <a:chOff x="384" y="2976"/>
            <a:chExt cx="1296" cy="240"/>
          </a:xfrm>
        </p:grpSpPr>
        <p:sp>
          <p:nvSpPr>
            <p:cNvPr id="38993" name="Line 144"/>
            <p:cNvSpPr>
              <a:spLocks noChangeShapeType="1"/>
            </p:cNvSpPr>
            <p:nvPr/>
          </p:nvSpPr>
          <p:spPr bwMode="auto">
            <a:xfrm>
              <a:off x="1680" y="2976"/>
              <a:ext cx="0" cy="96"/>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94" name="Line 146"/>
            <p:cNvSpPr>
              <a:spLocks noChangeShapeType="1"/>
            </p:cNvSpPr>
            <p:nvPr/>
          </p:nvSpPr>
          <p:spPr bwMode="auto">
            <a:xfrm>
              <a:off x="384" y="3072"/>
              <a:ext cx="1296" cy="0"/>
            </a:xfrm>
            <a:prstGeom prst="line">
              <a:avLst/>
            </a:prstGeom>
            <a:noFill/>
            <a:ln w="28575">
              <a:solidFill>
                <a:srgbClr val="002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95" name="Line 147"/>
            <p:cNvSpPr>
              <a:spLocks noChangeShapeType="1"/>
            </p:cNvSpPr>
            <p:nvPr/>
          </p:nvSpPr>
          <p:spPr bwMode="auto">
            <a:xfrm flipH="1">
              <a:off x="384" y="3072"/>
              <a:ext cx="0" cy="144"/>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55"/>
          <p:cNvGrpSpPr>
            <a:grpSpLocks/>
          </p:cNvGrpSpPr>
          <p:nvPr/>
        </p:nvGrpSpPr>
        <p:grpSpPr bwMode="auto">
          <a:xfrm>
            <a:off x="4191000" y="3862388"/>
            <a:ext cx="1905000" cy="381000"/>
            <a:chOff x="2640" y="2976"/>
            <a:chExt cx="1200" cy="240"/>
          </a:xfrm>
        </p:grpSpPr>
        <p:sp>
          <p:nvSpPr>
            <p:cNvPr id="21" name="Line 150"/>
            <p:cNvSpPr>
              <a:spLocks noChangeShapeType="1"/>
            </p:cNvSpPr>
            <p:nvPr/>
          </p:nvSpPr>
          <p:spPr bwMode="auto">
            <a:xfrm flipH="1">
              <a:off x="2640" y="2976"/>
              <a:ext cx="0" cy="96"/>
            </a:xfrm>
            <a:prstGeom prst="line">
              <a:avLst/>
            </a:prstGeom>
            <a:noFill/>
            <a:ln w="28575">
              <a:solidFill>
                <a:schemeClr val="accent6">
                  <a:lumMod val="50000"/>
                </a:schemeClr>
              </a:solidFill>
              <a:round/>
            </a:ln>
            <a:effectLst/>
          </p:spPr>
          <p:txBody>
            <a:bodyPr/>
            <a:lstStyle/>
            <a:p>
              <a:pPr>
                <a:spcBef>
                  <a:spcPct val="20000"/>
                </a:spcBef>
                <a:defRPr/>
              </a:pPr>
              <a:endParaRPr kumimoji="1" lang="zh-CN" altLang="en-US"/>
            </a:p>
          </p:txBody>
        </p:sp>
        <p:sp>
          <p:nvSpPr>
            <p:cNvPr id="22" name="Line 151"/>
            <p:cNvSpPr>
              <a:spLocks noChangeShapeType="1"/>
            </p:cNvSpPr>
            <p:nvPr/>
          </p:nvSpPr>
          <p:spPr bwMode="auto">
            <a:xfrm flipH="1">
              <a:off x="2640" y="3072"/>
              <a:ext cx="1200" cy="0"/>
            </a:xfrm>
            <a:prstGeom prst="line">
              <a:avLst/>
            </a:prstGeom>
            <a:noFill/>
            <a:ln w="28575">
              <a:solidFill>
                <a:schemeClr val="accent6">
                  <a:lumMod val="50000"/>
                </a:schemeClr>
              </a:solidFill>
              <a:round/>
            </a:ln>
            <a:effectLst/>
          </p:spPr>
          <p:txBody>
            <a:bodyPr/>
            <a:lstStyle/>
            <a:p>
              <a:pPr>
                <a:spcBef>
                  <a:spcPct val="20000"/>
                </a:spcBef>
                <a:defRPr/>
              </a:pPr>
              <a:endParaRPr kumimoji="1" lang="zh-CN" altLang="en-US"/>
            </a:p>
          </p:txBody>
        </p:sp>
        <p:sp>
          <p:nvSpPr>
            <p:cNvPr id="23" name="Line 152"/>
            <p:cNvSpPr>
              <a:spLocks noChangeShapeType="1"/>
            </p:cNvSpPr>
            <p:nvPr/>
          </p:nvSpPr>
          <p:spPr bwMode="auto">
            <a:xfrm>
              <a:off x="3840" y="3072"/>
              <a:ext cx="0" cy="144"/>
            </a:xfrm>
            <a:prstGeom prst="line">
              <a:avLst/>
            </a:prstGeom>
            <a:noFill/>
            <a:ln w="28575">
              <a:solidFill>
                <a:schemeClr val="accent6">
                  <a:lumMod val="50000"/>
                </a:schemeClr>
              </a:solidFill>
              <a:round/>
              <a:tailEnd type="triangle" w="med" len="med"/>
            </a:ln>
            <a:effectLst/>
          </p:spPr>
          <p:txBody>
            <a:bodyPr/>
            <a:lstStyle/>
            <a:p>
              <a:pPr>
                <a:spcBef>
                  <a:spcPct val="20000"/>
                </a:spcBef>
                <a:defRPr/>
              </a:pPr>
              <a:endParaRPr kumimoji="1" lang="zh-CN" altLang="en-US"/>
            </a:p>
          </p:txBody>
        </p:sp>
      </p:grpSp>
      <p:sp>
        <p:nvSpPr>
          <p:cNvPr id="24" name="Line 154"/>
          <p:cNvSpPr>
            <a:spLocks noChangeShapeType="1"/>
          </p:cNvSpPr>
          <p:nvPr/>
        </p:nvSpPr>
        <p:spPr bwMode="auto">
          <a:xfrm flipH="1">
            <a:off x="3429000" y="3862388"/>
            <a:ext cx="0" cy="381000"/>
          </a:xfrm>
          <a:prstGeom prst="line">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Rectangle 157"/>
          <p:cNvSpPr>
            <a:spLocks noChangeArrowheads="1"/>
          </p:cNvSpPr>
          <p:nvPr/>
        </p:nvSpPr>
        <p:spPr bwMode="auto">
          <a:xfrm>
            <a:off x="381000" y="422751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000">
                <a:solidFill>
                  <a:schemeClr val="tx2"/>
                </a:solidFill>
              </a:rPr>
              <a:t>22</a:t>
            </a:r>
          </a:p>
        </p:txBody>
      </p:sp>
      <p:sp>
        <p:nvSpPr>
          <p:cNvPr id="26" name="Rectangle 158"/>
          <p:cNvSpPr>
            <a:spLocks noChangeArrowheads="1"/>
          </p:cNvSpPr>
          <p:nvPr/>
        </p:nvSpPr>
        <p:spPr bwMode="auto">
          <a:xfrm>
            <a:off x="5410200" y="4227513"/>
            <a:ext cx="438150" cy="39687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000">
                <a:solidFill>
                  <a:schemeClr val="tx2"/>
                </a:solidFill>
              </a:rPr>
              <a:t>48</a:t>
            </a:r>
          </a:p>
        </p:txBody>
      </p:sp>
      <p:sp>
        <p:nvSpPr>
          <p:cNvPr id="27" name="Rectangle 159"/>
          <p:cNvSpPr>
            <a:spLocks noChangeArrowheads="1"/>
          </p:cNvSpPr>
          <p:nvPr/>
        </p:nvSpPr>
        <p:spPr bwMode="auto">
          <a:xfrm>
            <a:off x="7696200" y="4227513"/>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000">
                <a:solidFill>
                  <a:schemeClr val="tx2"/>
                </a:solidFill>
              </a:rPr>
              <a:t>86</a:t>
            </a:r>
          </a:p>
        </p:txBody>
      </p:sp>
      <p:graphicFrame>
        <p:nvGraphicFramePr>
          <p:cNvPr id="29" name="Group 210"/>
          <p:cNvGraphicFramePr>
            <a:graphicFrameLocks noGrp="1"/>
          </p:cNvGraphicFramePr>
          <p:nvPr/>
        </p:nvGraphicFramePr>
        <p:xfrm>
          <a:off x="2286000" y="3086100"/>
          <a:ext cx="2286000" cy="396875"/>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3968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22</a:t>
                      </a:r>
                    </a:p>
                  </a:txBody>
                  <a:tcPr marT="45793" marB="45793" horzOverflow="overflow">
                    <a:lnL cap="flat">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48</a:t>
                      </a:r>
                    </a:p>
                  </a:txBody>
                  <a:tcPr marT="45793" marB="45793" horzOverflow="overflow">
                    <a:lnL>
                      <a:noFill/>
                    </a:lnL>
                    <a:lnR>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2"/>
                          </a:solidFill>
                          <a:effectLst/>
                          <a:latin typeface="Times New Roman" panose="02020603050405020304" pitchFamily="18" charset="0"/>
                          <a:ea typeface="宋体" panose="02010600030101010101" pitchFamily="2" charset="-122"/>
                        </a:rPr>
                        <a:t>86</a:t>
                      </a:r>
                    </a:p>
                  </a:txBody>
                  <a:tcPr marT="45793" marB="45793"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8987" name="表格 38986"/>
          <p:cNvGraphicFramePr/>
          <p:nvPr/>
        </p:nvGraphicFramePr>
        <p:xfrm>
          <a:off x="2286000" y="3511550"/>
          <a:ext cx="2286000" cy="427038"/>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tblGrid>
              <a:tr h="427038">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1</a:t>
                      </a:r>
                    </a:p>
                  </a:txBody>
                  <a:tcP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7</a:t>
                      </a:r>
                    </a:p>
                  </a:txBody>
                  <a:tcPr>
                    <a:lnL>
                      <a:noFill/>
                    </a:lnL>
                    <a:lnR>
                      <a:noFill/>
                    </a:lnR>
                    <a:lnT>
                      <a:noFill/>
                    </a:lnT>
                    <a:lnB>
                      <a:noFill/>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eaLnBrk="1" hangingPunct="1">
                        <a:spcBef>
                          <a:spcPct val="0"/>
                        </a:spcBef>
                        <a:buNone/>
                      </a:pPr>
                      <a:r>
                        <a:rPr lang="en-US" altLang="zh-CN" sz="2000" dirty="0">
                          <a:latin typeface="Times New Roman" panose="02020603050405020304" pitchFamily="18" charset="0"/>
                          <a:ea typeface="宋体" panose="02010600030101010101" pitchFamily="2" charset="-122"/>
                        </a:rPr>
                        <a:t>13</a:t>
                      </a:r>
                    </a:p>
                  </a:txBody>
                  <a:tcP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strips(downRight)">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strips(downRight)">
                                      <p:cBhvr>
                                        <p:cTn id="12" dur="500"/>
                                        <p:tgtEl>
                                          <p:spTgt spid="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38934"/>
                                        </p:tgtEl>
                                        <p:attrNameLst>
                                          <p:attrName>style.visibility</p:attrName>
                                        </p:attrNameLst>
                                      </p:cBhvr>
                                      <p:to>
                                        <p:strVal val="visible"/>
                                      </p:to>
                                    </p:set>
                                    <p:animEffect transition="in" filter="strips(downRight)">
                                      <p:cBhvr>
                                        <p:cTn id="17" dur="500"/>
                                        <p:tgtEl>
                                          <p:spTgt spid="389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iterate type="wd">
                                    <p:tmAbs val="300"/>
                                  </p:iterate>
                                  <p:childTnLst>
                                    <p:set>
                                      <p:cBhvr>
                                        <p:cTn id="21" dur="1" fill="hold">
                                          <p:stCondLst>
                                            <p:cond delay="299"/>
                                          </p:stCondLst>
                                        </p:cTn>
                                        <p:tgtEl>
                                          <p:spTgt spid="1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iterate type="wd">
                                    <p:tmAbs val="300"/>
                                  </p:iterate>
                                  <p:childTnLst>
                                    <p:set>
                                      <p:cBhvr>
                                        <p:cTn id="25" dur="1" fill="hold">
                                          <p:stCondLst>
                                            <p:cond delay="299"/>
                                          </p:stCondLst>
                                        </p:cTn>
                                        <p:tgtEl>
                                          <p:spTgt spid="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iterate type="wd">
                                    <p:tmAbs val="300"/>
                                  </p:iterate>
                                  <p:childTnLst>
                                    <p:set>
                                      <p:cBhvr>
                                        <p:cTn id="29" dur="1" fill="hold">
                                          <p:stCondLst>
                                            <p:cond delay="299"/>
                                          </p:stCondLst>
                                        </p:cTn>
                                        <p:tgtEl>
                                          <p:spTgt spid="15"/>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fltVal val="0"/>
                                          </p:val>
                                        </p:tav>
                                        <p:tav tm="100000">
                                          <p:val>
                                            <p:strVal val="#ppt_w"/>
                                          </p:val>
                                        </p:tav>
                                      </p:tavLst>
                                    </p:anim>
                                    <p:anim calcmode="lin" valueType="num">
                                      <p:cBhvr>
                                        <p:cTn id="35"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499"/>
                                          </p:stCondLst>
                                        </p:cTn>
                                        <p:tgtEl>
                                          <p:spTgt spid="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iterate type="lt">
                                    <p:tmAbs val="75"/>
                                  </p:iterate>
                                  <p:childTnLst>
                                    <p:set>
                                      <p:cBhvr>
                                        <p:cTn id="43" dur="1" fill="hold">
                                          <p:stCondLst>
                                            <p:cond delay="74"/>
                                          </p:stCondLst>
                                        </p:cTn>
                                        <p:tgtEl>
                                          <p:spTgt spid="10"/>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25"/>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2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2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wipe(left)">
                                      <p:cBhvr>
                                        <p:cTn id="60" dur="500"/>
                                        <p:tgtEl>
                                          <p:spTgt spid="29"/>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iterate type="lt">
                                    <p:tmAbs val="75"/>
                                  </p:iterate>
                                  <p:childTnLst>
                                    <p:set>
                                      <p:cBhvr>
                                        <p:cTn id="64" dur="1" fill="hold">
                                          <p:stCondLst>
                                            <p:cond delay="74"/>
                                          </p:stCondLst>
                                        </p:cTn>
                                        <p:tgtEl>
                                          <p:spTgt spid="11"/>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2"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wipe(right)">
                                      <p:cBhvr>
                                        <p:cTn id="69" dur="500"/>
                                        <p:tgtEl>
                                          <p:spTgt spid="4"/>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1" fill="hold" nodeType="click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wipe(up)">
                                      <p:cBhvr>
                                        <p:cTn id="74" dur="500"/>
                                        <p:tgtEl>
                                          <p:spTgt spid="2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wipe(left)">
                                      <p:cBhvr>
                                        <p:cTn id="79" dur="500"/>
                                        <p:tgtEl>
                                          <p:spTgt spid="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38987"/>
                                        </p:tgtEl>
                                        <p:attrNameLst>
                                          <p:attrName>style.visibility</p:attrName>
                                        </p:attrNameLst>
                                      </p:cBhvr>
                                      <p:to>
                                        <p:strVal val="visible"/>
                                      </p:to>
                                    </p:set>
                                    <p:animEffect transition="in" filter="wipe(left)">
                                      <p:cBhvr>
                                        <p:cTn id="84" dur="500"/>
                                        <p:tgtEl>
                                          <p:spTgt spid="38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p:bldP spid="10" grpId="0"/>
      <p:bldP spid="11" grpId="0"/>
      <p:bldP spid="13" grpId="0"/>
      <p:bldP spid="14" grpId="0"/>
      <p:bldP spid="15" grpId="0"/>
      <p:bldP spid="25" grpId="0"/>
      <p:bldP spid="26" grpId="0" animBg="1"/>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ectangle 4"/>
          <p:cNvSpPr>
            <a:spLocks noChangeArrowheads="1"/>
          </p:cNvSpPr>
          <p:nvPr/>
        </p:nvSpPr>
        <p:spPr bwMode="auto">
          <a:xfrm>
            <a:off x="457200" y="685800"/>
            <a:ext cx="7696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en-US" altLang="zh-CN" dirty="0">
                <a:latin typeface="华文楷体" panose="02010600040101010101" pitchFamily="2" charset="-122"/>
                <a:ea typeface="华文楷体" panose="02010600040101010101" pitchFamily="2" charset="-122"/>
              </a:rPr>
              <a:t>① </a:t>
            </a:r>
            <a:r>
              <a:rPr lang="zh-CN" altLang="en-US" dirty="0">
                <a:latin typeface="华文楷体" panose="02010600040101010101" pitchFamily="2" charset="-122"/>
                <a:ea typeface="华文楷体" panose="02010600040101010101" pitchFamily="2" charset="-122"/>
              </a:rPr>
              <a:t>对索引表使用</a:t>
            </a:r>
            <a:r>
              <a:rPr lang="zh-CN" altLang="en-US" dirty="0">
                <a:solidFill>
                  <a:srgbClr val="0000FF"/>
                </a:solidFill>
                <a:highlight>
                  <a:srgbClr val="00FF00"/>
                </a:highlight>
                <a:latin typeface="华文楷体" panose="02010600040101010101" pitchFamily="2" charset="-122"/>
                <a:ea typeface="华文楷体" panose="02010600040101010101" pitchFamily="2" charset="-122"/>
              </a:rPr>
              <a:t>折半查找法</a:t>
            </a:r>
            <a:r>
              <a:rPr lang="zh-CN" altLang="en-US" dirty="0">
                <a:latin typeface="华文楷体" panose="02010600040101010101" pitchFamily="2" charset="-122"/>
                <a:ea typeface="华文楷体" panose="02010600040101010101" pitchFamily="2" charset="-122"/>
              </a:rPr>
              <a:t>（因为索引表是有序表）；</a:t>
            </a:r>
          </a:p>
          <a:p>
            <a:pPr>
              <a:spcBef>
                <a:spcPct val="50000"/>
              </a:spcBef>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② 确定了待查关键字所在的子表后，在子表内采用</a:t>
            </a:r>
            <a:r>
              <a:rPr lang="zh-CN" altLang="en-US" dirty="0">
                <a:solidFill>
                  <a:srgbClr val="0000FF"/>
                </a:solidFill>
                <a:highlight>
                  <a:srgbClr val="00FF00"/>
                </a:highlight>
                <a:latin typeface="华文楷体" panose="02010600040101010101" pitchFamily="2" charset="-122"/>
                <a:ea typeface="华文楷体" panose="02010600040101010101" pitchFamily="2" charset="-122"/>
              </a:rPr>
              <a:t>顺序查找法</a:t>
            </a:r>
            <a:r>
              <a:rPr lang="zh-CN" altLang="en-US" dirty="0">
                <a:latin typeface="华文楷体" panose="02010600040101010101" pitchFamily="2" charset="-122"/>
                <a:ea typeface="华文楷体" panose="02010600040101010101" pitchFamily="2" charset="-122"/>
              </a:rPr>
              <a:t>（因为各子表内部是无序表）；</a:t>
            </a:r>
          </a:p>
        </p:txBody>
      </p:sp>
      <p:sp>
        <p:nvSpPr>
          <p:cNvPr id="39939" name="Rectangle 5"/>
          <p:cNvSpPr>
            <a:spLocks noChangeArrowheads="1"/>
          </p:cNvSpPr>
          <p:nvPr/>
        </p:nvSpPr>
        <p:spPr bwMode="auto">
          <a:xfrm>
            <a:off x="3347864" y="0"/>
            <a:ext cx="330817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华文楷体" panose="02010600040101010101" pitchFamily="2" charset="-122"/>
                <a:ea typeface="华文楷体" panose="02010600040101010101" pitchFamily="2" charset="-122"/>
              </a:rPr>
              <a:t>分块查找过程</a:t>
            </a:r>
            <a:endParaRPr lang="zh-CN" altLang="en-US" sz="2400">
              <a:solidFill>
                <a:srgbClr val="FF3300"/>
              </a:solidFill>
              <a:latin typeface="华文楷体" panose="02010600040101010101" pitchFamily="2" charset="-122"/>
              <a:ea typeface="华文楷体" panose="0201060004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strips(downRight)">
                                      <p:cBhvr>
                                        <p:cTn id="7" dur="500"/>
                                        <p:tgtEl>
                                          <p:spTgt spid="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62">
                                            <p:txEl>
                                              <p:pRg st="1" end="1"/>
                                            </p:txEl>
                                          </p:spTgt>
                                        </p:tgtEl>
                                        <p:attrNameLst>
                                          <p:attrName>style.visibility</p:attrName>
                                        </p:attrNameLst>
                                      </p:cBhvr>
                                      <p:to>
                                        <p:strVal val="visible"/>
                                      </p:to>
                                    </p:set>
                                    <p:animEffect transition="in" filter="strips(downRight)">
                                      <p:cBhvr>
                                        <p:cTn id="12" dur="500"/>
                                        <p:tgtEl>
                                          <p:spTgt spid="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152400" y="857250"/>
            <a:ext cx="76962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endParaRPr lang="zh-CN" altLang="en-US">
              <a:latin typeface="华文楷体" panose="02010600040101010101" pitchFamily="2" charset="-122"/>
              <a:ea typeface="华文楷体" panose="02010600040101010101" pitchFamily="2" charset="-122"/>
            </a:endParaRPr>
          </a:p>
          <a:p>
            <a:pPr>
              <a:spcBef>
                <a:spcPct val="5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查找效率：</a:t>
            </a:r>
            <a:r>
              <a:rPr lang="en-US" altLang="zh-CN">
                <a:latin typeface="华文楷体" panose="02010600040101010101" pitchFamily="2" charset="-122"/>
                <a:ea typeface="华文楷体" panose="02010600040101010101" pitchFamily="2" charset="-122"/>
              </a:rPr>
              <a:t>ASL=L</a:t>
            </a:r>
            <a:r>
              <a:rPr lang="en-US" altLang="zh-CN" baseline="-25000">
                <a:latin typeface="华文楷体" panose="02010600040101010101" pitchFamily="2" charset="-122"/>
                <a:ea typeface="华文楷体" panose="02010600040101010101" pitchFamily="2" charset="-122"/>
              </a:rPr>
              <a:t>b</a:t>
            </a:r>
            <a:r>
              <a:rPr lang="en-US" altLang="zh-CN">
                <a:latin typeface="华文楷体" panose="02010600040101010101" pitchFamily="2" charset="-122"/>
                <a:ea typeface="华文楷体" panose="02010600040101010101" pitchFamily="2" charset="-122"/>
              </a:rPr>
              <a:t>+L</a:t>
            </a:r>
            <a:r>
              <a:rPr lang="en-US" altLang="zh-CN" baseline="-25000">
                <a:latin typeface="华文楷体" panose="02010600040101010101" pitchFamily="2" charset="-122"/>
                <a:ea typeface="华文楷体" panose="02010600040101010101" pitchFamily="2" charset="-122"/>
              </a:rPr>
              <a:t>w</a:t>
            </a:r>
          </a:p>
        </p:txBody>
      </p:sp>
      <p:sp>
        <p:nvSpPr>
          <p:cNvPr id="8" name="AutoShape 5"/>
          <p:cNvSpPr>
            <a:spLocks noChangeArrowheads="1"/>
          </p:cNvSpPr>
          <p:nvPr/>
        </p:nvSpPr>
        <p:spPr bwMode="auto">
          <a:xfrm>
            <a:off x="152400" y="2324100"/>
            <a:ext cx="3124200" cy="457200"/>
          </a:xfrm>
          <a:prstGeom prst="wedgeRoundRectCallout">
            <a:avLst>
              <a:gd name="adj1" fmla="val 39940"/>
              <a:gd name="adj2" fmla="val -97569"/>
              <a:gd name="adj3" fmla="val 16667"/>
            </a:avLst>
          </a:prstGeom>
          <a:solidFill>
            <a:schemeClr val="accent5">
              <a:lumMod val="60000"/>
              <a:lumOff val="40000"/>
            </a:schemeClr>
          </a:solidFill>
          <a:ln w="9525">
            <a:solidFill>
              <a:schemeClr val="tx1"/>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zh-CN" altLang="en-US" sz="2000">
                <a:solidFill>
                  <a:schemeClr val="hlink"/>
                </a:solidFill>
                <a:latin typeface="华文楷体" panose="02010600040101010101" pitchFamily="2" charset="-122"/>
                <a:ea typeface="华文楷体" panose="02010600040101010101" pitchFamily="2" charset="-122"/>
              </a:rPr>
              <a:t>对索引表查找的</a:t>
            </a:r>
            <a:r>
              <a:rPr lang="en-US" altLang="zh-CN" sz="2000">
                <a:solidFill>
                  <a:schemeClr val="hlink"/>
                </a:solidFill>
                <a:latin typeface="华文楷体" panose="02010600040101010101" pitchFamily="2" charset="-122"/>
                <a:ea typeface="华文楷体" panose="02010600040101010101" pitchFamily="2" charset="-122"/>
              </a:rPr>
              <a:t>ASL</a:t>
            </a:r>
          </a:p>
        </p:txBody>
      </p:sp>
      <p:sp>
        <p:nvSpPr>
          <p:cNvPr id="9" name="AutoShape 6"/>
          <p:cNvSpPr>
            <a:spLocks noChangeArrowheads="1"/>
          </p:cNvSpPr>
          <p:nvPr/>
        </p:nvSpPr>
        <p:spPr bwMode="auto">
          <a:xfrm>
            <a:off x="3886200" y="2214563"/>
            <a:ext cx="2819400" cy="457200"/>
          </a:xfrm>
          <a:prstGeom prst="wedgeRoundRectCallout">
            <a:avLst>
              <a:gd name="adj1" fmla="val -60134"/>
              <a:gd name="adj2" fmla="val -90972"/>
              <a:gd name="adj3" fmla="val 16667"/>
            </a:avLst>
          </a:prstGeom>
          <a:solidFill>
            <a:schemeClr val="accent5">
              <a:lumMod val="60000"/>
              <a:lumOff val="40000"/>
            </a:schemeClr>
          </a:solidFill>
          <a:ln w="9525">
            <a:solidFill>
              <a:schemeClr val="tx1"/>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zh-CN" altLang="en-US" sz="2000">
                <a:solidFill>
                  <a:schemeClr val="hlink"/>
                </a:solidFill>
                <a:latin typeface="华文楷体" panose="02010600040101010101" pitchFamily="2" charset="-122"/>
                <a:ea typeface="华文楷体" panose="02010600040101010101" pitchFamily="2" charset="-122"/>
              </a:rPr>
              <a:t>对块内查找的</a:t>
            </a:r>
            <a:r>
              <a:rPr lang="en-US" altLang="zh-CN" sz="2000">
                <a:solidFill>
                  <a:schemeClr val="hlink"/>
                </a:solidFill>
                <a:latin typeface="华文楷体" panose="02010600040101010101" pitchFamily="2" charset="-122"/>
                <a:ea typeface="华文楷体" panose="02010600040101010101" pitchFamily="2" charset="-122"/>
              </a:rPr>
              <a:t>ASL</a:t>
            </a:r>
          </a:p>
        </p:txBody>
      </p:sp>
      <p:graphicFrame>
        <p:nvGraphicFramePr>
          <p:cNvPr id="10" name="Object 2"/>
          <p:cNvGraphicFramePr>
            <a:graphicFrameLocks/>
          </p:cNvGraphicFramePr>
          <p:nvPr/>
        </p:nvGraphicFramePr>
        <p:xfrm>
          <a:off x="346075" y="2809875"/>
          <a:ext cx="6742113" cy="852488"/>
        </p:xfrm>
        <a:graphic>
          <a:graphicData uri="http://schemas.openxmlformats.org/presentationml/2006/ole">
            <mc:AlternateContent xmlns:mc="http://schemas.openxmlformats.org/markup-compatibility/2006">
              <mc:Choice xmlns:v="urn:schemas-microsoft-com:vml" Requires="v">
                <p:oleObj r:id="rId2" imgW="2499730" imgH="317225" progId="Equation.3">
                  <p:embed/>
                </p:oleObj>
              </mc:Choice>
              <mc:Fallback>
                <p:oleObj r:id="rId2" imgW="2499730" imgH="317225" progId="Equation.3">
                  <p:embed/>
                  <p:pic>
                    <p:nvPicPr>
                      <p:cNvPr id="1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075" y="2809875"/>
                        <a:ext cx="6742113" cy="852488"/>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 name="AutoShape 8"/>
          <p:cNvSpPr>
            <a:spLocks noChangeArrowheads="1"/>
          </p:cNvSpPr>
          <p:nvPr/>
        </p:nvSpPr>
        <p:spPr bwMode="auto">
          <a:xfrm>
            <a:off x="2971800" y="3967163"/>
            <a:ext cx="5257800" cy="457200"/>
          </a:xfrm>
          <a:prstGeom prst="wedgeRoundRectCallout">
            <a:avLst>
              <a:gd name="adj1" fmla="val -60898"/>
              <a:gd name="adj2" fmla="val -136806"/>
              <a:gd name="adj3" fmla="val 16667"/>
            </a:avLst>
          </a:prstGeom>
          <a:solidFill>
            <a:schemeClr val="accent5">
              <a:lumMod val="60000"/>
              <a:lumOff val="40000"/>
            </a:schemeClr>
          </a:solidFill>
          <a:ln w="9525">
            <a:solidFill>
              <a:schemeClr val="tx1"/>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000">
                <a:solidFill>
                  <a:schemeClr val="hlink"/>
                </a:solidFill>
                <a:latin typeface="华文楷体" panose="02010600040101010101" pitchFamily="2" charset="-122"/>
                <a:ea typeface="华文楷体" panose="02010600040101010101" pitchFamily="2" charset="-122"/>
              </a:rPr>
              <a:t>S</a:t>
            </a:r>
            <a:r>
              <a:rPr lang="zh-CN" altLang="en-US" sz="2000">
                <a:solidFill>
                  <a:schemeClr val="hlink"/>
                </a:solidFill>
                <a:latin typeface="华文楷体" panose="02010600040101010101" pitchFamily="2" charset="-122"/>
                <a:ea typeface="华文楷体" panose="02010600040101010101" pitchFamily="2" charset="-122"/>
              </a:rPr>
              <a:t>为每块内部的记录个数，</a:t>
            </a:r>
            <a:r>
              <a:rPr lang="en-US" altLang="zh-CN">
                <a:solidFill>
                  <a:schemeClr val="hlink"/>
                </a:solidFill>
                <a:latin typeface="华文楷体" panose="02010600040101010101" pitchFamily="2" charset="-122"/>
                <a:ea typeface="华文楷体" panose="02010600040101010101" pitchFamily="2" charset="-122"/>
              </a:rPr>
              <a:t>n/s</a:t>
            </a:r>
            <a:r>
              <a:rPr lang="zh-CN" altLang="en-US" sz="2000">
                <a:solidFill>
                  <a:schemeClr val="hlink"/>
                </a:solidFill>
                <a:latin typeface="华文楷体" panose="02010600040101010101" pitchFamily="2" charset="-122"/>
                <a:ea typeface="华文楷体" panose="02010600040101010101" pitchFamily="2" charset="-122"/>
              </a:rPr>
              <a:t>即块的数目</a:t>
            </a:r>
          </a:p>
        </p:txBody>
      </p:sp>
      <p:sp>
        <p:nvSpPr>
          <p:cNvPr id="12" name="Rectangle 9"/>
          <p:cNvSpPr>
            <a:spLocks noChangeArrowheads="1"/>
          </p:cNvSpPr>
          <p:nvPr/>
        </p:nvSpPr>
        <p:spPr bwMode="auto">
          <a:xfrm>
            <a:off x="304800" y="4652963"/>
            <a:ext cx="7924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solidFill>
                  <a:srgbClr val="FF00FF"/>
                </a:solidFill>
                <a:latin typeface="华文楷体" panose="02010600040101010101" pitchFamily="2" charset="-122"/>
                <a:ea typeface="华文楷体" panose="02010600040101010101" pitchFamily="2" charset="-122"/>
              </a:rPr>
              <a:t>例如，当</a:t>
            </a:r>
            <a:r>
              <a:rPr lang="en-US" altLang="zh-CN">
                <a:solidFill>
                  <a:srgbClr val="FF00FF"/>
                </a:solidFill>
                <a:latin typeface="华文楷体" panose="02010600040101010101" pitchFamily="2" charset="-122"/>
                <a:ea typeface="华文楷体" panose="02010600040101010101" pitchFamily="2" charset="-122"/>
              </a:rPr>
              <a:t>n=9</a:t>
            </a:r>
            <a:r>
              <a:rPr lang="zh-CN" altLang="en-US">
                <a:solidFill>
                  <a:srgbClr val="FF00FF"/>
                </a:solidFill>
                <a:latin typeface="华文楷体" panose="02010600040101010101" pitchFamily="2" charset="-122"/>
                <a:ea typeface="华文楷体" panose="02010600040101010101" pitchFamily="2" charset="-122"/>
              </a:rPr>
              <a:t>，</a:t>
            </a:r>
            <a:r>
              <a:rPr lang="en-US" altLang="zh-CN">
                <a:solidFill>
                  <a:srgbClr val="FF00FF"/>
                </a:solidFill>
                <a:latin typeface="华文楷体" panose="02010600040101010101" pitchFamily="2" charset="-122"/>
                <a:ea typeface="华文楷体" panose="02010600040101010101" pitchFamily="2" charset="-122"/>
              </a:rPr>
              <a:t>s=3</a:t>
            </a:r>
            <a:r>
              <a:rPr lang="zh-CN" altLang="en-US">
                <a:solidFill>
                  <a:srgbClr val="FF00FF"/>
                </a:solidFill>
                <a:latin typeface="华文楷体" panose="02010600040101010101" pitchFamily="2" charset="-122"/>
                <a:ea typeface="华文楷体" panose="02010600040101010101" pitchFamily="2" charset="-122"/>
              </a:rPr>
              <a:t>时</a:t>
            </a:r>
            <a:r>
              <a:rPr lang="zh-CN" altLang="en-US">
                <a:latin typeface="华文楷体" panose="02010600040101010101" pitchFamily="2" charset="-122"/>
                <a:ea typeface="华文楷体" panose="02010600040101010101" pitchFamily="2" charset="-122"/>
              </a:rPr>
              <a:t>，</a:t>
            </a:r>
            <a:r>
              <a:rPr lang="en-US" altLang="zh-CN">
                <a:latin typeface="华文楷体" panose="02010600040101010101" pitchFamily="2" charset="-122"/>
                <a:ea typeface="华文楷体" panose="02010600040101010101" pitchFamily="2" charset="-122"/>
              </a:rPr>
              <a:t>ASL</a:t>
            </a:r>
            <a:r>
              <a:rPr lang="en-US" altLang="zh-CN" baseline="-25000">
                <a:latin typeface="华文楷体" panose="02010600040101010101" pitchFamily="2" charset="-122"/>
                <a:ea typeface="华文楷体" panose="02010600040101010101" pitchFamily="2" charset="-122"/>
              </a:rPr>
              <a:t>bs</a:t>
            </a:r>
            <a:r>
              <a:rPr lang="en-US" altLang="zh-CN">
                <a:latin typeface="华文楷体" panose="02010600040101010101" pitchFamily="2" charset="-122"/>
                <a:ea typeface="华文楷体" panose="02010600040101010101" pitchFamily="2" charset="-122"/>
              </a:rPr>
              <a:t>=</a:t>
            </a:r>
            <a:r>
              <a:rPr lang="en-US" altLang="zh-CN">
                <a:solidFill>
                  <a:srgbClr val="FF00FF"/>
                </a:solidFill>
                <a:latin typeface="华文楷体" panose="02010600040101010101" pitchFamily="2" charset="-122"/>
                <a:ea typeface="华文楷体" panose="02010600040101010101" pitchFamily="2" charset="-122"/>
              </a:rPr>
              <a:t>3.5</a:t>
            </a:r>
            <a:r>
              <a:rPr lang="en-US" altLang="zh-CN">
                <a:latin typeface="华文楷体" panose="02010600040101010101" pitchFamily="2" charset="-122"/>
                <a:ea typeface="华文楷体" panose="02010600040101010101" pitchFamily="2" charset="-122"/>
              </a:rPr>
              <a:t>,</a:t>
            </a:r>
            <a:r>
              <a:rPr lang="zh-CN" altLang="en-US">
                <a:latin typeface="华文楷体" panose="02010600040101010101" pitchFamily="2" charset="-122"/>
                <a:ea typeface="华文楷体" panose="02010600040101010101" pitchFamily="2" charset="-122"/>
              </a:rPr>
              <a:t>而折半法为</a:t>
            </a:r>
            <a:r>
              <a:rPr lang="en-US" altLang="zh-CN">
                <a:solidFill>
                  <a:srgbClr val="FF00FF"/>
                </a:solidFill>
                <a:latin typeface="华文楷体" panose="02010600040101010101" pitchFamily="2" charset="-122"/>
                <a:ea typeface="华文楷体" panose="02010600040101010101" pitchFamily="2" charset="-122"/>
              </a:rPr>
              <a:t>3.1</a:t>
            </a:r>
            <a:r>
              <a:rPr lang="en-US" altLang="zh-CN">
                <a:latin typeface="华文楷体" panose="02010600040101010101" pitchFamily="2" charset="-122"/>
                <a:ea typeface="华文楷体" panose="02010600040101010101" pitchFamily="2" charset="-122"/>
              </a:rPr>
              <a:t>,</a:t>
            </a:r>
            <a:r>
              <a:rPr lang="zh-CN" altLang="en-US">
                <a:latin typeface="华文楷体" panose="02010600040101010101" pitchFamily="2" charset="-122"/>
                <a:ea typeface="华文楷体" panose="02010600040101010101" pitchFamily="2" charset="-122"/>
              </a:rPr>
              <a:t>顺序法为</a:t>
            </a:r>
            <a:r>
              <a:rPr lang="en-US" altLang="zh-CN">
                <a:solidFill>
                  <a:srgbClr val="FF00FF"/>
                </a:solidFill>
                <a:latin typeface="华文楷体" panose="02010600040101010101" pitchFamily="2" charset="-122"/>
                <a:ea typeface="华文楷体" panose="02010600040101010101" pitchFamily="2" charset="-122"/>
              </a:rPr>
              <a:t>5</a:t>
            </a:r>
            <a:endParaRPr lang="en-US" altLang="zh-CN" baseline="-25000">
              <a:solidFill>
                <a:srgbClr val="FF00FF"/>
              </a:solidFill>
              <a:latin typeface="华文楷体" panose="02010600040101010101" pitchFamily="2" charset="-122"/>
              <a:ea typeface="华文楷体" panose="02010600040101010101" pitchFamily="2" charset="-122"/>
            </a:endParaRPr>
          </a:p>
        </p:txBody>
      </p:sp>
      <p:sp>
        <p:nvSpPr>
          <p:cNvPr id="41992" name="Rectangle 5"/>
          <p:cNvSpPr>
            <a:spLocks noChangeArrowheads="1"/>
          </p:cNvSpPr>
          <p:nvPr/>
        </p:nvSpPr>
        <p:spPr bwMode="auto">
          <a:xfrm>
            <a:off x="71438" y="0"/>
            <a:ext cx="74279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a:latin typeface="华文楷体" panose="02010600040101010101" pitchFamily="2" charset="-122"/>
                <a:ea typeface="华文楷体" panose="02010600040101010101" pitchFamily="2" charset="-122"/>
              </a:rPr>
              <a:t>分块查找性能分析</a:t>
            </a:r>
            <a:endParaRPr lang="zh-CN" altLang="en-US" sz="3200">
              <a:solidFill>
                <a:srgbClr val="FF33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strips(downRight)">
                                      <p:cBhvr>
                                        <p:cTn id="7" dur="500"/>
                                        <p:tgtEl>
                                          <p:spTgt spid="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iterate type="lt">
                                    <p:tmAbs val="75"/>
                                  </p:iterate>
                                  <p:childTnLst>
                                    <p:set>
                                      <p:cBhvr>
                                        <p:cTn id="11" dur="1" fill="hold">
                                          <p:stCondLst>
                                            <p:cond delay="74"/>
                                          </p:stCondLst>
                                        </p:cTn>
                                        <p:tgtEl>
                                          <p:spTgt spid="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iterate type="lt">
                                    <p:tmAbs val="75"/>
                                  </p:iterate>
                                  <p:childTnLst>
                                    <p:set>
                                      <p:cBhvr>
                                        <p:cTn id="15" dur="1" fill="hold">
                                          <p:stCondLst>
                                            <p:cond delay="74"/>
                                          </p:stCondLst>
                                        </p:cTn>
                                        <p:tgtEl>
                                          <p:spTgt spid="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iterate type="lt">
                                    <p:tmAbs val="75"/>
                                  </p:iterate>
                                  <p:childTnLst>
                                    <p:set>
                                      <p:cBhvr>
                                        <p:cTn id="24" dur="1" fill="hold">
                                          <p:stCondLst>
                                            <p:cond delay="74"/>
                                          </p:stCondLst>
                                        </p:cTn>
                                        <p:tgtEl>
                                          <p:spTgt spid="1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ntr" presetSubtype="37"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arn(outVertical)">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animBg="1"/>
      <p:bldP spid="9" grpId="0" animBg="1"/>
      <p:bldP spid="11" grpId="0" animBg="1"/>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4"/>
          <p:cNvSpPr>
            <a:spLocks noChangeArrowheads="1"/>
          </p:cNvSpPr>
          <p:nvPr/>
        </p:nvSpPr>
        <p:spPr bwMode="auto">
          <a:xfrm>
            <a:off x="457200" y="685800"/>
            <a:ext cx="8115300" cy="343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nSpc>
                <a:spcPct val="150000"/>
              </a:lnSpc>
              <a:spcBef>
                <a:spcPct val="20000"/>
              </a:spcBef>
              <a:buFont typeface="Arial" panose="020B0604020202020204" pitchFamily="34" charset="0"/>
              <a:buNone/>
            </a:pPr>
            <a:r>
              <a:rPr lang="zh-CN" altLang="en-US" dirty="0">
                <a:solidFill>
                  <a:srgbClr val="FF3300"/>
                </a:solidFill>
                <a:latin typeface="华文楷体" panose="02010600040101010101" pitchFamily="2" charset="-122"/>
                <a:ea typeface="华文楷体" panose="02010600040101010101" pitchFamily="2" charset="-122"/>
              </a:rPr>
              <a:t>优点：</a:t>
            </a:r>
            <a:r>
              <a:rPr lang="zh-CN" altLang="en-US" dirty="0">
                <a:highlight>
                  <a:srgbClr val="00FF00"/>
                </a:highlight>
                <a:latin typeface="华文楷体" panose="02010600040101010101" pitchFamily="2" charset="-122"/>
                <a:ea typeface="华文楷体" panose="02010600040101010101" pitchFamily="2" charset="-122"/>
              </a:rPr>
              <a:t>插入和删除比较容易，无需进行大量移动</a:t>
            </a:r>
            <a:r>
              <a:rPr lang="zh-CN" altLang="en-US" dirty="0">
                <a:latin typeface="华文楷体" panose="02010600040101010101" pitchFamily="2" charset="-122"/>
                <a:ea typeface="华文楷体" panose="02010600040101010101" pitchFamily="2" charset="-122"/>
              </a:rPr>
              <a:t>。</a:t>
            </a:r>
            <a:endParaRPr lang="en-US" altLang="zh-CN" dirty="0">
              <a:latin typeface="华文楷体" panose="02010600040101010101" pitchFamily="2" charset="-122"/>
              <a:ea typeface="华文楷体" panose="02010600040101010101" pitchFamily="2" charset="-122"/>
            </a:endParaRPr>
          </a:p>
          <a:p>
            <a:pPr>
              <a:lnSpc>
                <a:spcPct val="150000"/>
              </a:lnSpc>
              <a:spcBef>
                <a:spcPct val="20000"/>
              </a:spcBef>
              <a:buFont typeface="Arial" panose="020B0604020202020204" pitchFamily="34" charset="0"/>
              <a:buNone/>
            </a:pPr>
            <a:r>
              <a:rPr lang="zh-CN" altLang="en-US" dirty="0">
                <a:solidFill>
                  <a:srgbClr val="FF3300"/>
                </a:solidFill>
                <a:latin typeface="华文楷体" panose="02010600040101010101" pitchFamily="2" charset="-122"/>
                <a:ea typeface="华文楷体" panose="02010600040101010101" pitchFamily="2" charset="-122"/>
              </a:rPr>
              <a:t>缺点：</a:t>
            </a:r>
            <a:r>
              <a:rPr lang="zh-CN" altLang="en-US" dirty="0">
                <a:latin typeface="华文楷体" panose="02010600040101010101" pitchFamily="2" charset="-122"/>
                <a:ea typeface="华文楷体" panose="02010600040101010101" pitchFamily="2" charset="-122"/>
              </a:rPr>
              <a:t>要增加一个</a:t>
            </a:r>
            <a:r>
              <a:rPr lang="zh-CN" altLang="en-US" dirty="0">
                <a:highlight>
                  <a:srgbClr val="00FF00"/>
                </a:highlight>
                <a:latin typeface="华文楷体" panose="02010600040101010101" pitchFamily="2" charset="-122"/>
                <a:ea typeface="华文楷体" panose="02010600040101010101" pitchFamily="2" charset="-122"/>
              </a:rPr>
              <a:t>索引表</a:t>
            </a:r>
            <a:r>
              <a:rPr lang="zh-CN" altLang="en-US" dirty="0">
                <a:latin typeface="华文楷体" panose="02010600040101010101" pitchFamily="2" charset="-122"/>
                <a:ea typeface="华文楷体" panose="02010600040101010101" pitchFamily="2" charset="-122"/>
              </a:rPr>
              <a:t>的存储空间并对初始索引表进行排序运算。</a:t>
            </a:r>
            <a:endParaRPr lang="en-US" altLang="zh-CN" dirty="0">
              <a:latin typeface="华文楷体" panose="02010600040101010101" pitchFamily="2" charset="-122"/>
              <a:ea typeface="华文楷体" panose="02010600040101010101" pitchFamily="2" charset="-122"/>
            </a:endParaRPr>
          </a:p>
          <a:p>
            <a:pPr>
              <a:lnSpc>
                <a:spcPct val="150000"/>
              </a:lnSpc>
              <a:spcBef>
                <a:spcPct val="20000"/>
              </a:spcBef>
              <a:buFont typeface="Arial" panose="020B0604020202020204" pitchFamily="34" charset="0"/>
              <a:buNone/>
            </a:pPr>
            <a:r>
              <a:rPr lang="zh-CN" altLang="en-US" dirty="0">
                <a:solidFill>
                  <a:srgbClr val="FF3300"/>
                </a:solidFill>
                <a:latin typeface="华文楷体" panose="02010600040101010101" pitchFamily="2" charset="-122"/>
                <a:ea typeface="华文楷体" panose="02010600040101010101" pitchFamily="2" charset="-122"/>
              </a:rPr>
              <a:t>适用情况：</a:t>
            </a:r>
            <a:r>
              <a:rPr lang="zh-CN" altLang="en-US" dirty="0">
                <a:latin typeface="华文楷体" panose="02010600040101010101" pitchFamily="2" charset="-122"/>
                <a:ea typeface="华文楷体" panose="02010600040101010101" pitchFamily="2" charset="-122"/>
              </a:rPr>
              <a:t>如果线性表既要快速查找又经常动态变化，则可采用分块查找。</a:t>
            </a:r>
          </a:p>
        </p:txBody>
      </p:sp>
      <p:sp>
        <p:nvSpPr>
          <p:cNvPr id="43011" name="Rectangle 5"/>
          <p:cNvSpPr>
            <a:spLocks noChangeArrowheads="1"/>
          </p:cNvSpPr>
          <p:nvPr/>
        </p:nvSpPr>
        <p:spPr bwMode="auto">
          <a:xfrm>
            <a:off x="3851920" y="0"/>
            <a:ext cx="309215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分块查找优缺点</a:t>
            </a:r>
            <a:endParaRPr lang="zh-CN" altLang="en-US" sz="2400" dirty="0">
              <a:solidFill>
                <a:srgbClr val="FF3300"/>
              </a:solidFill>
              <a:latin typeface="华文楷体" panose="02010600040101010101" pitchFamily="2" charset="-122"/>
              <a:ea typeface="华文楷体" panose="02010600040101010101" pitchFamily="2" charset="-122"/>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animEffect transition="in" filter="strips(downRight)">
                                      <p:cBhvr>
                                        <p:cTn id="7" dur="500"/>
                                        <p:tgtEl>
                                          <p:spTgt spid="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59">
                                            <p:txEl>
                                              <p:pRg st="1" end="1"/>
                                            </p:txEl>
                                          </p:spTgt>
                                        </p:tgtEl>
                                        <p:attrNameLst>
                                          <p:attrName>style.visibility</p:attrName>
                                        </p:attrNameLst>
                                      </p:cBhvr>
                                      <p:to>
                                        <p:strVal val="visible"/>
                                      </p:to>
                                    </p:set>
                                    <p:animEffect transition="in" filter="strips(downRight)">
                                      <p:cBhvr>
                                        <p:cTn id="12" dur="500"/>
                                        <p:tgtEl>
                                          <p:spTgt spid="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9">
                                            <p:txEl>
                                              <p:pRg st="2" end="2"/>
                                            </p:txEl>
                                          </p:spTgt>
                                        </p:tgtEl>
                                        <p:attrNameLst>
                                          <p:attrName>style.visibility</p:attrName>
                                        </p:attrNameLst>
                                      </p:cBhvr>
                                      <p:to>
                                        <p:strVal val="visible"/>
                                      </p:to>
                                    </p:set>
                                    <p:animEffect transition="in" filter="strips(downRight)">
                                      <p:cBhvr>
                                        <p:cTn id="17" dur="500"/>
                                        <p:tgtEl>
                                          <p:spTgt spid="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FF3300"/>
                </a:solidFill>
              </a:rPr>
              <a:t>树表的概念</a:t>
            </a:r>
          </a:p>
        </p:txBody>
      </p:sp>
      <p:sp>
        <p:nvSpPr>
          <p:cNvPr id="3" name="内容占位符 2"/>
          <p:cNvSpPr>
            <a:spLocks noGrp="1"/>
          </p:cNvSpPr>
          <p:nvPr>
            <p:ph idx="1"/>
          </p:nvPr>
        </p:nvSpPr>
        <p:spPr>
          <a:xfrm>
            <a:off x="251520" y="1449388"/>
            <a:ext cx="8603232" cy="4725987"/>
          </a:xfrm>
        </p:spPr>
        <p:txBody>
          <a:bodyPr/>
          <a:lstStyle/>
          <a:p>
            <a:r>
              <a:rPr lang="en-US" altLang="zh-CN" sz="2800" b="1" kern="1200" dirty="0">
                <a:latin typeface="华文楷体" panose="02010600040101010101" pitchFamily="2" charset="-122"/>
                <a:ea typeface="华文楷体" panose="02010600040101010101" pitchFamily="2" charset="-122"/>
                <a:cs typeface="楷体_GB2312"/>
              </a:rPr>
              <a:t>3</a:t>
            </a:r>
            <a:r>
              <a:rPr lang="zh-CN" altLang="en-US" sz="2800" b="1" kern="1200" dirty="0">
                <a:latin typeface="华文楷体" panose="02010600040101010101" pitchFamily="2" charset="-122"/>
                <a:ea typeface="华文楷体" panose="02010600040101010101" pitchFamily="2" charset="-122"/>
                <a:cs typeface="楷体_GB2312"/>
              </a:rPr>
              <a:t>种查找方法都是用</a:t>
            </a:r>
            <a:r>
              <a:rPr lang="zh-CN" altLang="en-US" sz="2800" b="1" kern="1200" dirty="0">
                <a:solidFill>
                  <a:srgbClr val="0000FF"/>
                </a:solidFill>
                <a:highlight>
                  <a:srgbClr val="00FF00"/>
                </a:highlight>
                <a:latin typeface="华文楷体" panose="02010600040101010101" pitchFamily="2" charset="-122"/>
                <a:ea typeface="华文楷体" panose="02010600040101010101" pitchFamily="2" charset="-122"/>
                <a:cs typeface="楷体_GB2312"/>
              </a:rPr>
              <a:t>线性表</a:t>
            </a:r>
            <a:r>
              <a:rPr lang="zh-CN" altLang="en-US" sz="2800" b="1" kern="1200" dirty="0">
                <a:latin typeface="华文楷体" panose="02010600040101010101" pitchFamily="2" charset="-122"/>
                <a:ea typeface="华文楷体" panose="02010600040101010101" pitchFamily="2" charset="-122"/>
                <a:cs typeface="楷体_GB2312"/>
              </a:rPr>
              <a:t>作为查找表的组织形式。</a:t>
            </a:r>
            <a:endParaRPr lang="en-US" altLang="zh-CN" sz="2800" b="1" kern="1200" dirty="0">
              <a:latin typeface="华文楷体" panose="02010600040101010101" pitchFamily="2" charset="-122"/>
              <a:ea typeface="华文楷体" panose="02010600040101010101" pitchFamily="2" charset="-122"/>
              <a:cs typeface="楷体_GB2312"/>
            </a:endParaRPr>
          </a:p>
          <a:p>
            <a:r>
              <a:rPr lang="zh-CN" altLang="en-US" sz="2800" b="1" kern="1200" dirty="0">
                <a:latin typeface="华文楷体" panose="02010600040101010101" pitchFamily="2" charset="-122"/>
                <a:ea typeface="华文楷体" panose="02010600040101010101" pitchFamily="2" charset="-122"/>
                <a:cs typeface="楷体_GB2312"/>
              </a:rPr>
              <a:t>其中折半查找</a:t>
            </a:r>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效率较高</a:t>
            </a:r>
            <a:r>
              <a:rPr lang="en-US" altLang="zh-CN" sz="2800" b="1" kern="1200" dirty="0">
                <a:latin typeface="华文楷体" panose="02010600040101010101" pitchFamily="2" charset="-122"/>
                <a:ea typeface="华文楷体" panose="02010600040101010101" pitchFamily="2" charset="-122"/>
                <a:cs typeface="楷体_GB2312"/>
              </a:rPr>
              <a:t>,</a:t>
            </a:r>
            <a:r>
              <a:rPr lang="zh-CN" altLang="en-US" sz="2800" b="1" kern="1200" dirty="0">
                <a:latin typeface="华文楷体" panose="02010600040101010101" pitchFamily="2" charset="-122"/>
                <a:ea typeface="华文楷体" panose="02010600040101010101" pitchFamily="2" charset="-122"/>
                <a:cs typeface="楷体_GB2312"/>
              </a:rPr>
              <a:t>要求表有序，且</a:t>
            </a:r>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不能用链</a:t>
            </a:r>
            <a:r>
              <a:rPr lang="zh-CN" altLang="en-US" sz="2800" b="1" kern="1200" dirty="0">
                <a:latin typeface="华文楷体" panose="02010600040101010101" pitchFamily="2" charset="-122"/>
                <a:ea typeface="华文楷体" panose="02010600040101010101" pitchFamily="2" charset="-122"/>
                <a:cs typeface="楷体_GB2312"/>
              </a:rPr>
              <a:t>表存储。因此，当表的插入或删除操作频繁时，需要移动表中记录，带来</a:t>
            </a:r>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额外时间开销</a:t>
            </a:r>
            <a:r>
              <a:rPr lang="zh-CN" altLang="en-US" sz="2800" b="1" kern="1200" dirty="0">
                <a:latin typeface="华文楷体" panose="02010600040101010101" pitchFamily="2" charset="-122"/>
                <a:ea typeface="华文楷体" panose="02010600040101010101" pitchFamily="2" charset="-122"/>
                <a:cs typeface="楷体_GB2312"/>
              </a:rPr>
              <a:t>，就会抵消折半查找的优点。</a:t>
            </a:r>
            <a:endParaRPr lang="en-US" altLang="zh-CN" sz="2800" b="1" kern="1200" dirty="0">
              <a:latin typeface="华文楷体" panose="02010600040101010101" pitchFamily="2" charset="-122"/>
              <a:ea typeface="华文楷体" panose="02010600040101010101" pitchFamily="2" charset="-122"/>
              <a:cs typeface="楷体_GB2312"/>
            </a:endParaRPr>
          </a:p>
          <a:p>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线性表</a:t>
            </a:r>
            <a:r>
              <a:rPr lang="zh-CN" altLang="en-US" sz="2800" b="1" kern="1200" dirty="0">
                <a:latin typeface="华文楷体" panose="02010600040101010101" pitchFamily="2" charset="-122"/>
                <a:ea typeface="华文楷体" panose="02010600040101010101" pitchFamily="2" charset="-122"/>
                <a:cs typeface="楷体_GB2312"/>
              </a:rPr>
              <a:t>的查找更适用于</a:t>
            </a:r>
            <a:r>
              <a:rPr lang="zh-CN" altLang="en-US" sz="2800" b="1" kern="1200" dirty="0">
                <a:solidFill>
                  <a:srgbClr val="0000FF"/>
                </a:solidFill>
                <a:highlight>
                  <a:srgbClr val="00FF00"/>
                </a:highlight>
                <a:latin typeface="华文楷体" panose="02010600040101010101" pitchFamily="2" charset="-122"/>
                <a:ea typeface="华文楷体" panose="02010600040101010101" pitchFamily="2" charset="-122"/>
                <a:cs typeface="楷体_GB2312"/>
              </a:rPr>
              <a:t>静态</a:t>
            </a:r>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查找表</a:t>
            </a:r>
            <a:r>
              <a:rPr lang="zh-CN" altLang="en-US" sz="2800" b="1" kern="1200" dirty="0">
                <a:latin typeface="华文楷体" panose="02010600040101010101" pitchFamily="2" charset="-122"/>
                <a:ea typeface="华文楷体" panose="02010600040101010101" pitchFamily="2" charset="-122"/>
                <a:cs typeface="楷体_GB2312"/>
              </a:rPr>
              <a:t>；</a:t>
            </a:r>
            <a:endParaRPr lang="en-US" altLang="zh-CN" sz="2800" b="1" kern="1200" dirty="0">
              <a:latin typeface="华文楷体" panose="02010600040101010101" pitchFamily="2" charset="-122"/>
              <a:ea typeface="华文楷体" panose="02010600040101010101" pitchFamily="2" charset="-122"/>
              <a:cs typeface="楷体_GB2312"/>
            </a:endParaRPr>
          </a:p>
          <a:p>
            <a:r>
              <a:rPr lang="zh-CN" altLang="en-US" sz="2800" b="1" kern="1200" dirty="0">
                <a:latin typeface="华文楷体" panose="02010600040101010101" pitchFamily="2" charset="-122"/>
                <a:ea typeface="华文楷体" panose="02010600040101010101" pitchFamily="2" charset="-122"/>
                <a:cs typeface="楷体_GB2312"/>
              </a:rPr>
              <a:t>若要对动态查找表进行高效率的查找，可采用几种</a:t>
            </a:r>
            <a:r>
              <a:rPr lang="zh-CN" altLang="en-US" sz="2800" b="1" kern="1200" dirty="0">
                <a:solidFill>
                  <a:srgbClr val="0000FF"/>
                </a:solidFill>
                <a:highlight>
                  <a:srgbClr val="00FF00"/>
                </a:highlight>
                <a:latin typeface="华文楷体" panose="02010600040101010101" pitchFamily="2" charset="-122"/>
                <a:ea typeface="华文楷体" panose="02010600040101010101" pitchFamily="2" charset="-122"/>
                <a:cs typeface="楷体_GB2312"/>
              </a:rPr>
              <a:t>特殊的二叉树</a:t>
            </a:r>
            <a:r>
              <a:rPr lang="zh-CN" altLang="en-US" sz="2800" b="1" kern="1200" dirty="0">
                <a:latin typeface="华文楷体" panose="02010600040101010101" pitchFamily="2" charset="-122"/>
                <a:ea typeface="华文楷体" panose="02010600040101010101" pitchFamily="2" charset="-122"/>
                <a:cs typeface="楷体_GB2312"/>
              </a:rPr>
              <a:t>作为查找表的组织形式，在此将它们统称为</a:t>
            </a:r>
            <a:r>
              <a:rPr lang="zh-CN" altLang="en-US" sz="2800" b="1" kern="1200" dirty="0">
                <a:solidFill>
                  <a:srgbClr val="0000FF"/>
                </a:solidFill>
                <a:latin typeface="华文楷体" panose="02010600040101010101" pitchFamily="2" charset="-122"/>
                <a:ea typeface="华文楷体" panose="02010600040101010101" pitchFamily="2" charset="-122"/>
                <a:cs typeface="楷体_GB2312"/>
              </a:rPr>
              <a:t>树表</a:t>
            </a:r>
            <a:r>
              <a:rPr lang="zh-CN" altLang="en-US" sz="2400" dirty="0"/>
              <a:t>。</a:t>
            </a:r>
          </a:p>
        </p:txBody>
      </p:sp>
    </p:spTree>
    <p:extLst>
      <p:ext uri="{BB962C8B-B14F-4D97-AF65-F5344CB8AC3E}">
        <p14:creationId xmlns:p14="http://schemas.microsoft.com/office/powerpoint/2010/main" val="2760421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2"/>
          <p:cNvSpPr>
            <a:spLocks noChangeArrowheads="1"/>
          </p:cNvSpPr>
          <p:nvPr/>
        </p:nvSpPr>
        <p:spPr bwMode="auto">
          <a:xfrm>
            <a:off x="0" y="511175"/>
            <a:ext cx="61563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4000" dirty="0">
                <a:solidFill>
                  <a:srgbClr val="0000FF"/>
                </a:solidFill>
                <a:latin typeface="华文楷体" panose="02010600040101010101" pitchFamily="2" charset="-122"/>
                <a:ea typeface="华文楷体" panose="02010600040101010101" pitchFamily="2" charset="-122"/>
              </a:rPr>
              <a:t>7.3 </a:t>
            </a:r>
            <a:r>
              <a:rPr lang="zh-CN" altLang="en-US" sz="4000" dirty="0">
                <a:solidFill>
                  <a:srgbClr val="0000FF"/>
                </a:solidFill>
                <a:latin typeface="华文楷体" panose="02010600040101010101" pitchFamily="2" charset="-122"/>
                <a:ea typeface="华文楷体" panose="02010600040101010101" pitchFamily="2" charset="-122"/>
              </a:rPr>
              <a:t>树表的查找</a:t>
            </a:r>
          </a:p>
        </p:txBody>
      </p:sp>
      <p:sp>
        <p:nvSpPr>
          <p:cNvPr id="45059" name="Line 13"/>
          <p:cNvSpPr>
            <a:spLocks noChangeShapeType="1"/>
          </p:cNvSpPr>
          <p:nvPr/>
        </p:nvSpPr>
        <p:spPr bwMode="auto">
          <a:xfrm>
            <a:off x="0" y="12684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5060" name="Picture 1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50188" y="509588"/>
            <a:ext cx="81121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9987" name="Rectangle 19"/>
          <p:cNvSpPr>
            <a:spLocks noChangeArrowheads="1"/>
          </p:cNvSpPr>
          <p:nvPr/>
        </p:nvSpPr>
        <p:spPr bwMode="auto">
          <a:xfrm>
            <a:off x="306388" y="1635125"/>
            <a:ext cx="4827587" cy="519113"/>
          </a:xfrm>
          <a:prstGeom prst="rect">
            <a:avLst/>
          </a:prstGeom>
          <a:noFill/>
          <a:ln w="9525">
            <a:noFill/>
            <a:miter lim="800000"/>
          </a:ln>
          <a:effectLst/>
        </p:spPr>
        <p:txBody>
          <a:bodyPr wrap="none">
            <a:spAutoFit/>
          </a:bodyPr>
          <a:lstStyle/>
          <a:p>
            <a:pPr eaLnBrk="1" hangingPunct="1">
              <a:defRPr/>
            </a:pPr>
            <a:r>
              <a:rPr kumimoji="1" lang="zh-CN" altLang="en-US" dirty="0">
                <a:latin typeface="楷体_GB2312" pitchFamily="49" charset="-122"/>
                <a:ea typeface="楷体_GB2312" pitchFamily="49" charset="-122"/>
                <a:cs typeface="+mn-cs"/>
                <a:sym typeface="+mn-ea"/>
              </a:rPr>
              <a:t>表结构在</a:t>
            </a:r>
            <a:r>
              <a:rPr kumimoji="1" lang="zh-CN" altLang="en-US" dirty="0">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mn-ea"/>
              </a:rPr>
              <a:t>查找过程中</a:t>
            </a:r>
            <a:r>
              <a:rPr kumimoji="1" lang="zh-CN" altLang="en-US" dirty="0">
                <a:solidFill>
                  <a:srgbClr val="FF330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动态生成</a:t>
            </a:r>
          </a:p>
        </p:txBody>
      </p:sp>
      <p:sp>
        <p:nvSpPr>
          <p:cNvPr id="979988" name="Rectangle 20"/>
          <p:cNvSpPr>
            <a:spLocks noChangeArrowheads="1"/>
          </p:cNvSpPr>
          <p:nvPr/>
        </p:nvSpPr>
        <p:spPr bwMode="auto">
          <a:xfrm>
            <a:off x="306388" y="2220913"/>
            <a:ext cx="5202237" cy="1373187"/>
          </a:xfrm>
          <a:prstGeom prst="rect">
            <a:avLst/>
          </a:prstGeom>
          <a:noFill/>
          <a:ln w="9525">
            <a:noFill/>
            <a:miter lim="800000"/>
          </a:ln>
          <a:effectLst/>
        </p:spPr>
        <p:txBody>
          <a:bodyPr>
            <a:spAutoFit/>
          </a:bodyPr>
          <a:lstStyle/>
          <a:p>
            <a:pPr eaLnBrk="1" hangingPunct="1">
              <a:defRPr/>
            </a:pPr>
            <a:r>
              <a:rPr kumimoji="1" lang="zh-CN" altLang="en-US">
                <a:latin typeface="楷体_GB2312" pitchFamily="49" charset="-122"/>
                <a:ea typeface="楷体_GB2312" pitchFamily="49" charset="-122"/>
                <a:cs typeface="+mn-cs"/>
                <a:sym typeface="+mn-ea"/>
              </a:rPr>
              <a:t>对于给定值</a:t>
            </a:r>
            <a:r>
              <a:rPr kumimoji="1" lang="en-US" altLang="zh-CN">
                <a:latin typeface="楷体_GB2312" pitchFamily="49" charset="-122"/>
                <a:ea typeface="楷体_GB2312" pitchFamily="49" charset="-122"/>
                <a:cs typeface="+mn-cs"/>
                <a:sym typeface="+mn-ea"/>
              </a:rPr>
              <a:t>key</a:t>
            </a:r>
          </a:p>
          <a:p>
            <a:pPr eaLnBrk="1" hangingPunct="1">
              <a:defRPr/>
            </a:pPr>
            <a:r>
              <a:rPr kumimoji="1" lang="zh-CN" altLang="en-US">
                <a:latin typeface="楷体_GB2312" pitchFamily="49" charset="-122"/>
                <a:ea typeface="楷体_GB2312" pitchFamily="49" charset="-122"/>
                <a:cs typeface="+mn-cs"/>
                <a:sym typeface="+mn-ea"/>
              </a:rPr>
              <a:t>若表中存在，则成功返回；</a:t>
            </a:r>
          </a:p>
          <a:p>
            <a:pPr eaLnBrk="1" hangingPunct="1">
              <a:defRPr/>
            </a:pPr>
            <a:r>
              <a:rPr kumimoji="1" lang="zh-CN" altLang="en-US">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mn-ea"/>
              </a:rPr>
              <a:t>否则插入关键字等于</a:t>
            </a:r>
            <a:r>
              <a:rPr kumimoji="1" lang="en-US" altLang="zh-CN">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mn-ea"/>
              </a:rPr>
              <a:t>key </a:t>
            </a:r>
            <a:r>
              <a:rPr kumimoji="1" lang="zh-CN" altLang="en-US">
                <a:solidFill>
                  <a:srgbClr val="FF3300"/>
                </a:solidFill>
                <a:effectLst>
                  <a:outerShdw blurRad="38100" dist="38100" dir="2700000" algn="tl">
                    <a:srgbClr val="C0C0C0"/>
                  </a:outerShdw>
                </a:effectLst>
                <a:latin typeface="楷体_GB2312" pitchFamily="49" charset="-122"/>
                <a:ea typeface="楷体_GB2312" pitchFamily="49" charset="-122"/>
                <a:cs typeface="+mn-cs"/>
                <a:sym typeface="+mn-ea"/>
              </a:rPr>
              <a:t>的记录</a:t>
            </a:r>
          </a:p>
        </p:txBody>
      </p:sp>
      <p:grpSp>
        <p:nvGrpSpPr>
          <p:cNvPr id="2" name="Group 22"/>
          <p:cNvGrpSpPr>
            <a:grpSpLocks/>
          </p:cNvGrpSpPr>
          <p:nvPr/>
        </p:nvGrpSpPr>
        <p:grpSpPr bwMode="auto">
          <a:xfrm>
            <a:off x="5637833" y="2624137"/>
            <a:ext cx="3395663" cy="762000"/>
            <a:chOff x="3461" y="919"/>
            <a:chExt cx="2139" cy="480"/>
          </a:xfrm>
        </p:grpSpPr>
        <p:sp>
          <p:nvSpPr>
            <p:cNvPr id="45064" name="Rectangle 18"/>
            <p:cNvSpPr>
              <a:spLocks noChangeArrowheads="1"/>
            </p:cNvSpPr>
            <p:nvPr/>
          </p:nvSpPr>
          <p:spPr bwMode="auto">
            <a:xfrm>
              <a:off x="4059" y="919"/>
              <a:ext cx="1541" cy="48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3200" dirty="0">
                  <a:solidFill>
                    <a:srgbClr val="FF3300"/>
                  </a:solidFill>
                  <a:latin typeface="楷体_GB2312"/>
                </a:rPr>
                <a:t>二叉排序树</a:t>
              </a:r>
            </a:p>
          </p:txBody>
        </p:sp>
        <p:sp>
          <p:nvSpPr>
            <p:cNvPr id="45065" name="AutoShape 21"/>
            <p:cNvSpPr>
              <a:spLocks noChangeArrowheads="1"/>
            </p:cNvSpPr>
            <p:nvPr/>
          </p:nvSpPr>
          <p:spPr bwMode="auto">
            <a:xfrm>
              <a:off x="3461" y="1063"/>
              <a:ext cx="589" cy="272"/>
            </a:xfrm>
            <a:prstGeom prst="rightArrow">
              <a:avLst>
                <a:gd name="adj1" fmla="val 50000"/>
                <a:gd name="adj2" fmla="val 5411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9799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iterate type="lt">
                                    <p:tmAbs val="75"/>
                                  </p:iterate>
                                  <p:childTnLst>
                                    <p:set>
                                      <p:cBhvr>
                                        <p:cTn id="10" dur="1" fill="hold">
                                          <p:stCondLst>
                                            <p:cond delay="74"/>
                                          </p:stCondLst>
                                        </p:cTn>
                                        <p:tgtEl>
                                          <p:spTgt spid="9799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87" grpId="0"/>
      <p:bldP spid="97998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0"/>
          <p:cNvSpPr>
            <a:spLocks noChangeArrowheads="1"/>
          </p:cNvSpPr>
          <p:nvPr/>
        </p:nvSpPr>
        <p:spPr bwMode="auto">
          <a:xfrm>
            <a:off x="395288" y="692150"/>
            <a:ext cx="8424862"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dirty="0">
                <a:latin typeface="楷体_GB2312"/>
              </a:rPr>
              <a:t>二叉排序树或是空树，或是满足如下性质的二叉树：</a:t>
            </a:r>
          </a:p>
          <a:p>
            <a:pPr>
              <a:spcBef>
                <a:spcPct val="20000"/>
              </a:spcBef>
              <a:buFont typeface="Arial" panose="020B0604020202020204" pitchFamily="34" charset="0"/>
              <a:buNone/>
            </a:pPr>
            <a:r>
              <a:rPr lang="zh-CN" altLang="en-US" dirty="0">
                <a:latin typeface="楷体_GB2312"/>
              </a:rPr>
              <a:t> </a:t>
            </a:r>
            <a:r>
              <a:rPr lang="en-US" altLang="zh-CN" dirty="0">
                <a:latin typeface="楷体_GB2312"/>
              </a:rPr>
              <a:t>(1)</a:t>
            </a:r>
            <a:r>
              <a:rPr lang="zh-CN" altLang="en-US" dirty="0">
                <a:latin typeface="楷体_GB2312"/>
              </a:rPr>
              <a:t>若其左子树非空，则</a:t>
            </a:r>
            <a:r>
              <a:rPr lang="zh-CN" altLang="en-US" dirty="0">
                <a:solidFill>
                  <a:srgbClr val="FF3300"/>
                </a:solidFill>
                <a:highlight>
                  <a:srgbClr val="00FF00"/>
                </a:highlight>
                <a:latin typeface="楷体_GB2312"/>
              </a:rPr>
              <a:t>左</a:t>
            </a:r>
            <a:r>
              <a:rPr lang="zh-CN" altLang="en-US" dirty="0">
                <a:solidFill>
                  <a:srgbClr val="FF3300"/>
                </a:solidFill>
                <a:latin typeface="楷体_GB2312"/>
              </a:rPr>
              <a:t>子树</a:t>
            </a:r>
            <a:r>
              <a:rPr lang="zh-CN" altLang="en-US" dirty="0">
                <a:latin typeface="楷体_GB2312"/>
              </a:rPr>
              <a:t>上所有结点的值均</a:t>
            </a:r>
            <a:r>
              <a:rPr lang="zh-CN" altLang="en-US" dirty="0">
                <a:solidFill>
                  <a:srgbClr val="FF3300"/>
                </a:solidFill>
                <a:highlight>
                  <a:srgbClr val="00FF00"/>
                </a:highlight>
                <a:latin typeface="楷体_GB2312"/>
              </a:rPr>
              <a:t>小</a:t>
            </a:r>
            <a:r>
              <a:rPr lang="zh-CN" altLang="en-US" dirty="0">
                <a:latin typeface="楷体_GB2312"/>
              </a:rPr>
              <a:t>于根结点的值；</a:t>
            </a:r>
          </a:p>
          <a:p>
            <a:pPr>
              <a:spcBef>
                <a:spcPct val="20000"/>
              </a:spcBef>
              <a:buFont typeface="Arial" panose="020B0604020202020204" pitchFamily="34" charset="0"/>
              <a:buNone/>
            </a:pPr>
            <a:r>
              <a:rPr lang="zh-CN" altLang="en-US" dirty="0">
                <a:latin typeface="楷体_GB2312"/>
              </a:rPr>
              <a:t> </a:t>
            </a:r>
            <a:r>
              <a:rPr lang="en-US" altLang="zh-CN" dirty="0">
                <a:latin typeface="楷体_GB2312"/>
              </a:rPr>
              <a:t>(2)</a:t>
            </a:r>
            <a:r>
              <a:rPr lang="zh-CN" altLang="en-US" dirty="0">
                <a:latin typeface="楷体_GB2312"/>
              </a:rPr>
              <a:t>若其右子树非空，则</a:t>
            </a:r>
            <a:r>
              <a:rPr lang="zh-CN" altLang="en-US" dirty="0">
                <a:solidFill>
                  <a:srgbClr val="FF3300"/>
                </a:solidFill>
                <a:highlight>
                  <a:srgbClr val="00FF00"/>
                </a:highlight>
                <a:latin typeface="楷体_GB2312"/>
              </a:rPr>
              <a:t>右</a:t>
            </a:r>
            <a:r>
              <a:rPr lang="zh-CN" altLang="en-US" dirty="0">
                <a:solidFill>
                  <a:srgbClr val="FF3300"/>
                </a:solidFill>
                <a:latin typeface="楷体_GB2312"/>
              </a:rPr>
              <a:t>子树</a:t>
            </a:r>
            <a:r>
              <a:rPr lang="zh-CN" altLang="en-US" dirty="0">
                <a:latin typeface="楷体_GB2312"/>
              </a:rPr>
              <a:t>上所有结点的值均</a:t>
            </a:r>
            <a:r>
              <a:rPr lang="zh-CN" altLang="en-US" dirty="0">
                <a:solidFill>
                  <a:srgbClr val="FF3300"/>
                </a:solidFill>
                <a:highlight>
                  <a:srgbClr val="00FF00"/>
                </a:highlight>
                <a:latin typeface="楷体_GB2312"/>
              </a:rPr>
              <a:t>大</a:t>
            </a:r>
            <a:r>
              <a:rPr lang="zh-CN" altLang="en-US" dirty="0">
                <a:latin typeface="楷体_GB2312"/>
              </a:rPr>
              <a:t>于等于根结点的值；</a:t>
            </a:r>
          </a:p>
          <a:p>
            <a:pPr>
              <a:spcBef>
                <a:spcPct val="20000"/>
              </a:spcBef>
              <a:buFont typeface="Arial" panose="020B0604020202020204" pitchFamily="34" charset="0"/>
              <a:buNone/>
            </a:pPr>
            <a:r>
              <a:rPr lang="zh-CN" altLang="en-US" dirty="0">
                <a:latin typeface="楷体_GB2312"/>
              </a:rPr>
              <a:t> </a:t>
            </a:r>
            <a:r>
              <a:rPr lang="en-US" altLang="zh-CN" dirty="0">
                <a:latin typeface="楷体_GB2312"/>
              </a:rPr>
              <a:t>(3)</a:t>
            </a:r>
            <a:r>
              <a:rPr lang="zh-CN" altLang="en-US" dirty="0">
                <a:latin typeface="楷体_GB2312"/>
              </a:rPr>
              <a:t>其左右子树本身又各是一棵二叉排序树</a:t>
            </a:r>
          </a:p>
        </p:txBody>
      </p:sp>
      <p:sp>
        <p:nvSpPr>
          <p:cNvPr id="46083" name="Rectangle 21"/>
          <p:cNvSpPr>
            <a:spLocks noChangeArrowheads="1"/>
          </p:cNvSpPr>
          <p:nvPr/>
        </p:nvSpPr>
        <p:spPr bwMode="auto">
          <a:xfrm>
            <a:off x="3923928" y="0"/>
            <a:ext cx="222805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a:t>
            </a:r>
          </a:p>
        </p:txBody>
      </p:sp>
      <p:sp>
        <p:nvSpPr>
          <p:cNvPr id="2" name="文本框 1">
            <a:extLst>
              <a:ext uri="{FF2B5EF4-FFF2-40B4-BE49-F238E27FC236}">
                <a16:creationId xmlns:a16="http://schemas.microsoft.com/office/drawing/2014/main" id="{A21128D6-9D80-D26E-203C-5674CF2CD6B2}"/>
              </a:ext>
            </a:extLst>
          </p:cNvPr>
          <p:cNvSpPr txBox="1"/>
          <p:nvPr/>
        </p:nvSpPr>
        <p:spPr>
          <a:xfrm>
            <a:off x="1331640" y="4077072"/>
            <a:ext cx="6768752" cy="954107"/>
          </a:xfrm>
          <a:prstGeom prst="rect">
            <a:avLst/>
          </a:prstGeom>
          <a:noFill/>
        </p:spPr>
        <p:txBody>
          <a:bodyPr wrap="square" rtlCol="0">
            <a:spAutoFit/>
          </a:bodyPr>
          <a:lstStyle/>
          <a:p>
            <a:r>
              <a:rPr lang="zh-CN" altLang="en-US" dirty="0">
                <a:highlight>
                  <a:srgbClr val="00FF00"/>
                </a:highlight>
              </a:rPr>
              <a:t>对于一个结点</a:t>
            </a:r>
            <a:r>
              <a:rPr lang="en-US" altLang="zh-CN" dirty="0">
                <a:highlight>
                  <a:srgbClr val="00FF00"/>
                </a:highlight>
              </a:rPr>
              <a:t>,</a:t>
            </a:r>
            <a:r>
              <a:rPr lang="zh-CN" altLang="en-US" dirty="0">
                <a:highlight>
                  <a:srgbClr val="00FF00"/>
                </a:highlight>
              </a:rPr>
              <a:t>其左树上所有结点的值均比小</a:t>
            </a:r>
            <a:r>
              <a:rPr lang="en-US" altLang="zh-CN" dirty="0">
                <a:highlight>
                  <a:srgbClr val="00FF00"/>
                </a:highlight>
              </a:rPr>
              <a:t>;</a:t>
            </a:r>
            <a:r>
              <a:rPr lang="zh-CN" altLang="en-US" dirty="0">
                <a:highlight>
                  <a:srgbClr val="00FF00"/>
                </a:highlight>
              </a:rPr>
              <a:t>其右树上所有的值均比其大</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a:grpSpLocks/>
          </p:cNvGrpSpPr>
          <p:nvPr/>
        </p:nvGrpSpPr>
        <p:grpSpPr bwMode="auto">
          <a:xfrm>
            <a:off x="0" y="1412875"/>
            <a:ext cx="9144000" cy="3262313"/>
            <a:chOff x="0" y="624"/>
            <a:chExt cx="5760" cy="2592"/>
          </a:xfrm>
        </p:grpSpPr>
        <p:graphicFrame>
          <p:nvGraphicFramePr>
            <p:cNvPr id="47110" name="Object 7"/>
            <p:cNvGraphicFramePr>
              <a:graphicFrameLocks/>
            </p:cNvGraphicFramePr>
            <p:nvPr/>
          </p:nvGraphicFramePr>
          <p:xfrm>
            <a:off x="2784" y="624"/>
            <a:ext cx="2976" cy="2589"/>
          </p:xfrm>
          <a:graphic>
            <a:graphicData uri="http://schemas.openxmlformats.org/presentationml/2006/ole">
              <mc:AlternateContent xmlns:mc="http://schemas.openxmlformats.org/markup-compatibility/2006">
                <mc:Choice xmlns:v="urn:schemas-microsoft-com:vml" Requires="v">
                  <p:oleObj r:id="rId2" imgW="2821038" imgH="1906107" progId="Photoshop.Image.5">
                    <p:embed/>
                  </p:oleObj>
                </mc:Choice>
                <mc:Fallback>
                  <p:oleObj r:id="rId2" imgW="2821038" imgH="1906107" progId="Photoshop.Image.5">
                    <p:embed/>
                    <p:pic>
                      <p:nvPicPr>
                        <p:cNvPr id="47110" name="Object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4" y="624"/>
                          <a:ext cx="2976" cy="2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7111" name="Object 8"/>
            <p:cNvGraphicFramePr>
              <a:graphicFrameLocks/>
            </p:cNvGraphicFramePr>
            <p:nvPr/>
          </p:nvGraphicFramePr>
          <p:xfrm>
            <a:off x="0" y="624"/>
            <a:ext cx="2784" cy="2592"/>
          </p:xfrm>
          <a:graphic>
            <a:graphicData uri="http://schemas.openxmlformats.org/presentationml/2006/ole">
              <mc:AlternateContent xmlns:mc="http://schemas.openxmlformats.org/markup-compatibility/2006">
                <mc:Choice xmlns:v="urn:schemas-microsoft-com:vml" Requires="v">
                  <p:oleObj r:id="rId4" imgW="2439816" imgH="2350865" progId="Photoshop.Image.5">
                    <p:embed/>
                  </p:oleObj>
                </mc:Choice>
                <mc:Fallback>
                  <p:oleObj r:id="rId4" imgW="2439816" imgH="2350865" progId="Photoshop.Image.5">
                    <p:embed/>
                    <p:pic>
                      <p:nvPicPr>
                        <p:cNvPr id="47111" name="Object 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24"/>
                          <a:ext cx="2784" cy="2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7108" name="Rectangle 10"/>
          <p:cNvSpPr>
            <a:spLocks noChangeArrowheads="1"/>
          </p:cNvSpPr>
          <p:nvPr/>
        </p:nvSpPr>
        <p:spPr bwMode="auto">
          <a:xfrm>
            <a:off x="430213" y="685800"/>
            <a:ext cx="7670800" cy="72707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3200" dirty="0">
                <a:latin typeface="楷体_GB2312"/>
              </a:rPr>
              <a:t>下列图形中，哪个不是二叉排序树 ？</a:t>
            </a:r>
          </a:p>
        </p:txBody>
      </p:sp>
      <p:sp>
        <p:nvSpPr>
          <p:cNvPr id="946187" name="Oval 11"/>
          <p:cNvSpPr>
            <a:spLocks noChangeArrowheads="1"/>
          </p:cNvSpPr>
          <p:nvPr/>
        </p:nvSpPr>
        <p:spPr bwMode="auto">
          <a:xfrm>
            <a:off x="6462713" y="2855913"/>
            <a:ext cx="457200" cy="457200"/>
          </a:xfrm>
          <a:prstGeom prst="ellipse">
            <a:avLst/>
          </a:pr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946187"/>
                                        </p:tgtEl>
                                        <p:attrNameLst>
                                          <p:attrName>style.visibility</p:attrName>
                                        </p:attrNameLst>
                                      </p:cBhvr>
                                      <p:to>
                                        <p:strVal val="visible"/>
                                      </p:to>
                                    </p:set>
                                    <p:anim calcmode="lin" valueType="num">
                                      <p:cBhvr additive="base">
                                        <p:cTn id="12" dur="500" fill="hold"/>
                                        <p:tgtEl>
                                          <p:spTgt spid="946187"/>
                                        </p:tgtEl>
                                        <p:attrNameLst>
                                          <p:attrName>ppt_x</p:attrName>
                                        </p:attrNameLst>
                                      </p:cBhvr>
                                      <p:tavLst>
                                        <p:tav tm="0">
                                          <p:val>
                                            <p:strVal val="1+#ppt_w/2"/>
                                          </p:val>
                                        </p:tav>
                                        <p:tav tm="100000">
                                          <p:val>
                                            <p:strVal val="#ppt_x"/>
                                          </p:val>
                                        </p:tav>
                                      </p:tavLst>
                                    </p:anim>
                                    <p:anim calcmode="lin" valueType="num">
                                      <p:cBhvr additive="base">
                                        <p:cTn id="13" dur="500" fill="hold"/>
                                        <p:tgtEl>
                                          <p:spTgt spid="9461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8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4"/>
          <p:cNvGrpSpPr>
            <a:grpSpLocks/>
          </p:cNvGrpSpPr>
          <p:nvPr/>
        </p:nvGrpSpPr>
        <p:grpSpPr bwMode="auto">
          <a:xfrm>
            <a:off x="4808538" y="668338"/>
            <a:ext cx="4038600" cy="3733800"/>
            <a:chOff x="1152" y="720"/>
            <a:chExt cx="2544" cy="2352"/>
          </a:xfrm>
        </p:grpSpPr>
        <p:sp>
          <p:nvSpPr>
            <p:cNvPr id="48138" name="Oval 5"/>
            <p:cNvSpPr>
              <a:spLocks noChangeArrowheads="1"/>
            </p:cNvSpPr>
            <p:nvPr/>
          </p:nvSpPr>
          <p:spPr bwMode="auto">
            <a:xfrm>
              <a:off x="2064" y="720"/>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45</a:t>
              </a:r>
            </a:p>
          </p:txBody>
        </p:sp>
        <p:sp>
          <p:nvSpPr>
            <p:cNvPr id="48139" name="Oval 6"/>
            <p:cNvSpPr>
              <a:spLocks noChangeArrowheads="1"/>
            </p:cNvSpPr>
            <p:nvPr/>
          </p:nvSpPr>
          <p:spPr bwMode="auto">
            <a:xfrm>
              <a:off x="1632" y="1152"/>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48140" name="Oval 7"/>
            <p:cNvSpPr>
              <a:spLocks noChangeArrowheads="1"/>
            </p:cNvSpPr>
            <p:nvPr/>
          </p:nvSpPr>
          <p:spPr bwMode="auto">
            <a:xfrm>
              <a:off x="2640" y="1152"/>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53</a:t>
              </a:r>
            </a:p>
          </p:txBody>
        </p:sp>
        <p:sp>
          <p:nvSpPr>
            <p:cNvPr id="48141" name="Oval 8"/>
            <p:cNvSpPr>
              <a:spLocks noChangeArrowheads="1"/>
            </p:cNvSpPr>
            <p:nvPr/>
          </p:nvSpPr>
          <p:spPr bwMode="auto">
            <a:xfrm>
              <a:off x="1152" y="1728"/>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a:t>
              </a:r>
            </a:p>
          </p:txBody>
        </p:sp>
        <p:sp>
          <p:nvSpPr>
            <p:cNvPr id="48142" name="Oval 9"/>
            <p:cNvSpPr>
              <a:spLocks noChangeArrowheads="1"/>
            </p:cNvSpPr>
            <p:nvPr/>
          </p:nvSpPr>
          <p:spPr bwMode="auto">
            <a:xfrm>
              <a:off x="2064" y="1728"/>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48143" name="Oval 10"/>
            <p:cNvSpPr>
              <a:spLocks noChangeArrowheads="1"/>
            </p:cNvSpPr>
            <p:nvPr/>
          </p:nvSpPr>
          <p:spPr bwMode="auto">
            <a:xfrm>
              <a:off x="1680" y="2304"/>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48144" name="Line 11"/>
            <p:cNvSpPr>
              <a:spLocks noChangeShapeType="1"/>
            </p:cNvSpPr>
            <p:nvPr/>
          </p:nvSpPr>
          <p:spPr bwMode="auto">
            <a:xfrm flipH="1">
              <a:off x="1968" y="100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5" name="Line 12"/>
            <p:cNvSpPr>
              <a:spLocks noChangeShapeType="1"/>
            </p:cNvSpPr>
            <p:nvPr/>
          </p:nvSpPr>
          <p:spPr bwMode="auto">
            <a:xfrm flipH="1">
              <a:off x="1440" y="1488"/>
              <a:ext cx="24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6" name="Line 13"/>
            <p:cNvSpPr>
              <a:spLocks noChangeShapeType="1"/>
            </p:cNvSpPr>
            <p:nvPr/>
          </p:nvSpPr>
          <p:spPr bwMode="auto">
            <a:xfrm>
              <a:off x="1968" y="1488"/>
              <a:ext cx="19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7" name="Line 14"/>
            <p:cNvSpPr>
              <a:spLocks noChangeShapeType="1"/>
            </p:cNvSpPr>
            <p:nvPr/>
          </p:nvSpPr>
          <p:spPr bwMode="auto">
            <a:xfrm flipH="1">
              <a:off x="1968" y="2064"/>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8" name="Oval 15"/>
            <p:cNvSpPr>
              <a:spLocks noChangeArrowheads="1"/>
            </p:cNvSpPr>
            <p:nvPr/>
          </p:nvSpPr>
          <p:spPr bwMode="auto">
            <a:xfrm>
              <a:off x="3216" y="1680"/>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100</a:t>
              </a:r>
            </a:p>
          </p:txBody>
        </p:sp>
        <p:sp>
          <p:nvSpPr>
            <p:cNvPr id="48149" name="Oval 16"/>
            <p:cNvSpPr>
              <a:spLocks noChangeArrowheads="1"/>
            </p:cNvSpPr>
            <p:nvPr/>
          </p:nvSpPr>
          <p:spPr bwMode="auto">
            <a:xfrm>
              <a:off x="2688" y="2064"/>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61</a:t>
              </a:r>
            </a:p>
          </p:txBody>
        </p:sp>
        <p:sp>
          <p:nvSpPr>
            <p:cNvPr id="48150" name="Oval 17"/>
            <p:cNvSpPr>
              <a:spLocks noChangeArrowheads="1"/>
            </p:cNvSpPr>
            <p:nvPr/>
          </p:nvSpPr>
          <p:spPr bwMode="auto">
            <a:xfrm>
              <a:off x="3312" y="2400"/>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90</a:t>
              </a:r>
            </a:p>
          </p:txBody>
        </p:sp>
        <p:sp>
          <p:nvSpPr>
            <p:cNvPr id="48151" name="Oval 18"/>
            <p:cNvSpPr>
              <a:spLocks noChangeArrowheads="1"/>
            </p:cNvSpPr>
            <p:nvPr/>
          </p:nvSpPr>
          <p:spPr bwMode="auto">
            <a:xfrm>
              <a:off x="2736" y="2736"/>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78</a:t>
              </a:r>
            </a:p>
          </p:txBody>
        </p:sp>
        <p:sp>
          <p:nvSpPr>
            <p:cNvPr id="48152" name="Line 19"/>
            <p:cNvSpPr>
              <a:spLocks noChangeShapeType="1"/>
            </p:cNvSpPr>
            <p:nvPr/>
          </p:nvSpPr>
          <p:spPr bwMode="auto">
            <a:xfrm>
              <a:off x="2400" y="1008"/>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3" name="Line 20"/>
            <p:cNvSpPr>
              <a:spLocks noChangeShapeType="1"/>
            </p:cNvSpPr>
            <p:nvPr/>
          </p:nvSpPr>
          <p:spPr bwMode="auto">
            <a:xfrm>
              <a:off x="2976" y="1440"/>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4" name="Line 21"/>
            <p:cNvSpPr>
              <a:spLocks noChangeShapeType="1"/>
            </p:cNvSpPr>
            <p:nvPr/>
          </p:nvSpPr>
          <p:spPr bwMode="auto">
            <a:xfrm flipH="1">
              <a:off x="3072" y="1968"/>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5" name="Line 22"/>
            <p:cNvSpPr>
              <a:spLocks noChangeShapeType="1"/>
            </p:cNvSpPr>
            <p:nvPr/>
          </p:nvSpPr>
          <p:spPr bwMode="auto">
            <a:xfrm>
              <a:off x="3024" y="2304"/>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56" name="Line 23"/>
            <p:cNvSpPr>
              <a:spLocks noChangeShapeType="1"/>
            </p:cNvSpPr>
            <p:nvPr/>
          </p:nvSpPr>
          <p:spPr bwMode="auto">
            <a:xfrm flipH="1">
              <a:off x="3120" y="2640"/>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30"/>
          <p:cNvGrpSpPr>
            <a:grpSpLocks/>
          </p:cNvGrpSpPr>
          <p:nvPr/>
        </p:nvGrpSpPr>
        <p:grpSpPr bwMode="auto">
          <a:xfrm>
            <a:off x="312738" y="3808413"/>
            <a:ext cx="6477000" cy="1204912"/>
            <a:chOff x="197" y="2399"/>
            <a:chExt cx="4080" cy="759"/>
          </a:xfrm>
        </p:grpSpPr>
        <p:sp>
          <p:nvSpPr>
            <p:cNvPr id="48135" name="Text Box 24"/>
            <p:cNvSpPr txBox="1">
              <a:spLocks noChangeArrowheads="1"/>
            </p:cNvSpPr>
            <p:nvPr/>
          </p:nvSpPr>
          <p:spPr bwMode="auto">
            <a:xfrm>
              <a:off x="197" y="2399"/>
              <a:ext cx="4080"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dirty="0">
                  <a:solidFill>
                    <a:schemeClr val="accent2"/>
                  </a:solidFill>
                  <a:ea typeface="宋体" panose="02010600030101010101" pitchFamily="2" charset="-122"/>
                </a:rPr>
                <a:t>3</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12</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24</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37</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45</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53</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61</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78</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90</a:t>
              </a:r>
              <a:r>
                <a:rPr lang="zh-CN" altLang="en-US" sz="2400" dirty="0">
                  <a:solidFill>
                    <a:schemeClr val="accent2"/>
                  </a:solidFill>
                  <a:ea typeface="宋体" panose="02010600030101010101" pitchFamily="2" charset="-122"/>
                </a:rPr>
                <a:t>，</a:t>
              </a:r>
              <a:r>
                <a:rPr lang="en-US" altLang="zh-CN" sz="2400" dirty="0">
                  <a:solidFill>
                    <a:schemeClr val="accent2"/>
                  </a:solidFill>
                  <a:ea typeface="宋体" panose="02010600030101010101" pitchFamily="2" charset="-122"/>
                </a:rPr>
                <a:t>100</a:t>
              </a:r>
            </a:p>
            <a:p>
              <a:pPr eaLnBrk="1" hangingPunct="1">
                <a:spcBef>
                  <a:spcPct val="50000"/>
                </a:spcBef>
                <a:buFont typeface="Arial" panose="020B0604020202020204" pitchFamily="34" charset="0"/>
                <a:buNone/>
              </a:pPr>
              <a:endParaRPr lang="en-US" altLang="zh-CN" sz="2400" dirty="0">
                <a:solidFill>
                  <a:schemeClr val="accent2"/>
                </a:solidFill>
                <a:ea typeface="宋体" panose="02010600030101010101" pitchFamily="2" charset="-122"/>
              </a:endParaRPr>
            </a:p>
          </p:txBody>
        </p:sp>
        <p:sp>
          <p:nvSpPr>
            <p:cNvPr id="48136" name="Line 25"/>
            <p:cNvSpPr>
              <a:spLocks noChangeShapeType="1"/>
            </p:cNvSpPr>
            <p:nvPr/>
          </p:nvSpPr>
          <p:spPr bwMode="auto">
            <a:xfrm>
              <a:off x="225" y="2735"/>
              <a:ext cx="3696"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8137" name="Text Box 26"/>
            <p:cNvSpPr txBox="1">
              <a:spLocks noChangeArrowheads="1"/>
            </p:cNvSpPr>
            <p:nvPr/>
          </p:nvSpPr>
          <p:spPr bwMode="auto">
            <a:xfrm>
              <a:off x="1474" y="2831"/>
              <a:ext cx="59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a:solidFill>
                    <a:schemeClr val="accent2"/>
                  </a:solidFill>
                </a:rPr>
                <a:t>递增</a:t>
              </a:r>
            </a:p>
          </p:txBody>
        </p:sp>
      </p:grpSp>
      <p:sp>
        <p:nvSpPr>
          <p:cNvPr id="1015835" name="Text Box 27"/>
          <p:cNvSpPr txBox="1">
            <a:spLocks noChangeArrowheads="1"/>
          </p:cNvSpPr>
          <p:nvPr/>
        </p:nvSpPr>
        <p:spPr bwMode="auto">
          <a:xfrm>
            <a:off x="256422" y="3058440"/>
            <a:ext cx="5211683" cy="523220"/>
          </a:xfrm>
          <a:prstGeom prst="rect">
            <a:avLst/>
          </a:prstGeom>
          <a:noFill/>
          <a:ln w="38100">
            <a:solidFill>
              <a:srgbClr val="00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dirty="0">
                <a:solidFill>
                  <a:srgbClr val="FF3300"/>
                </a:solidFill>
              </a:rPr>
              <a:t>得到一个</a:t>
            </a:r>
            <a:r>
              <a:rPr lang="zh-CN" altLang="en-US" dirty="0">
                <a:solidFill>
                  <a:srgbClr val="FF3300"/>
                </a:solidFill>
                <a:highlight>
                  <a:srgbClr val="00FF00"/>
                </a:highlight>
              </a:rPr>
              <a:t>关键字的递增有序序列</a:t>
            </a:r>
          </a:p>
        </p:txBody>
      </p:sp>
      <p:sp>
        <p:nvSpPr>
          <p:cNvPr id="48133" name="Rectangle 28"/>
          <p:cNvSpPr>
            <a:spLocks noChangeArrowheads="1"/>
          </p:cNvSpPr>
          <p:nvPr/>
        </p:nvSpPr>
        <p:spPr bwMode="auto">
          <a:xfrm>
            <a:off x="3517380" y="92073"/>
            <a:ext cx="2339975" cy="38417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solidFill>
                  <a:srgbClr val="FF33CC"/>
                </a:solidFill>
                <a:latin typeface="楷体_GB2312"/>
              </a:rPr>
              <a:t>练习</a:t>
            </a:r>
          </a:p>
        </p:txBody>
      </p:sp>
      <p:sp>
        <p:nvSpPr>
          <p:cNvPr id="48134" name="Rectangle 29"/>
          <p:cNvSpPr>
            <a:spLocks noChangeArrowheads="1"/>
          </p:cNvSpPr>
          <p:nvPr/>
        </p:nvSpPr>
        <p:spPr bwMode="auto">
          <a:xfrm>
            <a:off x="430213" y="855663"/>
            <a:ext cx="3494087" cy="202247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3200" dirty="0">
                <a:latin typeface="楷体_GB2312"/>
              </a:rPr>
              <a:t>中序遍历二叉排序树后的结果</a:t>
            </a:r>
            <a:r>
              <a:rPr lang="en-US" altLang="zh-CN" sz="3200" dirty="0">
                <a:latin typeface="楷体_GB2312"/>
              </a:rPr>
              <a:t>:</a:t>
            </a:r>
            <a:r>
              <a:rPr lang="zh-CN" altLang="en-US" sz="3200" dirty="0">
                <a:latin typeface="楷体_GB2312"/>
              </a:rPr>
              <a:t>规律？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5835"/>
                                        </p:tgtEl>
                                        <p:attrNameLst>
                                          <p:attrName>style.visibility</p:attrName>
                                        </p:attrNameLst>
                                      </p:cBhvr>
                                      <p:to>
                                        <p:strVal val="visible"/>
                                      </p:to>
                                    </p:set>
                                    <p:anim calcmode="lin" valueType="num">
                                      <p:cBhvr additive="base">
                                        <p:cTn id="13" dur="500" fill="hold"/>
                                        <p:tgtEl>
                                          <p:spTgt spid="1015835"/>
                                        </p:tgtEl>
                                        <p:attrNameLst>
                                          <p:attrName>ppt_x</p:attrName>
                                        </p:attrNameLst>
                                      </p:cBhvr>
                                      <p:tavLst>
                                        <p:tav tm="0">
                                          <p:val>
                                            <p:strVal val="0-#ppt_w/2"/>
                                          </p:val>
                                        </p:tav>
                                        <p:tav tm="100000">
                                          <p:val>
                                            <p:strVal val="#ppt_x"/>
                                          </p:val>
                                        </p:tav>
                                      </p:tavLst>
                                    </p:anim>
                                    <p:anim calcmode="lin" valueType="num">
                                      <p:cBhvr additive="base">
                                        <p:cTn id="14" dur="500" fill="hold"/>
                                        <p:tgtEl>
                                          <p:spTgt spid="10158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583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95"/>
          <p:cNvSpPr>
            <a:spLocks noChangeArrowheads="1"/>
          </p:cNvSpPr>
          <p:nvPr/>
        </p:nvSpPr>
        <p:spPr bwMode="auto">
          <a:xfrm>
            <a:off x="-84138" y="914400"/>
            <a:ext cx="551973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1">
              <a:spcBef>
                <a:spcPct val="50000"/>
              </a:spcBef>
              <a:buFont typeface="Arial" panose="020B0604020202020204" pitchFamily="34" charset="0"/>
              <a:buNone/>
            </a:pPr>
            <a:r>
              <a:rPr lang="zh-CN" altLang="en-US" sz="2400" dirty="0">
                <a:latin typeface="楷体_GB2312"/>
              </a:rPr>
              <a:t>若查找的关键字</a:t>
            </a:r>
            <a:r>
              <a:rPr lang="zh-CN" altLang="en-US" sz="2400" dirty="0">
                <a:solidFill>
                  <a:srgbClr val="FF3300"/>
                </a:solidFill>
                <a:highlight>
                  <a:srgbClr val="00FF00"/>
                </a:highlight>
                <a:latin typeface="楷体_GB2312"/>
              </a:rPr>
              <a:t>等于</a:t>
            </a:r>
            <a:r>
              <a:rPr lang="zh-CN" altLang="en-US" sz="2400" dirty="0">
                <a:highlight>
                  <a:srgbClr val="00FF00"/>
                </a:highlight>
                <a:latin typeface="楷体_GB2312"/>
              </a:rPr>
              <a:t>根结点，</a:t>
            </a:r>
            <a:r>
              <a:rPr lang="zh-CN" altLang="en-US" sz="2400" dirty="0">
                <a:solidFill>
                  <a:srgbClr val="FF3300"/>
                </a:solidFill>
                <a:highlight>
                  <a:srgbClr val="00FF00"/>
                </a:highlight>
                <a:latin typeface="楷体_GB2312"/>
              </a:rPr>
              <a:t>成功</a:t>
            </a:r>
          </a:p>
          <a:p>
            <a:pPr lvl="1">
              <a:spcBef>
                <a:spcPct val="50000"/>
              </a:spcBef>
              <a:buFont typeface="Arial" panose="020B0604020202020204" pitchFamily="34" charset="0"/>
              <a:buNone/>
            </a:pPr>
            <a:r>
              <a:rPr lang="zh-CN" altLang="en-US" sz="2400" dirty="0">
                <a:latin typeface="楷体_GB2312"/>
              </a:rPr>
              <a:t>否则</a:t>
            </a:r>
          </a:p>
          <a:p>
            <a:pPr lvl="1">
              <a:spcBef>
                <a:spcPct val="50000"/>
              </a:spcBef>
              <a:buFont typeface="Arial" panose="020B0604020202020204" pitchFamily="34" charset="0"/>
              <a:buNone/>
            </a:pPr>
            <a:r>
              <a:rPr lang="zh-CN" altLang="en-US" sz="2400" dirty="0">
                <a:latin typeface="楷体_GB2312"/>
              </a:rPr>
              <a:t>　若</a:t>
            </a:r>
            <a:r>
              <a:rPr lang="zh-CN" altLang="en-US" sz="2400" dirty="0">
                <a:solidFill>
                  <a:srgbClr val="FF3300"/>
                </a:solidFill>
                <a:highlight>
                  <a:srgbClr val="00FF00"/>
                </a:highlight>
                <a:latin typeface="楷体_GB2312"/>
              </a:rPr>
              <a:t>小</a:t>
            </a:r>
            <a:r>
              <a:rPr lang="zh-CN" altLang="en-US" sz="2400" dirty="0">
                <a:solidFill>
                  <a:srgbClr val="FF3300"/>
                </a:solidFill>
                <a:latin typeface="楷体_GB2312"/>
              </a:rPr>
              <a:t>于</a:t>
            </a:r>
            <a:r>
              <a:rPr lang="zh-CN" altLang="en-US" sz="2400" dirty="0">
                <a:latin typeface="楷体_GB2312"/>
              </a:rPr>
              <a:t>根结点，</a:t>
            </a:r>
            <a:r>
              <a:rPr lang="zh-CN" altLang="en-US" sz="2400" dirty="0">
                <a:highlight>
                  <a:srgbClr val="00FF00"/>
                </a:highlight>
                <a:latin typeface="楷体_GB2312"/>
              </a:rPr>
              <a:t>查其</a:t>
            </a:r>
            <a:r>
              <a:rPr lang="zh-CN" altLang="en-US" sz="2400" dirty="0">
                <a:solidFill>
                  <a:srgbClr val="FF3300"/>
                </a:solidFill>
                <a:highlight>
                  <a:srgbClr val="00FF00"/>
                </a:highlight>
                <a:latin typeface="楷体_GB2312"/>
              </a:rPr>
              <a:t>左</a:t>
            </a:r>
            <a:r>
              <a:rPr lang="zh-CN" altLang="en-US" sz="2400" dirty="0">
                <a:solidFill>
                  <a:srgbClr val="FF3300"/>
                </a:solidFill>
                <a:latin typeface="楷体_GB2312"/>
              </a:rPr>
              <a:t>子树</a:t>
            </a:r>
          </a:p>
          <a:p>
            <a:pPr lvl="1">
              <a:spcBef>
                <a:spcPct val="50000"/>
              </a:spcBef>
              <a:buFont typeface="Arial" panose="020B0604020202020204" pitchFamily="34" charset="0"/>
              <a:buNone/>
            </a:pPr>
            <a:r>
              <a:rPr lang="zh-CN" altLang="en-US" sz="2400" dirty="0">
                <a:latin typeface="楷体_GB2312"/>
              </a:rPr>
              <a:t>　若</a:t>
            </a:r>
            <a:r>
              <a:rPr lang="zh-CN" altLang="en-US" sz="2400" dirty="0">
                <a:solidFill>
                  <a:srgbClr val="FF3300"/>
                </a:solidFill>
                <a:highlight>
                  <a:srgbClr val="00FF00"/>
                </a:highlight>
                <a:latin typeface="楷体_GB2312"/>
              </a:rPr>
              <a:t>大</a:t>
            </a:r>
            <a:r>
              <a:rPr lang="zh-CN" altLang="en-US" sz="2400" dirty="0">
                <a:solidFill>
                  <a:srgbClr val="FF3300"/>
                </a:solidFill>
                <a:latin typeface="楷体_GB2312"/>
              </a:rPr>
              <a:t>于</a:t>
            </a:r>
            <a:r>
              <a:rPr lang="zh-CN" altLang="en-US" sz="2400" dirty="0">
                <a:latin typeface="楷体_GB2312"/>
              </a:rPr>
              <a:t>根结点，</a:t>
            </a:r>
            <a:r>
              <a:rPr lang="zh-CN" altLang="en-US" sz="2400" dirty="0">
                <a:highlight>
                  <a:srgbClr val="00FF00"/>
                </a:highlight>
                <a:latin typeface="楷体_GB2312"/>
              </a:rPr>
              <a:t>查其</a:t>
            </a:r>
            <a:r>
              <a:rPr lang="zh-CN" altLang="en-US" sz="2400" dirty="0">
                <a:solidFill>
                  <a:srgbClr val="FF3300"/>
                </a:solidFill>
                <a:highlight>
                  <a:srgbClr val="00FF00"/>
                </a:highlight>
                <a:latin typeface="楷体_GB2312"/>
              </a:rPr>
              <a:t>右</a:t>
            </a:r>
            <a:r>
              <a:rPr lang="zh-CN" altLang="en-US" sz="2400" dirty="0">
                <a:solidFill>
                  <a:srgbClr val="FF3300"/>
                </a:solidFill>
                <a:latin typeface="楷体_GB2312"/>
              </a:rPr>
              <a:t>子树</a:t>
            </a:r>
          </a:p>
          <a:p>
            <a:pPr lvl="1">
              <a:spcBef>
                <a:spcPct val="50000"/>
              </a:spcBef>
              <a:buFont typeface="Arial" panose="020B0604020202020204" pitchFamily="34" charset="0"/>
              <a:buNone/>
            </a:pPr>
            <a:r>
              <a:rPr lang="zh-CN" altLang="en-US" sz="2400" dirty="0">
                <a:latin typeface="楷体_GB2312"/>
              </a:rPr>
              <a:t>在左右子树上的操作类似</a:t>
            </a:r>
          </a:p>
        </p:txBody>
      </p:sp>
      <p:grpSp>
        <p:nvGrpSpPr>
          <p:cNvPr id="2" name="Group 96"/>
          <p:cNvGrpSpPr>
            <a:grpSpLocks/>
          </p:cNvGrpSpPr>
          <p:nvPr/>
        </p:nvGrpSpPr>
        <p:grpSpPr bwMode="auto">
          <a:xfrm>
            <a:off x="6326188" y="1095375"/>
            <a:ext cx="2438400" cy="3200400"/>
            <a:chOff x="2601" y="2034"/>
            <a:chExt cx="1536" cy="2016"/>
          </a:xfrm>
        </p:grpSpPr>
        <p:sp>
          <p:nvSpPr>
            <p:cNvPr id="49158" name="Oval 97"/>
            <p:cNvSpPr>
              <a:spLocks noChangeArrowheads="1"/>
            </p:cNvSpPr>
            <p:nvPr/>
          </p:nvSpPr>
          <p:spPr bwMode="auto">
            <a:xfrm>
              <a:off x="3129" y="2034"/>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122</a:t>
              </a:r>
              <a:endParaRPr lang="en-US" altLang="zh-CN" sz="1600" u="sng">
                <a:latin typeface="Arial" panose="020B0604020202020204" pitchFamily="34" charset="0"/>
                <a:ea typeface="宋体" panose="02010600030101010101" pitchFamily="2" charset="-122"/>
              </a:endParaRPr>
            </a:p>
          </p:txBody>
        </p:sp>
        <p:sp>
          <p:nvSpPr>
            <p:cNvPr id="49159" name="Oval 98"/>
            <p:cNvSpPr>
              <a:spLocks noChangeArrowheads="1"/>
            </p:cNvSpPr>
            <p:nvPr/>
          </p:nvSpPr>
          <p:spPr bwMode="auto">
            <a:xfrm>
              <a:off x="3609" y="2466"/>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250</a:t>
              </a:r>
              <a:endParaRPr lang="en-US" altLang="zh-CN" sz="1600" u="sng">
                <a:latin typeface="Arial" panose="020B0604020202020204" pitchFamily="34" charset="0"/>
                <a:ea typeface="宋体" panose="02010600030101010101" pitchFamily="2" charset="-122"/>
              </a:endParaRPr>
            </a:p>
          </p:txBody>
        </p:sp>
        <p:sp>
          <p:nvSpPr>
            <p:cNvPr id="49160" name="Oval 99"/>
            <p:cNvSpPr>
              <a:spLocks noChangeArrowheads="1"/>
            </p:cNvSpPr>
            <p:nvPr/>
          </p:nvSpPr>
          <p:spPr bwMode="auto">
            <a:xfrm>
              <a:off x="3849" y="2898"/>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300</a:t>
              </a:r>
              <a:endParaRPr lang="en-US" altLang="zh-CN" sz="1600" u="sng">
                <a:latin typeface="Arial" panose="020B0604020202020204" pitchFamily="34" charset="0"/>
                <a:ea typeface="宋体" panose="02010600030101010101" pitchFamily="2" charset="-122"/>
              </a:endParaRPr>
            </a:p>
          </p:txBody>
        </p:sp>
        <p:sp>
          <p:nvSpPr>
            <p:cNvPr id="49161" name="Oval 100"/>
            <p:cNvSpPr>
              <a:spLocks noChangeArrowheads="1"/>
            </p:cNvSpPr>
            <p:nvPr/>
          </p:nvSpPr>
          <p:spPr bwMode="auto">
            <a:xfrm>
              <a:off x="2841" y="2946"/>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110</a:t>
              </a:r>
              <a:endParaRPr lang="en-US" altLang="zh-CN" sz="1600" u="sng">
                <a:latin typeface="Arial" panose="020B0604020202020204" pitchFamily="34" charset="0"/>
                <a:ea typeface="宋体" panose="02010600030101010101" pitchFamily="2" charset="-122"/>
              </a:endParaRPr>
            </a:p>
          </p:txBody>
        </p:sp>
        <p:sp>
          <p:nvSpPr>
            <p:cNvPr id="49162" name="Oval 101"/>
            <p:cNvSpPr>
              <a:spLocks noChangeArrowheads="1"/>
            </p:cNvSpPr>
            <p:nvPr/>
          </p:nvSpPr>
          <p:spPr bwMode="auto">
            <a:xfrm>
              <a:off x="3369" y="2898"/>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200</a:t>
              </a:r>
              <a:endParaRPr lang="en-US" altLang="zh-CN" sz="1600" u="sng">
                <a:latin typeface="Arial" panose="020B0604020202020204" pitchFamily="34" charset="0"/>
                <a:ea typeface="宋体" panose="02010600030101010101" pitchFamily="2" charset="-122"/>
              </a:endParaRPr>
            </a:p>
          </p:txBody>
        </p:sp>
        <p:sp>
          <p:nvSpPr>
            <p:cNvPr id="49163" name="Oval 102"/>
            <p:cNvSpPr>
              <a:spLocks noChangeArrowheads="1"/>
            </p:cNvSpPr>
            <p:nvPr/>
          </p:nvSpPr>
          <p:spPr bwMode="auto">
            <a:xfrm>
              <a:off x="2601" y="2514"/>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99</a:t>
              </a:r>
              <a:endParaRPr lang="en-US" altLang="zh-CN" sz="1600" u="sng">
                <a:latin typeface="Arial" panose="020B0604020202020204" pitchFamily="34" charset="0"/>
                <a:ea typeface="宋体" panose="02010600030101010101" pitchFamily="2" charset="-122"/>
              </a:endParaRPr>
            </a:p>
          </p:txBody>
        </p:sp>
        <p:sp>
          <p:nvSpPr>
            <p:cNvPr id="49164" name="Line 103"/>
            <p:cNvSpPr>
              <a:spLocks noChangeShapeType="1"/>
            </p:cNvSpPr>
            <p:nvPr/>
          </p:nvSpPr>
          <p:spPr bwMode="auto">
            <a:xfrm flipH="1">
              <a:off x="2841" y="2226"/>
              <a:ext cx="336" cy="3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65" name="Line 104"/>
            <p:cNvSpPr>
              <a:spLocks noChangeShapeType="1"/>
            </p:cNvSpPr>
            <p:nvPr/>
          </p:nvSpPr>
          <p:spPr bwMode="auto">
            <a:xfrm>
              <a:off x="3369" y="2226"/>
              <a:ext cx="288" cy="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66" name="Line 105"/>
            <p:cNvSpPr>
              <a:spLocks noChangeShapeType="1"/>
            </p:cNvSpPr>
            <p:nvPr/>
          </p:nvSpPr>
          <p:spPr bwMode="auto">
            <a:xfrm>
              <a:off x="3801" y="2658"/>
              <a:ext cx="192" cy="24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67" name="Line 106"/>
            <p:cNvSpPr>
              <a:spLocks noChangeShapeType="1"/>
            </p:cNvSpPr>
            <p:nvPr/>
          </p:nvSpPr>
          <p:spPr bwMode="auto">
            <a:xfrm flipH="1">
              <a:off x="3561" y="2706"/>
              <a:ext cx="144"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68" name="Line 107"/>
            <p:cNvSpPr>
              <a:spLocks noChangeShapeType="1"/>
            </p:cNvSpPr>
            <p:nvPr/>
          </p:nvSpPr>
          <p:spPr bwMode="auto">
            <a:xfrm>
              <a:off x="2793" y="2754"/>
              <a:ext cx="144"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69" name="Oval 108"/>
            <p:cNvSpPr>
              <a:spLocks noChangeArrowheads="1"/>
            </p:cNvSpPr>
            <p:nvPr/>
          </p:nvSpPr>
          <p:spPr bwMode="auto">
            <a:xfrm>
              <a:off x="2601" y="3378"/>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105</a:t>
              </a:r>
              <a:endParaRPr lang="en-US" altLang="zh-CN" sz="1600" u="sng">
                <a:latin typeface="Arial" panose="020B0604020202020204" pitchFamily="34" charset="0"/>
                <a:ea typeface="宋体" panose="02010600030101010101" pitchFamily="2" charset="-122"/>
              </a:endParaRPr>
            </a:p>
          </p:txBody>
        </p:sp>
        <p:sp>
          <p:nvSpPr>
            <p:cNvPr id="49170" name="Line 109"/>
            <p:cNvSpPr>
              <a:spLocks noChangeShapeType="1"/>
            </p:cNvSpPr>
            <p:nvPr/>
          </p:nvSpPr>
          <p:spPr bwMode="auto">
            <a:xfrm flipH="1">
              <a:off x="2793" y="3186"/>
              <a:ext cx="144"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71" name="Oval 110"/>
            <p:cNvSpPr>
              <a:spLocks noChangeArrowheads="1"/>
            </p:cNvSpPr>
            <p:nvPr/>
          </p:nvSpPr>
          <p:spPr bwMode="auto">
            <a:xfrm>
              <a:off x="3609" y="3378"/>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230</a:t>
              </a:r>
              <a:endParaRPr lang="en-US" altLang="zh-CN" sz="1600" u="sng">
                <a:latin typeface="Arial" panose="020B0604020202020204" pitchFamily="34" charset="0"/>
                <a:ea typeface="宋体" panose="02010600030101010101" pitchFamily="2" charset="-122"/>
              </a:endParaRPr>
            </a:p>
          </p:txBody>
        </p:sp>
        <p:sp>
          <p:nvSpPr>
            <p:cNvPr id="49172" name="Line 111"/>
            <p:cNvSpPr>
              <a:spLocks noChangeShapeType="1"/>
            </p:cNvSpPr>
            <p:nvPr/>
          </p:nvSpPr>
          <p:spPr bwMode="auto">
            <a:xfrm>
              <a:off x="3513" y="3138"/>
              <a:ext cx="192" cy="24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49173" name="Oval 112"/>
            <p:cNvSpPr>
              <a:spLocks noChangeArrowheads="1"/>
            </p:cNvSpPr>
            <p:nvPr/>
          </p:nvSpPr>
          <p:spPr bwMode="auto">
            <a:xfrm>
              <a:off x="3369" y="3810"/>
              <a:ext cx="288" cy="240"/>
            </a:xfrm>
            <a:prstGeom prst="ellipse">
              <a:avLst/>
            </a:prstGeom>
            <a:solidFill>
              <a:srgbClr val="FF0000"/>
            </a:solidFill>
            <a:ln w="19050">
              <a:solidFill>
                <a:schemeClr val="tx1"/>
              </a:solidFill>
              <a:round/>
              <a:headEnd type="none" w="sm" len="sm"/>
              <a:tailEnd type="none" w="sm" len="sm"/>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buFont typeface="Arial" panose="020B0604020202020204" pitchFamily="34" charset="0"/>
                <a:buNone/>
              </a:pPr>
              <a:r>
                <a:rPr lang="en-US" altLang="zh-CN" sz="1600">
                  <a:latin typeface="Arial" panose="020B0604020202020204" pitchFamily="34" charset="0"/>
                  <a:ea typeface="宋体" panose="02010600030101010101" pitchFamily="2" charset="-122"/>
                </a:rPr>
                <a:t>216</a:t>
              </a:r>
              <a:endParaRPr lang="en-US" altLang="zh-CN" sz="1600" u="sng">
                <a:latin typeface="Arial" panose="020B0604020202020204" pitchFamily="34" charset="0"/>
                <a:ea typeface="宋体" panose="02010600030101010101" pitchFamily="2" charset="-122"/>
              </a:endParaRPr>
            </a:p>
          </p:txBody>
        </p:sp>
        <p:sp>
          <p:nvSpPr>
            <p:cNvPr id="49174" name="Line 113"/>
            <p:cNvSpPr>
              <a:spLocks noChangeShapeType="1"/>
            </p:cNvSpPr>
            <p:nvPr/>
          </p:nvSpPr>
          <p:spPr bwMode="auto">
            <a:xfrm flipH="1">
              <a:off x="3561" y="3618"/>
              <a:ext cx="144" cy="192"/>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
        <p:nvSpPr>
          <p:cNvPr id="951410" name="Freeform 114"/>
          <p:cNvSpPr>
            <a:spLocks noChangeArrowheads="1"/>
          </p:cNvSpPr>
          <p:nvPr/>
        </p:nvSpPr>
        <p:spPr bwMode="auto">
          <a:xfrm>
            <a:off x="6048375" y="1017588"/>
            <a:ext cx="1219200" cy="2165350"/>
          </a:xfrm>
          <a:custGeom>
            <a:avLst/>
            <a:gdLst>
              <a:gd name="T0" fmla="*/ 2147483646 w 768"/>
              <a:gd name="T1" fmla="*/ 2147483646 h 1364"/>
              <a:gd name="T2" fmla="*/ 2147483646 w 768"/>
              <a:gd name="T3" fmla="*/ 0 h 1364"/>
              <a:gd name="T4" fmla="*/ 2147483646 w 768"/>
              <a:gd name="T5" fmla="*/ 2147483646 h 1364"/>
              <a:gd name="T6" fmla="*/ 2147483646 w 768"/>
              <a:gd name="T7" fmla="*/ 2147483646 h 1364"/>
              <a:gd name="T8" fmla="*/ 2147483646 w 768"/>
              <a:gd name="T9" fmla="*/ 2147483646 h 1364"/>
              <a:gd name="T10" fmla="*/ 2147483646 w 768"/>
              <a:gd name="T11" fmla="*/ 2147483646 h 1364"/>
              <a:gd name="T12" fmla="*/ 2147483646 w 768"/>
              <a:gd name="T13" fmla="*/ 2147483646 h 1364"/>
              <a:gd name="T14" fmla="*/ 2147483646 w 768"/>
              <a:gd name="T15" fmla="*/ 2147483646 h 1364"/>
              <a:gd name="T16" fmla="*/ 2147483646 w 768"/>
              <a:gd name="T17" fmla="*/ 2147483646 h 1364"/>
              <a:gd name="T18" fmla="*/ 0 w 768"/>
              <a:gd name="T19" fmla="*/ 2147483646 h 1364"/>
              <a:gd name="T20" fmla="*/ 2147483646 w 768"/>
              <a:gd name="T21" fmla="*/ 2147483646 h 1364"/>
              <a:gd name="T22" fmla="*/ 2147483646 w 768"/>
              <a:gd name="T23" fmla="*/ 2147483646 h 1364"/>
              <a:gd name="T24" fmla="*/ 2147483646 w 768"/>
              <a:gd name="T25" fmla="*/ 2147483646 h 1364"/>
              <a:gd name="T26" fmla="*/ 2147483646 w 768"/>
              <a:gd name="T27" fmla="*/ 2147483646 h 1364"/>
              <a:gd name="T28" fmla="*/ 2147483646 w 768"/>
              <a:gd name="T29" fmla="*/ 2147483646 h 1364"/>
              <a:gd name="T30" fmla="*/ 2147483646 w 768"/>
              <a:gd name="T31" fmla="*/ 2147483646 h 1364"/>
              <a:gd name="T32" fmla="*/ 2147483646 w 768"/>
              <a:gd name="T33" fmla="*/ 2147483646 h 13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768" h="1364">
                <a:moveTo>
                  <a:pt x="768" y="52"/>
                </a:moveTo>
                <a:cubicBezTo>
                  <a:pt x="750" y="25"/>
                  <a:pt x="728" y="11"/>
                  <a:pt x="698" y="0"/>
                </a:cubicBezTo>
                <a:cubicBezTo>
                  <a:pt x="610" y="2"/>
                  <a:pt x="523" y="3"/>
                  <a:pt x="435" y="7"/>
                </a:cubicBezTo>
                <a:cubicBezTo>
                  <a:pt x="392" y="9"/>
                  <a:pt x="307" y="32"/>
                  <a:pt x="307" y="32"/>
                </a:cubicBezTo>
                <a:cubicBezTo>
                  <a:pt x="269" y="63"/>
                  <a:pt x="246" y="102"/>
                  <a:pt x="211" y="135"/>
                </a:cubicBezTo>
                <a:cubicBezTo>
                  <a:pt x="207" y="149"/>
                  <a:pt x="196" y="159"/>
                  <a:pt x="192" y="173"/>
                </a:cubicBezTo>
                <a:cubicBezTo>
                  <a:pt x="170" y="248"/>
                  <a:pt x="202" y="194"/>
                  <a:pt x="173" y="237"/>
                </a:cubicBezTo>
                <a:cubicBezTo>
                  <a:pt x="138" y="341"/>
                  <a:pt x="125" y="470"/>
                  <a:pt x="186" y="564"/>
                </a:cubicBezTo>
                <a:cubicBezTo>
                  <a:pt x="121" y="605"/>
                  <a:pt x="80" y="622"/>
                  <a:pt x="32" y="685"/>
                </a:cubicBezTo>
                <a:cubicBezTo>
                  <a:pt x="21" y="715"/>
                  <a:pt x="11" y="745"/>
                  <a:pt x="0" y="775"/>
                </a:cubicBezTo>
                <a:cubicBezTo>
                  <a:pt x="5" y="838"/>
                  <a:pt x="8" y="900"/>
                  <a:pt x="77" y="922"/>
                </a:cubicBezTo>
                <a:cubicBezTo>
                  <a:pt x="125" y="957"/>
                  <a:pt x="204" y="964"/>
                  <a:pt x="263" y="973"/>
                </a:cubicBezTo>
                <a:cubicBezTo>
                  <a:pt x="282" y="979"/>
                  <a:pt x="301" y="986"/>
                  <a:pt x="320" y="992"/>
                </a:cubicBezTo>
                <a:cubicBezTo>
                  <a:pt x="351" y="1002"/>
                  <a:pt x="416" y="1005"/>
                  <a:pt x="416" y="1005"/>
                </a:cubicBezTo>
                <a:cubicBezTo>
                  <a:pt x="383" y="1017"/>
                  <a:pt x="354" y="1039"/>
                  <a:pt x="320" y="1050"/>
                </a:cubicBezTo>
                <a:cubicBezTo>
                  <a:pt x="276" y="1080"/>
                  <a:pt x="288" y="1075"/>
                  <a:pt x="263" y="1114"/>
                </a:cubicBezTo>
                <a:cubicBezTo>
                  <a:pt x="240" y="1198"/>
                  <a:pt x="263" y="1280"/>
                  <a:pt x="263" y="1364"/>
                </a:cubicBezTo>
              </a:path>
            </a:pathLst>
          </a:custGeom>
          <a:noFill/>
          <a:ln w="38100">
            <a:solidFill>
              <a:srgbClr val="0000FF"/>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57" name="Rectangle 115"/>
          <p:cNvSpPr>
            <a:spLocks noChangeArrowheads="1"/>
          </p:cNvSpPr>
          <p:nvPr/>
        </p:nvSpPr>
        <p:spPr bwMode="auto">
          <a:xfrm>
            <a:off x="3496172" y="15875"/>
            <a:ext cx="366821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二叉排序树的操作－查找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951410"/>
                                        </p:tgtEl>
                                        <p:attrNameLst>
                                          <p:attrName>style.visibility</p:attrName>
                                        </p:attrNameLst>
                                      </p:cBhvr>
                                      <p:to>
                                        <p:strVal val="visible"/>
                                      </p:to>
                                    </p:set>
                                    <p:anim calcmode="lin" valueType="num">
                                      <p:cBhvr additive="base">
                                        <p:cTn id="13" dur="500" fill="hold"/>
                                        <p:tgtEl>
                                          <p:spTgt spid="951410"/>
                                        </p:tgtEl>
                                        <p:attrNameLst>
                                          <p:attrName>ppt_x</p:attrName>
                                        </p:attrNameLst>
                                      </p:cBhvr>
                                      <p:tavLst>
                                        <p:tav tm="0">
                                          <p:val>
                                            <p:strVal val="0-#ppt_w/2"/>
                                          </p:val>
                                        </p:tav>
                                        <p:tav tm="100000">
                                          <p:val>
                                            <p:strVal val="#ppt_x"/>
                                          </p:val>
                                        </p:tav>
                                      </p:tavLst>
                                    </p:anim>
                                    <p:anim calcmode="lin" valueType="num">
                                      <p:cBhvr additive="base">
                                        <p:cTn id="14" dur="500" fill="hold"/>
                                        <p:tgtEl>
                                          <p:spTgt spid="9514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p:cNvSpPr txBox="1">
            <a:spLocks noChangeArrowheads="1"/>
          </p:cNvSpPr>
          <p:nvPr/>
        </p:nvSpPr>
        <p:spPr bwMode="auto">
          <a:xfrm>
            <a:off x="250825" y="765175"/>
            <a:ext cx="8893175"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a:t>（</a:t>
            </a:r>
            <a:r>
              <a:rPr lang="en-US" altLang="zh-CN"/>
              <a:t>1</a:t>
            </a:r>
            <a:r>
              <a:rPr lang="zh-CN" altLang="en-US"/>
              <a:t>）若二叉排序树为空，则查找失败，返回空指针。</a:t>
            </a:r>
          </a:p>
          <a:p>
            <a:pPr>
              <a:spcBef>
                <a:spcPct val="20000"/>
              </a:spcBef>
              <a:buFont typeface="Arial" panose="020B0604020202020204" pitchFamily="34" charset="0"/>
              <a:buNone/>
            </a:pPr>
            <a:r>
              <a:rPr lang="zh-CN" altLang="en-US"/>
              <a:t>（</a:t>
            </a:r>
            <a:r>
              <a:rPr lang="en-US" altLang="zh-CN"/>
              <a:t>2</a:t>
            </a:r>
            <a:r>
              <a:rPr lang="zh-CN" altLang="en-US"/>
              <a:t>）若二叉排序树非空，将给定值</a:t>
            </a:r>
            <a:r>
              <a:rPr lang="en-US" altLang="zh-CN"/>
              <a:t>key</a:t>
            </a:r>
            <a:r>
              <a:rPr lang="zh-CN" altLang="en-US"/>
              <a:t>与根结点的关键字</a:t>
            </a:r>
            <a:r>
              <a:rPr lang="en-US" altLang="zh-CN"/>
              <a:t>T-&gt;data.key</a:t>
            </a:r>
            <a:r>
              <a:rPr lang="zh-CN" altLang="en-US"/>
              <a:t>进行比较：</a:t>
            </a:r>
          </a:p>
          <a:p>
            <a:pPr>
              <a:spcBef>
                <a:spcPct val="20000"/>
              </a:spcBef>
              <a:buFont typeface="Arial" panose="020B0604020202020204" pitchFamily="34" charset="0"/>
              <a:buNone/>
            </a:pPr>
            <a:r>
              <a:rPr lang="zh-CN" altLang="en-US"/>
              <a:t>① 若</a:t>
            </a:r>
            <a:r>
              <a:rPr lang="en-US" altLang="zh-CN"/>
              <a:t>key</a:t>
            </a:r>
            <a:r>
              <a:rPr lang="zh-CN" altLang="en-US"/>
              <a:t>等于</a:t>
            </a:r>
            <a:r>
              <a:rPr lang="en-US" altLang="zh-CN"/>
              <a:t>T-&gt;data.key</a:t>
            </a:r>
            <a:r>
              <a:rPr lang="zh-CN" altLang="en-US"/>
              <a:t>，则查找成功，返回根结点地址；</a:t>
            </a:r>
          </a:p>
          <a:p>
            <a:pPr>
              <a:spcBef>
                <a:spcPct val="20000"/>
              </a:spcBef>
              <a:buFont typeface="Arial" panose="020B0604020202020204" pitchFamily="34" charset="0"/>
              <a:buNone/>
            </a:pPr>
            <a:r>
              <a:rPr lang="zh-CN" altLang="en-US"/>
              <a:t>② 若</a:t>
            </a:r>
            <a:r>
              <a:rPr lang="en-US" altLang="zh-CN"/>
              <a:t>key</a:t>
            </a:r>
            <a:r>
              <a:rPr lang="zh-CN" altLang="en-US"/>
              <a:t>小于</a:t>
            </a:r>
            <a:r>
              <a:rPr lang="en-US" altLang="zh-CN"/>
              <a:t>T-&gt;data.key</a:t>
            </a:r>
            <a:r>
              <a:rPr lang="zh-CN" altLang="en-US"/>
              <a:t>，则进一步查找左子树；</a:t>
            </a:r>
          </a:p>
          <a:p>
            <a:pPr>
              <a:spcBef>
                <a:spcPct val="20000"/>
              </a:spcBef>
              <a:buFont typeface="Arial" panose="020B0604020202020204" pitchFamily="34" charset="0"/>
              <a:buNone/>
            </a:pPr>
            <a:r>
              <a:rPr lang="zh-CN" altLang="en-US"/>
              <a:t>③ 若</a:t>
            </a:r>
            <a:r>
              <a:rPr lang="en-US" altLang="zh-CN"/>
              <a:t>key</a:t>
            </a:r>
            <a:r>
              <a:rPr lang="zh-CN" altLang="en-US"/>
              <a:t>大于</a:t>
            </a:r>
            <a:r>
              <a:rPr lang="en-US" altLang="zh-CN"/>
              <a:t>T-&gt;data.key</a:t>
            </a:r>
            <a:r>
              <a:rPr lang="zh-CN" altLang="en-US"/>
              <a:t>，则进一步查找右子树。</a:t>
            </a:r>
          </a:p>
        </p:txBody>
      </p:sp>
      <p:sp>
        <p:nvSpPr>
          <p:cNvPr id="50179" name="Rectangle 5"/>
          <p:cNvSpPr>
            <a:spLocks noChangeArrowheads="1"/>
          </p:cNvSpPr>
          <p:nvPr/>
        </p:nvSpPr>
        <p:spPr bwMode="auto">
          <a:xfrm>
            <a:off x="3347864" y="44624"/>
            <a:ext cx="2334989" cy="39079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2400" dirty="0"/>
              <a:t>【</a:t>
            </a:r>
            <a:r>
              <a:rPr lang="zh-CN" altLang="en-US" sz="2400" dirty="0"/>
              <a:t>算法思想</a:t>
            </a:r>
            <a:r>
              <a:rPr lang="en-US" altLang="zh-CN" sz="24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5"/>
          <p:cNvSpPr>
            <a:spLocks noChangeArrowheads="1"/>
          </p:cNvSpPr>
          <p:nvPr/>
        </p:nvSpPr>
        <p:spPr bwMode="auto">
          <a:xfrm>
            <a:off x="3881066" y="-19050"/>
            <a:ext cx="3884240"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二叉排序树的操作－插入</a:t>
            </a:r>
          </a:p>
        </p:txBody>
      </p:sp>
      <p:sp>
        <p:nvSpPr>
          <p:cNvPr id="952397" name="Rectangle 77"/>
          <p:cNvSpPr>
            <a:spLocks noChangeArrowheads="1"/>
          </p:cNvSpPr>
          <p:nvPr/>
        </p:nvSpPr>
        <p:spPr bwMode="auto">
          <a:xfrm>
            <a:off x="2066915" y="3660984"/>
            <a:ext cx="5241389" cy="70412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a:lnSpc>
                <a:spcPct val="110000"/>
              </a:lnSpc>
              <a:buFont typeface="Arial" panose="020B0604020202020204" pitchFamily="34" charset="0"/>
              <a:buNone/>
            </a:pPr>
            <a:r>
              <a:rPr lang="zh-CN" altLang="en-US" sz="3200" dirty="0">
                <a:solidFill>
                  <a:schemeClr val="hlink"/>
                </a:solidFill>
                <a:highlight>
                  <a:srgbClr val="00FF00"/>
                </a:highlight>
                <a:latin typeface="楷体_GB2312"/>
              </a:rPr>
              <a:t>插入的元素</a:t>
            </a:r>
            <a:r>
              <a:rPr lang="zh-CN" altLang="zh-CN" sz="3200" dirty="0">
                <a:solidFill>
                  <a:schemeClr val="hlink"/>
                </a:solidFill>
                <a:highlight>
                  <a:srgbClr val="00FF00"/>
                </a:highlight>
                <a:latin typeface="楷体_GB2312"/>
              </a:rPr>
              <a:t>一定在</a:t>
            </a:r>
            <a:r>
              <a:rPr lang="zh-CN" altLang="zh-CN" sz="3200" dirty="0">
                <a:solidFill>
                  <a:srgbClr val="FF3300"/>
                </a:solidFill>
                <a:highlight>
                  <a:srgbClr val="00FF00"/>
                </a:highlight>
                <a:latin typeface="楷体_GB2312"/>
              </a:rPr>
              <a:t>叶结点上</a:t>
            </a:r>
          </a:p>
          <a:p>
            <a:pPr lvl="1" algn="just">
              <a:lnSpc>
                <a:spcPct val="110000"/>
              </a:lnSpc>
              <a:buFont typeface="Wingdings" panose="05000000000000000000" pitchFamily="2" charset="2"/>
              <a:buChar char="ü"/>
            </a:pPr>
            <a:endParaRPr lang="en-US" altLang="zh-CN" sz="3200" dirty="0">
              <a:solidFill>
                <a:schemeClr val="hlink"/>
              </a:solidFill>
              <a:latin typeface="楷体_GB2312"/>
            </a:endParaRPr>
          </a:p>
        </p:txBody>
      </p:sp>
      <p:sp>
        <p:nvSpPr>
          <p:cNvPr id="952398" name="Text Box 78"/>
          <p:cNvSpPr txBox="1">
            <a:spLocks noChangeArrowheads="1"/>
          </p:cNvSpPr>
          <p:nvPr/>
        </p:nvSpPr>
        <p:spPr bwMode="auto">
          <a:xfrm>
            <a:off x="-468313" y="765175"/>
            <a:ext cx="9361488"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a:defRPr sz="2800" b="1">
                <a:solidFill>
                  <a:schemeClr val="tx1"/>
                </a:solidFill>
                <a:latin typeface="Times New Roman" panose="02020603050405020304" pitchFamily="18" charset="0"/>
                <a:ea typeface="楷体_GB2312"/>
                <a:cs typeface="楷体_GB2312"/>
              </a:defRPr>
            </a:lvl4pPr>
            <a:lvl5pPr>
              <a:defRPr sz="2800" b="1">
                <a:solidFill>
                  <a:schemeClr val="tx1"/>
                </a:solidFill>
                <a:latin typeface="Times New Roman" panose="02020603050405020304" pitchFamily="18" charset="0"/>
                <a:ea typeface="楷体_GB2312"/>
                <a:cs typeface="楷体_GB2312"/>
              </a:defRPr>
            </a:lvl5pPr>
            <a:lvl6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3" eaLnBrk="1" hangingPunct="1">
              <a:spcBef>
                <a:spcPct val="20000"/>
              </a:spcBef>
              <a:buClr>
                <a:srgbClr val="FF9900"/>
              </a:buClr>
              <a:buFont typeface="Wingdings" panose="05000000000000000000" pitchFamily="2" charset="2"/>
              <a:buNone/>
            </a:pPr>
            <a:r>
              <a:rPr lang="zh-CN" altLang="en-US" dirty="0">
                <a:latin typeface="楷体_GB2312"/>
              </a:rPr>
              <a:t>若二叉排序树为</a:t>
            </a:r>
            <a:r>
              <a:rPr lang="zh-CN" altLang="en-US" dirty="0">
                <a:highlight>
                  <a:srgbClr val="00FF00"/>
                </a:highlight>
                <a:latin typeface="楷体_GB2312"/>
              </a:rPr>
              <a:t>空</a:t>
            </a:r>
            <a:r>
              <a:rPr lang="zh-CN" altLang="en-US" dirty="0">
                <a:latin typeface="楷体_GB2312"/>
              </a:rPr>
              <a:t>，则插入结点应为</a:t>
            </a:r>
            <a:r>
              <a:rPr lang="zh-CN" altLang="en-US" dirty="0">
                <a:solidFill>
                  <a:schemeClr val="hlink"/>
                </a:solidFill>
                <a:highlight>
                  <a:srgbClr val="00FF00"/>
                </a:highlight>
                <a:latin typeface="楷体_GB2312"/>
              </a:rPr>
              <a:t>根结点</a:t>
            </a:r>
          </a:p>
          <a:p>
            <a:pPr lvl="3" eaLnBrk="1" hangingPunct="1">
              <a:spcBef>
                <a:spcPct val="20000"/>
              </a:spcBef>
              <a:buClr>
                <a:srgbClr val="FF9900"/>
              </a:buClr>
              <a:buFont typeface="Wingdings" panose="05000000000000000000" pitchFamily="2" charset="2"/>
              <a:buNone/>
            </a:pPr>
            <a:r>
              <a:rPr lang="zh-CN" altLang="en-US" dirty="0">
                <a:latin typeface="楷体_GB2312"/>
              </a:rPr>
              <a:t>否则，继续在其</a:t>
            </a:r>
            <a:r>
              <a:rPr lang="zh-CN" altLang="en-US" dirty="0">
                <a:highlight>
                  <a:srgbClr val="00FF00"/>
                </a:highlight>
                <a:latin typeface="楷体_GB2312"/>
              </a:rPr>
              <a:t>左、右子树上查找</a:t>
            </a:r>
          </a:p>
          <a:p>
            <a:pPr lvl="4" algn="just">
              <a:lnSpc>
                <a:spcPct val="110000"/>
              </a:lnSpc>
              <a:buFont typeface="Wingdings" panose="05000000000000000000" pitchFamily="2" charset="2"/>
              <a:buChar char="ü"/>
            </a:pPr>
            <a:r>
              <a:rPr lang="zh-CN" altLang="en-US" dirty="0">
                <a:solidFill>
                  <a:schemeClr val="hlink"/>
                </a:solidFill>
              </a:rPr>
              <a:t>树中</a:t>
            </a:r>
            <a:r>
              <a:rPr lang="zh-CN" altLang="en-US" dirty="0">
                <a:solidFill>
                  <a:schemeClr val="hlink"/>
                </a:solidFill>
                <a:highlight>
                  <a:srgbClr val="00FF00"/>
                </a:highlight>
              </a:rPr>
              <a:t>已有，不再插入</a:t>
            </a:r>
          </a:p>
          <a:p>
            <a:pPr lvl="4" algn="just">
              <a:lnSpc>
                <a:spcPct val="110000"/>
              </a:lnSpc>
              <a:buFont typeface="Wingdings" panose="05000000000000000000" pitchFamily="2" charset="2"/>
              <a:buChar char="ü"/>
            </a:pPr>
            <a:r>
              <a:rPr lang="zh-CN" altLang="en-US" dirty="0">
                <a:solidFill>
                  <a:schemeClr val="hlink"/>
                </a:solidFill>
              </a:rPr>
              <a:t>树中</a:t>
            </a:r>
            <a:r>
              <a:rPr lang="zh-CN" altLang="en-US" dirty="0">
                <a:solidFill>
                  <a:schemeClr val="hlink"/>
                </a:solidFill>
                <a:highlight>
                  <a:srgbClr val="00FF00"/>
                </a:highlight>
              </a:rPr>
              <a:t>没有</a:t>
            </a:r>
            <a:r>
              <a:rPr lang="zh-CN" altLang="en-US" dirty="0">
                <a:solidFill>
                  <a:schemeClr val="hlink"/>
                </a:solidFill>
              </a:rPr>
              <a:t>，</a:t>
            </a:r>
            <a:r>
              <a:rPr lang="zh-CN" altLang="en-US" dirty="0"/>
              <a:t>查找</a:t>
            </a:r>
            <a:r>
              <a:rPr lang="zh-CN" altLang="en-US" dirty="0">
                <a:latin typeface="楷体_GB2312"/>
              </a:rPr>
              <a:t>直至</a:t>
            </a:r>
            <a:r>
              <a:rPr lang="zh-CN" altLang="en-US" dirty="0">
                <a:highlight>
                  <a:srgbClr val="00FF00"/>
                </a:highlight>
                <a:latin typeface="楷体_GB2312"/>
              </a:rPr>
              <a:t>某个叶子结点的左子树或右子树为空为止</a:t>
            </a:r>
            <a:r>
              <a:rPr lang="zh-CN" altLang="en-US" dirty="0">
                <a:latin typeface="楷体_GB2312"/>
              </a:rPr>
              <a:t>，则插入结点应为该</a:t>
            </a:r>
            <a:r>
              <a:rPr lang="zh-CN" altLang="en-US" dirty="0">
                <a:solidFill>
                  <a:schemeClr val="hlink"/>
                </a:solidFill>
                <a:latin typeface="楷体_GB2312"/>
              </a:rPr>
              <a:t>叶子结点</a:t>
            </a:r>
            <a:r>
              <a:rPr lang="zh-CN" altLang="en-US" dirty="0">
                <a:latin typeface="楷体_GB2312"/>
              </a:rPr>
              <a:t>的左孩子或右孩子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52398"/>
                                        </p:tgtEl>
                                        <p:attrNameLst>
                                          <p:attrName>style.visibility</p:attrName>
                                        </p:attrNameLst>
                                      </p:cBhvr>
                                      <p:to>
                                        <p:strVal val="visible"/>
                                      </p:to>
                                    </p:set>
                                    <p:anim calcmode="lin" valueType="num">
                                      <p:cBhvr additive="base">
                                        <p:cTn id="7" dur="500" fill="hold"/>
                                        <p:tgtEl>
                                          <p:spTgt spid="952398"/>
                                        </p:tgtEl>
                                        <p:attrNameLst>
                                          <p:attrName>ppt_x</p:attrName>
                                        </p:attrNameLst>
                                      </p:cBhvr>
                                      <p:tavLst>
                                        <p:tav tm="0">
                                          <p:val>
                                            <p:strVal val="#ppt_x"/>
                                          </p:val>
                                        </p:tav>
                                        <p:tav tm="100000">
                                          <p:val>
                                            <p:strVal val="#ppt_x"/>
                                          </p:val>
                                        </p:tav>
                                      </p:tavLst>
                                    </p:anim>
                                    <p:anim calcmode="lin" valueType="num">
                                      <p:cBhvr additive="base">
                                        <p:cTn id="8" dur="500" fill="hold"/>
                                        <p:tgtEl>
                                          <p:spTgt spid="9523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952398"/>
                                        </p:tgtEl>
                                        <p:attrNameLst>
                                          <p:attrName>style.visibility</p:attrName>
                                        </p:attrNameLst>
                                      </p:cBhvr>
                                      <p:to>
                                        <p:strVal val="visible"/>
                                      </p:to>
                                    </p:set>
                                    <p:anim calcmode="lin" valueType="num">
                                      <p:cBhvr additive="base">
                                        <p:cTn id="13" dur="500" fill="hold"/>
                                        <p:tgtEl>
                                          <p:spTgt spid="952398"/>
                                        </p:tgtEl>
                                        <p:attrNameLst>
                                          <p:attrName>ppt_x</p:attrName>
                                        </p:attrNameLst>
                                      </p:cBhvr>
                                      <p:tavLst>
                                        <p:tav tm="0">
                                          <p:val>
                                            <p:strVal val="#ppt_x"/>
                                          </p:val>
                                        </p:tav>
                                        <p:tav tm="100000">
                                          <p:val>
                                            <p:strVal val="#ppt_x"/>
                                          </p:val>
                                        </p:tav>
                                      </p:tavLst>
                                    </p:anim>
                                    <p:anim calcmode="lin" valueType="num">
                                      <p:cBhvr additive="base">
                                        <p:cTn id="14" dur="500" fill="hold"/>
                                        <p:tgtEl>
                                          <p:spTgt spid="95239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952397"/>
                                        </p:tgtEl>
                                        <p:attrNameLst>
                                          <p:attrName>style.visibility</p:attrName>
                                        </p:attrNameLst>
                                      </p:cBhvr>
                                      <p:to>
                                        <p:strVal val="visible"/>
                                      </p:to>
                                    </p:set>
                                    <p:animEffect transition="in" filter="box(in)">
                                      <p:cBhvr>
                                        <p:cTn id="19" dur="500"/>
                                        <p:tgtEl>
                                          <p:spTgt spid="9523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97" grpId="0" animBg="1"/>
      <p:bldP spid="952398" grpId="0"/>
      <p:bldP spid="952398"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5"/>
          <p:cNvGrpSpPr>
            <a:grpSpLocks/>
          </p:cNvGrpSpPr>
          <p:nvPr/>
        </p:nvGrpSpPr>
        <p:grpSpPr bwMode="auto">
          <a:xfrm>
            <a:off x="4338638" y="817563"/>
            <a:ext cx="4038600" cy="3810000"/>
            <a:chOff x="1536" y="1104"/>
            <a:chExt cx="2544" cy="2400"/>
          </a:xfrm>
        </p:grpSpPr>
        <p:sp>
          <p:nvSpPr>
            <p:cNvPr id="53253" name="Oval 6"/>
            <p:cNvSpPr>
              <a:spLocks noChangeArrowheads="1"/>
            </p:cNvSpPr>
            <p:nvPr/>
          </p:nvSpPr>
          <p:spPr bwMode="auto">
            <a:xfrm>
              <a:off x="2448" y="1104"/>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45</a:t>
              </a:r>
            </a:p>
          </p:txBody>
        </p:sp>
        <p:sp>
          <p:nvSpPr>
            <p:cNvPr id="53254" name="Oval 7"/>
            <p:cNvSpPr>
              <a:spLocks noChangeArrowheads="1"/>
            </p:cNvSpPr>
            <p:nvPr/>
          </p:nvSpPr>
          <p:spPr bwMode="auto">
            <a:xfrm>
              <a:off x="2016" y="1536"/>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53255" name="Oval 8"/>
            <p:cNvSpPr>
              <a:spLocks noChangeArrowheads="1"/>
            </p:cNvSpPr>
            <p:nvPr/>
          </p:nvSpPr>
          <p:spPr bwMode="auto">
            <a:xfrm>
              <a:off x="3024" y="1536"/>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53</a:t>
              </a:r>
            </a:p>
          </p:txBody>
        </p:sp>
        <p:sp>
          <p:nvSpPr>
            <p:cNvPr id="53256" name="Oval 9"/>
            <p:cNvSpPr>
              <a:spLocks noChangeArrowheads="1"/>
            </p:cNvSpPr>
            <p:nvPr/>
          </p:nvSpPr>
          <p:spPr bwMode="auto">
            <a:xfrm>
              <a:off x="1536" y="2112"/>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a:t>
              </a:r>
            </a:p>
          </p:txBody>
        </p:sp>
        <p:sp>
          <p:nvSpPr>
            <p:cNvPr id="53257" name="Oval 10"/>
            <p:cNvSpPr>
              <a:spLocks noChangeArrowheads="1"/>
            </p:cNvSpPr>
            <p:nvPr/>
          </p:nvSpPr>
          <p:spPr bwMode="auto">
            <a:xfrm>
              <a:off x="2448" y="2112"/>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53258" name="Oval 11"/>
            <p:cNvSpPr>
              <a:spLocks noChangeArrowheads="1"/>
            </p:cNvSpPr>
            <p:nvPr/>
          </p:nvSpPr>
          <p:spPr bwMode="auto">
            <a:xfrm>
              <a:off x="2064" y="2688"/>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53259" name="Line 12"/>
            <p:cNvSpPr>
              <a:spLocks noChangeShapeType="1"/>
            </p:cNvSpPr>
            <p:nvPr/>
          </p:nvSpPr>
          <p:spPr bwMode="auto">
            <a:xfrm flipH="1">
              <a:off x="2352" y="1392"/>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Line 13"/>
            <p:cNvSpPr>
              <a:spLocks noChangeShapeType="1"/>
            </p:cNvSpPr>
            <p:nvPr/>
          </p:nvSpPr>
          <p:spPr bwMode="auto">
            <a:xfrm flipH="1">
              <a:off x="1824" y="1872"/>
              <a:ext cx="24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1" name="Line 14"/>
            <p:cNvSpPr>
              <a:spLocks noChangeShapeType="1"/>
            </p:cNvSpPr>
            <p:nvPr/>
          </p:nvSpPr>
          <p:spPr bwMode="auto">
            <a:xfrm>
              <a:off x="2352" y="1872"/>
              <a:ext cx="19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2" name="Line 15"/>
            <p:cNvSpPr>
              <a:spLocks noChangeShapeType="1"/>
            </p:cNvSpPr>
            <p:nvPr/>
          </p:nvSpPr>
          <p:spPr bwMode="auto">
            <a:xfrm flipH="1">
              <a:off x="2352" y="2448"/>
              <a:ext cx="14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3" name="Oval 16"/>
            <p:cNvSpPr>
              <a:spLocks noChangeArrowheads="1"/>
            </p:cNvSpPr>
            <p:nvPr/>
          </p:nvSpPr>
          <p:spPr bwMode="auto">
            <a:xfrm>
              <a:off x="3600" y="2064"/>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100</a:t>
              </a:r>
            </a:p>
          </p:txBody>
        </p:sp>
        <p:sp>
          <p:nvSpPr>
            <p:cNvPr id="53264" name="Oval 17"/>
            <p:cNvSpPr>
              <a:spLocks noChangeArrowheads="1"/>
            </p:cNvSpPr>
            <p:nvPr/>
          </p:nvSpPr>
          <p:spPr bwMode="auto">
            <a:xfrm>
              <a:off x="3072" y="2448"/>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61</a:t>
              </a:r>
            </a:p>
          </p:txBody>
        </p:sp>
        <p:sp>
          <p:nvSpPr>
            <p:cNvPr id="53265" name="Oval 18"/>
            <p:cNvSpPr>
              <a:spLocks noChangeArrowheads="1"/>
            </p:cNvSpPr>
            <p:nvPr/>
          </p:nvSpPr>
          <p:spPr bwMode="auto">
            <a:xfrm>
              <a:off x="3696" y="2784"/>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90</a:t>
              </a:r>
            </a:p>
          </p:txBody>
        </p:sp>
        <p:sp>
          <p:nvSpPr>
            <p:cNvPr id="53266" name="Oval 19"/>
            <p:cNvSpPr>
              <a:spLocks noChangeArrowheads="1"/>
            </p:cNvSpPr>
            <p:nvPr/>
          </p:nvSpPr>
          <p:spPr bwMode="auto">
            <a:xfrm>
              <a:off x="3120" y="3120"/>
              <a:ext cx="384" cy="336"/>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78</a:t>
              </a:r>
            </a:p>
          </p:txBody>
        </p:sp>
        <p:sp>
          <p:nvSpPr>
            <p:cNvPr id="53267" name="Line 20"/>
            <p:cNvSpPr>
              <a:spLocks noChangeShapeType="1"/>
            </p:cNvSpPr>
            <p:nvPr/>
          </p:nvSpPr>
          <p:spPr bwMode="auto">
            <a:xfrm>
              <a:off x="2784" y="1392"/>
              <a:ext cx="24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8" name="Line 21"/>
            <p:cNvSpPr>
              <a:spLocks noChangeShapeType="1"/>
            </p:cNvSpPr>
            <p:nvPr/>
          </p:nvSpPr>
          <p:spPr bwMode="auto">
            <a:xfrm>
              <a:off x="3360" y="1824"/>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9" name="Line 22"/>
            <p:cNvSpPr>
              <a:spLocks noChangeShapeType="1"/>
            </p:cNvSpPr>
            <p:nvPr/>
          </p:nvSpPr>
          <p:spPr bwMode="auto">
            <a:xfrm flipH="1">
              <a:off x="3456" y="2352"/>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0" name="Line 23"/>
            <p:cNvSpPr>
              <a:spLocks noChangeShapeType="1"/>
            </p:cNvSpPr>
            <p:nvPr/>
          </p:nvSpPr>
          <p:spPr bwMode="auto">
            <a:xfrm>
              <a:off x="3408" y="2688"/>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1" name="Line 24"/>
            <p:cNvSpPr>
              <a:spLocks noChangeShapeType="1"/>
            </p:cNvSpPr>
            <p:nvPr/>
          </p:nvSpPr>
          <p:spPr bwMode="auto">
            <a:xfrm flipH="1">
              <a:off x="3504" y="3024"/>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72" name="Line 25"/>
            <p:cNvSpPr>
              <a:spLocks noChangeShapeType="1"/>
            </p:cNvSpPr>
            <p:nvPr/>
          </p:nvSpPr>
          <p:spPr bwMode="auto">
            <a:xfrm flipH="1">
              <a:off x="2016" y="1152"/>
              <a:ext cx="240" cy="240"/>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3" name="Line 26"/>
            <p:cNvSpPr>
              <a:spLocks noChangeShapeType="1"/>
            </p:cNvSpPr>
            <p:nvPr/>
          </p:nvSpPr>
          <p:spPr bwMode="auto">
            <a:xfrm>
              <a:off x="2640" y="1776"/>
              <a:ext cx="144" cy="192"/>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4" name="Line 27"/>
            <p:cNvSpPr>
              <a:spLocks noChangeShapeType="1"/>
            </p:cNvSpPr>
            <p:nvPr/>
          </p:nvSpPr>
          <p:spPr bwMode="auto">
            <a:xfrm flipH="1">
              <a:off x="1872" y="2304"/>
              <a:ext cx="384" cy="576"/>
            </a:xfrm>
            <a:prstGeom prst="line">
              <a:avLst/>
            </a:prstGeom>
            <a:noFill/>
            <a:ln w="9525">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5" name="Oval 28"/>
            <p:cNvSpPr>
              <a:spLocks noChangeArrowheads="1"/>
            </p:cNvSpPr>
            <p:nvPr/>
          </p:nvSpPr>
          <p:spPr bwMode="auto">
            <a:xfrm>
              <a:off x="1728" y="3168"/>
              <a:ext cx="384" cy="336"/>
            </a:xfrm>
            <a:prstGeom prst="ellipse">
              <a:avLst/>
            </a:prstGeom>
            <a:solidFill>
              <a:srgbClr val="BE0E23"/>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20</a:t>
              </a:r>
            </a:p>
          </p:txBody>
        </p:sp>
        <p:sp>
          <p:nvSpPr>
            <p:cNvPr id="53276" name="Line 29"/>
            <p:cNvSpPr>
              <a:spLocks noChangeShapeType="1"/>
            </p:cNvSpPr>
            <p:nvPr/>
          </p:nvSpPr>
          <p:spPr bwMode="auto">
            <a:xfrm flipH="1">
              <a:off x="2016" y="3024"/>
              <a:ext cx="144"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3251" name="Text Box 30"/>
          <p:cNvSpPr txBox="1">
            <a:spLocks noChangeArrowheads="1"/>
          </p:cNvSpPr>
          <p:nvPr/>
        </p:nvSpPr>
        <p:spPr bwMode="auto">
          <a:xfrm>
            <a:off x="458788" y="1884363"/>
            <a:ext cx="2600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zh-CN" altLang="en-US" sz="3200">
                <a:solidFill>
                  <a:srgbClr val="000066"/>
                </a:solidFill>
                <a:latin typeface="楷体_GB2312"/>
              </a:rPr>
              <a:t>插入结点</a:t>
            </a:r>
            <a:r>
              <a:rPr lang="en-US" altLang="zh-CN" sz="3200">
                <a:solidFill>
                  <a:srgbClr val="000066"/>
                </a:solidFill>
                <a:latin typeface="楷体_GB2312"/>
              </a:rPr>
              <a:t>20</a:t>
            </a:r>
            <a:endParaRPr lang="en-US" altLang="zh-CN" sz="3200">
              <a:latin typeface="楷体_GB2312"/>
            </a:endParaRPr>
          </a:p>
        </p:txBody>
      </p:sp>
      <p:sp>
        <p:nvSpPr>
          <p:cNvPr id="53252" name="Rectangle 31"/>
          <p:cNvSpPr>
            <a:spLocks noChangeArrowheads="1"/>
          </p:cNvSpPr>
          <p:nvPr/>
        </p:nvSpPr>
        <p:spPr bwMode="auto">
          <a:xfrm>
            <a:off x="3489822" y="0"/>
            <a:ext cx="366821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二叉排序树的操作－插入</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8" name="Text Box 4"/>
          <p:cNvSpPr txBox="1">
            <a:spLocks noChangeArrowheads="1"/>
          </p:cNvSpPr>
          <p:nvPr/>
        </p:nvSpPr>
        <p:spPr bwMode="auto">
          <a:xfrm>
            <a:off x="963613" y="1419225"/>
            <a:ext cx="760888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endParaRPr lang="en-US" altLang="zh-CN" sz="2000" b="0">
              <a:ea typeface="宋体" panose="02010600030101010101" pitchFamily="2" charset="-122"/>
            </a:endParaRPr>
          </a:p>
          <a:p>
            <a:pPr eaLnBrk="1" hangingPunct="1">
              <a:buFont typeface="Arial" panose="020B0604020202020204" pitchFamily="34" charset="0"/>
              <a:buNone/>
            </a:pPr>
            <a:r>
              <a:rPr lang="en-US" altLang="zh-CN">
                <a:ea typeface="宋体" panose="02010600030101010101" pitchFamily="2" charset="-122"/>
              </a:rPr>
              <a:t>  {10</a:t>
            </a:r>
            <a:r>
              <a:rPr lang="zh-CN" altLang="en-US">
                <a:ea typeface="宋体" panose="02010600030101010101" pitchFamily="2" charset="-122"/>
              </a:rPr>
              <a:t>， </a:t>
            </a:r>
            <a:r>
              <a:rPr lang="en-US" altLang="zh-CN">
                <a:ea typeface="宋体" panose="02010600030101010101" pitchFamily="2" charset="-122"/>
              </a:rPr>
              <a:t>18</a:t>
            </a:r>
            <a:r>
              <a:rPr lang="zh-CN" altLang="en-US">
                <a:ea typeface="宋体" panose="02010600030101010101" pitchFamily="2" charset="-122"/>
              </a:rPr>
              <a:t>， </a:t>
            </a:r>
            <a:r>
              <a:rPr lang="en-US" altLang="zh-CN">
                <a:ea typeface="宋体" panose="02010600030101010101" pitchFamily="2" charset="-122"/>
              </a:rPr>
              <a:t>3</a:t>
            </a:r>
            <a:r>
              <a:rPr lang="zh-CN" altLang="en-US">
                <a:ea typeface="宋体" panose="02010600030101010101" pitchFamily="2" charset="-122"/>
              </a:rPr>
              <a:t>， </a:t>
            </a:r>
            <a:r>
              <a:rPr lang="en-US" altLang="zh-CN">
                <a:ea typeface="宋体" panose="02010600030101010101" pitchFamily="2" charset="-122"/>
              </a:rPr>
              <a:t>8</a:t>
            </a:r>
            <a:r>
              <a:rPr lang="zh-CN" altLang="en-US">
                <a:ea typeface="宋体" panose="02010600030101010101" pitchFamily="2" charset="-122"/>
              </a:rPr>
              <a:t>， </a:t>
            </a:r>
            <a:r>
              <a:rPr lang="en-US" altLang="zh-CN">
                <a:ea typeface="宋体" panose="02010600030101010101" pitchFamily="2" charset="-122"/>
              </a:rPr>
              <a:t>12</a:t>
            </a:r>
            <a:r>
              <a:rPr lang="zh-CN" altLang="en-US">
                <a:ea typeface="宋体" panose="02010600030101010101" pitchFamily="2" charset="-122"/>
              </a:rPr>
              <a:t>， </a:t>
            </a:r>
            <a:r>
              <a:rPr lang="en-US" altLang="zh-CN">
                <a:ea typeface="宋体" panose="02010600030101010101" pitchFamily="2" charset="-122"/>
              </a:rPr>
              <a:t>2</a:t>
            </a:r>
            <a:r>
              <a:rPr lang="zh-CN" altLang="en-US">
                <a:ea typeface="宋体" panose="02010600030101010101" pitchFamily="2" charset="-122"/>
              </a:rPr>
              <a:t>， </a:t>
            </a:r>
            <a:r>
              <a:rPr lang="en-US" altLang="zh-CN">
                <a:ea typeface="宋体" panose="02010600030101010101" pitchFamily="2" charset="-122"/>
              </a:rPr>
              <a:t>7}</a:t>
            </a:r>
          </a:p>
        </p:txBody>
      </p:sp>
      <p:sp>
        <p:nvSpPr>
          <p:cNvPr id="1019909" name="Oval 5"/>
          <p:cNvSpPr>
            <a:spLocks noChangeArrowheads="1"/>
          </p:cNvSpPr>
          <p:nvPr/>
        </p:nvSpPr>
        <p:spPr bwMode="auto">
          <a:xfrm>
            <a:off x="1003300" y="2395538"/>
            <a:ext cx="300038" cy="30003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grpSp>
        <p:nvGrpSpPr>
          <p:cNvPr id="2" name="Group 6"/>
          <p:cNvGrpSpPr>
            <a:grpSpLocks/>
          </p:cNvGrpSpPr>
          <p:nvPr/>
        </p:nvGrpSpPr>
        <p:grpSpPr bwMode="auto">
          <a:xfrm>
            <a:off x="1738313" y="2395538"/>
            <a:ext cx="615950" cy="776287"/>
            <a:chOff x="1074" y="1307"/>
            <a:chExt cx="388" cy="489"/>
          </a:xfrm>
        </p:grpSpPr>
        <p:sp>
          <p:nvSpPr>
            <p:cNvPr id="54344" name="Oval 7"/>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45" name="Oval 8"/>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46" name="Line 9"/>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0"/>
          <p:cNvGrpSpPr>
            <a:grpSpLocks/>
          </p:cNvGrpSpPr>
          <p:nvPr/>
        </p:nvGrpSpPr>
        <p:grpSpPr bwMode="auto">
          <a:xfrm>
            <a:off x="2867025" y="2395538"/>
            <a:ext cx="911225" cy="801687"/>
            <a:chOff x="1785" y="1369"/>
            <a:chExt cx="574" cy="505"/>
          </a:xfrm>
        </p:grpSpPr>
        <p:grpSp>
          <p:nvGrpSpPr>
            <p:cNvPr id="54338" name="Group 11"/>
            <p:cNvGrpSpPr>
              <a:grpSpLocks/>
            </p:cNvGrpSpPr>
            <p:nvPr/>
          </p:nvGrpSpPr>
          <p:grpSpPr bwMode="auto">
            <a:xfrm>
              <a:off x="1971" y="1369"/>
              <a:ext cx="388" cy="489"/>
              <a:chOff x="1074" y="1307"/>
              <a:chExt cx="388" cy="489"/>
            </a:xfrm>
          </p:grpSpPr>
          <p:sp>
            <p:nvSpPr>
              <p:cNvPr id="54341" name="Oval 12"/>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42" name="Oval 13"/>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43" name="Line 14"/>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39" name="Oval 15"/>
            <p:cNvSpPr>
              <a:spLocks noChangeArrowheads="1"/>
            </p:cNvSpPr>
            <p:nvPr/>
          </p:nvSpPr>
          <p:spPr bwMode="auto">
            <a:xfrm>
              <a:off x="1785" y="1685"/>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3</a:t>
              </a:r>
            </a:p>
          </p:txBody>
        </p:sp>
        <p:sp>
          <p:nvSpPr>
            <p:cNvPr id="54340" name="Line 16"/>
            <p:cNvSpPr>
              <a:spLocks noChangeShapeType="1"/>
            </p:cNvSpPr>
            <p:nvPr/>
          </p:nvSpPr>
          <p:spPr bwMode="auto">
            <a:xfrm flipH="1">
              <a:off x="1934" y="1555"/>
              <a:ext cx="77"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17"/>
          <p:cNvGrpSpPr>
            <a:grpSpLocks/>
          </p:cNvGrpSpPr>
          <p:nvPr/>
        </p:nvGrpSpPr>
        <p:grpSpPr bwMode="auto">
          <a:xfrm>
            <a:off x="4254500" y="2395538"/>
            <a:ext cx="911225" cy="1285875"/>
            <a:chOff x="2659" y="1376"/>
            <a:chExt cx="574" cy="810"/>
          </a:xfrm>
        </p:grpSpPr>
        <p:grpSp>
          <p:nvGrpSpPr>
            <p:cNvPr id="54329" name="Group 18"/>
            <p:cNvGrpSpPr>
              <a:grpSpLocks/>
            </p:cNvGrpSpPr>
            <p:nvPr/>
          </p:nvGrpSpPr>
          <p:grpSpPr bwMode="auto">
            <a:xfrm>
              <a:off x="2659" y="1376"/>
              <a:ext cx="574" cy="505"/>
              <a:chOff x="1785" y="1369"/>
              <a:chExt cx="574" cy="505"/>
            </a:xfrm>
          </p:grpSpPr>
          <p:grpSp>
            <p:nvGrpSpPr>
              <p:cNvPr id="54332" name="Group 19"/>
              <p:cNvGrpSpPr>
                <a:grpSpLocks/>
              </p:cNvGrpSpPr>
              <p:nvPr/>
            </p:nvGrpSpPr>
            <p:grpSpPr bwMode="auto">
              <a:xfrm>
                <a:off x="1971" y="1369"/>
                <a:ext cx="388" cy="489"/>
                <a:chOff x="1074" y="1307"/>
                <a:chExt cx="388" cy="489"/>
              </a:xfrm>
            </p:grpSpPr>
            <p:sp>
              <p:nvSpPr>
                <p:cNvPr id="54335" name="Oval 20"/>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36" name="Oval 21"/>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37" name="Line 22"/>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33" name="Oval 23"/>
              <p:cNvSpPr>
                <a:spLocks noChangeArrowheads="1"/>
              </p:cNvSpPr>
              <p:nvPr/>
            </p:nvSpPr>
            <p:spPr bwMode="auto">
              <a:xfrm>
                <a:off x="1785" y="1685"/>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3</a:t>
                </a:r>
              </a:p>
            </p:txBody>
          </p:sp>
          <p:sp>
            <p:nvSpPr>
              <p:cNvPr id="54334" name="Line 24"/>
              <p:cNvSpPr>
                <a:spLocks noChangeShapeType="1"/>
              </p:cNvSpPr>
              <p:nvPr/>
            </p:nvSpPr>
            <p:spPr bwMode="auto">
              <a:xfrm flipH="1">
                <a:off x="1934" y="1555"/>
                <a:ext cx="77"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30" name="Oval 25"/>
            <p:cNvSpPr>
              <a:spLocks noChangeArrowheads="1"/>
            </p:cNvSpPr>
            <p:nvPr/>
          </p:nvSpPr>
          <p:spPr bwMode="auto">
            <a:xfrm>
              <a:off x="2819" y="199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8</a:t>
              </a:r>
            </a:p>
          </p:txBody>
        </p:sp>
        <p:sp>
          <p:nvSpPr>
            <p:cNvPr id="54331" name="Line 26"/>
            <p:cNvSpPr>
              <a:spLocks noChangeShapeType="1"/>
            </p:cNvSpPr>
            <p:nvPr/>
          </p:nvSpPr>
          <p:spPr bwMode="auto">
            <a:xfrm>
              <a:off x="2823" y="1878"/>
              <a:ext cx="55"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Group 27"/>
          <p:cNvGrpSpPr>
            <a:grpSpLocks/>
          </p:cNvGrpSpPr>
          <p:nvPr/>
        </p:nvGrpSpPr>
        <p:grpSpPr bwMode="auto">
          <a:xfrm>
            <a:off x="5746750" y="2395538"/>
            <a:ext cx="911225" cy="1285875"/>
            <a:chOff x="3599" y="1427"/>
            <a:chExt cx="574" cy="810"/>
          </a:xfrm>
        </p:grpSpPr>
        <p:grpSp>
          <p:nvGrpSpPr>
            <p:cNvPr id="54317" name="Group 28"/>
            <p:cNvGrpSpPr>
              <a:grpSpLocks/>
            </p:cNvGrpSpPr>
            <p:nvPr/>
          </p:nvGrpSpPr>
          <p:grpSpPr bwMode="auto">
            <a:xfrm>
              <a:off x="3599" y="1427"/>
              <a:ext cx="574" cy="810"/>
              <a:chOff x="2659" y="1376"/>
              <a:chExt cx="574" cy="810"/>
            </a:xfrm>
          </p:grpSpPr>
          <p:grpSp>
            <p:nvGrpSpPr>
              <p:cNvPr id="54320" name="Group 29"/>
              <p:cNvGrpSpPr>
                <a:grpSpLocks/>
              </p:cNvGrpSpPr>
              <p:nvPr/>
            </p:nvGrpSpPr>
            <p:grpSpPr bwMode="auto">
              <a:xfrm>
                <a:off x="2659" y="1376"/>
                <a:ext cx="574" cy="505"/>
                <a:chOff x="1785" y="1369"/>
                <a:chExt cx="574" cy="505"/>
              </a:xfrm>
            </p:grpSpPr>
            <p:grpSp>
              <p:nvGrpSpPr>
                <p:cNvPr id="54323" name="Group 30"/>
                <p:cNvGrpSpPr>
                  <a:grpSpLocks/>
                </p:cNvGrpSpPr>
                <p:nvPr/>
              </p:nvGrpSpPr>
              <p:grpSpPr bwMode="auto">
                <a:xfrm>
                  <a:off x="1971" y="1369"/>
                  <a:ext cx="388" cy="489"/>
                  <a:chOff x="1074" y="1307"/>
                  <a:chExt cx="388" cy="489"/>
                </a:xfrm>
              </p:grpSpPr>
              <p:sp>
                <p:nvSpPr>
                  <p:cNvPr id="54326" name="Oval 31"/>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27" name="Oval 32"/>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28" name="Line 33"/>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24" name="Oval 34"/>
                <p:cNvSpPr>
                  <a:spLocks noChangeArrowheads="1"/>
                </p:cNvSpPr>
                <p:nvPr/>
              </p:nvSpPr>
              <p:spPr bwMode="auto">
                <a:xfrm>
                  <a:off x="1785" y="1685"/>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3</a:t>
                  </a:r>
                </a:p>
              </p:txBody>
            </p:sp>
            <p:sp>
              <p:nvSpPr>
                <p:cNvPr id="54325" name="Line 35"/>
                <p:cNvSpPr>
                  <a:spLocks noChangeShapeType="1"/>
                </p:cNvSpPr>
                <p:nvPr/>
              </p:nvSpPr>
              <p:spPr bwMode="auto">
                <a:xfrm flipH="1">
                  <a:off x="1934" y="1555"/>
                  <a:ext cx="77"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21" name="Oval 36"/>
              <p:cNvSpPr>
                <a:spLocks noChangeArrowheads="1"/>
              </p:cNvSpPr>
              <p:nvPr/>
            </p:nvSpPr>
            <p:spPr bwMode="auto">
              <a:xfrm>
                <a:off x="2819" y="199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8</a:t>
                </a:r>
              </a:p>
            </p:txBody>
          </p:sp>
          <p:sp>
            <p:nvSpPr>
              <p:cNvPr id="54322" name="Line 37"/>
              <p:cNvSpPr>
                <a:spLocks noChangeShapeType="1"/>
              </p:cNvSpPr>
              <p:nvPr/>
            </p:nvSpPr>
            <p:spPr bwMode="auto">
              <a:xfrm>
                <a:off x="2823" y="1878"/>
                <a:ext cx="55"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18" name="Oval 38"/>
            <p:cNvSpPr>
              <a:spLocks noChangeArrowheads="1"/>
            </p:cNvSpPr>
            <p:nvPr/>
          </p:nvSpPr>
          <p:spPr bwMode="auto">
            <a:xfrm>
              <a:off x="3941" y="2040"/>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12</a:t>
              </a:r>
            </a:p>
          </p:txBody>
        </p:sp>
        <p:sp>
          <p:nvSpPr>
            <p:cNvPr id="54319" name="Line 39"/>
            <p:cNvSpPr>
              <a:spLocks noChangeShapeType="1"/>
            </p:cNvSpPr>
            <p:nvPr/>
          </p:nvSpPr>
          <p:spPr bwMode="auto">
            <a:xfrm flipH="1">
              <a:off x="4034" y="1911"/>
              <a:ext cx="5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 name="Group 40"/>
          <p:cNvGrpSpPr>
            <a:grpSpLocks/>
          </p:cNvGrpSpPr>
          <p:nvPr/>
        </p:nvGrpSpPr>
        <p:grpSpPr bwMode="auto">
          <a:xfrm>
            <a:off x="855663" y="3859213"/>
            <a:ext cx="1209675" cy="1285875"/>
            <a:chOff x="507" y="2489"/>
            <a:chExt cx="762" cy="810"/>
          </a:xfrm>
        </p:grpSpPr>
        <p:grpSp>
          <p:nvGrpSpPr>
            <p:cNvPr id="54302" name="Group 41"/>
            <p:cNvGrpSpPr>
              <a:grpSpLocks/>
            </p:cNvGrpSpPr>
            <p:nvPr/>
          </p:nvGrpSpPr>
          <p:grpSpPr bwMode="auto">
            <a:xfrm>
              <a:off x="695" y="2489"/>
              <a:ext cx="574" cy="810"/>
              <a:chOff x="3599" y="1427"/>
              <a:chExt cx="574" cy="810"/>
            </a:xfrm>
          </p:grpSpPr>
          <p:grpSp>
            <p:nvGrpSpPr>
              <p:cNvPr id="54305" name="Group 42"/>
              <p:cNvGrpSpPr>
                <a:grpSpLocks/>
              </p:cNvGrpSpPr>
              <p:nvPr/>
            </p:nvGrpSpPr>
            <p:grpSpPr bwMode="auto">
              <a:xfrm>
                <a:off x="3599" y="1427"/>
                <a:ext cx="574" cy="810"/>
                <a:chOff x="2659" y="1376"/>
                <a:chExt cx="574" cy="810"/>
              </a:xfrm>
            </p:grpSpPr>
            <p:grpSp>
              <p:nvGrpSpPr>
                <p:cNvPr id="54308" name="Group 43"/>
                <p:cNvGrpSpPr>
                  <a:grpSpLocks/>
                </p:cNvGrpSpPr>
                <p:nvPr/>
              </p:nvGrpSpPr>
              <p:grpSpPr bwMode="auto">
                <a:xfrm>
                  <a:off x="2659" y="1376"/>
                  <a:ext cx="574" cy="505"/>
                  <a:chOff x="1785" y="1369"/>
                  <a:chExt cx="574" cy="505"/>
                </a:xfrm>
              </p:grpSpPr>
              <p:grpSp>
                <p:nvGrpSpPr>
                  <p:cNvPr id="54311" name="Group 44"/>
                  <p:cNvGrpSpPr>
                    <a:grpSpLocks/>
                  </p:cNvGrpSpPr>
                  <p:nvPr/>
                </p:nvGrpSpPr>
                <p:grpSpPr bwMode="auto">
                  <a:xfrm>
                    <a:off x="1971" y="1369"/>
                    <a:ext cx="388" cy="489"/>
                    <a:chOff x="1074" y="1307"/>
                    <a:chExt cx="388" cy="489"/>
                  </a:xfrm>
                </p:grpSpPr>
                <p:sp>
                  <p:nvSpPr>
                    <p:cNvPr id="54314" name="Oval 45"/>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15" name="Oval 46"/>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16" name="Line 47"/>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12" name="Oval 48"/>
                  <p:cNvSpPr>
                    <a:spLocks noChangeArrowheads="1"/>
                  </p:cNvSpPr>
                  <p:nvPr/>
                </p:nvSpPr>
                <p:spPr bwMode="auto">
                  <a:xfrm>
                    <a:off x="1785" y="1685"/>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3</a:t>
                    </a:r>
                  </a:p>
                </p:txBody>
              </p:sp>
              <p:sp>
                <p:nvSpPr>
                  <p:cNvPr id="54313" name="Line 49"/>
                  <p:cNvSpPr>
                    <a:spLocks noChangeShapeType="1"/>
                  </p:cNvSpPr>
                  <p:nvPr/>
                </p:nvSpPr>
                <p:spPr bwMode="auto">
                  <a:xfrm flipH="1">
                    <a:off x="1934" y="1555"/>
                    <a:ext cx="77"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09" name="Oval 50"/>
                <p:cNvSpPr>
                  <a:spLocks noChangeArrowheads="1"/>
                </p:cNvSpPr>
                <p:nvPr/>
              </p:nvSpPr>
              <p:spPr bwMode="auto">
                <a:xfrm>
                  <a:off x="2819" y="199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8</a:t>
                  </a:r>
                </a:p>
              </p:txBody>
            </p:sp>
            <p:sp>
              <p:nvSpPr>
                <p:cNvPr id="54310" name="Line 51"/>
                <p:cNvSpPr>
                  <a:spLocks noChangeShapeType="1"/>
                </p:cNvSpPr>
                <p:nvPr/>
              </p:nvSpPr>
              <p:spPr bwMode="auto">
                <a:xfrm>
                  <a:off x="2823" y="1878"/>
                  <a:ext cx="55"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06" name="Oval 52"/>
              <p:cNvSpPr>
                <a:spLocks noChangeArrowheads="1"/>
              </p:cNvSpPr>
              <p:nvPr/>
            </p:nvSpPr>
            <p:spPr bwMode="auto">
              <a:xfrm>
                <a:off x="3941" y="2040"/>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12</a:t>
                </a:r>
              </a:p>
            </p:txBody>
          </p:sp>
          <p:sp>
            <p:nvSpPr>
              <p:cNvPr id="54307" name="Line 53"/>
              <p:cNvSpPr>
                <a:spLocks noChangeShapeType="1"/>
              </p:cNvSpPr>
              <p:nvPr/>
            </p:nvSpPr>
            <p:spPr bwMode="auto">
              <a:xfrm flipH="1">
                <a:off x="4034" y="1911"/>
                <a:ext cx="5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303" name="Oval 54"/>
            <p:cNvSpPr>
              <a:spLocks noChangeArrowheads="1"/>
            </p:cNvSpPr>
            <p:nvPr/>
          </p:nvSpPr>
          <p:spPr bwMode="auto">
            <a:xfrm>
              <a:off x="507" y="3096"/>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2</a:t>
              </a:r>
            </a:p>
          </p:txBody>
        </p:sp>
        <p:sp>
          <p:nvSpPr>
            <p:cNvPr id="54304" name="Line 55"/>
            <p:cNvSpPr>
              <a:spLocks noChangeShapeType="1"/>
            </p:cNvSpPr>
            <p:nvPr/>
          </p:nvSpPr>
          <p:spPr bwMode="auto">
            <a:xfrm flipH="1">
              <a:off x="678" y="2978"/>
              <a:ext cx="78" cy="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7" name="Group 56"/>
          <p:cNvGrpSpPr>
            <a:grpSpLocks/>
          </p:cNvGrpSpPr>
          <p:nvPr/>
        </p:nvGrpSpPr>
        <p:grpSpPr bwMode="auto">
          <a:xfrm>
            <a:off x="2490788" y="3859213"/>
            <a:ext cx="1209675" cy="1800225"/>
            <a:chOff x="1537" y="2529"/>
            <a:chExt cx="762" cy="1134"/>
          </a:xfrm>
        </p:grpSpPr>
        <p:grpSp>
          <p:nvGrpSpPr>
            <p:cNvPr id="54284" name="Group 57"/>
            <p:cNvGrpSpPr>
              <a:grpSpLocks/>
            </p:cNvGrpSpPr>
            <p:nvPr/>
          </p:nvGrpSpPr>
          <p:grpSpPr bwMode="auto">
            <a:xfrm>
              <a:off x="1537" y="2529"/>
              <a:ext cx="762" cy="810"/>
              <a:chOff x="507" y="2489"/>
              <a:chExt cx="762" cy="810"/>
            </a:xfrm>
          </p:grpSpPr>
          <p:grpSp>
            <p:nvGrpSpPr>
              <p:cNvPr id="54287" name="Group 58"/>
              <p:cNvGrpSpPr>
                <a:grpSpLocks/>
              </p:cNvGrpSpPr>
              <p:nvPr/>
            </p:nvGrpSpPr>
            <p:grpSpPr bwMode="auto">
              <a:xfrm>
                <a:off x="695" y="2489"/>
                <a:ext cx="574" cy="810"/>
                <a:chOff x="3599" y="1427"/>
                <a:chExt cx="574" cy="810"/>
              </a:xfrm>
            </p:grpSpPr>
            <p:grpSp>
              <p:nvGrpSpPr>
                <p:cNvPr id="54290" name="Group 59"/>
                <p:cNvGrpSpPr>
                  <a:grpSpLocks/>
                </p:cNvGrpSpPr>
                <p:nvPr/>
              </p:nvGrpSpPr>
              <p:grpSpPr bwMode="auto">
                <a:xfrm>
                  <a:off x="3599" y="1427"/>
                  <a:ext cx="574" cy="810"/>
                  <a:chOff x="2659" y="1376"/>
                  <a:chExt cx="574" cy="810"/>
                </a:xfrm>
              </p:grpSpPr>
              <p:grpSp>
                <p:nvGrpSpPr>
                  <p:cNvPr id="54293" name="Group 60"/>
                  <p:cNvGrpSpPr>
                    <a:grpSpLocks/>
                  </p:cNvGrpSpPr>
                  <p:nvPr/>
                </p:nvGrpSpPr>
                <p:grpSpPr bwMode="auto">
                  <a:xfrm>
                    <a:off x="2659" y="1376"/>
                    <a:ext cx="574" cy="505"/>
                    <a:chOff x="1785" y="1369"/>
                    <a:chExt cx="574" cy="505"/>
                  </a:xfrm>
                </p:grpSpPr>
                <p:grpSp>
                  <p:nvGrpSpPr>
                    <p:cNvPr id="54296" name="Group 61"/>
                    <p:cNvGrpSpPr>
                      <a:grpSpLocks/>
                    </p:cNvGrpSpPr>
                    <p:nvPr/>
                  </p:nvGrpSpPr>
                  <p:grpSpPr bwMode="auto">
                    <a:xfrm>
                      <a:off x="1971" y="1369"/>
                      <a:ext cx="388" cy="489"/>
                      <a:chOff x="1074" y="1307"/>
                      <a:chExt cx="388" cy="489"/>
                    </a:xfrm>
                  </p:grpSpPr>
                  <p:sp>
                    <p:nvSpPr>
                      <p:cNvPr id="54299" name="Oval 62"/>
                      <p:cNvSpPr>
                        <a:spLocks noChangeArrowheads="1"/>
                      </p:cNvSpPr>
                      <p:nvPr/>
                    </p:nvSpPr>
                    <p:spPr bwMode="auto">
                      <a:xfrm>
                        <a:off x="1074" y="13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10</a:t>
                        </a:r>
                      </a:p>
                    </p:txBody>
                  </p:sp>
                  <p:sp>
                    <p:nvSpPr>
                      <p:cNvPr id="54300" name="Oval 63"/>
                      <p:cNvSpPr>
                        <a:spLocks noChangeArrowheads="1"/>
                      </p:cNvSpPr>
                      <p:nvPr/>
                    </p:nvSpPr>
                    <p:spPr bwMode="auto">
                      <a:xfrm>
                        <a:off x="1273" y="160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18</a:t>
                        </a:r>
                      </a:p>
                    </p:txBody>
                  </p:sp>
                  <p:sp>
                    <p:nvSpPr>
                      <p:cNvPr id="54301" name="Line 64"/>
                      <p:cNvSpPr>
                        <a:spLocks noChangeShapeType="1"/>
                      </p:cNvSpPr>
                      <p:nvPr/>
                    </p:nvSpPr>
                    <p:spPr bwMode="auto">
                      <a:xfrm>
                        <a:off x="1233" y="1467"/>
                        <a:ext cx="89"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97" name="Oval 65"/>
                    <p:cNvSpPr>
                      <a:spLocks noChangeArrowheads="1"/>
                    </p:cNvSpPr>
                    <p:nvPr/>
                  </p:nvSpPr>
                  <p:spPr bwMode="auto">
                    <a:xfrm>
                      <a:off x="1785" y="1685"/>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3</a:t>
                      </a:r>
                    </a:p>
                  </p:txBody>
                </p:sp>
                <p:sp>
                  <p:nvSpPr>
                    <p:cNvPr id="54298" name="Line 66"/>
                    <p:cNvSpPr>
                      <a:spLocks noChangeShapeType="1"/>
                    </p:cNvSpPr>
                    <p:nvPr/>
                  </p:nvSpPr>
                  <p:spPr bwMode="auto">
                    <a:xfrm flipH="1">
                      <a:off x="1934" y="1555"/>
                      <a:ext cx="77" cy="1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94" name="Oval 67"/>
                  <p:cNvSpPr>
                    <a:spLocks noChangeArrowheads="1"/>
                  </p:cNvSpPr>
                  <p:nvPr/>
                </p:nvSpPr>
                <p:spPr bwMode="auto">
                  <a:xfrm>
                    <a:off x="2819" y="1997"/>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8</a:t>
                    </a:r>
                  </a:p>
                </p:txBody>
              </p:sp>
              <p:sp>
                <p:nvSpPr>
                  <p:cNvPr id="54295" name="Line 68"/>
                  <p:cNvSpPr>
                    <a:spLocks noChangeShapeType="1"/>
                  </p:cNvSpPr>
                  <p:nvPr/>
                </p:nvSpPr>
                <p:spPr bwMode="auto">
                  <a:xfrm>
                    <a:off x="2823" y="1878"/>
                    <a:ext cx="55"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91" name="Oval 69"/>
                <p:cNvSpPr>
                  <a:spLocks noChangeArrowheads="1"/>
                </p:cNvSpPr>
                <p:nvPr/>
              </p:nvSpPr>
              <p:spPr bwMode="auto">
                <a:xfrm>
                  <a:off x="3941" y="2040"/>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12</a:t>
                  </a:r>
                </a:p>
              </p:txBody>
            </p:sp>
            <p:sp>
              <p:nvSpPr>
                <p:cNvPr id="54292" name="Line 70"/>
                <p:cNvSpPr>
                  <a:spLocks noChangeShapeType="1"/>
                </p:cNvSpPr>
                <p:nvPr/>
              </p:nvSpPr>
              <p:spPr bwMode="auto">
                <a:xfrm flipH="1">
                  <a:off x="4034" y="1911"/>
                  <a:ext cx="56" cy="1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88" name="Oval 71"/>
              <p:cNvSpPr>
                <a:spLocks noChangeArrowheads="1"/>
              </p:cNvSpPr>
              <p:nvPr/>
            </p:nvSpPr>
            <p:spPr bwMode="auto">
              <a:xfrm>
                <a:off x="507" y="3096"/>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2</a:t>
                </a:r>
              </a:p>
            </p:txBody>
          </p:sp>
          <p:sp>
            <p:nvSpPr>
              <p:cNvPr id="54289" name="Line 72"/>
              <p:cNvSpPr>
                <a:spLocks noChangeShapeType="1"/>
              </p:cNvSpPr>
              <p:nvPr/>
            </p:nvSpPr>
            <p:spPr bwMode="auto">
              <a:xfrm flipH="1">
                <a:off x="678" y="2978"/>
                <a:ext cx="78" cy="1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85" name="Oval 73"/>
            <p:cNvSpPr>
              <a:spLocks noChangeArrowheads="1"/>
            </p:cNvSpPr>
            <p:nvPr/>
          </p:nvSpPr>
          <p:spPr bwMode="auto">
            <a:xfrm>
              <a:off x="1730" y="3474"/>
              <a:ext cx="189" cy="18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000" b="0">
                  <a:ea typeface="宋体" panose="02010600030101010101" pitchFamily="2" charset="-122"/>
                </a:rPr>
                <a:t>7</a:t>
              </a:r>
            </a:p>
          </p:txBody>
        </p:sp>
        <p:sp>
          <p:nvSpPr>
            <p:cNvPr id="54286" name="Line 74"/>
            <p:cNvSpPr>
              <a:spLocks noChangeShapeType="1"/>
            </p:cNvSpPr>
            <p:nvPr/>
          </p:nvSpPr>
          <p:spPr bwMode="auto">
            <a:xfrm flipH="1">
              <a:off x="1867" y="3343"/>
              <a:ext cx="78" cy="15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4282" name="Text Box 97"/>
          <p:cNvSpPr txBox="1">
            <a:spLocks noChangeArrowheads="1"/>
          </p:cNvSpPr>
          <p:nvPr/>
        </p:nvSpPr>
        <p:spPr bwMode="auto">
          <a:xfrm>
            <a:off x="-41275" y="593725"/>
            <a:ext cx="91106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3" eaLnBrk="1" hangingPunct="1">
              <a:spcBef>
                <a:spcPct val="20000"/>
              </a:spcBef>
              <a:buClr>
                <a:srgbClr val="FF9900"/>
              </a:buClr>
              <a:buFont typeface="Wingdings" panose="05000000000000000000" pitchFamily="2" charset="2"/>
              <a:buNone/>
            </a:pPr>
            <a:r>
              <a:rPr lang="zh-CN" altLang="en-US">
                <a:solidFill>
                  <a:schemeClr val="hlink"/>
                </a:solidFill>
                <a:latin typeface="Arial" panose="020B0604020202020204" pitchFamily="34" charset="0"/>
              </a:rPr>
              <a:t>从空树出发，经过一系列的查找、插入操作之后，可生成一棵二叉排序树</a:t>
            </a:r>
            <a:endParaRPr lang="zh-CN" altLang="en-US">
              <a:solidFill>
                <a:schemeClr val="hlink"/>
              </a:solidFill>
            </a:endParaRPr>
          </a:p>
        </p:txBody>
      </p:sp>
      <p:sp>
        <p:nvSpPr>
          <p:cNvPr id="54283" name="Rectangle 98"/>
          <p:cNvSpPr>
            <a:spLocks noChangeArrowheads="1"/>
          </p:cNvSpPr>
          <p:nvPr/>
        </p:nvSpPr>
        <p:spPr bwMode="auto">
          <a:xfrm>
            <a:off x="39688" y="0"/>
            <a:ext cx="53959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3200">
                <a:latin typeface="楷体_GB2312"/>
              </a:rPr>
              <a:t>二叉排序树的操作－生成</a:t>
            </a:r>
          </a:p>
        </p:txBody>
      </p:sp>
      <p:sp>
        <p:nvSpPr>
          <p:cNvPr id="4" name="文本框 3">
            <a:extLst>
              <a:ext uri="{FF2B5EF4-FFF2-40B4-BE49-F238E27FC236}">
                <a16:creationId xmlns:a16="http://schemas.microsoft.com/office/drawing/2014/main" id="{79F9EEBE-82F5-6D2C-BEE1-A9314202C750}"/>
              </a:ext>
            </a:extLst>
          </p:cNvPr>
          <p:cNvSpPr txBox="1"/>
          <p:nvPr/>
        </p:nvSpPr>
        <p:spPr>
          <a:xfrm>
            <a:off x="517817" y="5711299"/>
            <a:ext cx="8640960" cy="1015663"/>
          </a:xfrm>
          <a:prstGeom prst="rect">
            <a:avLst/>
          </a:prstGeom>
          <a:noFill/>
        </p:spPr>
        <p:txBody>
          <a:bodyPr wrap="square" rtlCol="0">
            <a:spAutoFit/>
          </a:bodyPr>
          <a:lstStyle/>
          <a:p>
            <a:r>
              <a:rPr lang="zh-CN" altLang="en-US" sz="2000" dirty="0">
                <a:highlight>
                  <a:srgbClr val="00FF00"/>
                </a:highlight>
              </a:rPr>
              <a:t>构建：选择一个元素（一般为第一个）作为根结点。依次添加后续元素，如果比根节点小就放在左子树，大则放在右子树。如果左右子树上已经有结点则依旧按照上述顺序放在结点的左右树上（优先填满）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19908">
                                            <p:txEl>
                                              <p:pRg st="1" end="1"/>
                                            </p:txEl>
                                          </p:spTgt>
                                        </p:tgtEl>
                                        <p:attrNameLst>
                                          <p:attrName>style.visibility</p:attrName>
                                        </p:attrNameLst>
                                      </p:cBhvr>
                                      <p:to>
                                        <p:strVal val="visible"/>
                                      </p:to>
                                    </p:set>
                                    <p:anim calcmode="lin" valueType="num">
                                      <p:cBhvr additive="base">
                                        <p:cTn id="7" dur="500" fill="hold"/>
                                        <p:tgtEl>
                                          <p:spTgt spid="1019908">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19908">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19909"/>
                                        </p:tgtEl>
                                        <p:attrNameLst>
                                          <p:attrName>style.visibility</p:attrName>
                                        </p:attrNameLst>
                                      </p:cBhvr>
                                      <p:to>
                                        <p:strVal val="visible"/>
                                      </p:to>
                                    </p:set>
                                    <p:anim calcmode="lin" valueType="num">
                                      <p:cBhvr additive="base">
                                        <p:cTn id="13" dur="500" fill="hold"/>
                                        <p:tgtEl>
                                          <p:spTgt spid="1019909"/>
                                        </p:tgtEl>
                                        <p:attrNameLst>
                                          <p:attrName>ppt_x</p:attrName>
                                        </p:attrNameLst>
                                      </p:cBhvr>
                                      <p:tavLst>
                                        <p:tav tm="0">
                                          <p:val>
                                            <p:strVal val="0-#ppt_w/2"/>
                                          </p:val>
                                        </p:tav>
                                        <p:tav tm="100000">
                                          <p:val>
                                            <p:strVal val="#ppt_x"/>
                                          </p:val>
                                        </p:tav>
                                      </p:tavLst>
                                    </p:anim>
                                    <p:anim calcmode="lin" valueType="num">
                                      <p:cBhvr additive="base">
                                        <p:cTn id="14" dur="500" fill="hold"/>
                                        <p:tgtEl>
                                          <p:spTgt spid="101990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0-#ppt_w/2"/>
                                          </p:val>
                                        </p:tav>
                                        <p:tav tm="100000">
                                          <p:val>
                                            <p:strVal val="#ppt_x"/>
                                          </p:val>
                                        </p:tav>
                                      </p:tavLst>
                                    </p:anim>
                                    <p:anim calcmode="lin" valueType="num">
                                      <p:cBhvr additive="base">
                                        <p:cTn id="20"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0-#ppt_w/2"/>
                                          </p:val>
                                        </p:tav>
                                        <p:tav tm="100000">
                                          <p:val>
                                            <p:strVal val="#ppt_x"/>
                                          </p:val>
                                        </p:tav>
                                      </p:tavLst>
                                    </p:anim>
                                    <p:anim calcmode="lin" valueType="num">
                                      <p:cBhvr additive="base">
                                        <p:cTn id="26"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2" name="WHOOSH.WAV"/>
                                        </p:tgtEl>
                                      </p:cMediaNode>
                                    </p:audio>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9"/>
                                            </p:cond>
                                          </p:stCondLst>
                                          <p:endCondLst>
                                            <p:cond evt="onStopAudio" delay="0">
                                              <p:tgtEl>
                                                <p:sldTgt/>
                                              </p:tgtEl>
                                            </p:cond>
                                          </p:endCondLst>
                                        </p:cTn>
                                        <p:tgtEl>
                                          <p:sndTgt r:embed="rId2" name="WHOOSH.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0-#ppt_w/2"/>
                                          </p:val>
                                        </p:tav>
                                        <p:tav tm="100000">
                                          <p:val>
                                            <p:strVal val="#ppt_x"/>
                                          </p:val>
                                        </p:tav>
                                      </p:tavLst>
                                    </p:anim>
                                    <p:anim calcmode="lin" valueType="num">
                                      <p:cBhvr additive="base">
                                        <p:cTn id="38" dur="500" fill="hold"/>
                                        <p:tgtEl>
                                          <p:spTgt spid="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2" name="WHOOSH.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0-#ppt_w/2"/>
                                          </p:val>
                                        </p:tav>
                                        <p:tav tm="100000">
                                          <p:val>
                                            <p:strVal val="#ppt_x"/>
                                          </p:val>
                                        </p:tav>
                                      </p:tavLst>
                                    </p:anim>
                                    <p:anim calcmode="lin" valueType="num">
                                      <p:cBhvr additive="base">
                                        <p:cTn id="44"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0-#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7"/>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08" grpId="0" build="p"/>
      <p:bldP spid="101990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73"/>
          <p:cNvSpPr txBox="1">
            <a:spLocks noChangeArrowheads="1"/>
          </p:cNvSpPr>
          <p:nvPr/>
        </p:nvSpPr>
        <p:spPr bwMode="auto">
          <a:xfrm>
            <a:off x="161925" y="701675"/>
            <a:ext cx="88201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20000"/>
              </a:lnSpc>
              <a:spcBef>
                <a:spcPct val="20000"/>
              </a:spcBef>
              <a:buFont typeface="Wingdings" panose="05000000000000000000" pitchFamily="2" charset="2"/>
              <a:buNone/>
            </a:pPr>
            <a:r>
              <a:rPr lang="zh-CN" altLang="en-US" sz="3200">
                <a:solidFill>
                  <a:srgbClr val="000066"/>
                </a:solidFill>
              </a:rPr>
              <a:t>不同插入次序的序列生成不同形态的二叉排序树</a:t>
            </a:r>
          </a:p>
        </p:txBody>
      </p:sp>
      <p:grpSp>
        <p:nvGrpSpPr>
          <p:cNvPr id="2" name="Group 98"/>
          <p:cNvGrpSpPr>
            <a:grpSpLocks/>
          </p:cNvGrpSpPr>
          <p:nvPr/>
        </p:nvGrpSpPr>
        <p:grpSpPr bwMode="auto">
          <a:xfrm>
            <a:off x="685800" y="2428875"/>
            <a:ext cx="2209800" cy="1981200"/>
            <a:chOff x="432" y="1530"/>
            <a:chExt cx="1392" cy="1248"/>
          </a:xfrm>
        </p:grpSpPr>
        <p:sp>
          <p:nvSpPr>
            <p:cNvPr id="55315" name="Oval 75"/>
            <p:cNvSpPr>
              <a:spLocks noChangeArrowheads="1"/>
            </p:cNvSpPr>
            <p:nvPr/>
          </p:nvSpPr>
          <p:spPr bwMode="auto">
            <a:xfrm>
              <a:off x="1104" y="1530"/>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55316" name="Oval 76"/>
            <p:cNvSpPr>
              <a:spLocks noChangeArrowheads="1"/>
            </p:cNvSpPr>
            <p:nvPr/>
          </p:nvSpPr>
          <p:spPr bwMode="auto">
            <a:xfrm>
              <a:off x="76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55317" name="Oval 77"/>
            <p:cNvSpPr>
              <a:spLocks noChangeArrowheads="1"/>
            </p:cNvSpPr>
            <p:nvPr/>
          </p:nvSpPr>
          <p:spPr bwMode="auto">
            <a:xfrm>
              <a:off x="148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55318" name="Oval 78"/>
            <p:cNvSpPr>
              <a:spLocks noChangeArrowheads="1"/>
            </p:cNvSpPr>
            <p:nvPr/>
          </p:nvSpPr>
          <p:spPr bwMode="auto">
            <a:xfrm>
              <a:off x="432" y="2346"/>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55319" name="Oval 79"/>
            <p:cNvSpPr>
              <a:spLocks noChangeArrowheads="1"/>
            </p:cNvSpPr>
            <p:nvPr/>
          </p:nvSpPr>
          <p:spPr bwMode="auto">
            <a:xfrm>
              <a:off x="1152" y="239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55320" name="Line 80"/>
            <p:cNvSpPr>
              <a:spLocks noChangeShapeType="1"/>
            </p:cNvSpPr>
            <p:nvPr/>
          </p:nvSpPr>
          <p:spPr bwMode="auto">
            <a:xfrm flipH="1">
              <a:off x="1008" y="1802"/>
              <a:ext cx="144" cy="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1" name="Line 81"/>
            <p:cNvSpPr>
              <a:spLocks noChangeShapeType="1"/>
            </p:cNvSpPr>
            <p:nvPr/>
          </p:nvSpPr>
          <p:spPr bwMode="auto">
            <a:xfrm flipH="1">
              <a:off x="720" y="2250"/>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2" name="Line 82"/>
            <p:cNvSpPr>
              <a:spLocks noChangeShapeType="1"/>
            </p:cNvSpPr>
            <p:nvPr/>
          </p:nvSpPr>
          <p:spPr bwMode="auto">
            <a:xfrm>
              <a:off x="1056" y="2234"/>
              <a:ext cx="192"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23" name="Line 83"/>
            <p:cNvSpPr>
              <a:spLocks noChangeShapeType="1"/>
            </p:cNvSpPr>
            <p:nvPr/>
          </p:nvSpPr>
          <p:spPr bwMode="auto">
            <a:xfrm>
              <a:off x="1392" y="181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99"/>
          <p:cNvGrpSpPr>
            <a:grpSpLocks/>
          </p:cNvGrpSpPr>
          <p:nvPr/>
        </p:nvGrpSpPr>
        <p:grpSpPr bwMode="auto">
          <a:xfrm>
            <a:off x="4800600" y="2276475"/>
            <a:ext cx="2971800" cy="2819400"/>
            <a:chOff x="3024" y="1434"/>
            <a:chExt cx="1872" cy="1776"/>
          </a:xfrm>
        </p:grpSpPr>
        <p:sp>
          <p:nvSpPr>
            <p:cNvPr id="55306" name="Oval 84"/>
            <p:cNvSpPr>
              <a:spLocks noChangeArrowheads="1"/>
            </p:cNvSpPr>
            <p:nvPr/>
          </p:nvSpPr>
          <p:spPr bwMode="auto">
            <a:xfrm>
              <a:off x="3024" y="1434"/>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55307" name="Oval 85"/>
            <p:cNvSpPr>
              <a:spLocks noChangeArrowheads="1"/>
            </p:cNvSpPr>
            <p:nvPr/>
          </p:nvSpPr>
          <p:spPr bwMode="auto">
            <a:xfrm>
              <a:off x="3408" y="177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55308" name="Oval 86"/>
            <p:cNvSpPr>
              <a:spLocks noChangeArrowheads="1"/>
            </p:cNvSpPr>
            <p:nvPr/>
          </p:nvSpPr>
          <p:spPr bwMode="auto">
            <a:xfrm>
              <a:off x="3744" y="2106"/>
              <a:ext cx="432"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55309" name="Oval 87"/>
            <p:cNvSpPr>
              <a:spLocks noChangeArrowheads="1"/>
            </p:cNvSpPr>
            <p:nvPr/>
          </p:nvSpPr>
          <p:spPr bwMode="auto">
            <a:xfrm>
              <a:off x="4128" y="249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55310" name="Oval 88"/>
            <p:cNvSpPr>
              <a:spLocks noChangeArrowheads="1"/>
            </p:cNvSpPr>
            <p:nvPr/>
          </p:nvSpPr>
          <p:spPr bwMode="auto">
            <a:xfrm>
              <a:off x="4512" y="2826"/>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55311" name="Line 89"/>
            <p:cNvSpPr>
              <a:spLocks noChangeShapeType="1"/>
            </p:cNvSpPr>
            <p:nvPr/>
          </p:nvSpPr>
          <p:spPr bwMode="auto">
            <a:xfrm>
              <a:off x="3360" y="177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2" name="Line 90"/>
            <p:cNvSpPr>
              <a:spLocks noChangeShapeType="1"/>
            </p:cNvSpPr>
            <p:nvPr/>
          </p:nvSpPr>
          <p:spPr bwMode="auto">
            <a:xfrm>
              <a:off x="3744" y="2106"/>
              <a:ext cx="4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3" name="Line 91"/>
            <p:cNvSpPr>
              <a:spLocks noChangeShapeType="1"/>
            </p:cNvSpPr>
            <p:nvPr/>
          </p:nvSpPr>
          <p:spPr bwMode="auto">
            <a:xfrm>
              <a:off x="4080" y="244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4" name="Line 92"/>
            <p:cNvSpPr>
              <a:spLocks noChangeShapeType="1"/>
            </p:cNvSpPr>
            <p:nvPr/>
          </p:nvSpPr>
          <p:spPr bwMode="auto">
            <a:xfrm>
              <a:off x="4464" y="282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5301" name="Text Box 93"/>
          <p:cNvSpPr txBox="1">
            <a:spLocks noChangeArrowheads="1"/>
          </p:cNvSpPr>
          <p:nvPr/>
        </p:nvSpPr>
        <p:spPr bwMode="auto">
          <a:xfrm>
            <a:off x="685800" y="1743075"/>
            <a:ext cx="316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b="0">
                <a:ea typeface="宋体" panose="02010600030101010101" pitchFamily="2" charset="-122"/>
              </a:rPr>
              <a:t>40</a:t>
            </a:r>
            <a:r>
              <a:rPr lang="zh-CN" altLang="en-US" sz="2400" b="0">
                <a:ea typeface="宋体" panose="02010600030101010101" pitchFamily="2" charset="-122"/>
              </a:rPr>
              <a:t>，</a:t>
            </a:r>
            <a:r>
              <a:rPr lang="en-US" altLang="zh-CN" sz="2400" b="0">
                <a:ea typeface="宋体" panose="02010600030101010101" pitchFamily="2" charset="-122"/>
              </a:rPr>
              <a:t>24</a:t>
            </a:r>
            <a:r>
              <a:rPr lang="zh-CN" altLang="en-US" sz="2400" b="0">
                <a:ea typeface="宋体" panose="02010600030101010101" pitchFamily="2" charset="-122"/>
              </a:rPr>
              <a:t>，</a:t>
            </a:r>
            <a:r>
              <a:rPr lang="en-US" altLang="zh-CN" sz="2400" b="0">
                <a:ea typeface="宋体" panose="02010600030101010101" pitchFamily="2" charset="-122"/>
              </a:rPr>
              <a:t>12</a:t>
            </a:r>
            <a:r>
              <a:rPr lang="zh-CN" altLang="en-US" sz="2400" b="0">
                <a:ea typeface="宋体" panose="02010600030101010101" pitchFamily="2" charset="-122"/>
              </a:rPr>
              <a:t>，</a:t>
            </a:r>
            <a:r>
              <a:rPr lang="en-US" altLang="zh-CN" sz="2400" b="0">
                <a:ea typeface="宋体" panose="02010600030101010101" pitchFamily="2" charset="-122"/>
              </a:rPr>
              <a:t>37</a:t>
            </a:r>
            <a:r>
              <a:rPr lang="zh-CN" altLang="en-US" sz="2400" b="0">
                <a:ea typeface="宋体" panose="02010600030101010101" pitchFamily="2" charset="-122"/>
              </a:rPr>
              <a:t>，</a:t>
            </a:r>
            <a:r>
              <a:rPr lang="en-US" altLang="zh-CN" sz="2400" b="0">
                <a:ea typeface="宋体" panose="02010600030101010101" pitchFamily="2" charset="-122"/>
              </a:rPr>
              <a:t>55</a:t>
            </a:r>
          </a:p>
        </p:txBody>
      </p:sp>
      <p:sp>
        <p:nvSpPr>
          <p:cNvPr id="55302" name="Line 94"/>
          <p:cNvSpPr>
            <a:spLocks noChangeShapeType="1"/>
          </p:cNvSpPr>
          <p:nvPr/>
        </p:nvSpPr>
        <p:spPr bwMode="auto">
          <a:xfrm>
            <a:off x="838200" y="2200275"/>
            <a:ext cx="26670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3" name="Line 95"/>
          <p:cNvSpPr>
            <a:spLocks noChangeShapeType="1"/>
          </p:cNvSpPr>
          <p:nvPr/>
        </p:nvSpPr>
        <p:spPr bwMode="auto">
          <a:xfrm>
            <a:off x="4572000" y="2200275"/>
            <a:ext cx="2819400" cy="0"/>
          </a:xfrm>
          <a:prstGeom prst="line">
            <a:avLst/>
          </a:prstGeom>
          <a:noFill/>
          <a:ln w="5715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5304" name="Text Box 97"/>
          <p:cNvSpPr txBox="1">
            <a:spLocks noChangeArrowheads="1"/>
          </p:cNvSpPr>
          <p:nvPr/>
        </p:nvSpPr>
        <p:spPr bwMode="auto">
          <a:xfrm>
            <a:off x="4427538" y="1747838"/>
            <a:ext cx="3213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sz="2400" b="0">
                <a:ea typeface="宋体" panose="02010600030101010101" pitchFamily="2" charset="-122"/>
              </a:rPr>
              <a:t>12</a:t>
            </a:r>
            <a:r>
              <a:rPr lang="zh-CN" altLang="en-US" sz="2400" b="0">
                <a:ea typeface="宋体" panose="02010600030101010101" pitchFamily="2" charset="-122"/>
              </a:rPr>
              <a:t>，</a:t>
            </a:r>
            <a:r>
              <a:rPr lang="en-US" altLang="zh-CN" sz="2400" b="0">
                <a:ea typeface="宋体" panose="02010600030101010101" pitchFamily="2" charset="-122"/>
              </a:rPr>
              <a:t>24</a:t>
            </a:r>
            <a:r>
              <a:rPr lang="zh-CN" altLang="en-US" sz="2400" b="0">
                <a:ea typeface="宋体" panose="02010600030101010101" pitchFamily="2" charset="-122"/>
              </a:rPr>
              <a:t>，</a:t>
            </a:r>
            <a:r>
              <a:rPr lang="en-US" altLang="zh-CN" sz="2400" b="0">
                <a:ea typeface="宋体" panose="02010600030101010101" pitchFamily="2" charset="-122"/>
              </a:rPr>
              <a:t>37</a:t>
            </a:r>
            <a:r>
              <a:rPr lang="zh-CN" altLang="en-US" sz="2400" b="0">
                <a:ea typeface="宋体" panose="02010600030101010101" pitchFamily="2" charset="-122"/>
              </a:rPr>
              <a:t>，</a:t>
            </a:r>
            <a:r>
              <a:rPr lang="en-US" altLang="zh-CN" sz="2400" b="0">
                <a:ea typeface="宋体" panose="02010600030101010101" pitchFamily="2" charset="-122"/>
              </a:rPr>
              <a:t>40</a:t>
            </a:r>
            <a:r>
              <a:rPr lang="zh-CN" altLang="en-US" sz="2400" b="0">
                <a:ea typeface="宋体" panose="02010600030101010101" pitchFamily="2" charset="-122"/>
              </a:rPr>
              <a:t>，</a:t>
            </a:r>
            <a:r>
              <a:rPr lang="en-US" altLang="zh-CN" sz="2400" b="0">
                <a:ea typeface="宋体" panose="02010600030101010101" pitchFamily="2" charset="-122"/>
              </a:rPr>
              <a:t>55</a:t>
            </a:r>
          </a:p>
        </p:txBody>
      </p:sp>
      <p:sp>
        <p:nvSpPr>
          <p:cNvPr id="55305" name="Rectangle 100"/>
          <p:cNvSpPr>
            <a:spLocks noChangeArrowheads="1"/>
          </p:cNvSpPr>
          <p:nvPr/>
        </p:nvSpPr>
        <p:spPr bwMode="auto">
          <a:xfrm>
            <a:off x="3540088" y="-13494"/>
            <a:ext cx="3740224"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二叉排序树的操作－生成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ChangeArrowheads="1"/>
          </p:cNvSpPr>
          <p:nvPr/>
        </p:nvSpPr>
        <p:spPr bwMode="auto">
          <a:xfrm>
            <a:off x="3419872" y="0"/>
            <a:ext cx="3956248"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二叉排序树的操作－删除</a:t>
            </a:r>
          </a:p>
        </p:txBody>
      </p:sp>
      <p:sp>
        <p:nvSpPr>
          <p:cNvPr id="1020933" name="Rectangle 5"/>
          <p:cNvSpPr>
            <a:spLocks noGrp="1" noChangeArrowheads="1"/>
          </p:cNvSpPr>
          <p:nvPr>
            <p:ph idx="1"/>
          </p:nvPr>
        </p:nvSpPr>
        <p:spPr>
          <a:xfrm>
            <a:off x="463550" y="1066800"/>
            <a:ext cx="8201025" cy="2001838"/>
          </a:xfrm>
        </p:spPr>
        <p:txBody>
          <a:bodyPr/>
          <a:lstStyle/>
          <a:p>
            <a:pPr>
              <a:defRPr/>
            </a:pPr>
            <a:r>
              <a:rPr kumimoji="1" lang="zh-CN" altLang="en-US" b="1">
                <a:effectLst>
                  <a:outerShdw blurRad="38100" dist="38100" dir="2700000" algn="tl">
                    <a:srgbClr val="C0C0C0"/>
                  </a:outerShdw>
                </a:effectLst>
                <a:ea typeface="楷体_GB2312" pitchFamily="49" charset="-122"/>
                <a:cs typeface="+mn-cs"/>
              </a:rPr>
              <a:t>将因删除结点而断开的二叉链表重新链接起来</a:t>
            </a:r>
          </a:p>
          <a:p>
            <a:pPr>
              <a:defRPr/>
            </a:pPr>
            <a:r>
              <a:rPr kumimoji="1" lang="zh-CN" altLang="en-US" b="1">
                <a:effectLst>
                  <a:outerShdw blurRad="38100" dist="38100" dir="2700000" algn="tl">
                    <a:srgbClr val="C0C0C0"/>
                  </a:outerShdw>
                </a:effectLst>
                <a:ea typeface="楷体_GB2312" pitchFamily="49" charset="-122"/>
                <a:cs typeface="+mn-cs"/>
              </a:rPr>
              <a:t>防止重新链接后树的高度增加</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6532" name="Rectangle 4"/>
          <p:cNvSpPr>
            <a:spLocks noChangeArrowheads="1"/>
          </p:cNvSpPr>
          <p:nvPr/>
        </p:nvSpPr>
        <p:spPr bwMode="auto">
          <a:xfrm>
            <a:off x="414338" y="957263"/>
            <a:ext cx="8355012" cy="5543056"/>
          </a:xfrm>
          <a:prstGeom prst="rect">
            <a:avLst/>
          </a:prstGeom>
          <a:noFill/>
          <a:ln w="9525">
            <a:noFill/>
            <a:miter lim="800000"/>
          </a:ln>
          <a:effectLst/>
        </p:spPr>
        <p:txBody>
          <a:bodyPr>
            <a:spAutoFit/>
          </a:bodyPr>
          <a:lstStyle/>
          <a:p>
            <a:pPr>
              <a:spcBef>
                <a:spcPct val="50000"/>
              </a:spcBef>
              <a:buFontTx/>
              <a:buChar char="–"/>
              <a:defRPr/>
            </a:pPr>
            <a:r>
              <a:rPr kumimoji="1" lang="zh-CN" altLang="en-US" u="sng" dirty="0">
                <a:solidFill>
                  <a:srgbClr val="CC3300"/>
                </a:solidFill>
                <a:effectLst>
                  <a:outerShdw blurRad="38100" dist="38100" dir="2700000" algn="tl">
                    <a:srgbClr val="C0C0C0"/>
                  </a:outerShdw>
                </a:effectLst>
                <a:ea typeface="楷体_GB2312" pitchFamily="49" charset="-122"/>
                <a:cs typeface="+mn-cs"/>
                <a:sym typeface="+mn-ea"/>
              </a:rPr>
              <a:t>删除</a:t>
            </a:r>
            <a:r>
              <a:rPr kumimoji="1" lang="zh-CN" altLang="en-US" u="sng" dirty="0">
                <a:solidFill>
                  <a:srgbClr val="CC3300"/>
                </a:solidFill>
                <a:effectLst>
                  <a:outerShdw blurRad="38100" dist="38100" dir="2700000" algn="tl">
                    <a:srgbClr val="C0C0C0"/>
                  </a:outerShdw>
                </a:effectLst>
                <a:highlight>
                  <a:srgbClr val="00FF00"/>
                </a:highlight>
                <a:ea typeface="楷体_GB2312" pitchFamily="49" charset="-122"/>
                <a:cs typeface="+mn-cs"/>
                <a:sym typeface="+mn-ea"/>
              </a:rPr>
              <a:t>叶</a:t>
            </a:r>
            <a:r>
              <a:rPr kumimoji="1" lang="zh-CN" altLang="en-US" u="sng" dirty="0">
                <a:solidFill>
                  <a:srgbClr val="CC3300"/>
                </a:solidFill>
                <a:effectLst>
                  <a:outerShdw blurRad="38100" dist="38100" dir="2700000" algn="tl">
                    <a:srgbClr val="C0C0C0"/>
                  </a:outerShdw>
                </a:effectLst>
                <a:ea typeface="楷体_GB2312" pitchFamily="49" charset="-122"/>
                <a:cs typeface="+mn-cs"/>
                <a:sym typeface="+mn-ea"/>
              </a:rPr>
              <a:t>结点</a:t>
            </a:r>
            <a:r>
              <a:rPr kumimoji="1" lang="zh-CN" altLang="en-US" dirty="0">
                <a:solidFill>
                  <a:srgbClr val="008080"/>
                </a:solidFill>
                <a:effectLst>
                  <a:outerShdw blurRad="38100" dist="38100" dir="2700000" algn="tl">
                    <a:srgbClr val="C0C0C0"/>
                  </a:outerShdw>
                </a:effectLst>
                <a:ea typeface="楷体_GB2312" pitchFamily="49" charset="-122"/>
                <a:cs typeface="+mn-cs"/>
                <a:sym typeface="+mn-ea"/>
              </a:rPr>
              <a:t>，只需将其</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双亲结点指向它的指针清零</a:t>
            </a:r>
            <a:r>
              <a:rPr kumimoji="1" lang="zh-CN" altLang="en-US" dirty="0">
                <a:solidFill>
                  <a:srgbClr val="008080"/>
                </a:solidFill>
                <a:effectLst>
                  <a:outerShdw blurRad="38100" dist="38100" dir="2700000" algn="tl">
                    <a:srgbClr val="C0C0C0"/>
                  </a:outerShdw>
                </a:effectLst>
                <a:ea typeface="楷体_GB2312" pitchFamily="49" charset="-122"/>
                <a:cs typeface="+mn-cs"/>
                <a:sym typeface="+mn-ea"/>
              </a:rPr>
              <a:t>，再释放它即可。</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叶结点直接删</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endPar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endParaRPr>
          </a:p>
          <a:p>
            <a:pPr>
              <a:spcBef>
                <a:spcPct val="50000"/>
              </a:spcBef>
              <a:buFontTx/>
              <a:buChar char="–"/>
              <a:defRPr/>
            </a:pPr>
            <a:r>
              <a:rPr kumimoji="1" lang="zh-CN" altLang="en-US" u="sng" dirty="0">
                <a:solidFill>
                  <a:srgbClr val="CC3300"/>
                </a:solidFill>
                <a:effectLst>
                  <a:outerShdw blurRad="38100" dist="38100" dir="2700000" algn="tl">
                    <a:srgbClr val="C0C0C0"/>
                  </a:outerShdw>
                </a:effectLst>
                <a:ea typeface="楷体_GB2312" pitchFamily="49" charset="-122"/>
                <a:cs typeface="+mn-cs"/>
                <a:sym typeface="+mn-ea"/>
              </a:rPr>
              <a:t>被删结点</a:t>
            </a:r>
            <a:r>
              <a:rPr kumimoji="1" lang="zh-CN" altLang="en-US" u="sng" dirty="0">
                <a:solidFill>
                  <a:srgbClr val="CC3300"/>
                </a:solidFill>
                <a:effectLst>
                  <a:outerShdw blurRad="38100" dist="38100" dir="2700000" algn="tl">
                    <a:srgbClr val="C0C0C0"/>
                  </a:outerShdw>
                </a:effectLst>
                <a:highlight>
                  <a:srgbClr val="00FF00"/>
                </a:highlight>
                <a:ea typeface="楷体_GB2312" pitchFamily="49" charset="-122"/>
                <a:cs typeface="+mn-cs"/>
                <a:sym typeface="+mn-ea"/>
              </a:rPr>
              <a:t>缺左</a:t>
            </a:r>
            <a:r>
              <a:rPr kumimoji="1" lang="en-US" altLang="zh-CN" u="sng" dirty="0">
                <a:solidFill>
                  <a:srgbClr val="CC3300"/>
                </a:solidFill>
                <a:effectLst>
                  <a:outerShdw blurRad="38100" dist="38100" dir="2700000" algn="tl">
                    <a:srgbClr val="C0C0C0"/>
                  </a:outerShdw>
                </a:effectLst>
                <a:highlight>
                  <a:srgbClr val="00FF00"/>
                </a:highlight>
                <a:ea typeface="楷体_GB2312" pitchFamily="49" charset="-122"/>
                <a:cs typeface="+mn-cs"/>
                <a:sym typeface="+mn-ea"/>
              </a:rPr>
              <a:t>/</a:t>
            </a:r>
            <a:r>
              <a:rPr kumimoji="1" lang="zh-CN" altLang="en-US" u="sng" dirty="0">
                <a:solidFill>
                  <a:srgbClr val="CC3300"/>
                </a:solidFill>
                <a:effectLst>
                  <a:outerShdw blurRad="38100" dist="38100" dir="2700000" algn="tl">
                    <a:srgbClr val="C0C0C0"/>
                  </a:outerShdw>
                </a:effectLst>
                <a:highlight>
                  <a:srgbClr val="00FF00"/>
                </a:highlight>
                <a:ea typeface="楷体_GB2312" pitchFamily="49" charset="-122"/>
                <a:cs typeface="+mn-cs"/>
                <a:sym typeface="+mn-ea"/>
              </a:rPr>
              <a:t>右</a:t>
            </a:r>
            <a:r>
              <a:rPr kumimoji="1" lang="zh-CN" altLang="en-US" u="sng" dirty="0">
                <a:solidFill>
                  <a:srgbClr val="CC3300"/>
                </a:solidFill>
                <a:effectLst>
                  <a:outerShdw blurRad="38100" dist="38100" dir="2700000" algn="tl">
                    <a:srgbClr val="C0C0C0"/>
                  </a:outerShdw>
                </a:effectLst>
                <a:ea typeface="楷体_GB2312" pitchFamily="49" charset="-122"/>
                <a:cs typeface="+mn-cs"/>
                <a:sym typeface="+mn-ea"/>
              </a:rPr>
              <a:t>子树</a:t>
            </a:r>
            <a:r>
              <a:rPr kumimoji="1" lang="zh-CN" altLang="en-US" dirty="0">
                <a:solidFill>
                  <a:srgbClr val="008080"/>
                </a:solidFill>
                <a:effectLst>
                  <a:outerShdw blurRad="38100" dist="38100" dir="2700000" algn="tl">
                    <a:srgbClr val="C0C0C0"/>
                  </a:outerShdw>
                </a:effectLst>
                <a:ea typeface="楷体_GB2312" pitchFamily="49" charset="-122"/>
                <a:cs typeface="+mn-cs"/>
                <a:sym typeface="+mn-ea"/>
              </a:rPr>
              <a:t>，可以拿它的</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右</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左子女</a:t>
            </a:r>
            <a:r>
              <a:rPr kumimoji="1" lang="zh-CN" altLang="en-US" dirty="0">
                <a:solidFill>
                  <a:srgbClr val="008080"/>
                </a:solidFill>
                <a:effectLst>
                  <a:outerShdw blurRad="38100" dist="38100" dir="2700000" algn="tl">
                    <a:srgbClr val="C0C0C0"/>
                  </a:outerShdw>
                </a:effectLst>
                <a:ea typeface="楷体_GB2312" pitchFamily="49" charset="-122"/>
                <a:cs typeface="+mn-cs"/>
                <a:sym typeface="+mn-ea"/>
              </a:rPr>
              <a:t>结点顶替它的位置，再释放它。</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被删结点只有一个子女</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直接接上来</a:t>
            </a:r>
            <a:r>
              <a:rPr kumimoji="1" lang="en-US" altLang="zh-CN"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rPr>
              <a:t>)</a:t>
            </a:r>
            <a:endParaRPr kumimoji="1" lang="zh-CN" altLang="en-US" dirty="0">
              <a:solidFill>
                <a:srgbClr val="008080"/>
              </a:solidFill>
              <a:effectLst>
                <a:outerShdw blurRad="38100" dist="38100" dir="2700000" algn="tl">
                  <a:srgbClr val="C0C0C0"/>
                </a:outerShdw>
              </a:effectLst>
              <a:highlight>
                <a:srgbClr val="00FF00"/>
              </a:highlight>
              <a:ea typeface="楷体_GB2312" pitchFamily="49" charset="-122"/>
              <a:cs typeface="+mn-cs"/>
              <a:sym typeface="+mn-ea"/>
            </a:endParaRPr>
          </a:p>
          <a:p>
            <a:pPr>
              <a:lnSpc>
                <a:spcPct val="105000"/>
              </a:lnSpc>
              <a:spcBef>
                <a:spcPct val="20000"/>
              </a:spcBef>
              <a:buFontTx/>
              <a:buChar char="–"/>
              <a:defRPr/>
            </a:pPr>
            <a:r>
              <a:rPr kumimoji="1" lang="zh-CN" altLang="en-US" u="sng" dirty="0">
                <a:solidFill>
                  <a:srgbClr val="CC3300"/>
                </a:solidFill>
                <a:effectLst>
                  <a:outerShdw blurRad="38100" dist="38100" dir="2700000" algn="tl">
                    <a:srgbClr val="C0C0C0"/>
                  </a:outerShdw>
                </a:effectLst>
                <a:latin typeface="楷体_GB2312" pitchFamily="49" charset="-122"/>
                <a:ea typeface="楷体_GB2312" pitchFamily="49" charset="-122"/>
                <a:cs typeface="+mn-cs"/>
                <a:sym typeface="+mn-ea"/>
              </a:rPr>
              <a:t>被删结点</a:t>
            </a:r>
            <a:r>
              <a:rPr kumimoji="1" lang="zh-CN" altLang="en-US" u="sng" dirty="0">
                <a:solidFill>
                  <a:srgbClr val="CC330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左、右子树都存在</a:t>
            </a:r>
            <a:r>
              <a:rPr kumimoji="1" lang="zh-CN" altLang="en-US"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，可以在它的</a:t>
            </a:r>
            <a:r>
              <a:rPr kumimoji="1" lang="zh-CN" altLang="en-US"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右</a:t>
            </a:r>
            <a:r>
              <a:rPr kumimoji="1" lang="zh-CN" altLang="en-US"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子树中寻找</a:t>
            </a:r>
            <a:r>
              <a:rPr kumimoji="1" lang="zh-CN" altLang="en-US"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中序下的第一个结点</a:t>
            </a:r>
            <a:r>
              <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关键码最小</a:t>
            </a:r>
            <a:r>
              <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用它的值填补到被删结点中，再来处理这个结点的删除问题。</a:t>
            </a:r>
            <a:endPar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endParaRPr>
          </a:p>
          <a:p>
            <a:pPr>
              <a:lnSpc>
                <a:spcPct val="105000"/>
              </a:lnSpc>
              <a:spcBef>
                <a:spcPct val="20000"/>
              </a:spcBef>
              <a:defRPr/>
            </a:pPr>
            <a:r>
              <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在右子树中进行中序遍历</a:t>
            </a:r>
            <a:r>
              <a:rPr kumimoji="1" lang="en-US" altLang="zh-CN"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找最小子树填补</a:t>
            </a:r>
            <a:r>
              <a:rPr kumimoji="1" lang="en-US" altLang="zh-CN"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a:t>
            </a:r>
            <a:r>
              <a:rPr kumimoji="1" lang="zh-CN" altLang="en-US" dirty="0">
                <a:solidFill>
                  <a:srgbClr val="008080"/>
                </a:solidFill>
                <a:effectLst>
                  <a:outerShdw blurRad="38100" dist="38100" dir="2700000" algn="tl">
                    <a:srgbClr val="C0C0C0"/>
                  </a:outerShdw>
                </a:effectLst>
                <a:highlight>
                  <a:srgbClr val="00FF00"/>
                </a:highlight>
                <a:latin typeface="楷体_GB2312" pitchFamily="49" charset="-122"/>
                <a:ea typeface="楷体_GB2312" pitchFamily="49" charset="-122"/>
                <a:cs typeface="+mn-cs"/>
                <a:sym typeface="+mn-ea"/>
              </a:rPr>
              <a:t>被删掉的部分再依据上述三个原则填补</a:t>
            </a:r>
            <a:r>
              <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rPr>
              <a:t>)</a:t>
            </a:r>
            <a:endParaRPr kumimoji="1" lang="zh-CN" altLang="en-US"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endParaRPr>
          </a:p>
          <a:p>
            <a:pPr>
              <a:spcBef>
                <a:spcPct val="50000"/>
              </a:spcBef>
              <a:buFontTx/>
              <a:buChar char="–"/>
              <a:defRPr/>
            </a:pPr>
            <a:endParaRPr kumimoji="1" lang="en-US" altLang="zh-CN" dirty="0">
              <a:solidFill>
                <a:srgbClr val="008080"/>
              </a:solidFill>
              <a:effectLst>
                <a:outerShdw blurRad="38100" dist="38100" dir="2700000" algn="tl">
                  <a:srgbClr val="C0C0C0"/>
                </a:outerShdw>
              </a:effectLst>
              <a:latin typeface="楷体_GB2312" pitchFamily="49" charset="-122"/>
              <a:ea typeface="楷体_GB2312" pitchFamily="49" charset="-122"/>
              <a:cs typeface="+mn-cs"/>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046532">
                                            <p:txEl>
                                              <p:pRg st="0" end="0"/>
                                            </p:txEl>
                                          </p:spTgt>
                                        </p:tgtEl>
                                        <p:attrNameLst>
                                          <p:attrName>style.visibility</p:attrName>
                                        </p:attrNameLst>
                                      </p:cBhvr>
                                      <p:to>
                                        <p:strVal val="visible"/>
                                      </p:to>
                                    </p:set>
                                    <p:anim calcmode="lin" valueType="num">
                                      <p:cBhvr>
                                        <p:cTn id="7" dur="1000" fill="hold"/>
                                        <p:tgtEl>
                                          <p:spTgt spid="104653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04653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46532">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046532">
                                            <p:txEl>
                                              <p:pRg st="1" end="1"/>
                                            </p:txEl>
                                          </p:spTgt>
                                        </p:tgtEl>
                                        <p:attrNameLst>
                                          <p:attrName>style.visibility</p:attrName>
                                        </p:attrNameLst>
                                      </p:cBhvr>
                                      <p:to>
                                        <p:strVal val="visible"/>
                                      </p:to>
                                    </p:set>
                                    <p:anim calcmode="lin" valueType="num">
                                      <p:cBhvr>
                                        <p:cTn id="14" dur="1000" fill="hold"/>
                                        <p:tgtEl>
                                          <p:spTgt spid="1046532">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1046532">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1046532">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1046532">
                                            <p:txEl>
                                              <p:pRg st="2" end="2"/>
                                            </p:txEl>
                                          </p:spTgt>
                                        </p:tgtEl>
                                        <p:attrNameLst>
                                          <p:attrName>style.visibility</p:attrName>
                                        </p:attrNameLst>
                                      </p:cBhvr>
                                      <p:to>
                                        <p:strVal val="visible"/>
                                      </p:to>
                                    </p:set>
                                    <p:anim calcmode="lin" valueType="num">
                                      <p:cBhvr>
                                        <p:cTn id="21" dur="1000" fill="hold"/>
                                        <p:tgtEl>
                                          <p:spTgt spid="1046532">
                                            <p:txEl>
                                              <p:pRg st="2" end="2"/>
                                            </p:txEl>
                                          </p:spTgt>
                                        </p:tgtEl>
                                        <p:attrNameLst>
                                          <p:attrName>ppt_w</p:attrName>
                                        </p:attrNameLst>
                                      </p:cBhvr>
                                      <p:tavLst>
                                        <p:tav tm="0">
                                          <p:val>
                                            <p:strVal val="#ppt_w*0.70"/>
                                          </p:val>
                                        </p:tav>
                                        <p:tav tm="100000">
                                          <p:val>
                                            <p:strVal val="#ppt_w"/>
                                          </p:val>
                                        </p:tav>
                                      </p:tavLst>
                                    </p:anim>
                                    <p:anim calcmode="lin" valueType="num">
                                      <p:cBhvr>
                                        <p:cTn id="22" dur="1000" fill="hold"/>
                                        <p:tgtEl>
                                          <p:spTgt spid="1046532">
                                            <p:txEl>
                                              <p:pRg st="2" end="2"/>
                                            </p:txEl>
                                          </p:spTgt>
                                        </p:tgtEl>
                                        <p:attrNameLst>
                                          <p:attrName>ppt_h</p:attrName>
                                        </p:attrNameLst>
                                      </p:cBhvr>
                                      <p:tavLst>
                                        <p:tav tm="0">
                                          <p:val>
                                            <p:strVal val="#ppt_h"/>
                                          </p:val>
                                        </p:tav>
                                        <p:tav tm="100000">
                                          <p:val>
                                            <p:strVal val="#ppt_h"/>
                                          </p:val>
                                        </p:tav>
                                      </p:tavLst>
                                    </p:anim>
                                    <p:animEffect transition="in" filter="fade">
                                      <p:cBhvr>
                                        <p:cTn id="23" dur="1000"/>
                                        <p:tgtEl>
                                          <p:spTgt spid="104653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1046532">
                                            <p:txEl>
                                              <p:pRg st="3" end="3"/>
                                            </p:txEl>
                                          </p:spTgt>
                                        </p:tgtEl>
                                        <p:attrNameLst>
                                          <p:attrName>style.visibility</p:attrName>
                                        </p:attrNameLst>
                                      </p:cBhvr>
                                      <p:to>
                                        <p:strVal val="visible"/>
                                      </p:to>
                                    </p:set>
                                    <p:anim calcmode="lin" valueType="num">
                                      <p:cBhvr>
                                        <p:cTn id="28" dur="1000" fill="hold"/>
                                        <p:tgtEl>
                                          <p:spTgt spid="1046532">
                                            <p:txEl>
                                              <p:pRg st="3" end="3"/>
                                            </p:txEl>
                                          </p:spTgt>
                                        </p:tgtEl>
                                        <p:attrNameLst>
                                          <p:attrName>ppt_w</p:attrName>
                                        </p:attrNameLst>
                                      </p:cBhvr>
                                      <p:tavLst>
                                        <p:tav tm="0">
                                          <p:val>
                                            <p:strVal val="#ppt_w*0.70"/>
                                          </p:val>
                                        </p:tav>
                                        <p:tav tm="100000">
                                          <p:val>
                                            <p:strVal val="#ppt_w"/>
                                          </p:val>
                                        </p:tav>
                                      </p:tavLst>
                                    </p:anim>
                                    <p:anim calcmode="lin" valueType="num">
                                      <p:cBhvr>
                                        <p:cTn id="29" dur="1000" fill="hold"/>
                                        <p:tgtEl>
                                          <p:spTgt spid="1046532">
                                            <p:txEl>
                                              <p:pRg st="3" end="3"/>
                                            </p:txEl>
                                          </p:spTgt>
                                        </p:tgtEl>
                                        <p:attrNameLst>
                                          <p:attrName>ppt_h</p:attrName>
                                        </p:attrNameLst>
                                      </p:cBhvr>
                                      <p:tavLst>
                                        <p:tav tm="0">
                                          <p:val>
                                            <p:strVal val="#ppt_h"/>
                                          </p:val>
                                        </p:tav>
                                        <p:tav tm="100000">
                                          <p:val>
                                            <p:strVal val="#ppt_h"/>
                                          </p:val>
                                        </p:tav>
                                      </p:tavLst>
                                    </p:anim>
                                    <p:animEffect transition="in" filter="fade">
                                      <p:cBhvr>
                                        <p:cTn id="30" dur="1000"/>
                                        <p:tgtEl>
                                          <p:spTgt spid="10465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6532"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2"/>
          <p:cNvSpPr>
            <a:spLocks noGrp="1" noChangeArrowheads="1"/>
          </p:cNvSpPr>
          <p:nvPr>
            <p:ph type="ftr" sz="quarter" idx="4294967295"/>
          </p:nvPr>
        </p:nvSpPr>
        <p:spPr bwMode="auto">
          <a:xfrm>
            <a:off x="471488" y="6240463"/>
            <a:ext cx="378142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endParaRPr lang="zh-CN" altLang="en-US" sz="1400">
              <a:solidFill>
                <a:srgbClr val="00B050"/>
              </a:solidFill>
              <a:latin typeface="华文行楷" panose="02010800040101010101" pitchFamily="2" charset="-122"/>
              <a:ea typeface="华文行楷" panose="02010800040101010101" pitchFamily="2" charset="-122"/>
            </a:endParaRPr>
          </a:p>
        </p:txBody>
      </p:sp>
      <p:pic>
        <p:nvPicPr>
          <p:cNvPr id="5734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9144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733800"/>
            <a:ext cx="914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a:extLst>
              <a:ext uri="{FF2B5EF4-FFF2-40B4-BE49-F238E27FC236}">
                <a16:creationId xmlns:a16="http://schemas.microsoft.com/office/drawing/2014/main" id="{AA87A427-604A-61DC-FA5E-BB5E6B38933F}"/>
              </a:ext>
            </a:extLst>
          </p:cNvPr>
          <p:cNvSpPr txBox="1"/>
          <p:nvPr/>
        </p:nvSpPr>
        <p:spPr>
          <a:xfrm>
            <a:off x="251520" y="5559804"/>
            <a:ext cx="5544616" cy="1323439"/>
          </a:xfrm>
          <a:prstGeom prst="rect">
            <a:avLst/>
          </a:prstGeom>
          <a:noFill/>
        </p:spPr>
        <p:txBody>
          <a:bodyPr wrap="square" rtlCol="0">
            <a:spAutoFit/>
          </a:bodyPr>
          <a:lstStyle/>
          <a:p>
            <a:r>
              <a:rPr lang="zh-CN" altLang="en-US" sz="2000" dirty="0"/>
              <a:t>第三种</a:t>
            </a:r>
            <a:r>
              <a:rPr lang="en-US" altLang="zh-CN" sz="2000" dirty="0"/>
              <a:t>:</a:t>
            </a:r>
            <a:r>
              <a:rPr lang="zh-CN" altLang="en-US" sz="2000" dirty="0"/>
              <a:t>要删去</a:t>
            </a:r>
            <a:r>
              <a:rPr lang="en-US" altLang="zh-CN" sz="2000" dirty="0"/>
              <a:t>78,</a:t>
            </a:r>
            <a:r>
              <a:rPr lang="zh-CN" altLang="en-US" sz="2000" dirty="0"/>
              <a:t>在其右子树进行中序遍历找最小为</a:t>
            </a:r>
            <a:r>
              <a:rPr lang="en-US" altLang="zh-CN" sz="2000" dirty="0"/>
              <a:t>81.</a:t>
            </a:r>
            <a:r>
              <a:rPr lang="zh-CN" altLang="en-US" sz="2000" dirty="0"/>
              <a:t>但是此时相当于也要删去</a:t>
            </a:r>
            <a:r>
              <a:rPr lang="en-US" altLang="zh-CN" sz="2000" dirty="0"/>
              <a:t>81,</a:t>
            </a:r>
            <a:r>
              <a:rPr lang="zh-CN" altLang="en-US" sz="2000" dirty="0"/>
              <a:t>不过由于</a:t>
            </a:r>
            <a:r>
              <a:rPr lang="en-US" altLang="zh-CN" sz="2000" dirty="0"/>
              <a:t>81</a:t>
            </a:r>
            <a:r>
              <a:rPr lang="zh-CN" altLang="en-US" sz="2000" dirty="0"/>
              <a:t>仅有一个子树所以直接接上即可</a:t>
            </a:r>
            <a:r>
              <a:rPr lang="en-US" altLang="zh-CN" sz="2000" dirty="0"/>
              <a:t>(</a:t>
            </a:r>
            <a:r>
              <a:rPr lang="zh-CN" altLang="en-US" sz="2000" dirty="0"/>
              <a:t>否则如果有两个子树则又要中序遍历寻找</a:t>
            </a:r>
            <a:r>
              <a:rPr lang="en-US" altLang="zh-CN" sz="2000" dirty="0"/>
              <a:t>)</a:t>
            </a:r>
            <a:endParaRPr lang="zh-CN"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3458" name="Text Box 2"/>
          <p:cNvSpPr txBox="1">
            <a:spLocks noChangeArrowheads="1"/>
          </p:cNvSpPr>
          <p:nvPr/>
        </p:nvSpPr>
        <p:spPr bwMode="auto">
          <a:xfrm>
            <a:off x="755650" y="3268663"/>
            <a:ext cx="770413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a:solidFill>
                  <a:schemeClr val="accent2"/>
                </a:solidFill>
                <a:latin typeface="楷体_GB2312"/>
              </a:rPr>
              <a:t>第</a:t>
            </a:r>
            <a:r>
              <a:rPr lang="en-US" altLang="zh-CN">
                <a:solidFill>
                  <a:schemeClr val="accent2"/>
                </a:solidFill>
                <a:latin typeface="楷体_GB2312"/>
              </a:rPr>
              <a:t>i</a:t>
            </a:r>
            <a:r>
              <a:rPr lang="zh-CN" altLang="en-US">
                <a:solidFill>
                  <a:schemeClr val="accent2"/>
                </a:solidFill>
                <a:latin typeface="楷体_GB2312"/>
              </a:rPr>
              <a:t>层结点需比较</a:t>
            </a:r>
            <a:r>
              <a:rPr lang="en-US" altLang="zh-CN">
                <a:solidFill>
                  <a:schemeClr val="accent2"/>
                </a:solidFill>
                <a:latin typeface="楷体_GB2312"/>
              </a:rPr>
              <a:t>i</a:t>
            </a:r>
            <a:r>
              <a:rPr lang="zh-CN" altLang="en-US">
                <a:solidFill>
                  <a:schemeClr val="accent2"/>
                </a:solidFill>
                <a:latin typeface="楷体_GB2312"/>
              </a:rPr>
              <a:t>次。在等概率的前提下，上述两图的</a:t>
            </a:r>
            <a:r>
              <a:rPr lang="zh-CN" altLang="en-US">
                <a:solidFill>
                  <a:srgbClr val="FF3300"/>
                </a:solidFill>
                <a:latin typeface="楷体_GB2312"/>
              </a:rPr>
              <a:t>平均查找长度</a:t>
            </a:r>
            <a:r>
              <a:rPr lang="zh-CN" altLang="en-US">
                <a:solidFill>
                  <a:schemeClr val="accent2"/>
                </a:solidFill>
                <a:latin typeface="楷体_GB2312"/>
              </a:rPr>
              <a:t>为：</a:t>
            </a:r>
          </a:p>
        </p:txBody>
      </p:sp>
      <p:graphicFrame>
        <p:nvGraphicFramePr>
          <p:cNvPr id="1043459" name="Object 3"/>
          <p:cNvGraphicFramePr>
            <a:graphicFrameLocks/>
          </p:cNvGraphicFramePr>
          <p:nvPr/>
        </p:nvGraphicFramePr>
        <p:xfrm>
          <a:off x="2019300" y="4214813"/>
          <a:ext cx="4906963" cy="1760537"/>
        </p:xfrm>
        <a:graphic>
          <a:graphicData uri="http://schemas.openxmlformats.org/presentationml/2006/ole">
            <mc:AlternateContent xmlns:mc="http://schemas.openxmlformats.org/markup-compatibility/2006">
              <mc:Choice xmlns:v="urn:schemas-microsoft-com:vml" Requires="v">
                <p:oleObj r:id="rId2" imgW="2476500" imgH="889000" progId="Equation.3">
                  <p:embed/>
                </p:oleObj>
              </mc:Choice>
              <mc:Fallback>
                <p:oleObj r:id="rId2" imgW="2476500" imgH="889000" progId="Equation.3">
                  <p:embed/>
                  <p:pic>
                    <p:nvPicPr>
                      <p:cNvPr id="1043459"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4214813"/>
                        <a:ext cx="4906963"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9396" name="Group 4"/>
          <p:cNvGrpSpPr>
            <a:grpSpLocks/>
          </p:cNvGrpSpPr>
          <p:nvPr/>
        </p:nvGrpSpPr>
        <p:grpSpPr bwMode="auto">
          <a:xfrm>
            <a:off x="1028700" y="676275"/>
            <a:ext cx="2209800" cy="1981200"/>
            <a:chOff x="432" y="1530"/>
            <a:chExt cx="1392" cy="1248"/>
          </a:xfrm>
        </p:grpSpPr>
        <p:sp>
          <p:nvSpPr>
            <p:cNvPr id="59408" name="Oval 5"/>
            <p:cNvSpPr>
              <a:spLocks noChangeArrowheads="1"/>
            </p:cNvSpPr>
            <p:nvPr/>
          </p:nvSpPr>
          <p:spPr bwMode="auto">
            <a:xfrm>
              <a:off x="1104" y="1530"/>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59409" name="Oval 6"/>
            <p:cNvSpPr>
              <a:spLocks noChangeArrowheads="1"/>
            </p:cNvSpPr>
            <p:nvPr/>
          </p:nvSpPr>
          <p:spPr bwMode="auto">
            <a:xfrm>
              <a:off x="76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59410" name="Oval 7"/>
            <p:cNvSpPr>
              <a:spLocks noChangeArrowheads="1"/>
            </p:cNvSpPr>
            <p:nvPr/>
          </p:nvSpPr>
          <p:spPr bwMode="auto">
            <a:xfrm>
              <a:off x="148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59411" name="Oval 8"/>
            <p:cNvSpPr>
              <a:spLocks noChangeArrowheads="1"/>
            </p:cNvSpPr>
            <p:nvPr/>
          </p:nvSpPr>
          <p:spPr bwMode="auto">
            <a:xfrm>
              <a:off x="432" y="2346"/>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59412" name="Oval 9"/>
            <p:cNvSpPr>
              <a:spLocks noChangeArrowheads="1"/>
            </p:cNvSpPr>
            <p:nvPr/>
          </p:nvSpPr>
          <p:spPr bwMode="auto">
            <a:xfrm>
              <a:off x="1152" y="239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59413" name="Line 10"/>
            <p:cNvSpPr>
              <a:spLocks noChangeShapeType="1"/>
            </p:cNvSpPr>
            <p:nvPr/>
          </p:nvSpPr>
          <p:spPr bwMode="auto">
            <a:xfrm flipH="1">
              <a:off x="1008" y="1802"/>
              <a:ext cx="144" cy="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4" name="Line 11"/>
            <p:cNvSpPr>
              <a:spLocks noChangeShapeType="1"/>
            </p:cNvSpPr>
            <p:nvPr/>
          </p:nvSpPr>
          <p:spPr bwMode="auto">
            <a:xfrm flipH="1">
              <a:off x="720" y="2250"/>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5" name="Line 12"/>
            <p:cNvSpPr>
              <a:spLocks noChangeShapeType="1"/>
            </p:cNvSpPr>
            <p:nvPr/>
          </p:nvSpPr>
          <p:spPr bwMode="auto">
            <a:xfrm>
              <a:off x="1056" y="2234"/>
              <a:ext cx="192"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6" name="Line 13"/>
            <p:cNvSpPr>
              <a:spLocks noChangeShapeType="1"/>
            </p:cNvSpPr>
            <p:nvPr/>
          </p:nvSpPr>
          <p:spPr bwMode="auto">
            <a:xfrm>
              <a:off x="1392" y="181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397" name="Group 14"/>
          <p:cNvGrpSpPr>
            <a:grpSpLocks/>
          </p:cNvGrpSpPr>
          <p:nvPr/>
        </p:nvGrpSpPr>
        <p:grpSpPr bwMode="auto">
          <a:xfrm>
            <a:off x="5143500" y="523875"/>
            <a:ext cx="2971800" cy="2819400"/>
            <a:chOff x="3024" y="1434"/>
            <a:chExt cx="1872" cy="1776"/>
          </a:xfrm>
        </p:grpSpPr>
        <p:sp>
          <p:nvSpPr>
            <p:cNvPr id="59399" name="Oval 15"/>
            <p:cNvSpPr>
              <a:spLocks noChangeArrowheads="1"/>
            </p:cNvSpPr>
            <p:nvPr/>
          </p:nvSpPr>
          <p:spPr bwMode="auto">
            <a:xfrm>
              <a:off x="3024" y="1434"/>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59400" name="Oval 16"/>
            <p:cNvSpPr>
              <a:spLocks noChangeArrowheads="1"/>
            </p:cNvSpPr>
            <p:nvPr/>
          </p:nvSpPr>
          <p:spPr bwMode="auto">
            <a:xfrm>
              <a:off x="3408" y="177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59401" name="Oval 17"/>
            <p:cNvSpPr>
              <a:spLocks noChangeArrowheads="1"/>
            </p:cNvSpPr>
            <p:nvPr/>
          </p:nvSpPr>
          <p:spPr bwMode="auto">
            <a:xfrm>
              <a:off x="3744" y="2106"/>
              <a:ext cx="432"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59402" name="Oval 18"/>
            <p:cNvSpPr>
              <a:spLocks noChangeArrowheads="1"/>
            </p:cNvSpPr>
            <p:nvPr/>
          </p:nvSpPr>
          <p:spPr bwMode="auto">
            <a:xfrm>
              <a:off x="4128" y="249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59403" name="Oval 19"/>
            <p:cNvSpPr>
              <a:spLocks noChangeArrowheads="1"/>
            </p:cNvSpPr>
            <p:nvPr/>
          </p:nvSpPr>
          <p:spPr bwMode="auto">
            <a:xfrm>
              <a:off x="4512" y="2826"/>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59404" name="Line 20"/>
            <p:cNvSpPr>
              <a:spLocks noChangeShapeType="1"/>
            </p:cNvSpPr>
            <p:nvPr/>
          </p:nvSpPr>
          <p:spPr bwMode="auto">
            <a:xfrm>
              <a:off x="3360" y="177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5" name="Line 21"/>
            <p:cNvSpPr>
              <a:spLocks noChangeShapeType="1"/>
            </p:cNvSpPr>
            <p:nvPr/>
          </p:nvSpPr>
          <p:spPr bwMode="auto">
            <a:xfrm>
              <a:off x="3744" y="2106"/>
              <a:ext cx="4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6" name="Line 22"/>
            <p:cNvSpPr>
              <a:spLocks noChangeShapeType="1"/>
            </p:cNvSpPr>
            <p:nvPr/>
          </p:nvSpPr>
          <p:spPr bwMode="auto">
            <a:xfrm>
              <a:off x="4080" y="244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7" name="Line 23"/>
            <p:cNvSpPr>
              <a:spLocks noChangeShapeType="1"/>
            </p:cNvSpPr>
            <p:nvPr/>
          </p:nvSpPr>
          <p:spPr bwMode="auto">
            <a:xfrm>
              <a:off x="4464" y="282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398" name="Rectangle 24"/>
          <p:cNvSpPr>
            <a:spLocks noChangeArrowheads="1"/>
          </p:cNvSpPr>
          <p:nvPr/>
        </p:nvSpPr>
        <p:spPr bwMode="auto">
          <a:xfrm>
            <a:off x="3946476" y="36512"/>
            <a:ext cx="2948136"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查找的性能分析</a:t>
            </a:r>
          </a:p>
        </p:txBody>
      </p:sp>
      <p:sp>
        <p:nvSpPr>
          <p:cNvPr id="2" name="文本框 1">
            <a:extLst>
              <a:ext uri="{FF2B5EF4-FFF2-40B4-BE49-F238E27FC236}">
                <a16:creationId xmlns:a16="http://schemas.microsoft.com/office/drawing/2014/main" id="{DD25A68E-874F-BD21-B402-B487CC38FB2E}"/>
              </a:ext>
            </a:extLst>
          </p:cNvPr>
          <p:cNvSpPr txBox="1"/>
          <p:nvPr/>
        </p:nvSpPr>
        <p:spPr>
          <a:xfrm>
            <a:off x="899592" y="5975350"/>
            <a:ext cx="7215708" cy="523220"/>
          </a:xfrm>
          <a:prstGeom prst="rect">
            <a:avLst/>
          </a:prstGeom>
          <a:noFill/>
        </p:spPr>
        <p:txBody>
          <a:bodyPr wrap="square" rtlCol="0">
            <a:spAutoFit/>
          </a:bodyPr>
          <a:lstStyle/>
          <a:p>
            <a:r>
              <a:rPr lang="zh-CN" altLang="en-US" dirty="0"/>
              <a:t>同之前的树表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3458"/>
                                        </p:tgtEl>
                                        <p:attrNameLst>
                                          <p:attrName>style.visibility</p:attrName>
                                        </p:attrNameLst>
                                      </p:cBhvr>
                                      <p:to>
                                        <p:strVal val="visible"/>
                                      </p:to>
                                    </p:set>
                                    <p:anim calcmode="lin" valueType="num">
                                      <p:cBhvr additive="base">
                                        <p:cTn id="7" dur="500" fill="hold"/>
                                        <p:tgtEl>
                                          <p:spTgt spid="1043458"/>
                                        </p:tgtEl>
                                        <p:attrNameLst>
                                          <p:attrName>ppt_x</p:attrName>
                                        </p:attrNameLst>
                                      </p:cBhvr>
                                      <p:tavLst>
                                        <p:tav tm="0">
                                          <p:val>
                                            <p:strVal val="#ppt_x"/>
                                          </p:val>
                                        </p:tav>
                                        <p:tav tm="100000">
                                          <p:val>
                                            <p:strVal val="#ppt_x"/>
                                          </p:val>
                                        </p:tav>
                                      </p:tavLst>
                                    </p:anim>
                                    <p:anim calcmode="lin" valueType="num">
                                      <p:cBhvr additive="base">
                                        <p:cTn id="8" dur="500" fill="hold"/>
                                        <p:tgtEl>
                                          <p:spTgt spid="104345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43459"/>
                                        </p:tgtEl>
                                        <p:attrNameLst>
                                          <p:attrName>style.visibility</p:attrName>
                                        </p:attrNameLst>
                                      </p:cBhvr>
                                      <p:to>
                                        <p:strVal val="visible"/>
                                      </p:to>
                                    </p:set>
                                    <p:anim calcmode="lin" valueType="num">
                                      <p:cBhvr additive="base">
                                        <p:cTn id="13" dur="500" fill="hold"/>
                                        <p:tgtEl>
                                          <p:spTgt spid="1043459"/>
                                        </p:tgtEl>
                                        <p:attrNameLst>
                                          <p:attrName>ppt_x</p:attrName>
                                        </p:attrNameLst>
                                      </p:cBhvr>
                                      <p:tavLst>
                                        <p:tav tm="0">
                                          <p:val>
                                            <p:strVal val="#ppt_x"/>
                                          </p:val>
                                        </p:tav>
                                        <p:tav tm="100000">
                                          <p:val>
                                            <p:strVal val="#ppt_x"/>
                                          </p:val>
                                        </p:tav>
                                      </p:tavLst>
                                    </p:anim>
                                    <p:anim calcmode="lin" valueType="num">
                                      <p:cBhvr additive="base">
                                        <p:cTn id="14" dur="500" fill="hold"/>
                                        <p:tgtEl>
                                          <p:spTgt spid="1043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345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79388" y="620713"/>
            <a:ext cx="8964612" cy="1772088"/>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20000"/>
              </a:lnSpc>
              <a:spcBef>
                <a:spcPct val="20000"/>
              </a:spcBef>
              <a:buFont typeface="Wingdings" panose="05000000000000000000" pitchFamily="2" charset="2"/>
              <a:buNone/>
            </a:pPr>
            <a:r>
              <a:rPr lang="zh-CN" altLang="en-US" dirty="0">
                <a:solidFill>
                  <a:srgbClr val="000066"/>
                </a:solidFill>
                <a:latin typeface="楷体_GB2312"/>
              </a:rPr>
              <a:t>平均查找长度和二叉树的形态有关，即，</a:t>
            </a:r>
          </a:p>
          <a:p>
            <a:pPr eaLnBrk="1" hangingPunct="1">
              <a:lnSpc>
                <a:spcPct val="120000"/>
              </a:lnSpc>
              <a:spcBef>
                <a:spcPct val="20000"/>
              </a:spcBef>
              <a:buFont typeface="Wingdings" panose="05000000000000000000" pitchFamily="2" charset="2"/>
              <a:buNone/>
            </a:pPr>
            <a:r>
              <a:rPr lang="zh-CN" altLang="en-US" dirty="0">
                <a:solidFill>
                  <a:srgbClr val="000066"/>
                </a:solidFill>
                <a:latin typeface="楷体_GB2312"/>
              </a:rPr>
              <a:t>最好：</a:t>
            </a:r>
            <a:r>
              <a:rPr lang="en-US" altLang="zh-CN" dirty="0">
                <a:solidFill>
                  <a:srgbClr val="000066"/>
                </a:solidFill>
                <a:highlight>
                  <a:srgbClr val="00FF00"/>
                </a:highlight>
                <a:latin typeface="楷体_GB2312"/>
              </a:rPr>
              <a:t>log</a:t>
            </a:r>
            <a:r>
              <a:rPr lang="en-US" altLang="zh-CN" baseline="-25000" dirty="0">
                <a:solidFill>
                  <a:srgbClr val="000066"/>
                </a:solidFill>
                <a:highlight>
                  <a:srgbClr val="00FF00"/>
                </a:highlight>
                <a:latin typeface="楷体_GB2312"/>
              </a:rPr>
              <a:t>2</a:t>
            </a:r>
            <a:r>
              <a:rPr lang="en-US" altLang="zh-CN" dirty="0">
                <a:solidFill>
                  <a:srgbClr val="000066"/>
                </a:solidFill>
                <a:highlight>
                  <a:srgbClr val="00FF00"/>
                </a:highlight>
                <a:latin typeface="楷体_GB2312"/>
              </a:rPr>
              <a:t>n</a:t>
            </a:r>
            <a:r>
              <a:rPr lang="zh-CN" altLang="en-US" dirty="0">
                <a:solidFill>
                  <a:srgbClr val="000066"/>
                </a:solidFill>
                <a:latin typeface="楷体_GB2312"/>
              </a:rPr>
              <a:t>（形态匀称，与二分查找的</a:t>
            </a:r>
            <a:r>
              <a:rPr lang="zh-CN" altLang="en-US" dirty="0">
                <a:solidFill>
                  <a:srgbClr val="000066"/>
                </a:solidFill>
                <a:highlight>
                  <a:srgbClr val="00FF00"/>
                </a:highlight>
                <a:latin typeface="楷体_GB2312"/>
              </a:rPr>
              <a:t>判定树相似</a:t>
            </a:r>
            <a:r>
              <a:rPr lang="zh-CN" altLang="en-US" dirty="0">
                <a:solidFill>
                  <a:srgbClr val="000066"/>
                </a:solidFill>
                <a:latin typeface="楷体_GB2312"/>
              </a:rPr>
              <a:t>）</a:t>
            </a:r>
          </a:p>
          <a:p>
            <a:pPr eaLnBrk="1" hangingPunct="1">
              <a:lnSpc>
                <a:spcPct val="120000"/>
              </a:lnSpc>
              <a:spcBef>
                <a:spcPct val="20000"/>
              </a:spcBef>
              <a:buFont typeface="Wingdings" panose="05000000000000000000" pitchFamily="2" charset="2"/>
              <a:buNone/>
            </a:pPr>
            <a:r>
              <a:rPr lang="zh-CN" altLang="en-US" dirty="0">
                <a:solidFill>
                  <a:srgbClr val="000066"/>
                </a:solidFill>
                <a:latin typeface="楷体_GB2312"/>
              </a:rPr>
              <a:t>最坏</a:t>
            </a:r>
            <a:r>
              <a:rPr lang="en-US" altLang="zh-CN" dirty="0">
                <a:solidFill>
                  <a:srgbClr val="000066"/>
                </a:solidFill>
                <a:latin typeface="楷体_GB2312"/>
                <a:sym typeface="Wingdings" panose="05000000000000000000" pitchFamily="2" charset="2"/>
              </a:rPr>
              <a:t>:  </a:t>
            </a:r>
            <a:r>
              <a:rPr lang="zh-CN" altLang="en-US" dirty="0">
                <a:solidFill>
                  <a:srgbClr val="000066"/>
                </a:solidFill>
                <a:highlight>
                  <a:srgbClr val="00FF00"/>
                </a:highlight>
                <a:latin typeface="楷体_GB2312"/>
                <a:sym typeface="Wingdings" panose="05000000000000000000" pitchFamily="2" charset="2"/>
              </a:rPr>
              <a:t>（</a:t>
            </a:r>
            <a:r>
              <a:rPr lang="en-US" altLang="zh-CN" dirty="0">
                <a:solidFill>
                  <a:srgbClr val="000066"/>
                </a:solidFill>
                <a:highlight>
                  <a:srgbClr val="00FF00"/>
                </a:highlight>
                <a:latin typeface="楷体_GB2312"/>
                <a:sym typeface="Wingdings" panose="05000000000000000000" pitchFamily="2" charset="2"/>
              </a:rPr>
              <a:t>n</a:t>
            </a:r>
            <a:r>
              <a:rPr lang="en-US" altLang="zh-CN" dirty="0">
                <a:solidFill>
                  <a:srgbClr val="000066"/>
                </a:solidFill>
                <a:highlight>
                  <a:srgbClr val="00FF00"/>
                </a:highlight>
                <a:latin typeface="楷体_GB2312"/>
              </a:rPr>
              <a:t>+1)/2</a:t>
            </a:r>
            <a:r>
              <a:rPr lang="zh-CN" altLang="en-US" dirty="0">
                <a:solidFill>
                  <a:srgbClr val="000066"/>
                </a:solidFill>
                <a:latin typeface="楷体_GB2312"/>
              </a:rPr>
              <a:t>（单支树）</a:t>
            </a:r>
          </a:p>
        </p:txBody>
      </p:sp>
      <p:sp>
        <p:nvSpPr>
          <p:cNvPr id="60419" name="Rectangle 3"/>
          <p:cNvSpPr>
            <a:spLocks noChangeArrowheads="1"/>
          </p:cNvSpPr>
          <p:nvPr/>
        </p:nvSpPr>
        <p:spPr bwMode="auto">
          <a:xfrm>
            <a:off x="4223934" y="23019"/>
            <a:ext cx="345219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查找的性能分析</a:t>
            </a:r>
          </a:p>
        </p:txBody>
      </p:sp>
      <p:grpSp>
        <p:nvGrpSpPr>
          <p:cNvPr id="2" name="Group 4"/>
          <p:cNvGrpSpPr>
            <a:grpSpLocks/>
          </p:cNvGrpSpPr>
          <p:nvPr/>
        </p:nvGrpSpPr>
        <p:grpSpPr bwMode="auto">
          <a:xfrm>
            <a:off x="1028700" y="2625725"/>
            <a:ext cx="7359650" cy="4021138"/>
            <a:chOff x="648" y="1654"/>
            <a:chExt cx="4464" cy="2533"/>
          </a:xfrm>
        </p:grpSpPr>
        <p:grpSp>
          <p:nvGrpSpPr>
            <p:cNvPr id="60421" name="Group 5"/>
            <p:cNvGrpSpPr>
              <a:grpSpLocks/>
            </p:cNvGrpSpPr>
            <p:nvPr/>
          </p:nvGrpSpPr>
          <p:grpSpPr bwMode="auto">
            <a:xfrm>
              <a:off x="648" y="1750"/>
              <a:ext cx="1392" cy="1248"/>
              <a:chOff x="432" y="1530"/>
              <a:chExt cx="1392" cy="1248"/>
            </a:xfrm>
          </p:grpSpPr>
          <p:sp>
            <p:nvSpPr>
              <p:cNvPr id="60433" name="Oval 6"/>
              <p:cNvSpPr>
                <a:spLocks noChangeArrowheads="1"/>
              </p:cNvSpPr>
              <p:nvPr/>
            </p:nvSpPr>
            <p:spPr bwMode="auto">
              <a:xfrm>
                <a:off x="1104" y="1530"/>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60434" name="Oval 7"/>
              <p:cNvSpPr>
                <a:spLocks noChangeArrowheads="1"/>
              </p:cNvSpPr>
              <p:nvPr/>
            </p:nvSpPr>
            <p:spPr bwMode="auto">
              <a:xfrm>
                <a:off x="76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60435" name="Oval 8"/>
              <p:cNvSpPr>
                <a:spLocks noChangeArrowheads="1"/>
              </p:cNvSpPr>
              <p:nvPr/>
            </p:nvSpPr>
            <p:spPr bwMode="auto">
              <a:xfrm>
                <a:off x="1488" y="191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60436" name="Oval 9"/>
              <p:cNvSpPr>
                <a:spLocks noChangeArrowheads="1"/>
              </p:cNvSpPr>
              <p:nvPr/>
            </p:nvSpPr>
            <p:spPr bwMode="auto">
              <a:xfrm>
                <a:off x="432" y="2346"/>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60437" name="Oval 10"/>
              <p:cNvSpPr>
                <a:spLocks noChangeArrowheads="1"/>
              </p:cNvSpPr>
              <p:nvPr/>
            </p:nvSpPr>
            <p:spPr bwMode="auto">
              <a:xfrm>
                <a:off x="1152" y="2394"/>
                <a:ext cx="336"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60438" name="Line 11"/>
              <p:cNvSpPr>
                <a:spLocks noChangeShapeType="1"/>
              </p:cNvSpPr>
              <p:nvPr/>
            </p:nvSpPr>
            <p:spPr bwMode="auto">
              <a:xfrm flipH="1">
                <a:off x="1008" y="1802"/>
                <a:ext cx="144" cy="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9" name="Line 12"/>
              <p:cNvSpPr>
                <a:spLocks noChangeShapeType="1"/>
              </p:cNvSpPr>
              <p:nvPr/>
            </p:nvSpPr>
            <p:spPr bwMode="auto">
              <a:xfrm flipH="1">
                <a:off x="720" y="2250"/>
                <a:ext cx="144"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0" name="Line 13"/>
              <p:cNvSpPr>
                <a:spLocks noChangeShapeType="1"/>
              </p:cNvSpPr>
              <p:nvPr/>
            </p:nvSpPr>
            <p:spPr bwMode="auto">
              <a:xfrm>
                <a:off x="1056" y="2234"/>
                <a:ext cx="192" cy="25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1" name="Line 14"/>
              <p:cNvSpPr>
                <a:spLocks noChangeShapeType="1"/>
              </p:cNvSpPr>
              <p:nvPr/>
            </p:nvSpPr>
            <p:spPr bwMode="auto">
              <a:xfrm>
                <a:off x="1392" y="181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2" name="Group 15"/>
            <p:cNvGrpSpPr>
              <a:grpSpLocks/>
            </p:cNvGrpSpPr>
            <p:nvPr/>
          </p:nvGrpSpPr>
          <p:grpSpPr bwMode="auto">
            <a:xfrm>
              <a:off x="3240" y="1654"/>
              <a:ext cx="1872" cy="1776"/>
              <a:chOff x="3024" y="1434"/>
              <a:chExt cx="1872" cy="1776"/>
            </a:xfrm>
          </p:grpSpPr>
          <p:sp>
            <p:nvSpPr>
              <p:cNvPr id="60424" name="Oval 16"/>
              <p:cNvSpPr>
                <a:spLocks noChangeArrowheads="1"/>
              </p:cNvSpPr>
              <p:nvPr/>
            </p:nvSpPr>
            <p:spPr bwMode="auto">
              <a:xfrm>
                <a:off x="3024" y="1434"/>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12</a:t>
                </a:r>
              </a:p>
            </p:txBody>
          </p:sp>
          <p:sp>
            <p:nvSpPr>
              <p:cNvPr id="60425" name="Oval 17"/>
              <p:cNvSpPr>
                <a:spLocks noChangeArrowheads="1"/>
              </p:cNvSpPr>
              <p:nvPr/>
            </p:nvSpPr>
            <p:spPr bwMode="auto">
              <a:xfrm>
                <a:off x="3408" y="177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24</a:t>
                </a:r>
              </a:p>
            </p:txBody>
          </p:sp>
          <p:sp>
            <p:nvSpPr>
              <p:cNvPr id="60426" name="Oval 18"/>
              <p:cNvSpPr>
                <a:spLocks noChangeArrowheads="1"/>
              </p:cNvSpPr>
              <p:nvPr/>
            </p:nvSpPr>
            <p:spPr bwMode="auto">
              <a:xfrm>
                <a:off x="3744" y="2106"/>
                <a:ext cx="432"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37</a:t>
                </a:r>
              </a:p>
            </p:txBody>
          </p:sp>
          <p:sp>
            <p:nvSpPr>
              <p:cNvPr id="60427" name="Oval 19"/>
              <p:cNvSpPr>
                <a:spLocks noChangeArrowheads="1"/>
              </p:cNvSpPr>
              <p:nvPr/>
            </p:nvSpPr>
            <p:spPr bwMode="auto">
              <a:xfrm>
                <a:off x="4128" y="2490"/>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40</a:t>
                </a:r>
              </a:p>
            </p:txBody>
          </p:sp>
          <p:sp>
            <p:nvSpPr>
              <p:cNvPr id="60428" name="Oval 20"/>
              <p:cNvSpPr>
                <a:spLocks noChangeArrowheads="1"/>
              </p:cNvSpPr>
              <p:nvPr/>
            </p:nvSpPr>
            <p:spPr bwMode="auto">
              <a:xfrm>
                <a:off x="4512" y="2826"/>
                <a:ext cx="384" cy="384"/>
              </a:xfrm>
              <a:prstGeom prst="ellipse">
                <a:avLst/>
              </a:prstGeom>
              <a:solidFill>
                <a:schemeClr val="accent1"/>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en-US" altLang="zh-CN" sz="2400" b="0">
                    <a:ea typeface="宋体" panose="02010600030101010101" pitchFamily="2" charset="-122"/>
                  </a:rPr>
                  <a:t>55</a:t>
                </a:r>
              </a:p>
            </p:txBody>
          </p:sp>
          <p:sp>
            <p:nvSpPr>
              <p:cNvPr id="60429" name="Line 21"/>
              <p:cNvSpPr>
                <a:spLocks noChangeShapeType="1"/>
              </p:cNvSpPr>
              <p:nvPr/>
            </p:nvSpPr>
            <p:spPr bwMode="auto">
              <a:xfrm>
                <a:off x="3360" y="1770"/>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0" name="Line 22"/>
              <p:cNvSpPr>
                <a:spLocks noChangeShapeType="1"/>
              </p:cNvSpPr>
              <p:nvPr/>
            </p:nvSpPr>
            <p:spPr bwMode="auto">
              <a:xfrm>
                <a:off x="3744" y="2106"/>
                <a:ext cx="48"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1" name="Line 23"/>
              <p:cNvSpPr>
                <a:spLocks noChangeShapeType="1"/>
              </p:cNvSpPr>
              <p:nvPr/>
            </p:nvSpPr>
            <p:spPr bwMode="auto">
              <a:xfrm>
                <a:off x="4080" y="2442"/>
                <a:ext cx="96"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2" name="Line 24"/>
              <p:cNvSpPr>
                <a:spLocks noChangeShapeType="1"/>
              </p:cNvSpPr>
              <p:nvPr/>
            </p:nvSpPr>
            <p:spPr bwMode="auto">
              <a:xfrm>
                <a:off x="4464" y="282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60423" name="Object 25"/>
            <p:cNvGraphicFramePr>
              <a:graphicFrameLocks/>
            </p:cNvGraphicFramePr>
            <p:nvPr/>
          </p:nvGraphicFramePr>
          <p:xfrm>
            <a:off x="1464" y="2998"/>
            <a:ext cx="2832" cy="1189"/>
          </p:xfrm>
          <a:graphic>
            <a:graphicData uri="http://schemas.openxmlformats.org/presentationml/2006/ole">
              <mc:AlternateContent xmlns:mc="http://schemas.openxmlformats.org/markup-compatibility/2006">
                <mc:Choice xmlns:v="urn:schemas-microsoft-com:vml" Requires="v">
                  <p:oleObj r:id="rId2" imgW="2476500" imgH="889000" progId="Equation.3">
                    <p:embed/>
                  </p:oleObj>
                </mc:Choice>
                <mc:Fallback>
                  <p:oleObj r:id="rId2" imgW="2476500" imgH="889000" progId="Equation.3">
                    <p:embed/>
                    <p:pic>
                      <p:nvPicPr>
                        <p:cNvPr id="60423" name="Object 2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4" y="2998"/>
                          <a:ext cx="2832" cy="1189"/>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ChangeArrowheads="1"/>
          </p:cNvSpPr>
          <p:nvPr/>
        </p:nvSpPr>
        <p:spPr bwMode="auto">
          <a:xfrm>
            <a:off x="-95087" y="518630"/>
            <a:ext cx="954055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4000" dirty="0">
                <a:solidFill>
                  <a:srgbClr val="0000FF"/>
                </a:solidFill>
                <a:latin typeface="楷体_GB2312"/>
              </a:rPr>
              <a:t>7.3 </a:t>
            </a:r>
            <a:r>
              <a:rPr lang="zh-CN" altLang="en-US" sz="4000" dirty="0">
                <a:solidFill>
                  <a:srgbClr val="0000FF"/>
                </a:solidFill>
                <a:latin typeface="楷体_GB2312"/>
              </a:rPr>
              <a:t>哈希</a:t>
            </a:r>
            <a:r>
              <a:rPr lang="en-US" altLang="zh-CN" sz="4000" dirty="0">
                <a:solidFill>
                  <a:srgbClr val="0000FF"/>
                </a:solidFill>
                <a:latin typeface="楷体_GB2312"/>
              </a:rPr>
              <a:t>(Hash)</a:t>
            </a:r>
            <a:r>
              <a:rPr lang="zh-CN" altLang="en-US" sz="4000" dirty="0">
                <a:solidFill>
                  <a:srgbClr val="0000FF"/>
                </a:solidFill>
                <a:latin typeface="楷体_GB2312"/>
              </a:rPr>
              <a:t>表</a:t>
            </a:r>
            <a:r>
              <a:rPr lang="en-US" altLang="zh-CN" sz="4000" dirty="0">
                <a:solidFill>
                  <a:srgbClr val="0000FF"/>
                </a:solidFill>
                <a:latin typeface="楷体_GB2312"/>
              </a:rPr>
              <a:t>(</a:t>
            </a:r>
            <a:r>
              <a:rPr lang="zh-CN" altLang="en-US" sz="4000" dirty="0">
                <a:solidFill>
                  <a:srgbClr val="0000FF"/>
                </a:solidFill>
                <a:latin typeface="楷体_GB2312"/>
              </a:rPr>
              <a:t>又称散列表表</a:t>
            </a:r>
            <a:r>
              <a:rPr lang="en-US" altLang="zh-CN" sz="4000" dirty="0">
                <a:solidFill>
                  <a:srgbClr val="0000FF"/>
                </a:solidFill>
                <a:latin typeface="楷体_GB2312"/>
              </a:rPr>
              <a:t>)</a:t>
            </a:r>
            <a:r>
              <a:rPr lang="zh-CN" altLang="en-US" sz="4000" dirty="0">
                <a:solidFill>
                  <a:srgbClr val="0000FF"/>
                </a:solidFill>
                <a:latin typeface="楷体_GB2312"/>
              </a:rPr>
              <a:t>的查找</a:t>
            </a:r>
          </a:p>
        </p:txBody>
      </p:sp>
      <p:sp>
        <p:nvSpPr>
          <p:cNvPr id="76803" name="Line 5"/>
          <p:cNvSpPr>
            <a:spLocks noChangeShapeType="1"/>
          </p:cNvSpPr>
          <p:nvPr/>
        </p:nvSpPr>
        <p:spPr bwMode="auto">
          <a:xfrm>
            <a:off x="0" y="1268413"/>
            <a:ext cx="9144000" cy="0"/>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05" name="Rectangle 7"/>
          <p:cNvSpPr>
            <a:spLocks noChangeArrowheads="1"/>
          </p:cNvSpPr>
          <p:nvPr/>
        </p:nvSpPr>
        <p:spPr bwMode="auto">
          <a:xfrm>
            <a:off x="179388" y="1484313"/>
            <a:ext cx="8820150" cy="129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Char char="•"/>
            </a:pPr>
            <a:r>
              <a:rPr lang="zh-CN" altLang="en-US" sz="3200" dirty="0">
                <a:solidFill>
                  <a:schemeClr val="accent2"/>
                </a:solidFill>
                <a:latin typeface="楷体_GB2312"/>
              </a:rPr>
              <a:t>基本思想：</a:t>
            </a:r>
            <a:r>
              <a:rPr lang="zh-CN" altLang="en-US" sz="3200" dirty="0">
                <a:latin typeface="楷体_GB2312"/>
              </a:rPr>
              <a:t>记录的存储位置与关键字之间存在对应关系，</a:t>
            </a:r>
            <a:r>
              <a:rPr lang="en-US" altLang="zh-CN" sz="3200" dirty="0">
                <a:solidFill>
                  <a:srgbClr val="FF3300"/>
                </a:solidFill>
                <a:highlight>
                  <a:srgbClr val="00FF00"/>
                </a:highlight>
                <a:latin typeface="楷体_GB2312"/>
              </a:rPr>
              <a:t>Loc(</a:t>
            </a:r>
            <a:r>
              <a:rPr lang="en-US" altLang="zh-CN" sz="3200" dirty="0" err="1">
                <a:solidFill>
                  <a:srgbClr val="FF3300"/>
                </a:solidFill>
                <a:highlight>
                  <a:srgbClr val="00FF00"/>
                </a:highlight>
                <a:latin typeface="楷体_GB2312"/>
              </a:rPr>
              <a:t>i</a:t>
            </a:r>
            <a:r>
              <a:rPr lang="en-US" altLang="zh-CN" sz="3200" dirty="0">
                <a:solidFill>
                  <a:srgbClr val="FF3300"/>
                </a:solidFill>
                <a:highlight>
                  <a:srgbClr val="00FF00"/>
                </a:highlight>
                <a:latin typeface="楷体_GB2312"/>
              </a:rPr>
              <a:t>)=H(</a:t>
            </a:r>
            <a:r>
              <a:rPr lang="en-US" altLang="zh-CN" sz="3200" dirty="0" err="1">
                <a:solidFill>
                  <a:srgbClr val="FF3300"/>
                </a:solidFill>
                <a:highlight>
                  <a:srgbClr val="00FF00"/>
                </a:highlight>
                <a:latin typeface="楷体_GB2312"/>
              </a:rPr>
              <a:t>keyi</a:t>
            </a:r>
            <a:r>
              <a:rPr lang="en-US" altLang="zh-CN" sz="3200" dirty="0">
                <a:solidFill>
                  <a:srgbClr val="FF3300"/>
                </a:solidFill>
                <a:highlight>
                  <a:srgbClr val="00FF00"/>
                </a:highlight>
                <a:latin typeface="楷体_GB2312"/>
              </a:rPr>
              <a:t>)</a:t>
            </a:r>
            <a:r>
              <a:rPr lang="en-US" altLang="zh-CN" sz="3200" dirty="0">
                <a:highlight>
                  <a:srgbClr val="00FF00"/>
                </a:highlight>
                <a:latin typeface="楷体_GB2312"/>
              </a:rPr>
              <a:t> </a:t>
            </a:r>
          </a:p>
        </p:txBody>
      </p:sp>
      <p:sp>
        <p:nvSpPr>
          <p:cNvPr id="1083400" name="Rectangle 8"/>
          <p:cNvSpPr>
            <a:spLocks noChangeArrowheads="1"/>
          </p:cNvSpPr>
          <p:nvPr/>
        </p:nvSpPr>
        <p:spPr bwMode="auto">
          <a:xfrm>
            <a:off x="349250" y="4076700"/>
            <a:ext cx="865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Char char="•"/>
            </a:pPr>
            <a:r>
              <a:rPr lang="zh-CN" altLang="en-US" dirty="0">
                <a:solidFill>
                  <a:schemeClr val="accent2"/>
                </a:solidFill>
              </a:rPr>
              <a:t>优点：</a:t>
            </a:r>
            <a:r>
              <a:rPr lang="zh-CN" altLang="en-US" dirty="0"/>
              <a:t>查找速度极快</a:t>
            </a:r>
            <a:r>
              <a:rPr lang="en-US" altLang="zh-CN" dirty="0">
                <a:solidFill>
                  <a:srgbClr val="FF3300"/>
                </a:solidFill>
                <a:highlight>
                  <a:srgbClr val="00FF00"/>
                </a:highlight>
              </a:rPr>
              <a:t>O(1),</a:t>
            </a:r>
            <a:r>
              <a:rPr lang="zh-CN" altLang="en-US" dirty="0"/>
              <a:t>查找效率与元素个数</a:t>
            </a:r>
            <a:r>
              <a:rPr lang="en-US" altLang="zh-CN" dirty="0"/>
              <a:t>n</a:t>
            </a:r>
            <a:r>
              <a:rPr lang="zh-CN" altLang="en-US" dirty="0"/>
              <a:t>无关</a:t>
            </a:r>
          </a:p>
        </p:txBody>
      </p:sp>
      <p:grpSp>
        <p:nvGrpSpPr>
          <p:cNvPr id="2" name="Group 9"/>
          <p:cNvGrpSpPr>
            <a:grpSpLocks/>
          </p:cNvGrpSpPr>
          <p:nvPr/>
        </p:nvGrpSpPr>
        <p:grpSpPr bwMode="auto">
          <a:xfrm>
            <a:off x="5580063" y="2060575"/>
            <a:ext cx="2520950" cy="519113"/>
            <a:chOff x="3515" y="1298"/>
            <a:chExt cx="1588" cy="327"/>
          </a:xfrm>
        </p:grpSpPr>
        <p:sp>
          <p:nvSpPr>
            <p:cNvPr id="76813" name="AutoShape 10"/>
            <p:cNvSpPr>
              <a:spLocks noChangeArrowheads="1"/>
            </p:cNvSpPr>
            <p:nvPr/>
          </p:nvSpPr>
          <p:spPr bwMode="auto">
            <a:xfrm>
              <a:off x="3515" y="1434"/>
              <a:ext cx="544" cy="91"/>
            </a:xfrm>
            <a:prstGeom prst="rightArrow">
              <a:avLst>
                <a:gd name="adj1" fmla="val 50000"/>
                <a:gd name="adj2" fmla="val 149395"/>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76814" name="Text Box 11"/>
            <p:cNvSpPr txBox="1">
              <a:spLocks noChangeArrowheads="1"/>
            </p:cNvSpPr>
            <p:nvPr/>
          </p:nvSpPr>
          <p:spPr bwMode="auto">
            <a:xfrm>
              <a:off x="4059" y="1298"/>
              <a:ext cx="1044"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zh-CN" altLang="en-US"/>
                <a:t>哈希函数</a:t>
              </a:r>
            </a:p>
          </p:txBody>
        </p:sp>
      </p:grpSp>
      <p:grpSp>
        <p:nvGrpSpPr>
          <p:cNvPr id="3" name="Group 12"/>
          <p:cNvGrpSpPr>
            <a:grpSpLocks/>
          </p:cNvGrpSpPr>
          <p:nvPr/>
        </p:nvGrpSpPr>
        <p:grpSpPr bwMode="auto">
          <a:xfrm>
            <a:off x="2493963" y="2781300"/>
            <a:ext cx="3803650" cy="1004888"/>
            <a:chOff x="2111" y="3256"/>
            <a:chExt cx="2396" cy="633"/>
          </a:xfrm>
        </p:grpSpPr>
        <p:sp>
          <p:nvSpPr>
            <p:cNvPr id="76809" name="Oval 13"/>
            <p:cNvSpPr>
              <a:spLocks noChangeArrowheads="1"/>
            </p:cNvSpPr>
            <p:nvPr/>
          </p:nvSpPr>
          <p:spPr bwMode="auto">
            <a:xfrm>
              <a:off x="2111" y="3256"/>
              <a:ext cx="833" cy="633"/>
            </a:xfrm>
            <a:prstGeom prst="ellipse">
              <a:avLst/>
            </a:prstGeom>
            <a:solidFill>
              <a:srgbClr val="CCFFCC"/>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000">
                  <a:solidFill>
                    <a:srgbClr val="FF3300"/>
                  </a:solidFill>
                </a:rPr>
                <a:t>关键字</a:t>
              </a:r>
            </a:p>
            <a:p>
              <a:pPr algn="ctr" eaLnBrk="1" hangingPunct="1">
                <a:buFont typeface="Arial" panose="020B0604020202020204" pitchFamily="34" charset="0"/>
                <a:buNone/>
              </a:pPr>
              <a:r>
                <a:rPr lang="zh-CN" altLang="en-US" sz="2000">
                  <a:solidFill>
                    <a:srgbClr val="FF3300"/>
                  </a:solidFill>
                </a:rPr>
                <a:t>集合</a:t>
              </a:r>
            </a:p>
          </p:txBody>
        </p:sp>
        <p:sp>
          <p:nvSpPr>
            <p:cNvPr id="76810" name="Oval 14"/>
            <p:cNvSpPr>
              <a:spLocks noChangeArrowheads="1"/>
            </p:cNvSpPr>
            <p:nvPr/>
          </p:nvSpPr>
          <p:spPr bwMode="auto">
            <a:xfrm>
              <a:off x="3674" y="3256"/>
              <a:ext cx="833" cy="633"/>
            </a:xfrm>
            <a:prstGeom prst="ellipse">
              <a:avLst/>
            </a:prstGeom>
            <a:solidFill>
              <a:srgbClr val="CCFFCC"/>
            </a:solidFill>
            <a:ln w="9525">
              <a:solidFill>
                <a:schemeClr val="tx1"/>
              </a:solidFill>
              <a:round/>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000">
                  <a:solidFill>
                    <a:srgbClr val="FF3300"/>
                  </a:solidFill>
                </a:rPr>
                <a:t>存储地址</a:t>
              </a:r>
            </a:p>
            <a:p>
              <a:pPr algn="ctr" eaLnBrk="1" hangingPunct="1">
                <a:buFont typeface="Arial" panose="020B0604020202020204" pitchFamily="34" charset="0"/>
                <a:buNone/>
              </a:pPr>
              <a:r>
                <a:rPr lang="zh-CN" altLang="en-US" sz="2000">
                  <a:solidFill>
                    <a:srgbClr val="FF3300"/>
                  </a:solidFill>
                </a:rPr>
                <a:t>集合</a:t>
              </a:r>
            </a:p>
          </p:txBody>
        </p:sp>
        <p:sp>
          <p:nvSpPr>
            <p:cNvPr id="76811" name="AutoShape 15"/>
            <p:cNvSpPr>
              <a:spLocks noChangeArrowheads="1"/>
            </p:cNvSpPr>
            <p:nvPr/>
          </p:nvSpPr>
          <p:spPr bwMode="auto">
            <a:xfrm>
              <a:off x="2955" y="3511"/>
              <a:ext cx="733" cy="133"/>
            </a:xfrm>
            <a:prstGeom prst="rightArrow">
              <a:avLst>
                <a:gd name="adj1" fmla="val 50000"/>
                <a:gd name="adj2" fmla="val 137731"/>
              </a:avLst>
            </a:prstGeom>
            <a:solidFill>
              <a:srgbClr val="CCFFCC"/>
            </a:solidFill>
            <a:ln w="9525">
              <a:solidFill>
                <a:schemeClr val="tx1"/>
              </a:solidFill>
              <a:miter lim="800000"/>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76812" name="Text Box 16"/>
            <p:cNvSpPr txBox="1">
              <a:spLocks noChangeArrowheads="1"/>
            </p:cNvSpPr>
            <p:nvPr/>
          </p:nvSpPr>
          <p:spPr bwMode="auto">
            <a:xfrm>
              <a:off x="3076" y="3328"/>
              <a:ext cx="409" cy="2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b="0">
                  <a:solidFill>
                    <a:srgbClr val="FF3300"/>
                  </a:solidFill>
                  <a:ea typeface="宋体" panose="02010600030101010101" pitchFamily="2" charset="-122"/>
                </a:rPr>
                <a:t>hash</a:t>
              </a:r>
              <a:endParaRPr lang="en-US" altLang="zh-CN" sz="2000" b="0">
                <a:ea typeface="宋体" panose="02010600030101010101" pitchFamily="2" charset="-122"/>
              </a:endParaRPr>
            </a:p>
          </p:txBody>
        </p:sp>
      </p:grpSp>
    </p:spTree>
  </p:cSld>
  <p:clrMapOvr>
    <a:masterClrMapping/>
  </p:clrMapOvr>
  <p:transition>
    <p:sndAc>
      <p:stSnd>
        <p:snd r:embed="rId2" name="click.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0-#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83400"/>
                                        </p:tgtEl>
                                        <p:attrNameLst>
                                          <p:attrName>style.visibility</p:attrName>
                                        </p:attrNameLst>
                                      </p:cBhvr>
                                      <p:to>
                                        <p:strVal val="visible"/>
                                      </p:to>
                                    </p:set>
                                    <p:anim calcmode="lin" valueType="num">
                                      <p:cBhvr additive="base">
                                        <p:cTn id="19" dur="500" fill="hold"/>
                                        <p:tgtEl>
                                          <p:spTgt spid="1083400"/>
                                        </p:tgtEl>
                                        <p:attrNameLst>
                                          <p:attrName>ppt_x</p:attrName>
                                        </p:attrNameLst>
                                      </p:cBhvr>
                                      <p:tavLst>
                                        <p:tav tm="0">
                                          <p:val>
                                            <p:strVal val="#ppt_x"/>
                                          </p:val>
                                        </p:tav>
                                        <p:tav tm="100000">
                                          <p:val>
                                            <p:strVal val="#ppt_x"/>
                                          </p:val>
                                        </p:tav>
                                      </p:tavLst>
                                    </p:anim>
                                    <p:anim calcmode="lin" valueType="num">
                                      <p:cBhvr additive="base">
                                        <p:cTn id="20" dur="500" fill="hold"/>
                                        <p:tgtEl>
                                          <p:spTgt spid="10834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40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956" name="Rectangle 4"/>
          <p:cNvSpPr>
            <a:spLocks noChangeArrowheads="1"/>
          </p:cNvSpPr>
          <p:nvPr/>
        </p:nvSpPr>
        <p:spPr bwMode="auto">
          <a:xfrm>
            <a:off x="228600" y="836613"/>
            <a:ext cx="83058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71500" indent="-5715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a:latin typeface="楷体_GB2312"/>
              </a:rPr>
              <a:t>若将学生信息按如下方式存入计算机，如：</a:t>
            </a:r>
          </a:p>
          <a:p>
            <a:pPr eaLnBrk="1" hangingPunct="1">
              <a:buFont typeface="Arial" panose="020B0604020202020204" pitchFamily="34" charset="0"/>
              <a:buNone/>
            </a:pPr>
            <a:r>
              <a:rPr lang="zh-CN" altLang="en-US">
                <a:latin typeface="楷体_GB2312"/>
              </a:rPr>
              <a:t>将</a:t>
            </a:r>
            <a:r>
              <a:rPr lang="en-US" altLang="zh-CN">
                <a:latin typeface="楷体_GB2312"/>
              </a:rPr>
              <a:t>20010118102</a:t>
            </a:r>
            <a:r>
              <a:rPr lang="en-US" altLang="zh-CN">
                <a:solidFill>
                  <a:srgbClr val="FF33CC"/>
                </a:solidFill>
                <a:latin typeface="楷体_GB2312"/>
              </a:rPr>
              <a:t>01</a:t>
            </a:r>
            <a:r>
              <a:rPr lang="zh-CN" altLang="en-US">
                <a:latin typeface="楷体_GB2312"/>
              </a:rPr>
              <a:t>的所有信息存入</a:t>
            </a:r>
            <a:r>
              <a:rPr lang="en-US" altLang="zh-CN">
                <a:latin typeface="楷体_GB2312"/>
              </a:rPr>
              <a:t>V[</a:t>
            </a:r>
            <a:r>
              <a:rPr lang="en-US" altLang="zh-CN">
                <a:solidFill>
                  <a:schemeClr val="tx2"/>
                </a:solidFill>
                <a:latin typeface="楷体_GB2312"/>
              </a:rPr>
              <a:t>01</a:t>
            </a:r>
            <a:r>
              <a:rPr lang="en-US" altLang="zh-CN">
                <a:latin typeface="楷体_GB2312"/>
              </a:rPr>
              <a:t>]</a:t>
            </a:r>
            <a:r>
              <a:rPr lang="zh-CN" altLang="en-US">
                <a:latin typeface="楷体_GB2312"/>
              </a:rPr>
              <a:t>单元；</a:t>
            </a:r>
          </a:p>
          <a:p>
            <a:pPr eaLnBrk="1" hangingPunct="1">
              <a:buFont typeface="Arial" panose="020B0604020202020204" pitchFamily="34" charset="0"/>
              <a:buNone/>
            </a:pPr>
            <a:r>
              <a:rPr lang="zh-CN" altLang="en-US">
                <a:latin typeface="楷体_GB2312"/>
              </a:rPr>
              <a:t>将</a:t>
            </a:r>
            <a:r>
              <a:rPr lang="en-US" altLang="zh-CN">
                <a:latin typeface="楷体_GB2312"/>
              </a:rPr>
              <a:t>20010118102</a:t>
            </a:r>
            <a:r>
              <a:rPr lang="en-US" altLang="zh-CN">
                <a:solidFill>
                  <a:srgbClr val="FF33CC"/>
                </a:solidFill>
                <a:latin typeface="楷体_GB2312"/>
              </a:rPr>
              <a:t>02</a:t>
            </a:r>
            <a:r>
              <a:rPr lang="zh-CN" altLang="en-US">
                <a:latin typeface="楷体_GB2312"/>
              </a:rPr>
              <a:t>的所有信息存入</a:t>
            </a:r>
            <a:r>
              <a:rPr lang="en-US" altLang="zh-CN">
                <a:latin typeface="楷体_GB2312"/>
              </a:rPr>
              <a:t>V[</a:t>
            </a:r>
            <a:r>
              <a:rPr lang="en-US" altLang="zh-CN">
                <a:solidFill>
                  <a:schemeClr val="tx2"/>
                </a:solidFill>
                <a:latin typeface="楷体_GB2312"/>
              </a:rPr>
              <a:t>02</a:t>
            </a:r>
            <a:r>
              <a:rPr lang="en-US" altLang="zh-CN">
                <a:latin typeface="楷体_GB2312"/>
              </a:rPr>
              <a:t>]</a:t>
            </a:r>
            <a:r>
              <a:rPr lang="zh-CN" altLang="en-US">
                <a:latin typeface="楷体_GB2312"/>
              </a:rPr>
              <a:t>单元；</a:t>
            </a:r>
          </a:p>
          <a:p>
            <a:pPr eaLnBrk="1" hangingPunct="1">
              <a:buFont typeface="Arial" panose="020B0604020202020204" pitchFamily="34" charset="0"/>
              <a:buNone/>
            </a:pPr>
            <a:r>
              <a:rPr lang="en-US" altLang="zh-CN"/>
              <a:t>……</a:t>
            </a:r>
            <a:endParaRPr lang="en-US" altLang="zh-CN">
              <a:latin typeface="楷体_GB2312"/>
            </a:endParaRPr>
          </a:p>
          <a:p>
            <a:pPr eaLnBrk="1" hangingPunct="1">
              <a:buFont typeface="Arial" panose="020B0604020202020204" pitchFamily="34" charset="0"/>
              <a:buNone/>
            </a:pPr>
            <a:r>
              <a:rPr lang="zh-CN" altLang="en-US">
                <a:latin typeface="楷体_GB2312"/>
              </a:rPr>
              <a:t>将</a:t>
            </a:r>
            <a:r>
              <a:rPr lang="en-US" altLang="zh-CN">
                <a:latin typeface="楷体_GB2312"/>
              </a:rPr>
              <a:t>20010118102</a:t>
            </a:r>
            <a:r>
              <a:rPr lang="en-US" altLang="zh-CN">
                <a:solidFill>
                  <a:srgbClr val="FF33CC"/>
                </a:solidFill>
                <a:latin typeface="楷体_GB2312"/>
              </a:rPr>
              <a:t>31</a:t>
            </a:r>
            <a:r>
              <a:rPr lang="zh-CN" altLang="en-US">
                <a:latin typeface="楷体_GB2312"/>
              </a:rPr>
              <a:t>的所有信息存入</a:t>
            </a:r>
            <a:r>
              <a:rPr lang="en-US" altLang="zh-CN">
                <a:latin typeface="楷体_GB2312"/>
              </a:rPr>
              <a:t>V[31]</a:t>
            </a:r>
            <a:r>
              <a:rPr lang="zh-CN" altLang="en-US">
                <a:latin typeface="楷体_GB2312"/>
              </a:rPr>
              <a:t>单元。</a:t>
            </a:r>
          </a:p>
        </p:txBody>
      </p:sp>
      <p:sp>
        <p:nvSpPr>
          <p:cNvPr id="1021957" name="Rectangle 5"/>
          <p:cNvSpPr>
            <a:spLocks noChangeArrowheads="1"/>
          </p:cNvSpPr>
          <p:nvPr/>
        </p:nvSpPr>
        <p:spPr bwMode="auto">
          <a:xfrm>
            <a:off x="228600" y="3227388"/>
            <a:ext cx="8077200" cy="69056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zh-CN" altLang="en-US">
                <a:latin typeface="楷体_GB2312"/>
              </a:rPr>
              <a:t>查找</a:t>
            </a:r>
            <a:r>
              <a:rPr lang="en-US" altLang="zh-CN">
                <a:latin typeface="楷体_GB2312"/>
              </a:rPr>
              <a:t>20010118102</a:t>
            </a:r>
            <a:r>
              <a:rPr lang="en-US" altLang="zh-CN">
                <a:solidFill>
                  <a:srgbClr val="FF3300"/>
                </a:solidFill>
                <a:latin typeface="楷体_GB2312"/>
              </a:rPr>
              <a:t>16</a:t>
            </a:r>
            <a:r>
              <a:rPr lang="zh-CN" altLang="en-US">
                <a:latin typeface="楷体_GB2312"/>
              </a:rPr>
              <a:t>的信息，可直接访问</a:t>
            </a:r>
            <a:r>
              <a:rPr lang="en-US" altLang="zh-CN">
                <a:solidFill>
                  <a:srgbClr val="FF3300"/>
                </a:solidFill>
                <a:latin typeface="楷体_GB2312"/>
              </a:rPr>
              <a:t>V[16]</a:t>
            </a:r>
            <a:r>
              <a:rPr lang="zh-CN" altLang="en-US">
                <a:solidFill>
                  <a:srgbClr val="FF33CC"/>
                </a:solidFill>
                <a:latin typeface="楷体_GB2312"/>
              </a:rPr>
              <a:t>！</a:t>
            </a:r>
          </a:p>
        </p:txBody>
      </p:sp>
      <p:sp>
        <p:nvSpPr>
          <p:cNvPr id="78852" name="Rectangle 6"/>
          <p:cNvSpPr>
            <a:spLocks noChangeArrowheads="1"/>
          </p:cNvSpPr>
          <p:nvPr/>
        </p:nvSpPr>
        <p:spPr bwMode="auto">
          <a:xfrm>
            <a:off x="3563888" y="0"/>
            <a:ext cx="2371725"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例</a:t>
            </a:r>
            <a:r>
              <a:rPr lang="en-US" altLang="zh-CN" sz="2400" dirty="0">
                <a:latin typeface="楷体_GB2312"/>
              </a:rPr>
              <a:t>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21956">
                                            <p:txEl>
                                              <p:pRg st="0" end="0"/>
                                            </p:txEl>
                                          </p:spTgt>
                                        </p:tgtEl>
                                        <p:attrNameLst>
                                          <p:attrName>style.visibility</p:attrName>
                                        </p:attrNameLst>
                                      </p:cBhvr>
                                      <p:to>
                                        <p:strVal val="visible"/>
                                      </p:to>
                                    </p:set>
                                    <p:animEffect transition="in" filter="strips(downRight)">
                                      <p:cBhvr>
                                        <p:cTn id="7" dur="500"/>
                                        <p:tgtEl>
                                          <p:spTgt spid="10219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21956">
                                            <p:txEl>
                                              <p:pRg st="1" end="1"/>
                                            </p:txEl>
                                          </p:spTgt>
                                        </p:tgtEl>
                                        <p:attrNameLst>
                                          <p:attrName>style.visibility</p:attrName>
                                        </p:attrNameLst>
                                      </p:cBhvr>
                                      <p:to>
                                        <p:strVal val="visible"/>
                                      </p:to>
                                    </p:set>
                                    <p:animEffect transition="in" filter="strips(downRight)">
                                      <p:cBhvr>
                                        <p:cTn id="12" dur="500"/>
                                        <p:tgtEl>
                                          <p:spTgt spid="102195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21956">
                                            <p:txEl>
                                              <p:pRg st="2" end="2"/>
                                            </p:txEl>
                                          </p:spTgt>
                                        </p:tgtEl>
                                        <p:attrNameLst>
                                          <p:attrName>style.visibility</p:attrName>
                                        </p:attrNameLst>
                                      </p:cBhvr>
                                      <p:to>
                                        <p:strVal val="visible"/>
                                      </p:to>
                                    </p:set>
                                    <p:animEffect transition="in" filter="strips(downRight)">
                                      <p:cBhvr>
                                        <p:cTn id="17" dur="500"/>
                                        <p:tgtEl>
                                          <p:spTgt spid="1021956">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021956">
                                            <p:txEl>
                                              <p:pRg st="3" end="3"/>
                                            </p:txEl>
                                          </p:spTgt>
                                        </p:tgtEl>
                                        <p:attrNameLst>
                                          <p:attrName>style.visibility</p:attrName>
                                        </p:attrNameLst>
                                      </p:cBhvr>
                                      <p:to>
                                        <p:strVal val="visible"/>
                                      </p:to>
                                    </p:set>
                                    <p:animEffect transition="in" filter="strips(downRight)">
                                      <p:cBhvr>
                                        <p:cTn id="22" dur="500"/>
                                        <p:tgtEl>
                                          <p:spTgt spid="1021956">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021956">
                                            <p:txEl>
                                              <p:pRg st="4" end="4"/>
                                            </p:txEl>
                                          </p:spTgt>
                                        </p:tgtEl>
                                        <p:attrNameLst>
                                          <p:attrName>style.visibility</p:attrName>
                                        </p:attrNameLst>
                                      </p:cBhvr>
                                      <p:to>
                                        <p:strVal val="visible"/>
                                      </p:to>
                                    </p:set>
                                    <p:animEffect transition="in" filter="strips(downRight)">
                                      <p:cBhvr>
                                        <p:cTn id="27" dur="500"/>
                                        <p:tgtEl>
                                          <p:spTgt spid="1021956">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021957"/>
                                        </p:tgtEl>
                                        <p:attrNameLst>
                                          <p:attrName>style.visibility</p:attrName>
                                        </p:attrNameLst>
                                      </p:cBhvr>
                                      <p:to>
                                        <p:strVal val="visible"/>
                                      </p:to>
                                    </p:set>
                                    <p:animEffect transition="in" filter="box(in)">
                                      <p:cBhvr>
                                        <p:cTn id="32" dur="500"/>
                                        <p:tgtEl>
                                          <p:spTgt spid="10219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1956" grpId="0" build="p"/>
      <p:bldP spid="102195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7"/>
          <p:cNvSpPr>
            <a:spLocks noChangeArrowheads="1"/>
          </p:cNvSpPr>
          <p:nvPr/>
        </p:nvSpPr>
        <p:spPr bwMode="auto">
          <a:xfrm>
            <a:off x="228600" y="720725"/>
            <a:ext cx="8686800" cy="9842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zh-CN" altLang="en-US">
                <a:latin typeface="楷体_GB2312"/>
              </a:rPr>
              <a:t>数据元素序列</a:t>
            </a:r>
            <a:r>
              <a:rPr lang="en-US" altLang="zh-CN">
                <a:latin typeface="楷体_GB2312"/>
              </a:rPr>
              <a:t>(14</a:t>
            </a:r>
            <a:r>
              <a:rPr lang="zh-CN" altLang="en-US">
                <a:latin typeface="楷体_GB2312"/>
              </a:rPr>
              <a:t>，</a:t>
            </a:r>
            <a:r>
              <a:rPr lang="en-US" altLang="zh-CN">
                <a:latin typeface="楷体_GB2312"/>
              </a:rPr>
              <a:t>23</a:t>
            </a:r>
            <a:r>
              <a:rPr lang="zh-CN" altLang="en-US">
                <a:latin typeface="楷体_GB2312"/>
              </a:rPr>
              <a:t>，</a:t>
            </a:r>
            <a:r>
              <a:rPr lang="en-US" altLang="zh-CN">
                <a:latin typeface="楷体_GB2312"/>
              </a:rPr>
              <a:t>39</a:t>
            </a:r>
            <a:r>
              <a:rPr lang="zh-CN" altLang="en-US">
                <a:latin typeface="楷体_GB2312"/>
              </a:rPr>
              <a:t>，</a:t>
            </a:r>
            <a:r>
              <a:rPr lang="en-US" altLang="zh-CN">
                <a:latin typeface="楷体_GB2312"/>
              </a:rPr>
              <a:t>9</a:t>
            </a:r>
            <a:r>
              <a:rPr lang="zh-CN" altLang="en-US">
                <a:latin typeface="楷体_GB2312"/>
              </a:rPr>
              <a:t>，</a:t>
            </a:r>
            <a:r>
              <a:rPr lang="en-US" altLang="zh-CN">
                <a:latin typeface="楷体_GB2312"/>
              </a:rPr>
              <a:t>25</a:t>
            </a:r>
            <a:r>
              <a:rPr lang="zh-CN" altLang="en-US">
                <a:latin typeface="楷体_GB2312"/>
              </a:rPr>
              <a:t>，</a:t>
            </a:r>
            <a:r>
              <a:rPr lang="en-US" altLang="zh-CN">
                <a:latin typeface="楷体_GB2312"/>
              </a:rPr>
              <a:t>11)</a:t>
            </a:r>
            <a:r>
              <a:rPr lang="zh-CN" altLang="en-US">
                <a:latin typeface="楷体_GB2312"/>
              </a:rPr>
              <a:t>，若规定每个元素</a:t>
            </a:r>
            <a:r>
              <a:rPr lang="en-US" altLang="zh-CN">
                <a:latin typeface="楷体_GB2312"/>
              </a:rPr>
              <a:t>k</a:t>
            </a:r>
            <a:r>
              <a:rPr lang="zh-CN" altLang="en-US">
                <a:latin typeface="楷体_GB2312"/>
              </a:rPr>
              <a:t>的存储地址</a:t>
            </a:r>
            <a:r>
              <a:rPr lang="en-US" altLang="zh-CN">
                <a:latin typeface="楷体_GB2312"/>
              </a:rPr>
              <a:t>H</a:t>
            </a:r>
            <a:r>
              <a:rPr lang="zh-CN" altLang="en-US">
                <a:latin typeface="楷体_GB2312"/>
              </a:rPr>
              <a:t>（</a:t>
            </a:r>
            <a:r>
              <a:rPr lang="en-US" altLang="zh-CN">
                <a:latin typeface="楷体_GB2312"/>
              </a:rPr>
              <a:t>k</a:t>
            </a:r>
            <a:r>
              <a:rPr lang="zh-CN" altLang="en-US">
                <a:latin typeface="楷体_GB2312"/>
              </a:rPr>
              <a:t>）＝</a:t>
            </a:r>
            <a:r>
              <a:rPr lang="en-US" altLang="zh-CN">
                <a:latin typeface="楷体_GB2312"/>
              </a:rPr>
              <a:t>k</a:t>
            </a:r>
            <a:r>
              <a:rPr lang="zh-CN" altLang="en-US">
                <a:latin typeface="楷体_GB2312"/>
              </a:rPr>
              <a:t>，请画出存储结构图。</a:t>
            </a:r>
          </a:p>
        </p:txBody>
      </p:sp>
      <p:grpSp>
        <p:nvGrpSpPr>
          <p:cNvPr id="2" name="Group 112"/>
          <p:cNvGrpSpPr>
            <a:grpSpLocks/>
          </p:cNvGrpSpPr>
          <p:nvPr/>
        </p:nvGrpSpPr>
        <p:grpSpPr bwMode="auto">
          <a:xfrm>
            <a:off x="706438" y="2276475"/>
            <a:ext cx="7848600" cy="939800"/>
            <a:chOff x="480" y="2659"/>
            <a:chExt cx="4944" cy="592"/>
          </a:xfrm>
        </p:grpSpPr>
        <p:grpSp>
          <p:nvGrpSpPr>
            <p:cNvPr id="79877" name="Group 110"/>
            <p:cNvGrpSpPr>
              <a:grpSpLocks/>
            </p:cNvGrpSpPr>
            <p:nvPr/>
          </p:nvGrpSpPr>
          <p:grpSpPr bwMode="auto">
            <a:xfrm>
              <a:off x="480" y="2659"/>
              <a:ext cx="4944" cy="592"/>
              <a:chOff x="336" y="1942"/>
              <a:chExt cx="4944" cy="592"/>
            </a:xfrm>
          </p:grpSpPr>
          <p:sp>
            <p:nvSpPr>
              <p:cNvPr id="79884" name="Rectangle 41"/>
              <p:cNvSpPr>
                <a:spLocks noChangeArrowheads="1"/>
              </p:cNvSpPr>
              <p:nvPr/>
            </p:nvSpPr>
            <p:spPr bwMode="auto">
              <a:xfrm>
                <a:off x="2797"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85" name="Rectangle 42"/>
              <p:cNvSpPr>
                <a:spLocks noChangeArrowheads="1"/>
              </p:cNvSpPr>
              <p:nvPr/>
            </p:nvSpPr>
            <p:spPr bwMode="auto">
              <a:xfrm>
                <a:off x="2797"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886" name="Rectangle 43"/>
              <p:cNvSpPr>
                <a:spLocks noChangeArrowheads="1"/>
              </p:cNvSpPr>
              <p:nvPr/>
            </p:nvSpPr>
            <p:spPr bwMode="auto">
              <a:xfrm>
                <a:off x="2474"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87" name="Rectangle 44"/>
              <p:cNvSpPr>
                <a:spLocks noChangeArrowheads="1"/>
              </p:cNvSpPr>
              <p:nvPr/>
            </p:nvSpPr>
            <p:spPr bwMode="auto">
              <a:xfrm>
                <a:off x="2474" y="1942"/>
                <a:ext cx="4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14</a:t>
                </a:r>
              </a:p>
            </p:txBody>
          </p:sp>
          <p:sp>
            <p:nvSpPr>
              <p:cNvPr id="79888" name="Rectangle 45"/>
              <p:cNvSpPr>
                <a:spLocks noChangeArrowheads="1"/>
              </p:cNvSpPr>
              <p:nvPr/>
            </p:nvSpPr>
            <p:spPr bwMode="auto">
              <a:xfrm>
                <a:off x="2152"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89" name="Rectangle 46"/>
              <p:cNvSpPr>
                <a:spLocks noChangeArrowheads="1"/>
              </p:cNvSpPr>
              <p:nvPr/>
            </p:nvSpPr>
            <p:spPr bwMode="auto">
              <a:xfrm>
                <a:off x="2152"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890" name="Rectangle 47"/>
              <p:cNvSpPr>
                <a:spLocks noChangeArrowheads="1"/>
              </p:cNvSpPr>
              <p:nvPr/>
            </p:nvSpPr>
            <p:spPr bwMode="auto">
              <a:xfrm>
                <a:off x="1829"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91" name="Rectangle 48"/>
              <p:cNvSpPr>
                <a:spLocks noChangeArrowheads="1"/>
              </p:cNvSpPr>
              <p:nvPr/>
            </p:nvSpPr>
            <p:spPr bwMode="auto">
              <a:xfrm>
                <a:off x="1829" y="1942"/>
                <a:ext cx="44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11</a:t>
                </a:r>
              </a:p>
            </p:txBody>
          </p:sp>
          <p:sp>
            <p:nvSpPr>
              <p:cNvPr id="79892" name="Rectangle 49"/>
              <p:cNvSpPr>
                <a:spLocks noChangeArrowheads="1"/>
              </p:cNvSpPr>
              <p:nvPr/>
            </p:nvSpPr>
            <p:spPr bwMode="auto">
              <a:xfrm>
                <a:off x="1506"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93" name="Rectangle 50"/>
              <p:cNvSpPr>
                <a:spLocks noChangeArrowheads="1"/>
              </p:cNvSpPr>
              <p:nvPr/>
            </p:nvSpPr>
            <p:spPr bwMode="auto">
              <a:xfrm>
                <a:off x="1506"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894" name="Rectangle 51"/>
              <p:cNvSpPr>
                <a:spLocks noChangeArrowheads="1"/>
              </p:cNvSpPr>
              <p:nvPr/>
            </p:nvSpPr>
            <p:spPr bwMode="auto">
              <a:xfrm>
                <a:off x="1184"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95" name="Rectangle 52"/>
              <p:cNvSpPr>
                <a:spLocks noChangeArrowheads="1"/>
              </p:cNvSpPr>
              <p:nvPr/>
            </p:nvSpPr>
            <p:spPr bwMode="auto">
              <a:xfrm>
                <a:off x="1184"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latin typeface="楷体_GB2312"/>
                  </a:rPr>
                  <a:t>9</a:t>
                </a:r>
              </a:p>
            </p:txBody>
          </p:sp>
          <p:sp>
            <p:nvSpPr>
              <p:cNvPr id="79896" name="Rectangle 53"/>
              <p:cNvSpPr>
                <a:spLocks noChangeArrowheads="1"/>
              </p:cNvSpPr>
              <p:nvPr/>
            </p:nvSpPr>
            <p:spPr bwMode="auto">
              <a:xfrm>
                <a:off x="861"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897" name="Rectangle 54"/>
              <p:cNvSpPr>
                <a:spLocks noChangeArrowheads="1"/>
              </p:cNvSpPr>
              <p:nvPr/>
            </p:nvSpPr>
            <p:spPr bwMode="auto">
              <a:xfrm>
                <a:off x="861"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898" name="Rectangle 55"/>
              <p:cNvSpPr>
                <a:spLocks noChangeArrowheads="1"/>
              </p:cNvSpPr>
              <p:nvPr/>
            </p:nvSpPr>
            <p:spPr bwMode="auto">
              <a:xfrm>
                <a:off x="336" y="2230"/>
                <a:ext cx="525"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内容</a:t>
                </a:r>
              </a:p>
            </p:txBody>
          </p:sp>
          <p:sp>
            <p:nvSpPr>
              <p:cNvPr id="79899" name="Rectangle 56"/>
              <p:cNvSpPr>
                <a:spLocks noChangeArrowheads="1"/>
              </p:cNvSpPr>
              <p:nvPr/>
            </p:nvSpPr>
            <p:spPr bwMode="auto">
              <a:xfrm>
                <a:off x="336" y="1942"/>
                <a:ext cx="5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地址</a:t>
                </a:r>
              </a:p>
            </p:txBody>
          </p:sp>
          <p:sp>
            <p:nvSpPr>
              <p:cNvPr id="79900" name="Rectangle 57"/>
              <p:cNvSpPr>
                <a:spLocks noChangeArrowheads="1"/>
              </p:cNvSpPr>
              <p:nvPr/>
            </p:nvSpPr>
            <p:spPr bwMode="auto">
              <a:xfrm>
                <a:off x="4856"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1" name="Rectangle 58"/>
              <p:cNvSpPr>
                <a:spLocks noChangeArrowheads="1"/>
              </p:cNvSpPr>
              <p:nvPr/>
            </p:nvSpPr>
            <p:spPr bwMode="auto">
              <a:xfrm>
                <a:off x="4527" y="2230"/>
                <a:ext cx="3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2" name="Rectangle 59"/>
              <p:cNvSpPr>
                <a:spLocks noChangeArrowheads="1"/>
              </p:cNvSpPr>
              <p:nvPr/>
            </p:nvSpPr>
            <p:spPr bwMode="auto">
              <a:xfrm>
                <a:off x="4103"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3" name="Rectangle 60"/>
              <p:cNvSpPr>
                <a:spLocks noChangeArrowheads="1"/>
              </p:cNvSpPr>
              <p:nvPr/>
            </p:nvSpPr>
            <p:spPr bwMode="auto">
              <a:xfrm>
                <a:off x="377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4" name="Rectangle 61"/>
              <p:cNvSpPr>
                <a:spLocks noChangeArrowheads="1"/>
              </p:cNvSpPr>
              <p:nvPr/>
            </p:nvSpPr>
            <p:spPr bwMode="auto">
              <a:xfrm>
                <a:off x="344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5" name="Rectangle 62"/>
              <p:cNvSpPr>
                <a:spLocks noChangeArrowheads="1"/>
              </p:cNvSpPr>
              <p:nvPr/>
            </p:nvSpPr>
            <p:spPr bwMode="auto">
              <a:xfrm>
                <a:off x="3120"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79906" name="Rectangle 63"/>
              <p:cNvSpPr>
                <a:spLocks noChangeArrowheads="1"/>
              </p:cNvSpPr>
              <p:nvPr/>
            </p:nvSpPr>
            <p:spPr bwMode="auto">
              <a:xfrm>
                <a:off x="4856"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907" name="Rectangle 64"/>
              <p:cNvSpPr>
                <a:spLocks noChangeArrowheads="1"/>
              </p:cNvSpPr>
              <p:nvPr/>
            </p:nvSpPr>
            <p:spPr bwMode="auto">
              <a:xfrm>
                <a:off x="4527"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39</a:t>
                </a:r>
              </a:p>
            </p:txBody>
          </p:sp>
          <p:sp>
            <p:nvSpPr>
              <p:cNvPr id="79908" name="Rectangle 65"/>
              <p:cNvSpPr>
                <a:spLocks noChangeArrowheads="1"/>
              </p:cNvSpPr>
              <p:nvPr/>
            </p:nvSpPr>
            <p:spPr bwMode="auto">
              <a:xfrm>
                <a:off x="4103"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79909" name="Rectangle 66"/>
              <p:cNvSpPr>
                <a:spLocks noChangeArrowheads="1"/>
              </p:cNvSpPr>
              <p:nvPr/>
            </p:nvSpPr>
            <p:spPr bwMode="auto">
              <a:xfrm>
                <a:off x="3773" y="1942"/>
                <a:ext cx="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25</a:t>
                </a:r>
              </a:p>
            </p:txBody>
          </p:sp>
          <p:sp>
            <p:nvSpPr>
              <p:cNvPr id="79910" name="Rectangle 67"/>
              <p:cNvSpPr>
                <a:spLocks noChangeArrowheads="1"/>
              </p:cNvSpPr>
              <p:nvPr/>
            </p:nvSpPr>
            <p:spPr bwMode="auto">
              <a:xfrm>
                <a:off x="3443" y="1942"/>
                <a:ext cx="3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24</a:t>
                </a:r>
              </a:p>
            </p:txBody>
          </p:sp>
          <p:sp>
            <p:nvSpPr>
              <p:cNvPr id="79911" name="Rectangle 68"/>
              <p:cNvSpPr>
                <a:spLocks noChangeArrowheads="1"/>
              </p:cNvSpPr>
              <p:nvPr/>
            </p:nvSpPr>
            <p:spPr bwMode="auto">
              <a:xfrm>
                <a:off x="3120"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23</a:t>
                </a:r>
              </a:p>
            </p:txBody>
          </p:sp>
          <p:sp>
            <p:nvSpPr>
              <p:cNvPr id="79912" name="Line 69"/>
              <p:cNvSpPr>
                <a:spLocks noChangeShapeType="1"/>
              </p:cNvSpPr>
              <p:nvPr/>
            </p:nvSpPr>
            <p:spPr bwMode="auto">
              <a:xfrm>
                <a:off x="336" y="2534"/>
                <a:ext cx="494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13" name="Line 70"/>
              <p:cNvSpPr>
                <a:spLocks noChangeShapeType="1"/>
              </p:cNvSpPr>
              <p:nvPr/>
            </p:nvSpPr>
            <p:spPr bwMode="auto">
              <a:xfrm>
                <a:off x="336"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14" name="Line 71"/>
              <p:cNvSpPr>
                <a:spLocks noChangeShapeType="1"/>
              </p:cNvSpPr>
              <p:nvPr/>
            </p:nvSpPr>
            <p:spPr bwMode="auto">
              <a:xfrm>
                <a:off x="5280"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15" name="Line 72"/>
              <p:cNvSpPr>
                <a:spLocks noChangeShapeType="1"/>
              </p:cNvSpPr>
              <p:nvPr/>
            </p:nvSpPr>
            <p:spPr bwMode="auto">
              <a:xfrm>
                <a:off x="4103"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79916" name="Line 73"/>
              <p:cNvSpPr>
                <a:spLocks noChangeShapeType="1"/>
              </p:cNvSpPr>
              <p:nvPr/>
            </p:nvSpPr>
            <p:spPr bwMode="auto">
              <a:xfrm>
                <a:off x="336" y="1942"/>
                <a:ext cx="5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17" name="Line 74"/>
              <p:cNvSpPr>
                <a:spLocks noChangeShapeType="1"/>
              </p:cNvSpPr>
              <p:nvPr/>
            </p:nvSpPr>
            <p:spPr bwMode="auto">
              <a:xfrm>
                <a:off x="4527" y="1942"/>
                <a:ext cx="329"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18" name="Line 75"/>
              <p:cNvSpPr>
                <a:spLocks noChangeShapeType="1"/>
              </p:cNvSpPr>
              <p:nvPr/>
            </p:nvSpPr>
            <p:spPr bwMode="auto">
              <a:xfrm>
                <a:off x="861"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19" name="Line 76"/>
              <p:cNvSpPr>
                <a:spLocks noChangeShapeType="1"/>
              </p:cNvSpPr>
              <p:nvPr/>
            </p:nvSpPr>
            <p:spPr bwMode="auto">
              <a:xfrm>
                <a:off x="336"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20" name="Line 77"/>
              <p:cNvSpPr>
                <a:spLocks noChangeShapeType="1"/>
              </p:cNvSpPr>
              <p:nvPr/>
            </p:nvSpPr>
            <p:spPr bwMode="auto">
              <a:xfrm>
                <a:off x="1184"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21" name="Line 78"/>
              <p:cNvSpPr>
                <a:spLocks noChangeShapeType="1"/>
              </p:cNvSpPr>
              <p:nvPr/>
            </p:nvSpPr>
            <p:spPr bwMode="auto">
              <a:xfrm>
                <a:off x="861"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22" name="Line 79"/>
              <p:cNvSpPr>
                <a:spLocks noChangeShapeType="1"/>
              </p:cNvSpPr>
              <p:nvPr/>
            </p:nvSpPr>
            <p:spPr bwMode="auto">
              <a:xfrm>
                <a:off x="1506"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23" name="Line 80"/>
              <p:cNvSpPr>
                <a:spLocks noChangeShapeType="1"/>
              </p:cNvSpPr>
              <p:nvPr/>
            </p:nvSpPr>
            <p:spPr bwMode="auto">
              <a:xfrm>
                <a:off x="118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24" name="Line 81"/>
              <p:cNvSpPr>
                <a:spLocks noChangeShapeType="1"/>
              </p:cNvSpPr>
              <p:nvPr/>
            </p:nvSpPr>
            <p:spPr bwMode="auto">
              <a:xfrm>
                <a:off x="1829"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25" name="Line 82"/>
              <p:cNvSpPr>
                <a:spLocks noChangeShapeType="1"/>
              </p:cNvSpPr>
              <p:nvPr/>
            </p:nvSpPr>
            <p:spPr bwMode="auto">
              <a:xfrm>
                <a:off x="150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26" name="Line 83"/>
              <p:cNvSpPr>
                <a:spLocks noChangeShapeType="1"/>
              </p:cNvSpPr>
              <p:nvPr/>
            </p:nvSpPr>
            <p:spPr bwMode="auto">
              <a:xfrm>
                <a:off x="2152"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27" name="Line 84"/>
              <p:cNvSpPr>
                <a:spLocks noChangeShapeType="1"/>
              </p:cNvSpPr>
              <p:nvPr/>
            </p:nvSpPr>
            <p:spPr bwMode="auto">
              <a:xfrm>
                <a:off x="1829"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28" name="Line 85"/>
              <p:cNvSpPr>
                <a:spLocks noChangeShapeType="1"/>
              </p:cNvSpPr>
              <p:nvPr/>
            </p:nvSpPr>
            <p:spPr bwMode="auto">
              <a:xfrm>
                <a:off x="2474"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29" name="Line 86"/>
              <p:cNvSpPr>
                <a:spLocks noChangeShapeType="1"/>
              </p:cNvSpPr>
              <p:nvPr/>
            </p:nvSpPr>
            <p:spPr bwMode="auto">
              <a:xfrm>
                <a:off x="2152"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0" name="Line 87"/>
              <p:cNvSpPr>
                <a:spLocks noChangeShapeType="1"/>
              </p:cNvSpPr>
              <p:nvPr/>
            </p:nvSpPr>
            <p:spPr bwMode="auto">
              <a:xfrm>
                <a:off x="2797"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31" name="Line 88"/>
              <p:cNvSpPr>
                <a:spLocks noChangeShapeType="1"/>
              </p:cNvSpPr>
              <p:nvPr/>
            </p:nvSpPr>
            <p:spPr bwMode="auto">
              <a:xfrm>
                <a:off x="247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2" name="Line 89"/>
              <p:cNvSpPr>
                <a:spLocks noChangeShapeType="1"/>
              </p:cNvSpPr>
              <p:nvPr/>
            </p:nvSpPr>
            <p:spPr bwMode="auto">
              <a:xfrm>
                <a:off x="3120"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33" name="Line 90"/>
              <p:cNvSpPr>
                <a:spLocks noChangeShapeType="1"/>
              </p:cNvSpPr>
              <p:nvPr/>
            </p:nvSpPr>
            <p:spPr bwMode="auto">
              <a:xfrm>
                <a:off x="279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4" name="Line 91"/>
              <p:cNvSpPr>
                <a:spLocks noChangeShapeType="1"/>
              </p:cNvSpPr>
              <p:nvPr/>
            </p:nvSpPr>
            <p:spPr bwMode="auto">
              <a:xfrm>
                <a:off x="344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35" name="Line 92"/>
              <p:cNvSpPr>
                <a:spLocks noChangeShapeType="1"/>
              </p:cNvSpPr>
              <p:nvPr/>
            </p:nvSpPr>
            <p:spPr bwMode="auto">
              <a:xfrm>
                <a:off x="3120"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6" name="Line 93"/>
              <p:cNvSpPr>
                <a:spLocks noChangeShapeType="1"/>
              </p:cNvSpPr>
              <p:nvPr/>
            </p:nvSpPr>
            <p:spPr bwMode="auto">
              <a:xfrm>
                <a:off x="377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37" name="Line 94"/>
              <p:cNvSpPr>
                <a:spLocks noChangeShapeType="1"/>
              </p:cNvSpPr>
              <p:nvPr/>
            </p:nvSpPr>
            <p:spPr bwMode="auto">
              <a:xfrm>
                <a:off x="344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8" name="Line 95"/>
              <p:cNvSpPr>
                <a:spLocks noChangeShapeType="1"/>
              </p:cNvSpPr>
              <p:nvPr/>
            </p:nvSpPr>
            <p:spPr bwMode="auto">
              <a:xfrm>
                <a:off x="377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39" name="Line 96"/>
              <p:cNvSpPr>
                <a:spLocks noChangeShapeType="1"/>
              </p:cNvSpPr>
              <p:nvPr/>
            </p:nvSpPr>
            <p:spPr bwMode="auto">
              <a:xfrm>
                <a:off x="410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40" name="Line 97"/>
              <p:cNvSpPr>
                <a:spLocks noChangeShapeType="1"/>
              </p:cNvSpPr>
              <p:nvPr/>
            </p:nvSpPr>
            <p:spPr bwMode="auto">
              <a:xfrm>
                <a:off x="4856"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79941" name="Line 98"/>
              <p:cNvSpPr>
                <a:spLocks noChangeShapeType="1"/>
              </p:cNvSpPr>
              <p:nvPr/>
            </p:nvSpPr>
            <p:spPr bwMode="auto">
              <a:xfrm>
                <a:off x="452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42" name="Line 99"/>
              <p:cNvSpPr>
                <a:spLocks noChangeShapeType="1"/>
              </p:cNvSpPr>
              <p:nvPr/>
            </p:nvSpPr>
            <p:spPr bwMode="auto">
              <a:xfrm>
                <a:off x="485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43" name="Line 100"/>
              <p:cNvSpPr>
                <a:spLocks noChangeShapeType="1"/>
              </p:cNvSpPr>
              <p:nvPr/>
            </p:nvSpPr>
            <p:spPr bwMode="auto">
              <a:xfrm>
                <a:off x="5280"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944" name="Line 101"/>
              <p:cNvSpPr>
                <a:spLocks noChangeShapeType="1"/>
              </p:cNvSpPr>
              <p:nvPr/>
            </p:nvSpPr>
            <p:spPr bwMode="auto">
              <a:xfrm>
                <a:off x="336" y="2230"/>
                <a:ext cx="49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9878" name="Rectangle 102"/>
            <p:cNvSpPr>
              <a:spLocks noChangeArrowheads="1"/>
            </p:cNvSpPr>
            <p:nvPr/>
          </p:nvSpPr>
          <p:spPr bwMode="auto">
            <a:xfrm>
              <a:off x="2618" y="2869"/>
              <a:ext cx="44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dirty="0">
                  <a:solidFill>
                    <a:schemeClr val="tx2"/>
                  </a:solidFill>
                  <a:latin typeface="楷体_GB2312"/>
                </a:rPr>
                <a:t>14</a:t>
              </a:r>
            </a:p>
          </p:txBody>
        </p:sp>
        <p:sp>
          <p:nvSpPr>
            <p:cNvPr id="79879" name="Rectangle 103"/>
            <p:cNvSpPr>
              <a:spLocks noChangeArrowheads="1"/>
            </p:cNvSpPr>
            <p:nvPr/>
          </p:nvSpPr>
          <p:spPr bwMode="auto">
            <a:xfrm>
              <a:off x="1951" y="2877"/>
              <a:ext cx="35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dirty="0">
                  <a:solidFill>
                    <a:schemeClr val="tx2"/>
                  </a:solidFill>
                  <a:latin typeface="楷体_GB2312"/>
                </a:rPr>
                <a:t>11</a:t>
              </a:r>
            </a:p>
          </p:txBody>
        </p:sp>
        <p:sp>
          <p:nvSpPr>
            <p:cNvPr id="79880" name="Rectangle 104"/>
            <p:cNvSpPr>
              <a:spLocks noChangeArrowheads="1"/>
            </p:cNvSpPr>
            <p:nvPr/>
          </p:nvSpPr>
          <p:spPr bwMode="auto">
            <a:xfrm>
              <a:off x="1352" y="2869"/>
              <a:ext cx="21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9</a:t>
              </a:r>
            </a:p>
          </p:txBody>
        </p:sp>
        <p:sp>
          <p:nvSpPr>
            <p:cNvPr id="79881" name="Rectangle 105"/>
            <p:cNvSpPr>
              <a:spLocks noChangeArrowheads="1"/>
            </p:cNvSpPr>
            <p:nvPr/>
          </p:nvSpPr>
          <p:spPr bwMode="auto">
            <a:xfrm>
              <a:off x="3296"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23</a:t>
              </a:r>
            </a:p>
          </p:txBody>
        </p:sp>
        <p:sp>
          <p:nvSpPr>
            <p:cNvPr id="79882" name="Rectangle 106"/>
            <p:cNvSpPr>
              <a:spLocks noChangeArrowheads="1"/>
            </p:cNvSpPr>
            <p:nvPr/>
          </p:nvSpPr>
          <p:spPr bwMode="auto">
            <a:xfrm>
              <a:off x="391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25</a:t>
              </a:r>
            </a:p>
          </p:txBody>
        </p:sp>
        <p:sp>
          <p:nvSpPr>
            <p:cNvPr id="79883" name="Rectangle 107"/>
            <p:cNvSpPr>
              <a:spLocks noChangeArrowheads="1"/>
            </p:cNvSpPr>
            <p:nvPr/>
          </p:nvSpPr>
          <p:spPr bwMode="auto">
            <a:xfrm>
              <a:off x="466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39</a:t>
              </a:r>
            </a:p>
          </p:txBody>
        </p:sp>
      </p:grpSp>
      <p:sp>
        <p:nvSpPr>
          <p:cNvPr id="79876" name="Rectangle 111"/>
          <p:cNvSpPr>
            <a:spLocks noChangeArrowheads="1"/>
          </p:cNvSpPr>
          <p:nvPr/>
        </p:nvSpPr>
        <p:spPr bwMode="auto">
          <a:xfrm>
            <a:off x="3457451" y="57846"/>
            <a:ext cx="2371725" cy="41136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例</a:t>
            </a:r>
            <a:r>
              <a:rPr lang="en-US" altLang="zh-CN" sz="2400">
                <a:latin typeface="楷体_GB2312"/>
              </a:rPr>
              <a:t>2</a:t>
            </a:r>
          </a:p>
        </p:txBody>
      </p:sp>
      <p:sp>
        <p:nvSpPr>
          <p:cNvPr id="3" name="文本框 2">
            <a:extLst>
              <a:ext uri="{FF2B5EF4-FFF2-40B4-BE49-F238E27FC236}">
                <a16:creationId xmlns:a16="http://schemas.microsoft.com/office/drawing/2014/main" id="{C682FC44-E226-39F3-58EF-F1E40B9CED53}"/>
              </a:ext>
            </a:extLst>
          </p:cNvPr>
          <p:cNvSpPr txBox="1"/>
          <p:nvPr/>
        </p:nvSpPr>
        <p:spPr>
          <a:xfrm>
            <a:off x="496889" y="3933056"/>
            <a:ext cx="7603503" cy="523220"/>
          </a:xfrm>
          <a:prstGeom prst="rect">
            <a:avLst/>
          </a:prstGeom>
          <a:noFill/>
        </p:spPr>
        <p:txBody>
          <a:bodyPr wrap="square" rtlCol="0">
            <a:spAutoFit/>
          </a:bodyPr>
          <a:lstStyle/>
          <a:p>
            <a:r>
              <a:rPr lang="zh-CN" altLang="en-US" dirty="0">
                <a:highlight>
                  <a:srgbClr val="00FF00"/>
                </a:highlight>
              </a:rPr>
              <a:t>数值是多少就存在编号为多少的区域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4" name="Rectangle 4"/>
          <p:cNvSpPr>
            <a:spLocks noChangeArrowheads="1"/>
          </p:cNvSpPr>
          <p:nvPr/>
        </p:nvSpPr>
        <p:spPr bwMode="auto">
          <a:xfrm>
            <a:off x="304800" y="2276475"/>
            <a:ext cx="88392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dirty="0">
                <a:latin typeface="楷体_GB2312"/>
              </a:rPr>
              <a:t>根据哈希函数</a:t>
            </a:r>
            <a:r>
              <a:rPr lang="en-US" altLang="zh-CN" dirty="0">
                <a:solidFill>
                  <a:srgbClr val="FF3300"/>
                </a:solidFill>
                <a:highlight>
                  <a:srgbClr val="00FF00"/>
                </a:highlight>
              </a:rPr>
              <a:t>H</a:t>
            </a:r>
            <a:r>
              <a:rPr lang="zh-CN" altLang="en-US" dirty="0">
                <a:solidFill>
                  <a:srgbClr val="FF3300"/>
                </a:solidFill>
                <a:highlight>
                  <a:srgbClr val="00FF00"/>
                </a:highlight>
              </a:rPr>
              <a:t>（</a:t>
            </a:r>
            <a:r>
              <a:rPr lang="en-US" altLang="zh-CN" dirty="0">
                <a:solidFill>
                  <a:srgbClr val="FF3300"/>
                </a:solidFill>
                <a:highlight>
                  <a:srgbClr val="00FF00"/>
                </a:highlight>
              </a:rPr>
              <a:t>k</a:t>
            </a:r>
            <a:r>
              <a:rPr lang="zh-CN" altLang="en-US" dirty="0">
                <a:solidFill>
                  <a:srgbClr val="FF3300"/>
                </a:solidFill>
                <a:highlight>
                  <a:srgbClr val="00FF00"/>
                </a:highlight>
              </a:rPr>
              <a:t>）＝</a:t>
            </a:r>
            <a:r>
              <a:rPr lang="en-US" altLang="zh-CN" dirty="0">
                <a:solidFill>
                  <a:srgbClr val="FF3300"/>
                </a:solidFill>
                <a:highlight>
                  <a:srgbClr val="00FF00"/>
                </a:highlight>
              </a:rPr>
              <a:t>k</a:t>
            </a:r>
            <a:r>
              <a:rPr lang="en-US" altLang="zh-CN" dirty="0">
                <a:highlight>
                  <a:srgbClr val="00FF00"/>
                </a:highlight>
              </a:rPr>
              <a:t> </a:t>
            </a:r>
            <a:endParaRPr lang="en-US" altLang="zh-CN" dirty="0">
              <a:highlight>
                <a:srgbClr val="00FF00"/>
              </a:highlight>
              <a:latin typeface="楷体_GB2312"/>
            </a:endParaRPr>
          </a:p>
          <a:p>
            <a:pPr eaLnBrk="1" hangingPunct="1">
              <a:buFont typeface="Arial" panose="020B0604020202020204" pitchFamily="34" charset="0"/>
              <a:buNone/>
            </a:pPr>
            <a:r>
              <a:rPr lang="zh-CN" altLang="en-US" dirty="0">
                <a:latin typeface="楷体_GB2312"/>
              </a:rPr>
              <a:t>查找</a:t>
            </a:r>
            <a:r>
              <a:rPr lang="en-US" altLang="zh-CN" dirty="0">
                <a:latin typeface="楷体_GB2312"/>
              </a:rPr>
              <a:t>key=9,</a:t>
            </a:r>
            <a:r>
              <a:rPr lang="zh-CN" altLang="en-US" dirty="0">
                <a:latin typeface="楷体_GB2312"/>
              </a:rPr>
              <a:t>则访问</a:t>
            </a:r>
            <a:r>
              <a:rPr lang="en-US" altLang="zh-CN" dirty="0">
                <a:latin typeface="楷体_GB2312"/>
              </a:rPr>
              <a:t>H(9)=9</a:t>
            </a:r>
            <a:r>
              <a:rPr lang="zh-CN" altLang="en-US" dirty="0">
                <a:latin typeface="楷体_GB2312"/>
              </a:rPr>
              <a:t>号地址，若内容为</a:t>
            </a:r>
            <a:r>
              <a:rPr lang="en-US" altLang="zh-CN" dirty="0">
                <a:latin typeface="楷体_GB2312"/>
              </a:rPr>
              <a:t>9</a:t>
            </a:r>
            <a:r>
              <a:rPr lang="zh-CN" altLang="en-US" dirty="0">
                <a:latin typeface="楷体_GB2312"/>
              </a:rPr>
              <a:t>则成功；</a:t>
            </a:r>
          </a:p>
          <a:p>
            <a:pPr eaLnBrk="1" hangingPunct="1">
              <a:buFont typeface="Arial" panose="020B0604020202020204" pitchFamily="34" charset="0"/>
              <a:buNone/>
            </a:pPr>
            <a:r>
              <a:rPr lang="zh-CN" altLang="en-US" dirty="0">
                <a:latin typeface="楷体_GB2312"/>
              </a:rPr>
              <a:t>若查不到，则返回一个特殊值，如空指针或空记录。 </a:t>
            </a:r>
          </a:p>
        </p:txBody>
      </p:sp>
      <p:sp>
        <p:nvSpPr>
          <p:cNvPr id="80899" name="Rectangle 5"/>
          <p:cNvSpPr>
            <a:spLocks noChangeArrowheads="1"/>
          </p:cNvSpPr>
          <p:nvPr/>
        </p:nvSpPr>
        <p:spPr bwMode="auto">
          <a:xfrm>
            <a:off x="4175918" y="59531"/>
            <a:ext cx="2371725"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如何查找</a:t>
            </a:r>
          </a:p>
        </p:txBody>
      </p:sp>
      <p:grpSp>
        <p:nvGrpSpPr>
          <p:cNvPr id="80900" name="Group 6"/>
          <p:cNvGrpSpPr>
            <a:grpSpLocks/>
          </p:cNvGrpSpPr>
          <p:nvPr/>
        </p:nvGrpSpPr>
        <p:grpSpPr bwMode="auto">
          <a:xfrm>
            <a:off x="685800" y="908050"/>
            <a:ext cx="7848600" cy="1012825"/>
            <a:chOff x="480" y="2613"/>
            <a:chExt cx="4944" cy="638"/>
          </a:xfrm>
        </p:grpSpPr>
        <p:grpSp>
          <p:nvGrpSpPr>
            <p:cNvPr id="80901" name="Group 7"/>
            <p:cNvGrpSpPr>
              <a:grpSpLocks/>
            </p:cNvGrpSpPr>
            <p:nvPr/>
          </p:nvGrpSpPr>
          <p:grpSpPr bwMode="auto">
            <a:xfrm>
              <a:off x="480" y="2613"/>
              <a:ext cx="4944" cy="638"/>
              <a:chOff x="336" y="1896"/>
              <a:chExt cx="4944" cy="638"/>
            </a:xfrm>
          </p:grpSpPr>
          <p:sp>
            <p:nvSpPr>
              <p:cNvPr id="80908" name="Rectangle 8"/>
              <p:cNvSpPr>
                <a:spLocks noChangeArrowheads="1"/>
              </p:cNvSpPr>
              <p:nvPr/>
            </p:nvSpPr>
            <p:spPr bwMode="auto">
              <a:xfrm>
                <a:off x="2797"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09" name="Rectangle 9"/>
              <p:cNvSpPr>
                <a:spLocks noChangeArrowheads="1"/>
              </p:cNvSpPr>
              <p:nvPr/>
            </p:nvSpPr>
            <p:spPr bwMode="auto">
              <a:xfrm>
                <a:off x="2797"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10" name="Rectangle 10"/>
              <p:cNvSpPr>
                <a:spLocks noChangeArrowheads="1"/>
              </p:cNvSpPr>
              <p:nvPr/>
            </p:nvSpPr>
            <p:spPr bwMode="auto">
              <a:xfrm>
                <a:off x="2474"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11" name="Rectangle 11"/>
              <p:cNvSpPr>
                <a:spLocks noChangeArrowheads="1"/>
              </p:cNvSpPr>
              <p:nvPr/>
            </p:nvSpPr>
            <p:spPr bwMode="auto">
              <a:xfrm>
                <a:off x="2474" y="1942"/>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14</a:t>
                </a:r>
              </a:p>
            </p:txBody>
          </p:sp>
          <p:sp>
            <p:nvSpPr>
              <p:cNvPr id="80912" name="Rectangle 12"/>
              <p:cNvSpPr>
                <a:spLocks noChangeArrowheads="1"/>
              </p:cNvSpPr>
              <p:nvPr/>
            </p:nvSpPr>
            <p:spPr bwMode="auto">
              <a:xfrm>
                <a:off x="2152"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13" name="Rectangle 13"/>
              <p:cNvSpPr>
                <a:spLocks noChangeArrowheads="1"/>
              </p:cNvSpPr>
              <p:nvPr/>
            </p:nvSpPr>
            <p:spPr bwMode="auto">
              <a:xfrm>
                <a:off x="2152"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14" name="Rectangle 14"/>
              <p:cNvSpPr>
                <a:spLocks noChangeArrowheads="1"/>
              </p:cNvSpPr>
              <p:nvPr/>
            </p:nvSpPr>
            <p:spPr bwMode="auto">
              <a:xfrm>
                <a:off x="1829"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15" name="Rectangle 15"/>
              <p:cNvSpPr>
                <a:spLocks noChangeArrowheads="1"/>
              </p:cNvSpPr>
              <p:nvPr/>
            </p:nvSpPr>
            <p:spPr bwMode="auto">
              <a:xfrm>
                <a:off x="1819" y="1896"/>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11</a:t>
                </a:r>
              </a:p>
            </p:txBody>
          </p:sp>
          <p:sp>
            <p:nvSpPr>
              <p:cNvPr id="80916" name="Rectangle 16"/>
              <p:cNvSpPr>
                <a:spLocks noChangeArrowheads="1"/>
              </p:cNvSpPr>
              <p:nvPr/>
            </p:nvSpPr>
            <p:spPr bwMode="auto">
              <a:xfrm>
                <a:off x="1506"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17" name="Rectangle 17"/>
              <p:cNvSpPr>
                <a:spLocks noChangeArrowheads="1"/>
              </p:cNvSpPr>
              <p:nvPr/>
            </p:nvSpPr>
            <p:spPr bwMode="auto">
              <a:xfrm>
                <a:off x="1506"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18" name="Rectangle 18"/>
              <p:cNvSpPr>
                <a:spLocks noChangeArrowheads="1"/>
              </p:cNvSpPr>
              <p:nvPr/>
            </p:nvSpPr>
            <p:spPr bwMode="auto">
              <a:xfrm>
                <a:off x="1184"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19" name="Rectangle 19"/>
              <p:cNvSpPr>
                <a:spLocks noChangeArrowheads="1"/>
              </p:cNvSpPr>
              <p:nvPr/>
            </p:nvSpPr>
            <p:spPr bwMode="auto">
              <a:xfrm>
                <a:off x="1184"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latin typeface="楷体_GB2312"/>
                  </a:rPr>
                  <a:t>9</a:t>
                </a:r>
              </a:p>
            </p:txBody>
          </p:sp>
          <p:sp>
            <p:nvSpPr>
              <p:cNvPr id="80920" name="Rectangle 20"/>
              <p:cNvSpPr>
                <a:spLocks noChangeArrowheads="1"/>
              </p:cNvSpPr>
              <p:nvPr/>
            </p:nvSpPr>
            <p:spPr bwMode="auto">
              <a:xfrm>
                <a:off x="861"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1" name="Rectangle 21"/>
              <p:cNvSpPr>
                <a:spLocks noChangeArrowheads="1"/>
              </p:cNvSpPr>
              <p:nvPr/>
            </p:nvSpPr>
            <p:spPr bwMode="auto">
              <a:xfrm>
                <a:off x="861"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22" name="Rectangle 22"/>
              <p:cNvSpPr>
                <a:spLocks noChangeArrowheads="1"/>
              </p:cNvSpPr>
              <p:nvPr/>
            </p:nvSpPr>
            <p:spPr bwMode="auto">
              <a:xfrm>
                <a:off x="336" y="2230"/>
                <a:ext cx="525"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内容</a:t>
                </a:r>
              </a:p>
            </p:txBody>
          </p:sp>
          <p:sp>
            <p:nvSpPr>
              <p:cNvPr id="80923" name="Rectangle 23"/>
              <p:cNvSpPr>
                <a:spLocks noChangeArrowheads="1"/>
              </p:cNvSpPr>
              <p:nvPr/>
            </p:nvSpPr>
            <p:spPr bwMode="auto">
              <a:xfrm>
                <a:off x="336" y="1942"/>
                <a:ext cx="5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地址</a:t>
                </a:r>
              </a:p>
            </p:txBody>
          </p:sp>
          <p:sp>
            <p:nvSpPr>
              <p:cNvPr id="80924" name="Rectangle 24"/>
              <p:cNvSpPr>
                <a:spLocks noChangeArrowheads="1"/>
              </p:cNvSpPr>
              <p:nvPr/>
            </p:nvSpPr>
            <p:spPr bwMode="auto">
              <a:xfrm>
                <a:off x="4856"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5" name="Rectangle 25"/>
              <p:cNvSpPr>
                <a:spLocks noChangeArrowheads="1"/>
              </p:cNvSpPr>
              <p:nvPr/>
            </p:nvSpPr>
            <p:spPr bwMode="auto">
              <a:xfrm>
                <a:off x="4527" y="2230"/>
                <a:ext cx="3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6" name="Rectangle 26"/>
              <p:cNvSpPr>
                <a:spLocks noChangeArrowheads="1"/>
              </p:cNvSpPr>
              <p:nvPr/>
            </p:nvSpPr>
            <p:spPr bwMode="auto">
              <a:xfrm>
                <a:off x="4103"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7" name="Rectangle 27"/>
              <p:cNvSpPr>
                <a:spLocks noChangeArrowheads="1"/>
              </p:cNvSpPr>
              <p:nvPr/>
            </p:nvSpPr>
            <p:spPr bwMode="auto">
              <a:xfrm>
                <a:off x="377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8" name="Rectangle 28"/>
              <p:cNvSpPr>
                <a:spLocks noChangeArrowheads="1"/>
              </p:cNvSpPr>
              <p:nvPr/>
            </p:nvSpPr>
            <p:spPr bwMode="auto">
              <a:xfrm>
                <a:off x="344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29" name="Rectangle 29"/>
              <p:cNvSpPr>
                <a:spLocks noChangeArrowheads="1"/>
              </p:cNvSpPr>
              <p:nvPr/>
            </p:nvSpPr>
            <p:spPr bwMode="auto">
              <a:xfrm>
                <a:off x="3120"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80930" name="Rectangle 30"/>
              <p:cNvSpPr>
                <a:spLocks noChangeArrowheads="1"/>
              </p:cNvSpPr>
              <p:nvPr/>
            </p:nvSpPr>
            <p:spPr bwMode="auto">
              <a:xfrm>
                <a:off x="4856"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31" name="Rectangle 31"/>
              <p:cNvSpPr>
                <a:spLocks noChangeArrowheads="1"/>
              </p:cNvSpPr>
              <p:nvPr/>
            </p:nvSpPr>
            <p:spPr bwMode="auto">
              <a:xfrm>
                <a:off x="4527"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39</a:t>
                </a:r>
              </a:p>
            </p:txBody>
          </p:sp>
          <p:sp>
            <p:nvSpPr>
              <p:cNvPr id="80932" name="Rectangle 32"/>
              <p:cNvSpPr>
                <a:spLocks noChangeArrowheads="1"/>
              </p:cNvSpPr>
              <p:nvPr/>
            </p:nvSpPr>
            <p:spPr bwMode="auto">
              <a:xfrm>
                <a:off x="4103"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80933" name="Rectangle 33"/>
              <p:cNvSpPr>
                <a:spLocks noChangeArrowheads="1"/>
              </p:cNvSpPr>
              <p:nvPr/>
            </p:nvSpPr>
            <p:spPr bwMode="auto">
              <a:xfrm>
                <a:off x="3773"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25</a:t>
                </a:r>
              </a:p>
            </p:txBody>
          </p:sp>
          <p:sp>
            <p:nvSpPr>
              <p:cNvPr id="80934" name="Rectangle 34"/>
              <p:cNvSpPr>
                <a:spLocks noChangeArrowheads="1"/>
              </p:cNvSpPr>
              <p:nvPr/>
            </p:nvSpPr>
            <p:spPr bwMode="auto">
              <a:xfrm>
                <a:off x="3443" y="1942"/>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24</a:t>
                </a:r>
              </a:p>
            </p:txBody>
          </p:sp>
          <p:sp>
            <p:nvSpPr>
              <p:cNvPr id="80935" name="Rectangle 35"/>
              <p:cNvSpPr>
                <a:spLocks noChangeArrowheads="1"/>
              </p:cNvSpPr>
              <p:nvPr/>
            </p:nvSpPr>
            <p:spPr bwMode="auto">
              <a:xfrm>
                <a:off x="3120"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latin typeface="楷体_GB2312"/>
                  </a:rPr>
                  <a:t>23</a:t>
                </a:r>
              </a:p>
            </p:txBody>
          </p:sp>
          <p:sp>
            <p:nvSpPr>
              <p:cNvPr id="80936" name="Line 36"/>
              <p:cNvSpPr>
                <a:spLocks noChangeShapeType="1"/>
              </p:cNvSpPr>
              <p:nvPr/>
            </p:nvSpPr>
            <p:spPr bwMode="auto">
              <a:xfrm>
                <a:off x="336" y="2534"/>
                <a:ext cx="494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37" name="Line 37"/>
              <p:cNvSpPr>
                <a:spLocks noChangeShapeType="1"/>
              </p:cNvSpPr>
              <p:nvPr/>
            </p:nvSpPr>
            <p:spPr bwMode="auto">
              <a:xfrm>
                <a:off x="336"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38" name="Line 38"/>
              <p:cNvSpPr>
                <a:spLocks noChangeShapeType="1"/>
              </p:cNvSpPr>
              <p:nvPr/>
            </p:nvSpPr>
            <p:spPr bwMode="auto">
              <a:xfrm>
                <a:off x="5280"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39" name="Line 39"/>
              <p:cNvSpPr>
                <a:spLocks noChangeShapeType="1"/>
              </p:cNvSpPr>
              <p:nvPr/>
            </p:nvSpPr>
            <p:spPr bwMode="auto">
              <a:xfrm>
                <a:off x="4103"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80940" name="Line 40"/>
              <p:cNvSpPr>
                <a:spLocks noChangeShapeType="1"/>
              </p:cNvSpPr>
              <p:nvPr/>
            </p:nvSpPr>
            <p:spPr bwMode="auto">
              <a:xfrm>
                <a:off x="336" y="1942"/>
                <a:ext cx="5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1" name="Line 41"/>
              <p:cNvSpPr>
                <a:spLocks noChangeShapeType="1"/>
              </p:cNvSpPr>
              <p:nvPr/>
            </p:nvSpPr>
            <p:spPr bwMode="auto">
              <a:xfrm>
                <a:off x="4527" y="1942"/>
                <a:ext cx="329"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2" name="Line 42"/>
              <p:cNvSpPr>
                <a:spLocks noChangeShapeType="1"/>
              </p:cNvSpPr>
              <p:nvPr/>
            </p:nvSpPr>
            <p:spPr bwMode="auto">
              <a:xfrm>
                <a:off x="861"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3" name="Line 43"/>
              <p:cNvSpPr>
                <a:spLocks noChangeShapeType="1"/>
              </p:cNvSpPr>
              <p:nvPr/>
            </p:nvSpPr>
            <p:spPr bwMode="auto">
              <a:xfrm>
                <a:off x="336"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4" name="Line 44"/>
              <p:cNvSpPr>
                <a:spLocks noChangeShapeType="1"/>
              </p:cNvSpPr>
              <p:nvPr/>
            </p:nvSpPr>
            <p:spPr bwMode="auto">
              <a:xfrm>
                <a:off x="1184"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5" name="Line 45"/>
              <p:cNvSpPr>
                <a:spLocks noChangeShapeType="1"/>
              </p:cNvSpPr>
              <p:nvPr/>
            </p:nvSpPr>
            <p:spPr bwMode="auto">
              <a:xfrm>
                <a:off x="861"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6" name="Line 46"/>
              <p:cNvSpPr>
                <a:spLocks noChangeShapeType="1"/>
              </p:cNvSpPr>
              <p:nvPr/>
            </p:nvSpPr>
            <p:spPr bwMode="auto">
              <a:xfrm>
                <a:off x="1506"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7" name="Line 47"/>
              <p:cNvSpPr>
                <a:spLocks noChangeShapeType="1"/>
              </p:cNvSpPr>
              <p:nvPr/>
            </p:nvSpPr>
            <p:spPr bwMode="auto">
              <a:xfrm>
                <a:off x="118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8" name="Line 48"/>
              <p:cNvSpPr>
                <a:spLocks noChangeShapeType="1"/>
              </p:cNvSpPr>
              <p:nvPr/>
            </p:nvSpPr>
            <p:spPr bwMode="auto">
              <a:xfrm>
                <a:off x="1829"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49" name="Line 49"/>
              <p:cNvSpPr>
                <a:spLocks noChangeShapeType="1"/>
              </p:cNvSpPr>
              <p:nvPr/>
            </p:nvSpPr>
            <p:spPr bwMode="auto">
              <a:xfrm>
                <a:off x="150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0" name="Line 50"/>
              <p:cNvSpPr>
                <a:spLocks noChangeShapeType="1"/>
              </p:cNvSpPr>
              <p:nvPr/>
            </p:nvSpPr>
            <p:spPr bwMode="auto">
              <a:xfrm>
                <a:off x="2152"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51" name="Line 51"/>
              <p:cNvSpPr>
                <a:spLocks noChangeShapeType="1"/>
              </p:cNvSpPr>
              <p:nvPr/>
            </p:nvSpPr>
            <p:spPr bwMode="auto">
              <a:xfrm>
                <a:off x="1829"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2" name="Line 52"/>
              <p:cNvSpPr>
                <a:spLocks noChangeShapeType="1"/>
              </p:cNvSpPr>
              <p:nvPr/>
            </p:nvSpPr>
            <p:spPr bwMode="auto">
              <a:xfrm>
                <a:off x="2474"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53" name="Line 53"/>
              <p:cNvSpPr>
                <a:spLocks noChangeShapeType="1"/>
              </p:cNvSpPr>
              <p:nvPr/>
            </p:nvSpPr>
            <p:spPr bwMode="auto">
              <a:xfrm>
                <a:off x="2152"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4" name="Line 54"/>
              <p:cNvSpPr>
                <a:spLocks noChangeShapeType="1"/>
              </p:cNvSpPr>
              <p:nvPr/>
            </p:nvSpPr>
            <p:spPr bwMode="auto">
              <a:xfrm>
                <a:off x="2797"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55" name="Line 55"/>
              <p:cNvSpPr>
                <a:spLocks noChangeShapeType="1"/>
              </p:cNvSpPr>
              <p:nvPr/>
            </p:nvSpPr>
            <p:spPr bwMode="auto">
              <a:xfrm>
                <a:off x="247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6" name="Line 56"/>
              <p:cNvSpPr>
                <a:spLocks noChangeShapeType="1"/>
              </p:cNvSpPr>
              <p:nvPr/>
            </p:nvSpPr>
            <p:spPr bwMode="auto">
              <a:xfrm>
                <a:off x="3120"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57" name="Line 57"/>
              <p:cNvSpPr>
                <a:spLocks noChangeShapeType="1"/>
              </p:cNvSpPr>
              <p:nvPr/>
            </p:nvSpPr>
            <p:spPr bwMode="auto">
              <a:xfrm>
                <a:off x="279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58" name="Line 58"/>
              <p:cNvSpPr>
                <a:spLocks noChangeShapeType="1"/>
              </p:cNvSpPr>
              <p:nvPr/>
            </p:nvSpPr>
            <p:spPr bwMode="auto">
              <a:xfrm>
                <a:off x="344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59" name="Line 59"/>
              <p:cNvSpPr>
                <a:spLocks noChangeShapeType="1"/>
              </p:cNvSpPr>
              <p:nvPr/>
            </p:nvSpPr>
            <p:spPr bwMode="auto">
              <a:xfrm>
                <a:off x="3120"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0" name="Line 60"/>
              <p:cNvSpPr>
                <a:spLocks noChangeShapeType="1"/>
              </p:cNvSpPr>
              <p:nvPr/>
            </p:nvSpPr>
            <p:spPr bwMode="auto">
              <a:xfrm>
                <a:off x="377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61" name="Line 61"/>
              <p:cNvSpPr>
                <a:spLocks noChangeShapeType="1"/>
              </p:cNvSpPr>
              <p:nvPr/>
            </p:nvSpPr>
            <p:spPr bwMode="auto">
              <a:xfrm>
                <a:off x="344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2" name="Line 62"/>
              <p:cNvSpPr>
                <a:spLocks noChangeShapeType="1"/>
              </p:cNvSpPr>
              <p:nvPr/>
            </p:nvSpPr>
            <p:spPr bwMode="auto">
              <a:xfrm>
                <a:off x="377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3" name="Line 63"/>
              <p:cNvSpPr>
                <a:spLocks noChangeShapeType="1"/>
              </p:cNvSpPr>
              <p:nvPr/>
            </p:nvSpPr>
            <p:spPr bwMode="auto">
              <a:xfrm>
                <a:off x="410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4" name="Line 64"/>
              <p:cNvSpPr>
                <a:spLocks noChangeShapeType="1"/>
              </p:cNvSpPr>
              <p:nvPr/>
            </p:nvSpPr>
            <p:spPr bwMode="auto">
              <a:xfrm>
                <a:off x="4856"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0965" name="Line 65"/>
              <p:cNvSpPr>
                <a:spLocks noChangeShapeType="1"/>
              </p:cNvSpPr>
              <p:nvPr/>
            </p:nvSpPr>
            <p:spPr bwMode="auto">
              <a:xfrm>
                <a:off x="452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6" name="Line 66"/>
              <p:cNvSpPr>
                <a:spLocks noChangeShapeType="1"/>
              </p:cNvSpPr>
              <p:nvPr/>
            </p:nvSpPr>
            <p:spPr bwMode="auto">
              <a:xfrm>
                <a:off x="485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7" name="Line 67"/>
              <p:cNvSpPr>
                <a:spLocks noChangeShapeType="1"/>
              </p:cNvSpPr>
              <p:nvPr/>
            </p:nvSpPr>
            <p:spPr bwMode="auto">
              <a:xfrm>
                <a:off x="5280"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68" name="Line 68"/>
              <p:cNvSpPr>
                <a:spLocks noChangeShapeType="1"/>
              </p:cNvSpPr>
              <p:nvPr/>
            </p:nvSpPr>
            <p:spPr bwMode="auto">
              <a:xfrm>
                <a:off x="336" y="2230"/>
                <a:ext cx="49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0902" name="Rectangle 69"/>
            <p:cNvSpPr>
              <a:spLocks noChangeArrowheads="1"/>
            </p:cNvSpPr>
            <p:nvPr/>
          </p:nvSpPr>
          <p:spPr bwMode="auto">
            <a:xfrm>
              <a:off x="2618"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14</a:t>
              </a:r>
            </a:p>
          </p:txBody>
        </p:sp>
        <p:sp>
          <p:nvSpPr>
            <p:cNvPr id="80903" name="Rectangle 70"/>
            <p:cNvSpPr>
              <a:spLocks noChangeArrowheads="1"/>
            </p:cNvSpPr>
            <p:nvPr/>
          </p:nvSpPr>
          <p:spPr bwMode="auto">
            <a:xfrm>
              <a:off x="1973"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dirty="0">
                  <a:solidFill>
                    <a:schemeClr val="tx2"/>
                  </a:solidFill>
                  <a:latin typeface="楷体_GB2312"/>
                </a:rPr>
                <a:t>11</a:t>
              </a:r>
            </a:p>
          </p:txBody>
        </p:sp>
        <p:sp>
          <p:nvSpPr>
            <p:cNvPr id="80904" name="Rectangle 71"/>
            <p:cNvSpPr>
              <a:spLocks noChangeArrowheads="1"/>
            </p:cNvSpPr>
            <p:nvPr/>
          </p:nvSpPr>
          <p:spPr bwMode="auto">
            <a:xfrm>
              <a:off x="1352" y="2869"/>
              <a:ext cx="21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9</a:t>
              </a:r>
            </a:p>
          </p:txBody>
        </p:sp>
        <p:sp>
          <p:nvSpPr>
            <p:cNvPr id="80905" name="Rectangle 72"/>
            <p:cNvSpPr>
              <a:spLocks noChangeArrowheads="1"/>
            </p:cNvSpPr>
            <p:nvPr/>
          </p:nvSpPr>
          <p:spPr bwMode="auto">
            <a:xfrm>
              <a:off x="3296"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23</a:t>
              </a:r>
            </a:p>
          </p:txBody>
        </p:sp>
        <p:sp>
          <p:nvSpPr>
            <p:cNvPr id="80906" name="Rectangle 73"/>
            <p:cNvSpPr>
              <a:spLocks noChangeArrowheads="1"/>
            </p:cNvSpPr>
            <p:nvPr/>
          </p:nvSpPr>
          <p:spPr bwMode="auto">
            <a:xfrm>
              <a:off x="391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25</a:t>
              </a:r>
            </a:p>
          </p:txBody>
        </p:sp>
        <p:sp>
          <p:nvSpPr>
            <p:cNvPr id="80907" name="Rectangle 74"/>
            <p:cNvSpPr>
              <a:spLocks noChangeArrowheads="1"/>
            </p:cNvSpPr>
            <p:nvPr/>
          </p:nvSpPr>
          <p:spPr bwMode="auto">
            <a:xfrm>
              <a:off x="466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39</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24004">
                                            <p:txEl>
                                              <p:pRg st="0" end="0"/>
                                            </p:txEl>
                                          </p:spTgt>
                                        </p:tgtEl>
                                        <p:attrNameLst>
                                          <p:attrName>style.visibility</p:attrName>
                                        </p:attrNameLst>
                                      </p:cBhvr>
                                      <p:to>
                                        <p:strVal val="visible"/>
                                      </p:to>
                                    </p:set>
                                    <p:animEffect transition="in" filter="strips(downRight)">
                                      <p:cBhvr>
                                        <p:cTn id="7" dur="500"/>
                                        <p:tgtEl>
                                          <p:spTgt spid="10240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24004">
                                            <p:txEl>
                                              <p:pRg st="1" end="1"/>
                                            </p:txEl>
                                          </p:spTgt>
                                        </p:tgtEl>
                                        <p:attrNameLst>
                                          <p:attrName>style.visibility</p:attrName>
                                        </p:attrNameLst>
                                      </p:cBhvr>
                                      <p:to>
                                        <p:strVal val="visible"/>
                                      </p:to>
                                    </p:set>
                                    <p:animEffect transition="in" filter="strips(downRight)">
                                      <p:cBhvr>
                                        <p:cTn id="12" dur="500"/>
                                        <p:tgtEl>
                                          <p:spTgt spid="102400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024004">
                                            <p:txEl>
                                              <p:pRg st="2" end="2"/>
                                            </p:txEl>
                                          </p:spTgt>
                                        </p:tgtEl>
                                        <p:attrNameLst>
                                          <p:attrName>style.visibility</p:attrName>
                                        </p:attrNameLst>
                                      </p:cBhvr>
                                      <p:to>
                                        <p:strVal val="visible"/>
                                      </p:to>
                                    </p:set>
                                    <p:animEffect transition="in" filter="strips(downRight)">
                                      <p:cBhvr>
                                        <p:cTn id="17" dur="500"/>
                                        <p:tgtEl>
                                          <p:spTgt spid="102400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04"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82" name="Rectangle 6"/>
          <p:cNvSpPr>
            <a:spLocks noChangeArrowheads="1"/>
          </p:cNvSpPr>
          <p:nvPr/>
        </p:nvSpPr>
        <p:spPr bwMode="auto">
          <a:xfrm>
            <a:off x="250825" y="838200"/>
            <a:ext cx="889317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3200" dirty="0">
                <a:solidFill>
                  <a:schemeClr val="hlink"/>
                </a:solidFill>
                <a:latin typeface="楷体_GB2312"/>
              </a:rPr>
              <a:t>哈希方法</a:t>
            </a:r>
            <a:r>
              <a:rPr lang="en-US" altLang="zh-CN" sz="3200" dirty="0">
                <a:solidFill>
                  <a:schemeClr val="hlink"/>
                </a:solidFill>
                <a:latin typeface="楷体_GB2312"/>
              </a:rPr>
              <a:t>(</a:t>
            </a:r>
            <a:r>
              <a:rPr lang="zh-CN" altLang="en-US" sz="3200" dirty="0">
                <a:solidFill>
                  <a:schemeClr val="hlink"/>
                </a:solidFill>
                <a:latin typeface="楷体_GB2312"/>
              </a:rPr>
              <a:t>杂凑法</a:t>
            </a:r>
            <a:r>
              <a:rPr lang="en-US" altLang="zh-CN" sz="3200" dirty="0">
                <a:solidFill>
                  <a:schemeClr val="hlink"/>
                </a:solidFill>
                <a:latin typeface="楷体_GB2312"/>
              </a:rPr>
              <a:t>)</a:t>
            </a:r>
          </a:p>
          <a:p>
            <a:pPr eaLnBrk="1" hangingPunct="1">
              <a:buFont typeface="Arial" panose="020B0604020202020204" pitchFamily="34" charset="0"/>
              <a:buNone/>
            </a:pPr>
            <a:r>
              <a:rPr lang="zh-CN" altLang="en-US" dirty="0">
                <a:latin typeface="楷体_GB2312"/>
              </a:rPr>
              <a:t>选取某个</a:t>
            </a:r>
            <a:r>
              <a:rPr lang="zh-CN" altLang="en-US" dirty="0">
                <a:solidFill>
                  <a:srgbClr val="FF3300"/>
                </a:solidFill>
                <a:highlight>
                  <a:srgbClr val="00FF00"/>
                </a:highlight>
                <a:latin typeface="楷体_GB2312"/>
              </a:rPr>
              <a:t>函数</a:t>
            </a:r>
            <a:r>
              <a:rPr lang="zh-CN" altLang="en-US" dirty="0">
                <a:latin typeface="楷体_GB2312"/>
              </a:rPr>
              <a:t>，依该函数按</a:t>
            </a:r>
            <a:r>
              <a:rPr lang="zh-CN" altLang="en-US" dirty="0">
                <a:highlight>
                  <a:srgbClr val="00FF00"/>
                </a:highlight>
                <a:latin typeface="楷体_GB2312"/>
              </a:rPr>
              <a:t>关键字计算元素的存储位置</a:t>
            </a:r>
            <a:r>
              <a:rPr lang="zh-CN" altLang="en-US" dirty="0">
                <a:latin typeface="楷体_GB2312"/>
              </a:rPr>
              <a:t>，并按此存放；</a:t>
            </a:r>
          </a:p>
          <a:p>
            <a:pPr eaLnBrk="1" hangingPunct="1">
              <a:buFont typeface="Arial" panose="020B0604020202020204" pitchFamily="34" charset="0"/>
              <a:buNone/>
            </a:pPr>
            <a:r>
              <a:rPr lang="zh-CN" altLang="en-US" dirty="0">
                <a:latin typeface="楷体_GB2312"/>
              </a:rPr>
              <a:t>查找时，由同一个函数对给定值</a:t>
            </a:r>
            <a:r>
              <a:rPr lang="en-US" altLang="zh-CN" dirty="0">
                <a:latin typeface="楷体_GB2312"/>
              </a:rPr>
              <a:t>k</a:t>
            </a:r>
            <a:r>
              <a:rPr lang="zh-CN" altLang="en-US" dirty="0">
                <a:latin typeface="楷体_GB2312"/>
              </a:rPr>
              <a:t>计算地址，</a:t>
            </a:r>
            <a:r>
              <a:rPr lang="zh-CN" altLang="en-US" dirty="0">
                <a:solidFill>
                  <a:srgbClr val="FF3300"/>
                </a:solidFill>
                <a:latin typeface="楷体_GB2312"/>
              </a:rPr>
              <a:t>将</a:t>
            </a:r>
            <a:r>
              <a:rPr lang="en-US" altLang="zh-CN" dirty="0">
                <a:solidFill>
                  <a:srgbClr val="FF3300"/>
                </a:solidFill>
                <a:latin typeface="楷体_GB2312"/>
              </a:rPr>
              <a:t>k</a:t>
            </a:r>
            <a:r>
              <a:rPr lang="zh-CN" altLang="en-US" dirty="0">
                <a:solidFill>
                  <a:srgbClr val="FF3300"/>
                </a:solidFill>
                <a:latin typeface="楷体_GB2312"/>
              </a:rPr>
              <a:t>与地址单元中元素关键码进行比</a:t>
            </a:r>
            <a:r>
              <a:rPr lang="zh-CN" altLang="en-US" dirty="0">
                <a:latin typeface="楷体_GB2312"/>
              </a:rPr>
              <a:t>，确定查找是否成功。</a:t>
            </a:r>
          </a:p>
        </p:txBody>
      </p:sp>
      <p:sp>
        <p:nvSpPr>
          <p:cNvPr id="1022986" name="Rectangle 10"/>
          <p:cNvSpPr>
            <a:spLocks noChangeArrowheads="1"/>
          </p:cNvSpPr>
          <p:nvPr/>
        </p:nvSpPr>
        <p:spPr bwMode="auto">
          <a:xfrm>
            <a:off x="250825" y="3430588"/>
            <a:ext cx="88931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3200">
                <a:solidFill>
                  <a:schemeClr val="hlink"/>
                </a:solidFill>
                <a:latin typeface="楷体_GB2312"/>
              </a:rPr>
              <a:t>哈希函数</a:t>
            </a:r>
            <a:r>
              <a:rPr lang="en-US" altLang="zh-CN" sz="3200">
                <a:solidFill>
                  <a:schemeClr val="hlink"/>
                </a:solidFill>
                <a:latin typeface="楷体_GB2312"/>
              </a:rPr>
              <a:t>(</a:t>
            </a:r>
            <a:r>
              <a:rPr lang="zh-CN" altLang="en-US" sz="3200">
                <a:solidFill>
                  <a:schemeClr val="hlink"/>
                </a:solidFill>
                <a:latin typeface="楷体_GB2312"/>
              </a:rPr>
              <a:t>杂凑函数</a:t>
            </a:r>
            <a:r>
              <a:rPr lang="en-US" altLang="zh-CN" sz="3200">
                <a:solidFill>
                  <a:schemeClr val="hlink"/>
                </a:solidFill>
                <a:latin typeface="楷体_GB2312"/>
              </a:rPr>
              <a:t>)</a:t>
            </a:r>
            <a:r>
              <a:rPr lang="zh-CN" altLang="en-US" sz="3200">
                <a:solidFill>
                  <a:schemeClr val="hlink"/>
                </a:solidFill>
                <a:latin typeface="楷体_GB2312"/>
              </a:rPr>
              <a:t>：</a:t>
            </a:r>
            <a:r>
              <a:rPr lang="zh-CN" altLang="en-US">
                <a:latin typeface="楷体_GB2312"/>
              </a:rPr>
              <a:t>哈希方法中使用的</a:t>
            </a:r>
            <a:r>
              <a:rPr lang="zh-CN" altLang="en-US">
                <a:solidFill>
                  <a:srgbClr val="FF3300"/>
                </a:solidFill>
                <a:latin typeface="楷体_GB2312"/>
              </a:rPr>
              <a:t>转换函数</a:t>
            </a:r>
          </a:p>
        </p:txBody>
      </p:sp>
      <p:sp>
        <p:nvSpPr>
          <p:cNvPr id="81924" name="Rectangle 13"/>
          <p:cNvSpPr>
            <a:spLocks noChangeArrowheads="1"/>
          </p:cNvSpPr>
          <p:nvPr/>
        </p:nvSpPr>
        <p:spPr bwMode="auto">
          <a:xfrm>
            <a:off x="3635896" y="116632"/>
            <a:ext cx="2371725" cy="39930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有关术语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022982"/>
                                        </p:tgtEl>
                                        <p:attrNameLst>
                                          <p:attrName>style.visibility</p:attrName>
                                        </p:attrNameLst>
                                      </p:cBhvr>
                                      <p:to>
                                        <p:strVal val="visible"/>
                                      </p:to>
                                    </p:set>
                                    <p:animEffect transition="in" filter="strips(downRight)">
                                      <p:cBhvr>
                                        <p:cTn id="7" dur="500"/>
                                        <p:tgtEl>
                                          <p:spTgt spid="10229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022986"/>
                                        </p:tgtEl>
                                        <p:attrNameLst>
                                          <p:attrName>style.visibility</p:attrName>
                                        </p:attrNameLst>
                                      </p:cBhvr>
                                      <p:to>
                                        <p:strVal val="visible"/>
                                      </p:to>
                                    </p:set>
                                    <p:animEffect transition="in" filter="strips(downRight)">
                                      <p:cBhvr>
                                        <p:cTn id="12" dur="500"/>
                                        <p:tgtEl>
                                          <p:spTgt spid="10229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82" grpId="0"/>
      <p:bldP spid="102298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405" name="Rectangle 37"/>
          <p:cNvSpPr>
            <a:spLocks noChangeArrowheads="1"/>
          </p:cNvSpPr>
          <p:nvPr/>
        </p:nvSpPr>
        <p:spPr bwMode="auto">
          <a:xfrm>
            <a:off x="263525" y="2576513"/>
            <a:ext cx="82708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sz="3200" dirty="0">
                <a:solidFill>
                  <a:schemeClr val="hlink"/>
                </a:solidFill>
                <a:latin typeface="楷体_GB2312"/>
              </a:rPr>
              <a:t>冲 突：</a:t>
            </a:r>
            <a:r>
              <a:rPr lang="zh-CN" altLang="en-US" dirty="0">
                <a:solidFill>
                  <a:srgbClr val="FF3300"/>
                </a:solidFill>
                <a:highlight>
                  <a:srgbClr val="00FF00"/>
                </a:highlight>
                <a:latin typeface="楷体_GB2312"/>
              </a:rPr>
              <a:t>不同的关键码映射到同一个哈希地址</a:t>
            </a:r>
            <a:endParaRPr lang="zh-CN" altLang="en-US" dirty="0">
              <a:highlight>
                <a:srgbClr val="00FF00"/>
              </a:highlight>
              <a:latin typeface="楷体_GB2312"/>
            </a:endParaRPr>
          </a:p>
        </p:txBody>
      </p:sp>
      <p:sp>
        <p:nvSpPr>
          <p:cNvPr id="82947" name="Rectangle 40"/>
          <p:cNvSpPr>
            <a:spLocks noChangeArrowheads="1"/>
          </p:cNvSpPr>
          <p:nvPr/>
        </p:nvSpPr>
        <p:spPr bwMode="auto">
          <a:xfrm>
            <a:off x="263525" y="762000"/>
            <a:ext cx="73596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3200">
                <a:solidFill>
                  <a:schemeClr val="hlink"/>
                </a:solidFill>
                <a:latin typeface="楷体_GB2312"/>
              </a:rPr>
              <a:t>哈希表</a:t>
            </a:r>
            <a:r>
              <a:rPr lang="en-US" altLang="zh-CN" sz="3200">
                <a:solidFill>
                  <a:schemeClr val="hlink"/>
                </a:solidFill>
                <a:latin typeface="楷体_GB2312"/>
              </a:rPr>
              <a:t>(</a:t>
            </a:r>
            <a:r>
              <a:rPr lang="zh-CN" altLang="en-US" sz="3200">
                <a:solidFill>
                  <a:schemeClr val="hlink"/>
                </a:solidFill>
                <a:latin typeface="楷体_GB2312"/>
              </a:rPr>
              <a:t>杂凑表</a:t>
            </a:r>
            <a:r>
              <a:rPr lang="en-US" altLang="zh-CN" sz="3200">
                <a:solidFill>
                  <a:schemeClr val="hlink"/>
                </a:solidFill>
                <a:latin typeface="楷体_GB2312"/>
              </a:rPr>
              <a:t>)</a:t>
            </a:r>
            <a:r>
              <a:rPr lang="zh-CN" altLang="en-US" sz="3200">
                <a:solidFill>
                  <a:schemeClr val="hlink"/>
                </a:solidFill>
                <a:latin typeface="楷体_GB2312"/>
              </a:rPr>
              <a:t>：</a:t>
            </a:r>
            <a:r>
              <a:rPr lang="zh-CN" altLang="en-US">
                <a:latin typeface="楷体_GB2312"/>
              </a:rPr>
              <a:t>按上述思想构造的表</a:t>
            </a:r>
          </a:p>
        </p:txBody>
      </p:sp>
      <p:sp>
        <p:nvSpPr>
          <p:cNvPr id="82948" name="Rectangle 41"/>
          <p:cNvSpPr>
            <a:spLocks noChangeArrowheads="1"/>
          </p:cNvSpPr>
          <p:nvPr/>
        </p:nvSpPr>
        <p:spPr bwMode="auto">
          <a:xfrm>
            <a:off x="4016375" y="24607"/>
            <a:ext cx="2371725"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有关术语</a:t>
            </a:r>
          </a:p>
        </p:txBody>
      </p:sp>
      <p:sp>
        <p:nvSpPr>
          <p:cNvPr id="954479" name="Rectangle 111"/>
          <p:cNvSpPr>
            <a:spLocks noChangeArrowheads="1"/>
          </p:cNvSpPr>
          <p:nvPr/>
        </p:nvSpPr>
        <p:spPr bwMode="auto">
          <a:xfrm>
            <a:off x="263525" y="4000500"/>
            <a:ext cx="80565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3200" dirty="0">
                <a:solidFill>
                  <a:schemeClr val="hlink"/>
                </a:solidFill>
                <a:latin typeface="楷体_GB2312"/>
              </a:rPr>
              <a:t>同义词：</a:t>
            </a:r>
            <a:r>
              <a:rPr lang="zh-CN" altLang="en-US" dirty="0"/>
              <a:t>具有</a:t>
            </a:r>
            <a:r>
              <a:rPr lang="zh-CN" altLang="en-US" dirty="0">
                <a:solidFill>
                  <a:srgbClr val="FF3300"/>
                </a:solidFill>
                <a:highlight>
                  <a:srgbClr val="00FF00"/>
                </a:highlight>
              </a:rPr>
              <a:t>相同函数值</a:t>
            </a:r>
            <a:r>
              <a:rPr lang="zh-CN" altLang="en-US" dirty="0"/>
              <a:t>的两个关键字</a:t>
            </a:r>
          </a:p>
        </p:txBody>
      </p:sp>
      <p:sp>
        <p:nvSpPr>
          <p:cNvPr id="954480" name="Rectangle 112"/>
          <p:cNvSpPr>
            <a:spLocks noChangeArrowheads="1"/>
          </p:cNvSpPr>
          <p:nvPr/>
        </p:nvSpPr>
        <p:spPr bwMode="auto">
          <a:xfrm>
            <a:off x="790575" y="3414713"/>
            <a:ext cx="65420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lvl="3" eaLnBrk="1" hangingPunct="1">
              <a:spcBef>
                <a:spcPct val="20000"/>
              </a:spcBef>
              <a:buClr>
                <a:srgbClr val="FF9900"/>
              </a:buClr>
              <a:buFont typeface="Wingdings" panose="05000000000000000000" pitchFamily="2" charset="2"/>
              <a:buNone/>
            </a:pPr>
            <a:r>
              <a:rPr lang="en-US" altLang="zh-CN" dirty="0"/>
              <a:t>key1</a:t>
            </a:r>
            <a:r>
              <a:rPr lang="en-US" altLang="zh-CN" dirty="0">
                <a:sym typeface="Symbol" panose="05050102010706020507" pitchFamily="18" charset="2"/>
              </a:rPr>
              <a:t>key2</a:t>
            </a:r>
            <a:r>
              <a:rPr lang="zh-CN" altLang="en-US" dirty="0">
                <a:sym typeface="Symbol" panose="05050102010706020507" pitchFamily="18" charset="2"/>
              </a:rPr>
              <a:t>，</a:t>
            </a:r>
            <a:r>
              <a:rPr lang="zh-CN" altLang="zh-CN" dirty="0">
                <a:sym typeface="Symbol" panose="05050102010706020507" pitchFamily="18" charset="2"/>
              </a:rPr>
              <a:t>但</a:t>
            </a:r>
            <a:r>
              <a:rPr lang="en-US" altLang="zh-CN" dirty="0">
                <a:sym typeface="Symbol" panose="05050102010706020507" pitchFamily="18" charset="2"/>
              </a:rPr>
              <a:t>H(key1)=H(key2)</a:t>
            </a:r>
            <a:endParaRPr lang="en-US" altLang="zh-CN" dirty="0"/>
          </a:p>
        </p:txBody>
      </p:sp>
      <p:grpSp>
        <p:nvGrpSpPr>
          <p:cNvPr id="2" name="Group 6">
            <a:extLst>
              <a:ext uri="{FF2B5EF4-FFF2-40B4-BE49-F238E27FC236}">
                <a16:creationId xmlns:a16="http://schemas.microsoft.com/office/drawing/2014/main" id="{9148A7AA-827F-5552-DEBD-35B43EA93734}"/>
              </a:ext>
            </a:extLst>
          </p:cNvPr>
          <p:cNvGrpSpPr>
            <a:grpSpLocks/>
          </p:cNvGrpSpPr>
          <p:nvPr/>
        </p:nvGrpSpPr>
        <p:grpSpPr bwMode="auto">
          <a:xfrm>
            <a:off x="502376" y="1269207"/>
            <a:ext cx="7848600" cy="1012825"/>
            <a:chOff x="480" y="2613"/>
            <a:chExt cx="4944" cy="638"/>
          </a:xfrm>
        </p:grpSpPr>
        <p:grpSp>
          <p:nvGrpSpPr>
            <p:cNvPr id="3" name="Group 7">
              <a:extLst>
                <a:ext uri="{FF2B5EF4-FFF2-40B4-BE49-F238E27FC236}">
                  <a16:creationId xmlns:a16="http://schemas.microsoft.com/office/drawing/2014/main" id="{2411241A-5305-0B1E-CD70-E5602C843CA0}"/>
                </a:ext>
              </a:extLst>
            </p:cNvPr>
            <p:cNvGrpSpPr>
              <a:grpSpLocks/>
            </p:cNvGrpSpPr>
            <p:nvPr/>
          </p:nvGrpSpPr>
          <p:grpSpPr bwMode="auto">
            <a:xfrm>
              <a:off x="480" y="2613"/>
              <a:ext cx="4944" cy="638"/>
              <a:chOff x="336" y="1896"/>
              <a:chExt cx="4944" cy="638"/>
            </a:xfrm>
          </p:grpSpPr>
          <p:sp>
            <p:nvSpPr>
              <p:cNvPr id="10" name="Rectangle 8">
                <a:extLst>
                  <a:ext uri="{FF2B5EF4-FFF2-40B4-BE49-F238E27FC236}">
                    <a16:creationId xmlns:a16="http://schemas.microsoft.com/office/drawing/2014/main" id="{D6760197-2F8C-9AA5-1BA7-349EC88C145D}"/>
                  </a:ext>
                </a:extLst>
              </p:cNvPr>
              <p:cNvSpPr>
                <a:spLocks noChangeArrowheads="1"/>
              </p:cNvSpPr>
              <p:nvPr/>
            </p:nvSpPr>
            <p:spPr bwMode="auto">
              <a:xfrm>
                <a:off x="2797"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11" name="Rectangle 9">
                <a:extLst>
                  <a:ext uri="{FF2B5EF4-FFF2-40B4-BE49-F238E27FC236}">
                    <a16:creationId xmlns:a16="http://schemas.microsoft.com/office/drawing/2014/main" id="{AB19CCDF-1BE7-32A1-D0D6-5A9024FA4844}"/>
                  </a:ext>
                </a:extLst>
              </p:cNvPr>
              <p:cNvSpPr>
                <a:spLocks noChangeArrowheads="1"/>
              </p:cNvSpPr>
              <p:nvPr/>
            </p:nvSpPr>
            <p:spPr bwMode="auto">
              <a:xfrm>
                <a:off x="2797"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12" name="Rectangle 10">
                <a:extLst>
                  <a:ext uri="{FF2B5EF4-FFF2-40B4-BE49-F238E27FC236}">
                    <a16:creationId xmlns:a16="http://schemas.microsoft.com/office/drawing/2014/main" id="{91EF8E02-DB3B-C1B1-09F6-881A9FE96CAA}"/>
                  </a:ext>
                </a:extLst>
              </p:cNvPr>
              <p:cNvSpPr>
                <a:spLocks noChangeArrowheads="1"/>
              </p:cNvSpPr>
              <p:nvPr/>
            </p:nvSpPr>
            <p:spPr bwMode="auto">
              <a:xfrm>
                <a:off x="2474"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13" name="Rectangle 11">
                <a:extLst>
                  <a:ext uri="{FF2B5EF4-FFF2-40B4-BE49-F238E27FC236}">
                    <a16:creationId xmlns:a16="http://schemas.microsoft.com/office/drawing/2014/main" id="{E9D7E009-372B-E302-0622-719594BAAE4D}"/>
                  </a:ext>
                </a:extLst>
              </p:cNvPr>
              <p:cNvSpPr>
                <a:spLocks noChangeArrowheads="1"/>
              </p:cNvSpPr>
              <p:nvPr/>
            </p:nvSpPr>
            <p:spPr bwMode="auto">
              <a:xfrm>
                <a:off x="2474" y="1942"/>
                <a:ext cx="4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14</a:t>
                </a:r>
              </a:p>
            </p:txBody>
          </p:sp>
          <p:sp>
            <p:nvSpPr>
              <p:cNvPr id="14" name="Rectangle 12">
                <a:extLst>
                  <a:ext uri="{FF2B5EF4-FFF2-40B4-BE49-F238E27FC236}">
                    <a16:creationId xmlns:a16="http://schemas.microsoft.com/office/drawing/2014/main" id="{47697952-303D-0FB1-A087-55B01CFAE5AE}"/>
                  </a:ext>
                </a:extLst>
              </p:cNvPr>
              <p:cNvSpPr>
                <a:spLocks noChangeArrowheads="1"/>
              </p:cNvSpPr>
              <p:nvPr/>
            </p:nvSpPr>
            <p:spPr bwMode="auto">
              <a:xfrm>
                <a:off x="2152"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15" name="Rectangle 13">
                <a:extLst>
                  <a:ext uri="{FF2B5EF4-FFF2-40B4-BE49-F238E27FC236}">
                    <a16:creationId xmlns:a16="http://schemas.microsoft.com/office/drawing/2014/main" id="{58F8C8DD-5605-AFF7-7BFE-82E6459D06C9}"/>
                  </a:ext>
                </a:extLst>
              </p:cNvPr>
              <p:cNvSpPr>
                <a:spLocks noChangeArrowheads="1"/>
              </p:cNvSpPr>
              <p:nvPr/>
            </p:nvSpPr>
            <p:spPr bwMode="auto">
              <a:xfrm>
                <a:off x="2152"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16" name="Rectangle 14">
                <a:extLst>
                  <a:ext uri="{FF2B5EF4-FFF2-40B4-BE49-F238E27FC236}">
                    <a16:creationId xmlns:a16="http://schemas.microsoft.com/office/drawing/2014/main" id="{B38207BA-D3C6-3107-06EB-1B293624CB07}"/>
                  </a:ext>
                </a:extLst>
              </p:cNvPr>
              <p:cNvSpPr>
                <a:spLocks noChangeArrowheads="1"/>
              </p:cNvSpPr>
              <p:nvPr/>
            </p:nvSpPr>
            <p:spPr bwMode="auto">
              <a:xfrm>
                <a:off x="1829"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17" name="Rectangle 15">
                <a:extLst>
                  <a:ext uri="{FF2B5EF4-FFF2-40B4-BE49-F238E27FC236}">
                    <a16:creationId xmlns:a16="http://schemas.microsoft.com/office/drawing/2014/main" id="{C99B4B82-EA51-FC3A-E788-F442877A8930}"/>
                  </a:ext>
                </a:extLst>
              </p:cNvPr>
              <p:cNvSpPr>
                <a:spLocks noChangeArrowheads="1"/>
              </p:cNvSpPr>
              <p:nvPr/>
            </p:nvSpPr>
            <p:spPr bwMode="auto">
              <a:xfrm>
                <a:off x="1819" y="1896"/>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11</a:t>
                </a:r>
              </a:p>
            </p:txBody>
          </p:sp>
          <p:sp>
            <p:nvSpPr>
              <p:cNvPr id="18" name="Rectangle 16">
                <a:extLst>
                  <a:ext uri="{FF2B5EF4-FFF2-40B4-BE49-F238E27FC236}">
                    <a16:creationId xmlns:a16="http://schemas.microsoft.com/office/drawing/2014/main" id="{5EC9CA2C-E6F9-A0A0-8639-26AED11EEFD3}"/>
                  </a:ext>
                </a:extLst>
              </p:cNvPr>
              <p:cNvSpPr>
                <a:spLocks noChangeArrowheads="1"/>
              </p:cNvSpPr>
              <p:nvPr/>
            </p:nvSpPr>
            <p:spPr bwMode="auto">
              <a:xfrm>
                <a:off x="1506"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19" name="Rectangle 17">
                <a:extLst>
                  <a:ext uri="{FF2B5EF4-FFF2-40B4-BE49-F238E27FC236}">
                    <a16:creationId xmlns:a16="http://schemas.microsoft.com/office/drawing/2014/main" id="{05562682-2941-EC68-DD5D-9EE4E90EDE26}"/>
                  </a:ext>
                </a:extLst>
              </p:cNvPr>
              <p:cNvSpPr>
                <a:spLocks noChangeArrowheads="1"/>
              </p:cNvSpPr>
              <p:nvPr/>
            </p:nvSpPr>
            <p:spPr bwMode="auto">
              <a:xfrm>
                <a:off x="1506"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20" name="Rectangle 18">
                <a:extLst>
                  <a:ext uri="{FF2B5EF4-FFF2-40B4-BE49-F238E27FC236}">
                    <a16:creationId xmlns:a16="http://schemas.microsoft.com/office/drawing/2014/main" id="{AC39B85F-66FB-343A-C735-0B1D5C28F99E}"/>
                  </a:ext>
                </a:extLst>
              </p:cNvPr>
              <p:cNvSpPr>
                <a:spLocks noChangeArrowheads="1"/>
              </p:cNvSpPr>
              <p:nvPr/>
            </p:nvSpPr>
            <p:spPr bwMode="auto">
              <a:xfrm>
                <a:off x="1184" y="2230"/>
                <a:ext cx="322"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21" name="Rectangle 19">
                <a:extLst>
                  <a:ext uri="{FF2B5EF4-FFF2-40B4-BE49-F238E27FC236}">
                    <a16:creationId xmlns:a16="http://schemas.microsoft.com/office/drawing/2014/main" id="{0E3A87D2-C7FE-6878-A94C-ADE967BB227C}"/>
                  </a:ext>
                </a:extLst>
              </p:cNvPr>
              <p:cNvSpPr>
                <a:spLocks noChangeArrowheads="1"/>
              </p:cNvSpPr>
              <p:nvPr/>
            </p:nvSpPr>
            <p:spPr bwMode="auto">
              <a:xfrm>
                <a:off x="1184" y="1942"/>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latin typeface="楷体_GB2312"/>
                  </a:rPr>
                  <a:t>9</a:t>
                </a:r>
              </a:p>
            </p:txBody>
          </p:sp>
          <p:sp>
            <p:nvSpPr>
              <p:cNvPr id="22" name="Rectangle 20">
                <a:extLst>
                  <a:ext uri="{FF2B5EF4-FFF2-40B4-BE49-F238E27FC236}">
                    <a16:creationId xmlns:a16="http://schemas.microsoft.com/office/drawing/2014/main" id="{858F315B-6C82-9499-E845-12937AE4E3B0}"/>
                  </a:ext>
                </a:extLst>
              </p:cNvPr>
              <p:cNvSpPr>
                <a:spLocks noChangeArrowheads="1"/>
              </p:cNvSpPr>
              <p:nvPr/>
            </p:nvSpPr>
            <p:spPr bwMode="auto">
              <a:xfrm>
                <a:off x="861"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23" name="Rectangle 21">
                <a:extLst>
                  <a:ext uri="{FF2B5EF4-FFF2-40B4-BE49-F238E27FC236}">
                    <a16:creationId xmlns:a16="http://schemas.microsoft.com/office/drawing/2014/main" id="{23D0D73A-FC29-8C62-B522-32BE7D955732}"/>
                  </a:ext>
                </a:extLst>
              </p:cNvPr>
              <p:cNvSpPr>
                <a:spLocks noChangeArrowheads="1"/>
              </p:cNvSpPr>
              <p:nvPr/>
            </p:nvSpPr>
            <p:spPr bwMode="auto">
              <a:xfrm>
                <a:off x="861" y="1942"/>
                <a:ext cx="3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24" name="Rectangle 22">
                <a:extLst>
                  <a:ext uri="{FF2B5EF4-FFF2-40B4-BE49-F238E27FC236}">
                    <a16:creationId xmlns:a16="http://schemas.microsoft.com/office/drawing/2014/main" id="{16631271-E03C-7AB5-3EAC-3F90BC9CFCBB}"/>
                  </a:ext>
                </a:extLst>
              </p:cNvPr>
              <p:cNvSpPr>
                <a:spLocks noChangeArrowheads="1"/>
              </p:cNvSpPr>
              <p:nvPr/>
            </p:nvSpPr>
            <p:spPr bwMode="auto">
              <a:xfrm>
                <a:off x="336" y="2230"/>
                <a:ext cx="525"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内容</a:t>
                </a:r>
              </a:p>
            </p:txBody>
          </p:sp>
          <p:sp>
            <p:nvSpPr>
              <p:cNvPr id="25" name="Rectangle 23">
                <a:extLst>
                  <a:ext uri="{FF2B5EF4-FFF2-40B4-BE49-F238E27FC236}">
                    <a16:creationId xmlns:a16="http://schemas.microsoft.com/office/drawing/2014/main" id="{F76D978D-E091-1CD8-070F-DB1A0B78FDEA}"/>
                  </a:ext>
                </a:extLst>
              </p:cNvPr>
              <p:cNvSpPr>
                <a:spLocks noChangeArrowheads="1"/>
              </p:cNvSpPr>
              <p:nvPr/>
            </p:nvSpPr>
            <p:spPr bwMode="auto">
              <a:xfrm>
                <a:off x="336" y="1942"/>
                <a:ext cx="5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2400">
                    <a:solidFill>
                      <a:srgbClr val="FF00FF"/>
                    </a:solidFill>
                    <a:latin typeface="楷体_GB2312"/>
                  </a:rPr>
                  <a:t>地址</a:t>
                </a:r>
              </a:p>
            </p:txBody>
          </p:sp>
          <p:sp>
            <p:nvSpPr>
              <p:cNvPr id="26" name="Rectangle 24">
                <a:extLst>
                  <a:ext uri="{FF2B5EF4-FFF2-40B4-BE49-F238E27FC236}">
                    <a16:creationId xmlns:a16="http://schemas.microsoft.com/office/drawing/2014/main" id="{0BF0218E-892F-54BD-156B-3BC4BBD184D1}"/>
                  </a:ext>
                </a:extLst>
              </p:cNvPr>
              <p:cNvSpPr>
                <a:spLocks noChangeArrowheads="1"/>
              </p:cNvSpPr>
              <p:nvPr/>
            </p:nvSpPr>
            <p:spPr bwMode="auto">
              <a:xfrm>
                <a:off x="4856"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27" name="Rectangle 25">
                <a:extLst>
                  <a:ext uri="{FF2B5EF4-FFF2-40B4-BE49-F238E27FC236}">
                    <a16:creationId xmlns:a16="http://schemas.microsoft.com/office/drawing/2014/main" id="{D72D0AB3-E245-5A6D-79AC-62B01F2084E0}"/>
                  </a:ext>
                </a:extLst>
              </p:cNvPr>
              <p:cNvSpPr>
                <a:spLocks noChangeArrowheads="1"/>
              </p:cNvSpPr>
              <p:nvPr/>
            </p:nvSpPr>
            <p:spPr bwMode="auto">
              <a:xfrm>
                <a:off x="4527" y="2230"/>
                <a:ext cx="32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28" name="Rectangle 26">
                <a:extLst>
                  <a:ext uri="{FF2B5EF4-FFF2-40B4-BE49-F238E27FC236}">
                    <a16:creationId xmlns:a16="http://schemas.microsoft.com/office/drawing/2014/main" id="{25163FB7-6024-801E-0ABA-7E61657A494D}"/>
                  </a:ext>
                </a:extLst>
              </p:cNvPr>
              <p:cNvSpPr>
                <a:spLocks noChangeArrowheads="1"/>
              </p:cNvSpPr>
              <p:nvPr/>
            </p:nvSpPr>
            <p:spPr bwMode="auto">
              <a:xfrm>
                <a:off x="4103" y="2230"/>
                <a:ext cx="42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29" name="Rectangle 27">
                <a:extLst>
                  <a:ext uri="{FF2B5EF4-FFF2-40B4-BE49-F238E27FC236}">
                    <a16:creationId xmlns:a16="http://schemas.microsoft.com/office/drawing/2014/main" id="{95E17FE3-E8C2-193A-3ECB-7CA985E69933}"/>
                  </a:ext>
                </a:extLst>
              </p:cNvPr>
              <p:cNvSpPr>
                <a:spLocks noChangeArrowheads="1"/>
              </p:cNvSpPr>
              <p:nvPr/>
            </p:nvSpPr>
            <p:spPr bwMode="auto">
              <a:xfrm>
                <a:off x="377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30" name="Rectangle 28">
                <a:extLst>
                  <a:ext uri="{FF2B5EF4-FFF2-40B4-BE49-F238E27FC236}">
                    <a16:creationId xmlns:a16="http://schemas.microsoft.com/office/drawing/2014/main" id="{06AD2773-E39B-54D0-346B-CA2F3E43FDCD}"/>
                  </a:ext>
                </a:extLst>
              </p:cNvPr>
              <p:cNvSpPr>
                <a:spLocks noChangeArrowheads="1"/>
              </p:cNvSpPr>
              <p:nvPr/>
            </p:nvSpPr>
            <p:spPr bwMode="auto">
              <a:xfrm>
                <a:off x="3443" y="2230"/>
                <a:ext cx="33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31" name="Rectangle 29">
                <a:extLst>
                  <a:ext uri="{FF2B5EF4-FFF2-40B4-BE49-F238E27FC236}">
                    <a16:creationId xmlns:a16="http://schemas.microsoft.com/office/drawing/2014/main" id="{FA90BA06-A91E-30C6-E55A-0093B14F2FD4}"/>
                  </a:ext>
                </a:extLst>
              </p:cNvPr>
              <p:cNvSpPr>
                <a:spLocks noChangeArrowheads="1"/>
              </p:cNvSpPr>
              <p:nvPr/>
            </p:nvSpPr>
            <p:spPr bwMode="auto">
              <a:xfrm>
                <a:off x="3120" y="2230"/>
                <a:ext cx="323"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zh-CN" sz="2400">
                  <a:latin typeface="楷体_GB2312"/>
                </a:endParaRPr>
              </a:p>
            </p:txBody>
          </p:sp>
          <p:sp>
            <p:nvSpPr>
              <p:cNvPr id="32" name="Rectangle 30">
                <a:extLst>
                  <a:ext uri="{FF2B5EF4-FFF2-40B4-BE49-F238E27FC236}">
                    <a16:creationId xmlns:a16="http://schemas.microsoft.com/office/drawing/2014/main" id="{B217BA4A-2A96-937A-C157-6C8238D9A0D8}"/>
                  </a:ext>
                </a:extLst>
              </p:cNvPr>
              <p:cNvSpPr>
                <a:spLocks noChangeArrowheads="1"/>
              </p:cNvSpPr>
              <p:nvPr/>
            </p:nvSpPr>
            <p:spPr bwMode="auto">
              <a:xfrm>
                <a:off x="4856"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33" name="Rectangle 31">
                <a:extLst>
                  <a:ext uri="{FF2B5EF4-FFF2-40B4-BE49-F238E27FC236}">
                    <a16:creationId xmlns:a16="http://schemas.microsoft.com/office/drawing/2014/main" id="{43E8A3CC-90DA-D585-7FB1-E8FAFF3F5174}"/>
                  </a:ext>
                </a:extLst>
              </p:cNvPr>
              <p:cNvSpPr>
                <a:spLocks noChangeArrowheads="1"/>
              </p:cNvSpPr>
              <p:nvPr/>
            </p:nvSpPr>
            <p:spPr bwMode="auto">
              <a:xfrm>
                <a:off x="4527"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39</a:t>
                </a:r>
              </a:p>
            </p:txBody>
          </p:sp>
          <p:sp>
            <p:nvSpPr>
              <p:cNvPr id="34" name="Rectangle 32">
                <a:extLst>
                  <a:ext uri="{FF2B5EF4-FFF2-40B4-BE49-F238E27FC236}">
                    <a16:creationId xmlns:a16="http://schemas.microsoft.com/office/drawing/2014/main" id="{9C3ADB0B-DB95-D098-EEF5-6DE7098640D1}"/>
                  </a:ext>
                </a:extLst>
              </p:cNvPr>
              <p:cNvSpPr>
                <a:spLocks noChangeArrowheads="1"/>
              </p:cNvSpPr>
              <p:nvPr/>
            </p:nvSpPr>
            <p:spPr bwMode="auto">
              <a:xfrm>
                <a:off x="4103"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t>…</a:t>
                </a:r>
                <a:endParaRPr lang="en-US" altLang="zh-CN" sz="2400">
                  <a:latin typeface="楷体_GB2312"/>
                </a:endParaRPr>
              </a:p>
            </p:txBody>
          </p:sp>
          <p:sp>
            <p:nvSpPr>
              <p:cNvPr id="35" name="Rectangle 33">
                <a:extLst>
                  <a:ext uri="{FF2B5EF4-FFF2-40B4-BE49-F238E27FC236}">
                    <a16:creationId xmlns:a16="http://schemas.microsoft.com/office/drawing/2014/main" id="{188A67D9-2E8A-28F8-B070-58887E8DE326}"/>
                  </a:ext>
                </a:extLst>
              </p:cNvPr>
              <p:cNvSpPr>
                <a:spLocks noChangeArrowheads="1"/>
              </p:cNvSpPr>
              <p:nvPr/>
            </p:nvSpPr>
            <p:spPr bwMode="auto">
              <a:xfrm>
                <a:off x="3773" y="1942"/>
                <a:ext cx="4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25</a:t>
                </a:r>
              </a:p>
            </p:txBody>
          </p:sp>
          <p:sp>
            <p:nvSpPr>
              <p:cNvPr id="36" name="Rectangle 34">
                <a:extLst>
                  <a:ext uri="{FF2B5EF4-FFF2-40B4-BE49-F238E27FC236}">
                    <a16:creationId xmlns:a16="http://schemas.microsoft.com/office/drawing/2014/main" id="{D6903666-E496-8664-4384-7AAB3401C0CB}"/>
                  </a:ext>
                </a:extLst>
              </p:cNvPr>
              <p:cNvSpPr>
                <a:spLocks noChangeArrowheads="1"/>
              </p:cNvSpPr>
              <p:nvPr/>
            </p:nvSpPr>
            <p:spPr bwMode="auto">
              <a:xfrm>
                <a:off x="3443" y="1942"/>
                <a:ext cx="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dirty="0">
                    <a:latin typeface="楷体_GB2312"/>
                  </a:rPr>
                  <a:t>24</a:t>
                </a:r>
              </a:p>
            </p:txBody>
          </p:sp>
          <p:sp>
            <p:nvSpPr>
              <p:cNvPr id="37" name="Rectangle 35">
                <a:extLst>
                  <a:ext uri="{FF2B5EF4-FFF2-40B4-BE49-F238E27FC236}">
                    <a16:creationId xmlns:a16="http://schemas.microsoft.com/office/drawing/2014/main" id="{FA3A25D9-9E86-D3CD-E8C4-EDEE2D2A5F30}"/>
                  </a:ext>
                </a:extLst>
              </p:cNvPr>
              <p:cNvSpPr>
                <a:spLocks noChangeArrowheads="1"/>
              </p:cNvSpPr>
              <p:nvPr/>
            </p:nvSpPr>
            <p:spPr bwMode="auto">
              <a:xfrm>
                <a:off x="3120" y="1942"/>
                <a:ext cx="4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en-US" altLang="zh-CN" sz="2400">
                    <a:latin typeface="楷体_GB2312"/>
                  </a:rPr>
                  <a:t>23</a:t>
                </a:r>
              </a:p>
            </p:txBody>
          </p:sp>
          <p:sp>
            <p:nvSpPr>
              <p:cNvPr id="38" name="Line 36">
                <a:extLst>
                  <a:ext uri="{FF2B5EF4-FFF2-40B4-BE49-F238E27FC236}">
                    <a16:creationId xmlns:a16="http://schemas.microsoft.com/office/drawing/2014/main" id="{9D418EA4-3E0C-D5F3-974D-06A7D5F21E93}"/>
                  </a:ext>
                </a:extLst>
              </p:cNvPr>
              <p:cNvSpPr>
                <a:spLocks noChangeShapeType="1"/>
              </p:cNvSpPr>
              <p:nvPr/>
            </p:nvSpPr>
            <p:spPr bwMode="auto">
              <a:xfrm>
                <a:off x="336" y="2534"/>
                <a:ext cx="494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7">
                <a:extLst>
                  <a:ext uri="{FF2B5EF4-FFF2-40B4-BE49-F238E27FC236}">
                    <a16:creationId xmlns:a16="http://schemas.microsoft.com/office/drawing/2014/main" id="{B84F1C42-B4F0-EA03-4360-62AE3D4D7B7E}"/>
                  </a:ext>
                </a:extLst>
              </p:cNvPr>
              <p:cNvSpPr>
                <a:spLocks noChangeShapeType="1"/>
              </p:cNvSpPr>
              <p:nvPr/>
            </p:nvSpPr>
            <p:spPr bwMode="auto">
              <a:xfrm>
                <a:off x="336"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0" name="Line 38">
                <a:extLst>
                  <a:ext uri="{FF2B5EF4-FFF2-40B4-BE49-F238E27FC236}">
                    <a16:creationId xmlns:a16="http://schemas.microsoft.com/office/drawing/2014/main" id="{3DF952FC-FAAA-EAD9-64CF-E0CBCEDB0352}"/>
                  </a:ext>
                </a:extLst>
              </p:cNvPr>
              <p:cNvSpPr>
                <a:spLocks noChangeShapeType="1"/>
              </p:cNvSpPr>
              <p:nvPr/>
            </p:nvSpPr>
            <p:spPr bwMode="auto">
              <a:xfrm>
                <a:off x="5280" y="1942"/>
                <a:ext cx="0" cy="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1" name="Line 39">
                <a:extLst>
                  <a:ext uri="{FF2B5EF4-FFF2-40B4-BE49-F238E27FC236}">
                    <a16:creationId xmlns:a16="http://schemas.microsoft.com/office/drawing/2014/main" id="{3C622C54-6493-5B9F-3247-1F0A0F9826CC}"/>
                  </a:ext>
                </a:extLst>
              </p:cNvPr>
              <p:cNvSpPr>
                <a:spLocks noChangeShapeType="1"/>
              </p:cNvSpPr>
              <p:nvPr/>
            </p:nvSpPr>
            <p:spPr bwMode="auto">
              <a:xfrm>
                <a:off x="4103"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a:lstStyle/>
              <a:p>
                <a:endParaRPr lang="zh-CN" altLang="en-US"/>
              </a:p>
            </p:txBody>
          </p:sp>
          <p:sp>
            <p:nvSpPr>
              <p:cNvPr id="42" name="Line 40">
                <a:extLst>
                  <a:ext uri="{FF2B5EF4-FFF2-40B4-BE49-F238E27FC236}">
                    <a16:creationId xmlns:a16="http://schemas.microsoft.com/office/drawing/2014/main" id="{EAC900C3-4A43-1C32-DD2E-E347DCDB9FE4}"/>
                  </a:ext>
                </a:extLst>
              </p:cNvPr>
              <p:cNvSpPr>
                <a:spLocks noChangeShapeType="1"/>
              </p:cNvSpPr>
              <p:nvPr/>
            </p:nvSpPr>
            <p:spPr bwMode="auto">
              <a:xfrm>
                <a:off x="336" y="1942"/>
                <a:ext cx="5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3" name="Line 41">
                <a:extLst>
                  <a:ext uri="{FF2B5EF4-FFF2-40B4-BE49-F238E27FC236}">
                    <a16:creationId xmlns:a16="http://schemas.microsoft.com/office/drawing/2014/main" id="{59CAD9F0-F921-2391-A98D-0CCE4A5D1CC1}"/>
                  </a:ext>
                </a:extLst>
              </p:cNvPr>
              <p:cNvSpPr>
                <a:spLocks noChangeShapeType="1"/>
              </p:cNvSpPr>
              <p:nvPr/>
            </p:nvSpPr>
            <p:spPr bwMode="auto">
              <a:xfrm>
                <a:off x="4527" y="1942"/>
                <a:ext cx="329"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4" name="Line 42">
                <a:extLst>
                  <a:ext uri="{FF2B5EF4-FFF2-40B4-BE49-F238E27FC236}">
                    <a16:creationId xmlns:a16="http://schemas.microsoft.com/office/drawing/2014/main" id="{70067CBA-3C44-2AC1-A7C8-41CFD21C08B1}"/>
                  </a:ext>
                </a:extLst>
              </p:cNvPr>
              <p:cNvSpPr>
                <a:spLocks noChangeShapeType="1"/>
              </p:cNvSpPr>
              <p:nvPr/>
            </p:nvSpPr>
            <p:spPr bwMode="auto">
              <a:xfrm>
                <a:off x="861"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5" name="Line 43">
                <a:extLst>
                  <a:ext uri="{FF2B5EF4-FFF2-40B4-BE49-F238E27FC236}">
                    <a16:creationId xmlns:a16="http://schemas.microsoft.com/office/drawing/2014/main" id="{3F227EC8-799B-EEA6-776E-16170C267156}"/>
                  </a:ext>
                </a:extLst>
              </p:cNvPr>
              <p:cNvSpPr>
                <a:spLocks noChangeShapeType="1"/>
              </p:cNvSpPr>
              <p:nvPr/>
            </p:nvSpPr>
            <p:spPr bwMode="auto">
              <a:xfrm>
                <a:off x="336"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44">
                <a:extLst>
                  <a:ext uri="{FF2B5EF4-FFF2-40B4-BE49-F238E27FC236}">
                    <a16:creationId xmlns:a16="http://schemas.microsoft.com/office/drawing/2014/main" id="{C18748FE-21AD-B7F6-E810-AFBF11672927}"/>
                  </a:ext>
                </a:extLst>
              </p:cNvPr>
              <p:cNvSpPr>
                <a:spLocks noChangeShapeType="1"/>
              </p:cNvSpPr>
              <p:nvPr/>
            </p:nvSpPr>
            <p:spPr bwMode="auto">
              <a:xfrm>
                <a:off x="1184"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7" name="Line 45">
                <a:extLst>
                  <a:ext uri="{FF2B5EF4-FFF2-40B4-BE49-F238E27FC236}">
                    <a16:creationId xmlns:a16="http://schemas.microsoft.com/office/drawing/2014/main" id="{857F1AAA-6E9A-AFCF-A246-225F588B96C5}"/>
                  </a:ext>
                </a:extLst>
              </p:cNvPr>
              <p:cNvSpPr>
                <a:spLocks noChangeShapeType="1"/>
              </p:cNvSpPr>
              <p:nvPr/>
            </p:nvSpPr>
            <p:spPr bwMode="auto">
              <a:xfrm>
                <a:off x="861"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46">
                <a:extLst>
                  <a:ext uri="{FF2B5EF4-FFF2-40B4-BE49-F238E27FC236}">
                    <a16:creationId xmlns:a16="http://schemas.microsoft.com/office/drawing/2014/main" id="{D5F2B0CB-9BF7-24AC-F488-E139772475E2}"/>
                  </a:ext>
                </a:extLst>
              </p:cNvPr>
              <p:cNvSpPr>
                <a:spLocks noChangeShapeType="1"/>
              </p:cNvSpPr>
              <p:nvPr/>
            </p:nvSpPr>
            <p:spPr bwMode="auto">
              <a:xfrm>
                <a:off x="1506"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49" name="Line 47">
                <a:extLst>
                  <a:ext uri="{FF2B5EF4-FFF2-40B4-BE49-F238E27FC236}">
                    <a16:creationId xmlns:a16="http://schemas.microsoft.com/office/drawing/2014/main" id="{34E3BB58-8948-83EB-05E3-D0FECCED91F7}"/>
                  </a:ext>
                </a:extLst>
              </p:cNvPr>
              <p:cNvSpPr>
                <a:spLocks noChangeShapeType="1"/>
              </p:cNvSpPr>
              <p:nvPr/>
            </p:nvSpPr>
            <p:spPr bwMode="auto">
              <a:xfrm>
                <a:off x="118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48">
                <a:extLst>
                  <a:ext uri="{FF2B5EF4-FFF2-40B4-BE49-F238E27FC236}">
                    <a16:creationId xmlns:a16="http://schemas.microsoft.com/office/drawing/2014/main" id="{3CF672B5-0AFF-0E6C-E141-7F5C989E5BBA}"/>
                  </a:ext>
                </a:extLst>
              </p:cNvPr>
              <p:cNvSpPr>
                <a:spLocks noChangeShapeType="1"/>
              </p:cNvSpPr>
              <p:nvPr/>
            </p:nvSpPr>
            <p:spPr bwMode="auto">
              <a:xfrm>
                <a:off x="1829"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1" name="Line 49">
                <a:extLst>
                  <a:ext uri="{FF2B5EF4-FFF2-40B4-BE49-F238E27FC236}">
                    <a16:creationId xmlns:a16="http://schemas.microsoft.com/office/drawing/2014/main" id="{F7DA23C4-403E-9ECD-48EE-764B3786A1ED}"/>
                  </a:ext>
                </a:extLst>
              </p:cNvPr>
              <p:cNvSpPr>
                <a:spLocks noChangeShapeType="1"/>
              </p:cNvSpPr>
              <p:nvPr/>
            </p:nvSpPr>
            <p:spPr bwMode="auto">
              <a:xfrm>
                <a:off x="150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Line 50">
                <a:extLst>
                  <a:ext uri="{FF2B5EF4-FFF2-40B4-BE49-F238E27FC236}">
                    <a16:creationId xmlns:a16="http://schemas.microsoft.com/office/drawing/2014/main" id="{3AB423B2-2213-4114-AA76-C6B2E84CE2ED}"/>
                  </a:ext>
                </a:extLst>
              </p:cNvPr>
              <p:cNvSpPr>
                <a:spLocks noChangeShapeType="1"/>
              </p:cNvSpPr>
              <p:nvPr/>
            </p:nvSpPr>
            <p:spPr bwMode="auto">
              <a:xfrm>
                <a:off x="2152" y="1942"/>
                <a:ext cx="32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3" name="Line 51">
                <a:extLst>
                  <a:ext uri="{FF2B5EF4-FFF2-40B4-BE49-F238E27FC236}">
                    <a16:creationId xmlns:a16="http://schemas.microsoft.com/office/drawing/2014/main" id="{6413EB39-84B4-024C-71ED-5E547AB80F01}"/>
                  </a:ext>
                </a:extLst>
              </p:cNvPr>
              <p:cNvSpPr>
                <a:spLocks noChangeShapeType="1"/>
              </p:cNvSpPr>
              <p:nvPr/>
            </p:nvSpPr>
            <p:spPr bwMode="auto">
              <a:xfrm>
                <a:off x="1829"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52">
                <a:extLst>
                  <a:ext uri="{FF2B5EF4-FFF2-40B4-BE49-F238E27FC236}">
                    <a16:creationId xmlns:a16="http://schemas.microsoft.com/office/drawing/2014/main" id="{F0019751-82E0-133A-5C91-9EFAA5CB38B0}"/>
                  </a:ext>
                </a:extLst>
              </p:cNvPr>
              <p:cNvSpPr>
                <a:spLocks noChangeShapeType="1"/>
              </p:cNvSpPr>
              <p:nvPr/>
            </p:nvSpPr>
            <p:spPr bwMode="auto">
              <a:xfrm>
                <a:off x="2474"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5" name="Line 53">
                <a:extLst>
                  <a:ext uri="{FF2B5EF4-FFF2-40B4-BE49-F238E27FC236}">
                    <a16:creationId xmlns:a16="http://schemas.microsoft.com/office/drawing/2014/main" id="{A66EEDBE-0129-6DF8-5793-FA6443E49FBE}"/>
                  </a:ext>
                </a:extLst>
              </p:cNvPr>
              <p:cNvSpPr>
                <a:spLocks noChangeShapeType="1"/>
              </p:cNvSpPr>
              <p:nvPr/>
            </p:nvSpPr>
            <p:spPr bwMode="auto">
              <a:xfrm>
                <a:off x="2152"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54">
                <a:extLst>
                  <a:ext uri="{FF2B5EF4-FFF2-40B4-BE49-F238E27FC236}">
                    <a16:creationId xmlns:a16="http://schemas.microsoft.com/office/drawing/2014/main" id="{D320AAEA-A3DE-A42D-DE02-507A5FA31C9B}"/>
                  </a:ext>
                </a:extLst>
              </p:cNvPr>
              <p:cNvSpPr>
                <a:spLocks noChangeShapeType="1"/>
              </p:cNvSpPr>
              <p:nvPr/>
            </p:nvSpPr>
            <p:spPr bwMode="auto">
              <a:xfrm>
                <a:off x="2797"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7" name="Line 55">
                <a:extLst>
                  <a:ext uri="{FF2B5EF4-FFF2-40B4-BE49-F238E27FC236}">
                    <a16:creationId xmlns:a16="http://schemas.microsoft.com/office/drawing/2014/main" id="{60DCEDEA-F10D-5EE8-AC55-E07D4E8EEEA1}"/>
                  </a:ext>
                </a:extLst>
              </p:cNvPr>
              <p:cNvSpPr>
                <a:spLocks noChangeShapeType="1"/>
              </p:cNvSpPr>
              <p:nvPr/>
            </p:nvSpPr>
            <p:spPr bwMode="auto">
              <a:xfrm>
                <a:off x="2474"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56">
                <a:extLst>
                  <a:ext uri="{FF2B5EF4-FFF2-40B4-BE49-F238E27FC236}">
                    <a16:creationId xmlns:a16="http://schemas.microsoft.com/office/drawing/2014/main" id="{7D37F174-FFE1-5389-4463-C8BEB068EC6A}"/>
                  </a:ext>
                </a:extLst>
              </p:cNvPr>
              <p:cNvSpPr>
                <a:spLocks noChangeShapeType="1"/>
              </p:cNvSpPr>
              <p:nvPr/>
            </p:nvSpPr>
            <p:spPr bwMode="auto">
              <a:xfrm>
                <a:off x="3120" y="1942"/>
                <a:ext cx="32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59" name="Line 57">
                <a:extLst>
                  <a:ext uri="{FF2B5EF4-FFF2-40B4-BE49-F238E27FC236}">
                    <a16:creationId xmlns:a16="http://schemas.microsoft.com/office/drawing/2014/main" id="{AB5AE446-B6FE-248F-9E25-A15D94538086}"/>
                  </a:ext>
                </a:extLst>
              </p:cNvPr>
              <p:cNvSpPr>
                <a:spLocks noChangeShapeType="1"/>
              </p:cNvSpPr>
              <p:nvPr/>
            </p:nvSpPr>
            <p:spPr bwMode="auto">
              <a:xfrm>
                <a:off x="279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8">
                <a:extLst>
                  <a:ext uri="{FF2B5EF4-FFF2-40B4-BE49-F238E27FC236}">
                    <a16:creationId xmlns:a16="http://schemas.microsoft.com/office/drawing/2014/main" id="{7569DCD5-34BA-EB47-C2FE-DB7CC971C7FE}"/>
                  </a:ext>
                </a:extLst>
              </p:cNvPr>
              <p:cNvSpPr>
                <a:spLocks noChangeShapeType="1"/>
              </p:cNvSpPr>
              <p:nvPr/>
            </p:nvSpPr>
            <p:spPr bwMode="auto">
              <a:xfrm>
                <a:off x="344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61" name="Line 59">
                <a:extLst>
                  <a:ext uri="{FF2B5EF4-FFF2-40B4-BE49-F238E27FC236}">
                    <a16:creationId xmlns:a16="http://schemas.microsoft.com/office/drawing/2014/main" id="{CAF80175-2E2F-6C32-3B1A-F39688D5B5A4}"/>
                  </a:ext>
                </a:extLst>
              </p:cNvPr>
              <p:cNvSpPr>
                <a:spLocks noChangeShapeType="1"/>
              </p:cNvSpPr>
              <p:nvPr/>
            </p:nvSpPr>
            <p:spPr bwMode="auto">
              <a:xfrm>
                <a:off x="3120"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60">
                <a:extLst>
                  <a:ext uri="{FF2B5EF4-FFF2-40B4-BE49-F238E27FC236}">
                    <a16:creationId xmlns:a16="http://schemas.microsoft.com/office/drawing/2014/main" id="{1379580C-9D29-E854-9D52-EB9C4AA1D9ED}"/>
                  </a:ext>
                </a:extLst>
              </p:cNvPr>
              <p:cNvSpPr>
                <a:spLocks noChangeShapeType="1"/>
              </p:cNvSpPr>
              <p:nvPr/>
            </p:nvSpPr>
            <p:spPr bwMode="auto">
              <a:xfrm>
                <a:off x="3773" y="1942"/>
                <a:ext cx="33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63" name="Line 61">
                <a:extLst>
                  <a:ext uri="{FF2B5EF4-FFF2-40B4-BE49-F238E27FC236}">
                    <a16:creationId xmlns:a16="http://schemas.microsoft.com/office/drawing/2014/main" id="{A618F63B-2714-1A50-4883-DE2DC47116BA}"/>
                  </a:ext>
                </a:extLst>
              </p:cNvPr>
              <p:cNvSpPr>
                <a:spLocks noChangeShapeType="1"/>
              </p:cNvSpPr>
              <p:nvPr/>
            </p:nvSpPr>
            <p:spPr bwMode="auto">
              <a:xfrm>
                <a:off x="344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44" name="Line 62">
                <a:extLst>
                  <a:ext uri="{FF2B5EF4-FFF2-40B4-BE49-F238E27FC236}">
                    <a16:creationId xmlns:a16="http://schemas.microsoft.com/office/drawing/2014/main" id="{A2FF7B02-5552-3C6B-5A24-F8933DD08134}"/>
                  </a:ext>
                </a:extLst>
              </p:cNvPr>
              <p:cNvSpPr>
                <a:spLocks noChangeShapeType="1"/>
              </p:cNvSpPr>
              <p:nvPr/>
            </p:nvSpPr>
            <p:spPr bwMode="auto">
              <a:xfrm>
                <a:off x="377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45" name="Line 63">
                <a:extLst>
                  <a:ext uri="{FF2B5EF4-FFF2-40B4-BE49-F238E27FC236}">
                    <a16:creationId xmlns:a16="http://schemas.microsoft.com/office/drawing/2014/main" id="{D9FCAA7A-99D9-4482-0134-C95506AD6ECB}"/>
                  </a:ext>
                </a:extLst>
              </p:cNvPr>
              <p:cNvSpPr>
                <a:spLocks noChangeShapeType="1"/>
              </p:cNvSpPr>
              <p:nvPr/>
            </p:nvSpPr>
            <p:spPr bwMode="auto">
              <a:xfrm>
                <a:off x="4103"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46" name="Line 64">
                <a:extLst>
                  <a:ext uri="{FF2B5EF4-FFF2-40B4-BE49-F238E27FC236}">
                    <a16:creationId xmlns:a16="http://schemas.microsoft.com/office/drawing/2014/main" id="{F7175702-1C85-382E-0FD5-1CA38E99A288}"/>
                  </a:ext>
                </a:extLst>
              </p:cNvPr>
              <p:cNvSpPr>
                <a:spLocks noChangeShapeType="1"/>
              </p:cNvSpPr>
              <p:nvPr/>
            </p:nvSpPr>
            <p:spPr bwMode="auto">
              <a:xfrm>
                <a:off x="4856" y="1942"/>
                <a:ext cx="42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a:lstStyle/>
              <a:p>
                <a:endParaRPr lang="zh-CN" altLang="en-US"/>
              </a:p>
            </p:txBody>
          </p:sp>
          <p:sp>
            <p:nvSpPr>
              <p:cNvPr id="82950" name="Line 65">
                <a:extLst>
                  <a:ext uri="{FF2B5EF4-FFF2-40B4-BE49-F238E27FC236}">
                    <a16:creationId xmlns:a16="http://schemas.microsoft.com/office/drawing/2014/main" id="{99EDDB66-D9B3-EC81-0D12-0B64E9E8C32A}"/>
                  </a:ext>
                </a:extLst>
              </p:cNvPr>
              <p:cNvSpPr>
                <a:spLocks noChangeShapeType="1"/>
              </p:cNvSpPr>
              <p:nvPr/>
            </p:nvSpPr>
            <p:spPr bwMode="auto">
              <a:xfrm>
                <a:off x="4527"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1" name="Line 66">
                <a:extLst>
                  <a:ext uri="{FF2B5EF4-FFF2-40B4-BE49-F238E27FC236}">
                    <a16:creationId xmlns:a16="http://schemas.microsoft.com/office/drawing/2014/main" id="{56501DF1-AEC9-2788-DCA5-CF23329C709B}"/>
                  </a:ext>
                </a:extLst>
              </p:cNvPr>
              <p:cNvSpPr>
                <a:spLocks noChangeShapeType="1"/>
              </p:cNvSpPr>
              <p:nvPr/>
            </p:nvSpPr>
            <p:spPr bwMode="auto">
              <a:xfrm>
                <a:off x="4856" y="2230"/>
                <a:ext cx="0" cy="3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4368" name="Line 67">
                <a:extLst>
                  <a:ext uri="{FF2B5EF4-FFF2-40B4-BE49-F238E27FC236}">
                    <a16:creationId xmlns:a16="http://schemas.microsoft.com/office/drawing/2014/main" id="{EF48F5D6-40C8-9E10-D745-82E28B877663}"/>
                  </a:ext>
                </a:extLst>
              </p:cNvPr>
              <p:cNvSpPr>
                <a:spLocks noChangeShapeType="1"/>
              </p:cNvSpPr>
              <p:nvPr/>
            </p:nvSpPr>
            <p:spPr bwMode="auto">
              <a:xfrm>
                <a:off x="5280" y="2230"/>
                <a:ext cx="0" cy="30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4369" name="Line 68">
                <a:extLst>
                  <a:ext uri="{FF2B5EF4-FFF2-40B4-BE49-F238E27FC236}">
                    <a16:creationId xmlns:a16="http://schemas.microsoft.com/office/drawing/2014/main" id="{8FC60D7A-14A5-550A-6D59-3F7F085083B5}"/>
                  </a:ext>
                </a:extLst>
              </p:cNvPr>
              <p:cNvSpPr>
                <a:spLocks noChangeShapeType="1"/>
              </p:cNvSpPr>
              <p:nvPr/>
            </p:nvSpPr>
            <p:spPr bwMode="auto">
              <a:xfrm>
                <a:off x="336" y="2230"/>
                <a:ext cx="49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 name="Rectangle 69">
              <a:extLst>
                <a:ext uri="{FF2B5EF4-FFF2-40B4-BE49-F238E27FC236}">
                  <a16:creationId xmlns:a16="http://schemas.microsoft.com/office/drawing/2014/main" id="{3BF6F6AF-4C72-55E3-B410-6AB8661CC3B4}"/>
                </a:ext>
              </a:extLst>
            </p:cNvPr>
            <p:cNvSpPr>
              <a:spLocks noChangeArrowheads="1"/>
            </p:cNvSpPr>
            <p:nvPr/>
          </p:nvSpPr>
          <p:spPr bwMode="auto">
            <a:xfrm>
              <a:off x="2618" y="2869"/>
              <a:ext cx="475"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dirty="0">
                  <a:solidFill>
                    <a:schemeClr val="tx2"/>
                  </a:solidFill>
                  <a:latin typeface="楷体_GB2312"/>
                </a:rPr>
                <a:t>14</a:t>
              </a:r>
            </a:p>
          </p:txBody>
        </p:sp>
        <p:sp>
          <p:nvSpPr>
            <p:cNvPr id="5" name="Rectangle 70">
              <a:extLst>
                <a:ext uri="{FF2B5EF4-FFF2-40B4-BE49-F238E27FC236}">
                  <a16:creationId xmlns:a16="http://schemas.microsoft.com/office/drawing/2014/main" id="{260B46B5-44F5-57B6-4606-0102B836AE21}"/>
                </a:ext>
              </a:extLst>
            </p:cNvPr>
            <p:cNvSpPr>
              <a:spLocks noChangeArrowheads="1"/>
            </p:cNvSpPr>
            <p:nvPr/>
          </p:nvSpPr>
          <p:spPr bwMode="auto">
            <a:xfrm>
              <a:off x="1973"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dirty="0">
                  <a:solidFill>
                    <a:schemeClr val="tx2"/>
                  </a:solidFill>
                  <a:latin typeface="楷体_GB2312"/>
                </a:rPr>
                <a:t>11</a:t>
              </a:r>
            </a:p>
          </p:txBody>
        </p:sp>
        <p:sp>
          <p:nvSpPr>
            <p:cNvPr id="6" name="Rectangle 71">
              <a:extLst>
                <a:ext uri="{FF2B5EF4-FFF2-40B4-BE49-F238E27FC236}">
                  <a16:creationId xmlns:a16="http://schemas.microsoft.com/office/drawing/2014/main" id="{C19AF2D2-7E72-C926-4D08-2ED54788316A}"/>
                </a:ext>
              </a:extLst>
            </p:cNvPr>
            <p:cNvSpPr>
              <a:spLocks noChangeArrowheads="1"/>
            </p:cNvSpPr>
            <p:nvPr/>
          </p:nvSpPr>
          <p:spPr bwMode="auto">
            <a:xfrm>
              <a:off x="1352" y="2869"/>
              <a:ext cx="21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9</a:t>
              </a:r>
            </a:p>
          </p:txBody>
        </p:sp>
        <p:sp>
          <p:nvSpPr>
            <p:cNvPr id="7" name="Rectangle 72">
              <a:extLst>
                <a:ext uri="{FF2B5EF4-FFF2-40B4-BE49-F238E27FC236}">
                  <a16:creationId xmlns:a16="http://schemas.microsoft.com/office/drawing/2014/main" id="{AEE7E96A-A690-16EF-75D8-686D4346D60B}"/>
                </a:ext>
              </a:extLst>
            </p:cNvPr>
            <p:cNvSpPr>
              <a:spLocks noChangeArrowheads="1"/>
            </p:cNvSpPr>
            <p:nvPr/>
          </p:nvSpPr>
          <p:spPr bwMode="auto">
            <a:xfrm>
              <a:off x="3296"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23</a:t>
              </a:r>
            </a:p>
          </p:txBody>
        </p:sp>
        <p:sp>
          <p:nvSpPr>
            <p:cNvPr id="8" name="Rectangle 73">
              <a:extLst>
                <a:ext uri="{FF2B5EF4-FFF2-40B4-BE49-F238E27FC236}">
                  <a16:creationId xmlns:a16="http://schemas.microsoft.com/office/drawing/2014/main" id="{B49CC14E-4B4D-F7D2-FFDC-8740C7B838E5}"/>
                </a:ext>
              </a:extLst>
            </p:cNvPr>
            <p:cNvSpPr>
              <a:spLocks noChangeArrowheads="1"/>
            </p:cNvSpPr>
            <p:nvPr/>
          </p:nvSpPr>
          <p:spPr bwMode="auto">
            <a:xfrm>
              <a:off x="391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25</a:t>
              </a:r>
            </a:p>
          </p:txBody>
        </p:sp>
        <p:sp>
          <p:nvSpPr>
            <p:cNvPr id="9" name="Rectangle 74">
              <a:extLst>
                <a:ext uri="{FF2B5EF4-FFF2-40B4-BE49-F238E27FC236}">
                  <a16:creationId xmlns:a16="http://schemas.microsoft.com/office/drawing/2014/main" id="{34E2E4E9-0E65-7FF0-8063-13E5BD09D033}"/>
                </a:ext>
              </a:extLst>
            </p:cNvPr>
            <p:cNvSpPr>
              <a:spLocks noChangeArrowheads="1"/>
            </p:cNvSpPr>
            <p:nvPr/>
          </p:nvSpPr>
          <p:spPr bwMode="auto">
            <a:xfrm>
              <a:off x="4667" y="2869"/>
              <a:ext cx="31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400">
                  <a:solidFill>
                    <a:schemeClr val="tx2"/>
                  </a:solidFill>
                  <a:latin typeface="楷体_GB2312"/>
                </a:rPr>
                <a:t>39</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9544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954480"/>
                                        </p:tgtEl>
                                        <p:attrNameLst>
                                          <p:attrName>style.visibility</p:attrName>
                                        </p:attrNameLst>
                                      </p:cBhvr>
                                      <p:to>
                                        <p:strVal val="visible"/>
                                      </p:to>
                                    </p:set>
                                    <p:animEffect transition="in" filter="box(in)">
                                      <p:cBhvr>
                                        <p:cTn id="11" dur="500"/>
                                        <p:tgtEl>
                                          <p:spTgt spid="95448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grpId="0" nodeType="clickEffect">
                                  <p:stCondLst>
                                    <p:cond delay="0"/>
                                  </p:stCondLst>
                                  <p:childTnLst>
                                    <p:set>
                                      <p:cBhvr>
                                        <p:cTn id="15" dur="1" fill="hold">
                                          <p:stCondLst>
                                            <p:cond delay="0"/>
                                          </p:stCondLst>
                                        </p:cTn>
                                        <p:tgtEl>
                                          <p:spTgt spid="954479"/>
                                        </p:tgtEl>
                                        <p:attrNameLst>
                                          <p:attrName>style.visibility</p:attrName>
                                        </p:attrNameLst>
                                      </p:cBhvr>
                                      <p:to>
                                        <p:strVal val="visible"/>
                                      </p:to>
                                    </p:set>
                                    <p:anim calcmode="lin" valueType="num">
                                      <p:cBhvr additive="base">
                                        <p:cTn id="16" dur="500" fill="hold"/>
                                        <p:tgtEl>
                                          <p:spTgt spid="954479"/>
                                        </p:tgtEl>
                                        <p:attrNameLst>
                                          <p:attrName>ppt_x</p:attrName>
                                        </p:attrNameLst>
                                      </p:cBhvr>
                                      <p:tavLst>
                                        <p:tav tm="0">
                                          <p:val>
                                            <p:strVal val="0-#ppt_w/2"/>
                                          </p:val>
                                        </p:tav>
                                        <p:tav tm="100000">
                                          <p:val>
                                            <p:strVal val="#ppt_x"/>
                                          </p:val>
                                        </p:tav>
                                      </p:tavLst>
                                    </p:anim>
                                    <p:anim calcmode="lin" valueType="num">
                                      <p:cBhvr additive="base">
                                        <p:cTn id="17" dur="500" fill="hold"/>
                                        <p:tgtEl>
                                          <p:spTgt spid="95447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4405" grpId="0"/>
      <p:bldP spid="954479" grpId="0"/>
      <p:bldP spid="95448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9"/>
          <p:cNvSpPr>
            <a:spLocks noChangeArrowheads="1"/>
          </p:cNvSpPr>
          <p:nvPr/>
        </p:nvSpPr>
        <p:spPr bwMode="auto">
          <a:xfrm>
            <a:off x="2327275" y="573089"/>
            <a:ext cx="5064125" cy="9842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zh-CN" altLang="en-US">
                <a:latin typeface="楷体_GB2312"/>
              </a:rPr>
              <a:t>（</a:t>
            </a:r>
            <a:r>
              <a:rPr lang="en-US" altLang="zh-CN">
                <a:ea typeface="宋体" panose="02010600030101010101" pitchFamily="2" charset="-122"/>
              </a:rPr>
              <a:t>14</a:t>
            </a:r>
            <a:r>
              <a:rPr lang="zh-CN" altLang="en-US">
                <a:ea typeface="宋体" panose="02010600030101010101" pitchFamily="2" charset="-122"/>
              </a:rPr>
              <a:t>，</a:t>
            </a:r>
            <a:r>
              <a:rPr lang="en-US" altLang="zh-CN">
                <a:ea typeface="宋体" panose="02010600030101010101" pitchFamily="2" charset="-122"/>
              </a:rPr>
              <a:t>23</a:t>
            </a:r>
            <a:r>
              <a:rPr lang="zh-CN" altLang="en-US">
                <a:ea typeface="宋体" panose="02010600030101010101" pitchFamily="2" charset="-122"/>
              </a:rPr>
              <a:t>，</a:t>
            </a:r>
            <a:r>
              <a:rPr lang="en-US" altLang="zh-CN">
                <a:ea typeface="宋体" panose="02010600030101010101" pitchFamily="2" charset="-122"/>
              </a:rPr>
              <a:t>39</a:t>
            </a:r>
            <a:r>
              <a:rPr lang="zh-CN" altLang="en-US">
                <a:ea typeface="宋体" panose="02010600030101010101" pitchFamily="2" charset="-122"/>
              </a:rPr>
              <a:t>，</a:t>
            </a:r>
            <a:r>
              <a:rPr lang="en-US" altLang="zh-CN">
                <a:ea typeface="宋体" panose="02010600030101010101" pitchFamily="2" charset="-122"/>
              </a:rPr>
              <a:t>9</a:t>
            </a:r>
            <a:r>
              <a:rPr lang="zh-CN" altLang="en-US">
                <a:ea typeface="宋体" panose="02010600030101010101" pitchFamily="2" charset="-122"/>
              </a:rPr>
              <a:t>，</a:t>
            </a:r>
            <a:r>
              <a:rPr lang="en-US" altLang="zh-CN">
                <a:ea typeface="宋体" panose="02010600030101010101" pitchFamily="2" charset="-122"/>
              </a:rPr>
              <a:t>25</a:t>
            </a:r>
            <a:r>
              <a:rPr lang="zh-CN" altLang="en-US">
                <a:ea typeface="宋体" panose="02010600030101010101" pitchFamily="2" charset="-122"/>
              </a:rPr>
              <a:t>，</a:t>
            </a:r>
            <a:r>
              <a:rPr lang="en-US" altLang="zh-CN">
                <a:ea typeface="宋体" panose="02010600030101010101" pitchFamily="2" charset="-122"/>
              </a:rPr>
              <a:t>11</a:t>
            </a:r>
            <a:r>
              <a:rPr lang="zh-CN" altLang="en-US"/>
              <a:t>）</a:t>
            </a:r>
          </a:p>
          <a:p>
            <a:pPr algn="just" eaLnBrk="1" hangingPunct="1">
              <a:buFont typeface="Arial" panose="020B0604020202020204" pitchFamily="34" charset="0"/>
              <a:buNone/>
            </a:pPr>
            <a:r>
              <a:rPr lang="zh-CN" altLang="en-US">
                <a:solidFill>
                  <a:schemeClr val="hlink"/>
                </a:solidFill>
              </a:rPr>
              <a:t>哈希函数：</a:t>
            </a:r>
            <a:r>
              <a:rPr lang="en-US" altLang="zh-CN">
                <a:solidFill>
                  <a:srgbClr val="0000CC"/>
                </a:solidFill>
              </a:rPr>
              <a:t>H(k)=k  mod  7</a:t>
            </a:r>
          </a:p>
        </p:txBody>
      </p:sp>
      <p:sp>
        <p:nvSpPr>
          <p:cNvPr id="955423" name="Rectangle 31"/>
          <p:cNvSpPr>
            <a:spLocks noChangeArrowheads="1"/>
          </p:cNvSpPr>
          <p:nvPr/>
        </p:nvSpPr>
        <p:spPr bwMode="auto">
          <a:xfrm>
            <a:off x="3241675" y="2801938"/>
            <a:ext cx="492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25</a:t>
            </a:r>
          </a:p>
        </p:txBody>
      </p:sp>
      <p:sp>
        <p:nvSpPr>
          <p:cNvPr id="955424" name="Rectangle 32"/>
          <p:cNvSpPr>
            <a:spLocks noChangeArrowheads="1"/>
          </p:cNvSpPr>
          <p:nvPr/>
        </p:nvSpPr>
        <p:spPr bwMode="auto">
          <a:xfrm>
            <a:off x="3276600" y="2395538"/>
            <a:ext cx="492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39</a:t>
            </a:r>
          </a:p>
        </p:txBody>
      </p:sp>
      <p:sp>
        <p:nvSpPr>
          <p:cNvPr id="955425" name="Rectangle 33"/>
          <p:cNvSpPr>
            <a:spLocks noChangeArrowheads="1"/>
          </p:cNvSpPr>
          <p:nvPr/>
        </p:nvSpPr>
        <p:spPr bwMode="auto">
          <a:xfrm>
            <a:off x="2286000" y="2395538"/>
            <a:ext cx="4905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23</a:t>
            </a:r>
          </a:p>
        </p:txBody>
      </p:sp>
      <p:sp>
        <p:nvSpPr>
          <p:cNvPr id="955426" name="Rectangle 34"/>
          <p:cNvSpPr>
            <a:spLocks noChangeArrowheads="1"/>
          </p:cNvSpPr>
          <p:nvPr/>
        </p:nvSpPr>
        <p:spPr bwMode="auto">
          <a:xfrm>
            <a:off x="2327275" y="2801938"/>
            <a:ext cx="492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9</a:t>
            </a:r>
          </a:p>
        </p:txBody>
      </p:sp>
      <p:sp>
        <p:nvSpPr>
          <p:cNvPr id="955427" name="Rectangle 35"/>
          <p:cNvSpPr>
            <a:spLocks noChangeArrowheads="1"/>
          </p:cNvSpPr>
          <p:nvPr/>
        </p:nvSpPr>
        <p:spPr bwMode="auto">
          <a:xfrm>
            <a:off x="1295400" y="2395538"/>
            <a:ext cx="492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14</a:t>
            </a:r>
          </a:p>
        </p:txBody>
      </p:sp>
      <p:sp>
        <p:nvSpPr>
          <p:cNvPr id="955428" name="Rectangle 36"/>
          <p:cNvSpPr>
            <a:spLocks noChangeArrowheads="1"/>
          </p:cNvSpPr>
          <p:nvPr/>
        </p:nvSpPr>
        <p:spPr bwMode="auto">
          <a:xfrm>
            <a:off x="3886200" y="-31750"/>
            <a:ext cx="3124200" cy="533400"/>
          </a:xfrm>
          <a:prstGeom prst="rect">
            <a:avLst/>
          </a:prstGeom>
          <a:noFill/>
          <a:ln w="9525">
            <a:noFill/>
            <a:miter lim="800000"/>
          </a:ln>
          <a:effectLst/>
        </p:spPr>
        <p:txBody>
          <a:bodyPr anchor="ctr"/>
          <a:lstStyle/>
          <a:p>
            <a:pPr>
              <a:defRPr/>
            </a:pPr>
            <a:endParaRPr kumimoji="1" lang="zh-CN" altLang="zh-CN" b="0">
              <a:solidFill>
                <a:schemeClr val="accent1"/>
              </a:solidFill>
              <a:effectLst>
                <a:outerShdw blurRad="38100" dist="38100" dir="2700000" algn="tl">
                  <a:srgbClr val="C0C0C0"/>
                </a:outerShdw>
              </a:effectLst>
              <a:ea typeface="楷体_GB2312" pitchFamily="49" charset="-122"/>
              <a:cs typeface="+mn-cs"/>
            </a:endParaRPr>
          </a:p>
        </p:txBody>
      </p:sp>
      <p:sp>
        <p:nvSpPr>
          <p:cNvPr id="955429" name="AutoShape 37"/>
          <p:cNvSpPr>
            <a:spLocks noChangeArrowheads="1"/>
          </p:cNvSpPr>
          <p:nvPr/>
        </p:nvSpPr>
        <p:spPr bwMode="auto">
          <a:xfrm>
            <a:off x="6443663" y="1893888"/>
            <a:ext cx="2319337" cy="958850"/>
          </a:xfrm>
          <a:prstGeom prst="wedgeRoundRectCallout">
            <a:avLst>
              <a:gd name="adj1" fmla="val -66699"/>
              <a:gd name="adj2" fmla="val -109106"/>
              <a:gd name="adj3" fmla="val 16667"/>
            </a:avLst>
          </a:prstGeom>
          <a:solidFill>
            <a:srgbClr val="CCFFFF"/>
          </a:solidFill>
          <a:ln w="9525">
            <a:solidFill>
              <a:srgbClr val="FF9900"/>
            </a:solidFill>
            <a:miter lim="800000"/>
          </a:ln>
          <a:effectLst/>
        </p:spPr>
        <p:txBody>
          <a:bodyPr/>
          <a:lstStyle/>
          <a:p>
            <a:pPr eaLnBrk="1" hangingPunct="1">
              <a:defRPr/>
            </a:pPr>
            <a:r>
              <a:rPr kumimoji="1" lang="en-US" altLang="zh-CN" sz="2400">
                <a:solidFill>
                  <a:srgbClr val="FF3300"/>
                </a:solidFill>
                <a:ea typeface="楷体_GB2312" pitchFamily="49" charset="-122"/>
                <a:cs typeface="+mn-cs"/>
                <a:sym typeface="+mn-ea"/>
              </a:rPr>
              <a:t>6</a:t>
            </a:r>
            <a:r>
              <a:rPr kumimoji="1" lang="zh-CN" altLang="en-US" sz="2400">
                <a:solidFill>
                  <a:srgbClr val="FF3300"/>
                </a:solidFill>
                <a:ea typeface="楷体_GB2312" pitchFamily="49" charset="-122"/>
                <a:cs typeface="+mn-cs"/>
                <a:sym typeface="+mn-ea"/>
              </a:rPr>
              <a:t>个元素用</a:t>
            </a:r>
            <a:r>
              <a:rPr kumimoji="1" lang="en-US" altLang="zh-CN" sz="2400">
                <a:solidFill>
                  <a:srgbClr val="FF3300"/>
                </a:solidFill>
                <a:ea typeface="楷体_GB2312" pitchFamily="49" charset="-122"/>
                <a:cs typeface="+mn-cs"/>
                <a:sym typeface="+mn-ea"/>
              </a:rPr>
              <a:t>7</a:t>
            </a:r>
            <a:r>
              <a:rPr kumimoji="1" lang="zh-CN" altLang="en-US" sz="2400">
                <a:solidFill>
                  <a:srgbClr val="FF3300"/>
                </a:solidFill>
                <a:ea typeface="楷体_GB2312" pitchFamily="49" charset="-122"/>
                <a:cs typeface="+mn-cs"/>
                <a:sym typeface="+mn-ea"/>
              </a:rPr>
              <a:t>个</a:t>
            </a:r>
          </a:p>
          <a:p>
            <a:pPr eaLnBrk="1" hangingPunct="1">
              <a:defRPr/>
            </a:pPr>
            <a:r>
              <a:rPr kumimoji="1" lang="zh-CN" altLang="en-US" sz="2400">
                <a:solidFill>
                  <a:srgbClr val="FF3300"/>
                </a:solidFill>
                <a:ea typeface="楷体_GB2312" pitchFamily="49" charset="-122"/>
                <a:cs typeface="+mn-cs"/>
                <a:sym typeface="+mn-ea"/>
              </a:rPr>
              <a:t>地址应该足够</a:t>
            </a:r>
            <a:r>
              <a:rPr kumimoji="1" lang="en-US" altLang="zh-CN" sz="2400">
                <a:solidFill>
                  <a:srgbClr val="FF3300"/>
                </a:solidFill>
                <a:ea typeface="楷体_GB2312" pitchFamily="49" charset="-122"/>
                <a:cs typeface="+mn-cs"/>
                <a:sym typeface="+mn-ea"/>
              </a:rPr>
              <a:t>!</a:t>
            </a:r>
            <a:endParaRPr kumimoji="1" lang="en-US" altLang="zh-CN" sz="2400">
              <a:solidFill>
                <a:srgbClr val="FF3300"/>
              </a:solidFill>
              <a:effectLst>
                <a:outerShdw blurRad="38100" dist="38100" dir="2700000" algn="tl">
                  <a:srgbClr val="000000"/>
                </a:outerShdw>
              </a:effectLst>
              <a:ea typeface="楷体_GB2312" pitchFamily="49" charset="-122"/>
              <a:cs typeface="+mn-cs"/>
              <a:sym typeface="+mn-ea"/>
            </a:endParaRPr>
          </a:p>
        </p:txBody>
      </p:sp>
      <p:sp>
        <p:nvSpPr>
          <p:cNvPr id="955430" name="AutoShape 38"/>
          <p:cNvSpPr>
            <a:spLocks noChangeArrowheads="1"/>
          </p:cNvSpPr>
          <p:nvPr/>
        </p:nvSpPr>
        <p:spPr bwMode="auto">
          <a:xfrm>
            <a:off x="179388" y="3182938"/>
            <a:ext cx="2438400" cy="431800"/>
          </a:xfrm>
          <a:prstGeom prst="wedgeRoundRectCallout">
            <a:avLst>
              <a:gd name="adj1" fmla="val 7745"/>
              <a:gd name="adj2" fmla="val -110296"/>
              <a:gd name="adj3" fmla="val 16667"/>
            </a:avLst>
          </a:prstGeom>
          <a:solidFill>
            <a:srgbClr val="CCFFFF"/>
          </a:solidFill>
          <a:ln w="9525">
            <a:solidFill>
              <a:srgbClr val="FF6600"/>
            </a:solidFill>
            <a:miter lim="800000"/>
          </a:ln>
          <a:effectLst/>
        </p:spPr>
        <p:txBody>
          <a:bodyPr/>
          <a:lstStyle/>
          <a:p>
            <a:pPr eaLnBrk="1" hangingPunct="1">
              <a:defRPr/>
            </a:pPr>
            <a:r>
              <a:rPr kumimoji="1" lang="en-US" altLang="zh-CN" sz="2400">
                <a:ea typeface="楷体_GB2312" pitchFamily="49" charset="-122"/>
                <a:cs typeface="+mn-cs"/>
                <a:sym typeface="+mn-ea"/>
              </a:rPr>
              <a:t>H(14)=14%7=0</a:t>
            </a:r>
            <a:endParaRPr kumimoji="1" lang="en-US" altLang="zh-CN" sz="2400">
              <a:effectLst>
                <a:outerShdw blurRad="38100" dist="38100" dir="2700000" algn="tl">
                  <a:srgbClr val="FFFFFF"/>
                </a:outerShdw>
              </a:effectLst>
              <a:ea typeface="楷体_GB2312" pitchFamily="49" charset="-122"/>
              <a:cs typeface="+mn-cs"/>
              <a:sym typeface="+mn-ea"/>
            </a:endParaRPr>
          </a:p>
        </p:txBody>
      </p:sp>
      <p:sp>
        <p:nvSpPr>
          <p:cNvPr id="955431" name="Rectangle 39"/>
          <p:cNvSpPr>
            <a:spLocks noChangeArrowheads="1"/>
          </p:cNvSpPr>
          <p:nvPr/>
        </p:nvSpPr>
        <p:spPr bwMode="auto">
          <a:xfrm>
            <a:off x="3241675" y="3182938"/>
            <a:ext cx="4921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11</a:t>
            </a:r>
          </a:p>
        </p:txBody>
      </p:sp>
      <p:sp>
        <p:nvSpPr>
          <p:cNvPr id="955432" name="AutoShape 40"/>
          <p:cNvSpPr>
            <a:spLocks noChangeArrowheads="1"/>
          </p:cNvSpPr>
          <p:nvPr/>
        </p:nvSpPr>
        <p:spPr bwMode="auto">
          <a:xfrm>
            <a:off x="4800600" y="3314700"/>
            <a:ext cx="2940050" cy="1322388"/>
          </a:xfrm>
          <a:prstGeom prst="wedgeRoundRectCallout">
            <a:avLst>
              <a:gd name="adj1" fmla="val -89199"/>
              <a:gd name="adj2" fmla="val -72208"/>
              <a:gd name="adj3" fmla="val 16667"/>
            </a:avLst>
          </a:prstGeom>
          <a:solidFill>
            <a:srgbClr val="CCFFFF"/>
          </a:solidFill>
          <a:ln w="9525">
            <a:solidFill>
              <a:srgbClr val="FF6600"/>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t>H(25)=25%7=</a:t>
            </a:r>
            <a:r>
              <a:rPr lang="en-US" altLang="zh-CN" sz="2400">
                <a:solidFill>
                  <a:schemeClr val="tx2"/>
                </a:solidFill>
              </a:rPr>
              <a:t>4</a:t>
            </a:r>
          </a:p>
          <a:p>
            <a:pPr eaLnBrk="1" hangingPunct="1">
              <a:buFont typeface="Arial" panose="020B0604020202020204" pitchFamily="34" charset="0"/>
              <a:buNone/>
            </a:pPr>
            <a:r>
              <a:rPr lang="en-US" altLang="zh-CN" sz="2400"/>
              <a:t>H(11)=11%7=</a:t>
            </a:r>
            <a:r>
              <a:rPr lang="en-US" altLang="zh-CN" sz="2400">
                <a:solidFill>
                  <a:schemeClr val="tx2"/>
                </a:solidFill>
              </a:rPr>
              <a:t>4</a:t>
            </a:r>
          </a:p>
          <a:p>
            <a:pPr eaLnBrk="1" hangingPunct="1">
              <a:buFont typeface="Arial" panose="020B0604020202020204" pitchFamily="34" charset="0"/>
              <a:buNone/>
            </a:pPr>
            <a:r>
              <a:rPr lang="zh-CN" altLang="en-US" sz="2400">
                <a:solidFill>
                  <a:srgbClr val="FF3300"/>
                </a:solidFill>
              </a:rPr>
              <a:t>同义词</a:t>
            </a:r>
          </a:p>
        </p:txBody>
      </p:sp>
      <p:sp>
        <p:nvSpPr>
          <p:cNvPr id="955433" name="Text Box 41"/>
          <p:cNvSpPr txBox="1">
            <a:spLocks noChangeArrowheads="1"/>
          </p:cNvSpPr>
          <p:nvPr/>
        </p:nvSpPr>
        <p:spPr bwMode="auto">
          <a:xfrm>
            <a:off x="2743200" y="3862388"/>
            <a:ext cx="1524000" cy="774700"/>
          </a:xfrm>
          <a:prstGeom prst="rect">
            <a:avLst/>
          </a:prstGeom>
          <a:solidFill>
            <a:srgbClr val="CCFFCC"/>
          </a:solidFill>
          <a:ln w="9525">
            <a:noFill/>
            <a:miter lim="800000"/>
          </a:ln>
          <a:effectLst/>
        </p:spPr>
        <p:txBody>
          <a:bodyPr>
            <a:spAutoFit/>
          </a:bodyPr>
          <a:lstStyle/>
          <a:p>
            <a:pPr eaLnBrk="1" hangingPunct="1">
              <a:lnSpc>
                <a:spcPct val="140000"/>
              </a:lnSpc>
              <a:spcBef>
                <a:spcPct val="50000"/>
              </a:spcBef>
              <a:defRPr/>
            </a:pPr>
            <a:r>
              <a:rPr kumimoji="1" lang="zh-CN" altLang="en-US" sz="3200">
                <a:solidFill>
                  <a:srgbClr val="FF3300"/>
                </a:solidFill>
                <a:effectLst>
                  <a:outerShdw blurRad="38100" dist="38100" dir="2700000" algn="tl">
                    <a:srgbClr val="000000"/>
                  </a:outerShdw>
                </a:effectLst>
                <a:ea typeface="楷体_GB2312" pitchFamily="49" charset="-122"/>
                <a:cs typeface="+mn-cs"/>
                <a:sym typeface="+mn-ea"/>
              </a:rPr>
              <a:t>有冲突</a:t>
            </a:r>
          </a:p>
        </p:txBody>
      </p:sp>
      <p:grpSp>
        <p:nvGrpSpPr>
          <p:cNvPr id="2" name="Group 42"/>
          <p:cNvGrpSpPr>
            <a:grpSpLocks/>
          </p:cNvGrpSpPr>
          <p:nvPr/>
        </p:nvGrpSpPr>
        <p:grpSpPr bwMode="auto">
          <a:xfrm>
            <a:off x="1219200" y="1887538"/>
            <a:ext cx="3505200" cy="965200"/>
            <a:chOff x="3024" y="1936"/>
            <a:chExt cx="2208" cy="608"/>
          </a:xfrm>
        </p:grpSpPr>
        <p:sp>
          <p:nvSpPr>
            <p:cNvPr id="83984" name="Rectangle 43"/>
            <p:cNvSpPr>
              <a:spLocks noChangeArrowheads="1"/>
            </p:cNvSpPr>
            <p:nvPr/>
          </p:nvSpPr>
          <p:spPr bwMode="auto">
            <a:xfrm>
              <a:off x="3024" y="1936"/>
              <a:ext cx="22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2400">
                  <a:ea typeface="宋体" panose="02010600030101010101" pitchFamily="2" charset="-122"/>
                </a:rPr>
                <a:t> 0     1     2    3    4    5    6</a:t>
              </a:r>
            </a:p>
          </p:txBody>
        </p:sp>
        <p:sp>
          <p:nvSpPr>
            <p:cNvPr id="83985" name="Line 44"/>
            <p:cNvSpPr>
              <a:spLocks noChangeShapeType="1"/>
            </p:cNvSpPr>
            <p:nvPr/>
          </p:nvSpPr>
          <p:spPr bwMode="auto">
            <a:xfrm>
              <a:off x="3024" y="2256"/>
              <a:ext cx="21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6" name="Line 45"/>
            <p:cNvSpPr>
              <a:spLocks noChangeShapeType="1"/>
            </p:cNvSpPr>
            <p:nvPr/>
          </p:nvSpPr>
          <p:spPr bwMode="auto">
            <a:xfrm>
              <a:off x="3024" y="2272"/>
              <a:ext cx="0" cy="27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7" name="Line 46"/>
            <p:cNvSpPr>
              <a:spLocks noChangeShapeType="1"/>
            </p:cNvSpPr>
            <p:nvPr/>
          </p:nvSpPr>
          <p:spPr bwMode="auto">
            <a:xfrm>
              <a:off x="4272" y="2256"/>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8" name="Line 47"/>
            <p:cNvSpPr>
              <a:spLocks noChangeShapeType="1"/>
            </p:cNvSpPr>
            <p:nvPr/>
          </p:nvSpPr>
          <p:spPr bwMode="auto">
            <a:xfrm flipV="1">
              <a:off x="3024" y="2544"/>
              <a:ext cx="216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9" name="Line 48"/>
            <p:cNvSpPr>
              <a:spLocks noChangeShapeType="1"/>
            </p:cNvSpPr>
            <p:nvPr/>
          </p:nvSpPr>
          <p:spPr bwMode="auto">
            <a:xfrm>
              <a:off x="5184" y="2256"/>
              <a:ext cx="0" cy="272"/>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0" name="Line 49"/>
            <p:cNvSpPr>
              <a:spLocks noChangeShapeType="1"/>
            </p:cNvSpPr>
            <p:nvPr/>
          </p:nvSpPr>
          <p:spPr bwMode="auto">
            <a:xfrm>
              <a:off x="4608" y="2256"/>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1" name="Line 50"/>
            <p:cNvSpPr>
              <a:spLocks noChangeShapeType="1"/>
            </p:cNvSpPr>
            <p:nvPr/>
          </p:nvSpPr>
          <p:spPr bwMode="auto">
            <a:xfrm>
              <a:off x="4896" y="2256"/>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2" name="Line 51"/>
            <p:cNvSpPr>
              <a:spLocks noChangeShapeType="1"/>
            </p:cNvSpPr>
            <p:nvPr/>
          </p:nvSpPr>
          <p:spPr bwMode="auto">
            <a:xfrm>
              <a:off x="3984" y="2256"/>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3" name="Line 52"/>
            <p:cNvSpPr>
              <a:spLocks noChangeShapeType="1"/>
            </p:cNvSpPr>
            <p:nvPr/>
          </p:nvSpPr>
          <p:spPr bwMode="auto">
            <a:xfrm>
              <a:off x="3648" y="2256"/>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94" name="Line 53"/>
            <p:cNvSpPr>
              <a:spLocks noChangeShapeType="1"/>
            </p:cNvSpPr>
            <p:nvPr/>
          </p:nvSpPr>
          <p:spPr bwMode="auto">
            <a:xfrm>
              <a:off x="3360" y="2256"/>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3983" name="Rectangle 55"/>
          <p:cNvSpPr>
            <a:spLocks noChangeArrowheads="1"/>
          </p:cNvSpPr>
          <p:nvPr/>
        </p:nvSpPr>
        <p:spPr bwMode="auto">
          <a:xfrm>
            <a:off x="3480817" y="7938"/>
            <a:ext cx="3452812" cy="449262"/>
          </a:xfrm>
          <a:prstGeom prst="rect">
            <a:avLst/>
          </a:prstGeom>
          <a:solidFill>
            <a:srgbClr val="FFFF00"/>
          </a:solidFill>
          <a:ln>
            <a:noFill/>
          </a:ln>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冲突现象举例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55429"/>
                                        </p:tgtEl>
                                        <p:attrNameLst>
                                          <p:attrName>style.visibility</p:attrName>
                                        </p:attrNameLst>
                                      </p:cBhvr>
                                      <p:to>
                                        <p:strVal val="visible"/>
                                      </p:to>
                                    </p:set>
                                    <p:anim calcmode="lin" valueType="num">
                                      <p:cBhvr additive="base">
                                        <p:cTn id="7" dur="500" fill="hold"/>
                                        <p:tgtEl>
                                          <p:spTgt spid="955429"/>
                                        </p:tgtEl>
                                        <p:attrNameLst>
                                          <p:attrName>ppt_x</p:attrName>
                                        </p:attrNameLst>
                                      </p:cBhvr>
                                      <p:tavLst>
                                        <p:tav tm="0">
                                          <p:val>
                                            <p:strVal val="1+#ppt_w/2"/>
                                          </p:val>
                                        </p:tav>
                                        <p:tav tm="100000">
                                          <p:val>
                                            <p:strVal val="#ppt_x"/>
                                          </p:val>
                                        </p:tav>
                                      </p:tavLst>
                                    </p:anim>
                                    <p:anim calcmode="lin" valueType="num">
                                      <p:cBhvr additive="base">
                                        <p:cTn id="8" dur="500" fill="hold"/>
                                        <p:tgtEl>
                                          <p:spTgt spid="95542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37"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outVertic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iterate type="lt">
                                    <p:tmAbs val="75"/>
                                  </p:iterate>
                                  <p:childTnLst>
                                    <p:set>
                                      <p:cBhvr>
                                        <p:cTn id="17" dur="1" fill="hold">
                                          <p:stCondLst>
                                            <p:cond delay="74"/>
                                          </p:stCondLst>
                                        </p:cTn>
                                        <p:tgtEl>
                                          <p:spTgt spid="955430"/>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955427"/>
                                        </p:tgtEl>
                                        <p:attrNameLst>
                                          <p:attrName>style.visibility</p:attrName>
                                        </p:attrNameLst>
                                      </p:cBhvr>
                                      <p:to>
                                        <p:strVal val="visible"/>
                                      </p:to>
                                    </p:set>
                                    <p:anim calcmode="lin" valueType="num">
                                      <p:cBhvr>
                                        <p:cTn id="22" dur="500" fill="hold"/>
                                        <p:tgtEl>
                                          <p:spTgt spid="955427"/>
                                        </p:tgtEl>
                                        <p:attrNameLst>
                                          <p:attrName>ppt_w</p:attrName>
                                        </p:attrNameLst>
                                      </p:cBhvr>
                                      <p:tavLst>
                                        <p:tav tm="0">
                                          <p:val>
                                            <p:fltVal val="0"/>
                                          </p:val>
                                        </p:tav>
                                        <p:tav tm="100000">
                                          <p:val>
                                            <p:strVal val="#ppt_w"/>
                                          </p:val>
                                        </p:tav>
                                      </p:tavLst>
                                    </p:anim>
                                    <p:anim calcmode="lin" valueType="num">
                                      <p:cBhvr>
                                        <p:cTn id="23" dur="500" fill="hold"/>
                                        <p:tgtEl>
                                          <p:spTgt spid="955427"/>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grpId="0" nodeType="clickEffect">
                                  <p:stCondLst>
                                    <p:cond delay="0"/>
                                  </p:stCondLst>
                                  <p:childTnLst>
                                    <p:set>
                                      <p:cBhvr>
                                        <p:cTn id="27" dur="1" fill="hold">
                                          <p:stCondLst>
                                            <p:cond delay="0"/>
                                          </p:stCondLst>
                                        </p:cTn>
                                        <p:tgtEl>
                                          <p:spTgt spid="955425"/>
                                        </p:tgtEl>
                                        <p:attrNameLst>
                                          <p:attrName>style.visibility</p:attrName>
                                        </p:attrNameLst>
                                      </p:cBhvr>
                                      <p:to>
                                        <p:strVal val="visible"/>
                                      </p:to>
                                    </p:set>
                                    <p:anim calcmode="lin" valueType="num">
                                      <p:cBhvr>
                                        <p:cTn id="28" dur="500" fill="hold"/>
                                        <p:tgtEl>
                                          <p:spTgt spid="955425"/>
                                        </p:tgtEl>
                                        <p:attrNameLst>
                                          <p:attrName>ppt_w</p:attrName>
                                        </p:attrNameLst>
                                      </p:cBhvr>
                                      <p:tavLst>
                                        <p:tav tm="0">
                                          <p:val>
                                            <p:fltVal val="0"/>
                                          </p:val>
                                        </p:tav>
                                        <p:tav tm="100000">
                                          <p:val>
                                            <p:strVal val="#ppt_w"/>
                                          </p:val>
                                        </p:tav>
                                      </p:tavLst>
                                    </p:anim>
                                    <p:anim calcmode="lin" valueType="num">
                                      <p:cBhvr>
                                        <p:cTn id="29" dur="500" fill="hold"/>
                                        <p:tgtEl>
                                          <p:spTgt spid="955425"/>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955424"/>
                                        </p:tgtEl>
                                        <p:attrNameLst>
                                          <p:attrName>style.visibility</p:attrName>
                                        </p:attrNameLst>
                                      </p:cBhvr>
                                      <p:to>
                                        <p:strVal val="visible"/>
                                      </p:to>
                                    </p:set>
                                    <p:anim calcmode="lin" valueType="num">
                                      <p:cBhvr>
                                        <p:cTn id="34" dur="500" fill="hold"/>
                                        <p:tgtEl>
                                          <p:spTgt spid="955424"/>
                                        </p:tgtEl>
                                        <p:attrNameLst>
                                          <p:attrName>ppt_w</p:attrName>
                                        </p:attrNameLst>
                                      </p:cBhvr>
                                      <p:tavLst>
                                        <p:tav tm="0">
                                          <p:val>
                                            <p:fltVal val="0"/>
                                          </p:val>
                                        </p:tav>
                                        <p:tav tm="100000">
                                          <p:val>
                                            <p:strVal val="#ppt_w"/>
                                          </p:val>
                                        </p:tav>
                                      </p:tavLst>
                                    </p:anim>
                                    <p:anim calcmode="lin" valueType="num">
                                      <p:cBhvr>
                                        <p:cTn id="35" dur="500" fill="hold"/>
                                        <p:tgtEl>
                                          <p:spTgt spid="955424"/>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955426"/>
                                        </p:tgtEl>
                                        <p:attrNameLst>
                                          <p:attrName>style.visibility</p:attrName>
                                        </p:attrNameLst>
                                      </p:cBhvr>
                                      <p:to>
                                        <p:strVal val="visible"/>
                                      </p:to>
                                    </p:set>
                                    <p:anim calcmode="lin" valueType="num">
                                      <p:cBhvr>
                                        <p:cTn id="40" dur="500" fill="hold"/>
                                        <p:tgtEl>
                                          <p:spTgt spid="955426"/>
                                        </p:tgtEl>
                                        <p:attrNameLst>
                                          <p:attrName>ppt_w</p:attrName>
                                        </p:attrNameLst>
                                      </p:cBhvr>
                                      <p:tavLst>
                                        <p:tav tm="0">
                                          <p:val>
                                            <p:fltVal val="0"/>
                                          </p:val>
                                        </p:tav>
                                        <p:tav tm="100000">
                                          <p:val>
                                            <p:strVal val="#ppt_w"/>
                                          </p:val>
                                        </p:tav>
                                      </p:tavLst>
                                    </p:anim>
                                    <p:anim calcmode="lin" valueType="num">
                                      <p:cBhvr>
                                        <p:cTn id="41" dur="500" fill="hold"/>
                                        <p:tgtEl>
                                          <p:spTgt spid="955426"/>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 presetClass="entr" presetSubtype="0" fill="hold" grpId="0" nodeType="clickEffect">
                                  <p:stCondLst>
                                    <p:cond delay="0"/>
                                  </p:stCondLst>
                                  <p:iterate type="lt">
                                    <p:tmAbs val="75"/>
                                  </p:iterate>
                                  <p:childTnLst>
                                    <p:set>
                                      <p:cBhvr>
                                        <p:cTn id="45" dur="1" fill="hold">
                                          <p:stCondLst>
                                            <p:cond delay="74"/>
                                          </p:stCondLst>
                                        </p:cTn>
                                        <p:tgtEl>
                                          <p:spTgt spid="955432"/>
                                        </p:tgtEl>
                                        <p:attrNameLst>
                                          <p:attrName>style.visibility</p:attrName>
                                        </p:attrNameLst>
                                      </p:cBhvr>
                                      <p:to>
                                        <p:strVal val="visibl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3" presetClass="entr" presetSubtype="16" fill="hold" grpId="0" nodeType="clickEffect">
                                  <p:stCondLst>
                                    <p:cond delay="0"/>
                                  </p:stCondLst>
                                  <p:childTnLst>
                                    <p:set>
                                      <p:cBhvr>
                                        <p:cTn id="49" dur="1" fill="hold">
                                          <p:stCondLst>
                                            <p:cond delay="0"/>
                                          </p:stCondLst>
                                        </p:cTn>
                                        <p:tgtEl>
                                          <p:spTgt spid="955423"/>
                                        </p:tgtEl>
                                        <p:attrNameLst>
                                          <p:attrName>style.visibility</p:attrName>
                                        </p:attrNameLst>
                                      </p:cBhvr>
                                      <p:to>
                                        <p:strVal val="visible"/>
                                      </p:to>
                                    </p:set>
                                    <p:anim calcmode="lin" valueType="num">
                                      <p:cBhvr>
                                        <p:cTn id="50" dur="500" fill="hold"/>
                                        <p:tgtEl>
                                          <p:spTgt spid="955423"/>
                                        </p:tgtEl>
                                        <p:attrNameLst>
                                          <p:attrName>ppt_w</p:attrName>
                                        </p:attrNameLst>
                                      </p:cBhvr>
                                      <p:tavLst>
                                        <p:tav tm="0">
                                          <p:val>
                                            <p:fltVal val="0"/>
                                          </p:val>
                                        </p:tav>
                                        <p:tav tm="100000">
                                          <p:val>
                                            <p:strVal val="#ppt_w"/>
                                          </p:val>
                                        </p:tav>
                                      </p:tavLst>
                                    </p:anim>
                                    <p:anim calcmode="lin" valueType="num">
                                      <p:cBhvr>
                                        <p:cTn id="51" dur="500" fill="hold"/>
                                        <p:tgtEl>
                                          <p:spTgt spid="955423"/>
                                        </p:tgtEl>
                                        <p:attrNameLst>
                                          <p:attrName>ppt_h</p:attrName>
                                        </p:attrNameLst>
                                      </p:cBhvr>
                                      <p:tavLst>
                                        <p:tav tm="0">
                                          <p:val>
                                            <p:fltVal val="0"/>
                                          </p:val>
                                        </p:tav>
                                        <p:tav tm="100000">
                                          <p:val>
                                            <p:strVal val="#ppt_h"/>
                                          </p:val>
                                        </p:tav>
                                      </p:tavLst>
                                    </p:anim>
                                  </p:childTnLst>
                                </p:cTn>
                              </p:par>
                            </p:childTnLst>
                          </p:cTn>
                        </p:par>
                        <p:par>
                          <p:cTn id="52" fill="hold" nodeType="afterGroup">
                            <p:stCondLst>
                              <p:cond delay="500"/>
                            </p:stCondLst>
                            <p:childTnLst>
                              <p:par>
                                <p:cTn id="53" presetID="23" presetClass="entr" presetSubtype="16" fill="hold" grpId="0" nodeType="afterEffect">
                                  <p:stCondLst>
                                    <p:cond delay="0"/>
                                  </p:stCondLst>
                                  <p:childTnLst>
                                    <p:set>
                                      <p:cBhvr>
                                        <p:cTn id="54" dur="1" fill="hold">
                                          <p:stCondLst>
                                            <p:cond delay="0"/>
                                          </p:stCondLst>
                                        </p:cTn>
                                        <p:tgtEl>
                                          <p:spTgt spid="955431"/>
                                        </p:tgtEl>
                                        <p:attrNameLst>
                                          <p:attrName>style.visibility</p:attrName>
                                        </p:attrNameLst>
                                      </p:cBhvr>
                                      <p:to>
                                        <p:strVal val="visible"/>
                                      </p:to>
                                    </p:set>
                                    <p:anim calcmode="lin" valueType="num">
                                      <p:cBhvr>
                                        <p:cTn id="55" dur="500" fill="hold"/>
                                        <p:tgtEl>
                                          <p:spTgt spid="955431"/>
                                        </p:tgtEl>
                                        <p:attrNameLst>
                                          <p:attrName>ppt_w</p:attrName>
                                        </p:attrNameLst>
                                      </p:cBhvr>
                                      <p:tavLst>
                                        <p:tav tm="0">
                                          <p:val>
                                            <p:fltVal val="0"/>
                                          </p:val>
                                        </p:tav>
                                        <p:tav tm="100000">
                                          <p:val>
                                            <p:strVal val="#ppt_w"/>
                                          </p:val>
                                        </p:tav>
                                      </p:tavLst>
                                    </p:anim>
                                    <p:anim calcmode="lin" valueType="num">
                                      <p:cBhvr>
                                        <p:cTn id="56" dur="500" fill="hold"/>
                                        <p:tgtEl>
                                          <p:spTgt spid="955431"/>
                                        </p:tgtEl>
                                        <p:attrNameLst>
                                          <p:attrName>ppt_h</p:attrName>
                                        </p:attrNameLst>
                                      </p:cBhvr>
                                      <p:tavLst>
                                        <p:tav tm="0">
                                          <p:val>
                                            <p:fltVal val="0"/>
                                          </p:val>
                                        </p:tav>
                                        <p:tav tm="100000">
                                          <p:val>
                                            <p:strVal val="#ppt_h"/>
                                          </p:val>
                                        </p:tav>
                                      </p:tavLst>
                                    </p:anim>
                                  </p:childTnLst>
                                </p:cTn>
                              </p:par>
                            </p:childTnLst>
                          </p:cTn>
                        </p:par>
                        <p:par>
                          <p:cTn id="57" fill="hold" nodeType="afterGroup">
                            <p:stCondLst>
                              <p:cond delay="1000"/>
                            </p:stCondLst>
                            <p:childTnLst>
                              <p:par>
                                <p:cTn id="58" presetID="23" presetClass="entr" presetSubtype="16" fill="hold" grpId="0" nodeType="afterEffect">
                                  <p:stCondLst>
                                    <p:cond delay="0"/>
                                  </p:stCondLst>
                                  <p:childTnLst>
                                    <p:set>
                                      <p:cBhvr>
                                        <p:cTn id="59" dur="1" fill="hold">
                                          <p:stCondLst>
                                            <p:cond delay="0"/>
                                          </p:stCondLst>
                                        </p:cTn>
                                        <p:tgtEl>
                                          <p:spTgt spid="955433"/>
                                        </p:tgtEl>
                                        <p:attrNameLst>
                                          <p:attrName>style.visibility</p:attrName>
                                        </p:attrNameLst>
                                      </p:cBhvr>
                                      <p:to>
                                        <p:strVal val="visible"/>
                                      </p:to>
                                    </p:set>
                                    <p:anim calcmode="lin" valueType="num">
                                      <p:cBhvr>
                                        <p:cTn id="60" dur="500" fill="hold"/>
                                        <p:tgtEl>
                                          <p:spTgt spid="955433"/>
                                        </p:tgtEl>
                                        <p:attrNameLst>
                                          <p:attrName>ppt_w</p:attrName>
                                        </p:attrNameLst>
                                      </p:cBhvr>
                                      <p:tavLst>
                                        <p:tav tm="0">
                                          <p:val>
                                            <p:fltVal val="0"/>
                                          </p:val>
                                        </p:tav>
                                        <p:tav tm="100000">
                                          <p:val>
                                            <p:strVal val="#ppt_w"/>
                                          </p:val>
                                        </p:tav>
                                      </p:tavLst>
                                    </p:anim>
                                    <p:anim calcmode="lin" valueType="num">
                                      <p:cBhvr>
                                        <p:cTn id="61" dur="500" fill="hold"/>
                                        <p:tgtEl>
                                          <p:spTgt spid="95543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5423" grpId="0"/>
      <p:bldP spid="955424" grpId="0"/>
      <p:bldP spid="955425" grpId="0"/>
      <p:bldP spid="955426" grpId="0"/>
      <p:bldP spid="955427" grpId="0"/>
      <p:bldP spid="955429" grpId="0" animBg="1"/>
      <p:bldP spid="955430" grpId="0" animBg="1"/>
      <p:bldP spid="955431" grpId="0"/>
      <p:bldP spid="955432" grpId="0" animBg="1"/>
      <p:bldP spid="95543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5" descr="wz-002-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765175"/>
            <a:ext cx="8135938" cy="563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5" name="Text Box 7"/>
          <p:cNvSpPr txBox="1">
            <a:spLocks noChangeArrowheads="1"/>
          </p:cNvSpPr>
          <p:nvPr/>
        </p:nvSpPr>
        <p:spPr bwMode="auto">
          <a:xfrm>
            <a:off x="3779912" y="44624"/>
            <a:ext cx="2627784" cy="461665"/>
          </a:xfrm>
          <a:prstGeom prst="rect">
            <a:avLst/>
          </a:prstGeom>
          <a:solidFill>
            <a:srgbClr val="FFFF66"/>
          </a:solidFill>
          <a:ln>
            <a:noFill/>
          </a:ln>
        </p:spPr>
        <p:txBody>
          <a:bodyPr wrap="square">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zh-CN" altLang="en-US" sz="2400" dirty="0"/>
              <a:t>哈希函数的应用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57"/>
          <p:cNvSpPr>
            <a:spLocks noChangeArrowheads="1"/>
          </p:cNvSpPr>
          <p:nvPr/>
        </p:nvSpPr>
        <p:spPr bwMode="auto">
          <a:xfrm>
            <a:off x="4643438" y="657225"/>
            <a:ext cx="35306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a:latin typeface="楷体_GB2312"/>
              </a:rPr>
              <a:t>冲突是不可能避免的</a:t>
            </a:r>
          </a:p>
        </p:txBody>
      </p:sp>
      <p:sp>
        <p:nvSpPr>
          <p:cNvPr id="89091" name="Rectangle 59"/>
          <p:cNvSpPr>
            <a:spLocks noChangeArrowheads="1"/>
          </p:cNvSpPr>
          <p:nvPr/>
        </p:nvSpPr>
        <p:spPr bwMode="auto">
          <a:xfrm>
            <a:off x="3347864" y="42069"/>
            <a:ext cx="34528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如何减少冲突</a:t>
            </a:r>
          </a:p>
        </p:txBody>
      </p:sp>
      <p:sp>
        <p:nvSpPr>
          <p:cNvPr id="956476" name="Comment 60"/>
          <p:cNvSpPr>
            <a:spLocks noChangeArrowheads="1"/>
          </p:cNvSpPr>
          <p:nvPr/>
        </p:nvSpPr>
        <p:spPr bwMode="auto">
          <a:xfrm>
            <a:off x="1187450" y="1700213"/>
            <a:ext cx="5976938" cy="650875"/>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zh-CN" altLang="en-US" sz="3600">
                <a:solidFill>
                  <a:schemeClr val="hlink"/>
                </a:solidFill>
                <a:latin typeface="Arial" panose="020B0604020202020204" pitchFamily="34" charset="0"/>
                <a:ea typeface="楷体_GB2312" pitchFamily="49" charset="-122"/>
                <a:cs typeface="+mn-cs"/>
                <a:sym typeface="+mn-ea"/>
                <a:hlinkClick r:id="rId2" action="ppaction://hlinksldjump"/>
              </a:rPr>
              <a:t>构造好的哈希函数</a:t>
            </a:r>
            <a:endParaRPr lang="zh-CN" altLang="en-US" sz="3600">
              <a:solidFill>
                <a:schemeClr val="hlink"/>
              </a:solidFill>
              <a:latin typeface="Arial" panose="020B0604020202020204" pitchFamily="34" charset="0"/>
              <a:ea typeface="楷体_GB2312" pitchFamily="49" charset="-122"/>
              <a:cs typeface="+mn-cs"/>
              <a:sym typeface="+mn-ea"/>
            </a:endParaRPr>
          </a:p>
        </p:txBody>
      </p:sp>
      <p:sp>
        <p:nvSpPr>
          <p:cNvPr id="956477" name="Comment 61"/>
          <p:cNvSpPr>
            <a:spLocks noChangeArrowheads="1"/>
          </p:cNvSpPr>
          <p:nvPr/>
        </p:nvSpPr>
        <p:spPr bwMode="auto">
          <a:xfrm>
            <a:off x="1187450" y="2708275"/>
            <a:ext cx="5976938" cy="650875"/>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eaLnBrk="1" hangingPunct="1">
              <a:spcBef>
                <a:spcPct val="50000"/>
              </a:spcBef>
              <a:defRPr/>
            </a:pPr>
            <a:r>
              <a:rPr lang="zh-CN" altLang="en-US" sz="3600">
                <a:solidFill>
                  <a:schemeClr val="hlink"/>
                </a:solidFill>
                <a:latin typeface="Arial" panose="020B0604020202020204" pitchFamily="34" charset="0"/>
                <a:ea typeface="楷体_GB2312" pitchFamily="49" charset="-122"/>
                <a:cs typeface="+mn-cs"/>
                <a:sym typeface="+mn-ea"/>
                <a:hlinkClick r:id="rId3" action="ppaction://hlinksldjump"/>
              </a:rPr>
              <a:t>制定一个好的解决冲突方案</a:t>
            </a:r>
            <a:endParaRPr lang="zh-CN" altLang="en-US" sz="3600">
              <a:solidFill>
                <a:schemeClr val="hlink"/>
              </a:solidFill>
              <a:latin typeface="Arial" panose="020B0604020202020204" pitchFamily="34" charset="0"/>
              <a:ea typeface="楷体_GB2312" pitchFamily="49" charset="-122"/>
              <a:cs typeface="+mn-cs"/>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8"/>
          <p:cNvSpPr>
            <a:spLocks noChangeArrowheads="1"/>
          </p:cNvSpPr>
          <p:nvPr/>
        </p:nvSpPr>
        <p:spPr bwMode="auto">
          <a:xfrm>
            <a:off x="3347864" y="0"/>
            <a:ext cx="43037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哈希函数的构造方法</a:t>
            </a:r>
          </a:p>
        </p:txBody>
      </p:sp>
      <p:sp>
        <p:nvSpPr>
          <p:cNvPr id="90115" name="Rectangle 13"/>
          <p:cNvSpPr>
            <a:spLocks noChangeArrowheads="1"/>
          </p:cNvSpPr>
          <p:nvPr/>
        </p:nvSpPr>
        <p:spPr bwMode="auto">
          <a:xfrm>
            <a:off x="39688" y="698500"/>
            <a:ext cx="4676775" cy="16732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575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20000"/>
              </a:spcBef>
              <a:buFont typeface="Arial" panose="020B0604020202020204" pitchFamily="34" charset="0"/>
              <a:buNone/>
            </a:pPr>
            <a:r>
              <a:rPr lang="zh-CN" altLang="en-US"/>
              <a:t>根据元素集合的特性构造</a:t>
            </a:r>
            <a:endParaRPr lang="zh-CN" altLang="en-US">
              <a:solidFill>
                <a:srgbClr val="FF3300"/>
              </a:solidFill>
              <a:latin typeface="楷体_GB2312"/>
            </a:endParaRPr>
          </a:p>
          <a:p>
            <a:pPr eaLnBrk="1" hangingPunct="1">
              <a:spcBef>
                <a:spcPct val="20000"/>
              </a:spcBef>
              <a:buFont typeface="Arial" panose="020B0604020202020204" pitchFamily="34" charset="0"/>
              <a:buNone/>
            </a:pPr>
            <a:r>
              <a:rPr lang="zh-CN" altLang="en-US">
                <a:solidFill>
                  <a:srgbClr val="FF3300"/>
                </a:solidFill>
                <a:latin typeface="楷体_GB2312"/>
              </a:rPr>
              <a:t>　地址空间尽量小</a:t>
            </a:r>
          </a:p>
          <a:p>
            <a:pPr eaLnBrk="1" hangingPunct="1">
              <a:spcBef>
                <a:spcPct val="50000"/>
              </a:spcBef>
              <a:buFont typeface="Arial" panose="020B0604020202020204" pitchFamily="34" charset="0"/>
              <a:buNone/>
            </a:pPr>
            <a:r>
              <a:rPr lang="zh-CN" altLang="en-US">
                <a:solidFill>
                  <a:srgbClr val="FF3300"/>
                </a:solidFill>
                <a:latin typeface="楷体_GB2312"/>
              </a:rPr>
              <a:t>　均匀</a:t>
            </a:r>
          </a:p>
        </p:txBody>
      </p:sp>
      <p:grpSp>
        <p:nvGrpSpPr>
          <p:cNvPr id="2" name="Group 15"/>
          <p:cNvGrpSpPr>
            <a:grpSpLocks/>
          </p:cNvGrpSpPr>
          <p:nvPr/>
        </p:nvGrpSpPr>
        <p:grpSpPr bwMode="auto">
          <a:xfrm>
            <a:off x="4876800" y="698500"/>
            <a:ext cx="3794125" cy="3568700"/>
            <a:chOff x="3072" y="440"/>
            <a:chExt cx="2390" cy="2248"/>
          </a:xfrm>
        </p:grpSpPr>
        <p:sp>
          <p:nvSpPr>
            <p:cNvPr id="90117" name="Text Box 12"/>
            <p:cNvSpPr txBox="1">
              <a:spLocks noChangeArrowheads="1"/>
            </p:cNvSpPr>
            <p:nvPr/>
          </p:nvSpPr>
          <p:spPr bwMode="auto">
            <a:xfrm>
              <a:off x="3878" y="440"/>
              <a:ext cx="1584" cy="2248"/>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40000"/>
                </a:spcBef>
                <a:buFont typeface="Arial" panose="020B0604020202020204" pitchFamily="34" charset="0"/>
                <a:buAutoNum type="arabicPeriod"/>
              </a:pPr>
              <a:r>
                <a:rPr lang="zh-CN" altLang="en-US">
                  <a:latin typeface="楷体_GB2312"/>
                </a:rPr>
                <a:t>直接定址法 </a:t>
              </a:r>
            </a:p>
            <a:p>
              <a:pPr eaLnBrk="1" hangingPunct="1">
                <a:spcBef>
                  <a:spcPct val="40000"/>
                </a:spcBef>
                <a:buFont typeface="Arial" panose="020B0604020202020204" pitchFamily="34" charset="0"/>
                <a:buAutoNum type="arabicPeriod"/>
              </a:pPr>
              <a:r>
                <a:rPr lang="zh-CN" altLang="en-US">
                  <a:latin typeface="楷体_GB2312"/>
                </a:rPr>
                <a:t>数字分析法</a:t>
              </a:r>
            </a:p>
            <a:p>
              <a:pPr eaLnBrk="1" hangingPunct="1">
                <a:spcBef>
                  <a:spcPct val="40000"/>
                </a:spcBef>
                <a:buFont typeface="Arial" panose="020B0604020202020204" pitchFamily="34" charset="0"/>
                <a:buAutoNum type="arabicPeriod"/>
              </a:pPr>
              <a:r>
                <a:rPr lang="zh-CN" altLang="en-US">
                  <a:latin typeface="楷体_GB2312"/>
                </a:rPr>
                <a:t>平方取中法</a:t>
              </a:r>
            </a:p>
            <a:p>
              <a:pPr eaLnBrk="1" hangingPunct="1">
                <a:spcBef>
                  <a:spcPct val="40000"/>
                </a:spcBef>
                <a:buFont typeface="Arial" panose="020B0604020202020204" pitchFamily="34" charset="0"/>
                <a:buAutoNum type="arabicPeriod"/>
              </a:pPr>
              <a:r>
                <a:rPr lang="zh-CN" altLang="en-US">
                  <a:latin typeface="楷体_GB2312"/>
                </a:rPr>
                <a:t>折叠法</a:t>
              </a:r>
            </a:p>
            <a:p>
              <a:pPr eaLnBrk="1" hangingPunct="1">
                <a:spcBef>
                  <a:spcPct val="40000"/>
                </a:spcBef>
                <a:buFont typeface="Arial" panose="020B0604020202020204" pitchFamily="34" charset="0"/>
                <a:buAutoNum type="arabicPeriod"/>
              </a:pPr>
              <a:r>
                <a:rPr lang="zh-CN" altLang="en-US">
                  <a:solidFill>
                    <a:srgbClr val="FF3300"/>
                  </a:solidFill>
                  <a:latin typeface="楷体_GB2312"/>
                </a:rPr>
                <a:t>除留余数法</a:t>
              </a:r>
            </a:p>
            <a:p>
              <a:pPr eaLnBrk="1" hangingPunct="1">
                <a:spcBef>
                  <a:spcPct val="40000"/>
                </a:spcBef>
                <a:buFont typeface="Arial" panose="020B0604020202020204" pitchFamily="34" charset="0"/>
                <a:buAutoNum type="arabicPeriod"/>
              </a:pPr>
              <a:r>
                <a:rPr lang="zh-CN" altLang="en-US">
                  <a:latin typeface="楷体_GB2312"/>
                </a:rPr>
                <a:t>随机数法 </a:t>
              </a:r>
            </a:p>
          </p:txBody>
        </p:sp>
        <p:sp>
          <p:nvSpPr>
            <p:cNvPr id="90118" name="AutoShape 14"/>
            <p:cNvSpPr>
              <a:spLocks noChangeArrowheads="1"/>
            </p:cNvSpPr>
            <p:nvPr/>
          </p:nvSpPr>
          <p:spPr bwMode="auto">
            <a:xfrm>
              <a:off x="3072" y="799"/>
              <a:ext cx="672" cy="309"/>
            </a:xfrm>
            <a:prstGeom prst="rightArrow">
              <a:avLst>
                <a:gd name="adj1" fmla="val 50000"/>
                <a:gd name="adj2" fmla="val 54349"/>
              </a:avLst>
            </a:prstGeom>
            <a:solidFill>
              <a:schemeClr val="accent1"/>
            </a:solidFill>
            <a:ln w="9525">
              <a:solidFill>
                <a:srgbClr val="FF6600"/>
              </a:solidFill>
              <a:miter lim="800000"/>
              <a:headEnd/>
              <a:tailEnd/>
            </a:ln>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81" name="Rectangle 17"/>
          <p:cNvSpPr>
            <a:spLocks noChangeArrowheads="1"/>
          </p:cNvSpPr>
          <p:nvPr/>
        </p:nvSpPr>
        <p:spPr bwMode="auto">
          <a:xfrm>
            <a:off x="468313" y="685800"/>
            <a:ext cx="820737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857250" indent="-85725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sz="3200" dirty="0">
                <a:solidFill>
                  <a:srgbClr val="FF3300"/>
                </a:solidFill>
              </a:rPr>
              <a:t>Hash(key) = </a:t>
            </a:r>
            <a:r>
              <a:rPr lang="en-US" altLang="zh-CN" sz="3200" dirty="0" err="1">
                <a:solidFill>
                  <a:srgbClr val="FF3300"/>
                </a:solidFill>
                <a:highlight>
                  <a:srgbClr val="00FF00"/>
                </a:highlight>
              </a:rPr>
              <a:t>a·key</a:t>
            </a:r>
            <a:r>
              <a:rPr lang="en-US" altLang="zh-CN" sz="3200" dirty="0">
                <a:solidFill>
                  <a:srgbClr val="FF3300"/>
                </a:solidFill>
                <a:highlight>
                  <a:srgbClr val="00FF00"/>
                </a:highlight>
              </a:rPr>
              <a:t> + b</a:t>
            </a:r>
            <a:r>
              <a:rPr lang="en-US" altLang="zh-CN" sz="3200" dirty="0">
                <a:solidFill>
                  <a:srgbClr val="FF3300"/>
                </a:solidFill>
                <a:highlight>
                  <a:srgbClr val="00FF00"/>
                </a:highlight>
                <a:latin typeface="楷体_GB2312"/>
              </a:rPr>
              <a:t>    </a:t>
            </a:r>
            <a:r>
              <a:rPr lang="en-US" altLang="zh-CN" sz="3200" dirty="0">
                <a:solidFill>
                  <a:srgbClr val="FF3300"/>
                </a:solidFill>
                <a:latin typeface="楷体_GB2312"/>
              </a:rPr>
              <a:t>(</a:t>
            </a:r>
            <a:r>
              <a:rPr lang="en-US" altLang="zh-CN" sz="3200" dirty="0">
                <a:solidFill>
                  <a:srgbClr val="FF3300"/>
                </a:solidFill>
              </a:rPr>
              <a:t>a</a:t>
            </a:r>
            <a:r>
              <a:rPr lang="zh-CN" altLang="en-US" sz="3200" dirty="0">
                <a:solidFill>
                  <a:srgbClr val="FF3300"/>
                </a:solidFill>
              </a:rPr>
              <a:t>、</a:t>
            </a:r>
            <a:r>
              <a:rPr lang="en-US" altLang="zh-CN" sz="3200" dirty="0">
                <a:solidFill>
                  <a:srgbClr val="FF3300"/>
                </a:solidFill>
              </a:rPr>
              <a:t>b</a:t>
            </a:r>
            <a:r>
              <a:rPr lang="zh-CN" altLang="en-US" sz="3200" dirty="0">
                <a:solidFill>
                  <a:srgbClr val="FF3300"/>
                </a:solidFill>
                <a:latin typeface="楷体_GB2312"/>
              </a:rPr>
              <a:t>为常数</a:t>
            </a:r>
            <a:r>
              <a:rPr lang="en-US" altLang="zh-CN" sz="3200" dirty="0">
                <a:solidFill>
                  <a:srgbClr val="FF3300"/>
                </a:solidFill>
                <a:latin typeface="楷体_GB2312"/>
              </a:rPr>
              <a:t>)</a:t>
            </a:r>
          </a:p>
          <a:p>
            <a:pPr algn="just" eaLnBrk="1" hangingPunct="1">
              <a:buFont typeface="Arial" panose="020B0604020202020204" pitchFamily="34" charset="0"/>
              <a:buNone/>
            </a:pPr>
            <a:endParaRPr lang="en-US" altLang="zh-CN" sz="3200" dirty="0">
              <a:solidFill>
                <a:srgbClr val="FF3300"/>
              </a:solidFill>
              <a:latin typeface="楷体_GB2312"/>
            </a:endParaRPr>
          </a:p>
          <a:p>
            <a:pPr>
              <a:buFont typeface="Arial" panose="020B0604020202020204" pitchFamily="34" charset="0"/>
              <a:buNone/>
            </a:pPr>
            <a:r>
              <a:rPr lang="zh-CN" altLang="en-US" sz="3200" dirty="0">
                <a:solidFill>
                  <a:srgbClr val="FF00FF"/>
                </a:solidFill>
                <a:latin typeface="楷体_GB2312"/>
              </a:rPr>
              <a:t>优点：</a:t>
            </a:r>
            <a:r>
              <a:rPr lang="zh-CN" altLang="en-US" sz="3200" dirty="0">
                <a:latin typeface="楷体_GB2312"/>
              </a:rPr>
              <a:t>以关键码</a:t>
            </a:r>
            <a:r>
              <a:rPr lang="en-US" altLang="zh-CN" sz="3200" dirty="0">
                <a:latin typeface="楷体_GB2312"/>
              </a:rPr>
              <a:t>key</a:t>
            </a:r>
            <a:r>
              <a:rPr lang="zh-CN" altLang="en-US" sz="3200" dirty="0">
                <a:latin typeface="楷体_GB2312"/>
              </a:rPr>
              <a:t>的某个线性函数值为哈希地址，</a:t>
            </a:r>
            <a:r>
              <a:rPr lang="zh-CN" altLang="en-US" sz="3200" dirty="0">
                <a:highlight>
                  <a:srgbClr val="00FF00"/>
                </a:highlight>
                <a:latin typeface="楷体_GB2312"/>
              </a:rPr>
              <a:t>不会产生冲突</a:t>
            </a:r>
            <a:r>
              <a:rPr lang="zh-CN" altLang="en-US" sz="3200" dirty="0">
                <a:latin typeface="楷体_GB2312"/>
              </a:rPr>
              <a:t>。</a:t>
            </a:r>
          </a:p>
          <a:p>
            <a:pPr>
              <a:buFont typeface="Arial" panose="020B0604020202020204" pitchFamily="34" charset="0"/>
              <a:buNone/>
            </a:pPr>
            <a:endParaRPr lang="zh-CN" altLang="en-US" sz="3200" dirty="0">
              <a:latin typeface="楷体_GB2312"/>
            </a:endParaRPr>
          </a:p>
          <a:p>
            <a:pPr>
              <a:buFont typeface="Arial" panose="020B0604020202020204" pitchFamily="34" charset="0"/>
              <a:buNone/>
            </a:pPr>
            <a:r>
              <a:rPr lang="zh-CN" altLang="en-US" sz="3200" dirty="0">
                <a:solidFill>
                  <a:srgbClr val="FF00FF"/>
                </a:solidFill>
                <a:latin typeface="楷体_GB2312"/>
              </a:rPr>
              <a:t>缺点：</a:t>
            </a:r>
            <a:r>
              <a:rPr lang="zh-CN" altLang="en-US" sz="3200" dirty="0">
                <a:latin typeface="楷体_GB2312"/>
              </a:rPr>
              <a:t>要占用</a:t>
            </a:r>
            <a:r>
              <a:rPr lang="zh-CN" altLang="en-US" sz="3200" dirty="0">
                <a:highlight>
                  <a:srgbClr val="00FF00"/>
                </a:highlight>
                <a:latin typeface="楷体_GB2312"/>
              </a:rPr>
              <a:t>连续地址空间，空间效率低</a:t>
            </a:r>
            <a:r>
              <a:rPr lang="zh-CN" altLang="en-US" sz="3200" dirty="0">
                <a:latin typeface="楷体_GB2312"/>
              </a:rPr>
              <a:t>。 </a:t>
            </a:r>
          </a:p>
        </p:txBody>
      </p:sp>
      <p:sp>
        <p:nvSpPr>
          <p:cNvPr id="91139" name="Rectangle 46"/>
          <p:cNvSpPr>
            <a:spLocks noChangeArrowheads="1"/>
          </p:cNvSpPr>
          <p:nvPr/>
        </p:nvSpPr>
        <p:spPr bwMode="auto">
          <a:xfrm>
            <a:off x="3419872" y="0"/>
            <a:ext cx="43037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直接定址法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848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848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84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848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5"/>
          <p:cNvSpPr>
            <a:spLocks noChangeArrowheads="1"/>
          </p:cNvSpPr>
          <p:nvPr/>
        </p:nvSpPr>
        <p:spPr bwMode="auto">
          <a:xfrm>
            <a:off x="609600" y="836613"/>
            <a:ext cx="7772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a:solidFill>
                  <a:srgbClr val="FF00FF"/>
                </a:solidFill>
                <a:latin typeface="楷体_GB2312"/>
              </a:rPr>
              <a:t>  </a:t>
            </a:r>
            <a:r>
              <a:rPr lang="zh-CN" altLang="en-US">
                <a:solidFill>
                  <a:srgbClr val="FF00FF"/>
                </a:solidFill>
                <a:latin typeface="楷体_GB2312"/>
              </a:rPr>
              <a:t>例：</a:t>
            </a:r>
            <a:r>
              <a:rPr lang="zh-CN" altLang="en-US">
                <a:latin typeface="楷体_GB2312"/>
              </a:rPr>
              <a:t> </a:t>
            </a:r>
            <a:r>
              <a:rPr lang="en-US" altLang="zh-CN"/>
              <a:t>{100</a:t>
            </a:r>
            <a:r>
              <a:rPr lang="zh-CN" altLang="en-US"/>
              <a:t>，</a:t>
            </a:r>
            <a:r>
              <a:rPr lang="en-US" altLang="zh-CN"/>
              <a:t>300</a:t>
            </a:r>
            <a:r>
              <a:rPr lang="zh-CN" altLang="en-US"/>
              <a:t>，</a:t>
            </a:r>
            <a:r>
              <a:rPr lang="en-US" altLang="zh-CN"/>
              <a:t>500</a:t>
            </a:r>
            <a:r>
              <a:rPr lang="zh-CN" altLang="en-US"/>
              <a:t>，</a:t>
            </a:r>
            <a:r>
              <a:rPr lang="en-US" altLang="zh-CN"/>
              <a:t>700</a:t>
            </a:r>
            <a:r>
              <a:rPr lang="zh-CN" altLang="en-US"/>
              <a:t>，</a:t>
            </a:r>
            <a:r>
              <a:rPr lang="en-US" altLang="zh-CN"/>
              <a:t>800</a:t>
            </a:r>
            <a:r>
              <a:rPr lang="zh-CN" altLang="en-US"/>
              <a:t>，</a:t>
            </a:r>
            <a:r>
              <a:rPr lang="en-US" altLang="zh-CN"/>
              <a:t>900}</a:t>
            </a:r>
            <a:r>
              <a:rPr lang="zh-CN" altLang="en-US">
                <a:latin typeface="楷体_GB2312"/>
              </a:rPr>
              <a:t>，</a:t>
            </a:r>
          </a:p>
          <a:p>
            <a:pPr algn="just" eaLnBrk="1" hangingPunct="1">
              <a:buFont typeface="Arial" panose="020B0604020202020204" pitchFamily="34" charset="0"/>
              <a:buNone/>
            </a:pPr>
            <a:r>
              <a:rPr lang="zh-CN" altLang="en-US">
                <a:latin typeface="楷体_GB2312"/>
              </a:rPr>
              <a:t>     哈希函数</a:t>
            </a:r>
            <a:r>
              <a:rPr lang="en-US" altLang="zh-CN"/>
              <a:t>Hash(key)=key/100</a:t>
            </a:r>
            <a:endParaRPr lang="en-US" altLang="zh-CN">
              <a:latin typeface="楷体_GB2312"/>
            </a:endParaRPr>
          </a:p>
        </p:txBody>
      </p:sp>
      <p:grpSp>
        <p:nvGrpSpPr>
          <p:cNvPr id="2" name="Group 6"/>
          <p:cNvGrpSpPr>
            <a:grpSpLocks/>
          </p:cNvGrpSpPr>
          <p:nvPr/>
        </p:nvGrpSpPr>
        <p:grpSpPr bwMode="auto">
          <a:xfrm>
            <a:off x="1127125" y="2133600"/>
            <a:ext cx="6248400" cy="1057275"/>
            <a:chOff x="960" y="3024"/>
            <a:chExt cx="3936" cy="666"/>
          </a:xfrm>
        </p:grpSpPr>
        <p:sp>
          <p:nvSpPr>
            <p:cNvPr id="92165" name="Rectangle 7"/>
            <p:cNvSpPr>
              <a:spLocks noChangeArrowheads="1"/>
            </p:cNvSpPr>
            <p:nvPr/>
          </p:nvSpPr>
          <p:spPr bwMode="auto">
            <a:xfrm>
              <a:off x="1046" y="3024"/>
              <a:ext cx="385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ea typeface="宋体" panose="02010600030101010101" pitchFamily="2" charset="-122"/>
                </a:rPr>
                <a:t>0      1      2      3      4      5      6      7      8      9</a:t>
              </a:r>
            </a:p>
          </p:txBody>
        </p:sp>
        <p:sp>
          <p:nvSpPr>
            <p:cNvPr id="92166" name="Rectangle 8"/>
            <p:cNvSpPr>
              <a:spLocks noChangeArrowheads="1"/>
            </p:cNvSpPr>
            <p:nvPr/>
          </p:nvSpPr>
          <p:spPr bwMode="auto">
            <a:xfrm>
              <a:off x="4416"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900</a:t>
              </a:r>
            </a:p>
          </p:txBody>
        </p:sp>
        <p:sp>
          <p:nvSpPr>
            <p:cNvPr id="92167" name="Rectangle 9"/>
            <p:cNvSpPr>
              <a:spLocks noChangeArrowheads="1"/>
            </p:cNvSpPr>
            <p:nvPr/>
          </p:nvSpPr>
          <p:spPr bwMode="auto">
            <a:xfrm>
              <a:off x="4032"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800</a:t>
              </a:r>
            </a:p>
          </p:txBody>
        </p:sp>
        <p:sp>
          <p:nvSpPr>
            <p:cNvPr id="92168" name="Rectangle 10"/>
            <p:cNvSpPr>
              <a:spLocks noChangeArrowheads="1"/>
            </p:cNvSpPr>
            <p:nvPr/>
          </p:nvSpPr>
          <p:spPr bwMode="auto">
            <a:xfrm>
              <a:off x="3648"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700</a:t>
              </a:r>
            </a:p>
          </p:txBody>
        </p:sp>
        <p:sp>
          <p:nvSpPr>
            <p:cNvPr id="92169" name="Rectangle 11"/>
            <p:cNvSpPr>
              <a:spLocks noChangeArrowheads="1"/>
            </p:cNvSpPr>
            <p:nvPr/>
          </p:nvSpPr>
          <p:spPr bwMode="auto">
            <a:xfrm>
              <a:off x="3264"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92170" name="Rectangle 12"/>
            <p:cNvSpPr>
              <a:spLocks noChangeArrowheads="1"/>
            </p:cNvSpPr>
            <p:nvPr/>
          </p:nvSpPr>
          <p:spPr bwMode="auto">
            <a:xfrm>
              <a:off x="2880"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500</a:t>
              </a:r>
            </a:p>
          </p:txBody>
        </p:sp>
        <p:sp>
          <p:nvSpPr>
            <p:cNvPr id="92171" name="Rectangle 13"/>
            <p:cNvSpPr>
              <a:spLocks noChangeArrowheads="1"/>
            </p:cNvSpPr>
            <p:nvPr/>
          </p:nvSpPr>
          <p:spPr bwMode="auto">
            <a:xfrm>
              <a:off x="2496"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92172" name="Rectangle 14"/>
            <p:cNvSpPr>
              <a:spLocks noChangeArrowheads="1"/>
            </p:cNvSpPr>
            <p:nvPr/>
          </p:nvSpPr>
          <p:spPr bwMode="auto">
            <a:xfrm>
              <a:off x="2112"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300</a:t>
              </a:r>
            </a:p>
          </p:txBody>
        </p:sp>
        <p:sp>
          <p:nvSpPr>
            <p:cNvPr id="92173" name="Rectangle 15"/>
            <p:cNvSpPr>
              <a:spLocks noChangeArrowheads="1"/>
            </p:cNvSpPr>
            <p:nvPr/>
          </p:nvSpPr>
          <p:spPr bwMode="auto">
            <a:xfrm>
              <a:off x="1728"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92174" name="Rectangle 16"/>
            <p:cNvSpPr>
              <a:spLocks noChangeArrowheads="1"/>
            </p:cNvSpPr>
            <p:nvPr/>
          </p:nvSpPr>
          <p:spPr bwMode="auto">
            <a:xfrm>
              <a:off x="1344"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hlink"/>
                  </a:solidFill>
                  <a:ea typeface="仿宋_GB2312"/>
                  <a:cs typeface="仿宋_GB2312"/>
                </a:rPr>
                <a:t>100</a:t>
              </a:r>
            </a:p>
          </p:txBody>
        </p:sp>
        <p:sp>
          <p:nvSpPr>
            <p:cNvPr id="92175" name="Rectangle 17"/>
            <p:cNvSpPr>
              <a:spLocks noChangeArrowheads="1"/>
            </p:cNvSpPr>
            <p:nvPr/>
          </p:nvSpPr>
          <p:spPr bwMode="auto">
            <a:xfrm>
              <a:off x="960" y="3370"/>
              <a:ext cx="38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92176" name="Line 18"/>
            <p:cNvSpPr>
              <a:spLocks noChangeShapeType="1"/>
            </p:cNvSpPr>
            <p:nvPr/>
          </p:nvSpPr>
          <p:spPr bwMode="auto">
            <a:xfrm>
              <a:off x="960" y="3370"/>
              <a:ext cx="38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7" name="Line 19"/>
            <p:cNvSpPr>
              <a:spLocks noChangeShapeType="1"/>
            </p:cNvSpPr>
            <p:nvPr/>
          </p:nvSpPr>
          <p:spPr bwMode="auto">
            <a:xfrm>
              <a:off x="960" y="3690"/>
              <a:ext cx="3840"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8" name="Line 20"/>
            <p:cNvSpPr>
              <a:spLocks noChangeShapeType="1"/>
            </p:cNvSpPr>
            <p:nvPr/>
          </p:nvSpPr>
          <p:spPr bwMode="auto">
            <a:xfrm>
              <a:off x="960" y="3370"/>
              <a:ext cx="0" cy="32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9" name="Line 21"/>
            <p:cNvSpPr>
              <a:spLocks noChangeShapeType="1"/>
            </p:cNvSpPr>
            <p:nvPr/>
          </p:nvSpPr>
          <p:spPr bwMode="auto">
            <a:xfrm>
              <a:off x="1344"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Line 22"/>
            <p:cNvSpPr>
              <a:spLocks noChangeShapeType="1"/>
            </p:cNvSpPr>
            <p:nvPr/>
          </p:nvSpPr>
          <p:spPr bwMode="auto">
            <a:xfrm>
              <a:off x="1728"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1" name="Line 23"/>
            <p:cNvSpPr>
              <a:spLocks noChangeShapeType="1"/>
            </p:cNvSpPr>
            <p:nvPr/>
          </p:nvSpPr>
          <p:spPr bwMode="auto">
            <a:xfrm>
              <a:off x="2112"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2" name="Line 24"/>
            <p:cNvSpPr>
              <a:spLocks noChangeShapeType="1"/>
            </p:cNvSpPr>
            <p:nvPr/>
          </p:nvSpPr>
          <p:spPr bwMode="auto">
            <a:xfrm>
              <a:off x="2496"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3" name="Line 25"/>
            <p:cNvSpPr>
              <a:spLocks noChangeShapeType="1"/>
            </p:cNvSpPr>
            <p:nvPr/>
          </p:nvSpPr>
          <p:spPr bwMode="auto">
            <a:xfrm>
              <a:off x="2880"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4" name="Line 26"/>
            <p:cNvSpPr>
              <a:spLocks noChangeShapeType="1"/>
            </p:cNvSpPr>
            <p:nvPr/>
          </p:nvSpPr>
          <p:spPr bwMode="auto">
            <a:xfrm>
              <a:off x="3264"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5" name="Line 27"/>
            <p:cNvSpPr>
              <a:spLocks noChangeShapeType="1"/>
            </p:cNvSpPr>
            <p:nvPr/>
          </p:nvSpPr>
          <p:spPr bwMode="auto">
            <a:xfrm>
              <a:off x="3648"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6" name="Line 28"/>
            <p:cNvSpPr>
              <a:spLocks noChangeShapeType="1"/>
            </p:cNvSpPr>
            <p:nvPr/>
          </p:nvSpPr>
          <p:spPr bwMode="auto">
            <a:xfrm>
              <a:off x="4032"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7" name="Line 29"/>
            <p:cNvSpPr>
              <a:spLocks noChangeShapeType="1"/>
            </p:cNvSpPr>
            <p:nvPr/>
          </p:nvSpPr>
          <p:spPr bwMode="auto">
            <a:xfrm>
              <a:off x="4416" y="3370"/>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8" name="Line 30"/>
            <p:cNvSpPr>
              <a:spLocks noChangeShapeType="1"/>
            </p:cNvSpPr>
            <p:nvPr/>
          </p:nvSpPr>
          <p:spPr bwMode="auto">
            <a:xfrm>
              <a:off x="4800" y="3370"/>
              <a:ext cx="0" cy="32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文本框 2">
            <a:extLst>
              <a:ext uri="{FF2B5EF4-FFF2-40B4-BE49-F238E27FC236}">
                <a16:creationId xmlns:a16="http://schemas.microsoft.com/office/drawing/2014/main" id="{297E1342-9E64-8710-D235-D59A4144E13D}"/>
              </a:ext>
            </a:extLst>
          </p:cNvPr>
          <p:cNvSpPr txBox="1"/>
          <p:nvPr/>
        </p:nvSpPr>
        <p:spPr>
          <a:xfrm>
            <a:off x="899592" y="3645024"/>
            <a:ext cx="7128792" cy="1384995"/>
          </a:xfrm>
          <a:prstGeom prst="rect">
            <a:avLst/>
          </a:prstGeom>
          <a:noFill/>
        </p:spPr>
        <p:txBody>
          <a:bodyPr wrap="square" rtlCol="0">
            <a:spAutoFit/>
          </a:bodyPr>
          <a:lstStyle/>
          <a:p>
            <a:r>
              <a:rPr lang="zh-CN" altLang="en-US" dirty="0"/>
              <a:t>关键字除以</a:t>
            </a:r>
            <a:r>
              <a:rPr lang="en-US" altLang="zh-CN" dirty="0"/>
              <a:t>100</a:t>
            </a:r>
            <a:r>
              <a:rPr lang="zh-CN" altLang="en-US" dirty="0"/>
              <a:t>得到多少就存储在标号为多少的区域</a:t>
            </a:r>
            <a:endParaRPr lang="en-US" altLang="zh-CN" dirty="0"/>
          </a:p>
          <a:p>
            <a:r>
              <a:rPr lang="en-US" altLang="zh-CN" dirty="0"/>
              <a:t>Eg.100/100=1,</a:t>
            </a:r>
            <a:r>
              <a:rPr lang="zh-CN" altLang="en-US" dirty="0"/>
              <a:t>存储在标号为</a:t>
            </a:r>
            <a:r>
              <a:rPr lang="en-US" altLang="zh-CN" dirty="0"/>
              <a:t>1</a:t>
            </a:r>
            <a:r>
              <a:rPr lang="zh-CN" altLang="en-US" dirty="0"/>
              <a:t>的区域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5559" name="Rectangle 87"/>
          <p:cNvSpPr>
            <a:spLocks noChangeArrowheads="1"/>
          </p:cNvSpPr>
          <p:nvPr/>
        </p:nvSpPr>
        <p:spPr bwMode="auto">
          <a:xfrm>
            <a:off x="468313" y="765175"/>
            <a:ext cx="8280400" cy="265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sz="3200" dirty="0">
                <a:solidFill>
                  <a:srgbClr val="FF3300"/>
                </a:solidFill>
              </a:rPr>
              <a:t>Hash(key)=</a:t>
            </a:r>
            <a:r>
              <a:rPr lang="en-US" altLang="zh-CN" sz="3200" dirty="0">
                <a:solidFill>
                  <a:srgbClr val="FF3300"/>
                </a:solidFill>
                <a:highlight>
                  <a:srgbClr val="00FF00"/>
                </a:highlight>
              </a:rPr>
              <a:t>key  mod  p    </a:t>
            </a:r>
            <a:r>
              <a:rPr lang="en-US" altLang="zh-CN" sz="3200" dirty="0">
                <a:solidFill>
                  <a:srgbClr val="FF3300"/>
                </a:solidFill>
              </a:rPr>
              <a:t>(p</a:t>
            </a:r>
            <a:r>
              <a:rPr lang="zh-CN" altLang="en-US" sz="3200" dirty="0">
                <a:solidFill>
                  <a:srgbClr val="FF3300"/>
                </a:solidFill>
              </a:rPr>
              <a:t>是一个整数</a:t>
            </a:r>
            <a:r>
              <a:rPr lang="en-US" altLang="zh-CN" sz="3200" dirty="0">
                <a:solidFill>
                  <a:srgbClr val="FF3300"/>
                </a:solidFill>
              </a:rPr>
              <a:t>)</a:t>
            </a:r>
          </a:p>
          <a:p>
            <a:pPr>
              <a:spcBef>
                <a:spcPct val="20000"/>
              </a:spcBef>
              <a:buFont typeface="Arial" panose="020B0604020202020204" pitchFamily="34" charset="0"/>
              <a:buNone/>
            </a:pPr>
            <a:endParaRPr lang="en-US" altLang="zh-CN" sz="3200" dirty="0">
              <a:latin typeface="楷体_GB2312"/>
            </a:endParaRPr>
          </a:p>
          <a:p>
            <a:pPr>
              <a:buFont typeface="Arial" panose="020B0604020202020204" pitchFamily="34" charset="0"/>
              <a:buNone/>
            </a:pPr>
            <a:r>
              <a:rPr lang="zh-CN" altLang="en-US" sz="3200" dirty="0">
                <a:solidFill>
                  <a:schemeClr val="hlink"/>
                </a:solidFill>
                <a:latin typeface="楷体_GB2312"/>
              </a:rPr>
              <a:t>关键：</a:t>
            </a:r>
            <a:r>
              <a:rPr lang="zh-CN" altLang="en-US" sz="3200" dirty="0">
                <a:latin typeface="楷体_GB2312"/>
              </a:rPr>
              <a:t>如何选取合适的</a:t>
            </a:r>
            <a:r>
              <a:rPr lang="en-US" altLang="zh-CN" sz="3200" dirty="0"/>
              <a:t>p</a:t>
            </a:r>
            <a:r>
              <a:rPr lang="zh-CN" altLang="en-US" sz="3200" dirty="0">
                <a:latin typeface="楷体_GB2312"/>
              </a:rPr>
              <a:t>？</a:t>
            </a:r>
          </a:p>
          <a:p>
            <a:pPr>
              <a:buFont typeface="Arial" panose="020B0604020202020204" pitchFamily="34" charset="0"/>
              <a:buNone/>
            </a:pPr>
            <a:r>
              <a:rPr lang="zh-CN" altLang="en-US" sz="3200" dirty="0">
                <a:solidFill>
                  <a:schemeClr val="hlink"/>
                </a:solidFill>
                <a:latin typeface="楷体_GB2312"/>
              </a:rPr>
              <a:t>技巧：</a:t>
            </a:r>
            <a:r>
              <a:rPr lang="zh-CN" altLang="en-US" sz="3200" dirty="0">
                <a:latin typeface="楷体_GB2312"/>
              </a:rPr>
              <a:t>设表长为</a:t>
            </a:r>
            <a:r>
              <a:rPr lang="en-US" altLang="zh-CN" sz="3200" dirty="0"/>
              <a:t>m</a:t>
            </a:r>
            <a:r>
              <a:rPr lang="zh-CN" altLang="en-US" sz="3200" dirty="0">
                <a:latin typeface="楷体_GB2312"/>
              </a:rPr>
              <a:t>，取</a:t>
            </a:r>
            <a:r>
              <a:rPr lang="en-US" altLang="zh-CN" sz="3200" dirty="0" err="1">
                <a:solidFill>
                  <a:schemeClr val="tx2"/>
                </a:solidFill>
                <a:highlight>
                  <a:srgbClr val="00FF00"/>
                </a:highlight>
              </a:rPr>
              <a:t>p≤m</a:t>
            </a:r>
            <a:r>
              <a:rPr lang="zh-CN" altLang="en-US" sz="3200" dirty="0">
                <a:solidFill>
                  <a:schemeClr val="tx2"/>
                </a:solidFill>
              </a:rPr>
              <a:t>且为</a:t>
            </a:r>
            <a:r>
              <a:rPr lang="zh-CN" altLang="en-US" sz="3200" dirty="0">
                <a:solidFill>
                  <a:schemeClr val="tx2"/>
                </a:solidFill>
                <a:highlight>
                  <a:srgbClr val="00FF00"/>
                </a:highlight>
                <a:latin typeface="楷体_GB2312"/>
              </a:rPr>
              <a:t>质</a:t>
            </a:r>
            <a:r>
              <a:rPr lang="zh-CN" altLang="en-US" sz="3200" dirty="0">
                <a:solidFill>
                  <a:schemeClr val="tx2"/>
                </a:solidFill>
                <a:latin typeface="楷体_GB2312"/>
              </a:rPr>
              <a:t>数</a:t>
            </a:r>
          </a:p>
          <a:p>
            <a:pPr>
              <a:buFont typeface="Arial" panose="020B0604020202020204" pitchFamily="34" charset="0"/>
              <a:buNone/>
            </a:pPr>
            <a:r>
              <a:rPr lang="zh-CN" altLang="en-US" sz="3200" dirty="0">
                <a:solidFill>
                  <a:schemeClr val="tx2"/>
                </a:solidFill>
                <a:latin typeface="楷体_GB2312"/>
              </a:rPr>
              <a:t>     </a:t>
            </a:r>
            <a:endParaRPr lang="zh-CN" altLang="en-US" sz="3200" dirty="0">
              <a:latin typeface="楷体_GB2312"/>
            </a:endParaRPr>
          </a:p>
        </p:txBody>
      </p:sp>
      <p:sp>
        <p:nvSpPr>
          <p:cNvPr id="745560" name="Rectangle 88"/>
          <p:cNvSpPr>
            <a:spLocks noChangeArrowheads="1"/>
          </p:cNvSpPr>
          <p:nvPr/>
        </p:nvSpPr>
        <p:spPr bwMode="auto">
          <a:xfrm>
            <a:off x="3275856" y="9525"/>
            <a:ext cx="4680520" cy="515938"/>
          </a:xfrm>
          <a:prstGeom prst="rect">
            <a:avLst/>
          </a:prstGeom>
          <a:solidFill>
            <a:srgbClr val="FFFF99"/>
          </a:solidFill>
          <a:ln w="9525">
            <a:noFill/>
            <a:miter lim="800000"/>
          </a:ln>
          <a:effectLst/>
        </p:spPr>
        <p:txBody>
          <a:bodyPr anchor="ctr"/>
          <a:lstStyle/>
          <a:p>
            <a:pPr>
              <a:defRPr/>
            </a:pPr>
            <a:r>
              <a:rPr kumimoji="1" lang="zh-CN" altLang="en-US" sz="2400" dirty="0">
                <a:latin typeface="楷体_GB2312" pitchFamily="49" charset="-122"/>
                <a:ea typeface="楷体_GB2312" pitchFamily="49" charset="-122"/>
                <a:cs typeface="+mn-cs"/>
                <a:sym typeface="+mn-ea"/>
              </a:rPr>
              <a:t>除留余数法</a:t>
            </a:r>
            <a:r>
              <a:rPr kumimoji="1" lang="zh-CN" altLang="en-US" sz="3600" dirty="0">
                <a:solidFill>
                  <a:schemeClr val="accent1"/>
                </a:solidFill>
                <a:effectLst>
                  <a:outerShdw blurRad="38100" dist="38100" dir="2700000" algn="tl">
                    <a:srgbClr val="000000"/>
                  </a:outerShdw>
                </a:effectLst>
                <a:ea typeface="仿宋_GB2312" pitchFamily="49" charset="-122"/>
                <a:cs typeface="+mn-cs"/>
                <a:sym typeface="+mn-ea"/>
              </a:rPr>
              <a:t> </a:t>
            </a:r>
            <a:r>
              <a:rPr kumimoji="1" lang="zh-CN" altLang="en-US" sz="2400" dirty="0">
                <a:solidFill>
                  <a:srgbClr val="FF3300"/>
                </a:solidFill>
                <a:latin typeface="楷体_GB2312" pitchFamily="49" charset="-122"/>
                <a:ea typeface="楷体_GB2312" pitchFamily="49" charset="-122"/>
                <a:cs typeface="+mn-cs"/>
                <a:sym typeface="+mn-ea"/>
              </a:rPr>
              <a:t>（</a:t>
            </a:r>
            <a:r>
              <a:rPr kumimoji="1" lang="zh-CN" altLang="en-US" sz="2400" dirty="0">
                <a:solidFill>
                  <a:srgbClr val="FF3300"/>
                </a:solidFill>
                <a:highlight>
                  <a:srgbClr val="00FF00"/>
                </a:highlight>
                <a:latin typeface="楷体_GB2312" pitchFamily="49" charset="-122"/>
                <a:ea typeface="楷体_GB2312" pitchFamily="49" charset="-122"/>
                <a:cs typeface="+mn-cs"/>
                <a:sym typeface="+mn-ea"/>
              </a:rPr>
              <a:t>最常用重点掌握</a:t>
            </a:r>
            <a:r>
              <a:rPr kumimoji="1" lang="zh-CN" altLang="en-US" sz="2400" dirty="0">
                <a:solidFill>
                  <a:srgbClr val="FF3300"/>
                </a:solidFill>
                <a:latin typeface="楷体_GB2312" pitchFamily="49" charset="-122"/>
                <a:ea typeface="楷体_GB2312" pitchFamily="49" charset="-122"/>
                <a:cs typeface="+mn-cs"/>
                <a:sym typeface="+mn-ea"/>
              </a:rPr>
              <a:t>）</a:t>
            </a:r>
          </a:p>
        </p:txBody>
      </p:sp>
    </p:spTree>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55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55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4555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455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5559"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7" name="Rectangle 5"/>
          <p:cNvSpPr>
            <a:spLocks noChangeArrowheads="1"/>
          </p:cNvSpPr>
          <p:nvPr/>
        </p:nvSpPr>
        <p:spPr bwMode="auto">
          <a:xfrm>
            <a:off x="323850" y="765175"/>
            <a:ext cx="8351838" cy="3671888"/>
          </a:xfrm>
          <a:prstGeom prst="rect">
            <a:avLst/>
          </a:prstGeom>
          <a:noFill/>
          <a:ln w="9525">
            <a:noFill/>
            <a:miter lim="800000"/>
          </a:ln>
          <a:effectLst/>
        </p:spPr>
        <p:txBody>
          <a:bodyPr anchor="ctr"/>
          <a:lstStyle/>
          <a:p>
            <a:pPr eaLnBrk="1" hangingPunct="1">
              <a:spcBef>
                <a:spcPct val="50000"/>
              </a:spcBef>
              <a:defRPr/>
            </a:pPr>
            <a:r>
              <a:rPr kumimoji="1" lang="en-US" altLang="zh-CN" sz="3200">
                <a:latin typeface="楷体_GB2312" pitchFamily="49" charset="-122"/>
                <a:ea typeface="楷体_GB2312" pitchFamily="49" charset="-122"/>
                <a:cs typeface="+mn-cs"/>
                <a:sym typeface="+mn-ea"/>
              </a:rPr>
              <a:t>① </a:t>
            </a:r>
            <a:r>
              <a:rPr kumimoji="1" lang="zh-CN" altLang="en-US" sz="3200">
                <a:latin typeface="楷体_GB2312" pitchFamily="49" charset="-122"/>
                <a:ea typeface="楷体_GB2312" pitchFamily="49" charset="-122"/>
                <a:cs typeface="+mn-cs"/>
                <a:sym typeface="+mn-ea"/>
              </a:rPr>
              <a:t>执行速度（即计算哈希函数所需时间）；</a:t>
            </a:r>
          </a:p>
          <a:p>
            <a:pPr eaLnBrk="1" hangingPunct="1">
              <a:defRPr/>
            </a:pPr>
            <a:r>
              <a:rPr kumimoji="1" lang="zh-CN" altLang="en-US" sz="3200">
                <a:latin typeface="楷体_GB2312" pitchFamily="49" charset="-122"/>
                <a:ea typeface="楷体_GB2312" pitchFamily="49" charset="-122"/>
                <a:cs typeface="+mn-cs"/>
                <a:sym typeface="+mn-ea"/>
              </a:rPr>
              <a:t>② 关键字的长度；</a:t>
            </a:r>
          </a:p>
          <a:p>
            <a:pPr eaLnBrk="1" hangingPunct="1">
              <a:defRPr/>
            </a:pPr>
            <a:r>
              <a:rPr kumimoji="1" lang="zh-CN" altLang="en-US" sz="3200">
                <a:latin typeface="楷体_GB2312" pitchFamily="49" charset="-122"/>
                <a:ea typeface="楷体_GB2312" pitchFamily="49" charset="-122"/>
                <a:cs typeface="+mn-cs"/>
                <a:sym typeface="+mn-ea"/>
              </a:rPr>
              <a:t>③ 哈希表的大小；</a:t>
            </a:r>
          </a:p>
          <a:p>
            <a:pPr eaLnBrk="1" hangingPunct="1">
              <a:defRPr/>
            </a:pPr>
            <a:r>
              <a:rPr kumimoji="1" lang="zh-CN" altLang="en-US" sz="3200">
                <a:latin typeface="楷体_GB2312" pitchFamily="49" charset="-122"/>
                <a:ea typeface="楷体_GB2312" pitchFamily="49" charset="-122"/>
                <a:cs typeface="+mn-cs"/>
                <a:sym typeface="+mn-ea"/>
              </a:rPr>
              <a:t>④ 关键字的分布情况；</a:t>
            </a:r>
          </a:p>
          <a:p>
            <a:pPr eaLnBrk="1" hangingPunct="1">
              <a:defRPr/>
            </a:pPr>
            <a:r>
              <a:rPr kumimoji="1" lang="zh-CN" altLang="en-US" sz="3200">
                <a:latin typeface="楷体_GB2312" pitchFamily="49" charset="-122"/>
                <a:ea typeface="楷体_GB2312" pitchFamily="49" charset="-122"/>
                <a:cs typeface="+mn-cs"/>
                <a:sym typeface="+mn-ea"/>
              </a:rPr>
              <a:t>⑤ 查找频率。</a:t>
            </a:r>
            <a:endParaRPr kumimoji="1" lang="zh-CN" altLang="en-US" sz="3200">
              <a:solidFill>
                <a:srgbClr val="FF00FF"/>
              </a:solidFill>
              <a:effectLst>
                <a:outerShdw blurRad="38100" dist="38100" dir="2700000" algn="tl">
                  <a:srgbClr val="C0C0C0"/>
                </a:outerShdw>
              </a:effectLst>
              <a:latin typeface="楷体_GB2312" pitchFamily="49" charset="-122"/>
              <a:ea typeface="楷体_GB2312" pitchFamily="49" charset="-122"/>
              <a:cs typeface="+mn-cs"/>
              <a:sym typeface="+mn-ea"/>
            </a:endParaRPr>
          </a:p>
        </p:txBody>
      </p:sp>
      <p:sp>
        <p:nvSpPr>
          <p:cNvPr id="94212" name="Rectangle 6"/>
          <p:cNvSpPr>
            <a:spLocks noChangeArrowheads="1"/>
          </p:cNvSpPr>
          <p:nvPr/>
        </p:nvSpPr>
        <p:spPr bwMode="auto">
          <a:xfrm>
            <a:off x="3491880" y="0"/>
            <a:ext cx="49641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构造哈希函数考虑的因素</a:t>
            </a:r>
          </a:p>
        </p:txBody>
      </p:sp>
      <p:sp>
        <p:nvSpPr>
          <p:cNvPr id="980999" name="AutoShape 7">
            <a:hlinkClick r:id="rId2" action="ppaction://hlinksldjump" highlightClick="1"/>
          </p:cNvPr>
          <p:cNvSpPr>
            <a:spLocks noChangeArrowheads="1"/>
          </p:cNvSpPr>
          <p:nvPr/>
        </p:nvSpPr>
        <p:spPr bwMode="auto">
          <a:xfrm flipH="1">
            <a:off x="8001000" y="5791200"/>
            <a:ext cx="533400" cy="457200"/>
          </a:xfrm>
          <a:prstGeom prst="actionButtonForwardNext">
            <a:avLst/>
          </a:prstGeom>
          <a:noFill/>
          <a:ln w="9525">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80997">
                                            <p:txEl>
                                              <p:pRg st="0" end="0"/>
                                            </p:txEl>
                                          </p:spTgt>
                                        </p:tgtEl>
                                        <p:attrNameLst>
                                          <p:attrName>style.visibility</p:attrName>
                                        </p:attrNameLst>
                                      </p:cBhvr>
                                      <p:to>
                                        <p:strVal val="visible"/>
                                      </p:to>
                                    </p:set>
                                    <p:animEffect transition="in" filter="wipe(up)">
                                      <p:cBhvr>
                                        <p:cTn id="7" dur="500"/>
                                        <p:tgtEl>
                                          <p:spTgt spid="980997">
                                            <p:txEl>
                                              <p:pRg st="0" end="0"/>
                                            </p:txEl>
                                          </p:spTgt>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80997">
                                            <p:txEl>
                                              <p:pRg st="1" end="1"/>
                                            </p:txEl>
                                          </p:spTgt>
                                        </p:tgtEl>
                                        <p:attrNameLst>
                                          <p:attrName>style.visibility</p:attrName>
                                        </p:attrNameLst>
                                      </p:cBhvr>
                                      <p:to>
                                        <p:strVal val="visible"/>
                                      </p:to>
                                    </p:set>
                                    <p:animEffect transition="in" filter="wipe(up)">
                                      <p:cBhvr>
                                        <p:cTn id="11" dur="500"/>
                                        <p:tgtEl>
                                          <p:spTgt spid="980997">
                                            <p:txEl>
                                              <p:pRg st="1" end="1"/>
                                            </p:txEl>
                                          </p:spTgt>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980997">
                                            <p:txEl>
                                              <p:pRg st="2" end="2"/>
                                            </p:txEl>
                                          </p:spTgt>
                                        </p:tgtEl>
                                        <p:attrNameLst>
                                          <p:attrName>style.visibility</p:attrName>
                                        </p:attrNameLst>
                                      </p:cBhvr>
                                      <p:to>
                                        <p:strVal val="visible"/>
                                      </p:to>
                                    </p:set>
                                    <p:animEffect transition="in" filter="wipe(up)">
                                      <p:cBhvr>
                                        <p:cTn id="15" dur="500"/>
                                        <p:tgtEl>
                                          <p:spTgt spid="980997">
                                            <p:txEl>
                                              <p:pRg st="2" end="2"/>
                                            </p:txEl>
                                          </p:spTgt>
                                        </p:tgtEl>
                                      </p:cBhvr>
                                    </p:animEffect>
                                  </p:childTnLst>
                                </p:cTn>
                              </p:par>
                            </p:childTnLst>
                          </p:cTn>
                        </p:par>
                        <p:par>
                          <p:cTn id="16" fill="hold" nodeType="afterGroup">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980997">
                                            <p:txEl>
                                              <p:pRg st="3" end="3"/>
                                            </p:txEl>
                                          </p:spTgt>
                                        </p:tgtEl>
                                        <p:attrNameLst>
                                          <p:attrName>style.visibility</p:attrName>
                                        </p:attrNameLst>
                                      </p:cBhvr>
                                      <p:to>
                                        <p:strVal val="visible"/>
                                      </p:to>
                                    </p:set>
                                    <p:animEffect transition="in" filter="wipe(up)">
                                      <p:cBhvr>
                                        <p:cTn id="19" dur="500"/>
                                        <p:tgtEl>
                                          <p:spTgt spid="980997">
                                            <p:txEl>
                                              <p:pRg st="3" end="3"/>
                                            </p:txEl>
                                          </p:spTgt>
                                        </p:tgtEl>
                                      </p:cBhvr>
                                    </p:animEffect>
                                  </p:childTnLst>
                                </p:cTn>
                              </p:par>
                            </p:childTnLst>
                          </p:cTn>
                        </p:par>
                        <p:par>
                          <p:cTn id="20" fill="hold" nodeType="afterGroup">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980997">
                                            <p:txEl>
                                              <p:pRg st="4" end="4"/>
                                            </p:txEl>
                                          </p:spTgt>
                                        </p:tgtEl>
                                        <p:attrNameLst>
                                          <p:attrName>style.visibility</p:attrName>
                                        </p:attrNameLst>
                                      </p:cBhvr>
                                      <p:to>
                                        <p:strVal val="visible"/>
                                      </p:to>
                                    </p:set>
                                    <p:animEffect transition="in" filter="wipe(up)">
                                      <p:cBhvr>
                                        <p:cTn id="23" dur="500"/>
                                        <p:tgtEl>
                                          <p:spTgt spid="980997">
                                            <p:txEl>
                                              <p:pRg st="4" end="4"/>
                                            </p:txEl>
                                          </p:spTgt>
                                        </p:tgtEl>
                                      </p:cBhvr>
                                    </p:animEffect>
                                  </p:childTnLst>
                                </p:cTn>
                              </p:par>
                            </p:childTnLst>
                          </p:cTn>
                        </p:par>
                        <p:par>
                          <p:cTn id="24" fill="hold" nodeType="afterGroup">
                            <p:stCondLst>
                              <p:cond delay="2500"/>
                            </p:stCondLst>
                            <p:childTnLst>
                              <p:par>
                                <p:cTn id="25" presetID="1" presetClass="entr" presetSubtype="0" fill="hold" grpId="0" nodeType="afterEffect">
                                  <p:stCondLst>
                                    <p:cond delay="0"/>
                                  </p:stCondLst>
                                  <p:childTnLst>
                                    <p:set>
                                      <p:cBhvr>
                                        <p:cTn id="26" dur="1" fill="hold">
                                          <p:stCondLst>
                                            <p:cond delay="499"/>
                                          </p:stCondLst>
                                        </p:cTn>
                                        <p:tgtEl>
                                          <p:spTgt spid="9809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0997" grpId="0" build="p" advAuto="0"/>
      <p:bldP spid="98099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98" name="Comment 78">
            <a:hlinkClick r:id="rId2" action="ppaction://hlinksldjump"/>
          </p:cNvPr>
          <p:cNvSpPr>
            <a:spLocks noChangeArrowheads="1"/>
          </p:cNvSpPr>
          <p:nvPr/>
        </p:nvSpPr>
        <p:spPr bwMode="auto">
          <a:xfrm>
            <a:off x="2051050" y="836613"/>
            <a:ext cx="4826000" cy="650875"/>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en-US" altLang="zh-CN" sz="3600">
                <a:solidFill>
                  <a:schemeClr val="hlink"/>
                </a:solidFill>
                <a:latin typeface="Arial" panose="020B0604020202020204" pitchFamily="34" charset="0"/>
                <a:ea typeface="楷体_GB2312" pitchFamily="49" charset="-122"/>
                <a:cs typeface="+mn-cs"/>
                <a:sym typeface="+mn-ea"/>
              </a:rPr>
              <a:t>1.</a:t>
            </a:r>
            <a:r>
              <a:rPr lang="zh-CN" altLang="en-US" sz="3600">
                <a:solidFill>
                  <a:schemeClr val="hlink"/>
                </a:solidFill>
                <a:latin typeface="Arial" panose="020B0604020202020204" pitchFamily="34" charset="0"/>
                <a:ea typeface="楷体_GB2312" pitchFamily="49" charset="-122"/>
                <a:cs typeface="+mn-cs"/>
                <a:sym typeface="+mn-ea"/>
                <a:hlinkClick r:id="" action="ppaction://hlinkshowjump?jump=nextslide"/>
              </a:rPr>
              <a:t>开放</a:t>
            </a:r>
            <a:r>
              <a:rPr lang="zh-CN" altLang="en-US" sz="3600">
                <a:solidFill>
                  <a:srgbClr val="FF3300"/>
                </a:solidFill>
                <a:latin typeface="Arial" panose="020B0604020202020204" pitchFamily="34" charset="0"/>
                <a:ea typeface="楷体_GB2312" pitchFamily="49" charset="-122"/>
                <a:cs typeface="+mn-cs"/>
                <a:sym typeface="+mn-ea"/>
                <a:hlinkClick r:id="" action="ppaction://hlinkshowjump?jump=nextslide"/>
              </a:rPr>
              <a:t>定址法</a:t>
            </a:r>
            <a:endParaRPr lang="zh-CN" altLang="en-US" sz="3600">
              <a:solidFill>
                <a:srgbClr val="FF3300"/>
              </a:solidFill>
              <a:latin typeface="Arial" panose="020B0604020202020204" pitchFamily="34" charset="0"/>
              <a:ea typeface="楷体_GB2312" pitchFamily="49" charset="-122"/>
              <a:cs typeface="+mn-cs"/>
              <a:sym typeface="+mn-ea"/>
            </a:endParaRPr>
          </a:p>
        </p:txBody>
      </p:sp>
      <p:sp>
        <p:nvSpPr>
          <p:cNvPr id="95235" name="Rectangle 80"/>
          <p:cNvSpPr>
            <a:spLocks noChangeArrowheads="1"/>
          </p:cNvSpPr>
          <p:nvPr/>
        </p:nvSpPr>
        <p:spPr bwMode="auto">
          <a:xfrm>
            <a:off x="3491880" y="29369"/>
            <a:ext cx="49641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处理冲突的方法</a:t>
            </a:r>
          </a:p>
        </p:txBody>
      </p:sp>
      <p:sp>
        <p:nvSpPr>
          <p:cNvPr id="747602" name="Comment 82">
            <a:hlinkClick r:id="rId3" action="ppaction://hlinksldjump"/>
          </p:cNvPr>
          <p:cNvSpPr>
            <a:spLocks noChangeArrowheads="1"/>
          </p:cNvSpPr>
          <p:nvPr/>
        </p:nvSpPr>
        <p:spPr bwMode="auto">
          <a:xfrm>
            <a:off x="2051050" y="2566988"/>
            <a:ext cx="4826000" cy="650875"/>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en-US" altLang="zh-CN" sz="3600">
                <a:solidFill>
                  <a:schemeClr val="hlink"/>
                </a:solidFill>
                <a:latin typeface="Arial" panose="020B0604020202020204" pitchFamily="34" charset="0"/>
                <a:ea typeface="楷体_GB2312" pitchFamily="49" charset="-122"/>
                <a:cs typeface="+mn-cs"/>
                <a:sym typeface="+mn-ea"/>
              </a:rPr>
              <a:t>2.</a:t>
            </a:r>
            <a:r>
              <a:rPr lang="zh-CN" altLang="en-US" sz="3600">
                <a:solidFill>
                  <a:schemeClr val="hlink"/>
                </a:solidFill>
                <a:latin typeface="Arial" panose="020B0604020202020204" pitchFamily="34" charset="0"/>
                <a:ea typeface="楷体_GB2312" pitchFamily="49" charset="-122"/>
                <a:cs typeface="+mn-cs"/>
                <a:sym typeface="+mn-ea"/>
                <a:hlinkClick r:id="rId3" action="ppaction://hlinksldjump"/>
              </a:rPr>
              <a:t>链地址法</a:t>
            </a:r>
            <a:endParaRPr lang="zh-CN" altLang="en-US" sz="3600">
              <a:solidFill>
                <a:schemeClr val="hlink"/>
              </a:solidFill>
              <a:latin typeface="Arial" panose="020B0604020202020204" pitchFamily="34" charset="0"/>
              <a:ea typeface="楷体_GB2312" pitchFamily="49" charset="-122"/>
              <a:cs typeface="+mn-cs"/>
              <a:sym typeface="+mn-ea"/>
            </a:endParaRPr>
          </a:p>
        </p:txBody>
      </p:sp>
    </p:spTree>
  </p:cSld>
  <p:clrMapOvr>
    <a:masterClrMapping/>
  </p:clrMapOvr>
  <p:transition>
    <p:check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22"/>
          <p:cNvSpPr>
            <a:spLocks noChangeArrowheads="1"/>
          </p:cNvSpPr>
          <p:nvPr/>
        </p:nvSpPr>
        <p:spPr bwMode="auto">
          <a:xfrm>
            <a:off x="395288" y="765175"/>
            <a:ext cx="8208962"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1524000" indent="-15240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3200">
                <a:solidFill>
                  <a:schemeClr val="hlink"/>
                </a:solidFill>
                <a:latin typeface="楷体_GB2312"/>
              </a:rPr>
              <a:t>基本思想：</a:t>
            </a:r>
            <a:r>
              <a:rPr lang="zh-CN" altLang="en-US">
                <a:latin typeface="楷体_GB2312"/>
              </a:rPr>
              <a:t>有冲突时就去</a:t>
            </a:r>
            <a:r>
              <a:rPr lang="zh-CN" altLang="en-US">
                <a:solidFill>
                  <a:srgbClr val="FF3300"/>
                </a:solidFill>
                <a:latin typeface="楷体_GB2312"/>
              </a:rPr>
              <a:t>寻找下一个空</a:t>
            </a:r>
            <a:r>
              <a:rPr lang="zh-CN" altLang="en-US">
                <a:latin typeface="楷体_GB2312"/>
              </a:rPr>
              <a:t>的哈希地址，只要哈希表足够大，空的哈希地址总能找到，并将数据元素存入。 </a:t>
            </a:r>
          </a:p>
        </p:txBody>
      </p:sp>
      <p:sp>
        <p:nvSpPr>
          <p:cNvPr id="96259" name="Rectangle 323"/>
          <p:cNvSpPr>
            <a:spLocks noChangeArrowheads="1"/>
          </p:cNvSpPr>
          <p:nvPr/>
        </p:nvSpPr>
        <p:spPr bwMode="auto">
          <a:xfrm>
            <a:off x="3347864" y="33337"/>
            <a:ext cx="51800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2400" dirty="0">
                <a:latin typeface="楷体_GB2312"/>
              </a:rPr>
              <a:t>1.</a:t>
            </a:r>
            <a:r>
              <a:rPr lang="zh-CN" altLang="en-US" sz="2400" dirty="0">
                <a:latin typeface="楷体_GB2312"/>
              </a:rPr>
              <a:t>开放定址法（开地址法）</a:t>
            </a:r>
          </a:p>
        </p:txBody>
      </p:sp>
      <p:grpSp>
        <p:nvGrpSpPr>
          <p:cNvPr id="2" name="Group 328"/>
          <p:cNvGrpSpPr>
            <a:grpSpLocks/>
          </p:cNvGrpSpPr>
          <p:nvPr/>
        </p:nvGrpSpPr>
        <p:grpSpPr bwMode="auto">
          <a:xfrm>
            <a:off x="2771775" y="2420938"/>
            <a:ext cx="3313113" cy="1968500"/>
            <a:chOff x="1746" y="1525"/>
            <a:chExt cx="2087" cy="1240"/>
          </a:xfrm>
        </p:grpSpPr>
        <p:sp>
          <p:nvSpPr>
            <p:cNvPr id="748873" name="Comment 329"/>
            <p:cNvSpPr>
              <a:spLocks noChangeArrowheads="1"/>
            </p:cNvSpPr>
            <p:nvPr/>
          </p:nvSpPr>
          <p:spPr bwMode="auto">
            <a:xfrm>
              <a:off x="1746" y="1525"/>
              <a:ext cx="2087" cy="333"/>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zh-CN" altLang="en-US">
                  <a:solidFill>
                    <a:srgbClr val="FF3300"/>
                  </a:solidFill>
                  <a:latin typeface="Arial" panose="020B0604020202020204" pitchFamily="34" charset="0"/>
                  <a:ea typeface="楷体_GB2312" pitchFamily="49" charset="-122"/>
                  <a:cs typeface="+mn-cs"/>
                  <a:sym typeface="+mn-ea"/>
                </a:rPr>
                <a:t>线性探测法</a:t>
              </a:r>
            </a:p>
          </p:txBody>
        </p:sp>
        <p:sp>
          <p:nvSpPr>
            <p:cNvPr id="748874" name="Comment 330"/>
            <p:cNvSpPr>
              <a:spLocks noChangeArrowheads="1"/>
            </p:cNvSpPr>
            <p:nvPr/>
          </p:nvSpPr>
          <p:spPr bwMode="auto">
            <a:xfrm>
              <a:off x="1746" y="1994"/>
              <a:ext cx="2087" cy="333"/>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zh-CN" altLang="en-US">
                  <a:solidFill>
                    <a:srgbClr val="FF3300"/>
                  </a:solidFill>
                  <a:latin typeface="Arial" panose="020B0604020202020204" pitchFamily="34" charset="0"/>
                  <a:ea typeface="楷体_GB2312" pitchFamily="49" charset="-122"/>
                  <a:cs typeface="+mn-cs"/>
                  <a:sym typeface="+mn-ea"/>
                </a:rPr>
                <a:t>二次探测法</a:t>
              </a:r>
            </a:p>
          </p:txBody>
        </p:sp>
        <p:sp>
          <p:nvSpPr>
            <p:cNvPr id="748875" name="Comment 331"/>
            <p:cNvSpPr>
              <a:spLocks noChangeArrowheads="1"/>
            </p:cNvSpPr>
            <p:nvPr/>
          </p:nvSpPr>
          <p:spPr bwMode="auto">
            <a:xfrm>
              <a:off x="1746" y="2432"/>
              <a:ext cx="2087" cy="333"/>
            </a:xfrm>
            <a:prstGeom prst="rect">
              <a:avLst/>
            </a:prstGeom>
            <a:solidFill>
              <a:srgbClr val="FCFDC6"/>
            </a:solidFill>
            <a:ln w="9525">
              <a:solidFill>
                <a:schemeClr val="tx1"/>
              </a:solidFill>
              <a:miter lim="800000"/>
            </a:ln>
            <a:effectLst>
              <a:outerShdw dist="107763" dir="2700000" algn="ctr" rotWithShape="0">
                <a:schemeClr val="bg2"/>
              </a:outerShdw>
            </a:effectLst>
          </p:spPr>
          <p:txBody>
            <a:bodyPr>
              <a:spAutoFit/>
            </a:bodyPr>
            <a:lstStyle/>
            <a:p>
              <a:pPr algn="ctr" eaLnBrk="1" hangingPunct="1">
                <a:spcBef>
                  <a:spcPct val="50000"/>
                </a:spcBef>
                <a:defRPr/>
              </a:pPr>
              <a:r>
                <a:rPr lang="zh-CN" altLang="en-US">
                  <a:solidFill>
                    <a:srgbClr val="FF3300"/>
                  </a:solidFill>
                  <a:latin typeface="Arial" panose="020B0604020202020204" pitchFamily="34" charset="0"/>
                  <a:ea typeface="楷体_GB2312" pitchFamily="49" charset="-122"/>
                  <a:cs typeface="+mn-cs"/>
                  <a:sym typeface="+mn-ea"/>
                </a:rPr>
                <a:t>伪随机探测法</a:t>
              </a:r>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917" name="Rectangle 5"/>
          <p:cNvSpPr>
            <a:spLocks noChangeArrowheads="1"/>
          </p:cNvSpPr>
          <p:nvPr/>
        </p:nvSpPr>
        <p:spPr bwMode="auto">
          <a:xfrm>
            <a:off x="457200" y="515938"/>
            <a:ext cx="8229600" cy="5793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en-US" altLang="zh-CN" sz="3200" dirty="0">
              <a:latin typeface="楷体_GB2312"/>
            </a:endParaRPr>
          </a:p>
          <a:p>
            <a:pPr>
              <a:spcBef>
                <a:spcPct val="20000"/>
              </a:spcBef>
              <a:buFont typeface="Arial" panose="020B0604020202020204" pitchFamily="34" charset="0"/>
              <a:buChar char="•"/>
            </a:pPr>
            <a:r>
              <a:rPr lang="en-US" altLang="zh-CN" sz="3200" dirty="0">
                <a:latin typeface="楷体_GB2312"/>
              </a:rPr>
              <a:t>step1 </a:t>
            </a:r>
            <a:r>
              <a:rPr lang="zh-CN" altLang="en-US" sz="3200" dirty="0">
                <a:latin typeface="楷体_GB2312"/>
              </a:rPr>
              <a:t>取数据元素的关键字</a:t>
            </a:r>
            <a:r>
              <a:rPr lang="en-US" altLang="zh-CN" sz="3200" dirty="0">
                <a:latin typeface="楷体_GB2312"/>
              </a:rPr>
              <a:t>key</a:t>
            </a:r>
            <a:r>
              <a:rPr lang="zh-CN" altLang="en-US" sz="3200" dirty="0">
                <a:latin typeface="楷体_GB2312"/>
              </a:rPr>
              <a:t>，</a:t>
            </a:r>
            <a:r>
              <a:rPr lang="zh-CN" altLang="en-US" sz="3200" dirty="0">
                <a:solidFill>
                  <a:srgbClr val="0000FF"/>
                </a:solidFill>
                <a:highlight>
                  <a:srgbClr val="00FF00"/>
                </a:highlight>
                <a:latin typeface="楷体_GB2312"/>
              </a:rPr>
              <a:t>计算其哈希函数值（地址）</a:t>
            </a:r>
            <a:r>
              <a:rPr lang="zh-CN" altLang="en-US" sz="3200" dirty="0">
                <a:latin typeface="楷体_GB2312"/>
              </a:rPr>
              <a:t>。若该地址对应的存储 空间还</a:t>
            </a:r>
            <a:r>
              <a:rPr lang="zh-CN" altLang="en-US" sz="3200" dirty="0">
                <a:highlight>
                  <a:srgbClr val="00FF00"/>
                </a:highlight>
                <a:latin typeface="楷体_GB2312"/>
              </a:rPr>
              <a:t>没有被占用，则将该元素存入</a:t>
            </a:r>
            <a:r>
              <a:rPr lang="zh-CN" altLang="en-US" sz="3200" dirty="0">
                <a:latin typeface="楷体_GB2312"/>
              </a:rPr>
              <a:t>；否则执行</a:t>
            </a:r>
            <a:r>
              <a:rPr lang="en-US" altLang="zh-CN" sz="3200" dirty="0">
                <a:highlight>
                  <a:srgbClr val="00FF00"/>
                </a:highlight>
                <a:latin typeface="楷体_GB2312"/>
              </a:rPr>
              <a:t>step2</a:t>
            </a:r>
            <a:r>
              <a:rPr lang="zh-CN" altLang="en-US" sz="3200" dirty="0">
                <a:highlight>
                  <a:srgbClr val="00FF00"/>
                </a:highlight>
                <a:latin typeface="楷体_GB2312"/>
              </a:rPr>
              <a:t>解决冲突</a:t>
            </a:r>
            <a:r>
              <a:rPr lang="zh-CN" altLang="en-US" sz="3200" dirty="0">
                <a:latin typeface="楷体_GB2312"/>
              </a:rPr>
              <a:t>。</a:t>
            </a:r>
          </a:p>
          <a:p>
            <a:pPr marL="0" indent="0">
              <a:spcBef>
                <a:spcPct val="20000"/>
              </a:spcBef>
            </a:pPr>
            <a:endParaRPr lang="zh-CN" altLang="en-US" sz="3200" dirty="0">
              <a:latin typeface="楷体_GB2312"/>
            </a:endParaRPr>
          </a:p>
          <a:p>
            <a:pPr>
              <a:spcBef>
                <a:spcPct val="20000"/>
              </a:spcBef>
              <a:buFont typeface="Arial" panose="020B0604020202020204" pitchFamily="34" charset="0"/>
              <a:buChar char="•"/>
            </a:pPr>
            <a:r>
              <a:rPr lang="en-US" altLang="zh-CN" sz="3200" dirty="0">
                <a:latin typeface="楷体_GB2312"/>
              </a:rPr>
              <a:t>step2 </a:t>
            </a:r>
            <a:r>
              <a:rPr lang="zh-CN" altLang="en-US" sz="3200" dirty="0">
                <a:latin typeface="楷体_GB2312"/>
              </a:rPr>
              <a:t>根据选择的冲突处理方法，计算关键字</a:t>
            </a:r>
            <a:r>
              <a:rPr lang="en-US" altLang="zh-CN" sz="3200" dirty="0">
                <a:latin typeface="楷体_GB2312"/>
              </a:rPr>
              <a:t>key</a:t>
            </a:r>
            <a:r>
              <a:rPr lang="zh-CN" altLang="en-US" sz="3200" dirty="0">
                <a:latin typeface="楷体_GB2312"/>
              </a:rPr>
              <a:t>的</a:t>
            </a:r>
            <a:r>
              <a:rPr lang="zh-CN" altLang="en-US" sz="3200" dirty="0">
                <a:highlight>
                  <a:srgbClr val="00FF00"/>
                </a:highlight>
                <a:latin typeface="楷体_GB2312"/>
              </a:rPr>
              <a:t>下一个存储地址</a:t>
            </a:r>
            <a:r>
              <a:rPr lang="zh-CN" altLang="en-US" sz="3200" dirty="0">
                <a:latin typeface="楷体_GB2312"/>
              </a:rPr>
              <a:t>。若下一个存储地址仍被占用，则继续执行</a:t>
            </a:r>
            <a:r>
              <a:rPr lang="en-US" altLang="zh-CN" sz="3200" dirty="0">
                <a:latin typeface="楷体_GB2312"/>
              </a:rPr>
              <a:t>step2</a:t>
            </a:r>
            <a:r>
              <a:rPr lang="zh-CN" altLang="en-US" sz="3200" dirty="0">
                <a:latin typeface="楷体_GB2312"/>
              </a:rPr>
              <a:t>，</a:t>
            </a:r>
            <a:r>
              <a:rPr lang="zh-CN" altLang="en-US" sz="3200" dirty="0">
                <a:solidFill>
                  <a:srgbClr val="0000FF"/>
                </a:solidFill>
                <a:highlight>
                  <a:srgbClr val="00FF00"/>
                </a:highlight>
                <a:latin typeface="楷体_GB2312"/>
              </a:rPr>
              <a:t>直到找 到能用的存储地址为止</a:t>
            </a:r>
            <a:r>
              <a:rPr lang="zh-CN" altLang="en-US" sz="3200" dirty="0">
                <a:solidFill>
                  <a:srgbClr val="0000FF"/>
                </a:solidFill>
                <a:latin typeface="楷体_GB2312"/>
              </a:rPr>
              <a:t>。</a:t>
            </a:r>
            <a:r>
              <a:rPr lang="zh-CN" altLang="en-US" sz="3200" dirty="0">
                <a:latin typeface="楷体_GB2312"/>
              </a:rPr>
              <a:t> </a:t>
            </a:r>
          </a:p>
        </p:txBody>
      </p:sp>
      <p:sp>
        <p:nvSpPr>
          <p:cNvPr id="102403" name="Rectangle 6"/>
          <p:cNvSpPr>
            <a:spLocks noChangeArrowheads="1"/>
          </p:cNvSpPr>
          <p:nvPr/>
        </p:nvSpPr>
        <p:spPr bwMode="auto">
          <a:xfrm>
            <a:off x="3419872" y="28575"/>
            <a:ext cx="496855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开放地址法建立哈希表步骤</a:t>
            </a:r>
          </a:p>
        </p:txBody>
      </p:sp>
    </p:spTree>
    <p:extLst>
      <p:ext uri="{BB962C8B-B14F-4D97-AF65-F5344CB8AC3E}">
        <p14:creationId xmlns:p14="http://schemas.microsoft.com/office/powerpoint/2010/main" val="587289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2917">
                                            <p:txEl>
                                              <p:pRg st="1" end="1"/>
                                            </p:txEl>
                                          </p:spTgt>
                                        </p:tgtEl>
                                        <p:attrNameLst>
                                          <p:attrName>style.visibility</p:attrName>
                                        </p:attrNameLst>
                                      </p:cBhvr>
                                      <p:to>
                                        <p:strVal val="visible"/>
                                      </p:to>
                                    </p:set>
                                    <p:anim calcmode="lin" valueType="num">
                                      <p:cBhvr additive="base">
                                        <p:cTn id="7" dur="500" fill="hold"/>
                                        <p:tgtEl>
                                          <p:spTgt spid="106291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629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62917">
                                            <p:txEl>
                                              <p:pRg st="3" end="3"/>
                                            </p:txEl>
                                          </p:spTgt>
                                        </p:tgtEl>
                                        <p:attrNameLst>
                                          <p:attrName>style.visibility</p:attrName>
                                        </p:attrNameLst>
                                      </p:cBhvr>
                                      <p:to>
                                        <p:strVal val="visible"/>
                                      </p:to>
                                    </p:set>
                                    <p:anim calcmode="lin" valueType="num">
                                      <p:cBhvr additive="base">
                                        <p:cTn id="13" dur="500" fill="hold"/>
                                        <p:tgtEl>
                                          <p:spTgt spid="106291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6291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803" name="Rectangle 315"/>
          <p:cNvSpPr>
            <a:spLocks noChangeArrowheads="1"/>
          </p:cNvSpPr>
          <p:nvPr/>
        </p:nvSpPr>
        <p:spPr bwMode="auto">
          <a:xfrm>
            <a:off x="755650" y="820738"/>
            <a:ext cx="74168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dirty="0">
                <a:solidFill>
                  <a:schemeClr val="tx2"/>
                </a:solidFill>
              </a:rPr>
              <a:t>H</a:t>
            </a:r>
            <a:r>
              <a:rPr lang="en-US" altLang="zh-CN" baseline="-30000" dirty="0">
                <a:solidFill>
                  <a:schemeClr val="tx2"/>
                </a:solidFill>
              </a:rPr>
              <a:t>i</a:t>
            </a:r>
            <a:r>
              <a:rPr lang="en-US" altLang="zh-CN" dirty="0">
                <a:solidFill>
                  <a:schemeClr val="tx2"/>
                </a:solidFill>
              </a:rPr>
              <a:t>=(</a:t>
            </a:r>
            <a:r>
              <a:rPr lang="en-US" altLang="zh-CN" dirty="0">
                <a:solidFill>
                  <a:schemeClr val="tx2"/>
                </a:solidFill>
                <a:highlight>
                  <a:srgbClr val="00FF00"/>
                </a:highlight>
              </a:rPr>
              <a:t>Hash(key)+d</a:t>
            </a:r>
            <a:r>
              <a:rPr lang="en-US" altLang="zh-CN" baseline="-30000" dirty="0">
                <a:solidFill>
                  <a:schemeClr val="tx2"/>
                </a:solidFill>
              </a:rPr>
              <a:t>i</a:t>
            </a:r>
            <a:r>
              <a:rPr lang="en-US" altLang="zh-CN" dirty="0">
                <a:solidFill>
                  <a:schemeClr val="tx2"/>
                </a:solidFill>
              </a:rPr>
              <a:t>) </a:t>
            </a:r>
            <a:r>
              <a:rPr lang="en-US" altLang="zh-CN" dirty="0">
                <a:solidFill>
                  <a:schemeClr val="tx2"/>
                </a:solidFill>
                <a:highlight>
                  <a:srgbClr val="00FF00"/>
                </a:highlight>
              </a:rPr>
              <a:t>mod m</a:t>
            </a:r>
            <a:r>
              <a:rPr lang="en-US" altLang="zh-CN" dirty="0">
                <a:highlight>
                  <a:srgbClr val="00FF00"/>
                </a:highlight>
              </a:rPr>
              <a:t> </a:t>
            </a:r>
            <a:r>
              <a:rPr lang="en-US" altLang="zh-CN" dirty="0"/>
              <a:t>      ( 1≤i &lt; m )</a:t>
            </a:r>
          </a:p>
          <a:p>
            <a:pPr algn="just">
              <a:buFont typeface="Arial" panose="020B0604020202020204" pitchFamily="34" charset="0"/>
              <a:buNone/>
            </a:pPr>
            <a:r>
              <a:rPr lang="en-US" altLang="zh-CN" dirty="0">
                <a:latin typeface="楷体_GB2312"/>
              </a:rPr>
              <a:t>  </a:t>
            </a:r>
            <a:r>
              <a:rPr lang="zh-CN" altLang="en-US" dirty="0">
                <a:latin typeface="楷体_GB2312"/>
              </a:rPr>
              <a:t>其中：</a:t>
            </a:r>
            <a:r>
              <a:rPr lang="en-US" altLang="zh-CN" dirty="0"/>
              <a:t>m</a:t>
            </a:r>
            <a:r>
              <a:rPr lang="zh-CN" altLang="en-US" dirty="0">
                <a:latin typeface="楷体_GB2312"/>
              </a:rPr>
              <a:t>为哈希表长度</a:t>
            </a:r>
          </a:p>
          <a:p>
            <a:pPr algn="just">
              <a:buFont typeface="Arial" panose="020B0604020202020204" pitchFamily="34" charset="0"/>
              <a:buNone/>
            </a:pPr>
            <a:r>
              <a:rPr lang="zh-CN" altLang="en-US" dirty="0">
                <a:latin typeface="楷体_GB2312"/>
              </a:rPr>
              <a:t>     </a:t>
            </a:r>
            <a:r>
              <a:rPr lang="en-US" altLang="zh-CN" dirty="0"/>
              <a:t>d</a:t>
            </a:r>
            <a:r>
              <a:rPr lang="en-US" altLang="zh-CN" baseline="-30000" dirty="0"/>
              <a:t>i</a:t>
            </a:r>
            <a:r>
              <a:rPr lang="en-US" altLang="zh-CN" dirty="0"/>
              <a:t> </a:t>
            </a:r>
            <a:r>
              <a:rPr lang="zh-CN" altLang="en-US" dirty="0">
                <a:latin typeface="楷体_GB2312"/>
              </a:rPr>
              <a:t>为增量序列 </a:t>
            </a:r>
            <a:r>
              <a:rPr lang="en-US" altLang="zh-CN" dirty="0"/>
              <a:t>1</a:t>
            </a:r>
            <a:r>
              <a:rPr lang="zh-CN" altLang="en-US" dirty="0"/>
              <a:t>，</a:t>
            </a:r>
            <a:r>
              <a:rPr lang="en-US" altLang="zh-CN" dirty="0"/>
              <a:t>2</a:t>
            </a:r>
            <a:r>
              <a:rPr lang="zh-CN" altLang="en-US" dirty="0"/>
              <a:t>，</a:t>
            </a:r>
            <a:r>
              <a:rPr lang="en-US" altLang="zh-CN" dirty="0"/>
              <a:t>…m-1</a:t>
            </a:r>
            <a:r>
              <a:rPr lang="zh-CN" altLang="en-US" dirty="0">
                <a:latin typeface="楷体_GB2312"/>
              </a:rPr>
              <a:t>，且</a:t>
            </a:r>
            <a:r>
              <a:rPr lang="en-US" altLang="zh-CN" dirty="0"/>
              <a:t>d</a:t>
            </a:r>
            <a:r>
              <a:rPr lang="en-US" altLang="zh-CN" baseline="-30000" dirty="0"/>
              <a:t>i</a:t>
            </a:r>
            <a:r>
              <a:rPr lang="en-US" altLang="zh-CN" dirty="0"/>
              <a:t>=</a:t>
            </a:r>
            <a:r>
              <a:rPr lang="en-US" altLang="zh-CN" dirty="0" err="1"/>
              <a:t>i</a:t>
            </a:r>
            <a:endParaRPr lang="en-US" altLang="zh-CN" dirty="0"/>
          </a:p>
        </p:txBody>
      </p:sp>
      <p:sp>
        <p:nvSpPr>
          <p:cNvPr id="959804" name="AutoShape 316"/>
          <p:cNvSpPr>
            <a:spLocks noChangeArrowheads="1"/>
          </p:cNvSpPr>
          <p:nvPr/>
        </p:nvSpPr>
        <p:spPr bwMode="auto">
          <a:xfrm>
            <a:off x="887412" y="2780928"/>
            <a:ext cx="6359525" cy="609600"/>
          </a:xfrm>
          <a:prstGeom prst="wedgeRoundRectCallout">
            <a:avLst>
              <a:gd name="adj1" fmla="val 14130"/>
              <a:gd name="adj2" fmla="val -150523"/>
              <a:gd name="adj3" fmla="val 16667"/>
            </a:avLst>
          </a:prstGeom>
          <a:solidFill>
            <a:srgbClr val="CCFFFF"/>
          </a:solidFill>
          <a:ln w="9525">
            <a:solidFill>
              <a:srgbClr val="FF6600"/>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a:solidFill>
                  <a:srgbClr val="FF3300"/>
                </a:solidFill>
              </a:rPr>
              <a:t>一旦冲突，就找下一个空地址存入</a:t>
            </a:r>
          </a:p>
        </p:txBody>
      </p:sp>
      <p:sp>
        <p:nvSpPr>
          <p:cNvPr id="97284" name="Rectangle 317"/>
          <p:cNvSpPr>
            <a:spLocks noChangeArrowheads="1"/>
          </p:cNvSpPr>
          <p:nvPr/>
        </p:nvSpPr>
        <p:spPr bwMode="auto">
          <a:xfrm>
            <a:off x="3635896" y="11299"/>
            <a:ext cx="40274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线性探测法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598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598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598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iterate type="lt">
                                    <p:tmAbs val="75"/>
                                  </p:iterate>
                                  <p:childTnLst>
                                    <p:set>
                                      <p:cBhvr>
                                        <p:cTn id="18" dur="1" fill="hold">
                                          <p:stCondLst>
                                            <p:cond delay="74"/>
                                          </p:stCondLst>
                                        </p:cTn>
                                        <p:tgtEl>
                                          <p:spTgt spid="9598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9803" grpId="0" build="p"/>
      <p:bldP spid="959804"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0"/>
          <p:cNvSpPr>
            <a:spLocks noChangeArrowheads="1"/>
          </p:cNvSpPr>
          <p:nvPr/>
        </p:nvSpPr>
        <p:spPr bwMode="auto">
          <a:xfrm>
            <a:off x="395288" y="620713"/>
            <a:ext cx="8497887" cy="1430337"/>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zh-CN" altLang="en-US" dirty="0">
                <a:latin typeface="楷体_GB2312"/>
              </a:rPr>
              <a:t>关键码集为 </a:t>
            </a:r>
            <a:r>
              <a:rPr lang="en-US" altLang="zh-CN" dirty="0"/>
              <a:t>{47</a:t>
            </a:r>
            <a:r>
              <a:rPr lang="zh-CN" altLang="en-US" dirty="0"/>
              <a:t>，</a:t>
            </a:r>
            <a:r>
              <a:rPr lang="en-US" altLang="zh-CN" dirty="0"/>
              <a:t>7</a:t>
            </a:r>
            <a:r>
              <a:rPr lang="zh-CN" altLang="en-US" dirty="0"/>
              <a:t>，</a:t>
            </a:r>
            <a:r>
              <a:rPr lang="en-US" altLang="zh-CN" dirty="0"/>
              <a:t>29</a:t>
            </a:r>
            <a:r>
              <a:rPr lang="zh-CN" altLang="en-US" dirty="0"/>
              <a:t>，</a:t>
            </a:r>
            <a:r>
              <a:rPr lang="en-US" altLang="zh-CN" dirty="0"/>
              <a:t>11</a:t>
            </a:r>
            <a:r>
              <a:rPr lang="zh-CN" altLang="en-US" dirty="0"/>
              <a:t>，</a:t>
            </a:r>
            <a:r>
              <a:rPr lang="en-US" altLang="zh-CN" dirty="0"/>
              <a:t>16</a:t>
            </a:r>
            <a:r>
              <a:rPr lang="zh-CN" altLang="en-US" dirty="0"/>
              <a:t>，</a:t>
            </a:r>
            <a:r>
              <a:rPr lang="en-US" altLang="zh-CN" dirty="0"/>
              <a:t>92</a:t>
            </a:r>
            <a:r>
              <a:rPr lang="zh-CN" altLang="en-US" dirty="0"/>
              <a:t>，</a:t>
            </a:r>
            <a:r>
              <a:rPr lang="en-US" altLang="zh-CN" dirty="0"/>
              <a:t>22</a:t>
            </a:r>
            <a:r>
              <a:rPr lang="zh-CN" altLang="en-US" dirty="0"/>
              <a:t>，</a:t>
            </a:r>
            <a:r>
              <a:rPr lang="en-US" altLang="zh-CN" dirty="0"/>
              <a:t>8</a:t>
            </a:r>
            <a:r>
              <a:rPr lang="zh-CN" altLang="en-US" dirty="0"/>
              <a:t>，</a:t>
            </a:r>
            <a:r>
              <a:rPr lang="en-US" altLang="zh-CN" dirty="0"/>
              <a:t>3}</a:t>
            </a:r>
            <a:r>
              <a:rPr lang="zh-CN" altLang="en-US" dirty="0">
                <a:latin typeface="楷体_GB2312"/>
              </a:rPr>
              <a:t>，</a:t>
            </a:r>
          </a:p>
          <a:p>
            <a:pPr algn="just" eaLnBrk="1" hangingPunct="1">
              <a:buFont typeface="Arial" panose="020B0604020202020204" pitchFamily="34" charset="0"/>
              <a:buNone/>
            </a:pPr>
            <a:r>
              <a:rPr lang="zh-CN" altLang="en-US" dirty="0">
                <a:solidFill>
                  <a:srgbClr val="FF33CC"/>
                </a:solidFill>
                <a:latin typeface="楷体_GB2312"/>
              </a:rPr>
              <a:t>设：</a:t>
            </a:r>
            <a:r>
              <a:rPr lang="zh-CN" altLang="en-US" dirty="0">
                <a:latin typeface="楷体_GB2312"/>
              </a:rPr>
              <a:t>哈希表表长为</a:t>
            </a:r>
            <a:r>
              <a:rPr lang="en-US" altLang="zh-CN" dirty="0">
                <a:latin typeface="楷体_GB2312"/>
              </a:rPr>
              <a:t>m=</a:t>
            </a:r>
            <a:r>
              <a:rPr lang="en-US" altLang="zh-CN" dirty="0"/>
              <a:t>11</a:t>
            </a:r>
            <a:r>
              <a:rPr lang="zh-CN" altLang="en-US" dirty="0">
                <a:latin typeface="楷体_GB2312"/>
              </a:rPr>
              <a:t>；</a:t>
            </a:r>
          </a:p>
          <a:p>
            <a:pPr algn="just">
              <a:buFont typeface="Arial" panose="020B0604020202020204" pitchFamily="34" charset="0"/>
              <a:buNone/>
            </a:pPr>
            <a:r>
              <a:rPr lang="zh-CN" altLang="en-US" dirty="0">
                <a:latin typeface="楷体_GB2312"/>
              </a:rPr>
              <a:t>    哈希函数为</a:t>
            </a:r>
            <a:r>
              <a:rPr lang="en-US" altLang="zh-CN" dirty="0">
                <a:highlight>
                  <a:srgbClr val="00FF00"/>
                </a:highlight>
              </a:rPr>
              <a:t>Hash(key)=key mod 11</a:t>
            </a:r>
            <a:r>
              <a:rPr lang="en-US" altLang="zh-CN" dirty="0">
                <a:highlight>
                  <a:srgbClr val="00FF00"/>
                </a:highlight>
                <a:latin typeface="楷体_GB2312"/>
              </a:rPr>
              <a:t>    </a:t>
            </a:r>
          </a:p>
        </p:txBody>
      </p:sp>
      <p:sp>
        <p:nvSpPr>
          <p:cNvPr id="960533" name="Rectangle 21"/>
          <p:cNvSpPr>
            <a:spLocks noChangeArrowheads="1"/>
          </p:cNvSpPr>
          <p:nvPr/>
        </p:nvSpPr>
        <p:spPr bwMode="auto">
          <a:xfrm>
            <a:off x="1814513" y="2217738"/>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ea typeface="宋体" panose="02010600030101010101" pitchFamily="2" charset="-122"/>
              </a:rPr>
              <a:t>0    1    2     3     4    5    6    7     8    9   10</a:t>
            </a:r>
          </a:p>
        </p:txBody>
      </p:sp>
      <p:graphicFrame>
        <p:nvGraphicFramePr>
          <p:cNvPr id="92165" name="表格 92164"/>
          <p:cNvGraphicFramePr/>
          <p:nvPr/>
        </p:nvGraphicFramePr>
        <p:xfrm>
          <a:off x="1814513" y="2674938"/>
          <a:ext cx="5257800" cy="431800"/>
        </p:xfrm>
        <a:graphic>
          <a:graphicData uri="http://schemas.openxmlformats.org/drawingml/2006/table">
            <a:tbl>
              <a:tblPr/>
              <a:tblGrid>
                <a:gridCol w="457200">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477838">
                  <a:extLst>
                    <a:ext uri="{9D8B030D-6E8A-4147-A177-3AD203B41FA5}">
                      <a16:colId xmlns:a16="http://schemas.microsoft.com/office/drawing/2014/main" val="20002"/>
                    </a:ext>
                  </a:extLst>
                </a:gridCol>
                <a:gridCol w="477837">
                  <a:extLst>
                    <a:ext uri="{9D8B030D-6E8A-4147-A177-3AD203B41FA5}">
                      <a16:colId xmlns:a16="http://schemas.microsoft.com/office/drawing/2014/main" val="20003"/>
                    </a:ext>
                  </a:extLst>
                </a:gridCol>
                <a:gridCol w="476250">
                  <a:extLst>
                    <a:ext uri="{9D8B030D-6E8A-4147-A177-3AD203B41FA5}">
                      <a16:colId xmlns:a16="http://schemas.microsoft.com/office/drawing/2014/main" val="20004"/>
                    </a:ext>
                  </a:extLst>
                </a:gridCol>
                <a:gridCol w="482600">
                  <a:extLst>
                    <a:ext uri="{9D8B030D-6E8A-4147-A177-3AD203B41FA5}">
                      <a16:colId xmlns:a16="http://schemas.microsoft.com/office/drawing/2014/main" val="20005"/>
                    </a:ext>
                  </a:extLst>
                </a:gridCol>
                <a:gridCol w="476250">
                  <a:extLst>
                    <a:ext uri="{9D8B030D-6E8A-4147-A177-3AD203B41FA5}">
                      <a16:colId xmlns:a16="http://schemas.microsoft.com/office/drawing/2014/main" val="20006"/>
                    </a:ext>
                  </a:extLst>
                </a:gridCol>
                <a:gridCol w="477838">
                  <a:extLst>
                    <a:ext uri="{9D8B030D-6E8A-4147-A177-3AD203B41FA5}">
                      <a16:colId xmlns:a16="http://schemas.microsoft.com/office/drawing/2014/main" val="20007"/>
                    </a:ext>
                  </a:extLst>
                </a:gridCol>
                <a:gridCol w="519112">
                  <a:extLst>
                    <a:ext uri="{9D8B030D-6E8A-4147-A177-3AD203B41FA5}">
                      <a16:colId xmlns:a16="http://schemas.microsoft.com/office/drawing/2014/main" val="20008"/>
                    </a:ext>
                  </a:extLst>
                </a:gridCol>
                <a:gridCol w="436563">
                  <a:extLst>
                    <a:ext uri="{9D8B030D-6E8A-4147-A177-3AD203B41FA5}">
                      <a16:colId xmlns:a16="http://schemas.microsoft.com/office/drawing/2014/main" val="20009"/>
                    </a:ext>
                  </a:extLst>
                </a:gridCol>
                <a:gridCol w="477837">
                  <a:extLst>
                    <a:ext uri="{9D8B030D-6E8A-4147-A177-3AD203B41FA5}">
                      <a16:colId xmlns:a16="http://schemas.microsoft.com/office/drawing/2014/main" val="20010"/>
                    </a:ext>
                  </a:extLst>
                </a:gridCol>
              </a:tblGrid>
              <a:tr h="431800">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latin typeface="Times New Roman" panose="02020603050405020304" pitchFamily="18" charset="0"/>
                        <a:ea typeface="仿宋_GB231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solidFill>
                          <a:srgbClr val="FF33CC"/>
                        </a:solidFill>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solidFill>
                          <a:srgbClr val="FF33CC"/>
                        </a:solidFill>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50000"/>
                        </a:spcBef>
                        <a:buNone/>
                      </a:pPr>
                      <a:r>
                        <a:rPr lang="en-US" altLang="zh-CN" sz="2000" dirty="0">
                          <a:latin typeface="Times New Roman" panose="02020603050405020304" pitchFamily="18" charset="0"/>
                          <a:ea typeface="仿宋_GB2312"/>
                        </a:rPr>
                        <a:t>47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solidFill>
                          <a:schemeClr val="tx2"/>
                        </a:solidFill>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r>
                        <a:rPr lang="en-US" altLang="zh-CN" sz="2000" dirty="0">
                          <a:latin typeface="Times New Roman" panose="02020603050405020304" pitchFamily="18" charset="0"/>
                          <a:ea typeface="仿宋_GB2312"/>
                        </a:rPr>
                        <a:t>7</a:t>
                      </a: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solidFill>
                          <a:srgbClr val="FF33CC"/>
                        </a:solidFill>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spcBef>
                          <a:spcPct val="30000"/>
                        </a:spcBef>
                        <a:buNone/>
                      </a:pPr>
                      <a:endParaRPr lang="zh-CN" altLang="zh-CN" sz="2000" dirty="0">
                        <a:solidFill>
                          <a:schemeClr val="tx2"/>
                        </a:solidFill>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defRPr>
                      </a:lvl1pPr>
                      <a:lvl2pPr marL="457200" lvl="1"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2pPr>
                      <a:lvl3pPr marL="914400" lvl="2"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3pPr>
                      <a:lvl4pPr marL="1371600" lvl="3"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4pPr>
                      <a:lvl5pPr marL="1828800" lvl="4" indent="0" algn="l" defTabSz="914400" rtl="0" eaLnBrk="0" fontAlgn="base" latinLnBrk="0" hangingPunct="0">
                        <a:lnSpc>
                          <a:spcPct val="100000"/>
                        </a:lnSpc>
                        <a:spcBef>
                          <a:spcPct val="20000"/>
                        </a:spcBef>
                        <a:spcAft>
                          <a:spcPct val="0"/>
                        </a:spcAft>
                        <a:buNone/>
                        <a:defRPr sz="2800" b="1" i="0" u="none" kern="1200" baseline="0">
                          <a:solidFill>
                            <a:schemeClr val="tx1"/>
                          </a:solidFill>
                          <a:latin typeface="Times New Roman" panose="02020603050405020304" pitchFamily="18" charset="0"/>
                          <a:ea typeface="楷体_GB2312"/>
                          <a:cs typeface="+mn-cs"/>
                        </a:defRPr>
                      </a:lvl5pPr>
                    </a:lstStyle>
                    <a:p>
                      <a:pPr lvl="0" algn="ctr">
                        <a:buNone/>
                      </a:pPr>
                      <a:endParaRPr lang="zh-CN" altLang="zh-CN" sz="2000" b="0" dirty="0">
                        <a:latin typeface="Times New Roman" panose="02020603050405020304" pitchFamily="18" charset="0"/>
                        <a:ea typeface="仿宋_GB231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960560" name="Rectangle 48"/>
          <p:cNvSpPr>
            <a:spLocks noChangeArrowheads="1"/>
          </p:cNvSpPr>
          <p:nvPr/>
        </p:nvSpPr>
        <p:spPr bwMode="auto">
          <a:xfrm>
            <a:off x="2271713" y="3055938"/>
            <a:ext cx="42608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1200" b="0">
                <a:solidFill>
                  <a:srgbClr val="FF0000"/>
                </a:solidFill>
                <a:ea typeface="宋体" panose="02010600030101010101" pitchFamily="2" charset="-122"/>
              </a:rPr>
              <a:t> △                                                            ▲                      △        △</a:t>
            </a:r>
          </a:p>
        </p:txBody>
      </p:sp>
      <p:sp>
        <p:nvSpPr>
          <p:cNvPr id="960561" name="Rectangle 49"/>
          <p:cNvSpPr>
            <a:spLocks noChangeArrowheads="1"/>
          </p:cNvSpPr>
          <p:nvPr/>
        </p:nvSpPr>
        <p:spPr bwMode="auto">
          <a:xfrm>
            <a:off x="5643563" y="2613025"/>
            <a:ext cx="438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solidFill>
                  <a:schemeClr val="tx2"/>
                </a:solidFill>
                <a:ea typeface="宋体" panose="02010600030101010101" pitchFamily="2" charset="-122"/>
              </a:rPr>
              <a:t>29</a:t>
            </a:r>
          </a:p>
        </p:txBody>
      </p:sp>
      <p:grpSp>
        <p:nvGrpSpPr>
          <p:cNvPr id="2" name="Group 50"/>
          <p:cNvGrpSpPr>
            <a:grpSpLocks/>
          </p:cNvGrpSpPr>
          <p:nvPr/>
        </p:nvGrpSpPr>
        <p:grpSpPr bwMode="auto">
          <a:xfrm>
            <a:off x="1833563" y="2598738"/>
            <a:ext cx="2800350" cy="533400"/>
            <a:chOff x="1212" y="1392"/>
            <a:chExt cx="1764" cy="336"/>
          </a:xfrm>
        </p:grpSpPr>
        <p:sp>
          <p:nvSpPr>
            <p:cNvPr id="98344" name="Rectangle 51"/>
            <p:cNvSpPr>
              <a:spLocks noChangeArrowheads="1"/>
            </p:cNvSpPr>
            <p:nvPr/>
          </p:nvSpPr>
          <p:spPr bwMode="auto">
            <a:xfrm>
              <a:off x="1212" y="1392"/>
              <a:ext cx="2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ea typeface="宋体" panose="02010600030101010101" pitchFamily="2" charset="-122"/>
                </a:rPr>
                <a:t>11</a:t>
              </a:r>
            </a:p>
          </p:txBody>
        </p:sp>
        <p:sp>
          <p:nvSpPr>
            <p:cNvPr id="98345" name="Rectangle 52"/>
            <p:cNvSpPr>
              <a:spLocks noChangeArrowheads="1"/>
            </p:cNvSpPr>
            <p:nvPr/>
          </p:nvSpPr>
          <p:spPr bwMode="auto">
            <a:xfrm>
              <a:off x="2700" y="1392"/>
              <a:ext cx="2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ea typeface="宋体" panose="02010600030101010101" pitchFamily="2" charset="-122"/>
                </a:rPr>
                <a:t>16</a:t>
              </a:r>
            </a:p>
          </p:txBody>
        </p:sp>
        <p:sp>
          <p:nvSpPr>
            <p:cNvPr id="98346" name="Rectangle 53"/>
            <p:cNvSpPr>
              <a:spLocks noChangeArrowheads="1"/>
            </p:cNvSpPr>
            <p:nvPr/>
          </p:nvSpPr>
          <p:spPr bwMode="auto">
            <a:xfrm>
              <a:off x="2400" y="1401"/>
              <a:ext cx="2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ea typeface="宋体" panose="02010600030101010101" pitchFamily="2" charset="-122"/>
                </a:rPr>
                <a:t>92</a:t>
              </a:r>
            </a:p>
          </p:txBody>
        </p:sp>
      </p:grpSp>
      <p:sp>
        <p:nvSpPr>
          <p:cNvPr id="960566" name="Rectangle 54"/>
          <p:cNvSpPr>
            <a:spLocks noChangeArrowheads="1"/>
          </p:cNvSpPr>
          <p:nvPr/>
        </p:nvSpPr>
        <p:spPr bwMode="auto">
          <a:xfrm>
            <a:off x="2271713" y="2598738"/>
            <a:ext cx="533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solidFill>
                  <a:schemeClr val="tx2"/>
                </a:solidFill>
                <a:ea typeface="宋体" panose="02010600030101010101" pitchFamily="2" charset="-122"/>
              </a:rPr>
              <a:t>22</a:t>
            </a:r>
          </a:p>
        </p:txBody>
      </p:sp>
      <p:sp>
        <p:nvSpPr>
          <p:cNvPr id="960567" name="Rectangle 55"/>
          <p:cNvSpPr>
            <a:spLocks noChangeArrowheads="1"/>
          </p:cNvSpPr>
          <p:nvPr/>
        </p:nvSpPr>
        <p:spPr bwMode="auto">
          <a:xfrm>
            <a:off x="6227763" y="2598738"/>
            <a:ext cx="311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solidFill>
                  <a:schemeClr val="tx2"/>
                </a:solidFill>
                <a:ea typeface="宋体" panose="02010600030101010101" pitchFamily="2" charset="-122"/>
              </a:rPr>
              <a:t>8</a:t>
            </a:r>
          </a:p>
        </p:txBody>
      </p:sp>
      <p:sp>
        <p:nvSpPr>
          <p:cNvPr id="960568" name="Rectangle 56"/>
          <p:cNvSpPr>
            <a:spLocks noChangeArrowheads="1"/>
          </p:cNvSpPr>
          <p:nvPr/>
        </p:nvSpPr>
        <p:spPr bwMode="auto">
          <a:xfrm>
            <a:off x="4779963" y="2613025"/>
            <a:ext cx="311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sz="2000">
                <a:solidFill>
                  <a:schemeClr val="tx2"/>
                </a:solidFill>
                <a:ea typeface="宋体" panose="02010600030101010101" pitchFamily="2" charset="-122"/>
              </a:rPr>
              <a:t>3</a:t>
            </a:r>
          </a:p>
        </p:txBody>
      </p:sp>
      <p:sp>
        <p:nvSpPr>
          <p:cNvPr id="960569" name="Rectangle 57"/>
          <p:cNvSpPr>
            <a:spLocks noChangeArrowheads="1"/>
          </p:cNvSpPr>
          <p:nvPr/>
        </p:nvSpPr>
        <p:spPr bwMode="auto">
          <a:xfrm>
            <a:off x="457200" y="3449638"/>
            <a:ext cx="8001000" cy="519112"/>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476250" indent="-47625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a:solidFill>
                  <a:srgbClr val="0000CC"/>
                </a:solidFill>
                <a:latin typeface="楷体_GB2312"/>
              </a:rPr>
              <a:t>①</a:t>
            </a:r>
            <a:r>
              <a:rPr lang="en-US" altLang="zh-CN">
                <a:solidFill>
                  <a:srgbClr val="FF33CC"/>
                </a:solidFill>
              </a:rPr>
              <a:t> </a:t>
            </a:r>
            <a:r>
              <a:rPr lang="en-US" altLang="zh-CN">
                <a:solidFill>
                  <a:srgbClr val="0000CC"/>
                </a:solidFill>
              </a:rPr>
              <a:t>47</a:t>
            </a:r>
            <a:r>
              <a:rPr lang="zh-CN" altLang="en-US">
                <a:solidFill>
                  <a:srgbClr val="0000CC"/>
                </a:solidFill>
              </a:rPr>
              <a:t>、</a:t>
            </a:r>
            <a:r>
              <a:rPr lang="en-US" altLang="zh-CN">
                <a:solidFill>
                  <a:srgbClr val="0000CC"/>
                </a:solidFill>
              </a:rPr>
              <a:t>7</a:t>
            </a:r>
            <a:r>
              <a:rPr lang="zh-CN" altLang="en-US">
                <a:solidFill>
                  <a:srgbClr val="0000CC"/>
                </a:solidFill>
              </a:rPr>
              <a:t>、</a:t>
            </a:r>
            <a:r>
              <a:rPr lang="en-US" altLang="zh-CN">
                <a:solidFill>
                  <a:srgbClr val="0000CC"/>
                </a:solidFill>
              </a:rPr>
              <a:t>11</a:t>
            </a:r>
            <a:r>
              <a:rPr lang="zh-CN" altLang="en-US">
                <a:solidFill>
                  <a:srgbClr val="0000CC"/>
                </a:solidFill>
              </a:rPr>
              <a:t>、</a:t>
            </a:r>
            <a:r>
              <a:rPr lang="en-US" altLang="zh-CN">
                <a:solidFill>
                  <a:srgbClr val="0000CC"/>
                </a:solidFill>
              </a:rPr>
              <a:t>16</a:t>
            </a:r>
            <a:r>
              <a:rPr lang="zh-CN" altLang="en-US">
                <a:solidFill>
                  <a:srgbClr val="0000CC"/>
                </a:solidFill>
              </a:rPr>
              <a:t>、</a:t>
            </a:r>
            <a:r>
              <a:rPr lang="en-US" altLang="zh-CN">
                <a:solidFill>
                  <a:srgbClr val="0000CC"/>
                </a:solidFill>
              </a:rPr>
              <a:t>92</a:t>
            </a:r>
            <a:r>
              <a:rPr lang="zh-CN" altLang="en-US">
                <a:solidFill>
                  <a:srgbClr val="0000CC"/>
                </a:solidFill>
                <a:latin typeface="楷体_GB2312"/>
              </a:rPr>
              <a:t>没有冲突</a:t>
            </a:r>
          </a:p>
        </p:txBody>
      </p:sp>
      <p:sp>
        <p:nvSpPr>
          <p:cNvPr id="960570" name="Rectangle 58"/>
          <p:cNvSpPr>
            <a:spLocks noChangeArrowheads="1"/>
          </p:cNvSpPr>
          <p:nvPr/>
        </p:nvSpPr>
        <p:spPr bwMode="auto">
          <a:xfrm>
            <a:off x="457200" y="4076700"/>
            <a:ext cx="8001000" cy="946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en-US" altLang="zh-CN">
                <a:solidFill>
                  <a:srgbClr val="FF33CC"/>
                </a:solidFill>
              </a:rPr>
              <a:t>②</a:t>
            </a:r>
            <a:r>
              <a:rPr lang="en-US" altLang="zh-CN">
                <a:solidFill>
                  <a:srgbClr val="0000CC"/>
                </a:solidFill>
              </a:rPr>
              <a:t> Hash(</a:t>
            </a:r>
            <a:r>
              <a:rPr lang="en-US" altLang="zh-CN">
                <a:solidFill>
                  <a:schemeClr val="tx2"/>
                </a:solidFill>
              </a:rPr>
              <a:t>29</a:t>
            </a:r>
            <a:r>
              <a:rPr lang="en-US" altLang="zh-CN">
                <a:solidFill>
                  <a:srgbClr val="0000CC"/>
                </a:solidFill>
              </a:rPr>
              <a:t>)=</a:t>
            </a:r>
            <a:r>
              <a:rPr lang="en-US" altLang="zh-CN">
                <a:solidFill>
                  <a:schemeClr val="tx2"/>
                </a:solidFill>
              </a:rPr>
              <a:t>7</a:t>
            </a:r>
            <a:r>
              <a:rPr lang="zh-CN" altLang="en-US">
                <a:solidFill>
                  <a:srgbClr val="0000CC"/>
                </a:solidFill>
                <a:latin typeface="楷体_GB2312"/>
              </a:rPr>
              <a:t>，有冲突，由</a:t>
            </a:r>
            <a:r>
              <a:rPr lang="en-US" altLang="zh-CN">
                <a:solidFill>
                  <a:srgbClr val="0000CC"/>
                </a:solidFill>
              </a:rPr>
              <a:t>H</a:t>
            </a:r>
            <a:r>
              <a:rPr lang="en-US" altLang="zh-CN" baseline="-30000">
                <a:solidFill>
                  <a:srgbClr val="0000CC"/>
                </a:solidFill>
              </a:rPr>
              <a:t>1</a:t>
            </a:r>
            <a:r>
              <a:rPr lang="en-US" altLang="zh-CN">
                <a:solidFill>
                  <a:srgbClr val="0000CC"/>
                </a:solidFill>
              </a:rPr>
              <a:t>=(Hash(29)+1) mod 11=8</a:t>
            </a:r>
            <a:r>
              <a:rPr lang="zh-CN" altLang="en-US">
                <a:solidFill>
                  <a:srgbClr val="0000CC"/>
                </a:solidFill>
              </a:rPr>
              <a:t>，</a:t>
            </a:r>
            <a:r>
              <a:rPr lang="zh-CN" altLang="en-US">
                <a:solidFill>
                  <a:srgbClr val="0000CC"/>
                </a:solidFill>
                <a:latin typeface="楷体_GB2312"/>
              </a:rPr>
              <a:t>哈希地址</a:t>
            </a:r>
            <a:r>
              <a:rPr lang="en-US" altLang="zh-CN">
                <a:solidFill>
                  <a:srgbClr val="0000CC"/>
                </a:solidFill>
              </a:rPr>
              <a:t>8</a:t>
            </a:r>
            <a:r>
              <a:rPr lang="zh-CN" altLang="en-US">
                <a:solidFill>
                  <a:srgbClr val="0000CC"/>
                </a:solidFill>
                <a:latin typeface="楷体_GB2312"/>
              </a:rPr>
              <a:t>为空，因此将</a:t>
            </a:r>
            <a:r>
              <a:rPr lang="en-US" altLang="zh-CN">
                <a:solidFill>
                  <a:srgbClr val="0000CC"/>
                </a:solidFill>
              </a:rPr>
              <a:t>29</a:t>
            </a:r>
            <a:r>
              <a:rPr lang="zh-CN" altLang="en-US">
                <a:solidFill>
                  <a:srgbClr val="0000CC"/>
                </a:solidFill>
                <a:latin typeface="楷体_GB2312"/>
              </a:rPr>
              <a:t>存入</a:t>
            </a:r>
          </a:p>
        </p:txBody>
      </p:sp>
      <p:sp>
        <p:nvSpPr>
          <p:cNvPr id="960571" name="Rectangle 59"/>
          <p:cNvSpPr>
            <a:spLocks noChangeArrowheads="1"/>
          </p:cNvSpPr>
          <p:nvPr/>
        </p:nvSpPr>
        <p:spPr bwMode="auto">
          <a:xfrm>
            <a:off x="457200" y="5084763"/>
            <a:ext cx="8077200" cy="519112"/>
          </a:xfrm>
          <a:prstGeom prst="rect">
            <a:avLst/>
          </a:prstGeom>
          <a:solidFill>
            <a:srgbClr val="FFFF99"/>
          </a:solidFill>
          <a:ln w="9525">
            <a:noFill/>
            <a:miter lim="800000"/>
          </a:ln>
          <a:effectLst/>
        </p:spPr>
        <p:txBody>
          <a:bodyPr>
            <a:spAutoFit/>
          </a:bodyPr>
          <a:lstStyle/>
          <a:p>
            <a:pPr eaLnBrk="1" hangingPunct="1">
              <a:spcBef>
                <a:spcPct val="20000"/>
              </a:spcBef>
              <a:defRPr/>
            </a:pPr>
            <a:r>
              <a:rPr kumimoji="1" lang="en-US" altLang="zh-CN">
                <a:solidFill>
                  <a:srgbClr val="FF33CC"/>
                </a:solidFill>
                <a:latin typeface="楷体_GB2312" pitchFamily="49" charset="-122"/>
                <a:ea typeface="楷体_GB2312" pitchFamily="49" charset="-122"/>
                <a:cs typeface="+mn-cs"/>
                <a:sym typeface="+mn-ea"/>
              </a:rPr>
              <a:t>③</a:t>
            </a:r>
            <a:r>
              <a:rPr kumimoji="1" lang="en-US" altLang="zh-CN">
                <a:solidFill>
                  <a:schemeClr val="tx2"/>
                </a:solidFill>
                <a:ea typeface="楷体_GB2312" pitchFamily="49" charset="-122"/>
                <a:cs typeface="+mn-cs"/>
                <a:sym typeface="+mn-ea"/>
              </a:rPr>
              <a:t> </a:t>
            </a:r>
            <a:r>
              <a:rPr kumimoji="1" lang="en-US" altLang="zh-CN">
                <a:effectLst>
                  <a:outerShdw blurRad="38100" dist="38100" dir="2700000" algn="tl">
                    <a:srgbClr val="FFFFFF"/>
                  </a:outerShdw>
                </a:effectLst>
                <a:ea typeface="楷体_GB2312" pitchFamily="49" charset="-122"/>
                <a:cs typeface="+mn-cs"/>
                <a:sym typeface="+mn-ea"/>
              </a:rPr>
              <a:t>3</a:t>
            </a:r>
            <a:r>
              <a:rPr kumimoji="1" lang="en-US" altLang="zh-CN">
                <a:solidFill>
                  <a:schemeClr val="tx2"/>
                </a:solidFill>
                <a:effectLst>
                  <a:outerShdw blurRad="38100" dist="38100" dir="2700000" algn="tl">
                    <a:srgbClr val="FFFFFF"/>
                  </a:outerShdw>
                </a:effectLst>
                <a:ea typeface="楷体_GB2312" pitchFamily="49" charset="-122"/>
                <a:cs typeface="+mn-cs"/>
                <a:sym typeface="+mn-ea"/>
              </a:rPr>
              <a:t> </a:t>
            </a:r>
            <a:r>
              <a:rPr kumimoji="1" lang="zh-CN" altLang="en-US">
                <a:solidFill>
                  <a:schemeClr val="tx2"/>
                </a:solidFill>
                <a:effectLst>
                  <a:outerShdw blurRad="38100" dist="38100" dir="2700000" algn="tl">
                    <a:srgbClr val="FFFFFF"/>
                  </a:outerShdw>
                </a:effectLst>
                <a:ea typeface="楷体_GB2312" pitchFamily="49" charset="-122"/>
                <a:cs typeface="+mn-cs"/>
                <a:sym typeface="+mn-ea"/>
              </a:rPr>
              <a:t>连续移动了两次</a:t>
            </a:r>
            <a:endParaRPr kumimoji="1" lang="zh-CN" altLang="en-US">
              <a:solidFill>
                <a:srgbClr val="0000CC"/>
              </a:solidFill>
              <a:latin typeface="楷体_GB2312" pitchFamily="49" charset="-122"/>
              <a:ea typeface="楷体_GB2312" pitchFamily="49" charset="-122"/>
              <a:cs typeface="+mn-cs"/>
              <a:sym typeface="+mn-ea"/>
            </a:endParaRPr>
          </a:p>
        </p:txBody>
      </p:sp>
      <p:sp>
        <p:nvSpPr>
          <p:cNvPr id="98343" name="Rectangle 60"/>
          <p:cNvSpPr>
            <a:spLocks noChangeArrowheads="1"/>
          </p:cNvSpPr>
          <p:nvPr/>
        </p:nvSpPr>
        <p:spPr bwMode="auto">
          <a:xfrm>
            <a:off x="4452938" y="32544"/>
            <a:ext cx="40274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线性探测法</a:t>
            </a:r>
          </a:p>
        </p:txBody>
      </p:sp>
      <p:sp>
        <p:nvSpPr>
          <p:cNvPr id="3" name="文本框 2">
            <a:extLst>
              <a:ext uri="{FF2B5EF4-FFF2-40B4-BE49-F238E27FC236}">
                <a16:creationId xmlns:a16="http://schemas.microsoft.com/office/drawing/2014/main" id="{894DF59C-C310-3D78-FA48-38B2F72EF2C0}"/>
              </a:ext>
            </a:extLst>
          </p:cNvPr>
          <p:cNvSpPr txBox="1"/>
          <p:nvPr/>
        </p:nvSpPr>
        <p:spPr>
          <a:xfrm>
            <a:off x="-36512" y="5615643"/>
            <a:ext cx="10585176" cy="830997"/>
          </a:xfrm>
          <a:prstGeom prst="rect">
            <a:avLst/>
          </a:prstGeom>
          <a:noFill/>
        </p:spPr>
        <p:txBody>
          <a:bodyPr wrap="square" rtlCol="0">
            <a:spAutoFit/>
          </a:bodyPr>
          <a:lstStyle/>
          <a:p>
            <a:r>
              <a:rPr lang="zh-CN" altLang="en-US" sz="2400" dirty="0"/>
              <a:t>正常关键数</a:t>
            </a:r>
            <a:r>
              <a:rPr lang="en-US" altLang="zh-CN" sz="2400" dirty="0"/>
              <a:t>:</a:t>
            </a:r>
            <a:r>
              <a:rPr lang="zh-CN" altLang="en-US" sz="2400" dirty="0"/>
              <a:t>将其</a:t>
            </a:r>
            <a:r>
              <a:rPr lang="en-US" altLang="zh-CN" sz="2400" dirty="0">
                <a:highlight>
                  <a:srgbClr val="00FF00"/>
                </a:highlight>
              </a:rPr>
              <a:t>mod(</a:t>
            </a:r>
            <a:r>
              <a:rPr lang="zh-CN" altLang="en-US" sz="2400" dirty="0">
                <a:highlight>
                  <a:srgbClr val="00FF00"/>
                </a:highlight>
              </a:rPr>
              <a:t>取模</a:t>
            </a:r>
            <a:r>
              <a:rPr lang="en-US" altLang="zh-CN" sz="2400" dirty="0">
                <a:highlight>
                  <a:srgbClr val="00FF00"/>
                </a:highlight>
              </a:rPr>
              <a:t>)</a:t>
            </a:r>
            <a:r>
              <a:rPr lang="en-US" altLang="zh-CN" sz="2400" dirty="0"/>
              <a:t>11</a:t>
            </a:r>
            <a:r>
              <a:rPr lang="zh-CN" altLang="en-US" sz="2400" dirty="0"/>
              <a:t>后是多少就存储在对应标号位置</a:t>
            </a:r>
            <a:endParaRPr lang="en-US" altLang="zh-CN" sz="2400" dirty="0"/>
          </a:p>
          <a:p>
            <a:r>
              <a:rPr lang="zh-CN" altLang="en-US" sz="2400" dirty="0"/>
              <a:t>如果有冲突则将该数</a:t>
            </a:r>
            <a:r>
              <a:rPr lang="en-US" altLang="zh-CN" sz="2400" dirty="0">
                <a:highlight>
                  <a:srgbClr val="00FF00"/>
                </a:highlight>
              </a:rPr>
              <a:t>+d</a:t>
            </a:r>
            <a:r>
              <a:rPr lang="en-US" altLang="zh-CN" sz="2400" dirty="0"/>
              <a:t>(d</a:t>
            </a:r>
            <a:r>
              <a:rPr lang="zh-CN" altLang="en-US" sz="2400" dirty="0"/>
              <a:t>自己取从</a:t>
            </a:r>
            <a:r>
              <a:rPr lang="en-US" altLang="zh-CN" sz="2400" dirty="0"/>
              <a:t>1,2,3,…)</a:t>
            </a:r>
            <a:r>
              <a:rPr lang="zh-CN" altLang="en-US" sz="2400" dirty="0">
                <a:highlight>
                  <a:srgbClr val="00FF00"/>
                </a:highlight>
              </a:rPr>
              <a:t>再取模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0533"/>
                                        </p:tgtEl>
                                        <p:attrNameLst>
                                          <p:attrName>style.visibility</p:attrName>
                                        </p:attrNameLst>
                                      </p:cBhvr>
                                      <p:to>
                                        <p:strVal val="visible"/>
                                      </p:to>
                                    </p:set>
                                    <p:animEffect transition="in" filter="wipe(left)">
                                      <p:cBhvr>
                                        <p:cTn id="7" dur="500"/>
                                        <p:tgtEl>
                                          <p:spTgt spid="960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92165"/>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960561"/>
                                        </p:tgtEl>
                                        <p:attrNameLst>
                                          <p:attrName>style.visibility</p:attrName>
                                        </p:attrNameLst>
                                      </p:cBhvr>
                                      <p:to>
                                        <p:strVal val="visible"/>
                                      </p:to>
                                    </p:set>
                                    <p:anim calcmode="lin" valueType="num">
                                      <p:cBhvr additive="base">
                                        <p:cTn id="16" dur="500" fill="hold"/>
                                        <p:tgtEl>
                                          <p:spTgt spid="960561"/>
                                        </p:tgtEl>
                                        <p:attrNameLst>
                                          <p:attrName>ppt_x</p:attrName>
                                        </p:attrNameLst>
                                      </p:cBhvr>
                                      <p:tavLst>
                                        <p:tav tm="0">
                                          <p:val>
                                            <p:strVal val="1+#ppt_w/2"/>
                                          </p:val>
                                        </p:tav>
                                        <p:tav tm="100000">
                                          <p:val>
                                            <p:strVal val="#ppt_x"/>
                                          </p:val>
                                        </p:tav>
                                      </p:tavLst>
                                    </p:anim>
                                    <p:anim calcmode="lin" valueType="num">
                                      <p:cBhvr additive="base">
                                        <p:cTn id="17" dur="500" fill="hold"/>
                                        <p:tgtEl>
                                          <p:spTgt spid="960561"/>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p:cTn id="22" dur="500" fill="hold"/>
                                        <p:tgtEl>
                                          <p:spTgt spid="2"/>
                                        </p:tgtEl>
                                        <p:attrNameLst>
                                          <p:attrName>ppt_w</p:attrName>
                                        </p:attrNameLst>
                                      </p:cBhvr>
                                      <p:tavLst>
                                        <p:tav tm="0">
                                          <p:val>
                                            <p:fltVal val="0"/>
                                          </p:val>
                                        </p:tav>
                                        <p:tav tm="100000">
                                          <p:val>
                                            <p:strVal val="#ppt_w"/>
                                          </p:val>
                                        </p:tav>
                                      </p:tavLst>
                                    </p:anim>
                                    <p:anim calcmode="lin" valueType="num">
                                      <p:cBhvr>
                                        <p:cTn id="2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960566"/>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96056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960568"/>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60560"/>
                                        </p:tgtEl>
                                        <p:attrNameLst>
                                          <p:attrName>style.visibility</p:attrName>
                                        </p:attrNameLst>
                                      </p:cBhvr>
                                      <p:to>
                                        <p:strVal val="visible"/>
                                      </p:to>
                                    </p:set>
                                    <p:animEffect transition="in" filter="wipe(left)">
                                      <p:cBhvr>
                                        <p:cTn id="40" dur="500"/>
                                        <p:tgtEl>
                                          <p:spTgt spid="9605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960569"/>
                                        </p:tgtEl>
                                        <p:attrNameLst>
                                          <p:attrName>style.visibility</p:attrName>
                                        </p:attrNameLst>
                                      </p:cBhvr>
                                      <p:to>
                                        <p:strVal val="visible"/>
                                      </p:to>
                                    </p:set>
                                    <p:animEffect transition="in" filter="checkerboard(across)">
                                      <p:cBhvr>
                                        <p:cTn id="45" dur="500"/>
                                        <p:tgtEl>
                                          <p:spTgt spid="96056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960570"/>
                                        </p:tgtEl>
                                        <p:attrNameLst>
                                          <p:attrName>style.visibility</p:attrName>
                                        </p:attrNameLst>
                                      </p:cBhvr>
                                      <p:to>
                                        <p:strVal val="visible"/>
                                      </p:to>
                                    </p:set>
                                    <p:animEffect transition="in" filter="box(in)">
                                      <p:cBhvr>
                                        <p:cTn id="50" dur="500"/>
                                        <p:tgtEl>
                                          <p:spTgt spid="960570"/>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8" presetClass="entr" presetSubtype="16" fill="hold" grpId="0" nodeType="clickEffect">
                                  <p:stCondLst>
                                    <p:cond delay="0"/>
                                  </p:stCondLst>
                                  <p:childTnLst>
                                    <p:set>
                                      <p:cBhvr>
                                        <p:cTn id="54" dur="1" fill="hold">
                                          <p:stCondLst>
                                            <p:cond delay="0"/>
                                          </p:stCondLst>
                                        </p:cTn>
                                        <p:tgtEl>
                                          <p:spTgt spid="960571"/>
                                        </p:tgtEl>
                                        <p:attrNameLst>
                                          <p:attrName>style.visibility</p:attrName>
                                        </p:attrNameLst>
                                      </p:cBhvr>
                                      <p:to>
                                        <p:strVal val="visible"/>
                                      </p:to>
                                    </p:set>
                                    <p:animEffect transition="in" filter="diamond(in)">
                                      <p:cBhvr>
                                        <p:cTn id="55" dur="2000"/>
                                        <p:tgtEl>
                                          <p:spTgt spid="960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0533" grpId="0"/>
      <p:bldP spid="960560" grpId="0"/>
      <p:bldP spid="960561" grpId="0"/>
      <p:bldP spid="960566" grpId="0"/>
      <p:bldP spid="960567" grpId="0"/>
      <p:bldP spid="960568" grpId="0"/>
      <p:bldP spid="960569" grpId="0" animBg="1"/>
      <p:bldP spid="960570" grpId="0" animBg="1"/>
      <p:bldP spid="96057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6"/>
          <p:cNvSpPr>
            <a:spLocks noChangeArrowheads="1"/>
          </p:cNvSpPr>
          <p:nvPr/>
        </p:nvSpPr>
        <p:spPr bwMode="auto">
          <a:xfrm>
            <a:off x="3563888" y="9525"/>
            <a:ext cx="40274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线性探测法的特点</a:t>
            </a:r>
          </a:p>
        </p:txBody>
      </p:sp>
      <p:sp>
        <p:nvSpPr>
          <p:cNvPr id="985096" name="Rectangle 8"/>
          <p:cNvSpPr>
            <a:spLocks noChangeArrowheads="1"/>
          </p:cNvSpPr>
          <p:nvPr/>
        </p:nvSpPr>
        <p:spPr bwMode="auto">
          <a:xfrm>
            <a:off x="39688" y="692150"/>
            <a:ext cx="9104312"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762000" indent="-7620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3200" dirty="0">
                <a:solidFill>
                  <a:schemeClr val="hlink"/>
                </a:solidFill>
                <a:latin typeface="楷体_GB2312"/>
              </a:rPr>
              <a:t>优点：</a:t>
            </a:r>
            <a:r>
              <a:rPr lang="zh-CN" altLang="en-US" sz="3200" dirty="0">
                <a:latin typeface="楷体_GB2312"/>
              </a:rPr>
              <a:t>只要哈希表未被填满，</a:t>
            </a:r>
            <a:r>
              <a:rPr lang="zh-CN" altLang="en-US" sz="3200" dirty="0">
                <a:solidFill>
                  <a:srgbClr val="FF3300"/>
                </a:solidFill>
                <a:highlight>
                  <a:srgbClr val="00FF00"/>
                </a:highlight>
                <a:latin typeface="楷体_GB2312"/>
              </a:rPr>
              <a:t>保证能找到</a:t>
            </a:r>
            <a:r>
              <a:rPr lang="zh-CN" altLang="en-US" sz="3200" dirty="0">
                <a:latin typeface="楷体_GB2312"/>
              </a:rPr>
              <a:t>一个空地址单元存放有冲突的元素。</a:t>
            </a:r>
          </a:p>
          <a:p>
            <a:pPr eaLnBrk="1" hangingPunct="1">
              <a:spcBef>
                <a:spcPct val="50000"/>
              </a:spcBef>
              <a:buFont typeface="Arial" panose="020B0604020202020204" pitchFamily="34" charset="0"/>
              <a:buNone/>
            </a:pPr>
            <a:r>
              <a:rPr lang="zh-CN" altLang="en-US" sz="3200" dirty="0">
                <a:solidFill>
                  <a:schemeClr val="hlink"/>
                </a:solidFill>
                <a:latin typeface="楷体_GB2312"/>
              </a:rPr>
              <a:t>缺点：</a:t>
            </a:r>
            <a:r>
              <a:rPr lang="zh-CN" altLang="en-US" sz="3200" dirty="0">
                <a:latin typeface="楷体_GB2312"/>
              </a:rPr>
              <a:t>可能使第</a:t>
            </a:r>
            <a:r>
              <a:rPr lang="en-US" altLang="zh-CN" sz="3200" dirty="0" err="1"/>
              <a:t>i</a:t>
            </a:r>
            <a:r>
              <a:rPr lang="zh-CN" altLang="en-US" sz="3200" dirty="0">
                <a:latin typeface="楷体_GB2312"/>
              </a:rPr>
              <a:t>个哈希地址的同义词存入第</a:t>
            </a:r>
            <a:r>
              <a:rPr lang="en-US" altLang="zh-CN" sz="3200" dirty="0"/>
              <a:t>i+1</a:t>
            </a:r>
            <a:r>
              <a:rPr lang="zh-CN" altLang="en-US" sz="3200" dirty="0">
                <a:latin typeface="楷体_GB2312"/>
              </a:rPr>
              <a:t>个地址，这样本应存入第</a:t>
            </a:r>
            <a:r>
              <a:rPr lang="en-US" altLang="zh-CN" sz="3200" dirty="0"/>
              <a:t>i+1</a:t>
            </a:r>
            <a:r>
              <a:rPr lang="zh-CN" altLang="en-US" sz="3200" dirty="0">
                <a:latin typeface="楷体_GB2312"/>
              </a:rPr>
              <a:t>个哈希地址的元素变成了第</a:t>
            </a:r>
            <a:r>
              <a:rPr lang="en-US" altLang="zh-CN" sz="3200" dirty="0"/>
              <a:t>i+2</a:t>
            </a:r>
            <a:r>
              <a:rPr lang="zh-CN" altLang="en-US" sz="3200" dirty="0">
                <a:latin typeface="楷体_GB2312"/>
              </a:rPr>
              <a:t>个哈希地址的同义词，</a:t>
            </a:r>
            <a:r>
              <a:rPr lang="en-US" altLang="zh-CN" sz="3200" dirty="0"/>
              <a:t>……</a:t>
            </a:r>
            <a:r>
              <a:rPr lang="zh-CN" altLang="en-US" sz="3200" dirty="0">
                <a:latin typeface="楷体_GB2312"/>
              </a:rPr>
              <a:t>，产生</a:t>
            </a:r>
            <a:r>
              <a:rPr lang="zh-CN" altLang="en-US" sz="3200" dirty="0"/>
              <a:t>“</a:t>
            </a:r>
            <a:r>
              <a:rPr lang="zh-CN" altLang="en-US" sz="3200" dirty="0">
                <a:solidFill>
                  <a:srgbClr val="FF3300"/>
                </a:solidFill>
                <a:highlight>
                  <a:srgbClr val="00FF00"/>
                </a:highlight>
                <a:latin typeface="楷体_GB2312"/>
              </a:rPr>
              <a:t>聚集</a:t>
            </a:r>
            <a:r>
              <a:rPr lang="zh-CN" altLang="en-US" sz="3200" dirty="0"/>
              <a:t>”</a:t>
            </a:r>
            <a:r>
              <a:rPr lang="zh-CN" altLang="en-US" sz="3200" dirty="0">
                <a:latin typeface="楷体_GB2312"/>
              </a:rPr>
              <a:t>现象，降低查找效率。</a:t>
            </a:r>
          </a:p>
        </p:txBody>
      </p:sp>
      <p:grpSp>
        <p:nvGrpSpPr>
          <p:cNvPr id="2" name="Group 10"/>
          <p:cNvGrpSpPr>
            <a:grpSpLocks/>
          </p:cNvGrpSpPr>
          <p:nvPr/>
        </p:nvGrpSpPr>
        <p:grpSpPr bwMode="auto">
          <a:xfrm>
            <a:off x="684213" y="4152900"/>
            <a:ext cx="7143750" cy="1438275"/>
            <a:chOff x="431" y="2243"/>
            <a:chExt cx="4500" cy="906"/>
          </a:xfrm>
        </p:grpSpPr>
        <p:sp>
          <p:nvSpPr>
            <p:cNvPr id="99334" name="Rectangle 7"/>
            <p:cNvSpPr>
              <a:spLocks noChangeArrowheads="1"/>
            </p:cNvSpPr>
            <p:nvPr/>
          </p:nvSpPr>
          <p:spPr bwMode="auto">
            <a:xfrm>
              <a:off x="431" y="2822"/>
              <a:ext cx="45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marL="762000" indent="-7620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50000"/>
                </a:spcBef>
                <a:buFont typeface="Arial" panose="020B0604020202020204" pitchFamily="34" charset="0"/>
                <a:buNone/>
              </a:pPr>
              <a:r>
                <a:rPr lang="zh-CN" altLang="en-US">
                  <a:solidFill>
                    <a:schemeClr val="hlink"/>
                  </a:solidFill>
                  <a:latin typeface="楷体_GB2312"/>
                </a:rPr>
                <a:t>解决方案：</a:t>
              </a:r>
              <a:r>
                <a:rPr lang="zh-CN" altLang="en-US">
                  <a:solidFill>
                    <a:srgbClr val="FF3300"/>
                  </a:solidFill>
                  <a:latin typeface="楷体_GB2312"/>
                </a:rPr>
                <a:t>二次探测法</a:t>
              </a:r>
              <a:endParaRPr lang="zh-CN" altLang="en-US">
                <a:latin typeface="楷体_GB2312"/>
              </a:endParaRPr>
            </a:p>
          </p:txBody>
        </p:sp>
        <p:sp>
          <p:nvSpPr>
            <p:cNvPr id="99335" name="AutoShape 9"/>
            <p:cNvSpPr>
              <a:spLocks noChangeArrowheads="1"/>
            </p:cNvSpPr>
            <p:nvPr/>
          </p:nvSpPr>
          <p:spPr bwMode="auto">
            <a:xfrm>
              <a:off x="2562" y="2243"/>
              <a:ext cx="273" cy="579"/>
            </a:xfrm>
            <a:prstGeom prst="downArrow">
              <a:avLst>
                <a:gd name="adj1" fmla="val 50000"/>
                <a:gd name="adj2" fmla="val 53002"/>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grpSp>
      <p:sp>
        <p:nvSpPr>
          <p:cNvPr id="3" name="文本框 2">
            <a:extLst>
              <a:ext uri="{FF2B5EF4-FFF2-40B4-BE49-F238E27FC236}">
                <a16:creationId xmlns:a16="http://schemas.microsoft.com/office/drawing/2014/main" id="{BBA31718-58C9-D0AB-BE73-EBF6C397DEC0}"/>
              </a:ext>
            </a:extLst>
          </p:cNvPr>
          <p:cNvSpPr txBox="1"/>
          <p:nvPr/>
        </p:nvSpPr>
        <p:spPr>
          <a:xfrm>
            <a:off x="5480224" y="4091571"/>
            <a:ext cx="2663651" cy="954107"/>
          </a:xfrm>
          <a:prstGeom prst="rect">
            <a:avLst/>
          </a:prstGeom>
          <a:noFill/>
        </p:spPr>
        <p:txBody>
          <a:bodyPr wrap="square" rtlCol="0">
            <a:spAutoFit/>
          </a:bodyPr>
          <a:lstStyle/>
          <a:p>
            <a:r>
              <a:rPr lang="zh-CN" altLang="en-US" dirty="0">
                <a:highlight>
                  <a:srgbClr val="00FF00"/>
                </a:highlight>
              </a:rPr>
              <a:t>可能动了一个后面的都要动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8509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8509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ox(in)">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5096"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ChangeArrowheads="1"/>
          </p:cNvSpPr>
          <p:nvPr/>
        </p:nvSpPr>
        <p:spPr bwMode="auto">
          <a:xfrm>
            <a:off x="3975100" y="28575"/>
            <a:ext cx="40274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二次探测法</a:t>
            </a:r>
          </a:p>
        </p:txBody>
      </p:sp>
      <p:sp>
        <p:nvSpPr>
          <p:cNvPr id="100355" name="Rectangle 8"/>
          <p:cNvSpPr>
            <a:spLocks noChangeArrowheads="1"/>
          </p:cNvSpPr>
          <p:nvPr/>
        </p:nvSpPr>
        <p:spPr bwMode="auto">
          <a:xfrm>
            <a:off x="395288" y="620713"/>
            <a:ext cx="8497887" cy="1003300"/>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zh-CN" altLang="en-US">
                <a:latin typeface="楷体_GB2312"/>
              </a:rPr>
              <a:t>关键码集为 </a:t>
            </a:r>
            <a:r>
              <a:rPr lang="en-US" altLang="zh-CN"/>
              <a:t>{47</a:t>
            </a:r>
            <a:r>
              <a:rPr lang="zh-CN" altLang="en-US"/>
              <a:t>，</a:t>
            </a:r>
            <a:r>
              <a:rPr lang="en-US" altLang="zh-CN"/>
              <a:t>7</a:t>
            </a:r>
            <a:r>
              <a:rPr lang="zh-CN" altLang="en-US"/>
              <a:t>，</a:t>
            </a:r>
            <a:r>
              <a:rPr lang="en-US" altLang="zh-CN"/>
              <a:t>29</a:t>
            </a:r>
            <a:r>
              <a:rPr lang="zh-CN" altLang="en-US"/>
              <a:t>，</a:t>
            </a:r>
            <a:r>
              <a:rPr lang="en-US" altLang="zh-CN"/>
              <a:t>11</a:t>
            </a:r>
            <a:r>
              <a:rPr lang="zh-CN" altLang="en-US"/>
              <a:t>，</a:t>
            </a:r>
            <a:r>
              <a:rPr lang="en-US" altLang="zh-CN"/>
              <a:t>16</a:t>
            </a:r>
            <a:r>
              <a:rPr lang="zh-CN" altLang="en-US"/>
              <a:t>，</a:t>
            </a:r>
            <a:r>
              <a:rPr lang="en-US" altLang="zh-CN"/>
              <a:t>92</a:t>
            </a:r>
            <a:r>
              <a:rPr lang="zh-CN" altLang="en-US"/>
              <a:t>，</a:t>
            </a:r>
            <a:r>
              <a:rPr lang="en-US" altLang="zh-CN"/>
              <a:t>22</a:t>
            </a:r>
            <a:r>
              <a:rPr lang="zh-CN" altLang="en-US"/>
              <a:t>，</a:t>
            </a:r>
            <a:r>
              <a:rPr lang="en-US" altLang="zh-CN"/>
              <a:t>8</a:t>
            </a:r>
            <a:r>
              <a:rPr lang="zh-CN" altLang="en-US"/>
              <a:t>，</a:t>
            </a:r>
            <a:r>
              <a:rPr lang="en-US" altLang="zh-CN"/>
              <a:t>3}</a:t>
            </a:r>
            <a:r>
              <a:rPr lang="zh-CN" altLang="en-US">
                <a:latin typeface="楷体_GB2312"/>
              </a:rPr>
              <a:t>，</a:t>
            </a:r>
          </a:p>
          <a:p>
            <a:pPr algn="just" eaLnBrk="1" hangingPunct="1">
              <a:buFont typeface="Arial" panose="020B0604020202020204" pitchFamily="34" charset="0"/>
              <a:buNone/>
            </a:pPr>
            <a:r>
              <a:rPr lang="zh-CN" altLang="en-US">
                <a:solidFill>
                  <a:srgbClr val="FF33CC"/>
                </a:solidFill>
                <a:latin typeface="楷体_GB2312"/>
              </a:rPr>
              <a:t>设：</a:t>
            </a:r>
            <a:r>
              <a:rPr lang="zh-CN" altLang="en-US">
                <a:latin typeface="楷体_GB2312"/>
              </a:rPr>
              <a:t>    哈希函数为</a:t>
            </a:r>
            <a:r>
              <a:rPr lang="en-US" altLang="zh-CN"/>
              <a:t>Hash(key)=key mod 11</a:t>
            </a:r>
            <a:r>
              <a:rPr lang="en-US" altLang="zh-CN">
                <a:latin typeface="楷体_GB2312"/>
              </a:rPr>
              <a:t>    </a:t>
            </a:r>
          </a:p>
        </p:txBody>
      </p:sp>
      <p:sp>
        <p:nvSpPr>
          <p:cNvPr id="961545" name="Text Box 9"/>
          <p:cNvSpPr txBox="1">
            <a:spLocks noChangeArrowheads="1"/>
          </p:cNvSpPr>
          <p:nvPr/>
        </p:nvSpPr>
        <p:spPr bwMode="auto">
          <a:xfrm>
            <a:off x="395288" y="1700213"/>
            <a:ext cx="8353425" cy="137318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楷体_GB2312"/>
                <a:cs typeface="楷体_GB2312"/>
              </a:defRPr>
            </a:lvl1pPr>
            <a:lvl2pPr eaLnBrk="0" hangingPunct="0">
              <a:defRPr sz="2800" b="1">
                <a:solidFill>
                  <a:schemeClr val="tx1"/>
                </a:solidFill>
                <a:latin typeface="Times New Roman" panose="02020603050405020304" pitchFamily="18" charset="0"/>
                <a:ea typeface="楷体_GB2312"/>
                <a:cs typeface="楷体_GB2312"/>
              </a:defRPr>
            </a:lvl2pPr>
            <a:lvl3pPr eaLnBrk="0" hangingPunct="0">
              <a:defRPr sz="2800" b="1">
                <a:solidFill>
                  <a:schemeClr val="tx1"/>
                </a:solidFill>
                <a:latin typeface="Times New Roman" panose="02020603050405020304" pitchFamily="18" charset="0"/>
                <a:ea typeface="楷体_GB2312"/>
                <a:cs typeface="楷体_GB2312"/>
              </a:defRPr>
            </a:lvl3pPr>
            <a:lvl4pPr eaLnBrk="0" hangingPunct="0">
              <a:defRPr sz="2800" b="1">
                <a:solidFill>
                  <a:schemeClr val="tx1"/>
                </a:solidFill>
                <a:latin typeface="Times New Roman" panose="02020603050405020304" pitchFamily="18" charset="0"/>
                <a:ea typeface="楷体_GB2312"/>
                <a:cs typeface="楷体_GB2312"/>
              </a:defRPr>
            </a:lvl4pPr>
            <a:lvl5pPr eaLnBrk="0" hangingPunct="0">
              <a:defRPr sz="2800" b="1">
                <a:solidFill>
                  <a:schemeClr val="tx1"/>
                </a:solidFill>
                <a:latin typeface="Times New Roman" panose="02020603050405020304" pitchFamily="18" charset="0"/>
                <a:ea typeface="楷体_GB2312"/>
                <a:cs typeface="楷体_GB2312"/>
              </a:defRPr>
            </a:lvl5pPr>
            <a:lvl6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6pPr>
            <a:lvl7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7pPr>
            <a:lvl8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8pPr>
            <a:lvl9pPr eaLnBrk="0" fontAlgn="base" hangingPunct="0">
              <a:spcBef>
                <a:spcPct val="20000"/>
              </a:spcBef>
              <a:spcAft>
                <a:spcPct val="0"/>
              </a:spcAft>
              <a:buFont typeface="Arial" panose="020B0604020202020204" pitchFamily="34" charset="0"/>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defRPr/>
            </a:pPr>
            <a:r>
              <a:rPr lang="en-US" altLang="zh-CN" dirty="0"/>
              <a:t>H</a:t>
            </a:r>
            <a:r>
              <a:rPr lang="en-US" altLang="zh-CN" baseline="-30000" dirty="0"/>
              <a:t>i</a:t>
            </a:r>
            <a:r>
              <a:rPr lang="en-US" altLang="zh-CN" dirty="0"/>
              <a:t>=(Hash(key)</a:t>
            </a:r>
            <a:r>
              <a:rPr lang="en-US" altLang="zh-CN" dirty="0">
                <a:solidFill>
                  <a:schemeClr val="tx2"/>
                </a:solidFill>
              </a:rPr>
              <a:t>±</a:t>
            </a:r>
            <a:r>
              <a:rPr lang="en-US" altLang="zh-CN" dirty="0"/>
              <a:t>d</a:t>
            </a:r>
            <a:r>
              <a:rPr lang="en-US" altLang="zh-CN" baseline="-30000" dirty="0"/>
              <a:t>i</a:t>
            </a:r>
            <a:r>
              <a:rPr lang="en-US" altLang="zh-CN" dirty="0"/>
              <a:t>) mod m</a:t>
            </a:r>
          </a:p>
          <a:p>
            <a:pPr algn="just" eaLnBrk="1" hangingPunct="1">
              <a:buFont typeface="Arial" panose="020B0604020202020204" pitchFamily="34" charset="0"/>
              <a:buNone/>
              <a:defRPr/>
            </a:pPr>
            <a:r>
              <a:rPr lang="zh-CN" altLang="en-US" dirty="0">
                <a:latin typeface="楷体_GB2312"/>
              </a:rPr>
              <a:t>其中：</a:t>
            </a:r>
            <a:r>
              <a:rPr lang="en-US" altLang="zh-CN" dirty="0"/>
              <a:t>m</a:t>
            </a:r>
            <a:r>
              <a:rPr lang="zh-CN" altLang="en-US" dirty="0">
                <a:latin typeface="楷体_GB2312"/>
              </a:rPr>
              <a:t>为哈希表长度；</a:t>
            </a:r>
          </a:p>
          <a:p>
            <a:pPr algn="just">
              <a:buFont typeface="Arial" panose="020B0604020202020204" pitchFamily="34" charset="0"/>
              <a:buNone/>
              <a:defRPr/>
            </a:pPr>
            <a:r>
              <a:rPr lang="zh-CN" altLang="en-US" dirty="0">
                <a:latin typeface="楷体_GB2312"/>
                <a:ea typeface="宋体" panose="02010600030101010101" pitchFamily="2" charset="-122"/>
              </a:rPr>
              <a:t>      </a:t>
            </a:r>
            <a:r>
              <a:rPr lang="en-US" altLang="zh-CN" dirty="0">
                <a:ea typeface="宋体" panose="02010600030101010101" pitchFamily="2" charset="-122"/>
              </a:rPr>
              <a:t>d</a:t>
            </a:r>
            <a:r>
              <a:rPr lang="en-US" altLang="zh-CN" baseline="-30000" dirty="0">
                <a:ea typeface="宋体" panose="02010600030101010101" pitchFamily="2" charset="-122"/>
              </a:rPr>
              <a:t>i</a:t>
            </a:r>
            <a:r>
              <a:rPr lang="zh-CN" altLang="en-US" dirty="0">
                <a:latin typeface="楷体_GB2312"/>
              </a:rPr>
              <a:t>为增量序列</a:t>
            </a:r>
            <a:r>
              <a:rPr lang="zh-CN" altLang="en-US" dirty="0">
                <a:latin typeface="楷体_GB2312"/>
                <a:ea typeface="宋体" panose="02010600030101010101" pitchFamily="2" charset="-122"/>
              </a:rPr>
              <a:t> </a:t>
            </a:r>
            <a:r>
              <a:rPr lang="en-US" altLang="zh-CN" dirty="0">
                <a:solidFill>
                  <a:schemeClr val="tx2"/>
                </a:solidFill>
                <a:highlight>
                  <a:srgbClr val="00FF00"/>
                </a:highlight>
                <a:ea typeface="宋体" panose="02010600030101010101" pitchFamily="2" charset="-122"/>
              </a:rPr>
              <a:t>1</a:t>
            </a:r>
            <a:r>
              <a:rPr lang="en-US" altLang="zh-CN" baseline="30000" dirty="0">
                <a:solidFill>
                  <a:schemeClr val="tx2"/>
                </a:solidFill>
                <a:highlight>
                  <a:srgbClr val="00FF00"/>
                </a:highlight>
                <a:ea typeface="宋体" panose="02010600030101010101" pitchFamily="2" charset="-122"/>
              </a:rPr>
              <a:t>2</a:t>
            </a:r>
            <a:r>
              <a:rPr lang="zh-CN" altLang="en-US" dirty="0">
                <a:solidFill>
                  <a:schemeClr val="tx2"/>
                </a:solidFill>
                <a:highlight>
                  <a:srgbClr val="00FF00"/>
                </a:highlight>
                <a:ea typeface="宋体" panose="02010600030101010101" pitchFamily="2" charset="-122"/>
              </a:rPr>
              <a:t>，</a:t>
            </a:r>
            <a:r>
              <a:rPr lang="en-US" altLang="zh-CN" dirty="0">
                <a:solidFill>
                  <a:schemeClr val="tx2"/>
                </a:solidFill>
                <a:highlight>
                  <a:srgbClr val="00FF00"/>
                </a:highlight>
                <a:ea typeface="宋体" panose="02010600030101010101" pitchFamily="2" charset="-122"/>
              </a:rPr>
              <a:t>-1</a:t>
            </a:r>
            <a:r>
              <a:rPr lang="en-US" altLang="zh-CN" baseline="30000" dirty="0">
                <a:solidFill>
                  <a:schemeClr val="tx2"/>
                </a:solidFill>
                <a:highlight>
                  <a:srgbClr val="00FF00"/>
                </a:highlight>
                <a:ea typeface="宋体" panose="02010600030101010101" pitchFamily="2" charset="-122"/>
              </a:rPr>
              <a:t>2</a:t>
            </a:r>
            <a:r>
              <a:rPr lang="zh-CN" altLang="en-US" dirty="0">
                <a:solidFill>
                  <a:schemeClr val="tx2"/>
                </a:solidFill>
                <a:highlight>
                  <a:srgbClr val="00FF00"/>
                </a:highlight>
                <a:ea typeface="宋体" panose="02010600030101010101" pitchFamily="2" charset="-122"/>
              </a:rPr>
              <a:t>，</a:t>
            </a:r>
            <a:r>
              <a:rPr lang="en-US" altLang="zh-CN" dirty="0">
                <a:solidFill>
                  <a:schemeClr val="tx2"/>
                </a:solidFill>
                <a:highlight>
                  <a:srgbClr val="00FF00"/>
                </a:highlight>
                <a:ea typeface="宋体" panose="02010600030101010101" pitchFamily="2" charset="-122"/>
              </a:rPr>
              <a:t>2</a:t>
            </a:r>
            <a:r>
              <a:rPr lang="en-US" altLang="zh-CN" baseline="30000" dirty="0">
                <a:solidFill>
                  <a:schemeClr val="tx2"/>
                </a:solidFill>
                <a:highlight>
                  <a:srgbClr val="00FF00"/>
                </a:highlight>
                <a:ea typeface="宋体" panose="02010600030101010101" pitchFamily="2" charset="-122"/>
              </a:rPr>
              <a:t>2</a:t>
            </a:r>
            <a:r>
              <a:rPr lang="zh-CN" altLang="en-US" dirty="0">
                <a:solidFill>
                  <a:schemeClr val="tx2"/>
                </a:solidFill>
                <a:highlight>
                  <a:srgbClr val="00FF00"/>
                </a:highlight>
                <a:ea typeface="宋体" panose="02010600030101010101" pitchFamily="2" charset="-122"/>
              </a:rPr>
              <a:t>，</a:t>
            </a:r>
            <a:r>
              <a:rPr lang="en-US" altLang="zh-CN" dirty="0">
                <a:solidFill>
                  <a:schemeClr val="tx2"/>
                </a:solidFill>
                <a:highlight>
                  <a:srgbClr val="00FF00"/>
                </a:highlight>
                <a:ea typeface="宋体" panose="02010600030101010101" pitchFamily="2" charset="-122"/>
              </a:rPr>
              <a:t>-2</a:t>
            </a:r>
            <a:r>
              <a:rPr lang="en-US" altLang="zh-CN" baseline="30000" dirty="0">
                <a:solidFill>
                  <a:schemeClr val="tx2"/>
                </a:solidFill>
                <a:highlight>
                  <a:srgbClr val="00FF00"/>
                </a:highlight>
                <a:ea typeface="宋体" panose="02010600030101010101" pitchFamily="2" charset="-122"/>
              </a:rPr>
              <a:t>2</a:t>
            </a:r>
            <a:r>
              <a:rPr lang="zh-CN" altLang="en-US" dirty="0">
                <a:solidFill>
                  <a:schemeClr val="tx2"/>
                </a:solidFill>
                <a:highlight>
                  <a:srgbClr val="00FF00"/>
                </a:highlight>
                <a:ea typeface="宋体" panose="02010600030101010101" pitchFamily="2" charset="-122"/>
              </a:rPr>
              <a:t>，</a:t>
            </a:r>
            <a:r>
              <a:rPr lang="en-US" altLang="zh-CN" dirty="0">
                <a:solidFill>
                  <a:schemeClr val="tx2"/>
                </a:solidFill>
                <a:highlight>
                  <a:srgbClr val="00FF00"/>
                </a:highlight>
                <a:ea typeface="宋体" panose="02010600030101010101" pitchFamily="2" charset="-122"/>
              </a:rPr>
              <a:t>…</a:t>
            </a:r>
            <a:r>
              <a:rPr lang="zh-CN" altLang="en-US" dirty="0">
                <a:solidFill>
                  <a:schemeClr val="tx2"/>
                </a:solidFill>
                <a:highlight>
                  <a:srgbClr val="00FF00"/>
                </a:highlight>
                <a:ea typeface="宋体" panose="02010600030101010101" pitchFamily="2" charset="-122"/>
              </a:rPr>
              <a:t>，</a:t>
            </a:r>
            <a:r>
              <a:rPr lang="en-US" altLang="zh-CN" dirty="0">
                <a:solidFill>
                  <a:schemeClr val="tx2"/>
                </a:solidFill>
                <a:highlight>
                  <a:srgbClr val="00FF00"/>
                </a:highlight>
                <a:ea typeface="宋体" panose="02010600030101010101" pitchFamily="2" charset="-122"/>
              </a:rPr>
              <a:t>q</a:t>
            </a:r>
            <a:r>
              <a:rPr lang="en-US" altLang="zh-CN" baseline="30000" dirty="0">
                <a:solidFill>
                  <a:schemeClr val="tx2"/>
                </a:solidFill>
                <a:highlight>
                  <a:srgbClr val="00FF00"/>
                </a:highlight>
                <a:ea typeface="宋体" panose="02010600030101010101" pitchFamily="2" charset="-122"/>
              </a:rPr>
              <a:t>2</a:t>
            </a:r>
            <a:r>
              <a:rPr lang="en-US" altLang="zh-CN" dirty="0">
                <a:solidFill>
                  <a:schemeClr val="tx2"/>
                </a:solidFill>
                <a:highlight>
                  <a:srgbClr val="00FF00"/>
                </a:highlight>
                <a:latin typeface="楷体_GB2312"/>
              </a:rPr>
              <a:t> </a:t>
            </a:r>
            <a:endParaRPr lang="en-US" altLang="zh-CN" dirty="0">
              <a:solidFill>
                <a:schemeClr val="tx2"/>
              </a:solidFill>
              <a:effectLst>
                <a:outerShdw blurRad="38100" dist="38100" dir="2700000" algn="tl">
                  <a:srgbClr val="FFFFFF"/>
                </a:outerShdw>
              </a:effectLst>
              <a:highlight>
                <a:srgbClr val="00FF00"/>
              </a:highlight>
            </a:endParaRPr>
          </a:p>
        </p:txBody>
      </p:sp>
      <p:grpSp>
        <p:nvGrpSpPr>
          <p:cNvPr id="2" name="Group 39"/>
          <p:cNvGrpSpPr>
            <a:grpSpLocks/>
          </p:cNvGrpSpPr>
          <p:nvPr/>
        </p:nvGrpSpPr>
        <p:grpSpPr bwMode="auto">
          <a:xfrm>
            <a:off x="1447800" y="3181350"/>
            <a:ext cx="5410200" cy="1265238"/>
            <a:chOff x="960" y="2429"/>
            <a:chExt cx="3408" cy="797"/>
          </a:xfrm>
        </p:grpSpPr>
        <p:sp>
          <p:nvSpPr>
            <p:cNvPr id="100359" name="Rectangle 10"/>
            <p:cNvSpPr>
              <a:spLocks noChangeArrowheads="1"/>
            </p:cNvSpPr>
            <p:nvPr/>
          </p:nvSpPr>
          <p:spPr bwMode="auto">
            <a:xfrm>
              <a:off x="1008" y="2429"/>
              <a:ext cx="33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ea typeface="宋体" panose="02010600030101010101" pitchFamily="2" charset="-122"/>
                </a:rPr>
                <a:t>0    1    2    3     4    5    6    7     8    9   10</a:t>
              </a:r>
            </a:p>
          </p:txBody>
        </p:sp>
        <p:grpSp>
          <p:nvGrpSpPr>
            <p:cNvPr id="100360" name="Group 38"/>
            <p:cNvGrpSpPr>
              <a:grpSpLocks/>
            </p:cNvGrpSpPr>
            <p:nvPr/>
          </p:nvGrpSpPr>
          <p:grpSpPr bwMode="auto">
            <a:xfrm>
              <a:off x="960" y="2717"/>
              <a:ext cx="3312" cy="320"/>
              <a:chOff x="960" y="2717"/>
              <a:chExt cx="3312" cy="320"/>
            </a:xfrm>
          </p:grpSpPr>
          <p:sp>
            <p:nvSpPr>
              <p:cNvPr id="100362" name="Rectangle 12"/>
              <p:cNvSpPr>
                <a:spLocks noChangeArrowheads="1"/>
              </p:cNvSpPr>
              <p:nvPr/>
            </p:nvSpPr>
            <p:spPr bwMode="auto">
              <a:xfrm>
                <a:off x="3971"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100363" name="Rectangle 13"/>
              <p:cNvSpPr>
                <a:spLocks noChangeArrowheads="1"/>
              </p:cNvSpPr>
              <p:nvPr/>
            </p:nvSpPr>
            <p:spPr bwMode="auto">
              <a:xfrm>
                <a:off x="3670"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8</a:t>
                </a:r>
              </a:p>
            </p:txBody>
          </p:sp>
          <p:sp>
            <p:nvSpPr>
              <p:cNvPr id="100364" name="Rectangle 14"/>
              <p:cNvSpPr>
                <a:spLocks noChangeArrowheads="1"/>
              </p:cNvSpPr>
              <p:nvPr/>
            </p:nvSpPr>
            <p:spPr bwMode="auto">
              <a:xfrm>
                <a:off x="3369"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29</a:t>
                </a:r>
              </a:p>
            </p:txBody>
          </p:sp>
          <p:sp>
            <p:nvSpPr>
              <p:cNvPr id="100365" name="Rectangle 15"/>
              <p:cNvSpPr>
                <a:spLocks noChangeArrowheads="1"/>
              </p:cNvSpPr>
              <p:nvPr/>
            </p:nvSpPr>
            <p:spPr bwMode="auto">
              <a:xfrm>
                <a:off x="3068"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7</a:t>
                </a:r>
              </a:p>
            </p:txBody>
          </p:sp>
          <p:sp>
            <p:nvSpPr>
              <p:cNvPr id="100366" name="Rectangle 16"/>
              <p:cNvSpPr>
                <a:spLocks noChangeArrowheads="1"/>
              </p:cNvSpPr>
              <p:nvPr/>
            </p:nvSpPr>
            <p:spPr bwMode="auto">
              <a:xfrm>
                <a:off x="2768" y="2717"/>
                <a:ext cx="3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endParaRPr lang="zh-CN" altLang="zh-CN" sz="2000">
                  <a:ea typeface="仿宋_GB2312"/>
                  <a:cs typeface="仿宋_GB2312"/>
                </a:endParaRPr>
              </a:p>
            </p:txBody>
          </p:sp>
          <p:sp>
            <p:nvSpPr>
              <p:cNvPr id="100367" name="Rectangle 17"/>
              <p:cNvSpPr>
                <a:spLocks noChangeArrowheads="1"/>
              </p:cNvSpPr>
              <p:nvPr/>
            </p:nvSpPr>
            <p:spPr bwMode="auto">
              <a:xfrm>
                <a:off x="2464" y="2717"/>
                <a:ext cx="30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16</a:t>
                </a:r>
              </a:p>
            </p:txBody>
          </p:sp>
          <p:sp>
            <p:nvSpPr>
              <p:cNvPr id="100368" name="Rectangle 18"/>
              <p:cNvSpPr>
                <a:spLocks noChangeArrowheads="1"/>
              </p:cNvSpPr>
              <p:nvPr/>
            </p:nvSpPr>
            <p:spPr bwMode="auto">
              <a:xfrm>
                <a:off x="2164" y="2717"/>
                <a:ext cx="3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92</a:t>
                </a:r>
              </a:p>
            </p:txBody>
          </p:sp>
          <p:sp>
            <p:nvSpPr>
              <p:cNvPr id="100369" name="Rectangle 19"/>
              <p:cNvSpPr>
                <a:spLocks noChangeArrowheads="1"/>
              </p:cNvSpPr>
              <p:nvPr/>
            </p:nvSpPr>
            <p:spPr bwMode="auto">
              <a:xfrm>
                <a:off x="1882" y="2717"/>
                <a:ext cx="282"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47</a:t>
                </a:r>
              </a:p>
            </p:txBody>
          </p:sp>
          <p:sp>
            <p:nvSpPr>
              <p:cNvPr id="100370" name="Rectangle 20"/>
              <p:cNvSpPr>
                <a:spLocks noChangeArrowheads="1"/>
              </p:cNvSpPr>
              <p:nvPr/>
            </p:nvSpPr>
            <p:spPr bwMode="auto">
              <a:xfrm>
                <a:off x="1562" y="2717"/>
                <a:ext cx="32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a:solidFill>
                      <a:srgbClr val="FF3300"/>
                    </a:solidFill>
                    <a:ea typeface="仿宋_GB2312"/>
                    <a:cs typeface="仿宋_GB2312"/>
                  </a:rPr>
                  <a:t>3</a:t>
                </a:r>
              </a:p>
            </p:txBody>
          </p:sp>
          <p:sp>
            <p:nvSpPr>
              <p:cNvPr id="100371" name="Rectangle 21"/>
              <p:cNvSpPr>
                <a:spLocks noChangeArrowheads="1"/>
              </p:cNvSpPr>
              <p:nvPr/>
            </p:nvSpPr>
            <p:spPr bwMode="auto">
              <a:xfrm>
                <a:off x="1261"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solidFill>
                      <a:schemeClr val="tx2"/>
                    </a:solidFill>
                    <a:ea typeface="仿宋_GB2312"/>
                    <a:cs typeface="仿宋_GB2312"/>
                  </a:rPr>
                  <a:t>22</a:t>
                </a:r>
              </a:p>
            </p:txBody>
          </p:sp>
          <p:sp>
            <p:nvSpPr>
              <p:cNvPr id="100372" name="Rectangle 22"/>
              <p:cNvSpPr>
                <a:spLocks noChangeArrowheads="1"/>
              </p:cNvSpPr>
              <p:nvPr/>
            </p:nvSpPr>
            <p:spPr bwMode="auto">
              <a:xfrm>
                <a:off x="960" y="2717"/>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sz="2000">
                    <a:ea typeface="仿宋_GB2312"/>
                    <a:cs typeface="仿宋_GB2312"/>
                  </a:rPr>
                  <a:t>11</a:t>
                </a:r>
              </a:p>
            </p:txBody>
          </p:sp>
          <p:sp>
            <p:nvSpPr>
              <p:cNvPr id="100373" name="Line 23"/>
              <p:cNvSpPr>
                <a:spLocks noChangeShapeType="1"/>
              </p:cNvSpPr>
              <p:nvPr/>
            </p:nvSpPr>
            <p:spPr bwMode="auto">
              <a:xfrm>
                <a:off x="960" y="2717"/>
                <a:ext cx="33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4" name="Line 24"/>
              <p:cNvSpPr>
                <a:spLocks noChangeShapeType="1"/>
              </p:cNvSpPr>
              <p:nvPr/>
            </p:nvSpPr>
            <p:spPr bwMode="auto">
              <a:xfrm>
                <a:off x="960" y="3037"/>
                <a:ext cx="331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5" name="Line 25"/>
              <p:cNvSpPr>
                <a:spLocks noChangeShapeType="1"/>
              </p:cNvSpPr>
              <p:nvPr/>
            </p:nvSpPr>
            <p:spPr bwMode="auto">
              <a:xfrm>
                <a:off x="960" y="2717"/>
                <a:ext cx="0" cy="32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6" name="Line 26"/>
              <p:cNvSpPr>
                <a:spLocks noChangeShapeType="1"/>
              </p:cNvSpPr>
              <p:nvPr/>
            </p:nvSpPr>
            <p:spPr bwMode="auto">
              <a:xfrm>
                <a:off x="1261"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7" name="Line 27"/>
              <p:cNvSpPr>
                <a:spLocks noChangeShapeType="1"/>
              </p:cNvSpPr>
              <p:nvPr/>
            </p:nvSpPr>
            <p:spPr bwMode="auto">
              <a:xfrm>
                <a:off x="1562"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8" name="Line 28"/>
              <p:cNvSpPr>
                <a:spLocks noChangeShapeType="1"/>
              </p:cNvSpPr>
              <p:nvPr/>
            </p:nvSpPr>
            <p:spPr bwMode="auto">
              <a:xfrm>
                <a:off x="1882"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9" name="Line 29"/>
              <p:cNvSpPr>
                <a:spLocks noChangeShapeType="1"/>
              </p:cNvSpPr>
              <p:nvPr/>
            </p:nvSpPr>
            <p:spPr bwMode="auto">
              <a:xfrm>
                <a:off x="2164"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0" name="Line 30"/>
              <p:cNvSpPr>
                <a:spLocks noChangeShapeType="1"/>
              </p:cNvSpPr>
              <p:nvPr/>
            </p:nvSpPr>
            <p:spPr bwMode="auto">
              <a:xfrm>
                <a:off x="2464"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1" name="Line 31"/>
              <p:cNvSpPr>
                <a:spLocks noChangeShapeType="1"/>
              </p:cNvSpPr>
              <p:nvPr/>
            </p:nvSpPr>
            <p:spPr bwMode="auto">
              <a:xfrm>
                <a:off x="2768"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2" name="Line 32"/>
              <p:cNvSpPr>
                <a:spLocks noChangeShapeType="1"/>
              </p:cNvSpPr>
              <p:nvPr/>
            </p:nvSpPr>
            <p:spPr bwMode="auto">
              <a:xfrm>
                <a:off x="3068"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3" name="Line 33"/>
              <p:cNvSpPr>
                <a:spLocks noChangeShapeType="1"/>
              </p:cNvSpPr>
              <p:nvPr/>
            </p:nvSpPr>
            <p:spPr bwMode="auto">
              <a:xfrm>
                <a:off x="3369"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4" name="Line 34"/>
              <p:cNvSpPr>
                <a:spLocks noChangeShapeType="1"/>
              </p:cNvSpPr>
              <p:nvPr/>
            </p:nvSpPr>
            <p:spPr bwMode="auto">
              <a:xfrm>
                <a:off x="3670"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5" name="Line 35"/>
              <p:cNvSpPr>
                <a:spLocks noChangeShapeType="1"/>
              </p:cNvSpPr>
              <p:nvPr/>
            </p:nvSpPr>
            <p:spPr bwMode="auto">
              <a:xfrm>
                <a:off x="3971" y="2717"/>
                <a:ext cx="0" cy="32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6" name="Line 36"/>
              <p:cNvSpPr>
                <a:spLocks noChangeShapeType="1"/>
              </p:cNvSpPr>
              <p:nvPr/>
            </p:nvSpPr>
            <p:spPr bwMode="auto">
              <a:xfrm>
                <a:off x="4272" y="2717"/>
                <a:ext cx="0" cy="32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361" name="Rectangle 37"/>
            <p:cNvSpPr>
              <a:spLocks noChangeArrowheads="1"/>
            </p:cNvSpPr>
            <p:nvPr/>
          </p:nvSpPr>
          <p:spPr bwMode="auto">
            <a:xfrm>
              <a:off x="1296" y="3053"/>
              <a:ext cx="26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1200" b="0">
                  <a:solidFill>
                    <a:srgbClr val="FF0000"/>
                  </a:solidFill>
                  <a:ea typeface="宋体" panose="02010600030101010101" pitchFamily="2" charset="-122"/>
                </a:rPr>
                <a:t> △        ▲                                                                       △         △</a:t>
              </a:r>
            </a:p>
          </p:txBody>
        </p:sp>
      </p:grpSp>
      <p:sp>
        <p:nvSpPr>
          <p:cNvPr id="961576" name="Rectangle 40"/>
          <p:cNvSpPr>
            <a:spLocks noChangeArrowheads="1"/>
          </p:cNvSpPr>
          <p:nvPr/>
        </p:nvSpPr>
        <p:spPr bwMode="auto">
          <a:xfrm>
            <a:off x="827088" y="4446588"/>
            <a:ext cx="7696200" cy="12255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sz="2400" dirty="0">
                <a:solidFill>
                  <a:srgbClr val="0000CC"/>
                </a:solidFill>
              </a:rPr>
              <a:t>Hash(3)=3</a:t>
            </a:r>
            <a:r>
              <a:rPr lang="zh-CN" altLang="en-US" sz="2400" dirty="0">
                <a:solidFill>
                  <a:srgbClr val="0000CC"/>
                </a:solidFill>
                <a:latin typeface="楷体_GB2312"/>
              </a:rPr>
              <a:t>，哈希地址冲突，由</a:t>
            </a:r>
          </a:p>
          <a:p>
            <a:pPr algn="just">
              <a:buFont typeface="Arial" panose="020B0604020202020204" pitchFamily="34" charset="0"/>
              <a:buNone/>
            </a:pPr>
            <a:r>
              <a:rPr lang="en-US" altLang="zh-CN" sz="2400" dirty="0">
                <a:solidFill>
                  <a:srgbClr val="0000CC"/>
                </a:solidFill>
              </a:rPr>
              <a:t>H</a:t>
            </a:r>
            <a:r>
              <a:rPr lang="en-US" altLang="zh-CN" sz="2400" baseline="-30000" dirty="0">
                <a:solidFill>
                  <a:srgbClr val="0000CC"/>
                </a:solidFill>
              </a:rPr>
              <a:t>1</a:t>
            </a:r>
            <a:r>
              <a:rPr lang="en-US" altLang="zh-CN" sz="2400" dirty="0">
                <a:solidFill>
                  <a:srgbClr val="0000CC"/>
                </a:solidFill>
              </a:rPr>
              <a:t>=(Hash(3)+1</a:t>
            </a:r>
            <a:r>
              <a:rPr lang="en-US" altLang="zh-CN" sz="2400" baseline="30000" dirty="0">
                <a:solidFill>
                  <a:srgbClr val="0000CC"/>
                </a:solidFill>
              </a:rPr>
              <a:t>2</a:t>
            </a:r>
            <a:r>
              <a:rPr lang="en-US" altLang="zh-CN" sz="2400" dirty="0">
                <a:solidFill>
                  <a:srgbClr val="0000CC"/>
                </a:solidFill>
              </a:rPr>
              <a:t>) mod 11=4</a:t>
            </a:r>
            <a:r>
              <a:rPr lang="zh-CN" altLang="en-US" sz="2400" dirty="0">
                <a:solidFill>
                  <a:srgbClr val="0000CC"/>
                </a:solidFill>
                <a:latin typeface="楷体_GB2312"/>
              </a:rPr>
              <a:t>，仍然冲突；</a:t>
            </a:r>
          </a:p>
          <a:p>
            <a:pPr>
              <a:buFont typeface="Arial" panose="020B0604020202020204" pitchFamily="34" charset="0"/>
              <a:buNone/>
            </a:pPr>
            <a:r>
              <a:rPr lang="en-US" altLang="zh-CN" sz="2400" dirty="0">
                <a:solidFill>
                  <a:srgbClr val="0000CC"/>
                </a:solidFill>
              </a:rPr>
              <a:t>H</a:t>
            </a:r>
            <a:r>
              <a:rPr lang="en-US" altLang="zh-CN" sz="2400" baseline="-30000" dirty="0">
                <a:solidFill>
                  <a:srgbClr val="0000CC"/>
                </a:solidFill>
              </a:rPr>
              <a:t>2</a:t>
            </a:r>
            <a:r>
              <a:rPr lang="en-US" altLang="zh-CN" sz="2400" dirty="0">
                <a:solidFill>
                  <a:srgbClr val="0000CC"/>
                </a:solidFill>
              </a:rPr>
              <a:t>=(Hash(3)</a:t>
            </a:r>
            <a:r>
              <a:rPr lang="en-US" altLang="zh-CN" sz="2400" dirty="0">
                <a:solidFill>
                  <a:schemeClr val="tx2"/>
                </a:solidFill>
              </a:rPr>
              <a:t>-1</a:t>
            </a:r>
            <a:r>
              <a:rPr lang="en-US" altLang="zh-CN" sz="2400" baseline="30000" dirty="0">
                <a:solidFill>
                  <a:schemeClr val="tx2"/>
                </a:solidFill>
              </a:rPr>
              <a:t>2</a:t>
            </a:r>
            <a:r>
              <a:rPr lang="en-US" altLang="zh-CN" sz="2400" dirty="0">
                <a:solidFill>
                  <a:srgbClr val="0000CC"/>
                </a:solidFill>
              </a:rPr>
              <a:t>) mod 11=</a:t>
            </a:r>
            <a:r>
              <a:rPr lang="en-US" altLang="zh-CN" sz="2400" dirty="0">
                <a:solidFill>
                  <a:schemeClr val="tx2"/>
                </a:solidFill>
              </a:rPr>
              <a:t>2</a:t>
            </a:r>
            <a:r>
              <a:rPr lang="zh-CN" altLang="en-US" sz="2400" dirty="0">
                <a:solidFill>
                  <a:schemeClr val="tx2"/>
                </a:solidFill>
              </a:rPr>
              <a:t>，</a:t>
            </a:r>
            <a:r>
              <a:rPr lang="zh-CN" altLang="en-US" sz="2400" dirty="0">
                <a:solidFill>
                  <a:srgbClr val="0000CC"/>
                </a:solidFill>
                <a:latin typeface="楷体_GB2312"/>
              </a:rPr>
              <a:t>找到空的哈希地址，存入。 </a:t>
            </a:r>
          </a:p>
        </p:txBody>
      </p:sp>
      <p:sp>
        <p:nvSpPr>
          <p:cNvPr id="3" name="文本框 2">
            <a:extLst>
              <a:ext uri="{FF2B5EF4-FFF2-40B4-BE49-F238E27FC236}">
                <a16:creationId xmlns:a16="http://schemas.microsoft.com/office/drawing/2014/main" id="{B86BCF10-D53C-8271-4A4D-49E7138B8D58}"/>
              </a:ext>
            </a:extLst>
          </p:cNvPr>
          <p:cNvSpPr txBox="1"/>
          <p:nvPr/>
        </p:nvSpPr>
        <p:spPr>
          <a:xfrm>
            <a:off x="467544" y="5877272"/>
            <a:ext cx="7920880" cy="523220"/>
          </a:xfrm>
          <a:prstGeom prst="rect">
            <a:avLst/>
          </a:prstGeom>
          <a:noFill/>
        </p:spPr>
        <p:txBody>
          <a:bodyPr wrap="square" rtlCol="0">
            <a:spAutoFit/>
          </a:bodyPr>
          <a:lstStyle/>
          <a:p>
            <a:r>
              <a:rPr lang="zh-CN" altLang="en-US" dirty="0"/>
              <a:t>将</a:t>
            </a:r>
            <a:r>
              <a:rPr lang="en-US" altLang="zh-CN" dirty="0"/>
              <a:t>d</a:t>
            </a:r>
            <a:r>
              <a:rPr lang="zh-CN" altLang="en-US" dirty="0"/>
              <a:t>改为</a:t>
            </a:r>
            <a:r>
              <a:rPr lang="en-US" altLang="zh-CN" dirty="0">
                <a:highlight>
                  <a:srgbClr val="00FF00"/>
                </a:highlight>
              </a:rPr>
              <a:t>±n²</a:t>
            </a:r>
            <a:endParaRPr lang="zh-CN" altLang="en-US"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61545"/>
                                        </p:tgtEl>
                                        <p:attrNameLst>
                                          <p:attrName>style.visibility</p:attrName>
                                        </p:attrNameLst>
                                      </p:cBhvr>
                                      <p:to>
                                        <p:strVal val="visible"/>
                                      </p:to>
                                    </p:set>
                                    <p:animEffect transition="in" filter="box(in)">
                                      <p:cBhvr>
                                        <p:cTn id="7" dur="500"/>
                                        <p:tgtEl>
                                          <p:spTgt spid="9615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amond(in)">
                                      <p:cBhvr>
                                        <p:cTn id="12" dur="2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61576"/>
                                        </p:tgtEl>
                                        <p:attrNameLst>
                                          <p:attrName>style.visibility</p:attrName>
                                        </p:attrNameLst>
                                      </p:cBhvr>
                                      <p:to>
                                        <p:strVal val="visible"/>
                                      </p:to>
                                    </p:set>
                                    <p:animEffect transition="in" filter="box(in)">
                                      <p:cBhvr>
                                        <p:cTn id="17" dur="500"/>
                                        <p:tgtEl>
                                          <p:spTgt spid="9615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45" grpId="0" animBg="1"/>
      <p:bldP spid="96157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ChangeArrowheads="1"/>
          </p:cNvSpPr>
          <p:nvPr/>
        </p:nvSpPr>
        <p:spPr bwMode="auto">
          <a:xfrm>
            <a:off x="4067175" y="0"/>
            <a:ext cx="4027487"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伪随机探测法</a:t>
            </a:r>
          </a:p>
        </p:txBody>
      </p:sp>
      <p:sp>
        <p:nvSpPr>
          <p:cNvPr id="101379" name="Rectangle 5"/>
          <p:cNvSpPr>
            <a:spLocks noChangeArrowheads="1"/>
          </p:cNvSpPr>
          <p:nvPr/>
        </p:nvSpPr>
        <p:spPr bwMode="auto">
          <a:xfrm>
            <a:off x="755650" y="820738"/>
            <a:ext cx="74168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eaLnBrk="1" hangingPunct="1">
              <a:buFont typeface="Arial" panose="020B0604020202020204" pitchFamily="34" charset="0"/>
              <a:buNone/>
            </a:pPr>
            <a:r>
              <a:rPr lang="en-US" altLang="zh-CN" dirty="0">
                <a:solidFill>
                  <a:schemeClr val="tx2"/>
                </a:solidFill>
              </a:rPr>
              <a:t>H</a:t>
            </a:r>
            <a:r>
              <a:rPr lang="en-US" altLang="zh-CN" baseline="-30000" dirty="0">
                <a:solidFill>
                  <a:schemeClr val="tx2"/>
                </a:solidFill>
              </a:rPr>
              <a:t>i</a:t>
            </a:r>
            <a:r>
              <a:rPr lang="en-US" altLang="zh-CN" dirty="0">
                <a:solidFill>
                  <a:schemeClr val="tx2"/>
                </a:solidFill>
              </a:rPr>
              <a:t>=(Hash(key)+d</a:t>
            </a:r>
            <a:r>
              <a:rPr lang="en-US" altLang="zh-CN" baseline="-30000" dirty="0">
                <a:solidFill>
                  <a:schemeClr val="tx2"/>
                </a:solidFill>
              </a:rPr>
              <a:t>i</a:t>
            </a:r>
            <a:r>
              <a:rPr lang="en-US" altLang="zh-CN" dirty="0">
                <a:solidFill>
                  <a:schemeClr val="tx2"/>
                </a:solidFill>
              </a:rPr>
              <a:t>) mod m</a:t>
            </a:r>
            <a:r>
              <a:rPr lang="en-US" altLang="zh-CN" dirty="0"/>
              <a:t>       ( 1≤i &lt; m )</a:t>
            </a:r>
          </a:p>
          <a:p>
            <a:pPr algn="just">
              <a:buFont typeface="Arial" panose="020B0604020202020204" pitchFamily="34" charset="0"/>
              <a:buNone/>
            </a:pPr>
            <a:r>
              <a:rPr lang="en-US" altLang="zh-CN" dirty="0">
                <a:latin typeface="楷体_GB2312"/>
              </a:rPr>
              <a:t>  </a:t>
            </a:r>
            <a:r>
              <a:rPr lang="zh-CN" altLang="en-US" dirty="0">
                <a:latin typeface="楷体_GB2312"/>
              </a:rPr>
              <a:t>其中：</a:t>
            </a:r>
            <a:r>
              <a:rPr lang="en-US" altLang="zh-CN" dirty="0"/>
              <a:t>m</a:t>
            </a:r>
            <a:r>
              <a:rPr lang="zh-CN" altLang="en-US" dirty="0">
                <a:latin typeface="楷体_GB2312"/>
              </a:rPr>
              <a:t>为哈希表长度</a:t>
            </a:r>
          </a:p>
          <a:p>
            <a:pPr algn="just">
              <a:buFont typeface="Arial" panose="020B0604020202020204" pitchFamily="34" charset="0"/>
              <a:buNone/>
            </a:pPr>
            <a:r>
              <a:rPr lang="zh-CN" altLang="en-US" dirty="0">
                <a:latin typeface="楷体_GB2312"/>
              </a:rPr>
              <a:t>     </a:t>
            </a:r>
            <a:r>
              <a:rPr lang="en-US" altLang="zh-CN" dirty="0">
                <a:highlight>
                  <a:srgbClr val="00FF00"/>
                </a:highlight>
              </a:rPr>
              <a:t>d</a:t>
            </a:r>
            <a:r>
              <a:rPr lang="en-US" altLang="zh-CN" baseline="-30000" dirty="0">
                <a:highlight>
                  <a:srgbClr val="00FF00"/>
                </a:highlight>
              </a:rPr>
              <a:t>i</a:t>
            </a:r>
            <a:r>
              <a:rPr lang="en-US" altLang="zh-CN" dirty="0">
                <a:highlight>
                  <a:srgbClr val="00FF00"/>
                </a:highlight>
              </a:rPr>
              <a:t> </a:t>
            </a:r>
            <a:r>
              <a:rPr lang="zh-CN" altLang="en-US" dirty="0">
                <a:highlight>
                  <a:srgbClr val="00FF00"/>
                </a:highlight>
                <a:latin typeface="楷体_GB2312"/>
              </a:rPr>
              <a:t>为随机数</a:t>
            </a:r>
            <a:endParaRPr lang="zh-CN" altLang="en-US" dirty="0">
              <a:highlight>
                <a:srgbClr val="00FF00"/>
              </a:highligh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9"/>
          <p:cNvSpPr>
            <a:spLocks noChangeArrowheads="1"/>
          </p:cNvSpPr>
          <p:nvPr/>
        </p:nvSpPr>
        <p:spPr bwMode="auto">
          <a:xfrm>
            <a:off x="3563888" y="0"/>
            <a:ext cx="4387850"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en-US" altLang="zh-CN" sz="2400">
                <a:latin typeface="楷体_GB2312"/>
              </a:rPr>
              <a:t>2.</a:t>
            </a:r>
            <a:r>
              <a:rPr lang="zh-CN" altLang="en-US" sz="2400">
                <a:latin typeface="楷体_GB2312"/>
              </a:rPr>
              <a:t>链地址法</a:t>
            </a:r>
            <a:r>
              <a:rPr lang="en-US" altLang="zh-CN" sz="2400">
                <a:latin typeface="楷体_GB2312"/>
              </a:rPr>
              <a:t>(</a:t>
            </a:r>
            <a:r>
              <a:rPr lang="zh-CN" altLang="en-US" sz="2400">
                <a:latin typeface="楷体_GB2312"/>
              </a:rPr>
              <a:t>拉链法）</a:t>
            </a:r>
          </a:p>
        </p:txBody>
      </p:sp>
      <p:sp>
        <p:nvSpPr>
          <p:cNvPr id="103427" name="Text Box 23"/>
          <p:cNvSpPr txBox="1">
            <a:spLocks noChangeArrowheads="1"/>
          </p:cNvSpPr>
          <p:nvPr/>
        </p:nvSpPr>
        <p:spPr bwMode="auto">
          <a:xfrm>
            <a:off x="250825" y="609600"/>
            <a:ext cx="8713788"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zh-CN" altLang="en-US" dirty="0">
                <a:solidFill>
                  <a:schemeClr val="hlink"/>
                </a:solidFill>
              </a:rPr>
              <a:t>基本思想：</a:t>
            </a:r>
            <a:r>
              <a:rPr lang="zh-CN" altLang="en-US" dirty="0"/>
              <a:t>相同哈希地址的记录链成一单链表，</a:t>
            </a:r>
            <a:r>
              <a:rPr lang="en-US" altLang="zh-CN" dirty="0">
                <a:solidFill>
                  <a:srgbClr val="FF3300"/>
                </a:solidFill>
                <a:highlight>
                  <a:srgbClr val="00FF00"/>
                </a:highlight>
              </a:rPr>
              <a:t>m</a:t>
            </a:r>
            <a:r>
              <a:rPr lang="zh-CN" altLang="en-US" dirty="0">
                <a:solidFill>
                  <a:srgbClr val="FF3300"/>
                </a:solidFill>
                <a:highlight>
                  <a:srgbClr val="00FF00"/>
                </a:highlight>
              </a:rPr>
              <a:t>个哈希地址就设</a:t>
            </a:r>
            <a:r>
              <a:rPr lang="en-US" altLang="zh-CN" dirty="0">
                <a:solidFill>
                  <a:srgbClr val="FF3300"/>
                </a:solidFill>
                <a:highlight>
                  <a:srgbClr val="00FF00"/>
                </a:highlight>
              </a:rPr>
              <a:t>m</a:t>
            </a:r>
            <a:r>
              <a:rPr lang="zh-CN" altLang="en-US" dirty="0">
                <a:solidFill>
                  <a:srgbClr val="FF3300"/>
                </a:solidFill>
                <a:highlight>
                  <a:srgbClr val="00FF00"/>
                </a:highlight>
              </a:rPr>
              <a:t>个单链表</a:t>
            </a:r>
            <a:r>
              <a:rPr lang="zh-CN" altLang="en-US" dirty="0"/>
              <a:t>，然后用用</a:t>
            </a:r>
            <a:r>
              <a:rPr lang="zh-CN" altLang="en-US" dirty="0">
                <a:highlight>
                  <a:srgbClr val="00FF00"/>
                </a:highlight>
              </a:rPr>
              <a:t>一个数组</a:t>
            </a:r>
            <a:r>
              <a:rPr lang="zh-CN" altLang="en-US" dirty="0"/>
              <a:t>将</a:t>
            </a:r>
            <a:r>
              <a:rPr lang="en-US" altLang="zh-CN" dirty="0"/>
              <a:t>m</a:t>
            </a:r>
            <a:r>
              <a:rPr lang="zh-CN" altLang="en-US" dirty="0"/>
              <a:t>个单链表的表头指针存储起来，形成一个动态的结构</a:t>
            </a:r>
          </a:p>
        </p:txBody>
      </p:sp>
      <p:grpSp>
        <p:nvGrpSpPr>
          <p:cNvPr id="2" name="Group 168"/>
          <p:cNvGrpSpPr>
            <a:grpSpLocks/>
          </p:cNvGrpSpPr>
          <p:nvPr/>
        </p:nvGrpSpPr>
        <p:grpSpPr bwMode="auto">
          <a:xfrm>
            <a:off x="2794002" y="1968501"/>
            <a:ext cx="5969002" cy="5043487"/>
            <a:chOff x="958" y="1439"/>
            <a:chExt cx="3760" cy="3177"/>
          </a:xfrm>
        </p:grpSpPr>
        <p:grpSp>
          <p:nvGrpSpPr>
            <p:cNvPr id="103429" name="Group 169"/>
            <p:cNvGrpSpPr>
              <a:grpSpLocks/>
            </p:cNvGrpSpPr>
            <p:nvPr/>
          </p:nvGrpSpPr>
          <p:grpSpPr bwMode="auto">
            <a:xfrm>
              <a:off x="1303" y="1448"/>
              <a:ext cx="373" cy="2576"/>
              <a:chOff x="1303" y="1448"/>
              <a:chExt cx="373" cy="2576"/>
            </a:xfrm>
          </p:grpSpPr>
          <p:sp>
            <p:nvSpPr>
              <p:cNvPr id="103492" name="Rectangle 170"/>
              <p:cNvSpPr>
                <a:spLocks noChangeArrowheads="1"/>
              </p:cNvSpPr>
              <p:nvPr/>
            </p:nvSpPr>
            <p:spPr bwMode="auto">
              <a:xfrm>
                <a:off x="1303" y="1448"/>
                <a:ext cx="373" cy="2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103493" name="Line 171"/>
              <p:cNvSpPr>
                <a:spLocks noChangeShapeType="1"/>
              </p:cNvSpPr>
              <p:nvPr/>
            </p:nvSpPr>
            <p:spPr bwMode="auto">
              <a:xfrm>
                <a:off x="1303" y="164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4" name="Line 172"/>
              <p:cNvSpPr>
                <a:spLocks noChangeShapeType="1"/>
              </p:cNvSpPr>
              <p:nvPr/>
            </p:nvSpPr>
            <p:spPr bwMode="auto">
              <a:xfrm>
                <a:off x="1303" y="184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5" name="Line 173"/>
              <p:cNvSpPr>
                <a:spLocks noChangeShapeType="1"/>
              </p:cNvSpPr>
              <p:nvPr/>
            </p:nvSpPr>
            <p:spPr bwMode="auto">
              <a:xfrm>
                <a:off x="1303" y="204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6" name="Line 174"/>
              <p:cNvSpPr>
                <a:spLocks noChangeShapeType="1"/>
              </p:cNvSpPr>
              <p:nvPr/>
            </p:nvSpPr>
            <p:spPr bwMode="auto">
              <a:xfrm>
                <a:off x="1303" y="2237"/>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7" name="Line 175"/>
              <p:cNvSpPr>
                <a:spLocks noChangeShapeType="1"/>
              </p:cNvSpPr>
              <p:nvPr/>
            </p:nvSpPr>
            <p:spPr bwMode="auto">
              <a:xfrm>
                <a:off x="1303" y="243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8" name="Line 176"/>
              <p:cNvSpPr>
                <a:spLocks noChangeShapeType="1"/>
              </p:cNvSpPr>
              <p:nvPr/>
            </p:nvSpPr>
            <p:spPr bwMode="auto">
              <a:xfrm>
                <a:off x="1303" y="263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9" name="Line 177"/>
              <p:cNvSpPr>
                <a:spLocks noChangeShapeType="1"/>
              </p:cNvSpPr>
              <p:nvPr/>
            </p:nvSpPr>
            <p:spPr bwMode="auto">
              <a:xfrm>
                <a:off x="1303" y="283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00" name="Line 178"/>
              <p:cNvSpPr>
                <a:spLocks noChangeShapeType="1"/>
              </p:cNvSpPr>
              <p:nvPr/>
            </p:nvSpPr>
            <p:spPr bwMode="auto">
              <a:xfrm>
                <a:off x="1303" y="3027"/>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01" name="Line 179"/>
              <p:cNvSpPr>
                <a:spLocks noChangeShapeType="1"/>
              </p:cNvSpPr>
              <p:nvPr/>
            </p:nvSpPr>
            <p:spPr bwMode="auto">
              <a:xfrm>
                <a:off x="1303" y="322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02" name="Line 180"/>
              <p:cNvSpPr>
                <a:spLocks noChangeShapeType="1"/>
              </p:cNvSpPr>
              <p:nvPr/>
            </p:nvSpPr>
            <p:spPr bwMode="auto">
              <a:xfrm>
                <a:off x="1303" y="342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03" name="Line 181"/>
              <p:cNvSpPr>
                <a:spLocks noChangeShapeType="1"/>
              </p:cNvSpPr>
              <p:nvPr/>
            </p:nvSpPr>
            <p:spPr bwMode="auto">
              <a:xfrm>
                <a:off x="1303" y="362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504" name="Line 182"/>
              <p:cNvSpPr>
                <a:spLocks noChangeShapeType="1"/>
              </p:cNvSpPr>
              <p:nvPr/>
            </p:nvSpPr>
            <p:spPr bwMode="auto">
              <a:xfrm>
                <a:off x="1303" y="3818"/>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3430" name="Text Box 183"/>
            <p:cNvSpPr txBox="1">
              <a:spLocks noChangeArrowheads="1"/>
            </p:cNvSpPr>
            <p:nvPr/>
          </p:nvSpPr>
          <p:spPr bwMode="auto">
            <a:xfrm>
              <a:off x="958" y="1439"/>
              <a:ext cx="388" cy="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squar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dirty="0">
                  <a:ea typeface="宋体" panose="02010600030101010101" pitchFamily="2" charset="-122"/>
                </a:rPr>
                <a:t>0 1  2 3 4  5 6  7 8 9  10 11 12 </a:t>
              </a:r>
            </a:p>
          </p:txBody>
        </p:sp>
        <p:grpSp>
          <p:nvGrpSpPr>
            <p:cNvPr id="103431" name="Group 184"/>
            <p:cNvGrpSpPr>
              <a:grpSpLocks/>
            </p:cNvGrpSpPr>
            <p:nvPr/>
          </p:nvGrpSpPr>
          <p:grpSpPr bwMode="auto">
            <a:xfrm>
              <a:off x="1552" y="1623"/>
              <a:ext cx="869" cy="218"/>
              <a:chOff x="1976" y="2813"/>
              <a:chExt cx="869" cy="218"/>
            </a:xfrm>
          </p:grpSpPr>
          <p:sp>
            <p:nvSpPr>
              <p:cNvPr id="103489" name="Rectangle 185"/>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14</a:t>
                </a:r>
              </a:p>
            </p:txBody>
          </p:sp>
          <p:sp>
            <p:nvSpPr>
              <p:cNvPr id="103490" name="Line 186"/>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91" name="Line 187"/>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3432" name="Text Box 188"/>
            <p:cNvSpPr txBox="1">
              <a:spLocks noChangeArrowheads="1"/>
            </p:cNvSpPr>
            <p:nvPr/>
          </p:nvSpPr>
          <p:spPr bwMode="auto">
            <a:xfrm>
              <a:off x="1362" y="144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grpSp>
          <p:nvGrpSpPr>
            <p:cNvPr id="103433" name="Group 189"/>
            <p:cNvGrpSpPr>
              <a:grpSpLocks/>
            </p:cNvGrpSpPr>
            <p:nvPr/>
          </p:nvGrpSpPr>
          <p:grpSpPr bwMode="auto">
            <a:xfrm>
              <a:off x="2317" y="1623"/>
              <a:ext cx="869" cy="218"/>
              <a:chOff x="1976" y="2813"/>
              <a:chExt cx="869" cy="218"/>
            </a:xfrm>
          </p:grpSpPr>
          <p:sp>
            <p:nvSpPr>
              <p:cNvPr id="103486" name="Rectangle 190"/>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a:t>
                </a:r>
              </a:p>
            </p:txBody>
          </p:sp>
          <p:sp>
            <p:nvSpPr>
              <p:cNvPr id="103487" name="Line 191"/>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8" name="Line 192"/>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4" name="Group 193"/>
            <p:cNvGrpSpPr>
              <a:grpSpLocks/>
            </p:cNvGrpSpPr>
            <p:nvPr/>
          </p:nvGrpSpPr>
          <p:grpSpPr bwMode="auto">
            <a:xfrm>
              <a:off x="3094" y="1622"/>
              <a:ext cx="869" cy="218"/>
              <a:chOff x="1976" y="2813"/>
              <a:chExt cx="869" cy="218"/>
            </a:xfrm>
          </p:grpSpPr>
          <p:sp>
            <p:nvSpPr>
              <p:cNvPr id="103483" name="Rectangle 194"/>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27</a:t>
                </a:r>
              </a:p>
            </p:txBody>
          </p:sp>
          <p:sp>
            <p:nvSpPr>
              <p:cNvPr id="103484" name="Line 195"/>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5" name="Line 196"/>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5" name="Group 197"/>
            <p:cNvGrpSpPr>
              <a:grpSpLocks/>
            </p:cNvGrpSpPr>
            <p:nvPr/>
          </p:nvGrpSpPr>
          <p:grpSpPr bwMode="auto">
            <a:xfrm>
              <a:off x="3849" y="1624"/>
              <a:ext cx="869" cy="218"/>
              <a:chOff x="1976" y="2813"/>
              <a:chExt cx="869" cy="218"/>
            </a:xfrm>
          </p:grpSpPr>
          <p:sp>
            <p:nvSpPr>
              <p:cNvPr id="103480" name="Rectangle 198"/>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79</a:t>
                </a:r>
              </a:p>
            </p:txBody>
          </p:sp>
          <p:sp>
            <p:nvSpPr>
              <p:cNvPr id="103481" name="Line 199"/>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82" name="Line 200"/>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6" name="Group 201"/>
            <p:cNvGrpSpPr>
              <a:grpSpLocks/>
            </p:cNvGrpSpPr>
            <p:nvPr/>
          </p:nvGrpSpPr>
          <p:grpSpPr bwMode="auto">
            <a:xfrm>
              <a:off x="1563" y="2007"/>
              <a:ext cx="869" cy="218"/>
              <a:chOff x="1976" y="2813"/>
              <a:chExt cx="869" cy="218"/>
            </a:xfrm>
          </p:grpSpPr>
          <p:sp>
            <p:nvSpPr>
              <p:cNvPr id="103477" name="Rectangle 202"/>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68</a:t>
                </a:r>
              </a:p>
            </p:txBody>
          </p:sp>
          <p:sp>
            <p:nvSpPr>
              <p:cNvPr id="103478" name="Line 203"/>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79" name="Line 204"/>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7" name="Group 205"/>
            <p:cNvGrpSpPr>
              <a:grpSpLocks/>
            </p:cNvGrpSpPr>
            <p:nvPr/>
          </p:nvGrpSpPr>
          <p:grpSpPr bwMode="auto">
            <a:xfrm>
              <a:off x="2338" y="2006"/>
              <a:ext cx="869" cy="218"/>
              <a:chOff x="1976" y="2813"/>
              <a:chExt cx="869" cy="218"/>
            </a:xfrm>
          </p:grpSpPr>
          <p:sp>
            <p:nvSpPr>
              <p:cNvPr id="103474" name="Rectangle 206"/>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55</a:t>
                </a:r>
              </a:p>
            </p:txBody>
          </p:sp>
          <p:sp>
            <p:nvSpPr>
              <p:cNvPr id="103475" name="Line 207"/>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76" name="Line 208"/>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8" name="Group 209"/>
            <p:cNvGrpSpPr>
              <a:grpSpLocks/>
            </p:cNvGrpSpPr>
            <p:nvPr/>
          </p:nvGrpSpPr>
          <p:grpSpPr bwMode="auto">
            <a:xfrm>
              <a:off x="1573" y="2617"/>
              <a:ext cx="869" cy="218"/>
              <a:chOff x="1976" y="2813"/>
              <a:chExt cx="869" cy="218"/>
            </a:xfrm>
          </p:grpSpPr>
          <p:sp>
            <p:nvSpPr>
              <p:cNvPr id="103471" name="Rectangle 210"/>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19</a:t>
                </a:r>
              </a:p>
            </p:txBody>
          </p:sp>
          <p:sp>
            <p:nvSpPr>
              <p:cNvPr id="103472" name="Line 211"/>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73" name="Line 212"/>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39" name="Group 213"/>
            <p:cNvGrpSpPr>
              <a:grpSpLocks/>
            </p:cNvGrpSpPr>
            <p:nvPr/>
          </p:nvGrpSpPr>
          <p:grpSpPr bwMode="auto">
            <a:xfrm>
              <a:off x="2338" y="2617"/>
              <a:ext cx="869" cy="218"/>
              <a:chOff x="1976" y="2813"/>
              <a:chExt cx="869" cy="218"/>
            </a:xfrm>
          </p:grpSpPr>
          <p:sp>
            <p:nvSpPr>
              <p:cNvPr id="103468" name="Rectangle 214"/>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84</a:t>
                </a:r>
              </a:p>
            </p:txBody>
          </p:sp>
          <p:sp>
            <p:nvSpPr>
              <p:cNvPr id="103469" name="Line 215"/>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70" name="Line 216"/>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40" name="Group 217"/>
            <p:cNvGrpSpPr>
              <a:grpSpLocks/>
            </p:cNvGrpSpPr>
            <p:nvPr/>
          </p:nvGrpSpPr>
          <p:grpSpPr bwMode="auto">
            <a:xfrm>
              <a:off x="1572" y="2875"/>
              <a:ext cx="869" cy="218"/>
              <a:chOff x="1976" y="2813"/>
              <a:chExt cx="869" cy="218"/>
            </a:xfrm>
          </p:grpSpPr>
          <p:sp>
            <p:nvSpPr>
              <p:cNvPr id="103465" name="Rectangle 218"/>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20</a:t>
                </a:r>
              </a:p>
            </p:txBody>
          </p:sp>
          <p:sp>
            <p:nvSpPr>
              <p:cNvPr id="103466" name="Line 219"/>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67" name="Line 220"/>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41" name="Group 221"/>
            <p:cNvGrpSpPr>
              <a:grpSpLocks/>
            </p:cNvGrpSpPr>
            <p:nvPr/>
          </p:nvGrpSpPr>
          <p:grpSpPr bwMode="auto">
            <a:xfrm>
              <a:off x="1583" y="3382"/>
              <a:ext cx="869" cy="218"/>
              <a:chOff x="1976" y="2813"/>
              <a:chExt cx="869" cy="218"/>
            </a:xfrm>
          </p:grpSpPr>
          <p:sp>
            <p:nvSpPr>
              <p:cNvPr id="103462" name="Rectangle 222"/>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23</a:t>
                </a:r>
              </a:p>
            </p:txBody>
          </p:sp>
          <p:sp>
            <p:nvSpPr>
              <p:cNvPr id="103463" name="Line 223"/>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64" name="Line 224"/>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42" name="Group 225"/>
            <p:cNvGrpSpPr>
              <a:grpSpLocks/>
            </p:cNvGrpSpPr>
            <p:nvPr/>
          </p:nvGrpSpPr>
          <p:grpSpPr bwMode="auto">
            <a:xfrm>
              <a:off x="2338" y="3382"/>
              <a:ext cx="869" cy="218"/>
              <a:chOff x="1976" y="2813"/>
              <a:chExt cx="869" cy="218"/>
            </a:xfrm>
          </p:grpSpPr>
          <p:sp>
            <p:nvSpPr>
              <p:cNvPr id="103459" name="Rectangle 226"/>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10</a:t>
                </a:r>
              </a:p>
            </p:txBody>
          </p:sp>
          <p:sp>
            <p:nvSpPr>
              <p:cNvPr id="103460" name="Line 227"/>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61" name="Line 228"/>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3443" name="Group 229"/>
            <p:cNvGrpSpPr>
              <a:grpSpLocks/>
            </p:cNvGrpSpPr>
            <p:nvPr/>
          </p:nvGrpSpPr>
          <p:grpSpPr bwMode="auto">
            <a:xfrm>
              <a:off x="1583" y="3630"/>
              <a:ext cx="869" cy="218"/>
              <a:chOff x="1976" y="2813"/>
              <a:chExt cx="869" cy="218"/>
            </a:xfrm>
          </p:grpSpPr>
          <p:sp>
            <p:nvSpPr>
              <p:cNvPr id="103456" name="Rectangle 230"/>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11</a:t>
                </a:r>
              </a:p>
            </p:txBody>
          </p:sp>
          <p:sp>
            <p:nvSpPr>
              <p:cNvPr id="103457" name="Line 231"/>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458" name="Line 232"/>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3444" name="Text Box 233"/>
            <p:cNvSpPr txBox="1">
              <a:spLocks noChangeArrowheads="1"/>
            </p:cNvSpPr>
            <p:nvPr/>
          </p:nvSpPr>
          <p:spPr bwMode="auto">
            <a:xfrm>
              <a:off x="1362" y="184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45" name="Text Box 234"/>
            <p:cNvSpPr txBox="1">
              <a:spLocks noChangeArrowheads="1"/>
            </p:cNvSpPr>
            <p:nvPr/>
          </p:nvSpPr>
          <p:spPr bwMode="auto">
            <a:xfrm>
              <a:off x="1362" y="221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46" name="Text Box 235"/>
            <p:cNvSpPr txBox="1">
              <a:spLocks noChangeArrowheads="1"/>
            </p:cNvSpPr>
            <p:nvPr/>
          </p:nvSpPr>
          <p:spPr bwMode="auto">
            <a:xfrm>
              <a:off x="1362" y="2440"/>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47" name="Text Box 236"/>
            <p:cNvSpPr txBox="1">
              <a:spLocks noChangeArrowheads="1"/>
            </p:cNvSpPr>
            <p:nvPr/>
          </p:nvSpPr>
          <p:spPr bwMode="auto">
            <a:xfrm>
              <a:off x="1362" y="303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48" name="Text Box 237"/>
            <p:cNvSpPr txBox="1">
              <a:spLocks noChangeArrowheads="1"/>
            </p:cNvSpPr>
            <p:nvPr/>
          </p:nvSpPr>
          <p:spPr bwMode="auto">
            <a:xfrm>
              <a:off x="1362" y="3231"/>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49" name="Text Box 238"/>
            <p:cNvSpPr txBox="1">
              <a:spLocks noChangeArrowheads="1"/>
            </p:cNvSpPr>
            <p:nvPr/>
          </p:nvSpPr>
          <p:spPr bwMode="auto">
            <a:xfrm>
              <a:off x="1362" y="3810"/>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0" name="Text Box 239"/>
            <p:cNvSpPr txBox="1">
              <a:spLocks noChangeArrowheads="1"/>
            </p:cNvSpPr>
            <p:nvPr/>
          </p:nvSpPr>
          <p:spPr bwMode="auto">
            <a:xfrm>
              <a:off x="4497" y="161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1" name="Text Box 240"/>
            <p:cNvSpPr txBox="1">
              <a:spLocks noChangeArrowheads="1"/>
            </p:cNvSpPr>
            <p:nvPr/>
          </p:nvSpPr>
          <p:spPr bwMode="auto">
            <a:xfrm>
              <a:off x="2967" y="2010"/>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2" name="Text Box 241"/>
            <p:cNvSpPr txBox="1">
              <a:spLocks noChangeArrowheads="1"/>
            </p:cNvSpPr>
            <p:nvPr/>
          </p:nvSpPr>
          <p:spPr bwMode="auto">
            <a:xfrm>
              <a:off x="2956" y="2599"/>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3" name="Text Box 242"/>
            <p:cNvSpPr txBox="1">
              <a:spLocks noChangeArrowheads="1"/>
            </p:cNvSpPr>
            <p:nvPr/>
          </p:nvSpPr>
          <p:spPr bwMode="auto">
            <a:xfrm>
              <a:off x="2201" y="28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4" name="Text Box 243"/>
            <p:cNvSpPr txBox="1">
              <a:spLocks noChangeArrowheads="1"/>
            </p:cNvSpPr>
            <p:nvPr/>
          </p:nvSpPr>
          <p:spPr bwMode="auto">
            <a:xfrm>
              <a:off x="2956" y="337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3455" name="Text Box 244"/>
            <p:cNvSpPr txBox="1">
              <a:spLocks noChangeArrowheads="1"/>
            </p:cNvSpPr>
            <p:nvPr/>
          </p:nvSpPr>
          <p:spPr bwMode="auto">
            <a:xfrm>
              <a:off x="2211" y="362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grpSp>
      <p:sp>
        <p:nvSpPr>
          <p:cNvPr id="3" name="文本框 2">
            <a:extLst>
              <a:ext uri="{FF2B5EF4-FFF2-40B4-BE49-F238E27FC236}">
                <a16:creationId xmlns:a16="http://schemas.microsoft.com/office/drawing/2014/main" id="{75D85511-450C-CEA0-778D-0DB8AC830CCF}"/>
              </a:ext>
            </a:extLst>
          </p:cNvPr>
          <p:cNvSpPr txBox="1"/>
          <p:nvPr/>
        </p:nvSpPr>
        <p:spPr>
          <a:xfrm>
            <a:off x="539552" y="2295526"/>
            <a:ext cx="2024263" cy="3539430"/>
          </a:xfrm>
          <a:prstGeom prst="rect">
            <a:avLst/>
          </a:prstGeom>
          <a:noFill/>
        </p:spPr>
        <p:txBody>
          <a:bodyPr wrap="square" rtlCol="0">
            <a:spAutoFit/>
          </a:bodyPr>
          <a:lstStyle/>
          <a:p>
            <a:r>
              <a:rPr lang="en-US" altLang="zh-CN" dirty="0"/>
              <a:t>Hash(key)=key mod p</a:t>
            </a:r>
          </a:p>
          <a:p>
            <a:r>
              <a:rPr lang="en-US" altLang="zh-CN" dirty="0"/>
              <a:t>(p</a:t>
            </a:r>
            <a:r>
              <a:rPr lang="zh-CN" altLang="en-US" dirty="0"/>
              <a:t>为小于等于表长的质数</a:t>
            </a:r>
            <a:r>
              <a:rPr lang="en-US" altLang="zh-CN" dirty="0"/>
              <a:t>)</a:t>
            </a:r>
            <a:r>
              <a:rPr lang="zh-CN" altLang="en-US" dirty="0"/>
              <a:t>把结果相同的储存在一个表中</a:t>
            </a:r>
            <a:r>
              <a:rPr lang="en-US" altLang="zh-CN" dirty="0"/>
              <a:t>(</a:t>
            </a:r>
            <a:r>
              <a:rPr lang="zh-CN" altLang="en-US" dirty="0"/>
              <a:t>行</a:t>
            </a:r>
            <a:r>
              <a:rPr lang="en-US" altLang="zh-CN" dirty="0"/>
              <a:t>)</a:t>
            </a:r>
            <a:endParaRPr lang="zh-CN" altLang="en-US" dirty="0"/>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64" name="Rectangle 4"/>
          <p:cNvSpPr>
            <a:spLocks noChangeArrowheads="1"/>
          </p:cNvSpPr>
          <p:nvPr/>
        </p:nvSpPr>
        <p:spPr bwMode="auto">
          <a:xfrm>
            <a:off x="457200" y="515938"/>
            <a:ext cx="8229600" cy="505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en-US" altLang="zh-CN" sz="3200" dirty="0">
              <a:latin typeface="楷体_GB2312"/>
            </a:endParaRPr>
          </a:p>
          <a:p>
            <a:pPr>
              <a:spcBef>
                <a:spcPct val="20000"/>
              </a:spcBef>
              <a:buFont typeface="Arial" panose="020B0604020202020204" pitchFamily="34" charset="0"/>
              <a:buChar char="•"/>
            </a:pPr>
            <a:r>
              <a:rPr lang="en-US" altLang="zh-CN" sz="3200" dirty="0">
                <a:latin typeface="楷体_GB2312"/>
              </a:rPr>
              <a:t>step1 </a:t>
            </a:r>
            <a:r>
              <a:rPr lang="zh-CN" altLang="en-US" sz="3200" dirty="0">
                <a:latin typeface="楷体_GB2312"/>
              </a:rPr>
              <a:t>取数据元素的关键字</a:t>
            </a:r>
            <a:r>
              <a:rPr lang="en-US" altLang="zh-CN" sz="3200" dirty="0">
                <a:latin typeface="楷体_GB2312"/>
              </a:rPr>
              <a:t>key</a:t>
            </a:r>
            <a:r>
              <a:rPr lang="zh-CN" altLang="en-US" sz="3200" dirty="0">
                <a:latin typeface="楷体_GB2312"/>
              </a:rPr>
              <a:t>，计算其哈希函数值（地址）。若该地址对应的链表为空，</a:t>
            </a:r>
            <a:r>
              <a:rPr lang="zh-CN" altLang="en-US" sz="3200" dirty="0">
                <a:solidFill>
                  <a:srgbClr val="0000FF"/>
                </a:solidFill>
                <a:latin typeface="楷体_GB2312"/>
              </a:rPr>
              <a:t>则将该元素插入此链表</a:t>
            </a:r>
            <a:r>
              <a:rPr lang="zh-CN" altLang="en-US" sz="3200" dirty="0">
                <a:latin typeface="楷体_GB2312"/>
              </a:rPr>
              <a:t>；否则执行</a:t>
            </a:r>
            <a:r>
              <a:rPr lang="en-US" altLang="zh-CN" sz="3200" dirty="0">
                <a:latin typeface="楷体_GB2312"/>
              </a:rPr>
              <a:t>step2</a:t>
            </a:r>
            <a:r>
              <a:rPr lang="zh-CN" altLang="en-US" sz="3200" dirty="0">
                <a:latin typeface="楷体_GB2312"/>
              </a:rPr>
              <a:t>解决冲突。 </a:t>
            </a:r>
          </a:p>
          <a:p>
            <a:pPr>
              <a:spcBef>
                <a:spcPct val="20000"/>
              </a:spcBef>
              <a:buFont typeface="Arial" panose="020B0604020202020204" pitchFamily="34" charset="0"/>
              <a:buChar char="•"/>
            </a:pPr>
            <a:r>
              <a:rPr lang="en-US" altLang="zh-CN" sz="3200" dirty="0">
                <a:latin typeface="楷体_GB2312"/>
              </a:rPr>
              <a:t>step2 </a:t>
            </a:r>
            <a:r>
              <a:rPr lang="zh-CN" altLang="en-US" sz="3200" dirty="0">
                <a:latin typeface="楷体_GB2312"/>
              </a:rPr>
              <a:t>根据选择的冲突处理方法，计算关键字</a:t>
            </a:r>
            <a:r>
              <a:rPr lang="en-US" altLang="zh-CN" sz="3200" dirty="0">
                <a:latin typeface="楷体_GB2312"/>
              </a:rPr>
              <a:t>key</a:t>
            </a:r>
            <a:r>
              <a:rPr lang="zh-CN" altLang="en-US" sz="3200" dirty="0">
                <a:latin typeface="楷体_GB2312"/>
              </a:rPr>
              <a:t>的下一个存储地址。若该地址对应的链表为不为空，则利用链表的</a:t>
            </a:r>
            <a:r>
              <a:rPr lang="zh-CN" altLang="en-US" sz="3200" dirty="0">
                <a:solidFill>
                  <a:srgbClr val="0000FF"/>
                </a:solidFill>
                <a:highlight>
                  <a:srgbClr val="00FF00"/>
                </a:highlight>
                <a:latin typeface="楷体_GB2312"/>
              </a:rPr>
              <a:t>前插法或后插法</a:t>
            </a:r>
            <a:r>
              <a:rPr lang="zh-CN" altLang="en-US" sz="3200" dirty="0">
                <a:latin typeface="楷体_GB2312"/>
              </a:rPr>
              <a:t>将该元素插入此链表。</a:t>
            </a:r>
          </a:p>
        </p:txBody>
      </p:sp>
      <p:sp>
        <p:nvSpPr>
          <p:cNvPr id="104451" name="Rectangle 6"/>
          <p:cNvSpPr>
            <a:spLocks noChangeArrowheads="1"/>
          </p:cNvSpPr>
          <p:nvPr/>
        </p:nvSpPr>
        <p:spPr bwMode="auto">
          <a:xfrm>
            <a:off x="3419872" y="0"/>
            <a:ext cx="4176464"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链地址法建立哈希表步骤</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4964">
                                            <p:txEl>
                                              <p:pRg st="1" end="1"/>
                                            </p:txEl>
                                          </p:spTgt>
                                        </p:tgtEl>
                                        <p:attrNameLst>
                                          <p:attrName>style.visibility</p:attrName>
                                        </p:attrNameLst>
                                      </p:cBhvr>
                                      <p:to>
                                        <p:strVal val="visible"/>
                                      </p:to>
                                    </p:set>
                                    <p:anim calcmode="lin" valueType="num">
                                      <p:cBhvr additive="base">
                                        <p:cTn id="7" dur="500" fill="hold"/>
                                        <p:tgtEl>
                                          <p:spTgt spid="106496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6496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64964">
                                            <p:txEl>
                                              <p:pRg st="2" end="2"/>
                                            </p:txEl>
                                          </p:spTgt>
                                        </p:tgtEl>
                                        <p:attrNameLst>
                                          <p:attrName>style.visibility</p:attrName>
                                        </p:attrNameLst>
                                      </p:cBhvr>
                                      <p:to>
                                        <p:strVal val="visible"/>
                                      </p:to>
                                    </p:set>
                                    <p:anim calcmode="lin" valueType="num">
                                      <p:cBhvr additive="base">
                                        <p:cTn id="13" dur="500" fill="hold"/>
                                        <p:tgtEl>
                                          <p:spTgt spid="106496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6496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p:cNvSpPr>
            <a:spLocks noChangeArrowheads="1"/>
          </p:cNvSpPr>
          <p:nvPr/>
        </p:nvSpPr>
        <p:spPr bwMode="auto">
          <a:xfrm>
            <a:off x="358775" y="908050"/>
            <a:ext cx="34480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r>
              <a:rPr lang="zh-CN" altLang="en-US" sz="3200">
                <a:solidFill>
                  <a:schemeClr val="hlink"/>
                </a:solidFill>
                <a:latin typeface="楷体_GB2312"/>
              </a:rPr>
              <a:t>链地址法的优点：</a:t>
            </a:r>
          </a:p>
        </p:txBody>
      </p:sp>
      <p:sp>
        <p:nvSpPr>
          <p:cNvPr id="1029125" name="Rectangle 5"/>
          <p:cNvSpPr>
            <a:spLocks noChangeArrowheads="1"/>
          </p:cNvSpPr>
          <p:nvPr/>
        </p:nvSpPr>
        <p:spPr bwMode="auto">
          <a:xfrm>
            <a:off x="520700" y="1820863"/>
            <a:ext cx="7915275" cy="2589212"/>
          </a:xfrm>
          <a:prstGeom prst="rect">
            <a:avLst/>
          </a:prstGeom>
          <a:solidFill>
            <a:srgbClr val="FFFFE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just">
              <a:spcBef>
                <a:spcPct val="10000"/>
              </a:spcBef>
              <a:buFont typeface="Arial" panose="020B0604020202020204" pitchFamily="34" charset="0"/>
              <a:buChar char="•"/>
            </a:pPr>
            <a:r>
              <a:rPr lang="zh-CN" altLang="en-US" dirty="0"/>
              <a:t>非同义词不会冲突，</a:t>
            </a:r>
            <a:r>
              <a:rPr lang="zh-CN" altLang="en-US" dirty="0">
                <a:highlight>
                  <a:srgbClr val="00FF00"/>
                </a:highlight>
              </a:rPr>
              <a:t>无“聚集”现象</a:t>
            </a:r>
          </a:p>
          <a:p>
            <a:pPr algn="just">
              <a:spcBef>
                <a:spcPct val="10000"/>
              </a:spcBef>
              <a:buFont typeface="Arial" panose="020B0604020202020204" pitchFamily="34" charset="0"/>
              <a:buChar char="•"/>
            </a:pPr>
            <a:r>
              <a:rPr lang="zh-CN" altLang="en-US" dirty="0"/>
              <a:t>链表上结点空间动态申请，</a:t>
            </a:r>
            <a:r>
              <a:rPr lang="zh-CN" altLang="en-US" dirty="0">
                <a:highlight>
                  <a:srgbClr val="00FF00"/>
                </a:highlight>
              </a:rPr>
              <a:t>更适合于表长不确定的情况</a:t>
            </a:r>
            <a:endParaRPr lang="zh-CN" altLang="en-US" i="1" dirty="0">
              <a:highlight>
                <a:srgbClr val="00FF00"/>
              </a:highlight>
            </a:endParaRPr>
          </a:p>
          <a:p>
            <a:pPr algn="just">
              <a:spcBef>
                <a:spcPct val="10000"/>
              </a:spcBef>
              <a:buFont typeface="Arial" panose="020B0604020202020204" pitchFamily="34" charset="0"/>
              <a:buChar char="•"/>
            </a:pPr>
            <a:endParaRPr lang="zh-CN" altLang="en-US" dirty="0"/>
          </a:p>
          <a:p>
            <a:pPr algn="just">
              <a:spcBef>
                <a:spcPct val="10000"/>
              </a:spcBef>
              <a:buFont typeface="Arial" panose="020B0604020202020204" pitchFamily="34" charset="0"/>
              <a:buChar char="•"/>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9125">
                                            <p:bg/>
                                          </p:spTgt>
                                        </p:tgtEl>
                                        <p:attrNameLst>
                                          <p:attrName>style.visibility</p:attrName>
                                        </p:attrNameLst>
                                      </p:cBhvr>
                                      <p:to>
                                        <p:strVal val="visible"/>
                                      </p:to>
                                    </p:set>
                                    <p:anim calcmode="lin" valueType="num">
                                      <p:cBhvr additive="base">
                                        <p:cTn id="7" dur="500" fill="hold"/>
                                        <p:tgtEl>
                                          <p:spTgt spid="1029125">
                                            <p:bg/>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9125">
                                            <p:bg/>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9125">
                                            <p:txEl>
                                              <p:pRg st="0" end="0"/>
                                            </p:txEl>
                                          </p:spTgt>
                                        </p:tgtEl>
                                        <p:attrNameLst>
                                          <p:attrName>style.visibility</p:attrName>
                                        </p:attrNameLst>
                                      </p:cBhvr>
                                      <p:to>
                                        <p:strVal val="visible"/>
                                      </p:to>
                                    </p:set>
                                    <p:anim calcmode="lin" valueType="num">
                                      <p:cBhvr additive="base">
                                        <p:cTn id="13" dur="500" fill="hold"/>
                                        <p:tgtEl>
                                          <p:spTgt spid="1029125">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912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9125">
                                            <p:txEl>
                                              <p:pRg st="1" end="1"/>
                                            </p:txEl>
                                          </p:spTgt>
                                        </p:tgtEl>
                                        <p:attrNameLst>
                                          <p:attrName>style.visibility</p:attrName>
                                        </p:attrNameLst>
                                      </p:cBhvr>
                                      <p:to>
                                        <p:strVal val="visible"/>
                                      </p:to>
                                    </p:set>
                                    <p:anim calcmode="lin" valueType="num">
                                      <p:cBhvr additive="base">
                                        <p:cTn id="19" dur="500" fill="hold"/>
                                        <p:tgtEl>
                                          <p:spTgt spid="1029125">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912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25" grpId="0" build="p"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8"/>
          <p:cNvSpPr>
            <a:spLocks noChangeArrowheads="1"/>
          </p:cNvSpPr>
          <p:nvPr/>
        </p:nvSpPr>
        <p:spPr bwMode="auto">
          <a:xfrm>
            <a:off x="3877890" y="37998"/>
            <a:ext cx="324326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哈希表的查找</a:t>
            </a:r>
          </a:p>
        </p:txBody>
      </p:sp>
      <p:grpSp>
        <p:nvGrpSpPr>
          <p:cNvPr id="2" name="Group 39"/>
          <p:cNvGrpSpPr>
            <a:grpSpLocks/>
          </p:cNvGrpSpPr>
          <p:nvPr/>
        </p:nvGrpSpPr>
        <p:grpSpPr bwMode="auto">
          <a:xfrm>
            <a:off x="2359025" y="363538"/>
            <a:ext cx="6376988" cy="5729287"/>
            <a:chOff x="927" y="859"/>
            <a:chExt cx="2559" cy="2813"/>
          </a:xfrm>
        </p:grpSpPr>
        <p:grpSp>
          <p:nvGrpSpPr>
            <p:cNvPr id="106501" name="Group 40"/>
            <p:cNvGrpSpPr>
              <a:grpSpLocks/>
            </p:cNvGrpSpPr>
            <p:nvPr/>
          </p:nvGrpSpPr>
          <p:grpSpPr bwMode="auto">
            <a:xfrm>
              <a:off x="927" y="859"/>
              <a:ext cx="2559" cy="2813"/>
              <a:chOff x="699" y="1200"/>
              <a:chExt cx="2559" cy="2813"/>
            </a:xfrm>
          </p:grpSpPr>
          <p:sp>
            <p:nvSpPr>
              <p:cNvPr id="106506" name="AutoShape 41"/>
              <p:cNvSpPr>
                <a:spLocks noChangeArrowheads="1"/>
              </p:cNvSpPr>
              <p:nvPr/>
            </p:nvSpPr>
            <p:spPr bwMode="auto">
              <a:xfrm>
                <a:off x="1769" y="1407"/>
                <a:ext cx="807" cy="23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给定</a:t>
                </a:r>
                <a:r>
                  <a:rPr lang="en-US" altLang="zh-CN" sz="2400">
                    <a:latin typeface="楷体_GB2312"/>
                  </a:rPr>
                  <a:t>k</a:t>
                </a:r>
                <a:r>
                  <a:rPr lang="zh-CN" altLang="zh-CN" sz="2400">
                    <a:latin typeface="楷体_GB2312"/>
                  </a:rPr>
                  <a:t>值</a:t>
                </a:r>
                <a:endParaRPr lang="zh-CN" altLang="en-US" sz="2400">
                  <a:latin typeface="楷体_GB2312"/>
                </a:endParaRPr>
              </a:p>
            </p:txBody>
          </p:sp>
          <p:sp>
            <p:nvSpPr>
              <p:cNvPr id="106507" name="AutoShape 42"/>
              <p:cNvSpPr>
                <a:spLocks noChangeArrowheads="1"/>
              </p:cNvSpPr>
              <p:nvPr/>
            </p:nvSpPr>
            <p:spPr bwMode="auto">
              <a:xfrm>
                <a:off x="1782" y="1844"/>
                <a:ext cx="807" cy="23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计算</a:t>
                </a:r>
                <a:r>
                  <a:rPr lang="en-US" altLang="zh-CN" sz="2400">
                    <a:latin typeface="楷体_GB2312"/>
                  </a:rPr>
                  <a:t>H(k)</a:t>
                </a:r>
              </a:p>
            </p:txBody>
          </p:sp>
          <p:sp>
            <p:nvSpPr>
              <p:cNvPr id="106508" name="AutoShape 43"/>
              <p:cNvSpPr>
                <a:spLocks noChangeArrowheads="1"/>
              </p:cNvSpPr>
              <p:nvPr/>
            </p:nvSpPr>
            <p:spPr bwMode="auto">
              <a:xfrm>
                <a:off x="1492" y="2279"/>
                <a:ext cx="1381" cy="365"/>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此地址为空</a:t>
                </a:r>
              </a:p>
            </p:txBody>
          </p:sp>
          <p:sp>
            <p:nvSpPr>
              <p:cNvPr id="106509" name="AutoShape 44"/>
              <p:cNvSpPr>
                <a:spLocks noChangeArrowheads="1"/>
              </p:cNvSpPr>
              <p:nvPr/>
            </p:nvSpPr>
            <p:spPr bwMode="auto">
              <a:xfrm>
                <a:off x="1506" y="2831"/>
                <a:ext cx="1381" cy="365"/>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关键字</a:t>
                </a:r>
                <a:r>
                  <a:rPr lang="en-US" altLang="zh-CN" sz="2400">
                    <a:latin typeface="楷体_GB2312"/>
                  </a:rPr>
                  <a:t>==k</a:t>
                </a:r>
              </a:p>
            </p:txBody>
          </p:sp>
          <p:sp>
            <p:nvSpPr>
              <p:cNvPr id="106510" name="AutoShape 45"/>
              <p:cNvSpPr>
                <a:spLocks noChangeArrowheads="1"/>
              </p:cNvSpPr>
              <p:nvPr/>
            </p:nvSpPr>
            <p:spPr bwMode="auto">
              <a:xfrm>
                <a:off x="699" y="2603"/>
                <a:ext cx="807" cy="23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查找失败</a:t>
                </a:r>
              </a:p>
            </p:txBody>
          </p:sp>
          <p:sp>
            <p:nvSpPr>
              <p:cNvPr id="106511" name="AutoShape 46"/>
              <p:cNvSpPr>
                <a:spLocks noChangeArrowheads="1"/>
              </p:cNvSpPr>
              <p:nvPr/>
            </p:nvSpPr>
            <p:spPr bwMode="auto">
              <a:xfrm>
                <a:off x="722" y="3163"/>
                <a:ext cx="807" cy="23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查找成功</a:t>
                </a:r>
              </a:p>
            </p:txBody>
          </p:sp>
          <p:sp>
            <p:nvSpPr>
              <p:cNvPr id="106512" name="AutoShape 47"/>
              <p:cNvSpPr>
                <a:spLocks noChangeArrowheads="1"/>
              </p:cNvSpPr>
              <p:nvPr/>
            </p:nvSpPr>
            <p:spPr bwMode="auto">
              <a:xfrm>
                <a:off x="1879" y="3400"/>
                <a:ext cx="694" cy="409"/>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eaLnBrk="1" hangingPunct="1">
                  <a:buFont typeface="Arial" panose="020B0604020202020204" pitchFamily="34" charset="0"/>
                  <a:buNone/>
                </a:pPr>
                <a:r>
                  <a:rPr lang="zh-CN" altLang="en-US" sz="2400">
                    <a:latin typeface="楷体_GB2312"/>
                  </a:rPr>
                  <a:t>按处理冲突</a:t>
                </a:r>
              </a:p>
              <a:p>
                <a:pPr algn="ctr" eaLnBrk="1" hangingPunct="1">
                  <a:buFont typeface="Arial" panose="020B0604020202020204" pitchFamily="34" charset="0"/>
                  <a:buNone/>
                </a:pPr>
                <a:r>
                  <a:rPr lang="zh-CN" altLang="en-US" sz="2400">
                    <a:latin typeface="楷体_GB2312"/>
                  </a:rPr>
                  <a:t>方法计算</a:t>
                </a:r>
                <a:r>
                  <a:rPr lang="en-US" altLang="zh-CN" sz="2400">
                    <a:latin typeface="楷体_GB2312"/>
                  </a:rPr>
                  <a:t>Hi</a:t>
                </a:r>
              </a:p>
            </p:txBody>
          </p:sp>
          <p:sp>
            <p:nvSpPr>
              <p:cNvPr id="106513" name="Line 48"/>
              <p:cNvSpPr>
                <a:spLocks noChangeShapeType="1"/>
              </p:cNvSpPr>
              <p:nvPr/>
            </p:nvSpPr>
            <p:spPr bwMode="auto">
              <a:xfrm>
                <a:off x="2152" y="1200"/>
                <a:ext cx="0" cy="20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4" name="Line 49"/>
              <p:cNvSpPr>
                <a:spLocks noChangeShapeType="1"/>
              </p:cNvSpPr>
              <p:nvPr/>
            </p:nvSpPr>
            <p:spPr bwMode="auto">
              <a:xfrm>
                <a:off x="2172" y="1645"/>
                <a:ext cx="0" cy="1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5" name="Line 50"/>
              <p:cNvSpPr>
                <a:spLocks noChangeShapeType="1"/>
              </p:cNvSpPr>
              <p:nvPr/>
            </p:nvSpPr>
            <p:spPr bwMode="auto">
              <a:xfrm>
                <a:off x="2183" y="2079"/>
                <a:ext cx="0" cy="1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6" name="Line 51"/>
              <p:cNvSpPr>
                <a:spLocks noChangeShapeType="1"/>
              </p:cNvSpPr>
              <p:nvPr/>
            </p:nvSpPr>
            <p:spPr bwMode="auto">
              <a:xfrm>
                <a:off x="2193" y="2648"/>
                <a:ext cx="0" cy="18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7" name="Line 52"/>
              <p:cNvSpPr>
                <a:spLocks noChangeShapeType="1"/>
              </p:cNvSpPr>
              <p:nvPr/>
            </p:nvSpPr>
            <p:spPr bwMode="auto">
              <a:xfrm>
                <a:off x="2193" y="3196"/>
                <a:ext cx="0" cy="19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18" name="Line 53"/>
              <p:cNvSpPr>
                <a:spLocks noChangeShapeType="1"/>
              </p:cNvSpPr>
              <p:nvPr/>
            </p:nvSpPr>
            <p:spPr bwMode="auto">
              <a:xfrm flipH="1">
                <a:off x="1076" y="2462"/>
                <a:ext cx="39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19" name="Line 54"/>
              <p:cNvSpPr>
                <a:spLocks noChangeShapeType="1"/>
              </p:cNvSpPr>
              <p:nvPr/>
            </p:nvSpPr>
            <p:spPr bwMode="auto">
              <a:xfrm>
                <a:off x="1086" y="2462"/>
                <a:ext cx="0" cy="16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20" name="Line 55"/>
              <p:cNvSpPr>
                <a:spLocks noChangeShapeType="1"/>
              </p:cNvSpPr>
              <p:nvPr/>
            </p:nvSpPr>
            <p:spPr bwMode="auto">
              <a:xfrm flipH="1">
                <a:off x="1107" y="3010"/>
                <a:ext cx="4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1" name="Line 56"/>
              <p:cNvSpPr>
                <a:spLocks noChangeShapeType="1"/>
              </p:cNvSpPr>
              <p:nvPr/>
            </p:nvSpPr>
            <p:spPr bwMode="auto">
              <a:xfrm>
                <a:off x="1107" y="3020"/>
                <a:ext cx="0" cy="15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522" name="Line 57"/>
              <p:cNvSpPr>
                <a:spLocks noChangeShapeType="1"/>
              </p:cNvSpPr>
              <p:nvPr/>
            </p:nvSpPr>
            <p:spPr bwMode="auto">
              <a:xfrm>
                <a:off x="2203" y="3827"/>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3" name="Line 58"/>
              <p:cNvSpPr>
                <a:spLocks noChangeShapeType="1"/>
              </p:cNvSpPr>
              <p:nvPr/>
            </p:nvSpPr>
            <p:spPr bwMode="auto">
              <a:xfrm>
                <a:off x="2214" y="4013"/>
                <a:ext cx="10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4" name="Line 59"/>
              <p:cNvSpPr>
                <a:spLocks noChangeShapeType="1"/>
              </p:cNvSpPr>
              <p:nvPr/>
            </p:nvSpPr>
            <p:spPr bwMode="auto">
              <a:xfrm flipV="1">
                <a:off x="3258" y="2203"/>
                <a:ext cx="0" cy="181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25" name="Line 60"/>
              <p:cNvSpPr>
                <a:spLocks noChangeShapeType="1"/>
              </p:cNvSpPr>
              <p:nvPr/>
            </p:nvSpPr>
            <p:spPr bwMode="auto">
              <a:xfrm flipH="1">
                <a:off x="2183" y="2203"/>
                <a:ext cx="10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6502" name="Text Box 61"/>
            <p:cNvSpPr txBox="1">
              <a:spLocks noChangeArrowheads="1"/>
            </p:cNvSpPr>
            <p:nvPr/>
          </p:nvSpPr>
          <p:spPr bwMode="auto">
            <a:xfrm>
              <a:off x="1620" y="1856"/>
              <a:ext cx="1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latin typeface="楷体_GB2312"/>
                </a:rPr>
                <a:t>Y</a:t>
              </a:r>
            </a:p>
          </p:txBody>
        </p:sp>
        <p:sp>
          <p:nvSpPr>
            <p:cNvPr id="106503" name="Text Box 62"/>
            <p:cNvSpPr txBox="1">
              <a:spLocks noChangeArrowheads="1"/>
            </p:cNvSpPr>
            <p:nvPr/>
          </p:nvSpPr>
          <p:spPr bwMode="auto">
            <a:xfrm>
              <a:off x="2431" y="2188"/>
              <a:ext cx="1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latin typeface="楷体_GB2312"/>
                </a:rPr>
                <a:t>N</a:t>
              </a:r>
            </a:p>
          </p:txBody>
        </p:sp>
        <p:sp>
          <p:nvSpPr>
            <p:cNvPr id="106504" name="Text Box 63"/>
            <p:cNvSpPr txBox="1">
              <a:spLocks noChangeArrowheads="1"/>
            </p:cNvSpPr>
            <p:nvPr/>
          </p:nvSpPr>
          <p:spPr bwMode="auto">
            <a:xfrm>
              <a:off x="1609" y="2433"/>
              <a:ext cx="136"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latin typeface="楷体_GB2312"/>
                </a:rPr>
                <a:t>Y</a:t>
              </a:r>
            </a:p>
          </p:txBody>
        </p:sp>
        <p:sp>
          <p:nvSpPr>
            <p:cNvPr id="106505" name="Text Box 64"/>
            <p:cNvSpPr txBox="1">
              <a:spLocks noChangeArrowheads="1"/>
            </p:cNvSpPr>
            <p:nvPr/>
          </p:nvSpPr>
          <p:spPr bwMode="auto">
            <a:xfrm>
              <a:off x="2420" y="2755"/>
              <a:ext cx="13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latin typeface="楷体_GB2312"/>
                </a:rPr>
                <a:t>N</a:t>
              </a:r>
            </a:p>
          </p:txBody>
        </p:sp>
      </p:grpSp>
      <p:sp>
        <p:nvSpPr>
          <p:cNvPr id="106500" name="Rectangle 65"/>
          <p:cNvSpPr>
            <a:spLocks noChangeArrowheads="1"/>
          </p:cNvSpPr>
          <p:nvPr/>
        </p:nvSpPr>
        <p:spPr bwMode="auto">
          <a:xfrm>
            <a:off x="288925" y="990600"/>
            <a:ext cx="3770313" cy="557213"/>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20000"/>
              </a:spcBef>
              <a:buFont typeface="Arial" panose="020B0604020202020204" pitchFamily="34" charset="0"/>
              <a:buNone/>
            </a:pPr>
            <a:r>
              <a:rPr lang="zh-CN" altLang="en-US">
                <a:latin typeface="楷体_GB2312"/>
              </a:rPr>
              <a:t>给定值与关键字比较</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2"/>
          <p:cNvSpPr>
            <a:spLocks noGrp="1" noChangeArrowheads="1"/>
          </p:cNvSpPr>
          <p:nvPr>
            <p:ph type="ftr" sz="quarter" idx="4294967295"/>
          </p:nvPr>
        </p:nvSpPr>
        <p:spPr bwMode="auto">
          <a:xfrm>
            <a:off x="471488" y="6240463"/>
            <a:ext cx="3781425"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endParaRPr lang="zh-CN" altLang="en-US" sz="1400">
              <a:solidFill>
                <a:srgbClr val="00B050"/>
              </a:solidFill>
              <a:latin typeface="华文行楷" panose="02010800040101010101" pitchFamily="2" charset="-122"/>
              <a:ea typeface="华文行楷" panose="02010800040101010101" pitchFamily="2" charset="-122"/>
            </a:endParaRPr>
          </a:p>
        </p:txBody>
      </p:sp>
      <p:sp>
        <p:nvSpPr>
          <p:cNvPr id="107523" name="Text Box 129"/>
          <p:cNvSpPr txBox="1">
            <a:spLocks noChangeArrowheads="1"/>
          </p:cNvSpPr>
          <p:nvPr/>
        </p:nvSpPr>
        <p:spPr bwMode="auto">
          <a:xfrm>
            <a:off x="39688" y="1035050"/>
            <a:ext cx="8816975" cy="12160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2400" dirty="0">
                <a:latin typeface="楷体_GB2312"/>
              </a:rPr>
              <a:t>已知一组关键字</a:t>
            </a:r>
            <a:r>
              <a:rPr lang="en-US" altLang="zh-CN" sz="2400" dirty="0">
                <a:latin typeface="楷体_GB2312"/>
              </a:rPr>
              <a:t>(19,14,23,1,68,20,84,27,55,11,10,79)</a:t>
            </a:r>
          </a:p>
          <a:p>
            <a:pPr eaLnBrk="1" hangingPunct="1">
              <a:buFont typeface="Arial" panose="020B0604020202020204" pitchFamily="34" charset="0"/>
              <a:buNone/>
            </a:pPr>
            <a:r>
              <a:rPr lang="en-US" altLang="zh-CN" sz="2400" dirty="0">
                <a:latin typeface="楷体_GB2312"/>
              </a:rPr>
              <a:t>         </a:t>
            </a:r>
            <a:r>
              <a:rPr lang="zh-CN" altLang="en-US" sz="2400" dirty="0">
                <a:latin typeface="楷体_GB2312"/>
              </a:rPr>
              <a:t>哈希函数为：</a:t>
            </a:r>
            <a:r>
              <a:rPr lang="en-US" altLang="zh-CN" sz="2400" dirty="0">
                <a:latin typeface="楷体_GB2312"/>
              </a:rPr>
              <a:t>H(key)=key MOD 13, </a:t>
            </a:r>
            <a:r>
              <a:rPr lang="zh-CN" altLang="zh-CN" sz="2400" dirty="0">
                <a:latin typeface="楷体_GB2312"/>
              </a:rPr>
              <a:t>哈希表长为</a:t>
            </a:r>
            <a:r>
              <a:rPr lang="en-US" altLang="zh-CN" sz="2400" dirty="0">
                <a:latin typeface="楷体_GB2312"/>
              </a:rPr>
              <a:t>m=16</a:t>
            </a:r>
            <a:r>
              <a:rPr lang="zh-CN" altLang="en-US" sz="2400" dirty="0">
                <a:latin typeface="楷体_GB2312"/>
              </a:rPr>
              <a:t>，</a:t>
            </a:r>
          </a:p>
          <a:p>
            <a:pPr eaLnBrk="1" hangingPunct="1">
              <a:buFont typeface="Arial" panose="020B0604020202020204" pitchFamily="34" charset="0"/>
              <a:buNone/>
            </a:pPr>
            <a:r>
              <a:rPr lang="zh-CN" altLang="en-US" sz="2400" dirty="0">
                <a:latin typeface="楷体_GB2312"/>
              </a:rPr>
              <a:t>         </a:t>
            </a:r>
            <a:r>
              <a:rPr lang="zh-CN" altLang="zh-CN" sz="2400" dirty="0">
                <a:latin typeface="楷体_GB2312"/>
              </a:rPr>
              <a:t>设每个记录的查找概率相等</a:t>
            </a:r>
            <a:endParaRPr lang="zh-CN" altLang="en-US" sz="2400" dirty="0">
              <a:latin typeface="楷体_GB2312"/>
            </a:endParaRPr>
          </a:p>
        </p:txBody>
      </p:sp>
      <p:sp>
        <p:nvSpPr>
          <p:cNvPr id="107524" name="Text Box 130"/>
          <p:cNvSpPr txBox="1">
            <a:spLocks noChangeArrowheads="1"/>
          </p:cNvSpPr>
          <p:nvPr/>
        </p:nvSpPr>
        <p:spPr bwMode="auto">
          <a:xfrm>
            <a:off x="125413" y="2363788"/>
            <a:ext cx="8323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solidFill>
                  <a:schemeClr val="hlink"/>
                </a:solidFill>
                <a:latin typeface="楷体_GB2312"/>
              </a:rPr>
              <a:t>(1)  </a:t>
            </a:r>
            <a:r>
              <a:rPr lang="zh-CN" altLang="en-US" sz="2400">
                <a:solidFill>
                  <a:schemeClr val="hlink"/>
                </a:solidFill>
                <a:latin typeface="楷体_GB2312"/>
              </a:rPr>
              <a:t>用线性探测再散列处理冲突，即</a:t>
            </a:r>
            <a:r>
              <a:rPr lang="en-US" altLang="zh-CN" sz="2400">
                <a:solidFill>
                  <a:schemeClr val="hlink"/>
                </a:solidFill>
                <a:latin typeface="楷体_GB2312"/>
              </a:rPr>
              <a:t>Hi=(H(key)+di) MOD m</a:t>
            </a:r>
          </a:p>
        </p:txBody>
      </p:sp>
      <p:grpSp>
        <p:nvGrpSpPr>
          <p:cNvPr id="107525" name="Group 131"/>
          <p:cNvGrpSpPr>
            <a:grpSpLocks/>
          </p:cNvGrpSpPr>
          <p:nvPr/>
        </p:nvGrpSpPr>
        <p:grpSpPr bwMode="auto">
          <a:xfrm>
            <a:off x="479425" y="3059113"/>
            <a:ext cx="6143625" cy="684212"/>
            <a:chOff x="1261" y="1173"/>
            <a:chExt cx="3870" cy="431"/>
          </a:xfrm>
        </p:grpSpPr>
        <p:sp>
          <p:nvSpPr>
            <p:cNvPr id="107550" name="Text Box 132"/>
            <p:cNvSpPr txBox="1">
              <a:spLocks noChangeArrowheads="1"/>
            </p:cNvSpPr>
            <p:nvPr/>
          </p:nvSpPr>
          <p:spPr bwMode="auto">
            <a:xfrm>
              <a:off x="1295" y="1173"/>
              <a:ext cx="38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0    1    2    3    4    5    6    7    8    9   10   11 12  13  14  15</a:t>
              </a:r>
            </a:p>
          </p:txBody>
        </p:sp>
        <p:grpSp>
          <p:nvGrpSpPr>
            <p:cNvPr id="107551" name="Group 133"/>
            <p:cNvGrpSpPr>
              <a:grpSpLocks/>
            </p:cNvGrpSpPr>
            <p:nvPr/>
          </p:nvGrpSpPr>
          <p:grpSpPr bwMode="auto">
            <a:xfrm>
              <a:off x="1261" y="1365"/>
              <a:ext cx="3819" cy="239"/>
              <a:chOff x="1261" y="1365"/>
              <a:chExt cx="3819" cy="239"/>
            </a:xfrm>
          </p:grpSpPr>
          <p:sp>
            <p:nvSpPr>
              <p:cNvPr id="107552" name="Rectangle 134"/>
              <p:cNvSpPr>
                <a:spLocks noChangeArrowheads="1"/>
              </p:cNvSpPr>
              <p:nvPr/>
            </p:nvSpPr>
            <p:spPr bwMode="auto">
              <a:xfrm>
                <a:off x="1261" y="1366"/>
                <a:ext cx="3819" cy="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107553" name="Line 135"/>
              <p:cNvSpPr>
                <a:spLocks noChangeShapeType="1"/>
              </p:cNvSpPr>
              <p:nvPr/>
            </p:nvSpPr>
            <p:spPr bwMode="auto">
              <a:xfrm>
                <a:off x="1498"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4" name="Line 136"/>
              <p:cNvSpPr>
                <a:spLocks noChangeShapeType="1"/>
              </p:cNvSpPr>
              <p:nvPr/>
            </p:nvSpPr>
            <p:spPr bwMode="auto">
              <a:xfrm>
                <a:off x="1738"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5" name="Line 137"/>
              <p:cNvSpPr>
                <a:spLocks noChangeShapeType="1"/>
              </p:cNvSpPr>
              <p:nvPr/>
            </p:nvSpPr>
            <p:spPr bwMode="auto">
              <a:xfrm>
                <a:off x="1978"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6" name="Line 138"/>
              <p:cNvSpPr>
                <a:spLocks noChangeShapeType="1"/>
              </p:cNvSpPr>
              <p:nvPr/>
            </p:nvSpPr>
            <p:spPr bwMode="auto">
              <a:xfrm>
                <a:off x="2218"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7" name="Line 139"/>
              <p:cNvSpPr>
                <a:spLocks noChangeShapeType="1"/>
              </p:cNvSpPr>
              <p:nvPr/>
            </p:nvSpPr>
            <p:spPr bwMode="auto">
              <a:xfrm>
                <a:off x="2459"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8" name="Line 140"/>
              <p:cNvSpPr>
                <a:spLocks noChangeShapeType="1"/>
              </p:cNvSpPr>
              <p:nvPr/>
            </p:nvSpPr>
            <p:spPr bwMode="auto">
              <a:xfrm>
                <a:off x="2699"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59" name="Line 141"/>
              <p:cNvSpPr>
                <a:spLocks noChangeShapeType="1"/>
              </p:cNvSpPr>
              <p:nvPr/>
            </p:nvSpPr>
            <p:spPr bwMode="auto">
              <a:xfrm>
                <a:off x="2939"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0" name="Line 142"/>
              <p:cNvSpPr>
                <a:spLocks noChangeShapeType="1"/>
              </p:cNvSpPr>
              <p:nvPr/>
            </p:nvSpPr>
            <p:spPr bwMode="auto">
              <a:xfrm>
                <a:off x="3180"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1" name="Line 143"/>
              <p:cNvSpPr>
                <a:spLocks noChangeShapeType="1"/>
              </p:cNvSpPr>
              <p:nvPr/>
            </p:nvSpPr>
            <p:spPr bwMode="auto">
              <a:xfrm>
                <a:off x="3420"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2" name="Line 144"/>
              <p:cNvSpPr>
                <a:spLocks noChangeShapeType="1"/>
              </p:cNvSpPr>
              <p:nvPr/>
            </p:nvSpPr>
            <p:spPr bwMode="auto">
              <a:xfrm>
                <a:off x="3660" y="1366"/>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3" name="Line 145"/>
              <p:cNvSpPr>
                <a:spLocks noChangeShapeType="1"/>
              </p:cNvSpPr>
              <p:nvPr/>
            </p:nvSpPr>
            <p:spPr bwMode="auto">
              <a:xfrm>
                <a:off x="3900" y="1365"/>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4" name="Line 146"/>
              <p:cNvSpPr>
                <a:spLocks noChangeShapeType="1"/>
              </p:cNvSpPr>
              <p:nvPr/>
            </p:nvSpPr>
            <p:spPr bwMode="auto">
              <a:xfrm>
                <a:off x="4141" y="1365"/>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5" name="Line 147"/>
              <p:cNvSpPr>
                <a:spLocks noChangeShapeType="1"/>
              </p:cNvSpPr>
              <p:nvPr/>
            </p:nvSpPr>
            <p:spPr bwMode="auto">
              <a:xfrm>
                <a:off x="4381" y="1365"/>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6" name="Line 148"/>
              <p:cNvSpPr>
                <a:spLocks noChangeShapeType="1"/>
              </p:cNvSpPr>
              <p:nvPr/>
            </p:nvSpPr>
            <p:spPr bwMode="auto">
              <a:xfrm>
                <a:off x="4621" y="1365"/>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7567" name="Line 149"/>
              <p:cNvSpPr>
                <a:spLocks noChangeShapeType="1"/>
              </p:cNvSpPr>
              <p:nvPr/>
            </p:nvSpPr>
            <p:spPr bwMode="auto">
              <a:xfrm>
                <a:off x="4862" y="1365"/>
                <a:ext cx="0" cy="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07526" name="Text Box 150"/>
          <p:cNvSpPr txBox="1">
            <a:spLocks noChangeArrowheads="1"/>
          </p:cNvSpPr>
          <p:nvPr/>
        </p:nvSpPr>
        <p:spPr bwMode="auto">
          <a:xfrm>
            <a:off x="819150"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14</a:t>
            </a:r>
          </a:p>
        </p:txBody>
      </p:sp>
      <p:sp>
        <p:nvSpPr>
          <p:cNvPr id="107527" name="Text Box 151"/>
          <p:cNvSpPr txBox="1">
            <a:spLocks noChangeArrowheads="1"/>
          </p:cNvSpPr>
          <p:nvPr/>
        </p:nvSpPr>
        <p:spPr bwMode="auto">
          <a:xfrm>
            <a:off x="1201738" y="3328988"/>
            <a:ext cx="374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 1</a:t>
            </a:r>
          </a:p>
        </p:txBody>
      </p:sp>
      <p:sp>
        <p:nvSpPr>
          <p:cNvPr id="107528" name="Text Box 152"/>
          <p:cNvSpPr txBox="1">
            <a:spLocks noChangeArrowheads="1"/>
          </p:cNvSpPr>
          <p:nvPr/>
        </p:nvSpPr>
        <p:spPr bwMode="auto">
          <a:xfrm>
            <a:off x="1582738"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68</a:t>
            </a:r>
          </a:p>
        </p:txBody>
      </p:sp>
      <p:sp>
        <p:nvSpPr>
          <p:cNvPr id="107529" name="Text Box 153"/>
          <p:cNvSpPr txBox="1">
            <a:spLocks noChangeArrowheads="1"/>
          </p:cNvSpPr>
          <p:nvPr/>
        </p:nvSpPr>
        <p:spPr bwMode="auto">
          <a:xfrm>
            <a:off x="1965325"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27</a:t>
            </a:r>
          </a:p>
        </p:txBody>
      </p:sp>
      <p:sp>
        <p:nvSpPr>
          <p:cNvPr id="107530" name="Text Box 154"/>
          <p:cNvSpPr txBox="1">
            <a:spLocks noChangeArrowheads="1"/>
          </p:cNvSpPr>
          <p:nvPr/>
        </p:nvSpPr>
        <p:spPr bwMode="auto">
          <a:xfrm>
            <a:off x="2346325"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55</a:t>
            </a:r>
          </a:p>
        </p:txBody>
      </p:sp>
      <p:sp>
        <p:nvSpPr>
          <p:cNvPr id="107531" name="Text Box 155"/>
          <p:cNvSpPr txBox="1">
            <a:spLocks noChangeArrowheads="1"/>
          </p:cNvSpPr>
          <p:nvPr/>
        </p:nvSpPr>
        <p:spPr bwMode="auto">
          <a:xfrm>
            <a:off x="2728913"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19</a:t>
            </a:r>
          </a:p>
        </p:txBody>
      </p:sp>
      <p:sp>
        <p:nvSpPr>
          <p:cNvPr id="107532" name="Text Box 156"/>
          <p:cNvSpPr txBox="1">
            <a:spLocks noChangeArrowheads="1"/>
          </p:cNvSpPr>
          <p:nvPr/>
        </p:nvSpPr>
        <p:spPr bwMode="auto">
          <a:xfrm>
            <a:off x="3109913"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20</a:t>
            </a:r>
          </a:p>
        </p:txBody>
      </p:sp>
      <p:sp>
        <p:nvSpPr>
          <p:cNvPr id="107533" name="Text Box 157"/>
          <p:cNvSpPr txBox="1">
            <a:spLocks noChangeArrowheads="1"/>
          </p:cNvSpPr>
          <p:nvPr/>
        </p:nvSpPr>
        <p:spPr bwMode="auto">
          <a:xfrm>
            <a:off x="3492500"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84</a:t>
            </a:r>
          </a:p>
        </p:txBody>
      </p:sp>
      <p:sp>
        <p:nvSpPr>
          <p:cNvPr id="107534" name="Text Box 158"/>
          <p:cNvSpPr txBox="1">
            <a:spLocks noChangeArrowheads="1"/>
          </p:cNvSpPr>
          <p:nvPr/>
        </p:nvSpPr>
        <p:spPr bwMode="auto">
          <a:xfrm>
            <a:off x="3873500"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79</a:t>
            </a:r>
          </a:p>
        </p:txBody>
      </p:sp>
      <p:sp>
        <p:nvSpPr>
          <p:cNvPr id="107535" name="Text Box 159"/>
          <p:cNvSpPr txBox="1">
            <a:spLocks noChangeArrowheads="1"/>
          </p:cNvSpPr>
          <p:nvPr/>
        </p:nvSpPr>
        <p:spPr bwMode="auto">
          <a:xfrm>
            <a:off x="4256088"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23</a:t>
            </a:r>
          </a:p>
        </p:txBody>
      </p:sp>
      <p:sp>
        <p:nvSpPr>
          <p:cNvPr id="107536" name="Text Box 160"/>
          <p:cNvSpPr txBox="1">
            <a:spLocks noChangeArrowheads="1"/>
          </p:cNvSpPr>
          <p:nvPr/>
        </p:nvSpPr>
        <p:spPr bwMode="auto">
          <a:xfrm>
            <a:off x="4637088"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11</a:t>
            </a:r>
          </a:p>
        </p:txBody>
      </p:sp>
      <p:sp>
        <p:nvSpPr>
          <p:cNvPr id="107537" name="Text Box 161"/>
          <p:cNvSpPr txBox="1">
            <a:spLocks noChangeArrowheads="1"/>
          </p:cNvSpPr>
          <p:nvPr/>
        </p:nvSpPr>
        <p:spPr bwMode="auto">
          <a:xfrm>
            <a:off x="5018088" y="3328988"/>
            <a:ext cx="438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10</a:t>
            </a:r>
          </a:p>
        </p:txBody>
      </p:sp>
      <p:sp>
        <p:nvSpPr>
          <p:cNvPr id="107538" name="Rectangle 162"/>
          <p:cNvSpPr>
            <a:spLocks noChangeArrowheads="1"/>
          </p:cNvSpPr>
          <p:nvPr/>
        </p:nvSpPr>
        <p:spPr bwMode="auto">
          <a:xfrm>
            <a:off x="0" y="5956300"/>
            <a:ext cx="9104313" cy="836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107539" name="Text Box 172"/>
          <p:cNvSpPr txBox="1">
            <a:spLocks noChangeArrowheads="1"/>
          </p:cNvSpPr>
          <p:nvPr/>
        </p:nvSpPr>
        <p:spPr bwMode="auto">
          <a:xfrm>
            <a:off x="766763" y="4581525"/>
            <a:ext cx="58562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endParaRPr lang="zh-CN" altLang="zh-CN"/>
          </a:p>
        </p:txBody>
      </p:sp>
      <p:sp>
        <p:nvSpPr>
          <p:cNvPr id="847021" name="Text Box 173"/>
          <p:cNvSpPr txBox="1">
            <a:spLocks noChangeArrowheads="1"/>
          </p:cNvSpPr>
          <p:nvPr/>
        </p:nvSpPr>
        <p:spPr bwMode="auto">
          <a:xfrm>
            <a:off x="766763" y="3743325"/>
            <a:ext cx="50466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50000"/>
              </a:spcBef>
              <a:buFont typeface="Arial" panose="020B0604020202020204" pitchFamily="34" charset="0"/>
              <a:buNone/>
            </a:pPr>
            <a:r>
              <a:rPr lang="en-US" altLang="zh-CN">
                <a:solidFill>
                  <a:srgbClr val="FF3300"/>
                </a:solidFill>
              </a:rPr>
              <a:t>1   2   1  4   3  1  1  3   9  1   1  3   </a:t>
            </a:r>
          </a:p>
        </p:txBody>
      </p:sp>
      <p:sp>
        <p:nvSpPr>
          <p:cNvPr id="847022" name="Text Box 174"/>
          <p:cNvSpPr txBox="1">
            <a:spLocks noChangeArrowheads="1"/>
          </p:cNvSpPr>
          <p:nvPr/>
        </p:nvSpPr>
        <p:spPr bwMode="auto">
          <a:xfrm>
            <a:off x="533400" y="4405313"/>
            <a:ext cx="1074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H(19)=6</a:t>
            </a:r>
          </a:p>
        </p:txBody>
      </p:sp>
      <p:sp>
        <p:nvSpPr>
          <p:cNvPr id="847023" name="Text Box 175"/>
          <p:cNvSpPr txBox="1">
            <a:spLocks noChangeArrowheads="1"/>
          </p:cNvSpPr>
          <p:nvPr/>
        </p:nvSpPr>
        <p:spPr bwMode="auto">
          <a:xfrm>
            <a:off x="533400" y="4716463"/>
            <a:ext cx="1074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H(14)=1</a:t>
            </a:r>
          </a:p>
        </p:txBody>
      </p:sp>
      <p:sp>
        <p:nvSpPr>
          <p:cNvPr id="847024" name="Text Box 176"/>
          <p:cNvSpPr txBox="1">
            <a:spLocks noChangeArrowheads="1"/>
          </p:cNvSpPr>
          <p:nvPr/>
        </p:nvSpPr>
        <p:spPr bwMode="auto">
          <a:xfrm>
            <a:off x="533400" y="5026025"/>
            <a:ext cx="1201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H(23)=10</a:t>
            </a:r>
          </a:p>
        </p:txBody>
      </p:sp>
      <p:sp>
        <p:nvSpPr>
          <p:cNvPr id="847025" name="Text Box 177"/>
          <p:cNvSpPr txBox="1">
            <a:spLocks noChangeArrowheads="1"/>
          </p:cNvSpPr>
          <p:nvPr/>
        </p:nvSpPr>
        <p:spPr bwMode="auto">
          <a:xfrm>
            <a:off x="533400" y="5337175"/>
            <a:ext cx="4276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dirty="0">
                <a:ea typeface="宋体" panose="02010600030101010101" pitchFamily="2" charset="-122"/>
              </a:rPr>
              <a:t>H(1)=1     </a:t>
            </a:r>
            <a:r>
              <a:rPr lang="zh-CN" altLang="zh-CN" sz="2000" dirty="0">
                <a:ea typeface="宋体" panose="02010600030101010101" pitchFamily="2" charset="-122"/>
              </a:rPr>
              <a:t>冲突，</a:t>
            </a:r>
            <a:r>
              <a:rPr lang="en-US" altLang="zh-CN" sz="2000" dirty="0">
                <a:ea typeface="宋体" panose="02010600030101010101" pitchFamily="2" charset="-122"/>
              </a:rPr>
              <a:t>H1=(</a:t>
            </a:r>
            <a:r>
              <a:rPr lang="en-US" altLang="zh-CN" sz="2000" dirty="0">
                <a:highlight>
                  <a:srgbClr val="00FF00"/>
                </a:highlight>
                <a:ea typeface="宋体" panose="02010600030101010101" pitchFamily="2" charset="-122"/>
              </a:rPr>
              <a:t>1+1</a:t>
            </a:r>
            <a:r>
              <a:rPr lang="en-US" altLang="zh-CN" sz="2000" dirty="0">
                <a:ea typeface="宋体" panose="02010600030101010101" pitchFamily="2" charset="-122"/>
              </a:rPr>
              <a:t>) MOD16=2</a:t>
            </a:r>
          </a:p>
        </p:txBody>
      </p:sp>
      <p:sp>
        <p:nvSpPr>
          <p:cNvPr id="847026" name="Text Box 178"/>
          <p:cNvSpPr txBox="1">
            <a:spLocks noChangeArrowheads="1"/>
          </p:cNvSpPr>
          <p:nvPr/>
        </p:nvSpPr>
        <p:spPr bwMode="auto">
          <a:xfrm>
            <a:off x="533400" y="5646738"/>
            <a:ext cx="1074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H(68)=3</a:t>
            </a:r>
          </a:p>
        </p:txBody>
      </p:sp>
      <p:sp>
        <p:nvSpPr>
          <p:cNvPr id="847027" name="Text Box 179"/>
          <p:cNvSpPr txBox="1">
            <a:spLocks noChangeArrowheads="1"/>
          </p:cNvSpPr>
          <p:nvPr/>
        </p:nvSpPr>
        <p:spPr bwMode="auto">
          <a:xfrm>
            <a:off x="533400" y="5956300"/>
            <a:ext cx="1074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H(20)=7</a:t>
            </a:r>
          </a:p>
        </p:txBody>
      </p:sp>
      <p:sp>
        <p:nvSpPr>
          <p:cNvPr id="847028" name="Text Box 180"/>
          <p:cNvSpPr txBox="1">
            <a:spLocks noChangeArrowheads="1"/>
          </p:cNvSpPr>
          <p:nvPr/>
        </p:nvSpPr>
        <p:spPr bwMode="auto">
          <a:xfrm>
            <a:off x="4981575" y="4591050"/>
            <a:ext cx="421322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H(27)=1   </a:t>
            </a:r>
            <a:r>
              <a:rPr lang="zh-CN" altLang="zh-CN" sz="2000">
                <a:ea typeface="宋体" panose="02010600030101010101" pitchFamily="2" charset="-122"/>
              </a:rPr>
              <a:t>冲突，</a:t>
            </a:r>
            <a:r>
              <a:rPr lang="en-US" altLang="zh-CN" sz="2000">
                <a:ea typeface="宋体" panose="02010600030101010101" pitchFamily="2" charset="-122"/>
              </a:rPr>
              <a:t>H1=(1+1)MOD16=2</a:t>
            </a:r>
          </a:p>
          <a:p>
            <a:pPr eaLnBrk="1" hangingPunct="1">
              <a:buFont typeface="Arial" panose="020B0604020202020204" pitchFamily="34" charset="0"/>
              <a:buNone/>
            </a:pPr>
            <a:r>
              <a:rPr lang="en-US" altLang="zh-CN" sz="2000">
                <a:ea typeface="宋体" panose="02010600030101010101" pitchFamily="2" charset="-122"/>
              </a:rPr>
              <a:t>                 </a:t>
            </a:r>
            <a:r>
              <a:rPr lang="zh-CN" altLang="zh-CN" sz="2000">
                <a:ea typeface="宋体" panose="02010600030101010101" pitchFamily="2" charset="-122"/>
              </a:rPr>
              <a:t>冲突，</a:t>
            </a:r>
            <a:r>
              <a:rPr lang="en-US" altLang="zh-CN" sz="2000">
                <a:ea typeface="宋体" panose="02010600030101010101" pitchFamily="2" charset="-122"/>
              </a:rPr>
              <a:t>H2=(1+2)MOD16=3</a:t>
            </a:r>
          </a:p>
          <a:p>
            <a:pPr eaLnBrk="1" hangingPunct="1">
              <a:buFont typeface="Arial" panose="020B0604020202020204" pitchFamily="34" charset="0"/>
              <a:buNone/>
            </a:pPr>
            <a:r>
              <a:rPr lang="en-US" altLang="zh-CN" sz="2000">
                <a:ea typeface="宋体" panose="02010600030101010101" pitchFamily="2" charset="-122"/>
              </a:rPr>
              <a:t>                 </a:t>
            </a:r>
            <a:r>
              <a:rPr lang="zh-CN" altLang="zh-CN" sz="2000">
                <a:ea typeface="宋体" panose="02010600030101010101" pitchFamily="2" charset="-122"/>
              </a:rPr>
              <a:t>冲突，</a:t>
            </a:r>
            <a:r>
              <a:rPr lang="en-US" altLang="zh-CN" sz="2000">
                <a:ea typeface="宋体" panose="02010600030101010101" pitchFamily="2" charset="-122"/>
              </a:rPr>
              <a:t>H3=(1+3)MOD16=4</a:t>
            </a:r>
          </a:p>
        </p:txBody>
      </p:sp>
      <p:sp>
        <p:nvSpPr>
          <p:cNvPr id="847029" name="Text Box 181"/>
          <p:cNvSpPr txBox="1">
            <a:spLocks noChangeArrowheads="1"/>
          </p:cNvSpPr>
          <p:nvPr/>
        </p:nvSpPr>
        <p:spPr bwMode="auto">
          <a:xfrm>
            <a:off x="3167063" y="515938"/>
            <a:ext cx="4832350" cy="519112"/>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a:solidFill>
                  <a:srgbClr val="FF3300"/>
                </a:solidFill>
                <a:ea typeface="宋体" panose="02010600030101010101" pitchFamily="2" charset="-122"/>
              </a:rPr>
              <a:t>ASL=(1*6+2+3*3+4+9)/12=2.5</a:t>
            </a:r>
          </a:p>
        </p:txBody>
      </p:sp>
      <p:sp>
        <p:nvSpPr>
          <p:cNvPr id="107549" name="Rectangle 182"/>
          <p:cNvSpPr>
            <a:spLocks noChangeArrowheads="1"/>
          </p:cNvSpPr>
          <p:nvPr/>
        </p:nvSpPr>
        <p:spPr bwMode="auto">
          <a:xfrm>
            <a:off x="4191794" y="0"/>
            <a:ext cx="324326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哈希表的查找</a:t>
            </a:r>
          </a:p>
        </p:txBody>
      </p:sp>
      <p:sp>
        <p:nvSpPr>
          <p:cNvPr id="2" name="文本框 1">
            <a:extLst>
              <a:ext uri="{FF2B5EF4-FFF2-40B4-BE49-F238E27FC236}">
                <a16:creationId xmlns:a16="http://schemas.microsoft.com/office/drawing/2014/main" id="{4263E646-0B2B-A59A-9E6E-1082C10777E4}"/>
              </a:ext>
            </a:extLst>
          </p:cNvPr>
          <p:cNvSpPr txBox="1"/>
          <p:nvPr/>
        </p:nvSpPr>
        <p:spPr>
          <a:xfrm>
            <a:off x="1670050" y="5734050"/>
            <a:ext cx="7331447" cy="1015663"/>
          </a:xfrm>
          <a:prstGeom prst="rect">
            <a:avLst/>
          </a:prstGeom>
          <a:noFill/>
        </p:spPr>
        <p:txBody>
          <a:bodyPr wrap="square" rtlCol="0">
            <a:spAutoFit/>
          </a:bodyPr>
          <a:lstStyle/>
          <a:p>
            <a:r>
              <a:rPr lang="zh-CN" altLang="en-US" sz="2000" dirty="0">
                <a:highlight>
                  <a:srgbClr val="00FF00"/>
                </a:highlight>
              </a:rPr>
              <a:t>查找次数和存放的算法一致</a:t>
            </a:r>
            <a:r>
              <a:rPr lang="en-US" altLang="zh-CN" sz="2000" dirty="0"/>
              <a:t>:</a:t>
            </a:r>
            <a:r>
              <a:rPr lang="en-US" altLang="zh-CN" sz="2000" dirty="0">
                <a:latin typeface="楷体_GB2312"/>
              </a:rPr>
              <a:t> H(key)=key MOD 13.</a:t>
            </a:r>
            <a:r>
              <a:rPr lang="zh-CN" altLang="en-US" sz="2000" dirty="0">
                <a:latin typeface="楷体_GB2312"/>
              </a:rPr>
              <a:t>依次</a:t>
            </a:r>
            <a:r>
              <a:rPr lang="en-US" altLang="zh-CN" sz="2000" dirty="0">
                <a:latin typeface="楷体_GB2312"/>
              </a:rPr>
              <a:t>key</a:t>
            </a:r>
            <a:r>
              <a:rPr lang="zh-CN" altLang="en-US" sz="2000" dirty="0">
                <a:latin typeface="楷体_GB2312"/>
              </a:rPr>
              <a:t>代入得到</a:t>
            </a:r>
            <a:r>
              <a:rPr lang="en-US" altLang="zh-CN" sz="2000" dirty="0">
                <a:latin typeface="楷体_GB2312"/>
              </a:rPr>
              <a:t>hash(key)</a:t>
            </a:r>
            <a:r>
              <a:rPr lang="zh-CN" altLang="en-US" sz="2000" dirty="0">
                <a:latin typeface="楷体_GB2312"/>
              </a:rPr>
              <a:t>代入找到为则查询次数为</a:t>
            </a:r>
            <a:r>
              <a:rPr lang="en-US" altLang="zh-CN" sz="2000" dirty="0">
                <a:latin typeface="楷体_GB2312"/>
              </a:rPr>
              <a:t>1,</a:t>
            </a:r>
            <a:r>
              <a:rPr lang="zh-CN" altLang="en-US" sz="2000" dirty="0">
                <a:latin typeface="楷体_GB2312"/>
              </a:rPr>
              <a:t>再解决一次重提再找到查询次数为</a:t>
            </a:r>
            <a:r>
              <a:rPr lang="en-US" altLang="zh-CN" sz="2000" dirty="0">
                <a:latin typeface="楷体_GB2312"/>
              </a:rPr>
              <a:t>2,…</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47022">
                                            <p:txEl>
                                              <p:pRg st="0" end="0"/>
                                            </p:txEl>
                                          </p:spTgt>
                                        </p:tgtEl>
                                        <p:attrNameLst>
                                          <p:attrName>style.visibility</p:attrName>
                                        </p:attrNameLst>
                                      </p:cBhvr>
                                      <p:to>
                                        <p:strVal val="visible"/>
                                      </p:to>
                                    </p:set>
                                    <p:animEffect transition="in" filter="box(out)">
                                      <p:cBhvr>
                                        <p:cTn id="7" dur="500"/>
                                        <p:tgtEl>
                                          <p:spTgt spid="84702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47023">
                                            <p:txEl>
                                              <p:pRg st="0" end="0"/>
                                            </p:txEl>
                                          </p:spTgt>
                                        </p:tgtEl>
                                        <p:attrNameLst>
                                          <p:attrName>style.visibility</p:attrName>
                                        </p:attrNameLst>
                                      </p:cBhvr>
                                      <p:to>
                                        <p:strVal val="visible"/>
                                      </p:to>
                                    </p:set>
                                    <p:animEffect transition="in" filter="box(out)">
                                      <p:cBhvr>
                                        <p:cTn id="12" dur="500"/>
                                        <p:tgtEl>
                                          <p:spTgt spid="847023">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47024">
                                            <p:txEl>
                                              <p:pRg st="0" end="0"/>
                                            </p:txEl>
                                          </p:spTgt>
                                        </p:tgtEl>
                                        <p:attrNameLst>
                                          <p:attrName>style.visibility</p:attrName>
                                        </p:attrNameLst>
                                      </p:cBhvr>
                                      <p:to>
                                        <p:strVal val="visible"/>
                                      </p:to>
                                    </p:set>
                                    <p:animEffect transition="in" filter="box(out)">
                                      <p:cBhvr>
                                        <p:cTn id="17" dur="500"/>
                                        <p:tgtEl>
                                          <p:spTgt spid="847024">
                                            <p:txEl>
                                              <p:pRg st="0" end="0"/>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47025">
                                            <p:txEl>
                                              <p:pRg st="0" end="0"/>
                                            </p:txEl>
                                          </p:spTgt>
                                        </p:tgtEl>
                                        <p:attrNameLst>
                                          <p:attrName>style.visibility</p:attrName>
                                        </p:attrNameLst>
                                      </p:cBhvr>
                                      <p:to>
                                        <p:strVal val="visible"/>
                                      </p:to>
                                    </p:set>
                                    <p:animEffect transition="in" filter="box(out)">
                                      <p:cBhvr>
                                        <p:cTn id="22" dur="500"/>
                                        <p:tgtEl>
                                          <p:spTgt spid="847025">
                                            <p:txEl>
                                              <p:pRg st="0" end="0"/>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47026">
                                            <p:txEl>
                                              <p:pRg st="0" end="0"/>
                                            </p:txEl>
                                          </p:spTgt>
                                        </p:tgtEl>
                                        <p:attrNameLst>
                                          <p:attrName>style.visibility</p:attrName>
                                        </p:attrNameLst>
                                      </p:cBhvr>
                                      <p:to>
                                        <p:strVal val="visible"/>
                                      </p:to>
                                    </p:set>
                                    <p:animEffect transition="in" filter="box(out)">
                                      <p:cBhvr>
                                        <p:cTn id="27" dur="500"/>
                                        <p:tgtEl>
                                          <p:spTgt spid="847026">
                                            <p:txEl>
                                              <p:pRg st="0" end="0"/>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47027">
                                            <p:txEl>
                                              <p:pRg st="0" end="0"/>
                                            </p:txEl>
                                          </p:spTgt>
                                        </p:tgtEl>
                                        <p:attrNameLst>
                                          <p:attrName>style.visibility</p:attrName>
                                        </p:attrNameLst>
                                      </p:cBhvr>
                                      <p:to>
                                        <p:strVal val="visible"/>
                                      </p:to>
                                    </p:set>
                                    <p:animEffect transition="in" filter="box(out)">
                                      <p:cBhvr>
                                        <p:cTn id="32" dur="500"/>
                                        <p:tgtEl>
                                          <p:spTgt spid="847027">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47028">
                                            <p:txEl>
                                              <p:pRg st="0" end="0"/>
                                            </p:txEl>
                                          </p:spTgt>
                                        </p:tgtEl>
                                        <p:attrNameLst>
                                          <p:attrName>style.visibility</p:attrName>
                                        </p:attrNameLst>
                                      </p:cBhvr>
                                      <p:to>
                                        <p:strVal val="visible"/>
                                      </p:to>
                                    </p:set>
                                    <p:animEffect transition="in" filter="box(out)">
                                      <p:cBhvr>
                                        <p:cTn id="37" dur="500"/>
                                        <p:tgtEl>
                                          <p:spTgt spid="847028">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847028">
                                            <p:txEl>
                                              <p:pRg st="1" end="1"/>
                                            </p:txEl>
                                          </p:spTgt>
                                        </p:tgtEl>
                                        <p:attrNameLst>
                                          <p:attrName>style.visibility</p:attrName>
                                        </p:attrNameLst>
                                      </p:cBhvr>
                                      <p:to>
                                        <p:strVal val="visible"/>
                                      </p:to>
                                    </p:set>
                                    <p:animEffect transition="in" filter="box(out)">
                                      <p:cBhvr>
                                        <p:cTn id="42" dur="500"/>
                                        <p:tgtEl>
                                          <p:spTgt spid="847028">
                                            <p:txEl>
                                              <p:pRg st="1" end="1"/>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847028">
                                            <p:txEl>
                                              <p:pRg st="2" end="2"/>
                                            </p:txEl>
                                          </p:spTgt>
                                        </p:tgtEl>
                                        <p:attrNameLst>
                                          <p:attrName>style.visibility</p:attrName>
                                        </p:attrNameLst>
                                      </p:cBhvr>
                                      <p:to>
                                        <p:strVal val="visible"/>
                                      </p:to>
                                    </p:set>
                                    <p:animEffect transition="in" filter="box(out)">
                                      <p:cBhvr>
                                        <p:cTn id="47" dur="500"/>
                                        <p:tgtEl>
                                          <p:spTgt spid="847028">
                                            <p:txEl>
                                              <p:pRg st="2" end="2"/>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nodeType="clickPar">
                      <p:stCondLst>
                        <p:cond delay="indefinite"/>
                      </p:stCondLst>
                      <p:childTnLst>
                        <p:par>
                          <p:cTn id="49" fill="hold" nodeType="withGroup">
                            <p:stCondLst>
                              <p:cond delay="0"/>
                            </p:stCondLst>
                            <p:childTnLst>
                              <p:par>
                                <p:cTn id="50" presetID="8" presetClass="entr" presetSubtype="16" fill="hold" grpId="0" nodeType="clickEffect">
                                  <p:stCondLst>
                                    <p:cond delay="0"/>
                                  </p:stCondLst>
                                  <p:childTnLst>
                                    <p:set>
                                      <p:cBhvr>
                                        <p:cTn id="51" dur="1" fill="hold">
                                          <p:stCondLst>
                                            <p:cond delay="0"/>
                                          </p:stCondLst>
                                        </p:cTn>
                                        <p:tgtEl>
                                          <p:spTgt spid="847021"/>
                                        </p:tgtEl>
                                        <p:attrNameLst>
                                          <p:attrName>style.visibility</p:attrName>
                                        </p:attrNameLst>
                                      </p:cBhvr>
                                      <p:to>
                                        <p:strVal val="visible"/>
                                      </p:to>
                                    </p:set>
                                    <p:animEffect transition="in" filter="diamond(in)">
                                      <p:cBhvr>
                                        <p:cTn id="52" dur="2000"/>
                                        <p:tgtEl>
                                          <p:spTgt spid="84702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847029"/>
                                        </p:tgtEl>
                                        <p:attrNameLst>
                                          <p:attrName>style.visibility</p:attrName>
                                        </p:attrNameLst>
                                      </p:cBhvr>
                                      <p:to>
                                        <p:strVal val="visible"/>
                                      </p:to>
                                    </p:set>
                                    <p:anim calcmode="lin" valueType="num">
                                      <p:cBhvr additive="base">
                                        <p:cTn id="57" dur="500" fill="hold"/>
                                        <p:tgtEl>
                                          <p:spTgt spid="847029"/>
                                        </p:tgtEl>
                                        <p:attrNameLst>
                                          <p:attrName>ppt_x</p:attrName>
                                        </p:attrNameLst>
                                      </p:cBhvr>
                                      <p:tavLst>
                                        <p:tav tm="0">
                                          <p:val>
                                            <p:strVal val="#ppt_x"/>
                                          </p:val>
                                        </p:tav>
                                        <p:tav tm="100000">
                                          <p:val>
                                            <p:strVal val="#ppt_x"/>
                                          </p:val>
                                        </p:tav>
                                      </p:tavLst>
                                    </p:anim>
                                    <p:anim calcmode="lin" valueType="num">
                                      <p:cBhvr additive="base">
                                        <p:cTn id="58" dur="500" fill="hold"/>
                                        <p:tgtEl>
                                          <p:spTgt spid="847029"/>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6" presetClass="emph" presetSubtype="0" fill="hold" grpId="1" nodeType="clickEffect">
                                  <p:stCondLst>
                                    <p:cond delay="0"/>
                                  </p:stCondLst>
                                  <p:childTnLst>
                                    <p:animScale>
                                      <p:cBhvr>
                                        <p:cTn id="62" dur="2000" fill="hold"/>
                                        <p:tgtEl>
                                          <p:spTgt spid="84702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7021" grpId="0"/>
      <p:bldP spid="847022" grpId="0" build="p"/>
      <p:bldP spid="847023" grpId="0" build="p"/>
      <p:bldP spid="847024" grpId="0" build="p"/>
      <p:bldP spid="847025" grpId="0" build="p"/>
      <p:bldP spid="847026" grpId="0" build="p"/>
      <p:bldP spid="847027" grpId="0" build="p"/>
      <p:bldP spid="847028" grpId="0" build="p"/>
      <p:bldP spid="847029" grpId="0" animBg="1"/>
      <p:bldP spid="847029"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100" name="Text Box 4"/>
          <p:cNvSpPr txBox="1">
            <a:spLocks noChangeArrowheads="1"/>
          </p:cNvSpPr>
          <p:nvPr/>
        </p:nvSpPr>
        <p:spPr bwMode="auto">
          <a:xfrm>
            <a:off x="68263" y="1211263"/>
            <a:ext cx="3711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400">
                <a:solidFill>
                  <a:schemeClr val="hlink"/>
                </a:solidFill>
                <a:latin typeface="楷体_GB2312"/>
              </a:rPr>
              <a:t>(2)  </a:t>
            </a:r>
            <a:r>
              <a:rPr lang="zh-CN" altLang="en-US" sz="2400">
                <a:solidFill>
                  <a:schemeClr val="hlink"/>
                </a:solidFill>
                <a:latin typeface="楷体_GB2312"/>
              </a:rPr>
              <a:t>用链地址法处理冲突</a:t>
            </a:r>
          </a:p>
        </p:txBody>
      </p:sp>
      <p:grpSp>
        <p:nvGrpSpPr>
          <p:cNvPr id="2" name="Group 5"/>
          <p:cNvGrpSpPr>
            <a:grpSpLocks/>
          </p:cNvGrpSpPr>
          <p:nvPr/>
        </p:nvGrpSpPr>
        <p:grpSpPr bwMode="auto">
          <a:xfrm>
            <a:off x="700088" y="1881188"/>
            <a:ext cx="5791200" cy="4291012"/>
            <a:chOff x="1070" y="1448"/>
            <a:chExt cx="3648" cy="2703"/>
          </a:xfrm>
        </p:grpSpPr>
        <p:grpSp>
          <p:nvGrpSpPr>
            <p:cNvPr id="108551" name="Group 6"/>
            <p:cNvGrpSpPr>
              <a:grpSpLocks/>
            </p:cNvGrpSpPr>
            <p:nvPr/>
          </p:nvGrpSpPr>
          <p:grpSpPr bwMode="auto">
            <a:xfrm>
              <a:off x="1303" y="1448"/>
              <a:ext cx="373" cy="2576"/>
              <a:chOff x="1303" y="1448"/>
              <a:chExt cx="373" cy="2576"/>
            </a:xfrm>
          </p:grpSpPr>
          <p:sp>
            <p:nvSpPr>
              <p:cNvPr id="108614" name="Rectangle 7"/>
              <p:cNvSpPr>
                <a:spLocks noChangeArrowheads="1"/>
              </p:cNvSpPr>
              <p:nvPr/>
            </p:nvSpPr>
            <p:spPr bwMode="auto">
              <a:xfrm>
                <a:off x="1303" y="1448"/>
                <a:ext cx="373" cy="257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Font typeface="Arial" panose="020B0604020202020204" pitchFamily="34" charset="0"/>
                  <a:buNone/>
                </a:pPr>
                <a:endParaRPr lang="zh-CN" altLang="en-US"/>
              </a:p>
            </p:txBody>
          </p:sp>
          <p:sp>
            <p:nvSpPr>
              <p:cNvPr id="108615" name="Line 8"/>
              <p:cNvSpPr>
                <a:spLocks noChangeShapeType="1"/>
              </p:cNvSpPr>
              <p:nvPr/>
            </p:nvSpPr>
            <p:spPr bwMode="auto">
              <a:xfrm>
                <a:off x="1303" y="164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6" name="Line 9"/>
              <p:cNvSpPr>
                <a:spLocks noChangeShapeType="1"/>
              </p:cNvSpPr>
              <p:nvPr/>
            </p:nvSpPr>
            <p:spPr bwMode="auto">
              <a:xfrm>
                <a:off x="1303" y="184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7" name="Line 10"/>
              <p:cNvSpPr>
                <a:spLocks noChangeShapeType="1"/>
              </p:cNvSpPr>
              <p:nvPr/>
            </p:nvSpPr>
            <p:spPr bwMode="auto">
              <a:xfrm>
                <a:off x="1303" y="204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8" name="Line 11"/>
              <p:cNvSpPr>
                <a:spLocks noChangeShapeType="1"/>
              </p:cNvSpPr>
              <p:nvPr/>
            </p:nvSpPr>
            <p:spPr bwMode="auto">
              <a:xfrm>
                <a:off x="1303" y="2237"/>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9" name="Line 12"/>
              <p:cNvSpPr>
                <a:spLocks noChangeShapeType="1"/>
              </p:cNvSpPr>
              <p:nvPr/>
            </p:nvSpPr>
            <p:spPr bwMode="auto">
              <a:xfrm>
                <a:off x="1303" y="243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0" name="Line 13"/>
              <p:cNvSpPr>
                <a:spLocks noChangeShapeType="1"/>
              </p:cNvSpPr>
              <p:nvPr/>
            </p:nvSpPr>
            <p:spPr bwMode="auto">
              <a:xfrm>
                <a:off x="1303" y="263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1" name="Line 14"/>
              <p:cNvSpPr>
                <a:spLocks noChangeShapeType="1"/>
              </p:cNvSpPr>
              <p:nvPr/>
            </p:nvSpPr>
            <p:spPr bwMode="auto">
              <a:xfrm>
                <a:off x="1303" y="283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2" name="Line 15"/>
              <p:cNvSpPr>
                <a:spLocks noChangeShapeType="1"/>
              </p:cNvSpPr>
              <p:nvPr/>
            </p:nvSpPr>
            <p:spPr bwMode="auto">
              <a:xfrm>
                <a:off x="1303" y="3027"/>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3" name="Line 16"/>
              <p:cNvSpPr>
                <a:spLocks noChangeShapeType="1"/>
              </p:cNvSpPr>
              <p:nvPr/>
            </p:nvSpPr>
            <p:spPr bwMode="auto">
              <a:xfrm>
                <a:off x="1303" y="3225"/>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4" name="Line 17"/>
              <p:cNvSpPr>
                <a:spLocks noChangeShapeType="1"/>
              </p:cNvSpPr>
              <p:nvPr/>
            </p:nvSpPr>
            <p:spPr bwMode="auto">
              <a:xfrm>
                <a:off x="1303" y="3422"/>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5" name="Line 18"/>
              <p:cNvSpPr>
                <a:spLocks noChangeShapeType="1"/>
              </p:cNvSpPr>
              <p:nvPr/>
            </p:nvSpPr>
            <p:spPr bwMode="auto">
              <a:xfrm>
                <a:off x="1303" y="3620"/>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26" name="Line 19"/>
              <p:cNvSpPr>
                <a:spLocks noChangeShapeType="1"/>
              </p:cNvSpPr>
              <p:nvPr/>
            </p:nvSpPr>
            <p:spPr bwMode="auto">
              <a:xfrm>
                <a:off x="1303" y="3818"/>
                <a:ext cx="3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8552" name="Text Box 20"/>
            <p:cNvSpPr txBox="1">
              <a:spLocks noChangeArrowheads="1"/>
            </p:cNvSpPr>
            <p:nvPr/>
          </p:nvSpPr>
          <p:spPr bwMode="auto">
            <a:xfrm>
              <a:off x="1070" y="1450"/>
              <a:ext cx="289" cy="2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1800">
                  <a:ea typeface="宋体" panose="02010600030101010101" pitchFamily="2" charset="-122"/>
                </a:rPr>
                <a:t>0 1  2 3 4  5 6  7 8 9  10 11 12 </a:t>
              </a:r>
            </a:p>
          </p:txBody>
        </p:sp>
        <p:grpSp>
          <p:nvGrpSpPr>
            <p:cNvPr id="108553" name="Group 21"/>
            <p:cNvGrpSpPr>
              <a:grpSpLocks/>
            </p:cNvGrpSpPr>
            <p:nvPr/>
          </p:nvGrpSpPr>
          <p:grpSpPr bwMode="auto">
            <a:xfrm>
              <a:off x="1552" y="1623"/>
              <a:ext cx="869" cy="218"/>
              <a:chOff x="1976" y="2813"/>
              <a:chExt cx="869" cy="218"/>
            </a:xfrm>
          </p:grpSpPr>
          <p:sp>
            <p:nvSpPr>
              <p:cNvPr id="108611" name="Rectangle 22"/>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14</a:t>
                </a:r>
                <a:endParaRPr lang="en-US" altLang="zh-CN" sz="2000">
                  <a:ea typeface="宋体" panose="02010600030101010101" pitchFamily="2" charset="-122"/>
                </a:endParaRPr>
              </a:p>
            </p:txBody>
          </p:sp>
          <p:sp>
            <p:nvSpPr>
              <p:cNvPr id="108612" name="Line 23"/>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3" name="Line 24"/>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8554" name="Text Box 25"/>
            <p:cNvSpPr txBox="1">
              <a:spLocks noChangeArrowheads="1"/>
            </p:cNvSpPr>
            <p:nvPr/>
          </p:nvSpPr>
          <p:spPr bwMode="auto">
            <a:xfrm>
              <a:off x="1362" y="144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grpSp>
          <p:nvGrpSpPr>
            <p:cNvPr id="108555" name="Group 26"/>
            <p:cNvGrpSpPr>
              <a:grpSpLocks/>
            </p:cNvGrpSpPr>
            <p:nvPr/>
          </p:nvGrpSpPr>
          <p:grpSpPr bwMode="auto">
            <a:xfrm>
              <a:off x="2317" y="1623"/>
              <a:ext cx="869" cy="218"/>
              <a:chOff x="1976" y="2813"/>
              <a:chExt cx="869" cy="218"/>
            </a:xfrm>
          </p:grpSpPr>
          <p:sp>
            <p:nvSpPr>
              <p:cNvPr id="108608" name="Rectangle 27"/>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chemeClr val="folHlink"/>
                    </a:solidFill>
                    <a:ea typeface="宋体" panose="02010600030101010101" pitchFamily="2" charset="-122"/>
                  </a:rPr>
                  <a:t>1</a:t>
                </a:r>
                <a:endParaRPr lang="en-US" altLang="zh-CN" sz="2000">
                  <a:ea typeface="宋体" panose="02010600030101010101" pitchFamily="2" charset="-122"/>
                </a:endParaRPr>
              </a:p>
            </p:txBody>
          </p:sp>
          <p:sp>
            <p:nvSpPr>
              <p:cNvPr id="108609" name="Line 28"/>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10" name="Line 29"/>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56" name="Group 30"/>
            <p:cNvGrpSpPr>
              <a:grpSpLocks/>
            </p:cNvGrpSpPr>
            <p:nvPr/>
          </p:nvGrpSpPr>
          <p:grpSpPr bwMode="auto">
            <a:xfrm>
              <a:off x="3094" y="1622"/>
              <a:ext cx="869" cy="218"/>
              <a:chOff x="1976" y="2813"/>
              <a:chExt cx="869" cy="218"/>
            </a:xfrm>
          </p:grpSpPr>
          <p:sp>
            <p:nvSpPr>
              <p:cNvPr id="108605" name="Rectangle 31"/>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FF3300"/>
                    </a:solidFill>
                    <a:ea typeface="宋体" panose="02010600030101010101" pitchFamily="2" charset="-122"/>
                  </a:rPr>
                  <a:t>27</a:t>
                </a:r>
                <a:endParaRPr lang="en-US" altLang="zh-CN" sz="2000">
                  <a:ea typeface="宋体" panose="02010600030101010101" pitchFamily="2" charset="-122"/>
                </a:endParaRPr>
              </a:p>
            </p:txBody>
          </p:sp>
          <p:sp>
            <p:nvSpPr>
              <p:cNvPr id="108606" name="Line 32"/>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7" name="Line 33"/>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57" name="Group 34"/>
            <p:cNvGrpSpPr>
              <a:grpSpLocks/>
            </p:cNvGrpSpPr>
            <p:nvPr/>
          </p:nvGrpSpPr>
          <p:grpSpPr bwMode="auto">
            <a:xfrm>
              <a:off x="3849" y="1624"/>
              <a:ext cx="869" cy="218"/>
              <a:chOff x="1976" y="2813"/>
              <a:chExt cx="869" cy="218"/>
            </a:xfrm>
          </p:grpSpPr>
          <p:sp>
            <p:nvSpPr>
              <p:cNvPr id="108602" name="Rectangle 35"/>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CC00CC"/>
                    </a:solidFill>
                    <a:ea typeface="宋体" panose="02010600030101010101" pitchFamily="2" charset="-122"/>
                  </a:rPr>
                  <a:t>79</a:t>
                </a:r>
              </a:p>
            </p:txBody>
          </p:sp>
          <p:sp>
            <p:nvSpPr>
              <p:cNvPr id="108603" name="Line 36"/>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4" name="Line 37"/>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58" name="Group 38"/>
            <p:cNvGrpSpPr>
              <a:grpSpLocks/>
            </p:cNvGrpSpPr>
            <p:nvPr/>
          </p:nvGrpSpPr>
          <p:grpSpPr bwMode="auto">
            <a:xfrm>
              <a:off x="1563" y="2007"/>
              <a:ext cx="869" cy="218"/>
              <a:chOff x="1976" y="2813"/>
              <a:chExt cx="869" cy="218"/>
            </a:xfrm>
          </p:grpSpPr>
          <p:sp>
            <p:nvSpPr>
              <p:cNvPr id="108599" name="Rectangle 39"/>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68</a:t>
                </a:r>
                <a:endParaRPr lang="en-US" altLang="zh-CN" sz="2000">
                  <a:ea typeface="宋体" panose="02010600030101010101" pitchFamily="2" charset="-122"/>
                </a:endParaRPr>
              </a:p>
            </p:txBody>
          </p:sp>
          <p:sp>
            <p:nvSpPr>
              <p:cNvPr id="108600" name="Line 40"/>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601" name="Line 41"/>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59" name="Group 42"/>
            <p:cNvGrpSpPr>
              <a:grpSpLocks/>
            </p:cNvGrpSpPr>
            <p:nvPr/>
          </p:nvGrpSpPr>
          <p:grpSpPr bwMode="auto">
            <a:xfrm>
              <a:off x="2338" y="2006"/>
              <a:ext cx="869" cy="218"/>
              <a:chOff x="1976" y="2813"/>
              <a:chExt cx="869" cy="218"/>
            </a:xfrm>
          </p:grpSpPr>
          <p:sp>
            <p:nvSpPr>
              <p:cNvPr id="108596" name="Rectangle 43"/>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chemeClr val="folHlink"/>
                    </a:solidFill>
                    <a:ea typeface="宋体" panose="02010600030101010101" pitchFamily="2" charset="-122"/>
                  </a:rPr>
                  <a:t>55</a:t>
                </a:r>
                <a:endParaRPr lang="en-US" altLang="zh-CN" sz="2000">
                  <a:ea typeface="宋体" panose="02010600030101010101" pitchFamily="2" charset="-122"/>
                </a:endParaRPr>
              </a:p>
            </p:txBody>
          </p:sp>
          <p:sp>
            <p:nvSpPr>
              <p:cNvPr id="108597" name="Line 44"/>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8" name="Line 45"/>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0" name="Group 46"/>
            <p:cNvGrpSpPr>
              <a:grpSpLocks/>
            </p:cNvGrpSpPr>
            <p:nvPr/>
          </p:nvGrpSpPr>
          <p:grpSpPr bwMode="auto">
            <a:xfrm>
              <a:off x="1573" y="2617"/>
              <a:ext cx="869" cy="218"/>
              <a:chOff x="1976" y="2813"/>
              <a:chExt cx="869" cy="218"/>
            </a:xfrm>
          </p:grpSpPr>
          <p:sp>
            <p:nvSpPr>
              <p:cNvPr id="108593" name="Rectangle 47"/>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19</a:t>
                </a:r>
                <a:endParaRPr lang="en-US" altLang="zh-CN" sz="2000">
                  <a:ea typeface="宋体" panose="02010600030101010101" pitchFamily="2" charset="-122"/>
                </a:endParaRPr>
              </a:p>
            </p:txBody>
          </p:sp>
          <p:sp>
            <p:nvSpPr>
              <p:cNvPr id="108594" name="Line 48"/>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5" name="Line 49"/>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1" name="Group 50"/>
            <p:cNvGrpSpPr>
              <a:grpSpLocks/>
            </p:cNvGrpSpPr>
            <p:nvPr/>
          </p:nvGrpSpPr>
          <p:grpSpPr bwMode="auto">
            <a:xfrm>
              <a:off x="2338" y="2617"/>
              <a:ext cx="869" cy="218"/>
              <a:chOff x="1976" y="2813"/>
              <a:chExt cx="869" cy="218"/>
            </a:xfrm>
          </p:grpSpPr>
          <p:sp>
            <p:nvSpPr>
              <p:cNvPr id="108590" name="Rectangle 51"/>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chemeClr val="folHlink"/>
                    </a:solidFill>
                    <a:ea typeface="宋体" panose="02010600030101010101" pitchFamily="2" charset="-122"/>
                  </a:rPr>
                  <a:t>84</a:t>
                </a:r>
                <a:endParaRPr lang="en-US" altLang="zh-CN" sz="2000">
                  <a:ea typeface="宋体" panose="02010600030101010101" pitchFamily="2" charset="-122"/>
                </a:endParaRPr>
              </a:p>
            </p:txBody>
          </p:sp>
          <p:sp>
            <p:nvSpPr>
              <p:cNvPr id="108591" name="Line 52"/>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92" name="Line 53"/>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2" name="Group 54"/>
            <p:cNvGrpSpPr>
              <a:grpSpLocks/>
            </p:cNvGrpSpPr>
            <p:nvPr/>
          </p:nvGrpSpPr>
          <p:grpSpPr bwMode="auto">
            <a:xfrm>
              <a:off x="1572" y="2875"/>
              <a:ext cx="869" cy="218"/>
              <a:chOff x="1976" y="2813"/>
              <a:chExt cx="869" cy="218"/>
            </a:xfrm>
          </p:grpSpPr>
          <p:sp>
            <p:nvSpPr>
              <p:cNvPr id="108587" name="Rectangle 55"/>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20</a:t>
                </a:r>
                <a:endParaRPr lang="en-US" altLang="zh-CN" sz="2000">
                  <a:ea typeface="宋体" panose="02010600030101010101" pitchFamily="2" charset="-122"/>
                </a:endParaRPr>
              </a:p>
            </p:txBody>
          </p:sp>
          <p:sp>
            <p:nvSpPr>
              <p:cNvPr id="108588" name="Line 56"/>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9" name="Line 57"/>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3" name="Group 58"/>
            <p:cNvGrpSpPr>
              <a:grpSpLocks/>
            </p:cNvGrpSpPr>
            <p:nvPr/>
          </p:nvGrpSpPr>
          <p:grpSpPr bwMode="auto">
            <a:xfrm>
              <a:off x="1583" y="3382"/>
              <a:ext cx="869" cy="218"/>
              <a:chOff x="1976" y="2813"/>
              <a:chExt cx="869" cy="218"/>
            </a:xfrm>
          </p:grpSpPr>
          <p:sp>
            <p:nvSpPr>
              <p:cNvPr id="108584" name="Rectangle 59"/>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23</a:t>
                </a:r>
                <a:endParaRPr lang="en-US" altLang="zh-CN" sz="2000">
                  <a:ea typeface="宋体" panose="02010600030101010101" pitchFamily="2" charset="-122"/>
                </a:endParaRPr>
              </a:p>
            </p:txBody>
          </p:sp>
          <p:sp>
            <p:nvSpPr>
              <p:cNvPr id="108585" name="Line 60"/>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6" name="Line 61"/>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4" name="Group 62"/>
            <p:cNvGrpSpPr>
              <a:grpSpLocks/>
            </p:cNvGrpSpPr>
            <p:nvPr/>
          </p:nvGrpSpPr>
          <p:grpSpPr bwMode="auto">
            <a:xfrm>
              <a:off x="2338" y="3382"/>
              <a:ext cx="869" cy="218"/>
              <a:chOff x="1976" y="2813"/>
              <a:chExt cx="869" cy="218"/>
            </a:xfrm>
          </p:grpSpPr>
          <p:sp>
            <p:nvSpPr>
              <p:cNvPr id="108581" name="Rectangle 63"/>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chemeClr val="folHlink"/>
                    </a:solidFill>
                    <a:ea typeface="宋体" panose="02010600030101010101" pitchFamily="2" charset="-122"/>
                  </a:rPr>
                  <a:t>10</a:t>
                </a:r>
                <a:endParaRPr lang="en-US" altLang="zh-CN" sz="2000">
                  <a:ea typeface="宋体" panose="02010600030101010101" pitchFamily="2" charset="-122"/>
                </a:endParaRPr>
              </a:p>
            </p:txBody>
          </p:sp>
          <p:sp>
            <p:nvSpPr>
              <p:cNvPr id="108582" name="Line 64"/>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3" name="Line 65"/>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8565" name="Group 66"/>
            <p:cNvGrpSpPr>
              <a:grpSpLocks/>
            </p:cNvGrpSpPr>
            <p:nvPr/>
          </p:nvGrpSpPr>
          <p:grpSpPr bwMode="auto">
            <a:xfrm>
              <a:off x="1583" y="3630"/>
              <a:ext cx="869" cy="218"/>
              <a:chOff x="1976" y="2813"/>
              <a:chExt cx="869" cy="218"/>
            </a:xfrm>
          </p:grpSpPr>
          <p:sp>
            <p:nvSpPr>
              <p:cNvPr id="108578" name="Rectangle 67"/>
              <p:cNvSpPr>
                <a:spLocks noChangeArrowheads="1"/>
              </p:cNvSpPr>
              <p:nvPr/>
            </p:nvSpPr>
            <p:spPr bwMode="auto">
              <a:xfrm>
                <a:off x="2234" y="2813"/>
                <a:ext cx="611"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solidFill>
                      <a:srgbClr val="0066FF"/>
                    </a:solidFill>
                    <a:ea typeface="宋体" panose="02010600030101010101" pitchFamily="2" charset="-122"/>
                  </a:rPr>
                  <a:t>11</a:t>
                </a:r>
                <a:endParaRPr lang="en-US" altLang="zh-CN" sz="2000">
                  <a:ea typeface="宋体" panose="02010600030101010101" pitchFamily="2" charset="-122"/>
                </a:endParaRPr>
              </a:p>
            </p:txBody>
          </p:sp>
          <p:sp>
            <p:nvSpPr>
              <p:cNvPr id="108579" name="Line 68"/>
              <p:cNvSpPr>
                <a:spLocks noChangeShapeType="1"/>
              </p:cNvSpPr>
              <p:nvPr/>
            </p:nvSpPr>
            <p:spPr bwMode="auto">
              <a:xfrm>
                <a:off x="2555" y="2813"/>
                <a:ext cx="0" cy="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8580" name="Line 69"/>
              <p:cNvSpPr>
                <a:spLocks noChangeShapeType="1"/>
              </p:cNvSpPr>
              <p:nvPr/>
            </p:nvSpPr>
            <p:spPr bwMode="auto">
              <a:xfrm>
                <a:off x="1976" y="2927"/>
                <a:ext cx="25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8566" name="Text Box 70"/>
            <p:cNvSpPr txBox="1">
              <a:spLocks noChangeArrowheads="1"/>
            </p:cNvSpPr>
            <p:nvPr/>
          </p:nvSpPr>
          <p:spPr bwMode="auto">
            <a:xfrm>
              <a:off x="1362" y="184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67" name="Text Box 71"/>
            <p:cNvSpPr txBox="1">
              <a:spLocks noChangeArrowheads="1"/>
            </p:cNvSpPr>
            <p:nvPr/>
          </p:nvSpPr>
          <p:spPr bwMode="auto">
            <a:xfrm>
              <a:off x="1362" y="221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68" name="Text Box 72"/>
            <p:cNvSpPr txBox="1">
              <a:spLocks noChangeArrowheads="1"/>
            </p:cNvSpPr>
            <p:nvPr/>
          </p:nvSpPr>
          <p:spPr bwMode="auto">
            <a:xfrm>
              <a:off x="1362" y="2423"/>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69" name="Text Box 73"/>
            <p:cNvSpPr txBox="1">
              <a:spLocks noChangeArrowheads="1"/>
            </p:cNvSpPr>
            <p:nvPr/>
          </p:nvSpPr>
          <p:spPr bwMode="auto">
            <a:xfrm>
              <a:off x="1362" y="303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0" name="Text Box 74"/>
            <p:cNvSpPr txBox="1">
              <a:spLocks noChangeArrowheads="1"/>
            </p:cNvSpPr>
            <p:nvPr/>
          </p:nvSpPr>
          <p:spPr bwMode="auto">
            <a:xfrm>
              <a:off x="1362" y="3231"/>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1" name="Text Box 75"/>
            <p:cNvSpPr txBox="1">
              <a:spLocks noChangeArrowheads="1"/>
            </p:cNvSpPr>
            <p:nvPr/>
          </p:nvSpPr>
          <p:spPr bwMode="auto">
            <a:xfrm>
              <a:off x="1362" y="3810"/>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2" name="Text Box 76"/>
            <p:cNvSpPr txBox="1">
              <a:spLocks noChangeArrowheads="1"/>
            </p:cNvSpPr>
            <p:nvPr/>
          </p:nvSpPr>
          <p:spPr bwMode="auto">
            <a:xfrm>
              <a:off x="4497" y="1616"/>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3" name="Text Box 77"/>
            <p:cNvSpPr txBox="1">
              <a:spLocks noChangeArrowheads="1"/>
            </p:cNvSpPr>
            <p:nvPr/>
          </p:nvSpPr>
          <p:spPr bwMode="auto">
            <a:xfrm>
              <a:off x="2967" y="2010"/>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4" name="Text Box 78"/>
            <p:cNvSpPr txBox="1">
              <a:spLocks noChangeArrowheads="1"/>
            </p:cNvSpPr>
            <p:nvPr/>
          </p:nvSpPr>
          <p:spPr bwMode="auto">
            <a:xfrm>
              <a:off x="2956" y="2599"/>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5" name="Text Box 79"/>
            <p:cNvSpPr txBox="1">
              <a:spLocks noChangeArrowheads="1"/>
            </p:cNvSpPr>
            <p:nvPr/>
          </p:nvSpPr>
          <p:spPr bwMode="auto">
            <a:xfrm>
              <a:off x="2201" y="2868"/>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6" name="Text Box 80"/>
            <p:cNvSpPr txBox="1">
              <a:spLocks noChangeArrowheads="1"/>
            </p:cNvSpPr>
            <p:nvPr/>
          </p:nvSpPr>
          <p:spPr bwMode="auto">
            <a:xfrm>
              <a:off x="2956" y="337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sp>
          <p:nvSpPr>
            <p:cNvPr id="108577" name="Text Box 81"/>
            <p:cNvSpPr txBox="1">
              <a:spLocks noChangeArrowheads="1"/>
            </p:cNvSpPr>
            <p:nvPr/>
          </p:nvSpPr>
          <p:spPr bwMode="auto">
            <a:xfrm>
              <a:off x="2211" y="3624"/>
              <a:ext cx="20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sz="2000">
                  <a:ea typeface="宋体" panose="02010600030101010101" pitchFamily="2" charset="-122"/>
                </a:rPr>
                <a:t>^</a:t>
              </a:r>
            </a:p>
          </p:txBody>
        </p:sp>
      </p:grpSp>
      <p:sp>
        <p:nvSpPr>
          <p:cNvPr id="1028178" name="Text Box 82"/>
          <p:cNvSpPr txBox="1">
            <a:spLocks noChangeArrowheads="1"/>
          </p:cNvSpPr>
          <p:nvPr/>
        </p:nvSpPr>
        <p:spPr bwMode="auto">
          <a:xfrm>
            <a:off x="3913188" y="615950"/>
            <a:ext cx="4629150" cy="519113"/>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a:solidFill>
                  <a:srgbClr val="FF3300"/>
                </a:solidFill>
                <a:ea typeface="宋体" panose="02010600030101010101" pitchFamily="2" charset="-122"/>
              </a:rPr>
              <a:t>ASL=(1*6+2*4+3+4)/12=1.75</a:t>
            </a:r>
          </a:p>
        </p:txBody>
      </p:sp>
      <p:sp>
        <p:nvSpPr>
          <p:cNvPr id="1028179" name="Rectangle 83"/>
          <p:cNvSpPr>
            <a:spLocks noChangeArrowheads="1"/>
          </p:cNvSpPr>
          <p:nvPr/>
        </p:nvSpPr>
        <p:spPr bwMode="auto">
          <a:xfrm>
            <a:off x="4025900" y="1281113"/>
            <a:ext cx="4738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sz="2000"/>
              <a:t>关键字</a:t>
            </a:r>
            <a:r>
              <a:rPr lang="en-US" altLang="zh-CN" sz="2000">
                <a:ea typeface="宋体" panose="02010600030101010101" pitchFamily="2" charset="-122"/>
              </a:rPr>
              <a:t>(19,14,23,1,68,20,84,27,55,11,10,79)</a:t>
            </a:r>
          </a:p>
        </p:txBody>
      </p:sp>
      <p:sp>
        <p:nvSpPr>
          <p:cNvPr id="108550" name="Rectangle 84"/>
          <p:cNvSpPr>
            <a:spLocks noChangeArrowheads="1"/>
          </p:cNvSpPr>
          <p:nvPr/>
        </p:nvSpPr>
        <p:spPr bwMode="auto">
          <a:xfrm>
            <a:off x="3779838" y="8731"/>
            <a:ext cx="324326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哈希表的查找</a:t>
            </a:r>
          </a:p>
        </p:txBody>
      </p:sp>
      <p:sp>
        <p:nvSpPr>
          <p:cNvPr id="3" name="文本框 2">
            <a:extLst>
              <a:ext uri="{FF2B5EF4-FFF2-40B4-BE49-F238E27FC236}">
                <a16:creationId xmlns:a16="http://schemas.microsoft.com/office/drawing/2014/main" id="{85FB7D00-72AE-201A-5884-CAAF768EA46A}"/>
              </a:ext>
            </a:extLst>
          </p:cNvPr>
          <p:cNvSpPr txBox="1"/>
          <p:nvPr/>
        </p:nvSpPr>
        <p:spPr>
          <a:xfrm>
            <a:off x="4716016" y="2996952"/>
            <a:ext cx="4248472" cy="523220"/>
          </a:xfrm>
          <a:prstGeom prst="rect">
            <a:avLst/>
          </a:prstGeom>
          <a:noFill/>
        </p:spPr>
        <p:txBody>
          <a:bodyPr wrap="square" rtlCol="0">
            <a:spAutoFit/>
          </a:bodyPr>
          <a:lstStyle/>
          <a:p>
            <a:r>
              <a:rPr lang="zh-CN" altLang="en-US" dirty="0">
                <a:highlight>
                  <a:srgbClr val="00FF00"/>
                </a:highlight>
              </a:rPr>
              <a:t>第</a:t>
            </a:r>
            <a:r>
              <a:rPr lang="en-US" altLang="zh-CN" dirty="0" err="1">
                <a:highlight>
                  <a:srgbClr val="00FF00"/>
                </a:highlight>
              </a:rPr>
              <a:t>i</a:t>
            </a:r>
            <a:r>
              <a:rPr lang="zh-CN" altLang="en-US" dirty="0">
                <a:highlight>
                  <a:srgbClr val="00FF00"/>
                </a:highlight>
              </a:rPr>
              <a:t>列的元素查找次数为</a:t>
            </a:r>
            <a:r>
              <a:rPr lang="en-US" altLang="zh-CN" dirty="0" err="1">
                <a:highlight>
                  <a:srgbClr val="00FF00"/>
                </a:highlight>
              </a:rPr>
              <a:t>i</a:t>
            </a:r>
            <a:endParaRPr lang="zh-CN" altLang="en-US" dirty="0">
              <a:highlight>
                <a:srgbClr val="00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028179">
                                            <p:txEl>
                                              <p:pRg st="0" end="0"/>
                                            </p:txEl>
                                          </p:spTgt>
                                        </p:tgtEl>
                                        <p:attrNameLst>
                                          <p:attrName>style.visibility</p:attrName>
                                        </p:attrNameLst>
                                      </p:cBhvr>
                                      <p:to>
                                        <p:strVal val="visible"/>
                                      </p:to>
                                    </p:set>
                                    <p:animEffect transition="in" filter="box(out)">
                                      <p:cBhvr>
                                        <p:cTn id="7" dur="500"/>
                                        <p:tgtEl>
                                          <p:spTgt spid="1028179">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028100">
                                            <p:txEl>
                                              <p:pRg st="0" end="0"/>
                                            </p:txEl>
                                          </p:spTgt>
                                        </p:tgtEl>
                                        <p:attrNameLst>
                                          <p:attrName>style.visibility</p:attrName>
                                        </p:attrNameLst>
                                      </p:cBhvr>
                                      <p:to>
                                        <p:strVal val="visible"/>
                                      </p:to>
                                    </p:set>
                                    <p:anim calcmode="lin" valueType="num">
                                      <p:cBhvr additive="base">
                                        <p:cTn id="12" dur="500" fill="hold"/>
                                        <p:tgtEl>
                                          <p:spTgt spid="1028100">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28100">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3" name="WHOOSH.WAV"/>
                                        </p:tgtEl>
                                      </p:cMediaNode>
                                    </p:audio>
                                  </p:sub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028178"/>
                                        </p:tgtEl>
                                        <p:attrNameLst>
                                          <p:attrName>style.visibility</p:attrName>
                                        </p:attrNameLst>
                                      </p:cBhvr>
                                      <p:to>
                                        <p:strVal val="visible"/>
                                      </p:to>
                                    </p:set>
                                    <p:animEffect transition="in" filter="box(in)">
                                      <p:cBhvr>
                                        <p:cTn id="24" dur="500"/>
                                        <p:tgtEl>
                                          <p:spTgt spid="1028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100" grpId="0" build="p"/>
      <p:bldP spid="1028178" grpId="0" animBg="1"/>
      <p:bldP spid="1028179"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4"/>
          <p:cNvSpPr txBox="1">
            <a:spLocks noChangeArrowheads="1"/>
          </p:cNvSpPr>
          <p:nvPr/>
        </p:nvSpPr>
        <p:spPr bwMode="auto">
          <a:xfrm>
            <a:off x="1331913" y="1844675"/>
            <a:ext cx="3384550" cy="519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a:solidFill>
                  <a:srgbClr val="FF3300"/>
                </a:solidFill>
                <a:latin typeface="楷体_GB2312"/>
              </a:rPr>
              <a:t>无序表查找</a:t>
            </a:r>
            <a:r>
              <a:rPr lang="en-US" altLang="zh-CN">
                <a:solidFill>
                  <a:srgbClr val="FF3300"/>
                </a:solidFill>
                <a:latin typeface="楷体_GB2312"/>
              </a:rPr>
              <a:t>ASL?</a:t>
            </a:r>
          </a:p>
        </p:txBody>
      </p:sp>
      <p:sp>
        <p:nvSpPr>
          <p:cNvPr id="109571" name="Rectangle 5"/>
          <p:cNvSpPr>
            <a:spLocks noChangeArrowheads="1"/>
          </p:cNvSpPr>
          <p:nvPr/>
        </p:nvSpPr>
        <p:spPr bwMode="auto">
          <a:xfrm>
            <a:off x="1116013" y="784225"/>
            <a:ext cx="65611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a:t>关键字</a:t>
            </a:r>
            <a:r>
              <a:rPr lang="en-US" altLang="zh-CN">
                <a:ea typeface="宋体" panose="02010600030101010101" pitchFamily="2" charset="-122"/>
              </a:rPr>
              <a:t>(19,14,23,1,68,20,84,27,55,11,10,79)</a:t>
            </a:r>
          </a:p>
        </p:txBody>
      </p:sp>
      <p:sp>
        <p:nvSpPr>
          <p:cNvPr id="109572" name="Text Box 6"/>
          <p:cNvSpPr txBox="1">
            <a:spLocks noChangeArrowheads="1"/>
          </p:cNvSpPr>
          <p:nvPr/>
        </p:nvSpPr>
        <p:spPr bwMode="auto">
          <a:xfrm>
            <a:off x="1331913" y="2924175"/>
            <a:ext cx="3384550" cy="519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zh-CN" altLang="en-US">
                <a:solidFill>
                  <a:srgbClr val="FF3300"/>
                </a:solidFill>
                <a:latin typeface="楷体_GB2312"/>
              </a:rPr>
              <a:t>有序表折半查找</a:t>
            </a:r>
            <a:r>
              <a:rPr lang="en-US" altLang="zh-CN">
                <a:solidFill>
                  <a:srgbClr val="FF3300"/>
                </a:solidFill>
                <a:latin typeface="楷体_GB2312"/>
              </a:rPr>
              <a:t>ASL?</a:t>
            </a:r>
          </a:p>
        </p:txBody>
      </p:sp>
      <p:sp>
        <p:nvSpPr>
          <p:cNvPr id="109573" name="Rectangle 7"/>
          <p:cNvSpPr>
            <a:spLocks noChangeArrowheads="1"/>
          </p:cNvSpPr>
          <p:nvPr/>
        </p:nvSpPr>
        <p:spPr bwMode="auto">
          <a:xfrm>
            <a:off x="3851920" y="9525"/>
            <a:ext cx="324326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思考</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63" name="Rectangle 23"/>
          <p:cNvSpPr>
            <a:spLocks noChangeArrowheads="1"/>
          </p:cNvSpPr>
          <p:nvPr/>
        </p:nvSpPr>
        <p:spPr bwMode="auto">
          <a:xfrm>
            <a:off x="304800" y="1054100"/>
            <a:ext cx="84963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a:defRPr sz="2800" b="1">
                <a:solidFill>
                  <a:schemeClr val="tx1"/>
                </a:solidFill>
                <a:latin typeface="Times New Roman" panose="02020603050405020304" pitchFamily="18" charset="0"/>
                <a:ea typeface="楷体_GB2312"/>
                <a:cs typeface="楷体_GB2312"/>
              </a:defRPr>
            </a:lvl5pPr>
            <a:lvl6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spcBef>
                <a:spcPct val="20000"/>
              </a:spcBef>
              <a:buFont typeface="Arial" panose="020B0604020202020204" pitchFamily="34" charset="0"/>
              <a:buNone/>
            </a:pPr>
            <a:r>
              <a:rPr lang="zh-CN" altLang="en-US" dirty="0">
                <a:latin typeface="楷体_GB2312"/>
              </a:rPr>
              <a:t>使用平均查找长度</a:t>
            </a:r>
            <a:r>
              <a:rPr lang="en-US" altLang="zh-CN" dirty="0">
                <a:solidFill>
                  <a:srgbClr val="FF3300"/>
                </a:solidFill>
                <a:latin typeface="楷体_GB2312"/>
              </a:rPr>
              <a:t>ASL</a:t>
            </a:r>
            <a:r>
              <a:rPr lang="zh-CN" altLang="en-US" dirty="0">
                <a:solidFill>
                  <a:srgbClr val="FF3300"/>
                </a:solidFill>
                <a:latin typeface="楷体_GB2312"/>
              </a:rPr>
              <a:t>来衡量查找算法，</a:t>
            </a:r>
            <a:r>
              <a:rPr lang="en-US" altLang="zh-CN" dirty="0">
                <a:solidFill>
                  <a:srgbClr val="FF3300"/>
                </a:solidFill>
                <a:latin typeface="楷体_GB2312"/>
              </a:rPr>
              <a:t>ASL</a:t>
            </a:r>
            <a:r>
              <a:rPr lang="zh-CN" altLang="en-US" dirty="0">
                <a:solidFill>
                  <a:srgbClr val="FF3300"/>
                </a:solidFill>
                <a:latin typeface="楷体_GB2312"/>
              </a:rPr>
              <a:t>取决于</a:t>
            </a:r>
            <a:endParaRPr lang="zh-CN" altLang="en-US" dirty="0">
              <a:latin typeface="楷体_GB2312"/>
            </a:endParaRPr>
          </a:p>
          <a:p>
            <a:pPr lvl="4">
              <a:spcBef>
                <a:spcPct val="20000"/>
              </a:spcBef>
              <a:buClr>
                <a:srgbClr val="FF3300"/>
              </a:buClr>
              <a:buFont typeface="Wingdings" panose="05000000000000000000" pitchFamily="2" charset="2"/>
              <a:buChar char="ü"/>
            </a:pPr>
            <a:r>
              <a:rPr lang="zh-CN" altLang="en-US" dirty="0">
                <a:solidFill>
                  <a:schemeClr val="hlink"/>
                </a:solidFill>
                <a:latin typeface="楷体_GB2312"/>
              </a:rPr>
              <a:t>　　哈希函数</a:t>
            </a:r>
          </a:p>
          <a:p>
            <a:pPr lvl="4">
              <a:spcBef>
                <a:spcPct val="20000"/>
              </a:spcBef>
              <a:buClr>
                <a:srgbClr val="FF3300"/>
              </a:buClr>
              <a:buFont typeface="Wingdings" panose="05000000000000000000" pitchFamily="2" charset="2"/>
              <a:buChar char="ü"/>
            </a:pPr>
            <a:r>
              <a:rPr lang="zh-CN" altLang="en-US" dirty="0">
                <a:solidFill>
                  <a:schemeClr val="hlink"/>
                </a:solidFill>
                <a:latin typeface="楷体_GB2312"/>
              </a:rPr>
              <a:t>　　处理冲突的方法</a:t>
            </a:r>
          </a:p>
          <a:p>
            <a:pPr lvl="4">
              <a:spcBef>
                <a:spcPct val="20000"/>
              </a:spcBef>
              <a:buClr>
                <a:srgbClr val="FF3300"/>
              </a:buClr>
              <a:buFont typeface="Wingdings" panose="05000000000000000000" pitchFamily="2" charset="2"/>
              <a:buChar char="ü"/>
            </a:pPr>
            <a:r>
              <a:rPr lang="zh-CN" altLang="en-US" dirty="0">
                <a:latin typeface="楷体_GB2312"/>
              </a:rPr>
              <a:t>　　</a:t>
            </a:r>
            <a:r>
              <a:rPr lang="zh-CN" altLang="en-US" dirty="0">
                <a:solidFill>
                  <a:schemeClr val="hlink"/>
                </a:solidFill>
                <a:highlight>
                  <a:srgbClr val="00FF00"/>
                </a:highlight>
                <a:latin typeface="楷体_GB2312"/>
              </a:rPr>
              <a:t>哈希表的装填因子</a:t>
            </a:r>
          </a:p>
        </p:txBody>
      </p:sp>
      <p:graphicFrame>
        <p:nvGraphicFramePr>
          <p:cNvPr id="752664" name="Object 24"/>
          <p:cNvGraphicFramePr>
            <a:graphicFrameLocks/>
          </p:cNvGraphicFramePr>
          <p:nvPr/>
        </p:nvGraphicFramePr>
        <p:xfrm>
          <a:off x="4356100" y="3097213"/>
          <a:ext cx="4267200" cy="1123950"/>
        </p:xfrm>
        <a:graphic>
          <a:graphicData uri="http://schemas.openxmlformats.org/presentationml/2006/ole">
            <mc:AlternateContent xmlns:mc="http://schemas.openxmlformats.org/markup-compatibility/2006">
              <mc:Choice xmlns:v="urn:schemas-microsoft-com:vml" Requires="v">
                <p:oleObj r:id="rId2" imgW="1205454" imgH="317225" progId="Equation.3">
                  <p:embed/>
                </p:oleObj>
              </mc:Choice>
              <mc:Fallback>
                <p:oleObj r:id="rId2" imgW="1205454" imgH="317225" progId="Equation.3">
                  <p:embed/>
                  <p:pic>
                    <p:nvPicPr>
                      <p:cNvPr id="752664" name="Object 2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6100" y="3097213"/>
                        <a:ext cx="4267200" cy="1123950"/>
                      </a:xfrm>
                      <a:prstGeom prst="rect">
                        <a:avLst/>
                      </a:prstGeom>
                      <a:solidFill>
                        <a:srgbClr val="FF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0596" name="Rectangle 25"/>
          <p:cNvSpPr>
            <a:spLocks noChangeArrowheads="1"/>
          </p:cNvSpPr>
          <p:nvPr/>
        </p:nvSpPr>
        <p:spPr bwMode="auto">
          <a:xfrm>
            <a:off x="3372644" y="9525"/>
            <a:ext cx="47482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哈希表的查找效率分析</a:t>
            </a:r>
          </a:p>
        </p:txBody>
      </p:sp>
      <p:sp>
        <p:nvSpPr>
          <p:cNvPr id="752666" name="AutoShape 26"/>
          <p:cNvSpPr>
            <a:spLocks noChangeArrowheads="1"/>
          </p:cNvSpPr>
          <p:nvPr/>
        </p:nvSpPr>
        <p:spPr bwMode="auto">
          <a:xfrm>
            <a:off x="304800" y="4221163"/>
            <a:ext cx="6769100" cy="1693862"/>
          </a:xfrm>
          <a:prstGeom prst="wedgeRoundRectCallout">
            <a:avLst>
              <a:gd name="adj1" fmla="val -13861"/>
              <a:gd name="adj2" fmla="val -90019"/>
              <a:gd name="adj3" fmla="val 16667"/>
            </a:avLst>
          </a:prstGeom>
          <a:solidFill>
            <a:srgbClr val="CCFFCC"/>
          </a:solidFill>
          <a:ln w="9525">
            <a:solidFill>
              <a:srgbClr val="FF6600"/>
            </a:solidFill>
            <a:miter lim="800000"/>
            <a:headEnd/>
            <a:tailEnd/>
          </a:ln>
        </p:spPr>
        <p:txBody>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buFont typeface="Arial" panose="020B0604020202020204" pitchFamily="34" charset="0"/>
              <a:buNone/>
            </a:pPr>
            <a:r>
              <a:rPr lang="en-US" altLang="zh-CN" dirty="0">
                <a:solidFill>
                  <a:schemeClr val="tx2"/>
                </a:solidFill>
                <a:latin typeface="楷体_GB2312"/>
                <a:sym typeface="Symbol" panose="05050102010706020507" pitchFamily="18" charset="2"/>
              </a:rPr>
              <a:t> </a:t>
            </a:r>
            <a:r>
              <a:rPr lang="zh-CN" altLang="en-US" dirty="0">
                <a:solidFill>
                  <a:schemeClr val="tx2"/>
                </a:solidFill>
                <a:latin typeface="楷体_GB2312"/>
              </a:rPr>
              <a:t>越大，</a:t>
            </a:r>
            <a:r>
              <a:rPr lang="zh-CN" altLang="en-US" dirty="0">
                <a:solidFill>
                  <a:schemeClr val="tx2"/>
                </a:solidFill>
                <a:highlight>
                  <a:srgbClr val="00FF00"/>
                </a:highlight>
                <a:latin typeface="楷体_GB2312"/>
              </a:rPr>
              <a:t>表中记录数越多，说明表装得越满，发生冲突的可能性就越大，查找时比较次数就越多。</a:t>
            </a:r>
          </a:p>
        </p:txBody>
      </p:sp>
      <p:sp>
        <p:nvSpPr>
          <p:cNvPr id="752667" name="AutoShape 27"/>
          <p:cNvSpPr>
            <a:spLocks noChangeArrowheads="1"/>
          </p:cNvSpPr>
          <p:nvPr/>
        </p:nvSpPr>
        <p:spPr bwMode="auto">
          <a:xfrm>
            <a:off x="6940550" y="1756569"/>
            <a:ext cx="1682750" cy="1076325"/>
          </a:xfrm>
          <a:prstGeom prst="cloudCallout">
            <a:avLst>
              <a:gd name="adj1" fmla="val -150000"/>
              <a:gd name="adj2" fmla="val 26106"/>
            </a:avLst>
          </a:pr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lgn="ctr">
              <a:spcBef>
                <a:spcPct val="20000"/>
              </a:spcBef>
              <a:buFont typeface="Arial" panose="020B0604020202020204" pitchFamily="34" charset="0"/>
              <a:buNone/>
            </a:pPr>
            <a:r>
              <a:rPr lang="en-US" altLang="zh-CN" dirty="0">
                <a:solidFill>
                  <a:srgbClr val="FF3300"/>
                </a:solidFill>
              </a:rPr>
              <a:t>O(1)?</a:t>
            </a:r>
          </a:p>
        </p:txBody>
      </p:sp>
    </p:spTree>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52667"/>
                                        </p:tgtEl>
                                        <p:attrNameLst>
                                          <p:attrName>style.visibility</p:attrName>
                                        </p:attrNameLst>
                                      </p:cBhvr>
                                      <p:to>
                                        <p:strVal val="visible"/>
                                      </p:to>
                                    </p:set>
                                    <p:anim calcmode="lin" valueType="num">
                                      <p:cBhvr additive="base">
                                        <p:cTn id="7" dur="500" fill="hold"/>
                                        <p:tgtEl>
                                          <p:spTgt spid="752667"/>
                                        </p:tgtEl>
                                        <p:attrNameLst>
                                          <p:attrName>ppt_x</p:attrName>
                                        </p:attrNameLst>
                                      </p:cBhvr>
                                      <p:tavLst>
                                        <p:tav tm="0">
                                          <p:val>
                                            <p:strVal val="#ppt_x"/>
                                          </p:val>
                                        </p:tav>
                                        <p:tav tm="100000">
                                          <p:val>
                                            <p:strVal val="#ppt_x"/>
                                          </p:val>
                                        </p:tav>
                                      </p:tavLst>
                                    </p:anim>
                                    <p:anim calcmode="lin" valueType="num">
                                      <p:cBhvr additive="base">
                                        <p:cTn id="8" dur="500" fill="hold"/>
                                        <p:tgtEl>
                                          <p:spTgt spid="75266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752663">
                                            <p:txEl>
                                              <p:pRg st="0" end="0"/>
                                            </p:txEl>
                                          </p:spTgt>
                                        </p:tgtEl>
                                        <p:attrNameLst>
                                          <p:attrName>style.visibility</p:attrName>
                                        </p:attrNameLst>
                                      </p:cBhvr>
                                      <p:to>
                                        <p:strVal val="visible"/>
                                      </p:to>
                                    </p:set>
                                    <p:animEffect transition="in" filter="box(in)">
                                      <p:cBhvr>
                                        <p:cTn id="13" dur="500"/>
                                        <p:tgtEl>
                                          <p:spTgt spid="752663">
                                            <p:txEl>
                                              <p:pRg st="0" end="0"/>
                                            </p:txEl>
                                          </p:spTgt>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752663">
                                            <p:txEl>
                                              <p:pRg st="1" end="1"/>
                                            </p:txEl>
                                          </p:spTgt>
                                        </p:tgtEl>
                                        <p:attrNameLst>
                                          <p:attrName>style.visibility</p:attrName>
                                        </p:attrNameLst>
                                      </p:cBhvr>
                                      <p:to>
                                        <p:strVal val="visible"/>
                                      </p:to>
                                    </p:set>
                                    <p:animEffect transition="in" filter="box(in)">
                                      <p:cBhvr>
                                        <p:cTn id="16" dur="500"/>
                                        <p:tgtEl>
                                          <p:spTgt spid="752663">
                                            <p:txEl>
                                              <p:pRg st="1" end="1"/>
                                            </p:txEl>
                                          </p:spTgt>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752663">
                                            <p:txEl>
                                              <p:pRg st="2" end="2"/>
                                            </p:txEl>
                                          </p:spTgt>
                                        </p:tgtEl>
                                        <p:attrNameLst>
                                          <p:attrName>style.visibility</p:attrName>
                                        </p:attrNameLst>
                                      </p:cBhvr>
                                      <p:to>
                                        <p:strVal val="visible"/>
                                      </p:to>
                                    </p:set>
                                    <p:animEffect transition="in" filter="box(in)">
                                      <p:cBhvr>
                                        <p:cTn id="19" dur="500"/>
                                        <p:tgtEl>
                                          <p:spTgt spid="752663">
                                            <p:txEl>
                                              <p:pRg st="2" end="2"/>
                                            </p:txEl>
                                          </p:spTgt>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752663">
                                            <p:txEl>
                                              <p:pRg st="3" end="3"/>
                                            </p:txEl>
                                          </p:spTgt>
                                        </p:tgtEl>
                                        <p:attrNameLst>
                                          <p:attrName>style.visibility</p:attrName>
                                        </p:attrNameLst>
                                      </p:cBhvr>
                                      <p:to>
                                        <p:strVal val="visible"/>
                                      </p:to>
                                    </p:set>
                                    <p:animEffect transition="in" filter="box(in)">
                                      <p:cBhvr>
                                        <p:cTn id="22" dur="500"/>
                                        <p:tgtEl>
                                          <p:spTgt spid="7526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52664"/>
                                        </p:tgtEl>
                                        <p:attrNameLst>
                                          <p:attrName>style.visibility</p:attrName>
                                        </p:attrNameLst>
                                      </p:cBhvr>
                                      <p:to>
                                        <p:strVal val="visible"/>
                                      </p:to>
                                    </p:set>
                                    <p:animEffect transition="in" filter="box(in)">
                                      <p:cBhvr>
                                        <p:cTn id="27" dur="500"/>
                                        <p:tgtEl>
                                          <p:spTgt spid="7526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iterate type="lt">
                                    <p:tmAbs val="75"/>
                                  </p:iterate>
                                  <p:childTnLst>
                                    <p:set>
                                      <p:cBhvr>
                                        <p:cTn id="31" dur="1" fill="hold">
                                          <p:stCondLst>
                                            <p:cond delay="74"/>
                                          </p:stCondLst>
                                        </p:cTn>
                                        <p:tgtEl>
                                          <p:spTgt spid="752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2663" grpId="0" build="p"/>
      <p:bldP spid="752666" grpId="0" animBg="1"/>
      <p:bldP spid="75266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052" name="Object 4"/>
          <p:cNvGraphicFramePr>
            <a:graphicFrameLocks noGrp="1"/>
          </p:cNvGraphicFramePr>
          <p:nvPr>
            <p:ph/>
          </p:nvPr>
        </p:nvGraphicFramePr>
        <p:xfrm>
          <a:off x="900113" y="1628775"/>
          <a:ext cx="6767512" cy="3024188"/>
        </p:xfrm>
        <a:graphic>
          <a:graphicData uri="http://schemas.openxmlformats.org/presentationml/2006/ole">
            <mc:AlternateContent xmlns:mc="http://schemas.openxmlformats.org/markup-compatibility/2006">
              <mc:Choice xmlns:v="urn:schemas-microsoft-com:vml" Requires="v">
                <p:oleObj r:id="rId2" imgW="1866090" imgH="812447" progId="Equation.3">
                  <p:embed/>
                </p:oleObj>
              </mc:Choice>
              <mc:Fallback>
                <p:oleObj r:id="rId2" imgW="1866090" imgH="812447" progId="Equation.3">
                  <p:embed/>
                  <p:pic>
                    <p:nvPicPr>
                      <p:cNvPr id="1026052"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628775"/>
                        <a:ext cx="6767512" cy="3024188"/>
                      </a:xfrm>
                      <a:prstGeom prst="rect">
                        <a:avLst/>
                      </a:prstGeom>
                      <a:solidFill>
                        <a:srgbClr val="CCFFCC"/>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1619" name="Rectangle 6"/>
          <p:cNvSpPr>
            <a:spLocks noChangeArrowheads="1"/>
          </p:cNvSpPr>
          <p:nvPr/>
        </p:nvSpPr>
        <p:spPr bwMode="auto">
          <a:xfrm>
            <a:off x="209550" y="722313"/>
            <a:ext cx="9155070" cy="62863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342900" indent="-342900">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eaLnBrk="1" hangingPunct="1">
              <a:lnSpc>
                <a:spcPct val="140000"/>
              </a:lnSpc>
              <a:spcBef>
                <a:spcPct val="20000"/>
              </a:spcBef>
              <a:buFont typeface="Arial" panose="020B0604020202020204" pitchFamily="34" charset="0"/>
              <a:buNone/>
            </a:pPr>
            <a:r>
              <a:rPr lang="en-US" altLang="zh-CN" dirty="0">
                <a:latin typeface="楷体_GB2312"/>
              </a:rPr>
              <a:t>ASL</a:t>
            </a:r>
            <a:r>
              <a:rPr lang="zh-CN" altLang="en-US" dirty="0">
                <a:latin typeface="楷体_GB2312"/>
              </a:rPr>
              <a:t>与装填因子</a:t>
            </a:r>
            <a:r>
              <a:rPr lang="zh-CN" altLang="en-US" dirty="0">
                <a:highlight>
                  <a:srgbClr val="00FF00"/>
                </a:highlight>
                <a:latin typeface="楷体_GB2312"/>
                <a:sym typeface="Symbol" panose="05050102010706020507" pitchFamily="18" charset="2"/>
              </a:rPr>
              <a:t></a:t>
            </a:r>
            <a:r>
              <a:rPr lang="zh-CN" altLang="en-US" dirty="0">
                <a:latin typeface="楷体_GB2312"/>
                <a:sym typeface="Symbol" panose="05050102010706020507" pitchFamily="18" charset="2"/>
              </a:rPr>
              <a:t>有关！</a:t>
            </a:r>
            <a:r>
              <a:rPr lang="zh-CN" altLang="en-US" dirty="0">
                <a:highlight>
                  <a:srgbClr val="00FF00"/>
                </a:highlight>
                <a:latin typeface="楷体_GB2312"/>
                <a:sym typeface="Symbol" panose="05050102010706020507" pitchFamily="18" charset="2"/>
              </a:rPr>
              <a:t>既不是严格的</a:t>
            </a:r>
            <a:r>
              <a:rPr lang="en-US" altLang="zh-CN" dirty="0">
                <a:highlight>
                  <a:srgbClr val="00FF00"/>
                </a:highlight>
                <a:latin typeface="楷体_GB2312"/>
                <a:sym typeface="Symbol" panose="05050102010706020507" pitchFamily="18" charset="2"/>
              </a:rPr>
              <a:t>O(1)</a:t>
            </a:r>
            <a:r>
              <a:rPr lang="zh-CN" altLang="en-US" dirty="0">
                <a:highlight>
                  <a:srgbClr val="00FF00"/>
                </a:highlight>
                <a:latin typeface="楷体_GB2312"/>
                <a:sym typeface="Symbol" panose="05050102010706020507" pitchFamily="18" charset="2"/>
              </a:rPr>
              <a:t>，也不是</a:t>
            </a:r>
            <a:r>
              <a:rPr lang="en-US" altLang="zh-CN" dirty="0">
                <a:highlight>
                  <a:srgbClr val="00FF00"/>
                </a:highlight>
                <a:latin typeface="楷体_GB2312"/>
                <a:sym typeface="Symbol" panose="05050102010706020507" pitchFamily="18" charset="2"/>
              </a:rPr>
              <a:t>O(n)</a:t>
            </a:r>
          </a:p>
        </p:txBody>
      </p:sp>
      <p:sp>
        <p:nvSpPr>
          <p:cNvPr id="111620" name="Rectangle 8"/>
          <p:cNvSpPr>
            <a:spLocks noChangeArrowheads="1"/>
          </p:cNvSpPr>
          <p:nvPr/>
        </p:nvSpPr>
        <p:spPr bwMode="auto">
          <a:xfrm>
            <a:off x="3491880" y="28575"/>
            <a:ext cx="47482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dirty="0">
                <a:latin typeface="楷体_GB2312"/>
              </a:rPr>
              <a:t>哈希表的查找效率分析 要掌握</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37579B7C-9EAA-AF95-F0C5-3EDD6D2BB167}"/>
                  </a:ext>
                </a:extLst>
              </p14:cNvPr>
              <p14:cNvContentPartPr/>
              <p14:nvPr/>
            </p14:nvContentPartPr>
            <p14:xfrm>
              <a:off x="2086298" y="2105771"/>
              <a:ext cx="902880" cy="432720"/>
            </p14:xfrm>
          </p:contentPart>
        </mc:Choice>
        <mc:Fallback xmlns="">
          <p:pic>
            <p:nvPicPr>
              <p:cNvPr id="2" name="墨迹 1">
                <a:extLst>
                  <a:ext uri="{FF2B5EF4-FFF2-40B4-BE49-F238E27FC236}">
                    <a16:creationId xmlns:a16="http://schemas.microsoft.com/office/drawing/2014/main" id="{37579B7C-9EAA-AF95-F0C5-3EDD6D2BB167}"/>
                  </a:ext>
                </a:extLst>
              </p:cNvPr>
              <p:cNvPicPr/>
              <p:nvPr/>
            </p:nvPicPr>
            <p:blipFill>
              <a:blip r:embed="rId5"/>
              <a:stretch>
                <a:fillRect/>
              </a:stretch>
            </p:blipFill>
            <p:spPr>
              <a:xfrm>
                <a:off x="2032658" y="1997771"/>
                <a:ext cx="1010520" cy="648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3A306E35-BA47-7FAD-FFD4-80E878591A26}"/>
                  </a:ext>
                </a:extLst>
              </p14:cNvPr>
              <p14:cNvContentPartPr/>
              <p14:nvPr/>
            </p14:nvContentPartPr>
            <p14:xfrm>
              <a:off x="2119418" y="3150131"/>
              <a:ext cx="1815120" cy="57600"/>
            </p14:xfrm>
          </p:contentPart>
        </mc:Choice>
        <mc:Fallback xmlns="">
          <p:pic>
            <p:nvPicPr>
              <p:cNvPr id="3" name="墨迹 2">
                <a:extLst>
                  <a:ext uri="{FF2B5EF4-FFF2-40B4-BE49-F238E27FC236}">
                    <a16:creationId xmlns:a16="http://schemas.microsoft.com/office/drawing/2014/main" id="{3A306E35-BA47-7FAD-FFD4-80E878591A26}"/>
                  </a:ext>
                </a:extLst>
              </p:cNvPr>
              <p:cNvPicPr/>
              <p:nvPr/>
            </p:nvPicPr>
            <p:blipFill>
              <a:blip r:embed="rId7"/>
              <a:stretch>
                <a:fillRect/>
              </a:stretch>
            </p:blipFill>
            <p:spPr>
              <a:xfrm>
                <a:off x="2065778" y="3042131"/>
                <a:ext cx="192276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墨迹 3">
                <a:extLst>
                  <a:ext uri="{FF2B5EF4-FFF2-40B4-BE49-F238E27FC236}">
                    <a16:creationId xmlns:a16="http://schemas.microsoft.com/office/drawing/2014/main" id="{D6E8FE49-2709-C9E1-A8A0-BD64887A2DDF}"/>
                  </a:ext>
                </a:extLst>
              </p14:cNvPr>
              <p14:cNvContentPartPr/>
              <p14:nvPr/>
            </p14:nvContentPartPr>
            <p14:xfrm>
              <a:off x="2258018" y="4128251"/>
              <a:ext cx="2059200" cy="57240"/>
            </p14:xfrm>
          </p:contentPart>
        </mc:Choice>
        <mc:Fallback xmlns="">
          <p:pic>
            <p:nvPicPr>
              <p:cNvPr id="4" name="墨迹 3">
                <a:extLst>
                  <a:ext uri="{FF2B5EF4-FFF2-40B4-BE49-F238E27FC236}">
                    <a16:creationId xmlns:a16="http://schemas.microsoft.com/office/drawing/2014/main" id="{D6E8FE49-2709-C9E1-A8A0-BD64887A2DDF}"/>
                  </a:ext>
                </a:extLst>
              </p:cNvPr>
              <p:cNvPicPr/>
              <p:nvPr/>
            </p:nvPicPr>
            <p:blipFill>
              <a:blip r:embed="rId9"/>
              <a:stretch>
                <a:fillRect/>
              </a:stretch>
            </p:blipFill>
            <p:spPr>
              <a:xfrm>
                <a:off x="2204378" y="4020611"/>
                <a:ext cx="2166840" cy="272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26052"/>
                                        </p:tgtEl>
                                        <p:attrNameLst>
                                          <p:attrName>style.visibility</p:attrName>
                                        </p:attrNameLst>
                                      </p:cBhvr>
                                      <p:to>
                                        <p:strVal val="visible"/>
                                      </p:to>
                                    </p:set>
                                    <p:animEffect transition="in" filter="dissolve">
                                      <p:cBhvr>
                                        <p:cTn id="7" dur="500"/>
                                        <p:tgtEl>
                                          <p:spTgt spid="1026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5"/>
          <p:cNvSpPr>
            <a:spLocks noChangeArrowheads="1"/>
          </p:cNvSpPr>
          <p:nvPr/>
        </p:nvSpPr>
        <p:spPr bwMode="auto">
          <a:xfrm>
            <a:off x="323850" y="1052513"/>
            <a:ext cx="844073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spcBef>
                <a:spcPct val="20000"/>
              </a:spcBef>
              <a:buClr>
                <a:schemeClr val="accent2"/>
              </a:buClr>
              <a:buFont typeface="Wingdings" panose="05000000000000000000" pitchFamily="2" charset="2"/>
              <a:buChar char="p"/>
            </a:pPr>
            <a:r>
              <a:rPr lang="zh-CN" altLang="en-US" sz="3200"/>
              <a:t>对哈希表技术具</a:t>
            </a:r>
            <a:r>
              <a:rPr lang="zh-CN" altLang="en-US" sz="3200">
                <a:solidFill>
                  <a:schemeClr val="tx2"/>
                </a:solidFill>
              </a:rPr>
              <a:t>有</a:t>
            </a:r>
            <a:r>
              <a:rPr lang="zh-CN" altLang="en-US" sz="3200">
                <a:solidFill>
                  <a:srgbClr val="FF3300"/>
                </a:solidFill>
              </a:rPr>
              <a:t>很好的平均性能</a:t>
            </a:r>
            <a:r>
              <a:rPr lang="zh-CN" altLang="en-US" sz="3200"/>
              <a:t>，</a:t>
            </a:r>
            <a:r>
              <a:rPr lang="zh-CN" altLang="en-US" sz="3200">
                <a:solidFill>
                  <a:schemeClr val="tx2"/>
                </a:solidFill>
              </a:rPr>
              <a:t>优于一些传统的技术</a:t>
            </a:r>
          </a:p>
          <a:p>
            <a:pPr>
              <a:spcBef>
                <a:spcPct val="20000"/>
              </a:spcBef>
              <a:buClr>
                <a:schemeClr val="accent2"/>
              </a:buClr>
              <a:buFont typeface="Wingdings" panose="05000000000000000000" pitchFamily="2" charset="2"/>
              <a:buChar char="p"/>
            </a:pPr>
            <a:r>
              <a:rPr lang="zh-CN" altLang="en-US" sz="3200">
                <a:solidFill>
                  <a:srgbClr val="FF3300"/>
                </a:solidFill>
              </a:rPr>
              <a:t>链地址法</a:t>
            </a:r>
            <a:r>
              <a:rPr lang="zh-CN" altLang="en-US" sz="3200"/>
              <a:t>优于开地址法</a:t>
            </a:r>
          </a:p>
          <a:p>
            <a:pPr>
              <a:spcBef>
                <a:spcPct val="20000"/>
              </a:spcBef>
              <a:buClr>
                <a:schemeClr val="accent2"/>
              </a:buClr>
              <a:buFont typeface="Wingdings" panose="05000000000000000000" pitchFamily="2" charset="2"/>
              <a:buChar char="p"/>
            </a:pPr>
            <a:r>
              <a:rPr lang="zh-CN" altLang="en-US" sz="3200">
                <a:solidFill>
                  <a:srgbClr val="FF3300"/>
                </a:solidFill>
              </a:rPr>
              <a:t>除留余数法</a:t>
            </a:r>
            <a:r>
              <a:rPr lang="zh-CN" altLang="en-US" sz="3200"/>
              <a:t>作哈希函数优于其它类型函数</a:t>
            </a:r>
          </a:p>
          <a:p>
            <a:pPr>
              <a:spcBef>
                <a:spcPct val="20000"/>
              </a:spcBef>
              <a:buClr>
                <a:schemeClr val="accent2"/>
              </a:buClr>
              <a:buFont typeface="Wingdings" panose="05000000000000000000" pitchFamily="2" charset="2"/>
              <a:buChar char="p"/>
            </a:pPr>
            <a:endParaRPr lang="en-US" altLang="zh-CN" sz="3200">
              <a:solidFill>
                <a:schemeClr val="tx2"/>
              </a:solidFill>
            </a:endParaRPr>
          </a:p>
        </p:txBody>
      </p:sp>
      <p:sp>
        <p:nvSpPr>
          <p:cNvPr id="112643" name="Rectangle 6"/>
          <p:cNvSpPr>
            <a:spLocks noChangeArrowheads="1"/>
          </p:cNvSpPr>
          <p:nvPr/>
        </p:nvSpPr>
        <p:spPr bwMode="auto">
          <a:xfrm>
            <a:off x="3635896" y="19050"/>
            <a:ext cx="4748212" cy="5159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800" b="1">
                <a:solidFill>
                  <a:schemeClr val="tx1"/>
                </a:solidFill>
                <a:latin typeface="Times New Roman" panose="02020603050405020304" pitchFamily="18" charset="0"/>
                <a:ea typeface="楷体_GB2312"/>
                <a:cs typeface="楷体_GB2312"/>
              </a:defRPr>
            </a:lvl1pPr>
            <a:lvl2pPr marL="742950" indent="-285750">
              <a:defRPr sz="2800" b="1">
                <a:solidFill>
                  <a:schemeClr val="tx1"/>
                </a:solidFill>
                <a:latin typeface="Times New Roman" panose="02020603050405020304" pitchFamily="18" charset="0"/>
                <a:ea typeface="楷体_GB2312"/>
                <a:cs typeface="楷体_GB2312"/>
              </a:defRPr>
            </a:lvl2pPr>
            <a:lvl3pPr marL="1143000" indent="-228600">
              <a:defRPr sz="2800" b="1">
                <a:solidFill>
                  <a:schemeClr val="tx1"/>
                </a:solidFill>
                <a:latin typeface="Times New Roman" panose="02020603050405020304" pitchFamily="18" charset="0"/>
                <a:ea typeface="楷体_GB2312"/>
                <a:cs typeface="楷体_GB2312"/>
              </a:defRPr>
            </a:lvl3pPr>
            <a:lvl4pPr marL="1600200" indent="-228600">
              <a:defRPr sz="2800" b="1">
                <a:solidFill>
                  <a:schemeClr val="tx1"/>
                </a:solidFill>
                <a:latin typeface="Times New Roman" panose="02020603050405020304" pitchFamily="18" charset="0"/>
                <a:ea typeface="楷体_GB2312"/>
                <a:cs typeface="楷体_GB2312"/>
              </a:defRPr>
            </a:lvl4pPr>
            <a:lvl5pPr marL="2057400" indent="-228600">
              <a:defRPr sz="2800" b="1">
                <a:solidFill>
                  <a:schemeClr val="tx1"/>
                </a:solidFill>
                <a:latin typeface="Times New Roman" panose="02020603050405020304" pitchFamily="18" charset="0"/>
                <a:ea typeface="楷体_GB2312"/>
                <a:cs typeface="楷体_GB231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楷体_GB2312"/>
                <a:cs typeface="楷体_GB2312"/>
              </a:defRPr>
            </a:lvl9pPr>
          </a:lstStyle>
          <a:p>
            <a:pPr>
              <a:buFont typeface="Arial" panose="020B0604020202020204" pitchFamily="34" charset="0"/>
              <a:buNone/>
            </a:pPr>
            <a:r>
              <a:rPr lang="zh-CN" altLang="en-US" sz="2400">
                <a:latin typeface="楷体_GB2312"/>
              </a:rPr>
              <a:t>几点结论</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M2MjJlYmI3NmRjNjQ5OTI3YWIwMjUzMDA1Mjk3NTkifQ=="/>
</p:tagLst>
</file>

<file path=ppt/theme/theme1.xml><?xml version="1.0" encoding="utf-8"?>
<a:theme xmlns:a="http://schemas.openxmlformats.org/drawingml/2006/main" name="默认设计模板">
  <a:themeElements>
    <a:clrScheme name="">
      <a:dk1>
        <a:srgbClr val="000000"/>
      </a:dk1>
      <a:lt1>
        <a:srgbClr val="FEFFFF"/>
      </a:lt1>
      <a:dk2>
        <a:srgbClr val="000000"/>
      </a:dk2>
      <a:lt2>
        <a:srgbClr val="969696"/>
      </a:lt2>
      <a:accent1>
        <a:srgbClr val="00CC99"/>
      </a:accent1>
      <a:accent2>
        <a:srgbClr val="3333CC"/>
      </a:accent2>
      <a:accent3>
        <a:srgbClr val="FEFFFF"/>
      </a:accent3>
      <a:accent4>
        <a:srgbClr val="000000"/>
      </a:accent4>
      <a:accent5>
        <a:srgbClr val="AAE2CA"/>
      </a:accent5>
      <a:accent6>
        <a:srgbClr val="2D2DB9"/>
      </a:accent6>
      <a:hlink>
        <a:srgbClr val="0000FF"/>
      </a:hlink>
      <a:folHlink>
        <a:srgbClr val="003366"/>
      </a:folHlink>
    </a:clrScheme>
    <a:fontScheme name="默认设计模板">
      <a:majorFont>
        <a:latin typeface="Times New Roman"/>
        <a:ea typeface="仿宋_GB2312"/>
        <a:cs typeface=""/>
      </a:majorFont>
      <a:minorFont>
        <a:latin typeface="Times New Roman"/>
        <a:ea typeface="仿宋_GB2312"/>
        <a:cs typeface=""/>
      </a:minorFont>
    </a:fontScheme>
    <a:fmtScheme name="光面">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0" fontAlgn="base" latinLnBrk="0" hangingPunct="0">
          <a:lnSpc>
            <a:spcPct val="100000"/>
          </a:lnSpc>
          <a:spcBef>
            <a:spcPct val="20000"/>
          </a:spcBef>
          <a:spcAft>
            <a:spcPct val="0"/>
          </a:spcAft>
          <a:buClrTx/>
          <a:buSzTx/>
          <a:buFontTx/>
          <a:buNone/>
          <a:defRPr kumimoji="1" lang="zh-CN" altLang="en-US" sz="2800" b="1" i="0" u="none" strike="noStrike" cap="none" normalizeH="0" baseline="0" smtClean="0">
            <a:ln>
              <a:noFill/>
            </a:ln>
            <a:solidFill>
              <a:schemeClr val="tx1"/>
            </a:solidFill>
            <a:effectLst/>
            <a:latin typeface="Times New Roman" panose="02020603050405020304" pitchFamily="18" charset="0"/>
            <a:ea typeface="楷体_GB2312" pitchFamily="49" charset="-122"/>
          </a:defRPr>
        </a:defPPr>
      </a:lstStyle>
    </a:lnDef>
  </a:objectDefaults>
  <a:extraClrSchemeLst>
    <a:extraClrScheme>
      <a:clrScheme name="默认设计模板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862</TotalTime>
  <Words>5247</Words>
  <Application>Microsoft Office PowerPoint</Application>
  <PresentationFormat>全屏显示(4:3)</PresentationFormat>
  <Paragraphs>832</Paragraphs>
  <Slides>74</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74</vt:i4>
      </vt:variant>
    </vt:vector>
  </HeadingPairs>
  <TitlesOfParts>
    <vt:vector size="90" baseType="lpstr">
      <vt:lpstr>Helvetica Neue</vt:lpstr>
      <vt:lpstr>仿宋_GB2312</vt:lpstr>
      <vt:lpstr>黑体</vt:lpstr>
      <vt:lpstr>华光黑体_CNKI</vt:lpstr>
      <vt:lpstr>华光楷体二_CNKI</vt:lpstr>
      <vt:lpstr>华文楷体</vt:lpstr>
      <vt:lpstr>华文行楷</vt:lpstr>
      <vt:lpstr>楷体_GB2312</vt:lpstr>
      <vt:lpstr>宋体</vt:lpstr>
      <vt:lpstr>Arial</vt:lpstr>
      <vt:lpstr>Symbol</vt:lpstr>
      <vt:lpstr>Times New Roman</vt:lpstr>
      <vt:lpstr>Wingdings</vt:lpstr>
      <vt:lpstr>默认设计模板</vt:lpstr>
      <vt:lpstr>Equation.3</vt:lpstr>
      <vt:lpstr>Photoshop.Image.5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树表的概念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bjfu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cyuyan</dc:title>
  <dc:creator>lidongmei</dc:creator>
  <cp:lastModifiedBy>744311194@qq.com</cp:lastModifiedBy>
  <cp:revision>1242</cp:revision>
  <dcterms:created xsi:type="dcterms:W3CDTF">1996-07-15T15:40:02Z</dcterms:created>
  <dcterms:modified xsi:type="dcterms:W3CDTF">2025-04-21T15:48:34Z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CC48CD4DB7474CAAA464323B64F0C57E</vt:lpwstr>
  </property>
</Properties>
</file>