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6" r:id="rId5"/>
    <p:sldId id="259" r:id="rId6"/>
    <p:sldId id="274" r:id="rId7"/>
    <p:sldId id="278" r:id="rId8"/>
    <p:sldId id="279" r:id="rId9"/>
    <p:sldId id="269" r:id="rId10"/>
    <p:sldId id="277" r:id="rId11"/>
    <p:sldId id="272" r:id="rId12"/>
    <p:sldId id="281" r:id="rId13"/>
    <p:sldId id="280" r:id="rId14"/>
    <p:sldId id="268" r:id="rId15"/>
    <p:sldId id="263" r:id="rId16"/>
    <p:sldId id="28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BD971-21EF-417E-AC9C-C07ED37CFB5C}" v="42" dt="2026-06-18T03:20:10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custSel addSld modSld modMainMaster">
      <pc:chgData name="744311194@qq.com" userId="e2a28223f2085f4b" providerId="LiveId" clId="{93EAE7B5-FDEE-48D0-B65C-03455E3B8632}" dt="2026-06-18T03:20:18.661" v="167" actId="552"/>
      <pc:docMkLst>
        <pc:docMk/>
      </pc:docMkLst>
      <pc:sldChg chg="delSp">
        <pc:chgData name="744311194@qq.com" userId="e2a28223f2085f4b" providerId="LiveId" clId="{93EAE7B5-FDEE-48D0-B65C-03455E3B8632}" dt="2026-06-17T16:05:46.431" v="13" actId="478"/>
        <pc:sldMkLst>
          <pc:docMk/>
          <pc:sldMk cId="1318040796" sldId="259"/>
        </pc:sldMkLst>
        <pc:spChg chg="del">
          <ac:chgData name="744311194@qq.com" userId="e2a28223f2085f4b" providerId="LiveId" clId="{93EAE7B5-FDEE-48D0-B65C-03455E3B8632}" dt="2026-06-17T16:05:46.431" v="13" actId="478"/>
          <ac:spMkLst>
            <pc:docMk/>
            <pc:sldMk cId="1318040796" sldId="259"/>
            <ac:spMk id="3" creationId="{00000000-0000-0000-0000-000000000000}"/>
          </ac:spMkLst>
        </pc:spChg>
        <pc:spChg chg="del">
          <ac:chgData name="744311194@qq.com" userId="e2a28223f2085f4b" providerId="LiveId" clId="{93EAE7B5-FDEE-48D0-B65C-03455E3B8632}" dt="2026-06-17T16:05:41.450" v="12" actId="478"/>
          <ac:spMkLst>
            <pc:docMk/>
            <pc:sldMk cId="1318040796" sldId="259"/>
            <ac:spMk id="6" creationId="{00000000-0000-0000-0000-000000000000}"/>
          </ac:spMkLst>
        </pc:spChg>
        <pc:spChg chg="del">
          <ac:chgData name="744311194@qq.com" userId="e2a28223f2085f4b" providerId="LiveId" clId="{93EAE7B5-FDEE-48D0-B65C-03455E3B8632}" dt="2026-06-17T16:05:39.250" v="11" actId="478"/>
          <ac:spMkLst>
            <pc:docMk/>
            <pc:sldMk cId="1318040796" sldId="259"/>
            <ac:spMk id="9" creationId="{00000000-0000-0000-0000-000000000000}"/>
          </ac:spMkLst>
        </pc:spChg>
      </pc:sldChg>
      <pc:sldChg chg="addSp delSp modSp mod">
        <pc:chgData name="744311194@qq.com" userId="e2a28223f2085f4b" providerId="LiveId" clId="{93EAE7B5-FDEE-48D0-B65C-03455E3B8632}" dt="2026-06-18T03:10:35.211" v="22" actId="478"/>
        <pc:sldMkLst>
          <pc:docMk/>
          <pc:sldMk cId="3210835689" sldId="269"/>
        </pc:sldMkLst>
        <pc:picChg chg="add del mod">
          <ac:chgData name="744311194@qq.com" userId="e2a28223f2085f4b" providerId="LiveId" clId="{93EAE7B5-FDEE-48D0-B65C-03455E3B8632}" dt="2026-06-18T03:10:35.211" v="22" actId="478"/>
          <ac:picMkLst>
            <pc:docMk/>
            <pc:sldMk cId="3210835689" sldId="269"/>
            <ac:picMk id="8" creationId="{FA05882A-E5F8-D376-ECBA-4B2ACC5E4885}"/>
          </ac:picMkLst>
        </pc:picChg>
      </pc:sldChg>
      <pc:sldChg chg="modSp">
        <pc:chgData name="744311194@qq.com" userId="e2a28223f2085f4b" providerId="LiveId" clId="{93EAE7B5-FDEE-48D0-B65C-03455E3B8632}" dt="2026-06-17T16:09:03.319" v="14" actId="14100"/>
        <pc:sldMkLst>
          <pc:docMk/>
          <pc:sldMk cId="90941575" sldId="274"/>
        </pc:sldMkLst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4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8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18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20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22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23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24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25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31" creationId="{00000000-0000-0000-0000-000000000000}"/>
          </ac:spMkLst>
        </pc:spChg>
        <pc:spChg chg="mod">
          <ac:chgData name="744311194@qq.com" userId="e2a28223f2085f4b" providerId="LiveId" clId="{93EAE7B5-FDEE-48D0-B65C-03455E3B8632}" dt="2026-06-17T16:09:03.319" v="14" actId="14100"/>
          <ac:spMkLst>
            <pc:docMk/>
            <pc:sldMk cId="90941575" sldId="274"/>
            <ac:spMk id="37" creationId="{00000000-0000-0000-0000-000000000000}"/>
          </ac:spMkLst>
        </pc:spChg>
      </pc:sldChg>
      <pc:sldChg chg="modSp mod setBg">
        <pc:chgData name="744311194@qq.com" userId="e2a28223f2085f4b" providerId="LiveId" clId="{93EAE7B5-FDEE-48D0-B65C-03455E3B8632}" dt="2026-06-17T15:59:05.527" v="10" actId="1076"/>
        <pc:sldMkLst>
          <pc:docMk/>
          <pc:sldMk cId="1008926785" sldId="275"/>
        </pc:sldMkLst>
        <pc:spChg chg="mod">
          <ac:chgData name="744311194@qq.com" userId="e2a28223f2085f4b" providerId="LiveId" clId="{93EAE7B5-FDEE-48D0-B65C-03455E3B8632}" dt="2026-06-17T15:59:05.527" v="10" actId="1076"/>
          <ac:spMkLst>
            <pc:docMk/>
            <pc:sldMk cId="1008926785" sldId="275"/>
            <ac:spMk id="109" creationId="{00000000-0000-0000-0000-000000000000}"/>
          </ac:spMkLst>
        </pc:spChg>
      </pc:sldChg>
      <pc:sldChg chg="addSp delSp modSp add mod">
        <pc:chgData name="744311194@qq.com" userId="e2a28223f2085f4b" providerId="LiveId" clId="{93EAE7B5-FDEE-48D0-B65C-03455E3B8632}" dt="2026-06-18T03:20:18.661" v="167" actId="552"/>
        <pc:sldMkLst>
          <pc:docMk/>
          <pc:sldMk cId="3007908796" sldId="282"/>
        </pc:sldMkLst>
        <pc:spChg chg="del">
          <ac:chgData name="744311194@qq.com" userId="e2a28223f2085f4b" providerId="LiveId" clId="{93EAE7B5-FDEE-48D0-B65C-03455E3B8632}" dt="2026-06-18T03:09:58.109" v="18" actId="478"/>
          <ac:spMkLst>
            <pc:docMk/>
            <pc:sldMk cId="3007908796" sldId="282"/>
            <ac:spMk id="2" creationId="{0B8F5673-8E97-8CFB-C5B5-7489C4688C12}"/>
          </ac:spMkLst>
        </pc:spChg>
        <pc:spChg chg="del">
          <ac:chgData name="744311194@qq.com" userId="e2a28223f2085f4b" providerId="LiveId" clId="{93EAE7B5-FDEE-48D0-B65C-03455E3B8632}" dt="2026-06-18T03:10:03.087" v="19" actId="478"/>
          <ac:spMkLst>
            <pc:docMk/>
            <pc:sldMk cId="3007908796" sldId="282"/>
            <ac:spMk id="4" creationId="{B6668252-6A1C-6105-3F91-2A39F3945F5E}"/>
          </ac:spMkLst>
        </pc:spChg>
        <pc:spChg chg="del">
          <ac:chgData name="744311194@qq.com" userId="e2a28223f2085f4b" providerId="LiveId" clId="{93EAE7B5-FDEE-48D0-B65C-03455E3B8632}" dt="2026-06-18T03:10:03.087" v="19" actId="478"/>
          <ac:spMkLst>
            <pc:docMk/>
            <pc:sldMk cId="3007908796" sldId="282"/>
            <ac:spMk id="6" creationId="{F33C18BD-AE0A-0039-4AA6-0E62344F3E17}"/>
          </ac:spMkLst>
        </pc:spChg>
        <pc:spChg chg="add del mod">
          <ac:chgData name="744311194@qq.com" userId="e2a28223f2085f4b" providerId="LiveId" clId="{93EAE7B5-FDEE-48D0-B65C-03455E3B8632}" dt="2026-06-18T03:19:58.414" v="159" actId="1076"/>
          <ac:spMkLst>
            <pc:docMk/>
            <pc:sldMk cId="3007908796" sldId="282"/>
            <ac:spMk id="9" creationId="{DD9401C6-9075-99CC-6E83-1AF4F4883318}"/>
          </ac:spMkLst>
        </pc:spChg>
        <pc:spChg chg="add mod">
          <ac:chgData name="744311194@qq.com" userId="e2a28223f2085f4b" providerId="LiveId" clId="{93EAE7B5-FDEE-48D0-B65C-03455E3B8632}" dt="2026-06-18T03:13:08.318" v="50" actId="13822"/>
          <ac:spMkLst>
            <pc:docMk/>
            <pc:sldMk cId="3007908796" sldId="282"/>
            <ac:spMk id="17" creationId="{A0928FAF-407D-2A4A-2608-657EFB5AA1A3}"/>
          </ac:spMkLst>
        </pc:spChg>
        <pc:spChg chg="add mod">
          <ac:chgData name="744311194@qq.com" userId="e2a28223f2085f4b" providerId="LiveId" clId="{93EAE7B5-FDEE-48D0-B65C-03455E3B8632}" dt="2026-06-18T03:13:13.212" v="52" actId="1076"/>
          <ac:spMkLst>
            <pc:docMk/>
            <pc:sldMk cId="3007908796" sldId="282"/>
            <ac:spMk id="18" creationId="{B20BA623-E74D-CB4C-9ECE-D869D336AF20}"/>
          </ac:spMkLst>
        </pc:spChg>
        <pc:spChg chg="add mod">
          <ac:chgData name="744311194@qq.com" userId="e2a28223f2085f4b" providerId="LiveId" clId="{93EAE7B5-FDEE-48D0-B65C-03455E3B8632}" dt="2026-06-18T03:13:20.337" v="54" actId="1076"/>
          <ac:spMkLst>
            <pc:docMk/>
            <pc:sldMk cId="3007908796" sldId="282"/>
            <ac:spMk id="19" creationId="{2E61E771-EB5A-C4CA-08AB-A2A4EBD77E61}"/>
          </ac:spMkLst>
        </pc:spChg>
        <pc:spChg chg="add mod">
          <ac:chgData name="744311194@qq.com" userId="e2a28223f2085f4b" providerId="LiveId" clId="{93EAE7B5-FDEE-48D0-B65C-03455E3B8632}" dt="2026-06-18T03:14:42.487" v="69" actId="1076"/>
          <ac:spMkLst>
            <pc:docMk/>
            <pc:sldMk cId="3007908796" sldId="282"/>
            <ac:spMk id="25" creationId="{C33A9098-EB1E-2903-6423-27AB97766F16}"/>
          </ac:spMkLst>
        </pc:spChg>
        <pc:spChg chg="add mod">
          <ac:chgData name="744311194@qq.com" userId="e2a28223f2085f4b" providerId="LiveId" clId="{93EAE7B5-FDEE-48D0-B65C-03455E3B8632}" dt="2026-06-18T03:17:28.818" v="106" actId="164"/>
          <ac:spMkLst>
            <pc:docMk/>
            <pc:sldMk cId="3007908796" sldId="282"/>
            <ac:spMk id="35" creationId="{9ECFAE86-5616-F01E-EEB8-655E8156899B}"/>
          </ac:spMkLst>
        </pc:spChg>
        <pc:spChg chg="mod">
          <ac:chgData name="744311194@qq.com" userId="e2a28223f2085f4b" providerId="LiveId" clId="{93EAE7B5-FDEE-48D0-B65C-03455E3B8632}" dt="2026-06-18T03:18:34.225" v="128" actId="14100"/>
          <ac:spMkLst>
            <pc:docMk/>
            <pc:sldMk cId="3007908796" sldId="282"/>
            <ac:spMk id="41" creationId="{AD035BB2-4FE4-CF18-C133-D81F32FC2431}"/>
          </ac:spMkLst>
        </pc:spChg>
        <pc:spChg chg="add mod">
          <ac:chgData name="744311194@qq.com" userId="e2a28223f2085f4b" providerId="LiveId" clId="{93EAE7B5-FDEE-48D0-B65C-03455E3B8632}" dt="2026-06-18T03:19:18.840" v="141" actId="1076"/>
          <ac:spMkLst>
            <pc:docMk/>
            <pc:sldMk cId="3007908796" sldId="282"/>
            <ac:spMk id="45" creationId="{A5CEEDC0-F03A-2A2C-8308-6636271A0F81}"/>
          </ac:spMkLst>
        </pc:spChg>
        <pc:spChg chg="add mod">
          <ac:chgData name="744311194@qq.com" userId="e2a28223f2085f4b" providerId="LiveId" clId="{93EAE7B5-FDEE-48D0-B65C-03455E3B8632}" dt="2026-06-18T03:20:18.661" v="167" actId="552"/>
          <ac:spMkLst>
            <pc:docMk/>
            <pc:sldMk cId="3007908796" sldId="282"/>
            <ac:spMk id="46" creationId="{F7354F05-C805-6C09-D114-7B14FD5C22A1}"/>
          </ac:spMkLst>
        </pc:spChg>
        <pc:spChg chg="add mod">
          <ac:chgData name="744311194@qq.com" userId="e2a28223f2085f4b" providerId="LiveId" clId="{93EAE7B5-FDEE-48D0-B65C-03455E3B8632}" dt="2026-06-18T03:20:18.661" v="167" actId="552"/>
          <ac:spMkLst>
            <pc:docMk/>
            <pc:sldMk cId="3007908796" sldId="282"/>
            <ac:spMk id="47" creationId="{AA7F432B-9AF5-8E93-2A93-0F371700CC84}"/>
          </ac:spMkLst>
        </pc:spChg>
        <pc:spChg chg="add mod">
          <ac:chgData name="744311194@qq.com" userId="e2a28223f2085f4b" providerId="LiveId" clId="{93EAE7B5-FDEE-48D0-B65C-03455E3B8632}" dt="2026-06-18T03:20:18.661" v="167" actId="552"/>
          <ac:spMkLst>
            <pc:docMk/>
            <pc:sldMk cId="3007908796" sldId="282"/>
            <ac:spMk id="48" creationId="{D0899788-5349-85CF-FC87-460B7ACDBC8B}"/>
          </ac:spMkLst>
        </pc:spChg>
        <pc:spChg chg="add mod">
          <ac:chgData name="744311194@qq.com" userId="e2a28223f2085f4b" providerId="LiveId" clId="{93EAE7B5-FDEE-48D0-B65C-03455E3B8632}" dt="2026-06-18T03:20:18.661" v="167" actId="552"/>
          <ac:spMkLst>
            <pc:docMk/>
            <pc:sldMk cId="3007908796" sldId="282"/>
            <ac:spMk id="49" creationId="{939DD887-6E49-96C5-8973-D41E9B2C273A}"/>
          </ac:spMkLst>
        </pc:spChg>
        <pc:grpChg chg="add mod">
          <ac:chgData name="744311194@qq.com" userId="e2a28223f2085f4b" providerId="LiveId" clId="{93EAE7B5-FDEE-48D0-B65C-03455E3B8632}" dt="2026-06-18T03:12:46.317" v="48" actId="164"/>
          <ac:grpSpMkLst>
            <pc:docMk/>
            <pc:sldMk cId="3007908796" sldId="282"/>
            <ac:grpSpMk id="16" creationId="{67575667-BD83-1E9C-9CC4-792049F35E58}"/>
          </ac:grpSpMkLst>
        </pc:grpChg>
        <pc:grpChg chg="add mod">
          <ac:chgData name="744311194@qq.com" userId="e2a28223f2085f4b" providerId="LiveId" clId="{93EAE7B5-FDEE-48D0-B65C-03455E3B8632}" dt="2026-06-18T03:18:04.663" v="118" actId="1076"/>
          <ac:grpSpMkLst>
            <pc:docMk/>
            <pc:sldMk cId="3007908796" sldId="282"/>
            <ac:grpSpMk id="38" creationId="{ADDF1A66-8AEA-3672-EB68-6B0ADF3E5E01}"/>
          </ac:grpSpMkLst>
        </pc:grpChg>
        <pc:grpChg chg="add mod">
          <ac:chgData name="744311194@qq.com" userId="e2a28223f2085f4b" providerId="LiveId" clId="{93EAE7B5-FDEE-48D0-B65C-03455E3B8632}" dt="2026-06-18T03:18:29.992" v="127" actId="1076"/>
          <ac:grpSpMkLst>
            <pc:docMk/>
            <pc:sldMk cId="3007908796" sldId="282"/>
            <ac:grpSpMk id="39" creationId="{30219654-1789-9C79-833D-CF34743B9ABE}"/>
          </ac:grpSpMkLst>
        </pc:grpChg>
        <pc:graphicFrameChg chg="del">
          <ac:chgData name="744311194@qq.com" userId="e2a28223f2085f4b" providerId="LiveId" clId="{93EAE7B5-FDEE-48D0-B65C-03455E3B8632}" dt="2026-06-18T03:10:03.087" v="19" actId="478"/>
          <ac:graphicFrameMkLst>
            <pc:docMk/>
            <pc:sldMk cId="3007908796" sldId="282"/>
            <ac:graphicFrameMk id="3" creationId="{1AD355CD-6067-94BF-E979-EC397431FAA7}"/>
          </ac:graphicFrameMkLst>
        </pc:graphicFrameChg>
        <pc:graphicFrameChg chg="del mod">
          <ac:chgData name="744311194@qq.com" userId="e2a28223f2085f4b" providerId="LiveId" clId="{93EAE7B5-FDEE-48D0-B65C-03455E3B8632}" dt="2026-06-18T03:10:58.469" v="23" actId="478"/>
          <ac:graphicFrameMkLst>
            <pc:docMk/>
            <pc:sldMk cId="3007908796" sldId="282"/>
            <ac:graphicFrameMk id="5" creationId="{1D9663EB-9C66-3C1D-39C0-BDA7B1F94C05}"/>
          </ac:graphicFrameMkLst>
        </pc:graphicFrameChg>
        <pc:graphicFrameChg chg="add mod">
          <ac:chgData name="744311194@qq.com" userId="e2a28223f2085f4b" providerId="LiveId" clId="{93EAE7B5-FDEE-48D0-B65C-03455E3B8632}" dt="2026-06-18T03:19:21.736" v="144" actId="1076"/>
          <ac:graphicFrameMkLst>
            <pc:docMk/>
            <pc:sldMk cId="3007908796" sldId="282"/>
            <ac:graphicFrameMk id="7" creationId="{4FE314BD-52B4-58EA-3E3F-538867635EA6}"/>
          </ac:graphicFrameMkLst>
        </pc:graphicFrameChg>
        <pc:cxnChg chg="add mod">
          <ac:chgData name="744311194@qq.com" userId="e2a28223f2085f4b" providerId="LiveId" clId="{93EAE7B5-FDEE-48D0-B65C-03455E3B8632}" dt="2026-06-18T03:12:46.317" v="48" actId="164"/>
          <ac:cxnSpMkLst>
            <pc:docMk/>
            <pc:sldMk cId="3007908796" sldId="282"/>
            <ac:cxnSpMk id="11" creationId="{4DE0E54C-4979-1446-3EB5-6BE6F9D014CD}"/>
          </ac:cxnSpMkLst>
        </pc:cxnChg>
        <pc:cxnChg chg="add mod">
          <ac:chgData name="744311194@qq.com" userId="e2a28223f2085f4b" providerId="LiveId" clId="{93EAE7B5-FDEE-48D0-B65C-03455E3B8632}" dt="2026-06-18T03:18:51.892" v="130" actId="1582"/>
          <ac:cxnSpMkLst>
            <pc:docMk/>
            <pc:sldMk cId="3007908796" sldId="282"/>
            <ac:cxnSpMk id="13" creationId="{3C971BA9-9CD4-6D57-3037-AC4E2EBD6564}"/>
          </ac:cxnSpMkLst>
        </pc:cxnChg>
        <pc:cxnChg chg="add mod">
          <ac:chgData name="744311194@qq.com" userId="e2a28223f2085f4b" providerId="LiveId" clId="{93EAE7B5-FDEE-48D0-B65C-03455E3B8632}" dt="2026-06-18T03:13:58.498" v="62" actId="14100"/>
          <ac:cxnSpMkLst>
            <pc:docMk/>
            <pc:sldMk cId="3007908796" sldId="282"/>
            <ac:cxnSpMk id="21" creationId="{82737969-8E57-DA71-9DD2-FB9DFB344528}"/>
          </ac:cxnSpMkLst>
        </pc:cxnChg>
        <pc:cxnChg chg="add mod">
          <ac:chgData name="744311194@qq.com" userId="e2a28223f2085f4b" providerId="LiveId" clId="{93EAE7B5-FDEE-48D0-B65C-03455E3B8632}" dt="2026-06-18T03:15:49.390" v="84" actId="1076"/>
          <ac:cxnSpMkLst>
            <pc:docMk/>
            <pc:sldMk cId="3007908796" sldId="282"/>
            <ac:cxnSpMk id="26" creationId="{ACCE70A3-7443-2378-1097-A46B000474EB}"/>
          </ac:cxnSpMkLst>
        </pc:cxnChg>
        <pc:cxnChg chg="add mod">
          <ac:chgData name="744311194@qq.com" userId="e2a28223f2085f4b" providerId="LiveId" clId="{93EAE7B5-FDEE-48D0-B65C-03455E3B8632}" dt="2026-06-18T03:16:00.270" v="88" actId="1037"/>
          <ac:cxnSpMkLst>
            <pc:docMk/>
            <pc:sldMk cId="3007908796" sldId="282"/>
            <ac:cxnSpMk id="28" creationId="{D6394D53-7AC4-9A82-08DA-E08305D6D2E1}"/>
          </ac:cxnSpMkLst>
        </pc:cxnChg>
        <pc:cxnChg chg="add mod">
          <ac:chgData name="744311194@qq.com" userId="e2a28223f2085f4b" providerId="LiveId" clId="{93EAE7B5-FDEE-48D0-B65C-03455E3B8632}" dt="2026-06-18T03:16:15.718" v="92" actId="1038"/>
          <ac:cxnSpMkLst>
            <pc:docMk/>
            <pc:sldMk cId="3007908796" sldId="282"/>
            <ac:cxnSpMk id="32" creationId="{D1F5CC92-5559-5B3A-1E94-6FC12CD65C5F}"/>
          </ac:cxnSpMkLst>
        </pc:cxnChg>
        <pc:cxnChg chg="add mod">
          <ac:chgData name="744311194@qq.com" userId="e2a28223f2085f4b" providerId="LiveId" clId="{93EAE7B5-FDEE-48D0-B65C-03455E3B8632}" dt="2026-06-18T03:17:28.818" v="106" actId="164"/>
          <ac:cxnSpMkLst>
            <pc:docMk/>
            <pc:sldMk cId="3007908796" sldId="282"/>
            <ac:cxnSpMk id="34" creationId="{F247985D-03D0-1C72-7409-B17E655675C0}"/>
          </ac:cxnSpMkLst>
        </pc:cxnChg>
        <pc:cxnChg chg="add mod">
          <ac:chgData name="744311194@qq.com" userId="e2a28223f2085f4b" providerId="LiveId" clId="{93EAE7B5-FDEE-48D0-B65C-03455E3B8632}" dt="2026-06-18T03:17:28.818" v="106" actId="164"/>
          <ac:cxnSpMkLst>
            <pc:docMk/>
            <pc:sldMk cId="3007908796" sldId="282"/>
            <ac:cxnSpMk id="37" creationId="{5A035BFA-DDE6-F8C9-27B7-F81F8596E8EF}"/>
          </ac:cxnSpMkLst>
        </pc:cxnChg>
        <pc:cxnChg chg="mod">
          <ac:chgData name="744311194@qq.com" userId="e2a28223f2085f4b" providerId="LiveId" clId="{93EAE7B5-FDEE-48D0-B65C-03455E3B8632}" dt="2026-06-18T03:17:38.326" v="110"/>
          <ac:cxnSpMkLst>
            <pc:docMk/>
            <pc:sldMk cId="3007908796" sldId="282"/>
            <ac:cxnSpMk id="40" creationId="{90A2C78A-0E09-E9B5-DCD6-EF3CE4779E98}"/>
          </ac:cxnSpMkLst>
        </pc:cxnChg>
        <pc:cxnChg chg="mod">
          <ac:chgData name="744311194@qq.com" userId="e2a28223f2085f4b" providerId="LiveId" clId="{93EAE7B5-FDEE-48D0-B65C-03455E3B8632}" dt="2026-06-18T03:18:25.879" v="126" actId="1076"/>
          <ac:cxnSpMkLst>
            <pc:docMk/>
            <pc:sldMk cId="3007908796" sldId="282"/>
            <ac:cxnSpMk id="42" creationId="{134B2E6F-9D48-A8DF-DE87-F81FC38B3D66}"/>
          </ac:cxnSpMkLst>
        </pc:cxnChg>
      </pc:sldChg>
      <pc:sldMasterChg chg="setBg modSldLayout">
        <pc:chgData name="744311194@qq.com" userId="e2a28223f2085f4b" providerId="LiveId" clId="{93EAE7B5-FDEE-48D0-B65C-03455E3B8632}" dt="2026-06-17T15:56:19.240" v="2"/>
        <pc:sldMasterMkLst>
          <pc:docMk/>
          <pc:sldMasterMk cId="2889067565" sldId="2147483648"/>
        </pc:sldMasterMkLst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975863455" sldId="2147483649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4236733570" sldId="2147483650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2565113997" sldId="2147483651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1766348433" sldId="2147483652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3425633269" sldId="2147483653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266957281" sldId="2147483654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318918898" sldId="2147483655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1663627802" sldId="2147483656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291392240" sldId="2147483657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188858091" sldId="2147483658"/>
          </pc:sldLayoutMkLst>
        </pc:sldLayoutChg>
        <pc:sldLayoutChg chg="setBg">
          <pc:chgData name="744311194@qq.com" userId="e2a28223f2085f4b" providerId="LiveId" clId="{93EAE7B5-FDEE-48D0-B65C-03455E3B8632}" dt="2026-06-17T15:56:19.240" v="2"/>
          <pc:sldLayoutMkLst>
            <pc:docMk/>
            <pc:sldMasterMk cId="2889067565" sldId="2147483648"/>
            <pc:sldLayoutMk cId="38115172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86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73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1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34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63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1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62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9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5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5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09E96-7DE1-4350-AF92-3C26085BAB0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20BE3-B8F2-4D8C-ABBF-7BA8C1DF0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06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wmf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/>
              <a:t> 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时基电路应用</a:t>
            </a:r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55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9328" y="499872"/>
            <a:ext cx="8314944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+mj-ea"/>
              <a:buAutoNum type="ea1JpnKorPlain"/>
              <a:tabLst>
                <a:tab pos="3810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实验目的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掌握集成定时器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的基本功能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了解集成定时器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的基本应用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掌握集成定时器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的基本测试及计算方法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524256" y="2723558"/>
            <a:ext cx="11484864" cy="459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45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实验原理及电路</a:t>
            </a:r>
            <a:endParaRPr kumimoji="0" lang="zh-CN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45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555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定时器的工作原理</a:t>
            </a:r>
          </a:p>
          <a:p>
            <a:pPr>
              <a:lnSpc>
                <a:spcPct val="150000"/>
              </a:lnSpc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555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定时器是模数混合集成电路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通过外加少量的阻容元件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能构成多种用途的电路。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内部有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5kΩ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的电阻分压器，故称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555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latin typeface="楷体_GB2312" pitchFamily="49" charset="-122"/>
              </a:rPr>
              <a:t> 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集成定时器分为双极型和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CMOS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两大类，双极型产品型号后的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位数字都是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CMOS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产品型号最后的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位数字都是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7555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。而且，它们的功能和外部引脚的排列完全相同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为了提高集成度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随后又生产了双定时器产品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556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（双极型）和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7556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CMOS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型）。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</a:p>
          <a:p>
            <a:pPr>
              <a:lnSpc>
                <a:spcPts val="4500"/>
              </a:lnSpc>
            </a:pPr>
            <a:endParaRPr kumimoji="1"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-9066990" y="5596128"/>
            <a:ext cx="2873258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64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7635082" y="1363314"/>
            <a:ext cx="1522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Times New Roman" panose="02020603050405020304" pitchFamily="18" charset="0"/>
              </a:rPr>
              <a:t>1.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分压器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7635082" y="1870520"/>
            <a:ext cx="1522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Times New Roman" panose="02020603050405020304" pitchFamily="18" charset="0"/>
              </a:rPr>
              <a:t>2.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比较器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7621678" y="2293588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Times New Roman" panose="02020603050405020304" pitchFamily="18" charset="0"/>
              </a:rPr>
              <a:t>3.RS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锁存器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7602152" y="2734058"/>
            <a:ext cx="2951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Times New Roman" panose="02020603050405020304" pitchFamily="18" charset="0"/>
              </a:rPr>
              <a:t>4.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三极管放电开关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7630121" y="3147664"/>
            <a:ext cx="2236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Times New Roman" panose="02020603050405020304" pitchFamily="18" charset="0"/>
              </a:rPr>
              <a:t>5.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输出缓冲器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7622379" y="871983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CC3300"/>
                </a:solidFill>
                <a:latin typeface="Times New Roman" panose="02020603050405020304" pitchFamily="18" charset="0"/>
              </a:rPr>
              <a:t>组成：</a:t>
            </a:r>
          </a:p>
        </p:txBody>
      </p:sp>
      <p:grpSp>
        <p:nvGrpSpPr>
          <p:cNvPr id="4105" name="Group 9"/>
          <p:cNvGrpSpPr>
            <a:grpSpLocks/>
          </p:cNvGrpSpPr>
          <p:nvPr/>
        </p:nvGrpSpPr>
        <p:grpSpPr bwMode="auto">
          <a:xfrm>
            <a:off x="903580" y="624031"/>
            <a:ext cx="6324601" cy="5410200"/>
            <a:chOff x="0" y="480"/>
            <a:chExt cx="3984" cy="3408"/>
          </a:xfrm>
        </p:grpSpPr>
        <p:grpSp>
          <p:nvGrpSpPr>
            <p:cNvPr id="4106" name="Group 10"/>
            <p:cNvGrpSpPr>
              <a:grpSpLocks/>
            </p:cNvGrpSpPr>
            <p:nvPr/>
          </p:nvGrpSpPr>
          <p:grpSpPr bwMode="auto">
            <a:xfrm>
              <a:off x="0" y="480"/>
              <a:ext cx="3984" cy="3408"/>
              <a:chOff x="0" y="480"/>
              <a:chExt cx="3984" cy="3408"/>
            </a:xfrm>
          </p:grpSpPr>
          <p:sp>
            <p:nvSpPr>
              <p:cNvPr id="4107" name="Text Box 11"/>
              <p:cNvSpPr txBox="1">
                <a:spLocks noChangeArrowheads="1"/>
              </p:cNvSpPr>
              <p:nvPr/>
            </p:nvSpPr>
            <p:spPr bwMode="auto">
              <a:xfrm>
                <a:off x="704" y="480"/>
                <a:ext cx="37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latin typeface="Times New Roman" panose="02020603050405020304" pitchFamily="18" charset="0"/>
                  </a:rPr>
                  <a:t>V</a:t>
                </a:r>
                <a:r>
                  <a:rPr kumimoji="1" lang="en-US" altLang="zh-CN" sz="1400">
                    <a:latin typeface="Times New Roman" panose="02020603050405020304" pitchFamily="18" charset="0"/>
                  </a:rPr>
                  <a:t>CC</a:t>
                </a:r>
              </a:p>
            </p:txBody>
          </p:sp>
          <p:grpSp>
            <p:nvGrpSpPr>
              <p:cNvPr id="4108" name="Group 12"/>
              <p:cNvGrpSpPr>
                <a:grpSpLocks/>
              </p:cNvGrpSpPr>
              <p:nvPr/>
            </p:nvGrpSpPr>
            <p:grpSpPr bwMode="auto">
              <a:xfrm>
                <a:off x="0" y="528"/>
                <a:ext cx="3984" cy="3360"/>
                <a:chOff x="0" y="672"/>
                <a:chExt cx="3984" cy="3360"/>
              </a:xfrm>
            </p:grpSpPr>
            <p:sp>
              <p:nvSpPr>
                <p:cNvPr id="4109" name="Rectangle 13"/>
                <p:cNvSpPr>
                  <a:spLocks noChangeArrowheads="1"/>
                </p:cNvSpPr>
                <p:nvPr/>
              </p:nvSpPr>
              <p:spPr bwMode="auto">
                <a:xfrm>
                  <a:off x="1221" y="1584"/>
                  <a:ext cx="480" cy="67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10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885" y="1824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1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384" y="2064"/>
                  <a:ext cx="83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1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209" y="1692"/>
                  <a:ext cx="19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411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221" y="1932"/>
                  <a:ext cx="16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-</a:t>
                  </a:r>
                </a:p>
              </p:txBody>
            </p:sp>
            <p:grpSp>
              <p:nvGrpSpPr>
                <p:cNvPr id="4114" name="Group 18"/>
                <p:cNvGrpSpPr>
                  <a:grpSpLocks/>
                </p:cNvGrpSpPr>
                <p:nvPr/>
              </p:nvGrpSpPr>
              <p:grpSpPr bwMode="auto">
                <a:xfrm>
                  <a:off x="1344" y="1536"/>
                  <a:ext cx="268" cy="233"/>
                  <a:chOff x="2352" y="2222"/>
                  <a:chExt cx="268" cy="233"/>
                </a:xfrm>
              </p:grpSpPr>
              <p:sp>
                <p:nvSpPr>
                  <p:cNvPr id="4115" name="AutoShape 1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352" y="2304"/>
                    <a:ext cx="96" cy="96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6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222"/>
                    <a:ext cx="220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kumimoji="1" lang="en-US" altLang="zh-CN">
                        <a:latin typeface="Times New Roman" panose="02020603050405020304" pitchFamily="18" charset="0"/>
                      </a:rPr>
                      <a:t>∞</a:t>
                    </a:r>
                  </a:p>
                </p:txBody>
              </p:sp>
            </p:grpSp>
            <p:sp>
              <p:nvSpPr>
                <p:cNvPr id="411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688" y="1670"/>
                  <a:ext cx="33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U</a:t>
                  </a:r>
                  <a:r>
                    <a:rPr kumimoji="1" lang="en-US" altLang="zh-CN" sz="1200">
                      <a:latin typeface="Times New Roman" panose="02020603050405020304" pitchFamily="18" charset="0"/>
                    </a:rPr>
                    <a:t>C1</a:t>
                  </a:r>
                </a:p>
              </p:txBody>
            </p:sp>
            <p:sp>
              <p:nvSpPr>
                <p:cNvPr id="411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329" y="1401"/>
                  <a:ext cx="27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C</a:t>
                  </a:r>
                  <a:r>
                    <a:rPr kumimoji="1" lang="en-US" altLang="zh-CN" sz="14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119" name="Rectangle 23"/>
                <p:cNvSpPr>
                  <a:spLocks noChangeArrowheads="1"/>
                </p:cNvSpPr>
                <p:nvPr/>
              </p:nvSpPr>
              <p:spPr bwMode="auto">
                <a:xfrm>
                  <a:off x="1221" y="2400"/>
                  <a:ext cx="480" cy="67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20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84" y="2640"/>
                  <a:ext cx="83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209" y="2508"/>
                  <a:ext cx="19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412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221" y="2748"/>
                  <a:ext cx="16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-</a:t>
                  </a:r>
                </a:p>
              </p:txBody>
            </p:sp>
            <p:grpSp>
              <p:nvGrpSpPr>
                <p:cNvPr id="4123" name="Group 27"/>
                <p:cNvGrpSpPr>
                  <a:grpSpLocks/>
                </p:cNvGrpSpPr>
                <p:nvPr/>
              </p:nvGrpSpPr>
              <p:grpSpPr bwMode="auto">
                <a:xfrm>
                  <a:off x="1344" y="2352"/>
                  <a:ext cx="268" cy="233"/>
                  <a:chOff x="2352" y="2222"/>
                  <a:chExt cx="268" cy="233"/>
                </a:xfrm>
              </p:grpSpPr>
              <p:sp>
                <p:nvSpPr>
                  <p:cNvPr id="4124" name="AutoShape 28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352" y="2304"/>
                    <a:ext cx="96" cy="96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5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222"/>
                    <a:ext cx="220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kumimoji="1" lang="en-US" altLang="zh-CN">
                        <a:latin typeface="Times New Roman" panose="02020603050405020304" pitchFamily="18" charset="0"/>
                      </a:rPr>
                      <a:t>∞</a:t>
                    </a:r>
                  </a:p>
                </p:txBody>
              </p:sp>
            </p:grpSp>
            <p:sp>
              <p:nvSpPr>
                <p:cNvPr id="4126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688" y="2486"/>
                  <a:ext cx="33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U</a:t>
                  </a:r>
                  <a:r>
                    <a:rPr kumimoji="1" lang="en-US" altLang="zh-CN" sz="1200">
                      <a:latin typeface="Times New Roman" panose="02020603050405020304" pitchFamily="18" charset="0"/>
                    </a:rPr>
                    <a:t>C2</a:t>
                  </a:r>
                </a:p>
              </p:txBody>
            </p:sp>
            <p:sp>
              <p:nvSpPr>
                <p:cNvPr id="412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329" y="2217"/>
                  <a:ext cx="27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C</a:t>
                  </a:r>
                  <a:r>
                    <a:rPr kumimoji="1" lang="en-US" altLang="zh-CN" sz="14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128" name="Rectangle 32"/>
                <p:cNvSpPr>
                  <a:spLocks noChangeArrowheads="1"/>
                </p:cNvSpPr>
                <p:nvPr/>
              </p:nvSpPr>
              <p:spPr bwMode="auto">
                <a:xfrm>
                  <a:off x="837" y="1152"/>
                  <a:ext cx="96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29" name="Rectangle 33"/>
                <p:cNvSpPr>
                  <a:spLocks noChangeArrowheads="1"/>
                </p:cNvSpPr>
                <p:nvPr/>
              </p:nvSpPr>
              <p:spPr bwMode="auto">
                <a:xfrm>
                  <a:off x="837" y="2208"/>
                  <a:ext cx="96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30" name="Rectangle 34"/>
                <p:cNvSpPr>
                  <a:spLocks noChangeArrowheads="1"/>
                </p:cNvSpPr>
                <p:nvPr/>
              </p:nvSpPr>
              <p:spPr bwMode="auto">
                <a:xfrm>
                  <a:off x="837" y="3216"/>
                  <a:ext cx="96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31" name="Line 35"/>
                <p:cNvSpPr>
                  <a:spLocks noChangeShapeType="1"/>
                </p:cNvSpPr>
                <p:nvPr/>
              </p:nvSpPr>
              <p:spPr bwMode="auto">
                <a:xfrm>
                  <a:off x="885" y="864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2" name="Line 36"/>
                <p:cNvSpPr>
                  <a:spLocks noChangeShapeType="1"/>
                </p:cNvSpPr>
                <p:nvPr/>
              </p:nvSpPr>
              <p:spPr bwMode="auto">
                <a:xfrm>
                  <a:off x="885" y="1392"/>
                  <a:ext cx="0" cy="8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3" name="Line 37"/>
                <p:cNvSpPr>
                  <a:spLocks noChangeShapeType="1"/>
                </p:cNvSpPr>
                <p:nvPr/>
              </p:nvSpPr>
              <p:spPr bwMode="auto">
                <a:xfrm>
                  <a:off x="885" y="2448"/>
                  <a:ext cx="0" cy="7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4" name="Line 38"/>
                <p:cNvSpPr>
                  <a:spLocks noChangeShapeType="1"/>
                </p:cNvSpPr>
                <p:nvPr/>
              </p:nvSpPr>
              <p:spPr bwMode="auto">
                <a:xfrm>
                  <a:off x="885" y="3456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5" name="Line 39"/>
                <p:cNvSpPr>
                  <a:spLocks noChangeShapeType="1"/>
                </p:cNvSpPr>
                <p:nvPr/>
              </p:nvSpPr>
              <p:spPr bwMode="auto">
                <a:xfrm>
                  <a:off x="789" y="4032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6" name="Line 40"/>
                <p:cNvSpPr>
                  <a:spLocks noChangeShapeType="1"/>
                </p:cNvSpPr>
                <p:nvPr/>
              </p:nvSpPr>
              <p:spPr bwMode="auto">
                <a:xfrm>
                  <a:off x="1701" y="1968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7" name="Line 41"/>
                <p:cNvSpPr>
                  <a:spLocks noChangeShapeType="1"/>
                </p:cNvSpPr>
                <p:nvPr/>
              </p:nvSpPr>
              <p:spPr bwMode="auto">
                <a:xfrm>
                  <a:off x="1701" y="2736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8" name="Rectangle 42"/>
                <p:cNvSpPr>
                  <a:spLocks noChangeArrowheads="1"/>
                </p:cNvSpPr>
                <p:nvPr/>
              </p:nvSpPr>
              <p:spPr bwMode="auto">
                <a:xfrm>
                  <a:off x="2229" y="1776"/>
                  <a:ext cx="240" cy="3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39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258" y="1776"/>
                  <a:ext cx="22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&amp;</a:t>
                  </a:r>
                </a:p>
              </p:txBody>
            </p:sp>
            <p:sp>
              <p:nvSpPr>
                <p:cNvPr id="4140" name="Oval 44"/>
                <p:cNvSpPr>
                  <a:spLocks noChangeArrowheads="1"/>
                </p:cNvSpPr>
                <p:nvPr/>
              </p:nvSpPr>
              <p:spPr bwMode="auto">
                <a:xfrm>
                  <a:off x="2469" y="1944"/>
                  <a:ext cx="48" cy="4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41" name="Rectangle 45"/>
                <p:cNvSpPr>
                  <a:spLocks noChangeArrowheads="1"/>
                </p:cNvSpPr>
                <p:nvPr/>
              </p:nvSpPr>
              <p:spPr bwMode="auto">
                <a:xfrm>
                  <a:off x="2229" y="2448"/>
                  <a:ext cx="240" cy="3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42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258" y="2448"/>
                  <a:ext cx="22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&amp;</a:t>
                  </a:r>
                </a:p>
              </p:txBody>
            </p:sp>
            <p:sp>
              <p:nvSpPr>
                <p:cNvPr id="4143" name="Oval 47"/>
                <p:cNvSpPr>
                  <a:spLocks noChangeArrowheads="1"/>
                </p:cNvSpPr>
                <p:nvPr/>
              </p:nvSpPr>
              <p:spPr bwMode="auto">
                <a:xfrm>
                  <a:off x="2469" y="2616"/>
                  <a:ext cx="48" cy="4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44" name="Line 48"/>
                <p:cNvSpPr>
                  <a:spLocks noChangeShapeType="1"/>
                </p:cNvSpPr>
                <p:nvPr/>
              </p:nvSpPr>
              <p:spPr bwMode="auto">
                <a:xfrm>
                  <a:off x="2517" y="1968"/>
                  <a:ext cx="3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5" name="Line 49"/>
                <p:cNvSpPr>
                  <a:spLocks noChangeShapeType="1"/>
                </p:cNvSpPr>
                <p:nvPr/>
              </p:nvSpPr>
              <p:spPr bwMode="auto">
                <a:xfrm>
                  <a:off x="2709" y="1968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oval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6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2085" y="2208"/>
                  <a:ext cx="624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7" name="Line 51"/>
                <p:cNvSpPr>
                  <a:spLocks noChangeShapeType="1"/>
                </p:cNvSpPr>
                <p:nvPr/>
              </p:nvSpPr>
              <p:spPr bwMode="auto">
                <a:xfrm>
                  <a:off x="2085" y="24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8" name="Line 52"/>
                <p:cNvSpPr>
                  <a:spLocks noChangeShapeType="1"/>
                </p:cNvSpPr>
                <p:nvPr/>
              </p:nvSpPr>
              <p:spPr bwMode="auto">
                <a:xfrm>
                  <a:off x="2085" y="2592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9" name="Line 53"/>
                <p:cNvSpPr>
                  <a:spLocks noChangeShapeType="1"/>
                </p:cNvSpPr>
                <p:nvPr/>
              </p:nvSpPr>
              <p:spPr bwMode="auto">
                <a:xfrm>
                  <a:off x="2517" y="2640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0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709" y="2448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1" name="Line 55"/>
                <p:cNvSpPr>
                  <a:spLocks noChangeShapeType="1"/>
                </p:cNvSpPr>
                <p:nvPr/>
              </p:nvSpPr>
              <p:spPr bwMode="auto">
                <a:xfrm flipH="1" flipV="1">
                  <a:off x="2085" y="2160"/>
                  <a:ext cx="624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2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085" y="206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3" name="Line 57"/>
                <p:cNvSpPr>
                  <a:spLocks noChangeShapeType="1"/>
                </p:cNvSpPr>
                <p:nvPr/>
              </p:nvSpPr>
              <p:spPr bwMode="auto">
                <a:xfrm>
                  <a:off x="2085" y="2064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4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2085" y="1872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5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085" y="864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6" name="Rectangle 60"/>
                <p:cNvSpPr>
                  <a:spLocks noChangeArrowheads="1"/>
                </p:cNvSpPr>
                <p:nvPr/>
              </p:nvSpPr>
              <p:spPr bwMode="auto">
                <a:xfrm>
                  <a:off x="3045" y="2112"/>
                  <a:ext cx="240" cy="3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57" name="Oval 61"/>
                <p:cNvSpPr>
                  <a:spLocks noChangeArrowheads="1"/>
                </p:cNvSpPr>
                <p:nvPr/>
              </p:nvSpPr>
              <p:spPr bwMode="auto">
                <a:xfrm>
                  <a:off x="3285" y="2256"/>
                  <a:ext cx="48" cy="4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58" name="Line 62"/>
                <p:cNvSpPr>
                  <a:spLocks noChangeShapeType="1"/>
                </p:cNvSpPr>
                <p:nvPr/>
              </p:nvSpPr>
              <p:spPr bwMode="auto">
                <a:xfrm>
                  <a:off x="3333" y="2280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9" name="Line 63"/>
                <p:cNvSpPr>
                  <a:spLocks noChangeShapeType="1"/>
                </p:cNvSpPr>
                <p:nvPr/>
              </p:nvSpPr>
              <p:spPr bwMode="auto">
                <a:xfrm>
                  <a:off x="1653" y="3600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0" name="Line 64"/>
                <p:cNvSpPr>
                  <a:spLocks noChangeShapeType="1"/>
                </p:cNvSpPr>
                <p:nvPr/>
              </p:nvSpPr>
              <p:spPr bwMode="auto">
                <a:xfrm>
                  <a:off x="1509" y="3600"/>
                  <a:ext cx="144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1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1509" y="3744"/>
                  <a:ext cx="144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2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885" y="3840"/>
                  <a:ext cx="62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3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384" y="3600"/>
                  <a:ext cx="112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4" name="Line 68"/>
                <p:cNvSpPr>
                  <a:spLocks noChangeShapeType="1"/>
                </p:cNvSpPr>
                <p:nvPr/>
              </p:nvSpPr>
              <p:spPr bwMode="auto">
                <a:xfrm>
                  <a:off x="2901" y="1968"/>
                  <a:ext cx="0" cy="17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5" name="Rectangle 69"/>
                <p:cNvSpPr>
                  <a:spLocks noChangeArrowheads="1"/>
                </p:cNvSpPr>
                <p:nvPr/>
              </p:nvSpPr>
              <p:spPr bwMode="auto">
                <a:xfrm>
                  <a:off x="2085" y="3696"/>
                  <a:ext cx="240" cy="9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66" name="Line 70"/>
                <p:cNvSpPr>
                  <a:spLocks noChangeShapeType="1"/>
                </p:cNvSpPr>
                <p:nvPr/>
              </p:nvSpPr>
              <p:spPr bwMode="auto">
                <a:xfrm>
                  <a:off x="2325" y="3744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7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1653" y="3744"/>
                  <a:ext cx="4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8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885" y="2880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9" name="Line 73"/>
                <p:cNvSpPr>
                  <a:spLocks noChangeShapeType="1"/>
                </p:cNvSpPr>
                <p:nvPr/>
              </p:nvSpPr>
              <p:spPr bwMode="auto">
                <a:xfrm>
                  <a:off x="2901" y="2304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oval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70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2517" y="2592"/>
                  <a:ext cx="26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400">
                      <a:latin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4171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2517" y="1680"/>
                  <a:ext cx="26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400">
                      <a:latin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417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3452" y="2016"/>
                  <a:ext cx="5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400">
                      <a:latin typeface="Times New Roman" panose="02020603050405020304" pitchFamily="18" charset="0"/>
                    </a:rPr>
                    <a:t>OUT</a:t>
                  </a:r>
                </a:p>
              </p:txBody>
            </p:sp>
            <p:sp>
              <p:nvSpPr>
                <p:cNvPr id="4173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902" y="1150"/>
                  <a:ext cx="37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solidFill>
                        <a:schemeClr val="accent2"/>
                      </a:solidFill>
                      <a:latin typeface="Times New Roman" panose="02020603050405020304" pitchFamily="18" charset="0"/>
                    </a:rPr>
                    <a:t>5kΩ</a:t>
                  </a:r>
                </a:p>
              </p:txBody>
            </p:sp>
            <p:sp>
              <p:nvSpPr>
                <p:cNvPr id="4174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933" y="2213"/>
                  <a:ext cx="37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solidFill>
                        <a:schemeClr val="accent2"/>
                      </a:solidFill>
                      <a:latin typeface="Times New Roman" panose="02020603050405020304" pitchFamily="18" charset="0"/>
                    </a:rPr>
                    <a:t>5kΩ</a:t>
                  </a:r>
                </a:p>
              </p:txBody>
            </p:sp>
            <p:sp>
              <p:nvSpPr>
                <p:cNvPr id="4175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933" y="3221"/>
                  <a:ext cx="37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solidFill>
                        <a:schemeClr val="accent2"/>
                      </a:solidFill>
                      <a:latin typeface="Times New Roman" panose="02020603050405020304" pitchFamily="18" charset="0"/>
                    </a:rPr>
                    <a:t>5kΩ</a:t>
                  </a:r>
                </a:p>
              </p:txBody>
            </p:sp>
            <p:sp>
              <p:nvSpPr>
                <p:cNvPr id="4176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2197" y="1526"/>
                  <a:ext cx="28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G</a:t>
                  </a:r>
                  <a:r>
                    <a:rPr kumimoji="1" lang="en-US" altLang="zh-CN" sz="16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177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2229" y="2822"/>
                  <a:ext cx="28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G</a:t>
                  </a:r>
                  <a:r>
                    <a:rPr kumimoji="1" lang="en-US" altLang="zh-CN" sz="16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17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3029" y="1862"/>
                  <a:ext cx="28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G</a:t>
                  </a:r>
                  <a:r>
                    <a:rPr kumimoji="1" lang="en-US" altLang="zh-CN" sz="160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179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3077" y="2106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180" name="Rectangle 84"/>
                <p:cNvSpPr>
                  <a:spLocks noChangeArrowheads="1"/>
                </p:cNvSpPr>
                <p:nvPr/>
              </p:nvSpPr>
              <p:spPr bwMode="auto">
                <a:xfrm>
                  <a:off x="693" y="960"/>
                  <a:ext cx="2736" cy="297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8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693" y="3772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182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693" y="3436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4183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693" y="2640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184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693" y="2064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4185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693" y="1632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4186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897" y="960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8</a:t>
                  </a:r>
                </a:p>
              </p:txBody>
            </p:sp>
            <p:sp>
              <p:nvSpPr>
                <p:cNvPr id="4187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2097" y="960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4188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3285" y="2304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60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189" name="Line 93"/>
                <p:cNvSpPr>
                  <a:spLocks noChangeShapeType="1"/>
                </p:cNvSpPr>
                <p:nvPr/>
              </p:nvSpPr>
              <p:spPr bwMode="auto">
                <a:xfrm flipH="1">
                  <a:off x="384" y="1824"/>
                  <a:ext cx="5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90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20" y="3382"/>
                  <a:ext cx="221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191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384" y="2448"/>
                  <a:ext cx="30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TR</a:t>
                  </a:r>
                </a:p>
              </p:txBody>
            </p:sp>
            <p:sp>
              <p:nvSpPr>
                <p:cNvPr id="4192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384" y="1872"/>
                  <a:ext cx="31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TH</a:t>
                  </a:r>
                </a:p>
              </p:txBody>
            </p:sp>
            <p:sp>
              <p:nvSpPr>
                <p:cNvPr id="4193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384" y="1622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CO</a:t>
                  </a:r>
                </a:p>
              </p:txBody>
            </p:sp>
            <p:sp>
              <p:nvSpPr>
                <p:cNvPr id="4194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8" y="1680"/>
                  <a:ext cx="379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1400">
                      <a:latin typeface="Times New Roman" panose="02020603050405020304" pitchFamily="18" charset="0"/>
                    </a:rPr>
                    <a:t>CO</a:t>
                  </a:r>
                </a:p>
              </p:txBody>
            </p:sp>
            <p:sp>
              <p:nvSpPr>
                <p:cNvPr id="4195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48" y="1968"/>
                  <a:ext cx="32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1600">
                      <a:latin typeface="Times New Roman" panose="02020603050405020304" pitchFamily="18" charset="0"/>
                    </a:rPr>
                    <a:t>i1</a:t>
                  </a:r>
                </a:p>
              </p:txBody>
            </p:sp>
            <p:sp>
              <p:nvSpPr>
                <p:cNvPr id="4196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48" y="2534"/>
                  <a:ext cx="32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1600">
                      <a:latin typeface="Times New Roman" panose="02020603050405020304" pitchFamily="18" charset="0"/>
                    </a:rPr>
                    <a:t>i2</a:t>
                  </a:r>
                </a:p>
              </p:txBody>
            </p:sp>
            <p:sp>
              <p:nvSpPr>
                <p:cNvPr id="4197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0" y="3494"/>
                  <a:ext cx="33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V’</a:t>
                  </a:r>
                  <a:r>
                    <a:rPr kumimoji="1" lang="en-US" altLang="zh-CN" sz="1600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4198" name="Line 102"/>
                <p:cNvSpPr>
                  <a:spLocks noChangeShapeType="1"/>
                </p:cNvSpPr>
                <p:nvPr/>
              </p:nvSpPr>
              <p:spPr bwMode="auto">
                <a:xfrm>
                  <a:off x="2568" y="1728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99" name="Line 103"/>
                <p:cNvSpPr>
                  <a:spLocks noChangeShapeType="1"/>
                </p:cNvSpPr>
                <p:nvPr/>
              </p:nvSpPr>
              <p:spPr bwMode="auto">
                <a:xfrm>
                  <a:off x="432" y="2484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0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1920" y="672"/>
                  <a:ext cx="29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R</a:t>
                  </a:r>
                  <a:r>
                    <a:rPr kumimoji="1" lang="en-US" altLang="zh-CN" sz="1400">
                      <a:latin typeface="Times New Roman" panose="02020603050405020304" pitchFamily="18" charset="0"/>
                    </a:rPr>
                    <a:t>D</a:t>
                  </a:r>
                  <a:endParaRPr kumimoji="1" lang="en-US" altLang="zh-CN" sz="9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1" name="Line 105"/>
                <p:cNvSpPr>
                  <a:spLocks noChangeShapeType="1"/>
                </p:cNvSpPr>
                <p:nvPr/>
              </p:nvSpPr>
              <p:spPr bwMode="auto">
                <a:xfrm>
                  <a:off x="1968" y="720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2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3539" y="2256"/>
                  <a:ext cx="28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1600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</p:grpSp>
          <p:sp>
            <p:nvSpPr>
              <p:cNvPr id="4203" name="Text Box 107"/>
              <p:cNvSpPr txBox="1">
                <a:spLocks noChangeArrowheads="1"/>
              </p:cNvSpPr>
              <p:nvPr/>
            </p:nvSpPr>
            <p:spPr bwMode="auto">
              <a:xfrm>
                <a:off x="3504" y="2352"/>
                <a:ext cx="11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kumimoji="1" lang="zh-CN" altLang="zh-CN" sz="32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204" name="Text Box 108"/>
            <p:cNvSpPr txBox="1">
              <a:spLocks noChangeArrowheads="1"/>
            </p:cNvSpPr>
            <p:nvPr/>
          </p:nvSpPr>
          <p:spPr bwMode="auto">
            <a:xfrm>
              <a:off x="1382" y="314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109" name="矩形 108"/>
          <p:cNvSpPr/>
          <p:nvPr/>
        </p:nvSpPr>
        <p:spPr>
          <a:xfrm>
            <a:off x="2317249" y="6400355"/>
            <a:ext cx="471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1.4.1  555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定时器内部框图及引脚排列图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0" name="对象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328275"/>
              </p:ext>
            </p:extLst>
          </p:nvPr>
        </p:nvGraphicFramePr>
        <p:xfrm>
          <a:off x="7242166" y="3965876"/>
          <a:ext cx="3444658" cy="211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73452" imgH="1857756" progId="SmartDraw.2">
                  <p:embed/>
                </p:oleObj>
              </mc:Choice>
              <mc:Fallback>
                <p:oleObj r:id="rId2" imgW="2473452" imgH="1857756" progId="SmartDraw.2">
                  <p:embed/>
                  <p:pic>
                    <p:nvPicPr>
                      <p:cNvPr id="110" name="对象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66" y="3965876"/>
                        <a:ext cx="3444658" cy="21171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56032" y="88313"/>
            <a:ext cx="37698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定时器的电路结构</a:t>
            </a:r>
          </a:p>
        </p:txBody>
      </p:sp>
    </p:spTree>
    <p:extLst>
      <p:ext uri="{BB962C8B-B14F-4D97-AF65-F5344CB8AC3E}">
        <p14:creationId xmlns:p14="http://schemas.microsoft.com/office/powerpoint/2010/main" val="100892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utoUpdateAnimBg="0"/>
      <p:bldP spid="4100" grpId="0" autoUpdateAnimBg="0"/>
      <p:bldP spid="4101" grpId="0" autoUpdateAnimBg="0"/>
      <p:bldP spid="4102" grpId="0" autoUpdateAnimBg="0"/>
      <p:bldP spid="4103" grpId="0" autoUpdateAnimBg="0"/>
      <p:bldP spid="410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454275" y="593726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</a:rPr>
              <a:t>定时器的逻辑功能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7575550" y="1190626"/>
            <a:ext cx="2489200" cy="166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i1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&gt;2/3V</a:t>
            </a:r>
            <a:r>
              <a:rPr kumimoji="1" lang="en-US" altLang="zh-CN" sz="2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CC</a:t>
            </a:r>
          </a:p>
          <a:p>
            <a:r>
              <a:rPr kumimoji="1" lang="en-US" altLang="zh-CN" sz="2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    V</a:t>
            </a:r>
            <a:r>
              <a:rPr kumimoji="1" lang="en-US" altLang="zh-CN" sz="2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i2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&gt;1/3V</a:t>
            </a:r>
            <a:r>
              <a:rPr kumimoji="1" lang="en-US" altLang="zh-CN" sz="2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CC</a:t>
            </a:r>
            <a:endParaRPr kumimoji="1" lang="en-US" altLang="zh-CN" sz="2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       V</a:t>
            </a:r>
            <a:r>
              <a:rPr kumimoji="1" lang="en-US" altLang="zh-CN" sz="2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=0</a:t>
            </a:r>
            <a:endParaRPr kumimoji="1" lang="en-US" altLang="zh-CN" sz="2800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endParaRPr kumimoji="1" lang="en-US" altLang="zh-CN" sz="2800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7620000" y="2559051"/>
            <a:ext cx="2489200" cy="166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aseline="-25000">
                <a:solidFill>
                  <a:srgbClr val="CC3300"/>
                </a:solidFill>
                <a:latin typeface="Times New Roman" panose="02020603050405020304" pitchFamily="18" charset="0"/>
              </a:rPr>
              <a:t>i1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&lt;2/3V</a:t>
            </a:r>
            <a:r>
              <a:rPr kumimoji="1" lang="en-US" altLang="zh-CN" sz="2800" baseline="-25000">
                <a:solidFill>
                  <a:srgbClr val="CC3300"/>
                </a:solidFill>
                <a:latin typeface="Times New Roman" panose="02020603050405020304" pitchFamily="18" charset="0"/>
              </a:rPr>
              <a:t>CC</a:t>
            </a:r>
          </a:p>
          <a:p>
            <a:r>
              <a:rPr kumimoji="1" lang="en-US" altLang="zh-CN" sz="2800" baseline="-25000">
                <a:solidFill>
                  <a:srgbClr val="CC33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    V</a:t>
            </a:r>
            <a:r>
              <a:rPr kumimoji="1" lang="en-US" altLang="zh-CN" sz="2800" baseline="-25000">
                <a:solidFill>
                  <a:srgbClr val="CC3300"/>
                </a:solidFill>
                <a:latin typeface="Times New Roman" panose="02020603050405020304" pitchFamily="18" charset="0"/>
              </a:rPr>
              <a:t>i2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&lt;1/3V</a:t>
            </a:r>
            <a:r>
              <a:rPr kumimoji="1" lang="en-US" altLang="zh-CN" sz="2800" baseline="-25000">
                <a:solidFill>
                  <a:srgbClr val="CC3300"/>
                </a:solidFill>
                <a:latin typeface="Times New Roman" panose="02020603050405020304" pitchFamily="18" charset="0"/>
              </a:rPr>
              <a:t>CC</a:t>
            </a:r>
            <a:endParaRPr kumimoji="1" lang="en-US" altLang="zh-CN" sz="2800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       V</a:t>
            </a:r>
            <a:r>
              <a:rPr kumimoji="1" lang="en-US" altLang="zh-CN" sz="2800" baseline="-25000">
                <a:solidFill>
                  <a:srgbClr val="CC3300"/>
                </a:solidFill>
                <a:latin typeface="Times New Roman" panose="02020603050405020304" pitchFamily="18" charset="0"/>
              </a:rPr>
              <a:t>o</a:t>
            </a:r>
            <a:r>
              <a:rPr kumimoji="1"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=1</a:t>
            </a:r>
            <a:endParaRPr kumimoji="1" lang="en-US" altLang="zh-CN" sz="2800" baseline="-25000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endParaRPr kumimoji="1" lang="en-US" altLang="zh-CN" sz="2800" baseline="-250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7543800" y="3933826"/>
            <a:ext cx="2489200" cy="166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006666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>
                <a:solidFill>
                  <a:srgbClr val="006666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800">
                <a:solidFill>
                  <a:srgbClr val="006666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aseline="-25000">
                <a:solidFill>
                  <a:srgbClr val="006666"/>
                </a:solidFill>
                <a:latin typeface="Times New Roman" panose="02020603050405020304" pitchFamily="18" charset="0"/>
              </a:rPr>
              <a:t>i1</a:t>
            </a:r>
            <a:r>
              <a:rPr kumimoji="1" lang="en-US" altLang="zh-CN" sz="2800">
                <a:solidFill>
                  <a:srgbClr val="006666"/>
                </a:solidFill>
                <a:latin typeface="Times New Roman" panose="02020603050405020304" pitchFamily="18" charset="0"/>
              </a:rPr>
              <a:t>&lt;2/3V</a:t>
            </a:r>
            <a:r>
              <a:rPr kumimoji="1" lang="en-US" altLang="zh-CN" sz="2800" baseline="-25000">
                <a:solidFill>
                  <a:srgbClr val="006666"/>
                </a:solidFill>
                <a:latin typeface="Times New Roman" panose="02020603050405020304" pitchFamily="18" charset="0"/>
              </a:rPr>
              <a:t>CC</a:t>
            </a:r>
          </a:p>
          <a:p>
            <a:r>
              <a:rPr kumimoji="1" lang="en-US" altLang="zh-CN" sz="2800" baseline="-25000">
                <a:solidFill>
                  <a:srgbClr val="006666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>
                <a:solidFill>
                  <a:srgbClr val="006666"/>
                </a:solidFill>
                <a:latin typeface="Times New Roman" panose="02020603050405020304" pitchFamily="18" charset="0"/>
              </a:rPr>
              <a:t>    V</a:t>
            </a:r>
            <a:r>
              <a:rPr kumimoji="1" lang="en-US" altLang="zh-CN" sz="2800" baseline="-25000">
                <a:solidFill>
                  <a:srgbClr val="006666"/>
                </a:solidFill>
                <a:latin typeface="Times New Roman" panose="02020603050405020304" pitchFamily="18" charset="0"/>
              </a:rPr>
              <a:t>i2</a:t>
            </a:r>
            <a:r>
              <a:rPr kumimoji="1" lang="en-US" altLang="zh-CN" sz="2800">
                <a:solidFill>
                  <a:srgbClr val="006666"/>
                </a:solidFill>
                <a:latin typeface="Times New Roman" panose="02020603050405020304" pitchFamily="18" charset="0"/>
              </a:rPr>
              <a:t>&gt;1/3V</a:t>
            </a:r>
            <a:r>
              <a:rPr kumimoji="1" lang="en-US" altLang="zh-CN" sz="2800" baseline="-25000">
                <a:solidFill>
                  <a:srgbClr val="006666"/>
                </a:solidFill>
                <a:latin typeface="Times New Roman" panose="02020603050405020304" pitchFamily="18" charset="0"/>
              </a:rPr>
              <a:t>CC</a:t>
            </a:r>
            <a:endParaRPr kumimoji="1" lang="en-US" altLang="zh-CN" sz="2800">
              <a:solidFill>
                <a:srgbClr val="006666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800">
                <a:solidFill>
                  <a:srgbClr val="006666"/>
                </a:solidFill>
                <a:latin typeface="Times New Roman" panose="02020603050405020304" pitchFamily="18" charset="0"/>
              </a:rPr>
              <a:t>       V</a:t>
            </a:r>
            <a:r>
              <a:rPr kumimoji="1" lang="en-US" altLang="zh-CN" sz="2800" baseline="-25000">
                <a:solidFill>
                  <a:srgbClr val="006666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>
                <a:solidFill>
                  <a:srgbClr val="006666"/>
                </a:solidFill>
                <a:latin typeface="Times New Roman" panose="02020603050405020304" pitchFamily="18" charset="0"/>
              </a:rPr>
              <a:t>不变</a:t>
            </a:r>
            <a:endParaRPr kumimoji="1" lang="zh-CN" altLang="en-US" sz="2800" baseline="-25000">
              <a:solidFill>
                <a:srgbClr val="006666"/>
              </a:solidFill>
              <a:latin typeface="Times New Roman" panose="02020603050405020304" pitchFamily="18" charset="0"/>
            </a:endParaRPr>
          </a:p>
          <a:p>
            <a:endParaRPr kumimoji="1" lang="en-US" altLang="zh-CN" sz="2800" baseline="-25000">
              <a:solidFill>
                <a:srgbClr val="0066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228" name="Group 108"/>
          <p:cNvGrpSpPr>
            <a:grpSpLocks/>
          </p:cNvGrpSpPr>
          <p:nvPr/>
        </p:nvGrpSpPr>
        <p:grpSpPr bwMode="auto">
          <a:xfrm>
            <a:off x="7627938" y="620713"/>
            <a:ext cx="2068512" cy="519112"/>
            <a:chOff x="3845" y="391"/>
            <a:chExt cx="1303" cy="327"/>
          </a:xfrm>
        </p:grpSpPr>
        <p:sp>
          <p:nvSpPr>
            <p:cNvPr id="5127" name="Text Box 7"/>
            <p:cNvSpPr txBox="1">
              <a:spLocks noChangeArrowheads="1"/>
            </p:cNvSpPr>
            <p:nvPr/>
          </p:nvSpPr>
          <p:spPr bwMode="auto">
            <a:xfrm>
              <a:off x="3845" y="391"/>
              <a:ext cx="13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>
                  <a:latin typeface="Times New Roman" panose="02020603050405020304" pitchFamily="18" charset="0"/>
                </a:rPr>
                <a:t>当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=1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时：</a:t>
              </a:r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>
              <a:off x="4105" y="43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29" name="Group 9"/>
          <p:cNvGrpSpPr>
            <a:grpSpLocks/>
          </p:cNvGrpSpPr>
          <p:nvPr/>
        </p:nvGrpSpPr>
        <p:grpSpPr bwMode="auto">
          <a:xfrm>
            <a:off x="1524000" y="1042988"/>
            <a:ext cx="6072188" cy="5410200"/>
            <a:chOff x="0" y="480"/>
            <a:chExt cx="3825" cy="3408"/>
          </a:xfrm>
        </p:grpSpPr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704" y="480"/>
              <a:ext cx="37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CC</a:t>
              </a: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1221" y="1440"/>
              <a:ext cx="480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2" name="Line 12"/>
            <p:cNvSpPr>
              <a:spLocks noChangeShapeType="1"/>
            </p:cNvSpPr>
            <p:nvPr/>
          </p:nvSpPr>
          <p:spPr bwMode="auto">
            <a:xfrm flipH="1">
              <a:off x="885" y="168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 flipH="1">
              <a:off x="384" y="1920"/>
              <a:ext cx="8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Text Box 14"/>
            <p:cNvSpPr txBox="1">
              <a:spLocks noChangeArrowheads="1"/>
            </p:cNvSpPr>
            <p:nvPr/>
          </p:nvSpPr>
          <p:spPr bwMode="auto">
            <a:xfrm>
              <a:off x="1209" y="1548"/>
              <a:ext cx="1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35" name="Text Box 15"/>
            <p:cNvSpPr txBox="1">
              <a:spLocks noChangeArrowheads="1"/>
            </p:cNvSpPr>
            <p:nvPr/>
          </p:nvSpPr>
          <p:spPr bwMode="auto">
            <a:xfrm>
              <a:off x="1221" y="1788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-</a:t>
              </a:r>
            </a:p>
          </p:txBody>
        </p:sp>
        <p:grpSp>
          <p:nvGrpSpPr>
            <p:cNvPr id="5136" name="Group 16"/>
            <p:cNvGrpSpPr>
              <a:grpSpLocks/>
            </p:cNvGrpSpPr>
            <p:nvPr/>
          </p:nvGrpSpPr>
          <p:grpSpPr bwMode="auto">
            <a:xfrm>
              <a:off x="1344" y="1392"/>
              <a:ext cx="268" cy="233"/>
              <a:chOff x="2352" y="2222"/>
              <a:chExt cx="268" cy="233"/>
            </a:xfrm>
          </p:grpSpPr>
          <p:sp>
            <p:nvSpPr>
              <p:cNvPr id="5137" name="AutoShape 17"/>
              <p:cNvSpPr>
                <a:spLocks noChangeArrowheads="1"/>
              </p:cNvSpPr>
              <p:nvPr/>
            </p:nvSpPr>
            <p:spPr bwMode="auto">
              <a:xfrm rot="5400000">
                <a:off x="2352" y="2304"/>
                <a:ext cx="96" cy="96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8" name="Text Box 18"/>
              <p:cNvSpPr txBox="1">
                <a:spLocks noChangeArrowheads="1"/>
              </p:cNvSpPr>
              <p:nvPr/>
            </p:nvSpPr>
            <p:spPr bwMode="auto">
              <a:xfrm>
                <a:off x="2400" y="2222"/>
                <a:ext cx="22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latin typeface="Times New Roman" panose="02020603050405020304" pitchFamily="18" charset="0"/>
                  </a:rPr>
                  <a:t>∞</a:t>
                </a:r>
              </a:p>
            </p:txBody>
          </p:sp>
        </p:grpSp>
        <p:sp>
          <p:nvSpPr>
            <p:cNvPr id="5139" name="Text Box 19"/>
            <p:cNvSpPr txBox="1">
              <a:spLocks noChangeArrowheads="1"/>
            </p:cNvSpPr>
            <p:nvPr/>
          </p:nvSpPr>
          <p:spPr bwMode="auto">
            <a:xfrm>
              <a:off x="1688" y="1526"/>
              <a:ext cx="33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1200">
                  <a:latin typeface="Times New Roman" panose="02020603050405020304" pitchFamily="18" charset="0"/>
                </a:rPr>
                <a:t>C1</a:t>
              </a:r>
            </a:p>
          </p:txBody>
        </p:sp>
        <p:sp>
          <p:nvSpPr>
            <p:cNvPr id="5140" name="Text Box 20"/>
            <p:cNvSpPr txBox="1">
              <a:spLocks noChangeArrowheads="1"/>
            </p:cNvSpPr>
            <p:nvPr/>
          </p:nvSpPr>
          <p:spPr bwMode="auto">
            <a:xfrm>
              <a:off x="1329" y="125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41" name="Rectangle 21"/>
            <p:cNvSpPr>
              <a:spLocks noChangeArrowheads="1"/>
            </p:cNvSpPr>
            <p:nvPr/>
          </p:nvSpPr>
          <p:spPr bwMode="auto">
            <a:xfrm>
              <a:off x="1221" y="2256"/>
              <a:ext cx="480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2" name="Line 22"/>
            <p:cNvSpPr>
              <a:spLocks noChangeShapeType="1"/>
            </p:cNvSpPr>
            <p:nvPr/>
          </p:nvSpPr>
          <p:spPr bwMode="auto">
            <a:xfrm flipH="1">
              <a:off x="384" y="2496"/>
              <a:ext cx="8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Text Box 23"/>
            <p:cNvSpPr txBox="1">
              <a:spLocks noChangeArrowheads="1"/>
            </p:cNvSpPr>
            <p:nvPr/>
          </p:nvSpPr>
          <p:spPr bwMode="auto">
            <a:xfrm>
              <a:off x="1209" y="2364"/>
              <a:ext cx="1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44" name="Text Box 24"/>
            <p:cNvSpPr txBox="1">
              <a:spLocks noChangeArrowheads="1"/>
            </p:cNvSpPr>
            <p:nvPr/>
          </p:nvSpPr>
          <p:spPr bwMode="auto">
            <a:xfrm>
              <a:off x="1221" y="2604"/>
              <a:ext cx="1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-</a:t>
              </a:r>
            </a:p>
          </p:txBody>
        </p:sp>
        <p:grpSp>
          <p:nvGrpSpPr>
            <p:cNvPr id="5145" name="Group 25"/>
            <p:cNvGrpSpPr>
              <a:grpSpLocks/>
            </p:cNvGrpSpPr>
            <p:nvPr/>
          </p:nvGrpSpPr>
          <p:grpSpPr bwMode="auto">
            <a:xfrm>
              <a:off x="1344" y="2208"/>
              <a:ext cx="268" cy="233"/>
              <a:chOff x="2352" y="2222"/>
              <a:chExt cx="268" cy="233"/>
            </a:xfrm>
          </p:grpSpPr>
          <p:sp>
            <p:nvSpPr>
              <p:cNvPr id="5146" name="AutoShape 26"/>
              <p:cNvSpPr>
                <a:spLocks noChangeArrowheads="1"/>
              </p:cNvSpPr>
              <p:nvPr/>
            </p:nvSpPr>
            <p:spPr bwMode="auto">
              <a:xfrm rot="5400000">
                <a:off x="2352" y="2304"/>
                <a:ext cx="96" cy="96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7" name="Text Box 27"/>
              <p:cNvSpPr txBox="1">
                <a:spLocks noChangeArrowheads="1"/>
              </p:cNvSpPr>
              <p:nvPr/>
            </p:nvSpPr>
            <p:spPr bwMode="auto">
              <a:xfrm>
                <a:off x="2400" y="2222"/>
                <a:ext cx="22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latin typeface="Times New Roman" panose="02020603050405020304" pitchFamily="18" charset="0"/>
                  </a:rPr>
                  <a:t>∞</a:t>
                </a:r>
              </a:p>
            </p:txBody>
          </p:sp>
        </p:grpSp>
        <p:sp>
          <p:nvSpPr>
            <p:cNvPr id="5148" name="Text Box 28"/>
            <p:cNvSpPr txBox="1">
              <a:spLocks noChangeArrowheads="1"/>
            </p:cNvSpPr>
            <p:nvPr/>
          </p:nvSpPr>
          <p:spPr bwMode="auto">
            <a:xfrm>
              <a:off x="1688" y="2342"/>
              <a:ext cx="33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1200">
                  <a:latin typeface="Times New Roman" panose="02020603050405020304" pitchFamily="18" charset="0"/>
                </a:rPr>
                <a:t>C2</a:t>
              </a:r>
            </a:p>
          </p:txBody>
        </p:sp>
        <p:sp>
          <p:nvSpPr>
            <p:cNvPr id="5149" name="Text Box 29"/>
            <p:cNvSpPr txBox="1">
              <a:spLocks noChangeArrowheads="1"/>
            </p:cNvSpPr>
            <p:nvPr/>
          </p:nvSpPr>
          <p:spPr bwMode="auto">
            <a:xfrm>
              <a:off x="1329" y="207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50" name="Rectangle 30"/>
            <p:cNvSpPr>
              <a:spLocks noChangeArrowheads="1"/>
            </p:cNvSpPr>
            <p:nvPr/>
          </p:nvSpPr>
          <p:spPr bwMode="auto">
            <a:xfrm>
              <a:off x="837" y="1008"/>
              <a:ext cx="96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Rectangle 31"/>
            <p:cNvSpPr>
              <a:spLocks noChangeArrowheads="1"/>
            </p:cNvSpPr>
            <p:nvPr/>
          </p:nvSpPr>
          <p:spPr bwMode="auto">
            <a:xfrm>
              <a:off x="837" y="2064"/>
              <a:ext cx="96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Rectangle 32"/>
            <p:cNvSpPr>
              <a:spLocks noChangeArrowheads="1"/>
            </p:cNvSpPr>
            <p:nvPr/>
          </p:nvSpPr>
          <p:spPr bwMode="auto">
            <a:xfrm>
              <a:off x="837" y="3072"/>
              <a:ext cx="96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Line 33"/>
            <p:cNvSpPr>
              <a:spLocks noChangeShapeType="1"/>
            </p:cNvSpPr>
            <p:nvPr/>
          </p:nvSpPr>
          <p:spPr bwMode="auto">
            <a:xfrm>
              <a:off x="885" y="72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4" name="Line 34"/>
            <p:cNvSpPr>
              <a:spLocks noChangeShapeType="1"/>
            </p:cNvSpPr>
            <p:nvPr/>
          </p:nvSpPr>
          <p:spPr bwMode="auto">
            <a:xfrm>
              <a:off x="885" y="124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5" name="Line 35"/>
            <p:cNvSpPr>
              <a:spLocks noChangeShapeType="1"/>
            </p:cNvSpPr>
            <p:nvPr/>
          </p:nvSpPr>
          <p:spPr bwMode="auto">
            <a:xfrm>
              <a:off x="885" y="2304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6" name="Line 36"/>
            <p:cNvSpPr>
              <a:spLocks noChangeShapeType="1"/>
            </p:cNvSpPr>
            <p:nvPr/>
          </p:nvSpPr>
          <p:spPr bwMode="auto">
            <a:xfrm>
              <a:off x="885" y="3312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7" name="Line 37"/>
            <p:cNvSpPr>
              <a:spLocks noChangeShapeType="1"/>
            </p:cNvSpPr>
            <p:nvPr/>
          </p:nvSpPr>
          <p:spPr bwMode="auto">
            <a:xfrm>
              <a:off x="789" y="388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8" name="Line 38"/>
            <p:cNvSpPr>
              <a:spLocks noChangeShapeType="1"/>
            </p:cNvSpPr>
            <p:nvPr/>
          </p:nvSpPr>
          <p:spPr bwMode="auto">
            <a:xfrm>
              <a:off x="1701" y="182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Line 39"/>
            <p:cNvSpPr>
              <a:spLocks noChangeShapeType="1"/>
            </p:cNvSpPr>
            <p:nvPr/>
          </p:nvSpPr>
          <p:spPr bwMode="auto">
            <a:xfrm>
              <a:off x="1701" y="259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0" name="Rectangle 40"/>
            <p:cNvSpPr>
              <a:spLocks noChangeArrowheads="1"/>
            </p:cNvSpPr>
            <p:nvPr/>
          </p:nvSpPr>
          <p:spPr bwMode="auto">
            <a:xfrm>
              <a:off x="2229" y="1632"/>
              <a:ext cx="240" cy="3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" name="Text Box 41"/>
            <p:cNvSpPr txBox="1">
              <a:spLocks noChangeArrowheads="1"/>
            </p:cNvSpPr>
            <p:nvPr/>
          </p:nvSpPr>
          <p:spPr bwMode="auto">
            <a:xfrm>
              <a:off x="2258" y="1632"/>
              <a:ext cx="22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5162" name="Oval 42"/>
            <p:cNvSpPr>
              <a:spLocks noChangeArrowheads="1"/>
            </p:cNvSpPr>
            <p:nvPr/>
          </p:nvSpPr>
          <p:spPr bwMode="auto">
            <a:xfrm>
              <a:off x="2469" y="180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3" name="Rectangle 43"/>
            <p:cNvSpPr>
              <a:spLocks noChangeArrowheads="1"/>
            </p:cNvSpPr>
            <p:nvPr/>
          </p:nvSpPr>
          <p:spPr bwMode="auto">
            <a:xfrm>
              <a:off x="2229" y="2304"/>
              <a:ext cx="240" cy="3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4" name="Text Box 44"/>
            <p:cNvSpPr txBox="1">
              <a:spLocks noChangeArrowheads="1"/>
            </p:cNvSpPr>
            <p:nvPr/>
          </p:nvSpPr>
          <p:spPr bwMode="auto">
            <a:xfrm>
              <a:off x="2258" y="2304"/>
              <a:ext cx="22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5165" name="Oval 45"/>
            <p:cNvSpPr>
              <a:spLocks noChangeArrowheads="1"/>
            </p:cNvSpPr>
            <p:nvPr/>
          </p:nvSpPr>
          <p:spPr bwMode="auto">
            <a:xfrm>
              <a:off x="2469" y="247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Line 46"/>
            <p:cNvSpPr>
              <a:spLocks noChangeShapeType="1"/>
            </p:cNvSpPr>
            <p:nvPr/>
          </p:nvSpPr>
          <p:spPr bwMode="auto">
            <a:xfrm>
              <a:off x="2517" y="182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7" name="Line 47"/>
            <p:cNvSpPr>
              <a:spLocks noChangeShapeType="1"/>
            </p:cNvSpPr>
            <p:nvPr/>
          </p:nvSpPr>
          <p:spPr bwMode="auto">
            <a:xfrm>
              <a:off x="2709" y="18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8" name="Line 48"/>
            <p:cNvSpPr>
              <a:spLocks noChangeShapeType="1"/>
            </p:cNvSpPr>
            <p:nvPr/>
          </p:nvSpPr>
          <p:spPr bwMode="auto">
            <a:xfrm flipH="1">
              <a:off x="2085" y="2064"/>
              <a:ext cx="62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9" name="Line 49"/>
            <p:cNvSpPr>
              <a:spLocks noChangeShapeType="1"/>
            </p:cNvSpPr>
            <p:nvPr/>
          </p:nvSpPr>
          <p:spPr bwMode="auto">
            <a:xfrm>
              <a:off x="2085" y="230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0" name="Line 50"/>
            <p:cNvSpPr>
              <a:spLocks noChangeShapeType="1"/>
            </p:cNvSpPr>
            <p:nvPr/>
          </p:nvSpPr>
          <p:spPr bwMode="auto">
            <a:xfrm>
              <a:off x="2085" y="244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1" name="Line 51"/>
            <p:cNvSpPr>
              <a:spLocks noChangeShapeType="1"/>
            </p:cNvSpPr>
            <p:nvPr/>
          </p:nvSpPr>
          <p:spPr bwMode="auto">
            <a:xfrm>
              <a:off x="2517" y="249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2" name="Line 52"/>
            <p:cNvSpPr>
              <a:spLocks noChangeShapeType="1"/>
            </p:cNvSpPr>
            <p:nvPr/>
          </p:nvSpPr>
          <p:spPr bwMode="auto">
            <a:xfrm flipV="1">
              <a:off x="2709" y="230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3" name="Line 53"/>
            <p:cNvSpPr>
              <a:spLocks noChangeShapeType="1"/>
            </p:cNvSpPr>
            <p:nvPr/>
          </p:nvSpPr>
          <p:spPr bwMode="auto">
            <a:xfrm flipH="1" flipV="1">
              <a:off x="2085" y="2016"/>
              <a:ext cx="62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4" name="Line 54"/>
            <p:cNvSpPr>
              <a:spLocks noChangeShapeType="1"/>
            </p:cNvSpPr>
            <p:nvPr/>
          </p:nvSpPr>
          <p:spPr bwMode="auto">
            <a:xfrm flipV="1">
              <a:off x="2085" y="1920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5" name="Line 55"/>
            <p:cNvSpPr>
              <a:spLocks noChangeShapeType="1"/>
            </p:cNvSpPr>
            <p:nvPr/>
          </p:nvSpPr>
          <p:spPr bwMode="auto">
            <a:xfrm>
              <a:off x="2085" y="192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6" name="Line 56"/>
            <p:cNvSpPr>
              <a:spLocks noChangeShapeType="1"/>
            </p:cNvSpPr>
            <p:nvPr/>
          </p:nvSpPr>
          <p:spPr bwMode="auto">
            <a:xfrm flipH="1">
              <a:off x="2085" y="172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7" name="Line 57"/>
            <p:cNvSpPr>
              <a:spLocks noChangeShapeType="1"/>
            </p:cNvSpPr>
            <p:nvPr/>
          </p:nvSpPr>
          <p:spPr bwMode="auto">
            <a:xfrm flipV="1">
              <a:off x="2085" y="720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8" name="Rectangle 58"/>
            <p:cNvSpPr>
              <a:spLocks noChangeArrowheads="1"/>
            </p:cNvSpPr>
            <p:nvPr/>
          </p:nvSpPr>
          <p:spPr bwMode="auto">
            <a:xfrm>
              <a:off x="3045" y="1968"/>
              <a:ext cx="240" cy="3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9" name="Oval 59"/>
            <p:cNvSpPr>
              <a:spLocks noChangeArrowheads="1"/>
            </p:cNvSpPr>
            <p:nvPr/>
          </p:nvSpPr>
          <p:spPr bwMode="auto">
            <a:xfrm>
              <a:off x="3285" y="211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0" name="Line 60"/>
            <p:cNvSpPr>
              <a:spLocks noChangeShapeType="1"/>
            </p:cNvSpPr>
            <p:nvPr/>
          </p:nvSpPr>
          <p:spPr bwMode="auto">
            <a:xfrm>
              <a:off x="3333" y="213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" name="Line 61"/>
            <p:cNvSpPr>
              <a:spLocks noChangeShapeType="1"/>
            </p:cNvSpPr>
            <p:nvPr/>
          </p:nvSpPr>
          <p:spPr bwMode="auto">
            <a:xfrm>
              <a:off x="1653" y="3456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2" name="Line 62"/>
            <p:cNvSpPr>
              <a:spLocks noChangeShapeType="1"/>
            </p:cNvSpPr>
            <p:nvPr/>
          </p:nvSpPr>
          <p:spPr bwMode="auto">
            <a:xfrm>
              <a:off x="1509" y="345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3" name="Line 63"/>
            <p:cNvSpPr>
              <a:spLocks noChangeShapeType="1"/>
            </p:cNvSpPr>
            <p:nvPr/>
          </p:nvSpPr>
          <p:spPr bwMode="auto">
            <a:xfrm flipH="1">
              <a:off x="1509" y="360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4" name="Line 64"/>
            <p:cNvSpPr>
              <a:spLocks noChangeShapeType="1"/>
            </p:cNvSpPr>
            <p:nvPr/>
          </p:nvSpPr>
          <p:spPr bwMode="auto">
            <a:xfrm flipH="1">
              <a:off x="885" y="36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5" name="Line 65"/>
            <p:cNvSpPr>
              <a:spLocks noChangeShapeType="1"/>
            </p:cNvSpPr>
            <p:nvPr/>
          </p:nvSpPr>
          <p:spPr bwMode="auto">
            <a:xfrm flipH="1">
              <a:off x="384" y="3456"/>
              <a:ext cx="1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6" name="Line 66"/>
            <p:cNvSpPr>
              <a:spLocks noChangeShapeType="1"/>
            </p:cNvSpPr>
            <p:nvPr/>
          </p:nvSpPr>
          <p:spPr bwMode="auto">
            <a:xfrm>
              <a:off x="2901" y="1824"/>
              <a:ext cx="0" cy="17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7" name="Rectangle 67"/>
            <p:cNvSpPr>
              <a:spLocks noChangeArrowheads="1"/>
            </p:cNvSpPr>
            <p:nvPr/>
          </p:nvSpPr>
          <p:spPr bwMode="auto">
            <a:xfrm>
              <a:off x="2085" y="3552"/>
              <a:ext cx="240" cy="9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8" name="Line 68"/>
            <p:cNvSpPr>
              <a:spLocks noChangeShapeType="1"/>
            </p:cNvSpPr>
            <p:nvPr/>
          </p:nvSpPr>
          <p:spPr bwMode="auto">
            <a:xfrm>
              <a:off x="2325" y="360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9" name="Line 69"/>
            <p:cNvSpPr>
              <a:spLocks noChangeShapeType="1"/>
            </p:cNvSpPr>
            <p:nvPr/>
          </p:nvSpPr>
          <p:spPr bwMode="auto">
            <a:xfrm flipH="1">
              <a:off x="1653" y="360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0" name="Line 70"/>
            <p:cNvSpPr>
              <a:spLocks noChangeShapeType="1"/>
            </p:cNvSpPr>
            <p:nvPr/>
          </p:nvSpPr>
          <p:spPr bwMode="auto">
            <a:xfrm flipH="1">
              <a:off x="885" y="273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1" name="Line 71"/>
            <p:cNvSpPr>
              <a:spLocks noChangeShapeType="1"/>
            </p:cNvSpPr>
            <p:nvPr/>
          </p:nvSpPr>
          <p:spPr bwMode="auto">
            <a:xfrm>
              <a:off x="2901" y="216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2" name="Text Box 72"/>
            <p:cNvSpPr txBox="1">
              <a:spLocks noChangeArrowheads="1"/>
            </p:cNvSpPr>
            <p:nvPr/>
          </p:nvSpPr>
          <p:spPr bwMode="auto">
            <a:xfrm>
              <a:off x="2517" y="2448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5193" name="Text Box 73"/>
            <p:cNvSpPr txBox="1">
              <a:spLocks noChangeArrowheads="1"/>
            </p:cNvSpPr>
            <p:nvPr/>
          </p:nvSpPr>
          <p:spPr bwMode="auto">
            <a:xfrm>
              <a:off x="2517" y="1536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5194" name="Text Box 74"/>
            <p:cNvSpPr txBox="1">
              <a:spLocks noChangeArrowheads="1"/>
            </p:cNvSpPr>
            <p:nvPr/>
          </p:nvSpPr>
          <p:spPr bwMode="auto">
            <a:xfrm>
              <a:off x="902" y="1006"/>
              <a:ext cx="3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chemeClr val="accent2"/>
                  </a:solidFill>
                  <a:latin typeface="Times New Roman" panose="02020603050405020304" pitchFamily="18" charset="0"/>
                </a:rPr>
                <a:t>5kΩ</a:t>
              </a:r>
            </a:p>
          </p:txBody>
        </p:sp>
        <p:sp>
          <p:nvSpPr>
            <p:cNvPr id="5195" name="Text Box 75"/>
            <p:cNvSpPr txBox="1">
              <a:spLocks noChangeArrowheads="1"/>
            </p:cNvSpPr>
            <p:nvPr/>
          </p:nvSpPr>
          <p:spPr bwMode="auto">
            <a:xfrm>
              <a:off x="933" y="2069"/>
              <a:ext cx="3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chemeClr val="accent2"/>
                  </a:solidFill>
                  <a:latin typeface="Times New Roman" panose="02020603050405020304" pitchFamily="18" charset="0"/>
                </a:rPr>
                <a:t>5kΩ</a:t>
              </a:r>
            </a:p>
          </p:txBody>
        </p:sp>
        <p:sp>
          <p:nvSpPr>
            <p:cNvPr id="5196" name="Text Box 76"/>
            <p:cNvSpPr txBox="1">
              <a:spLocks noChangeArrowheads="1"/>
            </p:cNvSpPr>
            <p:nvPr/>
          </p:nvSpPr>
          <p:spPr bwMode="auto">
            <a:xfrm>
              <a:off x="933" y="3077"/>
              <a:ext cx="3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solidFill>
                    <a:schemeClr val="accent2"/>
                  </a:solidFill>
                  <a:latin typeface="Times New Roman" panose="02020603050405020304" pitchFamily="18" charset="0"/>
                </a:rPr>
                <a:t>5kΩ</a:t>
              </a:r>
            </a:p>
          </p:txBody>
        </p:sp>
        <p:sp>
          <p:nvSpPr>
            <p:cNvPr id="5197" name="Text Box 77"/>
            <p:cNvSpPr txBox="1">
              <a:spLocks noChangeArrowheads="1"/>
            </p:cNvSpPr>
            <p:nvPr/>
          </p:nvSpPr>
          <p:spPr bwMode="auto">
            <a:xfrm>
              <a:off x="2197" y="1382"/>
              <a:ext cx="2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98" name="Text Box 78"/>
            <p:cNvSpPr txBox="1">
              <a:spLocks noChangeArrowheads="1"/>
            </p:cNvSpPr>
            <p:nvPr/>
          </p:nvSpPr>
          <p:spPr bwMode="auto">
            <a:xfrm>
              <a:off x="2229" y="2678"/>
              <a:ext cx="2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99" name="Text Box 79"/>
            <p:cNvSpPr txBox="1">
              <a:spLocks noChangeArrowheads="1"/>
            </p:cNvSpPr>
            <p:nvPr/>
          </p:nvSpPr>
          <p:spPr bwMode="auto">
            <a:xfrm>
              <a:off x="3029" y="1718"/>
              <a:ext cx="2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200" name="Text Box 80"/>
            <p:cNvSpPr txBox="1">
              <a:spLocks noChangeArrowheads="1"/>
            </p:cNvSpPr>
            <p:nvPr/>
          </p:nvSpPr>
          <p:spPr bwMode="auto">
            <a:xfrm>
              <a:off x="3077" y="1962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201" name="Rectangle 81"/>
            <p:cNvSpPr>
              <a:spLocks noChangeArrowheads="1"/>
            </p:cNvSpPr>
            <p:nvPr/>
          </p:nvSpPr>
          <p:spPr bwMode="auto">
            <a:xfrm>
              <a:off x="693" y="816"/>
              <a:ext cx="2736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02" name="Text Box 82"/>
            <p:cNvSpPr txBox="1">
              <a:spLocks noChangeArrowheads="1"/>
            </p:cNvSpPr>
            <p:nvPr/>
          </p:nvSpPr>
          <p:spPr bwMode="auto">
            <a:xfrm>
              <a:off x="693" y="3628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203" name="Text Box 83"/>
            <p:cNvSpPr txBox="1">
              <a:spLocks noChangeArrowheads="1"/>
            </p:cNvSpPr>
            <p:nvPr/>
          </p:nvSpPr>
          <p:spPr bwMode="auto">
            <a:xfrm>
              <a:off x="693" y="3292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204" name="Text Box 84"/>
            <p:cNvSpPr txBox="1">
              <a:spLocks noChangeArrowheads="1"/>
            </p:cNvSpPr>
            <p:nvPr/>
          </p:nvSpPr>
          <p:spPr bwMode="auto">
            <a:xfrm>
              <a:off x="693" y="2496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205" name="Text Box 85"/>
            <p:cNvSpPr txBox="1">
              <a:spLocks noChangeArrowheads="1"/>
            </p:cNvSpPr>
            <p:nvPr/>
          </p:nvSpPr>
          <p:spPr bwMode="auto">
            <a:xfrm>
              <a:off x="693" y="192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206" name="Text Box 86"/>
            <p:cNvSpPr txBox="1">
              <a:spLocks noChangeArrowheads="1"/>
            </p:cNvSpPr>
            <p:nvPr/>
          </p:nvSpPr>
          <p:spPr bwMode="auto">
            <a:xfrm>
              <a:off x="693" y="1488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07" name="Text Box 87"/>
            <p:cNvSpPr txBox="1">
              <a:spLocks noChangeArrowheads="1"/>
            </p:cNvSpPr>
            <p:nvPr/>
          </p:nvSpPr>
          <p:spPr bwMode="auto">
            <a:xfrm>
              <a:off x="897" y="816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5208" name="Text Box 88"/>
            <p:cNvSpPr txBox="1">
              <a:spLocks noChangeArrowheads="1"/>
            </p:cNvSpPr>
            <p:nvPr/>
          </p:nvSpPr>
          <p:spPr bwMode="auto">
            <a:xfrm>
              <a:off x="2097" y="816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209" name="Text Box 89"/>
            <p:cNvSpPr txBox="1">
              <a:spLocks noChangeArrowheads="1"/>
            </p:cNvSpPr>
            <p:nvPr/>
          </p:nvSpPr>
          <p:spPr bwMode="auto">
            <a:xfrm>
              <a:off x="3285" y="216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210" name="Line 90"/>
            <p:cNvSpPr>
              <a:spLocks noChangeShapeType="1"/>
            </p:cNvSpPr>
            <p:nvPr/>
          </p:nvSpPr>
          <p:spPr bwMode="auto">
            <a:xfrm flipH="1">
              <a:off x="384" y="1680"/>
              <a:ext cx="5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1" name="Text Box 91"/>
            <p:cNvSpPr txBox="1">
              <a:spLocks noChangeArrowheads="1"/>
            </p:cNvSpPr>
            <p:nvPr/>
          </p:nvSpPr>
          <p:spPr bwMode="auto">
            <a:xfrm>
              <a:off x="420" y="3238"/>
              <a:ext cx="22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212" name="Text Box 92"/>
            <p:cNvSpPr txBox="1">
              <a:spLocks noChangeArrowheads="1"/>
            </p:cNvSpPr>
            <p:nvPr/>
          </p:nvSpPr>
          <p:spPr bwMode="auto">
            <a:xfrm>
              <a:off x="384" y="2304"/>
              <a:ext cx="3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TR</a:t>
              </a:r>
            </a:p>
          </p:txBody>
        </p:sp>
        <p:sp>
          <p:nvSpPr>
            <p:cNvPr id="5213" name="Text Box 93"/>
            <p:cNvSpPr txBox="1">
              <a:spLocks noChangeArrowheads="1"/>
            </p:cNvSpPr>
            <p:nvPr/>
          </p:nvSpPr>
          <p:spPr bwMode="auto">
            <a:xfrm>
              <a:off x="384" y="1728"/>
              <a:ext cx="31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TH</a:t>
              </a:r>
            </a:p>
          </p:txBody>
        </p:sp>
        <p:sp>
          <p:nvSpPr>
            <p:cNvPr id="5214" name="Text Box 94"/>
            <p:cNvSpPr txBox="1">
              <a:spLocks noChangeArrowheads="1"/>
            </p:cNvSpPr>
            <p:nvPr/>
          </p:nvSpPr>
          <p:spPr bwMode="auto">
            <a:xfrm>
              <a:off x="384" y="1478"/>
              <a:ext cx="3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CO</a:t>
              </a:r>
            </a:p>
          </p:txBody>
        </p:sp>
        <p:sp>
          <p:nvSpPr>
            <p:cNvPr id="5215" name="Text Box 95"/>
            <p:cNvSpPr txBox="1">
              <a:spLocks noChangeArrowheads="1"/>
            </p:cNvSpPr>
            <p:nvPr/>
          </p:nvSpPr>
          <p:spPr bwMode="auto">
            <a:xfrm>
              <a:off x="48" y="1536"/>
              <a:ext cx="3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CO</a:t>
              </a:r>
            </a:p>
          </p:txBody>
        </p:sp>
        <p:sp>
          <p:nvSpPr>
            <p:cNvPr id="5216" name="Text Box 96"/>
            <p:cNvSpPr txBox="1">
              <a:spLocks noChangeArrowheads="1"/>
            </p:cNvSpPr>
            <p:nvPr/>
          </p:nvSpPr>
          <p:spPr bwMode="auto">
            <a:xfrm>
              <a:off x="48" y="1824"/>
              <a:ext cx="3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i1</a:t>
              </a:r>
            </a:p>
          </p:txBody>
        </p:sp>
        <p:sp>
          <p:nvSpPr>
            <p:cNvPr id="5217" name="Text Box 97"/>
            <p:cNvSpPr txBox="1">
              <a:spLocks noChangeArrowheads="1"/>
            </p:cNvSpPr>
            <p:nvPr/>
          </p:nvSpPr>
          <p:spPr bwMode="auto">
            <a:xfrm>
              <a:off x="48" y="2390"/>
              <a:ext cx="3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i2</a:t>
              </a:r>
            </a:p>
          </p:txBody>
        </p:sp>
        <p:sp>
          <p:nvSpPr>
            <p:cNvPr id="5218" name="Text Box 98"/>
            <p:cNvSpPr txBox="1">
              <a:spLocks noChangeArrowheads="1"/>
            </p:cNvSpPr>
            <p:nvPr/>
          </p:nvSpPr>
          <p:spPr bwMode="auto">
            <a:xfrm>
              <a:off x="0" y="3350"/>
              <a:ext cx="33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V’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5219" name="Line 99"/>
            <p:cNvSpPr>
              <a:spLocks noChangeShapeType="1"/>
            </p:cNvSpPr>
            <p:nvPr/>
          </p:nvSpPr>
          <p:spPr bwMode="auto">
            <a:xfrm>
              <a:off x="2568" y="158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0" name="Line 100"/>
            <p:cNvSpPr>
              <a:spLocks noChangeShapeType="1"/>
            </p:cNvSpPr>
            <p:nvPr/>
          </p:nvSpPr>
          <p:spPr bwMode="auto">
            <a:xfrm>
              <a:off x="432" y="23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1" name="Text Box 101"/>
            <p:cNvSpPr txBox="1">
              <a:spLocks noChangeArrowheads="1"/>
            </p:cNvSpPr>
            <p:nvPr/>
          </p:nvSpPr>
          <p:spPr bwMode="auto">
            <a:xfrm>
              <a:off x="1920" y="528"/>
              <a:ext cx="2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D</a:t>
              </a:r>
              <a:endParaRPr kumimoji="1" lang="en-US" altLang="zh-CN" sz="900">
                <a:latin typeface="Times New Roman" panose="02020603050405020304" pitchFamily="18" charset="0"/>
              </a:endParaRPr>
            </a:p>
          </p:txBody>
        </p:sp>
        <p:sp>
          <p:nvSpPr>
            <p:cNvPr id="5222" name="Line 102"/>
            <p:cNvSpPr>
              <a:spLocks noChangeShapeType="1"/>
            </p:cNvSpPr>
            <p:nvPr/>
          </p:nvSpPr>
          <p:spPr bwMode="auto">
            <a:xfrm>
              <a:off x="1968" y="57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" name="Text Box 103"/>
            <p:cNvSpPr txBox="1">
              <a:spLocks noChangeArrowheads="1"/>
            </p:cNvSpPr>
            <p:nvPr/>
          </p:nvSpPr>
          <p:spPr bwMode="auto">
            <a:xfrm>
              <a:off x="3539" y="2112"/>
              <a:ext cx="2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5224" name="Text Box 104"/>
            <p:cNvSpPr txBox="1">
              <a:spLocks noChangeArrowheads="1"/>
            </p:cNvSpPr>
            <p:nvPr/>
          </p:nvSpPr>
          <p:spPr bwMode="auto">
            <a:xfrm>
              <a:off x="1382" y="3177"/>
              <a:ext cx="2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D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5" name="Group 105"/>
          <p:cNvGrpSpPr>
            <a:grpSpLocks/>
          </p:cNvGrpSpPr>
          <p:nvPr/>
        </p:nvGrpSpPr>
        <p:grpSpPr bwMode="auto">
          <a:xfrm>
            <a:off x="7223126" y="5445125"/>
            <a:ext cx="2835275" cy="946150"/>
            <a:chOff x="3590" y="3486"/>
            <a:chExt cx="1786" cy="596"/>
          </a:xfrm>
        </p:grpSpPr>
        <p:sp>
          <p:nvSpPr>
            <p:cNvPr id="5226" name="Text Box 106"/>
            <p:cNvSpPr txBox="1">
              <a:spLocks noChangeArrowheads="1"/>
            </p:cNvSpPr>
            <p:nvPr/>
          </p:nvSpPr>
          <p:spPr bwMode="auto">
            <a:xfrm>
              <a:off x="3590" y="3486"/>
              <a:ext cx="178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*Q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的高低确定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800" baseline="-25000">
                  <a:latin typeface="Times New Roman" panose="02020603050405020304" pitchFamily="18" charset="0"/>
                </a:rPr>
                <a:t>D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  <a:p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管是否导通。</a:t>
              </a:r>
            </a:p>
          </p:txBody>
        </p:sp>
        <p:sp>
          <p:nvSpPr>
            <p:cNvPr id="5227" name="Line 107"/>
            <p:cNvSpPr>
              <a:spLocks noChangeShapeType="1"/>
            </p:cNvSpPr>
            <p:nvPr/>
          </p:nvSpPr>
          <p:spPr bwMode="auto">
            <a:xfrm>
              <a:off x="3792" y="35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8199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6041" y="-66431"/>
            <a:ext cx="1030855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en-US" altLang="zh-CN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实验电路</a:t>
            </a:r>
            <a:endParaRPr kumimoji="0" lang="zh-CN" altLang="zh-CN" sz="28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en-US" altLang="zh-CN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555</a:t>
            </a:r>
            <a:r>
              <a: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构成的多谐振荡电路</a:t>
            </a:r>
            <a:endParaRPr kumimoji="0" lang="en-US" altLang="zh-CN" sz="28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endParaRPr kumimoji="0" lang="zh-CN" altLang="en-US" sz="28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276182"/>
              </p:ext>
            </p:extLst>
          </p:nvPr>
        </p:nvGraphicFramePr>
        <p:xfrm>
          <a:off x="4183877" y="2143734"/>
          <a:ext cx="3933168" cy="4503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53056" imgH="3272028" progId="SmartDraw.2">
                  <p:embed/>
                </p:oleObj>
              </mc:Choice>
              <mc:Fallback>
                <p:oleObj r:id="rId2" imgW="2353056" imgH="3272028" progId="SmartDraw.2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877" y="2143734"/>
                        <a:ext cx="3933168" cy="45030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4417216" y="6530737"/>
            <a:ext cx="3474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1.4.2  555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组成的多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谐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振荡电路</a:t>
            </a:r>
            <a:endParaRPr lang="zh-CN" altLang="en-US" dirty="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26041" y="1148981"/>
            <a:ext cx="11648841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多谐振荡器是一种能产生矩形波的自激振荡器，也称为矩形波发生器。多谐振荡器没有稳态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 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只有两个暂稳态。电路的状态在这两个暂稳态之间自动地交替变换，由此产生矩形波脉冲信号，常作脉冲信号源及时序电路中的时钟信号。其电路如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1.4.2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所示。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04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6"/>
          <p:cNvGrpSpPr>
            <a:grpSpLocks/>
          </p:cNvGrpSpPr>
          <p:nvPr/>
        </p:nvGrpSpPr>
        <p:grpSpPr bwMode="auto">
          <a:xfrm>
            <a:off x="6021578" y="1036320"/>
            <a:ext cx="4920486" cy="3866093"/>
            <a:chOff x="3360" y="144"/>
            <a:chExt cx="2425" cy="1887"/>
          </a:xfrm>
        </p:grpSpPr>
        <p:sp>
          <p:nvSpPr>
            <p:cNvPr id="3" name="Line 117"/>
            <p:cNvSpPr>
              <a:spLocks noChangeShapeType="1"/>
            </p:cNvSpPr>
            <p:nvPr/>
          </p:nvSpPr>
          <p:spPr bwMode="auto">
            <a:xfrm flipV="1">
              <a:off x="3784" y="264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118"/>
            <p:cNvSpPr>
              <a:spLocks noChangeShapeType="1"/>
            </p:cNvSpPr>
            <p:nvPr/>
          </p:nvSpPr>
          <p:spPr bwMode="auto">
            <a:xfrm>
              <a:off x="3784" y="984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Box 119"/>
            <p:cNvSpPr txBox="1">
              <a:spLocks noChangeArrowheads="1"/>
            </p:cNvSpPr>
            <p:nvPr/>
          </p:nvSpPr>
          <p:spPr bwMode="auto">
            <a:xfrm>
              <a:off x="3762" y="144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6" name="Text Box 120"/>
            <p:cNvSpPr txBox="1">
              <a:spLocks noChangeArrowheads="1"/>
            </p:cNvSpPr>
            <p:nvPr/>
          </p:nvSpPr>
          <p:spPr bwMode="auto">
            <a:xfrm>
              <a:off x="5616" y="864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" name="Line 121"/>
            <p:cNvSpPr>
              <a:spLocks noChangeShapeType="1"/>
            </p:cNvSpPr>
            <p:nvPr/>
          </p:nvSpPr>
          <p:spPr bwMode="auto">
            <a:xfrm>
              <a:off x="4224" y="528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22"/>
            <p:cNvSpPr>
              <a:spLocks noChangeShapeType="1"/>
            </p:cNvSpPr>
            <p:nvPr/>
          </p:nvSpPr>
          <p:spPr bwMode="auto">
            <a:xfrm>
              <a:off x="4464" y="864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123"/>
            <p:cNvSpPr txBox="1">
              <a:spLocks noChangeArrowheads="1"/>
            </p:cNvSpPr>
            <p:nvPr/>
          </p:nvSpPr>
          <p:spPr bwMode="auto">
            <a:xfrm>
              <a:off x="3610" y="86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" name="Arc 124"/>
            <p:cNvSpPr>
              <a:spLocks/>
            </p:cNvSpPr>
            <p:nvPr/>
          </p:nvSpPr>
          <p:spPr bwMode="auto">
            <a:xfrm rot="10800000" flipV="1">
              <a:off x="3802" y="528"/>
              <a:ext cx="432" cy="2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rc 125"/>
            <p:cNvSpPr>
              <a:spLocks/>
            </p:cNvSpPr>
            <p:nvPr/>
          </p:nvSpPr>
          <p:spPr bwMode="auto">
            <a:xfrm rot="5400000" flipV="1">
              <a:off x="4210" y="552"/>
              <a:ext cx="288" cy="2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Arc 126"/>
            <p:cNvSpPr>
              <a:spLocks/>
            </p:cNvSpPr>
            <p:nvPr/>
          </p:nvSpPr>
          <p:spPr bwMode="auto">
            <a:xfrm rot="10800000" flipV="1">
              <a:off x="4474" y="528"/>
              <a:ext cx="432" cy="2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rc 127"/>
            <p:cNvSpPr>
              <a:spLocks/>
            </p:cNvSpPr>
            <p:nvPr/>
          </p:nvSpPr>
          <p:spPr bwMode="auto">
            <a:xfrm rot="5400000" flipV="1">
              <a:off x="4882" y="552"/>
              <a:ext cx="288" cy="2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8"/>
            <p:cNvSpPr>
              <a:spLocks noChangeShapeType="1"/>
            </p:cNvSpPr>
            <p:nvPr/>
          </p:nvSpPr>
          <p:spPr bwMode="auto">
            <a:xfrm flipV="1">
              <a:off x="3792" y="1167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29"/>
            <p:cNvSpPr>
              <a:spLocks noChangeShapeType="1"/>
            </p:cNvSpPr>
            <p:nvPr/>
          </p:nvSpPr>
          <p:spPr bwMode="auto">
            <a:xfrm>
              <a:off x="3792" y="1887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30"/>
            <p:cNvSpPr txBox="1">
              <a:spLocks noChangeArrowheads="1"/>
            </p:cNvSpPr>
            <p:nvPr/>
          </p:nvSpPr>
          <p:spPr bwMode="auto">
            <a:xfrm>
              <a:off x="3796" y="1047"/>
              <a:ext cx="2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 dirty="0">
                  <a:latin typeface="Times New Roman" panose="02020603050405020304" pitchFamily="18" charset="0"/>
                </a:rPr>
                <a:t>O</a:t>
              </a:r>
              <a:endParaRPr kumimoji="1"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31"/>
            <p:cNvSpPr txBox="1">
              <a:spLocks noChangeArrowheads="1"/>
            </p:cNvSpPr>
            <p:nvPr/>
          </p:nvSpPr>
          <p:spPr bwMode="auto">
            <a:xfrm>
              <a:off x="5591" y="1728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" name="Text Box 132"/>
            <p:cNvSpPr txBox="1">
              <a:spLocks noChangeArrowheads="1"/>
            </p:cNvSpPr>
            <p:nvPr/>
          </p:nvSpPr>
          <p:spPr bwMode="auto">
            <a:xfrm>
              <a:off x="3648" y="180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Line 133"/>
            <p:cNvSpPr>
              <a:spLocks noChangeShapeType="1"/>
            </p:cNvSpPr>
            <p:nvPr/>
          </p:nvSpPr>
          <p:spPr bwMode="auto">
            <a:xfrm flipH="1">
              <a:off x="3802" y="528"/>
              <a:ext cx="16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34"/>
            <p:cNvSpPr txBox="1">
              <a:spLocks noChangeArrowheads="1"/>
            </p:cNvSpPr>
            <p:nvPr/>
          </p:nvSpPr>
          <p:spPr bwMode="auto">
            <a:xfrm>
              <a:off x="3360" y="432"/>
              <a:ext cx="4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00">
                  <a:latin typeface="Times New Roman" panose="02020603050405020304" pitchFamily="18" charset="0"/>
                </a:rPr>
                <a:t>2/3V</a:t>
              </a:r>
              <a:r>
                <a:rPr kumimoji="1" lang="en-US" altLang="zh-CN" sz="1400" baseline="-25000">
                  <a:latin typeface="Times New Roman" panose="02020603050405020304" pitchFamily="18" charset="0"/>
                </a:rPr>
                <a:t>CC</a:t>
              </a:r>
            </a:p>
          </p:txBody>
        </p:sp>
        <p:sp>
          <p:nvSpPr>
            <p:cNvPr id="21" name="Line 135"/>
            <p:cNvSpPr>
              <a:spLocks noChangeShapeType="1"/>
            </p:cNvSpPr>
            <p:nvPr/>
          </p:nvSpPr>
          <p:spPr bwMode="auto">
            <a:xfrm>
              <a:off x="4320" y="164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36"/>
            <p:cNvSpPr>
              <a:spLocks noChangeShapeType="1"/>
            </p:cNvSpPr>
            <p:nvPr/>
          </p:nvSpPr>
          <p:spPr bwMode="auto">
            <a:xfrm flipH="1">
              <a:off x="4464" y="134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37"/>
            <p:cNvSpPr>
              <a:spLocks noChangeShapeType="1"/>
            </p:cNvSpPr>
            <p:nvPr/>
          </p:nvSpPr>
          <p:spPr bwMode="auto">
            <a:xfrm flipH="1">
              <a:off x="3802" y="816"/>
              <a:ext cx="17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Arc 138"/>
            <p:cNvSpPr>
              <a:spLocks/>
            </p:cNvSpPr>
            <p:nvPr/>
          </p:nvSpPr>
          <p:spPr bwMode="auto">
            <a:xfrm rot="10800000" flipV="1">
              <a:off x="5146" y="528"/>
              <a:ext cx="432" cy="2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39"/>
            <p:cNvSpPr txBox="1">
              <a:spLocks noChangeArrowheads="1"/>
            </p:cNvSpPr>
            <p:nvPr/>
          </p:nvSpPr>
          <p:spPr bwMode="auto">
            <a:xfrm>
              <a:off x="3360" y="720"/>
              <a:ext cx="4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00">
                  <a:latin typeface="Times New Roman" panose="02020603050405020304" pitchFamily="18" charset="0"/>
                </a:rPr>
                <a:t>1/3V</a:t>
              </a:r>
              <a:r>
                <a:rPr kumimoji="1" lang="en-US" altLang="zh-CN" sz="1400" baseline="-25000">
                  <a:latin typeface="Times New Roman" panose="02020603050405020304" pitchFamily="18" charset="0"/>
                </a:rPr>
                <a:t>CC</a:t>
              </a:r>
            </a:p>
          </p:txBody>
        </p:sp>
        <p:sp>
          <p:nvSpPr>
            <p:cNvPr id="26" name="Line 140"/>
            <p:cNvSpPr>
              <a:spLocks noChangeShapeType="1"/>
            </p:cNvSpPr>
            <p:nvPr/>
          </p:nvSpPr>
          <p:spPr bwMode="auto">
            <a:xfrm>
              <a:off x="3792" y="148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41"/>
            <p:cNvSpPr>
              <a:spLocks noChangeShapeType="1"/>
            </p:cNvSpPr>
            <p:nvPr/>
          </p:nvSpPr>
          <p:spPr bwMode="auto">
            <a:xfrm>
              <a:off x="4224" y="148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42"/>
            <p:cNvSpPr>
              <a:spLocks noChangeShapeType="1"/>
            </p:cNvSpPr>
            <p:nvPr/>
          </p:nvSpPr>
          <p:spPr bwMode="auto">
            <a:xfrm>
              <a:off x="4224" y="18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43"/>
            <p:cNvSpPr>
              <a:spLocks noChangeShapeType="1"/>
            </p:cNvSpPr>
            <p:nvPr/>
          </p:nvSpPr>
          <p:spPr bwMode="auto">
            <a:xfrm flipV="1">
              <a:off x="4464" y="148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44"/>
            <p:cNvSpPr>
              <a:spLocks noChangeShapeType="1"/>
            </p:cNvSpPr>
            <p:nvPr/>
          </p:nvSpPr>
          <p:spPr bwMode="auto">
            <a:xfrm>
              <a:off x="4992" y="134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45"/>
            <p:cNvSpPr>
              <a:spLocks noChangeShapeType="1"/>
            </p:cNvSpPr>
            <p:nvPr/>
          </p:nvSpPr>
          <p:spPr bwMode="auto">
            <a:xfrm flipH="1">
              <a:off x="5136" y="164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46"/>
            <p:cNvSpPr>
              <a:spLocks noChangeShapeType="1"/>
            </p:cNvSpPr>
            <p:nvPr/>
          </p:nvSpPr>
          <p:spPr bwMode="auto">
            <a:xfrm>
              <a:off x="4464" y="148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47"/>
            <p:cNvSpPr>
              <a:spLocks noChangeShapeType="1"/>
            </p:cNvSpPr>
            <p:nvPr/>
          </p:nvSpPr>
          <p:spPr bwMode="auto">
            <a:xfrm>
              <a:off x="4896" y="148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48"/>
            <p:cNvSpPr>
              <a:spLocks noChangeShapeType="1"/>
            </p:cNvSpPr>
            <p:nvPr/>
          </p:nvSpPr>
          <p:spPr bwMode="auto">
            <a:xfrm>
              <a:off x="4896" y="182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49"/>
            <p:cNvSpPr>
              <a:spLocks noChangeShapeType="1"/>
            </p:cNvSpPr>
            <p:nvPr/>
          </p:nvSpPr>
          <p:spPr bwMode="auto">
            <a:xfrm flipV="1">
              <a:off x="5136" y="148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50"/>
            <p:cNvSpPr>
              <a:spLocks noChangeShapeType="1"/>
            </p:cNvSpPr>
            <p:nvPr/>
          </p:nvSpPr>
          <p:spPr bwMode="auto">
            <a:xfrm>
              <a:off x="5136" y="14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51"/>
            <p:cNvSpPr>
              <a:spLocks noChangeShapeType="1"/>
            </p:cNvSpPr>
            <p:nvPr/>
          </p:nvSpPr>
          <p:spPr bwMode="auto">
            <a:xfrm>
              <a:off x="5136" y="816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52"/>
            <p:cNvSpPr>
              <a:spLocks noChangeShapeType="1"/>
            </p:cNvSpPr>
            <p:nvPr/>
          </p:nvSpPr>
          <p:spPr bwMode="auto">
            <a:xfrm flipV="1">
              <a:off x="4896" y="163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153"/>
            <p:cNvSpPr txBox="1">
              <a:spLocks noChangeArrowheads="1"/>
            </p:cNvSpPr>
            <p:nvPr/>
          </p:nvSpPr>
          <p:spPr bwMode="auto">
            <a:xfrm>
              <a:off x="4560" y="1536"/>
              <a:ext cx="27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154"/>
            <p:cNvSpPr txBox="1">
              <a:spLocks noChangeArrowheads="1"/>
            </p:cNvSpPr>
            <p:nvPr/>
          </p:nvSpPr>
          <p:spPr bwMode="auto">
            <a:xfrm>
              <a:off x="4896" y="1536"/>
              <a:ext cx="27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155"/>
            <p:cNvSpPr txBox="1">
              <a:spLocks noChangeArrowheads="1"/>
            </p:cNvSpPr>
            <p:nvPr/>
          </p:nvSpPr>
          <p:spPr bwMode="auto">
            <a:xfrm>
              <a:off x="4697" y="1230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</p:grp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627563"/>
              </p:ext>
            </p:extLst>
          </p:nvPr>
        </p:nvGraphicFramePr>
        <p:xfrm>
          <a:off x="975902" y="324693"/>
          <a:ext cx="3933168" cy="4503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53056" imgH="3272028" progId="SmartDraw.2">
                  <p:embed/>
                </p:oleObj>
              </mc:Choice>
              <mc:Fallback>
                <p:oleObj r:id="rId2" imgW="2353056" imgH="3272028" progId="SmartDraw.2">
                  <p:embed/>
                  <p:pic>
                    <p:nvPicPr>
                      <p:cNvPr id="42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902" y="324693"/>
                        <a:ext cx="3933168" cy="45030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1526714" y="534445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振荡周期</a:t>
            </a:r>
            <a:endParaRPr lang="zh-CN" altLang="en-US" sz="2400" dirty="0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241603"/>
              </p:ext>
            </p:extLst>
          </p:nvPr>
        </p:nvGraphicFramePr>
        <p:xfrm>
          <a:off x="3253159" y="5344450"/>
          <a:ext cx="2739717" cy="47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05977" imgH="215806" progId="Equation.3">
                  <p:embed/>
                </p:oleObj>
              </mc:Choice>
              <mc:Fallback>
                <p:oleObj r:id="rId4" imgW="1205977" imgH="215806" progId="Equation.3">
                  <p:embed/>
                  <p:pic>
                    <p:nvPicPr>
                      <p:cNvPr id="44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159" y="5344450"/>
                        <a:ext cx="2739717" cy="475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1587198" y="6105858"/>
            <a:ext cx="16659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振荡频率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922364"/>
              </p:ext>
            </p:extLst>
          </p:nvPr>
        </p:nvGraphicFramePr>
        <p:xfrm>
          <a:off x="3253159" y="6000472"/>
          <a:ext cx="1886016" cy="806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4100" imgH="431800" progId="Equation.3">
                  <p:embed/>
                </p:oleObj>
              </mc:Choice>
              <mc:Fallback>
                <p:oleObj r:id="rId6" imgW="1054100" imgH="431800" progId="Equation.3">
                  <p:embed/>
                  <p:pic>
                    <p:nvPicPr>
                      <p:cNvPr id="46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159" y="6000472"/>
                        <a:ext cx="1886016" cy="8064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/>
          <p:cNvSpPr/>
          <p:nvPr/>
        </p:nvSpPr>
        <p:spPr>
          <a:xfrm>
            <a:off x="6777228" y="6172852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占空比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012970"/>
              </p:ext>
            </p:extLst>
          </p:nvPr>
        </p:nvGraphicFramePr>
        <p:xfrm>
          <a:off x="8326533" y="6000472"/>
          <a:ext cx="1619427" cy="95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25500" imgH="431800" progId="Equation.3">
                  <p:embed/>
                </p:oleObj>
              </mc:Choice>
              <mc:Fallback>
                <p:oleObj r:id="rId8" imgW="825500" imgH="431800" progId="Equation.3">
                  <p:embed/>
                  <p:pic>
                    <p:nvPicPr>
                      <p:cNvPr id="48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6533" y="6000472"/>
                        <a:ext cx="1619427" cy="9517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94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94346" y="234653"/>
            <a:ext cx="51315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定时器构成的单稳态触发电路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326046" y="1901138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b="0" dirty="0">
                <a:latin typeface="仿宋" panose="02010609060101010101" pitchFamily="49" charset="-122"/>
                <a:ea typeface="仿宋" panose="02010609060101010101" pitchFamily="49" charset="-122"/>
              </a:rPr>
              <a:t>电路组成</a:t>
            </a:r>
          </a:p>
        </p:txBody>
      </p:sp>
      <p:grpSp>
        <p:nvGrpSpPr>
          <p:cNvPr id="11436" name="Group 172"/>
          <p:cNvGrpSpPr>
            <a:grpSpLocks/>
          </p:cNvGrpSpPr>
          <p:nvPr/>
        </p:nvGrpSpPr>
        <p:grpSpPr bwMode="auto">
          <a:xfrm>
            <a:off x="687779" y="2315963"/>
            <a:ext cx="3505200" cy="3529012"/>
            <a:chOff x="1632" y="1525"/>
            <a:chExt cx="2208" cy="2223"/>
          </a:xfrm>
        </p:grpSpPr>
        <p:sp>
          <p:nvSpPr>
            <p:cNvPr id="22643" name="Rectangle 118"/>
            <p:cNvSpPr>
              <a:spLocks noChangeArrowheads="1"/>
            </p:cNvSpPr>
            <p:nvPr/>
          </p:nvSpPr>
          <p:spPr bwMode="auto">
            <a:xfrm>
              <a:off x="2463" y="2330"/>
              <a:ext cx="639" cy="10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644" name="Line 119"/>
            <p:cNvSpPr>
              <a:spLocks noChangeShapeType="1"/>
            </p:cNvSpPr>
            <p:nvPr/>
          </p:nvSpPr>
          <p:spPr bwMode="auto">
            <a:xfrm flipV="1">
              <a:off x="2660" y="184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5" name="Line 121"/>
            <p:cNvSpPr>
              <a:spLocks noChangeShapeType="1"/>
            </p:cNvSpPr>
            <p:nvPr/>
          </p:nvSpPr>
          <p:spPr bwMode="auto">
            <a:xfrm>
              <a:off x="2906" y="2071"/>
              <a:ext cx="0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6" name="Line 122"/>
            <p:cNvSpPr>
              <a:spLocks noChangeShapeType="1"/>
            </p:cNvSpPr>
            <p:nvPr/>
          </p:nvSpPr>
          <p:spPr bwMode="auto">
            <a:xfrm>
              <a:off x="2070" y="3128"/>
              <a:ext cx="3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7" name="Line 124"/>
            <p:cNvSpPr>
              <a:spLocks noChangeShapeType="1"/>
            </p:cNvSpPr>
            <p:nvPr/>
          </p:nvSpPr>
          <p:spPr bwMode="auto">
            <a:xfrm>
              <a:off x="2267" y="2599"/>
              <a:ext cx="1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8" name="Line 125"/>
            <p:cNvSpPr>
              <a:spLocks noChangeShapeType="1"/>
            </p:cNvSpPr>
            <p:nvPr/>
          </p:nvSpPr>
          <p:spPr bwMode="auto">
            <a:xfrm>
              <a:off x="2611" y="3363"/>
              <a:ext cx="0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9" name="Line 126"/>
            <p:cNvSpPr>
              <a:spLocks noChangeShapeType="1"/>
            </p:cNvSpPr>
            <p:nvPr/>
          </p:nvSpPr>
          <p:spPr bwMode="auto">
            <a:xfrm>
              <a:off x="2525" y="3744"/>
              <a:ext cx="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50" name="Line 127"/>
            <p:cNvSpPr>
              <a:spLocks noChangeShapeType="1"/>
            </p:cNvSpPr>
            <p:nvPr/>
          </p:nvSpPr>
          <p:spPr bwMode="auto">
            <a:xfrm>
              <a:off x="2955" y="3363"/>
              <a:ext cx="0" cy="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51" name="Line 128"/>
            <p:cNvSpPr>
              <a:spLocks noChangeShapeType="1"/>
            </p:cNvSpPr>
            <p:nvPr/>
          </p:nvSpPr>
          <p:spPr bwMode="auto">
            <a:xfrm>
              <a:off x="2906" y="3526"/>
              <a:ext cx="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52" name="Line 129"/>
            <p:cNvSpPr>
              <a:spLocks noChangeShapeType="1"/>
            </p:cNvSpPr>
            <p:nvPr/>
          </p:nvSpPr>
          <p:spPr bwMode="auto">
            <a:xfrm>
              <a:off x="2906" y="3581"/>
              <a:ext cx="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53" name="Line 130"/>
            <p:cNvSpPr>
              <a:spLocks noChangeShapeType="1"/>
            </p:cNvSpPr>
            <p:nvPr/>
          </p:nvSpPr>
          <p:spPr bwMode="auto">
            <a:xfrm>
              <a:off x="2955" y="3581"/>
              <a:ext cx="0" cy="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54" name="Line 131"/>
            <p:cNvSpPr>
              <a:spLocks noChangeShapeType="1"/>
            </p:cNvSpPr>
            <p:nvPr/>
          </p:nvSpPr>
          <p:spPr bwMode="auto">
            <a:xfrm>
              <a:off x="2881" y="3744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55" name="Line 132"/>
            <p:cNvSpPr>
              <a:spLocks noChangeShapeType="1"/>
            </p:cNvSpPr>
            <p:nvPr/>
          </p:nvSpPr>
          <p:spPr bwMode="auto">
            <a:xfrm>
              <a:off x="3102" y="2819"/>
              <a:ext cx="1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56" name="Text Box 133"/>
            <p:cNvSpPr txBox="1">
              <a:spLocks noChangeArrowheads="1"/>
            </p:cNvSpPr>
            <p:nvPr/>
          </p:nvSpPr>
          <p:spPr bwMode="auto">
            <a:xfrm>
              <a:off x="2562" y="231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2657" name="Text Box 134"/>
            <p:cNvSpPr txBox="1">
              <a:spLocks noChangeArrowheads="1"/>
            </p:cNvSpPr>
            <p:nvPr/>
          </p:nvSpPr>
          <p:spPr bwMode="auto">
            <a:xfrm>
              <a:off x="2816" y="231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658" name="Text Box 135"/>
            <p:cNvSpPr txBox="1">
              <a:spLocks noChangeArrowheads="1"/>
            </p:cNvSpPr>
            <p:nvPr/>
          </p:nvSpPr>
          <p:spPr bwMode="auto">
            <a:xfrm>
              <a:off x="2463" y="248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2659" name="Text Box 136"/>
            <p:cNvSpPr txBox="1">
              <a:spLocks noChangeArrowheads="1"/>
            </p:cNvSpPr>
            <p:nvPr/>
          </p:nvSpPr>
          <p:spPr bwMode="auto">
            <a:xfrm>
              <a:off x="2451" y="298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660" name="Text Box 137"/>
            <p:cNvSpPr txBox="1">
              <a:spLocks noChangeArrowheads="1"/>
            </p:cNvSpPr>
            <p:nvPr/>
          </p:nvSpPr>
          <p:spPr bwMode="auto">
            <a:xfrm>
              <a:off x="2512" y="313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661" name="Text Box 138"/>
            <p:cNvSpPr txBox="1">
              <a:spLocks noChangeArrowheads="1"/>
            </p:cNvSpPr>
            <p:nvPr/>
          </p:nvSpPr>
          <p:spPr bwMode="auto">
            <a:xfrm>
              <a:off x="2877" y="313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2662" name="Text Box 139"/>
            <p:cNvSpPr txBox="1">
              <a:spLocks noChangeArrowheads="1"/>
            </p:cNvSpPr>
            <p:nvPr/>
          </p:nvSpPr>
          <p:spPr bwMode="auto">
            <a:xfrm>
              <a:off x="2902" y="2699"/>
              <a:ext cx="19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663" name="Text Box 140"/>
            <p:cNvSpPr txBox="1">
              <a:spLocks noChangeArrowheads="1"/>
            </p:cNvSpPr>
            <p:nvPr/>
          </p:nvSpPr>
          <p:spPr bwMode="auto">
            <a:xfrm>
              <a:off x="2620" y="2729"/>
              <a:ext cx="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CC3300"/>
                  </a:solidFill>
                  <a:latin typeface="Times New Roman" panose="02020603050405020304" pitchFamily="18" charset="0"/>
                </a:rPr>
                <a:t>555</a:t>
              </a:r>
            </a:p>
          </p:txBody>
        </p:sp>
        <p:sp>
          <p:nvSpPr>
            <p:cNvPr id="22664" name="Text Box 141"/>
            <p:cNvSpPr txBox="1">
              <a:spLocks noChangeArrowheads="1"/>
            </p:cNvSpPr>
            <p:nvPr/>
          </p:nvSpPr>
          <p:spPr bwMode="auto">
            <a:xfrm>
              <a:off x="2447" y="1525"/>
              <a:ext cx="5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CC</a:t>
              </a:r>
            </a:p>
          </p:txBody>
        </p:sp>
        <p:sp>
          <p:nvSpPr>
            <p:cNvPr id="22665" name="Text Box 142"/>
            <p:cNvSpPr txBox="1">
              <a:spLocks noChangeArrowheads="1"/>
            </p:cNvSpPr>
            <p:nvPr/>
          </p:nvSpPr>
          <p:spPr bwMode="auto">
            <a:xfrm>
              <a:off x="3283" y="2645"/>
              <a:ext cx="5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2666" name="Text Box 143"/>
            <p:cNvSpPr txBox="1">
              <a:spLocks noChangeArrowheads="1"/>
            </p:cNvSpPr>
            <p:nvPr/>
          </p:nvSpPr>
          <p:spPr bwMode="auto">
            <a:xfrm>
              <a:off x="1824" y="3014"/>
              <a:ext cx="5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2667" name="Line 145"/>
            <p:cNvSpPr>
              <a:spLocks noChangeShapeType="1"/>
            </p:cNvSpPr>
            <p:nvPr/>
          </p:nvSpPr>
          <p:spPr bwMode="auto">
            <a:xfrm>
              <a:off x="2256" y="2426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8" name="Line 146"/>
            <p:cNvSpPr>
              <a:spLocks noChangeShapeType="1"/>
            </p:cNvSpPr>
            <p:nvPr/>
          </p:nvSpPr>
          <p:spPr bwMode="auto">
            <a:xfrm>
              <a:off x="2198" y="3530"/>
              <a:ext cx="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9" name="Line 147"/>
            <p:cNvSpPr>
              <a:spLocks noChangeShapeType="1"/>
            </p:cNvSpPr>
            <p:nvPr/>
          </p:nvSpPr>
          <p:spPr bwMode="auto">
            <a:xfrm>
              <a:off x="2198" y="3585"/>
              <a:ext cx="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0" name="Line 148"/>
            <p:cNvSpPr>
              <a:spLocks noChangeShapeType="1"/>
            </p:cNvSpPr>
            <p:nvPr/>
          </p:nvSpPr>
          <p:spPr bwMode="auto">
            <a:xfrm>
              <a:off x="2247" y="3585"/>
              <a:ext cx="0" cy="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1" name="Line 149"/>
            <p:cNvSpPr>
              <a:spLocks noChangeShapeType="1"/>
            </p:cNvSpPr>
            <p:nvPr/>
          </p:nvSpPr>
          <p:spPr bwMode="auto">
            <a:xfrm>
              <a:off x="2173" y="3748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2" name="Rectangle 150"/>
            <p:cNvSpPr>
              <a:spLocks noChangeArrowheads="1"/>
            </p:cNvSpPr>
            <p:nvPr/>
          </p:nvSpPr>
          <p:spPr bwMode="auto">
            <a:xfrm>
              <a:off x="2208" y="2195"/>
              <a:ext cx="96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673" name="Line 152"/>
            <p:cNvSpPr>
              <a:spLocks noChangeShapeType="1"/>
            </p:cNvSpPr>
            <p:nvPr/>
          </p:nvSpPr>
          <p:spPr bwMode="auto">
            <a:xfrm flipV="1">
              <a:off x="2256" y="2051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4" name="Line 154"/>
            <p:cNvSpPr>
              <a:spLocks noChangeShapeType="1"/>
            </p:cNvSpPr>
            <p:nvPr/>
          </p:nvSpPr>
          <p:spPr bwMode="auto">
            <a:xfrm flipH="1">
              <a:off x="2256" y="2064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5" name="Text Box 155"/>
            <p:cNvSpPr txBox="1">
              <a:spLocks noChangeArrowheads="1"/>
            </p:cNvSpPr>
            <p:nvPr/>
          </p:nvSpPr>
          <p:spPr bwMode="auto">
            <a:xfrm>
              <a:off x="2457" y="2743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/>
                <a:t>7</a:t>
              </a:r>
            </a:p>
          </p:txBody>
        </p:sp>
        <p:sp>
          <p:nvSpPr>
            <p:cNvPr id="22676" name="Line 156"/>
            <p:cNvSpPr>
              <a:spLocks noChangeShapeType="1"/>
            </p:cNvSpPr>
            <p:nvPr/>
          </p:nvSpPr>
          <p:spPr bwMode="auto">
            <a:xfrm>
              <a:off x="2256" y="2858"/>
              <a:ext cx="1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7" name="Text Box 157"/>
            <p:cNvSpPr txBox="1">
              <a:spLocks noChangeArrowheads="1"/>
            </p:cNvSpPr>
            <p:nvPr/>
          </p:nvSpPr>
          <p:spPr bwMode="auto">
            <a:xfrm>
              <a:off x="1976" y="2215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/>
                <a:t>R</a:t>
              </a:r>
            </a:p>
          </p:txBody>
        </p:sp>
        <p:sp>
          <p:nvSpPr>
            <p:cNvPr id="22678" name="Text Box 158"/>
            <p:cNvSpPr txBox="1">
              <a:spLocks noChangeArrowheads="1"/>
            </p:cNvSpPr>
            <p:nvPr/>
          </p:nvSpPr>
          <p:spPr bwMode="auto">
            <a:xfrm>
              <a:off x="1968" y="3441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/>
                <a:t>C</a:t>
              </a:r>
            </a:p>
          </p:txBody>
        </p:sp>
        <p:sp>
          <p:nvSpPr>
            <p:cNvPr id="22679" name="Text Box 159"/>
            <p:cNvSpPr txBox="1">
              <a:spLocks noChangeArrowheads="1"/>
            </p:cNvSpPr>
            <p:nvPr/>
          </p:nvSpPr>
          <p:spPr bwMode="auto">
            <a:xfrm>
              <a:off x="2984" y="3443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/>
                <a:t>C</a:t>
              </a:r>
            </a:p>
          </p:txBody>
        </p:sp>
        <p:grpSp>
          <p:nvGrpSpPr>
            <p:cNvPr id="22680" name="Group 171"/>
            <p:cNvGrpSpPr>
              <a:grpSpLocks/>
            </p:cNvGrpSpPr>
            <p:nvPr/>
          </p:nvGrpSpPr>
          <p:grpSpPr bwMode="auto">
            <a:xfrm>
              <a:off x="1632" y="3120"/>
              <a:ext cx="240" cy="192"/>
              <a:chOff x="1488" y="3120"/>
              <a:chExt cx="384" cy="192"/>
            </a:xfrm>
          </p:grpSpPr>
          <p:sp>
            <p:nvSpPr>
              <p:cNvPr id="22684" name="Line 160"/>
              <p:cNvSpPr>
                <a:spLocks noChangeShapeType="1"/>
              </p:cNvSpPr>
              <p:nvPr/>
            </p:nvSpPr>
            <p:spPr bwMode="auto">
              <a:xfrm>
                <a:off x="1488" y="31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5" name="Line 161"/>
              <p:cNvSpPr>
                <a:spLocks noChangeShapeType="1"/>
              </p:cNvSpPr>
              <p:nvPr/>
            </p:nvSpPr>
            <p:spPr bwMode="auto">
              <a:xfrm>
                <a:off x="1632" y="312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6" name="Line 162"/>
              <p:cNvSpPr>
                <a:spLocks noChangeShapeType="1"/>
              </p:cNvSpPr>
              <p:nvPr/>
            </p:nvSpPr>
            <p:spPr bwMode="auto">
              <a:xfrm>
                <a:off x="1632" y="33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7" name="Line 163"/>
              <p:cNvSpPr>
                <a:spLocks noChangeShapeType="1"/>
              </p:cNvSpPr>
              <p:nvPr/>
            </p:nvSpPr>
            <p:spPr bwMode="auto">
              <a:xfrm flipV="1">
                <a:off x="1776" y="312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8" name="Line 164"/>
              <p:cNvSpPr>
                <a:spLocks noChangeShapeType="1"/>
              </p:cNvSpPr>
              <p:nvPr/>
            </p:nvSpPr>
            <p:spPr bwMode="auto">
              <a:xfrm>
                <a:off x="1776" y="312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681" name="Text Box 166"/>
            <p:cNvSpPr txBox="1">
              <a:spLocks noChangeArrowheads="1"/>
            </p:cNvSpPr>
            <p:nvPr/>
          </p:nvSpPr>
          <p:spPr bwMode="auto">
            <a:xfrm>
              <a:off x="2173" y="2413"/>
              <a:ext cx="25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宋体" panose="02010600030101010101" pitchFamily="2" charset="-122"/>
                </a:rPr>
                <a:t>∙</a:t>
              </a:r>
              <a:r>
                <a:rPr lang="en-US" altLang="zh-CN" sz="3200"/>
                <a:t> </a:t>
              </a:r>
            </a:p>
          </p:txBody>
        </p:sp>
        <p:sp>
          <p:nvSpPr>
            <p:cNvPr id="22682" name="Text Box 167"/>
            <p:cNvSpPr txBox="1">
              <a:spLocks noChangeArrowheads="1"/>
            </p:cNvSpPr>
            <p:nvPr/>
          </p:nvSpPr>
          <p:spPr bwMode="auto">
            <a:xfrm>
              <a:off x="2186" y="2684"/>
              <a:ext cx="2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∙</a:t>
              </a:r>
              <a:r>
                <a:rPr lang="en-US" altLang="zh-CN" sz="2800"/>
                <a:t> </a:t>
              </a:r>
            </a:p>
          </p:txBody>
        </p:sp>
        <p:sp>
          <p:nvSpPr>
            <p:cNvPr id="22683" name="Text Box 168"/>
            <p:cNvSpPr txBox="1">
              <a:spLocks noChangeArrowheads="1"/>
            </p:cNvSpPr>
            <p:nvPr/>
          </p:nvSpPr>
          <p:spPr bwMode="auto">
            <a:xfrm>
              <a:off x="2585" y="1894"/>
              <a:ext cx="2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∙</a:t>
              </a:r>
              <a:r>
                <a:rPr lang="en-US" altLang="zh-CN" sz="2800"/>
                <a:t> </a:t>
              </a:r>
            </a:p>
          </p:txBody>
        </p:sp>
      </p:grpSp>
      <p:grpSp>
        <p:nvGrpSpPr>
          <p:cNvPr id="161" name="Group 278"/>
          <p:cNvGrpSpPr>
            <a:grpSpLocks/>
          </p:cNvGrpSpPr>
          <p:nvPr/>
        </p:nvGrpSpPr>
        <p:grpSpPr bwMode="auto">
          <a:xfrm>
            <a:off x="3732498" y="1901138"/>
            <a:ext cx="3825875" cy="4381500"/>
            <a:chOff x="3282" y="840"/>
            <a:chExt cx="2410" cy="2760"/>
          </a:xfrm>
        </p:grpSpPr>
        <p:sp>
          <p:nvSpPr>
            <p:cNvPr id="162" name="Line 114"/>
            <p:cNvSpPr>
              <a:spLocks noChangeShapeType="1"/>
            </p:cNvSpPr>
            <p:nvPr/>
          </p:nvSpPr>
          <p:spPr bwMode="auto">
            <a:xfrm flipV="1">
              <a:off x="3706" y="960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115"/>
            <p:cNvSpPr>
              <a:spLocks noChangeShapeType="1"/>
            </p:cNvSpPr>
            <p:nvPr/>
          </p:nvSpPr>
          <p:spPr bwMode="auto">
            <a:xfrm>
              <a:off x="3706" y="1680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Text Box 116"/>
            <p:cNvSpPr txBox="1">
              <a:spLocks noChangeArrowheads="1"/>
            </p:cNvSpPr>
            <p:nvPr/>
          </p:nvSpPr>
          <p:spPr bwMode="auto">
            <a:xfrm>
              <a:off x="3684" y="840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>
                  <a:latin typeface="Times New Roman" panose="02020603050405020304" pitchFamily="18" charset="0"/>
                </a:rPr>
                <a:t>i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5" name="Text Box 117"/>
            <p:cNvSpPr txBox="1">
              <a:spLocks noChangeArrowheads="1"/>
            </p:cNvSpPr>
            <p:nvPr/>
          </p:nvSpPr>
          <p:spPr bwMode="auto">
            <a:xfrm>
              <a:off x="5523" y="1545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66" name="Line 118"/>
            <p:cNvSpPr>
              <a:spLocks noChangeShapeType="1"/>
            </p:cNvSpPr>
            <p:nvPr/>
          </p:nvSpPr>
          <p:spPr bwMode="auto">
            <a:xfrm flipV="1">
              <a:off x="3706" y="1848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119"/>
            <p:cNvSpPr>
              <a:spLocks noChangeShapeType="1"/>
            </p:cNvSpPr>
            <p:nvPr/>
          </p:nvSpPr>
          <p:spPr bwMode="auto">
            <a:xfrm>
              <a:off x="3706" y="2568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Text Box 120"/>
            <p:cNvSpPr txBox="1">
              <a:spLocks noChangeArrowheads="1"/>
            </p:cNvSpPr>
            <p:nvPr/>
          </p:nvSpPr>
          <p:spPr bwMode="auto">
            <a:xfrm>
              <a:off x="3684" y="1728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9" name="Text Box 121"/>
            <p:cNvSpPr txBox="1">
              <a:spLocks noChangeArrowheads="1"/>
            </p:cNvSpPr>
            <p:nvPr/>
          </p:nvSpPr>
          <p:spPr bwMode="auto">
            <a:xfrm>
              <a:off x="5523" y="2433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70" name="Line 122"/>
            <p:cNvSpPr>
              <a:spLocks noChangeShapeType="1"/>
            </p:cNvSpPr>
            <p:nvPr/>
          </p:nvSpPr>
          <p:spPr bwMode="auto">
            <a:xfrm>
              <a:off x="3724" y="129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123"/>
            <p:cNvSpPr>
              <a:spLocks noChangeShapeType="1"/>
            </p:cNvSpPr>
            <p:nvPr/>
          </p:nvSpPr>
          <p:spPr bwMode="auto">
            <a:xfrm>
              <a:off x="3916" y="1296"/>
              <a:ext cx="0" cy="17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24"/>
            <p:cNvSpPr>
              <a:spLocks noChangeShapeType="1"/>
            </p:cNvSpPr>
            <p:nvPr/>
          </p:nvSpPr>
          <p:spPr bwMode="auto">
            <a:xfrm>
              <a:off x="4588" y="1632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125"/>
            <p:cNvSpPr>
              <a:spLocks noChangeShapeType="1"/>
            </p:cNvSpPr>
            <p:nvPr/>
          </p:nvSpPr>
          <p:spPr bwMode="auto">
            <a:xfrm>
              <a:off x="4348" y="2256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26"/>
            <p:cNvSpPr>
              <a:spLocks noChangeShapeType="1"/>
            </p:cNvSpPr>
            <p:nvPr/>
          </p:nvSpPr>
          <p:spPr bwMode="auto">
            <a:xfrm>
              <a:off x="5020" y="2256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127"/>
            <p:cNvSpPr>
              <a:spLocks noChangeShapeType="1"/>
            </p:cNvSpPr>
            <p:nvPr/>
          </p:nvSpPr>
          <p:spPr bwMode="auto">
            <a:xfrm>
              <a:off x="3724" y="2539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Text Box 128"/>
            <p:cNvSpPr txBox="1">
              <a:spLocks noChangeArrowheads="1"/>
            </p:cNvSpPr>
            <p:nvPr/>
          </p:nvSpPr>
          <p:spPr bwMode="auto">
            <a:xfrm>
              <a:off x="3536" y="159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77" name="Text Box 129"/>
            <p:cNvSpPr txBox="1">
              <a:spLocks noChangeArrowheads="1"/>
            </p:cNvSpPr>
            <p:nvPr/>
          </p:nvSpPr>
          <p:spPr bwMode="auto">
            <a:xfrm>
              <a:off x="3532" y="245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78" name="Line 130"/>
            <p:cNvSpPr>
              <a:spLocks noChangeShapeType="1"/>
            </p:cNvSpPr>
            <p:nvPr/>
          </p:nvSpPr>
          <p:spPr bwMode="auto">
            <a:xfrm>
              <a:off x="3916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131"/>
            <p:cNvSpPr>
              <a:spLocks noChangeShapeType="1"/>
            </p:cNvSpPr>
            <p:nvPr/>
          </p:nvSpPr>
          <p:spPr bwMode="auto">
            <a:xfrm>
              <a:off x="3916" y="16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132"/>
            <p:cNvSpPr>
              <a:spLocks noChangeShapeType="1"/>
            </p:cNvSpPr>
            <p:nvPr/>
          </p:nvSpPr>
          <p:spPr bwMode="auto">
            <a:xfrm flipV="1">
              <a:off x="4060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33"/>
            <p:cNvSpPr>
              <a:spLocks noChangeShapeType="1"/>
            </p:cNvSpPr>
            <p:nvPr/>
          </p:nvSpPr>
          <p:spPr bwMode="auto">
            <a:xfrm>
              <a:off x="4060" y="129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134"/>
            <p:cNvSpPr>
              <a:spLocks noChangeShapeType="1"/>
            </p:cNvSpPr>
            <p:nvPr/>
          </p:nvSpPr>
          <p:spPr bwMode="auto">
            <a:xfrm>
              <a:off x="4588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35"/>
            <p:cNvSpPr>
              <a:spLocks noChangeShapeType="1"/>
            </p:cNvSpPr>
            <p:nvPr/>
          </p:nvSpPr>
          <p:spPr bwMode="auto">
            <a:xfrm>
              <a:off x="4588" y="16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36"/>
            <p:cNvSpPr>
              <a:spLocks noChangeShapeType="1"/>
            </p:cNvSpPr>
            <p:nvPr/>
          </p:nvSpPr>
          <p:spPr bwMode="auto">
            <a:xfrm flipV="1">
              <a:off x="4732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37"/>
            <p:cNvSpPr>
              <a:spLocks noChangeShapeType="1"/>
            </p:cNvSpPr>
            <p:nvPr/>
          </p:nvSpPr>
          <p:spPr bwMode="auto">
            <a:xfrm>
              <a:off x="4732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Arc 138"/>
            <p:cNvSpPr>
              <a:spLocks/>
            </p:cNvSpPr>
            <p:nvPr/>
          </p:nvSpPr>
          <p:spPr bwMode="auto">
            <a:xfrm rot="10800000" flipV="1">
              <a:off x="3916" y="2251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432 w 21600"/>
                <a:gd name="T3" fmla="*/ 288 h 21600"/>
                <a:gd name="T4" fmla="*/ 0 w 2160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Arc 139"/>
            <p:cNvSpPr>
              <a:spLocks/>
            </p:cNvSpPr>
            <p:nvPr/>
          </p:nvSpPr>
          <p:spPr bwMode="auto">
            <a:xfrm rot="5400000" flipV="1">
              <a:off x="4270" y="2331"/>
              <a:ext cx="295" cy="135"/>
            </a:xfrm>
            <a:custGeom>
              <a:avLst/>
              <a:gdLst>
                <a:gd name="T0" fmla="*/ 0 w 23466"/>
                <a:gd name="T1" fmla="*/ 0 h 24285"/>
                <a:gd name="T2" fmla="*/ 293 w 23466"/>
                <a:gd name="T3" fmla="*/ 135 h 24285"/>
                <a:gd name="T4" fmla="*/ 23 w 23466"/>
                <a:gd name="T5" fmla="*/ 120 h 24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66" h="24285" fill="none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</a:path>
                <a:path w="23466" h="24285" stroke="0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  <a:lnTo>
                    <a:pt x="1866" y="21600"/>
                  </a:lnTo>
                  <a:lnTo>
                    <a:pt x="-1" y="8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Arc 140"/>
            <p:cNvSpPr>
              <a:spLocks/>
            </p:cNvSpPr>
            <p:nvPr/>
          </p:nvSpPr>
          <p:spPr bwMode="auto">
            <a:xfrm rot="10800000" flipV="1">
              <a:off x="4588" y="2251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432 w 21600"/>
                <a:gd name="T3" fmla="*/ 288 h 21600"/>
                <a:gd name="T4" fmla="*/ 0 w 2160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Line 142"/>
            <p:cNvSpPr>
              <a:spLocks noChangeShapeType="1"/>
            </p:cNvSpPr>
            <p:nvPr/>
          </p:nvSpPr>
          <p:spPr bwMode="auto">
            <a:xfrm flipV="1">
              <a:off x="3702" y="2736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143"/>
            <p:cNvSpPr>
              <a:spLocks noChangeShapeType="1"/>
            </p:cNvSpPr>
            <p:nvPr/>
          </p:nvSpPr>
          <p:spPr bwMode="auto">
            <a:xfrm>
              <a:off x="3702" y="3456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Text Box 144"/>
            <p:cNvSpPr txBox="1">
              <a:spLocks noChangeArrowheads="1"/>
            </p:cNvSpPr>
            <p:nvPr/>
          </p:nvSpPr>
          <p:spPr bwMode="auto">
            <a:xfrm>
              <a:off x="3680" y="2616"/>
              <a:ext cx="2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>
                  <a:latin typeface="Times New Roman" panose="02020603050405020304" pitchFamily="18" charset="0"/>
                </a:rPr>
                <a:t>O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92" name="Text Box 145"/>
            <p:cNvSpPr txBox="1">
              <a:spLocks noChangeArrowheads="1"/>
            </p:cNvSpPr>
            <p:nvPr/>
          </p:nvSpPr>
          <p:spPr bwMode="auto">
            <a:xfrm>
              <a:off x="5519" y="3321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93" name="Line 146"/>
            <p:cNvSpPr>
              <a:spLocks noChangeShapeType="1"/>
            </p:cNvSpPr>
            <p:nvPr/>
          </p:nvSpPr>
          <p:spPr bwMode="auto">
            <a:xfrm>
              <a:off x="3720" y="34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Text Box 147"/>
            <p:cNvSpPr txBox="1">
              <a:spLocks noChangeArrowheads="1"/>
            </p:cNvSpPr>
            <p:nvPr/>
          </p:nvSpPr>
          <p:spPr bwMode="auto">
            <a:xfrm>
              <a:off x="3532" y="336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5" name="Line 148"/>
            <p:cNvSpPr>
              <a:spLocks noChangeShapeType="1"/>
            </p:cNvSpPr>
            <p:nvPr/>
          </p:nvSpPr>
          <p:spPr bwMode="auto">
            <a:xfrm>
              <a:off x="3912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149"/>
            <p:cNvSpPr>
              <a:spLocks noChangeShapeType="1"/>
            </p:cNvSpPr>
            <p:nvPr/>
          </p:nvSpPr>
          <p:spPr bwMode="auto">
            <a:xfrm>
              <a:off x="3916" y="307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150"/>
            <p:cNvSpPr>
              <a:spLocks noChangeShapeType="1"/>
            </p:cNvSpPr>
            <p:nvPr/>
          </p:nvSpPr>
          <p:spPr bwMode="auto">
            <a:xfrm>
              <a:off x="4348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51"/>
            <p:cNvSpPr>
              <a:spLocks noChangeShapeType="1"/>
            </p:cNvSpPr>
            <p:nvPr/>
          </p:nvSpPr>
          <p:spPr bwMode="auto">
            <a:xfrm>
              <a:off x="4348" y="340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152"/>
            <p:cNvSpPr>
              <a:spLocks noChangeShapeType="1"/>
            </p:cNvSpPr>
            <p:nvPr/>
          </p:nvSpPr>
          <p:spPr bwMode="auto">
            <a:xfrm flipV="1">
              <a:off x="4588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153"/>
            <p:cNvSpPr>
              <a:spLocks noChangeShapeType="1"/>
            </p:cNvSpPr>
            <p:nvPr/>
          </p:nvSpPr>
          <p:spPr bwMode="auto">
            <a:xfrm>
              <a:off x="4588" y="307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154"/>
            <p:cNvSpPr>
              <a:spLocks noChangeShapeType="1"/>
            </p:cNvSpPr>
            <p:nvPr/>
          </p:nvSpPr>
          <p:spPr bwMode="auto">
            <a:xfrm>
              <a:off x="5020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155"/>
            <p:cNvSpPr>
              <a:spLocks noChangeShapeType="1"/>
            </p:cNvSpPr>
            <p:nvPr/>
          </p:nvSpPr>
          <p:spPr bwMode="auto">
            <a:xfrm>
              <a:off x="5020" y="340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156"/>
            <p:cNvSpPr>
              <a:spLocks noChangeShapeType="1"/>
            </p:cNvSpPr>
            <p:nvPr/>
          </p:nvSpPr>
          <p:spPr bwMode="auto">
            <a:xfrm flipH="1">
              <a:off x="3724" y="2256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Text Box 157"/>
            <p:cNvSpPr txBox="1">
              <a:spLocks noChangeArrowheads="1"/>
            </p:cNvSpPr>
            <p:nvPr/>
          </p:nvSpPr>
          <p:spPr bwMode="auto">
            <a:xfrm>
              <a:off x="3282" y="2167"/>
              <a:ext cx="4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400">
                  <a:latin typeface="Times New Roman" panose="02020603050405020304" pitchFamily="18" charset="0"/>
                </a:rPr>
                <a:t>2/3V</a:t>
              </a:r>
              <a:r>
                <a:rPr kumimoji="1" lang="en-US" altLang="zh-CN" sz="1400" baseline="-25000">
                  <a:latin typeface="Times New Roman" panose="02020603050405020304" pitchFamily="18" charset="0"/>
                </a:rPr>
                <a:t>CC</a:t>
              </a:r>
            </a:p>
          </p:txBody>
        </p:sp>
        <p:sp>
          <p:nvSpPr>
            <p:cNvPr id="205" name="Text Box 158"/>
            <p:cNvSpPr txBox="1">
              <a:spLocks noChangeArrowheads="1"/>
            </p:cNvSpPr>
            <p:nvPr/>
          </p:nvSpPr>
          <p:spPr bwMode="auto">
            <a:xfrm>
              <a:off x="4013" y="3129"/>
              <a:ext cx="2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t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06" name="Line 159"/>
            <p:cNvSpPr>
              <a:spLocks noChangeShapeType="1"/>
            </p:cNvSpPr>
            <p:nvPr/>
          </p:nvSpPr>
          <p:spPr bwMode="auto">
            <a:xfrm>
              <a:off x="4204" y="32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160"/>
            <p:cNvSpPr>
              <a:spLocks noChangeShapeType="1"/>
            </p:cNvSpPr>
            <p:nvPr/>
          </p:nvSpPr>
          <p:spPr bwMode="auto">
            <a:xfrm flipH="1">
              <a:off x="3916" y="32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Text Box 161"/>
            <p:cNvSpPr txBox="1">
              <a:spLocks noChangeArrowheads="1"/>
            </p:cNvSpPr>
            <p:nvPr/>
          </p:nvSpPr>
          <p:spPr bwMode="auto">
            <a:xfrm>
              <a:off x="4685" y="3120"/>
              <a:ext cx="2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t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09" name="Line 162"/>
            <p:cNvSpPr>
              <a:spLocks noChangeShapeType="1"/>
            </p:cNvSpPr>
            <p:nvPr/>
          </p:nvSpPr>
          <p:spPr bwMode="auto">
            <a:xfrm>
              <a:off x="4876" y="320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163"/>
            <p:cNvSpPr>
              <a:spLocks noChangeShapeType="1"/>
            </p:cNvSpPr>
            <p:nvPr/>
          </p:nvSpPr>
          <p:spPr bwMode="auto">
            <a:xfrm flipH="1">
              <a:off x="4588" y="320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75"/>
            <p:cNvSpPr>
              <a:spLocks noChangeShapeType="1"/>
            </p:cNvSpPr>
            <p:nvPr/>
          </p:nvSpPr>
          <p:spPr bwMode="auto">
            <a:xfrm>
              <a:off x="4476" y="2547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Arc 276"/>
            <p:cNvSpPr>
              <a:spLocks/>
            </p:cNvSpPr>
            <p:nvPr/>
          </p:nvSpPr>
          <p:spPr bwMode="auto">
            <a:xfrm rot="5400000" flipV="1">
              <a:off x="4933" y="2331"/>
              <a:ext cx="295" cy="135"/>
            </a:xfrm>
            <a:custGeom>
              <a:avLst/>
              <a:gdLst>
                <a:gd name="T0" fmla="*/ 0 w 23466"/>
                <a:gd name="T1" fmla="*/ 0 h 24285"/>
                <a:gd name="T2" fmla="*/ 293 w 23466"/>
                <a:gd name="T3" fmla="*/ 135 h 24285"/>
                <a:gd name="T4" fmla="*/ 23 w 23466"/>
                <a:gd name="T5" fmla="*/ 120 h 24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66" h="24285" fill="none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</a:path>
                <a:path w="23466" h="24285" stroke="0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  <a:lnTo>
                    <a:pt x="1866" y="21600"/>
                  </a:lnTo>
                  <a:lnTo>
                    <a:pt x="-1" y="8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Line 277"/>
            <p:cNvSpPr>
              <a:spLocks noChangeShapeType="1"/>
            </p:cNvSpPr>
            <p:nvPr/>
          </p:nvSpPr>
          <p:spPr bwMode="auto">
            <a:xfrm>
              <a:off x="5148" y="2547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8220863" y="746976"/>
            <a:ext cx="37575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工作原理：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稳态</a:t>
            </a:r>
          </a:p>
          <a:p>
            <a:pPr algn="just"/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未加入负触发脉冲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当</a:t>
            </a:r>
            <a:r>
              <a:rPr kumimoji="1" lang="en-US" altLang="zh-CN" sz="24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kumimoji="1" lang="en-US" altLang="zh-CN" sz="2400" baseline="-250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为高电平１并稳定一段时间后，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Vo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为低电平的稳定状态</a:t>
            </a:r>
            <a:endParaRPr lang="zh-CN" altLang="en-US" sz="2400" u="sng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60895" y="3097632"/>
            <a:ext cx="38175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暂稳态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当</a:t>
            </a:r>
            <a:r>
              <a:rPr kumimoji="1" lang="en-US" altLang="zh-CN" sz="24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kumimoji="1" lang="en-US" altLang="zh-CN" sz="2400" baseline="-250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  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来一个较短的负脉冲后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 Q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端改变状态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,Vo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由低电平跳变为高电平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电路进入暂稳态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而后经过一段时间后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这时</a:t>
            </a:r>
            <a:r>
              <a:rPr kumimoji="1" lang="en-US" altLang="zh-CN" sz="24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kumimoji="1" lang="en-US" altLang="zh-CN" sz="2400" baseline="-250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已返回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1) ,Q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自动返回到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的状态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  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即电路恢复到原来的稳态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Vo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为低电平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1828551" y="6231115"/>
            <a:ext cx="3797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1.4.3  555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组成的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单稳态触发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0" y="709746"/>
            <a:ext cx="8266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电路有一个</a:t>
            </a:r>
            <a:r>
              <a:rPr kumimoji="1" lang="zh-CN" altLang="en-US" sz="24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稳定状态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一个</a:t>
            </a:r>
            <a:r>
              <a:rPr kumimoji="1" lang="zh-CN" altLang="en-US" sz="2400" dirty="0">
                <a:solidFill>
                  <a:srgbClr val="CC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暂稳定状态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kumimoji="1" lang="zh-CN" altLang="en-US" sz="2400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没有外界触发信号作用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时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电路处于稳定状态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kumimoji="1" lang="zh-CN" altLang="en-US" sz="2400" dirty="0">
                <a:solidFill>
                  <a:srgbClr val="CC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外界信号作用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下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电路由稳态转换为暂稳态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经过一段时间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电路</a:t>
            </a:r>
            <a:r>
              <a:rPr kumimoji="1" lang="zh-CN" altLang="en-US" sz="2400" dirty="0">
                <a:solidFill>
                  <a:srgbClr val="CC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自动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返回到稳定状态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060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0" grpId="0"/>
      <p:bldP spid="3" grpId="0"/>
      <p:bldP spid="4" grpId="0"/>
      <p:bldP spid="218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1"/>
          <p:cNvSpPr txBox="1">
            <a:spLocks noChangeArrowheads="1"/>
          </p:cNvSpPr>
          <p:nvPr/>
        </p:nvSpPr>
        <p:spPr bwMode="auto">
          <a:xfrm>
            <a:off x="411130" y="4139654"/>
            <a:ext cx="4541711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*V</a:t>
            </a:r>
            <a:r>
              <a:rPr kumimoji="1" lang="en-US" altLang="zh-CN" sz="2800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的负脉冲宽度要小于</a:t>
            </a:r>
            <a:r>
              <a:rPr kumimoji="1" lang="en-US" altLang="zh-CN" sz="28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800" baseline="-250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endParaRPr kumimoji="1" lang="en-US" altLang="zh-CN" sz="28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     </a:t>
            </a:r>
            <a:endParaRPr kumimoji="1" lang="en-US" altLang="zh-CN" sz="28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 Box 62"/>
          <p:cNvSpPr txBox="1">
            <a:spLocks noChangeArrowheads="1"/>
          </p:cNvSpPr>
          <p:nvPr/>
        </p:nvSpPr>
        <p:spPr bwMode="auto">
          <a:xfrm>
            <a:off x="365950" y="5107395"/>
            <a:ext cx="502602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</a:rPr>
              <a:t>输出脉冲宽度仅取决于外接定</a:t>
            </a:r>
          </a:p>
          <a:p>
            <a:pPr eaLnBrk="1" hangingPunct="1"/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</a:rPr>
              <a:t>时元件</a:t>
            </a:r>
            <a:r>
              <a:rPr lang="en-US" altLang="zh-CN" sz="2800" dirty="0">
                <a:solidFill>
                  <a:schemeClr val="accent2"/>
                </a:solidFill>
                <a:latin typeface="楷体_GB2312" pitchFamily="49" charset="-122"/>
              </a:rPr>
              <a:t>R</a:t>
            </a:r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</a:rPr>
              <a:t>和</a:t>
            </a:r>
            <a:r>
              <a:rPr lang="en-US" altLang="zh-CN" sz="2800" dirty="0">
                <a:solidFill>
                  <a:schemeClr val="accent2"/>
                </a:solidFill>
                <a:latin typeface="楷体_GB2312" pitchFamily="49" charset="-122"/>
              </a:rPr>
              <a:t>C</a:t>
            </a:r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</a:rPr>
              <a:t>的数值</a:t>
            </a:r>
            <a:r>
              <a:rPr lang="en-US" altLang="zh-CN" sz="2800" dirty="0">
                <a:solidFill>
                  <a:schemeClr val="accent2"/>
                </a:solidFill>
                <a:latin typeface="楷体_GB2312" pitchFamily="49" charset="-122"/>
              </a:rPr>
              <a:t>,</a:t>
            </a:r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</a:rPr>
              <a:t>而与电源电</a:t>
            </a:r>
          </a:p>
          <a:p>
            <a:pPr eaLnBrk="1" hangingPunct="1"/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</a:rPr>
              <a:t>压无关</a:t>
            </a:r>
          </a:p>
        </p:txBody>
      </p:sp>
      <p:sp>
        <p:nvSpPr>
          <p:cNvPr id="4" name="Text Box 54"/>
          <p:cNvSpPr txBox="1">
            <a:spLocks noChangeArrowheads="1"/>
          </p:cNvSpPr>
          <p:nvPr/>
        </p:nvSpPr>
        <p:spPr bwMode="auto">
          <a:xfrm>
            <a:off x="737425" y="338328"/>
            <a:ext cx="5114736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楷体_GB2312" pitchFamily="49" charset="-122"/>
              </a:rPr>
              <a:t>输出脉冲宽度</a:t>
            </a:r>
            <a:r>
              <a:rPr lang="en-US" altLang="zh-CN" sz="2800" dirty="0" err="1">
                <a:latin typeface="楷体_GB2312" pitchFamily="49" charset="-122"/>
              </a:rPr>
              <a:t>t</a:t>
            </a:r>
            <a:r>
              <a:rPr lang="en-US" altLang="zh-CN" sz="1600" dirty="0" err="1">
                <a:latin typeface="楷体_GB2312" pitchFamily="49" charset="-122"/>
              </a:rPr>
              <a:t>w</a:t>
            </a:r>
            <a:r>
              <a:rPr lang="en-US" altLang="zh-CN" sz="1600" dirty="0">
                <a:latin typeface="楷体_GB2312" pitchFamily="49" charset="-122"/>
              </a:rPr>
              <a:t> </a:t>
            </a:r>
            <a:r>
              <a:rPr lang="en-US" altLang="zh-CN" sz="2800" dirty="0">
                <a:latin typeface="楷体_GB2312" pitchFamily="49" charset="-122"/>
              </a:rPr>
              <a:t>:</a:t>
            </a:r>
            <a:r>
              <a:rPr lang="zh-CN" altLang="en-US" sz="2800" dirty="0">
                <a:latin typeface="楷体_GB2312" pitchFamily="49" charset="-122"/>
              </a:rPr>
              <a:t>就是暂稳态</a:t>
            </a:r>
          </a:p>
          <a:p>
            <a:pPr eaLnBrk="1" hangingPunct="1"/>
            <a:r>
              <a:rPr lang="zh-CN" altLang="en-US" sz="2800" dirty="0">
                <a:latin typeface="楷体_GB2312" pitchFamily="49" charset="-122"/>
              </a:rPr>
              <a:t>的持续时间</a:t>
            </a:r>
            <a:r>
              <a:rPr lang="en-US" altLang="zh-CN" sz="2800" dirty="0">
                <a:latin typeface="楷体_GB2312" pitchFamily="49" charset="-122"/>
              </a:rPr>
              <a:t>,</a:t>
            </a:r>
            <a:r>
              <a:rPr lang="zh-CN" altLang="en-US" sz="2800" dirty="0">
                <a:latin typeface="楷体_GB2312" pitchFamily="49" charset="-122"/>
              </a:rPr>
              <a:t>它等于电容电压</a:t>
            </a:r>
          </a:p>
          <a:p>
            <a:pPr eaLnBrk="1" hangingPunct="1"/>
            <a:r>
              <a:rPr lang="en-US" altLang="zh-CN" sz="2800" dirty="0" err="1">
                <a:latin typeface="楷体_GB2312" pitchFamily="49" charset="-122"/>
              </a:rPr>
              <a:t>Vc</a:t>
            </a:r>
            <a:r>
              <a:rPr lang="zh-CN" altLang="en-US" sz="2800" dirty="0">
                <a:latin typeface="楷体_GB2312" pitchFamily="49" charset="-122"/>
              </a:rPr>
              <a:t>从</a:t>
            </a:r>
            <a:r>
              <a:rPr lang="en-US" altLang="zh-CN" sz="2800" dirty="0">
                <a:latin typeface="楷体_GB2312" pitchFamily="49" charset="-122"/>
              </a:rPr>
              <a:t>0</a:t>
            </a:r>
            <a:r>
              <a:rPr lang="zh-CN" altLang="en-US" sz="2800" dirty="0">
                <a:latin typeface="楷体_GB2312" pitchFamily="49" charset="-122"/>
              </a:rPr>
              <a:t>上升到</a:t>
            </a:r>
            <a:r>
              <a:rPr lang="en-US" altLang="zh-CN" sz="2800" dirty="0">
                <a:latin typeface="楷体_GB2312" pitchFamily="49" charset="-122"/>
              </a:rPr>
              <a:t>2/3Vcc</a:t>
            </a:r>
            <a:r>
              <a:rPr lang="zh-CN" altLang="en-US" sz="2800" dirty="0">
                <a:latin typeface="楷体_GB2312" pitchFamily="49" charset="-122"/>
              </a:rPr>
              <a:t>所需时间</a:t>
            </a:r>
          </a:p>
        </p:txBody>
      </p: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737425" y="1974406"/>
            <a:ext cx="3714750" cy="946150"/>
            <a:chOff x="2678" y="1961"/>
            <a:chExt cx="2340" cy="596"/>
          </a:xfrm>
        </p:grpSpPr>
        <p:sp>
          <p:nvSpPr>
            <p:cNvPr id="6" name="Text Box 55"/>
            <p:cNvSpPr txBox="1">
              <a:spLocks noChangeArrowheads="1"/>
            </p:cNvSpPr>
            <p:nvPr/>
          </p:nvSpPr>
          <p:spPr bwMode="auto">
            <a:xfrm>
              <a:off x="2678" y="2040"/>
              <a:ext cx="110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 dirty="0" err="1">
                  <a:latin typeface="楷体_GB2312" pitchFamily="49" charset="-122"/>
                </a:rPr>
                <a:t>t</a:t>
              </a:r>
              <a:r>
                <a:rPr lang="en-US" altLang="zh-CN" dirty="0" err="1">
                  <a:latin typeface="楷体_GB2312" pitchFamily="49" charset="-122"/>
                </a:rPr>
                <a:t>w</a:t>
              </a:r>
              <a:r>
                <a:rPr lang="en-US" altLang="zh-CN" sz="2800" dirty="0">
                  <a:latin typeface="楷体_GB2312" pitchFamily="49" charset="-122"/>
                </a:rPr>
                <a:t>=</a:t>
              </a:r>
              <a:r>
                <a:rPr lang="en-US" altLang="zh-CN" sz="2800" dirty="0" err="1">
                  <a:latin typeface="楷体_GB2312" pitchFamily="49" charset="-122"/>
                </a:rPr>
                <a:t>RC×Ln</a:t>
              </a:r>
              <a:endParaRPr lang="en-US" altLang="zh-CN" sz="2800" dirty="0">
                <a:latin typeface="楷体_GB2312" pitchFamily="49" charset="-122"/>
              </a:endParaRPr>
            </a:p>
          </p:txBody>
        </p:sp>
        <p:sp>
          <p:nvSpPr>
            <p:cNvPr id="7" name="Text Box 56"/>
            <p:cNvSpPr txBox="1">
              <a:spLocks noChangeArrowheads="1"/>
            </p:cNvSpPr>
            <p:nvPr/>
          </p:nvSpPr>
          <p:spPr bwMode="auto">
            <a:xfrm>
              <a:off x="3782" y="1961"/>
              <a:ext cx="123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 dirty="0"/>
                <a:t>    </a:t>
              </a:r>
              <a:r>
                <a:rPr lang="en-US" altLang="zh-CN" sz="2800" dirty="0">
                  <a:latin typeface="楷体_GB2312" pitchFamily="49" charset="-122"/>
                </a:rPr>
                <a:t>Vcc-0</a:t>
              </a:r>
            </a:p>
            <a:p>
              <a:pPr eaLnBrk="1" hangingPunct="1"/>
              <a:r>
                <a:rPr lang="en-US" altLang="zh-CN" sz="2800" dirty="0">
                  <a:latin typeface="楷体_GB2312" pitchFamily="49" charset="-122"/>
                </a:rPr>
                <a:t>Vcc-2/3Vcc</a:t>
              </a:r>
            </a:p>
          </p:txBody>
        </p:sp>
        <p:sp>
          <p:nvSpPr>
            <p:cNvPr id="8" name="Line 57"/>
            <p:cNvSpPr>
              <a:spLocks noChangeShapeType="1"/>
            </p:cNvSpPr>
            <p:nvPr/>
          </p:nvSpPr>
          <p:spPr bwMode="auto">
            <a:xfrm>
              <a:off x="3840" y="2256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Text Box 58"/>
          <p:cNvSpPr txBox="1">
            <a:spLocks noChangeArrowheads="1"/>
          </p:cNvSpPr>
          <p:nvPr/>
        </p:nvSpPr>
        <p:spPr bwMode="auto">
          <a:xfrm>
            <a:off x="1072261" y="2864706"/>
            <a:ext cx="160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楷体_GB2312" pitchFamily="49" charset="-122"/>
              </a:rPr>
              <a:t>=RC×Ln3</a:t>
            </a:r>
          </a:p>
        </p:txBody>
      </p:sp>
      <p:sp>
        <p:nvSpPr>
          <p:cNvPr id="10" name="Text Box 59"/>
          <p:cNvSpPr txBox="1">
            <a:spLocks noChangeArrowheads="1"/>
          </p:cNvSpPr>
          <p:nvPr/>
        </p:nvSpPr>
        <p:spPr bwMode="auto">
          <a:xfrm>
            <a:off x="1011459" y="3529203"/>
            <a:ext cx="1431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楷体_GB2312" pitchFamily="49" charset="-122"/>
              </a:rPr>
              <a:t>≈1.1RC</a:t>
            </a:r>
          </a:p>
        </p:txBody>
      </p:sp>
      <p:grpSp>
        <p:nvGrpSpPr>
          <p:cNvPr id="11" name="Group 63"/>
          <p:cNvGrpSpPr>
            <a:grpSpLocks/>
          </p:cNvGrpSpPr>
          <p:nvPr/>
        </p:nvGrpSpPr>
        <p:grpSpPr bwMode="auto">
          <a:xfrm>
            <a:off x="6644481" y="729806"/>
            <a:ext cx="3825875" cy="4381500"/>
            <a:chOff x="3282" y="840"/>
            <a:chExt cx="2410" cy="2760"/>
          </a:xfrm>
        </p:grpSpPr>
        <p:sp>
          <p:nvSpPr>
            <p:cNvPr id="12" name="Line 64"/>
            <p:cNvSpPr>
              <a:spLocks noChangeShapeType="1"/>
            </p:cNvSpPr>
            <p:nvPr/>
          </p:nvSpPr>
          <p:spPr bwMode="auto">
            <a:xfrm flipV="1">
              <a:off x="3706" y="960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65"/>
            <p:cNvSpPr>
              <a:spLocks noChangeShapeType="1"/>
            </p:cNvSpPr>
            <p:nvPr/>
          </p:nvSpPr>
          <p:spPr bwMode="auto">
            <a:xfrm>
              <a:off x="3706" y="1680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66"/>
            <p:cNvSpPr txBox="1">
              <a:spLocks noChangeArrowheads="1"/>
            </p:cNvSpPr>
            <p:nvPr/>
          </p:nvSpPr>
          <p:spPr bwMode="auto">
            <a:xfrm>
              <a:off x="3684" y="840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>
                  <a:latin typeface="Times New Roman" panose="02020603050405020304" pitchFamily="18" charset="0"/>
                </a:rPr>
                <a:t>i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67"/>
            <p:cNvSpPr txBox="1">
              <a:spLocks noChangeArrowheads="1"/>
            </p:cNvSpPr>
            <p:nvPr/>
          </p:nvSpPr>
          <p:spPr bwMode="auto">
            <a:xfrm>
              <a:off x="5523" y="1545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6" name="Line 68"/>
            <p:cNvSpPr>
              <a:spLocks noChangeShapeType="1"/>
            </p:cNvSpPr>
            <p:nvPr/>
          </p:nvSpPr>
          <p:spPr bwMode="auto">
            <a:xfrm flipV="1">
              <a:off x="3706" y="1848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69"/>
            <p:cNvSpPr>
              <a:spLocks noChangeShapeType="1"/>
            </p:cNvSpPr>
            <p:nvPr/>
          </p:nvSpPr>
          <p:spPr bwMode="auto">
            <a:xfrm>
              <a:off x="3706" y="2568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70"/>
            <p:cNvSpPr txBox="1">
              <a:spLocks noChangeArrowheads="1"/>
            </p:cNvSpPr>
            <p:nvPr/>
          </p:nvSpPr>
          <p:spPr bwMode="auto">
            <a:xfrm>
              <a:off x="3684" y="1728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71"/>
            <p:cNvSpPr txBox="1">
              <a:spLocks noChangeArrowheads="1"/>
            </p:cNvSpPr>
            <p:nvPr/>
          </p:nvSpPr>
          <p:spPr bwMode="auto">
            <a:xfrm>
              <a:off x="5523" y="2433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0" name="Line 72"/>
            <p:cNvSpPr>
              <a:spLocks noChangeShapeType="1"/>
            </p:cNvSpPr>
            <p:nvPr/>
          </p:nvSpPr>
          <p:spPr bwMode="auto">
            <a:xfrm>
              <a:off x="3724" y="129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73"/>
            <p:cNvSpPr>
              <a:spLocks noChangeShapeType="1"/>
            </p:cNvSpPr>
            <p:nvPr/>
          </p:nvSpPr>
          <p:spPr bwMode="auto">
            <a:xfrm>
              <a:off x="3916" y="1296"/>
              <a:ext cx="0" cy="17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74"/>
            <p:cNvSpPr>
              <a:spLocks noChangeShapeType="1"/>
            </p:cNvSpPr>
            <p:nvPr/>
          </p:nvSpPr>
          <p:spPr bwMode="auto">
            <a:xfrm>
              <a:off x="4588" y="1632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75"/>
            <p:cNvSpPr>
              <a:spLocks noChangeShapeType="1"/>
            </p:cNvSpPr>
            <p:nvPr/>
          </p:nvSpPr>
          <p:spPr bwMode="auto">
            <a:xfrm>
              <a:off x="4348" y="2256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76"/>
            <p:cNvSpPr>
              <a:spLocks noChangeShapeType="1"/>
            </p:cNvSpPr>
            <p:nvPr/>
          </p:nvSpPr>
          <p:spPr bwMode="auto">
            <a:xfrm>
              <a:off x="5020" y="2256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77"/>
            <p:cNvSpPr>
              <a:spLocks noChangeShapeType="1"/>
            </p:cNvSpPr>
            <p:nvPr/>
          </p:nvSpPr>
          <p:spPr bwMode="auto">
            <a:xfrm>
              <a:off x="3724" y="2539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78"/>
            <p:cNvSpPr txBox="1">
              <a:spLocks noChangeArrowheads="1"/>
            </p:cNvSpPr>
            <p:nvPr/>
          </p:nvSpPr>
          <p:spPr bwMode="auto">
            <a:xfrm>
              <a:off x="3536" y="159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" name="Text Box 79"/>
            <p:cNvSpPr txBox="1">
              <a:spLocks noChangeArrowheads="1"/>
            </p:cNvSpPr>
            <p:nvPr/>
          </p:nvSpPr>
          <p:spPr bwMode="auto">
            <a:xfrm>
              <a:off x="3532" y="245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" name="Line 80"/>
            <p:cNvSpPr>
              <a:spLocks noChangeShapeType="1"/>
            </p:cNvSpPr>
            <p:nvPr/>
          </p:nvSpPr>
          <p:spPr bwMode="auto">
            <a:xfrm>
              <a:off x="3916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81"/>
            <p:cNvSpPr>
              <a:spLocks noChangeShapeType="1"/>
            </p:cNvSpPr>
            <p:nvPr/>
          </p:nvSpPr>
          <p:spPr bwMode="auto">
            <a:xfrm>
              <a:off x="3916" y="16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82"/>
            <p:cNvSpPr>
              <a:spLocks noChangeShapeType="1"/>
            </p:cNvSpPr>
            <p:nvPr/>
          </p:nvSpPr>
          <p:spPr bwMode="auto">
            <a:xfrm flipV="1">
              <a:off x="4060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83"/>
            <p:cNvSpPr>
              <a:spLocks noChangeShapeType="1"/>
            </p:cNvSpPr>
            <p:nvPr/>
          </p:nvSpPr>
          <p:spPr bwMode="auto">
            <a:xfrm>
              <a:off x="4060" y="129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auto">
            <a:xfrm>
              <a:off x="4588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85"/>
            <p:cNvSpPr>
              <a:spLocks noChangeShapeType="1"/>
            </p:cNvSpPr>
            <p:nvPr/>
          </p:nvSpPr>
          <p:spPr bwMode="auto">
            <a:xfrm>
              <a:off x="4588" y="16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86"/>
            <p:cNvSpPr>
              <a:spLocks noChangeShapeType="1"/>
            </p:cNvSpPr>
            <p:nvPr/>
          </p:nvSpPr>
          <p:spPr bwMode="auto">
            <a:xfrm flipV="1">
              <a:off x="4732" y="12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87"/>
            <p:cNvSpPr>
              <a:spLocks noChangeShapeType="1"/>
            </p:cNvSpPr>
            <p:nvPr/>
          </p:nvSpPr>
          <p:spPr bwMode="auto">
            <a:xfrm>
              <a:off x="4732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Arc 88"/>
            <p:cNvSpPr>
              <a:spLocks/>
            </p:cNvSpPr>
            <p:nvPr/>
          </p:nvSpPr>
          <p:spPr bwMode="auto">
            <a:xfrm rot="10800000" flipV="1">
              <a:off x="3916" y="2251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432 w 21600"/>
                <a:gd name="T3" fmla="*/ 288 h 21600"/>
                <a:gd name="T4" fmla="*/ 0 w 2160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rc 89"/>
            <p:cNvSpPr>
              <a:spLocks/>
            </p:cNvSpPr>
            <p:nvPr/>
          </p:nvSpPr>
          <p:spPr bwMode="auto">
            <a:xfrm rot="5400000" flipV="1">
              <a:off x="4270" y="2331"/>
              <a:ext cx="295" cy="135"/>
            </a:xfrm>
            <a:custGeom>
              <a:avLst/>
              <a:gdLst>
                <a:gd name="T0" fmla="*/ 0 w 23466"/>
                <a:gd name="T1" fmla="*/ 0 h 24285"/>
                <a:gd name="T2" fmla="*/ 293 w 23466"/>
                <a:gd name="T3" fmla="*/ 135 h 24285"/>
                <a:gd name="T4" fmla="*/ 23 w 23466"/>
                <a:gd name="T5" fmla="*/ 120 h 24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66" h="24285" fill="none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</a:path>
                <a:path w="23466" h="24285" stroke="0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  <a:lnTo>
                    <a:pt x="1866" y="21600"/>
                  </a:lnTo>
                  <a:lnTo>
                    <a:pt x="-1" y="8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Arc 90"/>
            <p:cNvSpPr>
              <a:spLocks/>
            </p:cNvSpPr>
            <p:nvPr/>
          </p:nvSpPr>
          <p:spPr bwMode="auto">
            <a:xfrm rot="10800000" flipV="1">
              <a:off x="4588" y="2251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432 w 21600"/>
                <a:gd name="T3" fmla="*/ 288 h 21600"/>
                <a:gd name="T4" fmla="*/ 0 w 2160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91"/>
            <p:cNvSpPr>
              <a:spLocks noChangeShapeType="1"/>
            </p:cNvSpPr>
            <p:nvPr/>
          </p:nvSpPr>
          <p:spPr bwMode="auto">
            <a:xfrm flipV="1">
              <a:off x="3702" y="2736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92"/>
            <p:cNvSpPr>
              <a:spLocks noChangeShapeType="1"/>
            </p:cNvSpPr>
            <p:nvPr/>
          </p:nvSpPr>
          <p:spPr bwMode="auto">
            <a:xfrm>
              <a:off x="3702" y="3456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93"/>
            <p:cNvSpPr txBox="1">
              <a:spLocks noChangeArrowheads="1"/>
            </p:cNvSpPr>
            <p:nvPr/>
          </p:nvSpPr>
          <p:spPr bwMode="auto">
            <a:xfrm>
              <a:off x="3680" y="2616"/>
              <a:ext cx="2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1800" baseline="-25000">
                  <a:latin typeface="Times New Roman" panose="02020603050405020304" pitchFamily="18" charset="0"/>
                </a:rPr>
                <a:t>O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94"/>
            <p:cNvSpPr txBox="1">
              <a:spLocks noChangeArrowheads="1"/>
            </p:cNvSpPr>
            <p:nvPr/>
          </p:nvSpPr>
          <p:spPr bwMode="auto">
            <a:xfrm>
              <a:off x="5519" y="3321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3" name="Line 95"/>
            <p:cNvSpPr>
              <a:spLocks noChangeShapeType="1"/>
            </p:cNvSpPr>
            <p:nvPr/>
          </p:nvSpPr>
          <p:spPr bwMode="auto">
            <a:xfrm>
              <a:off x="3720" y="34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96"/>
            <p:cNvSpPr txBox="1">
              <a:spLocks noChangeArrowheads="1"/>
            </p:cNvSpPr>
            <p:nvPr/>
          </p:nvSpPr>
          <p:spPr bwMode="auto">
            <a:xfrm>
              <a:off x="3532" y="336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5" name="Line 97"/>
            <p:cNvSpPr>
              <a:spLocks noChangeShapeType="1"/>
            </p:cNvSpPr>
            <p:nvPr/>
          </p:nvSpPr>
          <p:spPr bwMode="auto">
            <a:xfrm>
              <a:off x="3912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98"/>
            <p:cNvSpPr>
              <a:spLocks noChangeShapeType="1"/>
            </p:cNvSpPr>
            <p:nvPr/>
          </p:nvSpPr>
          <p:spPr bwMode="auto">
            <a:xfrm>
              <a:off x="3916" y="307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99"/>
            <p:cNvSpPr>
              <a:spLocks noChangeShapeType="1"/>
            </p:cNvSpPr>
            <p:nvPr/>
          </p:nvSpPr>
          <p:spPr bwMode="auto">
            <a:xfrm>
              <a:off x="4348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00"/>
            <p:cNvSpPr>
              <a:spLocks noChangeShapeType="1"/>
            </p:cNvSpPr>
            <p:nvPr/>
          </p:nvSpPr>
          <p:spPr bwMode="auto">
            <a:xfrm>
              <a:off x="4348" y="340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01"/>
            <p:cNvSpPr>
              <a:spLocks noChangeShapeType="1"/>
            </p:cNvSpPr>
            <p:nvPr/>
          </p:nvSpPr>
          <p:spPr bwMode="auto">
            <a:xfrm flipV="1">
              <a:off x="4588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02"/>
            <p:cNvSpPr>
              <a:spLocks noChangeShapeType="1"/>
            </p:cNvSpPr>
            <p:nvPr/>
          </p:nvSpPr>
          <p:spPr bwMode="auto">
            <a:xfrm>
              <a:off x="4588" y="307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03"/>
            <p:cNvSpPr>
              <a:spLocks noChangeShapeType="1"/>
            </p:cNvSpPr>
            <p:nvPr/>
          </p:nvSpPr>
          <p:spPr bwMode="auto">
            <a:xfrm>
              <a:off x="5020" y="30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04"/>
            <p:cNvSpPr>
              <a:spLocks noChangeShapeType="1"/>
            </p:cNvSpPr>
            <p:nvPr/>
          </p:nvSpPr>
          <p:spPr bwMode="auto">
            <a:xfrm>
              <a:off x="5020" y="340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05"/>
            <p:cNvSpPr>
              <a:spLocks noChangeShapeType="1"/>
            </p:cNvSpPr>
            <p:nvPr/>
          </p:nvSpPr>
          <p:spPr bwMode="auto">
            <a:xfrm flipH="1">
              <a:off x="3724" y="2256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106"/>
            <p:cNvSpPr txBox="1">
              <a:spLocks noChangeArrowheads="1"/>
            </p:cNvSpPr>
            <p:nvPr/>
          </p:nvSpPr>
          <p:spPr bwMode="auto">
            <a:xfrm>
              <a:off x="3282" y="2167"/>
              <a:ext cx="4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400">
                  <a:latin typeface="Times New Roman" panose="02020603050405020304" pitchFamily="18" charset="0"/>
                </a:rPr>
                <a:t>2/3V</a:t>
              </a:r>
              <a:r>
                <a:rPr kumimoji="1" lang="en-US" altLang="zh-CN" sz="1400" baseline="-25000">
                  <a:latin typeface="Times New Roman" panose="02020603050405020304" pitchFamily="18" charset="0"/>
                </a:rPr>
                <a:t>CC</a:t>
              </a:r>
            </a:p>
          </p:txBody>
        </p:sp>
        <p:sp>
          <p:nvSpPr>
            <p:cNvPr id="55" name="Text Box 107"/>
            <p:cNvSpPr txBox="1">
              <a:spLocks noChangeArrowheads="1"/>
            </p:cNvSpPr>
            <p:nvPr/>
          </p:nvSpPr>
          <p:spPr bwMode="auto">
            <a:xfrm>
              <a:off x="4013" y="3129"/>
              <a:ext cx="2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t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56" name="Line 108"/>
            <p:cNvSpPr>
              <a:spLocks noChangeShapeType="1"/>
            </p:cNvSpPr>
            <p:nvPr/>
          </p:nvSpPr>
          <p:spPr bwMode="auto">
            <a:xfrm>
              <a:off x="4204" y="32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09"/>
            <p:cNvSpPr>
              <a:spLocks noChangeShapeType="1"/>
            </p:cNvSpPr>
            <p:nvPr/>
          </p:nvSpPr>
          <p:spPr bwMode="auto">
            <a:xfrm flipH="1">
              <a:off x="3916" y="32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110"/>
            <p:cNvSpPr txBox="1">
              <a:spLocks noChangeArrowheads="1"/>
            </p:cNvSpPr>
            <p:nvPr/>
          </p:nvSpPr>
          <p:spPr bwMode="auto">
            <a:xfrm>
              <a:off x="4685" y="3120"/>
              <a:ext cx="2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>
                  <a:latin typeface="Times New Roman" panose="02020603050405020304" pitchFamily="18" charset="0"/>
                </a:rPr>
                <a:t>t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59" name="Line 111"/>
            <p:cNvSpPr>
              <a:spLocks noChangeShapeType="1"/>
            </p:cNvSpPr>
            <p:nvPr/>
          </p:nvSpPr>
          <p:spPr bwMode="auto">
            <a:xfrm>
              <a:off x="4876" y="320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12"/>
            <p:cNvSpPr>
              <a:spLocks noChangeShapeType="1"/>
            </p:cNvSpPr>
            <p:nvPr/>
          </p:nvSpPr>
          <p:spPr bwMode="auto">
            <a:xfrm flipH="1">
              <a:off x="4588" y="3207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13"/>
            <p:cNvSpPr>
              <a:spLocks noChangeShapeType="1"/>
            </p:cNvSpPr>
            <p:nvPr/>
          </p:nvSpPr>
          <p:spPr bwMode="auto">
            <a:xfrm>
              <a:off x="4476" y="2547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Arc 114"/>
            <p:cNvSpPr>
              <a:spLocks/>
            </p:cNvSpPr>
            <p:nvPr/>
          </p:nvSpPr>
          <p:spPr bwMode="auto">
            <a:xfrm rot="5400000" flipV="1">
              <a:off x="4933" y="2331"/>
              <a:ext cx="295" cy="135"/>
            </a:xfrm>
            <a:custGeom>
              <a:avLst/>
              <a:gdLst>
                <a:gd name="T0" fmla="*/ 0 w 23466"/>
                <a:gd name="T1" fmla="*/ 0 h 24285"/>
                <a:gd name="T2" fmla="*/ 293 w 23466"/>
                <a:gd name="T3" fmla="*/ 135 h 24285"/>
                <a:gd name="T4" fmla="*/ 23 w 23466"/>
                <a:gd name="T5" fmla="*/ 120 h 24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66" h="24285" fill="none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</a:path>
                <a:path w="23466" h="24285" stroke="0" extrusionOk="0">
                  <a:moveTo>
                    <a:pt x="-1" y="80"/>
                  </a:moveTo>
                  <a:cubicBezTo>
                    <a:pt x="620" y="26"/>
                    <a:pt x="1243" y="0"/>
                    <a:pt x="1866" y="0"/>
                  </a:cubicBezTo>
                  <a:cubicBezTo>
                    <a:pt x="13795" y="0"/>
                    <a:pt x="23466" y="9670"/>
                    <a:pt x="23466" y="21600"/>
                  </a:cubicBezTo>
                  <a:cubicBezTo>
                    <a:pt x="23466" y="22497"/>
                    <a:pt x="23410" y="23394"/>
                    <a:pt x="23298" y="24285"/>
                  </a:cubicBezTo>
                  <a:lnTo>
                    <a:pt x="1866" y="21600"/>
                  </a:lnTo>
                  <a:lnTo>
                    <a:pt x="-1" y="8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115"/>
            <p:cNvSpPr>
              <a:spLocks noChangeShapeType="1"/>
            </p:cNvSpPr>
            <p:nvPr/>
          </p:nvSpPr>
          <p:spPr bwMode="auto">
            <a:xfrm>
              <a:off x="5148" y="2547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49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97536" y="492019"/>
            <a:ext cx="1209446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555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构成的触摸开关电路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当用手触摸金属片时，输出发光管“亮”，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表示开关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接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，经过一段延时后自动“灭”，表示开关断开，其灯亮时间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由下式确定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125369"/>
              </p:ext>
            </p:extLst>
          </p:nvPr>
        </p:nvGraphicFramePr>
        <p:xfrm>
          <a:off x="7110858" y="2670132"/>
          <a:ext cx="2066544" cy="688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8500" imgH="228600" progId="Equation.3">
                  <p:embed/>
                </p:oleObj>
              </mc:Choice>
              <mc:Fallback>
                <p:oleObj r:id="rId2" imgW="698500" imgH="228600" progId="Equation.3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858" y="2670132"/>
                        <a:ext cx="2066544" cy="6888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11974" y="1969346"/>
            <a:ext cx="201798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248734"/>
              </p:ext>
            </p:extLst>
          </p:nvPr>
        </p:nvGraphicFramePr>
        <p:xfrm>
          <a:off x="1511975" y="1969347"/>
          <a:ext cx="4650830" cy="430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64992" imgH="3102864" progId="SmartDraw.2">
                  <p:embed/>
                </p:oleObj>
              </mc:Choice>
              <mc:Fallback>
                <p:oleObj r:id="rId4" imgW="3364992" imgH="3102864" progId="SmartDraw.2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975" y="1969347"/>
                        <a:ext cx="4650830" cy="4303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721201" y="6363315"/>
            <a:ext cx="3358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1.4.4 555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组成的触摸开关电路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083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20718"/>
            <a:ext cx="3430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三、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实验内容及步骤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9456" y="786676"/>
            <a:ext cx="119725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多谐振荡电路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按图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1.4.2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组装电路，选择定时器件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，分别用示波器测试表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1.4.1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所列各项参数，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（定量）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测量并绘出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脚的波形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080823"/>
              </p:ext>
            </p:extLst>
          </p:nvPr>
        </p:nvGraphicFramePr>
        <p:xfrm>
          <a:off x="1049398" y="2351564"/>
          <a:ext cx="10484233" cy="13716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97220">
                  <a:extLst>
                    <a:ext uri="{9D8B030D-6E8A-4147-A177-3AD203B41FA5}">
                      <a16:colId xmlns:a16="http://schemas.microsoft.com/office/drawing/2014/main" val="3021154619"/>
                    </a:ext>
                  </a:extLst>
                </a:gridCol>
                <a:gridCol w="1497220">
                  <a:extLst>
                    <a:ext uri="{9D8B030D-6E8A-4147-A177-3AD203B41FA5}">
                      <a16:colId xmlns:a16="http://schemas.microsoft.com/office/drawing/2014/main" val="735379794"/>
                    </a:ext>
                  </a:extLst>
                </a:gridCol>
                <a:gridCol w="1497220">
                  <a:extLst>
                    <a:ext uri="{9D8B030D-6E8A-4147-A177-3AD203B41FA5}">
                      <a16:colId xmlns:a16="http://schemas.microsoft.com/office/drawing/2014/main" val="1965155451"/>
                    </a:ext>
                  </a:extLst>
                </a:gridCol>
                <a:gridCol w="1497220">
                  <a:extLst>
                    <a:ext uri="{9D8B030D-6E8A-4147-A177-3AD203B41FA5}">
                      <a16:colId xmlns:a16="http://schemas.microsoft.com/office/drawing/2014/main" val="2159451588"/>
                    </a:ext>
                  </a:extLst>
                </a:gridCol>
                <a:gridCol w="1498451">
                  <a:extLst>
                    <a:ext uri="{9D8B030D-6E8A-4147-A177-3AD203B41FA5}">
                      <a16:colId xmlns:a16="http://schemas.microsoft.com/office/drawing/2014/main" val="1170668824"/>
                    </a:ext>
                  </a:extLst>
                </a:gridCol>
                <a:gridCol w="1498451">
                  <a:extLst>
                    <a:ext uri="{9D8B030D-6E8A-4147-A177-3AD203B41FA5}">
                      <a16:colId xmlns:a16="http://schemas.microsoft.com/office/drawing/2014/main" val="829576164"/>
                    </a:ext>
                  </a:extLst>
                </a:gridCol>
                <a:gridCol w="1498451">
                  <a:extLst>
                    <a:ext uri="{9D8B030D-6E8A-4147-A177-3AD203B41FA5}">
                      <a16:colId xmlns:a16="http://schemas.microsoft.com/office/drawing/2014/main" val="1817974049"/>
                    </a:ext>
                  </a:extLst>
                </a:gridCol>
              </a:tblGrid>
              <a:tr h="518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 </a:t>
                      </a:r>
                      <a:r>
                        <a:rPr lang="zh-CN" sz="1800" kern="100" dirty="0">
                          <a:effectLst/>
                        </a:rPr>
                        <a:t>参数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条件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输出幅值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V</a:t>
                      </a:r>
                      <a:r>
                        <a:rPr lang="en-US" sz="1800" kern="100" baseline="-25000" dirty="0">
                          <a:effectLst/>
                        </a:rPr>
                        <a:t>o</a:t>
                      </a:r>
                      <a:r>
                        <a:rPr lang="en-US" sz="1800" kern="100" dirty="0">
                          <a:effectLst/>
                        </a:rPr>
                        <a:t> (V)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脉宽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r>
                        <a:rPr lang="en-US" sz="1800" kern="100" baseline="-25000">
                          <a:effectLst/>
                        </a:rPr>
                        <a:t>1</a:t>
                      </a:r>
                      <a:r>
                        <a:rPr lang="en-US" sz="1800" kern="100">
                          <a:effectLst/>
                        </a:rPr>
                        <a:t> (S)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脉宽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</a:t>
                      </a:r>
                      <a:r>
                        <a:rPr lang="en-US" sz="1800" kern="100" baseline="-25000" dirty="0">
                          <a:effectLst/>
                        </a:rPr>
                        <a:t>2</a:t>
                      </a:r>
                      <a:r>
                        <a:rPr lang="en-US" sz="1800" kern="100" dirty="0">
                          <a:effectLst/>
                        </a:rPr>
                        <a:t> (S)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周期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T= t</a:t>
                      </a:r>
                      <a:r>
                        <a:rPr lang="en-US" sz="1800" kern="100" baseline="-25000">
                          <a:effectLst/>
                        </a:rPr>
                        <a:t>1</a:t>
                      </a:r>
                      <a:r>
                        <a:rPr lang="en-US" sz="1800" kern="100">
                          <a:effectLst/>
                        </a:rPr>
                        <a:t> +t</a:t>
                      </a:r>
                      <a:r>
                        <a:rPr lang="en-US" sz="1800" kern="100" baseline="-250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频率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占空比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q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82808"/>
                  </a:ext>
                </a:extLst>
              </a:tr>
              <a:tr h="6533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R</a:t>
                      </a:r>
                      <a:r>
                        <a:rPr lang="en-US" sz="1800" kern="100" baseline="-25000" dirty="0">
                          <a:effectLst/>
                        </a:rPr>
                        <a:t>1</a:t>
                      </a:r>
                      <a:r>
                        <a:rPr lang="en-US" sz="1800" kern="100" dirty="0">
                          <a:effectLst/>
                        </a:rPr>
                        <a:t> =100k</a:t>
                      </a:r>
                      <a:r>
                        <a:rPr lang="zh-CN" sz="1800" kern="100" dirty="0">
                          <a:effectLst/>
                        </a:rPr>
                        <a:t>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R</a:t>
                      </a:r>
                      <a:r>
                        <a:rPr lang="en-US" sz="1800" kern="100" baseline="-25000" dirty="0">
                          <a:effectLst/>
                        </a:rPr>
                        <a:t>2</a:t>
                      </a:r>
                      <a:r>
                        <a:rPr lang="en-US" sz="1800" kern="100" dirty="0">
                          <a:effectLst/>
                        </a:rPr>
                        <a:t>=100 k</a:t>
                      </a:r>
                      <a:r>
                        <a:rPr lang="zh-CN" sz="1800" kern="100" dirty="0">
                          <a:effectLst/>
                        </a:rPr>
                        <a:t>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C=0.01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F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19384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575326" y="1984619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1.4.1</a:t>
            </a:r>
            <a:endParaRPr lang="zh-CN" alt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9456" y="3846867"/>
            <a:ext cx="107045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触摸开关电路</a:t>
            </a:r>
            <a:endParaRPr kumimoji="0" lang="zh-CN" altLang="zh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按图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1.4.4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连线组装电路，按表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1.4.2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选择延时元件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，测定灯亮时间，记录测试结果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01813"/>
              </p:ext>
            </p:extLst>
          </p:nvPr>
        </p:nvGraphicFramePr>
        <p:xfrm>
          <a:off x="1536001" y="5170897"/>
          <a:ext cx="8498015" cy="142497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923823">
                  <a:extLst>
                    <a:ext uri="{9D8B030D-6E8A-4147-A177-3AD203B41FA5}">
                      <a16:colId xmlns:a16="http://schemas.microsoft.com/office/drawing/2014/main" val="77297931"/>
                    </a:ext>
                  </a:extLst>
                </a:gridCol>
                <a:gridCol w="1923823">
                  <a:extLst>
                    <a:ext uri="{9D8B030D-6E8A-4147-A177-3AD203B41FA5}">
                      <a16:colId xmlns:a16="http://schemas.microsoft.com/office/drawing/2014/main" val="127499306"/>
                    </a:ext>
                  </a:extLst>
                </a:gridCol>
                <a:gridCol w="1536575">
                  <a:extLst>
                    <a:ext uri="{9D8B030D-6E8A-4147-A177-3AD203B41FA5}">
                      <a16:colId xmlns:a16="http://schemas.microsoft.com/office/drawing/2014/main" val="3280323723"/>
                    </a:ext>
                  </a:extLst>
                </a:gridCol>
                <a:gridCol w="1543349">
                  <a:extLst>
                    <a:ext uri="{9D8B030D-6E8A-4147-A177-3AD203B41FA5}">
                      <a16:colId xmlns:a16="http://schemas.microsoft.com/office/drawing/2014/main" val="1705050874"/>
                    </a:ext>
                  </a:extLst>
                </a:gridCol>
                <a:gridCol w="1570445">
                  <a:extLst>
                    <a:ext uri="{9D8B030D-6E8A-4147-A177-3AD203B41FA5}">
                      <a16:colId xmlns:a16="http://schemas.microsoft.com/office/drawing/2014/main" val="4128582220"/>
                    </a:ext>
                  </a:extLst>
                </a:gridCol>
              </a:tblGrid>
              <a:tr h="712487">
                <a:tc>
                  <a:txBody>
                    <a:bodyPr/>
                    <a:lstStyle/>
                    <a:p>
                      <a:pPr indent="533400" algn="ctr">
                        <a:spcAft>
                          <a:spcPts val="0"/>
                        </a:spcAft>
                        <a:tabLst>
                          <a:tab pos="842645" algn="l"/>
                        </a:tabLst>
                      </a:pPr>
                      <a:r>
                        <a:rPr lang="zh-CN" sz="1800" kern="100" dirty="0">
                          <a:effectLst/>
                        </a:rPr>
                        <a:t>时间</a:t>
                      </a:r>
                    </a:p>
                    <a:p>
                      <a:pPr indent="133350" algn="just">
                        <a:spcAft>
                          <a:spcPts val="0"/>
                        </a:spcAft>
                        <a:tabLst>
                          <a:tab pos="842645" algn="l"/>
                        </a:tabLst>
                      </a:pPr>
                      <a:r>
                        <a:rPr lang="zh-CN" sz="1800" kern="100" dirty="0">
                          <a:effectLst/>
                        </a:rPr>
                        <a:t>条件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</a:t>
                      </a:r>
                      <a:r>
                        <a:rPr lang="en-US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（</a:t>
                      </a:r>
                      <a:r>
                        <a:rPr lang="en-US" sz="1800" kern="100" dirty="0">
                          <a:effectLst/>
                        </a:rPr>
                        <a:t>S</a:t>
                      </a:r>
                      <a:r>
                        <a:rPr lang="zh-CN" sz="1800" kern="10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</a:t>
                      </a:r>
                      <a:r>
                        <a:rPr lang="en-US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（</a:t>
                      </a:r>
                      <a:r>
                        <a:rPr lang="en-US" sz="1800" kern="100" dirty="0">
                          <a:effectLst/>
                        </a:rPr>
                        <a:t>S</a:t>
                      </a:r>
                      <a:r>
                        <a:rPr lang="zh-CN" sz="1800" kern="10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636263"/>
                  </a:ext>
                </a:extLst>
              </a:tr>
              <a:tr h="7124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V</a:t>
                      </a:r>
                      <a:r>
                        <a:rPr lang="en-US" sz="1800" kern="100" baseline="-25000">
                          <a:effectLst/>
                        </a:rPr>
                        <a:t>CC</a:t>
                      </a:r>
                      <a:r>
                        <a:rPr lang="en-US" sz="1800" kern="100">
                          <a:effectLst/>
                        </a:rPr>
                        <a:t>=5V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R=100k</a:t>
                      </a:r>
                      <a:r>
                        <a:rPr lang="zh-CN" sz="1800" kern="100">
                          <a:effectLst/>
                        </a:rPr>
                        <a:t>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C=10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R=100k</a:t>
                      </a:r>
                      <a:r>
                        <a:rPr lang="zh-CN" sz="1800" kern="100" dirty="0">
                          <a:effectLst/>
                        </a:rPr>
                        <a:t>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C=100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F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788263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5213149" y="4862530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1.4.2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81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0417" y="361994"/>
            <a:ext cx="5388863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手控蜂鸣器</a:t>
            </a:r>
          </a:p>
          <a:p>
            <a:pPr marL="742950" lvl="1" indent="-2857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953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阐述手控蜂鸣器的工作原理</a:t>
            </a:r>
          </a:p>
          <a:p>
            <a:pPr marL="742950" lvl="1" indent="-2857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953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测量音频信号的频率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f</a:t>
            </a:r>
            <a:r>
              <a:rPr lang="zh-CN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音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953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现有译码器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CC4511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一片，共阴极七段数码管显示器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个，请完成呼叫时对应的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一位数字显示模块（蜂鸣器响时，模块显示某个数字，自定义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0-9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中的任意一个），并实现手控蜂鸣器对显示模块的同步控制，自行设计并实现之（画出电路图）</a:t>
            </a: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913519"/>
              </p:ext>
            </p:extLst>
          </p:nvPr>
        </p:nvGraphicFramePr>
        <p:xfrm>
          <a:off x="6003227" y="1055111"/>
          <a:ext cx="4572033" cy="4676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09772" imgH="3602736" progId="">
                  <p:embed/>
                </p:oleObj>
              </mc:Choice>
              <mc:Fallback>
                <p:oleObj r:id="rId2" imgW="3509772" imgH="3602736" progId="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227" y="1055111"/>
                        <a:ext cx="4572033" cy="46769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78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460890"/>
            <a:ext cx="10326624" cy="613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16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245" y="0"/>
            <a:ext cx="5145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03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41120" y="605872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spcAft>
                <a:spcPts val="0"/>
              </a:spcAft>
              <a:tabLst>
                <a:tab pos="3810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四、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实验仪器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</a:rPr>
              <a:t>.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数字存储示波器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2.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交流毫伏表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3.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双路直流稳压电源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4.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万用表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一块</a:t>
            </a:r>
          </a:p>
        </p:txBody>
      </p:sp>
    </p:spTree>
    <p:extLst>
      <p:ext uri="{BB962C8B-B14F-4D97-AF65-F5344CB8AC3E}">
        <p14:creationId xmlns:p14="http://schemas.microsoft.com/office/powerpoint/2010/main" val="178161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1104" y="481706"/>
            <a:ext cx="104973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五、思考题</a:t>
            </a:r>
            <a:endParaRPr lang="en-US" altLang="zh-CN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对于多谐振荡器，如何进行相应的改进，使得输出信号的占空比可调</a:t>
            </a:r>
          </a:p>
          <a:p>
            <a:pPr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利用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555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组成的施密特触发器实现波形变换，将三角波变成方波。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endParaRPr lang="en-US" altLang="zh-CN" sz="3200" b="1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六、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实验报告</a:t>
            </a:r>
            <a:endParaRPr kumimoji="0" lang="zh-CN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整理实验所列表格，定量绘制多谐振荡电路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脚波形。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、画出实现手控蜂鸣器与相关显示电路要求的完整电路图。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4215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C11E-D687-7F33-EAEA-08427566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88B06BE-2B63-D2C4-2FE9-9D2B30B5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158" y="0"/>
            <a:ext cx="5961888" cy="6858000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FE314BD-52B4-58EA-3E3F-538867635E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915768"/>
              </p:ext>
            </p:extLst>
          </p:nvPr>
        </p:nvGraphicFramePr>
        <p:xfrm>
          <a:off x="1060948" y="617538"/>
          <a:ext cx="3933825" cy="514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53056" imgH="3272028" progId="SmartDraw.2">
                  <p:embed/>
                </p:oleObj>
              </mc:Choice>
              <mc:Fallback>
                <p:oleObj r:id="rId3" imgW="2353056" imgH="3272028" progId="SmartDraw.2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FE314BD-52B4-58EA-3E3F-538867635E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948" y="617538"/>
                        <a:ext cx="3933825" cy="5149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D9401C6-9075-99CC-6E83-1AF4F4883318}"/>
              </a:ext>
            </a:extLst>
          </p:cNvPr>
          <p:cNvSpPr/>
          <p:nvPr/>
        </p:nvSpPr>
        <p:spPr>
          <a:xfrm>
            <a:off x="829876" y="980094"/>
            <a:ext cx="1029660" cy="2720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DE0E54C-4979-1446-3EB5-6BE6F9D014CD}"/>
              </a:ext>
            </a:extLst>
          </p:cNvPr>
          <p:cNvCxnSpPr>
            <a:cxnSpLocks/>
          </p:cNvCxnSpPr>
          <p:nvPr/>
        </p:nvCxnSpPr>
        <p:spPr>
          <a:xfrm>
            <a:off x="1692963" y="1387822"/>
            <a:ext cx="0" cy="23820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C971BA9-9CD4-6D57-3037-AC4E2EBD6564}"/>
              </a:ext>
            </a:extLst>
          </p:cNvPr>
          <p:cNvCxnSpPr>
            <a:cxnSpLocks/>
          </p:cNvCxnSpPr>
          <p:nvPr/>
        </p:nvCxnSpPr>
        <p:spPr>
          <a:xfrm>
            <a:off x="1692963" y="1387822"/>
            <a:ext cx="2305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0928FAF-407D-2A4A-2608-657EFB5AA1A3}"/>
              </a:ext>
            </a:extLst>
          </p:cNvPr>
          <p:cNvSpPr/>
          <p:nvPr/>
        </p:nvSpPr>
        <p:spPr>
          <a:xfrm>
            <a:off x="1600200" y="1663700"/>
            <a:ext cx="158748" cy="4947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0BA623-E74D-CB4C-9ECE-D869D336AF20}"/>
              </a:ext>
            </a:extLst>
          </p:cNvPr>
          <p:cNvSpPr/>
          <p:nvPr/>
        </p:nvSpPr>
        <p:spPr>
          <a:xfrm>
            <a:off x="1593852" y="2374095"/>
            <a:ext cx="158748" cy="4947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61E771-EB5A-C4CA-08AB-A2A4EBD77E61}"/>
              </a:ext>
            </a:extLst>
          </p:cNvPr>
          <p:cNvSpPr/>
          <p:nvPr/>
        </p:nvSpPr>
        <p:spPr>
          <a:xfrm>
            <a:off x="1593852" y="3452870"/>
            <a:ext cx="158748" cy="4947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2737969-8E57-DA71-9DD2-FB9DFB344528}"/>
              </a:ext>
            </a:extLst>
          </p:cNvPr>
          <p:cNvCxnSpPr>
            <a:cxnSpLocks/>
          </p:cNvCxnSpPr>
          <p:nvPr/>
        </p:nvCxnSpPr>
        <p:spPr>
          <a:xfrm flipH="1">
            <a:off x="1745236" y="2621467"/>
            <a:ext cx="1143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C33A9098-EB1E-2903-6423-27AB97766F16}"/>
              </a:ext>
            </a:extLst>
          </p:cNvPr>
          <p:cNvSpPr/>
          <p:nvPr/>
        </p:nvSpPr>
        <p:spPr>
          <a:xfrm>
            <a:off x="2674097" y="1319855"/>
            <a:ext cx="1029661" cy="24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CCE70A3-7443-2378-1097-A46B000474EB}"/>
              </a:ext>
            </a:extLst>
          </p:cNvPr>
          <p:cNvCxnSpPr>
            <a:cxnSpLocks/>
          </p:cNvCxnSpPr>
          <p:nvPr/>
        </p:nvCxnSpPr>
        <p:spPr>
          <a:xfrm>
            <a:off x="2636744" y="1387822"/>
            <a:ext cx="976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6394D53-7AC4-9A82-08DA-E08305D6D2E1}"/>
              </a:ext>
            </a:extLst>
          </p:cNvPr>
          <p:cNvCxnSpPr>
            <a:cxnSpLocks/>
          </p:cNvCxnSpPr>
          <p:nvPr/>
        </p:nvCxnSpPr>
        <p:spPr>
          <a:xfrm>
            <a:off x="2732570" y="1387822"/>
            <a:ext cx="0" cy="175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1F5CC92-5559-5B3A-1E94-6FC12CD65C5F}"/>
              </a:ext>
            </a:extLst>
          </p:cNvPr>
          <p:cNvCxnSpPr>
            <a:cxnSpLocks/>
          </p:cNvCxnSpPr>
          <p:nvPr/>
        </p:nvCxnSpPr>
        <p:spPr>
          <a:xfrm>
            <a:off x="3639350" y="1280160"/>
            <a:ext cx="0" cy="2893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DDF1A66-8AEA-3672-EB68-6B0ADF3E5E01}"/>
              </a:ext>
            </a:extLst>
          </p:cNvPr>
          <p:cNvGrpSpPr/>
          <p:nvPr/>
        </p:nvGrpSpPr>
        <p:grpSpPr>
          <a:xfrm>
            <a:off x="1575358" y="3079092"/>
            <a:ext cx="219813" cy="252770"/>
            <a:chOff x="572337" y="1534814"/>
            <a:chExt cx="390977" cy="390977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247985D-03D0-1C72-7409-B17E655675C0}"/>
                </a:ext>
              </a:extLst>
            </p:cNvPr>
            <p:cNvCxnSpPr>
              <a:cxnSpLocks/>
            </p:cNvCxnSpPr>
            <p:nvPr/>
          </p:nvCxnSpPr>
          <p:spPr>
            <a:xfrm>
              <a:off x="572337" y="1534815"/>
              <a:ext cx="39097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9ECFAE86-5616-F01E-EEB8-655E8156899B}"/>
                </a:ext>
              </a:extLst>
            </p:cNvPr>
            <p:cNvSpPr/>
            <p:nvPr/>
          </p:nvSpPr>
          <p:spPr>
            <a:xfrm>
              <a:off x="592952" y="1534815"/>
              <a:ext cx="349748" cy="301507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A035BFA-DDE6-F8C9-27B7-F81F8596E8E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75264" y="1730303"/>
              <a:ext cx="39097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0219654-1789-9C79-833D-CF34743B9ABE}"/>
              </a:ext>
            </a:extLst>
          </p:cNvPr>
          <p:cNvGrpSpPr/>
          <p:nvPr/>
        </p:nvGrpSpPr>
        <p:grpSpPr>
          <a:xfrm flipV="1">
            <a:off x="1827244" y="2621467"/>
            <a:ext cx="209104" cy="807532"/>
            <a:chOff x="572337" y="877879"/>
            <a:chExt cx="390977" cy="1192195"/>
          </a:xfrm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0A2C78A-0E09-E9B5-DCD6-EF3CE4779E98}"/>
                </a:ext>
              </a:extLst>
            </p:cNvPr>
            <p:cNvCxnSpPr>
              <a:cxnSpLocks/>
            </p:cNvCxnSpPr>
            <p:nvPr/>
          </p:nvCxnSpPr>
          <p:spPr>
            <a:xfrm>
              <a:off x="572337" y="1534815"/>
              <a:ext cx="39097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AD035BB2-4FE4-CF18-C133-D81F32FC2431}"/>
                </a:ext>
              </a:extLst>
            </p:cNvPr>
            <p:cNvSpPr/>
            <p:nvPr/>
          </p:nvSpPr>
          <p:spPr>
            <a:xfrm>
              <a:off x="592951" y="1534817"/>
              <a:ext cx="349749" cy="271167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34B2E6F-9D48-A8DF-DE87-F81FC38B3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88" y="877879"/>
              <a:ext cx="0" cy="11921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5CEEDC0-F03A-2A2C-8308-6636271A0F81}"/>
                  </a:ext>
                </a:extLst>
              </p:cNvPr>
              <p:cNvSpPr txBox="1"/>
              <p:nvPr/>
            </p:nvSpPr>
            <p:spPr>
              <a:xfrm>
                <a:off x="1954806" y="2702067"/>
                <a:ext cx="3306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5CEEDC0-F03A-2A2C-8308-6636271A0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806" y="2702067"/>
                <a:ext cx="330698" cy="646331"/>
              </a:xfrm>
              <a:prstGeom prst="rect">
                <a:avLst/>
              </a:prstGeom>
              <a:blipFill>
                <a:blip r:embed="rId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7354F05-C805-6C09-D114-7B14FD5C22A1}"/>
                  </a:ext>
                </a:extLst>
              </p:cNvPr>
              <p:cNvSpPr txBox="1"/>
              <p:nvPr/>
            </p:nvSpPr>
            <p:spPr>
              <a:xfrm>
                <a:off x="1203243" y="3008696"/>
                <a:ext cx="3306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7354F05-C805-6C09-D114-7B14FD5C2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243" y="3008696"/>
                <a:ext cx="330698" cy="646331"/>
              </a:xfrm>
              <a:prstGeom prst="rect">
                <a:avLst/>
              </a:prstGeom>
              <a:blipFill>
                <a:blip r:embed="rId6"/>
                <a:stretch>
                  <a:fillRect r="-1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A7F432B-9AF5-8E93-2A93-0F371700CC84}"/>
                  </a:ext>
                </a:extLst>
              </p:cNvPr>
              <p:cNvSpPr txBox="1"/>
              <p:nvPr/>
            </p:nvSpPr>
            <p:spPr>
              <a:xfrm>
                <a:off x="1203243" y="1663700"/>
                <a:ext cx="3306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i="1" dirty="0"/>
              </a:p>
              <a:p>
                <a:endParaRPr lang="zh-CN" altLang="en-US" i="1" dirty="0"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A7F432B-9AF5-8E93-2A93-0F371700C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243" y="1663700"/>
                <a:ext cx="330698" cy="646331"/>
              </a:xfrm>
              <a:prstGeom prst="rect">
                <a:avLst/>
              </a:prstGeom>
              <a:blipFill>
                <a:blip r:embed="rId7"/>
                <a:stretch>
                  <a:fillRect r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0899788-5349-85CF-FC87-460B7ACDBC8B}"/>
                  </a:ext>
                </a:extLst>
              </p:cNvPr>
              <p:cNvSpPr txBox="1"/>
              <p:nvPr/>
            </p:nvSpPr>
            <p:spPr>
              <a:xfrm>
                <a:off x="1203243" y="2504253"/>
                <a:ext cx="3306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 dirty="0"/>
              </a:p>
              <a:p>
                <a:endParaRPr lang="zh-CN" altLang="en-US" i="1" dirty="0"/>
              </a:p>
            </p:txBody>
          </p:sp>
        </mc:Choice>
        <mc:Fallback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0899788-5349-85CF-FC87-460B7ACDB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243" y="2504253"/>
                <a:ext cx="330698" cy="646331"/>
              </a:xfrm>
              <a:prstGeom prst="rect">
                <a:avLst/>
              </a:prstGeom>
              <a:blipFill>
                <a:blip r:embed="rId8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39DD887-6E49-96C5-8973-D41E9B2C273A}"/>
                  </a:ext>
                </a:extLst>
              </p:cNvPr>
              <p:cNvSpPr txBox="1"/>
              <p:nvPr/>
            </p:nvSpPr>
            <p:spPr>
              <a:xfrm>
                <a:off x="1203243" y="3658780"/>
                <a:ext cx="3306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i="1" dirty="0"/>
              </a:p>
              <a:p>
                <a:endParaRPr lang="zh-CN" altLang="en-US" i="1" dirty="0"/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39DD887-6E49-96C5-8973-D41E9B2C2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243" y="3658780"/>
                <a:ext cx="330698" cy="646331"/>
              </a:xfrm>
              <a:prstGeom prst="rect">
                <a:avLst/>
              </a:prstGeom>
              <a:blipFill>
                <a:blip r:embed="rId9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908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1103</Words>
  <Application>Microsoft Office PowerPoint</Application>
  <PresentationFormat>宽屏</PresentationFormat>
  <Paragraphs>259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等线</vt:lpstr>
      <vt:lpstr>等线 Light</vt:lpstr>
      <vt:lpstr>仿宋</vt:lpstr>
      <vt:lpstr>楷体_GB2312</vt:lpstr>
      <vt:lpstr>Arial</vt:lpstr>
      <vt:lpstr>Cambria Math</vt:lpstr>
      <vt:lpstr>Times New Roman</vt:lpstr>
      <vt:lpstr>Office 主题​​</vt:lpstr>
      <vt:lpstr>SmartDraw.2</vt:lpstr>
      <vt:lpstr>Equation.3</vt:lpstr>
      <vt:lpstr>  555时基电路应用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555时基电路应用 </dc:title>
  <dc:creator>LENOVO</dc:creator>
  <cp:lastModifiedBy>744311194@qq.com</cp:lastModifiedBy>
  <cp:revision>59</cp:revision>
  <dcterms:created xsi:type="dcterms:W3CDTF">2022-04-01T06:31:31Z</dcterms:created>
  <dcterms:modified xsi:type="dcterms:W3CDTF">2026-06-18T03:20:24Z</dcterms:modified>
</cp:coreProperties>
</file>