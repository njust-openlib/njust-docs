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42"/>
  </p:notesMasterIdLst>
  <p:sldIdLst>
    <p:sldId id="415" r:id="rId2"/>
    <p:sldId id="375" r:id="rId3"/>
    <p:sldId id="425" r:id="rId4"/>
    <p:sldId id="426" r:id="rId5"/>
    <p:sldId id="521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437" r:id="rId14"/>
    <p:sldId id="438" r:id="rId15"/>
    <p:sldId id="439" r:id="rId16"/>
    <p:sldId id="442" r:id="rId17"/>
    <p:sldId id="440" r:id="rId18"/>
    <p:sldId id="520" r:id="rId19"/>
    <p:sldId id="441" r:id="rId20"/>
    <p:sldId id="443" r:id="rId21"/>
    <p:sldId id="462" r:id="rId22"/>
    <p:sldId id="445" r:id="rId23"/>
    <p:sldId id="446" r:id="rId24"/>
    <p:sldId id="447" r:id="rId25"/>
    <p:sldId id="448" r:id="rId26"/>
    <p:sldId id="449" r:id="rId27"/>
    <p:sldId id="460" r:id="rId28"/>
    <p:sldId id="461" r:id="rId29"/>
    <p:sldId id="450" r:id="rId30"/>
    <p:sldId id="451" r:id="rId31"/>
    <p:sldId id="452" r:id="rId32"/>
    <p:sldId id="463" r:id="rId33"/>
    <p:sldId id="464" r:id="rId34"/>
    <p:sldId id="455" r:id="rId35"/>
    <p:sldId id="456" r:id="rId36"/>
    <p:sldId id="457" r:id="rId37"/>
    <p:sldId id="458" r:id="rId38"/>
    <p:sldId id="519" r:id="rId39"/>
    <p:sldId id="459" r:id="rId40"/>
    <p:sldId id="518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A9DC31-2ABB-481A-BB60-F19EFCC73D7D}">
          <p14:sldIdLst>
            <p14:sldId id="415"/>
            <p14:sldId id="375"/>
          </p14:sldIdLst>
        </p14:section>
        <p14:section name="2.1 一阶逻辑基本概念" id="{532F0922-65A9-4548-938D-A023C4CACA5F}">
          <p14:sldIdLst>
            <p14:sldId id="425"/>
            <p14:sldId id="426"/>
            <p14:sldId id="521"/>
            <p14:sldId id="430"/>
            <p14:sldId id="431"/>
            <p14:sldId id="432"/>
            <p14:sldId id="433"/>
            <p14:sldId id="434"/>
            <p14:sldId id="435"/>
            <p14:sldId id="436"/>
          </p14:sldIdLst>
        </p14:section>
        <p14:section name="2.2 一阶逻辑公式及解释" id="{EE7C6CC2-519C-4901-8C75-3095A3A9CC66}">
          <p14:sldIdLst>
            <p14:sldId id="437"/>
            <p14:sldId id="438"/>
            <p14:sldId id="439"/>
            <p14:sldId id="442"/>
            <p14:sldId id="440"/>
            <p14:sldId id="520"/>
            <p14:sldId id="441"/>
            <p14:sldId id="443"/>
            <p14:sldId id="462"/>
            <p14:sldId id="445"/>
            <p14:sldId id="446"/>
            <p14:sldId id="447"/>
          </p14:sldIdLst>
        </p14:section>
        <p14:section name="2.3 一阶逻辑等值式与前束范式" id="{7BD0277A-17CE-4B8D-A65A-6FB1E17956D2}">
          <p14:sldIdLst>
            <p14:sldId id="448"/>
            <p14:sldId id="449"/>
            <p14:sldId id="460"/>
            <p14:sldId id="461"/>
            <p14:sldId id="450"/>
            <p14:sldId id="451"/>
            <p14:sldId id="452"/>
            <p14:sldId id="463"/>
            <p14:sldId id="464"/>
            <p14:sldId id="455"/>
            <p14:sldId id="456"/>
            <p14:sldId id="457"/>
            <p14:sldId id="458"/>
            <p14:sldId id="519"/>
            <p14:sldId id="459"/>
          </p14:sldIdLst>
        </p14:section>
        <p14:section name="本章总结" id="{7EC3CF50-CCDB-4A90-96A6-1C9A120A920D}">
          <p14:sldIdLst>
            <p14:sldId id="51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677"/>
    <a:srgbClr val="0000FF"/>
    <a:srgbClr val="F7F7F7"/>
    <a:srgbClr val="AD5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151" autoAdjust="0"/>
  </p:normalViewPr>
  <p:slideViewPr>
    <p:cSldViewPr snapToGrid="0">
      <p:cViewPr varScale="1">
        <p:scale>
          <a:sx n="92" d="100"/>
          <a:sy n="92" d="100"/>
        </p:scale>
        <p:origin x="740" y="52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addSection modSection">
      <pc:chgData name="744311194@qq.com" userId="e2a28223f2085f4b" providerId="LiveId" clId="{93EAE7B5-FDEE-48D0-B65C-03455E3B8632}" dt="2026-03-13T04:51:08.803" v="7" actId="17846"/>
      <pc:docMkLst>
        <pc:docMk/>
      </pc:docMkLst>
    </pc:docChg>
  </pc:docChgLst>
  <pc:docChgLst>
    <pc:chgData name="744311194@qq.com" userId="e2a28223f2085f4b" providerId="LiveId" clId="{67BAA4DE-8DA3-3D0F-8AF0-710761F762B5}"/>
    <pc:docChg chg="undo custSel modSld">
      <pc:chgData name="744311194@qq.com" userId="e2a28223f2085f4b" providerId="LiveId" clId="{67BAA4DE-8DA3-3D0F-8AF0-710761F762B5}" dt="2026-03-12T09:23:17.025" v="4" actId="20577"/>
      <pc:docMkLst>
        <pc:docMk/>
      </pc:docMkLst>
      <pc:sldChg chg="addSp modSp">
        <pc:chgData name="744311194@qq.com" userId="e2a28223f2085f4b" providerId="LiveId" clId="{67BAA4DE-8DA3-3D0F-8AF0-710761F762B5}" dt="2026-03-12T09:23:17.025" v="4" actId="20577"/>
        <pc:sldMkLst>
          <pc:docMk/>
          <pc:sldMk cId="1147034099" sldId="458"/>
        </pc:sldMkLst>
        <pc:spChg chg="add mod">
          <ac:chgData name="744311194@qq.com" userId="e2a28223f2085f4b" providerId="LiveId" clId="{67BAA4DE-8DA3-3D0F-8AF0-710761F762B5}" dt="2026-03-12T09:23:17.025" v="4" actId="20577"/>
          <ac:spMkLst>
            <pc:docMk/>
            <pc:sldMk cId="1147034099" sldId="458"/>
            <ac:spMk id="2" creationId="{DA4EB046-177C-5080-A421-716600D61C8F}"/>
          </ac:spMkLst>
        </pc:spChg>
      </pc:sldChg>
      <pc:sldChg chg="addSp delSp">
        <pc:chgData name="744311194@qq.com" userId="e2a28223f2085f4b" providerId="LiveId" clId="{67BAA4DE-8DA3-3D0F-8AF0-710761F762B5}" dt="2026-03-12T09:04:35.069" v="1" actId="139"/>
        <pc:sldMkLst>
          <pc:docMk/>
          <pc:sldMk cId="3762449920" sldId="463"/>
        </pc:sldMkLst>
        <pc:spChg chg="add del">
          <ac:chgData name="744311194@qq.com" userId="e2a28223f2085f4b" providerId="LiveId" clId="{67BAA4DE-8DA3-3D0F-8AF0-710761F762B5}" dt="2026-03-12T09:04:35.069" v="1" actId="139"/>
          <ac:spMkLst>
            <pc:docMk/>
            <pc:sldMk cId="3762449920" sldId="463"/>
            <ac:spMk id="2" creationId="{B2D477FD-BE17-0AE5-8706-8E767E6C6C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7446B-2894-449C-92CD-CB8A7EEE00B4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4DD7C-FBF0-44C0-A1F7-EB98AA47B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E569D-EDD6-4BC5-AFEC-DD57613D91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64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04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818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442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70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915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685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671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984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63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568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162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023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613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763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043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409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4204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99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8832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187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9931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5560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429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3021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16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3657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4062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8099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0968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9947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2730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6907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1037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2434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6178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805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825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B69D3C12-69C4-4A3C-8A16-E380AFBB70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D66FF192-87A1-4842-AED9-B944F1200217}"/>
              </a:ext>
            </a:extLst>
          </p:cNvPr>
          <p:cNvSpPr/>
          <p:nvPr userDrawn="1"/>
        </p:nvSpPr>
        <p:spPr>
          <a:xfrm>
            <a:off x="0" y="1736723"/>
            <a:ext cx="12192000" cy="3384552"/>
          </a:xfrm>
          <a:custGeom>
            <a:avLst/>
            <a:gdLst>
              <a:gd name="connsiteX0" fmla="*/ 0 w 12192000"/>
              <a:gd name="connsiteY0" fmla="*/ 0 h 3384552"/>
              <a:gd name="connsiteX1" fmla="*/ 5221304 w 12192000"/>
              <a:gd name="connsiteY1" fmla="*/ 0 h 3384552"/>
              <a:gd name="connsiteX2" fmla="*/ 5237005 w 12192000"/>
              <a:gd name="connsiteY2" fmla="*/ 155754 h 3384552"/>
              <a:gd name="connsiteX3" fmla="*/ 6096000 w 12192000"/>
              <a:gd name="connsiteY3" fmla="*/ 855855 h 3384552"/>
              <a:gd name="connsiteX4" fmla="*/ 6954996 w 12192000"/>
              <a:gd name="connsiteY4" fmla="*/ 155754 h 3384552"/>
              <a:gd name="connsiteX5" fmla="*/ 6970697 w 12192000"/>
              <a:gd name="connsiteY5" fmla="*/ 0 h 3384552"/>
              <a:gd name="connsiteX6" fmla="*/ 12192000 w 12192000"/>
              <a:gd name="connsiteY6" fmla="*/ 0 h 3384552"/>
              <a:gd name="connsiteX7" fmla="*/ 12192000 w 12192000"/>
              <a:gd name="connsiteY7" fmla="*/ 3384552 h 3384552"/>
              <a:gd name="connsiteX8" fmla="*/ 0 w 12192000"/>
              <a:gd name="connsiteY8" fmla="*/ 3384552 h 338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84552">
                <a:moveTo>
                  <a:pt x="0" y="0"/>
                </a:moveTo>
                <a:lnTo>
                  <a:pt x="5221304" y="0"/>
                </a:lnTo>
                <a:lnTo>
                  <a:pt x="5237005" y="155754"/>
                </a:lnTo>
                <a:cubicBezTo>
                  <a:pt x="5318764" y="555301"/>
                  <a:pt x="5672283" y="855855"/>
                  <a:pt x="6096000" y="855855"/>
                </a:cubicBezTo>
                <a:cubicBezTo>
                  <a:pt x="6519717" y="855855"/>
                  <a:pt x="6873236" y="555301"/>
                  <a:pt x="6954996" y="155754"/>
                </a:cubicBezTo>
                <a:lnTo>
                  <a:pt x="6970697" y="0"/>
                </a:lnTo>
                <a:lnTo>
                  <a:pt x="12192000" y="0"/>
                </a:lnTo>
                <a:lnTo>
                  <a:pt x="12192000" y="3384552"/>
                </a:lnTo>
                <a:lnTo>
                  <a:pt x="0" y="3384552"/>
                </a:lnTo>
                <a:close/>
              </a:path>
            </a:pathLst>
          </a:custGeom>
          <a:solidFill>
            <a:srgbClr val="9926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4" name="矩形 103">
            <a:extLst>
              <a:ext uri="{FF2B5EF4-FFF2-40B4-BE49-F238E27FC236}">
                <a16:creationId xmlns:a16="http://schemas.microsoft.com/office/drawing/2014/main" id="{25E46E35-8EC9-4AC4-909B-B1F3BC63089E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6" name="矩形 105">
            <a:extLst>
              <a:ext uri="{FF2B5EF4-FFF2-40B4-BE49-F238E27FC236}">
                <a16:creationId xmlns:a16="http://schemas.microsoft.com/office/drawing/2014/main" id="{D87BC45E-E4CF-4749-91B0-AB004E8258BC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6385A17-6A4B-4926-AD6D-2A09F5402B58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BC598F6-7EB1-4C8F-9F87-5CA9A5CECDC1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4" name="标题 112">
            <a:extLst>
              <a:ext uri="{FF2B5EF4-FFF2-40B4-BE49-F238E27FC236}">
                <a16:creationId xmlns:a16="http://schemas.microsoft.com/office/drawing/2014/main" id="{FA5E98B8-A581-470E-A5D3-7587EC891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1094" y="2795268"/>
            <a:ext cx="10335228" cy="663712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pPr algn="ctr"/>
            <a:r>
              <a:rPr lang="zh-CN" altLang="en-US" sz="4000" b="1" spc="600" dirty="0">
                <a:solidFill>
                  <a:schemeClr val="bg1"/>
                </a:solidFill>
                <a:cs typeface="+mn-ea"/>
                <a:sym typeface="+mn-lt"/>
              </a:rPr>
              <a:t>南京理工大学通用模板</a:t>
            </a:r>
          </a:p>
        </p:txBody>
      </p:sp>
      <p:sp>
        <p:nvSpPr>
          <p:cNvPr id="117" name="文本占位符 115">
            <a:extLst>
              <a:ext uri="{FF2B5EF4-FFF2-40B4-BE49-F238E27FC236}">
                <a16:creationId xmlns:a16="http://schemas.microsoft.com/office/drawing/2014/main" id="{9B9521D1-D78A-45F5-868B-2DC1CB0C6A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3600" y="3729984"/>
            <a:ext cx="5370513" cy="41592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buNone/>
              <a:defRPr lang="zh-CN" altLang="en-US" sz="2000" kern="1200" spc="600" dirty="0" smtClean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1pPr>
            <a:lvl2pPr marL="0" indent="0" algn="ctr" defTabSz="914400" rtl="0" eaLnBrk="1" latinLnBrk="0" hangingPunct="1">
              <a:buNone/>
              <a:defRPr lang="zh-CN" altLang="en-US" sz="2000" kern="1200" spc="600" dirty="0" smtClean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2pPr>
            <a:lvl3pPr marL="0" indent="0" algn="ctr" defTabSz="914400" rtl="0" eaLnBrk="1" latinLnBrk="0" hangingPunct="1">
              <a:buNone/>
              <a:defRPr lang="zh-CN" altLang="en-US" sz="2000" kern="1200" spc="600" dirty="0" smtClean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3pPr>
            <a:lvl4pPr marL="0" indent="0" algn="ctr" defTabSz="914400" rtl="0" eaLnBrk="1" latinLnBrk="0" hangingPunct="1">
              <a:buNone/>
              <a:defRPr lang="zh-CN" altLang="en-US" sz="2000" kern="1200" spc="600" dirty="0" smtClean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4pPr>
            <a:lvl5pPr marL="0" indent="0" algn="ctr" defTabSz="914400" rtl="0" eaLnBrk="1" latinLnBrk="0" hangingPunct="1">
              <a:buNone/>
              <a:defRPr lang="zh-CN" altLang="en-US" sz="2000" kern="1200" spc="600" dirty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5pPr>
          </a:lstStyle>
          <a:p>
            <a:pPr algn="ctr"/>
            <a:r>
              <a:rPr lang="zh-CN" altLang="en-US" sz="2000" spc="600" dirty="0">
                <a:solidFill>
                  <a:schemeClr val="bg1"/>
                </a:solidFill>
                <a:cs typeface="+mn-ea"/>
                <a:sym typeface="+mn-lt"/>
              </a:rPr>
              <a:t>我为母校送模板</a:t>
            </a:r>
          </a:p>
        </p:txBody>
      </p:sp>
      <p:sp>
        <p:nvSpPr>
          <p:cNvPr id="120" name="文本占位符 118">
            <a:extLst>
              <a:ext uri="{FF2B5EF4-FFF2-40B4-BE49-F238E27FC236}">
                <a16:creationId xmlns:a16="http://schemas.microsoft.com/office/drawing/2014/main" id="{C7C91DAB-02C1-4D18-9707-E24263492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6856" y="5514975"/>
            <a:ext cx="2032000" cy="3270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buNone/>
              <a:defRPr lang="zh-CN" altLang="en-US" sz="1600" b="1" kern="1200" dirty="0" smtClean="0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  <a:lvl2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2pPr>
            <a:lvl3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3pPr>
            <a:lvl4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4pPr>
            <a:lvl5pPr marL="0" indent="0" algn="just" defTabSz="914400" rtl="0" eaLnBrk="1" latinLnBrk="0" hangingPunct="1">
              <a:buNone/>
              <a:defRPr lang="zh-CN" altLang="en-US" sz="1600" kern="1200" dirty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汇报人：</a:t>
            </a:r>
            <a:r>
              <a:rPr lang="zh-CN" altLang="en-US" b="0" dirty="0">
                <a:latin typeface="+mn-ea"/>
                <a:ea typeface="+mn-ea"/>
              </a:rPr>
              <a:t>刘光前</a:t>
            </a:r>
            <a:endParaRPr lang="zh-CN" altLang="en-US" dirty="0"/>
          </a:p>
        </p:txBody>
      </p:sp>
      <p:sp>
        <p:nvSpPr>
          <p:cNvPr id="122" name="文本占位符 118">
            <a:extLst>
              <a:ext uri="{FF2B5EF4-FFF2-40B4-BE49-F238E27FC236}">
                <a16:creationId xmlns:a16="http://schemas.microsoft.com/office/drawing/2014/main" id="{8BC95D8D-59EF-48A7-9C18-AC99F93512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6243" y="5575300"/>
            <a:ext cx="2032000" cy="3270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buNone/>
              <a:defRPr lang="zh-CN" altLang="en-US" sz="1600" b="1" kern="1200" dirty="0" smtClean="0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  <a:lvl2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2pPr>
            <a:lvl3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3pPr>
            <a:lvl4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4pPr>
            <a:lvl5pPr marL="0" indent="0" algn="just" defTabSz="914400" rtl="0" eaLnBrk="1" latinLnBrk="0" hangingPunct="1">
              <a:buNone/>
              <a:defRPr lang="zh-CN" altLang="en-US" sz="1600" kern="1200" dirty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b="0" dirty="0">
                <a:latin typeface="+mn-ea"/>
                <a:ea typeface="+mn-ea"/>
              </a:rPr>
              <a:t>X </a:t>
            </a:r>
            <a:r>
              <a:rPr lang="en-US" altLang="zh-CN" b="0" dirty="0" err="1">
                <a:latin typeface="+mn-ea"/>
                <a:ea typeface="+mn-ea"/>
              </a:rPr>
              <a:t>X</a:t>
            </a:r>
            <a:r>
              <a:rPr lang="en-US" altLang="zh-CN" b="0" dirty="0">
                <a:latin typeface="+mn-ea"/>
                <a:ea typeface="+mn-ea"/>
              </a:rPr>
              <a:t> </a:t>
            </a:r>
            <a:r>
              <a:rPr lang="en-US" altLang="zh-CN" b="0" dirty="0" err="1">
                <a:latin typeface="+mn-ea"/>
                <a:ea typeface="+mn-ea"/>
              </a:rPr>
              <a:t>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2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排版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E379FF4-CF40-446E-8233-5839C197A8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92" r="3449" b="73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818D33-AD20-4EFB-8D77-858D885ED4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32D65A4-43FB-4FF1-898F-C29DCB199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678" y="368300"/>
            <a:ext cx="1885510" cy="43429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DFC62F6-2DFD-4084-AA3E-9A3FFEB2FD9A}"/>
              </a:ext>
            </a:extLst>
          </p:cNvPr>
          <p:cNvCxnSpPr/>
          <p:nvPr userDrawn="1"/>
        </p:nvCxnSpPr>
        <p:spPr>
          <a:xfrm>
            <a:off x="485775" y="858762"/>
            <a:ext cx="11220450" cy="0"/>
          </a:xfrm>
          <a:prstGeom prst="line">
            <a:avLst/>
          </a:prstGeom>
          <a:ln w="38100">
            <a:solidFill>
              <a:srgbClr val="9926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11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40">
          <p15:clr>
            <a:srgbClr val="F26B43"/>
          </p15:clr>
        </p15:guide>
        <p15:guide id="4" pos="7240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3374AA3-77F8-4684-8EB9-8CEB2DCA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648" y="2778477"/>
            <a:ext cx="7198350" cy="705941"/>
          </a:xfrm>
        </p:spPr>
        <p:txBody>
          <a:bodyPr/>
          <a:lstStyle/>
          <a:p>
            <a:r>
              <a:rPr lang="zh-CN" altLang="en-US" sz="5400" dirty="0"/>
              <a:t>离散数学</a:t>
            </a:r>
          </a:p>
        </p:txBody>
      </p:sp>
      <p:grpSp>
        <p:nvGrpSpPr>
          <p:cNvPr id="21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1E1BD5E-876F-DCEE-3C7D-2ED5C9138BF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70" name="iśļîḋè">
              <a:extLst>
                <a:ext uri="{FF2B5EF4-FFF2-40B4-BE49-F238E27FC236}">
                  <a16:creationId xmlns:a16="http://schemas.microsoft.com/office/drawing/2014/main" id="{3B4776B5-BB4B-0FC2-C039-8390026A00FF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iṣliḓê">
              <a:extLst>
                <a:ext uri="{FF2B5EF4-FFF2-40B4-BE49-F238E27FC236}">
                  <a16:creationId xmlns:a16="http://schemas.microsoft.com/office/drawing/2014/main" id="{B42DF907-DECD-263E-1B3A-0C655820F95C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íṡľiḍê">
              <a:extLst>
                <a:ext uri="{FF2B5EF4-FFF2-40B4-BE49-F238E27FC236}">
                  <a16:creationId xmlns:a16="http://schemas.microsoft.com/office/drawing/2014/main" id="{AF9AED17-A860-2124-6851-B91A2406345C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íšlîde">
              <a:extLst>
                <a:ext uri="{FF2B5EF4-FFF2-40B4-BE49-F238E27FC236}">
                  <a16:creationId xmlns:a16="http://schemas.microsoft.com/office/drawing/2014/main" id="{B8B76548-BB8C-B9F9-A70D-07D979C6AC6E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îṡḷíḋé">
              <a:extLst>
                <a:ext uri="{FF2B5EF4-FFF2-40B4-BE49-F238E27FC236}">
                  <a16:creationId xmlns:a16="http://schemas.microsoft.com/office/drawing/2014/main" id="{520F35BA-C6BB-61BD-7E3C-5FE2F21D6B96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îsḻiḓe">
              <a:extLst>
                <a:ext uri="{FF2B5EF4-FFF2-40B4-BE49-F238E27FC236}">
                  <a16:creationId xmlns:a16="http://schemas.microsoft.com/office/drawing/2014/main" id="{3F87EB36-9B33-1A3D-52CA-93EB9FCA4246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î$ļïdè">
              <a:extLst>
                <a:ext uri="{FF2B5EF4-FFF2-40B4-BE49-F238E27FC236}">
                  <a16:creationId xmlns:a16="http://schemas.microsoft.com/office/drawing/2014/main" id="{E0BEA39A-317C-A033-A522-073CE1328D5E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îṧḷíḓê">
              <a:extLst>
                <a:ext uri="{FF2B5EF4-FFF2-40B4-BE49-F238E27FC236}">
                  <a16:creationId xmlns:a16="http://schemas.microsoft.com/office/drawing/2014/main" id="{9C8020A2-44B0-E8F2-83F0-ED19E866BBCC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íṩ1iḑê">
              <a:extLst>
                <a:ext uri="{FF2B5EF4-FFF2-40B4-BE49-F238E27FC236}">
                  <a16:creationId xmlns:a16="http://schemas.microsoft.com/office/drawing/2014/main" id="{878AA491-4081-B0E1-402A-508D1BA102B5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ṥlîdê">
              <a:extLst>
                <a:ext uri="{FF2B5EF4-FFF2-40B4-BE49-F238E27FC236}">
                  <a16:creationId xmlns:a16="http://schemas.microsoft.com/office/drawing/2014/main" id="{D12A04B6-DDC4-B84E-828B-40C62064A29F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îṧľîḑé">
              <a:extLst>
                <a:ext uri="{FF2B5EF4-FFF2-40B4-BE49-F238E27FC236}">
                  <a16:creationId xmlns:a16="http://schemas.microsoft.com/office/drawing/2014/main" id="{3588C69B-794C-4A9D-B27A-C1E9E0077C87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ï$ļíḑe">
              <a:extLst>
                <a:ext uri="{FF2B5EF4-FFF2-40B4-BE49-F238E27FC236}">
                  <a16:creationId xmlns:a16="http://schemas.microsoft.com/office/drawing/2014/main" id="{3B846306-3EF6-F1A0-B72E-27B513CC9AD0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iṩḷïde">
              <a:extLst>
                <a:ext uri="{FF2B5EF4-FFF2-40B4-BE49-F238E27FC236}">
                  <a16:creationId xmlns:a16="http://schemas.microsoft.com/office/drawing/2014/main" id="{2DDABF60-0BA2-8B8D-6B07-0BE8C84280D4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$ḷïďê">
              <a:extLst>
                <a:ext uri="{FF2B5EF4-FFF2-40B4-BE49-F238E27FC236}">
                  <a16:creationId xmlns:a16="http://schemas.microsoft.com/office/drawing/2014/main" id="{817DB484-5D5C-A3C3-8097-0E3337CC020F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îśľïḑe">
              <a:extLst>
                <a:ext uri="{FF2B5EF4-FFF2-40B4-BE49-F238E27FC236}">
                  <a16:creationId xmlns:a16="http://schemas.microsoft.com/office/drawing/2014/main" id="{03503FD3-4079-7357-3F0C-5BB558D9D6C1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ïSlîḍè">
              <a:extLst>
                <a:ext uri="{FF2B5EF4-FFF2-40B4-BE49-F238E27FC236}">
                  <a16:creationId xmlns:a16="http://schemas.microsoft.com/office/drawing/2014/main" id="{797974A7-A584-C474-43E0-0D0867D8EDD2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işliḍé">
              <a:extLst>
                <a:ext uri="{FF2B5EF4-FFF2-40B4-BE49-F238E27FC236}">
                  <a16:creationId xmlns:a16="http://schemas.microsoft.com/office/drawing/2014/main" id="{E3330533-0DAD-703F-ABE1-7B3D4D11DD9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sḻïde">
              <a:extLst>
                <a:ext uri="{FF2B5EF4-FFF2-40B4-BE49-F238E27FC236}">
                  <a16:creationId xmlns:a16="http://schemas.microsoft.com/office/drawing/2014/main" id="{170C29F5-AA14-F70B-7285-A0F09F0694B5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ŝļiḋê">
              <a:extLst>
                <a:ext uri="{FF2B5EF4-FFF2-40B4-BE49-F238E27FC236}">
                  <a16:creationId xmlns:a16="http://schemas.microsoft.com/office/drawing/2014/main" id="{433573EA-2A51-AAF4-4F80-3326D88185F0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iṧḷîdè">
              <a:extLst>
                <a:ext uri="{FF2B5EF4-FFF2-40B4-BE49-F238E27FC236}">
                  <a16:creationId xmlns:a16="http://schemas.microsoft.com/office/drawing/2014/main" id="{BE364B71-660A-9C45-80A8-5F9BE516F3DF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isļíḍè">
              <a:extLst>
                <a:ext uri="{FF2B5EF4-FFF2-40B4-BE49-F238E27FC236}">
                  <a16:creationId xmlns:a16="http://schemas.microsoft.com/office/drawing/2014/main" id="{AC9D63BD-85AA-6053-378F-835659962103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ïṡ1íḓe">
              <a:extLst>
                <a:ext uri="{FF2B5EF4-FFF2-40B4-BE49-F238E27FC236}">
                  <a16:creationId xmlns:a16="http://schemas.microsoft.com/office/drawing/2014/main" id="{1F23651E-DC09-5148-A26D-CB41A9C90E8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isḷiḑê">
              <a:extLst>
                <a:ext uri="{FF2B5EF4-FFF2-40B4-BE49-F238E27FC236}">
                  <a16:creationId xmlns:a16="http://schemas.microsoft.com/office/drawing/2014/main" id="{F7198A8E-54A1-9597-8B5D-1503B08B050F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ïṥlíḓê">
              <a:extLst>
                <a:ext uri="{FF2B5EF4-FFF2-40B4-BE49-F238E27FC236}">
                  <a16:creationId xmlns:a16="http://schemas.microsoft.com/office/drawing/2014/main" id="{1B6DDAFD-A95E-D227-878E-99FD6D583507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îṧḷíḍé">
              <a:extLst>
                <a:ext uri="{FF2B5EF4-FFF2-40B4-BE49-F238E27FC236}">
                  <a16:creationId xmlns:a16="http://schemas.microsoft.com/office/drawing/2014/main" id="{493616DA-17EF-D05D-FD59-4064C7664BBF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ṩḻïďè">
              <a:extLst>
                <a:ext uri="{FF2B5EF4-FFF2-40B4-BE49-F238E27FC236}">
                  <a16:creationId xmlns:a16="http://schemas.microsoft.com/office/drawing/2014/main" id="{3A849376-543A-9254-E7E7-ADF2BC5FAA66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ídé">
              <a:extLst>
                <a:ext uri="{FF2B5EF4-FFF2-40B4-BE49-F238E27FC236}">
                  <a16:creationId xmlns:a16="http://schemas.microsoft.com/office/drawing/2014/main" id="{FD12BF63-3FF2-41D3-A5F0-E18A730B9835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iṧḻíďe">
              <a:extLst>
                <a:ext uri="{FF2B5EF4-FFF2-40B4-BE49-F238E27FC236}">
                  <a16:creationId xmlns:a16="http://schemas.microsoft.com/office/drawing/2014/main" id="{240BC46E-3278-2745-67FD-1FF3CF9B17BC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ïSlïḓé">
              <a:extLst>
                <a:ext uri="{FF2B5EF4-FFF2-40B4-BE49-F238E27FC236}">
                  <a16:creationId xmlns:a16="http://schemas.microsoft.com/office/drawing/2014/main" id="{F7E26F36-4F8A-99AC-BED0-AA2CA7B9DD0A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išľîḑé">
              <a:extLst>
                <a:ext uri="{FF2B5EF4-FFF2-40B4-BE49-F238E27FC236}">
                  <a16:creationId xmlns:a16="http://schemas.microsoft.com/office/drawing/2014/main" id="{3B06242B-B414-F1AE-0827-8481D81930F3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ṥḻîďè">
              <a:extLst>
                <a:ext uri="{FF2B5EF4-FFF2-40B4-BE49-F238E27FC236}">
                  <a16:creationId xmlns:a16="http://schemas.microsoft.com/office/drawing/2014/main" id="{B005F17A-4F5E-2CD0-F744-72CC2A806C57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i$líḋé">
              <a:extLst>
                <a:ext uri="{FF2B5EF4-FFF2-40B4-BE49-F238E27FC236}">
                  <a16:creationId xmlns:a16="http://schemas.microsoft.com/office/drawing/2014/main" id="{32AB2D29-DC53-1272-A6FA-9ABBE6D2A3F4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iṡľîḋê">
              <a:extLst>
                <a:ext uri="{FF2B5EF4-FFF2-40B4-BE49-F238E27FC236}">
                  <a16:creationId xmlns:a16="http://schemas.microsoft.com/office/drawing/2014/main" id="{A90684E4-7A21-C3BD-E7F4-C7A8002E3579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śḷîḍè">
              <a:extLst>
                <a:ext uri="{FF2B5EF4-FFF2-40B4-BE49-F238E27FC236}">
                  <a16:creationId xmlns:a16="http://schemas.microsoft.com/office/drawing/2014/main" id="{2820993C-8A9E-120F-BB8D-0F6F8C67BD47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íṣļíḓe">
              <a:extLst>
                <a:ext uri="{FF2B5EF4-FFF2-40B4-BE49-F238E27FC236}">
                  <a16:creationId xmlns:a16="http://schemas.microsoft.com/office/drawing/2014/main" id="{1DB3D17D-1C60-6696-30FE-909BE59061EF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slïḓé">
              <a:extLst>
                <a:ext uri="{FF2B5EF4-FFF2-40B4-BE49-F238E27FC236}">
                  <a16:creationId xmlns:a16="http://schemas.microsoft.com/office/drawing/2014/main" id="{576F1EE3-2651-2B91-701F-68FA1B214D1B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ïṣḻîḋé">
              <a:extLst>
                <a:ext uri="{FF2B5EF4-FFF2-40B4-BE49-F238E27FC236}">
                  <a16:creationId xmlns:a16="http://schemas.microsoft.com/office/drawing/2014/main" id="{B491D6CB-B2B3-4814-0C68-23AEEF0C2A2B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ïṥḷîḓè">
              <a:extLst>
                <a:ext uri="{FF2B5EF4-FFF2-40B4-BE49-F238E27FC236}">
                  <a16:creationId xmlns:a16="http://schemas.microsoft.com/office/drawing/2014/main" id="{41064502-35CB-C7F7-AC58-780557783B77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iṥḷíďè">
              <a:extLst>
                <a:ext uri="{FF2B5EF4-FFF2-40B4-BE49-F238E27FC236}">
                  <a16:creationId xmlns:a16="http://schemas.microsoft.com/office/drawing/2014/main" id="{66C87D98-138C-E487-D523-9684282CA5B9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ïş1ídè">
              <a:extLst>
                <a:ext uri="{FF2B5EF4-FFF2-40B4-BE49-F238E27FC236}">
                  <a16:creationId xmlns:a16="http://schemas.microsoft.com/office/drawing/2014/main" id="{2829CD61-BFA0-C3B3-4B7E-5BB2A39DC58A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îŝļiḑe">
              <a:extLst>
                <a:ext uri="{FF2B5EF4-FFF2-40B4-BE49-F238E27FC236}">
                  <a16:creationId xmlns:a16="http://schemas.microsoft.com/office/drawing/2014/main" id="{625EE407-D0F0-A4D8-240C-456A6216A26C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í$ļïḓé">
              <a:extLst>
                <a:ext uri="{FF2B5EF4-FFF2-40B4-BE49-F238E27FC236}">
                  <a16:creationId xmlns:a16="http://schemas.microsoft.com/office/drawing/2014/main" id="{CB7644ED-54BA-E53C-CE05-8158552C83DF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i$1iďê">
              <a:extLst>
                <a:ext uri="{FF2B5EF4-FFF2-40B4-BE49-F238E27FC236}">
                  <a16:creationId xmlns:a16="http://schemas.microsoft.com/office/drawing/2014/main" id="{7A8213F7-6B62-4A7A-4A76-6E984FAB9D4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îšḷiḍe">
              <a:extLst>
                <a:ext uri="{FF2B5EF4-FFF2-40B4-BE49-F238E27FC236}">
                  <a16:creationId xmlns:a16="http://schemas.microsoft.com/office/drawing/2014/main" id="{F868CE21-5E90-7A92-4C2F-6491270F91D8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íṥlïdê">
              <a:extLst>
                <a:ext uri="{FF2B5EF4-FFF2-40B4-BE49-F238E27FC236}">
                  <a16:creationId xmlns:a16="http://schemas.microsoft.com/office/drawing/2014/main" id="{92C3E46F-D149-DBAF-2089-1E4ED880476A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íśľîďé">
              <a:extLst>
                <a:ext uri="{FF2B5EF4-FFF2-40B4-BE49-F238E27FC236}">
                  <a16:creationId xmlns:a16="http://schemas.microsoft.com/office/drawing/2014/main" id="{2AEC2632-39A7-3349-9738-404C0263D74C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iŝḻîdé">
              <a:extLst>
                <a:ext uri="{FF2B5EF4-FFF2-40B4-BE49-F238E27FC236}">
                  <a16:creationId xmlns:a16="http://schemas.microsoft.com/office/drawing/2014/main" id="{5C6B6E80-97C4-5247-33BD-5F9B0FE263BD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ïsḷiḍé">
              <a:extLst>
                <a:ext uri="{FF2B5EF4-FFF2-40B4-BE49-F238E27FC236}">
                  <a16:creationId xmlns:a16="http://schemas.microsoft.com/office/drawing/2014/main" id="{48B1102B-347B-4D6D-A1BB-977FF3B5AD3C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íṧ1iďè">
              <a:extLst>
                <a:ext uri="{FF2B5EF4-FFF2-40B4-BE49-F238E27FC236}">
                  <a16:creationId xmlns:a16="http://schemas.microsoft.com/office/drawing/2014/main" id="{5F4027BD-02FA-A256-2D43-CA85B2963F57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îṩľíḓe">
              <a:extLst>
                <a:ext uri="{FF2B5EF4-FFF2-40B4-BE49-F238E27FC236}">
                  <a16:creationId xmlns:a16="http://schemas.microsoft.com/office/drawing/2014/main" id="{C75D6B14-2C81-115C-74B2-648D19C0CD68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0" name="ïṡ1ïḑé">
              <a:extLst>
                <a:ext uri="{FF2B5EF4-FFF2-40B4-BE49-F238E27FC236}">
                  <a16:creationId xmlns:a16="http://schemas.microsoft.com/office/drawing/2014/main" id="{BB521E10-DA58-FCE6-2085-293368D2841D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1" name="iṡlíďe">
              <a:extLst>
                <a:ext uri="{FF2B5EF4-FFF2-40B4-BE49-F238E27FC236}">
                  <a16:creationId xmlns:a16="http://schemas.microsoft.com/office/drawing/2014/main" id="{D73D8C5C-56C4-EDED-779B-DD11A698FF57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2" name="ïšḷiḍè">
              <a:extLst>
                <a:ext uri="{FF2B5EF4-FFF2-40B4-BE49-F238E27FC236}">
                  <a16:creationId xmlns:a16="http://schemas.microsoft.com/office/drawing/2014/main" id="{64BAEC53-ECD8-6E42-4B94-A271DC02726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3" name="í$1îḓè">
              <a:extLst>
                <a:ext uri="{FF2B5EF4-FFF2-40B4-BE49-F238E27FC236}">
                  <a16:creationId xmlns:a16="http://schemas.microsoft.com/office/drawing/2014/main" id="{F3DA2611-74B9-0123-1FCE-B741996E8F98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4" name="î$ľidé">
              <a:extLst>
                <a:ext uri="{FF2B5EF4-FFF2-40B4-BE49-F238E27FC236}">
                  <a16:creationId xmlns:a16="http://schemas.microsoft.com/office/drawing/2014/main" id="{AFF2FC16-1EE3-912E-115A-CBF4847F6EE8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5" name="išḻïďê">
              <a:extLst>
                <a:ext uri="{FF2B5EF4-FFF2-40B4-BE49-F238E27FC236}">
                  <a16:creationId xmlns:a16="http://schemas.microsoft.com/office/drawing/2014/main" id="{F3C3C0D2-9458-72B6-DF40-B19114EA4BC5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6" name="îSļíďê">
              <a:extLst>
                <a:ext uri="{FF2B5EF4-FFF2-40B4-BE49-F238E27FC236}">
                  <a16:creationId xmlns:a16="http://schemas.microsoft.com/office/drawing/2014/main" id="{C163E0C3-9D95-AE80-9F07-8CC8441E16EE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7" name="íṧḻiḋe">
              <a:extLst>
                <a:ext uri="{FF2B5EF4-FFF2-40B4-BE49-F238E27FC236}">
                  <a16:creationId xmlns:a16="http://schemas.microsoft.com/office/drawing/2014/main" id="{A7F76B94-C659-90E9-B5E8-A9F767EFBCA5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8" name="îṡ1iďé">
              <a:extLst>
                <a:ext uri="{FF2B5EF4-FFF2-40B4-BE49-F238E27FC236}">
                  <a16:creationId xmlns:a16="http://schemas.microsoft.com/office/drawing/2014/main" id="{2F9E554B-29FC-4548-7ADE-14EC005890D6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9" name="ï$ḷïdè">
              <a:extLst>
                <a:ext uri="{FF2B5EF4-FFF2-40B4-BE49-F238E27FC236}">
                  <a16:creationId xmlns:a16="http://schemas.microsoft.com/office/drawing/2014/main" id="{E99BDECA-1322-00A5-3927-C308E50AE1BB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0" name="işlîḋê">
              <a:extLst>
                <a:ext uri="{FF2B5EF4-FFF2-40B4-BE49-F238E27FC236}">
                  <a16:creationId xmlns:a16="http://schemas.microsoft.com/office/drawing/2014/main" id="{1338D772-9EFF-3E3E-3680-88732232A877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1" name="işḻïḑè">
              <a:extLst>
                <a:ext uri="{FF2B5EF4-FFF2-40B4-BE49-F238E27FC236}">
                  <a16:creationId xmlns:a16="http://schemas.microsoft.com/office/drawing/2014/main" id="{E880FFEA-1F5A-337C-C2C3-FFCC83B2B9FC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2" name="ïslidê">
              <a:extLst>
                <a:ext uri="{FF2B5EF4-FFF2-40B4-BE49-F238E27FC236}">
                  <a16:creationId xmlns:a16="http://schemas.microsoft.com/office/drawing/2014/main" id="{B6F9A34C-8977-F257-5163-ECC8B9F65DA0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3" name="íṣḻíḑê">
              <a:extLst>
                <a:ext uri="{FF2B5EF4-FFF2-40B4-BE49-F238E27FC236}">
                  <a16:creationId xmlns:a16="http://schemas.microsoft.com/office/drawing/2014/main" id="{FC1AE05E-7B18-C550-1E3A-57B8A1F74773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4" name="ísḻídé">
              <a:extLst>
                <a:ext uri="{FF2B5EF4-FFF2-40B4-BE49-F238E27FC236}">
                  <a16:creationId xmlns:a16="http://schemas.microsoft.com/office/drawing/2014/main" id="{D89E3937-8FE8-28CC-C792-0D81C7C49DCE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5" name="iṧḻide">
              <a:extLst>
                <a:ext uri="{FF2B5EF4-FFF2-40B4-BE49-F238E27FC236}">
                  <a16:creationId xmlns:a16="http://schemas.microsoft.com/office/drawing/2014/main" id="{B7B5B3E2-B3C1-0C97-2EC2-A6C0A52226B4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6" name="îṧļïďe">
              <a:extLst>
                <a:ext uri="{FF2B5EF4-FFF2-40B4-BE49-F238E27FC236}">
                  <a16:creationId xmlns:a16="http://schemas.microsoft.com/office/drawing/2014/main" id="{F785AF04-E33F-F906-8B1A-F5A2A3BF8A64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7" name="iṣḷîḋê">
              <a:extLst>
                <a:ext uri="{FF2B5EF4-FFF2-40B4-BE49-F238E27FC236}">
                  <a16:creationId xmlns:a16="http://schemas.microsoft.com/office/drawing/2014/main" id="{C29FDA12-C0AD-0202-34D0-2A12E0578B00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8" name="íŝ1ïḍè">
              <a:extLst>
                <a:ext uri="{FF2B5EF4-FFF2-40B4-BE49-F238E27FC236}">
                  <a16:creationId xmlns:a16="http://schemas.microsoft.com/office/drawing/2014/main" id="{B7DA8230-DD2E-C089-FF82-BDACC3BBCA3E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9" name="íŝlîḋe">
              <a:extLst>
                <a:ext uri="{FF2B5EF4-FFF2-40B4-BE49-F238E27FC236}">
                  <a16:creationId xmlns:a16="http://schemas.microsoft.com/office/drawing/2014/main" id="{6EA30E85-9A45-B723-4DD3-A9BA0582B6E4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0" name="iŝḻiďê">
              <a:extLst>
                <a:ext uri="{FF2B5EF4-FFF2-40B4-BE49-F238E27FC236}">
                  <a16:creationId xmlns:a16="http://schemas.microsoft.com/office/drawing/2014/main" id="{F4E2D8CC-4A7A-73F6-1D57-3F283EB70F58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1" name="îṥḻiḍè">
              <a:extLst>
                <a:ext uri="{FF2B5EF4-FFF2-40B4-BE49-F238E27FC236}">
                  <a16:creationId xmlns:a16="http://schemas.microsoft.com/office/drawing/2014/main" id="{BC72794C-1A56-8DC0-2A5C-964C7EA6D13C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2" name="íṩḷîḋe">
              <a:extLst>
                <a:ext uri="{FF2B5EF4-FFF2-40B4-BE49-F238E27FC236}">
                  <a16:creationId xmlns:a16="http://schemas.microsoft.com/office/drawing/2014/main" id="{F2E09BD2-F3F5-5033-547D-B76AA1CF45D1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3" name="iṧḻiḋè">
              <a:extLst>
                <a:ext uri="{FF2B5EF4-FFF2-40B4-BE49-F238E27FC236}">
                  <a16:creationId xmlns:a16="http://schemas.microsoft.com/office/drawing/2014/main" id="{9A7ACAC5-BB6C-281A-2303-9504734227F9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4" name="î$ľíḓè">
              <a:extLst>
                <a:ext uri="{FF2B5EF4-FFF2-40B4-BE49-F238E27FC236}">
                  <a16:creationId xmlns:a16="http://schemas.microsoft.com/office/drawing/2014/main" id="{5D7E9699-3D6B-FC72-0738-4584D44365BD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5" name="ïsľíďe">
              <a:extLst>
                <a:ext uri="{FF2B5EF4-FFF2-40B4-BE49-F238E27FC236}">
                  <a16:creationId xmlns:a16="http://schemas.microsoft.com/office/drawing/2014/main" id="{C4B81C1C-0532-C6A3-9942-997F89B23F17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6" name="íšḷïdé">
              <a:extLst>
                <a:ext uri="{FF2B5EF4-FFF2-40B4-BE49-F238E27FC236}">
                  <a16:creationId xmlns:a16="http://schemas.microsoft.com/office/drawing/2014/main" id="{6FF4AAFA-35BD-5C29-0A35-5A7291B273E1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7" name="ïslîḍê">
              <a:extLst>
                <a:ext uri="{FF2B5EF4-FFF2-40B4-BE49-F238E27FC236}">
                  <a16:creationId xmlns:a16="http://schemas.microsoft.com/office/drawing/2014/main" id="{0A5B9A3B-659D-C997-57D2-EDCCB3D8632A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8" name="îŝľíḍè">
              <a:extLst>
                <a:ext uri="{FF2B5EF4-FFF2-40B4-BE49-F238E27FC236}">
                  <a16:creationId xmlns:a16="http://schemas.microsoft.com/office/drawing/2014/main" id="{51972F81-9B84-D8A0-10D9-90F4B70D7A0C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9" name="íşľîḑé">
              <a:extLst>
                <a:ext uri="{FF2B5EF4-FFF2-40B4-BE49-F238E27FC236}">
                  <a16:creationId xmlns:a16="http://schemas.microsoft.com/office/drawing/2014/main" id="{6433D098-631C-7239-1F92-D6E56ED392DE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0" name="íSḷîḍè">
              <a:extLst>
                <a:ext uri="{FF2B5EF4-FFF2-40B4-BE49-F238E27FC236}">
                  <a16:creationId xmlns:a16="http://schemas.microsoft.com/office/drawing/2014/main" id="{D48F2334-DF91-B37B-66C4-34A12B768FC9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1" name="ïşļîḍè">
              <a:extLst>
                <a:ext uri="{FF2B5EF4-FFF2-40B4-BE49-F238E27FC236}">
                  <a16:creationId xmlns:a16="http://schemas.microsoft.com/office/drawing/2014/main" id="{3E35E65F-DBEA-8841-627B-D4E90DE785E3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2" name="ísḷiḋe">
              <a:extLst>
                <a:ext uri="{FF2B5EF4-FFF2-40B4-BE49-F238E27FC236}">
                  <a16:creationId xmlns:a16="http://schemas.microsoft.com/office/drawing/2014/main" id="{7E184D40-DB29-F839-0160-E97AF86850C1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3" name="išḷîḓe">
              <a:extLst>
                <a:ext uri="{FF2B5EF4-FFF2-40B4-BE49-F238E27FC236}">
                  <a16:creationId xmlns:a16="http://schemas.microsoft.com/office/drawing/2014/main" id="{BFF5C089-E738-4EEC-3921-840A5ED40CF7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4" name="ïṩļidê">
              <a:extLst>
                <a:ext uri="{FF2B5EF4-FFF2-40B4-BE49-F238E27FC236}">
                  <a16:creationId xmlns:a16="http://schemas.microsoft.com/office/drawing/2014/main" id="{D3B4BE40-9947-3E4C-6AE9-97713FC0E01B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5" name="îṧliḑe">
              <a:extLst>
                <a:ext uri="{FF2B5EF4-FFF2-40B4-BE49-F238E27FC236}">
                  <a16:creationId xmlns:a16="http://schemas.microsoft.com/office/drawing/2014/main" id="{C1BA431E-9376-EDFF-B8EA-EDB369A6990E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6" name="ïśḷïḓè">
              <a:extLst>
                <a:ext uri="{FF2B5EF4-FFF2-40B4-BE49-F238E27FC236}">
                  <a16:creationId xmlns:a16="http://schemas.microsoft.com/office/drawing/2014/main" id="{FAC55141-4FF0-8318-2CD6-CF1EDA5F6973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7" name="ísliďè">
              <a:extLst>
                <a:ext uri="{FF2B5EF4-FFF2-40B4-BE49-F238E27FC236}">
                  <a16:creationId xmlns:a16="http://schemas.microsoft.com/office/drawing/2014/main" id="{F7A14C12-E6F1-98DE-0AFF-3CC2A97B1FD7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8" name="ïsḷíḍé">
              <a:extLst>
                <a:ext uri="{FF2B5EF4-FFF2-40B4-BE49-F238E27FC236}">
                  <a16:creationId xmlns:a16="http://schemas.microsoft.com/office/drawing/2014/main" id="{62621E6E-DDFE-9F21-3C2F-2FEC965A5B37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9" name="ïšlîḑê">
              <a:extLst>
                <a:ext uri="{FF2B5EF4-FFF2-40B4-BE49-F238E27FC236}">
                  <a16:creationId xmlns:a16="http://schemas.microsoft.com/office/drawing/2014/main" id="{8B277695-7A9D-408F-9405-D4C864F0658A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0" name="îṧḻîḓé">
              <a:extLst>
                <a:ext uri="{FF2B5EF4-FFF2-40B4-BE49-F238E27FC236}">
                  <a16:creationId xmlns:a16="http://schemas.microsoft.com/office/drawing/2014/main" id="{4649DC98-072C-C099-AEFA-7D4D2FC044DC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1" name="iśļîḋê">
              <a:extLst>
                <a:ext uri="{FF2B5EF4-FFF2-40B4-BE49-F238E27FC236}">
                  <a16:creationId xmlns:a16="http://schemas.microsoft.com/office/drawing/2014/main" id="{FEC0BED0-5E03-86ED-8D1D-716D21C8F065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63" name="标题 5">
            <a:extLst>
              <a:ext uri="{FF2B5EF4-FFF2-40B4-BE49-F238E27FC236}">
                <a16:creationId xmlns:a16="http://schemas.microsoft.com/office/drawing/2014/main" id="{2CE6E157-70B1-4848-AAFD-A9B317C8FA93}"/>
              </a:ext>
            </a:extLst>
          </p:cNvPr>
          <p:cNvSpPr txBox="1">
            <a:spLocks/>
          </p:cNvSpPr>
          <p:nvPr/>
        </p:nvSpPr>
        <p:spPr>
          <a:xfrm>
            <a:off x="2714048" y="4170858"/>
            <a:ext cx="7198350" cy="7059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zh-CN" altLang="en-US" sz="4400" dirty="0"/>
              <a:t>第</a:t>
            </a:r>
            <a:r>
              <a:rPr lang="en-US" altLang="zh-CN" sz="4400" dirty="0"/>
              <a:t>2</a:t>
            </a:r>
            <a:r>
              <a:rPr lang="zh-CN" altLang="en-US" sz="4400" dirty="0"/>
              <a:t>章 一阶逻辑</a:t>
            </a:r>
          </a:p>
        </p:txBody>
      </p:sp>
    </p:spTree>
    <p:extLst>
      <p:ext uri="{BB962C8B-B14F-4D97-AF65-F5344CB8AC3E}">
        <p14:creationId xmlns:p14="http://schemas.microsoft.com/office/powerpoint/2010/main" val="287638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EBB1BCF0-D4C7-4F87-A1FB-537C3A222B35}"/>
              </a:ext>
            </a:extLst>
          </p:cNvPr>
          <p:cNvSpPr txBox="1">
            <a:spLocks noChangeArrowheads="1"/>
          </p:cNvSpPr>
          <p:nvPr/>
        </p:nvSpPr>
        <p:spPr>
          <a:xfrm>
            <a:off x="429491" y="1255570"/>
            <a:ext cx="8229600" cy="34757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ct val="50000"/>
              </a:spcBef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一阶逻辑基本概念</a:t>
            </a:r>
          </a:p>
          <a:p>
            <a:pPr marL="0">
              <a:spcBef>
                <a:spcPct val="50000"/>
              </a:spcBef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一阶逻辑合式公式及解释</a:t>
            </a:r>
          </a:p>
          <a:p>
            <a:pPr marL="0">
              <a:spcBef>
                <a:spcPct val="50000"/>
              </a:spcBef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一阶逻辑等值式与前束范式</a:t>
            </a:r>
          </a:p>
        </p:txBody>
      </p:sp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3573608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主要内容</a:t>
            </a:r>
          </a:p>
        </p:txBody>
      </p:sp>
    </p:spTree>
    <p:extLst>
      <p:ext uri="{BB962C8B-B14F-4D97-AF65-F5344CB8AC3E}">
        <p14:creationId xmlns:p14="http://schemas.microsoft.com/office/powerpoint/2010/main" val="39649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6" y="966735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33DAB4-A7C6-40CA-99EB-21CDCDA9308E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F71C762-BEF9-42A7-B5F8-E7C658E5E0E6}"/>
              </a:ext>
            </a:extLst>
          </p:cNvPr>
          <p:cNvSpPr txBox="1">
            <a:spLocks/>
          </p:cNvSpPr>
          <p:nvPr/>
        </p:nvSpPr>
        <p:spPr>
          <a:xfrm>
            <a:off x="568036" y="1736161"/>
            <a:ext cx="8229600" cy="6459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引子：命题逻辑的局限性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EEA82F63-CB62-43AB-9849-3F46A04DB89B}"/>
              </a:ext>
            </a:extLst>
          </p:cNvPr>
          <p:cNvSpPr txBox="1">
            <a:spLocks/>
          </p:cNvSpPr>
          <p:nvPr/>
        </p:nvSpPr>
        <p:spPr>
          <a:xfrm>
            <a:off x="549811" y="2520569"/>
            <a:ext cx="10989327" cy="3886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苏格拉底三段论：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	</a:t>
            </a: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凡是人都要死的</a:t>
            </a: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	</a:t>
            </a: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苏格拉底是人</a:t>
            </a: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	</a:t>
            </a: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所以苏格拉底是要死的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在命题逻辑中，只能用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表示以上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个命题，上述推理可表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示</a:t>
            </a: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成</a:t>
            </a: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这</a:t>
            </a:r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不是重言式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，但直觉上上述论断是正确的</a:t>
            </a: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为什么？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D97F65-9E19-421C-98BC-9610CC825047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C3EFA8-AC58-4D85-B196-37E8054A65AE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</p:spTree>
    <p:extLst>
      <p:ext uri="{BB962C8B-B14F-4D97-AF65-F5344CB8AC3E}">
        <p14:creationId xmlns:p14="http://schemas.microsoft.com/office/powerpoint/2010/main" val="421998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AD7F478-89ED-4691-9384-8F07E822D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36" y="1699948"/>
            <a:ext cx="10501121" cy="418069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个体词（个体）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所研究对象中可以独立存在的具体或抽象的客体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个体常项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具体的事物，用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个体变项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抽象的事物，用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个体域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个体变项的取值范围</a:t>
            </a: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有限个体域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en-US" altLang="zh-CN" sz="2400" b="1" dirty="0">
                <a:latin typeface="Times New Roman" panose="02020603050405020304" pitchFamily="18" charset="0"/>
              </a:rPr>
              <a:t>{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}, {1, 2}</a:t>
            </a: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无限个体域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en-US" altLang="zh-CN" sz="2400" b="1" dirty="0">
                <a:latin typeface="Times New Roman" panose="02020603050405020304" pitchFamily="18" charset="0"/>
              </a:rPr>
              <a:t>N, Z, R, …</a:t>
            </a: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全总个体域</a:t>
            </a:r>
            <a:r>
              <a:rPr lang="en-US" altLang="zh-CN" sz="2400" b="1" dirty="0">
                <a:latin typeface="Times New Roman" panose="02020603050405020304" pitchFamily="18" charset="0"/>
              </a:rPr>
              <a:t>: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宇宙间一切事物组成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B4BFBC-B378-43C8-9DF1-EB2EAB624A88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15AA6F-E8AA-491A-B38A-4A16C7188A82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B9022D-DBEC-467D-BCCF-B8755C894036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FC6BC2-40A6-438F-922A-59EAA262FEB4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B52D38-B861-49E5-ACA6-60312B92B0BE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A3065D-06E2-4163-86E9-F60D5B8D45D6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</p:spTree>
    <p:extLst>
      <p:ext uri="{BB962C8B-B14F-4D97-AF65-F5344CB8AC3E}">
        <p14:creationId xmlns:p14="http://schemas.microsoft.com/office/powerpoint/2010/main" val="113057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AD7F478-89ED-4691-9384-8F07E822D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36" y="1542499"/>
            <a:ext cx="10501121" cy="418069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表示个体词性质或相互之间关系的词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谓词常项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表示具体的性质或关系的谓词，如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是人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谓词变项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表示抽象的或泛指的谓词，如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具有性质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F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一元谓词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表示事物的性质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多元谓词</a:t>
            </a:r>
            <a:r>
              <a:rPr lang="en-US" altLang="zh-CN" sz="2800" b="1" dirty="0">
                <a:solidFill>
                  <a:srgbClr val="992677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元谓词</a:t>
            </a:r>
            <a:r>
              <a:rPr lang="en-US" altLang="zh-CN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8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 err="1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992677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表示事物之间的关系，如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有关系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</a:rPr>
              <a:t>…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992677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元谓词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不含个体变项的谓词</a:t>
            </a: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即命题常项或命题变项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4A151C-6B4C-449E-ADAC-EB34943A2B43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802846-FEB9-4448-AD39-B46A118E7822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1568E0-0784-47E0-926D-E6C53A98D70A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968B74-D944-410B-996F-37907343C3E6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569D23-0673-4D7D-B39F-D133BBA0D332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49C307-C90D-4094-A979-D243BFD697A4}"/>
              </a:ext>
            </a:extLst>
          </p:cNvPr>
          <p:cNvSpPr txBox="1"/>
          <p:nvPr/>
        </p:nvSpPr>
        <p:spPr>
          <a:xfrm>
            <a:off x="10061669" y="1614132"/>
            <a:ext cx="1960552" cy="985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墨西哥位于北美洲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小王和小李同岁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600" b="1" i="1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&lt; </a:t>
            </a:r>
            <a:r>
              <a:rPr lang="en-US" altLang="zh-CN" sz="18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y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3139BC6-C0A1-4BED-843E-2809D3B2F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69" y="5860156"/>
            <a:ext cx="10501121" cy="99481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</a:rPr>
              <a:t>) 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个体常项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具有性质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个体变项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具有性质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</a:rPr>
              <a:t>,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个体常项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a, b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具有关系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x, y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个体变项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x, y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具有关系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40962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C674160-E496-48D1-B9A3-19665F47B107}"/>
              </a:ext>
            </a:extLst>
          </p:cNvPr>
          <p:cNvSpPr txBox="1">
            <a:spLocks noChangeArrowheads="1"/>
          </p:cNvSpPr>
          <p:nvPr/>
        </p:nvSpPr>
        <p:spPr>
          <a:xfrm>
            <a:off x="538223" y="1417896"/>
            <a:ext cx="11630629" cy="400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  <a:r>
              <a:rPr lang="en-US" altLang="zh-CN" sz="2400" dirty="0"/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表示数量的词</a:t>
            </a:r>
          </a:p>
          <a:p>
            <a:pPr marL="0" indent="0">
              <a:buNone/>
            </a:pPr>
            <a:r>
              <a:rPr lang="en-US" altLang="zh-CN" sz="2400" dirty="0"/>
              <a:t>                                  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33EDD4-B948-41E1-B068-75A041D19BD5}"/>
              </a:ext>
            </a:extLst>
          </p:cNvPr>
          <p:cNvSpPr txBox="1">
            <a:spLocks noChangeArrowheads="1"/>
          </p:cNvSpPr>
          <p:nvPr/>
        </p:nvSpPr>
        <p:spPr>
          <a:xfrm>
            <a:off x="533314" y="1910790"/>
            <a:ext cx="11630629" cy="4655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全称量词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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表示任意的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所有的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一切的等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.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E2C9528-3067-41A5-A755-3777A4AC0229}"/>
              </a:ext>
            </a:extLst>
          </p:cNvPr>
          <p:cNvSpPr txBox="1">
            <a:spLocks noChangeArrowheads="1"/>
          </p:cNvSpPr>
          <p:nvPr/>
        </p:nvSpPr>
        <p:spPr>
          <a:xfrm>
            <a:off x="1309254" y="2422619"/>
            <a:ext cx="9242388" cy="13275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对个体域中所有的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marL="0" indent="0">
              <a:buNone/>
            </a:pPr>
            <a:r>
              <a:rPr lang="en-US" altLang="zh-CN" sz="2400" dirty="0"/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表示个体域中所有的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具有性质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pPr marL="0" indent="0">
              <a:buNone/>
            </a:pPr>
            <a:r>
              <a:rPr lang="en-US" altLang="zh-CN" sz="2400" dirty="0"/>
              <a:t>  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表示个体域中所有的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有关系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8759A2A-0487-40FA-A676-7BF75B600156}"/>
              </a:ext>
            </a:extLst>
          </p:cNvPr>
          <p:cNvSpPr txBox="1">
            <a:spLocks noChangeArrowheads="1"/>
          </p:cNvSpPr>
          <p:nvPr/>
        </p:nvSpPr>
        <p:spPr>
          <a:xfrm>
            <a:off x="568036" y="3880387"/>
            <a:ext cx="8055980" cy="5642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存在量词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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表示存在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有的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至少有一个等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C5F8DA0-B4E0-4800-93B3-8CBFF29E1E0C}"/>
              </a:ext>
            </a:extLst>
          </p:cNvPr>
          <p:cNvSpPr txBox="1">
            <a:spLocks noChangeArrowheads="1"/>
          </p:cNvSpPr>
          <p:nvPr/>
        </p:nvSpPr>
        <p:spPr>
          <a:xfrm>
            <a:off x="1309254" y="4386806"/>
            <a:ext cx="7198576" cy="9679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个体域中有一个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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表示个体域中有一个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具有性质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pPr marL="0" indent="0">
              <a:buNone/>
            </a:pPr>
            <a:r>
              <a:rPr lang="en-US" altLang="zh-CN" sz="2400" dirty="0"/>
              <a:t>                                          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41E938F-96C6-4524-BC01-C1BD91509253}"/>
              </a:ext>
            </a:extLst>
          </p:cNvPr>
          <p:cNvSpPr txBox="1">
            <a:spLocks noChangeArrowheads="1"/>
          </p:cNvSpPr>
          <p:nvPr/>
        </p:nvSpPr>
        <p:spPr>
          <a:xfrm>
            <a:off x="2050472" y="5344671"/>
            <a:ext cx="8333772" cy="5642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表示个体域中存在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有关系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pPr marL="0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400" dirty="0"/>
              <a:t>                                  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B243ABC-52A6-40C9-80F1-9B737F15CB85}"/>
              </a:ext>
            </a:extLst>
          </p:cNvPr>
          <p:cNvSpPr txBox="1">
            <a:spLocks noChangeArrowheads="1"/>
          </p:cNvSpPr>
          <p:nvPr/>
        </p:nvSpPr>
        <p:spPr>
          <a:xfrm>
            <a:off x="2050472" y="5819091"/>
            <a:ext cx="9844630" cy="6080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表示对个体域中每一个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都存在一个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有关系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400" dirty="0"/>
              <a:t>                                  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E1C2481-261B-47CE-8636-C838E66DCAD1}"/>
              </a:ext>
            </a:extLst>
          </p:cNvPr>
          <p:cNvSpPr txBox="1">
            <a:spLocks noChangeArrowheads="1"/>
          </p:cNvSpPr>
          <p:nvPr/>
        </p:nvSpPr>
        <p:spPr>
          <a:xfrm>
            <a:off x="2050472" y="6333446"/>
            <a:ext cx="10716229" cy="5580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表示个体域中存在一个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使得对每一个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有关系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/>
              <a:t>                                  </a:t>
            </a:r>
            <a:endParaRPr lang="en-US" altLang="zh-C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436F2B-F1BA-42D7-B916-7FDF1A937BBA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010F9D-51A3-41FF-AF63-392417353C32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75F486-20D7-431B-B41A-4A4C186C577E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38B14D-F352-433C-B7BF-DE39E669E33E}"/>
              </a:ext>
            </a:extLst>
          </p:cNvPr>
          <p:cNvSpPr txBox="1"/>
          <p:nvPr/>
        </p:nvSpPr>
        <p:spPr>
          <a:xfrm>
            <a:off x="6785597" y="991738"/>
            <a:ext cx="891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4E5051-E4DD-4157-ADAE-35D03312F786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</p:spTree>
    <p:extLst>
      <p:ext uri="{BB962C8B-B14F-4D97-AF65-F5344CB8AC3E}">
        <p14:creationId xmlns:p14="http://schemas.microsoft.com/office/powerpoint/2010/main" val="161681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3" grpId="0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E0C81E89-F035-4B0E-A193-3AA844410152}"/>
              </a:ext>
            </a:extLst>
          </p:cNvPr>
          <p:cNvGrpSpPr>
            <a:grpSpLocks/>
          </p:cNvGrpSpPr>
          <p:nvPr/>
        </p:nvGrpSpPr>
        <p:grpSpPr bwMode="auto">
          <a:xfrm>
            <a:off x="737044" y="1504022"/>
            <a:ext cx="7921625" cy="1828801"/>
            <a:chOff x="249" y="817"/>
            <a:chExt cx="4990" cy="1152"/>
          </a:xfrm>
        </p:grpSpPr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BCF2B2C6-ECC1-4C5B-AE5E-57D247AEA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817"/>
              <a:ext cx="4990" cy="1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 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用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元谓词将命题符号化</a:t>
              </a:r>
            </a:p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(1)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墨西哥位于北美洲 </a:t>
              </a:r>
            </a:p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(2)      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是无理数仅当   是有理数</a:t>
              </a:r>
            </a:p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(3)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如果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2&gt;3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，则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3&lt;4</a:t>
              </a:r>
            </a:p>
          </p:txBody>
        </p:sp>
        <p:grpSp>
          <p:nvGrpSpPr>
            <p:cNvPr id="9" name="Group 22">
              <a:extLst>
                <a:ext uri="{FF2B5EF4-FFF2-40B4-BE49-F238E27FC236}">
                  <a16:creationId xmlns:a16="http://schemas.microsoft.com/office/drawing/2014/main" id="{5B9378CD-BF7A-43D8-806B-FFBA5C715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9" y="1346"/>
              <a:ext cx="1775" cy="314"/>
              <a:chOff x="589" y="1346"/>
              <a:chExt cx="1775" cy="314"/>
            </a:xfrm>
          </p:grpSpPr>
          <p:graphicFrame>
            <p:nvGraphicFramePr>
              <p:cNvPr id="10" name="Object 16">
                <a:extLst>
                  <a:ext uri="{FF2B5EF4-FFF2-40B4-BE49-F238E27FC236}">
                    <a16:creationId xmlns:a16="http://schemas.microsoft.com/office/drawing/2014/main" id="{BC135E93-DAA6-4F84-BC90-4379654D7E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49130327"/>
                  </p:ext>
                </p:extLst>
              </p:nvPr>
            </p:nvGraphicFramePr>
            <p:xfrm>
              <a:off x="589" y="1346"/>
              <a:ext cx="291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Microsoft 公式 3.0" r:id="rId3" imgW="241091" imgH="215713" progId="Equation.3">
                      <p:embed/>
                    </p:oleObj>
                  </mc:Choice>
                  <mc:Fallback>
                    <p:oleObj name="Microsoft 公式 3.0" r:id="rId3" imgW="241091" imgH="215713" progId="Equation.3">
                      <p:embed/>
                      <p:pic>
                        <p:nvPicPr>
                          <p:cNvPr id="10" name="Object 16">
                            <a:extLst>
                              <a:ext uri="{FF2B5EF4-FFF2-40B4-BE49-F238E27FC236}">
                                <a16:creationId xmlns:a16="http://schemas.microsoft.com/office/drawing/2014/main" id="{BC135E93-DAA6-4F84-BC90-4379654D7E6D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9" y="1346"/>
                            <a:ext cx="291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Object 20">
                <a:extLst>
                  <a:ext uri="{FF2B5EF4-FFF2-40B4-BE49-F238E27FC236}">
                    <a16:creationId xmlns:a16="http://schemas.microsoft.com/office/drawing/2014/main" id="{40188BC5-D438-4B84-A1D3-E5FC97B515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786174"/>
                  </p:ext>
                </p:extLst>
              </p:nvPr>
            </p:nvGraphicFramePr>
            <p:xfrm>
              <a:off x="2062" y="1358"/>
              <a:ext cx="302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Microsoft 公式 3.0" r:id="rId5" imgW="228600" imgH="228600" progId="Equation.3">
                      <p:embed/>
                    </p:oleObj>
                  </mc:Choice>
                  <mc:Fallback>
                    <p:oleObj name="Microsoft 公式 3.0" r:id="rId5" imgW="228600" imgH="228600" progId="Equation.3">
                      <p:embed/>
                      <p:pic>
                        <p:nvPicPr>
                          <p:cNvPr id="13" name="Object 20">
                            <a:extLst>
                              <a:ext uri="{FF2B5EF4-FFF2-40B4-BE49-F238E27FC236}">
                                <a16:creationId xmlns:a16="http://schemas.microsoft.com/office/drawing/2014/main" id="{40188BC5-D438-4B84-A1D3-E5FC97B5152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2" y="1358"/>
                            <a:ext cx="302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592EB93-6E3B-4146-AA17-0E67013343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815" y="1621766"/>
            <a:ext cx="6469185" cy="1382397"/>
          </a:xfrm>
          <a:prstGeom prst="rect">
            <a:avLst/>
          </a:prstGeom>
        </p:spPr>
      </p:pic>
      <p:grpSp>
        <p:nvGrpSpPr>
          <p:cNvPr id="20" name="Group 11">
            <a:extLst>
              <a:ext uri="{FF2B5EF4-FFF2-40B4-BE49-F238E27FC236}">
                <a16:creationId xmlns:a16="http://schemas.microsoft.com/office/drawing/2014/main" id="{16194D69-A653-4691-8CB2-BFAB02AD6B0D}"/>
              </a:ext>
            </a:extLst>
          </p:cNvPr>
          <p:cNvGrpSpPr>
            <a:grpSpLocks/>
          </p:cNvGrpSpPr>
          <p:nvPr/>
        </p:nvGrpSpPr>
        <p:grpSpPr bwMode="auto">
          <a:xfrm>
            <a:off x="666051" y="3845138"/>
            <a:ext cx="8353425" cy="2382838"/>
            <a:chOff x="97" y="1127"/>
            <a:chExt cx="5262" cy="1501"/>
          </a:xfrm>
        </p:grpSpPr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4E921033-4269-4E7A-A35A-3ED957C90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" y="1127"/>
              <a:ext cx="5262" cy="1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在一阶逻辑中：</a:t>
              </a:r>
            </a:p>
            <a:p>
              <a:pPr>
                <a:spcBef>
                  <a:spcPct val="3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(1)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，其中，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：墨西哥，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F(x)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位于北美洲 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</a:p>
            <a:p>
              <a:pPr>
                <a:spcBef>
                  <a:spcPct val="3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(2)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b="1" dirty="0">
                  <a:latin typeface="Times New Roman" panose="02020603050405020304" pitchFamily="18" charset="0"/>
                </a:rPr>
                <a:t>(      )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G</a:t>
              </a:r>
              <a:r>
                <a:rPr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      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spcBef>
                  <a:spcPct val="3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        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其中，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F(x)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是无理数，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G(x)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是有理数</a:t>
              </a:r>
            </a:p>
            <a:p>
              <a:pPr>
                <a:spcBef>
                  <a:spcPct val="3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(3)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(2, 3)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(3, 4)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，其中，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F(x, y)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x&gt;y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G(x, y)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x&lt;y</a:t>
              </a:r>
            </a:p>
          </p:txBody>
        </p:sp>
        <p:graphicFrame>
          <p:nvGraphicFramePr>
            <p:cNvPr id="22" name="Object 5">
              <a:extLst>
                <a:ext uri="{FF2B5EF4-FFF2-40B4-BE49-F238E27FC236}">
                  <a16:creationId xmlns:a16="http://schemas.microsoft.com/office/drawing/2014/main" id="{31A1205A-DB98-40DB-9F56-3E34992D990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79250266"/>
                </p:ext>
              </p:extLst>
            </p:nvPr>
          </p:nvGraphicFramePr>
          <p:xfrm>
            <a:off x="659" y="1798"/>
            <a:ext cx="31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8" imgW="241091" imgH="215713" progId="Equation.3">
                    <p:embed/>
                  </p:oleObj>
                </mc:Choice>
                <mc:Fallback>
                  <p:oleObj name="Microsoft 公式 3.0" r:id="rId8" imgW="241091" imgH="215713" progId="Equation.3">
                    <p:embed/>
                    <p:pic>
                      <p:nvPicPr>
                        <p:cNvPr id="22" name="Object 5">
                          <a:extLst>
                            <a:ext uri="{FF2B5EF4-FFF2-40B4-BE49-F238E27FC236}">
                              <a16:creationId xmlns:a16="http://schemas.microsoft.com/office/drawing/2014/main" id="{31A1205A-DB98-40DB-9F56-3E34992D990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" y="1798"/>
                          <a:ext cx="31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7">
              <a:extLst>
                <a:ext uri="{FF2B5EF4-FFF2-40B4-BE49-F238E27FC236}">
                  <a16:creationId xmlns:a16="http://schemas.microsoft.com/office/drawing/2014/main" id="{9C1B3595-0287-41D2-B79B-9A955A870B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2648551"/>
                </p:ext>
              </p:extLst>
            </p:nvPr>
          </p:nvGraphicFramePr>
          <p:xfrm>
            <a:off x="1336" y="1759"/>
            <a:ext cx="26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9" imgW="228600" imgH="228600" progId="Equation.3">
                    <p:embed/>
                  </p:oleObj>
                </mc:Choice>
                <mc:Fallback>
                  <p:oleObj name="Microsoft 公式 3.0" r:id="rId9" imgW="228600" imgH="228600" progId="Equation.3">
                    <p:embed/>
                    <p:pic>
                      <p:nvPicPr>
                        <p:cNvPr id="23" name="Object 7">
                          <a:extLst>
                            <a:ext uri="{FF2B5EF4-FFF2-40B4-BE49-F238E27FC236}">
                              <a16:creationId xmlns:a16="http://schemas.microsoft.com/office/drawing/2014/main" id="{9C1B3595-0287-41D2-B79B-9A955A870B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6" y="1759"/>
                          <a:ext cx="264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8DB63E41-AB6D-4633-A63C-06CA93DE30D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0B9B32-75B3-4496-8283-70555ECBAD92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</p:spTree>
    <p:extLst>
      <p:ext uri="{BB962C8B-B14F-4D97-AF65-F5344CB8AC3E}">
        <p14:creationId xmlns:p14="http://schemas.microsoft.com/office/powerpoint/2010/main" val="374287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28907593-C829-4B17-962A-4E9705669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89" y="1475208"/>
            <a:ext cx="820737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例2  在一阶逻辑中将下面命题符号化</a:t>
            </a: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(1) 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人都爱美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有人用左手写字</a:t>
            </a: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个体域分别为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(a)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为人类集合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(b)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为全总个体域</a:t>
            </a: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D4BFE1E0-6D24-49C3-883D-0CD591D15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9" y="2843633"/>
            <a:ext cx="61198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(a)  (1)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),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爱美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DC2E32C3-378C-44AC-8662-04BACFD36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25" y="3366804"/>
            <a:ext cx="611981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),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用左手写字                                     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FCA85A7A-A97F-46BD-B9EC-8057E9381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619" y="3983670"/>
            <a:ext cx="61198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0" fontAlgn="base">
              <a:spcAft>
                <a:spcPct val="0"/>
              </a:spcAft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(b)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为人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</a:t>
            </a:r>
            <a:r>
              <a:rPr lang="zh-CN" altLang="zh-CN" kern="0" dirty="0">
                <a:solidFill>
                  <a:srgbClr val="000000"/>
                </a:solidFill>
              </a:rPr>
              <a:t>(a)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67C8F14E-475B-4378-B5FE-20CF28EE3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704" y="4493496"/>
            <a:ext cx="59769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(1)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（全称量词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蕴涵）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2E9A61A5-FD6A-4B68-B493-ED4845287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29" y="5051412"/>
            <a:ext cx="568801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（存在量词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接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合取）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054CDCBA-B850-480D-A09D-61B8F2432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9" y="5651920"/>
            <a:ext cx="1144569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0" fontAlgn="base">
              <a:spcAft>
                <a:spcPct val="0"/>
              </a:spcAft>
              <a:buNone/>
              <a:defRPr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引入特性谓词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</a:rPr>
              <a:t>:</a:t>
            </a:r>
            <a:r>
              <a:rPr lang="zh-CN" altLang="en-US" sz="20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是‌明确限定个体变项取值范围‌的特定谓词</a:t>
            </a:r>
            <a:endParaRPr lang="en-US" altLang="zh-CN" sz="2000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fontAlgn="base">
              <a:spcAft>
                <a:spcPct val="0"/>
              </a:spcAft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</a:t>
            </a:r>
            <a:r>
              <a:rPr lang="zh-CN" altLang="en-US" sz="20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用于把个体从全总个体域中分离出来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2. (1),(2)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是一阶逻辑中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两个“基本”公式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（极其重要）！！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CFA003-A339-415B-AD08-94C81B2D1DB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B90FAB-A76F-4321-8ADD-A47040CD2301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</p:spTree>
    <p:extLst>
      <p:ext uri="{BB962C8B-B14F-4D97-AF65-F5344CB8AC3E}">
        <p14:creationId xmlns:p14="http://schemas.microsoft.com/office/powerpoint/2010/main" val="230923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 autoUpdateAnimBg="0"/>
      <p:bldP spid="36" grpId="0" autoUpdateAnimBg="0"/>
      <p:bldP spid="3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D91B59A-F53E-4579-9D3F-0627B967A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63" y="1498658"/>
            <a:ext cx="82296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例3 在一阶逻辑中将下面命题符号化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(1)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正数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都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大于负数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(2) 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有的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无理数大于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有的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有理数</a:t>
            </a: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CE96B3A4-A01E-4A26-9CDE-4869DD43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63" y="3009958"/>
            <a:ext cx="82296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解 注意：题目中没给个体域，一律用全总个体域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(1)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为正数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为负数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 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58B720D9-B24F-4FBA-8484-105A79FA0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463" y="4018021"/>
            <a:ext cx="655320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)))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4137BE3A-C4BF-431F-987D-16BA170A7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126" y="5027671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(2)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是无理数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是有理数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6CDE653B-E4BB-47AE-BD84-723C95337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901" y="5585092"/>
            <a:ext cx="5400675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或者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BD9CEA-B28F-4CA8-977D-4A52043D33A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3799D0-8618-4717-83F3-714252A968E5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</p:spTree>
    <p:extLst>
      <p:ext uri="{BB962C8B-B14F-4D97-AF65-F5344CB8AC3E}">
        <p14:creationId xmlns:p14="http://schemas.microsoft.com/office/powerpoint/2010/main" val="264511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29" grpId="0" autoUpdateAnimBg="0"/>
      <p:bldP spid="30" grpId="0" autoUpdateAnimBg="0"/>
      <p:bldP spid="3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FC28F918-4C04-4BE7-98DE-4DC59513B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59" y="1630722"/>
            <a:ext cx="822960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例4 在一阶逻辑中将下面命题符号化</a:t>
            </a:r>
          </a:p>
          <a:p>
            <a:pPr eaLnBrk="1" hangingPunct="1">
              <a:buNone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(1)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没有不呼吸的人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(2) </a:t>
            </a:r>
            <a:r>
              <a:rPr lang="zh-CN" altLang="zh-CN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所有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的人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喜欢吃糖</a:t>
            </a: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A7C234F2-1AA2-41D6-8792-1370D346B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84" y="3130966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(1)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是人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呼吸</a:t>
            </a: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5CFA915A-77D6-434D-8F4F-577E75A1F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72" y="3610391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7407B687-2C66-4F48-B85F-02DC49275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72" y="4115216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A126D510-F0E5-4BCA-82E9-C51F65E51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34" y="4689891"/>
            <a:ext cx="5472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是人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喜欢吃糖</a:t>
            </a:r>
          </a:p>
        </p:txBody>
      </p:sp>
      <p:sp>
        <p:nvSpPr>
          <p:cNvPr id="28" name="Text Box 8">
            <a:extLst>
              <a:ext uri="{FF2B5EF4-FFF2-40B4-BE49-F238E27FC236}">
                <a16:creationId xmlns:a16="http://schemas.microsoft.com/office/drawing/2014/main" id="{C4E2F5FA-72B6-43FB-A156-A4F655379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72" y="5651916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9336A60C-08E9-4B02-9356-66E3D61F8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72" y="5147091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991EB9-F211-43A6-B054-BC1B38B1BEE9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4B89E93-DA12-4B44-B023-4DA59CE47AC2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</p:spTree>
    <p:extLst>
      <p:ext uri="{BB962C8B-B14F-4D97-AF65-F5344CB8AC3E}">
        <p14:creationId xmlns:p14="http://schemas.microsoft.com/office/powerpoint/2010/main" val="428990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  <p:bldP spid="26" grpId="0" autoUpdateAnimBg="0"/>
      <p:bldP spid="27" grpId="0" autoUpdateAnimBg="0"/>
      <p:bldP spid="28" grpId="0" autoUpdateAnimBg="0"/>
      <p:bldP spid="2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17B5012-25D6-4653-9F96-64CEC371D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32" y="1578964"/>
            <a:ext cx="822960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例5 设个体域为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实数域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（全总个体域）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将下面命题符号化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(1) 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每一个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存在一个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(2)  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存在一个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使得对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每一个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都有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FDFC140B-181A-4DA1-AF9E-6B10D8B77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857" y="3130968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D66C6FDC-6820-410A-A90C-6D061FB89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014" y="3722536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(1) 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B09F30BA-11E6-44AA-960F-46C9627D7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039" y="5187799"/>
            <a:ext cx="54006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注意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 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与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不能随意交换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显然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是真命题,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是假命题</a:t>
            </a:r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69E976F9-BFC4-47F7-81D5-E0BE04734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014" y="4298799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(2) 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00E70C-FDE9-4D3E-AD99-03DFF5F2ECD1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76A89E-BD2B-4726-AAF4-179BA8877AD6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</p:spTree>
    <p:extLst>
      <p:ext uri="{BB962C8B-B14F-4D97-AF65-F5344CB8AC3E}">
        <p14:creationId xmlns:p14="http://schemas.microsoft.com/office/powerpoint/2010/main" val="239819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 autoUpdateAnimBg="0"/>
      <p:bldP spid="22" grpId="0" autoUpdateAnimBg="0"/>
      <p:bldP spid="2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9080B5B-4E4B-44CD-9245-E256B91CE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935" y="1721239"/>
            <a:ext cx="10516887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几点注意：</a:t>
            </a: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992677"/>
              </a:buClr>
              <a:buSzPct val="75000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一元谓词与多元谓词的区分</a:t>
            </a: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992677"/>
              </a:buClr>
              <a:buSzPct val="75000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无特别要求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应使用全总个体域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引入特性谓词</a:t>
            </a: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992677"/>
              </a:buClr>
              <a:buSzPct val="75000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量词顺序一般不能随便颠倒</a:t>
            </a: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992677"/>
              </a:buClr>
              <a:buSzPct val="75000"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两个基本形式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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的使用  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992677"/>
              </a:buClr>
              <a:buSzPct val="75000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否定的表示，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82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	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“没有不呼吸的人”等同于“所有的人都呼吸”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	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“不是所有的人都喜欢吃糖”等同于“存在不喜欢吃糖的人”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F07CAD-0FCD-4197-95DB-80487C94B42B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581FA1-F694-455B-A2AC-1DAC42842C35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</p:spTree>
    <p:extLst>
      <p:ext uri="{BB962C8B-B14F-4D97-AF65-F5344CB8AC3E}">
        <p14:creationId xmlns:p14="http://schemas.microsoft.com/office/powerpoint/2010/main" val="410856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B63E41-AB6D-4633-A63C-06CA93DE30D8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2E1D18-96CD-4279-ABB5-F62DAB1608E3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7337684" y="991738"/>
            <a:ext cx="1435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解释与赋值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2898476" y="988869"/>
            <a:ext cx="3467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个体变项的自由出现与约束出现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49BC298-59E7-4A22-971E-422CCE8CD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42" y="1633148"/>
            <a:ext cx="112676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.1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字母表如下：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	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个体常项符号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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	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函数符号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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	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(3)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谓词符号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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	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(4)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个体变项符号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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	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(5)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量词符号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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  <a:sym typeface="Symbol" panose="05050102010706020507" pitchFamily="18" charset="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	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(6)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联结词符号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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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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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	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(7)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括号与逗号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：(, ), ，</a:t>
            </a:r>
          </a:p>
        </p:txBody>
      </p:sp>
    </p:spTree>
    <p:extLst>
      <p:ext uri="{BB962C8B-B14F-4D97-AF65-F5344CB8AC3E}">
        <p14:creationId xmlns:p14="http://schemas.microsoft.com/office/powerpoint/2010/main" val="371672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CF06EF0-2BF1-459B-9431-C291027F6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63" y="1533405"/>
            <a:ext cx="11347690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1082675" marR="0" lvl="0" indent="-1082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.2  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的定义如下：</a:t>
            </a:r>
          </a:p>
          <a:p>
            <a:pPr marL="1082675" indent="-1082675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个体常项和个体变项是项.</a:t>
            </a:r>
          </a:p>
          <a:p>
            <a:pPr marL="1082675" marR="0" lvl="0" indent="-1082675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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是任意的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元函数，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是项，则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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是项.</a:t>
            </a:r>
          </a:p>
          <a:p>
            <a:pPr marL="1082675" marR="0" lvl="0" indent="-1082675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(3)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限次使用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(1),(2)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符号串才是项，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等都是项  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4F873D1-45BB-4AC7-AC81-3D6D4517D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16" y="4772538"/>
            <a:ext cx="11407574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082675" indent="-10826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1082675" marR="0" lvl="0" indent="-1082675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.3 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元谓词，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是项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082675" marR="0" lvl="0" indent="-1082675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</a:rPr>
              <a:t>            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原子公式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  <a:p>
            <a:pPr marL="1082675" marR="0" lvl="0" indent="-1082675" defTabSz="91440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    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等均为原子公式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BE6033A-9C89-49FB-84D5-645710A057FE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2FEA9E-02AB-4166-9E76-6145D960D7E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D04B157-D3CE-4B3D-886D-D5035264DF09}"/>
              </a:ext>
            </a:extLst>
          </p:cNvPr>
          <p:cNvSpPr txBox="1"/>
          <p:nvPr/>
        </p:nvSpPr>
        <p:spPr>
          <a:xfrm>
            <a:off x="7337684" y="991738"/>
            <a:ext cx="1435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解释与赋值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858EB9-0E91-4461-B52B-D0679A6E9A43}"/>
              </a:ext>
            </a:extLst>
          </p:cNvPr>
          <p:cNvSpPr txBox="1"/>
          <p:nvPr/>
        </p:nvSpPr>
        <p:spPr>
          <a:xfrm>
            <a:off x="2898476" y="988869"/>
            <a:ext cx="3467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个体变项的自由出现与约束出现</a:t>
            </a:r>
          </a:p>
        </p:txBody>
      </p:sp>
    </p:spTree>
    <p:extLst>
      <p:ext uri="{BB962C8B-B14F-4D97-AF65-F5344CB8AC3E}">
        <p14:creationId xmlns:p14="http://schemas.microsoft.com/office/powerpoint/2010/main" val="114180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2FC3316-12CD-4D20-AF6B-3B07FF3E7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90" y="1660615"/>
            <a:ext cx="10605818" cy="3029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1158875" marR="0" lvl="0" indent="-1158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.4  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定义如下：</a:t>
            </a:r>
          </a:p>
          <a:p>
            <a:pPr marL="1158875" marR="0" lvl="0" indent="-1158875" algn="l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(1)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原子公式是合式公式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</a:p>
          <a:p>
            <a:pPr marL="1158875" marR="0" lvl="0" indent="-1158875" algn="l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(2)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是合式公式，则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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也是合式公式</a:t>
            </a:r>
          </a:p>
          <a:p>
            <a:pPr marL="1158875" marR="0" lvl="0" indent="-1158875" algn="l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(3)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是合式公式，则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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也是合式公式</a:t>
            </a:r>
          </a:p>
          <a:p>
            <a:pPr marL="1158875" marR="0" lvl="0" indent="-1158875" algn="l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(4)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是合式公式，则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xA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也是合式公式</a:t>
            </a:r>
          </a:p>
          <a:p>
            <a:pPr marL="1158875" marR="0" lvl="0" indent="-1158875" algn="l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(5)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只有有限次地应用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(1)—(4)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形成的符号串才是合式公式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</p:txBody>
      </p:sp>
      <p:pic>
        <p:nvPicPr>
          <p:cNvPr id="11" name="图片 1">
            <a:extLst>
              <a:ext uri="{FF2B5EF4-FFF2-40B4-BE49-F238E27FC236}">
                <a16:creationId xmlns:a16="http://schemas.microsoft.com/office/drawing/2014/main" id="{37DC832D-054D-42A7-AF60-96709E471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320" y="1887567"/>
            <a:ext cx="20002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CBC6EF7-1C04-41C8-B1CD-E10EBD236955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11EA57-3AA7-4493-90D5-C94F835BE623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A5C368-C94A-415D-A17D-D5AC8EF1605B}"/>
              </a:ext>
            </a:extLst>
          </p:cNvPr>
          <p:cNvSpPr txBox="1"/>
          <p:nvPr/>
        </p:nvSpPr>
        <p:spPr>
          <a:xfrm>
            <a:off x="7337684" y="991738"/>
            <a:ext cx="1435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解释与赋值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079030-1208-4CA2-AEBA-AF732FAC8862}"/>
              </a:ext>
            </a:extLst>
          </p:cNvPr>
          <p:cNvSpPr txBox="1"/>
          <p:nvPr/>
        </p:nvSpPr>
        <p:spPr>
          <a:xfrm>
            <a:off x="2898476" y="988869"/>
            <a:ext cx="3467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个体变项的自由出现与约束出现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CEE725F-947B-43AD-A797-DAEBDE1F0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90" y="4981963"/>
            <a:ext cx="10605818" cy="173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1158875" marR="0" lvl="0" indent="-1158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合式公式简称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</a:p>
          <a:p>
            <a:pPr marL="1158875" marR="0" lvl="0" indent="-1158875" algn="l" defTabSz="914400" rtl="0" eaLnBrk="1" fontAlgn="base" latinLnBrk="0" hangingPunct="1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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),  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))</a:t>
            </a:r>
          </a:p>
          <a:p>
            <a:pPr marL="1158875" marR="0" lvl="0" indent="-1158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        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等都是合式公式</a:t>
            </a:r>
          </a:p>
        </p:txBody>
      </p:sp>
    </p:spTree>
    <p:extLst>
      <p:ext uri="{BB962C8B-B14F-4D97-AF65-F5344CB8AC3E}">
        <p14:creationId xmlns:p14="http://schemas.microsoft.com/office/powerpoint/2010/main" val="230168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B5A4D63-CF4A-4A26-A5B9-9859E6023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05" y="1621762"/>
            <a:ext cx="8229600" cy="67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个体变项的自由出现与约束出现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BF29CFA-B95F-4F7C-98A0-5AED24BE9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755" y="2422401"/>
            <a:ext cx="11093904" cy="169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di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2.5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在公式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指导变元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为相应量词的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辖域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di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     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辖域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的所有出现都称为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约束出现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中不是约束出现的其他变项均    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称为是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自由出现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0F48ED-22F9-47B5-A909-F319F6DF424E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823B62-0815-4E92-826F-5CDEBE417941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F46DC5-8AC5-4FFE-956C-960C026597A4}"/>
              </a:ext>
            </a:extLst>
          </p:cNvPr>
          <p:cNvSpPr txBox="1"/>
          <p:nvPr/>
        </p:nvSpPr>
        <p:spPr>
          <a:xfrm>
            <a:off x="7337684" y="991738"/>
            <a:ext cx="1435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解释与赋值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757F6F-A13C-4E29-BD40-54C0FC592D7D}"/>
              </a:ext>
            </a:extLst>
          </p:cNvPr>
          <p:cNvSpPr txBox="1"/>
          <p:nvPr/>
        </p:nvSpPr>
        <p:spPr>
          <a:xfrm>
            <a:off x="2544792" y="988869"/>
            <a:ext cx="41579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2C6C8C6-B874-402D-8045-EBCE62567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455" y="4167643"/>
            <a:ext cx="11075223" cy="1619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在公式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)) </a:t>
            </a:r>
            <a:r>
              <a:rPr lang="zh-CN" altLang="en-US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))</a:t>
            </a:r>
            <a:r>
              <a:rPr lang="zh-CN" altLang="en-US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lang="zh-CN" altLang="en-US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的辖域，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lang="zh-CN" altLang="en-US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为指导变元</a:t>
            </a:r>
            <a:r>
              <a:rPr lang="en-US" altLang="zh-CN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lang="zh-CN" altLang="en-US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lang="zh-CN" altLang="en-US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的两次出现均为约束出现，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y</a:t>
            </a:r>
            <a:r>
              <a:rPr lang="zh-CN" altLang="en-US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z</a:t>
            </a:r>
            <a:r>
              <a:rPr lang="zh-CN" altLang="en-US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均为自由出现</a:t>
            </a:r>
            <a:r>
              <a:rPr lang="en-US" altLang="zh-CN" sz="2400" b="1" kern="0" dirty="0">
                <a:solidFill>
                  <a:srgbClr val="00007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E026885-200E-4924-AF47-B0533C16F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227" y="5993745"/>
            <a:ext cx="6963470" cy="57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不含自由出现的个体变项的公式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08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30DAAFC-B070-4775-AD97-088ED698B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11" y="1884902"/>
            <a:ext cx="11183787" cy="1778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.6 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若公式</a:t>
            </a:r>
            <a:r>
              <a:rPr lang="zh-CN" altLang="zh-CN" i="1" dirty="0"/>
              <a:t>A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不含自由出现的个体变项</a:t>
            </a:r>
            <a:r>
              <a:rPr lang="zh-CN" altLang="zh-CN" dirty="0"/>
              <a:t>，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zh-CN" altLang="zh-CN" i="1" dirty="0"/>
              <a:t>A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封闭的公式</a:t>
            </a:r>
            <a:r>
              <a:rPr lang="zh-CN" altLang="zh-CN" dirty="0"/>
              <a:t>，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简称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闭式</a:t>
            </a:r>
            <a:r>
              <a:rPr lang="zh-CN" altLang="zh-CN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例如，</a:t>
            </a:r>
            <a:r>
              <a:rPr lang="zh-CN" altLang="zh-CN" dirty="0">
                <a:sym typeface="Symbol" panose="05050102010706020507" pitchFamily="18" charset="2"/>
              </a:rPr>
              <a:t></a:t>
            </a:r>
            <a:r>
              <a:rPr lang="zh-CN" altLang="zh-CN" i="1" dirty="0"/>
              <a:t>x</a:t>
            </a:r>
            <a:r>
              <a:rPr lang="zh-CN" altLang="zh-CN" dirty="0">
                <a:sym typeface="Symbol" panose="05050102010706020507" pitchFamily="18" charset="2"/>
              </a:rPr>
              <a:t></a:t>
            </a:r>
            <a:r>
              <a:rPr lang="zh-CN" altLang="zh-CN" i="1" dirty="0"/>
              <a:t>y</a:t>
            </a:r>
            <a:r>
              <a:rPr lang="zh-CN" altLang="zh-CN" dirty="0"/>
              <a:t>(</a:t>
            </a:r>
            <a:r>
              <a:rPr lang="zh-CN" altLang="zh-CN" i="1" dirty="0"/>
              <a:t>F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)</a:t>
            </a:r>
            <a:r>
              <a:rPr lang="zh-CN" altLang="zh-CN" dirty="0">
                <a:sym typeface="Symbol" panose="05050102010706020507" pitchFamily="18" charset="2"/>
              </a:rPr>
              <a:t></a:t>
            </a:r>
            <a:r>
              <a:rPr lang="zh-CN" altLang="zh-CN" i="1" dirty="0"/>
              <a:t>G</a:t>
            </a:r>
            <a:r>
              <a:rPr lang="zh-CN" altLang="zh-CN" dirty="0"/>
              <a:t>(</a:t>
            </a:r>
            <a:r>
              <a:rPr lang="zh-CN" altLang="zh-CN" i="1" dirty="0"/>
              <a:t>y</a:t>
            </a:r>
            <a:r>
              <a:rPr lang="zh-CN" altLang="zh-CN" dirty="0"/>
              <a:t>)</a:t>
            </a:r>
            <a:r>
              <a:rPr lang="zh-CN" altLang="zh-CN" dirty="0">
                <a:sym typeface="Symbol" panose="05050102010706020507" pitchFamily="18" charset="2"/>
              </a:rPr>
              <a:t></a:t>
            </a:r>
            <a:r>
              <a:rPr lang="zh-CN" altLang="zh-CN" i="1" dirty="0"/>
              <a:t>H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,</a:t>
            </a:r>
            <a:r>
              <a:rPr lang="zh-CN" altLang="zh-CN" i="1" dirty="0"/>
              <a:t>y</a:t>
            </a:r>
            <a:r>
              <a:rPr lang="zh-CN" altLang="zh-CN" dirty="0"/>
              <a:t>))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为闭式，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而  </a:t>
            </a:r>
            <a:r>
              <a:rPr lang="zh-CN" altLang="zh-CN" dirty="0"/>
              <a:t>      </a:t>
            </a:r>
            <a:r>
              <a:rPr lang="zh-CN" altLang="zh-CN" dirty="0">
                <a:sym typeface="Symbol" panose="05050102010706020507" pitchFamily="18" charset="2"/>
              </a:rPr>
              <a:t></a:t>
            </a:r>
            <a:r>
              <a:rPr lang="zh-CN" altLang="zh-CN" i="1" dirty="0"/>
              <a:t>x</a:t>
            </a:r>
            <a:r>
              <a:rPr lang="zh-CN" altLang="zh-CN" dirty="0"/>
              <a:t>(</a:t>
            </a:r>
            <a:r>
              <a:rPr lang="zh-CN" altLang="zh-CN" i="1" dirty="0"/>
              <a:t>F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)</a:t>
            </a:r>
            <a:r>
              <a:rPr lang="zh-CN" altLang="zh-CN" dirty="0">
                <a:sym typeface="Symbol" panose="05050102010706020507" pitchFamily="18" charset="2"/>
              </a:rPr>
              <a:t></a:t>
            </a:r>
            <a:r>
              <a:rPr lang="zh-CN" altLang="zh-CN" i="1" dirty="0"/>
              <a:t>G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,</a:t>
            </a:r>
            <a:r>
              <a:rPr lang="zh-CN" altLang="zh-CN" i="1" dirty="0"/>
              <a:t>y</a:t>
            </a:r>
            <a:r>
              <a:rPr lang="zh-CN" altLang="zh-CN" dirty="0"/>
              <a:t>))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不是闭式 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564189-3F03-49F6-9B4A-D1D645F2DBC4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F6A141-C088-4D86-AF69-C2DD1A6EFB7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258B25-A52C-48D6-AAE5-E69160938042}"/>
              </a:ext>
            </a:extLst>
          </p:cNvPr>
          <p:cNvSpPr txBox="1"/>
          <p:nvPr/>
        </p:nvSpPr>
        <p:spPr>
          <a:xfrm>
            <a:off x="7337684" y="991738"/>
            <a:ext cx="1435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解释与赋值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3C6B9A-80A8-4F64-AB74-8B220F212481}"/>
              </a:ext>
            </a:extLst>
          </p:cNvPr>
          <p:cNvSpPr txBox="1"/>
          <p:nvPr/>
        </p:nvSpPr>
        <p:spPr>
          <a:xfrm>
            <a:off x="2544792" y="988869"/>
            <a:ext cx="41579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4244532-EBF1-47B1-9962-BB1C591FA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27" y="3954594"/>
            <a:ext cx="11183787" cy="2422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换名规则：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将一个指导变项及其在辖域中所有约束出现，替换公式中没有出现的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个体变项符号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zh-CN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例如，</a:t>
            </a:r>
            <a:r>
              <a:rPr lang="zh-CN" altLang="zh-CN" dirty="0">
                <a:sym typeface="Symbol" panose="05050102010706020507" pitchFamily="18" charset="2"/>
              </a:rPr>
              <a:t></a:t>
            </a:r>
            <a:r>
              <a:rPr lang="zh-CN" altLang="zh-CN" i="1" dirty="0"/>
              <a:t>xF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)</a:t>
            </a:r>
            <a:r>
              <a:rPr lang="en-US" altLang="zh-CN" dirty="0"/>
              <a:t> </a:t>
            </a:r>
            <a:r>
              <a:rPr lang="zh-CN" altLang="zh-CN" dirty="0">
                <a:sym typeface="Symbol" panose="05050102010706020507" pitchFamily="18" charset="2"/>
              </a:rPr>
              <a:t>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zh-CN" i="1" dirty="0"/>
              <a:t>G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,</a:t>
            </a:r>
            <a:r>
              <a:rPr lang="zh-CN" altLang="zh-CN" i="1" dirty="0"/>
              <a:t>y</a:t>
            </a:r>
            <a:r>
              <a:rPr lang="zh-CN" altLang="zh-CN" dirty="0"/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z</a:t>
            </a:r>
            <a:r>
              <a:rPr lang="zh-CN" altLang="zh-CN" i="1" dirty="0"/>
              <a:t>F</a:t>
            </a:r>
            <a:r>
              <a:rPr lang="zh-CN" altLang="zh-CN" dirty="0"/>
              <a:t>(</a:t>
            </a:r>
            <a:r>
              <a:rPr lang="en-US" altLang="zh-CN" i="1" dirty="0"/>
              <a:t>z</a:t>
            </a:r>
            <a:r>
              <a:rPr lang="zh-CN" altLang="zh-CN" dirty="0"/>
              <a:t>)</a:t>
            </a:r>
            <a:r>
              <a:rPr lang="en-US" altLang="zh-CN" dirty="0"/>
              <a:t> </a:t>
            </a:r>
            <a:r>
              <a:rPr lang="zh-CN" altLang="zh-CN" dirty="0">
                <a:sym typeface="Symbol" panose="05050102010706020507" pitchFamily="18" charset="2"/>
              </a:rPr>
              <a:t>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zh-CN" i="1" dirty="0"/>
              <a:t>G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,</a:t>
            </a:r>
            <a:r>
              <a:rPr lang="zh-CN" altLang="zh-CN" i="1" dirty="0"/>
              <a:t>y</a:t>
            </a:r>
            <a:r>
              <a:rPr lang="zh-CN" altLang="zh-CN" dirty="0"/>
              <a:t>)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4876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30DAAFC-B070-4775-AD97-088ED698B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11" y="1884902"/>
            <a:ext cx="11183787" cy="1778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.6 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若公式</a:t>
            </a:r>
            <a:r>
              <a:rPr lang="zh-CN" altLang="zh-CN" i="1" dirty="0"/>
              <a:t>A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不含自由出现的个体变项</a:t>
            </a:r>
            <a:r>
              <a:rPr lang="zh-CN" altLang="zh-CN" dirty="0"/>
              <a:t>，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zh-CN" altLang="zh-CN" i="1" dirty="0"/>
              <a:t>A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封闭的公式</a:t>
            </a:r>
            <a:r>
              <a:rPr lang="zh-CN" altLang="zh-CN" dirty="0"/>
              <a:t>，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简称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闭式</a:t>
            </a:r>
            <a:r>
              <a:rPr lang="zh-CN" altLang="zh-CN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例如，</a:t>
            </a:r>
            <a:r>
              <a:rPr lang="zh-CN" altLang="zh-CN" dirty="0">
                <a:sym typeface="Symbol" panose="05050102010706020507" pitchFamily="18" charset="2"/>
              </a:rPr>
              <a:t></a:t>
            </a:r>
            <a:r>
              <a:rPr lang="zh-CN" altLang="zh-CN" i="1" dirty="0"/>
              <a:t>x</a:t>
            </a:r>
            <a:r>
              <a:rPr lang="zh-CN" altLang="zh-CN" dirty="0">
                <a:sym typeface="Symbol" panose="05050102010706020507" pitchFamily="18" charset="2"/>
              </a:rPr>
              <a:t></a:t>
            </a:r>
            <a:r>
              <a:rPr lang="zh-CN" altLang="zh-CN" i="1" dirty="0"/>
              <a:t>y</a:t>
            </a:r>
            <a:r>
              <a:rPr lang="zh-CN" altLang="zh-CN" dirty="0"/>
              <a:t>(</a:t>
            </a:r>
            <a:r>
              <a:rPr lang="zh-CN" altLang="zh-CN" i="1" dirty="0"/>
              <a:t>F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)</a:t>
            </a:r>
            <a:r>
              <a:rPr lang="zh-CN" altLang="zh-CN" dirty="0">
                <a:sym typeface="Symbol" panose="05050102010706020507" pitchFamily="18" charset="2"/>
              </a:rPr>
              <a:t></a:t>
            </a:r>
            <a:r>
              <a:rPr lang="zh-CN" altLang="zh-CN" i="1" dirty="0"/>
              <a:t>G</a:t>
            </a:r>
            <a:r>
              <a:rPr lang="zh-CN" altLang="zh-CN" dirty="0"/>
              <a:t>(</a:t>
            </a:r>
            <a:r>
              <a:rPr lang="zh-CN" altLang="zh-CN" i="1" dirty="0"/>
              <a:t>y</a:t>
            </a:r>
            <a:r>
              <a:rPr lang="zh-CN" altLang="zh-CN" dirty="0"/>
              <a:t>)</a:t>
            </a:r>
            <a:r>
              <a:rPr lang="zh-CN" altLang="zh-CN" dirty="0">
                <a:sym typeface="Symbol" panose="05050102010706020507" pitchFamily="18" charset="2"/>
              </a:rPr>
              <a:t></a:t>
            </a:r>
            <a:r>
              <a:rPr lang="zh-CN" altLang="zh-CN" i="1" dirty="0"/>
              <a:t>H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,</a:t>
            </a:r>
            <a:r>
              <a:rPr lang="zh-CN" altLang="zh-CN" i="1" dirty="0"/>
              <a:t>y</a:t>
            </a:r>
            <a:r>
              <a:rPr lang="zh-CN" altLang="zh-CN" dirty="0"/>
              <a:t>))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为闭式，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而  </a:t>
            </a:r>
            <a:r>
              <a:rPr lang="zh-CN" altLang="zh-CN" dirty="0"/>
              <a:t>      </a:t>
            </a:r>
            <a:r>
              <a:rPr lang="zh-CN" altLang="zh-CN" dirty="0">
                <a:sym typeface="Symbol" panose="05050102010706020507" pitchFamily="18" charset="2"/>
              </a:rPr>
              <a:t></a:t>
            </a:r>
            <a:r>
              <a:rPr lang="zh-CN" altLang="zh-CN" i="1" dirty="0"/>
              <a:t>x</a:t>
            </a:r>
            <a:r>
              <a:rPr lang="zh-CN" altLang="zh-CN" dirty="0"/>
              <a:t>(</a:t>
            </a:r>
            <a:r>
              <a:rPr lang="zh-CN" altLang="zh-CN" i="1" dirty="0"/>
              <a:t>F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)</a:t>
            </a:r>
            <a:r>
              <a:rPr lang="zh-CN" altLang="zh-CN" dirty="0">
                <a:sym typeface="Symbol" panose="05050102010706020507" pitchFamily="18" charset="2"/>
              </a:rPr>
              <a:t></a:t>
            </a:r>
            <a:r>
              <a:rPr lang="zh-CN" altLang="zh-CN" i="1" dirty="0"/>
              <a:t>G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,</a:t>
            </a:r>
            <a:r>
              <a:rPr lang="zh-CN" altLang="zh-CN" i="1" dirty="0"/>
              <a:t>y</a:t>
            </a:r>
            <a:r>
              <a:rPr lang="zh-CN" altLang="zh-CN" dirty="0"/>
              <a:t>))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不是闭式 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564189-3F03-49F6-9B4A-D1D645F2DBC4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F6A141-C088-4D86-AF69-C2DD1A6EFB7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258B25-A52C-48D6-AAE5-E69160938042}"/>
              </a:ext>
            </a:extLst>
          </p:cNvPr>
          <p:cNvSpPr txBox="1"/>
          <p:nvPr/>
        </p:nvSpPr>
        <p:spPr>
          <a:xfrm>
            <a:off x="7337684" y="991738"/>
            <a:ext cx="1435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解释与赋值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3C6B9A-80A8-4F64-AB74-8B220F212481}"/>
              </a:ext>
            </a:extLst>
          </p:cNvPr>
          <p:cNvSpPr txBox="1"/>
          <p:nvPr/>
        </p:nvSpPr>
        <p:spPr>
          <a:xfrm>
            <a:off x="2544792" y="988869"/>
            <a:ext cx="41579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4244532-EBF1-47B1-9962-BB1C591FA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27" y="3954594"/>
            <a:ext cx="11183787" cy="2422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换名规则：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将一个指导变项及其在辖域中所有约束出现，替换公式中没有出现的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个体变项符号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zh-CN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例如，</a:t>
            </a:r>
            <a:r>
              <a:rPr lang="zh-CN" altLang="zh-CN" dirty="0">
                <a:sym typeface="Symbol" panose="05050102010706020507" pitchFamily="18" charset="2"/>
              </a:rPr>
              <a:t></a:t>
            </a:r>
            <a:r>
              <a:rPr lang="zh-CN" altLang="zh-CN" i="1" dirty="0"/>
              <a:t>xF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)</a:t>
            </a:r>
            <a:r>
              <a:rPr lang="en-US" altLang="zh-CN" dirty="0"/>
              <a:t> </a:t>
            </a:r>
            <a:r>
              <a:rPr lang="zh-CN" altLang="zh-CN" dirty="0">
                <a:sym typeface="Symbol" panose="05050102010706020507" pitchFamily="18" charset="2"/>
              </a:rPr>
              <a:t>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zh-CN" i="1" dirty="0"/>
              <a:t>G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,</a:t>
            </a:r>
            <a:r>
              <a:rPr lang="zh-CN" altLang="zh-CN" i="1" dirty="0"/>
              <a:t>y</a:t>
            </a:r>
            <a:r>
              <a:rPr lang="zh-CN" altLang="zh-CN" dirty="0"/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z</a:t>
            </a:r>
            <a:r>
              <a:rPr lang="zh-CN" altLang="zh-CN" i="1" dirty="0"/>
              <a:t>F</a:t>
            </a:r>
            <a:r>
              <a:rPr lang="zh-CN" altLang="zh-CN" dirty="0"/>
              <a:t>(</a:t>
            </a:r>
            <a:r>
              <a:rPr lang="en-US" altLang="zh-CN" i="1" dirty="0"/>
              <a:t>z</a:t>
            </a:r>
            <a:r>
              <a:rPr lang="zh-CN" altLang="zh-CN" dirty="0"/>
              <a:t>)</a:t>
            </a:r>
            <a:r>
              <a:rPr lang="en-US" altLang="zh-CN" dirty="0"/>
              <a:t> </a:t>
            </a:r>
            <a:r>
              <a:rPr lang="zh-CN" altLang="zh-CN" dirty="0">
                <a:sym typeface="Symbol" panose="05050102010706020507" pitchFamily="18" charset="2"/>
              </a:rPr>
              <a:t>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zh-CN" i="1" dirty="0"/>
              <a:t>G</a:t>
            </a:r>
            <a:r>
              <a:rPr lang="zh-CN" altLang="zh-CN" dirty="0"/>
              <a:t>(</a:t>
            </a:r>
            <a:r>
              <a:rPr lang="zh-CN" altLang="zh-CN" i="1" dirty="0"/>
              <a:t>x</a:t>
            </a:r>
            <a:r>
              <a:rPr lang="zh-CN" altLang="zh-CN" dirty="0"/>
              <a:t>,</a:t>
            </a:r>
            <a:r>
              <a:rPr lang="zh-CN" altLang="zh-CN" i="1" dirty="0"/>
              <a:t>y</a:t>
            </a:r>
            <a:r>
              <a:rPr lang="zh-CN" altLang="zh-CN" dirty="0"/>
              <a:t>)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802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60" name="Text Box 11">
            <a:extLst>
              <a:ext uri="{FF2B5EF4-FFF2-40B4-BE49-F238E27FC236}">
                <a16:creationId xmlns:a16="http://schemas.microsoft.com/office/drawing/2014/main" id="{AC61F5F2-C3B7-4959-AA96-89AF6DC1C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638" y="1447889"/>
            <a:ext cx="10985889" cy="233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.7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</a:t>
            </a:r>
            <a:r>
              <a:rPr lang="zh-CN" altLang="zh-CN" kern="0" dirty="0">
                <a:solidFill>
                  <a:srgbClr val="992677"/>
                </a:solidFill>
                <a:ea typeface="黑体" panose="02010609060101010101" pitchFamily="49" charset="-122"/>
              </a:rPr>
              <a:t>解释</a:t>
            </a:r>
            <a:r>
              <a:rPr lang="en-US" altLang="zh-CN" kern="0" dirty="0">
                <a:solidFill>
                  <a:srgbClr val="992677"/>
                </a:solidFill>
                <a:ea typeface="黑体" panose="02010609060101010101" pitchFamily="49" charset="-12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下面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组成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非空个体域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kumimoji="0" lang="zh-CN" altLang="zh-CN" sz="2400" b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给论及的每个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个体常项符号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指定一个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中的元素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 fontAlgn="base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</a:rPr>
              <a:t>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给论及的每个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指定一个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上的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 lvl="0" fontAlgn="base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None/>
            </a:pPr>
            <a:r>
              <a:rPr lang="en-US" altLang="zh-CN" kern="0" dirty="0">
                <a:solidFill>
                  <a:srgbClr val="000000"/>
                </a:solidFill>
              </a:rPr>
              <a:t>  </a:t>
            </a:r>
            <a:r>
              <a:rPr lang="zh-CN" altLang="zh-CN" kern="0" dirty="0">
                <a:solidFill>
                  <a:srgbClr val="000000"/>
                </a:solidFill>
              </a:rPr>
              <a:t> (</a:t>
            </a:r>
            <a:r>
              <a:rPr lang="en-US" altLang="zh-CN" kern="0" dirty="0">
                <a:solidFill>
                  <a:srgbClr val="000000"/>
                </a:solidFill>
              </a:rPr>
              <a:t>4</a:t>
            </a:r>
            <a:r>
              <a:rPr lang="zh-CN" altLang="zh-CN" kern="0" dirty="0">
                <a:solidFill>
                  <a:srgbClr val="000000"/>
                </a:solidFill>
              </a:rPr>
              <a:t>)</a:t>
            </a:r>
            <a:r>
              <a:rPr lang="en-US" altLang="zh-CN" kern="0" dirty="0">
                <a:solidFill>
                  <a:srgbClr val="000000"/>
                </a:solidFill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给论及的每个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指定一个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803DE9E-2056-43A4-98EF-DA44652F8A33}"/>
              </a:ext>
            </a:extLst>
          </p:cNvPr>
          <p:cNvGrpSpPr/>
          <p:nvPr/>
        </p:nvGrpSpPr>
        <p:grpSpPr>
          <a:xfrm>
            <a:off x="606200" y="3892339"/>
            <a:ext cx="11039127" cy="1582677"/>
            <a:chOff x="606200" y="4900876"/>
            <a:chExt cx="11039127" cy="1582677"/>
          </a:xfrm>
        </p:grpSpPr>
        <p:graphicFrame>
          <p:nvGraphicFramePr>
            <p:cNvPr id="64" name="Object 15">
              <a:extLst>
                <a:ext uri="{FF2B5EF4-FFF2-40B4-BE49-F238E27FC236}">
                  <a16:creationId xmlns:a16="http://schemas.microsoft.com/office/drawing/2014/main" id="{69F1A16A-A1C9-4F4E-BF41-60220B7F16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5078558"/>
                </p:ext>
              </p:extLst>
            </p:nvPr>
          </p:nvGraphicFramePr>
          <p:xfrm>
            <a:off x="3887766" y="5494663"/>
            <a:ext cx="266700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27276" imgH="216370" progId="Equation.3">
                    <p:embed/>
                  </p:oleObj>
                </mc:Choice>
                <mc:Fallback>
                  <p:oleObj r:id="rId3" imgW="127276" imgH="216370" progId="Equation.3">
                    <p:embed/>
                    <p:pic>
                      <p:nvPicPr>
                        <p:cNvPr id="64" name="Object 15">
                          <a:extLst>
                            <a:ext uri="{FF2B5EF4-FFF2-40B4-BE49-F238E27FC236}">
                              <a16:creationId xmlns:a16="http://schemas.microsoft.com/office/drawing/2014/main" id="{69F1A16A-A1C9-4F4E-BF41-60220B7F16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7766" y="5494663"/>
                          <a:ext cx="266700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16">
              <a:extLst>
                <a:ext uri="{FF2B5EF4-FFF2-40B4-BE49-F238E27FC236}">
                  <a16:creationId xmlns:a16="http://schemas.microsoft.com/office/drawing/2014/main" id="{B742A153-C442-4DAF-A6D9-EFF91591E7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7761196"/>
                </p:ext>
              </p:extLst>
            </p:nvPr>
          </p:nvGraphicFramePr>
          <p:xfrm>
            <a:off x="4392591" y="5488313"/>
            <a:ext cx="344488" cy="509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5603" imgH="242035" progId="Equation.3">
                    <p:embed/>
                  </p:oleObj>
                </mc:Choice>
                <mc:Fallback>
                  <p:oleObj r:id="rId5" imgW="165603" imgH="242035" progId="Equation.3">
                    <p:embed/>
                    <p:pic>
                      <p:nvPicPr>
                        <p:cNvPr id="65" name="Object 16">
                          <a:extLst>
                            <a:ext uri="{FF2B5EF4-FFF2-40B4-BE49-F238E27FC236}">
                              <a16:creationId xmlns:a16="http://schemas.microsoft.com/office/drawing/2014/main" id="{B742A153-C442-4DAF-A6D9-EFF91591E7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591" y="5488313"/>
                          <a:ext cx="344488" cy="509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17">
              <a:extLst>
                <a:ext uri="{FF2B5EF4-FFF2-40B4-BE49-F238E27FC236}">
                  <a16:creationId xmlns:a16="http://schemas.microsoft.com/office/drawing/2014/main" id="{C45DF0F3-E9B9-4713-89A5-263FCCA9E8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1518136"/>
                </p:ext>
              </p:extLst>
            </p:nvPr>
          </p:nvGraphicFramePr>
          <p:xfrm>
            <a:off x="4967266" y="5494663"/>
            <a:ext cx="331788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65747" imgH="203997" progId="Equation.3">
                    <p:embed/>
                  </p:oleObj>
                </mc:Choice>
                <mc:Fallback>
                  <p:oleObj r:id="rId7" imgW="165747" imgH="203997" progId="Equation.3">
                    <p:embed/>
                    <p:pic>
                      <p:nvPicPr>
                        <p:cNvPr id="66" name="Object 17">
                          <a:extLst>
                            <a:ext uri="{FF2B5EF4-FFF2-40B4-BE49-F238E27FC236}">
                              <a16:creationId xmlns:a16="http://schemas.microsoft.com/office/drawing/2014/main" id="{C45DF0F3-E9B9-4713-89A5-263FCCA9E8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266" y="5494663"/>
                          <a:ext cx="331788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Text Box 18">
              <a:extLst>
                <a:ext uri="{FF2B5EF4-FFF2-40B4-BE49-F238E27FC236}">
                  <a16:creationId xmlns:a16="http://schemas.microsoft.com/office/drawing/2014/main" id="{BB2AF71D-0F32-472B-951E-91D917F35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200" y="4900876"/>
              <a:ext cx="11039127" cy="1582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设公式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, 取个体域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0" lang="zh-CN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  <a:r>
                <a:rPr lang="zh-CN" altLang="zh-CN" kern="0" dirty="0">
                  <a:solidFill>
                    <a:srgbClr val="000000"/>
                  </a:solidFill>
                </a:rPr>
                <a:t>,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把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中的个体常项符号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函数符号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谓词符号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分别替换成它们在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中的解释</a:t>
              </a:r>
              <a:r>
                <a:rPr lang="zh-CN" altLang="zh-CN" kern="0" dirty="0">
                  <a:solidFill>
                    <a:srgbClr val="000000"/>
                  </a:solidFill>
                </a:rPr>
                <a:t>   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、    、   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, 称所得到的公式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为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在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下的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解释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,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或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在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下</a:t>
              </a:r>
              <a:r>
                <a:rPr lang="zh-CN" altLang="zh-CN" kern="0" dirty="0">
                  <a:solidFill>
                    <a:srgbClr val="992677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被解释成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.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1BCF1814-B047-472A-A105-BC0246863C3F}"/>
              </a:ext>
            </a:extLst>
          </p:cNvPr>
          <p:cNvSpPr txBox="1"/>
          <p:nvPr/>
        </p:nvSpPr>
        <p:spPr>
          <a:xfrm>
            <a:off x="588722" y="5577984"/>
            <a:ext cx="11204349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赋值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：给定解释</a:t>
            </a:r>
            <a:r>
              <a:rPr lang="en-US" altLang="zh-CN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，对公式中每个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自由出现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的个体变项指定个体域中的一个元素，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称作在解释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下的赋值</a:t>
            </a: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50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35" name="Text Box 10">
            <a:extLst>
              <a:ext uri="{FF2B5EF4-FFF2-40B4-BE49-F238E27FC236}">
                <a16:creationId xmlns:a16="http://schemas.microsoft.com/office/drawing/2014/main" id="{6C7FC40C-106C-42F6-A3CD-D465DC451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69" y="1386233"/>
            <a:ext cx="8569325" cy="320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给定解释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如下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(a)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个体域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=R</a:t>
            </a:r>
          </a:p>
          <a:p>
            <a:pPr lvl="0" fontAlgn="base">
              <a:spcAft>
                <a:spcPct val="0"/>
              </a:spcAft>
              <a:buClrTx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(b)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= </a:t>
            </a:r>
            <a:r>
              <a:rPr lang="en-US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0</a:t>
            </a:r>
            <a:endParaRPr kumimoji="0" lang="zh-CN" altLang="zh-CN" sz="2400" b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(c)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zh-CN" kern="0" dirty="0">
                <a:solidFill>
                  <a:srgbClr val="000000"/>
                </a:solidFill>
              </a:rPr>
              <a:t>(d)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写出下列公式在</a:t>
            </a:r>
            <a:r>
              <a:rPr lang="zh-CN" altLang="zh-CN" i="1" kern="0" dirty="0">
                <a:solidFill>
                  <a:srgbClr val="000000"/>
                </a:solidFill>
              </a:rPr>
              <a:t>I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的解释, 并指出它的真值.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60A25F4A-DDA1-4C91-B4FC-33F1E8EB1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46" y="4354778"/>
            <a:ext cx="8569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AF075502-CC50-45D3-9D58-DEB115878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031" y="4383637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0)         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真</a:t>
            </a:r>
            <a:endParaRPr lang="zh-CN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BE398559-F6CE-4E6A-91C3-8F5BA3651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680" y="5216945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8BC895D0-EB56-4CE5-8470-0BE1167B9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365" y="5198877"/>
            <a:ext cx="496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     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假</a:t>
            </a:r>
            <a:endParaRPr lang="zh-CN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Box 14">
            <a:extLst>
              <a:ext uri="{FF2B5EF4-FFF2-40B4-BE49-F238E27FC236}">
                <a16:creationId xmlns:a16="http://schemas.microsoft.com/office/drawing/2014/main" id="{5AA27E81-27BA-4832-A8BC-6CA5C6C70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210" y="6081696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A16F86B7-42A8-4CF8-AA91-BF4B9A79A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242" y="6073801"/>
            <a:ext cx="6134576" cy="459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=0)                   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真值不定, 不是命题</a:t>
            </a:r>
            <a:endParaRPr lang="zh-CN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C262EA49-6AA4-4CB3-9993-5EF720383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016" y="2713555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0" fontAlgn="base">
              <a:spcAft>
                <a:spcPct val="0"/>
              </a:spcAft>
              <a:buClrTx/>
              <a:buNone/>
              <a:defRPr/>
            </a:pP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+</a:t>
            </a:r>
            <a:r>
              <a:rPr lang="en-US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r>
              <a:rPr lang="en-US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 =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zh-CN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 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DDC66BE5-DACA-4C15-9A86-3B80778EA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096" y="3141281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0" fontAlgn="base">
              <a:spcAft>
                <a:spcPct val="0"/>
              </a:spcAft>
              <a:buClrTx/>
              <a:buNone/>
              <a:defRPr/>
            </a:pP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: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=</a:t>
            </a:r>
            <a:r>
              <a:rPr lang="en-US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269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C62DEA62-E634-4193-8B4E-12D10F2A9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63" y="1378330"/>
            <a:ext cx="11527566" cy="260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.8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eaLnBrk="1" hangingPunct="1">
              <a:lnSpc>
                <a:spcPct val="150000"/>
              </a:lnSpc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若公式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任何解释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和该解释下的任何赋值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下均为真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, 则称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逻辑有效式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永真式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).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任何解释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和该解释下的任何赋值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下均为假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则称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矛盾式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永假式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若至少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一个解释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和该解释下的赋值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为真, 则称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可满足式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5EC8B86-87CC-4DB8-B72C-951B0F647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63" y="3980350"/>
            <a:ext cx="11527566" cy="260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55000"/>
              </a:spcBef>
              <a:buNone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几点说明：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闭式在任何解释下都是命题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不是闭式的公式在解释下可能是命题, 也可能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是命题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 永真式为可满足式，但反之不真 </a:t>
            </a:r>
          </a:p>
          <a:p>
            <a:pPr marL="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 判断公式是否是可满足的(永真式, 矛盾式)是不可判定的</a:t>
            </a:r>
          </a:p>
        </p:txBody>
      </p:sp>
    </p:spTree>
    <p:extLst>
      <p:ext uri="{BB962C8B-B14F-4D97-AF65-F5344CB8AC3E}">
        <p14:creationId xmlns:p14="http://schemas.microsoft.com/office/powerpoint/2010/main" val="87379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DDC731B-3AD8-4DD3-A793-EB26FA8A9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8" y="1604843"/>
            <a:ext cx="11310630" cy="2321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6350" marR="0" lvl="0" indent="2222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.9 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是含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命题变项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的命题公式，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谓词公式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350" lvl="0" indent="22225" eaLnBrk="1" hangingPunct="1">
              <a:lnSpc>
                <a:spcPct val="120000"/>
              </a:lnSpc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处处代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(1</a:t>
            </a:r>
            <a:r>
              <a:rPr lang="zh-CN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</a:t>
            </a:r>
            <a:r>
              <a:rPr lang="zh-CN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i</a:t>
            </a:r>
            <a:r>
              <a:rPr lang="zh-CN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</a:t>
            </a:r>
            <a:r>
              <a:rPr lang="zh-CN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n</a:t>
            </a:r>
            <a:r>
              <a:rPr lang="zh-CN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所得公式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代换实例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  <a:p>
            <a:pPr marL="6350" marR="0" lvl="0" indent="22225" algn="l" defTabSz="9144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例如，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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等都是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q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的代换实例.</a:t>
            </a:r>
          </a:p>
          <a:p>
            <a:pPr marL="6350" marR="0" lvl="0" indent="22225" algn="l" defTabSz="914400" rtl="0" eaLnBrk="1" fontAlgn="base" latinLnBrk="0" hangingPunct="1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F68A742-413A-4256-984A-1A5BAFA22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92" y="4016349"/>
            <a:ext cx="11310630" cy="75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6350" marR="0" lvl="0" indent="22225" algn="l" defTabSz="914400" rtl="0" eaLnBrk="1" fontAlgn="base" latinLnBrk="0" hangingPunct="1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可以证明：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重言式的代换实例都是永真式，矛盾式的代换实例都是矛盾式. </a:t>
            </a:r>
          </a:p>
        </p:txBody>
      </p:sp>
    </p:spTree>
    <p:extLst>
      <p:ext uri="{BB962C8B-B14F-4D97-AF65-F5344CB8AC3E}">
        <p14:creationId xmlns:p14="http://schemas.microsoft.com/office/powerpoint/2010/main" val="206368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AE84419E-A3CC-4095-9514-23AF912E814B}"/>
              </a:ext>
            </a:extLst>
          </p:cNvPr>
          <p:cNvSpPr txBox="1">
            <a:spLocks/>
          </p:cNvSpPr>
          <p:nvPr/>
        </p:nvSpPr>
        <p:spPr bwMode="auto">
          <a:xfrm>
            <a:off x="431321" y="1395365"/>
            <a:ext cx="11424224" cy="1002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判断下列公式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中哪些是逻辑有效式？哪些是矛盾式？</a:t>
            </a:r>
            <a:r>
              <a:rPr lang="zh-CN" altLang="en-US" sz="20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（根据定义或代换实例）</a:t>
            </a:r>
            <a:endParaRPr lang="zh-CN" altLang="zh-CN" sz="20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(1) ∀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)→∃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8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91E0BAF0-0581-49B1-AD18-C58856D2FDE0}"/>
              </a:ext>
            </a:extLst>
          </p:cNvPr>
          <p:cNvSpPr txBox="1"/>
          <p:nvPr/>
        </p:nvSpPr>
        <p:spPr>
          <a:xfrm>
            <a:off x="387921" y="2536168"/>
            <a:ext cx="11645928" cy="100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           设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I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为任意的解释，若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为假，则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)→∃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为真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为真，则</a:t>
            </a:r>
            <a:r>
              <a:rPr 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也为真，所以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)→∃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也为真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是逻辑有效式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DFE7A2F3-8208-4358-A570-C9712839F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624571"/>
            <a:ext cx="92226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(2) ∀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)→(∀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)→∀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18EC972C-0AAA-4E69-B9BD-C42E01A2963D}"/>
              </a:ext>
            </a:extLst>
          </p:cNvPr>
          <p:cNvSpPr txBox="1"/>
          <p:nvPr/>
        </p:nvSpPr>
        <p:spPr>
          <a:xfrm>
            <a:off x="819241" y="4019414"/>
            <a:ext cx="10710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重言式</a:t>
            </a:r>
            <a:r>
              <a:rPr lang="en-US" sz="28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→(</a:t>
            </a:r>
            <a:r>
              <a:rPr lang="en-US" sz="28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en-US" sz="2800" b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→</a:t>
            </a:r>
            <a:r>
              <a:rPr lang="en-US" sz="28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的代换实例，是逻辑有效式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0E7E297D-F09B-4CD3-9171-F56E619AFCD3}"/>
              </a:ext>
            </a:extLst>
          </p:cNvPr>
          <p:cNvSpPr txBox="1">
            <a:spLocks/>
          </p:cNvSpPr>
          <p:nvPr/>
        </p:nvSpPr>
        <p:spPr bwMode="auto">
          <a:xfrm>
            <a:off x="743587" y="4651030"/>
            <a:ext cx="8229600" cy="636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∀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)→(∀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C2675FE2-744A-437A-90BB-D0FBD2B5E646}"/>
              </a:ext>
            </a:extLst>
          </p:cNvPr>
          <p:cNvSpPr txBox="1"/>
          <p:nvPr/>
        </p:nvSpPr>
        <p:spPr>
          <a:xfrm>
            <a:off x="847543" y="5083376"/>
            <a:ext cx="74295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重言式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→(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∨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的代换实例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是逻辑有效式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439AD64F-AFC1-44E0-AEB7-FDA1172B7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28" y="5753995"/>
            <a:ext cx="6643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9A514458-3AD2-4862-AD24-FA6DCC1AB0AB}"/>
              </a:ext>
            </a:extLst>
          </p:cNvPr>
          <p:cNvSpPr txBox="1"/>
          <p:nvPr/>
        </p:nvSpPr>
        <p:spPr>
          <a:xfrm>
            <a:off x="821665" y="6224407"/>
            <a:ext cx="707231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矛盾式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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en-US" sz="2400" b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→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∧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的代换实例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是矛盾式</a:t>
            </a:r>
            <a:r>
              <a:rPr 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9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5" grpId="0"/>
      <p:bldP spid="26" grpId="0"/>
      <p:bldP spid="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E4366DBA-FE58-44F6-835A-F839C987F015}"/>
              </a:ext>
            </a:extLst>
          </p:cNvPr>
          <p:cNvSpPr txBox="1">
            <a:spLocks/>
          </p:cNvSpPr>
          <p:nvPr/>
        </p:nvSpPr>
        <p:spPr bwMode="auto">
          <a:xfrm>
            <a:off x="500332" y="1496861"/>
            <a:ext cx="11426654" cy="393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(5) ∀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yF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)→∃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yF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6AC43616-41AC-4AE3-B398-B9C145A3DD27}"/>
              </a:ext>
            </a:extLst>
          </p:cNvPr>
          <p:cNvSpPr txBox="1"/>
          <p:nvPr/>
        </p:nvSpPr>
        <p:spPr>
          <a:xfrm>
            <a:off x="471757" y="1932316"/>
            <a:ext cx="1140681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取解释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：个体域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N, 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x,y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.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公式被解释为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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，其值为假</a:t>
            </a:r>
            <a:r>
              <a:rPr 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14FAEDB1-3B63-413A-AA8E-7AAA72630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37" y="2542336"/>
            <a:ext cx="11307627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解释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：个体域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得到一个新的在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公式被解释为   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∀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∃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∃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∀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，其值为真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是非逻辑有效式的可满足式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6226AB4-14FF-45C3-9DD7-E1E9FF52BF6D}"/>
              </a:ext>
            </a:extLst>
          </p:cNvPr>
          <p:cNvSpPr txBox="1">
            <a:spLocks/>
          </p:cNvSpPr>
          <p:nvPr/>
        </p:nvSpPr>
        <p:spPr>
          <a:xfrm>
            <a:off x="491706" y="3875776"/>
            <a:ext cx="9885872" cy="6013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(6) ∃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5B0CAAFB-92D2-4427-B39D-AA6303140C11}"/>
              </a:ext>
            </a:extLst>
          </p:cNvPr>
          <p:cNvSpPr txBox="1"/>
          <p:nvPr/>
        </p:nvSpPr>
        <p:spPr>
          <a:xfrm>
            <a:off x="575274" y="4327406"/>
            <a:ext cx="11355058" cy="113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取解释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：个体域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N, </a:t>
            </a: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400" b="1" i="1" dirty="0" err="1">
                <a:latin typeface="Times New Roman" pitchFamily="18" charset="0"/>
                <a:ea typeface="+mn-ea"/>
                <a:cs typeface="Times New Roman" pitchFamily="18" charset="0"/>
              </a:rPr>
              <a:t>x,y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x&lt;y</a:t>
            </a: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赋值</a:t>
            </a:r>
            <a:r>
              <a:rPr lang="zh-CN" altLang="en-US" sz="2400" b="1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1</a:t>
            </a: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：</a:t>
            </a:r>
            <a:r>
              <a:rPr lang="zh-CN" altLang="en-US" sz="2400" b="1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(y)=1.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在</a:t>
            </a:r>
            <a:r>
              <a:rPr lang="en-US" altLang="zh-CN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和</a:t>
            </a:r>
            <a:r>
              <a:rPr lang="zh-CN" altLang="en-US" sz="2400" b="1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</a:t>
            </a: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∃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&lt;1)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，真命题</a:t>
            </a: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249B1D32-0A71-4DB4-966E-927F9AE61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" y="5541723"/>
            <a:ext cx="11612563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取解释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: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个体域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赋值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(y)=0.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&lt;0)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 假命题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是非逻辑有效式的可满足式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84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ADFD20-A320-4CBE-BA68-83278CB93F8E}"/>
              </a:ext>
            </a:extLst>
          </p:cNvPr>
          <p:cNvSpPr txBox="1"/>
          <p:nvPr/>
        </p:nvSpPr>
        <p:spPr>
          <a:xfrm>
            <a:off x="505869" y="1544514"/>
            <a:ext cx="11121759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2.10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t>, 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是一阶逻辑中的两个公式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，若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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为逻辑有效式，则称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等值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的，记作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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，并称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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B2E6426-0BD8-4E0E-9A08-FC818005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925" y="2719010"/>
            <a:ext cx="10082612" cy="1839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715963" indent="-715963" eaLnBrk="1" hangingPunct="1">
              <a:lnSpc>
                <a:spcPct val="9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  <a:p>
            <a:pPr marL="715963" indent="-71596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第一组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命题逻辑中</a:t>
            </a:r>
            <a:r>
              <a:rPr lang="zh-CN" altLang="en-US" kern="0" dirty="0">
                <a:latin typeface="Times New Roman" pitchFamily="18" charset="0"/>
              </a:rPr>
              <a:t>16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组基本等值式的代换实例</a:t>
            </a:r>
          </a:p>
          <a:p>
            <a:pPr marL="715963" indent="-71596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0" kern="0" dirty="0">
                <a:latin typeface="Times New Roman" pitchFamily="18" charset="0"/>
              </a:rPr>
              <a:t>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zh-CN" altLang="en-US" kern="0" dirty="0">
                <a:latin typeface="Times New Roman" pitchFamily="18" charset="0"/>
              </a:rPr>
              <a:t>，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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xF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)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xF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),</a:t>
            </a:r>
          </a:p>
          <a:p>
            <a:pPr marL="715963" indent="-71596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         </a:t>
            </a:r>
            <a:r>
              <a:rPr lang="zh-CN" altLang="en-US" i="1" kern="0" dirty="0">
                <a:latin typeface="Times New Roman" pitchFamily="18" charset="0"/>
              </a:rPr>
              <a:t>xF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zh-CN" altLang="en-US" i="1" kern="0" dirty="0">
                <a:latin typeface="Times New Roman" pitchFamily="18" charset="0"/>
              </a:rPr>
              <a:t>yG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y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</a:t>
            </a:r>
            <a:r>
              <a:rPr lang="zh-CN" altLang="en-US" i="1" kern="0" dirty="0">
                <a:latin typeface="Times New Roman" pitchFamily="18" charset="0"/>
              </a:rPr>
              <a:t>xF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</a:t>
            </a:r>
            <a:r>
              <a:rPr lang="zh-CN" altLang="en-US" i="1" kern="0" dirty="0">
                <a:latin typeface="Times New Roman" pitchFamily="18" charset="0"/>
              </a:rPr>
              <a:t>yG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y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237019-12B1-4589-95E8-315077786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925" y="4608328"/>
            <a:ext cx="10082612" cy="2061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715963" indent="-71596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第二组</a:t>
            </a:r>
          </a:p>
          <a:p>
            <a:pPr marL="715963" indent="-71596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(1)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消去量词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等值式 </a:t>
            </a:r>
          </a:p>
          <a:p>
            <a:pPr marL="715963" indent="-71596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i="1" kern="0" dirty="0">
                <a:latin typeface="Times New Roman" pitchFamily="18" charset="0"/>
              </a:rPr>
              <a:t>  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i="1" kern="0" dirty="0">
                <a:latin typeface="Times New Roman" pitchFamily="18" charset="0"/>
              </a:rPr>
              <a:t>D </a:t>
            </a:r>
            <a:r>
              <a:rPr lang="zh-CN" altLang="en-US" kern="0" dirty="0">
                <a:latin typeface="Times New Roman" pitchFamily="18" charset="0"/>
              </a:rPr>
              <a:t>={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baseline="-25000" dirty="0">
                <a:latin typeface="Times New Roman" pitchFamily="18" charset="0"/>
              </a:rPr>
              <a:t>1</a:t>
            </a:r>
            <a:r>
              <a:rPr lang="zh-CN" altLang="en-US" kern="0" dirty="0">
                <a:latin typeface="Times New Roman" pitchFamily="18" charset="0"/>
              </a:rPr>
              <a:t>, 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baseline="-25000" dirty="0">
                <a:latin typeface="Times New Roman" pitchFamily="18" charset="0"/>
              </a:rPr>
              <a:t>2</a:t>
            </a:r>
            <a:r>
              <a:rPr lang="zh-CN" altLang="en-US" kern="0" dirty="0">
                <a:latin typeface="Times New Roman" pitchFamily="18" charset="0"/>
              </a:rPr>
              <a:t>, … , 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i="1" kern="0" baseline="-25000" dirty="0">
                <a:latin typeface="Times New Roman" pitchFamily="18" charset="0"/>
              </a:rPr>
              <a:t>n</a:t>
            </a:r>
            <a:r>
              <a:rPr lang="zh-CN" altLang="en-US" kern="0" dirty="0">
                <a:latin typeface="Times New Roman" pitchFamily="18" charset="0"/>
              </a:rPr>
              <a:t>}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有限论域</a:t>
            </a:r>
            <a:r>
              <a:rPr lang="zh-CN" altLang="en-US" kern="0" dirty="0">
                <a:latin typeface="Times New Roman" pitchFamily="18" charset="0"/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</a:p>
          <a:p>
            <a:pPr marL="715963" indent="-71596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   ①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baseline="-25000" dirty="0">
                <a:latin typeface="Times New Roman" pitchFamily="18" charset="0"/>
              </a:rPr>
              <a:t>1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baseline="-25000" dirty="0">
                <a:latin typeface="Times New Roman" pitchFamily="18" charset="0"/>
              </a:rPr>
              <a:t>2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kern="0" dirty="0">
                <a:latin typeface="Times New Roman" pitchFamily="18" charset="0"/>
              </a:rPr>
              <a:t>…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i="1" kern="0" baseline="-25000" dirty="0">
                <a:latin typeface="Times New Roman" pitchFamily="18" charset="0"/>
              </a:rPr>
              <a:t>n</a:t>
            </a:r>
            <a:r>
              <a:rPr lang="zh-CN" altLang="en-US" kern="0" dirty="0">
                <a:latin typeface="Times New Roman" pitchFamily="18" charset="0"/>
              </a:rPr>
              <a:t>)</a:t>
            </a:r>
          </a:p>
          <a:p>
            <a:pPr marL="715963" indent="-71596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   ②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baseline="-25000" dirty="0">
                <a:latin typeface="Times New Roman" pitchFamily="18" charset="0"/>
              </a:rPr>
              <a:t>1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baseline="-25000" dirty="0">
                <a:latin typeface="Times New Roman" pitchFamily="18" charset="0"/>
              </a:rPr>
              <a:t>2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kern="0" dirty="0">
                <a:latin typeface="Times New Roman" pitchFamily="18" charset="0"/>
              </a:rPr>
              <a:t>…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i="1" kern="0" baseline="-25000" dirty="0">
                <a:latin typeface="Times New Roman" pitchFamily="18" charset="0"/>
              </a:rPr>
              <a:t>n</a:t>
            </a:r>
            <a:r>
              <a:rPr lang="zh-CN" altLang="en-US" kern="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540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C37036B-9DBC-4385-AE39-A8ACE9A16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281" y="3313334"/>
            <a:ext cx="10323840" cy="942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(3)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辖域收缩与扩张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  <a:endParaRPr lang="zh-CN" altLang="en-US" kern="0" dirty="0">
              <a:latin typeface="Times New Roman" pitchFamily="18" charset="0"/>
            </a:endParaRP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  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是含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i="1" kern="0" dirty="0">
                <a:latin typeface="Times New Roman" pitchFamily="18" charset="0"/>
              </a:rPr>
              <a:t>x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自由出现的公式，</a:t>
            </a:r>
            <a:r>
              <a:rPr lang="zh-CN" altLang="en-US" i="1" kern="0" dirty="0">
                <a:latin typeface="Times New Roman" pitchFamily="18" charset="0"/>
              </a:rPr>
              <a:t>B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中不含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i="1" kern="0" dirty="0">
                <a:latin typeface="Times New Roman" pitchFamily="18" charset="0"/>
              </a:rPr>
              <a:t>x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的自由出现</a:t>
            </a:r>
          </a:p>
          <a:p>
            <a:pPr marL="457200" indent="-457200" eaLnBrk="1" hangingPunct="1">
              <a:buNone/>
            </a:pP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8C510AE-3961-490B-907E-35D77F294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414" y="4312440"/>
            <a:ext cx="4996754" cy="1940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关于全称量词的：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buNone/>
            </a:pPr>
            <a:r>
              <a:rPr lang="zh-CN" altLang="en-US" kern="0" dirty="0">
                <a:latin typeface="Times New Roman" pitchFamily="18" charset="0"/>
              </a:rPr>
              <a:t>①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endParaRPr lang="en-US" altLang="zh-CN" kern="0" dirty="0">
              <a:latin typeface="Times New Roman" pitchFamily="18" charset="0"/>
            </a:endParaRP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②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endParaRPr lang="zh-CN" altLang="en-US" kern="0" dirty="0">
              <a:latin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③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xA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endParaRPr lang="zh-CN" altLang="en-US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④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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  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D2B9C9F-059F-49F3-83CD-1C78C66F3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307" y="4312235"/>
            <a:ext cx="5587327" cy="2312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关于存在量词的</a:t>
            </a:r>
            <a:r>
              <a:rPr lang="zh-CN" altLang="en-US" kern="0" dirty="0">
                <a:latin typeface="Times New Roman" pitchFamily="18" charset="0"/>
              </a:rPr>
              <a:t>：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①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endParaRPr lang="zh-CN" altLang="en-US" kern="0" dirty="0">
              <a:latin typeface="Times New Roman" pitchFamily="18" charset="0"/>
            </a:endParaRP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②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endParaRPr lang="zh-CN" altLang="en-US" kern="0" dirty="0">
              <a:latin typeface="Times New Roman" pitchFamily="18" charset="0"/>
            </a:endParaRP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③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xA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i="1" kern="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zh-CN" altLang="en-US" i="1" kern="0" dirty="0">
                <a:latin typeface="Times New Roman" pitchFamily="18" charset="0"/>
              </a:rPr>
              <a:t>   </a:t>
            </a:r>
            <a:r>
              <a:rPr lang="zh-CN" altLang="en-US" kern="0" dirty="0">
                <a:latin typeface="Times New Roman" pitchFamily="18" charset="0"/>
              </a:rPr>
              <a:t>        </a:t>
            </a:r>
            <a:endParaRPr lang="en-US" altLang="zh-CN" kern="0" dirty="0">
              <a:latin typeface="Times New Roman" pitchFamily="18" charset="0"/>
            </a:endParaRP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④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86F816D-DB79-4497-B909-AA42E4C9119A}"/>
              </a:ext>
            </a:extLst>
          </p:cNvPr>
          <p:cNvSpPr txBox="1"/>
          <p:nvPr/>
        </p:nvSpPr>
        <p:spPr>
          <a:xfrm>
            <a:off x="9422559" y="5719573"/>
            <a:ext cx="258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itchFamily="49" charset="-122"/>
                <a:ea typeface="黑体" pitchFamily="49" charset="-122"/>
              </a:rPr>
              <a:t>（可由①导出）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2ED432-878E-4D2F-823F-6F769D7D3462}"/>
              </a:ext>
            </a:extLst>
          </p:cNvPr>
          <p:cNvSpPr/>
          <p:nvPr/>
        </p:nvSpPr>
        <p:spPr>
          <a:xfrm>
            <a:off x="829621" y="5655958"/>
            <a:ext cx="8671661" cy="442061"/>
          </a:xfrm>
          <a:prstGeom prst="rect">
            <a:avLst/>
          </a:prstGeom>
          <a:noFill/>
          <a:ln w="28575">
            <a:solidFill>
              <a:srgbClr val="99267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92677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69EB13C-CDD5-43F6-B3C8-4D04EBA25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281" y="1545036"/>
            <a:ext cx="10323840" cy="133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(2)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否定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   ①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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   ②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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6064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  <p:bldP spid="15" grpId="0"/>
      <p:bldP spid="4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B6C289-D52C-4DB3-8F31-9C530824C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05" y="1902019"/>
            <a:ext cx="8229600" cy="2941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(4)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量词分配等值式 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  ① 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solidFill>
                  <a:srgbClr val="0000FF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solidFill>
                  <a:srgbClr val="0000FF"/>
                </a:solidFill>
                <a:latin typeface="Times New Roman" pitchFamily="18" charset="0"/>
              </a:rPr>
              <a:t>x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</a:t>
            </a:r>
            <a:r>
              <a:rPr lang="zh-CN" altLang="en-US" i="1" kern="0" dirty="0">
                <a:solidFill>
                  <a:srgbClr val="0000FF"/>
                </a:solidFill>
                <a:latin typeface="Times New Roman" pitchFamily="18" charset="0"/>
              </a:rPr>
              <a:t>x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  ② 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solidFill>
                  <a:srgbClr val="0000FF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solidFill>
                  <a:srgbClr val="0000FF"/>
                </a:solidFill>
                <a:latin typeface="Times New Roman" pitchFamily="18" charset="0"/>
              </a:rPr>
              <a:t>x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</a:t>
            </a:r>
            <a:r>
              <a:rPr lang="zh-CN" altLang="en-US" i="1" kern="0" dirty="0">
                <a:solidFill>
                  <a:srgbClr val="0000FF"/>
                </a:solidFill>
                <a:latin typeface="Times New Roman" pitchFamily="18" charset="0"/>
              </a:rPr>
              <a:t>x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endParaRPr lang="en-US" altLang="zh-CN" kern="0" dirty="0">
              <a:latin typeface="Times New Roman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None/>
            </a:pPr>
            <a:endParaRPr lang="zh-CN" altLang="en-US" kern="0" dirty="0">
              <a:latin typeface="Times New Roman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无分配律，但有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            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</a:t>
            </a:r>
            <a:r>
              <a:rPr lang="zh-CN" altLang="en-US" i="1" kern="0" dirty="0">
                <a:latin typeface="Times New Roman" pitchFamily="18" charset="0"/>
              </a:rPr>
              <a:t>xB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 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            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 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 </a:t>
            </a:r>
            <a:r>
              <a:rPr lang="zh-CN" altLang="en-US" i="1" kern="0" dirty="0">
                <a:latin typeface="Times New Roman" pitchFamily="18" charset="0"/>
              </a:rPr>
              <a:t>xB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699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F8F023-C17A-4287-BD0E-6C9D9583D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131" y="1559714"/>
            <a:ext cx="11457163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补充：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1.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置换规则</a:t>
            </a: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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Symbol" pitchFamily="18" charset="2"/>
              </a:rPr>
              <a:t>是含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Symbol" pitchFamily="18" charset="2"/>
              </a:rPr>
              <a:t>的公式, 那么, 若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Symbol" pitchFamily="18" charset="2"/>
              </a:rPr>
              <a:t>, 则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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)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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i="1" kern="0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).</a:t>
            </a: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2.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  <a:sym typeface="Arial" charset="0"/>
              </a:rPr>
              <a:t>换名规则（针对约束变元）</a:t>
            </a: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为一公式，将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中某量词辖域中个体变项的所有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约束出现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及相应的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指导变元</a:t>
            </a:r>
            <a:endParaRPr lang="en-US" altLang="zh-CN" kern="0" dirty="0">
              <a:solidFill>
                <a:srgbClr val="992677"/>
              </a:solidFill>
              <a:latin typeface="Times New Roman" pitchFamily="18" charset="0"/>
              <a:ea typeface="黑体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altLang="zh-CN" kern="0" dirty="0">
                <a:solidFill>
                  <a:srgbClr val="0000FF"/>
                </a:solidFill>
                <a:latin typeface="Times New Roman" pitchFamily="18" charset="0"/>
              </a:rPr>
              <a:t> 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换成该量词辖域中未曾出现过的个体变项符号，其余部分不变，设所得公式为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kern="0" dirty="0">
                <a:latin typeface="Times New Roman" pitchFamily="18" charset="0"/>
              </a:rPr>
              <a:t>，</a:t>
            </a:r>
            <a:endParaRPr lang="en-US" altLang="zh-CN" kern="0" dirty="0">
              <a:latin typeface="Times New Roman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 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则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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.</a:t>
            </a: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3. 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  <a:sym typeface="Arial" charset="0"/>
              </a:rPr>
              <a:t>代替规则（针对自由变元）</a:t>
            </a: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kern="0" dirty="0">
                <a:latin typeface="Times New Roman" pitchFamily="18" charset="0"/>
              </a:rPr>
              <a:t> 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为一公式，将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中某个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个体变项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的所有自由出现用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中未曾出现过的个体变项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符号代替，其余部分不变，设所得公式为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，则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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498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5C35A8-C143-4175-9141-DD6CE4E3D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57338"/>
            <a:ext cx="7783512" cy="108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将下面命题用两种形式符号化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并证明两者等值</a:t>
            </a:r>
          </a:p>
          <a:p>
            <a:pPr algn="just" eaLnBrk="1" hangingPunct="1"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没有不犯错误的人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29A7953-8DAF-4142-8B42-37D708FC3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04" y="2847806"/>
            <a:ext cx="7615238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犯错误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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999FECE-6548-4468-8D13-1D1D0CEB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17" y="3792369"/>
            <a:ext cx="6624637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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量词否定等值式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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</a:p>
          <a:p>
            <a:pPr fontAlgn="base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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</a:p>
        </p:txBody>
      </p:sp>
    </p:spTree>
    <p:extLst>
      <p:ext uri="{BB962C8B-B14F-4D97-AF65-F5344CB8AC3E}">
        <p14:creationId xmlns:p14="http://schemas.microsoft.com/office/powerpoint/2010/main" val="409473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4F46112-28F9-46AB-BD09-108970789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44859"/>
            <a:ext cx="5554663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(2)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不是所有的人都爱看电影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3DE1DDA-E114-4C05-B4EF-0CBC3A288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148096"/>
            <a:ext cx="7615237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是人，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爱看电影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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84A8951-7A62-4076-962A-DC75035A5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300621"/>
            <a:ext cx="6408738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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量词否定等值式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</a:p>
        </p:txBody>
      </p:sp>
    </p:spTree>
    <p:extLst>
      <p:ext uri="{BB962C8B-B14F-4D97-AF65-F5344CB8AC3E}">
        <p14:creationId xmlns:p14="http://schemas.microsoft.com/office/powerpoint/2010/main" val="35852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9751760-4441-424E-AD33-F0495BB56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44" y="1476764"/>
            <a:ext cx="10394487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将公式化成等值的不含既有约束出现、又有自由出现的个体变项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z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)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yG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z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))</a:t>
            </a:r>
            <a:endParaRPr lang="en-US" altLang="zh-CN" kern="0" dirty="0">
              <a:latin typeface="Times New Roman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2BA9DBD-5297-4B75-80AD-289487EA5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33" y="2455424"/>
            <a:ext cx="10008894" cy="101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解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 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t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换名规则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2B425B7-7596-4271-A0C2-E958463A6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501" y="3487805"/>
            <a:ext cx="10008894" cy="49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x,y,z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x,t,z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辖域扩张等值式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C8D5226-48EF-405D-9B4A-19BB6F508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52" y="4271725"/>
            <a:ext cx="10008894" cy="1527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或者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 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代替规则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C3FBF085-62B8-4DC7-BD47-88680A2A8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298" y="5836047"/>
            <a:ext cx="10008894" cy="49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x,u,z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x,y,z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辖域扩张等值式</a:t>
            </a:r>
          </a:p>
        </p:txBody>
      </p:sp>
    </p:spTree>
    <p:extLst>
      <p:ext uri="{BB962C8B-B14F-4D97-AF65-F5344CB8AC3E}">
        <p14:creationId xmlns:p14="http://schemas.microsoft.com/office/powerpoint/2010/main" val="225586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EBB2744-5BCC-470F-9250-BFBB4C5D2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23" y="1573654"/>
            <a:ext cx="8002588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设个体域</a:t>
            </a:r>
            <a:r>
              <a:rPr lang="en-US" altLang="zh-CN" i="1" kern="0" dirty="0">
                <a:latin typeface="Times New Roman" pitchFamily="18" charset="0"/>
              </a:rPr>
              <a:t>D</a:t>
            </a:r>
            <a:r>
              <a:rPr lang="en-US" altLang="zh-CN" kern="0" dirty="0">
                <a:latin typeface="Times New Roman" pitchFamily="18" charset="0"/>
              </a:rPr>
              <a:t>={</a:t>
            </a:r>
            <a:r>
              <a:rPr lang="en-US" altLang="zh-CN" i="1" kern="0" dirty="0" err="1">
                <a:latin typeface="Times New Roman" pitchFamily="18" charset="0"/>
              </a:rPr>
              <a:t>a</a:t>
            </a:r>
            <a:r>
              <a:rPr lang="en-US" altLang="zh-CN" kern="0" dirty="0" err="1">
                <a:latin typeface="Times New Roman" pitchFamily="18" charset="0"/>
              </a:rPr>
              <a:t>,</a:t>
            </a:r>
            <a:r>
              <a:rPr lang="en-US" altLang="zh-CN" i="1" kern="0" dirty="0" err="1">
                <a:latin typeface="Times New Roman" pitchFamily="18" charset="0"/>
              </a:rPr>
              <a:t>b</a:t>
            </a:r>
            <a:r>
              <a:rPr lang="en-US" altLang="zh-CN" kern="0" dirty="0" err="1">
                <a:latin typeface="Times New Roman" pitchFamily="18" charset="0"/>
              </a:rPr>
              <a:t>,</a:t>
            </a:r>
            <a:r>
              <a:rPr lang="en-US" altLang="zh-CN" i="1" kern="0" dirty="0" err="1">
                <a:latin typeface="Times New Roman" pitchFamily="18" charset="0"/>
              </a:rPr>
              <a:t>c</a:t>
            </a:r>
            <a:r>
              <a:rPr lang="en-US" altLang="zh-CN" kern="0" dirty="0">
                <a:latin typeface="Times New Roman" pitchFamily="18" charset="0"/>
              </a:rPr>
              <a:t>},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消去下述公式中的量词</a:t>
            </a:r>
            <a:r>
              <a:rPr lang="en-US" altLang="zh-CN" kern="0" dirty="0">
                <a:latin typeface="Times New Roman" pitchFamily="18" charset="0"/>
              </a:rPr>
              <a:t>: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(1) 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)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G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))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9882168-9938-438D-84C9-CCEEA6A2D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11" y="2437254"/>
            <a:ext cx="8137525" cy="1012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解法一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（直接代入）</a:t>
            </a:r>
            <a:endParaRPr lang="zh-CN" altLang="en-US" sz="24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 (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(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(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759C2DA-C7A5-4EC9-AEE3-5198ADBCA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778" y="3487340"/>
            <a:ext cx="8137525" cy="1529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Symbol" pitchFamily="18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(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Symbol" pitchFamily="18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(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2A336B0-8608-4C41-990E-A9F335857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594" y="5008389"/>
            <a:ext cx="8137525" cy="1012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Symbol" pitchFamily="18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 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BADE94A-398C-4355-8F9B-DD0984AAF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899" y="5969984"/>
            <a:ext cx="8137525" cy="49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6244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B6CD1FE-A23D-4B59-9B77-14B32C3E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4313"/>
            <a:ext cx="7705725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解法二     </a:t>
            </a:r>
            <a:r>
              <a:rPr lang="zh-CN" altLang="en-US" sz="2400" b="1" dirty="0">
                <a:solidFill>
                  <a:srgbClr val="992677"/>
                </a:solidFill>
                <a:latin typeface="Arial" charset="0"/>
                <a:ea typeface="黑体" pitchFamily="49" charset="-122"/>
              </a:rPr>
              <a:t>（先辖域收缩，再代入）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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 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辖域缩小等值式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 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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 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AC5296C-29C3-4F85-A9B9-98CCE6450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686" y="4889971"/>
            <a:ext cx="3889375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(2) </a:t>
            </a:r>
            <a:r>
              <a:rPr lang="en-US" altLang="zh-CN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C419F8D-8F26-4BA0-A18B-C4E01C78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242" y="4288979"/>
            <a:ext cx="5329237" cy="1012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        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 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4EE93FA-F413-4F5F-8142-B0F01A1EA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833" y="5382674"/>
            <a:ext cx="5329237" cy="1529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a,a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b,a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c,a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619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autoUpdateAnimBg="0"/>
      <p:bldP spid="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26D9C04-D73F-42FF-86BD-6B32B09D2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973" y="1663670"/>
            <a:ext cx="10412330" cy="1669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625475" indent="-625475"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2.11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为一谓词公式，若</a:t>
            </a:r>
            <a:r>
              <a:rPr lang="en-US" altLang="zh-CN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具有如下形式：</a:t>
            </a:r>
          </a:p>
          <a:p>
            <a:pPr marL="625475" indent="-625475" eaLnBrk="1" hangingPunct="1">
              <a:buFont typeface="Wingdings" pitchFamily="2" charset="2"/>
              <a:buNone/>
            </a:pPr>
            <a:r>
              <a:rPr lang="zh-CN" altLang="en-US" i="1" kern="0" dirty="0">
                <a:latin typeface="Times New Roman" pitchFamily="18" charset="0"/>
              </a:rPr>
              <a:t>                     </a:t>
            </a:r>
            <a:r>
              <a:rPr lang="en-US" altLang="zh-CN" i="1" kern="0" dirty="0" err="1">
                <a:latin typeface="Times New Roman" pitchFamily="18" charset="0"/>
              </a:rPr>
              <a:t>Q</a:t>
            </a:r>
            <a:r>
              <a:rPr lang="en-US" altLang="zh-CN" kern="0" baseline="-25000" dirty="0" err="1">
                <a:latin typeface="Times New Roman" pitchFamily="18" charset="0"/>
              </a:rPr>
              <a:t>1</a:t>
            </a:r>
            <a:r>
              <a:rPr lang="en-US" altLang="zh-CN" i="1" kern="0" dirty="0" err="1">
                <a:latin typeface="Times New Roman" pitchFamily="18" charset="0"/>
              </a:rPr>
              <a:t>x</a:t>
            </a:r>
            <a:r>
              <a:rPr lang="en-US" altLang="zh-CN" kern="0" baseline="-25000" dirty="0" err="1">
                <a:latin typeface="Times New Roman" pitchFamily="18" charset="0"/>
              </a:rPr>
              <a:t>1</a:t>
            </a:r>
            <a:r>
              <a:rPr lang="en-US" altLang="zh-CN" i="1" kern="0" dirty="0" err="1">
                <a:latin typeface="Times New Roman" pitchFamily="18" charset="0"/>
              </a:rPr>
              <a:t>Q</a:t>
            </a:r>
            <a:r>
              <a:rPr lang="en-US" altLang="zh-CN" kern="0" baseline="-25000" dirty="0" err="1">
                <a:latin typeface="Times New Roman" pitchFamily="18" charset="0"/>
              </a:rPr>
              <a:t>2</a:t>
            </a:r>
            <a:r>
              <a:rPr lang="en-US" altLang="zh-CN" i="1" kern="0" dirty="0" err="1">
                <a:latin typeface="Times New Roman" pitchFamily="18" charset="0"/>
              </a:rPr>
              <a:t>x</a:t>
            </a:r>
            <a:r>
              <a:rPr lang="en-US" altLang="zh-CN" kern="0" baseline="-25000" dirty="0" err="1">
                <a:latin typeface="Times New Roman" pitchFamily="18" charset="0"/>
              </a:rPr>
              <a:t>2</a:t>
            </a:r>
            <a:r>
              <a:rPr lang="en-US" altLang="zh-CN" kern="0" dirty="0">
                <a:latin typeface="Times New Roman" pitchFamily="18" charset="0"/>
              </a:rPr>
              <a:t>…</a:t>
            </a:r>
            <a:r>
              <a:rPr lang="en-US" altLang="zh-CN" i="1" kern="0" dirty="0" err="1">
                <a:latin typeface="Times New Roman" pitchFamily="18" charset="0"/>
              </a:rPr>
              <a:t>Q</a:t>
            </a:r>
            <a:r>
              <a:rPr lang="en-US" altLang="zh-CN" i="1" kern="0" baseline="-25000" dirty="0" err="1">
                <a:latin typeface="Times New Roman" pitchFamily="18" charset="0"/>
              </a:rPr>
              <a:t>k</a:t>
            </a:r>
            <a:r>
              <a:rPr lang="en-US" altLang="zh-CN" i="1" kern="0" dirty="0" err="1">
                <a:latin typeface="Times New Roman" pitchFamily="18" charset="0"/>
              </a:rPr>
              <a:t>x</a:t>
            </a:r>
            <a:r>
              <a:rPr lang="en-US" altLang="zh-CN" i="1" kern="0" baseline="-25000" dirty="0" err="1">
                <a:latin typeface="Times New Roman" pitchFamily="18" charset="0"/>
              </a:rPr>
              <a:t>k</a:t>
            </a:r>
            <a:r>
              <a:rPr lang="en-US" altLang="zh-CN" i="1" kern="0" dirty="0" err="1">
                <a:latin typeface="Times New Roman" pitchFamily="18" charset="0"/>
              </a:rPr>
              <a:t>B</a:t>
            </a:r>
            <a:endParaRPr lang="en-US" altLang="zh-CN" kern="0" dirty="0">
              <a:latin typeface="Times New Roman" pitchFamily="18" charset="0"/>
            </a:endParaRPr>
          </a:p>
          <a:p>
            <a:pPr marL="625475" indent="-625475"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前束范式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，其中</a:t>
            </a:r>
            <a:r>
              <a:rPr lang="en-US" altLang="zh-CN" i="1" kern="0" dirty="0">
                <a:latin typeface="Times New Roman" pitchFamily="18" charset="0"/>
              </a:rPr>
              <a:t>Q</a:t>
            </a:r>
            <a:r>
              <a:rPr lang="en-US" altLang="zh-CN" i="1" kern="0" baseline="-25000" dirty="0">
                <a:latin typeface="Times New Roman" pitchFamily="18" charset="0"/>
              </a:rPr>
              <a:t>i</a:t>
            </a:r>
            <a:r>
              <a:rPr lang="en-US" altLang="zh-CN" kern="0" dirty="0">
                <a:latin typeface="Times New Roman" pitchFamily="18" charset="0"/>
              </a:rPr>
              <a:t> (1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CN" kern="0" dirty="0">
                <a:latin typeface="Times New Roman" pitchFamily="18" charset="0"/>
              </a:rPr>
              <a:t> </a:t>
            </a:r>
            <a:r>
              <a:rPr lang="en-US" altLang="zh-CN" i="1" kern="0" dirty="0" err="1">
                <a:latin typeface="Times New Roman" pitchFamily="18" charset="0"/>
              </a:rPr>
              <a:t>i</a:t>
            </a:r>
            <a:r>
              <a:rPr lang="en-US" altLang="zh-CN" kern="0" dirty="0">
                <a:latin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CN" i="1" kern="0" dirty="0">
                <a:latin typeface="Times New Roman" pitchFamily="18" charset="0"/>
              </a:rPr>
              <a:t>k</a:t>
            </a:r>
            <a:r>
              <a:rPr lang="en-US" altLang="zh-CN" kern="0" dirty="0">
                <a:latin typeface="Times New Roman" pitchFamily="18" charset="0"/>
              </a:rPr>
              <a:t>)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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</a:t>
            </a:r>
            <a:r>
              <a:rPr lang="zh-CN" altLang="en-US" kern="0" dirty="0">
                <a:latin typeface="Times New Roman" pitchFamily="18" charset="0"/>
              </a:rPr>
              <a:t>，</a:t>
            </a:r>
            <a:r>
              <a:rPr lang="en-US" altLang="zh-CN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为不含量词的谓词公式</a:t>
            </a:r>
            <a:r>
              <a:rPr lang="en-US" altLang="zh-CN" kern="0" dirty="0">
                <a:latin typeface="Times New Roman" pitchFamily="18" charset="0"/>
              </a:rPr>
              <a:t>.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D2F0A2A-E0A4-4EC5-975B-5F266FEF9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589" y="3402994"/>
            <a:ext cx="10412330" cy="2195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625475" indent="-625475"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例如，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F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</a:rPr>
              <a:t>)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i="1" kern="0" dirty="0">
                <a:latin typeface="Times New Roman" pitchFamily="18" charset="0"/>
              </a:rPr>
              <a:t>G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</a:rPr>
              <a:t>))</a:t>
            </a:r>
          </a:p>
          <a:p>
            <a:pPr marL="625475" indent="-625475" eaLnBrk="1" hangingPunct="1"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             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i="1" kern="0" dirty="0" err="1">
                <a:latin typeface="Times New Roman" pitchFamily="18" charset="0"/>
              </a:rPr>
              <a:t>x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i="1" kern="0" dirty="0" err="1">
                <a:latin typeface="Times New Roman" pitchFamily="18" charset="0"/>
              </a:rPr>
              <a:t>y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F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</a:rPr>
              <a:t>)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G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y</a:t>
            </a:r>
            <a:r>
              <a:rPr lang="en-US" altLang="zh-CN" kern="0" dirty="0">
                <a:latin typeface="Times New Roman" pitchFamily="18" charset="0"/>
              </a:rPr>
              <a:t>)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i="1" kern="0" dirty="0">
                <a:latin typeface="Times New Roman" pitchFamily="18" charset="0"/>
              </a:rPr>
              <a:t>H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 err="1">
                <a:latin typeface="Times New Roman" pitchFamily="18" charset="0"/>
              </a:rPr>
              <a:t>x</a:t>
            </a:r>
            <a:r>
              <a:rPr lang="en-US" altLang="zh-CN" kern="0" dirty="0" err="1">
                <a:latin typeface="Times New Roman" pitchFamily="18" charset="0"/>
              </a:rPr>
              <a:t>,</a:t>
            </a:r>
            <a:r>
              <a:rPr lang="en-US" altLang="zh-CN" i="1" kern="0" dirty="0" err="1">
                <a:latin typeface="Times New Roman" pitchFamily="18" charset="0"/>
              </a:rPr>
              <a:t>y</a:t>
            </a:r>
            <a:r>
              <a:rPr lang="en-US" altLang="zh-CN" kern="0" dirty="0">
                <a:latin typeface="Times New Roman" pitchFamily="18" charset="0"/>
              </a:rPr>
              <a:t>)))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是前束范式</a:t>
            </a:r>
          </a:p>
          <a:p>
            <a:pPr marL="625475" indent="-625475"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而</a:t>
            </a:r>
            <a:r>
              <a:rPr lang="zh-CN" altLang="en-US" kern="0" dirty="0">
                <a:latin typeface="Times New Roman" pitchFamily="18" charset="0"/>
              </a:rPr>
              <a:t>         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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F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</a:rPr>
              <a:t>)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i="1" kern="0" dirty="0">
                <a:latin typeface="Times New Roman" pitchFamily="18" charset="0"/>
              </a:rPr>
              <a:t>G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</a:rPr>
              <a:t>))</a:t>
            </a:r>
          </a:p>
          <a:p>
            <a:pPr marL="625475" indent="-625475" eaLnBrk="1" hangingPunct="1"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              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F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x</a:t>
            </a:r>
            <a:r>
              <a:rPr lang="en-US" altLang="zh-CN" kern="0" dirty="0">
                <a:latin typeface="Times New Roman" pitchFamily="18" charset="0"/>
              </a:rPr>
              <a:t>)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i="1" kern="0" dirty="0">
                <a:latin typeface="Times New Roman" pitchFamily="18" charset="0"/>
              </a:rPr>
              <a:t>y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G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>
                <a:latin typeface="Times New Roman" pitchFamily="18" charset="0"/>
              </a:rPr>
              <a:t>y</a:t>
            </a:r>
            <a:r>
              <a:rPr lang="en-US" altLang="zh-CN" kern="0" dirty="0">
                <a:latin typeface="Times New Roman" pitchFamily="18" charset="0"/>
              </a:rPr>
              <a:t>)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i="1" kern="0" dirty="0">
                <a:latin typeface="Times New Roman" pitchFamily="18" charset="0"/>
              </a:rPr>
              <a:t>H</a:t>
            </a:r>
            <a:r>
              <a:rPr lang="en-US" altLang="zh-CN" kern="0" dirty="0">
                <a:latin typeface="Times New Roman" pitchFamily="18" charset="0"/>
              </a:rPr>
              <a:t>(</a:t>
            </a:r>
            <a:r>
              <a:rPr lang="en-US" altLang="zh-CN" i="1" kern="0" dirty="0" err="1">
                <a:latin typeface="Times New Roman" pitchFamily="18" charset="0"/>
              </a:rPr>
              <a:t>x</a:t>
            </a:r>
            <a:r>
              <a:rPr lang="en-US" altLang="zh-CN" kern="0" dirty="0" err="1">
                <a:latin typeface="Times New Roman" pitchFamily="18" charset="0"/>
              </a:rPr>
              <a:t>,</a:t>
            </a:r>
            <a:r>
              <a:rPr lang="en-US" altLang="zh-CN" i="1" kern="0" dirty="0" err="1">
                <a:latin typeface="Times New Roman" pitchFamily="18" charset="0"/>
              </a:rPr>
              <a:t>y</a:t>
            </a:r>
            <a:r>
              <a:rPr lang="en-US" altLang="zh-CN" kern="0" dirty="0">
                <a:latin typeface="Times New Roman" pitchFamily="18" charset="0"/>
              </a:rPr>
              <a:t>)))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不是前束范式</a:t>
            </a:r>
          </a:p>
        </p:txBody>
      </p:sp>
    </p:spTree>
    <p:extLst>
      <p:ext uri="{BB962C8B-B14F-4D97-AF65-F5344CB8AC3E}">
        <p14:creationId xmlns:p14="http://schemas.microsoft.com/office/powerpoint/2010/main" val="24281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E44BB11-1E3D-4628-991E-231C6705A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459253"/>
            <a:ext cx="7704137" cy="916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求下列公式的前束范式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(1) 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0BCEFC9-00BA-4801-A512-38D0251A9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46" y="1627473"/>
            <a:ext cx="11084979" cy="164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定理（前束范式存在定理）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一阶逻辑中的任何公式都存在与之等值的前束范式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求前束范式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使用重要等值式、置换规则、换名规则进行等值演算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81C9E91F-F1B7-4ABF-A47E-CF916E626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504" y="4596011"/>
            <a:ext cx="9157678" cy="143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fontAlgn="base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))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量词否定等值式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))      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两步结果都是前束范式，说明前束范式不唯一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.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2055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EE579E4-D364-4F2E-B931-80C5542D0428}"/>
              </a:ext>
            </a:extLst>
          </p:cNvPr>
          <p:cNvSpPr txBox="1">
            <a:spLocks noChangeArrowheads="1"/>
          </p:cNvSpPr>
          <p:nvPr/>
        </p:nvSpPr>
        <p:spPr>
          <a:xfrm>
            <a:off x="508146" y="1442422"/>
            <a:ext cx="8143875" cy="151315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(2)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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808330A-B041-4E36-8649-4140C1DF4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843" y="1956772"/>
            <a:ext cx="7000875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)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（量词否定等值式）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))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（量词分配等值式）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8A053E32-A51A-4CEF-AEFE-B00E25B10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906" y="2880851"/>
            <a:ext cx="7643812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           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换名规则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))        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量词辖域扩张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6B5896B-2E0C-44C3-9A28-52078B8A1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00" y="4814334"/>
            <a:ext cx="7848600" cy="84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(3) 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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xG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r>
              <a:rPr lang="zh-CN" altLang="en-US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400" b="1" kern="0" dirty="0">
              <a:latin typeface="Times New Roman" panose="02020603050405020304" pitchFamily="18" charset="0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B8A6795E-B289-4C78-87C8-4292C8DDC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" y="5554447"/>
            <a:ext cx="54622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hangingPunct="1">
              <a:spcBef>
                <a:spcPts val="6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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（量词否定等值式）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（量词分配等值式）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6303024-2A9B-4E61-B1CE-CFE4305CA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429" y="5396733"/>
            <a:ext cx="5472757" cy="138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hangingPunct="1">
              <a:lnSpc>
                <a:spcPct val="120000"/>
              </a:lnSpc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 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换名规则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base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量词辖域扩张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base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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量词辖域扩张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39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69FC7BC-0787-4A0D-8038-5E38D08E1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52" y="1649884"/>
            <a:ext cx="6572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(4)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10E5925-6BB8-4433-96BE-DE92175D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52" y="2221384"/>
            <a:ext cx="6286500" cy="1003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zF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 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5B340A6-6EB9-4FC6-A50D-E727FE113337}"/>
              </a:ext>
            </a:extLst>
          </p:cNvPr>
          <p:cNvSpPr txBox="1">
            <a:spLocks noChangeArrowheads="1"/>
          </p:cNvSpPr>
          <p:nvPr/>
        </p:nvSpPr>
        <p:spPr>
          <a:xfrm>
            <a:off x="575790" y="3499517"/>
            <a:ext cx="7993062" cy="4707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(5)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)))</a:t>
            </a:r>
          </a:p>
          <a:p>
            <a:pPr algn="just"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E75364E-76EB-4220-816B-1A994957F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43" y="4218735"/>
            <a:ext cx="7929562" cy="1956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)))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)))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不能颠倒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4EB046-177C-5080-A421-716600D61C8F}"/>
              </a:ext>
            </a:extLst>
          </p:cNvPr>
          <p:cNvSpPr txBox="1"/>
          <p:nvPr/>
        </p:nvSpPr>
        <p:spPr>
          <a:xfrm>
            <a:off x="5183301" y="2514600"/>
            <a:ext cx="1828800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分两次提前</a:t>
            </a:r>
          </a:p>
        </p:txBody>
      </p:sp>
    </p:spTree>
    <p:extLst>
      <p:ext uri="{BB962C8B-B14F-4D97-AF65-F5344CB8AC3E}">
        <p14:creationId xmlns:p14="http://schemas.microsoft.com/office/powerpoint/2010/main" val="114703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BE797BF-3A6A-48EC-AE63-2E48ACC58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73163"/>
            <a:ext cx="4897437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(6)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latin typeface="Times New Roman" pitchFamily="18" charset="0"/>
              </a:rPr>
              <a:t>xF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2400" b="1" i="1" dirty="0" err="1">
                <a:latin typeface="Times New Roman" pitchFamily="18" charset="0"/>
              </a:rPr>
              <a:t>yG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BE5CB2F-5CD1-450C-913F-6812A6539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70" y="3962189"/>
            <a:ext cx="822960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b="1" dirty="0">
                <a:latin typeface="Times New Roman" pitchFamily="18" charset="0"/>
              </a:rPr>
              <a:t>      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latin typeface="Times New Roman" pitchFamily="18" charset="0"/>
              </a:rPr>
              <a:t>xF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y</a:t>
            </a:r>
            <a:r>
              <a:rPr lang="en-US" altLang="zh-CN" sz="2400" b="1" i="1" dirty="0" err="1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endParaRPr lang="en-US" altLang="zh-CN" sz="2400" b="1" dirty="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sym typeface="Symbol" pitchFamily="18" charset="2"/>
              </a:rPr>
              <a:t>  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latin typeface="Times New Roman" pitchFamily="18" charset="0"/>
              </a:rPr>
              <a:t>xF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))                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辖域扩张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y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))  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辖域扩张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26FEED72-900F-4A0A-8809-A877542A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77988"/>
            <a:ext cx="8229600" cy="146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en-US" altLang="zh-CN" sz="2400" b="1" i="1" dirty="0" err="1">
                <a:latin typeface="Times New Roman" pitchFamily="18" charset="0"/>
              </a:rPr>
              <a:t>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2400" b="1" i="1" dirty="0" err="1">
                <a:latin typeface="Times New Roman" pitchFamily="18" charset="0"/>
              </a:rPr>
              <a:t>yG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endParaRPr lang="en-US" altLang="zh-CN" sz="2400" b="1" dirty="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    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2400" b="1" i="1" dirty="0" err="1">
                <a:latin typeface="Times New Roman" pitchFamily="18" charset="0"/>
              </a:rPr>
              <a:t>yG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))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辖域扩张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    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y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))        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辖域扩张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1190936-155B-4D18-8456-4FA6D0CBE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6300509"/>
            <a:ext cx="8229600" cy="39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问：为什么此处</a:t>
            </a:r>
            <a:r>
              <a:rPr lang="en-US" altLang="zh-CN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</a:t>
            </a: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和</a:t>
            </a:r>
            <a:r>
              <a:rPr lang="en-US" altLang="zh-CN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</a:t>
            </a: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交换了位置？与题（</a:t>
            </a:r>
            <a:r>
              <a:rPr lang="en-US" altLang="zh-CN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5</a:t>
            </a: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）作比较</a:t>
            </a:r>
            <a:endParaRPr lang="en-US" altLang="zh-CN" sz="20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62444E-32EB-4FB9-8E7F-3D2741EB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25" y="1916063"/>
            <a:ext cx="5710575" cy="5718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E9DB3C-AF7B-4339-A818-88B03BA1C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230" y="3144356"/>
            <a:ext cx="4304996" cy="2325882"/>
          </a:xfrm>
          <a:prstGeom prst="rect">
            <a:avLst/>
          </a:prstGeom>
          <a:ln>
            <a:solidFill>
              <a:srgbClr val="992677"/>
            </a:solidFill>
          </a:ln>
        </p:spPr>
      </p:pic>
    </p:spTree>
    <p:extLst>
      <p:ext uri="{BB962C8B-B14F-4D97-AF65-F5344CB8AC3E}">
        <p14:creationId xmlns:p14="http://schemas.microsoft.com/office/powerpoint/2010/main" val="274219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/>
      <p:bldP spid="14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F264A64-4169-49E1-94C0-C0317A46074B}"/>
              </a:ext>
            </a:extLst>
          </p:cNvPr>
          <p:cNvSpPr txBox="1">
            <a:spLocks/>
          </p:cNvSpPr>
          <p:nvPr/>
        </p:nvSpPr>
        <p:spPr bwMode="auto">
          <a:xfrm>
            <a:off x="457200" y="1569227"/>
            <a:ext cx="8229600" cy="719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苏格拉底三段论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的正确性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333DBBA-E5E5-4494-8A0B-E9ACE004A236}"/>
              </a:ext>
            </a:extLst>
          </p:cNvPr>
          <p:cNvSpPr txBox="1">
            <a:spLocks/>
          </p:cNvSpPr>
          <p:nvPr/>
        </p:nvSpPr>
        <p:spPr bwMode="auto">
          <a:xfrm>
            <a:off x="457201" y="2441348"/>
            <a:ext cx="8816586" cy="2944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凡是人都要死的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苏格拉底是人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所以苏格拉底是要死的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.”</a:t>
            </a:r>
            <a:endParaRPr lang="zh-CN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是人，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是要死的，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苏格拉底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∀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设前件为真，即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都为真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为真，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为真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为真，根据假言推理得证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为真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30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058EC96E-3FFD-4F5B-B945-E869BA87D09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本章总结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CA94A-18AC-4810-8D28-600E15A18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199072"/>
            <a:ext cx="10634842" cy="3082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考查的能力：</a:t>
            </a: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掌握个体词、谓词、量词等概念的基础上，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buClr>
                <a:srgbClr val="992677"/>
              </a:buClr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在一阶逻辑下，对命题进行符号化；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掌握指导变元、自由出现、约束出现、闭式等概念的基础上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buClr>
                <a:srgbClr val="992677"/>
              </a:buClr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讨论合式公式在特定解释和赋值下的真值及公式的类型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运用等值演算，消去公式中的量词；求前述范式</a:t>
            </a:r>
          </a:p>
          <a:p>
            <a:pPr marL="0" indent="0" eaLnBrk="1" hangingPunct="1">
              <a:lnSpc>
                <a:spcPct val="150000"/>
              </a:lnSpc>
              <a:buClr>
                <a:srgbClr val="992677"/>
              </a:buClr>
              <a:buNone/>
            </a:pP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D86B57-64AC-4463-89DF-4BA566708862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16657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heme/theme1.xml><?xml version="1.0" encoding="utf-8"?>
<a:theme xmlns:a="http://schemas.openxmlformats.org/drawingml/2006/main" name="南京理工大学通用模板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z="1600" dirty="0" smtClean="0">
            <a:solidFill>
              <a:schemeClr val="tx1">
                <a:lumMod val="65000"/>
                <a:lumOff val="35000"/>
              </a:schemeClr>
            </a:solidFill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26967</TotalTime>
  <Words>6623</Words>
  <Application>Microsoft Office PowerPoint</Application>
  <PresentationFormat>宽屏</PresentationFormat>
  <Paragraphs>578</Paragraphs>
  <Slides>40</Slides>
  <Notes>39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等线</vt:lpstr>
      <vt:lpstr>黑体</vt:lpstr>
      <vt:lpstr>华文中宋</vt:lpstr>
      <vt:lpstr>宋体</vt:lpstr>
      <vt:lpstr>微软雅黑</vt:lpstr>
      <vt:lpstr>微软雅黑 Light</vt:lpstr>
      <vt:lpstr>Arial</vt:lpstr>
      <vt:lpstr>Symbol</vt:lpstr>
      <vt:lpstr>Times New Roman</vt:lpstr>
      <vt:lpstr>Wingdings</vt:lpstr>
      <vt:lpstr>南京理工大学通用模板</vt:lpstr>
      <vt:lpstr>Microsoft 公式 3.0</vt:lpstr>
      <vt:lpstr>Equation.3</vt:lpstr>
      <vt:lpstr>离散数学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基于双目视觉的加油机器人 油箱盖识别与定位技术研究</dc:title>
  <dc:creator>Hongwei Fu</dc:creator>
  <cp:lastModifiedBy>744311194@qq.com</cp:lastModifiedBy>
  <cp:revision>262</cp:revision>
  <dcterms:created xsi:type="dcterms:W3CDTF">2024-03-07T10:43:13Z</dcterms:created>
  <dcterms:modified xsi:type="dcterms:W3CDTF">2026-03-13T04:51:10Z</dcterms:modified>
</cp:coreProperties>
</file>