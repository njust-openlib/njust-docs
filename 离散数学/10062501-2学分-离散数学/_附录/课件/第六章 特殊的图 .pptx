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3"/>
  </p:notesMasterIdLst>
  <p:handoutMasterIdLst>
    <p:handoutMasterId r:id="rId34"/>
  </p:handoutMasterIdLst>
  <p:sldIdLst>
    <p:sldId id="415" r:id="rId2"/>
    <p:sldId id="375" r:id="rId3"/>
    <p:sldId id="425" r:id="rId4"/>
    <p:sldId id="426" r:id="rId5"/>
    <p:sldId id="427" r:id="rId6"/>
    <p:sldId id="473" r:id="rId7"/>
    <p:sldId id="478" r:id="rId8"/>
    <p:sldId id="474" r:id="rId9"/>
    <p:sldId id="472" r:id="rId10"/>
    <p:sldId id="429" r:id="rId11"/>
    <p:sldId id="430" r:id="rId12"/>
    <p:sldId id="431" r:id="rId13"/>
    <p:sldId id="432" r:id="rId14"/>
    <p:sldId id="433" r:id="rId15"/>
    <p:sldId id="475" r:id="rId16"/>
    <p:sldId id="435" r:id="rId17"/>
    <p:sldId id="436" r:id="rId18"/>
    <p:sldId id="437" r:id="rId19"/>
    <p:sldId id="438" r:id="rId20"/>
    <p:sldId id="439" r:id="rId21"/>
    <p:sldId id="441" r:id="rId22"/>
    <p:sldId id="440" r:id="rId23"/>
    <p:sldId id="476" r:id="rId24"/>
    <p:sldId id="446" r:id="rId25"/>
    <p:sldId id="447" r:id="rId26"/>
    <p:sldId id="448" r:id="rId27"/>
    <p:sldId id="450" r:id="rId28"/>
    <p:sldId id="449" r:id="rId29"/>
    <p:sldId id="477" r:id="rId30"/>
    <p:sldId id="479" r:id="rId31"/>
    <p:sldId id="480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2FAAFAA-335A-4D47-8DB0-78CF3C81CEF3}">
          <p14:sldIdLst>
            <p14:sldId id="415"/>
            <p14:sldId id="375"/>
          </p14:sldIdLst>
        </p14:section>
        <p14:section name="6.1 二部图" id="{1CB8D0A2-EAB7-4D79-823C-48600C2B2025}">
          <p14:sldIdLst>
            <p14:sldId id="425"/>
            <p14:sldId id="426"/>
            <p14:sldId id="427"/>
            <p14:sldId id="473"/>
            <p14:sldId id="478"/>
            <p14:sldId id="474"/>
            <p14:sldId id="472"/>
            <p14:sldId id="429"/>
          </p14:sldIdLst>
        </p14:section>
        <p14:section name="6.2 欧拉图" id="{F75BE429-62D2-406E-9689-74EC4A00DA1D}">
          <p14:sldIdLst>
            <p14:sldId id="430"/>
            <p14:sldId id="431"/>
            <p14:sldId id="432"/>
            <p14:sldId id="433"/>
            <p14:sldId id="475"/>
            <p14:sldId id="435"/>
            <p14:sldId id="436"/>
          </p14:sldIdLst>
        </p14:section>
        <p14:section name="6.3 哈密顿图" id="{5398BE57-49F2-48AE-804E-EDD90D46EAA9}">
          <p14:sldIdLst>
            <p14:sldId id="437"/>
            <p14:sldId id="438"/>
            <p14:sldId id="439"/>
            <p14:sldId id="441"/>
            <p14:sldId id="440"/>
            <p14:sldId id="476"/>
            <p14:sldId id="446"/>
            <p14:sldId id="447"/>
            <p14:sldId id="448"/>
            <p14:sldId id="450"/>
            <p14:sldId id="449"/>
            <p14:sldId id="477"/>
            <p14:sldId id="479"/>
            <p14:sldId id="4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2677"/>
    <a:srgbClr val="AD5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469" autoAdjust="0"/>
  </p:normalViewPr>
  <p:slideViewPr>
    <p:cSldViewPr snapToGrid="0">
      <p:cViewPr varScale="1">
        <p:scale>
          <a:sx n="85" d="100"/>
          <a:sy n="85" d="100"/>
        </p:scale>
        <p:origin x="1004" y="52"/>
      </p:cViewPr>
      <p:guideLst/>
    </p:cSldViewPr>
  </p:slideViewPr>
  <p:outlineViewPr>
    <p:cViewPr>
      <p:scale>
        <a:sx n="33" d="100"/>
        <a:sy n="33" d="100"/>
      </p:scale>
      <p:origin x="0" y="-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delSld addSection modSection">
      <pc:chgData name="744311194@qq.com" userId="e2a28223f2085f4b" providerId="LiveId" clId="{93EAE7B5-FDEE-48D0-B65C-03455E3B8632}" dt="2026-04-02T13:27:11.108" v="8" actId="47"/>
      <pc:docMkLst>
        <pc:docMk/>
      </pc:docMkLst>
      <pc:sldChg chg="del">
        <pc:chgData name="744311194@qq.com" userId="e2a28223f2085f4b" providerId="LiveId" clId="{93EAE7B5-FDEE-48D0-B65C-03455E3B8632}" dt="2026-04-02T13:27:05.295" v="6" actId="47"/>
        <pc:sldMkLst>
          <pc:docMk/>
          <pc:sldMk cId="3685632642" sldId="442"/>
        </pc:sldMkLst>
      </pc:sldChg>
      <pc:sldChg chg="del">
        <pc:chgData name="744311194@qq.com" userId="e2a28223f2085f4b" providerId="LiveId" clId="{93EAE7B5-FDEE-48D0-B65C-03455E3B8632}" dt="2026-04-02T13:27:09.566" v="7" actId="47"/>
        <pc:sldMkLst>
          <pc:docMk/>
          <pc:sldMk cId="994436662" sldId="443"/>
        </pc:sldMkLst>
      </pc:sldChg>
      <pc:sldChg chg="del">
        <pc:chgData name="744311194@qq.com" userId="e2a28223f2085f4b" providerId="LiveId" clId="{93EAE7B5-FDEE-48D0-B65C-03455E3B8632}" dt="2026-04-02T13:27:11.108" v="8" actId="47"/>
        <pc:sldMkLst>
          <pc:docMk/>
          <pc:sldMk cId="1570031256" sldId="44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676A4C9-C1DC-465A-944B-7C50805B0B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39A52E-7501-44B8-A3A7-1516D6D265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30BC2-F86A-42C0-8A80-84DBB0255044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6BD8F0-9D4E-47EE-86F0-A40EAEF9C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A70BE2-7855-41A8-B606-2F9DF3FA0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FB91C-8383-4E9F-96C0-D9618EADB2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442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7446B-2894-449C-92CD-CB8A7EEE00B4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4DD7C-FBF0-44C0-A1F7-EB98AA47B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4E569D-EDD6-4BC5-AFEC-DD57613D915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640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004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158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04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954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80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865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291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525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33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820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886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109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2172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209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769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76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96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997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9393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366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2067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219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142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3462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0753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4DD7C-FBF0-44C0-A1F7-EB98AA47B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305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>
            <a:extLst>
              <a:ext uri="{FF2B5EF4-FFF2-40B4-BE49-F238E27FC236}">
                <a16:creationId xmlns:a16="http://schemas.microsoft.com/office/drawing/2014/main" id="{B69D3C12-69C4-4A3C-8A16-E380AFBB70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D66FF192-87A1-4842-AED9-B944F1200217}"/>
              </a:ext>
            </a:extLst>
          </p:cNvPr>
          <p:cNvSpPr/>
          <p:nvPr userDrawn="1"/>
        </p:nvSpPr>
        <p:spPr>
          <a:xfrm>
            <a:off x="0" y="1736723"/>
            <a:ext cx="12192000" cy="3384552"/>
          </a:xfrm>
          <a:custGeom>
            <a:avLst/>
            <a:gdLst>
              <a:gd name="connsiteX0" fmla="*/ 0 w 12192000"/>
              <a:gd name="connsiteY0" fmla="*/ 0 h 3384552"/>
              <a:gd name="connsiteX1" fmla="*/ 5221304 w 12192000"/>
              <a:gd name="connsiteY1" fmla="*/ 0 h 3384552"/>
              <a:gd name="connsiteX2" fmla="*/ 5237005 w 12192000"/>
              <a:gd name="connsiteY2" fmla="*/ 155754 h 3384552"/>
              <a:gd name="connsiteX3" fmla="*/ 6096000 w 12192000"/>
              <a:gd name="connsiteY3" fmla="*/ 855855 h 3384552"/>
              <a:gd name="connsiteX4" fmla="*/ 6954996 w 12192000"/>
              <a:gd name="connsiteY4" fmla="*/ 155754 h 3384552"/>
              <a:gd name="connsiteX5" fmla="*/ 6970697 w 12192000"/>
              <a:gd name="connsiteY5" fmla="*/ 0 h 3384552"/>
              <a:gd name="connsiteX6" fmla="*/ 12192000 w 12192000"/>
              <a:gd name="connsiteY6" fmla="*/ 0 h 3384552"/>
              <a:gd name="connsiteX7" fmla="*/ 12192000 w 12192000"/>
              <a:gd name="connsiteY7" fmla="*/ 3384552 h 3384552"/>
              <a:gd name="connsiteX8" fmla="*/ 0 w 12192000"/>
              <a:gd name="connsiteY8" fmla="*/ 3384552 h 3384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384552">
                <a:moveTo>
                  <a:pt x="0" y="0"/>
                </a:moveTo>
                <a:lnTo>
                  <a:pt x="5221304" y="0"/>
                </a:lnTo>
                <a:lnTo>
                  <a:pt x="5237005" y="155754"/>
                </a:lnTo>
                <a:cubicBezTo>
                  <a:pt x="5318764" y="555301"/>
                  <a:pt x="5672283" y="855855"/>
                  <a:pt x="6096000" y="855855"/>
                </a:cubicBezTo>
                <a:cubicBezTo>
                  <a:pt x="6519717" y="855855"/>
                  <a:pt x="6873236" y="555301"/>
                  <a:pt x="6954996" y="155754"/>
                </a:cubicBezTo>
                <a:lnTo>
                  <a:pt x="6970697" y="0"/>
                </a:lnTo>
                <a:lnTo>
                  <a:pt x="12192000" y="0"/>
                </a:lnTo>
                <a:lnTo>
                  <a:pt x="12192000" y="3384552"/>
                </a:lnTo>
                <a:lnTo>
                  <a:pt x="0" y="3384552"/>
                </a:lnTo>
                <a:close/>
              </a:path>
            </a:pathLst>
          </a:custGeom>
          <a:solidFill>
            <a:srgbClr val="9926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4" name="矩形 103">
            <a:extLst>
              <a:ext uri="{FF2B5EF4-FFF2-40B4-BE49-F238E27FC236}">
                <a16:creationId xmlns:a16="http://schemas.microsoft.com/office/drawing/2014/main" id="{25E46E35-8EC9-4AC4-909B-B1F3BC63089E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 useBgFill="1">
        <p:nvSpPr>
          <p:cNvPr id="106" name="矩形 105">
            <a:extLst>
              <a:ext uri="{FF2B5EF4-FFF2-40B4-BE49-F238E27FC236}">
                <a16:creationId xmlns:a16="http://schemas.microsoft.com/office/drawing/2014/main" id="{D87BC45E-E4CF-4749-91B0-AB004E8258BC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F6385A17-6A4B-4926-AD6D-2A09F5402B58}"/>
              </a:ext>
            </a:extLst>
          </p:cNvPr>
          <p:cNvSpPr/>
          <p:nvPr userDrawn="1"/>
        </p:nvSpPr>
        <p:spPr>
          <a:xfrm>
            <a:off x="11649241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BC598F6-7EB1-4C8F-9F87-5CA9A5CECDC1}"/>
              </a:ext>
            </a:extLst>
          </p:cNvPr>
          <p:cNvSpPr/>
          <p:nvPr userDrawn="1"/>
        </p:nvSpPr>
        <p:spPr>
          <a:xfrm>
            <a:off x="423387" y="1736724"/>
            <a:ext cx="164788" cy="338455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14" name="标题 112">
            <a:extLst>
              <a:ext uri="{FF2B5EF4-FFF2-40B4-BE49-F238E27FC236}">
                <a16:creationId xmlns:a16="http://schemas.microsoft.com/office/drawing/2014/main" id="{FA5E98B8-A581-470E-A5D3-7587EC891C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1094" y="2795268"/>
            <a:ext cx="10335228" cy="663712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pPr algn="ctr"/>
            <a:r>
              <a:rPr lang="zh-CN" altLang="en-US" sz="4000" b="1" spc="600" dirty="0">
                <a:solidFill>
                  <a:schemeClr val="bg1"/>
                </a:solidFill>
                <a:cs typeface="+mn-ea"/>
                <a:sym typeface="+mn-lt"/>
              </a:rPr>
              <a:t>南京理工大学通用模板</a:t>
            </a:r>
          </a:p>
        </p:txBody>
      </p:sp>
      <p:grpSp>
        <p:nvGrpSpPr>
          <p:cNvPr id="12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526AE39-2E3F-40FB-8FE9-81FA86968FA7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13" name="iśļîḋè">
              <a:extLst>
                <a:ext uri="{FF2B5EF4-FFF2-40B4-BE49-F238E27FC236}">
                  <a16:creationId xmlns:a16="http://schemas.microsoft.com/office/drawing/2014/main" id="{E319FA1B-0C38-4F2B-912C-F12A100B6C5A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" name="iṣliḓê">
              <a:extLst>
                <a:ext uri="{FF2B5EF4-FFF2-40B4-BE49-F238E27FC236}">
                  <a16:creationId xmlns:a16="http://schemas.microsoft.com/office/drawing/2014/main" id="{DE80505B-DFEF-450A-8CDF-C6F5A71E4535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íṡľiḍê">
              <a:extLst>
                <a:ext uri="{FF2B5EF4-FFF2-40B4-BE49-F238E27FC236}">
                  <a16:creationId xmlns:a16="http://schemas.microsoft.com/office/drawing/2014/main" id="{C20C8E40-C556-48DD-B051-8D0895E54928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íšlîde">
              <a:extLst>
                <a:ext uri="{FF2B5EF4-FFF2-40B4-BE49-F238E27FC236}">
                  <a16:creationId xmlns:a16="http://schemas.microsoft.com/office/drawing/2014/main" id="{F86CB2C8-4A5E-4335-8F23-920FECFA35A3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7" name="îṡḷíḋé">
              <a:extLst>
                <a:ext uri="{FF2B5EF4-FFF2-40B4-BE49-F238E27FC236}">
                  <a16:creationId xmlns:a16="http://schemas.microsoft.com/office/drawing/2014/main" id="{3B3DDF79-0981-40C2-8430-556067EB1B2B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8" name="îsḻiḓe">
              <a:extLst>
                <a:ext uri="{FF2B5EF4-FFF2-40B4-BE49-F238E27FC236}">
                  <a16:creationId xmlns:a16="http://schemas.microsoft.com/office/drawing/2014/main" id="{15EC583D-F454-48BD-ACC1-7AD76D7542C9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î$ļïdè">
              <a:extLst>
                <a:ext uri="{FF2B5EF4-FFF2-40B4-BE49-F238E27FC236}">
                  <a16:creationId xmlns:a16="http://schemas.microsoft.com/office/drawing/2014/main" id="{C5F3B41E-58B0-4D77-9C1A-19EAEB79FC87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0" name="îṧḷíḓê">
              <a:extLst>
                <a:ext uri="{FF2B5EF4-FFF2-40B4-BE49-F238E27FC236}">
                  <a16:creationId xmlns:a16="http://schemas.microsoft.com/office/drawing/2014/main" id="{8660D663-638B-4454-ADEC-E599B04271E0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íṩ1iḑê">
              <a:extLst>
                <a:ext uri="{FF2B5EF4-FFF2-40B4-BE49-F238E27FC236}">
                  <a16:creationId xmlns:a16="http://schemas.microsoft.com/office/drawing/2014/main" id="{C4F58A77-602E-42E6-B434-E28BA349C900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îṥlîdê">
              <a:extLst>
                <a:ext uri="{FF2B5EF4-FFF2-40B4-BE49-F238E27FC236}">
                  <a16:creationId xmlns:a16="http://schemas.microsoft.com/office/drawing/2014/main" id="{FD136A19-7EE5-4B90-924F-86F8D9CB6273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îṧľîḑé">
              <a:extLst>
                <a:ext uri="{FF2B5EF4-FFF2-40B4-BE49-F238E27FC236}">
                  <a16:creationId xmlns:a16="http://schemas.microsoft.com/office/drawing/2014/main" id="{A30F0F74-58BE-4D89-9B58-BD559FD9308D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ï$ļíḑe">
              <a:extLst>
                <a:ext uri="{FF2B5EF4-FFF2-40B4-BE49-F238E27FC236}">
                  <a16:creationId xmlns:a16="http://schemas.microsoft.com/office/drawing/2014/main" id="{6935024F-262A-4687-B02D-6D00B549D838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iṩḷïde">
              <a:extLst>
                <a:ext uri="{FF2B5EF4-FFF2-40B4-BE49-F238E27FC236}">
                  <a16:creationId xmlns:a16="http://schemas.microsoft.com/office/drawing/2014/main" id="{346C9603-64BA-4063-9B4B-223EF14DB1AC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6" name="í$ḷïďê">
              <a:extLst>
                <a:ext uri="{FF2B5EF4-FFF2-40B4-BE49-F238E27FC236}">
                  <a16:creationId xmlns:a16="http://schemas.microsoft.com/office/drawing/2014/main" id="{BD46C2D7-4619-4C8B-890B-3F1204738D68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îśľïḑe">
              <a:extLst>
                <a:ext uri="{FF2B5EF4-FFF2-40B4-BE49-F238E27FC236}">
                  <a16:creationId xmlns:a16="http://schemas.microsoft.com/office/drawing/2014/main" id="{10C2247F-0370-4422-95E6-1554E47E1CA5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ïSlîḍè">
              <a:extLst>
                <a:ext uri="{FF2B5EF4-FFF2-40B4-BE49-F238E27FC236}">
                  <a16:creationId xmlns:a16="http://schemas.microsoft.com/office/drawing/2014/main" id="{D0B379BE-B15A-4713-B8D9-B3226AB3C063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işliḍé">
              <a:extLst>
                <a:ext uri="{FF2B5EF4-FFF2-40B4-BE49-F238E27FC236}">
                  <a16:creationId xmlns:a16="http://schemas.microsoft.com/office/drawing/2014/main" id="{8C4FE83E-416D-48A6-BBCF-6B960E38CB8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ísḻïde">
              <a:extLst>
                <a:ext uri="{FF2B5EF4-FFF2-40B4-BE49-F238E27FC236}">
                  <a16:creationId xmlns:a16="http://schemas.microsoft.com/office/drawing/2014/main" id="{2734F4EE-C3A2-4E41-845D-400A6F2812C3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iŝļiḋê">
              <a:extLst>
                <a:ext uri="{FF2B5EF4-FFF2-40B4-BE49-F238E27FC236}">
                  <a16:creationId xmlns:a16="http://schemas.microsoft.com/office/drawing/2014/main" id="{6264C823-B6B6-46A8-A230-B1FE3CB54C72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iṧḷîdè">
              <a:extLst>
                <a:ext uri="{FF2B5EF4-FFF2-40B4-BE49-F238E27FC236}">
                  <a16:creationId xmlns:a16="http://schemas.microsoft.com/office/drawing/2014/main" id="{2F4ED27C-54FA-434A-ACA1-57534125683E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isļíḍè">
              <a:extLst>
                <a:ext uri="{FF2B5EF4-FFF2-40B4-BE49-F238E27FC236}">
                  <a16:creationId xmlns:a16="http://schemas.microsoft.com/office/drawing/2014/main" id="{EFE13A69-5E04-4822-8628-83BABE47595F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ïṡ1íḓe">
              <a:extLst>
                <a:ext uri="{FF2B5EF4-FFF2-40B4-BE49-F238E27FC236}">
                  <a16:creationId xmlns:a16="http://schemas.microsoft.com/office/drawing/2014/main" id="{A9324D63-B67E-44D7-AE8B-74BA73907C2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isḷiḑê">
              <a:extLst>
                <a:ext uri="{FF2B5EF4-FFF2-40B4-BE49-F238E27FC236}">
                  <a16:creationId xmlns:a16="http://schemas.microsoft.com/office/drawing/2014/main" id="{98CDD5EA-5A89-4A80-82C6-47F4FFDD6421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ïṥlíḓê">
              <a:extLst>
                <a:ext uri="{FF2B5EF4-FFF2-40B4-BE49-F238E27FC236}">
                  <a16:creationId xmlns:a16="http://schemas.microsoft.com/office/drawing/2014/main" id="{C4D79308-07D4-4619-AD52-15E2DB368814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îṧḷíḍé">
              <a:extLst>
                <a:ext uri="{FF2B5EF4-FFF2-40B4-BE49-F238E27FC236}">
                  <a16:creationId xmlns:a16="http://schemas.microsoft.com/office/drawing/2014/main" id="{3CD0E4FF-8ACD-4ADC-8A90-F400193F5867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îṩḻïďè">
              <a:extLst>
                <a:ext uri="{FF2B5EF4-FFF2-40B4-BE49-F238E27FC236}">
                  <a16:creationId xmlns:a16="http://schemas.microsoft.com/office/drawing/2014/main" id="{2239A582-C160-4F8A-9171-28ED5B53FF01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ïşļídé">
              <a:extLst>
                <a:ext uri="{FF2B5EF4-FFF2-40B4-BE49-F238E27FC236}">
                  <a16:creationId xmlns:a16="http://schemas.microsoft.com/office/drawing/2014/main" id="{F9E1A4AC-4845-4AC7-ABB5-B3608AC39082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iṧḻíďe">
              <a:extLst>
                <a:ext uri="{FF2B5EF4-FFF2-40B4-BE49-F238E27FC236}">
                  <a16:creationId xmlns:a16="http://schemas.microsoft.com/office/drawing/2014/main" id="{E16CEF24-85BF-4C1F-BDFE-30D782A5318E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ïSlïḓé">
              <a:extLst>
                <a:ext uri="{FF2B5EF4-FFF2-40B4-BE49-F238E27FC236}">
                  <a16:creationId xmlns:a16="http://schemas.microsoft.com/office/drawing/2014/main" id="{E5A1E6C7-56F5-4158-ACE3-D66BC5887352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išľîḑé">
              <a:extLst>
                <a:ext uri="{FF2B5EF4-FFF2-40B4-BE49-F238E27FC236}">
                  <a16:creationId xmlns:a16="http://schemas.microsoft.com/office/drawing/2014/main" id="{4CC0C176-791F-4AAA-A774-C8766B49EDCC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îṥḻîďè">
              <a:extLst>
                <a:ext uri="{FF2B5EF4-FFF2-40B4-BE49-F238E27FC236}">
                  <a16:creationId xmlns:a16="http://schemas.microsoft.com/office/drawing/2014/main" id="{B151BD1B-C67D-4E09-B86B-2EAF8414BA0A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i$líḋé">
              <a:extLst>
                <a:ext uri="{FF2B5EF4-FFF2-40B4-BE49-F238E27FC236}">
                  <a16:creationId xmlns:a16="http://schemas.microsoft.com/office/drawing/2014/main" id="{2D3B3C12-275E-43C0-A5C8-A633229C41EC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iṡľîḋê">
              <a:extLst>
                <a:ext uri="{FF2B5EF4-FFF2-40B4-BE49-F238E27FC236}">
                  <a16:creationId xmlns:a16="http://schemas.microsoft.com/office/drawing/2014/main" id="{FB9F5C41-17F3-4C0A-88AB-97565D7D7635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ïśḷîḍè">
              <a:extLst>
                <a:ext uri="{FF2B5EF4-FFF2-40B4-BE49-F238E27FC236}">
                  <a16:creationId xmlns:a16="http://schemas.microsoft.com/office/drawing/2014/main" id="{8736062F-8ED9-4E47-8C83-E31E42F7AB43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íṣļíḓe">
              <a:extLst>
                <a:ext uri="{FF2B5EF4-FFF2-40B4-BE49-F238E27FC236}">
                  <a16:creationId xmlns:a16="http://schemas.microsoft.com/office/drawing/2014/main" id="{B42652D7-331D-4417-B73B-609D37FACE55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ïslïḓé">
              <a:extLst>
                <a:ext uri="{FF2B5EF4-FFF2-40B4-BE49-F238E27FC236}">
                  <a16:creationId xmlns:a16="http://schemas.microsoft.com/office/drawing/2014/main" id="{6C03B68B-1B98-4918-8B5C-6515C7D2FD60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ïṣḻîḋé">
              <a:extLst>
                <a:ext uri="{FF2B5EF4-FFF2-40B4-BE49-F238E27FC236}">
                  <a16:creationId xmlns:a16="http://schemas.microsoft.com/office/drawing/2014/main" id="{72C420A4-1005-42BD-B7EB-24F9D62D1176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ïṥḷîḓè">
              <a:extLst>
                <a:ext uri="{FF2B5EF4-FFF2-40B4-BE49-F238E27FC236}">
                  <a16:creationId xmlns:a16="http://schemas.microsoft.com/office/drawing/2014/main" id="{C49A975A-0601-4D0E-B007-975850AD38F5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iṥḷíďè">
              <a:extLst>
                <a:ext uri="{FF2B5EF4-FFF2-40B4-BE49-F238E27FC236}">
                  <a16:creationId xmlns:a16="http://schemas.microsoft.com/office/drawing/2014/main" id="{0F1BB791-2CD7-434B-A26F-9D2FFB665FA5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ïş1ídè">
              <a:extLst>
                <a:ext uri="{FF2B5EF4-FFF2-40B4-BE49-F238E27FC236}">
                  <a16:creationId xmlns:a16="http://schemas.microsoft.com/office/drawing/2014/main" id="{48B83BF4-5AD5-49C1-8B23-483DF141A4AB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îŝļiḑe">
              <a:extLst>
                <a:ext uri="{FF2B5EF4-FFF2-40B4-BE49-F238E27FC236}">
                  <a16:creationId xmlns:a16="http://schemas.microsoft.com/office/drawing/2014/main" id="{7E5E3951-36BA-4D12-B1D5-8DCAF37AB3C4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í$ļïḓé">
              <a:extLst>
                <a:ext uri="{FF2B5EF4-FFF2-40B4-BE49-F238E27FC236}">
                  <a16:creationId xmlns:a16="http://schemas.microsoft.com/office/drawing/2014/main" id="{0BD07E8F-B8EA-4F79-B49A-F822350EE240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i$1iďê">
              <a:extLst>
                <a:ext uri="{FF2B5EF4-FFF2-40B4-BE49-F238E27FC236}">
                  <a16:creationId xmlns:a16="http://schemas.microsoft.com/office/drawing/2014/main" id="{FECC6020-AB3A-4030-8F98-F466C809E30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îšḷiḍe">
              <a:extLst>
                <a:ext uri="{FF2B5EF4-FFF2-40B4-BE49-F238E27FC236}">
                  <a16:creationId xmlns:a16="http://schemas.microsoft.com/office/drawing/2014/main" id="{8D194721-99D8-4023-B41A-9D6FBB0FEC61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íṥlïdê">
              <a:extLst>
                <a:ext uri="{FF2B5EF4-FFF2-40B4-BE49-F238E27FC236}">
                  <a16:creationId xmlns:a16="http://schemas.microsoft.com/office/drawing/2014/main" id="{759E86FF-B267-4212-9D1A-F4FCB768A31D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íśľîďé">
              <a:extLst>
                <a:ext uri="{FF2B5EF4-FFF2-40B4-BE49-F238E27FC236}">
                  <a16:creationId xmlns:a16="http://schemas.microsoft.com/office/drawing/2014/main" id="{19BB9352-C274-4197-BE2C-B4377239425B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iŝḻîdé">
              <a:extLst>
                <a:ext uri="{FF2B5EF4-FFF2-40B4-BE49-F238E27FC236}">
                  <a16:creationId xmlns:a16="http://schemas.microsoft.com/office/drawing/2014/main" id="{49F4EDB6-A957-429D-848C-6DD59080B28C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ïsḷiḍé">
              <a:extLst>
                <a:ext uri="{FF2B5EF4-FFF2-40B4-BE49-F238E27FC236}">
                  <a16:creationId xmlns:a16="http://schemas.microsoft.com/office/drawing/2014/main" id="{DD4C49D8-B857-45EF-A5FF-A5F188B45A19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íṧ1iďè">
              <a:extLst>
                <a:ext uri="{FF2B5EF4-FFF2-40B4-BE49-F238E27FC236}">
                  <a16:creationId xmlns:a16="http://schemas.microsoft.com/office/drawing/2014/main" id="{05572607-00FA-465E-BB4A-8D950F05E24B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îṩľíḓe">
              <a:extLst>
                <a:ext uri="{FF2B5EF4-FFF2-40B4-BE49-F238E27FC236}">
                  <a16:creationId xmlns:a16="http://schemas.microsoft.com/office/drawing/2014/main" id="{73F97950-F65B-44CE-8526-0ABA350DC161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ïṡ1ïḑé">
              <a:extLst>
                <a:ext uri="{FF2B5EF4-FFF2-40B4-BE49-F238E27FC236}">
                  <a16:creationId xmlns:a16="http://schemas.microsoft.com/office/drawing/2014/main" id="{620F7DEE-055C-4437-9C79-5A0B17B05BEC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iṡlíďe">
              <a:extLst>
                <a:ext uri="{FF2B5EF4-FFF2-40B4-BE49-F238E27FC236}">
                  <a16:creationId xmlns:a16="http://schemas.microsoft.com/office/drawing/2014/main" id="{209CD8D5-C519-4D16-B813-42F322757C2E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ïšḷiḍè">
              <a:extLst>
                <a:ext uri="{FF2B5EF4-FFF2-40B4-BE49-F238E27FC236}">
                  <a16:creationId xmlns:a16="http://schemas.microsoft.com/office/drawing/2014/main" id="{86C4D568-D623-4128-8CD4-518A40978BE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í$1îḓè">
              <a:extLst>
                <a:ext uri="{FF2B5EF4-FFF2-40B4-BE49-F238E27FC236}">
                  <a16:creationId xmlns:a16="http://schemas.microsoft.com/office/drawing/2014/main" id="{A748391C-61C8-47D3-BD94-B8D19822BB01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î$ľidé">
              <a:extLst>
                <a:ext uri="{FF2B5EF4-FFF2-40B4-BE49-F238E27FC236}">
                  <a16:creationId xmlns:a16="http://schemas.microsoft.com/office/drawing/2014/main" id="{1D6EE668-B625-479D-AD75-8A4B4B5EE70F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išḻïďê">
              <a:extLst>
                <a:ext uri="{FF2B5EF4-FFF2-40B4-BE49-F238E27FC236}">
                  <a16:creationId xmlns:a16="http://schemas.microsoft.com/office/drawing/2014/main" id="{61FA7743-226A-48B6-A9FC-0DBD091E240F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îSļíďê">
              <a:extLst>
                <a:ext uri="{FF2B5EF4-FFF2-40B4-BE49-F238E27FC236}">
                  <a16:creationId xmlns:a16="http://schemas.microsoft.com/office/drawing/2014/main" id="{379B63A7-CC83-4479-AFF6-C64C041A0341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íṧḻiḋe">
              <a:extLst>
                <a:ext uri="{FF2B5EF4-FFF2-40B4-BE49-F238E27FC236}">
                  <a16:creationId xmlns:a16="http://schemas.microsoft.com/office/drawing/2014/main" id="{AD0B9A7B-F4F7-4286-AB2C-3BFB9F050BF0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îṡ1iďé">
              <a:extLst>
                <a:ext uri="{FF2B5EF4-FFF2-40B4-BE49-F238E27FC236}">
                  <a16:creationId xmlns:a16="http://schemas.microsoft.com/office/drawing/2014/main" id="{988627DB-6011-4D06-BA37-769B520D0C23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ï$ḷïdè">
              <a:extLst>
                <a:ext uri="{FF2B5EF4-FFF2-40B4-BE49-F238E27FC236}">
                  <a16:creationId xmlns:a16="http://schemas.microsoft.com/office/drawing/2014/main" id="{B38589FE-DA96-4EB9-816B-A381CB0BA409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işlîḋê">
              <a:extLst>
                <a:ext uri="{FF2B5EF4-FFF2-40B4-BE49-F238E27FC236}">
                  <a16:creationId xmlns:a16="http://schemas.microsoft.com/office/drawing/2014/main" id="{878804B2-A9D2-4E01-9E58-D70093452395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işḻïḑè">
              <a:extLst>
                <a:ext uri="{FF2B5EF4-FFF2-40B4-BE49-F238E27FC236}">
                  <a16:creationId xmlns:a16="http://schemas.microsoft.com/office/drawing/2014/main" id="{F847D0F7-919C-4C25-9B95-81CB0FCAAF40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ïslidê">
              <a:extLst>
                <a:ext uri="{FF2B5EF4-FFF2-40B4-BE49-F238E27FC236}">
                  <a16:creationId xmlns:a16="http://schemas.microsoft.com/office/drawing/2014/main" id="{503638E4-956F-413B-8897-CDD99FD4CC94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íṣḻíḑê">
              <a:extLst>
                <a:ext uri="{FF2B5EF4-FFF2-40B4-BE49-F238E27FC236}">
                  <a16:creationId xmlns:a16="http://schemas.microsoft.com/office/drawing/2014/main" id="{19CF597C-244F-424C-9FE6-DC0D499125CC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ísḻídé">
              <a:extLst>
                <a:ext uri="{FF2B5EF4-FFF2-40B4-BE49-F238E27FC236}">
                  <a16:creationId xmlns:a16="http://schemas.microsoft.com/office/drawing/2014/main" id="{3531395D-DC56-4B48-A95A-C6F235EB63C3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iṧḻide">
              <a:extLst>
                <a:ext uri="{FF2B5EF4-FFF2-40B4-BE49-F238E27FC236}">
                  <a16:creationId xmlns:a16="http://schemas.microsoft.com/office/drawing/2014/main" id="{D6FFC8CF-B749-4860-8C57-8044FF6CB902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ṧļïďe">
              <a:extLst>
                <a:ext uri="{FF2B5EF4-FFF2-40B4-BE49-F238E27FC236}">
                  <a16:creationId xmlns:a16="http://schemas.microsoft.com/office/drawing/2014/main" id="{C6DC6093-03D5-41D4-B44F-C6937E73421F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iṣḷîḋê">
              <a:extLst>
                <a:ext uri="{FF2B5EF4-FFF2-40B4-BE49-F238E27FC236}">
                  <a16:creationId xmlns:a16="http://schemas.microsoft.com/office/drawing/2014/main" id="{CB0B0BE1-8904-4524-8ABC-AC84947369D9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ŝ1ïḍè">
              <a:extLst>
                <a:ext uri="{FF2B5EF4-FFF2-40B4-BE49-F238E27FC236}">
                  <a16:creationId xmlns:a16="http://schemas.microsoft.com/office/drawing/2014/main" id="{E412D4CE-8DE9-4DA7-A71B-17F4B17520A5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íŝlîḋe">
              <a:extLst>
                <a:ext uri="{FF2B5EF4-FFF2-40B4-BE49-F238E27FC236}">
                  <a16:creationId xmlns:a16="http://schemas.microsoft.com/office/drawing/2014/main" id="{65E1FD7A-9EE4-4B21-9213-32BFD3B5078A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iŝḻiďê">
              <a:extLst>
                <a:ext uri="{FF2B5EF4-FFF2-40B4-BE49-F238E27FC236}">
                  <a16:creationId xmlns:a16="http://schemas.microsoft.com/office/drawing/2014/main" id="{90144B1D-D4D0-4353-8E41-46F225878C50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îṥḻiḍè">
              <a:extLst>
                <a:ext uri="{FF2B5EF4-FFF2-40B4-BE49-F238E27FC236}">
                  <a16:creationId xmlns:a16="http://schemas.microsoft.com/office/drawing/2014/main" id="{F95A83D0-CCDD-495A-8CF8-CF7515804C0F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ṩḷîḋe">
              <a:extLst>
                <a:ext uri="{FF2B5EF4-FFF2-40B4-BE49-F238E27FC236}">
                  <a16:creationId xmlns:a16="http://schemas.microsoft.com/office/drawing/2014/main" id="{AF9B4090-3A08-4022-B3EA-A0413D774DDC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ṧḻiḋè">
              <a:extLst>
                <a:ext uri="{FF2B5EF4-FFF2-40B4-BE49-F238E27FC236}">
                  <a16:creationId xmlns:a16="http://schemas.microsoft.com/office/drawing/2014/main" id="{AE56AC39-9C0A-4C0E-99D8-4FCF4D2796E3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î$ľíḓè">
              <a:extLst>
                <a:ext uri="{FF2B5EF4-FFF2-40B4-BE49-F238E27FC236}">
                  <a16:creationId xmlns:a16="http://schemas.microsoft.com/office/drawing/2014/main" id="{276D8587-62A4-44EA-9409-8024F50389B0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ïsľíďe">
              <a:extLst>
                <a:ext uri="{FF2B5EF4-FFF2-40B4-BE49-F238E27FC236}">
                  <a16:creationId xmlns:a16="http://schemas.microsoft.com/office/drawing/2014/main" id="{8500F066-253C-470D-BFC1-09C0232B6EA1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íšḷïdé">
              <a:extLst>
                <a:ext uri="{FF2B5EF4-FFF2-40B4-BE49-F238E27FC236}">
                  <a16:creationId xmlns:a16="http://schemas.microsoft.com/office/drawing/2014/main" id="{7527FBD6-2C24-4137-87E9-2F6F1FAB10BB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ïslîḍê">
              <a:extLst>
                <a:ext uri="{FF2B5EF4-FFF2-40B4-BE49-F238E27FC236}">
                  <a16:creationId xmlns:a16="http://schemas.microsoft.com/office/drawing/2014/main" id="{D7BBB215-B34A-4A30-A6AC-196DFAFD3867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îŝľíḍè">
              <a:extLst>
                <a:ext uri="{FF2B5EF4-FFF2-40B4-BE49-F238E27FC236}">
                  <a16:creationId xmlns:a16="http://schemas.microsoft.com/office/drawing/2014/main" id="{452B0065-201F-4273-882D-B2D36A18C7FF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íşľîḑé">
              <a:extLst>
                <a:ext uri="{FF2B5EF4-FFF2-40B4-BE49-F238E27FC236}">
                  <a16:creationId xmlns:a16="http://schemas.microsoft.com/office/drawing/2014/main" id="{E43A8A5C-F71A-49C7-9D4E-4A751906EC00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íSḷîḍè">
              <a:extLst>
                <a:ext uri="{FF2B5EF4-FFF2-40B4-BE49-F238E27FC236}">
                  <a16:creationId xmlns:a16="http://schemas.microsoft.com/office/drawing/2014/main" id="{E8E78389-29D9-4D4D-AF21-98D5067E300E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îḍè">
              <a:extLst>
                <a:ext uri="{FF2B5EF4-FFF2-40B4-BE49-F238E27FC236}">
                  <a16:creationId xmlns:a16="http://schemas.microsoft.com/office/drawing/2014/main" id="{5BD4A37E-D02A-4B6B-9DE8-3018FCF0A92F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ísḷiḋe">
              <a:extLst>
                <a:ext uri="{FF2B5EF4-FFF2-40B4-BE49-F238E27FC236}">
                  <a16:creationId xmlns:a16="http://schemas.microsoft.com/office/drawing/2014/main" id="{45A14514-6E83-4177-A9E9-D91CC0EC28AA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išḷîḓe">
              <a:extLst>
                <a:ext uri="{FF2B5EF4-FFF2-40B4-BE49-F238E27FC236}">
                  <a16:creationId xmlns:a16="http://schemas.microsoft.com/office/drawing/2014/main" id="{CC275142-586F-4ABF-9865-91A15A69B99F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ïṩļidê">
              <a:extLst>
                <a:ext uri="{FF2B5EF4-FFF2-40B4-BE49-F238E27FC236}">
                  <a16:creationId xmlns:a16="http://schemas.microsoft.com/office/drawing/2014/main" id="{CB1EB223-3268-49E3-9009-8FB4F6B1C0A1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ṧliḑe">
              <a:extLst>
                <a:ext uri="{FF2B5EF4-FFF2-40B4-BE49-F238E27FC236}">
                  <a16:creationId xmlns:a16="http://schemas.microsoft.com/office/drawing/2014/main" id="{78D8483C-51F5-41B6-B92D-284D1FA2DA29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ïśḷïḓè">
              <a:extLst>
                <a:ext uri="{FF2B5EF4-FFF2-40B4-BE49-F238E27FC236}">
                  <a16:creationId xmlns:a16="http://schemas.microsoft.com/office/drawing/2014/main" id="{D0FAE020-E0E9-4A13-882F-6164298F229C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ísliďè">
              <a:extLst>
                <a:ext uri="{FF2B5EF4-FFF2-40B4-BE49-F238E27FC236}">
                  <a16:creationId xmlns:a16="http://schemas.microsoft.com/office/drawing/2014/main" id="{2C4C12CE-7C7F-4659-8EA0-5AA1523635DE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sḷíḍé">
              <a:extLst>
                <a:ext uri="{FF2B5EF4-FFF2-40B4-BE49-F238E27FC236}">
                  <a16:creationId xmlns:a16="http://schemas.microsoft.com/office/drawing/2014/main" id="{0A008D82-9A5C-4C7F-92E1-205C76002CEF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šlîḑê">
              <a:extLst>
                <a:ext uri="{FF2B5EF4-FFF2-40B4-BE49-F238E27FC236}">
                  <a16:creationId xmlns:a16="http://schemas.microsoft.com/office/drawing/2014/main" id="{8E54FE52-7C25-4436-8F28-FD1A9CD43B85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îṧḻîḓé">
              <a:extLst>
                <a:ext uri="{FF2B5EF4-FFF2-40B4-BE49-F238E27FC236}">
                  <a16:creationId xmlns:a16="http://schemas.microsoft.com/office/drawing/2014/main" id="{60871A67-9948-40EE-B00E-92FEBAB9C33F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iśļîḋê">
              <a:extLst>
                <a:ext uri="{FF2B5EF4-FFF2-40B4-BE49-F238E27FC236}">
                  <a16:creationId xmlns:a16="http://schemas.microsoft.com/office/drawing/2014/main" id="{0E5B1037-4321-4789-84B3-A4DE23D0003A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72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排版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732D65A4-43FB-4FF1-898F-C29DCB1992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678" y="368300"/>
            <a:ext cx="1885510" cy="434293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DFC62F6-2DFD-4084-AA3E-9A3FFEB2FD9A}"/>
              </a:ext>
            </a:extLst>
          </p:cNvPr>
          <p:cNvCxnSpPr/>
          <p:nvPr userDrawn="1"/>
        </p:nvCxnSpPr>
        <p:spPr>
          <a:xfrm>
            <a:off x="485775" y="858762"/>
            <a:ext cx="11220450" cy="0"/>
          </a:xfrm>
          <a:prstGeom prst="line">
            <a:avLst/>
          </a:prstGeom>
          <a:ln w="38100">
            <a:solidFill>
              <a:srgbClr val="9926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2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5788F9-2C1B-4ED7-83D6-CE9345B889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797F6D-FA34-49FA-872F-778AAEB988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4B76C6D9-580E-489C-9EA8-3883FABF2BFE}"/>
              </a:ext>
            </a:extLst>
          </p:cNvPr>
          <p:cNvSpPr txBox="1">
            <a:spLocks/>
          </p:cNvSpPr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797F6D-FA34-49FA-872F-778AAEB988F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11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40">
          <p15:clr>
            <a:srgbClr val="F26B43"/>
          </p15:clr>
        </p15:guide>
        <p15:guide id="4" pos="7240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3374AA3-77F8-4684-8EB9-8CEB2DCA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648" y="2778477"/>
            <a:ext cx="7198350" cy="705941"/>
          </a:xfrm>
          <a:prstGeom prst="rect">
            <a:avLst/>
          </a:prstGeom>
        </p:spPr>
        <p:txBody>
          <a:bodyPr/>
          <a:lstStyle/>
          <a:p>
            <a:r>
              <a:rPr lang="zh-CN" altLang="en-US" sz="5400" dirty="0"/>
              <a:t>离散数学</a:t>
            </a:r>
          </a:p>
        </p:txBody>
      </p:sp>
      <p:grpSp>
        <p:nvGrpSpPr>
          <p:cNvPr id="21" name="ab742894-b611-4118-8065-b69e992411d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1E1BD5E-876F-DCEE-3C7D-2ED5C9138BF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326643" y="955675"/>
            <a:ext cx="1538714" cy="1545269"/>
            <a:chOff x="2035175" y="2493963"/>
            <a:chExt cx="1865313" cy="1873250"/>
          </a:xfrm>
        </p:grpSpPr>
        <p:sp>
          <p:nvSpPr>
            <p:cNvPr id="70" name="iśļîḋè">
              <a:extLst>
                <a:ext uri="{FF2B5EF4-FFF2-40B4-BE49-F238E27FC236}">
                  <a16:creationId xmlns:a16="http://schemas.microsoft.com/office/drawing/2014/main" id="{3B4776B5-BB4B-0FC2-C039-8390026A00FF}"/>
                </a:ext>
              </a:extLst>
            </p:cNvPr>
            <p:cNvSpPr/>
            <p:nvPr/>
          </p:nvSpPr>
          <p:spPr bwMode="auto">
            <a:xfrm>
              <a:off x="2927350" y="3657601"/>
              <a:ext cx="14288" cy="22225"/>
            </a:xfrm>
            <a:custGeom>
              <a:avLst/>
              <a:gdLst>
                <a:gd name="T0" fmla="*/ 2 w 4"/>
                <a:gd name="T1" fmla="*/ 0 h 6"/>
                <a:gd name="T2" fmla="*/ 0 w 4"/>
                <a:gd name="T3" fmla="*/ 3 h 6"/>
                <a:gd name="T4" fmla="*/ 2 w 4"/>
                <a:gd name="T5" fmla="*/ 6 h 6"/>
                <a:gd name="T6" fmla="*/ 4 w 4"/>
                <a:gd name="T7" fmla="*/ 5 h 6"/>
                <a:gd name="T8" fmla="*/ 4 w 4"/>
                <a:gd name="T9" fmla="*/ 4 h 6"/>
                <a:gd name="T10" fmla="*/ 2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2" y="6"/>
                  </a:cubicBezTo>
                  <a:cubicBezTo>
                    <a:pt x="3" y="6"/>
                    <a:pt x="4" y="5"/>
                    <a:pt x="4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iṣliḓê">
              <a:extLst>
                <a:ext uri="{FF2B5EF4-FFF2-40B4-BE49-F238E27FC236}">
                  <a16:creationId xmlns:a16="http://schemas.microsoft.com/office/drawing/2014/main" id="{B42DF907-DECD-263E-1B3A-0C655820F95C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703263"/>
            </a:xfrm>
            <a:custGeom>
              <a:avLst/>
              <a:gdLst>
                <a:gd name="T0" fmla="*/ 46 w 144"/>
                <a:gd name="T1" fmla="*/ 167 h 194"/>
                <a:gd name="T2" fmla="*/ 46 w 144"/>
                <a:gd name="T3" fmla="*/ 155 h 194"/>
                <a:gd name="T4" fmla="*/ 42 w 144"/>
                <a:gd name="T5" fmla="*/ 154 h 194"/>
                <a:gd name="T6" fmla="*/ 49 w 144"/>
                <a:gd name="T7" fmla="*/ 152 h 194"/>
                <a:gd name="T8" fmla="*/ 59 w 144"/>
                <a:gd name="T9" fmla="*/ 167 h 194"/>
                <a:gd name="T10" fmla="*/ 61 w 144"/>
                <a:gd name="T11" fmla="*/ 165 h 194"/>
                <a:gd name="T12" fmla="*/ 65 w 144"/>
                <a:gd name="T13" fmla="*/ 161 h 194"/>
                <a:gd name="T14" fmla="*/ 58 w 144"/>
                <a:gd name="T15" fmla="*/ 157 h 194"/>
                <a:gd name="T16" fmla="*/ 69 w 144"/>
                <a:gd name="T17" fmla="*/ 158 h 194"/>
                <a:gd name="T18" fmla="*/ 79 w 144"/>
                <a:gd name="T19" fmla="*/ 167 h 194"/>
                <a:gd name="T20" fmla="*/ 76 w 144"/>
                <a:gd name="T21" fmla="*/ 164 h 194"/>
                <a:gd name="T22" fmla="*/ 82 w 144"/>
                <a:gd name="T23" fmla="*/ 162 h 194"/>
                <a:gd name="T24" fmla="*/ 77 w 144"/>
                <a:gd name="T25" fmla="*/ 160 h 194"/>
                <a:gd name="T26" fmla="*/ 85 w 144"/>
                <a:gd name="T27" fmla="*/ 152 h 194"/>
                <a:gd name="T28" fmla="*/ 80 w 144"/>
                <a:gd name="T29" fmla="*/ 155 h 194"/>
                <a:gd name="T30" fmla="*/ 80 w 144"/>
                <a:gd name="T31" fmla="*/ 157 h 194"/>
                <a:gd name="T32" fmla="*/ 79 w 144"/>
                <a:gd name="T33" fmla="*/ 167 h 194"/>
                <a:gd name="T34" fmla="*/ 92 w 144"/>
                <a:gd name="T35" fmla="*/ 166 h 194"/>
                <a:gd name="T36" fmla="*/ 96 w 144"/>
                <a:gd name="T37" fmla="*/ 165 h 194"/>
                <a:gd name="T38" fmla="*/ 96 w 144"/>
                <a:gd name="T39" fmla="*/ 160 h 194"/>
                <a:gd name="T40" fmla="*/ 95 w 144"/>
                <a:gd name="T41" fmla="*/ 158 h 194"/>
                <a:gd name="T42" fmla="*/ 99 w 144"/>
                <a:gd name="T43" fmla="*/ 156 h 194"/>
                <a:gd name="T44" fmla="*/ 93 w 144"/>
                <a:gd name="T45" fmla="*/ 155 h 194"/>
                <a:gd name="T46" fmla="*/ 97 w 144"/>
                <a:gd name="T47" fmla="*/ 152 h 194"/>
                <a:gd name="T48" fmla="*/ 99 w 144"/>
                <a:gd name="T49" fmla="*/ 159 h 194"/>
                <a:gd name="T50" fmla="*/ 102 w 144"/>
                <a:gd name="T51" fmla="*/ 163 h 194"/>
                <a:gd name="T52" fmla="*/ 139 w 144"/>
                <a:gd name="T53" fmla="*/ 2 h 194"/>
                <a:gd name="T54" fmla="*/ 136 w 144"/>
                <a:gd name="T55" fmla="*/ 132 h 194"/>
                <a:gd name="T56" fmla="*/ 12 w 144"/>
                <a:gd name="T57" fmla="*/ 141 h 194"/>
                <a:gd name="T58" fmla="*/ 6 w 144"/>
                <a:gd name="T59" fmla="*/ 115 h 194"/>
                <a:gd name="T60" fmla="*/ 0 w 144"/>
                <a:gd name="T61" fmla="*/ 0 h 194"/>
                <a:gd name="T62" fmla="*/ 2 w 144"/>
                <a:gd name="T63" fmla="*/ 130 h 194"/>
                <a:gd name="T64" fmla="*/ 6 w 144"/>
                <a:gd name="T65" fmla="*/ 141 h 194"/>
                <a:gd name="T66" fmla="*/ 7 w 144"/>
                <a:gd name="T67" fmla="*/ 144 h 194"/>
                <a:gd name="T68" fmla="*/ 9 w 144"/>
                <a:gd name="T69" fmla="*/ 147 h 194"/>
                <a:gd name="T70" fmla="*/ 11 w 144"/>
                <a:gd name="T71" fmla="*/ 151 h 194"/>
                <a:gd name="T72" fmla="*/ 12 w 144"/>
                <a:gd name="T73" fmla="*/ 154 h 194"/>
                <a:gd name="T74" fmla="*/ 15 w 144"/>
                <a:gd name="T75" fmla="*/ 157 h 194"/>
                <a:gd name="T76" fmla="*/ 17 w 144"/>
                <a:gd name="T77" fmla="*/ 160 h 194"/>
                <a:gd name="T78" fmla="*/ 19 w 144"/>
                <a:gd name="T79" fmla="*/ 163 h 194"/>
                <a:gd name="T80" fmla="*/ 22 w 144"/>
                <a:gd name="T81" fmla="*/ 166 h 194"/>
                <a:gd name="T82" fmla="*/ 123 w 144"/>
                <a:gd name="T83" fmla="*/ 166 h 194"/>
                <a:gd name="T84" fmla="*/ 125 w 144"/>
                <a:gd name="T85" fmla="*/ 163 h 194"/>
                <a:gd name="T86" fmla="*/ 127 w 144"/>
                <a:gd name="T87" fmla="*/ 160 h 194"/>
                <a:gd name="T88" fmla="*/ 130 w 144"/>
                <a:gd name="T89" fmla="*/ 157 h 194"/>
                <a:gd name="T90" fmla="*/ 132 w 144"/>
                <a:gd name="T91" fmla="*/ 154 h 194"/>
                <a:gd name="T92" fmla="*/ 134 w 144"/>
                <a:gd name="T93" fmla="*/ 151 h 194"/>
                <a:gd name="T94" fmla="*/ 136 w 144"/>
                <a:gd name="T95" fmla="*/ 147 h 194"/>
                <a:gd name="T96" fmla="*/ 137 w 144"/>
                <a:gd name="T97" fmla="*/ 144 h 194"/>
                <a:gd name="T98" fmla="*/ 144 w 144"/>
                <a:gd name="T99" fmla="*/ 114 h 194"/>
                <a:gd name="T100" fmla="*/ 139 w 144"/>
                <a:gd name="T101" fmla="*/ 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4" h="194">
                  <a:moveTo>
                    <a:pt x="49" y="167"/>
                  </a:moveTo>
                  <a:cubicBezTo>
                    <a:pt x="46" y="167"/>
                    <a:pt x="46" y="167"/>
                    <a:pt x="46" y="167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6" y="155"/>
                    <a:pt x="46" y="155"/>
                    <a:pt x="46" y="155"/>
                  </a:cubicBezTo>
                  <a:cubicBezTo>
                    <a:pt x="43" y="156"/>
                    <a:pt x="43" y="156"/>
                    <a:pt x="43" y="156"/>
                  </a:cubicBezTo>
                  <a:cubicBezTo>
                    <a:pt x="42" y="154"/>
                    <a:pt x="42" y="154"/>
                    <a:pt x="42" y="154"/>
                  </a:cubicBezTo>
                  <a:cubicBezTo>
                    <a:pt x="46" y="152"/>
                    <a:pt x="46" y="152"/>
                    <a:pt x="46" y="152"/>
                  </a:cubicBezTo>
                  <a:cubicBezTo>
                    <a:pt x="49" y="152"/>
                    <a:pt x="49" y="152"/>
                    <a:pt x="49" y="152"/>
                  </a:cubicBezTo>
                  <a:lnTo>
                    <a:pt x="49" y="167"/>
                  </a:lnTo>
                  <a:close/>
                  <a:moveTo>
                    <a:pt x="59" y="167"/>
                  </a:moveTo>
                  <a:cubicBezTo>
                    <a:pt x="59" y="165"/>
                    <a:pt x="59" y="165"/>
                    <a:pt x="59" y="165"/>
                  </a:cubicBezTo>
                  <a:cubicBezTo>
                    <a:pt x="60" y="165"/>
                    <a:pt x="60" y="165"/>
                    <a:pt x="61" y="165"/>
                  </a:cubicBezTo>
                  <a:cubicBezTo>
                    <a:pt x="63" y="165"/>
                    <a:pt x="65" y="163"/>
                    <a:pt x="65" y="161"/>
                  </a:cubicBezTo>
                  <a:cubicBezTo>
                    <a:pt x="65" y="161"/>
                    <a:pt x="65" y="161"/>
                    <a:pt x="65" y="161"/>
                  </a:cubicBezTo>
                  <a:cubicBezTo>
                    <a:pt x="65" y="161"/>
                    <a:pt x="64" y="162"/>
                    <a:pt x="62" y="162"/>
                  </a:cubicBezTo>
                  <a:cubicBezTo>
                    <a:pt x="60" y="162"/>
                    <a:pt x="58" y="160"/>
                    <a:pt x="58" y="157"/>
                  </a:cubicBezTo>
                  <a:cubicBezTo>
                    <a:pt x="58" y="155"/>
                    <a:pt x="60" y="152"/>
                    <a:pt x="63" y="152"/>
                  </a:cubicBezTo>
                  <a:cubicBezTo>
                    <a:pt x="67" y="152"/>
                    <a:pt x="69" y="155"/>
                    <a:pt x="69" y="158"/>
                  </a:cubicBezTo>
                  <a:cubicBezTo>
                    <a:pt x="69" y="163"/>
                    <a:pt x="66" y="167"/>
                    <a:pt x="59" y="167"/>
                  </a:cubicBezTo>
                  <a:close/>
                  <a:moveTo>
                    <a:pt x="79" y="167"/>
                  </a:moveTo>
                  <a:cubicBezTo>
                    <a:pt x="78" y="167"/>
                    <a:pt x="76" y="167"/>
                    <a:pt x="76" y="166"/>
                  </a:cubicBezTo>
                  <a:cubicBezTo>
                    <a:pt x="76" y="164"/>
                    <a:pt x="76" y="164"/>
                    <a:pt x="76" y="164"/>
                  </a:cubicBezTo>
                  <a:cubicBezTo>
                    <a:pt x="77" y="165"/>
                    <a:pt x="78" y="165"/>
                    <a:pt x="79" y="165"/>
                  </a:cubicBezTo>
                  <a:cubicBezTo>
                    <a:pt x="81" y="165"/>
                    <a:pt x="82" y="164"/>
                    <a:pt x="82" y="162"/>
                  </a:cubicBezTo>
                  <a:cubicBezTo>
                    <a:pt x="82" y="161"/>
                    <a:pt x="81" y="160"/>
                    <a:pt x="78" y="160"/>
                  </a:cubicBezTo>
                  <a:cubicBezTo>
                    <a:pt x="78" y="160"/>
                    <a:pt x="77" y="160"/>
                    <a:pt x="77" y="160"/>
                  </a:cubicBezTo>
                  <a:cubicBezTo>
                    <a:pt x="77" y="152"/>
                    <a:pt x="77" y="152"/>
                    <a:pt x="77" y="152"/>
                  </a:cubicBezTo>
                  <a:cubicBezTo>
                    <a:pt x="85" y="152"/>
                    <a:pt x="85" y="152"/>
                    <a:pt x="85" y="152"/>
                  </a:cubicBezTo>
                  <a:cubicBezTo>
                    <a:pt x="85" y="155"/>
                    <a:pt x="85" y="155"/>
                    <a:pt x="85" y="155"/>
                  </a:cubicBezTo>
                  <a:cubicBezTo>
                    <a:pt x="80" y="155"/>
                    <a:pt x="80" y="155"/>
                    <a:pt x="80" y="155"/>
                  </a:cubicBezTo>
                  <a:cubicBezTo>
                    <a:pt x="79" y="158"/>
                    <a:pt x="79" y="158"/>
                    <a:pt x="79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3" y="157"/>
                    <a:pt x="86" y="159"/>
                    <a:pt x="86" y="162"/>
                  </a:cubicBezTo>
                  <a:cubicBezTo>
                    <a:pt x="86" y="165"/>
                    <a:pt x="83" y="167"/>
                    <a:pt x="79" y="167"/>
                  </a:cubicBezTo>
                  <a:close/>
                  <a:moveTo>
                    <a:pt x="96" y="167"/>
                  </a:moveTo>
                  <a:cubicBezTo>
                    <a:pt x="95" y="167"/>
                    <a:pt x="93" y="167"/>
                    <a:pt x="92" y="166"/>
                  </a:cubicBezTo>
                  <a:cubicBezTo>
                    <a:pt x="93" y="164"/>
                    <a:pt x="93" y="164"/>
                    <a:pt x="93" y="164"/>
                  </a:cubicBezTo>
                  <a:cubicBezTo>
                    <a:pt x="94" y="164"/>
                    <a:pt x="95" y="165"/>
                    <a:pt x="96" y="165"/>
                  </a:cubicBezTo>
                  <a:cubicBezTo>
                    <a:pt x="98" y="165"/>
                    <a:pt x="99" y="164"/>
                    <a:pt x="99" y="163"/>
                  </a:cubicBezTo>
                  <a:cubicBezTo>
                    <a:pt x="99" y="161"/>
                    <a:pt x="97" y="160"/>
                    <a:pt x="96" y="160"/>
                  </a:cubicBezTo>
                  <a:cubicBezTo>
                    <a:pt x="95" y="160"/>
                    <a:pt x="95" y="160"/>
                    <a:pt x="95" y="160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6" y="158"/>
                    <a:pt x="96" y="158"/>
                    <a:pt x="96" y="158"/>
                  </a:cubicBezTo>
                  <a:cubicBezTo>
                    <a:pt x="97" y="158"/>
                    <a:pt x="99" y="158"/>
                    <a:pt x="99" y="156"/>
                  </a:cubicBezTo>
                  <a:cubicBezTo>
                    <a:pt x="99" y="155"/>
                    <a:pt x="98" y="154"/>
                    <a:pt x="96" y="154"/>
                  </a:cubicBezTo>
                  <a:cubicBezTo>
                    <a:pt x="95" y="154"/>
                    <a:pt x="94" y="155"/>
                    <a:pt x="93" y="155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4" y="153"/>
                    <a:pt x="95" y="152"/>
                    <a:pt x="97" y="152"/>
                  </a:cubicBezTo>
                  <a:cubicBezTo>
                    <a:pt x="100" y="152"/>
                    <a:pt x="102" y="154"/>
                    <a:pt x="102" y="156"/>
                  </a:cubicBezTo>
                  <a:cubicBezTo>
                    <a:pt x="102" y="157"/>
                    <a:pt x="101" y="158"/>
                    <a:pt x="99" y="159"/>
                  </a:cubicBezTo>
                  <a:cubicBezTo>
                    <a:pt x="99" y="159"/>
                    <a:pt x="99" y="159"/>
                    <a:pt x="99" y="159"/>
                  </a:cubicBezTo>
                  <a:cubicBezTo>
                    <a:pt x="101" y="159"/>
                    <a:pt x="102" y="161"/>
                    <a:pt x="102" y="163"/>
                  </a:cubicBezTo>
                  <a:cubicBezTo>
                    <a:pt x="102" y="165"/>
                    <a:pt x="100" y="167"/>
                    <a:pt x="96" y="167"/>
                  </a:cubicBezTo>
                  <a:close/>
                  <a:moveTo>
                    <a:pt x="139" y="2"/>
                  </a:moveTo>
                  <a:cubicBezTo>
                    <a:pt x="139" y="30"/>
                    <a:pt x="139" y="113"/>
                    <a:pt x="139" y="115"/>
                  </a:cubicBezTo>
                  <a:cubicBezTo>
                    <a:pt x="138" y="118"/>
                    <a:pt x="138" y="124"/>
                    <a:pt x="136" y="132"/>
                  </a:cubicBezTo>
                  <a:cubicBezTo>
                    <a:pt x="135" y="135"/>
                    <a:pt x="134" y="138"/>
                    <a:pt x="132" y="141"/>
                  </a:cubicBezTo>
                  <a:cubicBezTo>
                    <a:pt x="12" y="141"/>
                    <a:pt x="12" y="141"/>
                    <a:pt x="12" y="141"/>
                  </a:cubicBezTo>
                  <a:cubicBezTo>
                    <a:pt x="11" y="138"/>
                    <a:pt x="9" y="135"/>
                    <a:pt x="9" y="132"/>
                  </a:cubicBezTo>
                  <a:cubicBezTo>
                    <a:pt x="6" y="124"/>
                    <a:pt x="6" y="118"/>
                    <a:pt x="6" y="115"/>
                  </a:cubicBezTo>
                  <a:cubicBezTo>
                    <a:pt x="6" y="113"/>
                    <a:pt x="6" y="30"/>
                    <a:pt x="6" y="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10"/>
                    <a:pt x="0" y="114"/>
                  </a:cubicBezTo>
                  <a:cubicBezTo>
                    <a:pt x="0" y="118"/>
                    <a:pt x="1" y="123"/>
                    <a:pt x="2" y="130"/>
                  </a:cubicBezTo>
                  <a:cubicBezTo>
                    <a:pt x="3" y="133"/>
                    <a:pt x="4" y="137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142"/>
                    <a:pt x="7" y="143"/>
                    <a:pt x="7" y="144"/>
                  </a:cubicBezTo>
                  <a:cubicBezTo>
                    <a:pt x="7" y="144"/>
                    <a:pt x="7" y="144"/>
                    <a:pt x="7" y="145"/>
                  </a:cubicBezTo>
                  <a:cubicBezTo>
                    <a:pt x="8" y="145"/>
                    <a:pt x="8" y="146"/>
                    <a:pt x="9" y="147"/>
                  </a:cubicBezTo>
                  <a:cubicBezTo>
                    <a:pt x="9" y="147"/>
                    <a:pt x="9" y="147"/>
                    <a:pt x="9" y="148"/>
                  </a:cubicBezTo>
                  <a:cubicBezTo>
                    <a:pt x="9" y="149"/>
                    <a:pt x="10" y="150"/>
                    <a:pt x="11" y="151"/>
                  </a:cubicBezTo>
                  <a:cubicBezTo>
                    <a:pt x="11" y="151"/>
                    <a:pt x="11" y="151"/>
                    <a:pt x="11" y="151"/>
                  </a:cubicBezTo>
                  <a:cubicBezTo>
                    <a:pt x="11" y="152"/>
                    <a:pt x="12" y="153"/>
                    <a:pt x="12" y="15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55"/>
                    <a:pt x="14" y="156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6" y="158"/>
                    <a:pt x="16" y="159"/>
                    <a:pt x="17" y="160"/>
                  </a:cubicBezTo>
                  <a:cubicBezTo>
                    <a:pt x="17" y="160"/>
                    <a:pt x="17" y="160"/>
                    <a:pt x="17" y="161"/>
                  </a:cubicBezTo>
                  <a:cubicBezTo>
                    <a:pt x="18" y="161"/>
                    <a:pt x="18" y="162"/>
                    <a:pt x="19" y="163"/>
                  </a:cubicBezTo>
                  <a:cubicBezTo>
                    <a:pt x="19" y="163"/>
                    <a:pt x="19" y="163"/>
                    <a:pt x="20" y="163"/>
                  </a:cubicBezTo>
                  <a:cubicBezTo>
                    <a:pt x="20" y="164"/>
                    <a:pt x="21" y="165"/>
                    <a:pt x="22" y="166"/>
                  </a:cubicBezTo>
                  <a:cubicBezTo>
                    <a:pt x="37" y="182"/>
                    <a:pt x="58" y="189"/>
                    <a:pt x="72" y="194"/>
                  </a:cubicBezTo>
                  <a:cubicBezTo>
                    <a:pt x="86" y="189"/>
                    <a:pt x="108" y="182"/>
                    <a:pt x="123" y="166"/>
                  </a:cubicBezTo>
                  <a:cubicBezTo>
                    <a:pt x="123" y="165"/>
                    <a:pt x="124" y="164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6" y="162"/>
                    <a:pt x="126" y="161"/>
                    <a:pt x="127" y="161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9"/>
                    <a:pt x="129" y="158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6"/>
                    <a:pt x="131" y="155"/>
                    <a:pt x="131" y="154"/>
                  </a:cubicBezTo>
                  <a:cubicBezTo>
                    <a:pt x="132" y="154"/>
                    <a:pt x="132" y="154"/>
                    <a:pt x="132" y="154"/>
                  </a:cubicBezTo>
                  <a:cubicBezTo>
                    <a:pt x="132" y="153"/>
                    <a:pt x="133" y="152"/>
                    <a:pt x="133" y="151"/>
                  </a:cubicBezTo>
                  <a:cubicBezTo>
                    <a:pt x="134" y="151"/>
                    <a:pt x="134" y="151"/>
                    <a:pt x="134" y="151"/>
                  </a:cubicBezTo>
                  <a:cubicBezTo>
                    <a:pt x="134" y="150"/>
                    <a:pt x="135" y="149"/>
                    <a:pt x="135" y="148"/>
                  </a:cubicBezTo>
                  <a:cubicBezTo>
                    <a:pt x="136" y="147"/>
                    <a:pt x="136" y="147"/>
                    <a:pt x="136" y="147"/>
                  </a:cubicBezTo>
                  <a:cubicBezTo>
                    <a:pt x="136" y="146"/>
                    <a:pt x="137" y="145"/>
                    <a:pt x="137" y="144"/>
                  </a:cubicBezTo>
                  <a:cubicBezTo>
                    <a:pt x="137" y="144"/>
                    <a:pt x="137" y="144"/>
                    <a:pt x="137" y="144"/>
                  </a:cubicBezTo>
                  <a:cubicBezTo>
                    <a:pt x="140" y="139"/>
                    <a:pt x="142" y="134"/>
                    <a:pt x="143" y="130"/>
                  </a:cubicBezTo>
                  <a:cubicBezTo>
                    <a:pt x="144" y="123"/>
                    <a:pt x="144" y="118"/>
                    <a:pt x="144" y="114"/>
                  </a:cubicBezTo>
                  <a:cubicBezTo>
                    <a:pt x="144" y="110"/>
                    <a:pt x="144" y="0"/>
                    <a:pt x="144" y="0"/>
                  </a:cubicBezTo>
                  <a:lnTo>
                    <a:pt x="139" y="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ṡľiḍê">
              <a:extLst>
                <a:ext uri="{FF2B5EF4-FFF2-40B4-BE49-F238E27FC236}">
                  <a16:creationId xmlns:a16="http://schemas.microsoft.com/office/drawing/2014/main" id="{AF9AED17-A860-2124-6851-B91A2406345C}"/>
                </a:ext>
              </a:extLst>
            </p:cNvPr>
            <p:cNvSpPr/>
            <p:nvPr/>
          </p:nvSpPr>
          <p:spPr bwMode="auto">
            <a:xfrm>
              <a:off x="2395538" y="2917826"/>
              <a:ext cx="1141413" cy="1050925"/>
            </a:xfrm>
            <a:custGeom>
              <a:avLst/>
              <a:gdLst>
                <a:gd name="T0" fmla="*/ 300 w 316"/>
                <a:gd name="T1" fmla="*/ 173 h 290"/>
                <a:gd name="T2" fmla="*/ 294 w 316"/>
                <a:gd name="T3" fmla="*/ 163 h 290"/>
                <a:gd name="T4" fmla="*/ 299 w 316"/>
                <a:gd name="T5" fmla="*/ 78 h 290"/>
                <a:gd name="T6" fmla="*/ 285 w 316"/>
                <a:gd name="T7" fmla="*/ 84 h 290"/>
                <a:gd name="T8" fmla="*/ 248 w 316"/>
                <a:gd name="T9" fmla="*/ 17 h 290"/>
                <a:gd name="T10" fmla="*/ 233 w 316"/>
                <a:gd name="T11" fmla="*/ 15 h 290"/>
                <a:gd name="T12" fmla="*/ 233 w 316"/>
                <a:gd name="T13" fmla="*/ 33 h 290"/>
                <a:gd name="T14" fmla="*/ 242 w 316"/>
                <a:gd name="T15" fmla="*/ 45 h 290"/>
                <a:gd name="T16" fmla="*/ 278 w 316"/>
                <a:gd name="T17" fmla="*/ 88 h 290"/>
                <a:gd name="T18" fmla="*/ 276 w 316"/>
                <a:gd name="T19" fmla="*/ 93 h 290"/>
                <a:gd name="T20" fmla="*/ 286 w 316"/>
                <a:gd name="T21" fmla="*/ 156 h 290"/>
                <a:gd name="T22" fmla="*/ 278 w 316"/>
                <a:gd name="T23" fmla="*/ 170 h 290"/>
                <a:gd name="T24" fmla="*/ 269 w 316"/>
                <a:gd name="T25" fmla="*/ 179 h 290"/>
                <a:gd name="T26" fmla="*/ 254 w 316"/>
                <a:gd name="T27" fmla="*/ 230 h 290"/>
                <a:gd name="T28" fmla="*/ 246 w 316"/>
                <a:gd name="T29" fmla="*/ 219 h 290"/>
                <a:gd name="T30" fmla="*/ 169 w 316"/>
                <a:gd name="T31" fmla="*/ 262 h 290"/>
                <a:gd name="T32" fmla="*/ 147 w 316"/>
                <a:gd name="T33" fmla="*/ 262 h 290"/>
                <a:gd name="T34" fmla="*/ 70 w 316"/>
                <a:gd name="T35" fmla="*/ 219 h 290"/>
                <a:gd name="T36" fmla="*/ 62 w 316"/>
                <a:gd name="T37" fmla="*/ 230 h 290"/>
                <a:gd name="T38" fmla="*/ 48 w 316"/>
                <a:gd name="T39" fmla="*/ 179 h 290"/>
                <a:gd name="T40" fmla="*/ 38 w 316"/>
                <a:gd name="T41" fmla="*/ 170 h 290"/>
                <a:gd name="T42" fmla="*/ 30 w 316"/>
                <a:gd name="T43" fmla="*/ 156 h 290"/>
                <a:gd name="T44" fmla="*/ 41 w 316"/>
                <a:gd name="T45" fmla="*/ 93 h 290"/>
                <a:gd name="T46" fmla="*/ 38 w 316"/>
                <a:gd name="T47" fmla="*/ 88 h 290"/>
                <a:gd name="T48" fmla="*/ 75 w 316"/>
                <a:gd name="T49" fmla="*/ 45 h 290"/>
                <a:gd name="T50" fmla="*/ 84 w 316"/>
                <a:gd name="T51" fmla="*/ 33 h 290"/>
                <a:gd name="T52" fmla="*/ 83 w 316"/>
                <a:gd name="T53" fmla="*/ 15 h 290"/>
                <a:gd name="T54" fmla="*/ 68 w 316"/>
                <a:gd name="T55" fmla="*/ 17 h 290"/>
                <a:gd name="T56" fmla="*/ 31 w 316"/>
                <a:gd name="T57" fmla="*/ 84 h 290"/>
                <a:gd name="T58" fmla="*/ 17 w 316"/>
                <a:gd name="T59" fmla="*/ 78 h 290"/>
                <a:gd name="T60" fmla="*/ 23 w 316"/>
                <a:gd name="T61" fmla="*/ 163 h 290"/>
                <a:gd name="T62" fmla="*/ 16 w 316"/>
                <a:gd name="T63" fmla="*/ 173 h 290"/>
                <a:gd name="T64" fmla="*/ 14 w 316"/>
                <a:gd name="T65" fmla="*/ 182 h 290"/>
                <a:gd name="T66" fmla="*/ 93 w 316"/>
                <a:gd name="T67" fmla="*/ 253 h 290"/>
                <a:gd name="T68" fmla="*/ 72 w 316"/>
                <a:gd name="T69" fmla="*/ 258 h 290"/>
                <a:gd name="T70" fmla="*/ 134 w 316"/>
                <a:gd name="T71" fmla="*/ 265 h 290"/>
                <a:gd name="T72" fmla="*/ 138 w 316"/>
                <a:gd name="T73" fmla="*/ 272 h 290"/>
                <a:gd name="T74" fmla="*/ 131 w 316"/>
                <a:gd name="T75" fmla="*/ 290 h 290"/>
                <a:gd name="T76" fmla="*/ 158 w 316"/>
                <a:gd name="T77" fmla="*/ 272 h 290"/>
                <a:gd name="T78" fmla="*/ 186 w 316"/>
                <a:gd name="T79" fmla="*/ 290 h 290"/>
                <a:gd name="T80" fmla="*/ 178 w 316"/>
                <a:gd name="T81" fmla="*/ 272 h 290"/>
                <a:gd name="T82" fmla="*/ 182 w 316"/>
                <a:gd name="T83" fmla="*/ 265 h 290"/>
                <a:gd name="T84" fmla="*/ 244 w 316"/>
                <a:gd name="T85" fmla="*/ 258 h 290"/>
                <a:gd name="T86" fmla="*/ 223 w 316"/>
                <a:gd name="T87" fmla="*/ 253 h 290"/>
                <a:gd name="T88" fmla="*/ 302 w 316"/>
                <a:gd name="T89" fmla="*/ 182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6" h="290">
                  <a:moveTo>
                    <a:pt x="276" y="216"/>
                  </a:moveTo>
                  <a:cubicBezTo>
                    <a:pt x="282" y="191"/>
                    <a:pt x="289" y="190"/>
                    <a:pt x="300" y="173"/>
                  </a:cubicBezTo>
                  <a:cubicBezTo>
                    <a:pt x="310" y="157"/>
                    <a:pt x="316" y="126"/>
                    <a:pt x="305" y="115"/>
                  </a:cubicBezTo>
                  <a:cubicBezTo>
                    <a:pt x="304" y="138"/>
                    <a:pt x="296" y="143"/>
                    <a:pt x="294" y="163"/>
                  </a:cubicBezTo>
                  <a:cubicBezTo>
                    <a:pt x="292" y="147"/>
                    <a:pt x="292" y="137"/>
                    <a:pt x="295" y="126"/>
                  </a:cubicBezTo>
                  <a:cubicBezTo>
                    <a:pt x="298" y="117"/>
                    <a:pt x="302" y="95"/>
                    <a:pt x="299" y="78"/>
                  </a:cubicBezTo>
                  <a:cubicBezTo>
                    <a:pt x="297" y="66"/>
                    <a:pt x="291" y="61"/>
                    <a:pt x="284" y="58"/>
                  </a:cubicBezTo>
                  <a:cubicBezTo>
                    <a:pt x="288" y="72"/>
                    <a:pt x="285" y="84"/>
                    <a:pt x="285" y="84"/>
                  </a:cubicBezTo>
                  <a:cubicBezTo>
                    <a:pt x="285" y="84"/>
                    <a:pt x="277" y="75"/>
                    <a:pt x="274" y="52"/>
                  </a:cubicBezTo>
                  <a:cubicBezTo>
                    <a:pt x="271" y="29"/>
                    <a:pt x="256" y="18"/>
                    <a:pt x="248" y="17"/>
                  </a:cubicBezTo>
                  <a:cubicBezTo>
                    <a:pt x="255" y="29"/>
                    <a:pt x="255" y="33"/>
                    <a:pt x="257" y="44"/>
                  </a:cubicBezTo>
                  <a:cubicBezTo>
                    <a:pt x="250" y="40"/>
                    <a:pt x="245" y="26"/>
                    <a:pt x="233" y="15"/>
                  </a:cubicBezTo>
                  <a:cubicBezTo>
                    <a:pt x="216" y="0"/>
                    <a:pt x="203" y="0"/>
                    <a:pt x="195" y="7"/>
                  </a:cubicBezTo>
                  <a:cubicBezTo>
                    <a:pt x="218" y="16"/>
                    <a:pt x="214" y="18"/>
                    <a:pt x="233" y="33"/>
                  </a:cubicBezTo>
                  <a:cubicBezTo>
                    <a:pt x="251" y="45"/>
                    <a:pt x="259" y="46"/>
                    <a:pt x="264" y="62"/>
                  </a:cubicBezTo>
                  <a:cubicBezTo>
                    <a:pt x="256" y="54"/>
                    <a:pt x="251" y="49"/>
                    <a:pt x="242" y="45"/>
                  </a:cubicBezTo>
                  <a:cubicBezTo>
                    <a:pt x="239" y="50"/>
                    <a:pt x="243" y="60"/>
                    <a:pt x="257" y="71"/>
                  </a:cubicBezTo>
                  <a:cubicBezTo>
                    <a:pt x="267" y="82"/>
                    <a:pt x="270" y="77"/>
                    <a:pt x="278" y="88"/>
                  </a:cubicBezTo>
                  <a:cubicBezTo>
                    <a:pt x="285" y="96"/>
                    <a:pt x="291" y="105"/>
                    <a:pt x="289" y="124"/>
                  </a:cubicBezTo>
                  <a:cubicBezTo>
                    <a:pt x="283" y="110"/>
                    <a:pt x="279" y="108"/>
                    <a:pt x="276" y="93"/>
                  </a:cubicBezTo>
                  <a:cubicBezTo>
                    <a:pt x="272" y="98"/>
                    <a:pt x="270" y="106"/>
                    <a:pt x="271" y="116"/>
                  </a:cubicBezTo>
                  <a:cubicBezTo>
                    <a:pt x="275" y="136"/>
                    <a:pt x="283" y="136"/>
                    <a:pt x="286" y="156"/>
                  </a:cubicBezTo>
                  <a:cubicBezTo>
                    <a:pt x="288" y="168"/>
                    <a:pt x="288" y="183"/>
                    <a:pt x="278" y="194"/>
                  </a:cubicBezTo>
                  <a:cubicBezTo>
                    <a:pt x="276" y="184"/>
                    <a:pt x="277" y="179"/>
                    <a:pt x="278" y="170"/>
                  </a:cubicBezTo>
                  <a:cubicBezTo>
                    <a:pt x="280" y="161"/>
                    <a:pt x="279" y="154"/>
                    <a:pt x="276" y="145"/>
                  </a:cubicBezTo>
                  <a:cubicBezTo>
                    <a:pt x="269" y="151"/>
                    <a:pt x="267" y="165"/>
                    <a:pt x="269" y="179"/>
                  </a:cubicBezTo>
                  <a:cubicBezTo>
                    <a:pt x="270" y="193"/>
                    <a:pt x="280" y="203"/>
                    <a:pt x="265" y="223"/>
                  </a:cubicBezTo>
                  <a:cubicBezTo>
                    <a:pt x="258" y="229"/>
                    <a:pt x="254" y="231"/>
                    <a:pt x="254" y="230"/>
                  </a:cubicBezTo>
                  <a:cubicBezTo>
                    <a:pt x="262" y="221"/>
                    <a:pt x="273" y="198"/>
                    <a:pt x="265" y="187"/>
                  </a:cubicBezTo>
                  <a:cubicBezTo>
                    <a:pt x="262" y="200"/>
                    <a:pt x="254" y="207"/>
                    <a:pt x="246" y="219"/>
                  </a:cubicBezTo>
                  <a:cubicBezTo>
                    <a:pt x="235" y="235"/>
                    <a:pt x="245" y="240"/>
                    <a:pt x="210" y="253"/>
                  </a:cubicBezTo>
                  <a:cubicBezTo>
                    <a:pt x="199" y="257"/>
                    <a:pt x="185" y="258"/>
                    <a:pt x="169" y="262"/>
                  </a:cubicBezTo>
                  <a:cubicBezTo>
                    <a:pt x="165" y="263"/>
                    <a:pt x="161" y="264"/>
                    <a:pt x="158" y="265"/>
                  </a:cubicBezTo>
                  <a:cubicBezTo>
                    <a:pt x="155" y="264"/>
                    <a:pt x="151" y="263"/>
                    <a:pt x="147" y="262"/>
                  </a:cubicBezTo>
                  <a:cubicBezTo>
                    <a:pt x="132" y="258"/>
                    <a:pt x="117" y="257"/>
                    <a:pt x="107" y="253"/>
                  </a:cubicBezTo>
                  <a:cubicBezTo>
                    <a:pt x="72" y="240"/>
                    <a:pt x="81" y="235"/>
                    <a:pt x="70" y="219"/>
                  </a:cubicBezTo>
                  <a:cubicBezTo>
                    <a:pt x="62" y="207"/>
                    <a:pt x="54" y="200"/>
                    <a:pt x="51" y="187"/>
                  </a:cubicBezTo>
                  <a:cubicBezTo>
                    <a:pt x="43" y="198"/>
                    <a:pt x="54" y="221"/>
                    <a:pt x="62" y="230"/>
                  </a:cubicBezTo>
                  <a:cubicBezTo>
                    <a:pt x="62" y="231"/>
                    <a:pt x="58" y="229"/>
                    <a:pt x="51" y="223"/>
                  </a:cubicBezTo>
                  <a:cubicBezTo>
                    <a:pt x="36" y="203"/>
                    <a:pt x="46" y="193"/>
                    <a:pt x="48" y="179"/>
                  </a:cubicBezTo>
                  <a:cubicBezTo>
                    <a:pt x="49" y="165"/>
                    <a:pt x="47" y="151"/>
                    <a:pt x="40" y="145"/>
                  </a:cubicBezTo>
                  <a:cubicBezTo>
                    <a:pt x="38" y="154"/>
                    <a:pt x="36" y="161"/>
                    <a:pt x="38" y="170"/>
                  </a:cubicBezTo>
                  <a:cubicBezTo>
                    <a:pt x="40" y="179"/>
                    <a:pt x="41" y="184"/>
                    <a:pt x="39" y="194"/>
                  </a:cubicBezTo>
                  <a:cubicBezTo>
                    <a:pt x="28" y="183"/>
                    <a:pt x="29" y="168"/>
                    <a:pt x="30" y="156"/>
                  </a:cubicBezTo>
                  <a:cubicBezTo>
                    <a:pt x="33" y="136"/>
                    <a:pt x="41" y="136"/>
                    <a:pt x="45" y="116"/>
                  </a:cubicBezTo>
                  <a:cubicBezTo>
                    <a:pt x="47" y="106"/>
                    <a:pt x="44" y="98"/>
                    <a:pt x="41" y="93"/>
                  </a:cubicBezTo>
                  <a:cubicBezTo>
                    <a:pt x="37" y="108"/>
                    <a:pt x="33" y="110"/>
                    <a:pt x="28" y="124"/>
                  </a:cubicBezTo>
                  <a:cubicBezTo>
                    <a:pt x="25" y="105"/>
                    <a:pt x="32" y="96"/>
                    <a:pt x="38" y="88"/>
                  </a:cubicBezTo>
                  <a:cubicBezTo>
                    <a:pt x="47" y="77"/>
                    <a:pt x="49" y="82"/>
                    <a:pt x="60" y="71"/>
                  </a:cubicBezTo>
                  <a:cubicBezTo>
                    <a:pt x="73" y="60"/>
                    <a:pt x="77" y="50"/>
                    <a:pt x="75" y="45"/>
                  </a:cubicBezTo>
                  <a:cubicBezTo>
                    <a:pt x="65" y="49"/>
                    <a:pt x="60" y="54"/>
                    <a:pt x="53" y="62"/>
                  </a:cubicBezTo>
                  <a:cubicBezTo>
                    <a:pt x="57" y="46"/>
                    <a:pt x="66" y="45"/>
                    <a:pt x="84" y="33"/>
                  </a:cubicBezTo>
                  <a:cubicBezTo>
                    <a:pt x="102" y="18"/>
                    <a:pt x="98" y="16"/>
                    <a:pt x="121" y="7"/>
                  </a:cubicBezTo>
                  <a:cubicBezTo>
                    <a:pt x="113" y="0"/>
                    <a:pt x="100" y="0"/>
                    <a:pt x="83" y="15"/>
                  </a:cubicBezTo>
                  <a:cubicBezTo>
                    <a:pt x="72" y="26"/>
                    <a:pt x="66" y="40"/>
                    <a:pt x="59" y="44"/>
                  </a:cubicBezTo>
                  <a:cubicBezTo>
                    <a:pt x="62" y="33"/>
                    <a:pt x="61" y="29"/>
                    <a:pt x="68" y="17"/>
                  </a:cubicBezTo>
                  <a:cubicBezTo>
                    <a:pt x="61" y="18"/>
                    <a:pt x="45" y="29"/>
                    <a:pt x="42" y="52"/>
                  </a:cubicBezTo>
                  <a:cubicBezTo>
                    <a:pt x="39" y="75"/>
                    <a:pt x="31" y="84"/>
                    <a:pt x="31" y="84"/>
                  </a:cubicBezTo>
                  <a:cubicBezTo>
                    <a:pt x="31" y="84"/>
                    <a:pt x="29" y="72"/>
                    <a:pt x="32" y="58"/>
                  </a:cubicBezTo>
                  <a:cubicBezTo>
                    <a:pt x="25" y="61"/>
                    <a:pt x="19" y="66"/>
                    <a:pt x="17" y="78"/>
                  </a:cubicBezTo>
                  <a:cubicBezTo>
                    <a:pt x="14" y="95"/>
                    <a:pt x="18" y="117"/>
                    <a:pt x="21" y="126"/>
                  </a:cubicBezTo>
                  <a:cubicBezTo>
                    <a:pt x="25" y="137"/>
                    <a:pt x="24" y="147"/>
                    <a:pt x="23" y="163"/>
                  </a:cubicBezTo>
                  <a:cubicBezTo>
                    <a:pt x="20" y="143"/>
                    <a:pt x="12" y="138"/>
                    <a:pt x="11" y="115"/>
                  </a:cubicBezTo>
                  <a:cubicBezTo>
                    <a:pt x="0" y="126"/>
                    <a:pt x="6" y="157"/>
                    <a:pt x="16" y="173"/>
                  </a:cubicBezTo>
                  <a:cubicBezTo>
                    <a:pt x="27" y="190"/>
                    <a:pt x="34" y="191"/>
                    <a:pt x="41" y="216"/>
                  </a:cubicBezTo>
                  <a:cubicBezTo>
                    <a:pt x="30" y="201"/>
                    <a:pt x="22" y="199"/>
                    <a:pt x="14" y="182"/>
                  </a:cubicBezTo>
                  <a:cubicBezTo>
                    <a:pt x="8" y="190"/>
                    <a:pt x="13" y="206"/>
                    <a:pt x="30" y="219"/>
                  </a:cubicBezTo>
                  <a:cubicBezTo>
                    <a:pt x="44" y="233"/>
                    <a:pt x="67" y="232"/>
                    <a:pt x="93" y="253"/>
                  </a:cubicBezTo>
                  <a:cubicBezTo>
                    <a:pt x="72" y="241"/>
                    <a:pt x="50" y="241"/>
                    <a:pt x="38" y="234"/>
                  </a:cubicBezTo>
                  <a:cubicBezTo>
                    <a:pt x="36" y="243"/>
                    <a:pt x="50" y="252"/>
                    <a:pt x="72" y="258"/>
                  </a:cubicBezTo>
                  <a:cubicBezTo>
                    <a:pt x="81" y="260"/>
                    <a:pt x="95" y="260"/>
                    <a:pt x="103" y="260"/>
                  </a:cubicBezTo>
                  <a:cubicBezTo>
                    <a:pt x="117" y="261"/>
                    <a:pt x="125" y="264"/>
                    <a:pt x="134" y="265"/>
                  </a:cubicBezTo>
                  <a:cubicBezTo>
                    <a:pt x="138" y="266"/>
                    <a:pt x="142" y="267"/>
                    <a:pt x="147" y="268"/>
                  </a:cubicBezTo>
                  <a:cubicBezTo>
                    <a:pt x="143" y="270"/>
                    <a:pt x="140" y="271"/>
                    <a:pt x="138" y="272"/>
                  </a:cubicBezTo>
                  <a:cubicBezTo>
                    <a:pt x="132" y="276"/>
                    <a:pt x="132" y="276"/>
                    <a:pt x="119" y="285"/>
                  </a:cubicBezTo>
                  <a:cubicBezTo>
                    <a:pt x="131" y="290"/>
                    <a:pt x="131" y="290"/>
                    <a:pt x="131" y="290"/>
                  </a:cubicBezTo>
                  <a:cubicBezTo>
                    <a:pt x="131" y="290"/>
                    <a:pt x="137" y="282"/>
                    <a:pt x="150" y="276"/>
                  </a:cubicBezTo>
                  <a:cubicBezTo>
                    <a:pt x="152" y="275"/>
                    <a:pt x="155" y="273"/>
                    <a:pt x="158" y="272"/>
                  </a:cubicBezTo>
                  <a:cubicBezTo>
                    <a:pt x="161" y="273"/>
                    <a:pt x="164" y="275"/>
                    <a:pt x="167" y="276"/>
                  </a:cubicBezTo>
                  <a:cubicBezTo>
                    <a:pt x="179" y="282"/>
                    <a:pt x="186" y="290"/>
                    <a:pt x="186" y="290"/>
                  </a:cubicBezTo>
                  <a:cubicBezTo>
                    <a:pt x="198" y="285"/>
                    <a:pt x="198" y="285"/>
                    <a:pt x="198" y="285"/>
                  </a:cubicBezTo>
                  <a:cubicBezTo>
                    <a:pt x="184" y="276"/>
                    <a:pt x="185" y="276"/>
                    <a:pt x="178" y="272"/>
                  </a:cubicBezTo>
                  <a:cubicBezTo>
                    <a:pt x="176" y="271"/>
                    <a:pt x="173" y="270"/>
                    <a:pt x="169" y="268"/>
                  </a:cubicBezTo>
                  <a:cubicBezTo>
                    <a:pt x="174" y="267"/>
                    <a:pt x="178" y="266"/>
                    <a:pt x="182" y="265"/>
                  </a:cubicBezTo>
                  <a:cubicBezTo>
                    <a:pt x="192" y="264"/>
                    <a:pt x="199" y="261"/>
                    <a:pt x="214" y="260"/>
                  </a:cubicBezTo>
                  <a:cubicBezTo>
                    <a:pt x="221" y="260"/>
                    <a:pt x="235" y="260"/>
                    <a:pt x="244" y="258"/>
                  </a:cubicBezTo>
                  <a:cubicBezTo>
                    <a:pt x="267" y="252"/>
                    <a:pt x="280" y="243"/>
                    <a:pt x="278" y="234"/>
                  </a:cubicBezTo>
                  <a:cubicBezTo>
                    <a:pt x="266" y="241"/>
                    <a:pt x="244" y="241"/>
                    <a:pt x="223" y="253"/>
                  </a:cubicBezTo>
                  <a:cubicBezTo>
                    <a:pt x="249" y="232"/>
                    <a:pt x="272" y="233"/>
                    <a:pt x="286" y="219"/>
                  </a:cubicBezTo>
                  <a:cubicBezTo>
                    <a:pt x="303" y="206"/>
                    <a:pt x="309" y="190"/>
                    <a:pt x="302" y="182"/>
                  </a:cubicBezTo>
                  <a:cubicBezTo>
                    <a:pt x="294" y="199"/>
                    <a:pt x="286" y="201"/>
                    <a:pt x="276" y="2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íšlîde">
              <a:extLst>
                <a:ext uri="{FF2B5EF4-FFF2-40B4-BE49-F238E27FC236}">
                  <a16:creationId xmlns:a16="http://schemas.microsoft.com/office/drawing/2014/main" id="{B8B76548-BB8C-B9F9-A70D-07D979C6AC6E}"/>
                </a:ext>
              </a:extLst>
            </p:cNvPr>
            <p:cNvSpPr/>
            <p:nvPr/>
          </p:nvSpPr>
          <p:spPr bwMode="auto">
            <a:xfrm>
              <a:off x="2162175" y="3240088"/>
              <a:ext cx="104775" cy="80963"/>
            </a:xfrm>
            <a:custGeom>
              <a:avLst/>
              <a:gdLst>
                <a:gd name="T0" fmla="*/ 9 w 66"/>
                <a:gd name="T1" fmla="*/ 0 h 51"/>
                <a:gd name="T2" fmla="*/ 66 w 66"/>
                <a:gd name="T3" fmla="*/ 12 h 51"/>
                <a:gd name="T4" fmla="*/ 63 w 66"/>
                <a:gd name="T5" fmla="*/ 21 h 51"/>
                <a:gd name="T6" fmla="*/ 20 w 66"/>
                <a:gd name="T7" fmla="*/ 35 h 51"/>
                <a:gd name="T8" fmla="*/ 59 w 66"/>
                <a:gd name="T9" fmla="*/ 41 h 51"/>
                <a:gd name="T10" fmla="*/ 57 w 66"/>
                <a:gd name="T11" fmla="*/ 51 h 51"/>
                <a:gd name="T12" fmla="*/ 0 w 66"/>
                <a:gd name="T13" fmla="*/ 39 h 51"/>
                <a:gd name="T14" fmla="*/ 2 w 66"/>
                <a:gd name="T15" fmla="*/ 30 h 51"/>
                <a:gd name="T16" fmla="*/ 43 w 66"/>
                <a:gd name="T17" fmla="*/ 16 h 51"/>
                <a:gd name="T18" fmla="*/ 7 w 66"/>
                <a:gd name="T19" fmla="*/ 9 h 51"/>
                <a:gd name="T20" fmla="*/ 9 w 66"/>
                <a:gd name="T2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1">
                  <a:moveTo>
                    <a:pt x="9" y="0"/>
                  </a:moveTo>
                  <a:lnTo>
                    <a:pt x="66" y="12"/>
                  </a:lnTo>
                  <a:lnTo>
                    <a:pt x="63" y="21"/>
                  </a:lnTo>
                  <a:lnTo>
                    <a:pt x="20" y="35"/>
                  </a:lnTo>
                  <a:lnTo>
                    <a:pt x="59" y="41"/>
                  </a:lnTo>
                  <a:lnTo>
                    <a:pt x="57" y="51"/>
                  </a:lnTo>
                  <a:lnTo>
                    <a:pt x="0" y="39"/>
                  </a:lnTo>
                  <a:lnTo>
                    <a:pt x="2" y="30"/>
                  </a:lnTo>
                  <a:lnTo>
                    <a:pt x="43" y="16"/>
                  </a:lnTo>
                  <a:lnTo>
                    <a:pt x="7" y="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îṡḷíḋé">
              <a:extLst>
                <a:ext uri="{FF2B5EF4-FFF2-40B4-BE49-F238E27FC236}">
                  <a16:creationId xmlns:a16="http://schemas.microsoft.com/office/drawing/2014/main" id="{520F35BA-C6BB-61BD-7E3C-5FE2F21D6B96}"/>
                </a:ext>
              </a:extLst>
            </p:cNvPr>
            <p:cNvSpPr/>
            <p:nvPr/>
          </p:nvSpPr>
          <p:spPr bwMode="auto">
            <a:xfrm>
              <a:off x="2154238" y="3316288"/>
              <a:ext cx="93663" cy="79375"/>
            </a:xfrm>
            <a:custGeom>
              <a:avLst/>
              <a:gdLst>
                <a:gd name="T0" fmla="*/ 0 w 59"/>
                <a:gd name="T1" fmla="*/ 50 h 50"/>
                <a:gd name="T2" fmla="*/ 0 w 59"/>
                <a:gd name="T3" fmla="*/ 39 h 50"/>
                <a:gd name="T4" fmla="*/ 14 w 59"/>
                <a:gd name="T5" fmla="*/ 34 h 50"/>
                <a:gd name="T6" fmla="*/ 16 w 59"/>
                <a:gd name="T7" fmla="*/ 16 h 50"/>
                <a:gd name="T8" fmla="*/ 2 w 59"/>
                <a:gd name="T9" fmla="*/ 12 h 50"/>
                <a:gd name="T10" fmla="*/ 5 w 59"/>
                <a:gd name="T11" fmla="*/ 0 h 50"/>
                <a:gd name="T12" fmla="*/ 59 w 59"/>
                <a:gd name="T13" fmla="*/ 25 h 50"/>
                <a:gd name="T14" fmla="*/ 59 w 59"/>
                <a:gd name="T15" fmla="*/ 34 h 50"/>
                <a:gd name="T16" fmla="*/ 0 w 59"/>
                <a:gd name="T17" fmla="*/ 50 h 50"/>
                <a:gd name="T18" fmla="*/ 23 w 59"/>
                <a:gd name="T19" fmla="*/ 32 h 50"/>
                <a:gd name="T20" fmla="*/ 46 w 59"/>
                <a:gd name="T21" fmla="*/ 28 h 50"/>
                <a:gd name="T22" fmla="*/ 25 w 59"/>
                <a:gd name="T23" fmla="*/ 21 h 50"/>
                <a:gd name="T24" fmla="*/ 23 w 59"/>
                <a:gd name="T25" fmla="*/ 3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50">
                  <a:moveTo>
                    <a:pt x="0" y="50"/>
                  </a:moveTo>
                  <a:lnTo>
                    <a:pt x="0" y="39"/>
                  </a:lnTo>
                  <a:lnTo>
                    <a:pt x="14" y="34"/>
                  </a:lnTo>
                  <a:lnTo>
                    <a:pt x="16" y="16"/>
                  </a:lnTo>
                  <a:lnTo>
                    <a:pt x="2" y="12"/>
                  </a:lnTo>
                  <a:lnTo>
                    <a:pt x="5" y="0"/>
                  </a:lnTo>
                  <a:lnTo>
                    <a:pt x="59" y="25"/>
                  </a:lnTo>
                  <a:lnTo>
                    <a:pt x="59" y="34"/>
                  </a:lnTo>
                  <a:lnTo>
                    <a:pt x="0" y="50"/>
                  </a:lnTo>
                  <a:close/>
                  <a:moveTo>
                    <a:pt x="23" y="32"/>
                  </a:moveTo>
                  <a:lnTo>
                    <a:pt x="46" y="28"/>
                  </a:lnTo>
                  <a:lnTo>
                    <a:pt x="25" y="21"/>
                  </a:lnTo>
                  <a:lnTo>
                    <a:pt x="23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sḻiḓe">
              <a:extLst>
                <a:ext uri="{FF2B5EF4-FFF2-40B4-BE49-F238E27FC236}">
                  <a16:creationId xmlns:a16="http://schemas.microsoft.com/office/drawing/2014/main" id="{3F87EB36-9B33-1A3D-52CA-93EB9FCA4246}"/>
                </a:ext>
              </a:extLst>
            </p:cNvPr>
            <p:cNvSpPr/>
            <p:nvPr/>
          </p:nvSpPr>
          <p:spPr bwMode="auto">
            <a:xfrm>
              <a:off x="2154238" y="3406776"/>
              <a:ext cx="90488" cy="65088"/>
            </a:xfrm>
            <a:custGeom>
              <a:avLst/>
              <a:gdLst>
                <a:gd name="T0" fmla="*/ 0 w 57"/>
                <a:gd name="T1" fmla="*/ 3 h 41"/>
                <a:gd name="T2" fmla="*/ 57 w 57"/>
                <a:gd name="T3" fmla="*/ 0 h 41"/>
                <a:gd name="T4" fmla="*/ 57 w 57"/>
                <a:gd name="T5" fmla="*/ 12 h 41"/>
                <a:gd name="T6" fmla="*/ 18 w 57"/>
                <a:gd name="T7" fmla="*/ 32 h 41"/>
                <a:gd name="T8" fmla="*/ 57 w 57"/>
                <a:gd name="T9" fmla="*/ 30 h 41"/>
                <a:gd name="T10" fmla="*/ 57 w 57"/>
                <a:gd name="T11" fmla="*/ 39 h 41"/>
                <a:gd name="T12" fmla="*/ 0 w 57"/>
                <a:gd name="T13" fmla="*/ 41 h 41"/>
                <a:gd name="T14" fmla="*/ 0 w 57"/>
                <a:gd name="T15" fmla="*/ 30 h 41"/>
                <a:gd name="T16" fmla="*/ 37 w 57"/>
                <a:gd name="T17" fmla="*/ 9 h 41"/>
                <a:gd name="T18" fmla="*/ 0 w 57"/>
                <a:gd name="T19" fmla="*/ 12 h 41"/>
                <a:gd name="T20" fmla="*/ 0 w 57"/>
                <a:gd name="T21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" h="41">
                  <a:moveTo>
                    <a:pt x="0" y="3"/>
                  </a:moveTo>
                  <a:lnTo>
                    <a:pt x="57" y="0"/>
                  </a:lnTo>
                  <a:lnTo>
                    <a:pt x="57" y="12"/>
                  </a:lnTo>
                  <a:lnTo>
                    <a:pt x="18" y="32"/>
                  </a:lnTo>
                  <a:lnTo>
                    <a:pt x="57" y="30"/>
                  </a:lnTo>
                  <a:lnTo>
                    <a:pt x="57" y="39"/>
                  </a:lnTo>
                  <a:lnTo>
                    <a:pt x="0" y="41"/>
                  </a:lnTo>
                  <a:lnTo>
                    <a:pt x="0" y="30"/>
                  </a:lnTo>
                  <a:lnTo>
                    <a:pt x="37" y="9"/>
                  </a:lnTo>
                  <a:lnTo>
                    <a:pt x="0" y="12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î$ļïdè">
              <a:extLst>
                <a:ext uri="{FF2B5EF4-FFF2-40B4-BE49-F238E27FC236}">
                  <a16:creationId xmlns:a16="http://schemas.microsoft.com/office/drawing/2014/main" id="{E0BEA39A-317C-A033-A522-073CE1328D5E}"/>
                </a:ext>
              </a:extLst>
            </p:cNvPr>
            <p:cNvSpPr/>
            <p:nvPr/>
          </p:nvSpPr>
          <p:spPr bwMode="auto">
            <a:xfrm>
              <a:off x="2154238" y="3482976"/>
              <a:ext cx="98425" cy="50800"/>
            </a:xfrm>
            <a:custGeom>
              <a:avLst/>
              <a:gdLst>
                <a:gd name="T0" fmla="*/ 26 w 27"/>
                <a:gd name="T1" fmla="*/ 8 h 14"/>
                <a:gd name="T2" fmla="*/ 27 w 27"/>
                <a:gd name="T3" fmla="*/ 12 h 14"/>
                <a:gd name="T4" fmla="*/ 11 w 27"/>
                <a:gd name="T5" fmla="*/ 14 h 14"/>
                <a:gd name="T6" fmla="*/ 6 w 27"/>
                <a:gd name="T7" fmla="*/ 14 h 14"/>
                <a:gd name="T8" fmla="*/ 2 w 27"/>
                <a:gd name="T9" fmla="*/ 12 h 14"/>
                <a:gd name="T10" fmla="*/ 0 w 27"/>
                <a:gd name="T11" fmla="*/ 8 h 14"/>
                <a:gd name="T12" fmla="*/ 2 w 27"/>
                <a:gd name="T13" fmla="*/ 3 h 14"/>
                <a:gd name="T14" fmla="*/ 8 w 27"/>
                <a:gd name="T15" fmla="*/ 0 h 14"/>
                <a:gd name="T16" fmla="*/ 9 w 27"/>
                <a:gd name="T17" fmla="*/ 4 h 14"/>
                <a:gd name="T18" fmla="*/ 6 w 27"/>
                <a:gd name="T19" fmla="*/ 5 h 14"/>
                <a:gd name="T20" fmla="*/ 5 w 27"/>
                <a:gd name="T21" fmla="*/ 8 h 14"/>
                <a:gd name="T22" fmla="*/ 6 w 27"/>
                <a:gd name="T23" fmla="*/ 9 h 14"/>
                <a:gd name="T24" fmla="*/ 10 w 27"/>
                <a:gd name="T25" fmla="*/ 10 h 14"/>
                <a:gd name="T26" fmla="*/ 26 w 27"/>
                <a:gd name="T27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" h="14">
                  <a:moveTo>
                    <a:pt x="26" y="8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9" y="14"/>
                    <a:pt x="7" y="14"/>
                    <a:pt x="6" y="14"/>
                  </a:cubicBezTo>
                  <a:cubicBezTo>
                    <a:pt x="4" y="14"/>
                    <a:pt x="3" y="13"/>
                    <a:pt x="2" y="12"/>
                  </a:cubicBezTo>
                  <a:cubicBezTo>
                    <a:pt x="1" y="11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1"/>
                    <a:pt x="5" y="1"/>
                    <a:pt x="8" y="0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5"/>
                    <a:pt x="6" y="5"/>
                    <a:pt x="6" y="5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6" y="9"/>
                  </a:cubicBezTo>
                  <a:cubicBezTo>
                    <a:pt x="7" y="10"/>
                    <a:pt x="8" y="10"/>
                    <a:pt x="10" y="10"/>
                  </a:cubicBezTo>
                  <a:lnTo>
                    <a:pt x="26" y="8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îṧḷíḓê">
              <a:extLst>
                <a:ext uri="{FF2B5EF4-FFF2-40B4-BE49-F238E27FC236}">
                  <a16:creationId xmlns:a16="http://schemas.microsoft.com/office/drawing/2014/main" id="{9C8020A2-44B0-E8F2-83F0-ED19E866BBCC}"/>
                </a:ext>
              </a:extLst>
            </p:cNvPr>
            <p:cNvSpPr/>
            <p:nvPr/>
          </p:nvSpPr>
          <p:spPr bwMode="auto">
            <a:xfrm>
              <a:off x="2162175" y="3541713"/>
              <a:ext cx="93663" cy="31750"/>
            </a:xfrm>
            <a:custGeom>
              <a:avLst/>
              <a:gdLst>
                <a:gd name="T0" fmla="*/ 0 w 59"/>
                <a:gd name="T1" fmla="*/ 9 h 20"/>
                <a:gd name="T2" fmla="*/ 57 w 59"/>
                <a:gd name="T3" fmla="*/ 0 h 20"/>
                <a:gd name="T4" fmla="*/ 59 w 59"/>
                <a:gd name="T5" fmla="*/ 9 h 20"/>
                <a:gd name="T6" fmla="*/ 2 w 59"/>
                <a:gd name="T7" fmla="*/ 20 h 20"/>
                <a:gd name="T8" fmla="*/ 0 w 59"/>
                <a:gd name="T9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0">
                  <a:moveTo>
                    <a:pt x="0" y="9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" y="2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ṩ1iḑê">
              <a:extLst>
                <a:ext uri="{FF2B5EF4-FFF2-40B4-BE49-F238E27FC236}">
                  <a16:creationId xmlns:a16="http://schemas.microsoft.com/office/drawing/2014/main" id="{878AA491-4081-B0E1-402A-508D1BA102B5}"/>
                </a:ext>
              </a:extLst>
            </p:cNvPr>
            <p:cNvSpPr/>
            <p:nvPr/>
          </p:nvSpPr>
          <p:spPr bwMode="auto">
            <a:xfrm>
              <a:off x="2168525" y="3570288"/>
              <a:ext cx="104775" cy="84138"/>
            </a:xfrm>
            <a:custGeom>
              <a:avLst/>
              <a:gdLst>
                <a:gd name="T0" fmla="*/ 0 w 66"/>
                <a:gd name="T1" fmla="*/ 14 h 53"/>
                <a:gd name="T2" fmla="*/ 57 w 66"/>
                <a:gd name="T3" fmla="*/ 0 h 53"/>
                <a:gd name="T4" fmla="*/ 59 w 66"/>
                <a:gd name="T5" fmla="*/ 9 h 53"/>
                <a:gd name="T6" fmla="*/ 25 w 66"/>
                <a:gd name="T7" fmla="*/ 39 h 53"/>
                <a:gd name="T8" fmla="*/ 64 w 66"/>
                <a:gd name="T9" fmla="*/ 30 h 53"/>
                <a:gd name="T10" fmla="*/ 66 w 66"/>
                <a:gd name="T11" fmla="*/ 39 h 53"/>
                <a:gd name="T12" fmla="*/ 9 w 66"/>
                <a:gd name="T13" fmla="*/ 53 h 53"/>
                <a:gd name="T14" fmla="*/ 7 w 66"/>
                <a:gd name="T15" fmla="*/ 41 h 53"/>
                <a:gd name="T16" fmla="*/ 39 w 66"/>
                <a:gd name="T17" fmla="*/ 14 h 53"/>
                <a:gd name="T18" fmla="*/ 3 w 66"/>
                <a:gd name="T19" fmla="*/ 23 h 53"/>
                <a:gd name="T20" fmla="*/ 0 w 66"/>
                <a:gd name="T21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53">
                  <a:moveTo>
                    <a:pt x="0" y="14"/>
                  </a:moveTo>
                  <a:lnTo>
                    <a:pt x="57" y="0"/>
                  </a:lnTo>
                  <a:lnTo>
                    <a:pt x="59" y="9"/>
                  </a:lnTo>
                  <a:lnTo>
                    <a:pt x="25" y="39"/>
                  </a:lnTo>
                  <a:lnTo>
                    <a:pt x="64" y="30"/>
                  </a:lnTo>
                  <a:lnTo>
                    <a:pt x="66" y="39"/>
                  </a:lnTo>
                  <a:lnTo>
                    <a:pt x="9" y="53"/>
                  </a:lnTo>
                  <a:lnTo>
                    <a:pt x="7" y="41"/>
                  </a:lnTo>
                  <a:lnTo>
                    <a:pt x="39" y="14"/>
                  </a:lnTo>
                  <a:lnTo>
                    <a:pt x="3" y="23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îṥlîdê">
              <a:extLst>
                <a:ext uri="{FF2B5EF4-FFF2-40B4-BE49-F238E27FC236}">
                  <a16:creationId xmlns:a16="http://schemas.microsoft.com/office/drawing/2014/main" id="{D12A04B6-DDC4-B84E-828B-40C62064A29F}"/>
                </a:ext>
              </a:extLst>
            </p:cNvPr>
            <p:cNvSpPr/>
            <p:nvPr/>
          </p:nvSpPr>
          <p:spPr bwMode="auto">
            <a:xfrm>
              <a:off x="2197100" y="3649663"/>
              <a:ext cx="95250" cy="87313"/>
            </a:xfrm>
            <a:custGeom>
              <a:avLst/>
              <a:gdLst>
                <a:gd name="T0" fmla="*/ 10 w 26"/>
                <a:gd name="T1" fmla="*/ 13 h 24"/>
                <a:gd name="T2" fmla="*/ 14 w 26"/>
                <a:gd name="T3" fmla="*/ 12 h 24"/>
                <a:gd name="T4" fmla="*/ 17 w 26"/>
                <a:gd name="T5" fmla="*/ 20 h 24"/>
                <a:gd name="T6" fmla="*/ 8 w 26"/>
                <a:gd name="T7" fmla="*/ 24 h 24"/>
                <a:gd name="T8" fmla="*/ 4 w 26"/>
                <a:gd name="T9" fmla="*/ 21 h 24"/>
                <a:gd name="T10" fmla="*/ 1 w 26"/>
                <a:gd name="T11" fmla="*/ 17 h 24"/>
                <a:gd name="T12" fmla="*/ 0 w 26"/>
                <a:gd name="T13" fmla="*/ 10 h 24"/>
                <a:gd name="T14" fmla="*/ 3 w 26"/>
                <a:gd name="T15" fmla="*/ 5 h 24"/>
                <a:gd name="T16" fmla="*/ 9 w 26"/>
                <a:gd name="T17" fmla="*/ 2 h 24"/>
                <a:gd name="T18" fmla="*/ 17 w 26"/>
                <a:gd name="T19" fmla="*/ 1 h 24"/>
                <a:gd name="T20" fmla="*/ 22 w 26"/>
                <a:gd name="T21" fmla="*/ 3 h 24"/>
                <a:gd name="T22" fmla="*/ 25 w 26"/>
                <a:gd name="T23" fmla="*/ 7 h 24"/>
                <a:gd name="T24" fmla="*/ 26 w 26"/>
                <a:gd name="T25" fmla="*/ 14 h 24"/>
                <a:gd name="T26" fmla="*/ 22 w 26"/>
                <a:gd name="T27" fmla="*/ 19 h 24"/>
                <a:gd name="T28" fmla="*/ 19 w 26"/>
                <a:gd name="T29" fmla="*/ 15 h 24"/>
                <a:gd name="T30" fmla="*/ 21 w 26"/>
                <a:gd name="T31" fmla="*/ 12 h 24"/>
                <a:gd name="T32" fmla="*/ 21 w 26"/>
                <a:gd name="T33" fmla="*/ 9 h 24"/>
                <a:gd name="T34" fmla="*/ 18 w 26"/>
                <a:gd name="T35" fmla="*/ 5 h 24"/>
                <a:gd name="T36" fmla="*/ 11 w 26"/>
                <a:gd name="T37" fmla="*/ 6 h 24"/>
                <a:gd name="T38" fmla="*/ 5 w 26"/>
                <a:gd name="T39" fmla="*/ 10 h 24"/>
                <a:gd name="T40" fmla="*/ 5 w 26"/>
                <a:gd name="T41" fmla="*/ 15 h 24"/>
                <a:gd name="T42" fmla="*/ 6 w 26"/>
                <a:gd name="T43" fmla="*/ 17 h 24"/>
                <a:gd name="T44" fmla="*/ 9 w 26"/>
                <a:gd name="T45" fmla="*/ 19 h 24"/>
                <a:gd name="T46" fmla="*/ 12 w 26"/>
                <a:gd name="T47" fmla="*/ 18 h 24"/>
                <a:gd name="T48" fmla="*/ 10 w 26"/>
                <a:gd name="T49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" h="24">
                  <a:moveTo>
                    <a:pt x="10" y="13"/>
                  </a:moveTo>
                  <a:cubicBezTo>
                    <a:pt x="14" y="12"/>
                    <a:pt x="14" y="12"/>
                    <a:pt x="14" y="12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3"/>
                    <a:pt x="5" y="22"/>
                    <a:pt x="4" y="21"/>
                  </a:cubicBezTo>
                  <a:cubicBezTo>
                    <a:pt x="2" y="20"/>
                    <a:pt x="1" y="18"/>
                    <a:pt x="1" y="17"/>
                  </a:cubicBezTo>
                  <a:cubicBezTo>
                    <a:pt x="0" y="14"/>
                    <a:pt x="0" y="12"/>
                    <a:pt x="0" y="10"/>
                  </a:cubicBezTo>
                  <a:cubicBezTo>
                    <a:pt x="1" y="8"/>
                    <a:pt x="2" y="7"/>
                    <a:pt x="3" y="5"/>
                  </a:cubicBezTo>
                  <a:cubicBezTo>
                    <a:pt x="5" y="4"/>
                    <a:pt x="7" y="3"/>
                    <a:pt x="9" y="2"/>
                  </a:cubicBezTo>
                  <a:cubicBezTo>
                    <a:pt x="12" y="1"/>
                    <a:pt x="14" y="0"/>
                    <a:pt x="17" y="1"/>
                  </a:cubicBezTo>
                  <a:cubicBezTo>
                    <a:pt x="19" y="1"/>
                    <a:pt x="21" y="2"/>
                    <a:pt x="22" y="3"/>
                  </a:cubicBezTo>
                  <a:cubicBezTo>
                    <a:pt x="24" y="4"/>
                    <a:pt x="25" y="5"/>
                    <a:pt x="25" y="7"/>
                  </a:cubicBezTo>
                  <a:cubicBezTo>
                    <a:pt x="26" y="10"/>
                    <a:pt x="26" y="12"/>
                    <a:pt x="26" y="14"/>
                  </a:cubicBezTo>
                  <a:cubicBezTo>
                    <a:pt x="25" y="16"/>
                    <a:pt x="24" y="17"/>
                    <a:pt x="22" y="19"/>
                  </a:cubicBezTo>
                  <a:cubicBezTo>
                    <a:pt x="19" y="15"/>
                    <a:pt x="19" y="15"/>
                    <a:pt x="19" y="15"/>
                  </a:cubicBezTo>
                  <a:cubicBezTo>
                    <a:pt x="20" y="14"/>
                    <a:pt x="21" y="13"/>
                    <a:pt x="21" y="12"/>
                  </a:cubicBezTo>
                  <a:cubicBezTo>
                    <a:pt x="22" y="11"/>
                    <a:pt x="22" y="10"/>
                    <a:pt x="21" y="9"/>
                  </a:cubicBezTo>
                  <a:cubicBezTo>
                    <a:pt x="21" y="7"/>
                    <a:pt x="19" y="6"/>
                    <a:pt x="18" y="5"/>
                  </a:cubicBezTo>
                  <a:cubicBezTo>
                    <a:pt x="16" y="5"/>
                    <a:pt x="14" y="5"/>
                    <a:pt x="11" y="6"/>
                  </a:cubicBezTo>
                  <a:cubicBezTo>
                    <a:pt x="8" y="7"/>
                    <a:pt x="6" y="8"/>
                    <a:pt x="5" y="10"/>
                  </a:cubicBezTo>
                  <a:cubicBezTo>
                    <a:pt x="4" y="11"/>
                    <a:pt x="4" y="13"/>
                    <a:pt x="5" y="15"/>
                  </a:cubicBezTo>
                  <a:cubicBezTo>
                    <a:pt x="5" y="16"/>
                    <a:pt x="6" y="16"/>
                    <a:pt x="6" y="17"/>
                  </a:cubicBezTo>
                  <a:cubicBezTo>
                    <a:pt x="7" y="18"/>
                    <a:pt x="8" y="18"/>
                    <a:pt x="9" y="19"/>
                  </a:cubicBezTo>
                  <a:cubicBezTo>
                    <a:pt x="12" y="18"/>
                    <a:pt x="12" y="18"/>
                    <a:pt x="12" y="18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îṧľîḑé">
              <a:extLst>
                <a:ext uri="{FF2B5EF4-FFF2-40B4-BE49-F238E27FC236}">
                  <a16:creationId xmlns:a16="http://schemas.microsoft.com/office/drawing/2014/main" id="{3588C69B-794C-4A9D-B27A-C1E9E0077C87}"/>
                </a:ext>
              </a:extLst>
            </p:cNvPr>
            <p:cNvSpPr/>
            <p:nvPr/>
          </p:nvSpPr>
          <p:spPr bwMode="auto">
            <a:xfrm>
              <a:off x="2244725" y="3744913"/>
              <a:ext cx="101600" cy="90488"/>
            </a:xfrm>
            <a:custGeom>
              <a:avLst/>
              <a:gdLst>
                <a:gd name="T0" fmla="*/ 20 w 28"/>
                <a:gd name="T1" fmla="*/ 0 h 25"/>
                <a:gd name="T2" fmla="*/ 22 w 28"/>
                <a:gd name="T3" fmla="*/ 4 h 25"/>
                <a:gd name="T4" fmla="*/ 10 w 28"/>
                <a:gd name="T5" fmla="*/ 11 h 25"/>
                <a:gd name="T6" fmla="*/ 6 w 28"/>
                <a:gd name="T7" fmla="*/ 13 h 25"/>
                <a:gd name="T8" fmla="*/ 4 w 28"/>
                <a:gd name="T9" fmla="*/ 15 h 25"/>
                <a:gd name="T10" fmla="*/ 5 w 28"/>
                <a:gd name="T11" fmla="*/ 18 h 25"/>
                <a:gd name="T12" fmla="*/ 7 w 28"/>
                <a:gd name="T13" fmla="*/ 20 h 25"/>
                <a:gd name="T14" fmla="*/ 10 w 28"/>
                <a:gd name="T15" fmla="*/ 20 h 25"/>
                <a:gd name="T16" fmla="*/ 13 w 28"/>
                <a:gd name="T17" fmla="*/ 19 h 25"/>
                <a:gd name="T18" fmla="*/ 26 w 28"/>
                <a:gd name="T19" fmla="*/ 12 h 25"/>
                <a:gd name="T20" fmla="*/ 28 w 28"/>
                <a:gd name="T21" fmla="*/ 16 h 25"/>
                <a:gd name="T22" fmla="*/ 16 w 28"/>
                <a:gd name="T23" fmla="*/ 22 h 25"/>
                <a:gd name="T24" fmla="*/ 10 w 28"/>
                <a:gd name="T25" fmla="*/ 25 h 25"/>
                <a:gd name="T26" fmla="*/ 7 w 28"/>
                <a:gd name="T27" fmla="*/ 25 h 25"/>
                <a:gd name="T28" fmla="*/ 4 w 28"/>
                <a:gd name="T29" fmla="*/ 24 h 25"/>
                <a:gd name="T30" fmla="*/ 1 w 28"/>
                <a:gd name="T31" fmla="*/ 21 h 25"/>
                <a:gd name="T32" fmla="*/ 0 w 28"/>
                <a:gd name="T33" fmla="*/ 16 h 25"/>
                <a:gd name="T34" fmla="*/ 0 w 28"/>
                <a:gd name="T35" fmla="*/ 13 h 25"/>
                <a:gd name="T36" fmla="*/ 2 w 28"/>
                <a:gd name="T37" fmla="*/ 10 h 25"/>
                <a:gd name="T38" fmla="*/ 8 w 28"/>
                <a:gd name="T39" fmla="*/ 7 h 25"/>
                <a:gd name="T40" fmla="*/ 20 w 28"/>
                <a:gd name="T4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5">
                  <a:moveTo>
                    <a:pt x="20" y="0"/>
                  </a:moveTo>
                  <a:cubicBezTo>
                    <a:pt x="22" y="4"/>
                    <a:pt x="22" y="4"/>
                    <a:pt x="22" y="4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8" y="12"/>
                    <a:pt x="7" y="13"/>
                    <a:pt x="6" y="13"/>
                  </a:cubicBezTo>
                  <a:cubicBezTo>
                    <a:pt x="5" y="14"/>
                    <a:pt x="5" y="14"/>
                    <a:pt x="4" y="15"/>
                  </a:cubicBezTo>
                  <a:cubicBezTo>
                    <a:pt x="4" y="16"/>
                    <a:pt x="4" y="17"/>
                    <a:pt x="5" y="18"/>
                  </a:cubicBezTo>
                  <a:cubicBezTo>
                    <a:pt x="6" y="19"/>
                    <a:pt x="6" y="20"/>
                    <a:pt x="7" y="20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0" y="20"/>
                    <a:pt x="12" y="19"/>
                    <a:pt x="13" y="19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4" y="23"/>
                    <a:pt x="12" y="24"/>
                    <a:pt x="10" y="25"/>
                  </a:cubicBezTo>
                  <a:cubicBezTo>
                    <a:pt x="9" y="25"/>
                    <a:pt x="8" y="25"/>
                    <a:pt x="7" y="25"/>
                  </a:cubicBezTo>
                  <a:cubicBezTo>
                    <a:pt x="6" y="25"/>
                    <a:pt x="5" y="25"/>
                    <a:pt x="4" y="24"/>
                  </a:cubicBezTo>
                  <a:cubicBezTo>
                    <a:pt x="3" y="23"/>
                    <a:pt x="2" y="22"/>
                    <a:pt x="1" y="21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5"/>
                    <a:pt x="0" y="14"/>
                    <a:pt x="0" y="13"/>
                  </a:cubicBezTo>
                  <a:cubicBezTo>
                    <a:pt x="1" y="12"/>
                    <a:pt x="2" y="11"/>
                    <a:pt x="2" y="10"/>
                  </a:cubicBezTo>
                  <a:cubicBezTo>
                    <a:pt x="3" y="9"/>
                    <a:pt x="5" y="8"/>
                    <a:pt x="8" y="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ï$ļíḑe">
              <a:extLst>
                <a:ext uri="{FF2B5EF4-FFF2-40B4-BE49-F238E27FC236}">
                  <a16:creationId xmlns:a16="http://schemas.microsoft.com/office/drawing/2014/main" id="{3B846306-3EF6-F1A0-B72E-27B513CC9AD0}"/>
                </a:ext>
              </a:extLst>
            </p:cNvPr>
            <p:cNvSpPr/>
            <p:nvPr/>
          </p:nvSpPr>
          <p:spPr bwMode="auto">
            <a:xfrm>
              <a:off x="2276475" y="3813176"/>
              <a:ext cx="112713" cy="101600"/>
            </a:xfrm>
            <a:custGeom>
              <a:avLst/>
              <a:gdLst>
                <a:gd name="T0" fmla="*/ 0 w 71"/>
                <a:gd name="T1" fmla="*/ 32 h 64"/>
                <a:gd name="T2" fmla="*/ 48 w 71"/>
                <a:gd name="T3" fmla="*/ 0 h 64"/>
                <a:gd name="T4" fmla="*/ 53 w 71"/>
                <a:gd name="T5" fmla="*/ 7 h 64"/>
                <a:gd name="T6" fmla="*/ 32 w 71"/>
                <a:gd name="T7" fmla="*/ 46 h 64"/>
                <a:gd name="T8" fmla="*/ 64 w 71"/>
                <a:gd name="T9" fmla="*/ 25 h 64"/>
                <a:gd name="T10" fmla="*/ 71 w 71"/>
                <a:gd name="T11" fmla="*/ 32 h 64"/>
                <a:gd name="T12" fmla="*/ 21 w 71"/>
                <a:gd name="T13" fmla="*/ 64 h 64"/>
                <a:gd name="T14" fmla="*/ 16 w 71"/>
                <a:gd name="T15" fmla="*/ 57 h 64"/>
                <a:gd name="T16" fmla="*/ 37 w 71"/>
                <a:gd name="T17" fmla="*/ 18 h 64"/>
                <a:gd name="T18" fmla="*/ 5 w 71"/>
                <a:gd name="T19" fmla="*/ 39 h 64"/>
                <a:gd name="T20" fmla="*/ 0 w 71"/>
                <a:gd name="T2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1" h="64">
                  <a:moveTo>
                    <a:pt x="0" y="32"/>
                  </a:moveTo>
                  <a:lnTo>
                    <a:pt x="48" y="0"/>
                  </a:lnTo>
                  <a:lnTo>
                    <a:pt x="53" y="7"/>
                  </a:lnTo>
                  <a:lnTo>
                    <a:pt x="32" y="46"/>
                  </a:lnTo>
                  <a:lnTo>
                    <a:pt x="64" y="25"/>
                  </a:lnTo>
                  <a:lnTo>
                    <a:pt x="71" y="32"/>
                  </a:lnTo>
                  <a:lnTo>
                    <a:pt x="21" y="64"/>
                  </a:lnTo>
                  <a:lnTo>
                    <a:pt x="16" y="57"/>
                  </a:lnTo>
                  <a:lnTo>
                    <a:pt x="37" y="18"/>
                  </a:lnTo>
                  <a:lnTo>
                    <a:pt x="5" y="39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iṩḷïde">
              <a:extLst>
                <a:ext uri="{FF2B5EF4-FFF2-40B4-BE49-F238E27FC236}">
                  <a16:creationId xmlns:a16="http://schemas.microsoft.com/office/drawing/2014/main" id="{2DDABF60-0BA2-8B8D-6B07-0BE8C84280D4}"/>
                </a:ext>
              </a:extLst>
            </p:cNvPr>
            <p:cNvSpPr/>
            <p:nvPr/>
          </p:nvSpPr>
          <p:spPr bwMode="auto">
            <a:xfrm>
              <a:off x="2324100" y="3875088"/>
              <a:ext cx="82550" cy="68263"/>
            </a:xfrm>
            <a:custGeom>
              <a:avLst/>
              <a:gdLst>
                <a:gd name="T0" fmla="*/ 0 w 52"/>
                <a:gd name="T1" fmla="*/ 36 h 43"/>
                <a:gd name="T2" fmla="*/ 45 w 52"/>
                <a:gd name="T3" fmla="*/ 0 h 43"/>
                <a:gd name="T4" fmla="*/ 52 w 52"/>
                <a:gd name="T5" fmla="*/ 7 h 43"/>
                <a:gd name="T6" fmla="*/ 7 w 52"/>
                <a:gd name="T7" fmla="*/ 43 h 43"/>
                <a:gd name="T8" fmla="*/ 0 w 52"/>
                <a:gd name="T9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43">
                  <a:moveTo>
                    <a:pt x="0" y="36"/>
                  </a:moveTo>
                  <a:lnTo>
                    <a:pt x="45" y="0"/>
                  </a:lnTo>
                  <a:lnTo>
                    <a:pt x="52" y="7"/>
                  </a:lnTo>
                  <a:lnTo>
                    <a:pt x="7" y="43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$ḷïďê">
              <a:extLst>
                <a:ext uri="{FF2B5EF4-FFF2-40B4-BE49-F238E27FC236}">
                  <a16:creationId xmlns:a16="http://schemas.microsoft.com/office/drawing/2014/main" id="{817DB484-5D5C-A3C3-8097-0E3337CC020F}"/>
                </a:ext>
              </a:extLst>
            </p:cNvPr>
            <p:cNvSpPr/>
            <p:nvPr/>
          </p:nvSpPr>
          <p:spPr bwMode="auto">
            <a:xfrm>
              <a:off x="2360613" y="3889376"/>
              <a:ext cx="96838" cy="98425"/>
            </a:xfrm>
            <a:custGeom>
              <a:avLst/>
              <a:gdLst>
                <a:gd name="T0" fmla="*/ 0 w 61"/>
                <a:gd name="T1" fmla="*/ 52 h 62"/>
                <a:gd name="T2" fmla="*/ 29 w 61"/>
                <a:gd name="T3" fmla="*/ 0 h 62"/>
                <a:gd name="T4" fmla="*/ 38 w 61"/>
                <a:gd name="T5" fmla="*/ 9 h 62"/>
                <a:gd name="T6" fmla="*/ 13 w 61"/>
                <a:gd name="T7" fmla="*/ 48 h 62"/>
                <a:gd name="T8" fmla="*/ 54 w 61"/>
                <a:gd name="T9" fmla="*/ 27 h 62"/>
                <a:gd name="T10" fmla="*/ 61 w 61"/>
                <a:gd name="T11" fmla="*/ 34 h 62"/>
                <a:gd name="T12" fmla="*/ 7 w 61"/>
                <a:gd name="T13" fmla="*/ 62 h 62"/>
                <a:gd name="T14" fmla="*/ 0 w 61"/>
                <a:gd name="T15" fmla="*/ 5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2">
                  <a:moveTo>
                    <a:pt x="0" y="52"/>
                  </a:moveTo>
                  <a:lnTo>
                    <a:pt x="29" y="0"/>
                  </a:lnTo>
                  <a:lnTo>
                    <a:pt x="38" y="9"/>
                  </a:lnTo>
                  <a:lnTo>
                    <a:pt x="13" y="48"/>
                  </a:lnTo>
                  <a:lnTo>
                    <a:pt x="54" y="27"/>
                  </a:lnTo>
                  <a:lnTo>
                    <a:pt x="61" y="34"/>
                  </a:lnTo>
                  <a:lnTo>
                    <a:pt x="7" y="62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îśľïḑe">
              <a:extLst>
                <a:ext uri="{FF2B5EF4-FFF2-40B4-BE49-F238E27FC236}">
                  <a16:creationId xmlns:a16="http://schemas.microsoft.com/office/drawing/2014/main" id="{03503FD3-4079-7357-3F0C-5BB558D9D6C1}"/>
                </a:ext>
              </a:extLst>
            </p:cNvPr>
            <p:cNvSpPr/>
            <p:nvPr/>
          </p:nvSpPr>
          <p:spPr bwMode="auto">
            <a:xfrm>
              <a:off x="2400300" y="3946526"/>
              <a:ext cx="104775" cy="109538"/>
            </a:xfrm>
            <a:custGeom>
              <a:avLst/>
              <a:gdLst>
                <a:gd name="T0" fmla="*/ 0 w 66"/>
                <a:gd name="T1" fmla="*/ 44 h 69"/>
                <a:gd name="T2" fmla="*/ 38 w 66"/>
                <a:gd name="T3" fmla="*/ 0 h 69"/>
                <a:gd name="T4" fmla="*/ 66 w 66"/>
                <a:gd name="T5" fmla="*/ 26 h 69"/>
                <a:gd name="T6" fmla="*/ 59 w 66"/>
                <a:gd name="T7" fmla="*/ 32 h 69"/>
                <a:gd name="T8" fmla="*/ 38 w 66"/>
                <a:gd name="T9" fmla="*/ 14 h 69"/>
                <a:gd name="T10" fmla="*/ 29 w 66"/>
                <a:gd name="T11" fmla="*/ 26 h 69"/>
                <a:gd name="T12" fmla="*/ 47 w 66"/>
                <a:gd name="T13" fmla="*/ 42 h 69"/>
                <a:gd name="T14" fmla="*/ 43 w 66"/>
                <a:gd name="T15" fmla="*/ 48 h 69"/>
                <a:gd name="T16" fmla="*/ 22 w 66"/>
                <a:gd name="T17" fmla="*/ 32 h 69"/>
                <a:gd name="T18" fmla="*/ 13 w 66"/>
                <a:gd name="T19" fmla="*/ 44 h 69"/>
                <a:gd name="T20" fmla="*/ 34 w 66"/>
                <a:gd name="T21" fmla="*/ 62 h 69"/>
                <a:gd name="T22" fmla="*/ 27 w 66"/>
                <a:gd name="T23" fmla="*/ 69 h 69"/>
                <a:gd name="T24" fmla="*/ 0 w 66"/>
                <a:gd name="T25" fmla="*/ 4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0" y="44"/>
                  </a:moveTo>
                  <a:lnTo>
                    <a:pt x="38" y="0"/>
                  </a:lnTo>
                  <a:lnTo>
                    <a:pt x="66" y="26"/>
                  </a:lnTo>
                  <a:lnTo>
                    <a:pt x="59" y="32"/>
                  </a:lnTo>
                  <a:lnTo>
                    <a:pt x="38" y="14"/>
                  </a:lnTo>
                  <a:lnTo>
                    <a:pt x="29" y="26"/>
                  </a:lnTo>
                  <a:lnTo>
                    <a:pt x="47" y="42"/>
                  </a:lnTo>
                  <a:lnTo>
                    <a:pt x="43" y="48"/>
                  </a:lnTo>
                  <a:lnTo>
                    <a:pt x="22" y="32"/>
                  </a:lnTo>
                  <a:lnTo>
                    <a:pt x="13" y="44"/>
                  </a:lnTo>
                  <a:lnTo>
                    <a:pt x="34" y="62"/>
                  </a:lnTo>
                  <a:lnTo>
                    <a:pt x="27" y="69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ïSlîḍè">
              <a:extLst>
                <a:ext uri="{FF2B5EF4-FFF2-40B4-BE49-F238E27FC236}">
                  <a16:creationId xmlns:a16="http://schemas.microsoft.com/office/drawing/2014/main" id="{797974A7-A584-C474-43E0-0D0867D8EDD2}"/>
                </a:ext>
              </a:extLst>
            </p:cNvPr>
            <p:cNvSpPr/>
            <p:nvPr/>
          </p:nvSpPr>
          <p:spPr bwMode="auto">
            <a:xfrm>
              <a:off x="2457450" y="3994151"/>
              <a:ext cx="96838" cy="115888"/>
            </a:xfrm>
            <a:custGeom>
              <a:avLst/>
              <a:gdLst>
                <a:gd name="T0" fmla="*/ 0 w 27"/>
                <a:gd name="T1" fmla="*/ 21 h 32"/>
                <a:gd name="T2" fmla="*/ 15 w 27"/>
                <a:gd name="T3" fmla="*/ 0 h 32"/>
                <a:gd name="T4" fmla="*/ 23 w 27"/>
                <a:gd name="T5" fmla="*/ 6 h 32"/>
                <a:gd name="T6" fmla="*/ 26 w 27"/>
                <a:gd name="T7" fmla="*/ 9 h 32"/>
                <a:gd name="T8" fmla="*/ 27 w 27"/>
                <a:gd name="T9" fmla="*/ 13 h 32"/>
                <a:gd name="T10" fmla="*/ 25 w 27"/>
                <a:gd name="T11" fmla="*/ 16 h 32"/>
                <a:gd name="T12" fmla="*/ 21 w 27"/>
                <a:gd name="T13" fmla="*/ 19 h 32"/>
                <a:gd name="T14" fmla="*/ 16 w 27"/>
                <a:gd name="T15" fmla="*/ 19 h 32"/>
                <a:gd name="T16" fmla="*/ 17 w 27"/>
                <a:gd name="T17" fmla="*/ 22 h 32"/>
                <a:gd name="T18" fmla="*/ 16 w 27"/>
                <a:gd name="T19" fmla="*/ 27 h 32"/>
                <a:gd name="T20" fmla="*/ 16 w 27"/>
                <a:gd name="T21" fmla="*/ 32 h 32"/>
                <a:gd name="T22" fmla="*/ 11 w 27"/>
                <a:gd name="T23" fmla="*/ 29 h 32"/>
                <a:gd name="T24" fmla="*/ 12 w 27"/>
                <a:gd name="T25" fmla="*/ 23 h 32"/>
                <a:gd name="T26" fmla="*/ 13 w 27"/>
                <a:gd name="T27" fmla="*/ 18 h 32"/>
                <a:gd name="T28" fmla="*/ 12 w 27"/>
                <a:gd name="T29" fmla="*/ 17 h 32"/>
                <a:gd name="T30" fmla="*/ 11 w 27"/>
                <a:gd name="T31" fmla="*/ 15 h 32"/>
                <a:gd name="T32" fmla="*/ 10 w 27"/>
                <a:gd name="T33" fmla="*/ 15 h 32"/>
                <a:gd name="T34" fmla="*/ 3 w 27"/>
                <a:gd name="T35" fmla="*/ 23 h 32"/>
                <a:gd name="T36" fmla="*/ 0 w 27"/>
                <a:gd name="T37" fmla="*/ 21 h 32"/>
                <a:gd name="T38" fmla="*/ 12 w 27"/>
                <a:gd name="T39" fmla="*/ 11 h 32"/>
                <a:gd name="T40" fmla="*/ 15 w 27"/>
                <a:gd name="T41" fmla="*/ 13 h 32"/>
                <a:gd name="T42" fmla="*/ 18 w 27"/>
                <a:gd name="T43" fmla="*/ 15 h 32"/>
                <a:gd name="T44" fmla="*/ 20 w 27"/>
                <a:gd name="T45" fmla="*/ 15 h 32"/>
                <a:gd name="T46" fmla="*/ 21 w 27"/>
                <a:gd name="T47" fmla="*/ 14 h 32"/>
                <a:gd name="T48" fmla="*/ 22 w 27"/>
                <a:gd name="T49" fmla="*/ 12 h 32"/>
                <a:gd name="T50" fmla="*/ 21 w 27"/>
                <a:gd name="T51" fmla="*/ 10 h 32"/>
                <a:gd name="T52" fmla="*/ 19 w 27"/>
                <a:gd name="T53" fmla="*/ 8 h 32"/>
                <a:gd name="T54" fmla="*/ 16 w 27"/>
                <a:gd name="T55" fmla="*/ 6 h 32"/>
                <a:gd name="T56" fmla="*/ 12 w 27"/>
                <a:gd name="T57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" h="32">
                  <a:moveTo>
                    <a:pt x="0" y="21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4" y="7"/>
                    <a:pt x="26" y="8"/>
                    <a:pt x="26" y="9"/>
                  </a:cubicBezTo>
                  <a:cubicBezTo>
                    <a:pt x="27" y="10"/>
                    <a:pt x="27" y="11"/>
                    <a:pt x="27" y="13"/>
                  </a:cubicBezTo>
                  <a:cubicBezTo>
                    <a:pt x="27" y="14"/>
                    <a:pt x="26" y="15"/>
                    <a:pt x="25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20" y="20"/>
                    <a:pt x="18" y="20"/>
                    <a:pt x="16" y="19"/>
                  </a:cubicBezTo>
                  <a:cubicBezTo>
                    <a:pt x="17" y="20"/>
                    <a:pt x="17" y="21"/>
                    <a:pt x="17" y="22"/>
                  </a:cubicBezTo>
                  <a:cubicBezTo>
                    <a:pt x="17" y="23"/>
                    <a:pt x="17" y="24"/>
                    <a:pt x="16" y="27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2" y="20"/>
                    <a:pt x="13" y="19"/>
                    <a:pt x="13" y="18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6"/>
                    <a:pt x="11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3" y="23"/>
                    <a:pt x="3" y="23"/>
                    <a:pt x="3" y="23"/>
                  </a:cubicBezTo>
                  <a:lnTo>
                    <a:pt x="0" y="21"/>
                  </a:lnTo>
                  <a:close/>
                  <a:moveTo>
                    <a:pt x="12" y="11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9" y="16"/>
                    <a:pt x="19" y="15"/>
                    <a:pt x="20" y="15"/>
                  </a:cubicBezTo>
                  <a:cubicBezTo>
                    <a:pt x="20" y="15"/>
                    <a:pt x="21" y="15"/>
                    <a:pt x="21" y="14"/>
                  </a:cubicBezTo>
                  <a:cubicBezTo>
                    <a:pt x="22" y="13"/>
                    <a:pt x="22" y="13"/>
                    <a:pt x="22" y="12"/>
                  </a:cubicBezTo>
                  <a:cubicBezTo>
                    <a:pt x="22" y="11"/>
                    <a:pt x="22" y="11"/>
                    <a:pt x="21" y="10"/>
                  </a:cubicBezTo>
                  <a:cubicBezTo>
                    <a:pt x="21" y="10"/>
                    <a:pt x="20" y="9"/>
                    <a:pt x="19" y="8"/>
                  </a:cubicBezTo>
                  <a:cubicBezTo>
                    <a:pt x="16" y="6"/>
                    <a:pt x="16" y="6"/>
                    <a:pt x="16" y="6"/>
                  </a:cubicBezTo>
                  <a:lnTo>
                    <a:pt x="12" y="1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şliḍé">
              <a:extLst>
                <a:ext uri="{FF2B5EF4-FFF2-40B4-BE49-F238E27FC236}">
                  <a16:creationId xmlns:a16="http://schemas.microsoft.com/office/drawing/2014/main" id="{E3330533-0DAD-703F-ABE1-7B3D4D11DD95}"/>
                </a:ext>
              </a:extLst>
            </p:cNvPr>
            <p:cNvSpPr/>
            <p:nvPr/>
          </p:nvSpPr>
          <p:spPr bwMode="auto">
            <a:xfrm>
              <a:off x="2533650" y="4044951"/>
              <a:ext cx="79375" cy="93663"/>
            </a:xfrm>
            <a:custGeom>
              <a:avLst/>
              <a:gdLst>
                <a:gd name="T0" fmla="*/ 1 w 22"/>
                <a:gd name="T1" fmla="*/ 13 h 26"/>
                <a:gd name="T2" fmla="*/ 5 w 22"/>
                <a:gd name="T3" fmla="*/ 14 h 26"/>
                <a:gd name="T4" fmla="*/ 5 w 22"/>
                <a:gd name="T5" fmla="*/ 18 h 26"/>
                <a:gd name="T6" fmla="*/ 7 w 22"/>
                <a:gd name="T7" fmla="*/ 21 h 26"/>
                <a:gd name="T8" fmla="*/ 10 w 22"/>
                <a:gd name="T9" fmla="*/ 22 h 26"/>
                <a:gd name="T10" fmla="*/ 12 w 22"/>
                <a:gd name="T11" fmla="*/ 20 h 26"/>
                <a:gd name="T12" fmla="*/ 13 w 22"/>
                <a:gd name="T13" fmla="*/ 19 h 26"/>
                <a:gd name="T14" fmla="*/ 12 w 22"/>
                <a:gd name="T15" fmla="*/ 17 h 26"/>
                <a:gd name="T16" fmla="*/ 9 w 22"/>
                <a:gd name="T17" fmla="*/ 14 h 26"/>
                <a:gd name="T18" fmla="*/ 6 w 22"/>
                <a:gd name="T19" fmla="*/ 9 h 26"/>
                <a:gd name="T20" fmla="*/ 7 w 22"/>
                <a:gd name="T21" fmla="*/ 4 h 26"/>
                <a:gd name="T22" fmla="*/ 10 w 22"/>
                <a:gd name="T23" fmla="*/ 1 h 26"/>
                <a:gd name="T24" fmla="*/ 14 w 22"/>
                <a:gd name="T25" fmla="*/ 0 h 26"/>
                <a:gd name="T26" fmla="*/ 18 w 22"/>
                <a:gd name="T27" fmla="*/ 2 h 26"/>
                <a:gd name="T28" fmla="*/ 22 w 22"/>
                <a:gd name="T29" fmla="*/ 7 h 26"/>
                <a:gd name="T30" fmla="*/ 21 w 22"/>
                <a:gd name="T31" fmla="*/ 13 h 26"/>
                <a:gd name="T32" fmla="*/ 17 w 22"/>
                <a:gd name="T33" fmla="*/ 11 h 26"/>
                <a:gd name="T34" fmla="*/ 18 w 22"/>
                <a:gd name="T35" fmla="*/ 8 h 26"/>
                <a:gd name="T36" fmla="*/ 16 w 22"/>
                <a:gd name="T37" fmla="*/ 5 h 26"/>
                <a:gd name="T38" fmla="*/ 13 w 22"/>
                <a:gd name="T39" fmla="*/ 5 h 26"/>
                <a:gd name="T40" fmla="*/ 11 w 22"/>
                <a:gd name="T41" fmla="*/ 6 h 26"/>
                <a:gd name="T42" fmla="*/ 11 w 22"/>
                <a:gd name="T43" fmla="*/ 7 h 26"/>
                <a:gd name="T44" fmla="*/ 13 w 22"/>
                <a:gd name="T45" fmla="*/ 11 h 26"/>
                <a:gd name="T46" fmla="*/ 17 w 22"/>
                <a:gd name="T47" fmla="*/ 15 h 26"/>
                <a:gd name="T48" fmla="*/ 17 w 22"/>
                <a:gd name="T49" fmla="*/ 18 h 26"/>
                <a:gd name="T50" fmla="*/ 16 w 22"/>
                <a:gd name="T51" fmla="*/ 22 h 26"/>
                <a:gd name="T52" fmla="*/ 13 w 22"/>
                <a:gd name="T53" fmla="*/ 25 h 26"/>
                <a:gd name="T54" fmla="*/ 9 w 22"/>
                <a:gd name="T55" fmla="*/ 26 h 26"/>
                <a:gd name="T56" fmla="*/ 4 w 22"/>
                <a:gd name="T57" fmla="*/ 25 h 26"/>
                <a:gd name="T58" fmla="*/ 0 w 22"/>
                <a:gd name="T59" fmla="*/ 20 h 26"/>
                <a:gd name="T60" fmla="*/ 1 w 22"/>
                <a:gd name="T6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26">
                  <a:moveTo>
                    <a:pt x="1" y="13"/>
                  </a:moveTo>
                  <a:cubicBezTo>
                    <a:pt x="5" y="14"/>
                    <a:pt x="5" y="14"/>
                    <a:pt x="5" y="14"/>
                  </a:cubicBezTo>
                  <a:cubicBezTo>
                    <a:pt x="5" y="16"/>
                    <a:pt x="4" y="17"/>
                    <a:pt x="5" y="18"/>
                  </a:cubicBezTo>
                  <a:cubicBezTo>
                    <a:pt x="5" y="19"/>
                    <a:pt x="6" y="20"/>
                    <a:pt x="7" y="21"/>
                  </a:cubicBezTo>
                  <a:cubicBezTo>
                    <a:pt x="8" y="22"/>
                    <a:pt x="9" y="22"/>
                    <a:pt x="10" y="22"/>
                  </a:cubicBezTo>
                  <a:cubicBezTo>
                    <a:pt x="11" y="21"/>
                    <a:pt x="12" y="21"/>
                    <a:pt x="12" y="20"/>
                  </a:cubicBezTo>
                  <a:cubicBezTo>
                    <a:pt x="13" y="20"/>
                    <a:pt x="13" y="19"/>
                    <a:pt x="13" y="19"/>
                  </a:cubicBezTo>
                  <a:cubicBezTo>
                    <a:pt x="13" y="18"/>
                    <a:pt x="12" y="17"/>
                    <a:pt x="12" y="17"/>
                  </a:cubicBezTo>
                  <a:cubicBezTo>
                    <a:pt x="12" y="16"/>
                    <a:pt x="11" y="15"/>
                    <a:pt x="9" y="14"/>
                  </a:cubicBezTo>
                  <a:cubicBezTo>
                    <a:pt x="8" y="12"/>
                    <a:pt x="7" y="11"/>
                    <a:pt x="6" y="9"/>
                  </a:cubicBezTo>
                  <a:cubicBezTo>
                    <a:pt x="6" y="7"/>
                    <a:pt x="6" y="6"/>
                    <a:pt x="7" y="4"/>
                  </a:cubicBezTo>
                  <a:cubicBezTo>
                    <a:pt x="8" y="3"/>
                    <a:pt x="9" y="2"/>
                    <a:pt x="10" y="1"/>
                  </a:cubicBezTo>
                  <a:cubicBezTo>
                    <a:pt x="11" y="1"/>
                    <a:pt x="12" y="0"/>
                    <a:pt x="14" y="0"/>
                  </a:cubicBezTo>
                  <a:cubicBezTo>
                    <a:pt x="15" y="1"/>
                    <a:pt x="16" y="1"/>
                    <a:pt x="18" y="2"/>
                  </a:cubicBezTo>
                  <a:cubicBezTo>
                    <a:pt x="20" y="3"/>
                    <a:pt x="22" y="5"/>
                    <a:pt x="22" y="7"/>
                  </a:cubicBezTo>
                  <a:cubicBezTo>
                    <a:pt x="22" y="9"/>
                    <a:pt x="22" y="11"/>
                    <a:pt x="21" y="13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9"/>
                    <a:pt x="18" y="8"/>
                    <a:pt x="18" y="8"/>
                  </a:cubicBezTo>
                  <a:cubicBezTo>
                    <a:pt x="17" y="7"/>
                    <a:pt x="17" y="6"/>
                    <a:pt x="16" y="5"/>
                  </a:cubicBezTo>
                  <a:cubicBezTo>
                    <a:pt x="14" y="5"/>
                    <a:pt x="13" y="5"/>
                    <a:pt x="13" y="5"/>
                  </a:cubicBezTo>
                  <a:cubicBezTo>
                    <a:pt x="12" y="5"/>
                    <a:pt x="11" y="5"/>
                    <a:pt x="11" y="6"/>
                  </a:cubicBezTo>
                  <a:cubicBezTo>
                    <a:pt x="11" y="6"/>
                    <a:pt x="11" y="7"/>
                    <a:pt x="11" y="7"/>
                  </a:cubicBezTo>
                  <a:cubicBezTo>
                    <a:pt x="11" y="8"/>
                    <a:pt x="12" y="9"/>
                    <a:pt x="13" y="11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7" y="16"/>
                    <a:pt x="17" y="17"/>
                    <a:pt x="17" y="18"/>
                  </a:cubicBezTo>
                  <a:cubicBezTo>
                    <a:pt x="17" y="20"/>
                    <a:pt x="17" y="21"/>
                    <a:pt x="16" y="22"/>
                  </a:cubicBezTo>
                  <a:cubicBezTo>
                    <a:pt x="15" y="24"/>
                    <a:pt x="14" y="25"/>
                    <a:pt x="13" y="25"/>
                  </a:cubicBezTo>
                  <a:cubicBezTo>
                    <a:pt x="12" y="26"/>
                    <a:pt x="10" y="26"/>
                    <a:pt x="9" y="26"/>
                  </a:cubicBezTo>
                  <a:cubicBezTo>
                    <a:pt x="8" y="26"/>
                    <a:pt x="6" y="26"/>
                    <a:pt x="4" y="25"/>
                  </a:cubicBezTo>
                  <a:cubicBezTo>
                    <a:pt x="2" y="23"/>
                    <a:pt x="1" y="22"/>
                    <a:pt x="0" y="20"/>
                  </a:cubicBezTo>
                  <a:cubicBezTo>
                    <a:pt x="0" y="17"/>
                    <a:pt x="0" y="15"/>
                    <a:pt x="1" y="1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ísḻïde">
              <a:extLst>
                <a:ext uri="{FF2B5EF4-FFF2-40B4-BE49-F238E27FC236}">
                  <a16:creationId xmlns:a16="http://schemas.microsoft.com/office/drawing/2014/main" id="{170C29F5-AA14-F70B-7285-A0F09F0694B5}"/>
                </a:ext>
              </a:extLst>
            </p:cNvPr>
            <p:cNvSpPr/>
            <p:nvPr/>
          </p:nvSpPr>
          <p:spPr bwMode="auto">
            <a:xfrm>
              <a:off x="2590800" y="4073526"/>
              <a:ext cx="58738" cy="90488"/>
            </a:xfrm>
            <a:custGeom>
              <a:avLst/>
              <a:gdLst>
                <a:gd name="T0" fmla="*/ 0 w 37"/>
                <a:gd name="T1" fmla="*/ 53 h 57"/>
                <a:gd name="T2" fmla="*/ 27 w 37"/>
                <a:gd name="T3" fmla="*/ 0 h 57"/>
                <a:gd name="T4" fmla="*/ 37 w 37"/>
                <a:gd name="T5" fmla="*/ 5 h 57"/>
                <a:gd name="T6" fmla="*/ 9 w 37"/>
                <a:gd name="T7" fmla="*/ 57 h 57"/>
                <a:gd name="T8" fmla="*/ 0 w 37"/>
                <a:gd name="T9" fmla="*/ 5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57">
                  <a:moveTo>
                    <a:pt x="0" y="53"/>
                  </a:moveTo>
                  <a:lnTo>
                    <a:pt x="27" y="0"/>
                  </a:lnTo>
                  <a:lnTo>
                    <a:pt x="37" y="5"/>
                  </a:lnTo>
                  <a:lnTo>
                    <a:pt x="9" y="57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iŝļiḋê">
              <a:extLst>
                <a:ext uri="{FF2B5EF4-FFF2-40B4-BE49-F238E27FC236}">
                  <a16:creationId xmlns:a16="http://schemas.microsoft.com/office/drawing/2014/main" id="{433573EA-2A51-AAF4-4F80-3326D88185F0}"/>
                </a:ext>
              </a:extLst>
            </p:cNvPr>
            <p:cNvSpPr/>
            <p:nvPr/>
          </p:nvSpPr>
          <p:spPr bwMode="auto">
            <a:xfrm>
              <a:off x="2638425" y="4084638"/>
              <a:ext cx="71438" cy="101600"/>
            </a:xfrm>
            <a:custGeom>
              <a:avLst/>
              <a:gdLst>
                <a:gd name="T0" fmla="*/ 0 w 45"/>
                <a:gd name="T1" fmla="*/ 60 h 64"/>
                <a:gd name="T2" fmla="*/ 20 w 45"/>
                <a:gd name="T3" fmla="*/ 14 h 64"/>
                <a:gd name="T4" fmla="*/ 7 w 45"/>
                <a:gd name="T5" fmla="*/ 9 h 64"/>
                <a:gd name="T6" fmla="*/ 9 w 45"/>
                <a:gd name="T7" fmla="*/ 0 h 64"/>
                <a:gd name="T8" fmla="*/ 45 w 45"/>
                <a:gd name="T9" fmla="*/ 16 h 64"/>
                <a:gd name="T10" fmla="*/ 43 w 45"/>
                <a:gd name="T11" fmla="*/ 25 h 64"/>
                <a:gd name="T12" fmla="*/ 29 w 45"/>
                <a:gd name="T13" fmla="*/ 18 h 64"/>
                <a:gd name="T14" fmla="*/ 9 w 45"/>
                <a:gd name="T15" fmla="*/ 64 h 64"/>
                <a:gd name="T16" fmla="*/ 0 w 45"/>
                <a:gd name="T17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" h="64">
                  <a:moveTo>
                    <a:pt x="0" y="60"/>
                  </a:moveTo>
                  <a:lnTo>
                    <a:pt x="20" y="14"/>
                  </a:lnTo>
                  <a:lnTo>
                    <a:pt x="7" y="9"/>
                  </a:lnTo>
                  <a:lnTo>
                    <a:pt x="9" y="0"/>
                  </a:lnTo>
                  <a:lnTo>
                    <a:pt x="45" y="16"/>
                  </a:lnTo>
                  <a:lnTo>
                    <a:pt x="43" y="25"/>
                  </a:lnTo>
                  <a:lnTo>
                    <a:pt x="29" y="18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iṧḷîdè">
              <a:extLst>
                <a:ext uri="{FF2B5EF4-FFF2-40B4-BE49-F238E27FC236}">
                  <a16:creationId xmlns:a16="http://schemas.microsoft.com/office/drawing/2014/main" id="{BE364B71-660A-9C45-80A8-5F9BE516F3DF}"/>
                </a:ext>
              </a:extLst>
            </p:cNvPr>
            <p:cNvSpPr/>
            <p:nvPr/>
          </p:nvSpPr>
          <p:spPr bwMode="auto">
            <a:xfrm>
              <a:off x="2709863" y="4110038"/>
              <a:ext cx="68263" cy="101600"/>
            </a:xfrm>
            <a:custGeom>
              <a:avLst/>
              <a:gdLst>
                <a:gd name="T0" fmla="*/ 0 w 43"/>
                <a:gd name="T1" fmla="*/ 60 h 64"/>
                <a:gd name="T2" fmla="*/ 7 w 43"/>
                <a:gd name="T3" fmla="*/ 37 h 64"/>
                <a:gd name="T4" fmla="*/ 0 w 43"/>
                <a:gd name="T5" fmla="*/ 0 h 64"/>
                <a:gd name="T6" fmla="*/ 12 w 43"/>
                <a:gd name="T7" fmla="*/ 2 h 64"/>
                <a:gd name="T8" fmla="*/ 16 w 43"/>
                <a:gd name="T9" fmla="*/ 28 h 64"/>
                <a:gd name="T10" fmla="*/ 32 w 43"/>
                <a:gd name="T11" fmla="*/ 9 h 64"/>
                <a:gd name="T12" fmla="*/ 43 w 43"/>
                <a:gd name="T13" fmla="*/ 14 h 64"/>
                <a:gd name="T14" fmla="*/ 16 w 43"/>
                <a:gd name="T15" fmla="*/ 41 h 64"/>
                <a:gd name="T16" fmla="*/ 9 w 43"/>
                <a:gd name="T17" fmla="*/ 64 h 64"/>
                <a:gd name="T18" fmla="*/ 0 w 43"/>
                <a:gd name="T19" fmla="*/ 6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64">
                  <a:moveTo>
                    <a:pt x="0" y="60"/>
                  </a:moveTo>
                  <a:lnTo>
                    <a:pt x="7" y="37"/>
                  </a:lnTo>
                  <a:lnTo>
                    <a:pt x="0" y="0"/>
                  </a:lnTo>
                  <a:lnTo>
                    <a:pt x="12" y="2"/>
                  </a:lnTo>
                  <a:lnTo>
                    <a:pt x="16" y="28"/>
                  </a:lnTo>
                  <a:lnTo>
                    <a:pt x="32" y="9"/>
                  </a:lnTo>
                  <a:lnTo>
                    <a:pt x="43" y="14"/>
                  </a:lnTo>
                  <a:lnTo>
                    <a:pt x="16" y="41"/>
                  </a:lnTo>
                  <a:lnTo>
                    <a:pt x="9" y="64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isļíḍè">
              <a:extLst>
                <a:ext uri="{FF2B5EF4-FFF2-40B4-BE49-F238E27FC236}">
                  <a16:creationId xmlns:a16="http://schemas.microsoft.com/office/drawing/2014/main" id="{AC9D63BD-85AA-6053-378F-835659962103}"/>
                </a:ext>
              </a:extLst>
            </p:cNvPr>
            <p:cNvSpPr/>
            <p:nvPr/>
          </p:nvSpPr>
          <p:spPr bwMode="auto">
            <a:xfrm>
              <a:off x="2797175" y="4143376"/>
              <a:ext cx="79375" cy="96838"/>
            </a:xfrm>
            <a:custGeom>
              <a:avLst/>
              <a:gdLst>
                <a:gd name="T0" fmla="*/ 1 w 22"/>
                <a:gd name="T1" fmla="*/ 11 h 27"/>
                <a:gd name="T2" fmla="*/ 3 w 22"/>
                <a:gd name="T3" fmla="*/ 5 h 27"/>
                <a:gd name="T4" fmla="*/ 5 w 22"/>
                <a:gd name="T5" fmla="*/ 2 h 27"/>
                <a:gd name="T6" fmla="*/ 8 w 22"/>
                <a:gd name="T7" fmla="*/ 0 h 27"/>
                <a:gd name="T8" fmla="*/ 13 w 22"/>
                <a:gd name="T9" fmla="*/ 0 h 27"/>
                <a:gd name="T10" fmla="*/ 20 w 22"/>
                <a:gd name="T11" fmla="*/ 5 h 27"/>
                <a:gd name="T12" fmla="*/ 21 w 22"/>
                <a:gd name="T13" fmla="*/ 15 h 27"/>
                <a:gd name="T14" fmla="*/ 17 w 22"/>
                <a:gd name="T15" fmla="*/ 24 h 27"/>
                <a:gd name="T16" fmla="*/ 9 w 22"/>
                <a:gd name="T17" fmla="*/ 26 h 27"/>
                <a:gd name="T18" fmla="*/ 2 w 22"/>
                <a:gd name="T19" fmla="*/ 21 h 27"/>
                <a:gd name="T20" fmla="*/ 1 w 22"/>
                <a:gd name="T21" fmla="*/ 11 h 27"/>
                <a:gd name="T22" fmla="*/ 5 w 22"/>
                <a:gd name="T23" fmla="*/ 12 h 27"/>
                <a:gd name="T24" fmla="*/ 6 w 22"/>
                <a:gd name="T25" fmla="*/ 19 h 27"/>
                <a:gd name="T26" fmla="*/ 10 w 22"/>
                <a:gd name="T27" fmla="*/ 22 h 27"/>
                <a:gd name="T28" fmla="*/ 14 w 22"/>
                <a:gd name="T29" fmla="*/ 20 h 27"/>
                <a:gd name="T30" fmla="*/ 17 w 22"/>
                <a:gd name="T31" fmla="*/ 14 h 27"/>
                <a:gd name="T32" fmla="*/ 16 w 22"/>
                <a:gd name="T33" fmla="*/ 7 h 27"/>
                <a:gd name="T34" fmla="*/ 13 w 22"/>
                <a:gd name="T35" fmla="*/ 4 h 27"/>
                <a:gd name="T36" fmla="*/ 8 w 22"/>
                <a:gd name="T37" fmla="*/ 6 h 27"/>
                <a:gd name="T38" fmla="*/ 5 w 22"/>
                <a:gd name="T3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7">
                  <a:moveTo>
                    <a:pt x="1" y="11"/>
                  </a:moveTo>
                  <a:cubicBezTo>
                    <a:pt x="1" y="9"/>
                    <a:pt x="2" y="7"/>
                    <a:pt x="3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7" y="1"/>
                    <a:pt x="8" y="0"/>
                  </a:cubicBezTo>
                  <a:cubicBezTo>
                    <a:pt x="10" y="0"/>
                    <a:pt x="11" y="0"/>
                    <a:pt x="13" y="0"/>
                  </a:cubicBezTo>
                  <a:cubicBezTo>
                    <a:pt x="16" y="1"/>
                    <a:pt x="19" y="2"/>
                    <a:pt x="20" y="5"/>
                  </a:cubicBezTo>
                  <a:cubicBezTo>
                    <a:pt x="22" y="7"/>
                    <a:pt x="22" y="11"/>
                    <a:pt x="21" y="15"/>
                  </a:cubicBezTo>
                  <a:cubicBezTo>
                    <a:pt x="21" y="19"/>
                    <a:pt x="19" y="22"/>
                    <a:pt x="17" y="24"/>
                  </a:cubicBezTo>
                  <a:cubicBezTo>
                    <a:pt x="15" y="26"/>
                    <a:pt x="12" y="27"/>
                    <a:pt x="9" y="26"/>
                  </a:cubicBezTo>
                  <a:cubicBezTo>
                    <a:pt x="6" y="26"/>
                    <a:pt x="3" y="24"/>
                    <a:pt x="2" y="21"/>
                  </a:cubicBezTo>
                  <a:cubicBezTo>
                    <a:pt x="0" y="19"/>
                    <a:pt x="0" y="15"/>
                    <a:pt x="1" y="11"/>
                  </a:cubicBezTo>
                  <a:close/>
                  <a:moveTo>
                    <a:pt x="5" y="12"/>
                  </a:moveTo>
                  <a:cubicBezTo>
                    <a:pt x="5" y="15"/>
                    <a:pt x="5" y="17"/>
                    <a:pt x="6" y="19"/>
                  </a:cubicBezTo>
                  <a:cubicBezTo>
                    <a:pt x="7" y="21"/>
                    <a:pt x="8" y="21"/>
                    <a:pt x="10" y="22"/>
                  </a:cubicBezTo>
                  <a:cubicBezTo>
                    <a:pt x="11" y="22"/>
                    <a:pt x="13" y="22"/>
                    <a:pt x="14" y="20"/>
                  </a:cubicBezTo>
                  <a:cubicBezTo>
                    <a:pt x="16" y="19"/>
                    <a:pt x="16" y="17"/>
                    <a:pt x="17" y="14"/>
                  </a:cubicBezTo>
                  <a:cubicBezTo>
                    <a:pt x="17" y="11"/>
                    <a:pt x="17" y="9"/>
                    <a:pt x="16" y="7"/>
                  </a:cubicBezTo>
                  <a:cubicBezTo>
                    <a:pt x="16" y="6"/>
                    <a:pt x="14" y="5"/>
                    <a:pt x="13" y="4"/>
                  </a:cubicBezTo>
                  <a:cubicBezTo>
                    <a:pt x="11" y="4"/>
                    <a:pt x="9" y="5"/>
                    <a:pt x="8" y="6"/>
                  </a:cubicBezTo>
                  <a:cubicBezTo>
                    <a:pt x="7" y="7"/>
                    <a:pt x="6" y="9"/>
                    <a:pt x="5" y="1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ṡ1íḓe">
              <a:extLst>
                <a:ext uri="{FF2B5EF4-FFF2-40B4-BE49-F238E27FC236}">
                  <a16:creationId xmlns:a16="http://schemas.microsoft.com/office/drawing/2014/main" id="{1F23651E-DC09-5148-A26D-CB41A9C90E80}"/>
                </a:ext>
              </a:extLst>
            </p:cNvPr>
            <p:cNvSpPr/>
            <p:nvPr/>
          </p:nvSpPr>
          <p:spPr bwMode="auto">
            <a:xfrm>
              <a:off x="2882900" y="4149726"/>
              <a:ext cx="61913" cy="95250"/>
            </a:xfrm>
            <a:custGeom>
              <a:avLst/>
              <a:gdLst>
                <a:gd name="T0" fmla="*/ 0 w 39"/>
                <a:gd name="T1" fmla="*/ 60 h 60"/>
                <a:gd name="T2" fmla="*/ 5 w 39"/>
                <a:gd name="T3" fmla="*/ 0 h 60"/>
                <a:gd name="T4" fmla="*/ 39 w 39"/>
                <a:gd name="T5" fmla="*/ 3 h 60"/>
                <a:gd name="T6" fmla="*/ 37 w 39"/>
                <a:gd name="T7" fmla="*/ 14 h 60"/>
                <a:gd name="T8" fmla="*/ 14 w 39"/>
                <a:gd name="T9" fmla="*/ 12 h 60"/>
                <a:gd name="T10" fmla="*/ 12 w 39"/>
                <a:gd name="T11" fmla="*/ 25 h 60"/>
                <a:gd name="T12" fmla="*/ 34 w 39"/>
                <a:gd name="T13" fmla="*/ 28 h 60"/>
                <a:gd name="T14" fmla="*/ 32 w 39"/>
                <a:gd name="T15" fmla="*/ 37 h 60"/>
                <a:gd name="T16" fmla="*/ 12 w 39"/>
                <a:gd name="T17" fmla="*/ 35 h 60"/>
                <a:gd name="T18" fmla="*/ 9 w 39"/>
                <a:gd name="T19" fmla="*/ 60 h 60"/>
                <a:gd name="T20" fmla="*/ 0 w 39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60">
                  <a:moveTo>
                    <a:pt x="0" y="60"/>
                  </a:moveTo>
                  <a:lnTo>
                    <a:pt x="5" y="0"/>
                  </a:lnTo>
                  <a:lnTo>
                    <a:pt x="39" y="3"/>
                  </a:lnTo>
                  <a:lnTo>
                    <a:pt x="37" y="14"/>
                  </a:lnTo>
                  <a:lnTo>
                    <a:pt x="14" y="12"/>
                  </a:lnTo>
                  <a:lnTo>
                    <a:pt x="12" y="25"/>
                  </a:lnTo>
                  <a:lnTo>
                    <a:pt x="34" y="28"/>
                  </a:lnTo>
                  <a:lnTo>
                    <a:pt x="32" y="37"/>
                  </a:lnTo>
                  <a:lnTo>
                    <a:pt x="12" y="35"/>
                  </a:lnTo>
                  <a:lnTo>
                    <a:pt x="9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isḷiḑê">
              <a:extLst>
                <a:ext uri="{FF2B5EF4-FFF2-40B4-BE49-F238E27FC236}">
                  <a16:creationId xmlns:a16="http://schemas.microsoft.com/office/drawing/2014/main" id="{F7198A8E-54A1-9597-8B5D-1503B08B050F}"/>
                </a:ext>
              </a:extLst>
            </p:cNvPr>
            <p:cNvSpPr/>
            <p:nvPr/>
          </p:nvSpPr>
          <p:spPr bwMode="auto">
            <a:xfrm>
              <a:off x="2981325" y="4149726"/>
              <a:ext cx="65088" cy="98425"/>
            </a:xfrm>
            <a:custGeom>
              <a:avLst/>
              <a:gdLst>
                <a:gd name="T0" fmla="*/ 0 w 18"/>
                <a:gd name="T1" fmla="*/ 19 h 27"/>
                <a:gd name="T2" fmla="*/ 5 w 18"/>
                <a:gd name="T3" fmla="*/ 18 h 27"/>
                <a:gd name="T4" fmla="*/ 6 w 18"/>
                <a:gd name="T5" fmla="*/ 22 h 27"/>
                <a:gd name="T6" fmla="*/ 10 w 18"/>
                <a:gd name="T7" fmla="*/ 23 h 27"/>
                <a:gd name="T8" fmla="*/ 13 w 18"/>
                <a:gd name="T9" fmla="*/ 21 h 27"/>
                <a:gd name="T10" fmla="*/ 14 w 18"/>
                <a:gd name="T11" fmla="*/ 19 h 27"/>
                <a:gd name="T12" fmla="*/ 13 w 18"/>
                <a:gd name="T13" fmla="*/ 17 h 27"/>
                <a:gd name="T14" fmla="*/ 11 w 18"/>
                <a:gd name="T15" fmla="*/ 16 h 27"/>
                <a:gd name="T16" fmla="*/ 8 w 18"/>
                <a:gd name="T17" fmla="*/ 15 h 27"/>
                <a:gd name="T18" fmla="*/ 3 w 18"/>
                <a:gd name="T19" fmla="*/ 13 h 27"/>
                <a:gd name="T20" fmla="*/ 0 w 18"/>
                <a:gd name="T21" fmla="*/ 8 h 27"/>
                <a:gd name="T22" fmla="*/ 1 w 18"/>
                <a:gd name="T23" fmla="*/ 5 h 27"/>
                <a:gd name="T24" fmla="*/ 4 w 18"/>
                <a:gd name="T25" fmla="*/ 2 h 27"/>
                <a:gd name="T26" fmla="*/ 8 w 18"/>
                <a:gd name="T27" fmla="*/ 1 h 27"/>
                <a:gd name="T28" fmla="*/ 14 w 18"/>
                <a:gd name="T29" fmla="*/ 2 h 27"/>
                <a:gd name="T30" fmla="*/ 17 w 18"/>
                <a:gd name="T31" fmla="*/ 8 h 27"/>
                <a:gd name="T32" fmla="*/ 12 w 18"/>
                <a:gd name="T33" fmla="*/ 8 h 27"/>
                <a:gd name="T34" fmla="*/ 11 w 18"/>
                <a:gd name="T35" fmla="*/ 6 h 27"/>
                <a:gd name="T36" fmla="*/ 8 w 18"/>
                <a:gd name="T37" fmla="*/ 5 h 27"/>
                <a:gd name="T38" fmla="*/ 5 w 18"/>
                <a:gd name="T39" fmla="*/ 6 h 27"/>
                <a:gd name="T40" fmla="*/ 5 w 18"/>
                <a:gd name="T41" fmla="*/ 8 h 27"/>
                <a:gd name="T42" fmla="*/ 5 w 18"/>
                <a:gd name="T43" fmla="*/ 9 h 27"/>
                <a:gd name="T44" fmla="*/ 10 w 18"/>
                <a:gd name="T45" fmla="*/ 11 h 27"/>
                <a:gd name="T46" fmla="*/ 14 w 18"/>
                <a:gd name="T47" fmla="*/ 12 h 27"/>
                <a:gd name="T48" fmla="*/ 17 w 18"/>
                <a:gd name="T49" fmla="*/ 15 h 27"/>
                <a:gd name="T50" fmla="*/ 18 w 18"/>
                <a:gd name="T51" fmla="*/ 19 h 27"/>
                <a:gd name="T52" fmla="*/ 17 w 18"/>
                <a:gd name="T53" fmla="*/ 23 h 27"/>
                <a:gd name="T54" fmla="*/ 14 w 18"/>
                <a:gd name="T55" fmla="*/ 26 h 27"/>
                <a:gd name="T56" fmla="*/ 10 w 18"/>
                <a:gd name="T57" fmla="*/ 27 h 27"/>
                <a:gd name="T58" fmla="*/ 3 w 18"/>
                <a:gd name="T59" fmla="*/ 25 h 27"/>
                <a:gd name="T60" fmla="*/ 0 w 18"/>
                <a:gd name="T6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8" h="27">
                  <a:moveTo>
                    <a:pt x="0" y="19"/>
                  </a:moveTo>
                  <a:cubicBezTo>
                    <a:pt x="5" y="18"/>
                    <a:pt x="5" y="18"/>
                    <a:pt x="5" y="18"/>
                  </a:cubicBezTo>
                  <a:cubicBezTo>
                    <a:pt x="5" y="20"/>
                    <a:pt x="6" y="21"/>
                    <a:pt x="6" y="22"/>
                  </a:cubicBezTo>
                  <a:cubicBezTo>
                    <a:pt x="7" y="22"/>
                    <a:pt x="8" y="23"/>
                    <a:pt x="10" y="23"/>
                  </a:cubicBezTo>
                  <a:cubicBezTo>
                    <a:pt x="11" y="23"/>
                    <a:pt x="12" y="22"/>
                    <a:pt x="13" y="21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8"/>
                    <a:pt x="13" y="18"/>
                    <a:pt x="13" y="17"/>
                  </a:cubicBezTo>
                  <a:cubicBezTo>
                    <a:pt x="13" y="17"/>
                    <a:pt x="12" y="17"/>
                    <a:pt x="11" y="16"/>
                  </a:cubicBezTo>
                  <a:cubicBezTo>
                    <a:pt x="11" y="16"/>
                    <a:pt x="10" y="16"/>
                    <a:pt x="8" y="15"/>
                  </a:cubicBezTo>
                  <a:cubicBezTo>
                    <a:pt x="5" y="15"/>
                    <a:pt x="4" y="14"/>
                    <a:pt x="3" y="13"/>
                  </a:cubicBezTo>
                  <a:cubicBezTo>
                    <a:pt x="1" y="12"/>
                    <a:pt x="1" y="10"/>
                    <a:pt x="0" y="8"/>
                  </a:cubicBezTo>
                  <a:cubicBezTo>
                    <a:pt x="0" y="7"/>
                    <a:pt x="1" y="6"/>
                    <a:pt x="1" y="5"/>
                  </a:cubicBezTo>
                  <a:cubicBezTo>
                    <a:pt x="2" y="3"/>
                    <a:pt x="3" y="2"/>
                    <a:pt x="4" y="2"/>
                  </a:cubicBezTo>
                  <a:cubicBezTo>
                    <a:pt x="5" y="1"/>
                    <a:pt x="6" y="1"/>
                    <a:pt x="8" y="1"/>
                  </a:cubicBezTo>
                  <a:cubicBezTo>
                    <a:pt x="11" y="0"/>
                    <a:pt x="13" y="1"/>
                    <a:pt x="14" y="2"/>
                  </a:cubicBezTo>
                  <a:cubicBezTo>
                    <a:pt x="16" y="4"/>
                    <a:pt x="17" y="6"/>
                    <a:pt x="17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7"/>
                    <a:pt x="12" y="6"/>
                    <a:pt x="11" y="6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5"/>
                    <a:pt x="5" y="6"/>
                  </a:cubicBezTo>
                  <a:cubicBezTo>
                    <a:pt x="5" y="6"/>
                    <a:pt x="5" y="7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12" y="11"/>
                    <a:pt x="13" y="12"/>
                    <a:pt x="14" y="12"/>
                  </a:cubicBezTo>
                  <a:cubicBezTo>
                    <a:pt x="15" y="13"/>
                    <a:pt x="16" y="14"/>
                    <a:pt x="17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8" y="20"/>
                    <a:pt x="18" y="21"/>
                    <a:pt x="17" y="23"/>
                  </a:cubicBezTo>
                  <a:cubicBezTo>
                    <a:pt x="17" y="24"/>
                    <a:pt x="16" y="25"/>
                    <a:pt x="14" y="26"/>
                  </a:cubicBezTo>
                  <a:cubicBezTo>
                    <a:pt x="13" y="26"/>
                    <a:pt x="12" y="27"/>
                    <a:pt x="10" y="27"/>
                  </a:cubicBezTo>
                  <a:cubicBezTo>
                    <a:pt x="7" y="27"/>
                    <a:pt x="5" y="27"/>
                    <a:pt x="3" y="25"/>
                  </a:cubicBezTo>
                  <a:cubicBezTo>
                    <a:pt x="2" y="24"/>
                    <a:pt x="1" y="22"/>
                    <a:pt x="0" y="1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ṥlíḓê">
              <a:extLst>
                <a:ext uri="{FF2B5EF4-FFF2-40B4-BE49-F238E27FC236}">
                  <a16:creationId xmlns:a16="http://schemas.microsoft.com/office/drawing/2014/main" id="{1B6DDAFD-A95E-D227-878E-99FD6D583507}"/>
                </a:ext>
              </a:extLst>
            </p:cNvPr>
            <p:cNvSpPr/>
            <p:nvPr/>
          </p:nvSpPr>
          <p:spPr bwMode="auto">
            <a:xfrm>
              <a:off x="3052763" y="4143376"/>
              <a:ext cx="73025" cy="96838"/>
            </a:xfrm>
            <a:custGeom>
              <a:avLst/>
              <a:gdLst>
                <a:gd name="T0" fmla="*/ 16 w 20"/>
                <a:gd name="T1" fmla="*/ 16 h 27"/>
                <a:gd name="T2" fmla="*/ 20 w 20"/>
                <a:gd name="T3" fmla="*/ 17 h 27"/>
                <a:gd name="T4" fmla="*/ 18 w 20"/>
                <a:gd name="T5" fmla="*/ 24 h 27"/>
                <a:gd name="T6" fmla="*/ 13 w 20"/>
                <a:gd name="T7" fmla="*/ 26 h 27"/>
                <a:gd name="T8" fmla="*/ 5 w 20"/>
                <a:gd name="T9" fmla="*/ 24 h 27"/>
                <a:gd name="T10" fmla="*/ 1 w 20"/>
                <a:gd name="T11" fmla="*/ 15 h 27"/>
                <a:gd name="T12" fmla="*/ 2 w 20"/>
                <a:gd name="T13" fmla="*/ 5 h 27"/>
                <a:gd name="T14" fmla="*/ 9 w 20"/>
                <a:gd name="T15" fmla="*/ 0 h 27"/>
                <a:gd name="T16" fmla="*/ 16 w 20"/>
                <a:gd name="T17" fmla="*/ 2 h 27"/>
                <a:gd name="T18" fmla="*/ 19 w 20"/>
                <a:gd name="T19" fmla="*/ 6 h 27"/>
                <a:gd name="T20" fmla="*/ 14 w 20"/>
                <a:gd name="T21" fmla="*/ 8 h 27"/>
                <a:gd name="T22" fmla="*/ 12 w 20"/>
                <a:gd name="T23" fmla="*/ 5 h 27"/>
                <a:gd name="T24" fmla="*/ 9 w 20"/>
                <a:gd name="T25" fmla="*/ 5 h 27"/>
                <a:gd name="T26" fmla="*/ 6 w 20"/>
                <a:gd name="T27" fmla="*/ 7 h 27"/>
                <a:gd name="T28" fmla="*/ 5 w 20"/>
                <a:gd name="T29" fmla="*/ 14 h 27"/>
                <a:gd name="T30" fmla="*/ 8 w 20"/>
                <a:gd name="T31" fmla="*/ 21 h 27"/>
                <a:gd name="T32" fmla="*/ 12 w 20"/>
                <a:gd name="T33" fmla="*/ 22 h 27"/>
                <a:gd name="T34" fmla="*/ 15 w 20"/>
                <a:gd name="T35" fmla="*/ 20 h 27"/>
                <a:gd name="T36" fmla="*/ 16 w 20"/>
                <a:gd name="T37" fmla="*/ 1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27">
                  <a:moveTo>
                    <a:pt x="16" y="16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20" y="20"/>
                    <a:pt x="19" y="22"/>
                    <a:pt x="18" y="24"/>
                  </a:cubicBezTo>
                  <a:cubicBezTo>
                    <a:pt x="17" y="25"/>
                    <a:pt x="15" y="26"/>
                    <a:pt x="13" y="26"/>
                  </a:cubicBezTo>
                  <a:cubicBezTo>
                    <a:pt x="10" y="27"/>
                    <a:pt x="7" y="26"/>
                    <a:pt x="5" y="24"/>
                  </a:cubicBezTo>
                  <a:cubicBezTo>
                    <a:pt x="3" y="22"/>
                    <a:pt x="2" y="19"/>
                    <a:pt x="1" y="15"/>
                  </a:cubicBezTo>
                  <a:cubicBezTo>
                    <a:pt x="0" y="11"/>
                    <a:pt x="1" y="8"/>
                    <a:pt x="2" y="5"/>
                  </a:cubicBezTo>
                  <a:cubicBezTo>
                    <a:pt x="4" y="2"/>
                    <a:pt x="6" y="1"/>
                    <a:pt x="9" y="0"/>
                  </a:cubicBezTo>
                  <a:cubicBezTo>
                    <a:pt x="11" y="0"/>
                    <a:pt x="14" y="0"/>
                    <a:pt x="16" y="2"/>
                  </a:cubicBezTo>
                  <a:cubicBezTo>
                    <a:pt x="17" y="3"/>
                    <a:pt x="18" y="4"/>
                    <a:pt x="19" y="6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3" y="6"/>
                    <a:pt x="12" y="5"/>
                  </a:cubicBezTo>
                  <a:cubicBezTo>
                    <a:pt x="11" y="5"/>
                    <a:pt x="10" y="5"/>
                    <a:pt x="9" y="5"/>
                  </a:cubicBezTo>
                  <a:cubicBezTo>
                    <a:pt x="8" y="5"/>
                    <a:pt x="6" y="6"/>
                    <a:pt x="6" y="7"/>
                  </a:cubicBezTo>
                  <a:cubicBezTo>
                    <a:pt x="5" y="9"/>
                    <a:pt x="5" y="11"/>
                    <a:pt x="5" y="14"/>
                  </a:cubicBezTo>
                  <a:cubicBezTo>
                    <a:pt x="6" y="17"/>
                    <a:pt x="7" y="19"/>
                    <a:pt x="8" y="21"/>
                  </a:cubicBezTo>
                  <a:cubicBezTo>
                    <a:pt x="9" y="22"/>
                    <a:pt x="10" y="22"/>
                    <a:pt x="12" y="22"/>
                  </a:cubicBezTo>
                  <a:cubicBezTo>
                    <a:pt x="13" y="22"/>
                    <a:pt x="14" y="21"/>
                    <a:pt x="15" y="20"/>
                  </a:cubicBezTo>
                  <a:cubicBezTo>
                    <a:pt x="15" y="19"/>
                    <a:pt x="16" y="18"/>
                    <a:pt x="16" y="1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ḷíḍé">
              <a:extLst>
                <a:ext uri="{FF2B5EF4-FFF2-40B4-BE49-F238E27FC236}">
                  <a16:creationId xmlns:a16="http://schemas.microsoft.com/office/drawing/2014/main" id="{493616DA-17EF-D05D-FD59-4064C7664BBF}"/>
                </a:ext>
              </a:extLst>
            </p:cNvPr>
            <p:cNvSpPr/>
            <p:nvPr/>
          </p:nvSpPr>
          <p:spPr bwMode="auto">
            <a:xfrm>
              <a:off x="3125788" y="4135438"/>
              <a:ext cx="34925" cy="90488"/>
            </a:xfrm>
            <a:custGeom>
              <a:avLst/>
              <a:gdLst>
                <a:gd name="T0" fmla="*/ 13 w 22"/>
                <a:gd name="T1" fmla="*/ 57 h 57"/>
                <a:gd name="T2" fmla="*/ 0 w 22"/>
                <a:gd name="T3" fmla="*/ 2 h 57"/>
                <a:gd name="T4" fmla="*/ 11 w 22"/>
                <a:gd name="T5" fmla="*/ 0 h 57"/>
                <a:gd name="T6" fmla="*/ 22 w 22"/>
                <a:gd name="T7" fmla="*/ 55 h 57"/>
                <a:gd name="T8" fmla="*/ 13 w 22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57">
                  <a:moveTo>
                    <a:pt x="13" y="57"/>
                  </a:moveTo>
                  <a:lnTo>
                    <a:pt x="0" y="2"/>
                  </a:lnTo>
                  <a:lnTo>
                    <a:pt x="11" y="0"/>
                  </a:lnTo>
                  <a:lnTo>
                    <a:pt x="22" y="55"/>
                  </a:lnTo>
                  <a:lnTo>
                    <a:pt x="13" y="5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ṩḻïďè">
              <a:extLst>
                <a:ext uri="{FF2B5EF4-FFF2-40B4-BE49-F238E27FC236}">
                  <a16:creationId xmlns:a16="http://schemas.microsoft.com/office/drawing/2014/main" id="{3A849376-543A-9254-E7E7-ADF2BC5FAA66}"/>
                </a:ext>
              </a:extLst>
            </p:cNvPr>
            <p:cNvSpPr/>
            <p:nvPr/>
          </p:nvSpPr>
          <p:spPr bwMode="auto">
            <a:xfrm>
              <a:off x="3154363" y="4113213"/>
              <a:ext cx="82550" cy="106363"/>
            </a:xfrm>
            <a:custGeom>
              <a:avLst/>
              <a:gdLst>
                <a:gd name="T0" fmla="*/ 18 w 52"/>
                <a:gd name="T1" fmla="*/ 67 h 67"/>
                <a:gd name="T2" fmla="*/ 0 w 52"/>
                <a:gd name="T3" fmla="*/ 12 h 67"/>
                <a:gd name="T4" fmla="*/ 34 w 52"/>
                <a:gd name="T5" fmla="*/ 0 h 67"/>
                <a:gd name="T6" fmla="*/ 38 w 52"/>
                <a:gd name="T7" fmla="*/ 10 h 67"/>
                <a:gd name="T8" fmla="*/ 11 w 52"/>
                <a:gd name="T9" fmla="*/ 19 h 67"/>
                <a:gd name="T10" fmla="*/ 16 w 52"/>
                <a:gd name="T11" fmla="*/ 30 h 67"/>
                <a:gd name="T12" fmla="*/ 38 w 52"/>
                <a:gd name="T13" fmla="*/ 23 h 67"/>
                <a:gd name="T14" fmla="*/ 43 w 52"/>
                <a:gd name="T15" fmla="*/ 32 h 67"/>
                <a:gd name="T16" fmla="*/ 18 w 52"/>
                <a:gd name="T17" fmla="*/ 39 h 67"/>
                <a:gd name="T18" fmla="*/ 22 w 52"/>
                <a:gd name="T19" fmla="*/ 55 h 67"/>
                <a:gd name="T20" fmla="*/ 50 w 52"/>
                <a:gd name="T21" fmla="*/ 46 h 67"/>
                <a:gd name="T22" fmla="*/ 52 w 52"/>
                <a:gd name="T23" fmla="*/ 55 h 67"/>
                <a:gd name="T24" fmla="*/ 18 w 52"/>
                <a:gd name="T25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" h="67">
                  <a:moveTo>
                    <a:pt x="18" y="67"/>
                  </a:moveTo>
                  <a:lnTo>
                    <a:pt x="0" y="12"/>
                  </a:lnTo>
                  <a:lnTo>
                    <a:pt x="34" y="0"/>
                  </a:lnTo>
                  <a:lnTo>
                    <a:pt x="38" y="10"/>
                  </a:lnTo>
                  <a:lnTo>
                    <a:pt x="11" y="19"/>
                  </a:lnTo>
                  <a:lnTo>
                    <a:pt x="16" y="30"/>
                  </a:lnTo>
                  <a:lnTo>
                    <a:pt x="38" y="23"/>
                  </a:lnTo>
                  <a:lnTo>
                    <a:pt x="43" y="32"/>
                  </a:lnTo>
                  <a:lnTo>
                    <a:pt x="18" y="39"/>
                  </a:lnTo>
                  <a:lnTo>
                    <a:pt x="22" y="55"/>
                  </a:lnTo>
                  <a:lnTo>
                    <a:pt x="50" y="46"/>
                  </a:lnTo>
                  <a:lnTo>
                    <a:pt x="52" y="55"/>
                  </a:lnTo>
                  <a:lnTo>
                    <a:pt x="18" y="67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ïşļídé">
              <a:extLst>
                <a:ext uri="{FF2B5EF4-FFF2-40B4-BE49-F238E27FC236}">
                  <a16:creationId xmlns:a16="http://schemas.microsoft.com/office/drawing/2014/main" id="{FD12BF63-3FF2-41D3-A5F0-E18A730B9835}"/>
                </a:ext>
              </a:extLst>
            </p:cNvPr>
            <p:cNvSpPr/>
            <p:nvPr/>
          </p:nvSpPr>
          <p:spPr bwMode="auto">
            <a:xfrm>
              <a:off x="3219450" y="4084638"/>
              <a:ext cx="93663" cy="109538"/>
            </a:xfrm>
            <a:custGeom>
              <a:avLst/>
              <a:gdLst>
                <a:gd name="T0" fmla="*/ 22 w 59"/>
                <a:gd name="T1" fmla="*/ 69 h 69"/>
                <a:gd name="T2" fmla="*/ 0 w 59"/>
                <a:gd name="T3" fmla="*/ 16 h 69"/>
                <a:gd name="T4" fmla="*/ 9 w 59"/>
                <a:gd name="T5" fmla="*/ 12 h 69"/>
                <a:gd name="T6" fmla="*/ 43 w 59"/>
                <a:gd name="T7" fmla="*/ 39 h 69"/>
                <a:gd name="T8" fmla="*/ 27 w 59"/>
                <a:gd name="T9" fmla="*/ 5 h 69"/>
                <a:gd name="T10" fmla="*/ 36 w 59"/>
                <a:gd name="T11" fmla="*/ 0 h 69"/>
                <a:gd name="T12" fmla="*/ 59 w 59"/>
                <a:gd name="T13" fmla="*/ 55 h 69"/>
                <a:gd name="T14" fmla="*/ 50 w 59"/>
                <a:gd name="T15" fmla="*/ 57 h 69"/>
                <a:gd name="T16" fmla="*/ 16 w 59"/>
                <a:gd name="T17" fmla="*/ 30 h 69"/>
                <a:gd name="T18" fmla="*/ 31 w 59"/>
                <a:gd name="T19" fmla="*/ 66 h 69"/>
                <a:gd name="T20" fmla="*/ 22 w 59"/>
                <a:gd name="T21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69">
                  <a:moveTo>
                    <a:pt x="22" y="69"/>
                  </a:moveTo>
                  <a:lnTo>
                    <a:pt x="0" y="16"/>
                  </a:lnTo>
                  <a:lnTo>
                    <a:pt x="9" y="12"/>
                  </a:lnTo>
                  <a:lnTo>
                    <a:pt x="43" y="39"/>
                  </a:lnTo>
                  <a:lnTo>
                    <a:pt x="27" y="5"/>
                  </a:lnTo>
                  <a:lnTo>
                    <a:pt x="36" y="0"/>
                  </a:lnTo>
                  <a:lnTo>
                    <a:pt x="59" y="55"/>
                  </a:lnTo>
                  <a:lnTo>
                    <a:pt x="50" y="57"/>
                  </a:lnTo>
                  <a:lnTo>
                    <a:pt x="16" y="30"/>
                  </a:lnTo>
                  <a:lnTo>
                    <a:pt x="31" y="66"/>
                  </a:lnTo>
                  <a:lnTo>
                    <a:pt x="22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iṧḻíďe">
              <a:extLst>
                <a:ext uri="{FF2B5EF4-FFF2-40B4-BE49-F238E27FC236}">
                  <a16:creationId xmlns:a16="http://schemas.microsoft.com/office/drawing/2014/main" id="{240BC46E-3278-2745-67FD-1FF3CF9B17BC}"/>
                </a:ext>
              </a:extLst>
            </p:cNvPr>
            <p:cNvSpPr/>
            <p:nvPr/>
          </p:nvSpPr>
          <p:spPr bwMode="auto">
            <a:xfrm>
              <a:off x="3298825" y="4056063"/>
              <a:ext cx="82550" cy="93663"/>
            </a:xfrm>
            <a:custGeom>
              <a:avLst/>
              <a:gdLst>
                <a:gd name="T0" fmla="*/ 17 w 23"/>
                <a:gd name="T1" fmla="*/ 14 h 26"/>
                <a:gd name="T2" fmla="*/ 22 w 23"/>
                <a:gd name="T3" fmla="*/ 13 h 26"/>
                <a:gd name="T4" fmla="*/ 22 w 23"/>
                <a:gd name="T5" fmla="*/ 20 h 26"/>
                <a:gd name="T6" fmla="*/ 18 w 23"/>
                <a:gd name="T7" fmla="*/ 25 h 26"/>
                <a:gd name="T8" fmla="*/ 10 w 23"/>
                <a:gd name="T9" fmla="*/ 25 h 26"/>
                <a:gd name="T10" fmla="*/ 3 w 23"/>
                <a:gd name="T11" fmla="*/ 18 h 26"/>
                <a:gd name="T12" fmla="*/ 1 w 23"/>
                <a:gd name="T13" fmla="*/ 8 h 26"/>
                <a:gd name="T14" fmla="*/ 5 w 23"/>
                <a:gd name="T15" fmla="*/ 2 h 26"/>
                <a:gd name="T16" fmla="*/ 12 w 23"/>
                <a:gd name="T17" fmla="*/ 1 h 26"/>
                <a:gd name="T18" fmla="*/ 17 w 23"/>
                <a:gd name="T19" fmla="*/ 4 h 26"/>
                <a:gd name="T20" fmla="*/ 13 w 23"/>
                <a:gd name="T21" fmla="*/ 7 h 26"/>
                <a:gd name="T22" fmla="*/ 10 w 23"/>
                <a:gd name="T23" fmla="*/ 5 h 26"/>
                <a:gd name="T24" fmla="*/ 7 w 23"/>
                <a:gd name="T25" fmla="*/ 6 h 26"/>
                <a:gd name="T26" fmla="*/ 5 w 23"/>
                <a:gd name="T27" fmla="*/ 9 h 26"/>
                <a:gd name="T28" fmla="*/ 7 w 23"/>
                <a:gd name="T29" fmla="*/ 16 h 26"/>
                <a:gd name="T30" fmla="*/ 11 w 23"/>
                <a:gd name="T31" fmla="*/ 21 h 26"/>
                <a:gd name="T32" fmla="*/ 16 w 23"/>
                <a:gd name="T33" fmla="*/ 21 h 26"/>
                <a:gd name="T34" fmla="*/ 18 w 23"/>
                <a:gd name="T35" fmla="*/ 18 h 26"/>
                <a:gd name="T36" fmla="*/ 17 w 23"/>
                <a:gd name="T37" fmla="*/ 1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" h="26">
                  <a:moveTo>
                    <a:pt x="17" y="14"/>
                  </a:moveTo>
                  <a:cubicBezTo>
                    <a:pt x="22" y="13"/>
                    <a:pt x="22" y="13"/>
                    <a:pt x="22" y="13"/>
                  </a:cubicBezTo>
                  <a:cubicBezTo>
                    <a:pt x="23" y="16"/>
                    <a:pt x="23" y="18"/>
                    <a:pt x="22" y="20"/>
                  </a:cubicBezTo>
                  <a:cubicBezTo>
                    <a:pt x="21" y="22"/>
                    <a:pt x="20" y="24"/>
                    <a:pt x="18" y="25"/>
                  </a:cubicBezTo>
                  <a:cubicBezTo>
                    <a:pt x="15" y="26"/>
                    <a:pt x="13" y="26"/>
                    <a:pt x="10" y="25"/>
                  </a:cubicBezTo>
                  <a:cubicBezTo>
                    <a:pt x="7" y="24"/>
                    <a:pt x="5" y="22"/>
                    <a:pt x="3" y="18"/>
                  </a:cubicBezTo>
                  <a:cubicBezTo>
                    <a:pt x="1" y="15"/>
                    <a:pt x="0" y="11"/>
                    <a:pt x="1" y="8"/>
                  </a:cubicBezTo>
                  <a:cubicBezTo>
                    <a:pt x="1" y="5"/>
                    <a:pt x="3" y="3"/>
                    <a:pt x="5" y="2"/>
                  </a:cubicBezTo>
                  <a:cubicBezTo>
                    <a:pt x="8" y="0"/>
                    <a:pt x="10" y="0"/>
                    <a:pt x="12" y="1"/>
                  </a:cubicBezTo>
                  <a:cubicBezTo>
                    <a:pt x="14" y="1"/>
                    <a:pt x="15" y="2"/>
                    <a:pt x="17" y="4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6"/>
                    <a:pt x="11" y="5"/>
                    <a:pt x="10" y="5"/>
                  </a:cubicBezTo>
                  <a:cubicBezTo>
                    <a:pt x="9" y="5"/>
                    <a:pt x="8" y="5"/>
                    <a:pt x="7" y="6"/>
                  </a:cubicBezTo>
                  <a:cubicBezTo>
                    <a:pt x="6" y="6"/>
                    <a:pt x="5" y="8"/>
                    <a:pt x="5" y="9"/>
                  </a:cubicBezTo>
                  <a:cubicBezTo>
                    <a:pt x="5" y="11"/>
                    <a:pt x="5" y="13"/>
                    <a:pt x="7" y="16"/>
                  </a:cubicBezTo>
                  <a:cubicBezTo>
                    <a:pt x="8" y="19"/>
                    <a:pt x="10" y="20"/>
                    <a:pt x="11" y="21"/>
                  </a:cubicBezTo>
                  <a:cubicBezTo>
                    <a:pt x="13" y="22"/>
                    <a:pt x="14" y="22"/>
                    <a:pt x="16" y="21"/>
                  </a:cubicBezTo>
                  <a:cubicBezTo>
                    <a:pt x="17" y="20"/>
                    <a:pt x="17" y="20"/>
                    <a:pt x="18" y="18"/>
                  </a:cubicBezTo>
                  <a:cubicBezTo>
                    <a:pt x="18" y="17"/>
                    <a:pt x="18" y="16"/>
                    <a:pt x="17" y="14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ïSlïḓé">
              <a:extLst>
                <a:ext uri="{FF2B5EF4-FFF2-40B4-BE49-F238E27FC236}">
                  <a16:creationId xmlns:a16="http://schemas.microsoft.com/office/drawing/2014/main" id="{F7E26F36-4F8A-99AC-BED0-AA2CA7B9DD0A}"/>
                </a:ext>
              </a:extLst>
            </p:cNvPr>
            <p:cNvSpPr/>
            <p:nvPr/>
          </p:nvSpPr>
          <p:spPr bwMode="auto">
            <a:xfrm>
              <a:off x="3352800" y="4008438"/>
              <a:ext cx="104775" cy="109538"/>
            </a:xfrm>
            <a:custGeom>
              <a:avLst/>
              <a:gdLst>
                <a:gd name="T0" fmla="*/ 34 w 66"/>
                <a:gd name="T1" fmla="*/ 69 h 69"/>
                <a:gd name="T2" fmla="*/ 0 w 66"/>
                <a:gd name="T3" fmla="*/ 21 h 69"/>
                <a:gd name="T4" fmla="*/ 31 w 66"/>
                <a:gd name="T5" fmla="*/ 0 h 69"/>
                <a:gd name="T6" fmla="*/ 36 w 66"/>
                <a:gd name="T7" fmla="*/ 9 h 69"/>
                <a:gd name="T8" fmla="*/ 16 w 66"/>
                <a:gd name="T9" fmla="*/ 23 h 69"/>
                <a:gd name="T10" fmla="*/ 22 w 66"/>
                <a:gd name="T11" fmla="*/ 35 h 69"/>
                <a:gd name="T12" fmla="*/ 43 w 66"/>
                <a:gd name="T13" fmla="*/ 21 h 69"/>
                <a:gd name="T14" fmla="*/ 47 w 66"/>
                <a:gd name="T15" fmla="*/ 28 h 69"/>
                <a:gd name="T16" fmla="*/ 27 w 66"/>
                <a:gd name="T17" fmla="*/ 44 h 69"/>
                <a:gd name="T18" fmla="*/ 36 w 66"/>
                <a:gd name="T19" fmla="*/ 55 h 69"/>
                <a:gd name="T20" fmla="*/ 59 w 66"/>
                <a:gd name="T21" fmla="*/ 39 h 69"/>
                <a:gd name="T22" fmla="*/ 66 w 66"/>
                <a:gd name="T23" fmla="*/ 48 h 69"/>
                <a:gd name="T24" fmla="*/ 34 w 66"/>
                <a:gd name="T2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" h="69">
                  <a:moveTo>
                    <a:pt x="34" y="69"/>
                  </a:moveTo>
                  <a:lnTo>
                    <a:pt x="0" y="21"/>
                  </a:lnTo>
                  <a:lnTo>
                    <a:pt x="31" y="0"/>
                  </a:lnTo>
                  <a:lnTo>
                    <a:pt x="36" y="9"/>
                  </a:lnTo>
                  <a:lnTo>
                    <a:pt x="16" y="23"/>
                  </a:lnTo>
                  <a:lnTo>
                    <a:pt x="22" y="35"/>
                  </a:lnTo>
                  <a:lnTo>
                    <a:pt x="43" y="21"/>
                  </a:lnTo>
                  <a:lnTo>
                    <a:pt x="47" y="28"/>
                  </a:lnTo>
                  <a:lnTo>
                    <a:pt x="27" y="44"/>
                  </a:lnTo>
                  <a:lnTo>
                    <a:pt x="36" y="55"/>
                  </a:lnTo>
                  <a:lnTo>
                    <a:pt x="59" y="39"/>
                  </a:lnTo>
                  <a:lnTo>
                    <a:pt x="66" y="48"/>
                  </a:lnTo>
                  <a:lnTo>
                    <a:pt x="34" y="6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išľîḑé">
              <a:extLst>
                <a:ext uri="{FF2B5EF4-FFF2-40B4-BE49-F238E27FC236}">
                  <a16:creationId xmlns:a16="http://schemas.microsoft.com/office/drawing/2014/main" id="{3B06242B-B414-F1AE-0827-8481D81930F3}"/>
                </a:ext>
              </a:extLst>
            </p:cNvPr>
            <p:cNvSpPr/>
            <p:nvPr/>
          </p:nvSpPr>
          <p:spPr bwMode="auto">
            <a:xfrm>
              <a:off x="3446463" y="3957638"/>
              <a:ext cx="93663" cy="87313"/>
            </a:xfrm>
            <a:custGeom>
              <a:avLst/>
              <a:gdLst>
                <a:gd name="T0" fmla="*/ 26 w 26"/>
                <a:gd name="T1" fmla="*/ 11 h 24"/>
                <a:gd name="T2" fmla="*/ 26 w 26"/>
                <a:gd name="T3" fmla="*/ 15 h 24"/>
                <a:gd name="T4" fmla="*/ 22 w 26"/>
                <a:gd name="T5" fmla="*/ 15 h 24"/>
                <a:gd name="T6" fmla="*/ 21 w 26"/>
                <a:gd name="T7" fmla="*/ 19 h 24"/>
                <a:gd name="T8" fmla="*/ 19 w 26"/>
                <a:gd name="T9" fmla="*/ 22 h 24"/>
                <a:gd name="T10" fmla="*/ 13 w 26"/>
                <a:gd name="T11" fmla="*/ 24 h 24"/>
                <a:gd name="T12" fmla="*/ 8 w 26"/>
                <a:gd name="T13" fmla="*/ 21 h 24"/>
                <a:gd name="T14" fmla="*/ 6 w 26"/>
                <a:gd name="T15" fmla="*/ 17 h 24"/>
                <a:gd name="T16" fmla="*/ 7 w 26"/>
                <a:gd name="T17" fmla="*/ 12 h 24"/>
                <a:gd name="T18" fmla="*/ 3 w 26"/>
                <a:gd name="T19" fmla="*/ 11 h 24"/>
                <a:gd name="T20" fmla="*/ 1 w 26"/>
                <a:gd name="T21" fmla="*/ 10 h 24"/>
                <a:gd name="T22" fmla="*/ 0 w 26"/>
                <a:gd name="T23" fmla="*/ 6 h 24"/>
                <a:gd name="T24" fmla="*/ 2 w 26"/>
                <a:gd name="T25" fmla="*/ 1 h 24"/>
                <a:gd name="T26" fmla="*/ 6 w 26"/>
                <a:gd name="T27" fmla="*/ 0 h 24"/>
                <a:gd name="T28" fmla="*/ 10 w 26"/>
                <a:gd name="T29" fmla="*/ 2 h 24"/>
                <a:gd name="T30" fmla="*/ 12 w 26"/>
                <a:gd name="T31" fmla="*/ 4 h 24"/>
                <a:gd name="T32" fmla="*/ 11 w 26"/>
                <a:gd name="T33" fmla="*/ 9 h 24"/>
                <a:gd name="T34" fmla="*/ 17 w 26"/>
                <a:gd name="T35" fmla="*/ 10 h 24"/>
                <a:gd name="T36" fmla="*/ 16 w 26"/>
                <a:gd name="T37" fmla="*/ 7 h 24"/>
                <a:gd name="T38" fmla="*/ 19 w 26"/>
                <a:gd name="T39" fmla="*/ 6 h 24"/>
                <a:gd name="T40" fmla="*/ 21 w 26"/>
                <a:gd name="T41" fmla="*/ 9 h 24"/>
                <a:gd name="T42" fmla="*/ 21 w 26"/>
                <a:gd name="T43" fmla="*/ 11 h 24"/>
                <a:gd name="T44" fmla="*/ 24 w 26"/>
                <a:gd name="T45" fmla="*/ 11 h 24"/>
                <a:gd name="T46" fmla="*/ 26 w 26"/>
                <a:gd name="T47" fmla="*/ 11 h 24"/>
                <a:gd name="T48" fmla="*/ 8 w 26"/>
                <a:gd name="T49" fmla="*/ 8 h 24"/>
                <a:gd name="T50" fmla="*/ 8 w 26"/>
                <a:gd name="T51" fmla="*/ 7 h 24"/>
                <a:gd name="T52" fmla="*/ 7 w 26"/>
                <a:gd name="T53" fmla="*/ 4 h 24"/>
                <a:gd name="T54" fmla="*/ 6 w 26"/>
                <a:gd name="T55" fmla="*/ 3 h 24"/>
                <a:gd name="T56" fmla="*/ 4 w 26"/>
                <a:gd name="T57" fmla="*/ 4 h 24"/>
                <a:gd name="T58" fmla="*/ 4 w 26"/>
                <a:gd name="T59" fmla="*/ 5 h 24"/>
                <a:gd name="T60" fmla="*/ 4 w 26"/>
                <a:gd name="T61" fmla="*/ 7 h 24"/>
                <a:gd name="T62" fmla="*/ 6 w 26"/>
                <a:gd name="T63" fmla="*/ 8 h 24"/>
                <a:gd name="T64" fmla="*/ 8 w 26"/>
                <a:gd name="T65" fmla="*/ 8 h 24"/>
                <a:gd name="T66" fmla="*/ 10 w 26"/>
                <a:gd name="T67" fmla="*/ 13 h 24"/>
                <a:gd name="T68" fmla="*/ 10 w 26"/>
                <a:gd name="T69" fmla="*/ 16 h 24"/>
                <a:gd name="T70" fmla="*/ 11 w 26"/>
                <a:gd name="T71" fmla="*/ 18 h 24"/>
                <a:gd name="T72" fmla="*/ 14 w 26"/>
                <a:gd name="T73" fmla="*/ 20 h 24"/>
                <a:gd name="T74" fmla="*/ 16 w 26"/>
                <a:gd name="T75" fmla="*/ 19 h 24"/>
                <a:gd name="T76" fmla="*/ 17 w 26"/>
                <a:gd name="T77" fmla="*/ 17 h 24"/>
                <a:gd name="T78" fmla="*/ 18 w 26"/>
                <a:gd name="T79" fmla="*/ 15 h 24"/>
                <a:gd name="T80" fmla="*/ 10 w 26"/>
                <a:gd name="T81" fmla="*/ 1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" h="24">
                  <a:moveTo>
                    <a:pt x="26" y="11"/>
                  </a:move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3" y="15"/>
                    <a:pt x="22" y="15"/>
                  </a:cubicBezTo>
                  <a:cubicBezTo>
                    <a:pt x="22" y="17"/>
                    <a:pt x="22" y="18"/>
                    <a:pt x="21" y="19"/>
                  </a:cubicBezTo>
                  <a:cubicBezTo>
                    <a:pt x="21" y="20"/>
                    <a:pt x="20" y="21"/>
                    <a:pt x="19" y="22"/>
                  </a:cubicBezTo>
                  <a:cubicBezTo>
                    <a:pt x="17" y="23"/>
                    <a:pt x="15" y="24"/>
                    <a:pt x="13" y="24"/>
                  </a:cubicBezTo>
                  <a:cubicBezTo>
                    <a:pt x="11" y="23"/>
                    <a:pt x="10" y="23"/>
                    <a:pt x="8" y="21"/>
                  </a:cubicBezTo>
                  <a:cubicBezTo>
                    <a:pt x="7" y="20"/>
                    <a:pt x="7" y="19"/>
                    <a:pt x="6" y="17"/>
                  </a:cubicBezTo>
                  <a:cubicBezTo>
                    <a:pt x="6" y="16"/>
                    <a:pt x="6" y="14"/>
                    <a:pt x="7" y="12"/>
                  </a:cubicBezTo>
                  <a:cubicBezTo>
                    <a:pt x="5" y="12"/>
                    <a:pt x="4" y="12"/>
                    <a:pt x="3" y="11"/>
                  </a:cubicBezTo>
                  <a:cubicBezTo>
                    <a:pt x="3" y="11"/>
                    <a:pt x="2" y="10"/>
                    <a:pt x="1" y="10"/>
                  </a:cubicBezTo>
                  <a:cubicBezTo>
                    <a:pt x="0" y="9"/>
                    <a:pt x="0" y="7"/>
                    <a:pt x="0" y="6"/>
                  </a:cubicBezTo>
                  <a:cubicBezTo>
                    <a:pt x="0" y="4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9" y="0"/>
                    <a:pt x="10" y="2"/>
                  </a:cubicBezTo>
                  <a:cubicBezTo>
                    <a:pt x="11" y="2"/>
                    <a:pt x="11" y="3"/>
                    <a:pt x="12" y="4"/>
                  </a:cubicBezTo>
                  <a:cubicBezTo>
                    <a:pt x="12" y="5"/>
                    <a:pt x="12" y="7"/>
                    <a:pt x="11" y="9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9"/>
                    <a:pt x="16" y="9"/>
                    <a:pt x="16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0" y="7"/>
                    <a:pt x="20" y="8"/>
                    <a:pt x="21" y="9"/>
                  </a:cubicBezTo>
                  <a:cubicBezTo>
                    <a:pt x="21" y="10"/>
                    <a:pt x="21" y="10"/>
                    <a:pt x="21" y="11"/>
                  </a:cubicBezTo>
                  <a:cubicBezTo>
                    <a:pt x="22" y="11"/>
                    <a:pt x="23" y="11"/>
                    <a:pt x="24" y="11"/>
                  </a:cubicBezTo>
                  <a:cubicBezTo>
                    <a:pt x="25" y="11"/>
                    <a:pt x="25" y="11"/>
                    <a:pt x="26" y="11"/>
                  </a:cubicBezTo>
                  <a:close/>
                  <a:moveTo>
                    <a:pt x="8" y="8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8" y="5"/>
                    <a:pt x="8" y="5"/>
                    <a:pt x="7" y="4"/>
                  </a:cubicBezTo>
                  <a:cubicBezTo>
                    <a:pt x="7" y="4"/>
                    <a:pt x="7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4"/>
                    <a:pt x="4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5" y="8"/>
                    <a:pt x="6" y="8"/>
                  </a:cubicBezTo>
                  <a:lnTo>
                    <a:pt x="8" y="8"/>
                  </a:lnTo>
                  <a:close/>
                  <a:moveTo>
                    <a:pt x="10" y="13"/>
                  </a:moveTo>
                  <a:cubicBezTo>
                    <a:pt x="10" y="14"/>
                    <a:pt x="10" y="15"/>
                    <a:pt x="10" y="16"/>
                  </a:cubicBezTo>
                  <a:cubicBezTo>
                    <a:pt x="10" y="17"/>
                    <a:pt x="11" y="18"/>
                    <a:pt x="11" y="18"/>
                  </a:cubicBezTo>
                  <a:cubicBezTo>
                    <a:pt x="12" y="19"/>
                    <a:pt x="13" y="20"/>
                    <a:pt x="14" y="20"/>
                  </a:cubicBezTo>
                  <a:cubicBezTo>
                    <a:pt x="15" y="20"/>
                    <a:pt x="15" y="19"/>
                    <a:pt x="16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7" y="17"/>
                    <a:pt x="18" y="16"/>
                    <a:pt x="18" y="15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ṥḻîďè">
              <a:extLst>
                <a:ext uri="{FF2B5EF4-FFF2-40B4-BE49-F238E27FC236}">
                  <a16:creationId xmlns:a16="http://schemas.microsoft.com/office/drawing/2014/main" id="{B005F17A-4F5E-2CD0-F744-72CC2A806C57}"/>
                </a:ext>
              </a:extLst>
            </p:cNvPr>
            <p:cNvSpPr/>
            <p:nvPr/>
          </p:nvSpPr>
          <p:spPr bwMode="auto">
            <a:xfrm>
              <a:off x="3503613" y="3867151"/>
              <a:ext cx="96838" cy="87313"/>
            </a:xfrm>
            <a:custGeom>
              <a:avLst/>
              <a:gdLst>
                <a:gd name="T0" fmla="*/ 55 w 61"/>
                <a:gd name="T1" fmla="*/ 55 h 55"/>
                <a:gd name="T2" fmla="*/ 16 w 61"/>
                <a:gd name="T3" fmla="*/ 25 h 55"/>
                <a:gd name="T4" fmla="*/ 7 w 61"/>
                <a:gd name="T5" fmla="*/ 37 h 55"/>
                <a:gd name="T6" fmla="*/ 0 w 61"/>
                <a:gd name="T7" fmla="*/ 30 h 55"/>
                <a:gd name="T8" fmla="*/ 25 w 61"/>
                <a:gd name="T9" fmla="*/ 0 h 55"/>
                <a:gd name="T10" fmla="*/ 32 w 61"/>
                <a:gd name="T11" fmla="*/ 5 h 55"/>
                <a:gd name="T12" fmla="*/ 23 w 61"/>
                <a:gd name="T13" fmla="*/ 16 h 55"/>
                <a:gd name="T14" fmla="*/ 61 w 61"/>
                <a:gd name="T15" fmla="*/ 48 h 55"/>
                <a:gd name="T16" fmla="*/ 55 w 61"/>
                <a:gd name="T17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5">
                  <a:moveTo>
                    <a:pt x="55" y="55"/>
                  </a:moveTo>
                  <a:lnTo>
                    <a:pt x="16" y="25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25" y="0"/>
                  </a:lnTo>
                  <a:lnTo>
                    <a:pt x="32" y="5"/>
                  </a:lnTo>
                  <a:lnTo>
                    <a:pt x="23" y="16"/>
                  </a:lnTo>
                  <a:lnTo>
                    <a:pt x="61" y="48"/>
                  </a:lnTo>
                  <a:lnTo>
                    <a:pt x="55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$líḋé">
              <a:extLst>
                <a:ext uri="{FF2B5EF4-FFF2-40B4-BE49-F238E27FC236}">
                  <a16:creationId xmlns:a16="http://schemas.microsoft.com/office/drawing/2014/main" id="{32AB2D29-DC53-1272-A6FA-9ABBE6D2A3F4}"/>
                </a:ext>
              </a:extLst>
            </p:cNvPr>
            <p:cNvSpPr/>
            <p:nvPr/>
          </p:nvSpPr>
          <p:spPr bwMode="auto">
            <a:xfrm>
              <a:off x="3546475" y="3813176"/>
              <a:ext cx="109538" cy="101600"/>
            </a:xfrm>
            <a:custGeom>
              <a:avLst/>
              <a:gdLst>
                <a:gd name="T0" fmla="*/ 48 w 69"/>
                <a:gd name="T1" fmla="*/ 64 h 64"/>
                <a:gd name="T2" fmla="*/ 0 w 69"/>
                <a:gd name="T3" fmla="*/ 30 h 64"/>
                <a:gd name="T4" fmla="*/ 21 w 69"/>
                <a:gd name="T5" fmla="*/ 0 h 64"/>
                <a:gd name="T6" fmla="*/ 30 w 69"/>
                <a:gd name="T7" fmla="*/ 5 h 64"/>
                <a:gd name="T8" fmla="*/ 14 w 69"/>
                <a:gd name="T9" fmla="*/ 27 h 64"/>
                <a:gd name="T10" fmla="*/ 25 w 69"/>
                <a:gd name="T11" fmla="*/ 34 h 64"/>
                <a:gd name="T12" fmla="*/ 39 w 69"/>
                <a:gd name="T13" fmla="*/ 14 h 64"/>
                <a:gd name="T14" fmla="*/ 46 w 69"/>
                <a:gd name="T15" fmla="*/ 21 h 64"/>
                <a:gd name="T16" fmla="*/ 32 w 69"/>
                <a:gd name="T17" fmla="*/ 41 h 64"/>
                <a:gd name="T18" fmla="*/ 46 w 69"/>
                <a:gd name="T19" fmla="*/ 50 h 64"/>
                <a:gd name="T20" fmla="*/ 62 w 69"/>
                <a:gd name="T21" fmla="*/ 25 h 64"/>
                <a:gd name="T22" fmla="*/ 69 w 69"/>
                <a:gd name="T23" fmla="*/ 32 h 64"/>
                <a:gd name="T24" fmla="*/ 48 w 69"/>
                <a:gd name="T25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64">
                  <a:moveTo>
                    <a:pt x="48" y="64"/>
                  </a:moveTo>
                  <a:lnTo>
                    <a:pt x="0" y="30"/>
                  </a:lnTo>
                  <a:lnTo>
                    <a:pt x="21" y="0"/>
                  </a:lnTo>
                  <a:lnTo>
                    <a:pt x="30" y="5"/>
                  </a:lnTo>
                  <a:lnTo>
                    <a:pt x="14" y="27"/>
                  </a:lnTo>
                  <a:lnTo>
                    <a:pt x="25" y="34"/>
                  </a:lnTo>
                  <a:lnTo>
                    <a:pt x="39" y="14"/>
                  </a:lnTo>
                  <a:lnTo>
                    <a:pt x="46" y="21"/>
                  </a:lnTo>
                  <a:lnTo>
                    <a:pt x="32" y="41"/>
                  </a:lnTo>
                  <a:lnTo>
                    <a:pt x="46" y="50"/>
                  </a:lnTo>
                  <a:lnTo>
                    <a:pt x="62" y="25"/>
                  </a:lnTo>
                  <a:lnTo>
                    <a:pt x="69" y="32"/>
                  </a:lnTo>
                  <a:lnTo>
                    <a:pt x="48" y="6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iṡľîḋê">
              <a:extLst>
                <a:ext uri="{FF2B5EF4-FFF2-40B4-BE49-F238E27FC236}">
                  <a16:creationId xmlns:a16="http://schemas.microsoft.com/office/drawing/2014/main" id="{A90684E4-7A21-C3BD-E7F4-C7A8002E3579}"/>
                </a:ext>
              </a:extLst>
            </p:cNvPr>
            <p:cNvSpPr/>
            <p:nvPr/>
          </p:nvSpPr>
          <p:spPr bwMode="auto">
            <a:xfrm>
              <a:off x="3594100" y="3754438"/>
              <a:ext cx="93663" cy="84138"/>
            </a:xfrm>
            <a:custGeom>
              <a:avLst/>
              <a:gdLst>
                <a:gd name="T0" fmla="*/ 19 w 26"/>
                <a:gd name="T1" fmla="*/ 9 h 23"/>
                <a:gd name="T2" fmla="*/ 22 w 26"/>
                <a:gd name="T3" fmla="*/ 6 h 23"/>
                <a:gd name="T4" fmla="*/ 26 w 26"/>
                <a:gd name="T5" fmla="*/ 12 h 23"/>
                <a:gd name="T6" fmla="*/ 25 w 26"/>
                <a:gd name="T7" fmla="*/ 18 h 23"/>
                <a:gd name="T8" fmla="*/ 19 w 26"/>
                <a:gd name="T9" fmla="*/ 22 h 23"/>
                <a:gd name="T10" fmla="*/ 9 w 26"/>
                <a:gd name="T11" fmla="*/ 20 h 23"/>
                <a:gd name="T12" fmla="*/ 1 w 26"/>
                <a:gd name="T13" fmla="*/ 13 h 23"/>
                <a:gd name="T14" fmla="*/ 2 w 26"/>
                <a:gd name="T15" fmla="*/ 5 h 23"/>
                <a:gd name="T16" fmla="*/ 7 w 26"/>
                <a:gd name="T17" fmla="*/ 0 h 23"/>
                <a:gd name="T18" fmla="*/ 13 w 26"/>
                <a:gd name="T19" fmla="*/ 1 h 23"/>
                <a:gd name="T20" fmla="*/ 12 w 26"/>
                <a:gd name="T21" fmla="*/ 5 h 23"/>
                <a:gd name="T22" fmla="*/ 8 w 26"/>
                <a:gd name="T23" fmla="*/ 5 h 23"/>
                <a:gd name="T24" fmla="*/ 6 w 26"/>
                <a:gd name="T25" fmla="*/ 7 h 23"/>
                <a:gd name="T26" fmla="*/ 6 w 26"/>
                <a:gd name="T27" fmla="*/ 11 h 23"/>
                <a:gd name="T28" fmla="*/ 11 w 26"/>
                <a:gd name="T29" fmla="*/ 16 h 23"/>
                <a:gd name="T30" fmla="*/ 17 w 26"/>
                <a:gd name="T31" fmla="*/ 18 h 23"/>
                <a:gd name="T32" fmla="*/ 21 w 26"/>
                <a:gd name="T33" fmla="*/ 16 h 23"/>
                <a:gd name="T34" fmla="*/ 21 w 26"/>
                <a:gd name="T35" fmla="*/ 12 h 23"/>
                <a:gd name="T36" fmla="*/ 19 w 26"/>
                <a:gd name="T37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6" h="23">
                  <a:moveTo>
                    <a:pt x="19" y="9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24" y="8"/>
                    <a:pt x="25" y="10"/>
                    <a:pt x="26" y="12"/>
                  </a:cubicBezTo>
                  <a:cubicBezTo>
                    <a:pt x="26" y="14"/>
                    <a:pt x="26" y="16"/>
                    <a:pt x="25" y="18"/>
                  </a:cubicBezTo>
                  <a:cubicBezTo>
                    <a:pt x="24" y="20"/>
                    <a:pt x="21" y="22"/>
                    <a:pt x="19" y="22"/>
                  </a:cubicBezTo>
                  <a:cubicBezTo>
                    <a:pt x="16" y="23"/>
                    <a:pt x="12" y="22"/>
                    <a:pt x="9" y="20"/>
                  </a:cubicBezTo>
                  <a:cubicBezTo>
                    <a:pt x="5" y="18"/>
                    <a:pt x="3" y="16"/>
                    <a:pt x="1" y="13"/>
                  </a:cubicBezTo>
                  <a:cubicBezTo>
                    <a:pt x="0" y="10"/>
                    <a:pt x="0" y="7"/>
                    <a:pt x="2" y="5"/>
                  </a:cubicBezTo>
                  <a:cubicBezTo>
                    <a:pt x="3" y="2"/>
                    <a:pt x="5" y="1"/>
                    <a:pt x="7" y="0"/>
                  </a:cubicBezTo>
                  <a:cubicBezTo>
                    <a:pt x="9" y="0"/>
                    <a:pt x="11" y="0"/>
                    <a:pt x="13" y="1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0" y="5"/>
                    <a:pt x="9" y="5"/>
                    <a:pt x="8" y="5"/>
                  </a:cubicBezTo>
                  <a:cubicBezTo>
                    <a:pt x="7" y="5"/>
                    <a:pt x="6" y="6"/>
                    <a:pt x="6" y="7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3"/>
                    <a:pt x="8" y="15"/>
                    <a:pt x="11" y="16"/>
                  </a:cubicBezTo>
                  <a:cubicBezTo>
                    <a:pt x="13" y="17"/>
                    <a:pt x="16" y="18"/>
                    <a:pt x="17" y="18"/>
                  </a:cubicBezTo>
                  <a:cubicBezTo>
                    <a:pt x="19" y="18"/>
                    <a:pt x="20" y="17"/>
                    <a:pt x="21" y="16"/>
                  </a:cubicBezTo>
                  <a:cubicBezTo>
                    <a:pt x="22" y="15"/>
                    <a:pt x="22" y="13"/>
                    <a:pt x="21" y="12"/>
                  </a:cubicBezTo>
                  <a:cubicBezTo>
                    <a:pt x="21" y="11"/>
                    <a:pt x="20" y="10"/>
                    <a:pt x="19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ïśḷîḍè">
              <a:extLst>
                <a:ext uri="{FF2B5EF4-FFF2-40B4-BE49-F238E27FC236}">
                  <a16:creationId xmlns:a16="http://schemas.microsoft.com/office/drawing/2014/main" id="{2820993C-8A9E-120F-BB8D-0F6F8C67BD47}"/>
                </a:ext>
              </a:extLst>
            </p:cNvPr>
            <p:cNvSpPr/>
            <p:nvPr/>
          </p:nvSpPr>
          <p:spPr bwMode="auto">
            <a:xfrm>
              <a:off x="3622675" y="3679826"/>
              <a:ext cx="107950" cy="93663"/>
            </a:xfrm>
            <a:custGeom>
              <a:avLst/>
              <a:gdLst>
                <a:gd name="T0" fmla="*/ 52 w 68"/>
                <a:gd name="T1" fmla="*/ 59 h 59"/>
                <a:gd name="T2" fmla="*/ 0 w 68"/>
                <a:gd name="T3" fmla="*/ 36 h 59"/>
                <a:gd name="T4" fmla="*/ 2 w 68"/>
                <a:gd name="T5" fmla="*/ 27 h 59"/>
                <a:gd name="T6" fmla="*/ 23 w 68"/>
                <a:gd name="T7" fmla="*/ 36 h 59"/>
                <a:gd name="T8" fmla="*/ 32 w 68"/>
                <a:gd name="T9" fmla="*/ 18 h 59"/>
                <a:gd name="T10" fmla="*/ 9 w 68"/>
                <a:gd name="T11" fmla="*/ 9 h 59"/>
                <a:gd name="T12" fmla="*/ 14 w 68"/>
                <a:gd name="T13" fmla="*/ 0 h 59"/>
                <a:gd name="T14" fmla="*/ 68 w 68"/>
                <a:gd name="T15" fmla="*/ 22 h 59"/>
                <a:gd name="T16" fmla="*/ 64 w 68"/>
                <a:gd name="T17" fmla="*/ 32 h 59"/>
                <a:gd name="T18" fmla="*/ 41 w 68"/>
                <a:gd name="T19" fmla="*/ 20 h 59"/>
                <a:gd name="T20" fmla="*/ 32 w 68"/>
                <a:gd name="T21" fmla="*/ 38 h 59"/>
                <a:gd name="T22" fmla="*/ 57 w 68"/>
                <a:gd name="T23" fmla="*/ 50 h 59"/>
                <a:gd name="T24" fmla="*/ 52 w 68"/>
                <a:gd name="T25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8" h="59">
                  <a:moveTo>
                    <a:pt x="52" y="59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23" y="36"/>
                  </a:lnTo>
                  <a:lnTo>
                    <a:pt x="32" y="18"/>
                  </a:lnTo>
                  <a:lnTo>
                    <a:pt x="9" y="9"/>
                  </a:lnTo>
                  <a:lnTo>
                    <a:pt x="14" y="0"/>
                  </a:lnTo>
                  <a:lnTo>
                    <a:pt x="68" y="22"/>
                  </a:lnTo>
                  <a:lnTo>
                    <a:pt x="64" y="32"/>
                  </a:lnTo>
                  <a:lnTo>
                    <a:pt x="41" y="20"/>
                  </a:lnTo>
                  <a:lnTo>
                    <a:pt x="32" y="38"/>
                  </a:lnTo>
                  <a:lnTo>
                    <a:pt x="57" y="50"/>
                  </a:lnTo>
                  <a:lnTo>
                    <a:pt x="52" y="59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ṣļíḓe">
              <a:extLst>
                <a:ext uri="{FF2B5EF4-FFF2-40B4-BE49-F238E27FC236}">
                  <a16:creationId xmlns:a16="http://schemas.microsoft.com/office/drawing/2014/main" id="{1DB3D17D-1C60-6696-30FE-909BE59061EF}"/>
                </a:ext>
              </a:extLst>
            </p:cNvPr>
            <p:cNvSpPr/>
            <p:nvPr/>
          </p:nvSpPr>
          <p:spPr bwMode="auto">
            <a:xfrm>
              <a:off x="3648075" y="3606801"/>
              <a:ext cx="107950" cy="87313"/>
            </a:xfrm>
            <a:custGeom>
              <a:avLst/>
              <a:gdLst>
                <a:gd name="T0" fmla="*/ 57 w 68"/>
                <a:gd name="T1" fmla="*/ 55 h 55"/>
                <a:gd name="T2" fmla="*/ 0 w 68"/>
                <a:gd name="T3" fmla="*/ 36 h 55"/>
                <a:gd name="T4" fmla="*/ 2 w 68"/>
                <a:gd name="T5" fmla="*/ 27 h 55"/>
                <a:gd name="T6" fmla="*/ 45 w 68"/>
                <a:gd name="T7" fmla="*/ 20 h 55"/>
                <a:gd name="T8" fmla="*/ 9 w 68"/>
                <a:gd name="T9" fmla="*/ 9 h 55"/>
                <a:gd name="T10" fmla="*/ 11 w 68"/>
                <a:gd name="T11" fmla="*/ 0 h 55"/>
                <a:gd name="T12" fmla="*/ 68 w 68"/>
                <a:gd name="T13" fmla="*/ 16 h 55"/>
                <a:gd name="T14" fmla="*/ 64 w 68"/>
                <a:gd name="T15" fmla="*/ 25 h 55"/>
                <a:gd name="T16" fmla="*/ 23 w 68"/>
                <a:gd name="T17" fmla="*/ 34 h 55"/>
                <a:gd name="T18" fmla="*/ 59 w 68"/>
                <a:gd name="T19" fmla="*/ 46 h 55"/>
                <a:gd name="T20" fmla="*/ 57 w 68"/>
                <a:gd name="T21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8" h="55">
                  <a:moveTo>
                    <a:pt x="57" y="55"/>
                  </a:moveTo>
                  <a:lnTo>
                    <a:pt x="0" y="36"/>
                  </a:lnTo>
                  <a:lnTo>
                    <a:pt x="2" y="27"/>
                  </a:lnTo>
                  <a:lnTo>
                    <a:pt x="45" y="20"/>
                  </a:lnTo>
                  <a:lnTo>
                    <a:pt x="9" y="9"/>
                  </a:lnTo>
                  <a:lnTo>
                    <a:pt x="11" y="0"/>
                  </a:lnTo>
                  <a:lnTo>
                    <a:pt x="68" y="16"/>
                  </a:lnTo>
                  <a:lnTo>
                    <a:pt x="64" y="25"/>
                  </a:lnTo>
                  <a:lnTo>
                    <a:pt x="23" y="34"/>
                  </a:lnTo>
                  <a:lnTo>
                    <a:pt x="59" y="46"/>
                  </a:lnTo>
                  <a:lnTo>
                    <a:pt x="57" y="55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ïslïḓé">
              <a:extLst>
                <a:ext uri="{FF2B5EF4-FFF2-40B4-BE49-F238E27FC236}">
                  <a16:creationId xmlns:a16="http://schemas.microsoft.com/office/drawing/2014/main" id="{576F1EE3-2651-2B91-701F-68FA1B214D1B}"/>
                </a:ext>
              </a:extLst>
            </p:cNvPr>
            <p:cNvSpPr/>
            <p:nvPr/>
          </p:nvSpPr>
          <p:spPr bwMode="auto">
            <a:xfrm>
              <a:off x="3673475" y="3527426"/>
              <a:ext cx="96838" cy="79375"/>
            </a:xfrm>
            <a:custGeom>
              <a:avLst/>
              <a:gdLst>
                <a:gd name="T0" fmla="*/ 12 w 27"/>
                <a:gd name="T1" fmla="*/ 22 h 22"/>
                <a:gd name="T2" fmla="*/ 5 w 27"/>
                <a:gd name="T3" fmla="*/ 20 h 22"/>
                <a:gd name="T4" fmla="*/ 2 w 27"/>
                <a:gd name="T5" fmla="*/ 17 h 22"/>
                <a:gd name="T6" fmla="*/ 0 w 27"/>
                <a:gd name="T7" fmla="*/ 14 h 22"/>
                <a:gd name="T8" fmla="*/ 0 w 27"/>
                <a:gd name="T9" fmla="*/ 9 h 22"/>
                <a:gd name="T10" fmla="*/ 5 w 27"/>
                <a:gd name="T11" fmla="*/ 2 h 22"/>
                <a:gd name="T12" fmla="*/ 15 w 27"/>
                <a:gd name="T13" fmla="*/ 1 h 22"/>
                <a:gd name="T14" fmla="*/ 24 w 27"/>
                <a:gd name="T15" fmla="*/ 5 h 22"/>
                <a:gd name="T16" fmla="*/ 26 w 27"/>
                <a:gd name="T17" fmla="*/ 14 h 22"/>
                <a:gd name="T18" fmla="*/ 21 w 27"/>
                <a:gd name="T19" fmla="*/ 21 h 22"/>
                <a:gd name="T20" fmla="*/ 12 w 27"/>
                <a:gd name="T21" fmla="*/ 22 h 22"/>
                <a:gd name="T22" fmla="*/ 12 w 27"/>
                <a:gd name="T23" fmla="*/ 17 h 22"/>
                <a:gd name="T24" fmla="*/ 19 w 27"/>
                <a:gd name="T25" fmla="*/ 17 h 22"/>
                <a:gd name="T26" fmla="*/ 22 w 27"/>
                <a:gd name="T27" fmla="*/ 13 h 22"/>
                <a:gd name="T28" fmla="*/ 21 w 27"/>
                <a:gd name="T29" fmla="*/ 8 h 22"/>
                <a:gd name="T30" fmla="*/ 14 w 27"/>
                <a:gd name="T31" fmla="*/ 5 h 22"/>
                <a:gd name="T32" fmla="*/ 8 w 27"/>
                <a:gd name="T33" fmla="*/ 6 h 22"/>
                <a:gd name="T34" fmla="*/ 5 w 27"/>
                <a:gd name="T35" fmla="*/ 10 h 22"/>
                <a:gd name="T36" fmla="*/ 6 w 27"/>
                <a:gd name="T37" fmla="*/ 14 h 22"/>
                <a:gd name="T38" fmla="*/ 12 w 27"/>
                <a:gd name="T39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2">
                  <a:moveTo>
                    <a:pt x="12" y="22"/>
                  </a:moveTo>
                  <a:cubicBezTo>
                    <a:pt x="9" y="21"/>
                    <a:pt x="7" y="21"/>
                    <a:pt x="5" y="20"/>
                  </a:cubicBezTo>
                  <a:cubicBezTo>
                    <a:pt x="4" y="19"/>
                    <a:pt x="3" y="18"/>
                    <a:pt x="2" y="17"/>
                  </a:cubicBezTo>
                  <a:cubicBezTo>
                    <a:pt x="1" y="16"/>
                    <a:pt x="1" y="15"/>
                    <a:pt x="0" y="14"/>
                  </a:cubicBezTo>
                  <a:cubicBezTo>
                    <a:pt x="0" y="12"/>
                    <a:pt x="0" y="11"/>
                    <a:pt x="0" y="9"/>
                  </a:cubicBezTo>
                  <a:cubicBezTo>
                    <a:pt x="1" y="6"/>
                    <a:pt x="2" y="4"/>
                    <a:pt x="5" y="2"/>
                  </a:cubicBezTo>
                  <a:cubicBezTo>
                    <a:pt x="8" y="1"/>
                    <a:pt x="11" y="0"/>
                    <a:pt x="15" y="1"/>
                  </a:cubicBezTo>
                  <a:cubicBezTo>
                    <a:pt x="19" y="2"/>
                    <a:pt x="22" y="3"/>
                    <a:pt x="24" y="5"/>
                  </a:cubicBezTo>
                  <a:cubicBezTo>
                    <a:pt x="26" y="8"/>
                    <a:pt x="27" y="10"/>
                    <a:pt x="26" y="14"/>
                  </a:cubicBezTo>
                  <a:cubicBezTo>
                    <a:pt x="26" y="17"/>
                    <a:pt x="24" y="19"/>
                    <a:pt x="21" y="21"/>
                  </a:cubicBezTo>
                  <a:cubicBezTo>
                    <a:pt x="19" y="22"/>
                    <a:pt x="16" y="22"/>
                    <a:pt x="12" y="22"/>
                  </a:cubicBezTo>
                  <a:close/>
                  <a:moveTo>
                    <a:pt x="12" y="17"/>
                  </a:moveTo>
                  <a:cubicBezTo>
                    <a:pt x="15" y="18"/>
                    <a:pt x="17" y="18"/>
                    <a:pt x="19" y="17"/>
                  </a:cubicBezTo>
                  <a:cubicBezTo>
                    <a:pt x="21" y="16"/>
                    <a:pt x="22" y="15"/>
                    <a:pt x="22" y="13"/>
                  </a:cubicBezTo>
                  <a:cubicBezTo>
                    <a:pt x="22" y="11"/>
                    <a:pt x="22" y="10"/>
                    <a:pt x="21" y="8"/>
                  </a:cubicBezTo>
                  <a:cubicBezTo>
                    <a:pt x="19" y="7"/>
                    <a:pt x="17" y="6"/>
                    <a:pt x="14" y="5"/>
                  </a:cubicBezTo>
                  <a:cubicBezTo>
                    <a:pt x="11" y="5"/>
                    <a:pt x="9" y="5"/>
                    <a:pt x="8" y="6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4" y="12"/>
                    <a:pt x="5" y="13"/>
                    <a:pt x="6" y="14"/>
                  </a:cubicBezTo>
                  <a:cubicBezTo>
                    <a:pt x="7" y="16"/>
                    <a:pt x="9" y="17"/>
                    <a:pt x="12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ïṣḻîḋé">
              <a:extLst>
                <a:ext uri="{FF2B5EF4-FFF2-40B4-BE49-F238E27FC236}">
                  <a16:creationId xmlns:a16="http://schemas.microsoft.com/office/drawing/2014/main" id="{B491D6CB-B2B3-4814-0C68-23AEEF0C2A2B}"/>
                </a:ext>
              </a:extLst>
            </p:cNvPr>
            <p:cNvSpPr/>
            <p:nvPr/>
          </p:nvSpPr>
          <p:spPr bwMode="auto">
            <a:xfrm>
              <a:off x="3684588" y="3465513"/>
              <a:ext cx="93663" cy="53975"/>
            </a:xfrm>
            <a:custGeom>
              <a:avLst/>
              <a:gdLst>
                <a:gd name="T0" fmla="*/ 57 w 59"/>
                <a:gd name="T1" fmla="*/ 34 h 34"/>
                <a:gd name="T2" fmla="*/ 0 w 59"/>
                <a:gd name="T3" fmla="*/ 30 h 34"/>
                <a:gd name="T4" fmla="*/ 0 w 59"/>
                <a:gd name="T5" fmla="*/ 20 h 34"/>
                <a:gd name="T6" fmla="*/ 47 w 59"/>
                <a:gd name="T7" fmla="*/ 23 h 34"/>
                <a:gd name="T8" fmla="*/ 50 w 59"/>
                <a:gd name="T9" fmla="*/ 0 h 34"/>
                <a:gd name="T10" fmla="*/ 59 w 59"/>
                <a:gd name="T11" fmla="*/ 0 h 34"/>
                <a:gd name="T12" fmla="*/ 57 w 59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34">
                  <a:moveTo>
                    <a:pt x="57" y="34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47" y="23"/>
                  </a:lnTo>
                  <a:lnTo>
                    <a:pt x="50" y="0"/>
                  </a:lnTo>
                  <a:lnTo>
                    <a:pt x="59" y="0"/>
                  </a:lnTo>
                  <a:lnTo>
                    <a:pt x="57" y="3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ïṥḷîḓè">
              <a:extLst>
                <a:ext uri="{FF2B5EF4-FFF2-40B4-BE49-F238E27FC236}">
                  <a16:creationId xmlns:a16="http://schemas.microsoft.com/office/drawing/2014/main" id="{41064502-35CB-C7F7-AC58-780557783B77}"/>
                </a:ext>
              </a:extLst>
            </p:cNvPr>
            <p:cNvSpPr/>
            <p:nvPr/>
          </p:nvSpPr>
          <p:spPr bwMode="auto">
            <a:xfrm>
              <a:off x="3684588" y="3375026"/>
              <a:ext cx="96838" cy="76200"/>
            </a:xfrm>
            <a:custGeom>
              <a:avLst/>
              <a:gdLst>
                <a:gd name="T0" fmla="*/ 14 w 27"/>
                <a:gd name="T1" fmla="*/ 21 h 21"/>
                <a:gd name="T2" fmla="*/ 7 w 27"/>
                <a:gd name="T3" fmla="*/ 21 h 21"/>
                <a:gd name="T4" fmla="*/ 4 w 27"/>
                <a:gd name="T5" fmla="*/ 19 h 21"/>
                <a:gd name="T6" fmla="*/ 2 w 27"/>
                <a:gd name="T7" fmla="*/ 16 h 21"/>
                <a:gd name="T8" fmla="*/ 0 w 27"/>
                <a:gd name="T9" fmla="*/ 11 h 21"/>
                <a:gd name="T10" fmla="*/ 4 w 27"/>
                <a:gd name="T11" fmla="*/ 3 h 21"/>
                <a:gd name="T12" fmla="*/ 13 w 27"/>
                <a:gd name="T13" fmla="*/ 0 h 21"/>
                <a:gd name="T14" fmla="*/ 23 w 27"/>
                <a:gd name="T15" fmla="*/ 3 h 21"/>
                <a:gd name="T16" fmla="*/ 27 w 27"/>
                <a:gd name="T17" fmla="*/ 11 h 21"/>
                <a:gd name="T18" fmla="*/ 24 w 27"/>
                <a:gd name="T19" fmla="*/ 18 h 21"/>
                <a:gd name="T20" fmla="*/ 14 w 27"/>
                <a:gd name="T21" fmla="*/ 21 h 21"/>
                <a:gd name="T22" fmla="*/ 14 w 27"/>
                <a:gd name="T23" fmla="*/ 17 h 21"/>
                <a:gd name="T24" fmla="*/ 20 w 27"/>
                <a:gd name="T25" fmla="*/ 15 h 21"/>
                <a:gd name="T26" fmla="*/ 22 w 27"/>
                <a:gd name="T27" fmla="*/ 11 h 21"/>
                <a:gd name="T28" fmla="*/ 20 w 27"/>
                <a:gd name="T29" fmla="*/ 6 h 21"/>
                <a:gd name="T30" fmla="*/ 13 w 27"/>
                <a:gd name="T31" fmla="*/ 5 h 21"/>
                <a:gd name="T32" fmla="*/ 7 w 27"/>
                <a:gd name="T33" fmla="*/ 7 h 21"/>
                <a:gd name="T34" fmla="*/ 5 w 27"/>
                <a:gd name="T35" fmla="*/ 11 h 21"/>
                <a:gd name="T36" fmla="*/ 7 w 27"/>
                <a:gd name="T37" fmla="*/ 15 h 21"/>
                <a:gd name="T38" fmla="*/ 14 w 27"/>
                <a:gd name="T3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" h="21">
                  <a:moveTo>
                    <a:pt x="14" y="21"/>
                  </a:moveTo>
                  <a:cubicBezTo>
                    <a:pt x="11" y="21"/>
                    <a:pt x="9" y="21"/>
                    <a:pt x="7" y="21"/>
                  </a:cubicBezTo>
                  <a:cubicBezTo>
                    <a:pt x="6" y="20"/>
                    <a:pt x="5" y="19"/>
                    <a:pt x="4" y="19"/>
                  </a:cubicBezTo>
                  <a:cubicBezTo>
                    <a:pt x="3" y="18"/>
                    <a:pt x="2" y="17"/>
                    <a:pt x="2" y="16"/>
                  </a:cubicBezTo>
                  <a:cubicBezTo>
                    <a:pt x="1" y="15"/>
                    <a:pt x="0" y="13"/>
                    <a:pt x="0" y="11"/>
                  </a:cubicBezTo>
                  <a:cubicBezTo>
                    <a:pt x="0" y="8"/>
                    <a:pt x="1" y="5"/>
                    <a:pt x="4" y="3"/>
                  </a:cubicBezTo>
                  <a:cubicBezTo>
                    <a:pt x="6" y="1"/>
                    <a:pt x="9" y="0"/>
                    <a:pt x="13" y="0"/>
                  </a:cubicBezTo>
                  <a:cubicBezTo>
                    <a:pt x="18" y="0"/>
                    <a:pt x="21" y="1"/>
                    <a:pt x="23" y="3"/>
                  </a:cubicBezTo>
                  <a:cubicBezTo>
                    <a:pt x="26" y="5"/>
                    <a:pt x="27" y="7"/>
                    <a:pt x="27" y="11"/>
                  </a:cubicBezTo>
                  <a:cubicBezTo>
                    <a:pt x="27" y="14"/>
                    <a:pt x="26" y="16"/>
                    <a:pt x="24" y="18"/>
                  </a:cubicBezTo>
                  <a:cubicBezTo>
                    <a:pt x="21" y="20"/>
                    <a:pt x="18" y="21"/>
                    <a:pt x="14" y="21"/>
                  </a:cubicBezTo>
                  <a:close/>
                  <a:moveTo>
                    <a:pt x="14" y="17"/>
                  </a:moveTo>
                  <a:cubicBezTo>
                    <a:pt x="17" y="17"/>
                    <a:pt x="19" y="16"/>
                    <a:pt x="20" y="15"/>
                  </a:cubicBezTo>
                  <a:cubicBezTo>
                    <a:pt x="22" y="14"/>
                    <a:pt x="22" y="12"/>
                    <a:pt x="22" y="11"/>
                  </a:cubicBezTo>
                  <a:cubicBezTo>
                    <a:pt x="22" y="9"/>
                    <a:pt x="22" y="8"/>
                    <a:pt x="20" y="6"/>
                  </a:cubicBezTo>
                  <a:cubicBezTo>
                    <a:pt x="19" y="5"/>
                    <a:pt x="16" y="5"/>
                    <a:pt x="13" y="5"/>
                  </a:cubicBezTo>
                  <a:cubicBezTo>
                    <a:pt x="10" y="5"/>
                    <a:pt x="8" y="6"/>
                    <a:pt x="7" y="7"/>
                  </a:cubicBezTo>
                  <a:cubicBezTo>
                    <a:pt x="5" y="8"/>
                    <a:pt x="5" y="9"/>
                    <a:pt x="5" y="11"/>
                  </a:cubicBezTo>
                  <a:cubicBezTo>
                    <a:pt x="5" y="13"/>
                    <a:pt x="6" y="14"/>
                    <a:pt x="7" y="15"/>
                  </a:cubicBezTo>
                  <a:cubicBezTo>
                    <a:pt x="9" y="16"/>
                    <a:pt x="11" y="17"/>
                    <a:pt x="14" y="1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iṥḷíďè">
              <a:extLst>
                <a:ext uri="{FF2B5EF4-FFF2-40B4-BE49-F238E27FC236}">
                  <a16:creationId xmlns:a16="http://schemas.microsoft.com/office/drawing/2014/main" id="{66C87D98-138C-E487-D523-9684282CA5B9}"/>
                </a:ext>
              </a:extLst>
            </p:cNvPr>
            <p:cNvSpPr/>
            <p:nvPr/>
          </p:nvSpPr>
          <p:spPr bwMode="auto">
            <a:xfrm>
              <a:off x="3676650" y="3287713"/>
              <a:ext cx="98425" cy="79375"/>
            </a:xfrm>
            <a:custGeom>
              <a:avLst/>
              <a:gdLst>
                <a:gd name="T0" fmla="*/ 17 w 27"/>
                <a:gd name="T1" fmla="*/ 10 h 22"/>
                <a:gd name="T2" fmla="*/ 13 w 27"/>
                <a:gd name="T3" fmla="*/ 11 h 22"/>
                <a:gd name="T4" fmla="*/ 12 w 27"/>
                <a:gd name="T5" fmla="*/ 1 h 22"/>
                <a:gd name="T6" fmla="*/ 22 w 27"/>
                <a:gd name="T7" fmla="*/ 0 h 22"/>
                <a:gd name="T8" fmla="*/ 25 w 27"/>
                <a:gd name="T9" fmla="*/ 4 h 22"/>
                <a:gd name="T10" fmla="*/ 27 w 27"/>
                <a:gd name="T11" fmla="*/ 9 h 22"/>
                <a:gd name="T12" fmla="*/ 26 w 27"/>
                <a:gd name="T13" fmla="*/ 15 h 22"/>
                <a:gd name="T14" fmla="*/ 22 w 27"/>
                <a:gd name="T15" fmla="*/ 19 h 22"/>
                <a:gd name="T16" fmla="*/ 15 w 27"/>
                <a:gd name="T17" fmla="*/ 21 h 22"/>
                <a:gd name="T18" fmla="*/ 8 w 27"/>
                <a:gd name="T19" fmla="*/ 21 h 22"/>
                <a:gd name="T20" fmla="*/ 3 w 27"/>
                <a:gd name="T21" fmla="*/ 17 h 22"/>
                <a:gd name="T22" fmla="*/ 1 w 27"/>
                <a:gd name="T23" fmla="*/ 12 h 22"/>
                <a:gd name="T24" fmla="*/ 2 w 27"/>
                <a:gd name="T25" fmla="*/ 6 h 22"/>
                <a:gd name="T26" fmla="*/ 7 w 27"/>
                <a:gd name="T27" fmla="*/ 2 h 22"/>
                <a:gd name="T28" fmla="*/ 8 w 27"/>
                <a:gd name="T29" fmla="*/ 7 h 22"/>
                <a:gd name="T30" fmla="*/ 6 w 27"/>
                <a:gd name="T31" fmla="*/ 9 h 22"/>
                <a:gd name="T32" fmla="*/ 5 w 27"/>
                <a:gd name="T33" fmla="*/ 12 h 22"/>
                <a:gd name="T34" fmla="*/ 8 w 27"/>
                <a:gd name="T35" fmla="*/ 16 h 22"/>
                <a:gd name="T36" fmla="*/ 14 w 27"/>
                <a:gd name="T37" fmla="*/ 17 h 22"/>
                <a:gd name="T38" fmla="*/ 21 w 27"/>
                <a:gd name="T39" fmla="*/ 14 h 22"/>
                <a:gd name="T40" fmla="*/ 22 w 27"/>
                <a:gd name="T41" fmla="*/ 10 h 22"/>
                <a:gd name="T42" fmla="*/ 21 w 27"/>
                <a:gd name="T43" fmla="*/ 7 h 22"/>
                <a:gd name="T44" fmla="*/ 20 w 27"/>
                <a:gd name="T45" fmla="*/ 5 h 22"/>
                <a:gd name="T46" fmla="*/ 16 w 27"/>
                <a:gd name="T47" fmla="*/ 5 h 22"/>
                <a:gd name="T48" fmla="*/ 17 w 27"/>
                <a:gd name="T49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" h="22">
                  <a:moveTo>
                    <a:pt x="17" y="10"/>
                  </a:moveTo>
                  <a:cubicBezTo>
                    <a:pt x="13" y="11"/>
                    <a:pt x="13" y="11"/>
                    <a:pt x="13" y="11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4" y="2"/>
                    <a:pt x="25" y="4"/>
                  </a:cubicBezTo>
                  <a:cubicBezTo>
                    <a:pt x="26" y="5"/>
                    <a:pt x="27" y="7"/>
                    <a:pt x="27" y="9"/>
                  </a:cubicBezTo>
                  <a:cubicBezTo>
                    <a:pt x="27" y="11"/>
                    <a:pt x="27" y="13"/>
                    <a:pt x="26" y="15"/>
                  </a:cubicBezTo>
                  <a:cubicBezTo>
                    <a:pt x="25" y="17"/>
                    <a:pt x="24" y="18"/>
                    <a:pt x="22" y="19"/>
                  </a:cubicBezTo>
                  <a:cubicBezTo>
                    <a:pt x="20" y="20"/>
                    <a:pt x="18" y="21"/>
                    <a:pt x="15" y="21"/>
                  </a:cubicBezTo>
                  <a:cubicBezTo>
                    <a:pt x="12" y="22"/>
                    <a:pt x="10" y="22"/>
                    <a:pt x="8" y="21"/>
                  </a:cubicBezTo>
                  <a:cubicBezTo>
                    <a:pt x="6" y="20"/>
                    <a:pt x="4" y="19"/>
                    <a:pt x="3" y="17"/>
                  </a:cubicBezTo>
                  <a:cubicBezTo>
                    <a:pt x="2" y="16"/>
                    <a:pt x="1" y="15"/>
                    <a:pt x="1" y="12"/>
                  </a:cubicBezTo>
                  <a:cubicBezTo>
                    <a:pt x="0" y="10"/>
                    <a:pt x="1" y="8"/>
                    <a:pt x="2" y="6"/>
                  </a:cubicBezTo>
                  <a:cubicBezTo>
                    <a:pt x="3" y="4"/>
                    <a:pt x="5" y="3"/>
                    <a:pt x="7" y="2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4"/>
                    <a:pt x="6" y="15"/>
                    <a:pt x="8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7" y="17"/>
                    <a:pt x="19" y="16"/>
                    <a:pt x="21" y="14"/>
                  </a:cubicBezTo>
                  <a:cubicBezTo>
                    <a:pt x="22" y="13"/>
                    <a:pt x="23" y="11"/>
                    <a:pt x="22" y="10"/>
                  </a:cubicBezTo>
                  <a:cubicBezTo>
                    <a:pt x="22" y="9"/>
                    <a:pt x="22" y="8"/>
                    <a:pt x="21" y="7"/>
                  </a:cubicBezTo>
                  <a:cubicBezTo>
                    <a:pt x="21" y="6"/>
                    <a:pt x="20" y="5"/>
                    <a:pt x="20" y="5"/>
                  </a:cubicBezTo>
                  <a:cubicBezTo>
                    <a:pt x="16" y="5"/>
                    <a:pt x="16" y="5"/>
                    <a:pt x="16" y="5"/>
                  </a:cubicBezTo>
                  <a:lnTo>
                    <a:pt x="17" y="1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ïş1ídè">
              <a:extLst>
                <a:ext uri="{FF2B5EF4-FFF2-40B4-BE49-F238E27FC236}">
                  <a16:creationId xmlns:a16="http://schemas.microsoft.com/office/drawing/2014/main" id="{2829CD61-BFA0-C3B3-4B7E-5BB2A39DC58A}"/>
                </a:ext>
              </a:extLst>
            </p:cNvPr>
            <p:cNvSpPr/>
            <p:nvPr/>
          </p:nvSpPr>
          <p:spPr bwMode="auto">
            <a:xfrm>
              <a:off x="3659188" y="3225801"/>
              <a:ext cx="100013" cy="69850"/>
            </a:xfrm>
            <a:custGeom>
              <a:avLst/>
              <a:gdLst>
                <a:gd name="T0" fmla="*/ 63 w 63"/>
                <a:gd name="T1" fmla="*/ 14 h 44"/>
                <a:gd name="T2" fmla="*/ 38 w 63"/>
                <a:gd name="T3" fmla="*/ 18 h 44"/>
                <a:gd name="T4" fmla="*/ 11 w 63"/>
                <a:gd name="T5" fmla="*/ 44 h 44"/>
                <a:gd name="T6" fmla="*/ 7 w 63"/>
                <a:gd name="T7" fmla="*/ 32 h 44"/>
                <a:gd name="T8" fmla="*/ 27 w 63"/>
                <a:gd name="T9" fmla="*/ 16 h 44"/>
                <a:gd name="T10" fmla="*/ 2 w 63"/>
                <a:gd name="T11" fmla="*/ 9 h 44"/>
                <a:gd name="T12" fmla="*/ 0 w 63"/>
                <a:gd name="T13" fmla="*/ 0 h 44"/>
                <a:gd name="T14" fmla="*/ 36 w 63"/>
                <a:gd name="T15" fmla="*/ 9 h 44"/>
                <a:gd name="T16" fmla="*/ 61 w 63"/>
                <a:gd name="T17" fmla="*/ 2 h 44"/>
                <a:gd name="T18" fmla="*/ 63 w 63"/>
                <a:gd name="T19" fmla="*/ 1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3" h="44">
                  <a:moveTo>
                    <a:pt x="63" y="14"/>
                  </a:moveTo>
                  <a:lnTo>
                    <a:pt x="38" y="18"/>
                  </a:lnTo>
                  <a:lnTo>
                    <a:pt x="11" y="44"/>
                  </a:lnTo>
                  <a:lnTo>
                    <a:pt x="7" y="32"/>
                  </a:lnTo>
                  <a:lnTo>
                    <a:pt x="27" y="16"/>
                  </a:lnTo>
                  <a:lnTo>
                    <a:pt x="2" y="9"/>
                  </a:lnTo>
                  <a:lnTo>
                    <a:pt x="0" y="0"/>
                  </a:lnTo>
                  <a:lnTo>
                    <a:pt x="36" y="9"/>
                  </a:lnTo>
                  <a:lnTo>
                    <a:pt x="61" y="2"/>
                  </a:lnTo>
                  <a:lnTo>
                    <a:pt x="63" y="1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îŝļiḑe">
              <a:extLst>
                <a:ext uri="{FF2B5EF4-FFF2-40B4-BE49-F238E27FC236}">
                  <a16:creationId xmlns:a16="http://schemas.microsoft.com/office/drawing/2014/main" id="{625EE407-D0F0-A4D8-240C-456A6216A26C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1" name="í$ļïḓé">
              <a:extLst>
                <a:ext uri="{FF2B5EF4-FFF2-40B4-BE49-F238E27FC236}">
                  <a16:creationId xmlns:a16="http://schemas.microsoft.com/office/drawing/2014/main" id="{CB7644ED-54BA-E53C-CE05-8158552C83DF}"/>
                </a:ext>
              </a:extLst>
            </p:cNvPr>
            <p:cNvSpPr/>
            <p:nvPr/>
          </p:nvSpPr>
          <p:spPr bwMode="auto">
            <a:xfrm>
              <a:off x="2967038" y="3346451"/>
              <a:ext cx="0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2" name="i$1iďê">
              <a:extLst>
                <a:ext uri="{FF2B5EF4-FFF2-40B4-BE49-F238E27FC236}">
                  <a16:creationId xmlns:a16="http://schemas.microsoft.com/office/drawing/2014/main" id="{7A8213F7-6B62-4A7A-4A76-6E984FAB9D49}"/>
                </a:ext>
              </a:extLst>
            </p:cNvPr>
            <p:cNvSpPr/>
            <p:nvPr/>
          </p:nvSpPr>
          <p:spPr bwMode="auto">
            <a:xfrm>
              <a:off x="2768600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3" name="îšḷiḍe">
              <a:extLst>
                <a:ext uri="{FF2B5EF4-FFF2-40B4-BE49-F238E27FC236}">
                  <a16:creationId xmlns:a16="http://schemas.microsoft.com/office/drawing/2014/main" id="{F868CE21-5E90-7A92-4C2F-6491270F91D8}"/>
                </a:ext>
              </a:extLst>
            </p:cNvPr>
            <p:cNvSpPr/>
            <p:nvPr/>
          </p:nvSpPr>
          <p:spPr bwMode="auto">
            <a:xfrm>
              <a:off x="3121025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4" name="íṥlïdê">
              <a:extLst>
                <a:ext uri="{FF2B5EF4-FFF2-40B4-BE49-F238E27FC236}">
                  <a16:creationId xmlns:a16="http://schemas.microsoft.com/office/drawing/2014/main" id="{92C3E46F-D149-DBAF-2089-1E4ED880476A}"/>
                </a:ext>
              </a:extLst>
            </p:cNvPr>
            <p:cNvSpPr/>
            <p:nvPr/>
          </p:nvSpPr>
          <p:spPr bwMode="auto">
            <a:xfrm>
              <a:off x="2871788" y="3592513"/>
              <a:ext cx="44450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5" name="íśľîďé">
              <a:extLst>
                <a:ext uri="{FF2B5EF4-FFF2-40B4-BE49-F238E27FC236}">
                  <a16:creationId xmlns:a16="http://schemas.microsoft.com/office/drawing/2014/main" id="{2AEC2632-39A7-3349-9738-404C0263D74C}"/>
                </a:ext>
              </a:extLst>
            </p:cNvPr>
            <p:cNvSpPr/>
            <p:nvPr/>
          </p:nvSpPr>
          <p:spPr bwMode="auto">
            <a:xfrm>
              <a:off x="3021013" y="3592513"/>
              <a:ext cx="42863" cy="14288"/>
            </a:xfrm>
            <a:prstGeom prst="rect">
              <a:avLst/>
            </a:pr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6" name="iŝḻîdé">
              <a:extLst>
                <a:ext uri="{FF2B5EF4-FFF2-40B4-BE49-F238E27FC236}">
                  <a16:creationId xmlns:a16="http://schemas.microsoft.com/office/drawing/2014/main" id="{5C6B6E80-97C4-5247-33BD-5F9B0FE263BD}"/>
                </a:ext>
              </a:extLst>
            </p:cNvPr>
            <p:cNvSpPr/>
            <p:nvPr/>
          </p:nvSpPr>
          <p:spPr bwMode="auto">
            <a:xfrm>
              <a:off x="2768600" y="3482976"/>
              <a:ext cx="396875" cy="109538"/>
            </a:xfrm>
            <a:custGeom>
              <a:avLst/>
              <a:gdLst>
                <a:gd name="T0" fmla="*/ 250 w 250"/>
                <a:gd name="T1" fmla="*/ 0 h 69"/>
                <a:gd name="T2" fmla="*/ 225 w 250"/>
                <a:gd name="T3" fmla="*/ 0 h 69"/>
                <a:gd name="T4" fmla="*/ 225 w 250"/>
                <a:gd name="T5" fmla="*/ 5 h 69"/>
                <a:gd name="T6" fmla="*/ 222 w 250"/>
                <a:gd name="T7" fmla="*/ 5 h 69"/>
                <a:gd name="T8" fmla="*/ 222 w 250"/>
                <a:gd name="T9" fmla="*/ 0 h 69"/>
                <a:gd name="T10" fmla="*/ 186 w 250"/>
                <a:gd name="T11" fmla="*/ 0 h 69"/>
                <a:gd name="T12" fmla="*/ 186 w 250"/>
                <a:gd name="T13" fmla="*/ 5 h 69"/>
                <a:gd name="T14" fmla="*/ 184 w 250"/>
                <a:gd name="T15" fmla="*/ 5 h 69"/>
                <a:gd name="T16" fmla="*/ 184 w 250"/>
                <a:gd name="T17" fmla="*/ 0 h 69"/>
                <a:gd name="T18" fmla="*/ 161 w 250"/>
                <a:gd name="T19" fmla="*/ 0 h 69"/>
                <a:gd name="T20" fmla="*/ 161 w 250"/>
                <a:gd name="T21" fmla="*/ 5 h 69"/>
                <a:gd name="T22" fmla="*/ 159 w 250"/>
                <a:gd name="T23" fmla="*/ 5 h 69"/>
                <a:gd name="T24" fmla="*/ 159 w 250"/>
                <a:gd name="T25" fmla="*/ 0 h 69"/>
                <a:gd name="T26" fmla="*/ 93 w 250"/>
                <a:gd name="T27" fmla="*/ 0 h 69"/>
                <a:gd name="T28" fmla="*/ 93 w 250"/>
                <a:gd name="T29" fmla="*/ 5 h 69"/>
                <a:gd name="T30" fmla="*/ 90 w 250"/>
                <a:gd name="T31" fmla="*/ 5 h 69"/>
                <a:gd name="T32" fmla="*/ 90 w 250"/>
                <a:gd name="T33" fmla="*/ 0 h 69"/>
                <a:gd name="T34" fmla="*/ 65 w 250"/>
                <a:gd name="T35" fmla="*/ 0 h 69"/>
                <a:gd name="T36" fmla="*/ 65 w 250"/>
                <a:gd name="T37" fmla="*/ 5 h 69"/>
                <a:gd name="T38" fmla="*/ 65 w 250"/>
                <a:gd name="T39" fmla="*/ 5 h 69"/>
                <a:gd name="T40" fmla="*/ 65 w 250"/>
                <a:gd name="T41" fmla="*/ 0 h 69"/>
                <a:gd name="T42" fmla="*/ 27 w 250"/>
                <a:gd name="T43" fmla="*/ 0 h 69"/>
                <a:gd name="T44" fmla="*/ 27 w 250"/>
                <a:gd name="T45" fmla="*/ 5 h 69"/>
                <a:gd name="T46" fmla="*/ 25 w 250"/>
                <a:gd name="T47" fmla="*/ 5 h 69"/>
                <a:gd name="T48" fmla="*/ 25 w 250"/>
                <a:gd name="T49" fmla="*/ 0 h 69"/>
                <a:gd name="T50" fmla="*/ 2 w 250"/>
                <a:gd name="T51" fmla="*/ 0 h 69"/>
                <a:gd name="T52" fmla="*/ 2 w 250"/>
                <a:gd name="T53" fmla="*/ 5 h 69"/>
                <a:gd name="T54" fmla="*/ 0 w 250"/>
                <a:gd name="T55" fmla="*/ 5 h 69"/>
                <a:gd name="T56" fmla="*/ 0 w 250"/>
                <a:gd name="T57" fmla="*/ 69 h 69"/>
                <a:gd name="T58" fmla="*/ 27 w 250"/>
                <a:gd name="T59" fmla="*/ 69 h 69"/>
                <a:gd name="T60" fmla="*/ 27 w 250"/>
                <a:gd name="T61" fmla="*/ 12 h 69"/>
                <a:gd name="T62" fmla="*/ 65 w 250"/>
                <a:gd name="T63" fmla="*/ 12 h 69"/>
                <a:gd name="T64" fmla="*/ 65 w 250"/>
                <a:gd name="T65" fmla="*/ 69 h 69"/>
                <a:gd name="T66" fmla="*/ 93 w 250"/>
                <a:gd name="T67" fmla="*/ 69 h 69"/>
                <a:gd name="T68" fmla="*/ 93 w 250"/>
                <a:gd name="T69" fmla="*/ 12 h 69"/>
                <a:gd name="T70" fmla="*/ 159 w 250"/>
                <a:gd name="T71" fmla="*/ 12 h 69"/>
                <a:gd name="T72" fmla="*/ 159 w 250"/>
                <a:gd name="T73" fmla="*/ 69 h 69"/>
                <a:gd name="T74" fmla="*/ 186 w 250"/>
                <a:gd name="T75" fmla="*/ 69 h 69"/>
                <a:gd name="T76" fmla="*/ 186 w 250"/>
                <a:gd name="T77" fmla="*/ 12 h 69"/>
                <a:gd name="T78" fmla="*/ 222 w 250"/>
                <a:gd name="T79" fmla="*/ 12 h 69"/>
                <a:gd name="T80" fmla="*/ 222 w 250"/>
                <a:gd name="T81" fmla="*/ 69 h 69"/>
                <a:gd name="T82" fmla="*/ 250 w 250"/>
                <a:gd name="T83" fmla="*/ 69 h 69"/>
                <a:gd name="T84" fmla="*/ 250 w 250"/>
                <a:gd name="T85" fmla="*/ 5 h 69"/>
                <a:gd name="T86" fmla="*/ 250 w 250"/>
                <a:gd name="T87" fmla="*/ 5 h 69"/>
                <a:gd name="T88" fmla="*/ 250 w 250"/>
                <a:gd name="T89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50" h="69">
                  <a:moveTo>
                    <a:pt x="250" y="0"/>
                  </a:moveTo>
                  <a:lnTo>
                    <a:pt x="225" y="0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0"/>
                  </a:lnTo>
                  <a:lnTo>
                    <a:pt x="186" y="0"/>
                  </a:lnTo>
                  <a:lnTo>
                    <a:pt x="186" y="5"/>
                  </a:lnTo>
                  <a:lnTo>
                    <a:pt x="184" y="5"/>
                  </a:lnTo>
                  <a:lnTo>
                    <a:pt x="184" y="0"/>
                  </a:lnTo>
                  <a:lnTo>
                    <a:pt x="161" y="0"/>
                  </a:lnTo>
                  <a:lnTo>
                    <a:pt x="161" y="5"/>
                  </a:lnTo>
                  <a:lnTo>
                    <a:pt x="159" y="5"/>
                  </a:lnTo>
                  <a:lnTo>
                    <a:pt x="159" y="0"/>
                  </a:lnTo>
                  <a:lnTo>
                    <a:pt x="93" y="0"/>
                  </a:lnTo>
                  <a:lnTo>
                    <a:pt x="93" y="5"/>
                  </a:lnTo>
                  <a:lnTo>
                    <a:pt x="90" y="5"/>
                  </a:lnTo>
                  <a:lnTo>
                    <a:pt x="90" y="0"/>
                  </a:lnTo>
                  <a:lnTo>
                    <a:pt x="65" y="0"/>
                  </a:lnTo>
                  <a:lnTo>
                    <a:pt x="65" y="5"/>
                  </a:lnTo>
                  <a:lnTo>
                    <a:pt x="65" y="5"/>
                  </a:lnTo>
                  <a:lnTo>
                    <a:pt x="65" y="0"/>
                  </a:lnTo>
                  <a:lnTo>
                    <a:pt x="27" y="0"/>
                  </a:lnTo>
                  <a:lnTo>
                    <a:pt x="27" y="5"/>
                  </a:lnTo>
                  <a:lnTo>
                    <a:pt x="25" y="5"/>
                  </a:lnTo>
                  <a:lnTo>
                    <a:pt x="25" y="0"/>
                  </a:lnTo>
                  <a:lnTo>
                    <a:pt x="2" y="0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69"/>
                  </a:lnTo>
                  <a:lnTo>
                    <a:pt x="27" y="69"/>
                  </a:lnTo>
                  <a:lnTo>
                    <a:pt x="27" y="12"/>
                  </a:lnTo>
                  <a:lnTo>
                    <a:pt x="65" y="12"/>
                  </a:lnTo>
                  <a:lnTo>
                    <a:pt x="65" y="69"/>
                  </a:lnTo>
                  <a:lnTo>
                    <a:pt x="93" y="69"/>
                  </a:lnTo>
                  <a:lnTo>
                    <a:pt x="93" y="12"/>
                  </a:lnTo>
                  <a:lnTo>
                    <a:pt x="159" y="12"/>
                  </a:lnTo>
                  <a:lnTo>
                    <a:pt x="159" y="69"/>
                  </a:lnTo>
                  <a:lnTo>
                    <a:pt x="186" y="69"/>
                  </a:lnTo>
                  <a:lnTo>
                    <a:pt x="186" y="12"/>
                  </a:lnTo>
                  <a:lnTo>
                    <a:pt x="222" y="12"/>
                  </a:lnTo>
                  <a:lnTo>
                    <a:pt x="222" y="69"/>
                  </a:lnTo>
                  <a:lnTo>
                    <a:pt x="250" y="69"/>
                  </a:lnTo>
                  <a:lnTo>
                    <a:pt x="250" y="5"/>
                  </a:lnTo>
                  <a:lnTo>
                    <a:pt x="250" y="5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7" name="ïsḷiḍé">
              <a:extLst>
                <a:ext uri="{FF2B5EF4-FFF2-40B4-BE49-F238E27FC236}">
                  <a16:creationId xmlns:a16="http://schemas.microsoft.com/office/drawing/2014/main" id="{48B1102B-347B-4D6D-A1BB-977FF3B5AD3C}"/>
                </a:ext>
              </a:extLst>
            </p:cNvPr>
            <p:cNvSpPr/>
            <p:nvPr/>
          </p:nvSpPr>
          <p:spPr bwMode="auto">
            <a:xfrm>
              <a:off x="29019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0 w 1"/>
                <a:gd name="T9" fmla="*/ 0 w 1"/>
                <a:gd name="T10" fmla="*/ 0 w 1"/>
                <a:gd name="T11" fmla="*/ 0 w 1"/>
                <a:gd name="T12" fmla="*/ 1 w 1"/>
                <a:gd name="T1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8" name="íṧ1iďè">
              <a:extLst>
                <a:ext uri="{FF2B5EF4-FFF2-40B4-BE49-F238E27FC236}">
                  <a16:creationId xmlns:a16="http://schemas.microsoft.com/office/drawing/2014/main" id="{5F4027BD-02FA-A256-2D43-CA85B2963F57}"/>
                </a:ext>
              </a:extLst>
            </p:cNvPr>
            <p:cNvSpPr/>
            <p:nvPr/>
          </p:nvSpPr>
          <p:spPr bwMode="auto">
            <a:xfrm>
              <a:off x="2901950" y="3443288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0 h 1"/>
                <a:gd name="T5" fmla="*/ 0 h 1"/>
                <a:gd name="T6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9" name="îṩľíḓe">
              <a:extLst>
                <a:ext uri="{FF2B5EF4-FFF2-40B4-BE49-F238E27FC236}">
                  <a16:creationId xmlns:a16="http://schemas.microsoft.com/office/drawing/2014/main" id="{C75D6B14-2C81-115C-74B2-648D19C0CD68}"/>
                </a:ext>
              </a:extLst>
            </p:cNvPr>
            <p:cNvSpPr/>
            <p:nvPr/>
          </p:nvSpPr>
          <p:spPr bwMode="auto">
            <a:xfrm>
              <a:off x="2901950" y="3440113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0" name="ïṡ1ïḑé">
              <a:extLst>
                <a:ext uri="{FF2B5EF4-FFF2-40B4-BE49-F238E27FC236}">
                  <a16:creationId xmlns:a16="http://schemas.microsoft.com/office/drawing/2014/main" id="{BB521E10-DA58-FCE6-2085-293368D2841D}"/>
                </a:ext>
              </a:extLst>
            </p:cNvPr>
            <p:cNvSpPr/>
            <p:nvPr/>
          </p:nvSpPr>
          <p:spPr bwMode="auto">
            <a:xfrm>
              <a:off x="2905125" y="3446463"/>
              <a:ext cx="3175" cy="0"/>
            </a:xfrm>
            <a:custGeom>
              <a:avLst/>
              <a:gdLst>
                <a:gd name="T0" fmla="*/ 1 w 1"/>
                <a:gd name="T1" fmla="*/ 0 w 1"/>
                <a:gd name="T2" fmla="*/ 0 w 1"/>
                <a:gd name="T3" fmla="*/ 0 w 1"/>
                <a:gd name="T4" fmla="*/ 1 w 1"/>
                <a:gd name="T5" fmla="*/ 1 w 1"/>
                <a:gd name="T6" fmla="*/ 1 w 1"/>
                <a:gd name="T7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1" name="iṡlíďe">
              <a:extLst>
                <a:ext uri="{FF2B5EF4-FFF2-40B4-BE49-F238E27FC236}">
                  <a16:creationId xmlns:a16="http://schemas.microsoft.com/office/drawing/2014/main" id="{D73D8C5C-56C4-EDED-779B-DD11A698FF57}"/>
                </a:ext>
              </a:extLst>
            </p:cNvPr>
            <p:cNvSpPr/>
            <p:nvPr/>
          </p:nvSpPr>
          <p:spPr bwMode="auto">
            <a:xfrm>
              <a:off x="2908300" y="3446463"/>
              <a:ext cx="3175" cy="476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2" name="ïšḷiḍè">
              <a:extLst>
                <a:ext uri="{FF2B5EF4-FFF2-40B4-BE49-F238E27FC236}">
                  <a16:creationId xmlns:a16="http://schemas.microsoft.com/office/drawing/2014/main" id="{64BAEC53-ECD8-6E42-4B94-A271DC027260}"/>
                </a:ext>
              </a:extLst>
            </p:cNvPr>
            <p:cNvSpPr/>
            <p:nvPr/>
          </p:nvSpPr>
          <p:spPr bwMode="auto">
            <a:xfrm>
              <a:off x="2905125" y="3451226"/>
              <a:ext cx="0" cy="3175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1 h 1"/>
                <a:gd name="T4" fmla="*/ 1 h 1"/>
                <a:gd name="T5" fmla="*/ 1 h 1"/>
                <a:gd name="T6" fmla="*/ 0 h 1"/>
                <a:gd name="T7" fmla="*/ 0 h 1"/>
                <a:gd name="T8" fmla="*/ 0 h 1"/>
                <a:gd name="T9" fmla="*/ 0 h 1"/>
                <a:gd name="T10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  <a:cxn ang="0">
                  <a:pos x="0" y="T9"/>
                </a:cxn>
                <a:cxn ang="0">
                  <a:pos x="0" y="T1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3" name="í$1îḓè">
              <a:extLst>
                <a:ext uri="{FF2B5EF4-FFF2-40B4-BE49-F238E27FC236}">
                  <a16:creationId xmlns:a16="http://schemas.microsoft.com/office/drawing/2014/main" id="{F3DA2611-74B9-0123-1FCE-B741996E8F98}"/>
                </a:ext>
              </a:extLst>
            </p:cNvPr>
            <p:cNvSpPr/>
            <p:nvPr/>
          </p:nvSpPr>
          <p:spPr bwMode="auto">
            <a:xfrm>
              <a:off x="2857500" y="3446463"/>
              <a:ext cx="11113" cy="7938"/>
            </a:xfrm>
            <a:custGeom>
              <a:avLst/>
              <a:gdLst>
                <a:gd name="T0" fmla="*/ 2 w 3"/>
                <a:gd name="T1" fmla="*/ 1 h 2"/>
                <a:gd name="T2" fmla="*/ 1 w 3"/>
                <a:gd name="T3" fmla="*/ 1 h 2"/>
                <a:gd name="T4" fmla="*/ 1 w 3"/>
                <a:gd name="T5" fmla="*/ 1 h 2"/>
                <a:gd name="T6" fmla="*/ 1 w 3"/>
                <a:gd name="T7" fmla="*/ 1 h 2"/>
                <a:gd name="T8" fmla="*/ 1 w 3"/>
                <a:gd name="T9" fmla="*/ 1 h 2"/>
                <a:gd name="T10" fmla="*/ 1 w 3"/>
                <a:gd name="T11" fmla="*/ 0 h 2"/>
                <a:gd name="T12" fmla="*/ 1 w 3"/>
                <a:gd name="T13" fmla="*/ 0 h 2"/>
                <a:gd name="T14" fmla="*/ 1 w 3"/>
                <a:gd name="T15" fmla="*/ 0 h 2"/>
                <a:gd name="T16" fmla="*/ 1 w 3"/>
                <a:gd name="T17" fmla="*/ 0 h 2"/>
                <a:gd name="T18" fmla="*/ 1 w 3"/>
                <a:gd name="T19" fmla="*/ 0 h 2"/>
                <a:gd name="T20" fmla="*/ 1 w 3"/>
                <a:gd name="T21" fmla="*/ 0 h 2"/>
                <a:gd name="T22" fmla="*/ 1 w 3"/>
                <a:gd name="T23" fmla="*/ 0 h 2"/>
                <a:gd name="T24" fmla="*/ 1 w 3"/>
                <a:gd name="T25" fmla="*/ 0 h 2"/>
                <a:gd name="T26" fmla="*/ 1 w 3"/>
                <a:gd name="T27" fmla="*/ 0 h 2"/>
                <a:gd name="T28" fmla="*/ 0 w 3"/>
                <a:gd name="T29" fmla="*/ 0 h 2"/>
                <a:gd name="T30" fmla="*/ 0 w 3"/>
                <a:gd name="T31" fmla="*/ 0 h 2"/>
                <a:gd name="T32" fmla="*/ 0 w 3"/>
                <a:gd name="T33" fmla="*/ 0 h 2"/>
                <a:gd name="T34" fmla="*/ 0 w 3"/>
                <a:gd name="T35" fmla="*/ 0 h 2"/>
                <a:gd name="T36" fmla="*/ 0 w 3"/>
                <a:gd name="T37" fmla="*/ 0 h 2"/>
                <a:gd name="T38" fmla="*/ 1 w 3"/>
                <a:gd name="T39" fmla="*/ 1 h 2"/>
                <a:gd name="T40" fmla="*/ 1 w 3"/>
                <a:gd name="T41" fmla="*/ 1 h 2"/>
                <a:gd name="T42" fmla="*/ 1 w 3"/>
                <a:gd name="T43" fmla="*/ 1 h 2"/>
                <a:gd name="T44" fmla="*/ 1 w 3"/>
                <a:gd name="T45" fmla="*/ 2 h 2"/>
                <a:gd name="T46" fmla="*/ 1 w 3"/>
                <a:gd name="T47" fmla="*/ 1 h 2"/>
                <a:gd name="T48" fmla="*/ 2 w 3"/>
                <a:gd name="T49" fmla="*/ 1 h 2"/>
                <a:gd name="T50" fmla="*/ 2 w 3"/>
                <a:gd name="T51" fmla="*/ 1 h 2"/>
                <a:gd name="T52" fmla="*/ 2 w 3"/>
                <a:gd name="T53" fmla="*/ 1 h 2"/>
                <a:gd name="T54" fmla="*/ 3 w 3"/>
                <a:gd name="T55" fmla="*/ 1 h 2"/>
                <a:gd name="T56" fmla="*/ 3 w 3"/>
                <a:gd name="T57" fmla="*/ 1 h 2"/>
                <a:gd name="T58" fmla="*/ 2 w 3"/>
                <a:gd name="T59" fmla="*/ 1 h 2"/>
                <a:gd name="T60" fmla="*/ 2 w 3"/>
                <a:gd name="T61" fmla="*/ 1 h 2"/>
                <a:gd name="T62" fmla="*/ 2 w 3"/>
                <a:gd name="T63" fmla="*/ 1 h 2"/>
                <a:gd name="T64" fmla="*/ 2 w 3"/>
                <a:gd name="T65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" h="2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cubicBezTo>
                    <a:pt x="1" y="1"/>
                    <a:pt x="2" y="1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4" name="î$ľidé">
              <a:extLst>
                <a:ext uri="{FF2B5EF4-FFF2-40B4-BE49-F238E27FC236}">
                  <a16:creationId xmlns:a16="http://schemas.microsoft.com/office/drawing/2014/main" id="{AFF2FC16-1EE3-912E-115A-CBF4847F6EE8}"/>
                </a:ext>
              </a:extLst>
            </p:cNvPr>
            <p:cNvSpPr/>
            <p:nvPr/>
          </p:nvSpPr>
          <p:spPr bwMode="auto">
            <a:xfrm>
              <a:off x="2908300" y="3451226"/>
              <a:ext cx="3175" cy="0"/>
            </a:xfrm>
            <a:custGeom>
              <a:avLst/>
              <a:gdLst>
                <a:gd name="T0" fmla="*/ 0 w 1"/>
                <a:gd name="T1" fmla="*/ 0 w 1"/>
                <a:gd name="T2" fmla="*/ 0 w 1"/>
                <a:gd name="T3" fmla="*/ 0 w 1"/>
                <a:gd name="T4" fmla="*/ 0 w 1"/>
                <a:gd name="T5" fmla="*/ 0 w 1"/>
                <a:gd name="T6" fmla="*/ 0 w 1"/>
                <a:gd name="T7" fmla="*/ 1 w 1"/>
                <a:gd name="T8" fmla="*/ 1 w 1"/>
                <a:gd name="T9" fmla="*/ 1 w 1"/>
                <a:gd name="T1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5" name="išḻïďê">
              <a:extLst>
                <a:ext uri="{FF2B5EF4-FFF2-40B4-BE49-F238E27FC236}">
                  <a16:creationId xmlns:a16="http://schemas.microsoft.com/office/drawing/2014/main" id="{F3C3C0D2-9458-72B6-DF40-B19114EA4BC5}"/>
                </a:ext>
              </a:extLst>
            </p:cNvPr>
            <p:cNvSpPr/>
            <p:nvPr/>
          </p:nvSpPr>
          <p:spPr bwMode="auto">
            <a:xfrm>
              <a:off x="2822575" y="3440113"/>
              <a:ext cx="3175" cy="3175"/>
            </a:xfrm>
            <a:custGeom>
              <a:avLst/>
              <a:gdLst>
                <a:gd name="T0" fmla="*/ 0 w 1"/>
                <a:gd name="T1" fmla="*/ 1 h 1"/>
                <a:gd name="T2" fmla="*/ 0 w 1"/>
                <a:gd name="T3" fmla="*/ 1 h 1"/>
                <a:gd name="T4" fmla="*/ 1 w 1"/>
                <a:gd name="T5" fmla="*/ 1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1 w 1"/>
                <a:gd name="T15" fmla="*/ 0 h 1"/>
                <a:gd name="T16" fmla="*/ 1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1 h 1"/>
                <a:gd name="T24" fmla="*/ 0 w 1"/>
                <a:gd name="T2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6" name="îSļíďê">
              <a:extLst>
                <a:ext uri="{FF2B5EF4-FFF2-40B4-BE49-F238E27FC236}">
                  <a16:creationId xmlns:a16="http://schemas.microsoft.com/office/drawing/2014/main" id="{C163E0C3-9D95-AE80-9F07-8CC8441E16EE}"/>
                </a:ext>
              </a:extLst>
            </p:cNvPr>
            <p:cNvSpPr/>
            <p:nvPr/>
          </p:nvSpPr>
          <p:spPr bwMode="auto">
            <a:xfrm>
              <a:off x="2817813" y="3440113"/>
              <a:ext cx="7938" cy="11113"/>
            </a:xfrm>
            <a:custGeom>
              <a:avLst/>
              <a:gdLst>
                <a:gd name="T0" fmla="*/ 0 w 2"/>
                <a:gd name="T1" fmla="*/ 2 h 3"/>
                <a:gd name="T2" fmla="*/ 0 w 2"/>
                <a:gd name="T3" fmla="*/ 2 h 3"/>
                <a:gd name="T4" fmla="*/ 1 w 2"/>
                <a:gd name="T5" fmla="*/ 3 h 3"/>
                <a:gd name="T6" fmla="*/ 1 w 2"/>
                <a:gd name="T7" fmla="*/ 3 h 3"/>
                <a:gd name="T8" fmla="*/ 1 w 2"/>
                <a:gd name="T9" fmla="*/ 3 h 3"/>
                <a:gd name="T10" fmla="*/ 1 w 2"/>
                <a:gd name="T11" fmla="*/ 2 h 3"/>
                <a:gd name="T12" fmla="*/ 2 w 2"/>
                <a:gd name="T13" fmla="*/ 2 h 3"/>
                <a:gd name="T14" fmla="*/ 2 w 2"/>
                <a:gd name="T15" fmla="*/ 2 h 3"/>
                <a:gd name="T16" fmla="*/ 2 w 2"/>
                <a:gd name="T17" fmla="*/ 2 h 3"/>
                <a:gd name="T18" fmla="*/ 2 w 2"/>
                <a:gd name="T19" fmla="*/ 2 h 3"/>
                <a:gd name="T20" fmla="*/ 2 w 2"/>
                <a:gd name="T21" fmla="*/ 2 h 3"/>
                <a:gd name="T22" fmla="*/ 2 w 2"/>
                <a:gd name="T23" fmla="*/ 2 h 3"/>
                <a:gd name="T24" fmla="*/ 2 w 2"/>
                <a:gd name="T25" fmla="*/ 2 h 3"/>
                <a:gd name="T26" fmla="*/ 1 w 2"/>
                <a:gd name="T27" fmla="*/ 2 h 3"/>
                <a:gd name="T28" fmla="*/ 1 w 2"/>
                <a:gd name="T29" fmla="*/ 2 h 3"/>
                <a:gd name="T30" fmla="*/ 1 w 2"/>
                <a:gd name="T31" fmla="*/ 2 h 3"/>
                <a:gd name="T32" fmla="*/ 1 w 2"/>
                <a:gd name="T33" fmla="*/ 2 h 3"/>
                <a:gd name="T34" fmla="*/ 1 w 2"/>
                <a:gd name="T35" fmla="*/ 1 h 3"/>
                <a:gd name="T36" fmla="*/ 1 w 2"/>
                <a:gd name="T37" fmla="*/ 1 h 3"/>
                <a:gd name="T38" fmla="*/ 1 w 2"/>
                <a:gd name="T39" fmla="*/ 0 h 3"/>
                <a:gd name="T40" fmla="*/ 0 w 2"/>
                <a:gd name="T41" fmla="*/ 0 h 3"/>
                <a:gd name="T42" fmla="*/ 0 w 2"/>
                <a:gd name="T43" fmla="*/ 0 h 3"/>
                <a:gd name="T44" fmla="*/ 0 w 2"/>
                <a:gd name="T45" fmla="*/ 1 h 3"/>
                <a:gd name="T46" fmla="*/ 0 w 2"/>
                <a:gd name="T4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" h="3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7" name="íṧḻiḋe">
              <a:extLst>
                <a:ext uri="{FF2B5EF4-FFF2-40B4-BE49-F238E27FC236}">
                  <a16:creationId xmlns:a16="http://schemas.microsoft.com/office/drawing/2014/main" id="{A7F76B94-C659-90E9-B5E8-A9F767EFBCA5}"/>
                </a:ext>
              </a:extLst>
            </p:cNvPr>
            <p:cNvSpPr/>
            <p:nvPr/>
          </p:nvSpPr>
          <p:spPr bwMode="auto">
            <a:xfrm>
              <a:off x="2822575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1 h 1"/>
                <a:gd name="T14" fmla="*/ 1 w 1"/>
                <a:gd name="T15" fmla="*/ 1 h 1"/>
                <a:gd name="T16" fmla="*/ 1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8" name="îṡ1iďé">
              <a:extLst>
                <a:ext uri="{FF2B5EF4-FFF2-40B4-BE49-F238E27FC236}">
                  <a16:creationId xmlns:a16="http://schemas.microsoft.com/office/drawing/2014/main" id="{2F9E554B-29FC-4548-7ADE-14EC005890D6}"/>
                </a:ext>
              </a:extLst>
            </p:cNvPr>
            <p:cNvSpPr/>
            <p:nvPr/>
          </p:nvSpPr>
          <p:spPr bwMode="auto">
            <a:xfrm>
              <a:off x="2828925" y="3432176"/>
              <a:ext cx="7938" cy="14288"/>
            </a:xfrm>
            <a:custGeom>
              <a:avLst/>
              <a:gdLst>
                <a:gd name="T0" fmla="*/ 1 w 2"/>
                <a:gd name="T1" fmla="*/ 0 h 4"/>
                <a:gd name="T2" fmla="*/ 1 w 2"/>
                <a:gd name="T3" fmla="*/ 0 h 4"/>
                <a:gd name="T4" fmla="*/ 1 w 2"/>
                <a:gd name="T5" fmla="*/ 0 h 4"/>
                <a:gd name="T6" fmla="*/ 0 w 2"/>
                <a:gd name="T7" fmla="*/ 0 h 4"/>
                <a:gd name="T8" fmla="*/ 0 w 2"/>
                <a:gd name="T9" fmla="*/ 0 h 4"/>
                <a:gd name="T10" fmla="*/ 0 w 2"/>
                <a:gd name="T11" fmla="*/ 0 h 4"/>
                <a:gd name="T12" fmla="*/ 0 w 2"/>
                <a:gd name="T13" fmla="*/ 0 h 4"/>
                <a:gd name="T14" fmla="*/ 0 w 2"/>
                <a:gd name="T15" fmla="*/ 0 h 4"/>
                <a:gd name="T16" fmla="*/ 0 w 2"/>
                <a:gd name="T17" fmla="*/ 0 h 4"/>
                <a:gd name="T18" fmla="*/ 0 w 2"/>
                <a:gd name="T19" fmla="*/ 0 h 4"/>
                <a:gd name="T20" fmla="*/ 0 w 2"/>
                <a:gd name="T21" fmla="*/ 0 h 4"/>
                <a:gd name="T22" fmla="*/ 1 w 2"/>
                <a:gd name="T23" fmla="*/ 1 h 4"/>
                <a:gd name="T24" fmla="*/ 1 w 2"/>
                <a:gd name="T25" fmla="*/ 1 h 4"/>
                <a:gd name="T26" fmla="*/ 1 w 2"/>
                <a:gd name="T27" fmla="*/ 1 h 4"/>
                <a:gd name="T28" fmla="*/ 0 w 2"/>
                <a:gd name="T29" fmla="*/ 1 h 4"/>
                <a:gd name="T30" fmla="*/ 0 w 2"/>
                <a:gd name="T31" fmla="*/ 1 h 4"/>
                <a:gd name="T32" fmla="*/ 0 w 2"/>
                <a:gd name="T33" fmla="*/ 1 h 4"/>
                <a:gd name="T34" fmla="*/ 0 w 2"/>
                <a:gd name="T35" fmla="*/ 1 h 4"/>
                <a:gd name="T36" fmla="*/ 0 w 2"/>
                <a:gd name="T37" fmla="*/ 1 h 4"/>
                <a:gd name="T38" fmla="*/ 0 w 2"/>
                <a:gd name="T39" fmla="*/ 1 h 4"/>
                <a:gd name="T40" fmla="*/ 1 w 2"/>
                <a:gd name="T41" fmla="*/ 1 h 4"/>
                <a:gd name="T42" fmla="*/ 1 w 2"/>
                <a:gd name="T43" fmla="*/ 1 h 4"/>
                <a:gd name="T44" fmla="*/ 1 w 2"/>
                <a:gd name="T45" fmla="*/ 1 h 4"/>
                <a:gd name="T46" fmla="*/ 1 w 2"/>
                <a:gd name="T47" fmla="*/ 2 h 4"/>
                <a:gd name="T48" fmla="*/ 1 w 2"/>
                <a:gd name="T49" fmla="*/ 2 h 4"/>
                <a:gd name="T50" fmla="*/ 1 w 2"/>
                <a:gd name="T51" fmla="*/ 3 h 4"/>
                <a:gd name="T52" fmla="*/ 1 w 2"/>
                <a:gd name="T53" fmla="*/ 3 h 4"/>
                <a:gd name="T54" fmla="*/ 1 w 2"/>
                <a:gd name="T55" fmla="*/ 3 h 4"/>
                <a:gd name="T56" fmla="*/ 1 w 2"/>
                <a:gd name="T57" fmla="*/ 3 h 4"/>
                <a:gd name="T58" fmla="*/ 1 w 2"/>
                <a:gd name="T59" fmla="*/ 4 h 4"/>
                <a:gd name="T60" fmla="*/ 1 w 2"/>
                <a:gd name="T61" fmla="*/ 4 h 4"/>
                <a:gd name="T62" fmla="*/ 1 w 2"/>
                <a:gd name="T63" fmla="*/ 4 h 4"/>
                <a:gd name="T64" fmla="*/ 1 w 2"/>
                <a:gd name="T65" fmla="*/ 4 h 4"/>
                <a:gd name="T66" fmla="*/ 2 w 2"/>
                <a:gd name="T67" fmla="*/ 4 h 4"/>
                <a:gd name="T68" fmla="*/ 2 w 2"/>
                <a:gd name="T69" fmla="*/ 3 h 4"/>
                <a:gd name="T70" fmla="*/ 2 w 2"/>
                <a:gd name="T71" fmla="*/ 2 h 4"/>
                <a:gd name="T72" fmla="*/ 2 w 2"/>
                <a:gd name="T73" fmla="*/ 2 h 4"/>
                <a:gd name="T74" fmla="*/ 2 w 2"/>
                <a:gd name="T75" fmla="*/ 1 h 4"/>
                <a:gd name="T76" fmla="*/ 2 w 2"/>
                <a:gd name="T77" fmla="*/ 1 h 4"/>
                <a:gd name="T78" fmla="*/ 2 w 2"/>
                <a:gd name="T79" fmla="*/ 0 h 4"/>
                <a:gd name="T80" fmla="*/ 1 w 2"/>
                <a:gd name="T8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29" name="ï$ḷïdè">
              <a:extLst>
                <a:ext uri="{FF2B5EF4-FFF2-40B4-BE49-F238E27FC236}">
                  <a16:creationId xmlns:a16="http://schemas.microsoft.com/office/drawing/2014/main" id="{E99BDECA-1322-00A5-3927-C308E50AE1BB}"/>
                </a:ext>
              </a:extLst>
            </p:cNvPr>
            <p:cNvSpPr/>
            <p:nvPr/>
          </p:nvSpPr>
          <p:spPr bwMode="auto">
            <a:xfrm>
              <a:off x="2817813" y="3451226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2 w 2"/>
                <a:gd name="T5" fmla="*/ 0 h 1"/>
                <a:gd name="T6" fmla="*/ 2 w 2"/>
                <a:gd name="T7" fmla="*/ 0 h 1"/>
                <a:gd name="T8" fmla="*/ 2 w 2"/>
                <a:gd name="T9" fmla="*/ 0 h 1"/>
                <a:gd name="T10" fmla="*/ 2 w 2"/>
                <a:gd name="T11" fmla="*/ 0 h 1"/>
                <a:gd name="T12" fmla="*/ 1 w 2"/>
                <a:gd name="T13" fmla="*/ 0 h 1"/>
                <a:gd name="T14" fmla="*/ 1 w 2"/>
                <a:gd name="T15" fmla="*/ 0 h 1"/>
                <a:gd name="T16" fmla="*/ 1 w 2"/>
                <a:gd name="T17" fmla="*/ 0 h 1"/>
                <a:gd name="T18" fmla="*/ 1 w 2"/>
                <a:gd name="T19" fmla="*/ 0 h 1"/>
                <a:gd name="T20" fmla="*/ 1 w 2"/>
                <a:gd name="T21" fmla="*/ 0 h 1"/>
                <a:gd name="T22" fmla="*/ 0 w 2"/>
                <a:gd name="T23" fmla="*/ 0 h 1"/>
                <a:gd name="T24" fmla="*/ 0 w 2"/>
                <a:gd name="T25" fmla="*/ 0 h 1"/>
                <a:gd name="T26" fmla="*/ 0 w 2"/>
                <a:gd name="T27" fmla="*/ 0 h 1"/>
                <a:gd name="T28" fmla="*/ 0 w 2"/>
                <a:gd name="T29" fmla="*/ 0 h 1"/>
                <a:gd name="T30" fmla="*/ 0 w 2"/>
                <a:gd name="T31" fmla="*/ 1 h 1"/>
                <a:gd name="T32" fmla="*/ 0 w 2"/>
                <a:gd name="T33" fmla="*/ 1 h 1"/>
                <a:gd name="T34" fmla="*/ 1 w 2"/>
                <a:gd name="T35" fmla="*/ 1 h 1"/>
                <a:gd name="T36" fmla="*/ 1 w 2"/>
                <a:gd name="T37" fmla="*/ 1 h 1"/>
                <a:gd name="T38" fmla="*/ 1 w 2"/>
                <a:gd name="T39" fmla="*/ 1 h 1"/>
                <a:gd name="T40" fmla="*/ 2 w 2"/>
                <a:gd name="T41" fmla="*/ 1 h 1"/>
                <a:gd name="T42" fmla="*/ 2 w 2"/>
                <a:gd name="T43" fmla="*/ 1 h 1"/>
                <a:gd name="T44" fmla="*/ 2 w 2"/>
                <a:gd name="T45" fmla="*/ 1 h 1"/>
                <a:gd name="T46" fmla="*/ 2 w 2"/>
                <a:gd name="T47" fmla="*/ 0 h 1"/>
                <a:gd name="T48" fmla="*/ 2 w 2"/>
                <a:gd name="T4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0" name="işlîḋê">
              <a:extLst>
                <a:ext uri="{FF2B5EF4-FFF2-40B4-BE49-F238E27FC236}">
                  <a16:creationId xmlns:a16="http://schemas.microsoft.com/office/drawing/2014/main" id="{1338D772-9EFF-3E3E-3680-88732232A877}"/>
                </a:ext>
              </a:extLst>
            </p:cNvPr>
            <p:cNvSpPr/>
            <p:nvPr/>
          </p:nvSpPr>
          <p:spPr bwMode="auto">
            <a:xfrm>
              <a:off x="2828925" y="344011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0 w 1"/>
                <a:gd name="T17" fmla="*/ 1 h 1"/>
                <a:gd name="T18" fmla="*/ 0 w 1"/>
                <a:gd name="T19" fmla="*/ 1 h 1"/>
                <a:gd name="T20" fmla="*/ 0 w 1"/>
                <a:gd name="T21" fmla="*/ 1 h 1"/>
                <a:gd name="T22" fmla="*/ 0 w 1"/>
                <a:gd name="T23" fmla="*/ 1 h 1"/>
                <a:gd name="T24" fmla="*/ 0 w 1"/>
                <a:gd name="T25" fmla="*/ 1 h 1"/>
                <a:gd name="T26" fmla="*/ 0 w 1"/>
                <a:gd name="T27" fmla="*/ 1 h 1"/>
                <a:gd name="T28" fmla="*/ 0 w 1"/>
                <a:gd name="T29" fmla="*/ 1 h 1"/>
                <a:gd name="T30" fmla="*/ 1 w 1"/>
                <a:gd name="T31" fmla="*/ 0 h 1"/>
                <a:gd name="T32" fmla="*/ 1 w 1"/>
                <a:gd name="T33" fmla="*/ 0 h 1"/>
                <a:gd name="T34" fmla="*/ 1 w 1"/>
                <a:gd name="T35" fmla="*/ 0 h 1"/>
                <a:gd name="T36" fmla="*/ 1 w 1"/>
                <a:gd name="T3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1" name="işḻïḑè">
              <a:extLst>
                <a:ext uri="{FF2B5EF4-FFF2-40B4-BE49-F238E27FC236}">
                  <a16:creationId xmlns:a16="http://schemas.microsoft.com/office/drawing/2014/main" id="{E880FFEA-1F5A-337C-C2C3-FFCC83B2B9FC}"/>
                </a:ext>
              </a:extLst>
            </p:cNvPr>
            <p:cNvSpPr/>
            <p:nvPr/>
          </p:nvSpPr>
          <p:spPr bwMode="auto">
            <a:xfrm>
              <a:off x="2825750" y="3451226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1 w 1"/>
                <a:gd name="T19" fmla="*/ 0 h 1"/>
                <a:gd name="T20" fmla="*/ 1 w 1"/>
                <a:gd name="T21" fmla="*/ 0 h 1"/>
                <a:gd name="T22" fmla="*/ 1 w 1"/>
                <a:gd name="T23" fmla="*/ 0 h 1"/>
                <a:gd name="T24" fmla="*/ 1 w 1"/>
                <a:gd name="T25" fmla="*/ 1 h 1"/>
                <a:gd name="T26" fmla="*/ 1 w 1"/>
                <a:gd name="T27" fmla="*/ 0 h 1"/>
                <a:gd name="T28" fmla="*/ 1 w 1"/>
                <a:gd name="T29" fmla="*/ 0 h 1"/>
                <a:gd name="T30" fmla="*/ 1 w 1"/>
                <a:gd name="T31" fmla="*/ 0 h 1"/>
                <a:gd name="T32" fmla="*/ 1 w 1"/>
                <a:gd name="T3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2" name="ïslidê">
              <a:extLst>
                <a:ext uri="{FF2B5EF4-FFF2-40B4-BE49-F238E27FC236}">
                  <a16:creationId xmlns:a16="http://schemas.microsoft.com/office/drawing/2014/main" id="{B6F9A34C-8977-F257-5163-ECC8B9F65DA0}"/>
                </a:ext>
              </a:extLst>
            </p:cNvPr>
            <p:cNvSpPr/>
            <p:nvPr/>
          </p:nvSpPr>
          <p:spPr bwMode="auto">
            <a:xfrm>
              <a:off x="2828925" y="34464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3" name="íṣḻíḑê">
              <a:extLst>
                <a:ext uri="{FF2B5EF4-FFF2-40B4-BE49-F238E27FC236}">
                  <a16:creationId xmlns:a16="http://schemas.microsoft.com/office/drawing/2014/main" id="{FC1AE05E-7B18-C550-1E3A-57B8A1F74773}"/>
                </a:ext>
              </a:extLst>
            </p:cNvPr>
            <p:cNvSpPr/>
            <p:nvPr/>
          </p:nvSpPr>
          <p:spPr bwMode="auto">
            <a:xfrm>
              <a:off x="2905125" y="3446463"/>
              <a:ext cx="0" cy="4763"/>
            </a:xfrm>
            <a:custGeom>
              <a:avLst/>
              <a:gdLst>
                <a:gd name="T0" fmla="*/ 1 h 1"/>
                <a:gd name="T1" fmla="*/ 1 h 1"/>
                <a:gd name="T2" fmla="*/ 1 h 1"/>
                <a:gd name="T3" fmla="*/ 0 h 1"/>
                <a:gd name="T4" fmla="*/ 0 h 1"/>
                <a:gd name="T5" fmla="*/ 0 h 1"/>
                <a:gd name="T6" fmla="*/ 0 h 1"/>
                <a:gd name="T7" fmla="*/ 1 h 1"/>
                <a:gd name="T8" fmla="*/ 1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  <a:cxn ang="0">
                  <a:pos x="0" y="T8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4" name="ísḻídé">
              <a:extLst>
                <a:ext uri="{FF2B5EF4-FFF2-40B4-BE49-F238E27FC236}">
                  <a16:creationId xmlns:a16="http://schemas.microsoft.com/office/drawing/2014/main" id="{D89E3937-8FE8-28CC-C792-0D81C7C49DCE}"/>
                </a:ext>
              </a:extLst>
            </p:cNvPr>
            <p:cNvSpPr/>
            <p:nvPr/>
          </p:nvSpPr>
          <p:spPr bwMode="auto">
            <a:xfrm>
              <a:off x="3067050" y="3443288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0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5" name="iṧḻide">
              <a:extLst>
                <a:ext uri="{FF2B5EF4-FFF2-40B4-BE49-F238E27FC236}">
                  <a16:creationId xmlns:a16="http://schemas.microsoft.com/office/drawing/2014/main" id="{B7B5B3E2-B3C1-0C97-2EC2-A6C0A52226B4}"/>
                </a:ext>
              </a:extLst>
            </p:cNvPr>
            <p:cNvSpPr/>
            <p:nvPr/>
          </p:nvSpPr>
          <p:spPr bwMode="auto">
            <a:xfrm>
              <a:off x="3067050" y="3440113"/>
              <a:ext cx="7938" cy="3175"/>
            </a:xfrm>
            <a:custGeom>
              <a:avLst/>
              <a:gdLst>
                <a:gd name="T0" fmla="*/ 2 w 2"/>
                <a:gd name="T1" fmla="*/ 0 h 1"/>
                <a:gd name="T2" fmla="*/ 2 w 2"/>
                <a:gd name="T3" fmla="*/ 0 h 1"/>
                <a:gd name="T4" fmla="*/ 1 w 2"/>
                <a:gd name="T5" fmla="*/ 0 h 1"/>
                <a:gd name="T6" fmla="*/ 1 w 2"/>
                <a:gd name="T7" fmla="*/ 0 h 1"/>
                <a:gd name="T8" fmla="*/ 1 w 2"/>
                <a:gd name="T9" fmla="*/ 0 h 1"/>
                <a:gd name="T10" fmla="*/ 1 w 2"/>
                <a:gd name="T11" fmla="*/ 0 h 1"/>
                <a:gd name="T12" fmla="*/ 1 w 2"/>
                <a:gd name="T13" fmla="*/ 1 h 1"/>
                <a:gd name="T14" fmla="*/ 1 w 2"/>
                <a:gd name="T15" fmla="*/ 1 h 1"/>
                <a:gd name="T16" fmla="*/ 1 w 2"/>
                <a:gd name="T17" fmla="*/ 1 h 1"/>
                <a:gd name="T18" fmla="*/ 1 w 2"/>
                <a:gd name="T19" fmla="*/ 0 h 1"/>
                <a:gd name="T20" fmla="*/ 1 w 2"/>
                <a:gd name="T21" fmla="*/ 0 h 1"/>
                <a:gd name="T22" fmla="*/ 2 w 2"/>
                <a:gd name="T23" fmla="*/ 0 h 1"/>
                <a:gd name="T24" fmla="*/ 2 w 2"/>
                <a:gd name="T25" fmla="*/ 0 h 1"/>
                <a:gd name="T26" fmla="*/ 2 w 2"/>
                <a:gd name="T27" fmla="*/ 0 h 1"/>
                <a:gd name="T28" fmla="*/ 2 w 2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6" name="îṧļïďe">
              <a:extLst>
                <a:ext uri="{FF2B5EF4-FFF2-40B4-BE49-F238E27FC236}">
                  <a16:creationId xmlns:a16="http://schemas.microsoft.com/office/drawing/2014/main" id="{F785AF04-E33F-F906-8B1A-F5A2A3BF8A64}"/>
                </a:ext>
              </a:extLst>
            </p:cNvPr>
            <p:cNvSpPr/>
            <p:nvPr/>
          </p:nvSpPr>
          <p:spPr bwMode="auto">
            <a:xfrm>
              <a:off x="3067050" y="3451226"/>
              <a:ext cx="3175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0 w 1"/>
                <a:gd name="T8" fmla="*/ 0 w 1"/>
                <a:gd name="T9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7" name="iṣḷîḋê">
              <a:extLst>
                <a:ext uri="{FF2B5EF4-FFF2-40B4-BE49-F238E27FC236}">
                  <a16:creationId xmlns:a16="http://schemas.microsoft.com/office/drawing/2014/main" id="{C29FDA12-C0AD-0202-34D0-2A12E0578B00}"/>
                </a:ext>
              </a:extLst>
            </p:cNvPr>
            <p:cNvSpPr/>
            <p:nvPr/>
          </p:nvSpPr>
          <p:spPr bwMode="auto">
            <a:xfrm>
              <a:off x="2911475" y="3446463"/>
              <a:ext cx="0" cy="4763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  <a:gd name="T6" fmla="*/ 0 h 1"/>
                <a:gd name="T7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  <a:cxn ang="0">
                  <a:pos x="0" y="T6"/>
                </a:cxn>
                <a:cxn ang="0">
                  <a:pos x="0" y="T7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8" name="íŝ1ïḍè">
              <a:extLst>
                <a:ext uri="{FF2B5EF4-FFF2-40B4-BE49-F238E27FC236}">
                  <a16:creationId xmlns:a16="http://schemas.microsoft.com/office/drawing/2014/main" id="{B7DA8230-DD2E-C089-FF82-BDACC3BBCA3E}"/>
                </a:ext>
              </a:extLst>
            </p:cNvPr>
            <p:cNvSpPr/>
            <p:nvPr/>
          </p:nvSpPr>
          <p:spPr bwMode="auto">
            <a:xfrm>
              <a:off x="3100388" y="343693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39" name="íŝlîḋe">
              <a:extLst>
                <a:ext uri="{FF2B5EF4-FFF2-40B4-BE49-F238E27FC236}">
                  <a16:creationId xmlns:a16="http://schemas.microsoft.com/office/drawing/2014/main" id="{6EA30E85-9A45-B723-4DD3-A9BA0582B6E4}"/>
                </a:ext>
              </a:extLst>
            </p:cNvPr>
            <p:cNvSpPr/>
            <p:nvPr/>
          </p:nvSpPr>
          <p:spPr bwMode="auto">
            <a:xfrm>
              <a:off x="2763838" y="3406776"/>
              <a:ext cx="407988" cy="73025"/>
            </a:xfrm>
            <a:custGeom>
              <a:avLst/>
              <a:gdLst>
                <a:gd name="T0" fmla="*/ 95 w 113"/>
                <a:gd name="T1" fmla="*/ 7 h 20"/>
                <a:gd name="T2" fmla="*/ 86 w 113"/>
                <a:gd name="T3" fmla="*/ 6 h 20"/>
                <a:gd name="T4" fmla="*/ 73 w 113"/>
                <a:gd name="T5" fmla="*/ 11 h 20"/>
                <a:gd name="T6" fmla="*/ 71 w 113"/>
                <a:gd name="T7" fmla="*/ 8 h 20"/>
                <a:gd name="T8" fmla="*/ 73 w 113"/>
                <a:gd name="T9" fmla="*/ 8 h 20"/>
                <a:gd name="T10" fmla="*/ 70 w 113"/>
                <a:gd name="T11" fmla="*/ 6 h 20"/>
                <a:gd name="T12" fmla="*/ 63 w 113"/>
                <a:gd name="T13" fmla="*/ 9 h 20"/>
                <a:gd name="T14" fmla="*/ 50 w 113"/>
                <a:gd name="T15" fmla="*/ 6 h 20"/>
                <a:gd name="T16" fmla="*/ 43 w 113"/>
                <a:gd name="T17" fmla="*/ 7 h 20"/>
                <a:gd name="T18" fmla="*/ 18 w 113"/>
                <a:gd name="T19" fmla="*/ 13 h 20"/>
                <a:gd name="T20" fmla="*/ 19 w 113"/>
                <a:gd name="T21" fmla="*/ 13 h 20"/>
                <a:gd name="T22" fmla="*/ 14 w 113"/>
                <a:gd name="T23" fmla="*/ 9 h 20"/>
                <a:gd name="T24" fmla="*/ 16 w 113"/>
                <a:gd name="T25" fmla="*/ 8 h 20"/>
                <a:gd name="T26" fmla="*/ 17 w 113"/>
                <a:gd name="T27" fmla="*/ 7 h 20"/>
                <a:gd name="T28" fmla="*/ 20 w 113"/>
                <a:gd name="T29" fmla="*/ 9 h 20"/>
                <a:gd name="T30" fmla="*/ 28 w 113"/>
                <a:gd name="T31" fmla="*/ 13 h 20"/>
                <a:gd name="T32" fmla="*/ 24 w 113"/>
                <a:gd name="T33" fmla="*/ 13 h 20"/>
                <a:gd name="T34" fmla="*/ 24 w 113"/>
                <a:gd name="T35" fmla="*/ 9 h 20"/>
                <a:gd name="T36" fmla="*/ 25 w 113"/>
                <a:gd name="T37" fmla="*/ 9 h 20"/>
                <a:gd name="T38" fmla="*/ 27 w 113"/>
                <a:gd name="T39" fmla="*/ 9 h 20"/>
                <a:gd name="T40" fmla="*/ 28 w 113"/>
                <a:gd name="T41" fmla="*/ 7 h 20"/>
                <a:gd name="T42" fmla="*/ 30 w 113"/>
                <a:gd name="T43" fmla="*/ 10 h 20"/>
                <a:gd name="T44" fmla="*/ 41 w 113"/>
                <a:gd name="T45" fmla="*/ 13 h 20"/>
                <a:gd name="T46" fmla="*/ 38 w 113"/>
                <a:gd name="T47" fmla="*/ 12 h 20"/>
                <a:gd name="T48" fmla="*/ 37 w 113"/>
                <a:gd name="T49" fmla="*/ 9 h 20"/>
                <a:gd name="T50" fmla="*/ 40 w 113"/>
                <a:gd name="T51" fmla="*/ 6 h 20"/>
                <a:gd name="T52" fmla="*/ 41 w 113"/>
                <a:gd name="T53" fmla="*/ 9 h 20"/>
                <a:gd name="T54" fmla="*/ 40 w 113"/>
                <a:gd name="T55" fmla="*/ 9 h 20"/>
                <a:gd name="T56" fmla="*/ 40 w 113"/>
                <a:gd name="T57" fmla="*/ 10 h 20"/>
                <a:gd name="T58" fmla="*/ 42 w 113"/>
                <a:gd name="T59" fmla="*/ 9 h 20"/>
                <a:gd name="T60" fmla="*/ 43 w 113"/>
                <a:gd name="T61" fmla="*/ 9 h 20"/>
                <a:gd name="T62" fmla="*/ 51 w 113"/>
                <a:gd name="T63" fmla="*/ 10 h 20"/>
                <a:gd name="T64" fmla="*/ 49 w 113"/>
                <a:gd name="T65" fmla="*/ 13 h 20"/>
                <a:gd name="T66" fmla="*/ 48 w 113"/>
                <a:gd name="T67" fmla="*/ 13 h 20"/>
                <a:gd name="T68" fmla="*/ 48 w 113"/>
                <a:gd name="T69" fmla="*/ 11 h 20"/>
                <a:gd name="T70" fmla="*/ 50 w 113"/>
                <a:gd name="T71" fmla="*/ 7 h 20"/>
                <a:gd name="T72" fmla="*/ 65 w 113"/>
                <a:gd name="T73" fmla="*/ 12 h 20"/>
                <a:gd name="T74" fmla="*/ 62 w 113"/>
                <a:gd name="T75" fmla="*/ 12 h 20"/>
                <a:gd name="T76" fmla="*/ 60 w 113"/>
                <a:gd name="T77" fmla="*/ 10 h 20"/>
                <a:gd name="T78" fmla="*/ 61 w 113"/>
                <a:gd name="T79" fmla="*/ 11 h 20"/>
                <a:gd name="T80" fmla="*/ 60 w 113"/>
                <a:gd name="T81" fmla="*/ 7 h 20"/>
                <a:gd name="T82" fmla="*/ 63 w 113"/>
                <a:gd name="T83" fmla="*/ 7 h 20"/>
                <a:gd name="T84" fmla="*/ 65 w 113"/>
                <a:gd name="T85" fmla="*/ 11 h 20"/>
                <a:gd name="T86" fmla="*/ 71 w 113"/>
                <a:gd name="T87" fmla="*/ 12 h 20"/>
                <a:gd name="T88" fmla="*/ 69 w 113"/>
                <a:gd name="T89" fmla="*/ 11 h 20"/>
                <a:gd name="T90" fmla="*/ 70 w 113"/>
                <a:gd name="T91" fmla="*/ 9 h 20"/>
                <a:gd name="T92" fmla="*/ 74 w 113"/>
                <a:gd name="T93" fmla="*/ 12 h 20"/>
                <a:gd name="T94" fmla="*/ 84 w 113"/>
                <a:gd name="T95" fmla="*/ 11 h 20"/>
                <a:gd name="T96" fmla="*/ 84 w 113"/>
                <a:gd name="T97" fmla="*/ 13 h 20"/>
                <a:gd name="T98" fmla="*/ 83 w 113"/>
                <a:gd name="T99" fmla="*/ 11 h 20"/>
                <a:gd name="T100" fmla="*/ 84 w 113"/>
                <a:gd name="T101" fmla="*/ 8 h 20"/>
                <a:gd name="T102" fmla="*/ 84 w 113"/>
                <a:gd name="T103" fmla="*/ 6 h 20"/>
                <a:gd name="T104" fmla="*/ 87 w 113"/>
                <a:gd name="T105" fmla="*/ 9 h 20"/>
                <a:gd name="T106" fmla="*/ 88 w 113"/>
                <a:gd name="T107" fmla="*/ 9 h 20"/>
                <a:gd name="T108" fmla="*/ 87 w 113"/>
                <a:gd name="T109" fmla="*/ 9 h 20"/>
                <a:gd name="T110" fmla="*/ 94 w 113"/>
                <a:gd name="T111" fmla="*/ 12 h 20"/>
                <a:gd name="T112" fmla="*/ 96 w 113"/>
                <a:gd name="T113" fmla="*/ 12 h 20"/>
                <a:gd name="T114" fmla="*/ 94 w 113"/>
                <a:gd name="T115" fmla="*/ 10 h 20"/>
                <a:gd name="T116" fmla="*/ 93 w 113"/>
                <a:gd name="T117" fmla="*/ 12 h 20"/>
                <a:gd name="T118" fmla="*/ 92 w 113"/>
                <a:gd name="T119" fmla="*/ 11 h 20"/>
                <a:gd name="T120" fmla="*/ 92 w 113"/>
                <a:gd name="T121" fmla="*/ 9 h 20"/>
                <a:gd name="T122" fmla="*/ 94 w 113"/>
                <a:gd name="T123" fmla="*/ 7 h 20"/>
                <a:gd name="T124" fmla="*/ 95 w 113"/>
                <a:gd name="T125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13" h="20">
                  <a:moveTo>
                    <a:pt x="110" y="4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113" y="4"/>
                    <a:pt x="113" y="4"/>
                    <a:pt x="113" y="4"/>
                  </a:cubicBezTo>
                  <a:lnTo>
                    <a:pt x="110" y="4"/>
                  </a:lnTo>
                  <a:close/>
                  <a:moveTo>
                    <a:pt x="95" y="7"/>
                  </a:moveTo>
                  <a:cubicBezTo>
                    <a:pt x="95" y="7"/>
                    <a:pt x="95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6"/>
                    <a:pt x="96" y="6"/>
                    <a:pt x="96" y="6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lose/>
                  <a:moveTo>
                    <a:pt x="93" y="5"/>
                  </a:move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4" y="5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6"/>
                    <a:pt x="93" y="6"/>
                    <a:pt x="93" y="6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ubicBezTo>
                    <a:pt x="93" y="5"/>
                    <a:pt x="93" y="5"/>
                    <a:pt x="93" y="5"/>
                  </a:cubicBezTo>
                  <a:close/>
                  <a:moveTo>
                    <a:pt x="86" y="7"/>
                  </a:moveTo>
                  <a:cubicBezTo>
                    <a:pt x="86" y="7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7" y="7"/>
                    <a:pt x="87" y="7"/>
                  </a:cubicBezTo>
                  <a:cubicBezTo>
                    <a:pt x="87" y="7"/>
                    <a:pt x="87" y="7"/>
                    <a:pt x="86" y="7"/>
                  </a:cubicBezTo>
                  <a:cubicBezTo>
                    <a:pt x="86" y="7"/>
                    <a:pt x="86" y="8"/>
                    <a:pt x="86" y="8"/>
                  </a:cubicBezTo>
                  <a:cubicBezTo>
                    <a:pt x="86" y="8"/>
                    <a:pt x="86" y="8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ubicBezTo>
                    <a:pt x="86" y="7"/>
                    <a:pt x="86" y="7"/>
                    <a:pt x="86" y="7"/>
                  </a:cubicBezTo>
                  <a:close/>
                  <a:moveTo>
                    <a:pt x="74" y="10"/>
                  </a:moveTo>
                  <a:cubicBezTo>
                    <a:pt x="74" y="10"/>
                    <a:pt x="74" y="11"/>
                    <a:pt x="74" y="11"/>
                  </a:cubicBezTo>
                  <a:cubicBezTo>
                    <a:pt x="74" y="11"/>
                    <a:pt x="74" y="11"/>
                    <a:pt x="74" y="11"/>
                  </a:cubicBezTo>
                  <a:cubicBezTo>
                    <a:pt x="74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4" y="10"/>
                    <a:pt x="74" y="10"/>
                  </a:cubicBezTo>
                  <a:close/>
                  <a:moveTo>
                    <a:pt x="70" y="6"/>
                  </a:moveTo>
                  <a:cubicBezTo>
                    <a:pt x="70" y="6"/>
                    <a:pt x="70" y="6"/>
                    <a:pt x="70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1" y="7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1" y="7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8"/>
                    <a:pt x="72" y="8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2" y="8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7"/>
                    <a:pt x="72" y="7"/>
                    <a:pt x="72" y="7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1" y="6"/>
                  </a:cubicBezTo>
                  <a:cubicBezTo>
                    <a:pt x="71" y="6"/>
                    <a:pt x="71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72" y="6"/>
                    <a:pt x="72" y="5"/>
                    <a:pt x="72" y="5"/>
                  </a:cubicBezTo>
                  <a:cubicBezTo>
                    <a:pt x="72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3" y="6"/>
                    <a:pt x="73" y="6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7"/>
                  </a:cubicBezTo>
                  <a:cubicBezTo>
                    <a:pt x="73" y="7"/>
                    <a:pt x="73" y="7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8"/>
                    <a:pt x="72" y="8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70" y="7"/>
                    <a:pt x="70" y="7"/>
                    <a:pt x="70" y="6"/>
                  </a:cubicBezTo>
                  <a:cubicBezTo>
                    <a:pt x="70" y="6"/>
                    <a:pt x="70" y="6"/>
                    <a:pt x="70" y="6"/>
                  </a:cubicBezTo>
                  <a:close/>
                  <a:moveTo>
                    <a:pt x="63" y="5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3" y="5"/>
                    <a:pt x="64" y="5"/>
                    <a:pt x="64" y="5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5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6"/>
                    <a:pt x="64" y="6"/>
                    <a:pt x="63" y="6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3" y="6"/>
                    <a:pt x="63" y="5"/>
                    <a:pt x="63" y="5"/>
                  </a:cubicBezTo>
                  <a:cubicBezTo>
                    <a:pt x="63" y="5"/>
                    <a:pt x="63" y="5"/>
                    <a:pt x="63" y="5"/>
                  </a:cubicBezTo>
                  <a:close/>
                  <a:moveTo>
                    <a:pt x="64" y="9"/>
                  </a:move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9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9"/>
                    <a:pt x="64" y="9"/>
                  </a:cubicBezTo>
                  <a:cubicBezTo>
                    <a:pt x="64" y="9"/>
                    <a:pt x="64" y="9"/>
                    <a:pt x="64" y="9"/>
                  </a:cubicBezTo>
                  <a:close/>
                  <a:moveTo>
                    <a:pt x="49" y="5"/>
                  </a:move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49" y="6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5"/>
                    <a:pt x="49" y="5"/>
                    <a:pt x="49" y="5"/>
                  </a:cubicBezTo>
                  <a:close/>
                  <a:moveTo>
                    <a:pt x="43" y="7"/>
                  </a:moveTo>
                  <a:cubicBezTo>
                    <a:pt x="43" y="7"/>
                    <a:pt x="43" y="7"/>
                    <a:pt x="44" y="7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lose/>
                  <a:moveTo>
                    <a:pt x="20" y="9"/>
                  </a:moveTo>
                  <a:cubicBezTo>
                    <a:pt x="20" y="9"/>
                    <a:pt x="20" y="10"/>
                    <a:pt x="20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5" y="13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5" y="12"/>
                    <a:pt x="15" y="12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5" y="9"/>
                    <a:pt x="15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9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9" y="6"/>
                    <a:pt x="19" y="6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lose/>
                  <a:moveTo>
                    <a:pt x="30" y="10"/>
                  </a:move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30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11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5" y="10"/>
                    <a:pt x="25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6" y="9"/>
                    <a:pt x="26" y="8"/>
                  </a:cubicBezTo>
                  <a:cubicBezTo>
                    <a:pt x="26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7" y="8"/>
                    <a:pt x="27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0" y="9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lose/>
                  <a:moveTo>
                    <a:pt x="44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2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2"/>
                    <a:pt x="41" y="12"/>
                    <a:pt x="40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1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3"/>
                    <a:pt x="38" y="13"/>
                  </a:cubicBezTo>
                  <a:cubicBezTo>
                    <a:pt x="38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37" y="13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8" y="9"/>
                    <a:pt x="38" y="9"/>
                  </a:cubicBezTo>
                  <a:cubicBezTo>
                    <a:pt x="38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6"/>
                  </a:cubicBezTo>
                  <a:cubicBezTo>
                    <a:pt x="40" y="6"/>
                    <a:pt x="40" y="6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0" y="7"/>
                    <a:pt x="40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7"/>
                  </a:cubicBezTo>
                  <a:cubicBezTo>
                    <a:pt x="40" y="7"/>
                    <a:pt x="41" y="7"/>
                    <a:pt x="41" y="7"/>
                  </a:cubicBezTo>
                  <a:cubicBezTo>
                    <a:pt x="41" y="7"/>
                    <a:pt x="41" y="7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9"/>
                    <a:pt x="42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1" y="8"/>
                    <a:pt x="41" y="8"/>
                    <a:pt x="41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39" y="8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11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0"/>
                    <a:pt x="40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11"/>
                    <a:pt x="41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2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8"/>
                    <a:pt x="42" y="8"/>
                  </a:cubicBezTo>
                  <a:cubicBezTo>
                    <a:pt x="42" y="8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9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3" y="10"/>
                    <a:pt x="43" y="10"/>
                    <a:pt x="43" y="10"/>
                  </a:cubicBezTo>
                  <a:cubicBezTo>
                    <a:pt x="42" y="10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2" y="11"/>
                    <a:pt x="42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3"/>
                    <a:pt x="44" y="13"/>
                    <a:pt x="44" y="13"/>
                  </a:cubicBezTo>
                  <a:close/>
                  <a:moveTo>
                    <a:pt x="53" y="8"/>
                  </a:move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9"/>
                    <a:pt x="52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3"/>
                    <a:pt x="51" y="13"/>
                  </a:cubicBezTo>
                  <a:cubicBezTo>
                    <a:pt x="51" y="13"/>
                    <a:pt x="51" y="14"/>
                    <a:pt x="51" y="14"/>
                  </a:cubicBezTo>
                  <a:cubicBezTo>
                    <a:pt x="51" y="14"/>
                    <a:pt x="51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4"/>
                    <a:pt x="50" y="14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50" y="13"/>
                    <a:pt x="50" y="13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2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8" y="12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49" y="11"/>
                    <a:pt x="49" y="11"/>
                    <a:pt x="50" y="10"/>
                  </a:cubicBezTo>
                  <a:cubicBezTo>
                    <a:pt x="50" y="10"/>
                    <a:pt x="50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10"/>
                    <a:pt x="49" y="10"/>
                    <a:pt x="49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10"/>
                    <a:pt x="48" y="10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8"/>
                    <a:pt x="48" y="8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48" y="7"/>
                    <a:pt x="48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3" y="8"/>
                    <a:pt x="53" y="8"/>
                    <a:pt x="53" y="8"/>
                  </a:cubicBezTo>
                  <a:close/>
                  <a:moveTo>
                    <a:pt x="65" y="12"/>
                  </a:move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3" y="12"/>
                    <a:pt x="63" y="12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3"/>
                    <a:pt x="62" y="13"/>
                    <a:pt x="62" y="13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2"/>
                    <a:pt x="62" y="12"/>
                  </a:cubicBezTo>
                  <a:cubicBezTo>
                    <a:pt x="62" y="12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2" y="11"/>
                    <a:pt x="61" y="11"/>
                    <a:pt x="61" y="11"/>
                  </a:cubicBezTo>
                  <a:cubicBezTo>
                    <a:pt x="61" y="11"/>
                    <a:pt x="61" y="12"/>
                    <a:pt x="61" y="12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60" y="10"/>
                    <a:pt x="60" y="9"/>
                    <a:pt x="60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9" y="9"/>
                    <a:pt x="59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0" y="9"/>
                    <a:pt x="61" y="9"/>
                    <a:pt x="61" y="9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60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11"/>
                    <a:pt x="61" y="10"/>
                    <a:pt x="61" y="1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1" y="7"/>
                    <a:pt x="61" y="7"/>
                  </a:cubicBezTo>
                  <a:cubicBezTo>
                    <a:pt x="61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7"/>
                    <a:pt x="62" y="7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61" y="6"/>
                    <a:pt x="61" y="5"/>
                    <a:pt x="61" y="5"/>
                  </a:cubicBezTo>
                  <a:cubicBezTo>
                    <a:pt x="62" y="5"/>
                    <a:pt x="62" y="5"/>
                    <a:pt x="62" y="5"/>
                  </a:cubicBezTo>
                  <a:cubicBezTo>
                    <a:pt x="62" y="5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6"/>
                  </a:cubicBezTo>
                  <a:cubicBezTo>
                    <a:pt x="62" y="6"/>
                    <a:pt x="62" y="6"/>
                    <a:pt x="62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3" y="7"/>
                    <a:pt x="63" y="7"/>
                    <a:pt x="63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3" y="8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10"/>
                    <a:pt x="63" y="10"/>
                    <a:pt x="63" y="11"/>
                  </a:cubicBezTo>
                  <a:cubicBezTo>
                    <a:pt x="63" y="11"/>
                    <a:pt x="63" y="11"/>
                    <a:pt x="64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4" y="11"/>
                    <a:pt x="64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65" y="11"/>
                    <a:pt x="65" y="12"/>
                  </a:cubicBezTo>
                  <a:cubicBezTo>
                    <a:pt x="65" y="12"/>
                    <a:pt x="65" y="12"/>
                    <a:pt x="65" y="12"/>
                  </a:cubicBezTo>
                  <a:close/>
                  <a:moveTo>
                    <a:pt x="75" y="12"/>
                  </a:moveTo>
                  <a:cubicBezTo>
                    <a:pt x="75" y="12"/>
                    <a:pt x="75" y="12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4" y="13"/>
                    <a:pt x="73" y="13"/>
                    <a:pt x="73" y="13"/>
                  </a:cubicBezTo>
                  <a:cubicBezTo>
                    <a:pt x="73" y="13"/>
                    <a:pt x="73" y="13"/>
                    <a:pt x="73" y="13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1" y="12"/>
                    <a:pt x="71" y="12"/>
                    <a:pt x="71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0" y="12"/>
                    <a:pt x="70" y="12"/>
                    <a:pt x="70" y="13"/>
                  </a:cubicBezTo>
                  <a:cubicBezTo>
                    <a:pt x="70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69" y="13"/>
                    <a:pt x="68" y="13"/>
                    <a:pt x="68" y="13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70" y="11"/>
                    <a:pt x="70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70" y="11"/>
                    <a:pt x="70" y="11"/>
                  </a:cubicBezTo>
                  <a:cubicBezTo>
                    <a:pt x="70" y="11"/>
                    <a:pt x="70" y="11"/>
                    <a:pt x="70" y="11"/>
                  </a:cubicBezTo>
                  <a:cubicBezTo>
                    <a:pt x="70" y="11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70" y="10"/>
                    <a:pt x="70" y="10"/>
                  </a:cubicBezTo>
                  <a:cubicBezTo>
                    <a:pt x="70" y="10"/>
                    <a:pt x="69" y="10"/>
                    <a:pt x="69" y="10"/>
                  </a:cubicBezTo>
                  <a:cubicBezTo>
                    <a:pt x="69" y="10"/>
                    <a:pt x="69" y="10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8" y="10"/>
                    <a:pt x="69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10"/>
                    <a:pt x="69" y="9"/>
                    <a:pt x="69" y="9"/>
                  </a:cubicBezTo>
                  <a:cubicBezTo>
                    <a:pt x="69" y="9"/>
                    <a:pt x="69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1" y="9"/>
                    <a:pt x="71" y="9"/>
                  </a:cubicBezTo>
                  <a:cubicBezTo>
                    <a:pt x="71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2" y="9"/>
                  </a:cubicBezTo>
                  <a:cubicBezTo>
                    <a:pt x="72" y="9"/>
                    <a:pt x="72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9"/>
                    <a:pt x="73" y="9"/>
                    <a:pt x="73" y="9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3" y="10"/>
                    <a:pt x="73" y="10"/>
                    <a:pt x="73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2" y="10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2" y="11"/>
                    <a:pt x="72" y="11"/>
                    <a:pt x="72" y="11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12"/>
                    <a:pt x="73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74" y="12"/>
                    <a:pt x="74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ubicBezTo>
                    <a:pt x="75" y="12"/>
                    <a:pt x="75" y="12"/>
                    <a:pt x="75" y="12"/>
                  </a:cubicBezTo>
                  <a:close/>
                  <a:moveTo>
                    <a:pt x="87" y="10"/>
                  </a:move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1"/>
                  </a:cubicBezTo>
                  <a:cubicBezTo>
                    <a:pt x="86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1"/>
                  </a:cubicBezTo>
                  <a:cubicBezTo>
                    <a:pt x="84" y="11"/>
                    <a:pt x="85" y="11"/>
                    <a:pt x="85" y="11"/>
                  </a:cubicBezTo>
                  <a:cubicBezTo>
                    <a:pt x="85" y="11"/>
                    <a:pt x="85" y="11"/>
                    <a:pt x="85" y="11"/>
                  </a:cubicBezTo>
                  <a:cubicBezTo>
                    <a:pt x="85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1"/>
                  </a:cubicBezTo>
                  <a:cubicBezTo>
                    <a:pt x="86" y="11"/>
                    <a:pt x="86" y="11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6" y="12"/>
                    <a:pt x="86" y="13"/>
                    <a:pt x="86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5" y="13"/>
                    <a:pt x="85" y="13"/>
                  </a:cubicBezTo>
                  <a:cubicBezTo>
                    <a:pt x="85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4" y="13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84" y="12"/>
                    <a:pt x="84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3"/>
                  </a:cubicBezTo>
                  <a:cubicBezTo>
                    <a:pt x="82" y="13"/>
                    <a:pt x="82" y="13"/>
                    <a:pt x="82" y="12"/>
                  </a:cubicBezTo>
                  <a:cubicBezTo>
                    <a:pt x="82" y="12"/>
                    <a:pt x="82" y="12"/>
                    <a:pt x="82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4" y="11"/>
                    <a:pt x="84" y="11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3" y="10"/>
                    <a:pt x="83" y="10"/>
                  </a:cubicBezTo>
                  <a:cubicBezTo>
                    <a:pt x="83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9"/>
                    <a:pt x="83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9"/>
                    <a:pt x="84" y="9"/>
                    <a:pt x="84" y="9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3" y="8"/>
                    <a:pt x="83" y="8"/>
                    <a:pt x="84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7"/>
                    <a:pt x="84" y="7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5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86" y="9"/>
                    <a:pt x="86" y="9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lose/>
                  <a:moveTo>
                    <a:pt x="88" y="8"/>
                  </a:move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9"/>
                    <a:pt x="88" y="9"/>
                  </a:cubicBezTo>
                  <a:cubicBezTo>
                    <a:pt x="88" y="9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1"/>
                    <a:pt x="88" y="11"/>
                    <a:pt x="88" y="1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8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7" y="11"/>
                    <a:pt x="87" y="10"/>
                    <a:pt x="87" y="10"/>
                  </a:cubicBezTo>
                  <a:cubicBezTo>
                    <a:pt x="87" y="10"/>
                    <a:pt x="87" y="10"/>
                    <a:pt x="87" y="10"/>
                  </a:cubicBezTo>
                  <a:cubicBezTo>
                    <a:pt x="87" y="10"/>
                    <a:pt x="87" y="10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8"/>
                  </a:cubicBezTo>
                  <a:cubicBezTo>
                    <a:pt x="87" y="8"/>
                    <a:pt x="87" y="8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7"/>
                    <a:pt x="87" y="7"/>
                  </a:cubicBezTo>
                  <a:cubicBezTo>
                    <a:pt x="87" y="7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6"/>
                    <a:pt x="88" y="6"/>
                    <a:pt x="88" y="6"/>
                  </a:cubicBezTo>
                  <a:cubicBezTo>
                    <a:pt x="88" y="7"/>
                    <a:pt x="88" y="7"/>
                    <a:pt x="88" y="7"/>
                  </a:cubicBezTo>
                  <a:cubicBezTo>
                    <a:pt x="88" y="8"/>
                    <a:pt x="88" y="8"/>
                    <a:pt x="88" y="8"/>
                  </a:cubicBezTo>
                  <a:close/>
                  <a:moveTo>
                    <a:pt x="94" y="12"/>
                  </a:move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5" y="11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12"/>
                    <a:pt x="95" y="12"/>
                    <a:pt x="94" y="12"/>
                  </a:cubicBezTo>
                  <a:close/>
                  <a:moveTo>
                    <a:pt x="97" y="9"/>
                  </a:moveTo>
                  <a:cubicBezTo>
                    <a:pt x="97" y="9"/>
                    <a:pt x="97" y="9"/>
                    <a:pt x="97" y="9"/>
                  </a:cubicBezTo>
                  <a:cubicBezTo>
                    <a:pt x="97" y="9"/>
                    <a:pt x="96" y="9"/>
                    <a:pt x="96" y="9"/>
                  </a:cubicBezTo>
                  <a:cubicBezTo>
                    <a:pt x="96" y="9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1"/>
                    <a:pt x="96" y="11"/>
                  </a:cubicBezTo>
                  <a:cubicBezTo>
                    <a:pt x="96" y="11"/>
                    <a:pt x="96" y="11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3"/>
                    <a:pt x="96" y="13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12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6" y="11"/>
                    <a:pt x="96" y="11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9"/>
                    <a:pt x="96" y="9"/>
                    <a:pt x="96" y="9"/>
                  </a:cubicBezTo>
                  <a:cubicBezTo>
                    <a:pt x="96" y="9"/>
                    <a:pt x="96" y="9"/>
                    <a:pt x="95" y="9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1"/>
                  </a:cubicBezTo>
                  <a:cubicBezTo>
                    <a:pt x="95" y="11"/>
                    <a:pt x="95" y="11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9"/>
                    <a:pt x="95" y="9"/>
                    <a:pt x="95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3" y="13"/>
                    <a:pt x="93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2"/>
                    <a:pt x="93" y="11"/>
                  </a:cubicBezTo>
                  <a:cubicBezTo>
                    <a:pt x="93" y="11"/>
                    <a:pt x="93" y="11"/>
                    <a:pt x="93" y="11"/>
                  </a:cubicBezTo>
                  <a:cubicBezTo>
                    <a:pt x="93" y="11"/>
                    <a:pt x="92" y="11"/>
                    <a:pt x="92" y="11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92" y="12"/>
                    <a:pt x="92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2"/>
                    <a:pt x="91" y="12"/>
                  </a:cubicBezTo>
                  <a:cubicBezTo>
                    <a:pt x="91" y="12"/>
                    <a:pt x="91" y="11"/>
                    <a:pt x="91" y="11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1" y="11"/>
                    <a:pt x="91" y="11"/>
                    <a:pt x="92" y="11"/>
                  </a:cubicBezTo>
                  <a:cubicBezTo>
                    <a:pt x="92" y="11"/>
                    <a:pt x="92" y="11"/>
                    <a:pt x="93" y="11"/>
                  </a:cubicBezTo>
                  <a:cubicBezTo>
                    <a:pt x="93" y="11"/>
                    <a:pt x="93" y="11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1" y="10"/>
                  </a:cubicBezTo>
                  <a:cubicBezTo>
                    <a:pt x="91" y="10"/>
                    <a:pt x="91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2" y="10"/>
                    <a:pt x="92" y="10"/>
                    <a:pt x="92" y="10"/>
                  </a:cubicBezTo>
                  <a:cubicBezTo>
                    <a:pt x="93" y="10"/>
                    <a:pt x="93" y="10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3" y="9"/>
                  </a:cubicBezTo>
                  <a:cubicBezTo>
                    <a:pt x="93" y="9"/>
                    <a:pt x="93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2" y="9"/>
                    <a:pt x="92" y="8"/>
                    <a:pt x="92" y="8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8"/>
                    <a:pt x="92" y="8"/>
                    <a:pt x="92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3" y="7"/>
                  </a:cubicBezTo>
                  <a:cubicBezTo>
                    <a:pt x="93" y="7"/>
                    <a:pt x="93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4" y="7"/>
                    <a:pt x="94" y="7"/>
                  </a:cubicBezTo>
                  <a:cubicBezTo>
                    <a:pt x="94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4" y="7"/>
                    <a:pt x="94" y="6"/>
                  </a:cubicBezTo>
                  <a:cubicBezTo>
                    <a:pt x="94" y="6"/>
                    <a:pt x="94" y="6"/>
                    <a:pt x="95" y="6"/>
                  </a:cubicBezTo>
                  <a:cubicBezTo>
                    <a:pt x="95" y="6"/>
                    <a:pt x="95" y="6"/>
                    <a:pt x="95" y="6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4" y="7"/>
                    <a:pt x="94" y="7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4" y="8"/>
                    <a:pt x="94" y="8"/>
                  </a:cubicBezTo>
                  <a:cubicBezTo>
                    <a:pt x="94" y="8"/>
                    <a:pt x="95" y="8"/>
                    <a:pt x="95" y="8"/>
                  </a:cubicBezTo>
                  <a:cubicBezTo>
                    <a:pt x="95" y="8"/>
                    <a:pt x="95" y="8"/>
                    <a:pt x="95" y="9"/>
                  </a:cubicBezTo>
                  <a:cubicBezTo>
                    <a:pt x="95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4" y="9"/>
                    <a:pt x="94" y="9"/>
                  </a:cubicBezTo>
                  <a:cubicBezTo>
                    <a:pt x="94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8"/>
                    <a:pt x="95" y="9"/>
                    <a:pt x="95" y="9"/>
                  </a:cubicBezTo>
                  <a:cubicBezTo>
                    <a:pt x="95" y="9"/>
                    <a:pt x="96" y="9"/>
                    <a:pt x="96" y="9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97" y="9"/>
                    <a:pt x="97" y="9"/>
                    <a:pt x="97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0" name="iŝḻiďê">
              <a:extLst>
                <a:ext uri="{FF2B5EF4-FFF2-40B4-BE49-F238E27FC236}">
                  <a16:creationId xmlns:a16="http://schemas.microsoft.com/office/drawing/2014/main" id="{F4E2D8CC-4A7A-73F6-1D57-3F283EB70F58}"/>
                </a:ext>
              </a:extLst>
            </p:cNvPr>
            <p:cNvSpPr/>
            <p:nvPr/>
          </p:nvSpPr>
          <p:spPr bwMode="auto">
            <a:xfrm>
              <a:off x="3103563" y="344011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1" name="îṥḻiḍè">
              <a:extLst>
                <a:ext uri="{FF2B5EF4-FFF2-40B4-BE49-F238E27FC236}">
                  <a16:creationId xmlns:a16="http://schemas.microsoft.com/office/drawing/2014/main" id="{BC72794C-1A56-8DC0-2A5C-964C7EA6D13C}"/>
                </a:ext>
              </a:extLst>
            </p:cNvPr>
            <p:cNvSpPr/>
            <p:nvPr/>
          </p:nvSpPr>
          <p:spPr bwMode="auto">
            <a:xfrm>
              <a:off x="3021013" y="3443288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1 h 1"/>
                <a:gd name="T10" fmla="*/ 0 w 1"/>
                <a:gd name="T11" fmla="*/ 1 h 1"/>
                <a:gd name="T12" fmla="*/ 0 w 1"/>
                <a:gd name="T13" fmla="*/ 1 h 1"/>
                <a:gd name="T14" fmla="*/ 0 w 1"/>
                <a:gd name="T15" fmla="*/ 1 h 1"/>
                <a:gd name="T16" fmla="*/ 0 w 1"/>
                <a:gd name="T17" fmla="*/ 1 h 1"/>
                <a:gd name="T18" fmla="*/ 1 w 1"/>
                <a:gd name="T19" fmla="*/ 1 h 1"/>
                <a:gd name="T20" fmla="*/ 1 w 1"/>
                <a:gd name="T21" fmla="*/ 1 h 1"/>
                <a:gd name="T22" fmla="*/ 1 w 1"/>
                <a:gd name="T23" fmla="*/ 0 h 1"/>
                <a:gd name="T24" fmla="*/ 1 w 1"/>
                <a:gd name="T25" fmla="*/ 0 h 1"/>
                <a:gd name="T26" fmla="*/ 1 w 1"/>
                <a:gd name="T2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2" name="íṩḷîḋe">
              <a:extLst>
                <a:ext uri="{FF2B5EF4-FFF2-40B4-BE49-F238E27FC236}">
                  <a16:creationId xmlns:a16="http://schemas.microsoft.com/office/drawing/2014/main" id="{F2E09BD2-F3F5-5033-547D-B76AA1CF45D1}"/>
                </a:ext>
              </a:extLst>
            </p:cNvPr>
            <p:cNvSpPr/>
            <p:nvPr/>
          </p:nvSpPr>
          <p:spPr bwMode="auto">
            <a:xfrm>
              <a:off x="2941638" y="3436938"/>
              <a:ext cx="3175" cy="635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0 h 2"/>
                <a:gd name="T10" fmla="*/ 0 w 1"/>
                <a:gd name="T11" fmla="*/ 0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1 h 2"/>
                <a:gd name="T22" fmla="*/ 0 w 1"/>
                <a:gd name="T23" fmla="*/ 1 h 2"/>
                <a:gd name="T24" fmla="*/ 0 w 1"/>
                <a:gd name="T25" fmla="*/ 1 h 2"/>
                <a:gd name="T26" fmla="*/ 0 w 1"/>
                <a:gd name="T27" fmla="*/ 1 h 2"/>
                <a:gd name="T28" fmla="*/ 0 w 1"/>
                <a:gd name="T29" fmla="*/ 1 h 2"/>
                <a:gd name="T30" fmla="*/ 0 w 1"/>
                <a:gd name="T31" fmla="*/ 1 h 2"/>
                <a:gd name="T32" fmla="*/ 0 w 1"/>
                <a:gd name="T33" fmla="*/ 1 h 2"/>
                <a:gd name="T34" fmla="*/ 1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0 w 1"/>
                <a:gd name="T43" fmla="*/ 2 h 2"/>
                <a:gd name="T44" fmla="*/ 0 w 1"/>
                <a:gd name="T45" fmla="*/ 2 h 2"/>
                <a:gd name="T46" fmla="*/ 0 w 1"/>
                <a:gd name="T47" fmla="*/ 2 h 2"/>
                <a:gd name="T48" fmla="*/ 0 w 1"/>
                <a:gd name="T49" fmla="*/ 2 h 2"/>
                <a:gd name="T50" fmla="*/ 1 w 1"/>
                <a:gd name="T51" fmla="*/ 2 h 2"/>
                <a:gd name="T52" fmla="*/ 1 w 1"/>
                <a:gd name="T53" fmla="*/ 1 h 2"/>
                <a:gd name="T54" fmla="*/ 1 w 1"/>
                <a:gd name="T55" fmla="*/ 1 h 2"/>
                <a:gd name="T56" fmla="*/ 1 w 1"/>
                <a:gd name="T57" fmla="*/ 0 h 2"/>
                <a:gd name="T58" fmla="*/ 1 w 1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3" name="iṧḻiḋè">
              <a:extLst>
                <a:ext uri="{FF2B5EF4-FFF2-40B4-BE49-F238E27FC236}">
                  <a16:creationId xmlns:a16="http://schemas.microsoft.com/office/drawing/2014/main" id="{9A7ACAC5-BB6C-281A-2303-9504734227F9}"/>
                </a:ext>
              </a:extLst>
            </p:cNvPr>
            <p:cNvSpPr/>
            <p:nvPr/>
          </p:nvSpPr>
          <p:spPr bwMode="auto">
            <a:xfrm>
              <a:off x="3517900" y="2994026"/>
              <a:ext cx="138113" cy="115888"/>
            </a:xfrm>
            <a:custGeom>
              <a:avLst/>
              <a:gdLst>
                <a:gd name="T0" fmla="*/ 36 w 38"/>
                <a:gd name="T1" fmla="*/ 26 h 32"/>
                <a:gd name="T2" fmla="*/ 34 w 38"/>
                <a:gd name="T3" fmla="*/ 22 h 32"/>
                <a:gd name="T4" fmla="*/ 28 w 38"/>
                <a:gd name="T5" fmla="*/ 16 h 32"/>
                <a:gd name="T6" fmla="*/ 27 w 38"/>
                <a:gd name="T7" fmla="*/ 14 h 32"/>
                <a:gd name="T8" fmla="*/ 26 w 38"/>
                <a:gd name="T9" fmla="*/ 14 h 32"/>
                <a:gd name="T10" fmla="*/ 27 w 38"/>
                <a:gd name="T11" fmla="*/ 13 h 32"/>
                <a:gd name="T12" fmla="*/ 30 w 38"/>
                <a:gd name="T13" fmla="*/ 14 h 32"/>
                <a:gd name="T14" fmla="*/ 32 w 38"/>
                <a:gd name="T15" fmla="*/ 14 h 32"/>
                <a:gd name="T16" fmla="*/ 36 w 38"/>
                <a:gd name="T17" fmla="*/ 14 h 32"/>
                <a:gd name="T18" fmla="*/ 37 w 38"/>
                <a:gd name="T19" fmla="*/ 13 h 32"/>
                <a:gd name="T20" fmla="*/ 37 w 38"/>
                <a:gd name="T21" fmla="*/ 12 h 32"/>
                <a:gd name="T22" fmla="*/ 36 w 38"/>
                <a:gd name="T23" fmla="*/ 7 h 32"/>
                <a:gd name="T24" fmla="*/ 33 w 38"/>
                <a:gd name="T25" fmla="*/ 4 h 32"/>
                <a:gd name="T26" fmla="*/ 31 w 38"/>
                <a:gd name="T27" fmla="*/ 4 h 32"/>
                <a:gd name="T28" fmla="*/ 31 w 38"/>
                <a:gd name="T29" fmla="*/ 6 h 32"/>
                <a:gd name="T30" fmla="*/ 31 w 38"/>
                <a:gd name="T31" fmla="*/ 8 h 32"/>
                <a:gd name="T32" fmla="*/ 31 w 38"/>
                <a:gd name="T33" fmla="*/ 9 h 32"/>
                <a:gd name="T34" fmla="*/ 28 w 38"/>
                <a:gd name="T35" fmla="*/ 10 h 32"/>
                <a:gd name="T36" fmla="*/ 26 w 38"/>
                <a:gd name="T37" fmla="*/ 10 h 32"/>
                <a:gd name="T38" fmla="*/ 23 w 38"/>
                <a:gd name="T39" fmla="*/ 11 h 32"/>
                <a:gd name="T40" fmla="*/ 22 w 38"/>
                <a:gd name="T41" fmla="*/ 10 h 32"/>
                <a:gd name="T42" fmla="*/ 16 w 38"/>
                <a:gd name="T43" fmla="*/ 6 h 32"/>
                <a:gd name="T44" fmla="*/ 12 w 38"/>
                <a:gd name="T45" fmla="*/ 3 h 32"/>
                <a:gd name="T46" fmla="*/ 8 w 38"/>
                <a:gd name="T47" fmla="*/ 0 h 32"/>
                <a:gd name="T48" fmla="*/ 7 w 38"/>
                <a:gd name="T49" fmla="*/ 0 h 32"/>
                <a:gd name="T50" fmla="*/ 6 w 38"/>
                <a:gd name="T51" fmla="*/ 1 h 32"/>
                <a:gd name="T52" fmla="*/ 7 w 38"/>
                <a:gd name="T53" fmla="*/ 7 h 32"/>
                <a:gd name="T54" fmla="*/ 7 w 38"/>
                <a:gd name="T55" fmla="*/ 8 h 32"/>
                <a:gd name="T56" fmla="*/ 16 w 38"/>
                <a:gd name="T57" fmla="*/ 14 h 32"/>
                <a:gd name="T58" fmla="*/ 19 w 38"/>
                <a:gd name="T59" fmla="*/ 16 h 32"/>
                <a:gd name="T60" fmla="*/ 12 w 38"/>
                <a:gd name="T61" fmla="*/ 20 h 32"/>
                <a:gd name="T62" fmla="*/ 7 w 38"/>
                <a:gd name="T63" fmla="*/ 20 h 32"/>
                <a:gd name="T64" fmla="*/ 5 w 38"/>
                <a:gd name="T65" fmla="*/ 18 h 32"/>
                <a:gd name="T66" fmla="*/ 5 w 38"/>
                <a:gd name="T67" fmla="*/ 14 h 32"/>
                <a:gd name="T68" fmla="*/ 5 w 38"/>
                <a:gd name="T69" fmla="*/ 12 h 32"/>
                <a:gd name="T70" fmla="*/ 4 w 38"/>
                <a:gd name="T71" fmla="*/ 12 h 32"/>
                <a:gd name="T72" fmla="*/ 3 w 38"/>
                <a:gd name="T73" fmla="*/ 15 h 32"/>
                <a:gd name="T74" fmla="*/ 1 w 38"/>
                <a:gd name="T75" fmla="*/ 17 h 32"/>
                <a:gd name="T76" fmla="*/ 0 w 38"/>
                <a:gd name="T77" fmla="*/ 20 h 32"/>
                <a:gd name="T78" fmla="*/ 2 w 38"/>
                <a:gd name="T79" fmla="*/ 24 h 32"/>
                <a:gd name="T80" fmla="*/ 14 w 38"/>
                <a:gd name="T81" fmla="*/ 25 h 32"/>
                <a:gd name="T82" fmla="*/ 22 w 38"/>
                <a:gd name="T83" fmla="*/ 21 h 32"/>
                <a:gd name="T84" fmla="*/ 23 w 38"/>
                <a:gd name="T85" fmla="*/ 21 h 32"/>
                <a:gd name="T86" fmla="*/ 25 w 38"/>
                <a:gd name="T87" fmla="*/ 24 h 32"/>
                <a:gd name="T88" fmla="*/ 28 w 38"/>
                <a:gd name="T89" fmla="*/ 28 h 32"/>
                <a:gd name="T90" fmla="*/ 29 w 38"/>
                <a:gd name="T91" fmla="*/ 31 h 32"/>
                <a:gd name="T92" fmla="*/ 32 w 38"/>
                <a:gd name="T93" fmla="*/ 32 h 32"/>
                <a:gd name="T94" fmla="*/ 35 w 38"/>
                <a:gd name="T95" fmla="*/ 29 h 32"/>
                <a:gd name="T96" fmla="*/ 36 w 38"/>
                <a:gd name="T97" fmla="*/ 2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8" h="32">
                  <a:moveTo>
                    <a:pt x="36" y="26"/>
                  </a:moveTo>
                  <a:cubicBezTo>
                    <a:pt x="36" y="25"/>
                    <a:pt x="35" y="24"/>
                    <a:pt x="34" y="22"/>
                  </a:cubicBezTo>
                  <a:cubicBezTo>
                    <a:pt x="32" y="21"/>
                    <a:pt x="31" y="18"/>
                    <a:pt x="28" y="16"/>
                  </a:cubicBezTo>
                  <a:cubicBezTo>
                    <a:pt x="28" y="16"/>
                    <a:pt x="27" y="15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8" y="13"/>
                    <a:pt x="29" y="14"/>
                    <a:pt x="30" y="14"/>
                  </a:cubicBezTo>
                  <a:cubicBezTo>
                    <a:pt x="30" y="14"/>
                    <a:pt x="31" y="14"/>
                    <a:pt x="32" y="14"/>
                  </a:cubicBezTo>
                  <a:cubicBezTo>
                    <a:pt x="33" y="14"/>
                    <a:pt x="34" y="14"/>
                    <a:pt x="36" y="14"/>
                  </a:cubicBezTo>
                  <a:cubicBezTo>
                    <a:pt x="37" y="14"/>
                    <a:pt x="37" y="14"/>
                    <a:pt x="37" y="13"/>
                  </a:cubicBezTo>
                  <a:cubicBezTo>
                    <a:pt x="37" y="13"/>
                    <a:pt x="37" y="12"/>
                    <a:pt x="37" y="12"/>
                  </a:cubicBezTo>
                  <a:cubicBezTo>
                    <a:pt x="38" y="11"/>
                    <a:pt x="38" y="8"/>
                    <a:pt x="36" y="7"/>
                  </a:cubicBezTo>
                  <a:cubicBezTo>
                    <a:pt x="35" y="6"/>
                    <a:pt x="34" y="5"/>
                    <a:pt x="33" y="4"/>
                  </a:cubicBezTo>
                  <a:cubicBezTo>
                    <a:pt x="33" y="4"/>
                    <a:pt x="32" y="4"/>
                    <a:pt x="31" y="4"/>
                  </a:cubicBezTo>
                  <a:cubicBezTo>
                    <a:pt x="31" y="5"/>
                    <a:pt x="31" y="5"/>
                    <a:pt x="31" y="6"/>
                  </a:cubicBezTo>
                  <a:cubicBezTo>
                    <a:pt x="30" y="7"/>
                    <a:pt x="30" y="8"/>
                    <a:pt x="31" y="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29" y="10"/>
                    <a:pt x="28" y="10"/>
                  </a:cubicBezTo>
                  <a:cubicBezTo>
                    <a:pt x="27" y="10"/>
                    <a:pt x="26" y="10"/>
                    <a:pt x="26" y="10"/>
                  </a:cubicBezTo>
                  <a:cubicBezTo>
                    <a:pt x="25" y="10"/>
                    <a:pt x="24" y="10"/>
                    <a:pt x="23" y="11"/>
                  </a:cubicBezTo>
                  <a:cubicBezTo>
                    <a:pt x="23" y="11"/>
                    <a:pt x="23" y="11"/>
                    <a:pt x="22" y="10"/>
                  </a:cubicBezTo>
                  <a:cubicBezTo>
                    <a:pt x="20" y="9"/>
                    <a:pt x="18" y="7"/>
                    <a:pt x="16" y="6"/>
                  </a:cubicBezTo>
                  <a:cubicBezTo>
                    <a:pt x="15" y="5"/>
                    <a:pt x="13" y="4"/>
                    <a:pt x="12" y="3"/>
                  </a:cubicBezTo>
                  <a:cubicBezTo>
                    <a:pt x="10" y="2"/>
                    <a:pt x="9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5" y="3"/>
                    <a:pt x="5" y="5"/>
                    <a:pt x="7" y="7"/>
                  </a:cubicBezTo>
                  <a:cubicBezTo>
                    <a:pt x="7" y="7"/>
                    <a:pt x="7" y="7"/>
                    <a:pt x="7" y="8"/>
                  </a:cubicBezTo>
                  <a:cubicBezTo>
                    <a:pt x="10" y="10"/>
                    <a:pt x="14" y="12"/>
                    <a:pt x="16" y="14"/>
                  </a:cubicBezTo>
                  <a:cubicBezTo>
                    <a:pt x="17" y="15"/>
                    <a:pt x="18" y="16"/>
                    <a:pt x="19" y="16"/>
                  </a:cubicBezTo>
                  <a:cubicBezTo>
                    <a:pt x="20" y="18"/>
                    <a:pt x="15" y="20"/>
                    <a:pt x="12" y="20"/>
                  </a:cubicBezTo>
                  <a:cubicBezTo>
                    <a:pt x="10" y="21"/>
                    <a:pt x="7" y="20"/>
                    <a:pt x="7" y="20"/>
                  </a:cubicBezTo>
                  <a:cubicBezTo>
                    <a:pt x="6" y="20"/>
                    <a:pt x="5" y="20"/>
                    <a:pt x="5" y="18"/>
                  </a:cubicBezTo>
                  <a:cubicBezTo>
                    <a:pt x="4" y="16"/>
                    <a:pt x="5" y="14"/>
                    <a:pt x="5" y="14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2"/>
                    <a:pt x="4" y="12"/>
                  </a:cubicBezTo>
                  <a:cubicBezTo>
                    <a:pt x="4" y="12"/>
                    <a:pt x="3" y="14"/>
                    <a:pt x="3" y="15"/>
                  </a:cubicBezTo>
                  <a:cubicBezTo>
                    <a:pt x="2" y="17"/>
                    <a:pt x="1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1"/>
                    <a:pt x="1" y="23"/>
                    <a:pt x="2" y="24"/>
                  </a:cubicBezTo>
                  <a:cubicBezTo>
                    <a:pt x="4" y="25"/>
                    <a:pt x="9" y="26"/>
                    <a:pt x="14" y="25"/>
                  </a:cubicBezTo>
                  <a:cubicBezTo>
                    <a:pt x="17" y="24"/>
                    <a:pt x="21" y="22"/>
                    <a:pt x="22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4" y="22"/>
                    <a:pt x="25" y="23"/>
                    <a:pt x="25" y="24"/>
                  </a:cubicBezTo>
                  <a:cubicBezTo>
                    <a:pt x="26" y="25"/>
                    <a:pt x="28" y="26"/>
                    <a:pt x="28" y="28"/>
                  </a:cubicBezTo>
                  <a:cubicBezTo>
                    <a:pt x="28" y="29"/>
                    <a:pt x="29" y="30"/>
                    <a:pt x="29" y="31"/>
                  </a:cubicBezTo>
                  <a:cubicBezTo>
                    <a:pt x="30" y="32"/>
                    <a:pt x="30" y="32"/>
                    <a:pt x="32" y="32"/>
                  </a:cubicBezTo>
                  <a:cubicBezTo>
                    <a:pt x="34" y="32"/>
                    <a:pt x="35" y="30"/>
                    <a:pt x="35" y="29"/>
                  </a:cubicBezTo>
                  <a:cubicBezTo>
                    <a:pt x="36" y="28"/>
                    <a:pt x="36" y="27"/>
                    <a:pt x="3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4" name="î$ľíḓè">
              <a:extLst>
                <a:ext uri="{FF2B5EF4-FFF2-40B4-BE49-F238E27FC236}">
                  <a16:creationId xmlns:a16="http://schemas.microsoft.com/office/drawing/2014/main" id="{5D7E9699-3D6B-FC72-0738-4584D44365BD}"/>
                </a:ext>
              </a:extLst>
            </p:cNvPr>
            <p:cNvSpPr/>
            <p:nvPr/>
          </p:nvSpPr>
          <p:spPr bwMode="auto">
            <a:xfrm>
              <a:off x="3636963" y="2936876"/>
              <a:ext cx="115888" cy="90488"/>
            </a:xfrm>
            <a:custGeom>
              <a:avLst/>
              <a:gdLst>
                <a:gd name="T0" fmla="*/ 0 w 32"/>
                <a:gd name="T1" fmla="*/ 7 h 25"/>
                <a:gd name="T2" fmla="*/ 1 w 32"/>
                <a:gd name="T3" fmla="*/ 8 h 25"/>
                <a:gd name="T4" fmla="*/ 2 w 32"/>
                <a:gd name="T5" fmla="*/ 11 h 25"/>
                <a:gd name="T6" fmla="*/ 4 w 32"/>
                <a:gd name="T7" fmla="*/ 12 h 25"/>
                <a:gd name="T8" fmla="*/ 6 w 32"/>
                <a:gd name="T9" fmla="*/ 11 h 25"/>
                <a:gd name="T10" fmla="*/ 7 w 32"/>
                <a:gd name="T11" fmla="*/ 9 h 25"/>
                <a:gd name="T12" fmla="*/ 11 w 32"/>
                <a:gd name="T13" fmla="*/ 8 h 25"/>
                <a:gd name="T14" fmla="*/ 12 w 32"/>
                <a:gd name="T15" fmla="*/ 8 h 25"/>
                <a:gd name="T16" fmla="*/ 11 w 32"/>
                <a:gd name="T17" fmla="*/ 8 h 25"/>
                <a:gd name="T18" fmla="*/ 11 w 32"/>
                <a:gd name="T19" fmla="*/ 13 h 25"/>
                <a:gd name="T20" fmla="*/ 10 w 32"/>
                <a:gd name="T21" fmla="*/ 14 h 25"/>
                <a:gd name="T22" fmla="*/ 8 w 32"/>
                <a:gd name="T23" fmla="*/ 13 h 25"/>
                <a:gd name="T24" fmla="*/ 6 w 32"/>
                <a:gd name="T25" fmla="*/ 13 h 25"/>
                <a:gd name="T26" fmla="*/ 4 w 32"/>
                <a:gd name="T27" fmla="*/ 14 h 25"/>
                <a:gd name="T28" fmla="*/ 6 w 32"/>
                <a:gd name="T29" fmla="*/ 15 h 25"/>
                <a:gd name="T30" fmla="*/ 22 w 32"/>
                <a:gd name="T31" fmla="*/ 22 h 25"/>
                <a:gd name="T32" fmla="*/ 24 w 32"/>
                <a:gd name="T33" fmla="*/ 23 h 25"/>
                <a:gd name="T34" fmla="*/ 25 w 32"/>
                <a:gd name="T35" fmla="*/ 23 h 25"/>
                <a:gd name="T36" fmla="*/ 26 w 32"/>
                <a:gd name="T37" fmla="*/ 24 h 25"/>
                <a:gd name="T38" fmla="*/ 28 w 32"/>
                <a:gd name="T39" fmla="*/ 25 h 25"/>
                <a:gd name="T40" fmla="*/ 30 w 32"/>
                <a:gd name="T41" fmla="*/ 24 h 25"/>
                <a:gd name="T42" fmla="*/ 31 w 32"/>
                <a:gd name="T43" fmla="*/ 23 h 25"/>
                <a:gd name="T44" fmla="*/ 32 w 32"/>
                <a:gd name="T45" fmla="*/ 22 h 25"/>
                <a:gd name="T46" fmla="*/ 32 w 32"/>
                <a:gd name="T47" fmla="*/ 19 h 25"/>
                <a:gd name="T48" fmla="*/ 31 w 32"/>
                <a:gd name="T49" fmla="*/ 17 h 25"/>
                <a:gd name="T50" fmla="*/ 29 w 32"/>
                <a:gd name="T51" fmla="*/ 16 h 25"/>
                <a:gd name="T52" fmla="*/ 28 w 32"/>
                <a:gd name="T53" fmla="*/ 15 h 25"/>
                <a:gd name="T54" fmla="*/ 28 w 32"/>
                <a:gd name="T55" fmla="*/ 15 h 25"/>
                <a:gd name="T56" fmla="*/ 28 w 32"/>
                <a:gd name="T57" fmla="*/ 16 h 25"/>
                <a:gd name="T58" fmla="*/ 27 w 32"/>
                <a:gd name="T59" fmla="*/ 17 h 25"/>
                <a:gd name="T60" fmla="*/ 24 w 32"/>
                <a:gd name="T61" fmla="*/ 17 h 25"/>
                <a:gd name="T62" fmla="*/ 14 w 32"/>
                <a:gd name="T63" fmla="*/ 15 h 25"/>
                <a:gd name="T64" fmla="*/ 16 w 32"/>
                <a:gd name="T65" fmla="*/ 14 h 25"/>
                <a:gd name="T66" fmla="*/ 20 w 32"/>
                <a:gd name="T67" fmla="*/ 11 h 25"/>
                <a:gd name="T68" fmla="*/ 21 w 32"/>
                <a:gd name="T69" fmla="*/ 8 h 25"/>
                <a:gd name="T70" fmla="*/ 20 w 32"/>
                <a:gd name="T71" fmla="*/ 7 h 25"/>
                <a:gd name="T72" fmla="*/ 19 w 32"/>
                <a:gd name="T73" fmla="*/ 7 h 25"/>
                <a:gd name="T74" fmla="*/ 16 w 32"/>
                <a:gd name="T75" fmla="*/ 7 h 25"/>
                <a:gd name="T76" fmla="*/ 11 w 32"/>
                <a:gd name="T77" fmla="*/ 7 h 25"/>
                <a:gd name="T78" fmla="*/ 11 w 32"/>
                <a:gd name="T79" fmla="*/ 7 h 25"/>
                <a:gd name="T80" fmla="*/ 11 w 32"/>
                <a:gd name="T81" fmla="*/ 6 h 25"/>
                <a:gd name="T82" fmla="*/ 13 w 32"/>
                <a:gd name="T83" fmla="*/ 4 h 25"/>
                <a:gd name="T84" fmla="*/ 13 w 32"/>
                <a:gd name="T85" fmla="*/ 1 h 25"/>
                <a:gd name="T86" fmla="*/ 9 w 32"/>
                <a:gd name="T87" fmla="*/ 0 h 25"/>
                <a:gd name="T88" fmla="*/ 4 w 32"/>
                <a:gd name="T89" fmla="*/ 2 h 25"/>
                <a:gd name="T90" fmla="*/ 2 w 32"/>
                <a:gd name="T91" fmla="*/ 4 h 25"/>
                <a:gd name="T92" fmla="*/ 0 w 32"/>
                <a:gd name="T93" fmla="*/ 7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2" h="25">
                  <a:moveTo>
                    <a:pt x="0" y="7"/>
                  </a:moveTo>
                  <a:cubicBezTo>
                    <a:pt x="0" y="8"/>
                    <a:pt x="1" y="8"/>
                    <a:pt x="1" y="8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11"/>
                    <a:pt x="5" y="11"/>
                    <a:pt x="6" y="11"/>
                  </a:cubicBezTo>
                  <a:cubicBezTo>
                    <a:pt x="6" y="10"/>
                    <a:pt x="7" y="10"/>
                    <a:pt x="7" y="9"/>
                  </a:cubicBezTo>
                  <a:cubicBezTo>
                    <a:pt x="8" y="8"/>
                    <a:pt x="10" y="8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10"/>
                    <a:pt x="11" y="11"/>
                    <a:pt x="11" y="13"/>
                  </a:cubicBezTo>
                  <a:cubicBezTo>
                    <a:pt x="11" y="14"/>
                    <a:pt x="10" y="14"/>
                    <a:pt x="10" y="14"/>
                  </a:cubicBezTo>
                  <a:cubicBezTo>
                    <a:pt x="10" y="14"/>
                    <a:pt x="8" y="13"/>
                    <a:pt x="8" y="13"/>
                  </a:cubicBezTo>
                  <a:cubicBezTo>
                    <a:pt x="7" y="13"/>
                    <a:pt x="6" y="13"/>
                    <a:pt x="6" y="13"/>
                  </a:cubicBezTo>
                  <a:cubicBezTo>
                    <a:pt x="6" y="14"/>
                    <a:pt x="4" y="14"/>
                    <a:pt x="4" y="14"/>
                  </a:cubicBezTo>
                  <a:cubicBezTo>
                    <a:pt x="4" y="15"/>
                    <a:pt x="6" y="15"/>
                    <a:pt x="6" y="15"/>
                  </a:cubicBezTo>
                  <a:cubicBezTo>
                    <a:pt x="6" y="15"/>
                    <a:pt x="20" y="21"/>
                    <a:pt x="22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4" y="23"/>
                    <a:pt x="25" y="23"/>
                    <a:pt x="25" y="23"/>
                  </a:cubicBezTo>
                  <a:cubicBezTo>
                    <a:pt x="25" y="24"/>
                    <a:pt x="26" y="24"/>
                    <a:pt x="26" y="24"/>
                  </a:cubicBezTo>
                  <a:cubicBezTo>
                    <a:pt x="27" y="24"/>
                    <a:pt x="28" y="25"/>
                    <a:pt x="28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1" y="23"/>
                    <a:pt x="31" y="23"/>
                  </a:cubicBezTo>
                  <a:cubicBezTo>
                    <a:pt x="31" y="23"/>
                    <a:pt x="32" y="22"/>
                    <a:pt x="32" y="22"/>
                  </a:cubicBezTo>
                  <a:cubicBezTo>
                    <a:pt x="32" y="21"/>
                    <a:pt x="32" y="20"/>
                    <a:pt x="32" y="19"/>
                  </a:cubicBezTo>
                  <a:cubicBezTo>
                    <a:pt x="32" y="19"/>
                    <a:pt x="32" y="18"/>
                    <a:pt x="31" y="17"/>
                  </a:cubicBezTo>
                  <a:cubicBezTo>
                    <a:pt x="30" y="17"/>
                    <a:pt x="30" y="16"/>
                    <a:pt x="29" y="16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7"/>
                    <a:pt x="28" y="17"/>
                    <a:pt x="27" y="17"/>
                  </a:cubicBezTo>
                  <a:cubicBezTo>
                    <a:pt x="26" y="17"/>
                    <a:pt x="25" y="17"/>
                    <a:pt x="24" y="17"/>
                  </a:cubicBezTo>
                  <a:cubicBezTo>
                    <a:pt x="22" y="17"/>
                    <a:pt x="15" y="15"/>
                    <a:pt x="14" y="15"/>
                  </a:cubicBezTo>
                  <a:cubicBezTo>
                    <a:pt x="14" y="15"/>
                    <a:pt x="16" y="14"/>
                    <a:pt x="16" y="14"/>
                  </a:cubicBezTo>
                  <a:cubicBezTo>
                    <a:pt x="18" y="13"/>
                    <a:pt x="20" y="12"/>
                    <a:pt x="20" y="11"/>
                  </a:cubicBezTo>
                  <a:cubicBezTo>
                    <a:pt x="21" y="10"/>
                    <a:pt x="21" y="9"/>
                    <a:pt x="21" y="8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6"/>
                    <a:pt x="17" y="6"/>
                    <a:pt x="16" y="7"/>
                  </a:cubicBezTo>
                  <a:cubicBezTo>
                    <a:pt x="14" y="7"/>
                    <a:pt x="13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2" y="5"/>
                    <a:pt x="13" y="4"/>
                    <a:pt x="13" y="4"/>
                  </a:cubicBezTo>
                  <a:cubicBezTo>
                    <a:pt x="14" y="3"/>
                    <a:pt x="14" y="2"/>
                    <a:pt x="13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7" y="1"/>
                    <a:pt x="6" y="1"/>
                    <a:pt x="4" y="2"/>
                  </a:cubicBezTo>
                  <a:cubicBezTo>
                    <a:pt x="3" y="3"/>
                    <a:pt x="3" y="3"/>
                    <a:pt x="2" y="4"/>
                  </a:cubicBezTo>
                  <a:cubicBezTo>
                    <a:pt x="1" y="5"/>
                    <a:pt x="0" y="6"/>
                    <a:pt x="0" y="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5" name="ïsľíďe">
              <a:extLst>
                <a:ext uri="{FF2B5EF4-FFF2-40B4-BE49-F238E27FC236}">
                  <a16:creationId xmlns:a16="http://schemas.microsoft.com/office/drawing/2014/main" id="{C4B81C1C-0532-C6A3-9942-997F89B23F17}"/>
                </a:ext>
              </a:extLst>
            </p:cNvPr>
            <p:cNvSpPr/>
            <p:nvPr/>
          </p:nvSpPr>
          <p:spPr bwMode="auto">
            <a:xfrm>
              <a:off x="3616325" y="2971801"/>
              <a:ext cx="96838" cy="106363"/>
            </a:xfrm>
            <a:custGeom>
              <a:avLst/>
              <a:gdLst>
                <a:gd name="T0" fmla="*/ 26 w 27"/>
                <a:gd name="T1" fmla="*/ 26 h 29"/>
                <a:gd name="T2" fmla="*/ 27 w 27"/>
                <a:gd name="T3" fmla="*/ 21 h 29"/>
                <a:gd name="T4" fmla="*/ 22 w 27"/>
                <a:gd name="T5" fmla="*/ 14 h 29"/>
                <a:gd name="T6" fmla="*/ 16 w 27"/>
                <a:gd name="T7" fmla="*/ 9 h 29"/>
                <a:gd name="T8" fmla="*/ 7 w 27"/>
                <a:gd name="T9" fmla="*/ 3 h 29"/>
                <a:gd name="T10" fmla="*/ 0 w 27"/>
                <a:gd name="T11" fmla="*/ 0 h 29"/>
                <a:gd name="T12" fmla="*/ 0 w 27"/>
                <a:gd name="T13" fmla="*/ 1 h 29"/>
                <a:gd name="T14" fmla="*/ 2 w 27"/>
                <a:gd name="T15" fmla="*/ 3 h 29"/>
                <a:gd name="T16" fmla="*/ 5 w 27"/>
                <a:gd name="T17" fmla="*/ 6 h 29"/>
                <a:gd name="T18" fmla="*/ 9 w 27"/>
                <a:gd name="T19" fmla="*/ 8 h 29"/>
                <a:gd name="T20" fmla="*/ 17 w 27"/>
                <a:gd name="T21" fmla="*/ 12 h 29"/>
                <a:gd name="T22" fmla="*/ 24 w 27"/>
                <a:gd name="T23" fmla="*/ 20 h 29"/>
                <a:gd name="T24" fmla="*/ 24 w 27"/>
                <a:gd name="T25" fmla="*/ 23 h 29"/>
                <a:gd name="T26" fmla="*/ 20 w 27"/>
                <a:gd name="T27" fmla="*/ 24 h 29"/>
                <a:gd name="T28" fmla="*/ 16 w 27"/>
                <a:gd name="T29" fmla="*/ 22 h 29"/>
                <a:gd name="T30" fmla="*/ 11 w 27"/>
                <a:gd name="T31" fmla="*/ 20 h 29"/>
                <a:gd name="T32" fmla="*/ 10 w 27"/>
                <a:gd name="T33" fmla="*/ 20 h 29"/>
                <a:gd name="T34" fmla="*/ 10 w 27"/>
                <a:gd name="T35" fmla="*/ 20 h 29"/>
                <a:gd name="T36" fmla="*/ 10 w 27"/>
                <a:gd name="T37" fmla="*/ 20 h 29"/>
                <a:gd name="T38" fmla="*/ 11 w 27"/>
                <a:gd name="T39" fmla="*/ 21 h 29"/>
                <a:gd name="T40" fmla="*/ 12 w 27"/>
                <a:gd name="T41" fmla="*/ 23 h 29"/>
                <a:gd name="T42" fmla="*/ 19 w 27"/>
                <a:gd name="T43" fmla="*/ 28 h 29"/>
                <a:gd name="T44" fmla="*/ 24 w 27"/>
                <a:gd name="T45" fmla="*/ 28 h 29"/>
                <a:gd name="T46" fmla="*/ 26 w 27"/>
                <a:gd name="T47" fmla="*/ 26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" h="29">
                  <a:moveTo>
                    <a:pt x="26" y="26"/>
                  </a:moveTo>
                  <a:cubicBezTo>
                    <a:pt x="27" y="24"/>
                    <a:pt x="27" y="23"/>
                    <a:pt x="27" y="21"/>
                  </a:cubicBezTo>
                  <a:cubicBezTo>
                    <a:pt x="26" y="19"/>
                    <a:pt x="24" y="16"/>
                    <a:pt x="22" y="14"/>
                  </a:cubicBezTo>
                  <a:cubicBezTo>
                    <a:pt x="20" y="12"/>
                    <a:pt x="20" y="11"/>
                    <a:pt x="16" y="9"/>
                  </a:cubicBezTo>
                  <a:cubicBezTo>
                    <a:pt x="12" y="6"/>
                    <a:pt x="8" y="4"/>
                    <a:pt x="7" y="3"/>
                  </a:cubicBezTo>
                  <a:cubicBezTo>
                    <a:pt x="5" y="3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2" y="3"/>
                    <a:pt x="2" y="3"/>
                  </a:cubicBezTo>
                  <a:cubicBezTo>
                    <a:pt x="3" y="4"/>
                    <a:pt x="4" y="6"/>
                    <a:pt x="5" y="6"/>
                  </a:cubicBezTo>
                  <a:cubicBezTo>
                    <a:pt x="7" y="7"/>
                    <a:pt x="8" y="8"/>
                    <a:pt x="9" y="8"/>
                  </a:cubicBezTo>
                  <a:cubicBezTo>
                    <a:pt x="12" y="9"/>
                    <a:pt x="16" y="12"/>
                    <a:pt x="17" y="12"/>
                  </a:cubicBezTo>
                  <a:cubicBezTo>
                    <a:pt x="20" y="15"/>
                    <a:pt x="23" y="18"/>
                    <a:pt x="24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1" y="24"/>
                    <a:pt x="20" y="24"/>
                  </a:cubicBezTo>
                  <a:cubicBezTo>
                    <a:pt x="19" y="23"/>
                    <a:pt x="17" y="23"/>
                    <a:pt x="16" y="22"/>
                  </a:cubicBezTo>
                  <a:cubicBezTo>
                    <a:pt x="14" y="21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1" y="21"/>
                  </a:cubicBezTo>
                  <a:cubicBezTo>
                    <a:pt x="11" y="21"/>
                    <a:pt x="12" y="23"/>
                    <a:pt x="12" y="23"/>
                  </a:cubicBezTo>
                  <a:cubicBezTo>
                    <a:pt x="13" y="24"/>
                    <a:pt x="15" y="27"/>
                    <a:pt x="19" y="28"/>
                  </a:cubicBezTo>
                  <a:cubicBezTo>
                    <a:pt x="21" y="28"/>
                    <a:pt x="22" y="29"/>
                    <a:pt x="24" y="28"/>
                  </a:cubicBezTo>
                  <a:cubicBezTo>
                    <a:pt x="25" y="27"/>
                    <a:pt x="26" y="27"/>
                    <a:pt x="26" y="26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6" name="íšḷïdé">
              <a:extLst>
                <a:ext uri="{FF2B5EF4-FFF2-40B4-BE49-F238E27FC236}">
                  <a16:creationId xmlns:a16="http://schemas.microsoft.com/office/drawing/2014/main" id="{6FF4AAFA-35BD-5C29-0A35-5A7291B273E1}"/>
                </a:ext>
              </a:extLst>
            </p:cNvPr>
            <p:cNvSpPr/>
            <p:nvPr/>
          </p:nvSpPr>
          <p:spPr bwMode="auto">
            <a:xfrm>
              <a:off x="3651250" y="304482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7" name="ïslîḍê">
              <a:extLst>
                <a:ext uri="{FF2B5EF4-FFF2-40B4-BE49-F238E27FC236}">
                  <a16:creationId xmlns:a16="http://schemas.microsoft.com/office/drawing/2014/main" id="{0A5B9A3B-659D-C997-57D2-EDCCB3D8632A}"/>
                </a:ext>
              </a:extLst>
            </p:cNvPr>
            <p:cNvSpPr/>
            <p:nvPr/>
          </p:nvSpPr>
          <p:spPr bwMode="auto">
            <a:xfrm>
              <a:off x="3651250" y="3044826"/>
              <a:ext cx="4763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8" name="îŝľíḍè">
              <a:extLst>
                <a:ext uri="{FF2B5EF4-FFF2-40B4-BE49-F238E27FC236}">
                  <a16:creationId xmlns:a16="http://schemas.microsoft.com/office/drawing/2014/main" id="{51972F81-9B84-D8A0-10D9-90F4B70D7A0C}"/>
                </a:ext>
              </a:extLst>
            </p:cNvPr>
            <p:cNvSpPr/>
            <p:nvPr/>
          </p:nvSpPr>
          <p:spPr bwMode="auto">
            <a:xfrm>
              <a:off x="3560763" y="2951163"/>
              <a:ext cx="44450" cy="36513"/>
            </a:xfrm>
            <a:custGeom>
              <a:avLst/>
              <a:gdLst>
                <a:gd name="T0" fmla="*/ 3 w 12"/>
                <a:gd name="T1" fmla="*/ 9 h 10"/>
                <a:gd name="T2" fmla="*/ 6 w 12"/>
                <a:gd name="T3" fmla="*/ 8 h 10"/>
                <a:gd name="T4" fmla="*/ 11 w 12"/>
                <a:gd name="T5" fmla="*/ 5 h 10"/>
                <a:gd name="T6" fmla="*/ 12 w 12"/>
                <a:gd name="T7" fmla="*/ 4 h 10"/>
                <a:gd name="T8" fmla="*/ 12 w 12"/>
                <a:gd name="T9" fmla="*/ 3 h 10"/>
                <a:gd name="T10" fmla="*/ 11 w 12"/>
                <a:gd name="T11" fmla="*/ 1 h 10"/>
                <a:gd name="T12" fmla="*/ 10 w 12"/>
                <a:gd name="T13" fmla="*/ 1 h 10"/>
                <a:gd name="T14" fmla="*/ 8 w 12"/>
                <a:gd name="T15" fmla="*/ 1 h 10"/>
                <a:gd name="T16" fmla="*/ 2 w 12"/>
                <a:gd name="T17" fmla="*/ 3 h 10"/>
                <a:gd name="T18" fmla="*/ 0 w 12"/>
                <a:gd name="T19" fmla="*/ 7 h 10"/>
                <a:gd name="T20" fmla="*/ 1 w 12"/>
                <a:gd name="T21" fmla="*/ 8 h 10"/>
                <a:gd name="T22" fmla="*/ 3 w 12"/>
                <a:gd name="T2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" h="10">
                  <a:moveTo>
                    <a:pt x="3" y="9"/>
                  </a:moveTo>
                  <a:cubicBezTo>
                    <a:pt x="4" y="9"/>
                    <a:pt x="5" y="8"/>
                    <a:pt x="6" y="8"/>
                  </a:cubicBezTo>
                  <a:cubicBezTo>
                    <a:pt x="8" y="7"/>
                    <a:pt x="9" y="6"/>
                    <a:pt x="11" y="5"/>
                  </a:cubicBezTo>
                  <a:cubicBezTo>
                    <a:pt x="12" y="5"/>
                    <a:pt x="12" y="4"/>
                    <a:pt x="12" y="4"/>
                  </a:cubicBezTo>
                  <a:cubicBezTo>
                    <a:pt x="12" y="4"/>
                    <a:pt x="12" y="3"/>
                    <a:pt x="12" y="3"/>
                  </a:cubicBezTo>
                  <a:cubicBezTo>
                    <a:pt x="12" y="3"/>
                    <a:pt x="11" y="2"/>
                    <a:pt x="11" y="1"/>
                  </a:cubicBezTo>
                  <a:cubicBezTo>
                    <a:pt x="11" y="1"/>
                    <a:pt x="11" y="1"/>
                    <a:pt x="10" y="1"/>
                  </a:cubicBezTo>
                  <a:cubicBezTo>
                    <a:pt x="9" y="0"/>
                    <a:pt x="8" y="0"/>
                    <a:pt x="8" y="1"/>
                  </a:cubicBezTo>
                  <a:cubicBezTo>
                    <a:pt x="6" y="1"/>
                    <a:pt x="4" y="2"/>
                    <a:pt x="2" y="3"/>
                  </a:cubicBezTo>
                  <a:cubicBezTo>
                    <a:pt x="0" y="3"/>
                    <a:pt x="0" y="5"/>
                    <a:pt x="0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2" y="9"/>
                    <a:pt x="2" y="10"/>
                    <a:pt x="3" y="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49" name="íşľîḑé">
              <a:extLst>
                <a:ext uri="{FF2B5EF4-FFF2-40B4-BE49-F238E27FC236}">
                  <a16:creationId xmlns:a16="http://schemas.microsoft.com/office/drawing/2014/main" id="{6433D098-631C-7239-1F92-D6E56ED392DE}"/>
                </a:ext>
              </a:extLst>
            </p:cNvPr>
            <p:cNvSpPr/>
            <p:nvPr/>
          </p:nvSpPr>
          <p:spPr bwMode="auto">
            <a:xfrm>
              <a:off x="2205038" y="2925763"/>
              <a:ext cx="220663" cy="198438"/>
            </a:xfrm>
            <a:custGeom>
              <a:avLst/>
              <a:gdLst>
                <a:gd name="T0" fmla="*/ 23 w 61"/>
                <a:gd name="T1" fmla="*/ 15 h 55"/>
                <a:gd name="T2" fmla="*/ 21 w 61"/>
                <a:gd name="T3" fmla="*/ 20 h 55"/>
                <a:gd name="T4" fmla="*/ 17 w 61"/>
                <a:gd name="T5" fmla="*/ 12 h 55"/>
                <a:gd name="T6" fmla="*/ 19 w 61"/>
                <a:gd name="T7" fmla="*/ 8 h 55"/>
                <a:gd name="T8" fmla="*/ 17 w 61"/>
                <a:gd name="T9" fmla="*/ 2 h 55"/>
                <a:gd name="T10" fmla="*/ 14 w 61"/>
                <a:gd name="T11" fmla="*/ 2 h 55"/>
                <a:gd name="T12" fmla="*/ 12 w 61"/>
                <a:gd name="T13" fmla="*/ 5 h 55"/>
                <a:gd name="T14" fmla="*/ 8 w 61"/>
                <a:gd name="T15" fmla="*/ 3 h 55"/>
                <a:gd name="T16" fmla="*/ 2 w 61"/>
                <a:gd name="T17" fmla="*/ 10 h 55"/>
                <a:gd name="T18" fmla="*/ 9 w 61"/>
                <a:gd name="T19" fmla="*/ 15 h 55"/>
                <a:gd name="T20" fmla="*/ 10 w 61"/>
                <a:gd name="T21" fmla="*/ 18 h 55"/>
                <a:gd name="T22" fmla="*/ 10 w 61"/>
                <a:gd name="T23" fmla="*/ 24 h 55"/>
                <a:gd name="T24" fmla="*/ 16 w 61"/>
                <a:gd name="T25" fmla="*/ 25 h 55"/>
                <a:gd name="T26" fmla="*/ 21 w 61"/>
                <a:gd name="T27" fmla="*/ 35 h 55"/>
                <a:gd name="T28" fmla="*/ 20 w 61"/>
                <a:gd name="T29" fmla="*/ 37 h 55"/>
                <a:gd name="T30" fmla="*/ 25 w 61"/>
                <a:gd name="T31" fmla="*/ 46 h 55"/>
                <a:gd name="T32" fmla="*/ 39 w 61"/>
                <a:gd name="T33" fmla="*/ 54 h 55"/>
                <a:gd name="T34" fmla="*/ 43 w 61"/>
                <a:gd name="T35" fmla="*/ 54 h 55"/>
                <a:gd name="T36" fmla="*/ 45 w 61"/>
                <a:gd name="T37" fmla="*/ 52 h 55"/>
                <a:gd name="T38" fmla="*/ 41 w 61"/>
                <a:gd name="T39" fmla="*/ 47 h 55"/>
                <a:gd name="T40" fmla="*/ 31 w 61"/>
                <a:gd name="T41" fmla="*/ 42 h 55"/>
                <a:gd name="T42" fmla="*/ 27 w 61"/>
                <a:gd name="T43" fmla="*/ 37 h 55"/>
                <a:gd name="T44" fmla="*/ 27 w 61"/>
                <a:gd name="T45" fmla="*/ 33 h 55"/>
                <a:gd name="T46" fmla="*/ 26 w 61"/>
                <a:gd name="T47" fmla="*/ 25 h 55"/>
                <a:gd name="T48" fmla="*/ 26 w 61"/>
                <a:gd name="T49" fmla="*/ 25 h 55"/>
                <a:gd name="T50" fmla="*/ 26 w 61"/>
                <a:gd name="T51" fmla="*/ 22 h 55"/>
                <a:gd name="T52" fmla="*/ 32 w 61"/>
                <a:gd name="T53" fmla="*/ 6 h 55"/>
                <a:gd name="T54" fmla="*/ 44 w 61"/>
                <a:gd name="T55" fmla="*/ 10 h 55"/>
                <a:gd name="T56" fmla="*/ 52 w 61"/>
                <a:gd name="T57" fmla="*/ 20 h 55"/>
                <a:gd name="T58" fmla="*/ 54 w 61"/>
                <a:gd name="T59" fmla="*/ 27 h 55"/>
                <a:gd name="T60" fmla="*/ 49 w 61"/>
                <a:gd name="T61" fmla="*/ 31 h 55"/>
                <a:gd name="T62" fmla="*/ 46 w 61"/>
                <a:gd name="T63" fmla="*/ 27 h 55"/>
                <a:gd name="T64" fmla="*/ 42 w 61"/>
                <a:gd name="T65" fmla="*/ 25 h 55"/>
                <a:gd name="T66" fmla="*/ 41 w 61"/>
                <a:gd name="T67" fmla="*/ 28 h 55"/>
                <a:gd name="T68" fmla="*/ 40 w 61"/>
                <a:gd name="T69" fmla="*/ 28 h 55"/>
                <a:gd name="T70" fmla="*/ 38 w 61"/>
                <a:gd name="T71" fmla="*/ 20 h 55"/>
                <a:gd name="T72" fmla="*/ 34 w 61"/>
                <a:gd name="T73" fmla="*/ 19 h 55"/>
                <a:gd name="T74" fmla="*/ 28 w 61"/>
                <a:gd name="T75" fmla="*/ 16 h 55"/>
                <a:gd name="T76" fmla="*/ 28 w 61"/>
                <a:gd name="T77" fmla="*/ 19 h 55"/>
                <a:gd name="T78" fmla="*/ 30 w 61"/>
                <a:gd name="T79" fmla="*/ 24 h 55"/>
                <a:gd name="T80" fmla="*/ 28 w 61"/>
                <a:gd name="T81" fmla="*/ 24 h 55"/>
                <a:gd name="T82" fmla="*/ 26 w 61"/>
                <a:gd name="T83" fmla="*/ 25 h 55"/>
                <a:gd name="T84" fmla="*/ 26 w 61"/>
                <a:gd name="T85" fmla="*/ 25 h 55"/>
                <a:gd name="T86" fmla="*/ 29 w 61"/>
                <a:gd name="T87" fmla="*/ 28 h 55"/>
                <a:gd name="T88" fmla="*/ 32 w 61"/>
                <a:gd name="T89" fmla="*/ 29 h 55"/>
                <a:gd name="T90" fmla="*/ 36 w 61"/>
                <a:gd name="T91" fmla="*/ 36 h 55"/>
                <a:gd name="T92" fmla="*/ 38 w 61"/>
                <a:gd name="T93" fmla="*/ 34 h 55"/>
                <a:gd name="T94" fmla="*/ 40 w 61"/>
                <a:gd name="T95" fmla="*/ 39 h 55"/>
                <a:gd name="T96" fmla="*/ 42 w 61"/>
                <a:gd name="T97" fmla="*/ 40 h 55"/>
                <a:gd name="T98" fmla="*/ 44 w 61"/>
                <a:gd name="T99" fmla="*/ 38 h 55"/>
                <a:gd name="T100" fmla="*/ 47 w 61"/>
                <a:gd name="T101" fmla="*/ 33 h 55"/>
                <a:gd name="T102" fmla="*/ 58 w 61"/>
                <a:gd name="T103" fmla="*/ 41 h 55"/>
                <a:gd name="T104" fmla="*/ 61 w 61"/>
                <a:gd name="T105" fmla="*/ 42 h 55"/>
                <a:gd name="T106" fmla="*/ 60 w 61"/>
                <a:gd name="T107" fmla="*/ 40 h 55"/>
                <a:gd name="T108" fmla="*/ 52 w 61"/>
                <a:gd name="T109" fmla="*/ 34 h 55"/>
                <a:gd name="T110" fmla="*/ 50 w 61"/>
                <a:gd name="T111" fmla="*/ 31 h 55"/>
                <a:gd name="T112" fmla="*/ 53 w 61"/>
                <a:gd name="T113" fmla="*/ 31 h 55"/>
                <a:gd name="T114" fmla="*/ 54 w 61"/>
                <a:gd name="T115" fmla="*/ 32 h 55"/>
                <a:gd name="T116" fmla="*/ 58 w 61"/>
                <a:gd name="T117" fmla="*/ 31 h 55"/>
                <a:gd name="T118" fmla="*/ 59 w 61"/>
                <a:gd name="T119" fmla="*/ 22 h 55"/>
                <a:gd name="T120" fmla="*/ 52 w 61"/>
                <a:gd name="T121" fmla="*/ 12 h 55"/>
                <a:gd name="T122" fmla="*/ 45 w 61"/>
                <a:gd name="T123" fmla="*/ 5 h 55"/>
                <a:gd name="T124" fmla="*/ 37 w 61"/>
                <a:gd name="T12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1" h="55">
                  <a:moveTo>
                    <a:pt x="30" y="3"/>
                  </a:moveTo>
                  <a:cubicBezTo>
                    <a:pt x="26" y="6"/>
                    <a:pt x="24" y="10"/>
                    <a:pt x="23" y="15"/>
                  </a:cubicBezTo>
                  <a:cubicBezTo>
                    <a:pt x="23" y="16"/>
                    <a:pt x="22" y="18"/>
                    <a:pt x="22" y="19"/>
                  </a:cubicBezTo>
                  <a:cubicBezTo>
                    <a:pt x="22" y="20"/>
                    <a:pt x="21" y="20"/>
                    <a:pt x="21" y="20"/>
                  </a:cubicBezTo>
                  <a:cubicBezTo>
                    <a:pt x="21" y="19"/>
                    <a:pt x="20" y="19"/>
                    <a:pt x="20" y="18"/>
                  </a:cubicBezTo>
                  <a:cubicBezTo>
                    <a:pt x="18" y="17"/>
                    <a:pt x="18" y="15"/>
                    <a:pt x="17" y="12"/>
                  </a:cubicBezTo>
                  <a:cubicBezTo>
                    <a:pt x="17" y="12"/>
                    <a:pt x="17" y="11"/>
                    <a:pt x="18" y="10"/>
                  </a:cubicBezTo>
                  <a:cubicBezTo>
                    <a:pt x="18" y="9"/>
                    <a:pt x="18" y="8"/>
                    <a:pt x="19" y="8"/>
                  </a:cubicBezTo>
                  <a:cubicBezTo>
                    <a:pt x="19" y="6"/>
                    <a:pt x="19" y="5"/>
                    <a:pt x="19" y="4"/>
                  </a:cubicBezTo>
                  <a:cubicBezTo>
                    <a:pt x="18" y="3"/>
                    <a:pt x="18" y="3"/>
                    <a:pt x="17" y="2"/>
                  </a:cubicBezTo>
                  <a:cubicBezTo>
                    <a:pt x="17" y="2"/>
                    <a:pt x="16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2" y="5"/>
                    <a:pt x="12" y="5"/>
                  </a:cubicBezTo>
                  <a:cubicBezTo>
                    <a:pt x="12" y="6"/>
                    <a:pt x="11" y="5"/>
                    <a:pt x="11" y="4"/>
                  </a:cubicBezTo>
                  <a:cubicBezTo>
                    <a:pt x="10" y="3"/>
                    <a:pt x="9" y="3"/>
                    <a:pt x="8" y="3"/>
                  </a:cubicBezTo>
                  <a:cubicBezTo>
                    <a:pt x="5" y="3"/>
                    <a:pt x="3" y="3"/>
                    <a:pt x="1" y="6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4" y="10"/>
                    <a:pt x="4" y="10"/>
                    <a:pt x="5" y="11"/>
                  </a:cubicBezTo>
                  <a:cubicBezTo>
                    <a:pt x="6" y="12"/>
                    <a:pt x="8" y="13"/>
                    <a:pt x="9" y="15"/>
                  </a:cubicBezTo>
                  <a:cubicBezTo>
                    <a:pt x="9" y="15"/>
                    <a:pt x="10" y="16"/>
                    <a:pt x="10" y="17"/>
                  </a:cubicBezTo>
                  <a:cubicBezTo>
                    <a:pt x="10" y="17"/>
                    <a:pt x="10" y="17"/>
                    <a:pt x="10" y="18"/>
                  </a:cubicBezTo>
                  <a:cubicBezTo>
                    <a:pt x="10" y="19"/>
                    <a:pt x="10" y="20"/>
                    <a:pt x="9" y="21"/>
                  </a:cubicBezTo>
                  <a:cubicBezTo>
                    <a:pt x="9" y="22"/>
                    <a:pt x="9" y="23"/>
                    <a:pt x="10" y="24"/>
                  </a:cubicBezTo>
                  <a:cubicBezTo>
                    <a:pt x="11" y="25"/>
                    <a:pt x="14" y="26"/>
                    <a:pt x="15" y="25"/>
                  </a:cubicBezTo>
                  <a:cubicBezTo>
                    <a:pt x="16" y="24"/>
                    <a:pt x="16" y="24"/>
                    <a:pt x="16" y="25"/>
                  </a:cubicBezTo>
                  <a:cubicBezTo>
                    <a:pt x="17" y="26"/>
                    <a:pt x="18" y="28"/>
                    <a:pt x="19" y="30"/>
                  </a:cubicBezTo>
                  <a:cubicBezTo>
                    <a:pt x="20" y="31"/>
                    <a:pt x="20" y="33"/>
                    <a:pt x="21" y="35"/>
                  </a:cubicBezTo>
                  <a:cubicBezTo>
                    <a:pt x="21" y="35"/>
                    <a:pt x="21" y="36"/>
                    <a:pt x="21" y="36"/>
                  </a:cubicBezTo>
                  <a:cubicBezTo>
                    <a:pt x="20" y="36"/>
                    <a:pt x="20" y="37"/>
                    <a:pt x="20" y="37"/>
                  </a:cubicBezTo>
                  <a:cubicBezTo>
                    <a:pt x="20" y="39"/>
                    <a:pt x="21" y="41"/>
                    <a:pt x="22" y="43"/>
                  </a:cubicBezTo>
                  <a:cubicBezTo>
                    <a:pt x="23" y="44"/>
                    <a:pt x="24" y="46"/>
                    <a:pt x="25" y="46"/>
                  </a:cubicBezTo>
                  <a:cubicBezTo>
                    <a:pt x="28" y="48"/>
                    <a:pt x="30" y="49"/>
                    <a:pt x="32" y="51"/>
                  </a:cubicBezTo>
                  <a:cubicBezTo>
                    <a:pt x="34" y="52"/>
                    <a:pt x="37" y="53"/>
                    <a:pt x="39" y="54"/>
                  </a:cubicBezTo>
                  <a:cubicBezTo>
                    <a:pt x="39" y="54"/>
                    <a:pt x="39" y="55"/>
                    <a:pt x="40" y="54"/>
                  </a:cubicBezTo>
                  <a:cubicBezTo>
                    <a:pt x="41" y="54"/>
                    <a:pt x="42" y="54"/>
                    <a:pt x="43" y="54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44" y="53"/>
                    <a:pt x="45" y="52"/>
                    <a:pt x="45" y="52"/>
                  </a:cubicBezTo>
                  <a:cubicBezTo>
                    <a:pt x="46" y="51"/>
                    <a:pt x="46" y="50"/>
                    <a:pt x="46" y="50"/>
                  </a:cubicBezTo>
                  <a:cubicBezTo>
                    <a:pt x="44" y="49"/>
                    <a:pt x="43" y="47"/>
                    <a:pt x="41" y="47"/>
                  </a:cubicBezTo>
                  <a:cubicBezTo>
                    <a:pt x="40" y="47"/>
                    <a:pt x="39" y="46"/>
                    <a:pt x="38" y="46"/>
                  </a:cubicBezTo>
                  <a:cubicBezTo>
                    <a:pt x="35" y="45"/>
                    <a:pt x="33" y="43"/>
                    <a:pt x="31" y="42"/>
                  </a:cubicBezTo>
                  <a:cubicBezTo>
                    <a:pt x="29" y="41"/>
                    <a:pt x="28" y="40"/>
                    <a:pt x="27" y="40"/>
                  </a:cubicBezTo>
                  <a:cubicBezTo>
                    <a:pt x="26" y="39"/>
                    <a:pt x="26" y="38"/>
                    <a:pt x="27" y="37"/>
                  </a:cubicBezTo>
                  <a:cubicBezTo>
                    <a:pt x="27" y="37"/>
                    <a:pt x="27" y="37"/>
                    <a:pt x="27" y="36"/>
                  </a:cubicBezTo>
                  <a:cubicBezTo>
                    <a:pt x="28" y="35"/>
                    <a:pt x="28" y="34"/>
                    <a:pt x="27" y="33"/>
                  </a:cubicBezTo>
                  <a:cubicBezTo>
                    <a:pt x="27" y="32"/>
                    <a:pt x="27" y="30"/>
                    <a:pt x="27" y="29"/>
                  </a:cubicBezTo>
                  <a:cubicBezTo>
                    <a:pt x="26" y="27"/>
                    <a:pt x="26" y="26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4"/>
                    <a:pt x="26" y="23"/>
                  </a:cubicBezTo>
                  <a:cubicBezTo>
                    <a:pt x="26" y="23"/>
                    <a:pt x="26" y="22"/>
                    <a:pt x="26" y="22"/>
                  </a:cubicBezTo>
                  <a:cubicBezTo>
                    <a:pt x="26" y="20"/>
                    <a:pt x="26" y="18"/>
                    <a:pt x="27" y="17"/>
                  </a:cubicBezTo>
                  <a:cubicBezTo>
                    <a:pt x="27" y="13"/>
                    <a:pt x="29" y="9"/>
                    <a:pt x="32" y="6"/>
                  </a:cubicBezTo>
                  <a:cubicBezTo>
                    <a:pt x="35" y="4"/>
                    <a:pt x="37" y="4"/>
                    <a:pt x="40" y="6"/>
                  </a:cubicBezTo>
                  <a:cubicBezTo>
                    <a:pt x="41" y="7"/>
                    <a:pt x="43" y="9"/>
                    <a:pt x="44" y="10"/>
                  </a:cubicBezTo>
                  <a:cubicBezTo>
                    <a:pt x="45" y="10"/>
                    <a:pt x="45" y="11"/>
                    <a:pt x="46" y="12"/>
                  </a:cubicBezTo>
                  <a:cubicBezTo>
                    <a:pt x="48" y="15"/>
                    <a:pt x="50" y="17"/>
                    <a:pt x="52" y="20"/>
                  </a:cubicBezTo>
                  <a:cubicBezTo>
                    <a:pt x="53" y="21"/>
                    <a:pt x="54" y="23"/>
                    <a:pt x="54" y="25"/>
                  </a:cubicBezTo>
                  <a:cubicBezTo>
                    <a:pt x="55" y="26"/>
                    <a:pt x="55" y="26"/>
                    <a:pt x="54" y="27"/>
                  </a:cubicBezTo>
                  <a:cubicBezTo>
                    <a:pt x="53" y="29"/>
                    <a:pt x="51" y="30"/>
                    <a:pt x="50" y="31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8" y="30"/>
                    <a:pt x="47" y="29"/>
                    <a:pt x="47" y="28"/>
                  </a:cubicBezTo>
                  <a:cubicBezTo>
                    <a:pt x="46" y="28"/>
                    <a:pt x="46" y="27"/>
                    <a:pt x="46" y="27"/>
                  </a:cubicBezTo>
                  <a:cubicBezTo>
                    <a:pt x="46" y="26"/>
                    <a:pt x="45" y="26"/>
                    <a:pt x="45" y="26"/>
                  </a:cubicBezTo>
                  <a:cubicBezTo>
                    <a:pt x="44" y="25"/>
                    <a:pt x="43" y="25"/>
                    <a:pt x="42" y="25"/>
                  </a:cubicBezTo>
                  <a:cubicBezTo>
                    <a:pt x="42" y="25"/>
                    <a:pt x="40" y="26"/>
                    <a:pt x="41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9"/>
                    <a:pt x="40" y="29"/>
                    <a:pt x="40" y="28"/>
                  </a:cubicBezTo>
                  <a:cubicBezTo>
                    <a:pt x="40" y="26"/>
                    <a:pt x="39" y="24"/>
                    <a:pt x="39" y="22"/>
                  </a:cubicBezTo>
                  <a:cubicBezTo>
                    <a:pt x="39" y="21"/>
                    <a:pt x="39" y="21"/>
                    <a:pt x="38" y="20"/>
                  </a:cubicBezTo>
                  <a:cubicBezTo>
                    <a:pt x="37" y="19"/>
                    <a:pt x="36" y="19"/>
                    <a:pt x="35" y="20"/>
                  </a:cubicBezTo>
                  <a:cubicBezTo>
                    <a:pt x="35" y="20"/>
                    <a:pt x="34" y="20"/>
                    <a:pt x="34" y="19"/>
                  </a:cubicBezTo>
                  <a:cubicBezTo>
                    <a:pt x="34" y="18"/>
                    <a:pt x="33" y="17"/>
                    <a:pt x="32" y="16"/>
                  </a:cubicBezTo>
                  <a:cubicBezTo>
                    <a:pt x="31" y="15"/>
                    <a:pt x="29" y="15"/>
                    <a:pt x="28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7" y="17"/>
                    <a:pt x="28" y="18"/>
                    <a:pt x="28" y="19"/>
                  </a:cubicBezTo>
                  <a:cubicBezTo>
                    <a:pt x="29" y="20"/>
                    <a:pt x="30" y="21"/>
                    <a:pt x="30" y="22"/>
                  </a:cubicBezTo>
                  <a:cubicBezTo>
                    <a:pt x="30" y="23"/>
                    <a:pt x="30" y="24"/>
                    <a:pt x="30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7" y="23"/>
                    <a:pt x="27" y="24"/>
                    <a:pt x="27" y="24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8"/>
                    <a:pt x="28" y="28"/>
                    <a:pt x="29" y="28"/>
                  </a:cubicBezTo>
                  <a:cubicBezTo>
                    <a:pt x="29" y="29"/>
                    <a:pt x="30" y="29"/>
                    <a:pt x="31" y="28"/>
                  </a:cubicBezTo>
                  <a:cubicBezTo>
                    <a:pt x="31" y="28"/>
                    <a:pt x="32" y="29"/>
                    <a:pt x="32" y="29"/>
                  </a:cubicBezTo>
                  <a:cubicBezTo>
                    <a:pt x="33" y="31"/>
                    <a:pt x="33" y="33"/>
                    <a:pt x="34" y="35"/>
                  </a:cubicBezTo>
                  <a:cubicBezTo>
                    <a:pt x="34" y="35"/>
                    <a:pt x="35" y="36"/>
                    <a:pt x="36" y="36"/>
                  </a:cubicBezTo>
                  <a:cubicBezTo>
                    <a:pt x="37" y="35"/>
                    <a:pt x="37" y="35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39" y="36"/>
                    <a:pt x="40" y="38"/>
                    <a:pt x="40" y="39"/>
                  </a:cubicBezTo>
                  <a:cubicBezTo>
                    <a:pt x="41" y="39"/>
                    <a:pt x="41" y="40"/>
                    <a:pt x="41" y="40"/>
                  </a:cubicBezTo>
                  <a:cubicBezTo>
                    <a:pt x="41" y="40"/>
                    <a:pt x="42" y="40"/>
                    <a:pt x="42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4" y="39"/>
                    <a:pt x="44" y="38"/>
                    <a:pt x="44" y="38"/>
                  </a:cubicBezTo>
                  <a:cubicBezTo>
                    <a:pt x="45" y="36"/>
                    <a:pt x="45" y="35"/>
                    <a:pt x="45" y="34"/>
                  </a:cubicBezTo>
                  <a:cubicBezTo>
                    <a:pt x="46" y="33"/>
                    <a:pt x="46" y="33"/>
                    <a:pt x="47" y="33"/>
                  </a:cubicBezTo>
                  <a:cubicBezTo>
                    <a:pt x="48" y="34"/>
                    <a:pt x="49" y="35"/>
                    <a:pt x="50" y="36"/>
                  </a:cubicBezTo>
                  <a:cubicBezTo>
                    <a:pt x="53" y="38"/>
                    <a:pt x="56" y="39"/>
                    <a:pt x="58" y="41"/>
                  </a:cubicBezTo>
                  <a:cubicBezTo>
                    <a:pt x="59" y="41"/>
                    <a:pt x="60" y="42"/>
                    <a:pt x="60" y="42"/>
                  </a:cubicBezTo>
                  <a:cubicBezTo>
                    <a:pt x="60" y="42"/>
                    <a:pt x="61" y="42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0" y="40"/>
                    <a:pt x="60" y="40"/>
                  </a:cubicBezTo>
                  <a:cubicBezTo>
                    <a:pt x="59" y="39"/>
                    <a:pt x="54" y="36"/>
                    <a:pt x="53" y="35"/>
                  </a:cubicBezTo>
                  <a:cubicBezTo>
                    <a:pt x="53" y="35"/>
                    <a:pt x="53" y="34"/>
                    <a:pt x="52" y="34"/>
                  </a:cubicBezTo>
                  <a:cubicBezTo>
                    <a:pt x="52" y="33"/>
                    <a:pt x="51" y="33"/>
                    <a:pt x="50" y="32"/>
                  </a:cubicBezTo>
                  <a:cubicBezTo>
                    <a:pt x="50" y="32"/>
                    <a:pt x="50" y="32"/>
                    <a:pt x="50" y="31"/>
                  </a:cubicBezTo>
                  <a:cubicBezTo>
                    <a:pt x="51" y="31"/>
                    <a:pt x="51" y="31"/>
                    <a:pt x="52" y="31"/>
                  </a:cubicBezTo>
                  <a:cubicBezTo>
                    <a:pt x="52" y="31"/>
                    <a:pt x="52" y="30"/>
                    <a:pt x="53" y="31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4" y="31"/>
                    <a:pt x="54" y="32"/>
                  </a:cubicBezTo>
                  <a:cubicBezTo>
                    <a:pt x="53" y="32"/>
                    <a:pt x="54" y="32"/>
                    <a:pt x="54" y="32"/>
                  </a:cubicBezTo>
                  <a:cubicBezTo>
                    <a:pt x="56" y="32"/>
                    <a:pt x="57" y="32"/>
                    <a:pt x="58" y="31"/>
                  </a:cubicBezTo>
                  <a:cubicBezTo>
                    <a:pt x="59" y="30"/>
                    <a:pt x="60" y="28"/>
                    <a:pt x="60" y="27"/>
                  </a:cubicBezTo>
                  <a:cubicBezTo>
                    <a:pt x="59" y="25"/>
                    <a:pt x="59" y="24"/>
                    <a:pt x="59" y="22"/>
                  </a:cubicBezTo>
                  <a:cubicBezTo>
                    <a:pt x="58" y="21"/>
                    <a:pt x="57" y="20"/>
                    <a:pt x="56" y="18"/>
                  </a:cubicBezTo>
                  <a:cubicBezTo>
                    <a:pt x="55" y="16"/>
                    <a:pt x="53" y="14"/>
                    <a:pt x="52" y="12"/>
                  </a:cubicBezTo>
                  <a:cubicBezTo>
                    <a:pt x="51" y="11"/>
                    <a:pt x="50" y="10"/>
                    <a:pt x="49" y="8"/>
                  </a:cubicBezTo>
                  <a:cubicBezTo>
                    <a:pt x="47" y="7"/>
                    <a:pt x="46" y="6"/>
                    <a:pt x="45" y="5"/>
                  </a:cubicBezTo>
                  <a:cubicBezTo>
                    <a:pt x="44" y="4"/>
                    <a:pt x="43" y="4"/>
                    <a:pt x="43" y="3"/>
                  </a:cubicBezTo>
                  <a:cubicBezTo>
                    <a:pt x="41" y="2"/>
                    <a:pt x="39" y="1"/>
                    <a:pt x="37" y="1"/>
                  </a:cubicBezTo>
                  <a:cubicBezTo>
                    <a:pt x="34" y="0"/>
                    <a:pt x="32" y="1"/>
                    <a:pt x="30" y="3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0" name="íSḷîḍè">
              <a:extLst>
                <a:ext uri="{FF2B5EF4-FFF2-40B4-BE49-F238E27FC236}">
                  <a16:creationId xmlns:a16="http://schemas.microsoft.com/office/drawing/2014/main" id="{D48F2334-DF91-B37B-66C4-34A12B768FC9}"/>
                </a:ext>
              </a:extLst>
            </p:cNvPr>
            <p:cNvSpPr/>
            <p:nvPr/>
          </p:nvSpPr>
          <p:spPr bwMode="auto">
            <a:xfrm>
              <a:off x="2443163" y="2686051"/>
              <a:ext cx="158750" cy="206375"/>
            </a:xfrm>
            <a:custGeom>
              <a:avLst/>
              <a:gdLst>
                <a:gd name="T0" fmla="*/ 25 w 44"/>
                <a:gd name="T1" fmla="*/ 1 h 57"/>
                <a:gd name="T2" fmla="*/ 20 w 44"/>
                <a:gd name="T3" fmla="*/ 7 h 57"/>
                <a:gd name="T4" fmla="*/ 7 w 44"/>
                <a:gd name="T5" fmla="*/ 27 h 57"/>
                <a:gd name="T6" fmla="*/ 2 w 44"/>
                <a:gd name="T7" fmla="*/ 36 h 57"/>
                <a:gd name="T8" fmla="*/ 1 w 44"/>
                <a:gd name="T9" fmla="*/ 41 h 57"/>
                <a:gd name="T10" fmla="*/ 5 w 44"/>
                <a:gd name="T11" fmla="*/ 42 h 57"/>
                <a:gd name="T12" fmla="*/ 12 w 44"/>
                <a:gd name="T13" fmla="*/ 28 h 57"/>
                <a:gd name="T14" fmla="*/ 16 w 44"/>
                <a:gd name="T15" fmla="*/ 21 h 57"/>
                <a:gd name="T16" fmla="*/ 17 w 44"/>
                <a:gd name="T17" fmla="*/ 22 h 57"/>
                <a:gd name="T18" fmla="*/ 17 w 44"/>
                <a:gd name="T19" fmla="*/ 40 h 57"/>
                <a:gd name="T20" fmla="*/ 22 w 44"/>
                <a:gd name="T21" fmla="*/ 43 h 57"/>
                <a:gd name="T22" fmla="*/ 22 w 44"/>
                <a:gd name="T23" fmla="*/ 39 h 57"/>
                <a:gd name="T24" fmla="*/ 22 w 44"/>
                <a:gd name="T25" fmla="*/ 37 h 57"/>
                <a:gd name="T26" fmla="*/ 21 w 44"/>
                <a:gd name="T27" fmla="*/ 33 h 57"/>
                <a:gd name="T28" fmla="*/ 26 w 44"/>
                <a:gd name="T29" fmla="*/ 23 h 57"/>
                <a:gd name="T30" fmla="*/ 27 w 44"/>
                <a:gd name="T31" fmla="*/ 23 h 57"/>
                <a:gd name="T32" fmla="*/ 23 w 44"/>
                <a:gd name="T33" fmla="*/ 35 h 57"/>
                <a:gd name="T34" fmla="*/ 26 w 44"/>
                <a:gd name="T35" fmla="*/ 40 h 57"/>
                <a:gd name="T36" fmla="*/ 27 w 44"/>
                <a:gd name="T37" fmla="*/ 40 h 57"/>
                <a:gd name="T38" fmla="*/ 30 w 44"/>
                <a:gd name="T39" fmla="*/ 45 h 57"/>
                <a:gd name="T40" fmla="*/ 25 w 44"/>
                <a:gd name="T41" fmla="*/ 51 h 57"/>
                <a:gd name="T42" fmla="*/ 24 w 44"/>
                <a:gd name="T43" fmla="*/ 54 h 57"/>
                <a:gd name="T44" fmla="*/ 28 w 44"/>
                <a:gd name="T45" fmla="*/ 57 h 57"/>
                <a:gd name="T46" fmla="*/ 31 w 44"/>
                <a:gd name="T47" fmla="*/ 51 h 57"/>
                <a:gd name="T48" fmla="*/ 33 w 44"/>
                <a:gd name="T49" fmla="*/ 51 h 57"/>
                <a:gd name="T50" fmla="*/ 35 w 44"/>
                <a:gd name="T51" fmla="*/ 54 h 57"/>
                <a:gd name="T52" fmla="*/ 38 w 44"/>
                <a:gd name="T53" fmla="*/ 53 h 57"/>
                <a:gd name="T54" fmla="*/ 39 w 44"/>
                <a:gd name="T55" fmla="*/ 52 h 57"/>
                <a:gd name="T56" fmla="*/ 39 w 44"/>
                <a:gd name="T57" fmla="*/ 49 h 57"/>
                <a:gd name="T58" fmla="*/ 36 w 44"/>
                <a:gd name="T59" fmla="*/ 44 h 57"/>
                <a:gd name="T60" fmla="*/ 40 w 44"/>
                <a:gd name="T61" fmla="*/ 40 h 57"/>
                <a:gd name="T62" fmla="*/ 40 w 44"/>
                <a:gd name="T63" fmla="*/ 44 h 57"/>
                <a:gd name="T64" fmla="*/ 40 w 44"/>
                <a:gd name="T65" fmla="*/ 44 h 57"/>
                <a:gd name="T66" fmla="*/ 42 w 44"/>
                <a:gd name="T67" fmla="*/ 42 h 57"/>
                <a:gd name="T68" fmla="*/ 40 w 44"/>
                <a:gd name="T69" fmla="*/ 35 h 57"/>
                <a:gd name="T70" fmla="*/ 33 w 44"/>
                <a:gd name="T71" fmla="*/ 40 h 57"/>
                <a:gd name="T72" fmla="*/ 30 w 44"/>
                <a:gd name="T73" fmla="*/ 36 h 57"/>
                <a:gd name="T74" fmla="*/ 32 w 44"/>
                <a:gd name="T75" fmla="*/ 32 h 57"/>
                <a:gd name="T76" fmla="*/ 29 w 44"/>
                <a:gd name="T77" fmla="*/ 27 h 57"/>
                <a:gd name="T78" fmla="*/ 28 w 44"/>
                <a:gd name="T79" fmla="*/ 21 h 57"/>
                <a:gd name="T80" fmla="*/ 23 w 44"/>
                <a:gd name="T81" fmla="*/ 20 h 57"/>
                <a:gd name="T82" fmla="*/ 19 w 44"/>
                <a:gd name="T83" fmla="*/ 28 h 57"/>
                <a:gd name="T84" fmla="*/ 18 w 44"/>
                <a:gd name="T85" fmla="*/ 33 h 57"/>
                <a:gd name="T86" fmla="*/ 17 w 44"/>
                <a:gd name="T87" fmla="*/ 33 h 57"/>
                <a:gd name="T88" fmla="*/ 17 w 44"/>
                <a:gd name="T89" fmla="*/ 27 h 57"/>
                <a:gd name="T90" fmla="*/ 20 w 44"/>
                <a:gd name="T91" fmla="*/ 18 h 57"/>
                <a:gd name="T92" fmla="*/ 26 w 44"/>
                <a:gd name="T93" fmla="*/ 11 h 57"/>
                <a:gd name="T94" fmla="*/ 32 w 44"/>
                <a:gd name="T95" fmla="*/ 6 h 57"/>
                <a:gd name="T96" fmla="*/ 30 w 44"/>
                <a:gd name="T97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4" h="57">
                  <a:moveTo>
                    <a:pt x="30" y="1"/>
                  </a:moveTo>
                  <a:cubicBezTo>
                    <a:pt x="29" y="0"/>
                    <a:pt x="27" y="0"/>
                    <a:pt x="25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3" y="4"/>
                    <a:pt x="22" y="6"/>
                    <a:pt x="20" y="7"/>
                  </a:cubicBezTo>
                  <a:cubicBezTo>
                    <a:pt x="19" y="9"/>
                    <a:pt x="18" y="11"/>
                    <a:pt x="16" y="13"/>
                  </a:cubicBezTo>
                  <a:cubicBezTo>
                    <a:pt x="15" y="14"/>
                    <a:pt x="8" y="26"/>
                    <a:pt x="7" y="27"/>
                  </a:cubicBezTo>
                  <a:cubicBezTo>
                    <a:pt x="6" y="29"/>
                    <a:pt x="5" y="30"/>
                    <a:pt x="4" y="32"/>
                  </a:cubicBezTo>
                  <a:cubicBezTo>
                    <a:pt x="4" y="33"/>
                    <a:pt x="3" y="35"/>
                    <a:pt x="2" y="36"/>
                  </a:cubicBezTo>
                  <a:cubicBezTo>
                    <a:pt x="1" y="37"/>
                    <a:pt x="1" y="39"/>
                    <a:pt x="0" y="40"/>
                  </a:cubicBezTo>
                  <a:cubicBezTo>
                    <a:pt x="0" y="41"/>
                    <a:pt x="0" y="41"/>
                    <a:pt x="1" y="41"/>
                  </a:cubicBezTo>
                  <a:cubicBezTo>
                    <a:pt x="1" y="42"/>
                    <a:pt x="2" y="43"/>
                    <a:pt x="3" y="43"/>
                  </a:cubicBezTo>
                  <a:cubicBezTo>
                    <a:pt x="4" y="43"/>
                    <a:pt x="5" y="43"/>
                    <a:pt x="5" y="42"/>
                  </a:cubicBezTo>
                  <a:cubicBezTo>
                    <a:pt x="6" y="40"/>
                    <a:pt x="7" y="38"/>
                    <a:pt x="8" y="36"/>
                  </a:cubicBezTo>
                  <a:cubicBezTo>
                    <a:pt x="10" y="33"/>
                    <a:pt x="10" y="31"/>
                    <a:pt x="12" y="28"/>
                  </a:cubicBezTo>
                  <a:cubicBezTo>
                    <a:pt x="12" y="28"/>
                    <a:pt x="12" y="27"/>
                    <a:pt x="13" y="27"/>
                  </a:cubicBezTo>
                  <a:cubicBezTo>
                    <a:pt x="14" y="25"/>
                    <a:pt x="15" y="23"/>
                    <a:pt x="16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1"/>
                    <a:pt x="17" y="22"/>
                    <a:pt x="17" y="22"/>
                  </a:cubicBezTo>
                  <a:cubicBezTo>
                    <a:pt x="16" y="26"/>
                    <a:pt x="15" y="30"/>
                    <a:pt x="15" y="34"/>
                  </a:cubicBezTo>
                  <a:cubicBezTo>
                    <a:pt x="15" y="36"/>
                    <a:pt x="16" y="38"/>
                    <a:pt x="17" y="40"/>
                  </a:cubicBezTo>
                  <a:cubicBezTo>
                    <a:pt x="18" y="41"/>
                    <a:pt x="18" y="43"/>
                    <a:pt x="20" y="43"/>
                  </a:cubicBezTo>
                  <a:cubicBezTo>
                    <a:pt x="20" y="44"/>
                    <a:pt x="21" y="44"/>
                    <a:pt x="22" y="43"/>
                  </a:cubicBezTo>
                  <a:cubicBezTo>
                    <a:pt x="22" y="43"/>
                    <a:pt x="22" y="43"/>
                    <a:pt x="22" y="42"/>
                  </a:cubicBezTo>
                  <a:cubicBezTo>
                    <a:pt x="22" y="41"/>
                    <a:pt x="22" y="40"/>
                    <a:pt x="22" y="39"/>
                  </a:cubicBezTo>
                  <a:cubicBezTo>
                    <a:pt x="22" y="39"/>
                    <a:pt x="22" y="39"/>
                    <a:pt x="22" y="38"/>
                  </a:cubicBezTo>
                  <a:cubicBezTo>
                    <a:pt x="22" y="38"/>
                    <a:pt x="22" y="37"/>
                    <a:pt x="22" y="37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1" y="34"/>
                    <a:pt x="21" y="33"/>
                  </a:cubicBezTo>
                  <a:cubicBezTo>
                    <a:pt x="22" y="31"/>
                    <a:pt x="22" y="28"/>
                    <a:pt x="24" y="26"/>
                  </a:cubicBezTo>
                  <a:cubicBezTo>
                    <a:pt x="24" y="25"/>
                    <a:pt x="25" y="23"/>
                    <a:pt x="26" y="23"/>
                  </a:cubicBezTo>
                  <a:cubicBezTo>
                    <a:pt x="26" y="22"/>
                    <a:pt x="27" y="22"/>
                    <a:pt x="27" y="22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7" y="26"/>
                    <a:pt x="26" y="28"/>
                    <a:pt x="25" y="30"/>
                  </a:cubicBezTo>
                  <a:cubicBezTo>
                    <a:pt x="25" y="32"/>
                    <a:pt x="24" y="33"/>
                    <a:pt x="23" y="35"/>
                  </a:cubicBezTo>
                  <a:cubicBezTo>
                    <a:pt x="22" y="37"/>
                    <a:pt x="23" y="38"/>
                    <a:pt x="24" y="40"/>
                  </a:cubicBezTo>
                  <a:cubicBezTo>
                    <a:pt x="24" y="41"/>
                    <a:pt x="26" y="41"/>
                    <a:pt x="26" y="40"/>
                  </a:cubicBezTo>
                  <a:cubicBezTo>
                    <a:pt x="26" y="40"/>
                    <a:pt x="26" y="40"/>
                    <a:pt x="27" y="40"/>
                  </a:cubicBezTo>
                  <a:cubicBezTo>
                    <a:pt x="27" y="39"/>
                    <a:pt x="27" y="39"/>
                    <a:pt x="27" y="40"/>
                  </a:cubicBezTo>
                  <a:cubicBezTo>
                    <a:pt x="28" y="41"/>
                    <a:pt x="29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7"/>
                    <a:pt x="28" y="49"/>
                    <a:pt x="27" y="51"/>
                  </a:cubicBezTo>
                  <a:cubicBezTo>
                    <a:pt x="27" y="51"/>
                    <a:pt x="26" y="52"/>
                    <a:pt x="25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4" y="52"/>
                    <a:pt x="24" y="53"/>
                    <a:pt x="24" y="54"/>
                  </a:cubicBezTo>
                  <a:cubicBezTo>
                    <a:pt x="25" y="54"/>
                    <a:pt x="25" y="54"/>
                    <a:pt x="25" y="55"/>
                  </a:cubicBezTo>
                  <a:cubicBezTo>
                    <a:pt x="25" y="56"/>
                    <a:pt x="26" y="57"/>
                    <a:pt x="28" y="57"/>
                  </a:cubicBezTo>
                  <a:cubicBezTo>
                    <a:pt x="29" y="57"/>
                    <a:pt x="29" y="57"/>
                    <a:pt x="30" y="55"/>
                  </a:cubicBezTo>
                  <a:cubicBezTo>
                    <a:pt x="31" y="54"/>
                    <a:pt x="31" y="52"/>
                    <a:pt x="31" y="51"/>
                  </a:cubicBezTo>
                  <a:cubicBezTo>
                    <a:pt x="32" y="51"/>
                    <a:pt x="32" y="50"/>
                    <a:pt x="32" y="50"/>
                  </a:cubicBezTo>
                  <a:cubicBezTo>
                    <a:pt x="32" y="50"/>
                    <a:pt x="33" y="51"/>
                    <a:pt x="33" y="51"/>
                  </a:cubicBezTo>
                  <a:cubicBezTo>
                    <a:pt x="33" y="52"/>
                    <a:pt x="34" y="53"/>
                    <a:pt x="35" y="53"/>
                  </a:cubicBezTo>
                  <a:cubicBezTo>
                    <a:pt x="35" y="53"/>
                    <a:pt x="35" y="54"/>
                    <a:pt x="35" y="54"/>
                  </a:cubicBezTo>
                  <a:cubicBezTo>
                    <a:pt x="36" y="54"/>
                    <a:pt x="37" y="54"/>
                    <a:pt x="37" y="54"/>
                  </a:cubicBezTo>
                  <a:cubicBezTo>
                    <a:pt x="38" y="54"/>
                    <a:pt x="38" y="54"/>
                    <a:pt x="38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3"/>
                    <a:pt x="39" y="52"/>
                    <a:pt x="39" y="52"/>
                  </a:cubicBezTo>
                  <a:cubicBezTo>
                    <a:pt x="39" y="51"/>
                    <a:pt x="39" y="51"/>
                    <a:pt x="39" y="50"/>
                  </a:cubicBezTo>
                  <a:cubicBezTo>
                    <a:pt x="40" y="50"/>
                    <a:pt x="39" y="49"/>
                    <a:pt x="39" y="49"/>
                  </a:cubicBezTo>
                  <a:cubicBezTo>
                    <a:pt x="38" y="48"/>
                    <a:pt x="37" y="47"/>
                    <a:pt x="36" y="45"/>
                  </a:cubicBezTo>
                  <a:cubicBezTo>
                    <a:pt x="35" y="45"/>
                    <a:pt x="35" y="44"/>
                    <a:pt x="36" y="44"/>
                  </a:cubicBezTo>
                  <a:cubicBezTo>
                    <a:pt x="37" y="42"/>
                    <a:pt x="38" y="41"/>
                    <a:pt x="39" y="41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0"/>
                    <a:pt x="41" y="41"/>
                    <a:pt x="41" y="42"/>
                  </a:cubicBezTo>
                  <a:cubicBezTo>
                    <a:pt x="40" y="42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1" y="43"/>
                    <a:pt x="42" y="43"/>
                    <a:pt x="42" y="42"/>
                  </a:cubicBezTo>
                  <a:cubicBezTo>
                    <a:pt x="43" y="41"/>
                    <a:pt x="44" y="40"/>
                    <a:pt x="44" y="38"/>
                  </a:cubicBezTo>
                  <a:cubicBezTo>
                    <a:pt x="44" y="36"/>
                    <a:pt x="42" y="35"/>
                    <a:pt x="40" y="35"/>
                  </a:cubicBezTo>
                  <a:cubicBezTo>
                    <a:pt x="39" y="35"/>
                    <a:pt x="37" y="36"/>
                    <a:pt x="36" y="37"/>
                  </a:cubicBezTo>
                  <a:cubicBezTo>
                    <a:pt x="35" y="38"/>
                    <a:pt x="34" y="39"/>
                    <a:pt x="33" y="40"/>
                  </a:cubicBezTo>
                  <a:cubicBezTo>
                    <a:pt x="33" y="41"/>
                    <a:pt x="32" y="41"/>
                    <a:pt x="32" y="40"/>
                  </a:cubicBezTo>
                  <a:cubicBezTo>
                    <a:pt x="32" y="39"/>
                    <a:pt x="31" y="37"/>
                    <a:pt x="30" y="36"/>
                  </a:cubicBezTo>
                  <a:cubicBezTo>
                    <a:pt x="30" y="36"/>
                    <a:pt x="30" y="35"/>
                    <a:pt x="31" y="35"/>
                  </a:cubicBezTo>
                  <a:cubicBezTo>
                    <a:pt x="31" y="34"/>
                    <a:pt x="32" y="33"/>
                    <a:pt x="32" y="32"/>
                  </a:cubicBezTo>
                  <a:cubicBezTo>
                    <a:pt x="31" y="31"/>
                    <a:pt x="31" y="30"/>
                    <a:pt x="30" y="29"/>
                  </a:cubicBezTo>
                  <a:cubicBezTo>
                    <a:pt x="29" y="29"/>
                    <a:pt x="29" y="28"/>
                    <a:pt x="29" y="27"/>
                  </a:cubicBezTo>
                  <a:cubicBezTo>
                    <a:pt x="29" y="26"/>
                    <a:pt x="29" y="25"/>
                    <a:pt x="29" y="24"/>
                  </a:cubicBezTo>
                  <a:cubicBezTo>
                    <a:pt x="28" y="23"/>
                    <a:pt x="28" y="22"/>
                    <a:pt x="28" y="21"/>
                  </a:cubicBezTo>
                  <a:cubicBezTo>
                    <a:pt x="28" y="20"/>
                    <a:pt x="27" y="19"/>
                    <a:pt x="26" y="19"/>
                  </a:cubicBezTo>
                  <a:cubicBezTo>
                    <a:pt x="25" y="20"/>
                    <a:pt x="24" y="20"/>
                    <a:pt x="23" y="20"/>
                  </a:cubicBezTo>
                  <a:cubicBezTo>
                    <a:pt x="22" y="21"/>
                    <a:pt x="21" y="23"/>
                    <a:pt x="21" y="24"/>
                  </a:cubicBezTo>
                  <a:cubicBezTo>
                    <a:pt x="20" y="25"/>
                    <a:pt x="20" y="27"/>
                    <a:pt x="19" y="28"/>
                  </a:cubicBezTo>
                  <a:cubicBezTo>
                    <a:pt x="19" y="29"/>
                    <a:pt x="18" y="29"/>
                    <a:pt x="18" y="30"/>
                  </a:cubicBezTo>
                  <a:cubicBezTo>
                    <a:pt x="18" y="31"/>
                    <a:pt x="18" y="32"/>
                    <a:pt x="18" y="33"/>
                  </a:cubicBezTo>
                  <a:cubicBezTo>
                    <a:pt x="18" y="33"/>
                    <a:pt x="1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17" y="32"/>
                    <a:pt x="17" y="31"/>
                    <a:pt x="17" y="31"/>
                  </a:cubicBezTo>
                  <a:cubicBezTo>
                    <a:pt x="17" y="29"/>
                    <a:pt x="17" y="28"/>
                    <a:pt x="17" y="27"/>
                  </a:cubicBezTo>
                  <a:cubicBezTo>
                    <a:pt x="17" y="25"/>
                    <a:pt x="17" y="23"/>
                    <a:pt x="18" y="21"/>
                  </a:cubicBezTo>
                  <a:cubicBezTo>
                    <a:pt x="18" y="20"/>
                    <a:pt x="19" y="19"/>
                    <a:pt x="20" y="18"/>
                  </a:cubicBezTo>
                  <a:cubicBezTo>
                    <a:pt x="21" y="17"/>
                    <a:pt x="21" y="16"/>
                    <a:pt x="22" y="15"/>
                  </a:cubicBezTo>
                  <a:cubicBezTo>
                    <a:pt x="23" y="14"/>
                    <a:pt x="25" y="12"/>
                    <a:pt x="26" y="11"/>
                  </a:cubicBezTo>
                  <a:cubicBezTo>
                    <a:pt x="27" y="10"/>
                    <a:pt x="28" y="9"/>
                    <a:pt x="29" y="8"/>
                  </a:cubicBezTo>
                  <a:cubicBezTo>
                    <a:pt x="30" y="7"/>
                    <a:pt x="31" y="7"/>
                    <a:pt x="32" y="6"/>
                  </a:cubicBezTo>
                  <a:cubicBezTo>
                    <a:pt x="32" y="5"/>
                    <a:pt x="32" y="5"/>
                    <a:pt x="32" y="4"/>
                  </a:cubicBezTo>
                  <a:cubicBezTo>
                    <a:pt x="32" y="3"/>
                    <a:pt x="31" y="2"/>
                    <a:pt x="30" y="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1" name="ïşļîḍè">
              <a:extLst>
                <a:ext uri="{FF2B5EF4-FFF2-40B4-BE49-F238E27FC236}">
                  <a16:creationId xmlns:a16="http://schemas.microsoft.com/office/drawing/2014/main" id="{3E35E65F-DBEA-8841-627B-D4E90DE785E3}"/>
                </a:ext>
              </a:extLst>
            </p:cNvPr>
            <p:cNvSpPr/>
            <p:nvPr/>
          </p:nvSpPr>
          <p:spPr bwMode="auto">
            <a:xfrm>
              <a:off x="2451100" y="2693988"/>
              <a:ext cx="49213" cy="50800"/>
            </a:xfrm>
            <a:custGeom>
              <a:avLst/>
              <a:gdLst>
                <a:gd name="T0" fmla="*/ 4 w 14"/>
                <a:gd name="T1" fmla="*/ 8 h 14"/>
                <a:gd name="T2" fmla="*/ 5 w 14"/>
                <a:gd name="T3" fmla="*/ 9 h 14"/>
                <a:gd name="T4" fmla="*/ 6 w 14"/>
                <a:gd name="T5" fmla="*/ 10 h 14"/>
                <a:gd name="T6" fmla="*/ 6 w 14"/>
                <a:gd name="T7" fmla="*/ 12 h 14"/>
                <a:gd name="T8" fmla="*/ 6 w 14"/>
                <a:gd name="T9" fmla="*/ 14 h 14"/>
                <a:gd name="T10" fmla="*/ 7 w 14"/>
                <a:gd name="T11" fmla="*/ 12 h 14"/>
                <a:gd name="T12" fmla="*/ 9 w 14"/>
                <a:gd name="T13" fmla="*/ 10 h 14"/>
                <a:gd name="T14" fmla="*/ 12 w 14"/>
                <a:gd name="T15" fmla="*/ 8 h 14"/>
                <a:gd name="T16" fmla="*/ 13 w 14"/>
                <a:gd name="T17" fmla="*/ 5 h 14"/>
                <a:gd name="T18" fmla="*/ 10 w 14"/>
                <a:gd name="T19" fmla="*/ 1 h 14"/>
                <a:gd name="T20" fmla="*/ 7 w 14"/>
                <a:gd name="T21" fmla="*/ 0 h 14"/>
                <a:gd name="T22" fmla="*/ 3 w 14"/>
                <a:gd name="T23" fmla="*/ 0 h 14"/>
                <a:gd name="T24" fmla="*/ 1 w 14"/>
                <a:gd name="T25" fmla="*/ 2 h 14"/>
                <a:gd name="T26" fmla="*/ 1 w 14"/>
                <a:gd name="T27" fmla="*/ 4 h 14"/>
                <a:gd name="T28" fmla="*/ 3 w 14"/>
                <a:gd name="T29" fmla="*/ 8 h 14"/>
                <a:gd name="T30" fmla="*/ 4 w 14"/>
                <a:gd name="T31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4">
                  <a:moveTo>
                    <a:pt x="4" y="8"/>
                  </a:moveTo>
                  <a:cubicBezTo>
                    <a:pt x="4" y="9"/>
                    <a:pt x="5" y="9"/>
                    <a:pt x="5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2"/>
                  </a:cubicBezTo>
                  <a:cubicBezTo>
                    <a:pt x="6" y="12"/>
                    <a:pt x="6" y="14"/>
                    <a:pt x="6" y="14"/>
                  </a:cubicBezTo>
                  <a:cubicBezTo>
                    <a:pt x="6" y="14"/>
                    <a:pt x="7" y="12"/>
                    <a:pt x="7" y="12"/>
                  </a:cubicBezTo>
                  <a:cubicBezTo>
                    <a:pt x="7" y="11"/>
                    <a:pt x="8" y="10"/>
                    <a:pt x="9" y="10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3" y="7"/>
                    <a:pt x="14" y="6"/>
                    <a:pt x="13" y="5"/>
                  </a:cubicBezTo>
                  <a:cubicBezTo>
                    <a:pt x="13" y="3"/>
                    <a:pt x="12" y="1"/>
                    <a:pt x="10" y="1"/>
                  </a:cubicBezTo>
                  <a:cubicBezTo>
                    <a:pt x="9" y="0"/>
                    <a:pt x="8" y="0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0" y="5"/>
                    <a:pt x="1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2" name="ísḷiḋe">
              <a:extLst>
                <a:ext uri="{FF2B5EF4-FFF2-40B4-BE49-F238E27FC236}">
                  <a16:creationId xmlns:a16="http://schemas.microsoft.com/office/drawing/2014/main" id="{7E184D40-DB29-F839-0160-E97AF86850C1}"/>
                </a:ext>
              </a:extLst>
            </p:cNvPr>
            <p:cNvSpPr/>
            <p:nvPr/>
          </p:nvSpPr>
          <p:spPr bwMode="auto">
            <a:xfrm>
              <a:off x="2768600" y="2555876"/>
              <a:ext cx="119063" cy="231775"/>
            </a:xfrm>
            <a:custGeom>
              <a:avLst/>
              <a:gdLst>
                <a:gd name="T0" fmla="*/ 22 w 33"/>
                <a:gd name="T1" fmla="*/ 29 h 64"/>
                <a:gd name="T2" fmla="*/ 24 w 33"/>
                <a:gd name="T3" fmla="*/ 24 h 64"/>
                <a:gd name="T4" fmla="*/ 27 w 33"/>
                <a:gd name="T5" fmla="*/ 11 h 64"/>
                <a:gd name="T6" fmla="*/ 25 w 33"/>
                <a:gd name="T7" fmla="*/ 4 h 64"/>
                <a:gd name="T8" fmla="*/ 17 w 33"/>
                <a:gd name="T9" fmla="*/ 0 h 64"/>
                <a:gd name="T10" fmla="*/ 15 w 33"/>
                <a:gd name="T11" fmla="*/ 1 h 64"/>
                <a:gd name="T12" fmla="*/ 6 w 33"/>
                <a:gd name="T13" fmla="*/ 7 h 64"/>
                <a:gd name="T14" fmla="*/ 3 w 33"/>
                <a:gd name="T15" fmla="*/ 13 h 64"/>
                <a:gd name="T16" fmla="*/ 6 w 33"/>
                <a:gd name="T17" fmla="*/ 15 h 64"/>
                <a:gd name="T18" fmla="*/ 10 w 33"/>
                <a:gd name="T19" fmla="*/ 14 h 64"/>
                <a:gd name="T20" fmla="*/ 18 w 33"/>
                <a:gd name="T21" fmla="*/ 6 h 64"/>
                <a:gd name="T22" fmla="*/ 22 w 33"/>
                <a:gd name="T23" fmla="*/ 10 h 64"/>
                <a:gd name="T24" fmla="*/ 21 w 33"/>
                <a:gd name="T25" fmla="*/ 18 h 64"/>
                <a:gd name="T26" fmla="*/ 18 w 33"/>
                <a:gd name="T27" fmla="*/ 26 h 64"/>
                <a:gd name="T28" fmla="*/ 16 w 33"/>
                <a:gd name="T29" fmla="*/ 25 h 64"/>
                <a:gd name="T30" fmla="*/ 19 w 33"/>
                <a:gd name="T31" fmla="*/ 19 h 64"/>
                <a:gd name="T32" fmla="*/ 20 w 33"/>
                <a:gd name="T33" fmla="*/ 15 h 64"/>
                <a:gd name="T34" fmla="*/ 15 w 33"/>
                <a:gd name="T35" fmla="*/ 14 h 64"/>
                <a:gd name="T36" fmla="*/ 11 w 33"/>
                <a:gd name="T37" fmla="*/ 14 h 64"/>
                <a:gd name="T38" fmla="*/ 10 w 33"/>
                <a:gd name="T39" fmla="*/ 17 h 64"/>
                <a:gd name="T40" fmla="*/ 9 w 33"/>
                <a:gd name="T41" fmla="*/ 19 h 64"/>
                <a:gd name="T42" fmla="*/ 8 w 33"/>
                <a:gd name="T43" fmla="*/ 24 h 64"/>
                <a:gd name="T44" fmla="*/ 7 w 33"/>
                <a:gd name="T45" fmla="*/ 23 h 64"/>
                <a:gd name="T46" fmla="*/ 0 w 33"/>
                <a:gd name="T47" fmla="*/ 24 h 64"/>
                <a:gd name="T48" fmla="*/ 2 w 33"/>
                <a:gd name="T49" fmla="*/ 32 h 64"/>
                <a:gd name="T50" fmla="*/ 8 w 33"/>
                <a:gd name="T51" fmla="*/ 35 h 64"/>
                <a:gd name="T52" fmla="*/ 11 w 33"/>
                <a:gd name="T53" fmla="*/ 37 h 64"/>
                <a:gd name="T54" fmla="*/ 12 w 33"/>
                <a:gd name="T55" fmla="*/ 40 h 64"/>
                <a:gd name="T56" fmla="*/ 8 w 33"/>
                <a:gd name="T57" fmla="*/ 48 h 64"/>
                <a:gd name="T58" fmla="*/ 12 w 33"/>
                <a:gd name="T59" fmla="*/ 50 h 64"/>
                <a:gd name="T60" fmla="*/ 13 w 33"/>
                <a:gd name="T61" fmla="*/ 53 h 64"/>
                <a:gd name="T62" fmla="*/ 9 w 33"/>
                <a:gd name="T63" fmla="*/ 56 h 64"/>
                <a:gd name="T64" fmla="*/ 8 w 33"/>
                <a:gd name="T65" fmla="*/ 61 h 64"/>
                <a:gd name="T66" fmla="*/ 10 w 33"/>
                <a:gd name="T67" fmla="*/ 64 h 64"/>
                <a:gd name="T68" fmla="*/ 16 w 33"/>
                <a:gd name="T69" fmla="*/ 61 h 64"/>
                <a:gd name="T70" fmla="*/ 25 w 33"/>
                <a:gd name="T71" fmla="*/ 58 h 64"/>
                <a:gd name="T72" fmla="*/ 29 w 33"/>
                <a:gd name="T73" fmla="*/ 58 h 64"/>
                <a:gd name="T74" fmla="*/ 31 w 33"/>
                <a:gd name="T75" fmla="*/ 57 h 64"/>
                <a:gd name="T76" fmla="*/ 32 w 33"/>
                <a:gd name="T77" fmla="*/ 52 h 64"/>
                <a:gd name="T78" fmla="*/ 29 w 33"/>
                <a:gd name="T79" fmla="*/ 50 h 64"/>
                <a:gd name="T80" fmla="*/ 20 w 33"/>
                <a:gd name="T81" fmla="*/ 52 h 64"/>
                <a:gd name="T82" fmla="*/ 19 w 33"/>
                <a:gd name="T83" fmla="*/ 50 h 64"/>
                <a:gd name="T84" fmla="*/ 23 w 33"/>
                <a:gd name="T85" fmla="*/ 43 h 64"/>
                <a:gd name="T86" fmla="*/ 24 w 33"/>
                <a:gd name="T87" fmla="*/ 37 h 64"/>
                <a:gd name="T88" fmla="*/ 20 w 33"/>
                <a:gd name="T89" fmla="*/ 37 h 64"/>
                <a:gd name="T90" fmla="*/ 16 w 33"/>
                <a:gd name="T91" fmla="*/ 38 h 64"/>
                <a:gd name="T92" fmla="*/ 19 w 33"/>
                <a:gd name="T93" fmla="*/ 32 h 64"/>
                <a:gd name="T94" fmla="*/ 10 w 33"/>
                <a:gd name="T95" fmla="*/ 29 h 64"/>
                <a:gd name="T96" fmla="*/ 10 w 33"/>
                <a:gd name="T97" fmla="*/ 29 h 64"/>
                <a:gd name="T98" fmla="*/ 8 w 33"/>
                <a:gd name="T99" fmla="*/ 25 h 64"/>
                <a:gd name="T100" fmla="*/ 8 w 33"/>
                <a:gd name="T101" fmla="*/ 25 h 64"/>
                <a:gd name="T102" fmla="*/ 11 w 33"/>
                <a:gd name="T103" fmla="*/ 2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3" h="64">
                  <a:moveTo>
                    <a:pt x="19" y="32"/>
                  </a:moveTo>
                  <a:cubicBezTo>
                    <a:pt x="20" y="32"/>
                    <a:pt x="21" y="31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7"/>
                    <a:pt x="23" y="25"/>
                    <a:pt x="24" y="24"/>
                  </a:cubicBezTo>
                  <a:cubicBezTo>
                    <a:pt x="24" y="23"/>
                    <a:pt x="25" y="22"/>
                    <a:pt x="25" y="20"/>
                  </a:cubicBezTo>
                  <a:cubicBezTo>
                    <a:pt x="26" y="17"/>
                    <a:pt x="27" y="14"/>
                    <a:pt x="27" y="11"/>
                  </a:cubicBezTo>
                  <a:cubicBezTo>
                    <a:pt x="27" y="10"/>
                    <a:pt x="27" y="8"/>
                    <a:pt x="27" y="7"/>
                  </a:cubicBezTo>
                  <a:cubicBezTo>
                    <a:pt x="26" y="6"/>
                    <a:pt x="26" y="5"/>
                    <a:pt x="25" y="4"/>
                  </a:cubicBezTo>
                  <a:cubicBezTo>
                    <a:pt x="24" y="2"/>
                    <a:pt x="23" y="1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4" y="1"/>
                    <a:pt x="13" y="1"/>
                    <a:pt x="12" y="1"/>
                  </a:cubicBezTo>
                  <a:cubicBezTo>
                    <a:pt x="10" y="3"/>
                    <a:pt x="8" y="5"/>
                    <a:pt x="6" y="7"/>
                  </a:cubicBezTo>
                  <a:cubicBezTo>
                    <a:pt x="5" y="8"/>
                    <a:pt x="5" y="9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7" y="15"/>
                    <a:pt x="8" y="15"/>
                    <a:pt x="8" y="15"/>
                  </a:cubicBezTo>
                  <a:cubicBezTo>
                    <a:pt x="9" y="15"/>
                    <a:pt x="9" y="15"/>
                    <a:pt x="10" y="14"/>
                  </a:cubicBezTo>
                  <a:cubicBezTo>
                    <a:pt x="11" y="13"/>
                    <a:pt x="11" y="12"/>
                    <a:pt x="12" y="11"/>
                  </a:cubicBezTo>
                  <a:cubicBezTo>
                    <a:pt x="14" y="9"/>
                    <a:pt x="16" y="7"/>
                    <a:pt x="18" y="6"/>
                  </a:cubicBezTo>
                  <a:cubicBezTo>
                    <a:pt x="19" y="6"/>
                    <a:pt x="20" y="6"/>
                    <a:pt x="20" y="6"/>
                  </a:cubicBezTo>
                  <a:cubicBezTo>
                    <a:pt x="21" y="7"/>
                    <a:pt x="22" y="8"/>
                    <a:pt x="22" y="10"/>
                  </a:cubicBezTo>
                  <a:cubicBezTo>
                    <a:pt x="22" y="11"/>
                    <a:pt x="22" y="12"/>
                    <a:pt x="22" y="13"/>
                  </a:cubicBezTo>
                  <a:cubicBezTo>
                    <a:pt x="22" y="15"/>
                    <a:pt x="22" y="17"/>
                    <a:pt x="21" y="18"/>
                  </a:cubicBezTo>
                  <a:cubicBezTo>
                    <a:pt x="21" y="20"/>
                    <a:pt x="20" y="22"/>
                    <a:pt x="20" y="24"/>
                  </a:cubicBezTo>
                  <a:cubicBezTo>
                    <a:pt x="20" y="25"/>
                    <a:pt x="19" y="26"/>
                    <a:pt x="18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6"/>
                    <a:pt x="16" y="26"/>
                    <a:pt x="16" y="25"/>
                  </a:cubicBezTo>
                  <a:cubicBezTo>
                    <a:pt x="16" y="24"/>
                    <a:pt x="16" y="23"/>
                    <a:pt x="16" y="22"/>
                  </a:cubicBezTo>
                  <a:cubicBezTo>
                    <a:pt x="17" y="21"/>
                    <a:pt x="18" y="20"/>
                    <a:pt x="19" y="19"/>
                  </a:cubicBezTo>
                  <a:cubicBezTo>
                    <a:pt x="19" y="19"/>
                    <a:pt x="19" y="18"/>
                    <a:pt x="19" y="18"/>
                  </a:cubicBezTo>
                  <a:cubicBezTo>
                    <a:pt x="20" y="17"/>
                    <a:pt x="20" y="16"/>
                    <a:pt x="20" y="15"/>
                  </a:cubicBezTo>
                  <a:cubicBezTo>
                    <a:pt x="20" y="15"/>
                    <a:pt x="20" y="15"/>
                    <a:pt x="19" y="15"/>
                  </a:cubicBezTo>
                  <a:cubicBezTo>
                    <a:pt x="18" y="14"/>
                    <a:pt x="17" y="13"/>
                    <a:pt x="15" y="14"/>
                  </a:cubicBezTo>
                  <a:cubicBezTo>
                    <a:pt x="15" y="14"/>
                    <a:pt x="14" y="14"/>
                    <a:pt x="14" y="14"/>
                  </a:cubicBezTo>
                  <a:cubicBezTo>
                    <a:pt x="13" y="13"/>
                    <a:pt x="11" y="13"/>
                    <a:pt x="11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10" y="18"/>
                    <a:pt x="9" y="19"/>
                    <a:pt x="9" y="19"/>
                  </a:cubicBezTo>
                  <a:cubicBezTo>
                    <a:pt x="8" y="20"/>
                    <a:pt x="8" y="22"/>
                    <a:pt x="8" y="23"/>
                  </a:cubicBezTo>
                  <a:cubicBezTo>
                    <a:pt x="8" y="23"/>
                    <a:pt x="8" y="24"/>
                    <a:pt x="8" y="24"/>
                  </a:cubicBezTo>
                  <a:cubicBezTo>
                    <a:pt x="8" y="24"/>
                    <a:pt x="7" y="24"/>
                    <a:pt x="7" y="24"/>
                  </a:cubicBezTo>
                  <a:cubicBezTo>
                    <a:pt x="7" y="24"/>
                    <a:pt x="7" y="23"/>
                    <a:pt x="7" y="23"/>
                  </a:cubicBezTo>
                  <a:cubicBezTo>
                    <a:pt x="6" y="22"/>
                    <a:pt x="5" y="21"/>
                    <a:pt x="3" y="21"/>
                  </a:cubicBezTo>
                  <a:cubicBezTo>
                    <a:pt x="2" y="21"/>
                    <a:pt x="0" y="22"/>
                    <a:pt x="0" y="24"/>
                  </a:cubicBezTo>
                  <a:cubicBezTo>
                    <a:pt x="0" y="26"/>
                    <a:pt x="1" y="28"/>
                    <a:pt x="1" y="29"/>
                  </a:cubicBezTo>
                  <a:cubicBezTo>
                    <a:pt x="2" y="30"/>
                    <a:pt x="2" y="31"/>
                    <a:pt x="2" y="32"/>
                  </a:cubicBezTo>
                  <a:cubicBezTo>
                    <a:pt x="3" y="34"/>
                    <a:pt x="4" y="35"/>
                    <a:pt x="6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9" y="37"/>
                    <a:pt x="10" y="37"/>
                    <a:pt x="11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9"/>
                    <a:pt x="12" y="39"/>
                    <a:pt x="12" y="40"/>
                  </a:cubicBezTo>
                  <a:cubicBezTo>
                    <a:pt x="12" y="42"/>
                    <a:pt x="12" y="43"/>
                    <a:pt x="11" y="44"/>
                  </a:cubicBezTo>
                  <a:cubicBezTo>
                    <a:pt x="10" y="45"/>
                    <a:pt x="9" y="47"/>
                    <a:pt x="8" y="48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50"/>
                    <a:pt x="11" y="50"/>
                    <a:pt x="12" y="50"/>
                  </a:cubicBezTo>
                  <a:cubicBezTo>
                    <a:pt x="13" y="50"/>
                    <a:pt x="13" y="50"/>
                    <a:pt x="13" y="51"/>
                  </a:cubicBezTo>
                  <a:cubicBezTo>
                    <a:pt x="13" y="51"/>
                    <a:pt x="13" y="52"/>
                    <a:pt x="13" y="53"/>
                  </a:cubicBezTo>
                  <a:cubicBezTo>
                    <a:pt x="13" y="54"/>
                    <a:pt x="13" y="54"/>
                    <a:pt x="12" y="54"/>
                  </a:cubicBezTo>
                  <a:cubicBezTo>
                    <a:pt x="11" y="55"/>
                    <a:pt x="10" y="55"/>
                    <a:pt x="9" y="56"/>
                  </a:cubicBezTo>
                  <a:cubicBezTo>
                    <a:pt x="9" y="57"/>
                    <a:pt x="9" y="57"/>
                    <a:pt x="8" y="57"/>
                  </a:cubicBezTo>
                  <a:cubicBezTo>
                    <a:pt x="7" y="59"/>
                    <a:pt x="7" y="60"/>
                    <a:pt x="8" y="61"/>
                  </a:cubicBezTo>
                  <a:cubicBezTo>
                    <a:pt x="8" y="62"/>
                    <a:pt x="8" y="62"/>
                    <a:pt x="9" y="62"/>
                  </a:cubicBezTo>
                  <a:cubicBezTo>
                    <a:pt x="9" y="63"/>
                    <a:pt x="10" y="64"/>
                    <a:pt x="10" y="64"/>
                  </a:cubicBezTo>
                  <a:cubicBezTo>
                    <a:pt x="11" y="63"/>
                    <a:pt x="12" y="63"/>
                    <a:pt x="13" y="63"/>
                  </a:cubicBezTo>
                  <a:cubicBezTo>
                    <a:pt x="14" y="62"/>
                    <a:pt x="15" y="61"/>
                    <a:pt x="16" y="61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1" y="58"/>
                    <a:pt x="23" y="58"/>
                    <a:pt x="25" y="58"/>
                  </a:cubicBezTo>
                  <a:cubicBezTo>
                    <a:pt x="26" y="58"/>
                    <a:pt x="27" y="58"/>
                    <a:pt x="28" y="58"/>
                  </a:cubicBezTo>
                  <a:cubicBezTo>
                    <a:pt x="28" y="58"/>
                    <a:pt x="28" y="58"/>
                    <a:pt x="29" y="58"/>
                  </a:cubicBezTo>
                  <a:cubicBezTo>
                    <a:pt x="29" y="58"/>
                    <a:pt x="30" y="58"/>
                    <a:pt x="30" y="57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1" y="56"/>
                    <a:pt x="32" y="55"/>
                    <a:pt x="32" y="55"/>
                  </a:cubicBezTo>
                  <a:cubicBezTo>
                    <a:pt x="32" y="54"/>
                    <a:pt x="32" y="53"/>
                    <a:pt x="32" y="52"/>
                  </a:cubicBezTo>
                  <a:cubicBezTo>
                    <a:pt x="33" y="51"/>
                    <a:pt x="32" y="51"/>
                    <a:pt x="32" y="50"/>
                  </a:cubicBezTo>
                  <a:cubicBezTo>
                    <a:pt x="31" y="50"/>
                    <a:pt x="30" y="50"/>
                    <a:pt x="29" y="50"/>
                  </a:cubicBezTo>
                  <a:cubicBezTo>
                    <a:pt x="28" y="50"/>
                    <a:pt x="27" y="50"/>
                    <a:pt x="26" y="50"/>
                  </a:cubicBezTo>
                  <a:cubicBezTo>
                    <a:pt x="24" y="50"/>
                    <a:pt x="22" y="51"/>
                    <a:pt x="20" y="52"/>
                  </a:cubicBezTo>
                  <a:cubicBezTo>
                    <a:pt x="20" y="52"/>
                    <a:pt x="20" y="51"/>
                    <a:pt x="19" y="51"/>
                  </a:cubicBezTo>
                  <a:cubicBezTo>
                    <a:pt x="19" y="51"/>
                    <a:pt x="19" y="50"/>
                    <a:pt x="19" y="50"/>
                  </a:cubicBezTo>
                  <a:cubicBezTo>
                    <a:pt x="18" y="48"/>
                    <a:pt x="18" y="47"/>
                    <a:pt x="19" y="46"/>
                  </a:cubicBezTo>
                  <a:cubicBezTo>
                    <a:pt x="20" y="45"/>
                    <a:pt x="21" y="44"/>
                    <a:pt x="23" y="43"/>
                  </a:cubicBezTo>
                  <a:cubicBezTo>
                    <a:pt x="24" y="42"/>
                    <a:pt x="25" y="39"/>
                    <a:pt x="24" y="38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4" y="36"/>
                    <a:pt x="23" y="36"/>
                    <a:pt x="22" y="36"/>
                  </a:cubicBezTo>
                  <a:cubicBezTo>
                    <a:pt x="21" y="36"/>
                    <a:pt x="20" y="37"/>
                    <a:pt x="20" y="37"/>
                  </a:cubicBezTo>
                  <a:cubicBezTo>
                    <a:pt x="19" y="37"/>
                    <a:pt x="18" y="38"/>
                    <a:pt x="17" y="38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6" y="34"/>
                    <a:pt x="17" y="33"/>
                    <a:pt x="19" y="32"/>
                  </a:cubicBezTo>
                  <a:close/>
                  <a:moveTo>
                    <a:pt x="11" y="27"/>
                  </a:moveTo>
                  <a:cubicBezTo>
                    <a:pt x="11" y="28"/>
                    <a:pt x="10" y="29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9" y="28"/>
                    <a:pt x="9" y="27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9" y="26"/>
                    <a:pt x="10" y="26"/>
                    <a:pt x="11" y="26"/>
                  </a:cubicBezTo>
                  <a:cubicBezTo>
                    <a:pt x="11" y="26"/>
                    <a:pt x="11" y="27"/>
                    <a:pt x="11" y="2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3" name="išḷîḓe">
              <a:extLst>
                <a:ext uri="{FF2B5EF4-FFF2-40B4-BE49-F238E27FC236}">
                  <a16:creationId xmlns:a16="http://schemas.microsoft.com/office/drawing/2014/main" id="{BFF5C089-E738-4EEC-3921-840A5ED40CF7}"/>
                </a:ext>
              </a:extLst>
            </p:cNvPr>
            <p:cNvSpPr/>
            <p:nvPr/>
          </p:nvSpPr>
          <p:spPr bwMode="auto">
            <a:xfrm>
              <a:off x="2709863" y="2620963"/>
              <a:ext cx="73025" cy="174625"/>
            </a:xfrm>
            <a:custGeom>
              <a:avLst/>
              <a:gdLst>
                <a:gd name="T0" fmla="*/ 20 w 20"/>
                <a:gd name="T1" fmla="*/ 22 h 48"/>
                <a:gd name="T2" fmla="*/ 20 w 20"/>
                <a:gd name="T3" fmla="*/ 21 h 48"/>
                <a:gd name="T4" fmla="*/ 19 w 20"/>
                <a:gd name="T5" fmla="*/ 22 h 48"/>
                <a:gd name="T6" fmla="*/ 18 w 20"/>
                <a:gd name="T7" fmla="*/ 29 h 48"/>
                <a:gd name="T8" fmla="*/ 16 w 20"/>
                <a:gd name="T9" fmla="*/ 34 h 48"/>
                <a:gd name="T10" fmla="*/ 14 w 20"/>
                <a:gd name="T11" fmla="*/ 39 h 48"/>
                <a:gd name="T12" fmla="*/ 14 w 20"/>
                <a:gd name="T13" fmla="*/ 39 h 48"/>
                <a:gd name="T14" fmla="*/ 13 w 20"/>
                <a:gd name="T15" fmla="*/ 39 h 48"/>
                <a:gd name="T16" fmla="*/ 14 w 20"/>
                <a:gd name="T17" fmla="*/ 37 h 48"/>
                <a:gd name="T18" fmla="*/ 14 w 20"/>
                <a:gd name="T19" fmla="*/ 33 h 48"/>
                <a:gd name="T20" fmla="*/ 15 w 20"/>
                <a:gd name="T21" fmla="*/ 27 h 48"/>
                <a:gd name="T22" fmla="*/ 16 w 20"/>
                <a:gd name="T23" fmla="*/ 22 h 48"/>
                <a:gd name="T24" fmla="*/ 15 w 20"/>
                <a:gd name="T25" fmla="*/ 19 h 48"/>
                <a:gd name="T26" fmla="*/ 14 w 20"/>
                <a:gd name="T27" fmla="*/ 18 h 48"/>
                <a:gd name="T28" fmla="*/ 14 w 20"/>
                <a:gd name="T29" fmla="*/ 14 h 48"/>
                <a:gd name="T30" fmla="*/ 14 w 20"/>
                <a:gd name="T31" fmla="*/ 9 h 48"/>
                <a:gd name="T32" fmla="*/ 15 w 20"/>
                <a:gd name="T33" fmla="*/ 6 h 48"/>
                <a:gd name="T34" fmla="*/ 15 w 20"/>
                <a:gd name="T35" fmla="*/ 2 h 48"/>
                <a:gd name="T36" fmla="*/ 13 w 20"/>
                <a:gd name="T37" fmla="*/ 0 h 48"/>
                <a:gd name="T38" fmla="*/ 10 w 20"/>
                <a:gd name="T39" fmla="*/ 0 h 48"/>
                <a:gd name="T40" fmla="*/ 7 w 20"/>
                <a:gd name="T41" fmla="*/ 2 h 48"/>
                <a:gd name="T42" fmla="*/ 4 w 20"/>
                <a:gd name="T43" fmla="*/ 5 h 48"/>
                <a:gd name="T44" fmla="*/ 1 w 20"/>
                <a:gd name="T45" fmla="*/ 7 h 48"/>
                <a:gd name="T46" fmla="*/ 0 w 20"/>
                <a:gd name="T47" fmla="*/ 9 h 48"/>
                <a:gd name="T48" fmla="*/ 2 w 20"/>
                <a:gd name="T49" fmla="*/ 12 h 48"/>
                <a:gd name="T50" fmla="*/ 3 w 20"/>
                <a:gd name="T51" fmla="*/ 12 h 48"/>
                <a:gd name="T52" fmla="*/ 7 w 20"/>
                <a:gd name="T53" fmla="*/ 13 h 48"/>
                <a:gd name="T54" fmla="*/ 10 w 20"/>
                <a:gd name="T55" fmla="*/ 11 h 48"/>
                <a:gd name="T56" fmla="*/ 11 w 20"/>
                <a:gd name="T57" fmla="*/ 11 h 48"/>
                <a:gd name="T58" fmla="*/ 11 w 20"/>
                <a:gd name="T59" fmla="*/ 13 h 48"/>
                <a:gd name="T60" fmla="*/ 12 w 20"/>
                <a:gd name="T61" fmla="*/ 18 h 48"/>
                <a:gd name="T62" fmla="*/ 10 w 20"/>
                <a:gd name="T63" fmla="*/ 19 h 48"/>
                <a:gd name="T64" fmla="*/ 8 w 20"/>
                <a:gd name="T65" fmla="*/ 20 h 48"/>
                <a:gd name="T66" fmla="*/ 3 w 20"/>
                <a:gd name="T67" fmla="*/ 27 h 48"/>
                <a:gd name="T68" fmla="*/ 4 w 20"/>
                <a:gd name="T69" fmla="*/ 32 h 48"/>
                <a:gd name="T70" fmla="*/ 9 w 20"/>
                <a:gd name="T71" fmla="*/ 35 h 48"/>
                <a:gd name="T72" fmla="*/ 9 w 20"/>
                <a:gd name="T73" fmla="*/ 35 h 48"/>
                <a:gd name="T74" fmla="*/ 9 w 20"/>
                <a:gd name="T75" fmla="*/ 42 h 48"/>
                <a:gd name="T76" fmla="*/ 9 w 20"/>
                <a:gd name="T77" fmla="*/ 46 h 48"/>
                <a:gd name="T78" fmla="*/ 12 w 20"/>
                <a:gd name="T79" fmla="*/ 47 h 48"/>
                <a:gd name="T80" fmla="*/ 14 w 20"/>
                <a:gd name="T81" fmla="*/ 46 h 48"/>
                <a:gd name="T82" fmla="*/ 17 w 20"/>
                <a:gd name="T83" fmla="*/ 38 h 48"/>
                <a:gd name="T84" fmla="*/ 18 w 20"/>
                <a:gd name="T85" fmla="*/ 35 h 48"/>
                <a:gd name="T86" fmla="*/ 19 w 20"/>
                <a:gd name="T87" fmla="*/ 31 h 48"/>
                <a:gd name="T88" fmla="*/ 19 w 20"/>
                <a:gd name="T89" fmla="*/ 27 h 48"/>
                <a:gd name="T90" fmla="*/ 20 w 20"/>
                <a:gd name="T91" fmla="*/ 23 h 48"/>
                <a:gd name="T92" fmla="*/ 20 w 20"/>
                <a:gd name="T93" fmla="*/ 22 h 48"/>
                <a:gd name="T94" fmla="*/ 10 w 20"/>
                <a:gd name="T95" fmla="*/ 28 h 48"/>
                <a:gd name="T96" fmla="*/ 10 w 20"/>
                <a:gd name="T97" fmla="*/ 29 h 48"/>
                <a:gd name="T98" fmla="*/ 9 w 20"/>
                <a:gd name="T99" fmla="*/ 30 h 48"/>
                <a:gd name="T100" fmla="*/ 8 w 20"/>
                <a:gd name="T101" fmla="*/ 28 h 48"/>
                <a:gd name="T102" fmla="*/ 10 w 20"/>
                <a:gd name="T103" fmla="*/ 24 h 48"/>
                <a:gd name="T104" fmla="*/ 10 w 20"/>
                <a:gd name="T105" fmla="*/ 24 h 48"/>
                <a:gd name="T106" fmla="*/ 10 w 20"/>
                <a:gd name="T107" fmla="*/ 25 h 48"/>
                <a:gd name="T108" fmla="*/ 10 w 20"/>
                <a:gd name="T109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" h="48">
                  <a:moveTo>
                    <a:pt x="20" y="22"/>
                  </a:moveTo>
                  <a:cubicBezTo>
                    <a:pt x="20" y="22"/>
                    <a:pt x="20" y="21"/>
                    <a:pt x="20" y="21"/>
                  </a:cubicBezTo>
                  <a:cubicBezTo>
                    <a:pt x="19" y="21"/>
                    <a:pt x="19" y="22"/>
                    <a:pt x="19" y="22"/>
                  </a:cubicBezTo>
                  <a:cubicBezTo>
                    <a:pt x="19" y="24"/>
                    <a:pt x="18" y="26"/>
                    <a:pt x="18" y="29"/>
                  </a:cubicBezTo>
                  <a:cubicBezTo>
                    <a:pt x="17" y="30"/>
                    <a:pt x="17" y="32"/>
                    <a:pt x="16" y="34"/>
                  </a:cubicBezTo>
                  <a:cubicBezTo>
                    <a:pt x="16" y="36"/>
                    <a:pt x="15" y="37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4" y="38"/>
                    <a:pt x="14" y="37"/>
                  </a:cubicBezTo>
                  <a:cubicBezTo>
                    <a:pt x="14" y="36"/>
                    <a:pt x="14" y="35"/>
                    <a:pt x="14" y="33"/>
                  </a:cubicBezTo>
                  <a:cubicBezTo>
                    <a:pt x="15" y="31"/>
                    <a:pt x="15" y="29"/>
                    <a:pt x="15" y="27"/>
                  </a:cubicBezTo>
                  <a:cubicBezTo>
                    <a:pt x="16" y="25"/>
                    <a:pt x="16" y="23"/>
                    <a:pt x="16" y="22"/>
                  </a:cubicBezTo>
                  <a:cubicBezTo>
                    <a:pt x="16" y="21"/>
                    <a:pt x="15" y="20"/>
                    <a:pt x="15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4" y="17"/>
                    <a:pt x="14" y="15"/>
                    <a:pt x="14" y="14"/>
                  </a:cubicBezTo>
                  <a:cubicBezTo>
                    <a:pt x="13" y="12"/>
                    <a:pt x="13" y="10"/>
                    <a:pt x="14" y="9"/>
                  </a:cubicBezTo>
                  <a:cubicBezTo>
                    <a:pt x="14" y="8"/>
                    <a:pt x="14" y="7"/>
                    <a:pt x="15" y="6"/>
                  </a:cubicBezTo>
                  <a:cubicBezTo>
                    <a:pt x="16" y="5"/>
                    <a:pt x="16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7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5"/>
                    <a:pt x="2" y="6"/>
                    <a:pt x="1" y="7"/>
                  </a:cubicBezTo>
                  <a:cubicBezTo>
                    <a:pt x="0" y="7"/>
                    <a:pt x="0" y="8"/>
                    <a:pt x="0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2" y="12"/>
                    <a:pt x="3" y="12"/>
                    <a:pt x="3" y="12"/>
                  </a:cubicBezTo>
                  <a:cubicBezTo>
                    <a:pt x="4" y="13"/>
                    <a:pt x="6" y="14"/>
                    <a:pt x="7" y="13"/>
                  </a:cubicBezTo>
                  <a:cubicBezTo>
                    <a:pt x="8" y="12"/>
                    <a:pt x="9" y="11"/>
                    <a:pt x="10" y="11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2"/>
                    <a:pt x="11" y="13"/>
                  </a:cubicBezTo>
                  <a:cubicBezTo>
                    <a:pt x="11" y="14"/>
                    <a:pt x="12" y="16"/>
                    <a:pt x="12" y="18"/>
                  </a:cubicBezTo>
                  <a:cubicBezTo>
                    <a:pt x="12" y="19"/>
                    <a:pt x="11" y="19"/>
                    <a:pt x="10" y="19"/>
                  </a:cubicBezTo>
                  <a:cubicBezTo>
                    <a:pt x="9" y="20"/>
                    <a:pt x="8" y="20"/>
                    <a:pt x="8" y="20"/>
                  </a:cubicBezTo>
                  <a:cubicBezTo>
                    <a:pt x="5" y="22"/>
                    <a:pt x="4" y="24"/>
                    <a:pt x="3" y="27"/>
                  </a:cubicBezTo>
                  <a:cubicBezTo>
                    <a:pt x="3" y="29"/>
                    <a:pt x="3" y="31"/>
                    <a:pt x="4" y="32"/>
                  </a:cubicBezTo>
                  <a:cubicBezTo>
                    <a:pt x="5" y="34"/>
                    <a:pt x="7" y="35"/>
                    <a:pt x="9" y="35"/>
                  </a:cubicBezTo>
                  <a:cubicBezTo>
                    <a:pt x="9" y="35"/>
                    <a:pt x="10" y="35"/>
                    <a:pt x="9" y="35"/>
                  </a:cubicBezTo>
                  <a:cubicBezTo>
                    <a:pt x="9" y="38"/>
                    <a:pt x="9" y="40"/>
                    <a:pt x="9" y="42"/>
                  </a:cubicBezTo>
                  <a:cubicBezTo>
                    <a:pt x="9" y="43"/>
                    <a:pt x="9" y="44"/>
                    <a:pt x="9" y="46"/>
                  </a:cubicBezTo>
                  <a:cubicBezTo>
                    <a:pt x="10" y="47"/>
                    <a:pt x="11" y="48"/>
                    <a:pt x="12" y="47"/>
                  </a:cubicBezTo>
                  <a:cubicBezTo>
                    <a:pt x="13" y="47"/>
                    <a:pt x="13" y="47"/>
                    <a:pt x="14" y="46"/>
                  </a:cubicBezTo>
                  <a:cubicBezTo>
                    <a:pt x="16" y="44"/>
                    <a:pt x="16" y="41"/>
                    <a:pt x="17" y="38"/>
                  </a:cubicBezTo>
                  <a:cubicBezTo>
                    <a:pt x="17" y="37"/>
                    <a:pt x="18" y="36"/>
                    <a:pt x="18" y="35"/>
                  </a:cubicBezTo>
                  <a:cubicBezTo>
                    <a:pt x="18" y="34"/>
                    <a:pt x="19" y="32"/>
                    <a:pt x="19" y="31"/>
                  </a:cubicBezTo>
                  <a:cubicBezTo>
                    <a:pt x="19" y="30"/>
                    <a:pt x="19" y="27"/>
                    <a:pt x="19" y="27"/>
                  </a:cubicBezTo>
                  <a:cubicBezTo>
                    <a:pt x="19" y="26"/>
                    <a:pt x="20" y="25"/>
                    <a:pt x="20" y="23"/>
                  </a:cubicBezTo>
                  <a:cubicBezTo>
                    <a:pt x="20" y="23"/>
                    <a:pt x="20" y="22"/>
                    <a:pt x="20" y="22"/>
                  </a:cubicBezTo>
                  <a:close/>
                  <a:moveTo>
                    <a:pt x="10" y="28"/>
                  </a:moveTo>
                  <a:cubicBezTo>
                    <a:pt x="10" y="28"/>
                    <a:pt x="10" y="29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5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6"/>
                    <a:pt x="10" y="27"/>
                    <a:pt x="10" y="28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4" name="ïṩļidê">
              <a:extLst>
                <a:ext uri="{FF2B5EF4-FFF2-40B4-BE49-F238E27FC236}">
                  <a16:creationId xmlns:a16="http://schemas.microsoft.com/office/drawing/2014/main" id="{D3B4BE40-9947-3E4C-6AE9-97713FC0E01B}"/>
                </a:ext>
              </a:extLst>
            </p:cNvPr>
            <p:cNvSpPr/>
            <p:nvPr/>
          </p:nvSpPr>
          <p:spPr bwMode="auto">
            <a:xfrm>
              <a:off x="3038475" y="2620963"/>
              <a:ext cx="136525" cy="115888"/>
            </a:xfrm>
            <a:custGeom>
              <a:avLst/>
              <a:gdLst>
                <a:gd name="T0" fmla="*/ 36 w 38"/>
                <a:gd name="T1" fmla="*/ 22 h 32"/>
                <a:gd name="T2" fmla="*/ 34 w 38"/>
                <a:gd name="T3" fmla="*/ 22 h 32"/>
                <a:gd name="T4" fmla="*/ 32 w 38"/>
                <a:gd name="T5" fmla="*/ 22 h 32"/>
                <a:gd name="T6" fmla="*/ 28 w 38"/>
                <a:gd name="T7" fmla="*/ 22 h 32"/>
                <a:gd name="T8" fmla="*/ 27 w 38"/>
                <a:gd name="T9" fmla="*/ 21 h 32"/>
                <a:gd name="T10" fmla="*/ 28 w 38"/>
                <a:gd name="T11" fmla="*/ 21 h 32"/>
                <a:gd name="T12" fmla="*/ 32 w 38"/>
                <a:gd name="T13" fmla="*/ 16 h 32"/>
                <a:gd name="T14" fmla="*/ 35 w 38"/>
                <a:gd name="T15" fmla="*/ 11 h 32"/>
                <a:gd name="T16" fmla="*/ 35 w 38"/>
                <a:gd name="T17" fmla="*/ 8 h 32"/>
                <a:gd name="T18" fmla="*/ 35 w 38"/>
                <a:gd name="T19" fmla="*/ 7 h 32"/>
                <a:gd name="T20" fmla="*/ 34 w 38"/>
                <a:gd name="T21" fmla="*/ 3 h 32"/>
                <a:gd name="T22" fmla="*/ 29 w 38"/>
                <a:gd name="T23" fmla="*/ 1 h 32"/>
                <a:gd name="T24" fmla="*/ 22 w 38"/>
                <a:gd name="T25" fmla="*/ 2 h 32"/>
                <a:gd name="T26" fmla="*/ 16 w 38"/>
                <a:gd name="T27" fmla="*/ 5 h 32"/>
                <a:gd name="T28" fmla="*/ 14 w 38"/>
                <a:gd name="T29" fmla="*/ 7 h 32"/>
                <a:gd name="T30" fmla="*/ 17 w 38"/>
                <a:gd name="T31" fmla="*/ 12 h 32"/>
                <a:gd name="T32" fmla="*/ 22 w 38"/>
                <a:gd name="T33" fmla="*/ 13 h 32"/>
                <a:gd name="T34" fmla="*/ 26 w 38"/>
                <a:gd name="T35" fmla="*/ 11 h 32"/>
                <a:gd name="T36" fmla="*/ 28 w 38"/>
                <a:gd name="T37" fmla="*/ 11 h 32"/>
                <a:gd name="T38" fmla="*/ 25 w 38"/>
                <a:gd name="T39" fmla="*/ 16 h 32"/>
                <a:gd name="T40" fmla="*/ 20 w 38"/>
                <a:gd name="T41" fmla="*/ 20 h 32"/>
                <a:gd name="T42" fmla="*/ 15 w 38"/>
                <a:gd name="T43" fmla="*/ 21 h 32"/>
                <a:gd name="T44" fmla="*/ 12 w 38"/>
                <a:gd name="T45" fmla="*/ 21 h 32"/>
                <a:gd name="T46" fmla="*/ 5 w 38"/>
                <a:gd name="T47" fmla="*/ 22 h 32"/>
                <a:gd name="T48" fmla="*/ 2 w 38"/>
                <a:gd name="T49" fmla="*/ 24 h 32"/>
                <a:gd name="T50" fmla="*/ 1 w 38"/>
                <a:gd name="T51" fmla="*/ 25 h 32"/>
                <a:gd name="T52" fmla="*/ 3 w 38"/>
                <a:gd name="T53" fmla="*/ 31 h 32"/>
                <a:gd name="T54" fmla="*/ 6 w 38"/>
                <a:gd name="T55" fmla="*/ 31 h 32"/>
                <a:gd name="T56" fmla="*/ 12 w 38"/>
                <a:gd name="T57" fmla="*/ 31 h 32"/>
                <a:gd name="T58" fmla="*/ 29 w 38"/>
                <a:gd name="T59" fmla="*/ 30 h 32"/>
                <a:gd name="T60" fmla="*/ 31 w 38"/>
                <a:gd name="T61" fmla="*/ 31 h 32"/>
                <a:gd name="T62" fmla="*/ 33 w 38"/>
                <a:gd name="T63" fmla="*/ 32 h 32"/>
                <a:gd name="T64" fmla="*/ 36 w 38"/>
                <a:gd name="T65" fmla="*/ 30 h 32"/>
                <a:gd name="T66" fmla="*/ 37 w 38"/>
                <a:gd name="T67" fmla="*/ 27 h 32"/>
                <a:gd name="T68" fmla="*/ 36 w 38"/>
                <a:gd name="T69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8" h="32">
                  <a:moveTo>
                    <a:pt x="36" y="22"/>
                  </a:moveTo>
                  <a:cubicBezTo>
                    <a:pt x="36" y="21"/>
                    <a:pt x="35" y="21"/>
                    <a:pt x="34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1" y="22"/>
                    <a:pt x="29" y="22"/>
                    <a:pt x="28" y="22"/>
                  </a:cubicBezTo>
                  <a:cubicBezTo>
                    <a:pt x="28" y="22"/>
                    <a:pt x="27" y="22"/>
                    <a:pt x="27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19"/>
                    <a:pt x="31" y="17"/>
                    <a:pt x="32" y="16"/>
                  </a:cubicBezTo>
                  <a:cubicBezTo>
                    <a:pt x="33" y="14"/>
                    <a:pt x="34" y="11"/>
                    <a:pt x="35" y="11"/>
                  </a:cubicBezTo>
                  <a:cubicBezTo>
                    <a:pt x="35" y="10"/>
                    <a:pt x="36" y="9"/>
                    <a:pt x="35" y="8"/>
                  </a:cubicBezTo>
                  <a:cubicBezTo>
                    <a:pt x="35" y="8"/>
                    <a:pt x="35" y="7"/>
                    <a:pt x="35" y="7"/>
                  </a:cubicBezTo>
                  <a:cubicBezTo>
                    <a:pt x="35" y="6"/>
                    <a:pt x="35" y="4"/>
                    <a:pt x="34" y="3"/>
                  </a:cubicBezTo>
                  <a:cubicBezTo>
                    <a:pt x="33" y="2"/>
                    <a:pt x="31" y="1"/>
                    <a:pt x="29" y="1"/>
                  </a:cubicBezTo>
                  <a:cubicBezTo>
                    <a:pt x="27" y="0"/>
                    <a:pt x="24" y="1"/>
                    <a:pt x="22" y="2"/>
                  </a:cubicBezTo>
                  <a:cubicBezTo>
                    <a:pt x="20" y="3"/>
                    <a:pt x="18" y="4"/>
                    <a:pt x="16" y="5"/>
                  </a:cubicBezTo>
                  <a:cubicBezTo>
                    <a:pt x="15" y="5"/>
                    <a:pt x="14" y="7"/>
                    <a:pt x="14" y="7"/>
                  </a:cubicBezTo>
                  <a:cubicBezTo>
                    <a:pt x="15" y="9"/>
                    <a:pt x="15" y="11"/>
                    <a:pt x="17" y="12"/>
                  </a:cubicBezTo>
                  <a:cubicBezTo>
                    <a:pt x="18" y="13"/>
                    <a:pt x="20" y="13"/>
                    <a:pt x="22" y="13"/>
                  </a:cubicBezTo>
                  <a:cubicBezTo>
                    <a:pt x="23" y="12"/>
                    <a:pt x="24" y="12"/>
                    <a:pt x="26" y="11"/>
                  </a:cubicBezTo>
                  <a:cubicBezTo>
                    <a:pt x="26" y="11"/>
                    <a:pt x="27" y="11"/>
                    <a:pt x="28" y="11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3" y="17"/>
                    <a:pt x="22" y="18"/>
                    <a:pt x="20" y="20"/>
                  </a:cubicBezTo>
                  <a:cubicBezTo>
                    <a:pt x="19" y="21"/>
                    <a:pt x="17" y="21"/>
                    <a:pt x="15" y="21"/>
                  </a:cubicBezTo>
                  <a:cubicBezTo>
                    <a:pt x="14" y="21"/>
                    <a:pt x="13" y="21"/>
                    <a:pt x="12" y="21"/>
                  </a:cubicBezTo>
                  <a:cubicBezTo>
                    <a:pt x="9" y="22"/>
                    <a:pt x="7" y="22"/>
                    <a:pt x="5" y="22"/>
                  </a:cubicBezTo>
                  <a:cubicBezTo>
                    <a:pt x="4" y="23"/>
                    <a:pt x="3" y="23"/>
                    <a:pt x="2" y="24"/>
                  </a:cubicBezTo>
                  <a:cubicBezTo>
                    <a:pt x="2" y="24"/>
                    <a:pt x="2" y="25"/>
                    <a:pt x="1" y="25"/>
                  </a:cubicBezTo>
                  <a:cubicBezTo>
                    <a:pt x="0" y="27"/>
                    <a:pt x="1" y="30"/>
                    <a:pt x="3" y="31"/>
                  </a:cubicBezTo>
                  <a:cubicBezTo>
                    <a:pt x="4" y="31"/>
                    <a:pt x="5" y="31"/>
                    <a:pt x="6" y="31"/>
                  </a:cubicBezTo>
                  <a:cubicBezTo>
                    <a:pt x="8" y="31"/>
                    <a:pt x="11" y="31"/>
                    <a:pt x="12" y="31"/>
                  </a:cubicBezTo>
                  <a:cubicBezTo>
                    <a:pt x="14" y="30"/>
                    <a:pt x="25" y="30"/>
                    <a:pt x="29" y="30"/>
                  </a:cubicBezTo>
                  <a:cubicBezTo>
                    <a:pt x="29" y="30"/>
                    <a:pt x="30" y="30"/>
                    <a:pt x="31" y="31"/>
                  </a:cubicBezTo>
                  <a:cubicBezTo>
                    <a:pt x="32" y="31"/>
                    <a:pt x="32" y="32"/>
                    <a:pt x="33" y="32"/>
                  </a:cubicBezTo>
                  <a:cubicBezTo>
                    <a:pt x="34" y="32"/>
                    <a:pt x="35" y="32"/>
                    <a:pt x="36" y="30"/>
                  </a:cubicBezTo>
                  <a:cubicBezTo>
                    <a:pt x="37" y="29"/>
                    <a:pt x="37" y="28"/>
                    <a:pt x="37" y="27"/>
                  </a:cubicBezTo>
                  <a:cubicBezTo>
                    <a:pt x="38" y="25"/>
                    <a:pt x="37" y="24"/>
                    <a:pt x="36" y="22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5" name="îṧliḑe">
              <a:extLst>
                <a:ext uri="{FF2B5EF4-FFF2-40B4-BE49-F238E27FC236}">
                  <a16:creationId xmlns:a16="http://schemas.microsoft.com/office/drawing/2014/main" id="{C1BA431E-9376-EDFF-B8EA-EDB369A6990E}"/>
                </a:ext>
              </a:extLst>
            </p:cNvPr>
            <p:cNvSpPr/>
            <p:nvPr/>
          </p:nvSpPr>
          <p:spPr bwMode="auto">
            <a:xfrm>
              <a:off x="3290888" y="2722563"/>
              <a:ext cx="187325" cy="198438"/>
            </a:xfrm>
            <a:custGeom>
              <a:avLst/>
              <a:gdLst>
                <a:gd name="T0" fmla="*/ 37 w 52"/>
                <a:gd name="T1" fmla="*/ 49 h 55"/>
                <a:gd name="T2" fmla="*/ 35 w 52"/>
                <a:gd name="T3" fmla="*/ 45 h 55"/>
                <a:gd name="T4" fmla="*/ 34 w 52"/>
                <a:gd name="T5" fmla="*/ 39 h 55"/>
                <a:gd name="T6" fmla="*/ 33 w 52"/>
                <a:gd name="T7" fmla="*/ 34 h 55"/>
                <a:gd name="T8" fmla="*/ 32 w 52"/>
                <a:gd name="T9" fmla="*/ 27 h 55"/>
                <a:gd name="T10" fmla="*/ 34 w 52"/>
                <a:gd name="T11" fmla="*/ 25 h 55"/>
                <a:gd name="T12" fmla="*/ 35 w 52"/>
                <a:gd name="T13" fmla="*/ 23 h 55"/>
                <a:gd name="T14" fmla="*/ 38 w 52"/>
                <a:gd name="T15" fmla="*/ 22 h 55"/>
                <a:gd name="T16" fmla="*/ 43 w 52"/>
                <a:gd name="T17" fmla="*/ 24 h 55"/>
                <a:gd name="T18" fmla="*/ 46 w 52"/>
                <a:gd name="T19" fmla="*/ 23 h 55"/>
                <a:gd name="T20" fmla="*/ 48 w 52"/>
                <a:gd name="T21" fmla="*/ 22 h 55"/>
                <a:gd name="T22" fmla="*/ 49 w 52"/>
                <a:gd name="T23" fmla="*/ 22 h 55"/>
                <a:gd name="T24" fmla="*/ 50 w 52"/>
                <a:gd name="T25" fmla="*/ 21 h 55"/>
                <a:gd name="T26" fmla="*/ 50 w 52"/>
                <a:gd name="T27" fmla="*/ 19 h 55"/>
                <a:gd name="T28" fmla="*/ 48 w 52"/>
                <a:gd name="T29" fmla="*/ 16 h 55"/>
                <a:gd name="T30" fmla="*/ 45 w 52"/>
                <a:gd name="T31" fmla="*/ 15 h 55"/>
                <a:gd name="T32" fmla="*/ 45 w 52"/>
                <a:gd name="T33" fmla="*/ 15 h 55"/>
                <a:gd name="T34" fmla="*/ 45 w 52"/>
                <a:gd name="T35" fmla="*/ 15 h 55"/>
                <a:gd name="T36" fmla="*/ 48 w 52"/>
                <a:gd name="T37" fmla="*/ 11 h 55"/>
                <a:gd name="T38" fmla="*/ 51 w 52"/>
                <a:gd name="T39" fmla="*/ 7 h 55"/>
                <a:gd name="T40" fmla="*/ 52 w 52"/>
                <a:gd name="T41" fmla="*/ 5 h 55"/>
                <a:gd name="T42" fmla="*/ 51 w 52"/>
                <a:gd name="T43" fmla="*/ 1 h 55"/>
                <a:gd name="T44" fmla="*/ 48 w 52"/>
                <a:gd name="T45" fmla="*/ 0 h 55"/>
                <a:gd name="T46" fmla="*/ 45 w 52"/>
                <a:gd name="T47" fmla="*/ 2 h 55"/>
                <a:gd name="T48" fmla="*/ 43 w 52"/>
                <a:gd name="T49" fmla="*/ 6 h 55"/>
                <a:gd name="T50" fmla="*/ 37 w 52"/>
                <a:gd name="T51" fmla="*/ 12 h 55"/>
                <a:gd name="T52" fmla="*/ 35 w 52"/>
                <a:gd name="T53" fmla="*/ 13 h 55"/>
                <a:gd name="T54" fmla="*/ 32 w 52"/>
                <a:gd name="T55" fmla="*/ 12 h 55"/>
                <a:gd name="T56" fmla="*/ 26 w 52"/>
                <a:gd name="T57" fmla="*/ 10 h 55"/>
                <a:gd name="T58" fmla="*/ 22 w 52"/>
                <a:gd name="T59" fmla="*/ 10 h 55"/>
                <a:gd name="T60" fmla="*/ 21 w 52"/>
                <a:gd name="T61" fmla="*/ 11 h 55"/>
                <a:gd name="T62" fmla="*/ 21 w 52"/>
                <a:gd name="T63" fmla="*/ 14 h 55"/>
                <a:gd name="T64" fmla="*/ 21 w 52"/>
                <a:gd name="T65" fmla="*/ 15 h 55"/>
                <a:gd name="T66" fmla="*/ 23 w 52"/>
                <a:gd name="T67" fmla="*/ 17 h 55"/>
                <a:gd name="T68" fmla="*/ 26 w 52"/>
                <a:gd name="T69" fmla="*/ 19 h 55"/>
                <a:gd name="T70" fmla="*/ 29 w 52"/>
                <a:gd name="T71" fmla="*/ 20 h 55"/>
                <a:gd name="T72" fmla="*/ 24 w 52"/>
                <a:gd name="T73" fmla="*/ 23 h 55"/>
                <a:gd name="T74" fmla="*/ 12 w 52"/>
                <a:gd name="T75" fmla="*/ 28 h 55"/>
                <a:gd name="T76" fmla="*/ 0 w 52"/>
                <a:gd name="T77" fmla="*/ 28 h 55"/>
                <a:gd name="T78" fmla="*/ 1 w 52"/>
                <a:gd name="T79" fmla="*/ 29 h 55"/>
                <a:gd name="T80" fmla="*/ 3 w 52"/>
                <a:gd name="T81" fmla="*/ 30 h 55"/>
                <a:gd name="T82" fmla="*/ 6 w 52"/>
                <a:gd name="T83" fmla="*/ 32 h 55"/>
                <a:gd name="T84" fmla="*/ 15 w 52"/>
                <a:gd name="T85" fmla="*/ 32 h 55"/>
                <a:gd name="T86" fmla="*/ 20 w 52"/>
                <a:gd name="T87" fmla="*/ 31 h 55"/>
                <a:gd name="T88" fmla="*/ 26 w 52"/>
                <a:gd name="T89" fmla="*/ 29 h 55"/>
                <a:gd name="T90" fmla="*/ 27 w 52"/>
                <a:gd name="T91" fmla="*/ 29 h 55"/>
                <a:gd name="T92" fmla="*/ 26 w 52"/>
                <a:gd name="T93" fmla="*/ 35 h 55"/>
                <a:gd name="T94" fmla="*/ 25 w 52"/>
                <a:gd name="T95" fmla="*/ 40 h 55"/>
                <a:gd name="T96" fmla="*/ 25 w 52"/>
                <a:gd name="T97" fmla="*/ 43 h 55"/>
                <a:gd name="T98" fmla="*/ 26 w 52"/>
                <a:gd name="T99" fmla="*/ 47 h 55"/>
                <a:gd name="T100" fmla="*/ 28 w 52"/>
                <a:gd name="T101" fmla="*/ 50 h 55"/>
                <a:gd name="T102" fmla="*/ 29 w 52"/>
                <a:gd name="T103" fmla="*/ 52 h 55"/>
                <a:gd name="T104" fmla="*/ 31 w 52"/>
                <a:gd name="T105" fmla="*/ 53 h 55"/>
                <a:gd name="T106" fmla="*/ 34 w 52"/>
                <a:gd name="T107" fmla="*/ 54 h 55"/>
                <a:gd name="T108" fmla="*/ 35 w 52"/>
                <a:gd name="T109" fmla="*/ 54 h 55"/>
                <a:gd name="T110" fmla="*/ 36 w 52"/>
                <a:gd name="T111" fmla="*/ 54 h 55"/>
                <a:gd name="T112" fmla="*/ 37 w 52"/>
                <a:gd name="T113" fmla="*/ 53 h 55"/>
                <a:gd name="T114" fmla="*/ 39 w 52"/>
                <a:gd name="T115" fmla="*/ 53 h 55"/>
                <a:gd name="T116" fmla="*/ 37 w 52"/>
                <a:gd name="T117" fmla="*/ 49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2" h="55">
                  <a:moveTo>
                    <a:pt x="37" y="49"/>
                  </a:moveTo>
                  <a:cubicBezTo>
                    <a:pt x="36" y="47"/>
                    <a:pt x="36" y="46"/>
                    <a:pt x="35" y="45"/>
                  </a:cubicBezTo>
                  <a:cubicBezTo>
                    <a:pt x="34" y="43"/>
                    <a:pt x="34" y="41"/>
                    <a:pt x="34" y="39"/>
                  </a:cubicBezTo>
                  <a:cubicBezTo>
                    <a:pt x="33" y="37"/>
                    <a:pt x="33" y="35"/>
                    <a:pt x="33" y="34"/>
                  </a:cubicBezTo>
                  <a:cubicBezTo>
                    <a:pt x="33" y="31"/>
                    <a:pt x="33" y="28"/>
                    <a:pt x="32" y="27"/>
                  </a:cubicBezTo>
                  <a:cubicBezTo>
                    <a:pt x="32" y="25"/>
                    <a:pt x="33" y="25"/>
                    <a:pt x="34" y="25"/>
                  </a:cubicBezTo>
                  <a:cubicBezTo>
                    <a:pt x="34" y="24"/>
                    <a:pt x="35" y="24"/>
                    <a:pt x="35" y="23"/>
                  </a:cubicBezTo>
                  <a:cubicBezTo>
                    <a:pt x="36" y="23"/>
                    <a:pt x="37" y="22"/>
                    <a:pt x="38" y="22"/>
                  </a:cubicBezTo>
                  <a:cubicBezTo>
                    <a:pt x="40" y="23"/>
                    <a:pt x="41" y="23"/>
                    <a:pt x="43" y="24"/>
                  </a:cubicBezTo>
                  <a:cubicBezTo>
                    <a:pt x="43" y="24"/>
                    <a:pt x="45" y="24"/>
                    <a:pt x="46" y="23"/>
                  </a:cubicBezTo>
                  <a:cubicBezTo>
                    <a:pt x="47" y="23"/>
                    <a:pt x="47" y="23"/>
                    <a:pt x="48" y="22"/>
                  </a:cubicBezTo>
                  <a:cubicBezTo>
                    <a:pt x="48" y="22"/>
                    <a:pt x="49" y="22"/>
                    <a:pt x="49" y="22"/>
                  </a:cubicBezTo>
                  <a:cubicBezTo>
                    <a:pt x="49" y="21"/>
                    <a:pt x="50" y="21"/>
                    <a:pt x="50" y="21"/>
                  </a:cubicBezTo>
                  <a:cubicBezTo>
                    <a:pt x="51" y="20"/>
                    <a:pt x="51" y="20"/>
                    <a:pt x="50" y="19"/>
                  </a:cubicBezTo>
                  <a:cubicBezTo>
                    <a:pt x="50" y="18"/>
                    <a:pt x="49" y="17"/>
                    <a:pt x="48" y="16"/>
                  </a:cubicBezTo>
                  <a:cubicBezTo>
                    <a:pt x="47" y="15"/>
                    <a:pt x="46" y="15"/>
                    <a:pt x="45" y="15"/>
                  </a:cubicBezTo>
                  <a:cubicBezTo>
                    <a:pt x="45" y="15"/>
                    <a:pt x="45" y="16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6" y="13"/>
                    <a:pt x="47" y="12"/>
                    <a:pt x="48" y="11"/>
                  </a:cubicBezTo>
                  <a:cubicBezTo>
                    <a:pt x="49" y="10"/>
                    <a:pt x="50" y="8"/>
                    <a:pt x="51" y="7"/>
                  </a:cubicBezTo>
                  <a:cubicBezTo>
                    <a:pt x="51" y="6"/>
                    <a:pt x="52" y="6"/>
                    <a:pt x="52" y="5"/>
                  </a:cubicBezTo>
                  <a:cubicBezTo>
                    <a:pt x="52" y="4"/>
                    <a:pt x="51" y="3"/>
                    <a:pt x="51" y="1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1"/>
                    <a:pt x="45" y="1"/>
                    <a:pt x="45" y="2"/>
                  </a:cubicBezTo>
                  <a:cubicBezTo>
                    <a:pt x="44" y="4"/>
                    <a:pt x="43" y="5"/>
                    <a:pt x="43" y="6"/>
                  </a:cubicBezTo>
                  <a:cubicBezTo>
                    <a:pt x="41" y="8"/>
                    <a:pt x="39" y="10"/>
                    <a:pt x="37" y="12"/>
                  </a:cubicBezTo>
                  <a:cubicBezTo>
                    <a:pt x="37" y="13"/>
                    <a:pt x="36" y="13"/>
                    <a:pt x="35" y="13"/>
                  </a:cubicBezTo>
                  <a:cubicBezTo>
                    <a:pt x="34" y="13"/>
                    <a:pt x="33" y="13"/>
                    <a:pt x="32" y="12"/>
                  </a:cubicBezTo>
                  <a:cubicBezTo>
                    <a:pt x="30" y="12"/>
                    <a:pt x="28" y="11"/>
                    <a:pt x="26" y="10"/>
                  </a:cubicBezTo>
                  <a:cubicBezTo>
                    <a:pt x="25" y="9"/>
                    <a:pt x="23" y="9"/>
                    <a:pt x="22" y="10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2"/>
                    <a:pt x="21" y="13"/>
                    <a:pt x="21" y="14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4" y="18"/>
                    <a:pt x="25" y="19"/>
                    <a:pt x="26" y="19"/>
                  </a:cubicBezTo>
                  <a:cubicBezTo>
                    <a:pt x="27" y="19"/>
                    <a:pt x="28" y="20"/>
                    <a:pt x="29" y="20"/>
                  </a:cubicBezTo>
                  <a:cubicBezTo>
                    <a:pt x="28" y="20"/>
                    <a:pt x="26" y="22"/>
                    <a:pt x="24" y="23"/>
                  </a:cubicBezTo>
                  <a:cubicBezTo>
                    <a:pt x="21" y="25"/>
                    <a:pt x="18" y="26"/>
                    <a:pt x="12" y="28"/>
                  </a:cubicBezTo>
                  <a:cubicBezTo>
                    <a:pt x="5" y="29"/>
                    <a:pt x="1" y="28"/>
                    <a:pt x="0" y="28"/>
                  </a:cubicBezTo>
                  <a:cubicBezTo>
                    <a:pt x="0" y="28"/>
                    <a:pt x="0" y="28"/>
                    <a:pt x="1" y="29"/>
                  </a:cubicBezTo>
                  <a:cubicBezTo>
                    <a:pt x="1" y="29"/>
                    <a:pt x="3" y="30"/>
                    <a:pt x="3" y="30"/>
                  </a:cubicBezTo>
                  <a:cubicBezTo>
                    <a:pt x="4" y="31"/>
                    <a:pt x="5" y="32"/>
                    <a:pt x="6" y="32"/>
                  </a:cubicBezTo>
                  <a:cubicBezTo>
                    <a:pt x="7" y="32"/>
                    <a:pt x="12" y="33"/>
                    <a:pt x="15" y="32"/>
                  </a:cubicBezTo>
                  <a:cubicBezTo>
                    <a:pt x="17" y="32"/>
                    <a:pt x="20" y="31"/>
                    <a:pt x="20" y="31"/>
                  </a:cubicBezTo>
                  <a:cubicBezTo>
                    <a:pt x="22" y="30"/>
                    <a:pt x="24" y="30"/>
                    <a:pt x="26" y="29"/>
                  </a:cubicBezTo>
                  <a:cubicBezTo>
                    <a:pt x="27" y="29"/>
                    <a:pt x="27" y="29"/>
                    <a:pt x="27" y="29"/>
                  </a:cubicBezTo>
                  <a:cubicBezTo>
                    <a:pt x="27" y="31"/>
                    <a:pt x="26" y="33"/>
                    <a:pt x="26" y="35"/>
                  </a:cubicBezTo>
                  <a:cubicBezTo>
                    <a:pt x="26" y="37"/>
                    <a:pt x="26" y="38"/>
                    <a:pt x="25" y="40"/>
                  </a:cubicBezTo>
                  <a:cubicBezTo>
                    <a:pt x="25" y="41"/>
                    <a:pt x="25" y="42"/>
                    <a:pt x="25" y="43"/>
                  </a:cubicBezTo>
                  <a:cubicBezTo>
                    <a:pt x="25" y="44"/>
                    <a:pt x="25" y="46"/>
                    <a:pt x="26" y="47"/>
                  </a:cubicBezTo>
                  <a:cubicBezTo>
                    <a:pt x="26" y="48"/>
                    <a:pt x="27" y="49"/>
                    <a:pt x="28" y="50"/>
                  </a:cubicBezTo>
                  <a:cubicBezTo>
                    <a:pt x="28" y="50"/>
                    <a:pt x="29" y="51"/>
                    <a:pt x="29" y="52"/>
                  </a:cubicBezTo>
                  <a:cubicBezTo>
                    <a:pt x="30" y="52"/>
                    <a:pt x="30" y="53"/>
                    <a:pt x="31" y="53"/>
                  </a:cubicBezTo>
                  <a:cubicBezTo>
                    <a:pt x="32" y="53"/>
                    <a:pt x="33" y="55"/>
                    <a:pt x="34" y="54"/>
                  </a:cubicBezTo>
                  <a:cubicBezTo>
                    <a:pt x="34" y="54"/>
                    <a:pt x="35" y="54"/>
                    <a:pt x="35" y="54"/>
                  </a:cubicBezTo>
                  <a:cubicBezTo>
                    <a:pt x="35" y="54"/>
                    <a:pt x="36" y="54"/>
                    <a:pt x="36" y="54"/>
                  </a:cubicBezTo>
                  <a:cubicBezTo>
                    <a:pt x="37" y="54"/>
                    <a:pt x="37" y="54"/>
                    <a:pt x="37" y="53"/>
                  </a:cubicBezTo>
                  <a:cubicBezTo>
                    <a:pt x="38" y="53"/>
                    <a:pt x="39" y="53"/>
                    <a:pt x="39" y="53"/>
                  </a:cubicBezTo>
                  <a:cubicBezTo>
                    <a:pt x="39" y="52"/>
                    <a:pt x="38" y="52"/>
                    <a:pt x="37" y="49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6" name="ïśḷïḓè">
              <a:extLst>
                <a:ext uri="{FF2B5EF4-FFF2-40B4-BE49-F238E27FC236}">
                  <a16:creationId xmlns:a16="http://schemas.microsoft.com/office/drawing/2014/main" id="{FAC55141-4FF0-8318-2CD6-CF1EDA5F6973}"/>
                </a:ext>
              </a:extLst>
            </p:cNvPr>
            <p:cNvSpPr/>
            <p:nvPr/>
          </p:nvSpPr>
          <p:spPr bwMode="auto">
            <a:xfrm>
              <a:off x="2035175" y="2493963"/>
              <a:ext cx="1865313" cy="1873250"/>
            </a:xfrm>
            <a:custGeom>
              <a:avLst/>
              <a:gdLst>
                <a:gd name="T0" fmla="*/ 258 w 517"/>
                <a:gd name="T1" fmla="*/ 0 h 517"/>
                <a:gd name="T2" fmla="*/ 0 w 517"/>
                <a:gd name="T3" fmla="*/ 258 h 517"/>
                <a:gd name="T4" fmla="*/ 258 w 517"/>
                <a:gd name="T5" fmla="*/ 517 h 517"/>
                <a:gd name="T6" fmla="*/ 517 w 517"/>
                <a:gd name="T7" fmla="*/ 258 h 517"/>
                <a:gd name="T8" fmla="*/ 258 w 517"/>
                <a:gd name="T9" fmla="*/ 0 h 517"/>
                <a:gd name="T10" fmla="*/ 258 w 517"/>
                <a:gd name="T11" fmla="*/ 511 h 517"/>
                <a:gd name="T12" fmla="*/ 5 w 517"/>
                <a:gd name="T13" fmla="*/ 258 h 517"/>
                <a:gd name="T14" fmla="*/ 258 w 517"/>
                <a:gd name="T15" fmla="*/ 6 h 517"/>
                <a:gd name="T16" fmla="*/ 511 w 517"/>
                <a:gd name="T17" fmla="*/ 258 h 517"/>
                <a:gd name="T18" fmla="*/ 258 w 517"/>
                <a:gd name="T19" fmla="*/ 511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7" h="517">
                  <a:moveTo>
                    <a:pt x="258" y="0"/>
                  </a:moveTo>
                  <a:cubicBezTo>
                    <a:pt x="115" y="0"/>
                    <a:pt x="0" y="116"/>
                    <a:pt x="0" y="258"/>
                  </a:cubicBezTo>
                  <a:cubicBezTo>
                    <a:pt x="0" y="401"/>
                    <a:pt x="115" y="517"/>
                    <a:pt x="258" y="517"/>
                  </a:cubicBezTo>
                  <a:cubicBezTo>
                    <a:pt x="401" y="517"/>
                    <a:pt x="517" y="401"/>
                    <a:pt x="517" y="258"/>
                  </a:cubicBezTo>
                  <a:cubicBezTo>
                    <a:pt x="517" y="116"/>
                    <a:pt x="401" y="0"/>
                    <a:pt x="258" y="0"/>
                  </a:cubicBezTo>
                  <a:close/>
                  <a:moveTo>
                    <a:pt x="258" y="511"/>
                  </a:moveTo>
                  <a:cubicBezTo>
                    <a:pt x="119" y="511"/>
                    <a:pt x="5" y="398"/>
                    <a:pt x="5" y="258"/>
                  </a:cubicBezTo>
                  <a:cubicBezTo>
                    <a:pt x="5" y="119"/>
                    <a:pt x="119" y="6"/>
                    <a:pt x="258" y="6"/>
                  </a:cubicBezTo>
                  <a:cubicBezTo>
                    <a:pt x="398" y="6"/>
                    <a:pt x="511" y="119"/>
                    <a:pt x="511" y="258"/>
                  </a:cubicBezTo>
                  <a:cubicBezTo>
                    <a:pt x="511" y="398"/>
                    <a:pt x="398" y="511"/>
                    <a:pt x="258" y="511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7" name="ísliďè">
              <a:extLst>
                <a:ext uri="{FF2B5EF4-FFF2-40B4-BE49-F238E27FC236}">
                  <a16:creationId xmlns:a16="http://schemas.microsoft.com/office/drawing/2014/main" id="{F7A14C12-E6F1-98DE-0AFF-3CC2A97B1FD7}"/>
                </a:ext>
              </a:extLst>
            </p:cNvPr>
            <p:cNvSpPr/>
            <p:nvPr/>
          </p:nvSpPr>
          <p:spPr bwMode="auto">
            <a:xfrm>
              <a:off x="2332038" y="2790826"/>
              <a:ext cx="1273175" cy="1279525"/>
            </a:xfrm>
            <a:custGeom>
              <a:avLst/>
              <a:gdLst>
                <a:gd name="T0" fmla="*/ 176 w 353"/>
                <a:gd name="T1" fmla="*/ 0 h 353"/>
                <a:gd name="T2" fmla="*/ 0 w 353"/>
                <a:gd name="T3" fmla="*/ 176 h 353"/>
                <a:gd name="T4" fmla="*/ 176 w 353"/>
                <a:gd name="T5" fmla="*/ 353 h 353"/>
                <a:gd name="T6" fmla="*/ 353 w 353"/>
                <a:gd name="T7" fmla="*/ 176 h 353"/>
                <a:gd name="T8" fmla="*/ 176 w 353"/>
                <a:gd name="T9" fmla="*/ 0 h 353"/>
                <a:gd name="T10" fmla="*/ 176 w 353"/>
                <a:gd name="T11" fmla="*/ 347 h 353"/>
                <a:gd name="T12" fmla="*/ 6 w 353"/>
                <a:gd name="T13" fmla="*/ 176 h 353"/>
                <a:gd name="T14" fmla="*/ 176 w 353"/>
                <a:gd name="T15" fmla="*/ 6 h 353"/>
                <a:gd name="T16" fmla="*/ 347 w 353"/>
                <a:gd name="T17" fmla="*/ 176 h 353"/>
                <a:gd name="T18" fmla="*/ 176 w 353"/>
                <a:gd name="T19" fmla="*/ 347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3" h="353">
                  <a:moveTo>
                    <a:pt x="176" y="0"/>
                  </a:moveTo>
                  <a:cubicBezTo>
                    <a:pt x="79" y="0"/>
                    <a:pt x="0" y="79"/>
                    <a:pt x="0" y="176"/>
                  </a:cubicBezTo>
                  <a:cubicBezTo>
                    <a:pt x="0" y="274"/>
                    <a:pt x="79" y="353"/>
                    <a:pt x="176" y="353"/>
                  </a:cubicBezTo>
                  <a:cubicBezTo>
                    <a:pt x="274" y="353"/>
                    <a:pt x="353" y="274"/>
                    <a:pt x="353" y="176"/>
                  </a:cubicBezTo>
                  <a:cubicBezTo>
                    <a:pt x="353" y="79"/>
                    <a:pt x="274" y="0"/>
                    <a:pt x="176" y="0"/>
                  </a:cubicBezTo>
                  <a:close/>
                  <a:moveTo>
                    <a:pt x="176" y="347"/>
                  </a:moveTo>
                  <a:cubicBezTo>
                    <a:pt x="82" y="347"/>
                    <a:pt x="6" y="271"/>
                    <a:pt x="6" y="176"/>
                  </a:cubicBezTo>
                  <a:cubicBezTo>
                    <a:pt x="6" y="82"/>
                    <a:pt x="82" y="6"/>
                    <a:pt x="176" y="6"/>
                  </a:cubicBezTo>
                  <a:cubicBezTo>
                    <a:pt x="270" y="6"/>
                    <a:pt x="347" y="82"/>
                    <a:pt x="347" y="176"/>
                  </a:cubicBezTo>
                  <a:cubicBezTo>
                    <a:pt x="347" y="271"/>
                    <a:pt x="270" y="347"/>
                    <a:pt x="176" y="347"/>
                  </a:cubicBez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8" name="ïsḷíḍé">
              <a:extLst>
                <a:ext uri="{FF2B5EF4-FFF2-40B4-BE49-F238E27FC236}">
                  <a16:creationId xmlns:a16="http://schemas.microsoft.com/office/drawing/2014/main" id="{62621E6E-DDFE-9F21-3C2F-2FEC965A5B37}"/>
                </a:ext>
              </a:extLst>
            </p:cNvPr>
            <p:cNvSpPr/>
            <p:nvPr/>
          </p:nvSpPr>
          <p:spPr bwMode="auto">
            <a:xfrm>
              <a:off x="2706688" y="3098801"/>
              <a:ext cx="519113" cy="65088"/>
            </a:xfrm>
            <a:custGeom>
              <a:avLst/>
              <a:gdLst>
                <a:gd name="T0" fmla="*/ 0 w 144"/>
                <a:gd name="T1" fmla="*/ 4 h 18"/>
                <a:gd name="T2" fmla="*/ 72 w 144"/>
                <a:gd name="T3" fmla="*/ 18 h 18"/>
                <a:gd name="T4" fmla="*/ 144 w 144"/>
                <a:gd name="T5" fmla="*/ 4 h 18"/>
                <a:gd name="T6" fmla="*/ 144 w 144"/>
                <a:gd name="T7" fmla="*/ 0 h 18"/>
                <a:gd name="T8" fmla="*/ 72 w 144"/>
                <a:gd name="T9" fmla="*/ 14 h 18"/>
                <a:gd name="T10" fmla="*/ 0 w 144"/>
                <a:gd name="T11" fmla="*/ 0 h 18"/>
                <a:gd name="T12" fmla="*/ 0 w 144"/>
                <a:gd name="T13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8">
                  <a:moveTo>
                    <a:pt x="0" y="4"/>
                  </a:moveTo>
                  <a:cubicBezTo>
                    <a:pt x="32" y="4"/>
                    <a:pt x="59" y="4"/>
                    <a:pt x="72" y="18"/>
                  </a:cubicBezTo>
                  <a:cubicBezTo>
                    <a:pt x="86" y="4"/>
                    <a:pt x="112" y="4"/>
                    <a:pt x="144" y="4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12" y="0"/>
                    <a:pt x="86" y="0"/>
                    <a:pt x="72" y="14"/>
                  </a:cubicBezTo>
                  <a:cubicBezTo>
                    <a:pt x="59" y="0"/>
                    <a:pt x="32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9" name="ïšlîḑê">
              <a:extLst>
                <a:ext uri="{FF2B5EF4-FFF2-40B4-BE49-F238E27FC236}">
                  <a16:creationId xmlns:a16="http://schemas.microsoft.com/office/drawing/2014/main" id="{8B277695-7A9D-408F-9405-D4C864F0658A}"/>
                </a:ext>
              </a:extLst>
            </p:cNvPr>
            <p:cNvSpPr/>
            <p:nvPr/>
          </p:nvSpPr>
          <p:spPr bwMode="auto">
            <a:xfrm>
              <a:off x="2706688" y="3146426"/>
              <a:ext cx="519113" cy="68263"/>
            </a:xfrm>
            <a:custGeom>
              <a:avLst/>
              <a:gdLst>
                <a:gd name="T0" fmla="*/ 0 w 144"/>
                <a:gd name="T1" fmla="*/ 0 h 19"/>
                <a:gd name="T2" fmla="*/ 72 w 144"/>
                <a:gd name="T3" fmla="*/ 14 h 19"/>
                <a:gd name="T4" fmla="*/ 144 w 144"/>
                <a:gd name="T5" fmla="*/ 0 h 19"/>
                <a:gd name="T6" fmla="*/ 144 w 144"/>
                <a:gd name="T7" fmla="*/ 6 h 19"/>
                <a:gd name="T8" fmla="*/ 72 w 144"/>
                <a:gd name="T9" fmla="*/ 19 h 19"/>
                <a:gd name="T10" fmla="*/ 0 w 144"/>
                <a:gd name="T11" fmla="*/ 6 h 19"/>
                <a:gd name="T12" fmla="*/ 0 w 144"/>
                <a:gd name="T13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19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6"/>
                    <a:pt x="144" y="6"/>
                    <a:pt x="144" y="6"/>
                  </a:cubicBezTo>
                  <a:cubicBezTo>
                    <a:pt x="112" y="6"/>
                    <a:pt x="86" y="5"/>
                    <a:pt x="72" y="19"/>
                  </a:cubicBezTo>
                  <a:cubicBezTo>
                    <a:pt x="59" y="5"/>
                    <a:pt x="32" y="6"/>
                    <a:pt x="0" y="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0" name="îṧḻîḓé">
              <a:extLst>
                <a:ext uri="{FF2B5EF4-FFF2-40B4-BE49-F238E27FC236}">
                  <a16:creationId xmlns:a16="http://schemas.microsoft.com/office/drawing/2014/main" id="{4649DC98-072C-C099-AEFA-7D4D2FC044DC}"/>
                </a:ext>
              </a:extLst>
            </p:cNvPr>
            <p:cNvSpPr/>
            <p:nvPr/>
          </p:nvSpPr>
          <p:spPr bwMode="auto">
            <a:xfrm>
              <a:off x="2706688" y="3194051"/>
              <a:ext cx="519113" cy="76200"/>
            </a:xfrm>
            <a:custGeom>
              <a:avLst/>
              <a:gdLst>
                <a:gd name="T0" fmla="*/ 0 w 144"/>
                <a:gd name="T1" fmla="*/ 0 h 21"/>
                <a:gd name="T2" fmla="*/ 72 w 144"/>
                <a:gd name="T3" fmla="*/ 14 h 21"/>
                <a:gd name="T4" fmla="*/ 144 w 144"/>
                <a:gd name="T5" fmla="*/ 0 h 21"/>
                <a:gd name="T6" fmla="*/ 144 w 144"/>
                <a:gd name="T7" fmla="*/ 7 h 21"/>
                <a:gd name="T8" fmla="*/ 72 w 144"/>
                <a:gd name="T9" fmla="*/ 21 h 21"/>
                <a:gd name="T10" fmla="*/ 0 w 144"/>
                <a:gd name="T11" fmla="*/ 7 h 21"/>
                <a:gd name="T12" fmla="*/ 0 w 144"/>
                <a:gd name="T13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1">
                  <a:moveTo>
                    <a:pt x="0" y="0"/>
                  </a:moveTo>
                  <a:cubicBezTo>
                    <a:pt x="32" y="0"/>
                    <a:pt x="59" y="0"/>
                    <a:pt x="72" y="14"/>
                  </a:cubicBezTo>
                  <a:cubicBezTo>
                    <a:pt x="86" y="0"/>
                    <a:pt x="112" y="0"/>
                    <a:pt x="144" y="0"/>
                  </a:cubicBezTo>
                  <a:cubicBezTo>
                    <a:pt x="144" y="7"/>
                    <a:pt x="144" y="7"/>
                    <a:pt x="144" y="7"/>
                  </a:cubicBezTo>
                  <a:cubicBezTo>
                    <a:pt x="112" y="7"/>
                    <a:pt x="86" y="7"/>
                    <a:pt x="72" y="21"/>
                  </a:cubicBezTo>
                  <a:cubicBezTo>
                    <a:pt x="59" y="7"/>
                    <a:pt x="32" y="7"/>
                    <a:pt x="0" y="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1" name="iśļîḋê">
              <a:extLst>
                <a:ext uri="{FF2B5EF4-FFF2-40B4-BE49-F238E27FC236}">
                  <a16:creationId xmlns:a16="http://schemas.microsoft.com/office/drawing/2014/main" id="{FEC0BED0-5E03-86ED-8D1D-716D21C8F065}"/>
                </a:ext>
              </a:extLst>
            </p:cNvPr>
            <p:cNvSpPr/>
            <p:nvPr/>
          </p:nvSpPr>
          <p:spPr bwMode="auto">
            <a:xfrm>
              <a:off x="2706688" y="3236913"/>
              <a:ext cx="519113" cy="84138"/>
            </a:xfrm>
            <a:custGeom>
              <a:avLst/>
              <a:gdLst>
                <a:gd name="T0" fmla="*/ 0 w 144"/>
                <a:gd name="T1" fmla="*/ 1 h 23"/>
                <a:gd name="T2" fmla="*/ 72 w 144"/>
                <a:gd name="T3" fmla="*/ 14 h 23"/>
                <a:gd name="T4" fmla="*/ 144 w 144"/>
                <a:gd name="T5" fmla="*/ 1 h 23"/>
                <a:gd name="T6" fmla="*/ 144 w 144"/>
                <a:gd name="T7" fmla="*/ 9 h 23"/>
                <a:gd name="T8" fmla="*/ 72 w 144"/>
                <a:gd name="T9" fmla="*/ 23 h 23"/>
                <a:gd name="T10" fmla="*/ 0 w 144"/>
                <a:gd name="T11" fmla="*/ 9 h 23"/>
                <a:gd name="T12" fmla="*/ 0 w 144"/>
                <a:gd name="T13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4" h="23">
                  <a:moveTo>
                    <a:pt x="0" y="1"/>
                  </a:moveTo>
                  <a:cubicBezTo>
                    <a:pt x="32" y="1"/>
                    <a:pt x="59" y="0"/>
                    <a:pt x="72" y="14"/>
                  </a:cubicBezTo>
                  <a:cubicBezTo>
                    <a:pt x="86" y="0"/>
                    <a:pt x="112" y="1"/>
                    <a:pt x="144" y="1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12" y="9"/>
                    <a:pt x="86" y="9"/>
                    <a:pt x="72" y="23"/>
                  </a:cubicBezTo>
                  <a:cubicBezTo>
                    <a:pt x="59" y="9"/>
                    <a:pt x="32" y="9"/>
                    <a:pt x="0" y="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992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163" name="标题 5">
            <a:extLst>
              <a:ext uri="{FF2B5EF4-FFF2-40B4-BE49-F238E27FC236}">
                <a16:creationId xmlns:a16="http://schemas.microsoft.com/office/drawing/2014/main" id="{2CE6E157-70B1-4848-AAFD-A9B317C8FA93}"/>
              </a:ext>
            </a:extLst>
          </p:cNvPr>
          <p:cNvSpPr txBox="1">
            <a:spLocks/>
          </p:cNvSpPr>
          <p:nvPr/>
        </p:nvSpPr>
        <p:spPr>
          <a:xfrm>
            <a:off x="2714048" y="4170858"/>
            <a:ext cx="7198350" cy="7059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spc="600" dirty="0">
                <a:solidFill>
                  <a:schemeClr val="bg1"/>
                </a:solidFill>
                <a:latin typeface="+mj-ea"/>
                <a:ea typeface="+mj-ea"/>
                <a:cs typeface="+mn-ea"/>
              </a:defRPr>
            </a:lvl1pPr>
          </a:lstStyle>
          <a:p>
            <a:r>
              <a:rPr lang="zh-CN" altLang="en-US" sz="4400" dirty="0"/>
              <a:t>第</a:t>
            </a:r>
            <a:r>
              <a:rPr lang="en-US" altLang="zh-CN" sz="4400" dirty="0"/>
              <a:t>6</a:t>
            </a:r>
            <a:r>
              <a:rPr lang="zh-CN" altLang="en-US" sz="4400" dirty="0"/>
              <a:t>章 特殊的图</a:t>
            </a:r>
          </a:p>
        </p:txBody>
      </p:sp>
    </p:spTree>
    <p:extLst>
      <p:ext uri="{BB962C8B-B14F-4D97-AF65-F5344CB8AC3E}">
        <p14:creationId xmlns:p14="http://schemas.microsoft.com/office/powerpoint/2010/main" val="2876387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449">
            <a:extLst>
              <a:ext uri="{FF2B5EF4-FFF2-40B4-BE49-F238E27FC236}">
                <a16:creationId xmlns:a16="http://schemas.microsoft.com/office/drawing/2014/main" id="{0289E47D-B460-493D-B409-620D72ED5CE9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3573608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主要内容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0F0531-65C4-40EE-8659-50983D5E3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96" y="1667774"/>
            <a:ext cx="82296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65000"/>
              </a:spcBef>
              <a:buSzPct val="150000"/>
              <a:buFont typeface="Wingdings" panose="05000000000000000000" pitchFamily="2" charset="2"/>
              <a:buNone/>
            </a:pP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6.1 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二部图</a:t>
            </a:r>
          </a:p>
          <a:p>
            <a:pPr algn="just" eaLnBrk="1" hangingPunct="1">
              <a:lnSpc>
                <a:spcPct val="150000"/>
              </a:lnSpc>
              <a:spcBef>
                <a:spcPct val="65000"/>
              </a:spcBef>
              <a:buSzPct val="150000"/>
              <a:buFont typeface="Wingdings" panose="05000000000000000000" pitchFamily="2" charset="2"/>
              <a:buNone/>
            </a:pP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6.2 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欧拉图</a:t>
            </a:r>
          </a:p>
          <a:p>
            <a:pPr algn="just" eaLnBrk="1" hangingPunct="1">
              <a:lnSpc>
                <a:spcPct val="150000"/>
              </a:lnSpc>
              <a:spcBef>
                <a:spcPct val="65000"/>
              </a:spcBef>
              <a:buSzPct val="150000"/>
              <a:buFont typeface="Wingdings" panose="05000000000000000000" pitchFamily="2" charset="2"/>
              <a:buNone/>
            </a:pP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6.3 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</a:p>
          <a:p>
            <a:pPr eaLnBrk="1" hangingPunct="1">
              <a:lnSpc>
                <a:spcPct val="150000"/>
              </a:lnSpc>
              <a:spcBef>
                <a:spcPct val="65000"/>
              </a:spcBef>
              <a:buSzPct val="150000"/>
              <a:buFont typeface="Wingdings" panose="05000000000000000000" pitchFamily="2" charset="2"/>
              <a:buNone/>
            </a:pPr>
            <a:r>
              <a:rPr lang="en-US" altLang="zh-CN" b="1" kern="0" dirty="0">
                <a:solidFill>
                  <a:schemeClr val="bg1">
                    <a:lumMod val="8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6.4 </a:t>
            </a:r>
            <a:r>
              <a:rPr lang="zh-CN" altLang="en-US" b="1" kern="0" dirty="0">
                <a:solidFill>
                  <a:schemeClr val="bg1">
                    <a:lumMod val="8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平面图 </a:t>
            </a:r>
          </a:p>
        </p:txBody>
      </p:sp>
    </p:spTree>
    <p:extLst>
      <p:ext uri="{BB962C8B-B14F-4D97-AF65-F5344CB8AC3E}">
        <p14:creationId xmlns:p14="http://schemas.microsoft.com/office/powerpoint/2010/main" val="396495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93F49E98-95F4-4825-9014-9F565B7B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7" y="1734235"/>
            <a:ext cx="11457407" cy="160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若能将无向图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en-US" altLang="zh-CN" kern="0" dirty="0">
                <a:latin typeface="Times New Roman" panose="02020603050405020304" pitchFamily="18" charset="0"/>
              </a:rPr>
              <a:t>=&lt;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Times New Roman" panose="02020603050405020304" pitchFamily="18" charset="0"/>
              </a:rPr>
              <a:t>&gt;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的顶点集</a:t>
            </a:r>
            <a:r>
              <a:rPr lang="en-US" altLang="zh-CN" i="1" kern="0" dirty="0">
                <a:latin typeface="Times New Roman" panose="02020603050405020304" pitchFamily="18" charset="0"/>
              </a:rPr>
              <a:t>V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分成两个不相交的非空子集</a:t>
            </a:r>
            <a:r>
              <a:rPr lang="zh-CN" altLang="en-US" kern="0" dirty="0">
                <a:latin typeface="Times New Roman" panose="02020603050405020304" pitchFamily="18" charset="0"/>
              </a:rPr>
              <a:t> 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kern="0" dirty="0"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lang="zh-CN" altLang="en-US" kern="0" dirty="0">
                <a:latin typeface="Times New Roman" panose="02020603050405020304" pitchFamily="18" charset="0"/>
              </a:rPr>
              <a:t> </a:t>
            </a:r>
            <a:r>
              <a:rPr lang="en-US" altLang="zh-CN" i="1" kern="0" dirty="0">
                <a:latin typeface="Times New Roman" panose="02020603050405020304" pitchFamily="18" charset="0"/>
              </a:rPr>
              <a:t>G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中任意一条边的两个端点一个属于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另一个属于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Times New Roman" panose="02020603050405020304" pitchFamily="18" charset="0"/>
              </a:rPr>
              <a:t>，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则称 </a:t>
            </a:r>
            <a:r>
              <a:rPr lang="en-US" altLang="zh-CN" i="1" kern="0" dirty="0">
                <a:latin typeface="Times New Roman" panose="02020603050405020304" pitchFamily="18" charset="0"/>
              </a:rPr>
              <a:t>G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二部图</a:t>
            </a:r>
            <a:r>
              <a:rPr lang="zh-CN" altLang="en-US" kern="0" dirty="0">
                <a:solidFill>
                  <a:srgbClr val="A50021"/>
                </a:solidFill>
                <a:latin typeface="Times New Roman" panose="02020603050405020304" pitchFamily="18" charset="0"/>
              </a:rPr>
              <a:t> </a:t>
            </a:r>
            <a:endParaRPr lang="en-US" altLang="zh-CN" kern="0" dirty="0">
              <a:solidFill>
                <a:srgbClr val="A50021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( 或称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二分图、偶图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等 )，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互补顶点子集</a:t>
            </a:r>
            <a:r>
              <a:rPr lang="zh-CN" altLang="en-US" kern="0" dirty="0">
                <a:latin typeface="Times New Roman" panose="02020603050405020304" pitchFamily="18" charset="0"/>
              </a:rPr>
              <a:t>，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常将二部图</a:t>
            </a:r>
            <a:r>
              <a:rPr lang="en-US" altLang="zh-CN" i="1" kern="0" dirty="0">
                <a:latin typeface="Times New Roman" panose="02020603050405020304" pitchFamily="18" charset="0"/>
              </a:rPr>
              <a:t>G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记为</a:t>
            </a:r>
            <a:r>
              <a:rPr lang="zh-CN" altLang="en-US" kern="0" dirty="0">
                <a:latin typeface="Times New Roman" panose="02020603050405020304" pitchFamily="18" charset="0"/>
              </a:rPr>
              <a:t>&lt;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kern="0" baseline="-25000" dirty="0" err="1">
                <a:latin typeface="Times New Roman" panose="02020603050405020304" pitchFamily="18" charset="0"/>
              </a:rPr>
              <a:t>2</a:t>
            </a:r>
            <a:r>
              <a:rPr lang="en-US" altLang="zh-CN" kern="0" dirty="0" err="1">
                <a:latin typeface="Times New Roman" panose="02020603050405020304" pitchFamily="18" charset="0"/>
              </a:rPr>
              <a:t>,</a:t>
            </a:r>
            <a:r>
              <a:rPr lang="en-US" altLang="zh-CN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kern="0" dirty="0">
                <a:latin typeface="Times New Roman" panose="02020603050405020304" pitchFamily="18" charset="0"/>
              </a:rPr>
              <a:t>&gt;. </a:t>
            </a:r>
            <a:endParaRPr lang="zh-CN" altLang="en-US" kern="0" dirty="0">
              <a:latin typeface="Times New Roman" panose="02020603050405020304" pitchFamily="18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CE6B7EE6-DA40-4736-894C-441BCEB16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2" y="4326622"/>
            <a:ext cx="11060591" cy="19446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2200">
                <a:solidFill>
                  <a:schemeClr val="tx1"/>
                </a:solidFill>
                <a:latin typeface="+mn-lt"/>
                <a:ea typeface="华文中宋" pitchFamily="2" charset="-122"/>
              </a:defRPr>
            </a:lvl9pPr>
          </a:lstStyle>
          <a:p>
            <a:pPr marL="457200" indent="-457200" eaLnBrk="1" hangingPunct="1">
              <a:spcBef>
                <a:spcPct val="6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中每个顶点与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中每个顶点均有且仅有一条边相关联邻，则称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完全二部</a:t>
            </a:r>
            <a:endParaRPr lang="en-US" altLang="zh-CN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spcBef>
                <a:spcPct val="60000"/>
              </a:spcBef>
              <a:buNone/>
              <a:defRPr/>
            </a:pP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(完全</a:t>
            </a:r>
            <a:r>
              <a:rPr lang="zh-CN" altLang="en-US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偶图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等)。当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|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1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|= 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，|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V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2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|=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m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时，完全二部图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G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记为 </a:t>
            </a:r>
            <a:r>
              <a:rPr lang="en-US" altLang="zh-CN" i="1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K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</a:t>
            </a:r>
            <a:r>
              <a:rPr lang="en-US" altLang="zh-CN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,</a:t>
            </a:r>
            <a:r>
              <a:rPr lang="en-US" altLang="zh-CN" i="1" kern="0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m</a:t>
            </a:r>
            <a:r>
              <a:rPr lang="en-US" altLang="zh-CN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. </a:t>
            </a: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endParaRPr lang="en-US" altLang="zh-CN" kern="0" dirty="0">
              <a:solidFill>
                <a:srgbClr val="000000"/>
              </a:solidFill>
              <a:latin typeface="Times New Roman" panose="02020603050405020304" pitchFamily="18" charset="0"/>
              <a:ea typeface="宋体"/>
            </a:endParaRPr>
          </a:p>
          <a:p>
            <a:pPr marL="457200" indent="-457200" eaLnBrk="1" hangingPunct="1">
              <a:buFont typeface="Wingdings" panose="05000000000000000000" pitchFamily="2" charset="2"/>
              <a:buNone/>
              <a:defRPr/>
            </a:pP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注意，</a:t>
            </a:r>
            <a:r>
              <a:rPr lang="en-US" altLang="zh-CN" i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n </a:t>
            </a:r>
            <a:r>
              <a:rPr lang="zh-CN" altLang="en-US" kern="0" dirty="0">
                <a:latin typeface="黑体" panose="02010609060101010101" pitchFamily="49" charset="-122"/>
                <a:ea typeface="黑体" panose="02010609060101010101" pitchFamily="49" charset="-122"/>
              </a:rPr>
              <a:t>阶零图为二部图.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4A1C0A-6611-4351-914E-859A1FBD5773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6CBECC-1755-4C45-A03C-BCA24082F965}"/>
              </a:ext>
            </a:extLst>
          </p:cNvPr>
          <p:cNvSpPr txBox="1"/>
          <p:nvPr/>
        </p:nvSpPr>
        <p:spPr>
          <a:xfrm>
            <a:off x="3149818" y="966591"/>
            <a:ext cx="1862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33B6A1-9328-4763-B4B2-62DCE3CCD22D}"/>
              </a:ext>
            </a:extLst>
          </p:cNvPr>
          <p:cNvSpPr txBox="1"/>
          <p:nvPr/>
        </p:nvSpPr>
        <p:spPr>
          <a:xfrm>
            <a:off x="9793611" y="977361"/>
            <a:ext cx="1939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A076ED-8255-4342-9899-58CAD121A3ED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</p:spTree>
    <p:extLst>
      <p:ext uri="{BB962C8B-B14F-4D97-AF65-F5344CB8AC3E}">
        <p14:creationId xmlns:p14="http://schemas.microsoft.com/office/powerpoint/2010/main" val="421998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B1E58F0-F356-4CB1-AB20-AC92569DDC5F}"/>
              </a:ext>
            </a:extLst>
          </p:cNvPr>
          <p:cNvSpPr txBox="1">
            <a:spLocks noChangeArrowheads="1"/>
          </p:cNvSpPr>
          <p:nvPr/>
        </p:nvSpPr>
        <p:spPr>
          <a:xfrm>
            <a:off x="577189" y="1432074"/>
            <a:ext cx="10950876" cy="7194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.1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无向图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400" b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二部图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当且仅当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sz="2400" b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无奇圈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（长度为奇数的回路）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5D986B-09C8-448A-9F96-0A8FC2ADCF67}"/>
              </a:ext>
            </a:extLst>
          </p:cNvPr>
          <p:cNvSpPr txBox="1"/>
          <p:nvPr/>
        </p:nvSpPr>
        <p:spPr>
          <a:xfrm>
            <a:off x="568036" y="949038"/>
            <a:ext cx="1482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EE1821-2566-4924-BBB1-EAFCBC116846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C41E916-FD33-40B0-928F-F20B38BB9993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1B0E8EF-D087-46A0-8786-30F52D1B475F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E1D9790-37A5-4CFA-B4E4-D41FDD2D675B}"/>
              </a:ext>
            </a:extLst>
          </p:cNvPr>
          <p:cNvSpPr txBox="1">
            <a:spLocks noChangeArrowheads="1"/>
          </p:cNvSpPr>
          <p:nvPr/>
        </p:nvSpPr>
        <p:spPr>
          <a:xfrm>
            <a:off x="611847" y="2505639"/>
            <a:ext cx="8229600" cy="6905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</a:rPr>
              <a:t>例 下述各图是否是二部图</a:t>
            </a:r>
            <a:r>
              <a:rPr lang="en-US" altLang="zh-CN" sz="2200" b="1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Picture 5" descr="14-9">
            <a:extLst>
              <a:ext uri="{FF2B5EF4-FFF2-40B4-BE49-F238E27FC236}">
                <a16:creationId xmlns:a16="http://schemas.microsoft.com/office/drawing/2014/main" id="{82AED6C2-EF08-48F5-A2DD-E6CAC3517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5" t="55583" r="-858" b="1984"/>
          <a:stretch>
            <a:fillRect/>
          </a:stretch>
        </p:blipFill>
        <p:spPr bwMode="auto">
          <a:xfrm>
            <a:off x="2797835" y="4839264"/>
            <a:ext cx="1428750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 descr="14-9">
            <a:extLst>
              <a:ext uri="{FF2B5EF4-FFF2-40B4-BE49-F238E27FC236}">
                <a16:creationId xmlns:a16="http://schemas.microsoft.com/office/drawing/2014/main" id="{FDD6E7D5-1558-4A6E-BD26-CCDD8730C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55" t="50819" r="38988" b="49"/>
          <a:stretch>
            <a:fillRect/>
          </a:stretch>
        </p:blipFill>
        <p:spPr bwMode="auto">
          <a:xfrm>
            <a:off x="4655210" y="4696389"/>
            <a:ext cx="1357312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" descr="D:\离散数学(范素珍)\tp\8T1.tif">
            <a:extLst>
              <a:ext uri="{FF2B5EF4-FFF2-40B4-BE49-F238E27FC236}">
                <a16:creationId xmlns:a16="http://schemas.microsoft.com/office/drawing/2014/main" id="{AFCDB13D-618E-4065-9F66-79001289C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2" t="4744" r="49219" b="57870"/>
          <a:stretch>
            <a:fillRect/>
          </a:stretch>
        </p:blipFill>
        <p:spPr bwMode="auto">
          <a:xfrm>
            <a:off x="869022" y="4839264"/>
            <a:ext cx="1785938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组合 14">
            <a:extLst>
              <a:ext uri="{FF2B5EF4-FFF2-40B4-BE49-F238E27FC236}">
                <a16:creationId xmlns:a16="http://schemas.microsoft.com/office/drawing/2014/main" id="{D7C98A64-ACEA-4810-9D68-4A8043F996F1}"/>
              </a:ext>
            </a:extLst>
          </p:cNvPr>
          <p:cNvGrpSpPr>
            <a:grpSpLocks/>
          </p:cNvGrpSpPr>
          <p:nvPr/>
        </p:nvGrpSpPr>
        <p:grpSpPr bwMode="auto">
          <a:xfrm>
            <a:off x="949985" y="3123177"/>
            <a:ext cx="7178675" cy="1501775"/>
            <a:chOff x="795310" y="2141530"/>
            <a:chExt cx="7177933" cy="1501784"/>
          </a:xfrm>
        </p:grpSpPr>
        <p:pic>
          <p:nvPicPr>
            <p:cNvPr id="23" name="Picture 5" descr="14-9">
              <a:extLst>
                <a:ext uri="{FF2B5EF4-FFF2-40B4-BE49-F238E27FC236}">
                  <a16:creationId xmlns:a16="http://schemas.microsoft.com/office/drawing/2014/main" id="{12506ACB-0A49-44CA-BA21-41A9EC7B93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704" r="-1245" b="53052"/>
            <a:stretch>
              <a:fillRect/>
            </a:stretch>
          </p:blipFill>
          <p:spPr bwMode="auto">
            <a:xfrm>
              <a:off x="4143372" y="2141530"/>
              <a:ext cx="1866944" cy="1501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6" descr="D:\离散数学(范素珍)\tp\8T1.tif">
              <a:extLst>
                <a:ext uri="{FF2B5EF4-FFF2-40B4-BE49-F238E27FC236}">
                  <a16:creationId xmlns:a16="http://schemas.microsoft.com/office/drawing/2014/main" id="{544D10AC-F28C-46E8-A1F0-2D9071E1CC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813" t="4744" r="27344" b="57870"/>
            <a:stretch>
              <a:fillRect/>
            </a:stretch>
          </p:blipFill>
          <p:spPr bwMode="auto">
            <a:xfrm>
              <a:off x="2786050" y="2214554"/>
              <a:ext cx="1357322" cy="1357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6" descr="D:\离散数学(范素珍)\tp\8T1.tif">
              <a:extLst>
                <a:ext uri="{FF2B5EF4-FFF2-40B4-BE49-F238E27FC236}">
                  <a16:creationId xmlns:a16="http://schemas.microsoft.com/office/drawing/2014/main" id="{AE11FE3F-CC9F-4069-9168-55C5710569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375" t="4744" r="72760" b="57870"/>
            <a:stretch>
              <a:fillRect/>
            </a:stretch>
          </p:blipFill>
          <p:spPr bwMode="auto">
            <a:xfrm>
              <a:off x="795310" y="2214554"/>
              <a:ext cx="1633550" cy="1357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7" descr="D:\离散数学(范素珍)\tp\8T2.tif">
              <a:extLst>
                <a:ext uri="{FF2B5EF4-FFF2-40B4-BE49-F238E27FC236}">
                  <a16:creationId xmlns:a16="http://schemas.microsoft.com/office/drawing/2014/main" id="{3EC50CC6-70CC-42B4-AA00-8F9AB872D5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688" t="10648" r="36719" b="18518"/>
            <a:stretch>
              <a:fillRect/>
            </a:stretch>
          </p:blipFill>
          <p:spPr bwMode="auto">
            <a:xfrm>
              <a:off x="6429388" y="2285992"/>
              <a:ext cx="1543855" cy="1292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TextBox 15">
            <a:extLst>
              <a:ext uri="{FF2B5EF4-FFF2-40B4-BE49-F238E27FC236}">
                <a16:creationId xmlns:a16="http://schemas.microsoft.com/office/drawing/2014/main" id="{55A5F214-2614-4777-B2DA-ED6E39F0D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1210" y="5339327"/>
            <a:ext cx="10001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200" b="1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</p:spTree>
    <p:extLst>
      <p:ext uri="{BB962C8B-B14F-4D97-AF65-F5344CB8AC3E}">
        <p14:creationId xmlns:p14="http://schemas.microsoft.com/office/powerpoint/2010/main" val="284265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8A10272-6FA8-42B5-9C14-824B5C535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6"/>
            <a:ext cx="10892676" cy="114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</a:t>
            </a:r>
            <a:endParaRPr lang="en-US" altLang="zh-CN" sz="2400" b="1" i="1" kern="0" dirty="0"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E531DBD7-70A6-4B69-ACF1-01788F838192}"/>
              </a:ext>
            </a:extLst>
          </p:cNvPr>
          <p:cNvSpPr txBox="1">
            <a:spLocks noChangeArrowheads="1"/>
          </p:cNvSpPr>
          <p:nvPr/>
        </p:nvSpPr>
        <p:spPr>
          <a:xfrm>
            <a:off x="1917700" y="1806575"/>
            <a:ext cx="8229600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G=&lt;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为无向图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匹配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边独立集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任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条边均不相邻的边子集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极大匹配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添加任一条边后都不再是匹配的匹配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最大匹配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边数最多的匹配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匹配数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最大匹配中的边数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记为</a:t>
            </a:r>
            <a:r>
              <a:rPr lang="zh-CN" altLang="en-US" sz="2200" b="1" i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</a:t>
            </a:r>
            <a:r>
              <a:rPr lang="en-US" altLang="zh-CN" sz="2200" b="1" baseline="-30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200" b="1" dirty="0">
                <a:solidFill>
                  <a:srgbClr val="00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9" name="组合 60">
            <a:extLst>
              <a:ext uri="{FF2B5EF4-FFF2-40B4-BE49-F238E27FC236}">
                <a16:creationId xmlns:a16="http://schemas.microsoft.com/office/drawing/2014/main" id="{6EAC095C-E165-4048-9625-4C76BC91E825}"/>
              </a:ext>
            </a:extLst>
          </p:cNvPr>
          <p:cNvGrpSpPr>
            <a:grpSpLocks/>
          </p:cNvGrpSpPr>
          <p:nvPr/>
        </p:nvGrpSpPr>
        <p:grpSpPr bwMode="auto">
          <a:xfrm>
            <a:off x="3702050" y="5100353"/>
            <a:ext cx="5000631" cy="1757647"/>
            <a:chOff x="2285984" y="4357694"/>
            <a:chExt cx="5000666" cy="1757369"/>
          </a:xfrm>
        </p:grpSpPr>
        <p:grpSp>
          <p:nvGrpSpPr>
            <p:cNvPr id="60" name="组合 56">
              <a:extLst>
                <a:ext uri="{FF2B5EF4-FFF2-40B4-BE49-F238E27FC236}">
                  <a16:creationId xmlns:a16="http://schemas.microsoft.com/office/drawing/2014/main" id="{54898F40-DA60-4A40-94F3-A008ADDB75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5984" y="4357694"/>
              <a:ext cx="4000528" cy="1214446"/>
              <a:chOff x="1785918" y="4429132"/>
              <a:chExt cx="3357586" cy="930282"/>
            </a:xfrm>
          </p:grpSpPr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EE9F3BCB-ACC1-4DEC-983D-762EB1736E5E}"/>
                  </a:ext>
                </a:extLst>
              </p:cNvPr>
              <p:cNvSpPr/>
              <p:nvPr/>
            </p:nvSpPr>
            <p:spPr>
              <a:xfrm>
                <a:off x="2071046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151E6F38-3DBA-457B-A998-CDB799935E98}"/>
                  </a:ext>
                </a:extLst>
              </p:cNvPr>
              <p:cNvSpPr/>
              <p:nvPr/>
            </p:nvSpPr>
            <p:spPr>
              <a:xfrm>
                <a:off x="2642636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B503EE96-44BB-423F-877B-5CD2CA7C8233}"/>
                  </a:ext>
                </a:extLst>
              </p:cNvPr>
              <p:cNvSpPr/>
              <p:nvPr/>
            </p:nvSpPr>
            <p:spPr>
              <a:xfrm>
                <a:off x="1785918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2FD4C0C5-A427-450B-B6AD-B9F3716E5E32}"/>
                  </a:ext>
                </a:extLst>
              </p:cNvPr>
              <p:cNvSpPr/>
              <p:nvPr/>
            </p:nvSpPr>
            <p:spPr>
              <a:xfrm>
                <a:off x="2999712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6CC45F06-30AA-4930-9AEC-DD8051258641}"/>
                  </a:ext>
                </a:extLst>
              </p:cNvPr>
              <p:cNvSpPr/>
              <p:nvPr/>
            </p:nvSpPr>
            <p:spPr>
              <a:xfrm>
                <a:off x="2071046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1D1F2C1B-7D64-423E-A73C-64AAC13C52DC}"/>
                  </a:ext>
                </a:extLst>
              </p:cNvPr>
              <p:cNvSpPr/>
              <p:nvPr/>
            </p:nvSpPr>
            <p:spPr>
              <a:xfrm>
                <a:off x="2642636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6A0DD1DA-2ED0-4506-BACE-3E2A1D1EC2A1}"/>
                  </a:ext>
                </a:extLst>
              </p:cNvPr>
              <p:cNvCxnSpPr>
                <a:endCxn id="65" idx="7"/>
              </p:cNvCxnSpPr>
              <p:nvPr/>
            </p:nvCxnSpPr>
            <p:spPr>
              <a:xfrm rot="5400000">
                <a:off x="1775532" y="4572542"/>
                <a:ext cx="367188" cy="223839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08D56862-EE00-4375-9DD0-B865F26EF64D}"/>
                  </a:ext>
                </a:extLst>
              </p:cNvPr>
              <p:cNvCxnSpPr>
                <a:endCxn id="67" idx="2"/>
              </p:cNvCxnSpPr>
              <p:nvPr/>
            </p:nvCxnSpPr>
            <p:spPr>
              <a:xfrm rot="16200000" flipH="1">
                <a:off x="1768095" y="5018619"/>
                <a:ext cx="392721" cy="21318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FFBDBEC9-BBCB-4F0B-926C-1206D6DFA6BE}"/>
                  </a:ext>
                </a:extLst>
              </p:cNvPr>
              <p:cNvCxnSpPr>
                <a:endCxn id="66" idx="3"/>
              </p:cNvCxnSpPr>
              <p:nvPr/>
            </p:nvCxnSpPr>
            <p:spPr>
              <a:xfrm rot="16200000" flipH="1">
                <a:off x="2653351" y="4562100"/>
                <a:ext cx="418254" cy="2957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3B55E0D5-7FDD-4707-8156-050336842591}"/>
                  </a:ext>
                </a:extLst>
              </p:cNvPr>
              <p:cNvCxnSpPr>
                <a:endCxn id="68" idx="6"/>
              </p:cNvCxnSpPr>
              <p:nvPr/>
            </p:nvCxnSpPr>
            <p:spPr>
              <a:xfrm rot="5400000">
                <a:off x="2660788" y="4982644"/>
                <a:ext cx="392721" cy="285128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B1CD7C5F-A675-4BA3-8AA1-C83A6AD40B7A}"/>
                  </a:ext>
                </a:extLst>
              </p:cNvPr>
              <p:cNvCxnSpPr>
                <a:stCxn id="63" idx="6"/>
                <a:endCxn id="64" idx="2"/>
              </p:cNvCxnSpPr>
              <p:nvPr/>
            </p:nvCxnSpPr>
            <p:spPr>
              <a:xfrm>
                <a:off x="2142995" y="4464391"/>
                <a:ext cx="499641" cy="24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E8C5E135-BD80-45BD-9EAB-BE16810AC238}"/>
                  </a:ext>
                </a:extLst>
              </p:cNvPr>
              <p:cNvCxnSpPr/>
              <p:nvPr/>
            </p:nvCxnSpPr>
            <p:spPr>
              <a:xfrm>
                <a:off x="2142995" y="5358045"/>
                <a:ext cx="499641" cy="12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DCFA0DC2-757E-42C2-ABF9-61116FF95D63}"/>
                  </a:ext>
                </a:extLst>
              </p:cNvPr>
              <p:cNvSpPr/>
              <p:nvPr/>
            </p:nvSpPr>
            <p:spPr>
              <a:xfrm>
                <a:off x="4142890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2EA07E2F-54AA-4C10-8976-3FE0182BAC96}"/>
                  </a:ext>
                </a:extLst>
              </p:cNvPr>
              <p:cNvSpPr/>
              <p:nvPr/>
            </p:nvSpPr>
            <p:spPr>
              <a:xfrm>
                <a:off x="4714479" y="4429132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EC73B564-77E5-4787-953E-E205CC946070}"/>
                  </a:ext>
                </a:extLst>
              </p:cNvPr>
              <p:cNvSpPr/>
              <p:nvPr/>
            </p:nvSpPr>
            <p:spPr>
              <a:xfrm>
                <a:off x="3857762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39FBF722-45FB-498D-906F-C6FD63D0F8D2}"/>
                  </a:ext>
                </a:extLst>
              </p:cNvPr>
              <p:cNvSpPr/>
              <p:nvPr/>
            </p:nvSpPr>
            <p:spPr>
              <a:xfrm>
                <a:off x="5071556" y="4857113"/>
                <a:ext cx="71948" cy="7173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DD51FDAD-F76D-4396-90A6-CCE6BCC913F4}"/>
                  </a:ext>
                </a:extLst>
              </p:cNvPr>
              <p:cNvSpPr/>
              <p:nvPr/>
            </p:nvSpPr>
            <p:spPr>
              <a:xfrm>
                <a:off x="4142890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867D8B2B-0CD1-418A-AD2A-11501C8D75EF}"/>
                  </a:ext>
                </a:extLst>
              </p:cNvPr>
              <p:cNvSpPr/>
              <p:nvPr/>
            </p:nvSpPr>
            <p:spPr>
              <a:xfrm>
                <a:off x="4714479" y="5286309"/>
                <a:ext cx="71948" cy="717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2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4366CD10-8C51-490E-B551-E018DD59762D}"/>
                  </a:ext>
                </a:extLst>
              </p:cNvPr>
              <p:cNvCxnSpPr>
                <a:endCxn id="77" idx="7"/>
              </p:cNvCxnSpPr>
              <p:nvPr/>
            </p:nvCxnSpPr>
            <p:spPr>
              <a:xfrm rot="5400000">
                <a:off x="3847377" y="4572542"/>
                <a:ext cx="367188" cy="22383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1B1D384D-DC2A-404A-A454-E03CA9FB527D}"/>
                  </a:ext>
                </a:extLst>
              </p:cNvPr>
              <p:cNvCxnSpPr>
                <a:endCxn id="79" idx="2"/>
              </p:cNvCxnSpPr>
              <p:nvPr/>
            </p:nvCxnSpPr>
            <p:spPr>
              <a:xfrm rot="16200000" flipH="1">
                <a:off x="3839939" y="5018619"/>
                <a:ext cx="392721" cy="213180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82448BEB-1D7F-48E1-BEE5-09D75EBD91B5}"/>
                  </a:ext>
                </a:extLst>
              </p:cNvPr>
              <p:cNvCxnSpPr>
                <a:endCxn id="78" idx="3"/>
              </p:cNvCxnSpPr>
              <p:nvPr/>
            </p:nvCxnSpPr>
            <p:spPr>
              <a:xfrm rot="16200000" flipH="1">
                <a:off x="4725195" y="4562100"/>
                <a:ext cx="418254" cy="2957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FDE5816D-2730-444A-A0BF-0C9C6A031993}"/>
                  </a:ext>
                </a:extLst>
              </p:cNvPr>
              <p:cNvCxnSpPr>
                <a:endCxn id="80" idx="6"/>
              </p:cNvCxnSpPr>
              <p:nvPr/>
            </p:nvCxnSpPr>
            <p:spPr>
              <a:xfrm rot="5400000">
                <a:off x="4732631" y="4982644"/>
                <a:ext cx="392721" cy="285128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573B042A-A3E4-4F0D-BBA6-97FA70FA13BE}"/>
                  </a:ext>
                </a:extLst>
              </p:cNvPr>
              <p:cNvCxnSpPr>
                <a:stCxn id="75" idx="6"/>
                <a:endCxn id="76" idx="2"/>
              </p:cNvCxnSpPr>
              <p:nvPr/>
            </p:nvCxnSpPr>
            <p:spPr>
              <a:xfrm>
                <a:off x="4214839" y="4464391"/>
                <a:ext cx="499640" cy="2432"/>
              </a:xfrm>
              <a:prstGeom prst="line">
                <a:avLst/>
              </a:prstGeom>
              <a:ln w="12700">
                <a:solidFill>
                  <a:srgbClr val="FF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5559A1B0-C7C8-4002-B096-64C849302191}"/>
                  </a:ext>
                </a:extLst>
              </p:cNvPr>
              <p:cNvCxnSpPr/>
              <p:nvPr/>
            </p:nvCxnSpPr>
            <p:spPr>
              <a:xfrm>
                <a:off x="4214839" y="5358045"/>
                <a:ext cx="499640" cy="12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>
                <a:extLst>
                  <a:ext uri="{FF2B5EF4-FFF2-40B4-BE49-F238E27FC236}">
                    <a16:creationId xmlns:a16="http://schemas.microsoft.com/office/drawing/2014/main" id="{D949C546-8188-4089-ACAC-28898DF6CEC9}"/>
                  </a:ext>
                </a:extLst>
              </p:cNvPr>
              <p:cNvCxnSpPr>
                <a:endCxn id="66" idx="2"/>
              </p:cNvCxnSpPr>
              <p:nvPr/>
            </p:nvCxnSpPr>
            <p:spPr>
              <a:xfrm>
                <a:off x="1857866" y="4893588"/>
                <a:ext cx="1141846" cy="121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880119A3-1375-48E1-992E-8617E9F4B24B}"/>
                  </a:ext>
                </a:extLst>
              </p:cNvPr>
              <p:cNvCxnSpPr>
                <a:stCxn id="77" idx="5"/>
                <a:endCxn id="78" idx="3"/>
              </p:cNvCxnSpPr>
              <p:nvPr/>
            </p:nvCxnSpPr>
            <p:spPr>
              <a:xfrm rot="16200000" flipH="1">
                <a:off x="4500692" y="4336265"/>
                <a:ext cx="1215" cy="116449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Box 57">
              <a:extLst>
                <a:ext uri="{FF2B5EF4-FFF2-40B4-BE49-F238E27FC236}">
                  <a16:creationId xmlns:a16="http://schemas.microsoft.com/office/drawing/2014/main" id="{B52E4505-2334-4704-B060-89217899B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984" y="5715016"/>
              <a:ext cx="1571636" cy="4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极大匹配</a:t>
              </a:r>
            </a:p>
          </p:txBody>
        </p:sp>
        <p:sp>
          <p:nvSpPr>
            <p:cNvPr id="62" name="TextBox 58">
              <a:extLst>
                <a:ext uri="{FF2B5EF4-FFF2-40B4-BE49-F238E27FC236}">
                  <a16:creationId xmlns:a16="http://schemas.microsoft.com/office/drawing/2014/main" id="{FC8ACA8D-EF15-495B-BC34-AEAA12674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7" y="5715016"/>
              <a:ext cx="2500333" cy="4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最大匹配  </a:t>
              </a:r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b="1" i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</a:t>
              </a:r>
              <a:r>
                <a:rPr lang="en-US" altLang="zh-CN" sz="2000" b="1" baseline="-250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000" b="1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=3</a:t>
              </a:r>
              <a:endPara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9" name="文本框 88">
            <a:extLst>
              <a:ext uri="{FF2B5EF4-FFF2-40B4-BE49-F238E27FC236}">
                <a16:creationId xmlns:a16="http://schemas.microsoft.com/office/drawing/2014/main" id="{411DE4C3-8931-4734-87BF-1BCF5C1999CD}"/>
              </a:ext>
            </a:extLst>
          </p:cNvPr>
          <p:cNvSpPr txBox="1"/>
          <p:nvPr/>
        </p:nvSpPr>
        <p:spPr>
          <a:xfrm>
            <a:off x="869950" y="48032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5571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8A10272-6FA8-42B5-9C14-824B5C535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628776"/>
            <a:ext cx="10892676" cy="114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= &lt;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&gt;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为二部图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kern="0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中最大匹配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 = 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Times New Roman" panose="02020603050405020304" pitchFamily="18" charset="0"/>
              </a:rPr>
              <a:t>  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    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则称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M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完备匹配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|=|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|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完备匹配是完美匹配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609600" indent="-609600" algn="just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endParaRPr lang="en-US" altLang="zh-CN" sz="2400" b="1" kern="0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BC2782D-5A3F-4E92-95C9-159B4F7B95AB}"/>
              </a:ext>
            </a:extLst>
          </p:cNvPr>
          <p:cNvGrpSpPr/>
          <p:nvPr/>
        </p:nvGrpSpPr>
        <p:grpSpPr>
          <a:xfrm>
            <a:off x="573181" y="3294967"/>
            <a:ext cx="9260130" cy="2263010"/>
            <a:chOff x="573181" y="3294967"/>
            <a:chExt cx="9260130" cy="2263010"/>
          </a:xfrm>
        </p:grpSpPr>
        <p:grpSp>
          <p:nvGrpSpPr>
            <p:cNvPr id="19" name="组合 10">
              <a:extLst>
                <a:ext uri="{FF2B5EF4-FFF2-40B4-BE49-F238E27FC236}">
                  <a16:creationId xmlns:a16="http://schemas.microsoft.com/office/drawing/2014/main" id="{6E891F11-7F16-48DB-842F-B88EC2F084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7586" y="3511690"/>
              <a:ext cx="7705725" cy="2046287"/>
              <a:chOff x="714348" y="4383109"/>
              <a:chExt cx="7705725" cy="2046287"/>
            </a:xfrm>
          </p:grpSpPr>
          <p:pic>
            <p:nvPicPr>
              <p:cNvPr id="20" name="Picture 6" descr="18-5">
                <a:extLst>
                  <a:ext uri="{FF2B5EF4-FFF2-40B4-BE49-F238E27FC236}">
                    <a16:creationId xmlns:a16="http://schemas.microsoft.com/office/drawing/2014/main" id="{0D5A4989-71E2-42D2-B440-EB808A6910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348" y="4383109"/>
                <a:ext cx="7705725" cy="2046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Text Box 7">
                <a:extLst>
                  <a:ext uri="{FF2B5EF4-FFF2-40B4-BE49-F238E27FC236}">
                    <a16:creationId xmlns:a16="http://schemas.microsoft.com/office/drawing/2014/main" id="{9C8FF1C9-DFE0-4242-8403-DE3993B79C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4348" y="5824855"/>
                <a:ext cx="202722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完备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,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不完美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Text Box 8">
                <a:extLst>
                  <a:ext uri="{FF2B5EF4-FFF2-40B4-BE49-F238E27FC236}">
                    <a16:creationId xmlns:a16="http://schemas.microsoft.com/office/drawing/2014/main" id="{0B735EA8-03F9-4E92-A1BB-62ACA1E070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6100" y="5896293"/>
                <a:ext cx="114459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不完备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Text Box 9">
                <a:extLst>
                  <a:ext uri="{FF2B5EF4-FFF2-40B4-BE49-F238E27FC236}">
                    <a16:creationId xmlns:a16="http://schemas.microsoft.com/office/drawing/2014/main" id="{4818BEDC-59D8-47B8-8EEA-B55E787A7D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2330" y="5896293"/>
                <a:ext cx="101443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完美</a:t>
                </a:r>
                <a:endParaRPr lang="en-US" altLang="zh-CN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441CB1F-4537-4197-A7EB-4D462E083E2D}"/>
                </a:ext>
              </a:extLst>
            </p:cNvPr>
            <p:cNvSpPr txBox="1"/>
            <p:nvPr/>
          </p:nvSpPr>
          <p:spPr>
            <a:xfrm>
              <a:off x="573181" y="3294967"/>
              <a:ext cx="6094878" cy="55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609600" indent="-609600" algn="just" eaLnBrk="1" hangingPunct="1">
                <a:lnSpc>
                  <a:spcPct val="150000"/>
                </a:lnSpc>
                <a:spcBef>
                  <a:spcPts val="0"/>
                </a:spcBef>
                <a:buFont typeface="Wingdings" panose="05000000000000000000" pitchFamily="2" charset="2"/>
                <a:buNone/>
              </a:pPr>
              <a:r>
                <a:rPr lang="zh-CN" altLang="en-US" sz="2400" b="1" kern="0" dirty="0"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endPara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6FB3979E-5B45-4F9C-9F8C-F9BFFEE52FA2}"/>
              </a:ext>
            </a:extLst>
          </p:cNvPr>
          <p:cNvSpPr txBox="1">
            <a:spLocks noChangeArrowheads="1"/>
          </p:cNvSpPr>
          <p:nvPr/>
        </p:nvSpPr>
        <p:spPr>
          <a:xfrm>
            <a:off x="3362061" y="6009780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zh-CN" altLang="en-US" sz="22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完美匹配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一定是完备匹配，反之不然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41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11DE4C3-8931-4734-87BF-1BCF5C1999CD}"/>
              </a:ext>
            </a:extLst>
          </p:cNvPr>
          <p:cNvSpPr txBox="1"/>
          <p:nvPr/>
        </p:nvSpPr>
        <p:spPr>
          <a:xfrm>
            <a:off x="558800" y="17679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A92BE4-5B17-47F0-8BAA-08C076812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50" y="2694441"/>
            <a:ext cx="2749207" cy="1820077"/>
          </a:xfrm>
          <a:prstGeom prst="rect">
            <a:avLst/>
          </a:prstGeom>
        </p:spPr>
      </p:pic>
      <p:sp>
        <p:nvSpPr>
          <p:cNvPr id="45" name="Rectangle 3">
            <a:extLst>
              <a:ext uri="{FF2B5EF4-FFF2-40B4-BE49-F238E27FC236}">
                <a16:creationId xmlns:a16="http://schemas.microsoft.com/office/drawing/2014/main" id="{8CE2460D-9BA9-479F-995F-91C590C5F24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2057401"/>
            <a:ext cx="8229600" cy="757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中，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800" b="1" kern="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3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5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800" b="1" kern="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{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400" b="1" kern="0" dirty="0" err="1">
                <a:latin typeface="Times New Roman" panose="02020603050405020304" pitchFamily="18" charset="0"/>
              </a:rPr>
              <a:t>1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3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6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800" b="1" kern="0" dirty="0" err="1">
                <a:latin typeface="Times New Roman" panose="02020603050405020304" pitchFamily="18" charset="0"/>
              </a:rPr>
              <a:t>3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=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{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2</a:t>
            </a:r>
            <a:r>
              <a:rPr lang="en-US" altLang="zh-CN" sz="1800" b="1" kern="0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100" b="1" kern="0" dirty="0" err="1">
                <a:latin typeface="Times New Roman" panose="02020603050405020304" pitchFamily="18" charset="0"/>
              </a:rPr>
              <a:t>4</a:t>
            </a:r>
            <a:r>
              <a:rPr lang="en-US" altLang="zh-CN" sz="2400" b="1" kern="0" dirty="0">
                <a:latin typeface="Times New Roman" panose="02020603050405020304" pitchFamily="18" charset="0"/>
              </a:rPr>
              <a:t>}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均为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的匹配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7263A88A-A3FB-4939-AE69-B18EDBAA2D3C}"/>
              </a:ext>
            </a:extLst>
          </p:cNvPr>
          <p:cNvSpPr txBox="1">
            <a:spLocks noChangeArrowheads="1"/>
          </p:cNvSpPr>
          <p:nvPr/>
        </p:nvSpPr>
        <p:spPr>
          <a:xfrm>
            <a:off x="3948549" y="2554183"/>
            <a:ext cx="8229600" cy="7570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7183D12D-B63A-447A-BB0C-0156AA13DCC4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3027216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都是极大匹配，其中</a:t>
            </a:r>
            <a:r>
              <a:rPr lang="zh-CN" altLang="en-US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又是最大匹配和完美匹配    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33F77C3-4E73-44DC-8F02-35D786531831}"/>
              </a:ext>
            </a:extLst>
          </p:cNvPr>
          <p:cNvSpPr txBox="1"/>
          <p:nvPr/>
        </p:nvSpPr>
        <p:spPr>
          <a:xfrm>
            <a:off x="3962400" y="3643559"/>
            <a:ext cx="60979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其匹配数是：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3C29329F-E60D-430D-9D00-730BE29DD404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4345707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en-US" altLang="zh-CN" sz="22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不是极大匹配，更不是最大匹配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7B24C9-E89D-4CFF-9372-A31C6B96FC8C}"/>
              </a:ext>
            </a:extLst>
          </p:cNvPr>
          <p:cNvSpPr txBox="1"/>
          <p:nvPr/>
        </p:nvSpPr>
        <p:spPr>
          <a:xfrm>
            <a:off x="4025900" y="294005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1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92C4B67-DEE0-491A-8943-B6857AA81A29}"/>
              </a:ext>
            </a:extLst>
          </p:cNvPr>
          <p:cNvSpPr txBox="1"/>
          <p:nvPr/>
        </p:nvSpPr>
        <p:spPr>
          <a:xfrm>
            <a:off x="4743450" y="294640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15007C1-8C18-469D-A6BF-667C0D4EA86A}"/>
              </a:ext>
            </a:extLst>
          </p:cNvPr>
          <p:cNvSpPr txBox="1"/>
          <p:nvPr/>
        </p:nvSpPr>
        <p:spPr>
          <a:xfrm>
            <a:off x="7931150" y="294640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E92F71-4F43-47C9-B0E5-5616DE918B4B}"/>
              </a:ext>
            </a:extLst>
          </p:cNvPr>
          <p:cNvSpPr txBox="1"/>
          <p:nvPr/>
        </p:nvSpPr>
        <p:spPr>
          <a:xfrm>
            <a:off x="5613400" y="3613150"/>
            <a:ext cx="338554" cy="4996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kern="0" dirty="0">
                <a:latin typeface="Times New Roman" panose="02020603050405020304" pitchFamily="18" charset="0"/>
              </a:rPr>
              <a:t>3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FEF676A-0CF5-4119-B5B4-C20420F0C812}"/>
              </a:ext>
            </a:extLst>
          </p:cNvPr>
          <p:cNvSpPr txBox="1"/>
          <p:nvPr/>
        </p:nvSpPr>
        <p:spPr>
          <a:xfrm>
            <a:off x="4025900" y="4248150"/>
            <a:ext cx="492443" cy="4968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400" b="1" i="1" kern="0" dirty="0" err="1">
                <a:latin typeface="Times New Roman" panose="02020603050405020304" pitchFamily="18" charset="0"/>
              </a:rPr>
              <a:t>E</a:t>
            </a:r>
            <a:r>
              <a:rPr lang="en-US" altLang="zh-CN" sz="1600" b="1" kern="0" dirty="0" err="1">
                <a:latin typeface="Times New Roman" panose="02020603050405020304" pitchFamily="18" charset="0"/>
              </a:rPr>
              <a:t>3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7D1B0385-B2E4-4845-B2F5-CC5C8A3C1632}"/>
              </a:ext>
            </a:extLst>
          </p:cNvPr>
          <p:cNvSpPr txBox="1">
            <a:spLocks noChangeArrowheads="1"/>
          </p:cNvSpPr>
          <p:nvPr/>
        </p:nvSpPr>
        <p:spPr>
          <a:xfrm>
            <a:off x="3994073" y="5673604"/>
            <a:ext cx="8197927" cy="6660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最大匹配一定是极大匹配，反之不然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altLang="zh-CN" sz="2200" b="1" dirty="0">
              <a:solidFill>
                <a:srgbClr val="0033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256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9" grpId="0"/>
      <p:bldP spid="50" grpId="0"/>
      <p:bldP spid="7" grpId="0"/>
      <p:bldP spid="52" grpId="0"/>
      <p:bldP spid="53" grpId="0"/>
      <p:bldP spid="54" grpId="0"/>
      <p:bldP spid="55" grpId="0"/>
      <p:bldP spid="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75499B-6FE9-4EAD-8A02-AE2EA4E98EF8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AA7BB4-1B69-424D-A1F0-523C3471E0C4}"/>
              </a:ext>
            </a:extLst>
          </p:cNvPr>
          <p:cNvSpPr txBox="1"/>
          <p:nvPr/>
        </p:nvSpPr>
        <p:spPr>
          <a:xfrm>
            <a:off x="3149818" y="942995"/>
            <a:ext cx="18621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552125-2093-4754-AE3F-20E61664DAB4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87048F-39D1-43E3-A68A-DD340903164E}"/>
              </a:ext>
            </a:extLst>
          </p:cNvPr>
          <p:cNvSpPr txBox="1"/>
          <p:nvPr/>
        </p:nvSpPr>
        <p:spPr>
          <a:xfrm>
            <a:off x="5967772" y="960547"/>
            <a:ext cx="2261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C7E2D91A-C4C1-49F4-BF3D-7F46DA41EE9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24000"/>
            <a:ext cx="8229600" cy="26109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中一个匹配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>
                <a:solidFill>
                  <a:srgbClr val="992677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 i="1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 err="1">
                <a:solidFill>
                  <a:srgbClr val="992677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被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匹配</a:t>
            </a:r>
            <a:r>
              <a:rPr lang="en-US" altLang="zh-CN" b="1" dirty="0">
                <a:latin typeface="Times New Roman" panose="02020603050405020304" pitchFamily="18" charset="0"/>
              </a:rPr>
              <a:t>: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i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b="1" i="1" baseline="-30000" dirty="0" err="1">
                <a:latin typeface="Times New Roman" panose="02020603050405020304" pitchFamily="18" charset="0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饱和点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中有边与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关联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非饱和点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中没有边与</a:t>
            </a:r>
            <a:r>
              <a:rPr lang="en-US" altLang="zh-CN" b="1" i="1" dirty="0">
                <a:latin typeface="Times New Roman" panose="02020603050405020304" pitchFamily="18" charset="0"/>
              </a:rPr>
              <a:t>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关联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992677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为完美匹配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的每个顶点都是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饱和点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829B845D-E8F9-4DA4-AAC3-1BE7264BF16B}"/>
              </a:ext>
            </a:extLst>
          </p:cNvPr>
          <p:cNvSpPr txBox="1">
            <a:spLocks noChangeArrowheads="1"/>
          </p:cNvSpPr>
          <p:nvPr/>
        </p:nvSpPr>
        <p:spPr>
          <a:xfrm>
            <a:off x="414619" y="4459941"/>
            <a:ext cx="8229600" cy="21627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8000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关于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a,b,e,d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是饱和点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3399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f,c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是非饱和点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不是完美匹配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b="1" i="1" dirty="0">
                <a:solidFill>
                  <a:srgbClr val="003399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是完美匹配</a:t>
            </a:r>
          </a:p>
        </p:txBody>
      </p:sp>
      <p:grpSp>
        <p:nvGrpSpPr>
          <p:cNvPr id="48" name="Group 8">
            <a:extLst>
              <a:ext uri="{FF2B5EF4-FFF2-40B4-BE49-F238E27FC236}">
                <a16:creationId xmlns:a16="http://schemas.microsoft.com/office/drawing/2014/main" id="{235D98CB-20C6-4854-883B-3F575A86A15C}"/>
              </a:ext>
            </a:extLst>
          </p:cNvPr>
          <p:cNvGrpSpPr>
            <a:grpSpLocks/>
          </p:cNvGrpSpPr>
          <p:nvPr/>
        </p:nvGrpSpPr>
        <p:grpSpPr bwMode="auto">
          <a:xfrm>
            <a:off x="4749521" y="4625135"/>
            <a:ext cx="4343400" cy="1898650"/>
            <a:chOff x="2517" y="2704"/>
            <a:chExt cx="2736" cy="1196"/>
          </a:xfrm>
        </p:grpSpPr>
        <p:pic>
          <p:nvPicPr>
            <p:cNvPr id="49" name="Picture 5" descr="18-2(1)">
              <a:extLst>
                <a:ext uri="{FF2B5EF4-FFF2-40B4-BE49-F238E27FC236}">
                  <a16:creationId xmlns:a16="http://schemas.microsoft.com/office/drawing/2014/main" id="{34228E5B-5BA7-4988-B8B0-8FF69FE02F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399"/>
            <a:stretch>
              <a:fillRect/>
            </a:stretch>
          </p:blipFill>
          <p:spPr bwMode="auto">
            <a:xfrm>
              <a:off x="2517" y="2704"/>
              <a:ext cx="2736" cy="1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 Box 6">
              <a:extLst>
                <a:ext uri="{FF2B5EF4-FFF2-40B4-BE49-F238E27FC236}">
                  <a16:creationId xmlns:a16="http://schemas.microsoft.com/office/drawing/2014/main" id="{B26875D3-5CC5-4A6D-9B8D-060923C70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3648"/>
              <a:ext cx="48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b="1" baseline="-25000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7">
              <a:extLst>
                <a:ext uri="{FF2B5EF4-FFF2-40B4-BE49-F238E27FC236}">
                  <a16:creationId xmlns:a16="http://schemas.microsoft.com/office/drawing/2014/main" id="{AB09E4B7-7296-46EF-BB6A-B6E655E8E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648"/>
              <a:ext cx="4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b="1" baseline="-25000" dirty="0" err="1">
                  <a:solidFill>
                    <a:srgbClr val="003399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rgbClr val="003399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843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2A702D8-C91F-4BF2-BEF9-9EB1E0BA607B}"/>
              </a:ext>
            </a:extLst>
          </p:cNvPr>
          <p:cNvSpPr txBox="1">
            <a:spLocks noChangeArrowheads="1"/>
          </p:cNvSpPr>
          <p:nvPr/>
        </p:nvSpPr>
        <p:spPr>
          <a:xfrm>
            <a:off x="481491" y="1433601"/>
            <a:ext cx="11316809" cy="20271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6.2(</a:t>
            </a:r>
            <a:r>
              <a:rPr lang="en-US" altLang="zh-CN" sz="2400" b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Hall</a:t>
            </a: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设二部图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2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dirty="0">
                <a:latin typeface="Times New Roman" panose="02020603050405020304" pitchFamily="18" charset="0"/>
              </a:rPr>
              <a:t>,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</a:rPr>
              <a:t>&gt;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中，</a:t>
            </a:r>
            <a:r>
              <a:rPr lang="en-US" altLang="zh-CN" sz="2200" b="1" dirty="0">
                <a:latin typeface="Times New Roman" panose="02020603050405020304" pitchFamily="18" charset="0"/>
              </a:rPr>
              <a:t>|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200" b="1" dirty="0">
                <a:latin typeface="Times New Roman" panose="02020603050405020304" pitchFamily="18" charset="0"/>
              </a:rPr>
              <a:t>|</a:t>
            </a:r>
            <a:r>
              <a:rPr lang="en-US" altLang="zh-CN" sz="2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200" b="1" dirty="0">
                <a:latin typeface="Times New Roman" panose="02020603050405020304" pitchFamily="18" charset="0"/>
              </a:rPr>
              <a:t>|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dirty="0">
                <a:latin typeface="Times New Roman" panose="02020603050405020304" pitchFamily="18" charset="0"/>
              </a:rPr>
              <a:t>|.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中存在从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的完备匹配当且仅当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中任意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点至少与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个顶点相邻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200" b="1" dirty="0">
                <a:latin typeface="Times New Roman" panose="02020603050405020304" pitchFamily="18" charset="0"/>
              </a:rPr>
              <a:t>=1,2,…,|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|).</a:t>
            </a:r>
            <a:r>
              <a:rPr lang="en-US" altLang="zh-CN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en-US" altLang="zh-CN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zh-CN" altLang="en-US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相异性条件</a:t>
            </a:r>
            <a:endParaRPr lang="en-US" altLang="zh-CN" sz="22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200" b="1" dirty="0">
                <a:latin typeface="Times New Roman" panose="02020603050405020304" pitchFamily="18" charset="0"/>
              </a:rPr>
              <a:t>Hall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右图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没有完备匹配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C615CA-0CD9-4B18-BF8E-7B4060DFC79C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17DF82-3F22-4380-8A68-2B80D64142B3}"/>
              </a:ext>
            </a:extLst>
          </p:cNvPr>
          <p:cNvSpPr txBox="1"/>
          <p:nvPr/>
        </p:nvSpPr>
        <p:spPr>
          <a:xfrm>
            <a:off x="3149818" y="942995"/>
            <a:ext cx="1862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87A8F64-3D2B-45B6-8209-0BA733C3E982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7A0B613-1406-4198-AEB9-4169EDB6B55F}"/>
              </a:ext>
            </a:extLst>
          </p:cNvPr>
          <p:cNvSpPr txBox="1"/>
          <p:nvPr/>
        </p:nvSpPr>
        <p:spPr>
          <a:xfrm>
            <a:off x="5967772" y="960547"/>
            <a:ext cx="2261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9E6DDE7-3056-45A2-8D90-AC2165DDBD4E}"/>
              </a:ext>
            </a:extLst>
          </p:cNvPr>
          <p:cNvSpPr txBox="1">
            <a:spLocks noChangeArrowheads="1"/>
          </p:cNvSpPr>
          <p:nvPr/>
        </p:nvSpPr>
        <p:spPr>
          <a:xfrm>
            <a:off x="481491" y="3592601"/>
            <a:ext cx="11316809" cy="14365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设二部图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2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200" b="1" dirty="0">
                <a:latin typeface="Times New Roman" panose="02020603050405020304" pitchFamily="18" charset="0"/>
              </a:rPr>
              <a:t>&gt;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如果存在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t</a:t>
            </a:r>
            <a:r>
              <a:rPr lang="en-US" altLang="zh-CN" sz="22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200" b="1" dirty="0" err="1">
                <a:latin typeface="Times New Roman" panose="02020603050405020304" pitchFamily="18" charset="0"/>
              </a:rPr>
              <a:t>1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中每个顶点至少关联 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t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而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中每个</a:t>
            </a:r>
            <a:endParaRPr lang="en-US" altLang="zh-CN" sz="2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顶点至多关联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条边，则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中存在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200" b="1" baseline="-30000" dirty="0" err="1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的完备匹配</a:t>
            </a:r>
            <a:r>
              <a:rPr lang="en-US" altLang="zh-CN" sz="2200" b="1" dirty="0">
                <a:latin typeface="Times New Roman" panose="02020603050405020304" pitchFamily="18" charset="0"/>
              </a:rPr>
              <a:t>.                 </a:t>
            </a:r>
            <a:r>
              <a:rPr lang="en-US" altLang="zh-CN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</a:t>
            </a:r>
            <a:r>
              <a:rPr lang="en-US" altLang="zh-CN" sz="2200" b="1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 </a:t>
            </a:r>
            <a:r>
              <a:rPr lang="zh-CN" altLang="en-US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endParaRPr lang="en-US" altLang="zh-CN" sz="2200" b="1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DB26256-A488-4EE9-A7EF-96B0B4993998}"/>
              </a:ext>
            </a:extLst>
          </p:cNvPr>
          <p:cNvSpPr txBox="1">
            <a:spLocks noChangeArrowheads="1"/>
          </p:cNvSpPr>
          <p:nvPr/>
        </p:nvSpPr>
        <p:spPr>
          <a:xfrm>
            <a:off x="532291" y="5053101"/>
            <a:ext cx="11316809" cy="15254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200" b="1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中任意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个顶点至少关联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这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kt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条边至少关联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个顶点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中任意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个顶点至少邻接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个顶点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2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Hall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中存在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2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的完备匹配</a:t>
            </a:r>
            <a:r>
              <a:rPr lang="en-US" altLang="zh-CN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50A87F-4C06-427D-88E2-0877D3EDF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487" y="3060700"/>
            <a:ext cx="5815013" cy="92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3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6.1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二部图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54736946-E3BB-461D-9B02-592A115672E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87257"/>
            <a:ext cx="8229600" cy="990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BB8367D5-51C4-4DE1-87A0-6E5CB647062A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2205487"/>
            <a:ext cx="10826151" cy="120194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某课题组要从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人中派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人分别到上海、广州、香港去开会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只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想去上海，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只想去广州，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都表示想去广州或香港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问该课题组在满足个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人要求的条件下，共有几种派遣方案？ 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12F121A-1A92-43E1-8AEA-39CA996F5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93" y="3746231"/>
            <a:ext cx="10656318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解：令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=&lt;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&gt;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={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</a:rPr>
              <a:t>},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={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},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</a:rPr>
              <a:t>={(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</a:rPr>
              <a:t>) |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u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 dirty="0" err="1">
                <a:latin typeface="Times New Roman" panose="02020603050405020304" pitchFamily="18" charset="0"/>
              </a:rPr>
              <a:t>V</a:t>
            </a:r>
            <a:r>
              <a:rPr lang="en-US" altLang="zh-CN" sz="2400" b="1" baseline="-30000" dirty="0" err="1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,  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    v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想去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dirty="0">
                <a:latin typeface="Times New Roman" panose="02020603050405020304" pitchFamily="18" charset="0"/>
              </a:rPr>
              <a:t>}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分别表示上海、广州和香港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7BEB6ED-3FB1-409A-ADB8-263B20675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253487"/>
            <a:ext cx="7203326" cy="148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G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满足相异性条件，红边是一个完备匹配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对应的派遣方案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a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上海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</a:rPr>
              <a:t>b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广州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香港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FA9DC93-D957-478F-B241-854082915E76}"/>
              </a:ext>
            </a:extLst>
          </p:cNvPr>
          <p:cNvGrpSpPr/>
          <p:nvPr/>
        </p:nvGrpSpPr>
        <p:grpSpPr>
          <a:xfrm>
            <a:off x="7392565" y="4891748"/>
            <a:ext cx="2971800" cy="2201862"/>
            <a:chOff x="5529263" y="4960756"/>
            <a:chExt cx="2971800" cy="2201862"/>
          </a:xfrm>
        </p:grpSpPr>
        <p:pic>
          <p:nvPicPr>
            <p:cNvPr id="12" name="Picture 6" descr="18-6">
              <a:extLst>
                <a:ext uri="{FF2B5EF4-FFF2-40B4-BE49-F238E27FC236}">
                  <a16:creationId xmlns:a16="http://schemas.microsoft.com/office/drawing/2014/main" id="{7E9C41BE-094F-49C1-B153-454CA3672E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44" t="10770"/>
            <a:stretch>
              <a:fillRect/>
            </a:stretch>
          </p:blipFill>
          <p:spPr bwMode="auto">
            <a:xfrm>
              <a:off x="5529263" y="4960756"/>
              <a:ext cx="2971800" cy="2201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6" name="组合 13">
              <a:extLst>
                <a:ext uri="{FF2B5EF4-FFF2-40B4-BE49-F238E27FC236}">
                  <a16:creationId xmlns:a16="http://schemas.microsoft.com/office/drawing/2014/main" id="{85FC515B-9B49-4639-9556-862F745C0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5376681"/>
              <a:ext cx="2000250" cy="1214438"/>
              <a:chOff x="5715008" y="4643446"/>
              <a:chExt cx="2000264" cy="1214446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A033BC95-9E00-4C29-A5F0-08870253FA76}"/>
                  </a:ext>
                </a:extLst>
              </p:cNvPr>
              <p:cNvCxnSpPr/>
              <p:nvPr/>
            </p:nvCxnSpPr>
            <p:spPr>
              <a:xfrm rot="5400000">
                <a:off x="5250661" y="5107793"/>
                <a:ext cx="1214445" cy="28575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F6FDE912-4BB9-4FD8-8C8F-9C91EFC8D60E}"/>
                  </a:ext>
                </a:extLst>
              </p:cNvPr>
              <p:cNvCxnSpPr/>
              <p:nvPr/>
            </p:nvCxnSpPr>
            <p:spPr>
              <a:xfrm rot="5400000">
                <a:off x="5965041" y="5107793"/>
                <a:ext cx="1214445" cy="28575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E2C742FD-62FB-4788-89D0-D9EDAE0E3FC2}"/>
                  </a:ext>
                </a:extLst>
              </p:cNvPr>
              <p:cNvCxnSpPr/>
              <p:nvPr/>
            </p:nvCxnSpPr>
            <p:spPr>
              <a:xfrm rot="16200000" flipH="1">
                <a:off x="7000892" y="5072074"/>
                <a:ext cx="1143008" cy="285752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3928943-4199-485A-8E64-BB094C42B46C}"/>
              </a:ext>
            </a:extLst>
          </p:cNvPr>
          <p:cNvSpPr txBox="1"/>
          <p:nvPr/>
        </p:nvSpPr>
        <p:spPr>
          <a:xfrm>
            <a:off x="568036" y="949038"/>
            <a:ext cx="1482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二部图定义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9A5B8C-5A6E-4535-83AF-D3BD7ACF9856}"/>
              </a:ext>
            </a:extLst>
          </p:cNvPr>
          <p:cNvSpPr txBox="1"/>
          <p:nvPr/>
        </p:nvSpPr>
        <p:spPr>
          <a:xfrm>
            <a:off x="3149818" y="942995"/>
            <a:ext cx="1862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二部图的判别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AC21E0-89E7-410B-BF23-02ECBE9EF407}"/>
              </a:ext>
            </a:extLst>
          </p:cNvPr>
          <p:cNvSpPr txBox="1"/>
          <p:nvPr/>
        </p:nvSpPr>
        <p:spPr>
          <a:xfrm>
            <a:off x="9793611" y="977361"/>
            <a:ext cx="1939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二部图的应用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2018B1-1976-42BD-9625-1BC1A93C2AA7}"/>
              </a:ext>
            </a:extLst>
          </p:cNvPr>
          <p:cNvSpPr txBox="1"/>
          <p:nvPr/>
        </p:nvSpPr>
        <p:spPr>
          <a:xfrm>
            <a:off x="5967772" y="960547"/>
            <a:ext cx="2261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二部图中的匹配</a:t>
            </a:r>
          </a:p>
        </p:txBody>
      </p:sp>
    </p:spTree>
    <p:extLst>
      <p:ext uri="{BB962C8B-B14F-4D97-AF65-F5344CB8AC3E}">
        <p14:creationId xmlns:p14="http://schemas.microsoft.com/office/powerpoint/2010/main" val="200207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4A1C0A-6611-4351-914E-859A1FBD5773}"/>
              </a:ext>
            </a:extLst>
          </p:cNvPr>
          <p:cNvSpPr txBox="1"/>
          <p:nvPr/>
        </p:nvSpPr>
        <p:spPr>
          <a:xfrm>
            <a:off x="568036" y="949038"/>
            <a:ext cx="2917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8A46E43-F25F-4450-A653-4E30A8BA7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13" y="1738011"/>
            <a:ext cx="54441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历史背景：哥尼斯堡七桥问题与欧拉图</a:t>
            </a: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62E59A6-6015-4A35-B769-CA919455F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813" y="2817511"/>
            <a:ext cx="7632700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951C6B4-B202-4D1A-AD2F-DE58AAEC77F8}"/>
              </a:ext>
            </a:extLst>
          </p:cNvPr>
          <p:cNvSpPr txBox="1"/>
          <p:nvPr/>
        </p:nvSpPr>
        <p:spPr>
          <a:xfrm>
            <a:off x="9470632" y="984288"/>
            <a:ext cx="219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</p:spTree>
    <p:extLst>
      <p:ext uri="{BB962C8B-B14F-4D97-AF65-F5344CB8AC3E}">
        <p14:creationId xmlns:p14="http://schemas.microsoft.com/office/powerpoint/2010/main" val="3358127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ABA91BF-267A-4571-832B-6C85F784E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77" y="1461971"/>
            <a:ext cx="10599378" cy="2824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en-US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6.4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欧拉通路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经过图中每条边一次且仅一次行遍所有顶点的通路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欧拉回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路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经过图中每条边一次且仅一次行遍所有顶点的回路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(3)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欧拉图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具有欧拉回路的图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(4)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半欧拉图</a:t>
            </a:r>
            <a:r>
              <a:rPr lang="en-US" altLang="zh-CN" dirty="0">
                <a:latin typeface="Times New Roman" panose="02020603050405020304" pitchFamily="18" charset="0"/>
              </a:rPr>
              <a:t>——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具有欧拉通路而无欧拉回路的图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5CA1190-7AFA-4D53-BC7C-E9267D681A19}"/>
              </a:ext>
            </a:extLst>
          </p:cNvPr>
          <p:cNvSpPr txBox="1"/>
          <p:nvPr/>
        </p:nvSpPr>
        <p:spPr>
          <a:xfrm>
            <a:off x="568036" y="949038"/>
            <a:ext cx="2917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4B4D6F-6F17-47AB-9F81-8B0AF4B85C8E}"/>
              </a:ext>
            </a:extLst>
          </p:cNvPr>
          <p:cNvSpPr txBox="1"/>
          <p:nvPr/>
        </p:nvSpPr>
        <p:spPr>
          <a:xfrm>
            <a:off x="9470632" y="984288"/>
            <a:ext cx="219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8A69069-FA63-476B-A12B-9DC2D0A38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77" y="4351221"/>
            <a:ext cx="10599378" cy="2157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几点说明：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规定平凡图为欧拉图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欧拉通路是</a:t>
            </a:r>
            <a:r>
              <a:rPr lang="zh-CN" altLang="en-US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的简单通路，欧拉回路是</a:t>
            </a:r>
            <a:r>
              <a:rPr lang="zh-CN" altLang="en-US" dirty="0">
                <a:solidFill>
                  <a:srgbClr val="99267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生成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的简单回路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环不影响图的欧拉性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718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3E144A59-C937-4EA3-8182-BD5FF79BA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59454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欧拉图实例</a:t>
            </a:r>
            <a:endParaRPr lang="en-US" altLang="zh-CN" sz="2800" b="1" kern="0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DEE1A43F-4AD5-4371-861F-B5159CE3E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15129"/>
            <a:ext cx="7993063" cy="3330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是否是欧拉图或半欧拉图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934C5771-F98C-46E8-AD7D-7AE8F0D61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091" y="6329893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欧拉图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739BB5A6-A6A6-4447-B767-205934785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99" y="6363231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半欧拉图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595A97E2-A06B-4688-923F-211EC27A0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902" y="6329893"/>
            <a:ext cx="1000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  <p:pic>
        <p:nvPicPr>
          <p:cNvPr id="30" name="Picture 9" descr="15-22">
            <a:extLst>
              <a:ext uri="{FF2B5EF4-FFF2-40B4-BE49-F238E27FC236}">
                <a16:creationId xmlns:a16="http://schemas.microsoft.com/office/drawing/2014/main" id="{8CB27D5D-0859-4FC5-810B-66065E814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74" b="54581"/>
          <a:stretch>
            <a:fillRect/>
          </a:stretch>
        </p:blipFill>
        <p:spPr bwMode="auto">
          <a:xfrm>
            <a:off x="2181671" y="2575492"/>
            <a:ext cx="7058025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9" descr="15-22">
            <a:extLst>
              <a:ext uri="{FF2B5EF4-FFF2-40B4-BE49-F238E27FC236}">
                <a16:creationId xmlns:a16="http://schemas.microsoft.com/office/drawing/2014/main" id="{3255F55F-2479-46D1-8A8C-0642A44C7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41"/>
          <a:stretch>
            <a:fillRect/>
          </a:stretch>
        </p:blipFill>
        <p:spPr bwMode="auto">
          <a:xfrm>
            <a:off x="2110233" y="4736079"/>
            <a:ext cx="7245350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55B0B93-0FFE-4B5E-BB36-EC9E42861591}"/>
              </a:ext>
            </a:extLst>
          </p:cNvPr>
          <p:cNvSpPr txBox="1"/>
          <p:nvPr/>
        </p:nvSpPr>
        <p:spPr>
          <a:xfrm>
            <a:off x="568036" y="949038"/>
            <a:ext cx="2917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59A081-383B-4E64-A800-1029C1578D07}"/>
              </a:ext>
            </a:extLst>
          </p:cNvPr>
          <p:cNvSpPr txBox="1"/>
          <p:nvPr/>
        </p:nvSpPr>
        <p:spPr>
          <a:xfrm>
            <a:off x="9470632" y="984288"/>
            <a:ext cx="2198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BBCC68AA-7705-4D55-843D-0F8072DB4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741" y="4183593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欧拉图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14983DE9-EABF-4B76-B334-A390E7E71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8799" y="4216931"/>
            <a:ext cx="1500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R="0" lvl="0" indent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半欧拉图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719A5862-CFE1-421D-A38D-4317C69A7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752" y="4183593"/>
            <a:ext cx="1000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</p:spTree>
    <p:extLst>
      <p:ext uri="{BB962C8B-B14F-4D97-AF65-F5344CB8AC3E}">
        <p14:creationId xmlns:p14="http://schemas.microsoft.com/office/powerpoint/2010/main" val="202633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2D46248-9009-475E-AE39-C6E0E080E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74" y="1665168"/>
            <a:ext cx="11032679" cy="1730214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6.4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为欧拉图当且仅当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连通且无奇度顶点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是半欧拉图当且仅当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G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连通且恰有两个奇度顶点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79999F-E07B-4C03-A908-F03E9FE5F947}"/>
              </a:ext>
            </a:extLst>
          </p:cNvPr>
          <p:cNvSpPr txBox="1"/>
          <p:nvPr/>
        </p:nvSpPr>
        <p:spPr>
          <a:xfrm>
            <a:off x="568036" y="949038"/>
            <a:ext cx="2917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D6E1ED-5A57-47D2-A0A1-54BBDC9E3D7E}"/>
              </a:ext>
            </a:extLst>
          </p:cNvPr>
          <p:cNvSpPr txBox="1"/>
          <p:nvPr/>
        </p:nvSpPr>
        <p:spPr>
          <a:xfrm>
            <a:off x="9326881" y="984288"/>
            <a:ext cx="244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66C4A05-5311-4AA6-AAF0-0905C500E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960" y="3626190"/>
            <a:ext cx="11337479" cy="23174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6.5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是欧拉图当且仅当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连通且每个顶点的入度都等于出度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   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是半欧拉图当且仅当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D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连通且恰有两个奇度顶点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其中一个入度  </a:t>
            </a:r>
            <a:endParaRPr lang="en-US" altLang="zh-CN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/>
              </a:rPr>
              <a:t>            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比出度大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另一个出度比入度大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其余顶点的入度等于出度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694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BEF7BFF-F542-48FF-A748-34F73B13C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23" y="1557095"/>
            <a:ext cx="11393009" cy="2645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哥尼斯堡七桥问题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个奇度顶点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不存在欧拉通路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更不存在欧拉回路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kern="0" dirty="0">
              <a:latin typeface="Times New Roman" panose="02020603050405020304" pitchFamily="18" charset="0"/>
            </a:endParaRPr>
          </a:p>
        </p:txBody>
      </p:sp>
      <p:pic>
        <p:nvPicPr>
          <p:cNvPr id="18" name="Picture 7" descr="15-1(1)">
            <a:extLst>
              <a:ext uri="{FF2B5EF4-FFF2-40B4-BE49-F238E27FC236}">
                <a16:creationId xmlns:a16="http://schemas.microsoft.com/office/drawing/2014/main" id="{3C30F05A-D00E-4B17-A1B2-3A8C4233F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785" y="2109425"/>
            <a:ext cx="1836468" cy="1871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602A76A-5636-4FBC-B914-FEE0B553887D}"/>
              </a:ext>
            </a:extLst>
          </p:cNvPr>
          <p:cNvSpPr txBox="1"/>
          <p:nvPr/>
        </p:nvSpPr>
        <p:spPr>
          <a:xfrm>
            <a:off x="568036" y="949038"/>
            <a:ext cx="2917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35E12D6-728E-46C5-B11A-0DC107589CC9}"/>
              </a:ext>
            </a:extLst>
          </p:cNvPr>
          <p:cNvSpPr txBox="1"/>
          <p:nvPr/>
        </p:nvSpPr>
        <p:spPr>
          <a:xfrm>
            <a:off x="9326881" y="984288"/>
            <a:ext cx="244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CBB402-9233-4A33-837B-BF5A39BC2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23" y="4132208"/>
            <a:ext cx="11393009" cy="816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下面两个图都是欧拉图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A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点出发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如何一次成功地走出一条欧拉回路来？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800" b="1" kern="0" dirty="0">
              <a:latin typeface="Times New Roman" panose="02020603050405020304" pitchFamily="18" charset="0"/>
            </a:endParaRPr>
          </a:p>
        </p:txBody>
      </p:sp>
      <p:pic>
        <p:nvPicPr>
          <p:cNvPr id="12" name="Picture 8" descr="15-4">
            <a:extLst>
              <a:ext uri="{FF2B5EF4-FFF2-40B4-BE49-F238E27FC236}">
                <a16:creationId xmlns:a16="http://schemas.microsoft.com/office/drawing/2014/main" id="{29EE25A3-64A8-454B-B97F-B9DECE22D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305" y="4809659"/>
            <a:ext cx="5791200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973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27" name="内容占位符 2">
            <a:extLst>
              <a:ext uri="{FF2B5EF4-FFF2-40B4-BE49-F238E27FC236}">
                <a16:creationId xmlns:a16="http://schemas.microsoft.com/office/drawing/2014/main" id="{1FBAF119-2A18-4329-9387-B5B9EA053AD6}"/>
              </a:ext>
            </a:extLst>
          </p:cNvPr>
          <p:cNvSpPr txBox="1">
            <a:spLocks/>
          </p:cNvSpPr>
          <p:nvPr/>
        </p:nvSpPr>
        <p:spPr bwMode="auto">
          <a:xfrm>
            <a:off x="457199" y="1562100"/>
            <a:ext cx="11240220" cy="291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设旋转磁鼓分成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个扇区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每个扇区标记一个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个探测器能够读出连续的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个扇区的标记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如何赋给扇区标记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使得能够根据探测器的读数确定磁鼓的位置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为了能够根据读数确定磁鼓的位置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必须构造一个由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组成的圆环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使得圆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环上连续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个数字的序列都不相同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46" name="组合 71">
            <a:extLst>
              <a:ext uri="{FF2B5EF4-FFF2-40B4-BE49-F238E27FC236}">
                <a16:creationId xmlns:a16="http://schemas.microsoft.com/office/drawing/2014/main" id="{D8B3818E-E8CE-4E4F-8C5F-692BF2EAEA78}"/>
              </a:ext>
            </a:extLst>
          </p:cNvPr>
          <p:cNvGrpSpPr/>
          <p:nvPr/>
        </p:nvGrpSpPr>
        <p:grpSpPr>
          <a:xfrm>
            <a:off x="4168664" y="4284095"/>
            <a:ext cx="1982784" cy="1773061"/>
            <a:chOff x="2160588" y="3714752"/>
            <a:chExt cx="1982784" cy="1773061"/>
          </a:xfrm>
          <a:solidFill>
            <a:srgbClr val="E1F4FF"/>
          </a:solidFill>
        </p:grpSpPr>
        <p:grpSp>
          <p:nvGrpSpPr>
            <p:cNvPr id="47" name="组合 63">
              <a:extLst>
                <a:ext uri="{FF2B5EF4-FFF2-40B4-BE49-F238E27FC236}">
                  <a16:creationId xmlns:a16="http://schemas.microsoft.com/office/drawing/2014/main" id="{46BBA521-6938-47F8-BC06-C0B50A7872BC}"/>
                </a:ext>
              </a:extLst>
            </p:cNvPr>
            <p:cNvGrpSpPr/>
            <p:nvPr/>
          </p:nvGrpSpPr>
          <p:grpSpPr>
            <a:xfrm>
              <a:off x="2160588" y="3714752"/>
              <a:ext cx="1982784" cy="1773061"/>
              <a:chOff x="2160588" y="3714752"/>
              <a:chExt cx="1982784" cy="1773061"/>
            </a:xfrm>
            <a:grpFill/>
          </p:grpSpPr>
          <p:sp>
            <p:nvSpPr>
              <p:cNvPr id="56" name="Oval 4">
                <a:extLst>
                  <a:ext uri="{FF2B5EF4-FFF2-40B4-BE49-F238E27FC236}">
                    <a16:creationId xmlns:a16="http://schemas.microsoft.com/office/drawing/2014/main" id="{83B36C73-8DDD-4744-A779-84B740C51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910" y="3809863"/>
                <a:ext cx="1785462" cy="160984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cxnSp>
            <p:nvCxnSpPr>
              <p:cNvPr id="57" name="AutoShape 5">
                <a:extLst>
                  <a:ext uri="{FF2B5EF4-FFF2-40B4-BE49-F238E27FC236}">
                    <a16:creationId xmlns:a16="http://schemas.microsoft.com/office/drawing/2014/main" id="{98684E47-DD64-4EF3-A326-1C99871E4E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28860" y="4286256"/>
                <a:ext cx="1571636" cy="714380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8" name="AutoShape 6">
                <a:extLst>
                  <a:ext uri="{FF2B5EF4-FFF2-40B4-BE49-F238E27FC236}">
                    <a16:creationId xmlns:a16="http://schemas.microsoft.com/office/drawing/2014/main" id="{782A06E7-A6FB-46DA-8C3D-5BDAC5205A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491483" y="4186865"/>
                <a:ext cx="1481061" cy="822587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9" name="AutoShape 7">
                <a:extLst>
                  <a:ext uri="{FF2B5EF4-FFF2-40B4-BE49-F238E27FC236}">
                    <a16:creationId xmlns:a16="http://schemas.microsoft.com/office/drawing/2014/main" id="{9FF75074-15E2-4E2A-943E-50DDB1B87C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2428859" y="4429131"/>
                <a:ext cx="1571638" cy="4286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0" name="AutoShape 8">
                <a:extLst>
                  <a:ext uri="{FF2B5EF4-FFF2-40B4-BE49-F238E27FC236}">
                    <a16:creationId xmlns:a16="http://schemas.microsoft.com/office/drawing/2014/main" id="{7A0002B5-3F41-4AF8-8BE6-1BB0CD69B8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428860" y="4286256"/>
                <a:ext cx="1643074" cy="642942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1" name="AutoShape 9">
                <a:extLst>
                  <a:ext uri="{FF2B5EF4-FFF2-40B4-BE49-F238E27FC236}">
                    <a16:creationId xmlns:a16="http://schemas.microsoft.com/office/drawing/2014/main" id="{5F2FAE7C-90A1-40BC-9411-16E42836898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74652" y="3714752"/>
                <a:ext cx="287013" cy="311166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2" name="AutoShape 10">
                <a:extLst>
                  <a:ext uri="{FF2B5EF4-FFF2-40B4-BE49-F238E27FC236}">
                    <a16:creationId xmlns:a16="http://schemas.microsoft.com/office/drawing/2014/main" id="{0B7BD882-6718-4AEE-BEFD-B0B2EA7734F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60588" y="4419280"/>
                <a:ext cx="1196" cy="5131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3" name="AutoShape 11">
                <a:extLst>
                  <a:ext uri="{FF2B5EF4-FFF2-40B4-BE49-F238E27FC236}">
                    <a16:creationId xmlns:a16="http://schemas.microsoft.com/office/drawing/2014/main" id="{17E4759D-EEF9-4AC9-B942-6D9A5D5359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9744" y="5203654"/>
                <a:ext cx="314519" cy="284159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48" name="Text Box 12">
              <a:extLst>
                <a:ext uri="{FF2B5EF4-FFF2-40B4-BE49-F238E27FC236}">
                  <a16:creationId xmlns:a16="http://schemas.microsoft.com/office/drawing/2014/main" id="{A9BBD483-DD7B-4F83-8026-9D2B19C10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478632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9" name="Text Box 12">
              <a:extLst>
                <a:ext uri="{FF2B5EF4-FFF2-40B4-BE49-F238E27FC236}">
                  <a16:creationId xmlns:a16="http://schemas.microsoft.com/office/drawing/2014/main" id="{C3116664-783E-4BED-9787-64E483529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442913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50" name="Text Box 12">
              <a:extLst>
                <a:ext uri="{FF2B5EF4-FFF2-40B4-BE49-F238E27FC236}">
                  <a16:creationId xmlns:a16="http://schemas.microsoft.com/office/drawing/2014/main" id="{1A8CF26D-7830-4ABD-9B54-76022CE2F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3240" y="378619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51" name="Text Box 12">
              <a:extLst>
                <a:ext uri="{FF2B5EF4-FFF2-40B4-BE49-F238E27FC236}">
                  <a16:creationId xmlns:a16="http://schemas.microsoft.com/office/drawing/2014/main" id="{14F5051D-2D8A-4C5B-93C3-1B194AA2D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174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2" name="Text Box 12">
              <a:extLst>
                <a:ext uri="{FF2B5EF4-FFF2-40B4-BE49-F238E27FC236}">
                  <a16:creationId xmlns:a16="http://schemas.microsoft.com/office/drawing/2014/main" id="{89ED3506-CACE-454A-9017-E085D020A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422" y="4357694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3" name="Text Box 12">
              <a:extLst>
                <a:ext uri="{FF2B5EF4-FFF2-40B4-BE49-F238E27FC236}">
                  <a16:creationId xmlns:a16="http://schemas.microsoft.com/office/drawing/2014/main" id="{C079C24F-8412-4662-98DA-4D4644301C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500063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4" name="Text Box 12">
              <a:extLst>
                <a:ext uri="{FF2B5EF4-FFF2-40B4-BE49-F238E27FC236}">
                  <a16:creationId xmlns:a16="http://schemas.microsoft.com/office/drawing/2014/main" id="{214D2C94-2254-4A6D-9045-0F992E07F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55" name="Text Box 12">
              <a:extLst>
                <a:ext uri="{FF2B5EF4-FFF2-40B4-BE49-F238E27FC236}">
                  <a16:creationId xmlns:a16="http://schemas.microsoft.com/office/drawing/2014/main" id="{ECD31079-D8AC-415E-9556-A201425AF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485776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C09B9614-49E9-490C-A277-E51E01AF08C8}"/>
              </a:ext>
            </a:extLst>
          </p:cNvPr>
          <p:cNvSpPr txBox="1"/>
          <p:nvPr/>
        </p:nvSpPr>
        <p:spPr>
          <a:xfrm>
            <a:off x="568036" y="949038"/>
            <a:ext cx="2917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9907372-3A64-49D1-BC7C-8A15ABCC2F8A}"/>
              </a:ext>
            </a:extLst>
          </p:cNvPr>
          <p:cNvSpPr txBox="1"/>
          <p:nvPr/>
        </p:nvSpPr>
        <p:spPr>
          <a:xfrm>
            <a:off x="9326881" y="984288"/>
            <a:ext cx="244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</p:spTree>
    <p:extLst>
      <p:ext uri="{BB962C8B-B14F-4D97-AF65-F5344CB8AC3E}">
        <p14:creationId xmlns:p14="http://schemas.microsoft.com/office/powerpoint/2010/main" val="175578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6.2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欧拉图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A8168A9-5761-43D9-A7E9-851AE7E77E4C}"/>
              </a:ext>
            </a:extLst>
          </p:cNvPr>
          <p:cNvSpPr txBox="1">
            <a:spLocks/>
          </p:cNvSpPr>
          <p:nvPr/>
        </p:nvSpPr>
        <p:spPr>
          <a:xfrm>
            <a:off x="457200" y="1571626"/>
            <a:ext cx="9661586" cy="1930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构造一个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阶有向图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 8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条边的标记是不同的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图中存在一条欧拉回路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000, 001, 011, 111, 110, 101, 010, 100.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在这条回路上连续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条边的标记的第一位恰好与第一条边的标记相同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顺着这条回路取每一条边标记的第一位得到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00011101,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按照这个顺序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标记磁鼓的扇区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56">
            <a:extLst>
              <a:ext uri="{FF2B5EF4-FFF2-40B4-BE49-F238E27FC236}">
                <a16:creationId xmlns:a16="http://schemas.microsoft.com/office/drawing/2014/main" id="{0EFD0363-4CAE-457F-BB6A-616D21E1AA1A}"/>
              </a:ext>
            </a:extLst>
          </p:cNvPr>
          <p:cNvGrpSpPr>
            <a:grpSpLocks/>
          </p:cNvGrpSpPr>
          <p:nvPr/>
        </p:nvGrpSpPr>
        <p:grpSpPr bwMode="auto">
          <a:xfrm>
            <a:off x="3759467" y="3451248"/>
            <a:ext cx="3286125" cy="3357562"/>
            <a:chOff x="5214942" y="1928802"/>
            <a:chExt cx="3286148" cy="3357586"/>
          </a:xfrm>
        </p:grpSpPr>
        <p:sp>
          <p:nvSpPr>
            <p:cNvPr id="8" name="Oval 22">
              <a:extLst>
                <a:ext uri="{FF2B5EF4-FFF2-40B4-BE49-F238E27FC236}">
                  <a16:creationId xmlns:a16="http://schemas.microsoft.com/office/drawing/2014/main" id="{7427CE4C-20E6-42A9-BC59-AD0B4F7C5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4390" y="2769212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23">
              <a:extLst>
                <a:ext uri="{FF2B5EF4-FFF2-40B4-BE49-F238E27FC236}">
                  <a16:creationId xmlns:a16="http://schemas.microsoft.com/office/drawing/2014/main" id="{6115F27C-481E-45E3-AE9D-942F75E2F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6312" y="4353772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Oval 24">
              <a:extLst>
                <a:ext uri="{FF2B5EF4-FFF2-40B4-BE49-F238E27FC236}">
                  <a16:creationId xmlns:a16="http://schemas.microsoft.com/office/drawing/2014/main" id="{B939C7DA-D143-4AD2-AE70-CC39B036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850" y="3520513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Oval 25">
              <a:extLst>
                <a:ext uri="{FF2B5EF4-FFF2-40B4-BE49-F238E27FC236}">
                  <a16:creationId xmlns:a16="http://schemas.microsoft.com/office/drawing/2014/main" id="{2B1FCE82-1C8B-4CD8-A990-425F9A955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9" y="3506853"/>
              <a:ext cx="107736" cy="9562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3" name="AutoShape 26">
              <a:extLst>
                <a:ext uri="{FF2B5EF4-FFF2-40B4-BE49-F238E27FC236}">
                  <a16:creationId xmlns:a16="http://schemas.microsoft.com/office/drawing/2014/main" id="{EC556846-AA18-437D-9316-B14381D7F5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92127" y="2864832"/>
              <a:ext cx="929723" cy="65568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AutoShape 27">
              <a:extLst>
                <a:ext uri="{FF2B5EF4-FFF2-40B4-BE49-F238E27FC236}">
                  <a16:creationId xmlns:a16="http://schemas.microsoft.com/office/drawing/2014/main" id="{A5FA9BB9-5400-431B-81FD-0DA21EB448A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924048" y="3616132"/>
              <a:ext cx="897801" cy="7649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AutoShape 28">
              <a:extLst>
                <a:ext uri="{FF2B5EF4-FFF2-40B4-BE49-F238E27FC236}">
                  <a16:creationId xmlns:a16="http://schemas.microsoft.com/office/drawing/2014/main" id="{5EBC1CA2-CAFE-478E-A91A-F9CB37A086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808114" y="3616132"/>
              <a:ext cx="1008198" cy="7843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AutoShape 29">
              <a:extLst>
                <a:ext uri="{FF2B5EF4-FFF2-40B4-BE49-F238E27FC236}">
                  <a16:creationId xmlns:a16="http://schemas.microsoft.com/office/drawing/2014/main" id="{B2D8A05F-F916-44D3-948B-89F0BF5C57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808114" y="2820438"/>
              <a:ext cx="976276" cy="7000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30">
              <a:extLst>
                <a:ext uri="{FF2B5EF4-FFF2-40B4-BE49-F238E27FC236}">
                  <a16:creationId xmlns:a16="http://schemas.microsoft.com/office/drawing/2014/main" id="{EC8ECD58-3E93-4500-AB18-1A0AC154D8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41367" y="3520513"/>
              <a:ext cx="198048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31">
              <a:extLst>
                <a:ext uri="{FF2B5EF4-FFF2-40B4-BE49-F238E27FC236}">
                  <a16:creationId xmlns:a16="http://schemas.microsoft.com/office/drawing/2014/main" id="{3C99FC77-BFCA-4FD4-A076-0F368D4E9A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41367" y="3602472"/>
              <a:ext cx="198048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Arc 32">
              <a:extLst>
                <a:ext uri="{FF2B5EF4-FFF2-40B4-BE49-F238E27FC236}">
                  <a16:creationId xmlns:a16="http://schemas.microsoft.com/office/drawing/2014/main" id="{3A47269A-ABDC-4A37-B1C9-CC601F860035}"/>
                </a:ext>
              </a:extLst>
            </p:cNvPr>
            <p:cNvSpPr>
              <a:spLocks/>
            </p:cNvSpPr>
            <p:nvPr/>
          </p:nvSpPr>
          <p:spPr bwMode="auto">
            <a:xfrm rot="16501915" flipH="1">
              <a:off x="6561684" y="2235366"/>
              <a:ext cx="482653" cy="583904"/>
            </a:xfrm>
            <a:custGeom>
              <a:avLst/>
              <a:gdLst>
                <a:gd name="T0" fmla="*/ 2147483647 w 43200"/>
                <a:gd name="T1" fmla="*/ 2147483647 h 43200"/>
                <a:gd name="T2" fmla="*/ 2147483647 w 43200"/>
                <a:gd name="T3" fmla="*/ 2147483647 h 43200"/>
                <a:gd name="T4" fmla="*/ 2147483647 w 43200"/>
                <a:gd name="T5" fmla="*/ 2147483647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3200" stroke="0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Arc 33">
              <a:extLst>
                <a:ext uri="{FF2B5EF4-FFF2-40B4-BE49-F238E27FC236}">
                  <a16:creationId xmlns:a16="http://schemas.microsoft.com/office/drawing/2014/main" id="{D6AD20AF-CBD1-42E4-9C29-39841581E797}"/>
                </a:ext>
              </a:extLst>
            </p:cNvPr>
            <p:cNvSpPr>
              <a:spLocks/>
            </p:cNvSpPr>
            <p:nvPr/>
          </p:nvSpPr>
          <p:spPr bwMode="auto">
            <a:xfrm rot="5339967" flipH="1">
              <a:off x="6665430" y="4395920"/>
              <a:ext cx="482653" cy="583904"/>
            </a:xfrm>
            <a:custGeom>
              <a:avLst/>
              <a:gdLst>
                <a:gd name="T0" fmla="*/ 2147483647 w 43200"/>
                <a:gd name="T1" fmla="*/ 2147483647 h 43200"/>
                <a:gd name="T2" fmla="*/ 2147483647 w 43200"/>
                <a:gd name="T3" fmla="*/ 2147483647 h 43200"/>
                <a:gd name="T4" fmla="*/ 2147483647 w 43200"/>
                <a:gd name="T5" fmla="*/ 2147483647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43200" stroke="0" extrusionOk="0">
                  <a:moveTo>
                    <a:pt x="42310" y="27736"/>
                  </a:moveTo>
                  <a:cubicBezTo>
                    <a:pt x="39592" y="36907"/>
                    <a:pt x="31166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1" name="AutoShape 34">
              <a:extLst>
                <a:ext uri="{FF2B5EF4-FFF2-40B4-BE49-F238E27FC236}">
                  <a16:creationId xmlns:a16="http://schemas.microsoft.com/office/drawing/2014/main" id="{DE3CCB04-E33F-4DA2-BA26-4C09030B55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62179" y="2703880"/>
              <a:ext cx="122212" cy="653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35">
              <a:extLst>
                <a:ext uri="{FF2B5EF4-FFF2-40B4-BE49-F238E27FC236}">
                  <a16:creationId xmlns:a16="http://schemas.microsoft.com/office/drawing/2014/main" id="{DB6CD60E-635D-4A00-9636-648F720E9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929458" y="4429136"/>
              <a:ext cx="142873" cy="714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 Box 36">
              <a:extLst>
                <a:ext uri="{FF2B5EF4-FFF2-40B4-BE49-F238E27FC236}">
                  <a16:creationId xmlns:a16="http://schemas.microsoft.com/office/drawing/2014/main" id="{B225BA6A-B1E5-45C5-972A-9FB42A788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2264" y="2786058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00</a:t>
              </a:r>
              <a:endParaRPr lang="zh-CN" altLang="zh-CN" sz="2000" b="1"/>
            </a:p>
          </p:txBody>
        </p:sp>
        <p:sp>
          <p:nvSpPr>
            <p:cNvPr id="26" name="Text Box 36">
              <a:extLst>
                <a:ext uri="{FF2B5EF4-FFF2-40B4-BE49-F238E27FC236}">
                  <a16:creationId xmlns:a16="http://schemas.microsoft.com/office/drawing/2014/main" id="{5507DEF9-C978-4E1E-927A-5DF9CE2F5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5621" y="3357562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01</a:t>
              </a:r>
              <a:endParaRPr lang="zh-CN" altLang="zh-CN" sz="2000" b="1"/>
            </a:p>
          </p:txBody>
        </p:sp>
        <p:sp>
          <p:nvSpPr>
            <p:cNvPr id="27" name="Text Box 36">
              <a:extLst>
                <a:ext uri="{FF2B5EF4-FFF2-40B4-BE49-F238E27FC236}">
                  <a16:creationId xmlns:a16="http://schemas.microsoft.com/office/drawing/2014/main" id="{D50DB8D0-B88B-456A-83BC-34B4FC15A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3357562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10</a:t>
              </a:r>
              <a:endParaRPr lang="zh-CN" altLang="zh-CN" sz="2000" b="1"/>
            </a:p>
          </p:txBody>
        </p:sp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id="{6CA82A99-3DDF-43F8-A6E3-3A37D6431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9737" y="4000504"/>
              <a:ext cx="565469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11</a:t>
              </a:r>
              <a:endParaRPr lang="zh-CN" altLang="zh-CN" sz="2000" b="1"/>
            </a:p>
          </p:txBody>
        </p:sp>
        <p:sp>
          <p:nvSpPr>
            <p:cNvPr id="29" name="Text Box 36">
              <a:extLst>
                <a:ext uri="{FF2B5EF4-FFF2-40B4-BE49-F238E27FC236}">
                  <a16:creationId xmlns:a16="http://schemas.microsoft.com/office/drawing/2014/main" id="{41F5AD75-8496-4647-A8F6-EBE740AF7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826" y="1928802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000</a:t>
              </a:r>
              <a:endParaRPr lang="zh-CN" altLang="zh-CN" sz="2000" b="1"/>
            </a:p>
          </p:txBody>
        </p:sp>
        <p:sp>
          <p:nvSpPr>
            <p:cNvPr id="30" name="Text Box 36">
              <a:extLst>
                <a:ext uri="{FF2B5EF4-FFF2-40B4-BE49-F238E27FC236}">
                  <a16:creationId xmlns:a16="http://schemas.microsoft.com/office/drawing/2014/main" id="{9F837943-2614-464F-A3AF-4FBA9BC38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5206" y="278605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001</a:t>
              </a:r>
              <a:endParaRPr lang="zh-CN" altLang="zh-CN" sz="2000" b="1"/>
            </a:p>
          </p:txBody>
        </p:sp>
        <p:sp>
          <p:nvSpPr>
            <p:cNvPr id="31" name="Text Box 36">
              <a:extLst>
                <a:ext uri="{FF2B5EF4-FFF2-40B4-BE49-F238E27FC236}">
                  <a16:creationId xmlns:a16="http://schemas.microsoft.com/office/drawing/2014/main" id="{824F586F-A966-44B6-9677-1D8DFD635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8082" y="385762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011</a:t>
              </a:r>
              <a:endParaRPr lang="zh-CN" altLang="zh-CN" sz="2000" b="1"/>
            </a:p>
          </p:txBody>
        </p:sp>
        <p:sp>
          <p:nvSpPr>
            <p:cNvPr id="32" name="Text Box 36">
              <a:extLst>
                <a:ext uri="{FF2B5EF4-FFF2-40B4-BE49-F238E27FC236}">
                  <a16:creationId xmlns:a16="http://schemas.microsoft.com/office/drawing/2014/main" id="{BA1C0BA2-A86B-4213-A2C5-753B4D00F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826" y="314324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dirty="0">
                  <a:latin typeface="Times New Roman" panose="02020603050405020304" pitchFamily="18" charset="0"/>
                </a:rPr>
                <a:t>010</a:t>
              </a:r>
              <a:endParaRPr lang="zh-CN" altLang="zh-CN" sz="2000" b="1" dirty="0"/>
            </a:p>
          </p:txBody>
        </p:sp>
        <p:sp>
          <p:nvSpPr>
            <p:cNvPr id="33" name="Text Box 36">
              <a:extLst>
                <a:ext uri="{FF2B5EF4-FFF2-40B4-BE49-F238E27FC236}">
                  <a16:creationId xmlns:a16="http://schemas.microsoft.com/office/drawing/2014/main" id="{64601AB9-C0CF-4C0C-BB71-48858EA12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6446" y="278605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100</a:t>
              </a:r>
              <a:endParaRPr lang="zh-CN" altLang="zh-CN" sz="2000" b="1"/>
            </a:p>
          </p:txBody>
        </p:sp>
        <p:sp>
          <p:nvSpPr>
            <p:cNvPr id="34" name="Text Box 36">
              <a:extLst>
                <a:ext uri="{FF2B5EF4-FFF2-40B4-BE49-F238E27FC236}">
                  <a16:creationId xmlns:a16="http://schemas.microsoft.com/office/drawing/2014/main" id="{0C038A74-9264-4EF5-9476-11B98EE2C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0826" y="3571876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dirty="0">
                  <a:latin typeface="Times New Roman" panose="02020603050405020304" pitchFamily="18" charset="0"/>
                </a:rPr>
                <a:t>101</a:t>
              </a:r>
              <a:endParaRPr lang="zh-CN" altLang="zh-CN" sz="2000" b="1" dirty="0"/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C83E8330-49EA-406B-A486-DBD494D20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3570" y="3857628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</a:rPr>
                <a:t>110</a:t>
              </a:r>
              <a:endParaRPr lang="zh-CN" altLang="zh-CN" sz="2000" b="1"/>
            </a:p>
          </p:txBody>
        </p:sp>
        <p:sp>
          <p:nvSpPr>
            <p:cNvPr id="36" name="Text Box 36">
              <a:extLst>
                <a:ext uri="{FF2B5EF4-FFF2-40B4-BE49-F238E27FC236}">
                  <a16:creationId xmlns:a16="http://schemas.microsoft.com/office/drawing/2014/main" id="{447AA190-2077-44F2-908D-C776EAB4E1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4857760"/>
              <a:ext cx="714380" cy="42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111</a:t>
              </a:r>
              <a:endPara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组合 71">
            <a:extLst>
              <a:ext uri="{FF2B5EF4-FFF2-40B4-BE49-F238E27FC236}">
                <a16:creationId xmlns:a16="http://schemas.microsoft.com/office/drawing/2014/main" id="{11C24816-1A59-462C-8572-32AB0C50ABB4}"/>
              </a:ext>
            </a:extLst>
          </p:cNvPr>
          <p:cNvGrpSpPr/>
          <p:nvPr/>
        </p:nvGrpSpPr>
        <p:grpSpPr>
          <a:xfrm>
            <a:off x="9982868" y="1635785"/>
            <a:ext cx="1982784" cy="1773061"/>
            <a:chOff x="2160588" y="3714752"/>
            <a:chExt cx="1982784" cy="1773061"/>
          </a:xfrm>
          <a:solidFill>
            <a:srgbClr val="E1F4FF"/>
          </a:solidFill>
        </p:grpSpPr>
        <p:grpSp>
          <p:nvGrpSpPr>
            <p:cNvPr id="38" name="组合 63">
              <a:extLst>
                <a:ext uri="{FF2B5EF4-FFF2-40B4-BE49-F238E27FC236}">
                  <a16:creationId xmlns:a16="http://schemas.microsoft.com/office/drawing/2014/main" id="{0B9E43DE-A80C-4BF7-B892-2077EADE3836}"/>
                </a:ext>
              </a:extLst>
            </p:cNvPr>
            <p:cNvGrpSpPr/>
            <p:nvPr/>
          </p:nvGrpSpPr>
          <p:grpSpPr>
            <a:xfrm>
              <a:off x="2160588" y="3714752"/>
              <a:ext cx="1982784" cy="1773061"/>
              <a:chOff x="2160588" y="3714752"/>
              <a:chExt cx="1982784" cy="1773061"/>
            </a:xfrm>
            <a:grpFill/>
          </p:grpSpPr>
          <p:sp>
            <p:nvSpPr>
              <p:cNvPr id="47" name="Oval 4">
                <a:extLst>
                  <a:ext uri="{FF2B5EF4-FFF2-40B4-BE49-F238E27FC236}">
                    <a16:creationId xmlns:a16="http://schemas.microsoft.com/office/drawing/2014/main" id="{978CC5BC-8A1D-4F63-A8DF-7E44A1088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910" y="3809863"/>
                <a:ext cx="1785462" cy="1609845"/>
              </a:xfrm>
              <a:prstGeom prst="ellipse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cxnSp>
            <p:nvCxnSpPr>
              <p:cNvPr id="48" name="AutoShape 5">
                <a:extLst>
                  <a:ext uri="{FF2B5EF4-FFF2-40B4-BE49-F238E27FC236}">
                    <a16:creationId xmlns:a16="http://schemas.microsoft.com/office/drawing/2014/main" id="{2FE53199-443D-4430-82BB-E8B0C94930E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28860" y="4286256"/>
                <a:ext cx="1571636" cy="714380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9" name="AutoShape 6">
                <a:extLst>
                  <a:ext uri="{FF2B5EF4-FFF2-40B4-BE49-F238E27FC236}">
                    <a16:creationId xmlns:a16="http://schemas.microsoft.com/office/drawing/2014/main" id="{19C22041-BF1E-443D-B5EE-B7D86F46DB8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2491483" y="4186865"/>
                <a:ext cx="1481061" cy="822587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0" name="AutoShape 7">
                <a:extLst>
                  <a:ext uri="{FF2B5EF4-FFF2-40B4-BE49-F238E27FC236}">
                    <a16:creationId xmlns:a16="http://schemas.microsoft.com/office/drawing/2014/main" id="{97782E89-21B6-4A2E-B51F-2F2A6A40B4F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2428859" y="4429131"/>
                <a:ext cx="1571638" cy="4286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" name="AutoShape 8">
                <a:extLst>
                  <a:ext uri="{FF2B5EF4-FFF2-40B4-BE49-F238E27FC236}">
                    <a16:creationId xmlns:a16="http://schemas.microsoft.com/office/drawing/2014/main" id="{D9F1875E-7505-438E-BDC0-E991BAC957A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428860" y="4286256"/>
                <a:ext cx="1643074" cy="642942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2" name="AutoShape 9">
                <a:extLst>
                  <a:ext uri="{FF2B5EF4-FFF2-40B4-BE49-F238E27FC236}">
                    <a16:creationId xmlns:a16="http://schemas.microsoft.com/office/drawing/2014/main" id="{66B61BCD-1099-4AFA-91D6-7FA49B2809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374652" y="3714752"/>
                <a:ext cx="287013" cy="311166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3" name="AutoShape 10">
                <a:extLst>
                  <a:ext uri="{FF2B5EF4-FFF2-40B4-BE49-F238E27FC236}">
                    <a16:creationId xmlns:a16="http://schemas.microsoft.com/office/drawing/2014/main" id="{0C2AA562-71DD-43AB-8565-2CA1D2640E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160588" y="4419280"/>
                <a:ext cx="1196" cy="513131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4" name="AutoShape 11">
                <a:extLst>
                  <a:ext uri="{FF2B5EF4-FFF2-40B4-BE49-F238E27FC236}">
                    <a16:creationId xmlns:a16="http://schemas.microsoft.com/office/drawing/2014/main" id="{FA316DA0-6A4F-4DBF-8207-B24F9D3391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89744" y="5203654"/>
                <a:ext cx="314519" cy="284159"/>
              </a:xfrm>
              <a:prstGeom prst="straightConnector1">
                <a:avLst/>
              </a:prstGeom>
              <a:grp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39" name="Text Box 12">
              <a:extLst>
                <a:ext uri="{FF2B5EF4-FFF2-40B4-BE49-F238E27FC236}">
                  <a16:creationId xmlns:a16="http://schemas.microsoft.com/office/drawing/2014/main" id="{6A144407-4D2D-450B-8814-55D582003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478632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0" name="Text Box 12">
              <a:extLst>
                <a:ext uri="{FF2B5EF4-FFF2-40B4-BE49-F238E27FC236}">
                  <a16:creationId xmlns:a16="http://schemas.microsoft.com/office/drawing/2014/main" id="{2CECAAF9-5078-4678-87F6-3FB23B950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2" y="4429132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57AFBBD0-9F71-4A0A-9E58-A81F72E96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3240" y="378619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0</a:t>
              </a:r>
              <a:endParaRPr lang="zh-CN" altLang="zh-CN" sz="2400" b="1" dirty="0"/>
            </a:p>
          </p:txBody>
        </p:sp>
        <p:sp>
          <p:nvSpPr>
            <p:cNvPr id="42" name="Text Box 12">
              <a:extLst>
                <a:ext uri="{FF2B5EF4-FFF2-40B4-BE49-F238E27FC236}">
                  <a16:creationId xmlns:a16="http://schemas.microsoft.com/office/drawing/2014/main" id="{5EE647B4-43D6-4CC1-AF8B-7552D4CF4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174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3" name="Text Box 12">
              <a:extLst>
                <a:ext uri="{FF2B5EF4-FFF2-40B4-BE49-F238E27FC236}">
                  <a16:creationId xmlns:a16="http://schemas.microsoft.com/office/drawing/2014/main" id="{4D72F679-61C0-48CD-8BD7-A42DB668B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422" y="4357694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4" name="Text Box 12">
              <a:extLst>
                <a:ext uri="{FF2B5EF4-FFF2-40B4-BE49-F238E27FC236}">
                  <a16:creationId xmlns:a16="http://schemas.microsoft.com/office/drawing/2014/main" id="{58214132-B915-4188-9CAA-9C57E5508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500063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5" name="Text Box 12">
              <a:extLst>
                <a:ext uri="{FF2B5EF4-FFF2-40B4-BE49-F238E27FC236}">
                  <a16:creationId xmlns:a16="http://schemas.microsoft.com/office/drawing/2014/main" id="{19EC3616-D4CB-41C4-BB90-D68DD78BD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1868" y="3929066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  <p:sp>
          <p:nvSpPr>
            <p:cNvPr id="46" name="Text Box 12">
              <a:extLst>
                <a:ext uri="{FF2B5EF4-FFF2-40B4-BE49-F238E27FC236}">
                  <a16:creationId xmlns:a16="http://schemas.microsoft.com/office/drawing/2014/main" id="{4B93245D-1D06-4BB9-A278-572A81FC0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4857760"/>
              <a:ext cx="285752" cy="42862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>
                <a:defRPr/>
              </a:pPr>
              <a:r>
                <a:rPr lang="en-US" altLang="zh-CN" sz="2400" b="1" dirty="0">
                  <a:latin typeface="Times New Roman" pitchFamily="18" charset="0"/>
                </a:rPr>
                <a:t>1</a:t>
              </a:r>
              <a:endParaRPr lang="zh-CN" altLang="zh-CN" sz="2400" b="1" dirty="0"/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D9995262-6469-4960-93D7-337CD887E0D1}"/>
              </a:ext>
            </a:extLst>
          </p:cNvPr>
          <p:cNvSpPr txBox="1"/>
          <p:nvPr/>
        </p:nvSpPr>
        <p:spPr>
          <a:xfrm>
            <a:off x="568036" y="949038"/>
            <a:ext cx="2917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欧拉通路与欧拉回路</a:t>
            </a:r>
            <a:endParaRPr lang="en-US" altLang="zh-CN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64F56F4-158C-49D7-A74B-8A2802B95480}"/>
              </a:ext>
            </a:extLst>
          </p:cNvPr>
          <p:cNvSpPr txBox="1"/>
          <p:nvPr/>
        </p:nvSpPr>
        <p:spPr>
          <a:xfrm>
            <a:off x="9326881" y="984288"/>
            <a:ext cx="24423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欧拉图的判别方法</a:t>
            </a:r>
          </a:p>
        </p:txBody>
      </p:sp>
    </p:spTree>
    <p:extLst>
      <p:ext uri="{BB962C8B-B14F-4D97-AF65-F5344CB8AC3E}">
        <p14:creationId xmlns:p14="http://schemas.microsoft.com/office/powerpoint/2010/main" val="295250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C0406B1-6BA2-4FD9-A6D0-A8E6DED7C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562" y="1688681"/>
            <a:ext cx="11137990" cy="152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历史背景：哈密顿周游世界问题与哈密顿图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每个顶点是一个城市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个城市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要求从一个城市出发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恰好经过每一个城市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回到出发点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89B6CC3-3F9D-4E73-B660-B5EE9D576004}"/>
              </a:ext>
            </a:extLst>
          </p:cNvPr>
          <p:cNvGrpSpPr>
            <a:grpSpLocks/>
          </p:cNvGrpSpPr>
          <p:nvPr/>
        </p:nvGrpSpPr>
        <p:grpSpPr bwMode="auto">
          <a:xfrm>
            <a:off x="3035930" y="3507627"/>
            <a:ext cx="6626225" cy="3265487"/>
            <a:chOff x="0" y="0"/>
            <a:chExt cx="4174" cy="2057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BE4B7FFB-1645-492F-97E3-D39C2B0FE7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174" cy="1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1A8C7F20-37E5-4EC0-8BC0-A90F95AF1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" y="1769"/>
              <a:ext cx="34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  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(1)                                                 (2)  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F34C03A-256B-461E-A719-DEDF8B3C4D90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1B2FD89-825E-44E8-A418-0A9548D46CF9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D1D943-A09E-4E2B-9058-554B3FCCB417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34BF15-0473-49A9-B524-3AC28E8C22A7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177057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3F9B41D-D7FD-4B46-AAB9-AA7F724B2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21" y="1542031"/>
            <a:ext cx="9939157" cy="2109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6.5 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(1)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哈密顿通路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经过图中所有顶点一次仅一次的通路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(2)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哈密顿回路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经过图中所有顶点一次仅一次的回路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(3)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具有哈密顿回路的图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(4) </a:t>
            </a: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半哈密顿图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/>
                <a:cs typeface="+mn-cs"/>
              </a:rPr>
              <a:t>——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具有哈密顿通路且无哈密顿回路的图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89DBDF-ECFD-4F1F-ACB1-517D0CE183B2}"/>
              </a:ext>
            </a:extLst>
          </p:cNvPr>
          <p:cNvSpPr txBox="1"/>
          <p:nvPr/>
        </p:nvSpPr>
        <p:spPr>
          <a:xfrm>
            <a:off x="568036" y="949038"/>
            <a:ext cx="3538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CDC5CA-C189-4315-89F9-0537B8D66ED6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3232E12-BC70-4384-9318-0C77C021915C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313842-BFD0-4D86-A84D-19D0A92A6DC0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D710EDC-E1DB-4255-BEDD-FA4CD608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19" y="4054769"/>
            <a:ext cx="9939157" cy="256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lnSpc>
                <a:spcPct val="13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几点说明：</a:t>
            </a:r>
          </a:p>
          <a:p>
            <a:pPr marR="0" lvl="0">
              <a:lnSpc>
                <a:spcPct val="13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平凡图是哈密顿图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R="0" lvl="0">
              <a:lnSpc>
                <a:spcPct val="13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哈密顿通路是初级通路，哈密顿回路是初级回路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R="0" lvl="0">
              <a:lnSpc>
                <a:spcPct val="130000"/>
              </a:lnSpc>
              <a:spcBef>
                <a:spcPts val="0"/>
              </a:spcBef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环与平行边不影响哈密顿性</a:t>
            </a:r>
            <a:r>
              <a:rPr lang="en-US" altLang="zh-CN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哈密顿图的实质是能将图中的所有顶点排在同一个圈上.</a:t>
            </a:r>
          </a:p>
        </p:txBody>
      </p:sp>
    </p:spTree>
    <p:extLst>
      <p:ext uri="{BB962C8B-B14F-4D97-AF65-F5344CB8AC3E}">
        <p14:creationId xmlns:p14="http://schemas.microsoft.com/office/powerpoint/2010/main" val="243999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1616C32-EFDE-4E36-AB78-548C744D0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93" y="1890233"/>
            <a:ext cx="8229600" cy="369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是否是哈密顿图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Picture 8" descr="15-6">
            <a:extLst>
              <a:ext uri="{FF2B5EF4-FFF2-40B4-BE49-F238E27FC236}">
                <a16:creationId xmlns:a16="http://schemas.microsoft.com/office/drawing/2014/main" id="{163361F4-3F1B-4210-A5EF-50E84E992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65" r="-1547" b="19881"/>
          <a:stretch>
            <a:fillRect/>
          </a:stretch>
        </p:blipFill>
        <p:spPr bwMode="auto">
          <a:xfrm>
            <a:off x="1809929" y="2633483"/>
            <a:ext cx="7929563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6E916A94-4C8F-4A77-AA1D-7C0879AFB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679" y="4633733"/>
            <a:ext cx="1643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D1B65CBB-830B-417F-A44F-E4939B422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815" y="4633733"/>
            <a:ext cx="16430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416347C3-1882-45C1-9587-91878AF29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753" y="4633733"/>
            <a:ext cx="20716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eaLnBrk="1" fontAlgn="base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tabLst/>
              <a:defRPr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半哈密顿图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55523BE3-8935-4C5A-B019-EAFA7732D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3792" y="4647180"/>
            <a:ext cx="1143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Tx/>
              <a:buNone/>
            </a:pPr>
            <a:r>
              <a:rPr lang="zh-CN" altLang="en-US" sz="20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BF6F58-DC17-44EA-AD55-9146140C0500}"/>
              </a:ext>
            </a:extLst>
          </p:cNvPr>
          <p:cNvSpPr txBox="1"/>
          <p:nvPr/>
        </p:nvSpPr>
        <p:spPr>
          <a:xfrm>
            <a:off x="568036" y="949038"/>
            <a:ext cx="3538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8FB29E-3380-4F39-B332-55C533E3583A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3E7C1D-3A69-42D0-ACC4-A777127E7D62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F769DC0-321A-4EC8-99A7-DD855B155DC8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17895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0DD3827-E06D-4CF4-8CA0-9FB8306C2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9" y="1467674"/>
            <a:ext cx="11106146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6.6  </a:t>
            </a: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是哈密顿图，对于任意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且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均有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|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ED5FFDE-16E4-4DF7-A433-40C40D305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69" y="2522443"/>
            <a:ext cx="10979922" cy="92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证  设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中一条哈密顿回路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|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            (2)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2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|</a:t>
            </a:r>
            <a:r>
              <a:rPr lang="en-US" altLang="zh-CN" sz="22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en-US" altLang="zh-CN" sz="22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    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200" b="1" dirty="0">
                <a:latin typeface="黑体" panose="02010609060101010101" pitchFamily="49" charset="-122"/>
                <a:ea typeface="黑体" panose="02010609060101010101" pitchFamily="49" charset="-122"/>
              </a:rPr>
              <a:t>的生成子图）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5B65904-7A59-4013-A663-FE48835AA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9" y="4699120"/>
            <a:ext cx="11567917" cy="2255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几点说明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该定理是哈密顿图的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必要条件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但不是充分条件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可用来判断某图</a:t>
            </a:r>
            <a:r>
              <a:rPr lang="zh-CN" altLang="en-US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 </a:t>
            </a:r>
          </a:p>
          <a:p>
            <a:pPr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由定理可知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s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s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+1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时不是哈密顿图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algn="just" eaLnBrk="1" hangingPunct="1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kern="0" dirty="0" err="1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kern="0" dirty="0" err="1">
                <a:latin typeface="Times New Roman" panose="02020603050405020304" pitchFamily="18" charset="0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r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而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,</a:t>
            </a:r>
            <a:r>
              <a:rPr lang="en-US" altLang="zh-CN" sz="2400" b="1" i="1" kern="0" baseline="-30000" dirty="0" err="1">
                <a:latin typeface="Times New Roman" panose="02020603050405020304" pitchFamily="18" charset="0"/>
              </a:rPr>
              <a:t>r</a:t>
            </a:r>
            <a:r>
              <a:rPr lang="en-US" altLang="zh-CN" sz="2400" b="1" kern="0" baseline="-30000" dirty="0" err="1">
                <a:latin typeface="Times New Roman" panose="02020603050405020304" pitchFamily="18" charset="0"/>
              </a:rPr>
              <a:t>+1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是半哈密顿图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A5621F-DF7C-4462-ADB8-96C6A00413F4}"/>
              </a:ext>
            </a:extLst>
          </p:cNvPr>
          <p:cNvSpPr txBox="1"/>
          <p:nvPr/>
        </p:nvSpPr>
        <p:spPr>
          <a:xfrm>
            <a:off x="568036" y="949038"/>
            <a:ext cx="3538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</a:t>
            </a:r>
            <a:r>
              <a:rPr lang="zh-CN" altLang="en-US"/>
              <a:t>哈密顿回路</a:t>
            </a:r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11C671-9B43-4F72-9FF5-9232BD4E779D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BA508F-74DD-4778-ABB3-CF52945C13E7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295493-44F6-4E48-A0E3-D7AAE69BBE03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BC553E7-4F02-472A-B3BA-DD8FB589D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9" y="3684200"/>
            <a:ext cx="11106146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推论</a:t>
            </a:r>
            <a:endParaRPr lang="en-US" altLang="zh-CN" dirty="0">
              <a:solidFill>
                <a:srgbClr val="99267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设无向图</a:t>
            </a:r>
            <a:r>
              <a:rPr lang="en-US" altLang="zh-CN" i="1" dirty="0">
                <a:latin typeface="Times New Roman" panose="02020603050405020304" pitchFamily="18" charset="0"/>
              </a:rPr>
              <a:t>G </a:t>
            </a:r>
            <a:r>
              <a:rPr lang="en-US" altLang="zh-CN" dirty="0">
                <a:latin typeface="Times New Roman" panose="02020603050405020304" pitchFamily="18" charset="0"/>
              </a:rPr>
              <a:t>= &lt;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中有哈密顿通路，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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i="1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且 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G</a:t>
            </a:r>
            <a:r>
              <a:rPr lang="en-US" altLang="zh-CN" dirty="0" err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dirty="0">
                <a:latin typeface="Times New Roman" panose="02020603050405020304" pitchFamily="18" charset="0"/>
              </a:rPr>
              <a:t> |</a:t>
            </a:r>
            <a:r>
              <a:rPr lang="en-US" altLang="zh-CN" i="1" dirty="0" err="1">
                <a:latin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| + 1</a:t>
            </a:r>
          </a:p>
        </p:txBody>
      </p:sp>
    </p:spTree>
    <p:extLst>
      <p:ext uri="{BB962C8B-B14F-4D97-AF65-F5344CB8AC3E}">
        <p14:creationId xmlns:p14="http://schemas.microsoft.com/office/powerpoint/2010/main" val="270227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99465C1-508E-41A4-81B6-98E0D09E9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38" y="1647280"/>
            <a:ext cx="11381955" cy="74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设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阶无向连通简单图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中有割点或桥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2400" b="1" i="1" kern="0" dirty="0">
                <a:latin typeface="Times New Roman" panose="02020603050405020304" pitchFamily="18" charset="0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515150A8-683A-444B-9AF9-993956947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13" y="2195673"/>
            <a:ext cx="105676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证  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(1)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为割点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2&gt;|{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}|=1.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根据定理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5">
            <a:extLst>
              <a:ext uri="{FF2B5EF4-FFF2-40B4-BE49-F238E27FC236}">
                <a16:creationId xmlns:a16="http://schemas.microsoft.com/office/drawing/2014/main" id="{143AE256-59AA-4D1A-9702-D9E7D7D79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660" y="2890339"/>
            <a:ext cx="1068839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(2)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有桥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它显然不是哈密顿图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除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sz="24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外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其他的有桥连通图均 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有割点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由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(1),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得证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不是哈密顿图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BFE403-8D7B-441E-A6A0-04320B6CEDF8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</a:t>
            </a:r>
            <a:r>
              <a:rPr lang="zh-CN" altLang="en-US"/>
              <a:t>哈密顿回路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D4FF4-89C3-4088-9BCD-CD00ACDA963B}"/>
              </a:ext>
            </a:extLst>
          </p:cNvPr>
          <p:cNvSpPr txBox="1"/>
          <p:nvPr/>
        </p:nvSpPr>
        <p:spPr>
          <a:xfrm>
            <a:off x="4606515" y="984288"/>
            <a:ext cx="2631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72901A-16E2-438B-9838-D8D6141BB477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14AC5C-026A-452E-A4F1-388C8DC906D7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A9D3A3EE-19FC-42ED-8EB0-5EE3FBBB5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15" y="4126019"/>
            <a:ext cx="11381955" cy="74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证明下图均不是哈密顿图</a:t>
            </a:r>
            <a:endParaRPr lang="en-US" altLang="zh-CN" sz="2400" b="1" kern="0" dirty="0">
              <a:latin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AE417D-B40D-4DB3-9A9D-7A928911F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539" y="4848348"/>
            <a:ext cx="1103231" cy="9878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A027D5-00EF-4B8A-97C1-4628574AA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929" y="4825160"/>
            <a:ext cx="1473467" cy="99069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9E80102-8CFF-4746-82B7-B592E550C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612" y="4701367"/>
            <a:ext cx="1468475" cy="105305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3AFA52C-9ED9-44DB-A4B8-547AB0CE7317}"/>
              </a:ext>
            </a:extLst>
          </p:cNvPr>
          <p:cNvSpPr txBox="1"/>
          <p:nvPr/>
        </p:nvSpPr>
        <p:spPr>
          <a:xfrm>
            <a:off x="1010207" y="6101834"/>
            <a:ext cx="2210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=2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有桥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CDC5342-93A3-44AE-AC78-E6BD3F99E5E9}"/>
              </a:ext>
            </a:extLst>
          </p:cNvPr>
          <p:cNvSpPr txBox="1"/>
          <p:nvPr/>
        </p:nvSpPr>
        <p:spPr>
          <a:xfrm>
            <a:off x="6675892" y="6092862"/>
            <a:ext cx="151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=4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5C940D7-992D-4E81-8BA4-435A96702411}"/>
              </a:ext>
            </a:extLst>
          </p:cNvPr>
          <p:cNvSpPr txBox="1"/>
          <p:nvPr/>
        </p:nvSpPr>
        <p:spPr>
          <a:xfrm>
            <a:off x="3654784" y="6083894"/>
            <a:ext cx="1511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8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=6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03144A2-DAF9-45CD-8B27-DB7832D0E1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772" y="6492688"/>
            <a:ext cx="331694" cy="33169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AFC15BF-51C7-440C-A466-14A90AAA7B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852" y="6492688"/>
            <a:ext cx="331694" cy="33169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D5ABCD8-22FF-49B9-9F2C-651182A33E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380" y="6492688"/>
            <a:ext cx="331694" cy="33169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85E2B674-870E-4BC3-A906-97F489AA8D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580" y="4570223"/>
            <a:ext cx="1633802" cy="123450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66CC1F24-C07D-4F6B-9238-F98931088577}"/>
              </a:ext>
            </a:extLst>
          </p:cNvPr>
          <p:cNvSpPr txBox="1"/>
          <p:nvPr/>
        </p:nvSpPr>
        <p:spPr>
          <a:xfrm>
            <a:off x="9894222" y="6070451"/>
            <a:ext cx="15111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满足必要条件</a:t>
            </a:r>
            <a:endParaRPr lang="en-US" altLang="zh-CN" sz="16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但不是</a:t>
            </a:r>
          </a:p>
        </p:txBody>
      </p:sp>
    </p:spTree>
    <p:extLst>
      <p:ext uri="{BB962C8B-B14F-4D97-AF65-F5344CB8AC3E}">
        <p14:creationId xmlns:p14="http://schemas.microsoft.com/office/powerpoint/2010/main" val="412913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20" grpId="0"/>
      <p:bldP spid="24" grpId="0"/>
      <p:bldP spid="25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99465C1-508E-41A4-81B6-98E0D09E9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738" y="1647280"/>
            <a:ext cx="11381955" cy="743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 判断下图哪些有哈密顿回路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400" b="1" kern="0" dirty="0">
              <a:latin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BFE403-8D7B-441E-A6A0-04320B6CEDF8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</a:t>
            </a:r>
            <a:r>
              <a:rPr lang="zh-CN" altLang="en-US"/>
              <a:t>哈密顿回路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FD4FF4-89C3-4088-9BCD-CD00ACDA963B}"/>
              </a:ext>
            </a:extLst>
          </p:cNvPr>
          <p:cNvSpPr txBox="1"/>
          <p:nvPr/>
        </p:nvSpPr>
        <p:spPr>
          <a:xfrm>
            <a:off x="4606515" y="984288"/>
            <a:ext cx="2631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72901A-16E2-438B-9838-D8D6141BB477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14AC5C-026A-452E-A4F1-388C8DC906D7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03144A2-DAF9-45CD-8B27-DB7832D0E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896" y="5154705"/>
            <a:ext cx="331694" cy="33169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AFC15BF-51C7-440C-A466-14A90AAA7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300" y="5154705"/>
            <a:ext cx="331694" cy="33169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D5ABCD8-22FF-49B9-9F2C-651182A33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388" y="5154705"/>
            <a:ext cx="331694" cy="33169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2AF4D39-D8EA-4112-81DF-507B08907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53" y="2610093"/>
            <a:ext cx="10239935" cy="197417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3A704B8-76E3-4D5F-8A01-3374F20DEF79}"/>
              </a:ext>
            </a:extLst>
          </p:cNvPr>
          <p:cNvSpPr txBox="1"/>
          <p:nvPr/>
        </p:nvSpPr>
        <p:spPr>
          <a:xfrm>
            <a:off x="1023653" y="4743682"/>
            <a:ext cx="22103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有割点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、桥</a:t>
            </a:r>
            <a:r>
              <a:rPr lang="en-US" altLang="zh-CN" sz="1600" b="1" i="1" kern="0" dirty="0">
                <a:latin typeface="黑体" panose="02010609060101010101" pitchFamily="49" charset="-122"/>
                <a:ea typeface="黑体" panose="02010609060101010101" pitchFamily="49" charset="-122"/>
              </a:rPr>
              <a:t>ae</a:t>
            </a:r>
            <a:endParaRPr lang="zh-CN" altLang="en-US" sz="1600" b="1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997B71-D2AB-4186-9E9B-1DD62E8607C6}"/>
              </a:ext>
            </a:extLst>
          </p:cNvPr>
          <p:cNvSpPr txBox="1"/>
          <p:nvPr/>
        </p:nvSpPr>
        <p:spPr>
          <a:xfrm>
            <a:off x="3657036" y="4633864"/>
            <a:ext cx="22103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取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r>
              <a:rPr kumimoji="0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p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=5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en-US" sz="1600" b="1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CE096A1-6405-480E-A728-2ACF61154013}"/>
              </a:ext>
            </a:extLst>
          </p:cNvPr>
          <p:cNvSpPr txBox="1"/>
          <p:nvPr/>
        </p:nvSpPr>
        <p:spPr>
          <a:xfrm>
            <a:off x="7233944" y="4768331"/>
            <a:ext cx="491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6730099-3F80-48AC-880F-0E8201BDBC80}"/>
              </a:ext>
            </a:extLst>
          </p:cNvPr>
          <p:cNvSpPr txBox="1"/>
          <p:nvPr/>
        </p:nvSpPr>
        <p:spPr>
          <a:xfrm>
            <a:off x="9416099" y="4631622"/>
            <a:ext cx="1880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取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i="1" kern="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16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r>
              <a:rPr kumimoji="0" lang="en-US" altLang="zh-CN" sz="16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p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kumimoji="0" lang="en-US" altLang="zh-CN" sz="16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=5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600" b="1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en-US" sz="1600" b="1" i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738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/>
      <p:bldP spid="3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6696398-E6FB-451D-AFFF-5CF4EBFCA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176" y="1540085"/>
            <a:ext cx="10896450" cy="187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 某次国际会议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人参加，已知每人至少与其余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人中的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人有共同语言，问服务员能否将他们安排在同一张圆桌就座，使得每个人都能与两边的人交谈？</a:t>
            </a:r>
          </a:p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A1941B8B-2687-4F62-89B1-18B7C9688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343" y="3133934"/>
            <a:ext cx="11050437" cy="222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 作无向图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=&lt;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|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为与会者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={(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 | 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u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有共同语言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且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}.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为简单图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根据条件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于是，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kumimoji="0" lang="en-US" altLang="zh-CN" sz="2400" b="1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)+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8. 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由定理可知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为哈密顿图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服务员在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中找一条哈密顿回路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，按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中相邻关系安排座位即可</a:t>
            </a:r>
            <a:r>
              <a:rPr lang="en-US" altLang="zh-CN" sz="2400" b="1" kern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endParaRPr lang="zh-CN" altLang="en-US" sz="2400" b="1" kern="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E15243-E6F2-4D8D-B489-623C591E02CB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</a:t>
            </a:r>
            <a:r>
              <a:rPr lang="zh-CN" altLang="en-US"/>
              <a:t>哈密顿回路</a:t>
            </a:r>
            <a:endParaRPr lang="en-US" altLang="zh-CN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0115D6-B591-4F7C-8D82-94182B830156}"/>
              </a:ext>
            </a:extLst>
          </p:cNvPr>
          <p:cNvSpPr txBox="1"/>
          <p:nvPr/>
        </p:nvSpPr>
        <p:spPr>
          <a:xfrm>
            <a:off x="4606515" y="984288"/>
            <a:ext cx="2631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0DAE78-4A14-411D-8660-43236437317B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3E4FE74-6DDE-4E4F-9C8A-722D1ECCC322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4078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953BD84-D9B3-41E1-9D12-62BDB0538560}"/>
              </a:ext>
            </a:extLst>
          </p:cNvPr>
          <p:cNvSpPr txBox="1">
            <a:spLocks/>
          </p:cNvSpPr>
          <p:nvPr/>
        </p:nvSpPr>
        <p:spPr bwMode="auto">
          <a:xfrm>
            <a:off x="552086" y="1475118"/>
            <a:ext cx="11136702" cy="1863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竞赛图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任意两个顶点之间恰好有一条有向边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（基图为</a:t>
            </a:r>
            <a:r>
              <a:rPr lang="en-US" altLang="zh-CN" sz="2400" b="1" i="1" kern="0" dirty="0" err="1">
                <a:latin typeface="Times New Roman" panose="02020603050405020304" pitchFamily="18" charset="0"/>
              </a:rPr>
              <a:t>K</a:t>
            </a:r>
            <a:r>
              <a:rPr lang="en-US" altLang="zh-CN" sz="2400" b="1" i="1" kern="0" baseline="-25000" dirty="0" err="1">
                <a:latin typeface="Times New Roman" panose="02020603050405020304" pitchFamily="18" charset="0"/>
              </a:rPr>
              <a:t>n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的有向简单图）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在循环赛中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个参赛队中的任意两个队比赛一次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假设没有平局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用有向图描述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比赛结果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顶点表示参赛队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有一条边当且仅当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队胜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队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24">
            <a:extLst>
              <a:ext uri="{FF2B5EF4-FFF2-40B4-BE49-F238E27FC236}">
                <a16:creationId xmlns:a16="http://schemas.microsoft.com/office/drawing/2014/main" id="{FD6934BF-B1CE-442C-88D9-32E91051459D}"/>
              </a:ext>
            </a:extLst>
          </p:cNvPr>
          <p:cNvGrpSpPr>
            <a:grpSpLocks/>
          </p:cNvGrpSpPr>
          <p:nvPr/>
        </p:nvGrpSpPr>
        <p:grpSpPr bwMode="auto">
          <a:xfrm>
            <a:off x="3323057" y="3103892"/>
            <a:ext cx="2534279" cy="2149595"/>
            <a:chOff x="5643570" y="3613139"/>
            <a:chExt cx="3000396" cy="2673381"/>
          </a:xfrm>
        </p:grpSpPr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CC915FFB-98E3-4E6F-B8CD-72F26E74A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54" y="3613139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5" name="组合 20">
              <a:extLst>
                <a:ext uri="{FF2B5EF4-FFF2-40B4-BE49-F238E27FC236}">
                  <a16:creationId xmlns:a16="http://schemas.microsoft.com/office/drawing/2014/main" id="{20F3AA95-55DB-4CFB-8101-0331B8E979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0225" y="4075686"/>
              <a:ext cx="2083675" cy="1925082"/>
              <a:chOff x="4988655" y="5488577"/>
              <a:chExt cx="1057697" cy="937075"/>
            </a:xfrm>
          </p:grpSpPr>
          <p:sp>
            <p:nvSpPr>
              <p:cNvPr id="19" name="Oval 4">
                <a:extLst>
                  <a:ext uri="{FF2B5EF4-FFF2-40B4-BE49-F238E27FC236}">
                    <a16:creationId xmlns:a16="http://schemas.microsoft.com/office/drawing/2014/main" id="{58C097F0-4ED5-46A5-87C3-EFC4C541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9399" y="5488577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0" name="Oval 5">
                <a:extLst>
                  <a:ext uri="{FF2B5EF4-FFF2-40B4-BE49-F238E27FC236}">
                    <a16:creationId xmlns:a16="http://schemas.microsoft.com/office/drawing/2014/main" id="{E7A5CD08-F5D2-4B09-A56A-40C8BE039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645" y="6372323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AF1D4058-F2F9-46D1-B1AA-F0B4622EA1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4896" y="5907595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" name="Oval 7">
                <a:extLst>
                  <a:ext uri="{FF2B5EF4-FFF2-40B4-BE49-F238E27FC236}">
                    <a16:creationId xmlns:a16="http://schemas.microsoft.com/office/drawing/2014/main" id="{A59E335A-BEC8-4463-94EE-6BDA18974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8655" y="5899976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25" name="AutoShape 8">
                <a:extLst>
                  <a:ext uri="{FF2B5EF4-FFF2-40B4-BE49-F238E27FC236}">
                    <a16:creationId xmlns:a16="http://schemas.microsoft.com/office/drawing/2014/main" id="{BE985906-35C5-4928-B356-657A01DA54A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550854" y="5541907"/>
                <a:ext cx="444042" cy="3656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AutoShape 9">
                <a:extLst>
                  <a:ext uri="{FF2B5EF4-FFF2-40B4-BE49-F238E27FC236}">
                    <a16:creationId xmlns:a16="http://schemas.microsoft.com/office/drawing/2014/main" id="{7312F795-5E5E-4900-9BC7-6BE34AE655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566100" y="5960924"/>
                <a:ext cx="428796" cy="4266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AutoShape 10">
                <a:extLst>
                  <a:ext uri="{FF2B5EF4-FFF2-40B4-BE49-F238E27FC236}">
                    <a16:creationId xmlns:a16="http://schemas.microsoft.com/office/drawing/2014/main" id="{52BDA684-8603-432B-8D53-AB8D4A28D05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033123" y="5960924"/>
                <a:ext cx="481522" cy="43742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AutoShape 11">
                <a:extLst>
                  <a:ext uri="{FF2B5EF4-FFF2-40B4-BE49-F238E27FC236}">
                    <a16:creationId xmlns:a16="http://schemas.microsoft.com/office/drawing/2014/main" id="{00F0F7F5-DC5C-4DF0-B9D9-141EAB323D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033123" y="5517147"/>
                <a:ext cx="466276" cy="39044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AutoShape 12">
                <a:extLst>
                  <a:ext uri="{FF2B5EF4-FFF2-40B4-BE49-F238E27FC236}">
                    <a16:creationId xmlns:a16="http://schemas.microsoft.com/office/drawing/2014/main" id="{D19F2BB4-BEB5-48FB-98D5-C48E2BA89D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049004" y="5930450"/>
                <a:ext cx="94589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AutoShape 17">
                <a:extLst>
                  <a:ext uri="{FF2B5EF4-FFF2-40B4-BE49-F238E27FC236}">
                    <a16:creationId xmlns:a16="http://schemas.microsoft.com/office/drawing/2014/main" id="{E2120097-18C0-44EF-83E3-A42253BC735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529891" y="5541907"/>
                <a:ext cx="15246" cy="83041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8EC0C167-E19D-46F5-99E7-6EE2E2F38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3570" y="4714884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1B0B6F3E-64FA-42F7-9ED5-BC23CEE6D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3900" y="4684709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83515E31-9CE6-4775-AB77-DD33E10C9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54" y="5899155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3C9531B2-8468-417C-BC8A-E01D93B822DA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29D9BDA-9D2F-4B11-A390-89D9DF20EC1D}"/>
              </a:ext>
            </a:extLst>
          </p:cNvPr>
          <p:cNvSpPr txBox="1"/>
          <p:nvPr/>
        </p:nvSpPr>
        <p:spPr>
          <a:xfrm>
            <a:off x="4606515" y="984288"/>
            <a:ext cx="2631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808218F-A5EA-477D-8FED-62FBE794FB56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A12E23F-F6B8-48F2-A6AC-9E4CFB1B9F6A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354697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32" name="内容占位符 2">
            <a:extLst>
              <a:ext uri="{FF2B5EF4-FFF2-40B4-BE49-F238E27FC236}">
                <a16:creationId xmlns:a16="http://schemas.microsoft.com/office/drawing/2014/main" id="{0D46190B-825E-4876-8E72-EDA3F671B580}"/>
              </a:ext>
            </a:extLst>
          </p:cNvPr>
          <p:cNvSpPr txBox="1">
            <a:spLocks/>
          </p:cNvSpPr>
          <p:nvPr/>
        </p:nvSpPr>
        <p:spPr bwMode="auto">
          <a:xfrm>
            <a:off x="457200" y="1643063"/>
            <a:ext cx="11473132" cy="151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None/>
            </a:pPr>
            <a:r>
              <a:rPr lang="zh-CN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400" b="1" kern="0" dirty="0">
                <a:solidFill>
                  <a:srgbClr val="992677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6.8 </a:t>
            </a:r>
          </a:p>
          <a:p>
            <a:pPr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阶有向图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如果所有有向边均用无向边代替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所得无向图中含生成子图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kern="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则有向图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中存在哈密顿通路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100475-98B4-40BB-BB8A-89403DEAF69A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258677-83C4-4E09-95EE-F8605C5C678F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DAD887-5B9B-4EF1-B76D-4780C82047C5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9AFB99-DF8E-4C9B-8D44-5DDC65028994}"/>
              </a:ext>
            </a:extLst>
          </p:cNvPr>
          <p:cNvSpPr txBox="1"/>
          <p:nvPr/>
        </p:nvSpPr>
        <p:spPr>
          <a:xfrm>
            <a:off x="8379127" y="995794"/>
            <a:ext cx="1236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F7A74647-679D-4BAA-9260-B0ADA7FD0305}"/>
              </a:ext>
            </a:extLst>
          </p:cNvPr>
          <p:cNvSpPr txBox="1">
            <a:spLocks/>
          </p:cNvSpPr>
          <p:nvPr/>
        </p:nvSpPr>
        <p:spPr bwMode="auto">
          <a:xfrm>
            <a:off x="428064" y="3355322"/>
            <a:ext cx="11473132" cy="974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根据定理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竞赛图中一定有哈密顿通路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当然也可能有哈密顿回路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当没有哈密顿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回路时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通常只有一条哈密顿通路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这条通路给出参赛队的惟一名次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 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02706462-4622-471E-8105-43ABFEFDF632}"/>
              </a:ext>
            </a:extLst>
          </p:cNvPr>
          <p:cNvSpPr txBox="1">
            <a:spLocks/>
          </p:cNvSpPr>
          <p:nvPr/>
        </p:nvSpPr>
        <p:spPr bwMode="auto">
          <a:xfrm>
            <a:off x="457200" y="4581247"/>
            <a:ext cx="11473132" cy="98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B D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是一条哈密顿通路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它没有哈密顿回路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比赛结果是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第一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第二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第三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第四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组合 24">
            <a:extLst>
              <a:ext uri="{FF2B5EF4-FFF2-40B4-BE49-F238E27FC236}">
                <a16:creationId xmlns:a16="http://schemas.microsoft.com/office/drawing/2014/main" id="{BBBE9307-4889-4131-8AF0-E47191A88F7A}"/>
              </a:ext>
            </a:extLst>
          </p:cNvPr>
          <p:cNvGrpSpPr>
            <a:grpSpLocks/>
          </p:cNvGrpSpPr>
          <p:nvPr/>
        </p:nvGrpSpPr>
        <p:grpSpPr bwMode="auto">
          <a:xfrm>
            <a:off x="8500174" y="4522557"/>
            <a:ext cx="2534279" cy="2149595"/>
            <a:chOff x="5643570" y="3613139"/>
            <a:chExt cx="3000396" cy="2673381"/>
          </a:xfrm>
        </p:grpSpPr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80ECC6BD-2350-40A5-B051-38F26F4C7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54" y="3613139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7" name="组合 20">
              <a:extLst>
                <a:ext uri="{FF2B5EF4-FFF2-40B4-BE49-F238E27FC236}">
                  <a16:creationId xmlns:a16="http://schemas.microsoft.com/office/drawing/2014/main" id="{70162FEA-D71F-422A-872E-795299C377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0225" y="4075686"/>
              <a:ext cx="2083675" cy="1925082"/>
              <a:chOff x="4988655" y="5488577"/>
              <a:chExt cx="1057697" cy="937075"/>
            </a:xfrm>
          </p:grpSpPr>
          <p:sp>
            <p:nvSpPr>
              <p:cNvPr id="21" name="Oval 4">
                <a:extLst>
                  <a:ext uri="{FF2B5EF4-FFF2-40B4-BE49-F238E27FC236}">
                    <a16:creationId xmlns:a16="http://schemas.microsoft.com/office/drawing/2014/main" id="{30A3AACE-BBBB-40C8-8DCA-B38A7AEBD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9399" y="5488577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" name="Oval 5">
                <a:extLst>
                  <a:ext uri="{FF2B5EF4-FFF2-40B4-BE49-F238E27FC236}">
                    <a16:creationId xmlns:a16="http://schemas.microsoft.com/office/drawing/2014/main" id="{749D0F7C-66B1-4107-BD09-14532E2D2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645" y="6372323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" name="Oval 6">
                <a:extLst>
                  <a:ext uri="{FF2B5EF4-FFF2-40B4-BE49-F238E27FC236}">
                    <a16:creationId xmlns:a16="http://schemas.microsoft.com/office/drawing/2014/main" id="{589E68FF-6CC3-41B6-8484-0B676F3DE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4896" y="5907595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4" name="Oval 7">
                <a:extLst>
                  <a:ext uri="{FF2B5EF4-FFF2-40B4-BE49-F238E27FC236}">
                    <a16:creationId xmlns:a16="http://schemas.microsoft.com/office/drawing/2014/main" id="{F115BF7F-44E2-47B0-B65D-8F48610D14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8655" y="5899976"/>
                <a:ext cx="51456" cy="5332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cxnSp>
            <p:nvCxnSpPr>
              <p:cNvPr id="25" name="AutoShape 8">
                <a:extLst>
                  <a:ext uri="{FF2B5EF4-FFF2-40B4-BE49-F238E27FC236}">
                    <a16:creationId xmlns:a16="http://schemas.microsoft.com/office/drawing/2014/main" id="{C4852424-051E-4D3F-BB0B-4238D3D407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550854" y="5541907"/>
                <a:ext cx="444042" cy="36568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AutoShape 9">
                <a:extLst>
                  <a:ext uri="{FF2B5EF4-FFF2-40B4-BE49-F238E27FC236}">
                    <a16:creationId xmlns:a16="http://schemas.microsoft.com/office/drawing/2014/main" id="{6B2C83CE-0B52-4097-A380-CD5FF815FEB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566100" y="5960924"/>
                <a:ext cx="428796" cy="42663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AutoShape 10">
                <a:extLst>
                  <a:ext uri="{FF2B5EF4-FFF2-40B4-BE49-F238E27FC236}">
                    <a16:creationId xmlns:a16="http://schemas.microsoft.com/office/drawing/2014/main" id="{2063BBCC-870A-4729-B6DA-09AD50111CC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033123" y="5960924"/>
                <a:ext cx="481522" cy="43742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AutoShape 11">
                <a:extLst>
                  <a:ext uri="{FF2B5EF4-FFF2-40B4-BE49-F238E27FC236}">
                    <a16:creationId xmlns:a16="http://schemas.microsoft.com/office/drawing/2014/main" id="{DB322E27-A218-42C6-BE6D-FE3692434E9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033123" y="5517147"/>
                <a:ext cx="466276" cy="390448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AutoShape 12">
                <a:extLst>
                  <a:ext uri="{FF2B5EF4-FFF2-40B4-BE49-F238E27FC236}">
                    <a16:creationId xmlns:a16="http://schemas.microsoft.com/office/drawing/2014/main" id="{0E8E98A4-546B-4BE6-8159-D24DF7C6017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049004" y="5930450"/>
                <a:ext cx="94589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AutoShape 17">
                <a:extLst>
                  <a:ext uri="{FF2B5EF4-FFF2-40B4-BE49-F238E27FC236}">
                    <a16:creationId xmlns:a16="http://schemas.microsoft.com/office/drawing/2014/main" id="{247AD2BF-1108-4E36-B55F-971B230DEA2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529891" y="5541907"/>
                <a:ext cx="15246" cy="83041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D52CAEE2-5623-4594-A74D-D4DA62C8B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3570" y="4714884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32FDA154-5920-4813-A95F-672E02009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3900" y="4684709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15">
              <a:extLst>
                <a:ext uri="{FF2B5EF4-FFF2-40B4-BE49-F238E27FC236}">
                  <a16:creationId xmlns:a16="http://schemas.microsoft.com/office/drawing/2014/main" id="{D63E3EC3-EED2-45A4-B533-DF5F0A0E9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9454" y="5899155"/>
              <a:ext cx="500066" cy="387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30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31" name="内容占位符 2">
            <a:extLst>
              <a:ext uri="{FF2B5EF4-FFF2-40B4-BE49-F238E27FC236}">
                <a16:creationId xmlns:a16="http://schemas.microsoft.com/office/drawing/2014/main" id="{264D114D-295E-4FF5-8721-4F02E1314F23}"/>
              </a:ext>
            </a:extLst>
          </p:cNvPr>
          <p:cNvSpPr txBox="1">
            <a:spLocks/>
          </p:cNvSpPr>
          <p:nvPr/>
        </p:nvSpPr>
        <p:spPr bwMode="auto">
          <a:xfrm>
            <a:off x="595222" y="1702096"/>
            <a:ext cx="11379384" cy="1972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为了确定圆盘停止旋转后的位置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把圆盘划分成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个扇区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每个扇区分配一个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0-1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串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要用某种电子装置读取扇区的赋值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当圆盘停止旋转后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如果电子装置处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于一个扇区的内部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它将能够正确的读出这个扇区的赋值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如果电子装置恰好处于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两个扇区的边界上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就可能出问题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如何赋值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才能将可能出现的误差减少到最小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" name="组合 38">
            <a:extLst>
              <a:ext uri="{FF2B5EF4-FFF2-40B4-BE49-F238E27FC236}">
                <a16:creationId xmlns:a16="http://schemas.microsoft.com/office/drawing/2014/main" id="{DDD32128-B500-4458-A88D-6A61F90B9E69}"/>
              </a:ext>
            </a:extLst>
          </p:cNvPr>
          <p:cNvGrpSpPr>
            <a:grpSpLocks/>
          </p:cNvGrpSpPr>
          <p:nvPr/>
        </p:nvGrpSpPr>
        <p:grpSpPr bwMode="auto">
          <a:xfrm>
            <a:off x="2795497" y="4421574"/>
            <a:ext cx="6848475" cy="1571625"/>
            <a:chOff x="1285852" y="4786323"/>
            <a:chExt cx="6849136" cy="1571636"/>
          </a:xfrm>
        </p:grpSpPr>
        <p:sp>
          <p:nvSpPr>
            <p:cNvPr id="33" name="Text Box 19">
              <a:extLst>
                <a:ext uri="{FF2B5EF4-FFF2-40B4-BE49-F238E27FC236}">
                  <a16:creationId xmlns:a16="http://schemas.microsoft.com/office/drawing/2014/main" id="{1710A4F9-0150-4B45-B47F-C5FC72E12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670" y="516824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4" name="组合 30">
              <a:extLst>
                <a:ext uri="{FF2B5EF4-FFF2-40B4-BE49-F238E27FC236}">
                  <a16:creationId xmlns:a16="http://schemas.microsoft.com/office/drawing/2014/main" id="{7F567C5B-5B23-413A-BFC7-AFB7FFAB88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5852" y="4786323"/>
              <a:ext cx="6849136" cy="1571636"/>
              <a:chOff x="1366202" y="5410223"/>
              <a:chExt cx="4634558" cy="947735"/>
            </a:xfrm>
          </p:grpSpPr>
          <p:pic>
            <p:nvPicPr>
              <p:cNvPr id="42" name="Picture 5" descr="8T13b">
                <a:extLst>
                  <a:ext uri="{FF2B5EF4-FFF2-40B4-BE49-F238E27FC236}">
                    <a16:creationId xmlns:a16="http://schemas.microsoft.com/office/drawing/2014/main" id="{EA27E2EF-1EA4-4315-849F-404EE6C33B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42" r="70869" b="84076"/>
              <a:stretch>
                <a:fillRect/>
              </a:stretch>
            </p:blipFill>
            <p:spPr bwMode="auto">
              <a:xfrm>
                <a:off x="2517380" y="5410223"/>
                <a:ext cx="3483380" cy="947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" name="Oval 8">
                <a:extLst>
                  <a:ext uri="{FF2B5EF4-FFF2-40B4-BE49-F238E27FC236}">
                    <a16:creationId xmlns:a16="http://schemas.microsoft.com/office/drawing/2014/main" id="{72B797BA-7D2C-494B-A65D-85E98A501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282" y="5428634"/>
                <a:ext cx="840683" cy="825945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4" name="AutoShape 9">
                <a:extLst>
                  <a:ext uri="{FF2B5EF4-FFF2-40B4-BE49-F238E27FC236}">
                    <a16:creationId xmlns:a16="http://schemas.microsoft.com/office/drawing/2014/main" id="{78C118FC-A27A-44C2-969A-627D918481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481130" y="5539733"/>
                <a:ext cx="614003" cy="60247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10">
                <a:extLst>
                  <a:ext uri="{FF2B5EF4-FFF2-40B4-BE49-F238E27FC236}">
                    <a16:creationId xmlns:a16="http://schemas.microsoft.com/office/drawing/2014/main" id="{E8473CB8-B2F4-4493-AEE7-008F6EB5902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481130" y="5539733"/>
                <a:ext cx="614003" cy="60247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AutoShape 11">
                <a:extLst>
                  <a:ext uri="{FF2B5EF4-FFF2-40B4-BE49-F238E27FC236}">
                    <a16:creationId xmlns:a16="http://schemas.microsoft.com/office/drawing/2014/main" id="{695C87B3-57AD-43A8-AE13-3297ED8D9C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797973" y="5428634"/>
                <a:ext cx="635" cy="83610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AutoShape 12">
                <a:extLst>
                  <a:ext uri="{FF2B5EF4-FFF2-40B4-BE49-F238E27FC236}">
                    <a16:creationId xmlns:a16="http://schemas.microsoft.com/office/drawing/2014/main" id="{4E4898AB-32B1-4029-88AC-BB5C031C89A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366202" y="5844463"/>
                <a:ext cx="845763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AutoShape 26">
                <a:extLst>
                  <a:ext uri="{FF2B5EF4-FFF2-40B4-BE49-F238E27FC236}">
                    <a16:creationId xmlns:a16="http://schemas.microsoft.com/office/drawing/2014/main" id="{66CC8212-306B-429B-912D-64DE0953909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042489" y="5452758"/>
                <a:ext cx="0" cy="79039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AutoShape 27">
                <a:extLst>
                  <a:ext uri="{FF2B5EF4-FFF2-40B4-BE49-F238E27FC236}">
                    <a16:creationId xmlns:a16="http://schemas.microsoft.com/office/drawing/2014/main" id="{9061AF82-13B5-43CE-AEB8-6384059E352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57866" y="5437522"/>
                <a:ext cx="0" cy="790393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5" name="Text Box 19">
              <a:extLst>
                <a:ext uri="{FF2B5EF4-FFF2-40B4-BE49-F238E27FC236}">
                  <a16:creationId xmlns:a16="http://schemas.microsoft.com/office/drawing/2014/main" id="{89F440D3-1D33-42FE-BF42-DCFA105E10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56" y="4857760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19">
              <a:extLst>
                <a:ext uri="{FF2B5EF4-FFF2-40B4-BE49-F238E27FC236}">
                  <a16:creationId xmlns:a16="http://schemas.microsoft.com/office/drawing/2014/main" id="{A1DDFB1C-EAF4-4AA8-8A3B-644D29995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166" y="4857760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AAAF2828-B0F2-4BC9-B8FA-B55C1DF2D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516824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E8E89600-6E55-4957-92B7-67876E671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1670" y="552543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19">
              <a:extLst>
                <a:ext uri="{FF2B5EF4-FFF2-40B4-BE49-F238E27FC236}">
                  <a16:creationId xmlns:a16="http://schemas.microsoft.com/office/drawing/2014/main" id="{019B9318-C208-4D88-B847-DBEAC4E61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52" y="5525432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19">
              <a:extLst>
                <a:ext uri="{FF2B5EF4-FFF2-40B4-BE49-F238E27FC236}">
                  <a16:creationId xmlns:a16="http://schemas.microsoft.com/office/drawing/2014/main" id="{250D5FDE-9BB6-45B8-B0DD-50B37273E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356" y="5811184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001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19">
              <a:extLst>
                <a:ext uri="{FF2B5EF4-FFF2-40B4-BE49-F238E27FC236}">
                  <a16:creationId xmlns:a16="http://schemas.microsoft.com/office/drawing/2014/main" id="{55211BB2-41DF-4FB4-9BF5-520A06C50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166" y="5811184"/>
              <a:ext cx="571504" cy="403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110</a:t>
              </a:r>
              <a:endParaRPr kumimoji="0" lang="zh-CN" altLang="zh-CN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C300F78-D934-4F0C-98D3-A987B5E9FD96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D6779F-183B-47E8-BCCE-AA3D1EECC640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C40E216-B43C-40C2-A744-0815608137CC}"/>
              </a:ext>
            </a:extLst>
          </p:cNvPr>
          <p:cNvSpPr txBox="1"/>
          <p:nvPr/>
        </p:nvSpPr>
        <p:spPr>
          <a:xfrm>
            <a:off x="10607613" y="998665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A4261A8-452C-41C1-9040-4E3CB542EBDC}"/>
              </a:ext>
            </a:extLst>
          </p:cNvPr>
          <p:cNvSpPr txBox="1"/>
          <p:nvPr/>
        </p:nvSpPr>
        <p:spPr>
          <a:xfrm>
            <a:off x="8379127" y="995794"/>
            <a:ext cx="1236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</p:spTree>
    <p:extLst>
      <p:ext uri="{BB962C8B-B14F-4D97-AF65-F5344CB8AC3E}">
        <p14:creationId xmlns:p14="http://schemas.microsoft.com/office/powerpoint/2010/main" val="297284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449">
            <a:extLst>
              <a:ext uri="{FF2B5EF4-FFF2-40B4-BE49-F238E27FC236}">
                <a16:creationId xmlns:a16="http://schemas.microsoft.com/office/drawing/2014/main" id="{1FDDFED1-3FD6-4446-9D46-1207DB911B30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6.3 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</a:rPr>
              <a:t>哈密顿</a:t>
            </a:r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图</a:t>
            </a:r>
          </a:p>
        </p:txBody>
      </p:sp>
      <p:sp>
        <p:nvSpPr>
          <p:cNvPr id="59" name="内容占位符 2">
            <a:extLst>
              <a:ext uri="{FF2B5EF4-FFF2-40B4-BE49-F238E27FC236}">
                <a16:creationId xmlns:a16="http://schemas.microsoft.com/office/drawing/2014/main" id="{CB36AADC-154F-48A7-9D21-A5D90B997D70}"/>
              </a:ext>
            </a:extLst>
          </p:cNvPr>
          <p:cNvSpPr txBox="1">
            <a:spLocks/>
          </p:cNvSpPr>
          <p:nvPr/>
        </p:nvSpPr>
        <p:spPr bwMode="auto">
          <a:xfrm>
            <a:off x="527049" y="1732619"/>
            <a:ext cx="11037421" cy="909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格雷码相邻的两个以及最后一个和第一个之间只有一位不同</a:t>
            </a: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把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0-1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串序列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 000, 001, 011, 010, 110, 111, 101, 100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是一个格雷码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60" name="组合 60">
            <a:extLst>
              <a:ext uri="{FF2B5EF4-FFF2-40B4-BE49-F238E27FC236}">
                <a16:creationId xmlns:a16="http://schemas.microsoft.com/office/drawing/2014/main" id="{804DD946-D0FC-40FE-9F11-2E7110886AE1}"/>
              </a:ext>
            </a:extLst>
          </p:cNvPr>
          <p:cNvGrpSpPr>
            <a:grpSpLocks/>
          </p:cNvGrpSpPr>
          <p:nvPr/>
        </p:nvGrpSpPr>
        <p:grpSpPr bwMode="auto">
          <a:xfrm>
            <a:off x="3282890" y="4205017"/>
            <a:ext cx="4644785" cy="2273870"/>
            <a:chOff x="3000364" y="5000636"/>
            <a:chExt cx="4214842" cy="1785950"/>
          </a:xfrm>
        </p:grpSpPr>
        <p:grpSp>
          <p:nvGrpSpPr>
            <p:cNvPr id="61" name="组合 48">
              <a:extLst>
                <a:ext uri="{FF2B5EF4-FFF2-40B4-BE49-F238E27FC236}">
                  <a16:creationId xmlns:a16="http://schemas.microsoft.com/office/drawing/2014/main" id="{185970B7-044E-4A6A-A210-E5E6D12E4A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2464" y="5260747"/>
              <a:ext cx="3562676" cy="1240087"/>
              <a:chOff x="3152464" y="5484731"/>
              <a:chExt cx="1994535" cy="684553"/>
            </a:xfrm>
          </p:grpSpPr>
          <p:sp>
            <p:nvSpPr>
              <p:cNvPr id="74" name="Oval 9">
                <a:extLst>
                  <a:ext uri="{FF2B5EF4-FFF2-40B4-BE49-F238E27FC236}">
                    <a16:creationId xmlns:a16="http://schemas.microsoft.com/office/drawing/2014/main" id="{556D35F1-1E5B-4273-B948-B5B9C28F6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2464" y="5576089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Oval 10">
                <a:extLst>
                  <a:ext uri="{FF2B5EF4-FFF2-40B4-BE49-F238E27FC236}">
                    <a16:creationId xmlns:a16="http://schemas.microsoft.com/office/drawing/2014/main" id="{45320496-048E-475E-82FD-FA198F10CF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0624" y="5583702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6" name="AutoShape 11">
                <a:extLst>
                  <a:ext uri="{FF2B5EF4-FFF2-40B4-BE49-F238E27FC236}">
                    <a16:creationId xmlns:a16="http://schemas.microsoft.com/office/drawing/2014/main" id="{3339AC2B-7452-425A-968A-39DA5FDF65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03899" y="5598294"/>
                <a:ext cx="4679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7" name="Oval 12">
                <a:extLst>
                  <a:ext uri="{FF2B5EF4-FFF2-40B4-BE49-F238E27FC236}">
                    <a16:creationId xmlns:a16="http://schemas.microsoft.com/office/drawing/2014/main" id="{405CC54D-DEC3-4176-AA7A-87C954681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0084" y="6010041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Oval 13">
                <a:extLst>
                  <a:ext uri="{FF2B5EF4-FFF2-40B4-BE49-F238E27FC236}">
                    <a16:creationId xmlns:a16="http://schemas.microsoft.com/office/drawing/2014/main" id="{6A0BAD06-E026-4898-A236-523320E77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8244" y="6017654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79" name="AutoShape 14">
                <a:extLst>
                  <a:ext uri="{FF2B5EF4-FFF2-40B4-BE49-F238E27FC236}">
                    <a16:creationId xmlns:a16="http://schemas.microsoft.com/office/drawing/2014/main" id="{B6582976-5A1A-48F7-80C4-E5C224CF4E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11519" y="6032246"/>
                <a:ext cx="46799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AutoShape 15">
                <a:extLst>
                  <a:ext uri="{FF2B5EF4-FFF2-40B4-BE49-F238E27FC236}">
                    <a16:creationId xmlns:a16="http://schemas.microsoft.com/office/drawing/2014/main" id="{CB4867F4-30C7-4014-983D-587C5EE98F8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82944" y="5628747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AutoShape 16">
                <a:extLst>
                  <a:ext uri="{FF2B5EF4-FFF2-40B4-BE49-F238E27FC236}">
                    <a16:creationId xmlns:a16="http://schemas.microsoft.com/office/drawing/2014/main" id="{667B570B-8D29-47A3-A7FB-3D1A919365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701104" y="5628747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2" name="Oval 17">
                <a:extLst>
                  <a:ext uri="{FF2B5EF4-FFF2-40B4-BE49-F238E27FC236}">
                    <a16:creationId xmlns:a16="http://schemas.microsoft.com/office/drawing/2014/main" id="{7EF432F1-4E17-4729-ADD4-31E6573BF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3084" y="5484731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" name="Oval 18">
                <a:extLst>
                  <a:ext uri="{FF2B5EF4-FFF2-40B4-BE49-F238E27FC236}">
                    <a16:creationId xmlns:a16="http://schemas.microsoft.com/office/drawing/2014/main" id="{2F57F7B9-37F0-4BFF-8E3A-25F42930B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1244" y="5492344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4" name="AutoShape 19">
                <a:extLst>
                  <a:ext uri="{FF2B5EF4-FFF2-40B4-BE49-F238E27FC236}">
                    <a16:creationId xmlns:a16="http://schemas.microsoft.com/office/drawing/2014/main" id="{20C6EC14-8D7D-47A9-9910-EB08454071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54519" y="5506936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5" name="Oval 20">
                <a:extLst>
                  <a:ext uri="{FF2B5EF4-FFF2-40B4-BE49-F238E27FC236}">
                    <a16:creationId xmlns:a16="http://schemas.microsoft.com/office/drawing/2014/main" id="{84D460EC-1B4A-4EA4-A356-6D8E9FD19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704" y="5918683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Oval 21">
                <a:extLst>
                  <a:ext uri="{FF2B5EF4-FFF2-40B4-BE49-F238E27FC236}">
                    <a16:creationId xmlns:a16="http://schemas.microsoft.com/office/drawing/2014/main" id="{F40490D2-5963-420C-809C-255036D5A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8864" y="5926296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7" name="AutoShape 22">
                <a:extLst>
                  <a:ext uri="{FF2B5EF4-FFF2-40B4-BE49-F238E27FC236}">
                    <a16:creationId xmlns:a16="http://schemas.microsoft.com/office/drawing/2014/main" id="{5FE48AB9-D776-47B1-AC3D-3259ED5A736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62139" y="5940888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AutoShape 23">
                <a:extLst>
                  <a:ext uri="{FF2B5EF4-FFF2-40B4-BE49-F238E27FC236}">
                    <a16:creationId xmlns:a16="http://schemas.microsoft.com/office/drawing/2014/main" id="{079B0BD6-4796-4108-9FB5-48724236B54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33564" y="5537389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AutoShape 24">
                <a:extLst>
                  <a:ext uri="{FF2B5EF4-FFF2-40B4-BE49-F238E27FC236}">
                    <a16:creationId xmlns:a16="http://schemas.microsoft.com/office/drawing/2014/main" id="{98B1D403-7891-4ACD-B6FF-71B615411B9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51724" y="5537389"/>
                <a:ext cx="0" cy="381294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0" name="Oval 25">
                <a:extLst>
                  <a:ext uri="{FF2B5EF4-FFF2-40B4-BE49-F238E27FC236}">
                    <a16:creationId xmlns:a16="http://schemas.microsoft.com/office/drawing/2014/main" id="{FDC7848B-20BD-4FA4-9969-0A3AD241E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9784" y="5682674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Oval 26">
                <a:extLst>
                  <a:ext uri="{FF2B5EF4-FFF2-40B4-BE49-F238E27FC236}">
                    <a16:creationId xmlns:a16="http://schemas.microsoft.com/office/drawing/2014/main" id="{1F8154A6-01CE-42DD-AC8E-356E4B2D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7944" y="5690287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92" name="AutoShape 27">
                <a:extLst>
                  <a:ext uri="{FF2B5EF4-FFF2-40B4-BE49-F238E27FC236}">
                    <a16:creationId xmlns:a16="http://schemas.microsoft.com/office/drawing/2014/main" id="{D730450E-5F2B-4AE4-9D57-AC2B6745BAC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21219" y="5704879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3" name="Oval 28">
                <a:extLst>
                  <a:ext uri="{FF2B5EF4-FFF2-40B4-BE49-F238E27FC236}">
                    <a16:creationId xmlns:a16="http://schemas.microsoft.com/office/drawing/2014/main" id="{AEC806F2-5C61-43DE-ADA6-FDB42D908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404" y="6116626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Oval 29">
                <a:extLst>
                  <a:ext uri="{FF2B5EF4-FFF2-40B4-BE49-F238E27FC236}">
                    <a16:creationId xmlns:a16="http://schemas.microsoft.com/office/drawing/2014/main" id="{99A3B398-0458-427C-BF07-888E9AF61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5564" y="6124239"/>
                <a:ext cx="51435" cy="450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95" name="AutoShape 30">
                <a:extLst>
                  <a:ext uri="{FF2B5EF4-FFF2-40B4-BE49-F238E27FC236}">
                    <a16:creationId xmlns:a16="http://schemas.microsoft.com/office/drawing/2014/main" id="{FB07E635-8644-47B6-A072-EBD7BC2BFE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28839" y="6138831"/>
                <a:ext cx="467995" cy="0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6" name="AutoShape 31">
                <a:extLst>
                  <a:ext uri="{FF2B5EF4-FFF2-40B4-BE49-F238E27FC236}">
                    <a16:creationId xmlns:a16="http://schemas.microsoft.com/office/drawing/2014/main" id="{FAA69031-C187-4833-87D2-CC5324E147F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00264" y="5735332"/>
                <a:ext cx="0" cy="381294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7" name="AutoShape 32">
                <a:extLst>
                  <a:ext uri="{FF2B5EF4-FFF2-40B4-BE49-F238E27FC236}">
                    <a16:creationId xmlns:a16="http://schemas.microsoft.com/office/drawing/2014/main" id="{28A00496-0E86-4995-BA55-5F073A62C57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18424" y="5748555"/>
                <a:ext cx="0" cy="381294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8" name="AutoShape 33">
                <a:extLst>
                  <a:ext uri="{FF2B5EF4-FFF2-40B4-BE49-F238E27FC236}">
                    <a16:creationId xmlns:a16="http://schemas.microsoft.com/office/drawing/2014/main" id="{2444F587-1355-4787-ABDE-5E75081B146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72679" y="5529776"/>
                <a:ext cx="224155" cy="16051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" name="AutoShape 34">
                <a:extLst>
                  <a:ext uri="{FF2B5EF4-FFF2-40B4-BE49-F238E27FC236}">
                    <a16:creationId xmlns:a16="http://schemas.microsoft.com/office/drawing/2014/main" id="{1A61F5DE-E5E9-4A9E-971D-93E17E736E7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72679" y="5963727"/>
                <a:ext cx="224155" cy="16051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0" name="AutoShape 35">
                <a:extLst>
                  <a:ext uri="{FF2B5EF4-FFF2-40B4-BE49-F238E27FC236}">
                    <a16:creationId xmlns:a16="http://schemas.microsoft.com/office/drawing/2014/main" id="{6E98C20A-BB3F-42E1-B3DD-0058DA3F1E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46899" y="5522162"/>
                <a:ext cx="224155" cy="160511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1" name="AutoShape 36">
                <a:extLst>
                  <a:ext uri="{FF2B5EF4-FFF2-40B4-BE49-F238E27FC236}">
                    <a16:creationId xmlns:a16="http://schemas.microsoft.com/office/drawing/2014/main" id="{6F3175A2-8B75-409F-81AD-DF5F5B89C7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39279" y="5963727"/>
                <a:ext cx="224155" cy="160511"/>
              </a:xfrm>
              <a:prstGeom prst="straightConnector1">
                <a:avLst/>
              </a:prstGeom>
              <a:noFill/>
              <a:ln w="19050">
                <a:solidFill>
                  <a:srgbClr val="FF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2" name="Text Box 42">
              <a:extLst>
                <a:ext uri="{FF2B5EF4-FFF2-40B4-BE49-F238E27FC236}">
                  <a16:creationId xmlns:a16="http://schemas.microsoft.com/office/drawing/2014/main" id="{F2F2D3BC-0BE5-4B96-8724-6ACA876BD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36" y="5000636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Text Box 42">
              <a:extLst>
                <a:ext uri="{FF2B5EF4-FFF2-40B4-BE49-F238E27FC236}">
                  <a16:creationId xmlns:a16="http://schemas.microsoft.com/office/drawing/2014/main" id="{628EC454-7D76-4028-8328-2745B9149E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5446412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42">
              <a:extLst>
                <a:ext uri="{FF2B5EF4-FFF2-40B4-BE49-F238E27FC236}">
                  <a16:creationId xmlns:a16="http://schemas.microsoft.com/office/drawing/2014/main" id="{B3B2733D-95F7-483A-A9D1-C3CB5A15E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43702" y="6286520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Text Box 42">
              <a:extLst>
                <a:ext uri="{FF2B5EF4-FFF2-40B4-BE49-F238E27FC236}">
                  <a16:creationId xmlns:a16="http://schemas.microsoft.com/office/drawing/2014/main" id="{D7B1F8A9-F263-4BBF-9871-F472A6245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636" y="5803602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Text Box 42">
              <a:extLst>
                <a:ext uri="{FF2B5EF4-FFF2-40B4-BE49-F238E27FC236}">
                  <a16:creationId xmlns:a16="http://schemas.microsoft.com/office/drawing/2014/main" id="{7AC1CB61-E84F-44DC-9A7B-2951F59D0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6314" y="5000636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Text Box 42">
              <a:extLst>
                <a:ext uri="{FF2B5EF4-FFF2-40B4-BE49-F238E27FC236}">
                  <a16:creationId xmlns:a16="http://schemas.microsoft.com/office/drawing/2014/main" id="{761B8869-329F-4CB2-886F-288F2E5C5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5517850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Text Box 42">
              <a:extLst>
                <a:ext uri="{FF2B5EF4-FFF2-40B4-BE49-F238E27FC236}">
                  <a16:creationId xmlns:a16="http://schemas.microsoft.com/office/drawing/2014/main" id="{54639B33-2188-4A2D-8543-A072AA325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4876" y="5875040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Text Box 42">
              <a:extLst>
                <a:ext uri="{FF2B5EF4-FFF2-40B4-BE49-F238E27FC236}">
                  <a16:creationId xmlns:a16="http://schemas.microsoft.com/office/drawing/2014/main" id="{21E45CDB-5936-4A70-92A4-6367C0FBD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42" y="6375106"/>
              <a:ext cx="571504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42">
              <a:extLst>
                <a:ext uri="{FF2B5EF4-FFF2-40B4-BE49-F238E27FC236}">
                  <a16:creationId xmlns:a16="http://schemas.microsoft.com/office/drawing/2014/main" id="{2FC7E1EB-42FA-4F02-BB38-0D3D30FF9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058" y="5153036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Text Box 42">
              <a:extLst>
                <a:ext uri="{FF2B5EF4-FFF2-40B4-BE49-F238E27FC236}">
                  <a16:creationId xmlns:a16="http://schemas.microsoft.com/office/drawing/2014/main" id="{B18F1F54-079E-4A21-9248-B766546D7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5143512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00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Text Box 42">
              <a:extLst>
                <a:ext uri="{FF2B5EF4-FFF2-40B4-BE49-F238E27FC236}">
                  <a16:creationId xmlns:a16="http://schemas.microsoft.com/office/drawing/2014/main" id="{C8A4905D-1AA4-4868-AA08-6846F1D2B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9058" y="6303668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11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42">
              <a:extLst>
                <a:ext uri="{FF2B5EF4-FFF2-40B4-BE49-F238E27FC236}">
                  <a16:creationId xmlns:a16="http://schemas.microsoft.com/office/drawing/2014/main" id="{AD597057-B0D7-494D-8C73-E1A77C7BC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0364" y="6303668"/>
              <a:ext cx="428628" cy="411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kumimoji="0" lang="zh-CN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16E6C76C-1014-46E9-83F1-75EB8BD162DF}"/>
              </a:ext>
            </a:extLst>
          </p:cNvPr>
          <p:cNvSpPr txBox="1"/>
          <p:nvPr/>
        </p:nvSpPr>
        <p:spPr>
          <a:xfrm>
            <a:off x="568036" y="949038"/>
            <a:ext cx="3538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哈密顿通路与哈密顿回路</a:t>
            </a:r>
            <a:endParaRPr lang="en-US" altLang="zh-CN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D3DD165-C6C1-4FE1-8ADC-09975D929637}"/>
              </a:ext>
            </a:extLst>
          </p:cNvPr>
          <p:cNvSpPr txBox="1"/>
          <p:nvPr/>
        </p:nvSpPr>
        <p:spPr>
          <a:xfrm>
            <a:off x="4606515" y="984288"/>
            <a:ext cx="2631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哈密顿图的判别方法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6F978FE-CBC6-4D4C-9ED4-C6F8874711E6}"/>
              </a:ext>
            </a:extLst>
          </p:cNvPr>
          <p:cNvSpPr txBox="1"/>
          <p:nvPr/>
        </p:nvSpPr>
        <p:spPr>
          <a:xfrm>
            <a:off x="10607613" y="998665"/>
            <a:ext cx="12364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000" b="1">
                <a:solidFill>
                  <a:srgbClr val="9926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格雷码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7AA526B-2FDB-4A1C-A1E9-592AA470C2EE}"/>
              </a:ext>
            </a:extLst>
          </p:cNvPr>
          <p:cNvSpPr txBox="1"/>
          <p:nvPr/>
        </p:nvSpPr>
        <p:spPr>
          <a:xfrm>
            <a:off x="8379127" y="995794"/>
            <a:ext cx="1236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defRPr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竞赛图</a:t>
            </a:r>
          </a:p>
        </p:txBody>
      </p:sp>
      <p:sp>
        <p:nvSpPr>
          <p:cNvPr id="54" name="内容占位符 2">
            <a:extLst>
              <a:ext uri="{FF2B5EF4-FFF2-40B4-BE49-F238E27FC236}">
                <a16:creationId xmlns:a16="http://schemas.microsoft.com/office/drawing/2014/main" id="{1E77A2FA-9C47-4D0A-A17A-47DF645D6CE6}"/>
              </a:ext>
            </a:extLst>
          </p:cNvPr>
          <p:cNvSpPr txBox="1">
            <a:spLocks/>
          </p:cNvSpPr>
          <p:nvPr/>
        </p:nvSpPr>
        <p:spPr bwMode="auto">
          <a:xfrm>
            <a:off x="497913" y="2980948"/>
            <a:ext cx="11201027" cy="1470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构造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维立方体图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 kern="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个顶点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每个顶点表示一个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位串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两个顶点之间有一条边</a:t>
            </a:r>
            <a:endParaRPr lang="en-US" altLang="zh-CN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当且仅当它们的</a:t>
            </a:r>
            <a:r>
              <a:rPr lang="en-US" altLang="zh-CN" sz="24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位串仅相差一位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400" b="1" i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图中一定存在哈密顿回路</a:t>
            </a:r>
            <a:r>
              <a:rPr lang="en-US" altLang="zh-CN" sz="2400" b="1" kern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63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49">
            <a:extLst>
              <a:ext uri="{FF2B5EF4-FFF2-40B4-BE49-F238E27FC236}">
                <a16:creationId xmlns:a16="http://schemas.microsoft.com/office/drawing/2014/main" id="{CAC317D2-9572-4460-9DE3-7CA3807E6706}"/>
              </a:ext>
            </a:extLst>
          </p:cNvPr>
          <p:cNvSpPr txBox="1">
            <a:spLocks/>
          </p:cNvSpPr>
          <p:nvPr/>
        </p:nvSpPr>
        <p:spPr>
          <a:xfrm>
            <a:off x="485775" y="309648"/>
            <a:ext cx="6344516" cy="4573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rgbClr val="99267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800" dirty="0">
                <a:latin typeface="华文中宋" panose="02010600040101010101" pitchFamily="2" charset="-122"/>
                <a:ea typeface="华文中宋" panose="02010600040101010101" pitchFamily="2" charset="-122"/>
                <a:cs typeface="+mn-ea"/>
                <a:sym typeface="+mn-lt"/>
              </a:rPr>
              <a:t>本章总结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D7BEECC-7720-43F6-9B97-04B38A756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196975"/>
            <a:ext cx="10733088" cy="504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Font typeface="Wingdings" panose="05000000000000000000" pitchFamily="2" charset="2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200" kern="120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二部图及其判定定理；极大匹配、最大匹配、完备匹配、完美匹配的定义；完备匹配判定的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Hall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定理及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条件（充分条件）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欧拉通路、欧拉回路、欧拉图、半欧拉图及其判别法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哈密顿通路、哈密顿回路、哈密顿图、半哈密顿图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60000"/>
              </a:spcBef>
              <a:spcAft>
                <a:spcPct val="0"/>
              </a:spcAft>
              <a:buClr>
                <a:srgbClr val="69B3F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基本要求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掌握二部图定义及其判定定理、与匹配相关的定义；会用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Hall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定理及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条件判别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完备匹配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掌握欧拉图、半欧拉图的定义及判别定理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掌握哈密顿图、半哈密顿图的定义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会用哈密顿图的必要条件判断某些图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不是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9900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会用充分条件判断某些图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992677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哈密顿图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区分充分条件和必要条件的用法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79491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242E0F-FBCE-4422-98BB-56A641EFD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931862"/>
            <a:ext cx="4826000" cy="34703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DDF003-67B5-4617-99E4-D80A97BB9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387" y="919163"/>
            <a:ext cx="6209127" cy="29670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B3BD56C-0EA3-4811-B742-0C961F34E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287" y="3910829"/>
            <a:ext cx="4024994" cy="294717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AA1CEA8-12CA-4B97-AE2B-DDAE3E5106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163" y="4440766"/>
            <a:ext cx="2909888" cy="226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65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E772F6-61AF-4746-AACD-AB302B04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787" y="1414463"/>
            <a:ext cx="5408613" cy="467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80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ab742894-b611-4118-8065-b69e992411d4"/>
</p:tagLst>
</file>

<file path=ppt/theme/theme1.xml><?xml version="1.0" encoding="utf-8"?>
<a:theme xmlns:a="http://schemas.openxmlformats.org/drawingml/2006/main" name="南京理工大学通用模板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defRPr sz="1600" dirty="0" smtClean="0">
            <a:solidFill>
              <a:schemeClr val="tx1">
                <a:lumMod val="65000"/>
                <a:lumOff val="35000"/>
              </a:schemeClr>
            </a:solidFill>
            <a:latin typeface="微软雅黑 Light" panose="020B0502040204020203" pitchFamily="34" charset="-122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29360</TotalTime>
  <Words>3051</Words>
  <Application>Microsoft Office PowerPoint</Application>
  <PresentationFormat>宽屏</PresentationFormat>
  <Paragraphs>396</Paragraphs>
  <Slides>31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等线</vt:lpstr>
      <vt:lpstr>黑体</vt:lpstr>
      <vt:lpstr>华文中宋</vt:lpstr>
      <vt:lpstr>微软雅黑 Light</vt:lpstr>
      <vt:lpstr>Arial</vt:lpstr>
      <vt:lpstr>Times New Roman</vt:lpstr>
      <vt:lpstr>Wingdings</vt:lpstr>
      <vt:lpstr>南京理工大学通用模板</vt:lpstr>
      <vt:lpstr>离散数学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基于双目视觉的加油机器人 油箱盖识别与定位技术研究</dc:title>
  <dc:creator>Hongwei Fu</dc:creator>
  <cp:lastModifiedBy>744311194@qq.com</cp:lastModifiedBy>
  <cp:revision>335</cp:revision>
  <dcterms:created xsi:type="dcterms:W3CDTF">2024-03-07T10:43:13Z</dcterms:created>
  <dcterms:modified xsi:type="dcterms:W3CDTF">2026-04-02T13:27:14Z</dcterms:modified>
</cp:coreProperties>
</file>