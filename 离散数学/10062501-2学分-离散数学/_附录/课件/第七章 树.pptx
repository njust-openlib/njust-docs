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8"/>
  </p:notesMasterIdLst>
  <p:handoutMasterIdLst>
    <p:handoutMasterId r:id="rId39"/>
  </p:handoutMasterIdLst>
  <p:sldIdLst>
    <p:sldId id="415" r:id="rId2"/>
    <p:sldId id="375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9" r:id="rId17"/>
    <p:sldId id="458" r:id="rId18"/>
    <p:sldId id="438" r:id="rId19"/>
    <p:sldId id="440" r:id="rId20"/>
    <p:sldId id="441" r:id="rId21"/>
    <p:sldId id="442" r:id="rId22"/>
    <p:sldId id="443" r:id="rId23"/>
    <p:sldId id="444" r:id="rId24"/>
    <p:sldId id="445" r:id="rId25"/>
    <p:sldId id="446" r:id="rId26"/>
    <p:sldId id="447" r:id="rId27"/>
    <p:sldId id="448" r:id="rId28"/>
    <p:sldId id="449" r:id="rId29"/>
    <p:sldId id="450" r:id="rId30"/>
    <p:sldId id="451" r:id="rId31"/>
    <p:sldId id="452" r:id="rId32"/>
    <p:sldId id="453" r:id="rId33"/>
    <p:sldId id="454" r:id="rId34"/>
    <p:sldId id="455" r:id="rId35"/>
    <p:sldId id="456" r:id="rId36"/>
    <p:sldId id="45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F42A4E2-4337-46BD-8879-AC97367E8B30}">
          <p14:sldIdLst>
            <p14:sldId id="415"/>
            <p14:sldId id="375"/>
          </p14:sldIdLst>
        </p14:section>
        <p14:section name="7.1 无向树及其生成树" id="{124C04E8-402A-4053-AD31-2E17F78840E1}">
          <p14:sldIdLst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9"/>
            <p14:sldId id="458"/>
            <p14:sldId id="438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151" autoAdjust="0"/>
  </p:normalViewPr>
  <p:slideViewPr>
    <p:cSldViewPr snapToGrid="0">
      <p:cViewPr varScale="1">
        <p:scale>
          <a:sx n="88" d="100"/>
          <a:sy n="88" d="100"/>
        </p:scale>
        <p:origin x="900" y="56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addSection modSection">
      <pc:chgData name="744311194@qq.com" userId="e2a28223f2085f4b" providerId="LiveId" clId="{93EAE7B5-FDEE-48D0-B65C-03455E3B8632}" dt="2026-04-21T04:14:59.962" v="1" actId="1784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676A4C9-C1DC-465A-944B-7C50805B0B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39A52E-7501-44B8-A3A7-1516D6D26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30BC2-F86A-42C0-8A80-84DBB0255044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BD8F0-9D4E-47EE-86F0-A40EAEF9C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A70BE2-7855-41A8-B606-2F9DF3FA0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B91C-8383-4E9F-96C0-D9618EADB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42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01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967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70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053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35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76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56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94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582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605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753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359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9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400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257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617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893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83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9217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176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198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8012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59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8286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836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911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1292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0656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289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8877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0463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9867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161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grpSp>
        <p:nvGrpSpPr>
          <p:cNvPr id="12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526AE39-2E3F-40FB-8FE9-81FA86968FA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13" name="iśļîḋè">
              <a:extLst>
                <a:ext uri="{FF2B5EF4-FFF2-40B4-BE49-F238E27FC236}">
                  <a16:creationId xmlns:a16="http://schemas.microsoft.com/office/drawing/2014/main" id="{E319FA1B-0C38-4F2B-912C-F12A100B6C5A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iṣliḓê">
              <a:extLst>
                <a:ext uri="{FF2B5EF4-FFF2-40B4-BE49-F238E27FC236}">
                  <a16:creationId xmlns:a16="http://schemas.microsoft.com/office/drawing/2014/main" id="{DE80505B-DFEF-450A-8CDF-C6F5A71E4535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íṡľiḍê">
              <a:extLst>
                <a:ext uri="{FF2B5EF4-FFF2-40B4-BE49-F238E27FC236}">
                  <a16:creationId xmlns:a16="http://schemas.microsoft.com/office/drawing/2014/main" id="{C20C8E40-C556-48DD-B051-8D0895E54928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íšlîde">
              <a:extLst>
                <a:ext uri="{FF2B5EF4-FFF2-40B4-BE49-F238E27FC236}">
                  <a16:creationId xmlns:a16="http://schemas.microsoft.com/office/drawing/2014/main" id="{F86CB2C8-4A5E-4335-8F23-920FECFA35A3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îṡḷíḋé">
              <a:extLst>
                <a:ext uri="{FF2B5EF4-FFF2-40B4-BE49-F238E27FC236}">
                  <a16:creationId xmlns:a16="http://schemas.microsoft.com/office/drawing/2014/main" id="{3B3DDF79-0981-40C2-8430-556067EB1B2B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îsḻiḓe">
              <a:extLst>
                <a:ext uri="{FF2B5EF4-FFF2-40B4-BE49-F238E27FC236}">
                  <a16:creationId xmlns:a16="http://schemas.microsoft.com/office/drawing/2014/main" id="{15EC583D-F454-48BD-ACC1-7AD76D7542C9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$ļïdè">
              <a:extLst>
                <a:ext uri="{FF2B5EF4-FFF2-40B4-BE49-F238E27FC236}">
                  <a16:creationId xmlns:a16="http://schemas.microsoft.com/office/drawing/2014/main" id="{C5F3B41E-58B0-4D77-9C1A-19EAEB79FC87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îṧḷíḓê">
              <a:extLst>
                <a:ext uri="{FF2B5EF4-FFF2-40B4-BE49-F238E27FC236}">
                  <a16:creationId xmlns:a16="http://schemas.microsoft.com/office/drawing/2014/main" id="{8660D663-638B-4454-ADEC-E599B04271E0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íṩ1iḑê">
              <a:extLst>
                <a:ext uri="{FF2B5EF4-FFF2-40B4-BE49-F238E27FC236}">
                  <a16:creationId xmlns:a16="http://schemas.microsoft.com/office/drawing/2014/main" id="{C4F58A77-602E-42E6-B434-E28BA349C900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îṥlîdê">
              <a:extLst>
                <a:ext uri="{FF2B5EF4-FFF2-40B4-BE49-F238E27FC236}">
                  <a16:creationId xmlns:a16="http://schemas.microsoft.com/office/drawing/2014/main" id="{FD136A19-7EE5-4B90-924F-86F8D9CB6273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ṧľîḑé">
              <a:extLst>
                <a:ext uri="{FF2B5EF4-FFF2-40B4-BE49-F238E27FC236}">
                  <a16:creationId xmlns:a16="http://schemas.microsoft.com/office/drawing/2014/main" id="{A30F0F74-58BE-4D89-9B58-BD559FD9308D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ï$ļíḑe">
              <a:extLst>
                <a:ext uri="{FF2B5EF4-FFF2-40B4-BE49-F238E27FC236}">
                  <a16:creationId xmlns:a16="http://schemas.microsoft.com/office/drawing/2014/main" id="{6935024F-262A-4687-B02D-6D00B549D838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iṩḷïde">
              <a:extLst>
                <a:ext uri="{FF2B5EF4-FFF2-40B4-BE49-F238E27FC236}">
                  <a16:creationId xmlns:a16="http://schemas.microsoft.com/office/drawing/2014/main" id="{346C9603-64BA-4063-9B4B-223EF14DB1AC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í$ḷïďê">
              <a:extLst>
                <a:ext uri="{FF2B5EF4-FFF2-40B4-BE49-F238E27FC236}">
                  <a16:creationId xmlns:a16="http://schemas.microsoft.com/office/drawing/2014/main" id="{BD46C2D7-4619-4C8B-890B-3F1204738D68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śľïḑe">
              <a:extLst>
                <a:ext uri="{FF2B5EF4-FFF2-40B4-BE49-F238E27FC236}">
                  <a16:creationId xmlns:a16="http://schemas.microsoft.com/office/drawing/2014/main" id="{10C2247F-0370-4422-95E6-1554E47E1CA5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Slîḍè">
              <a:extLst>
                <a:ext uri="{FF2B5EF4-FFF2-40B4-BE49-F238E27FC236}">
                  <a16:creationId xmlns:a16="http://schemas.microsoft.com/office/drawing/2014/main" id="{D0B379BE-B15A-4713-B8D9-B3226AB3C063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şliḍé">
              <a:extLst>
                <a:ext uri="{FF2B5EF4-FFF2-40B4-BE49-F238E27FC236}">
                  <a16:creationId xmlns:a16="http://schemas.microsoft.com/office/drawing/2014/main" id="{8C4FE83E-416D-48A6-BBCF-6B960E38CB8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ísḻïde">
              <a:extLst>
                <a:ext uri="{FF2B5EF4-FFF2-40B4-BE49-F238E27FC236}">
                  <a16:creationId xmlns:a16="http://schemas.microsoft.com/office/drawing/2014/main" id="{2734F4EE-C3A2-4E41-845D-400A6F2812C3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iŝļiḋê">
              <a:extLst>
                <a:ext uri="{FF2B5EF4-FFF2-40B4-BE49-F238E27FC236}">
                  <a16:creationId xmlns:a16="http://schemas.microsoft.com/office/drawing/2014/main" id="{6264C823-B6B6-46A8-A230-B1FE3CB54C72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ṧḷîdè">
              <a:extLst>
                <a:ext uri="{FF2B5EF4-FFF2-40B4-BE49-F238E27FC236}">
                  <a16:creationId xmlns:a16="http://schemas.microsoft.com/office/drawing/2014/main" id="{2F4ED27C-54FA-434A-ACA1-57534125683E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isļíḍè">
              <a:extLst>
                <a:ext uri="{FF2B5EF4-FFF2-40B4-BE49-F238E27FC236}">
                  <a16:creationId xmlns:a16="http://schemas.microsoft.com/office/drawing/2014/main" id="{EFE13A69-5E04-4822-8628-83BABE47595F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ṡ1íḓe">
              <a:extLst>
                <a:ext uri="{FF2B5EF4-FFF2-40B4-BE49-F238E27FC236}">
                  <a16:creationId xmlns:a16="http://schemas.microsoft.com/office/drawing/2014/main" id="{A9324D63-B67E-44D7-AE8B-74BA73907C2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sḷiḑê">
              <a:extLst>
                <a:ext uri="{FF2B5EF4-FFF2-40B4-BE49-F238E27FC236}">
                  <a16:creationId xmlns:a16="http://schemas.microsoft.com/office/drawing/2014/main" id="{98CDD5EA-5A89-4A80-82C6-47F4FFDD6421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ṥlíḓê">
              <a:extLst>
                <a:ext uri="{FF2B5EF4-FFF2-40B4-BE49-F238E27FC236}">
                  <a16:creationId xmlns:a16="http://schemas.microsoft.com/office/drawing/2014/main" id="{C4D79308-07D4-4619-AD52-15E2DB368814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ṧḷíḍé">
              <a:extLst>
                <a:ext uri="{FF2B5EF4-FFF2-40B4-BE49-F238E27FC236}">
                  <a16:creationId xmlns:a16="http://schemas.microsoft.com/office/drawing/2014/main" id="{3CD0E4FF-8ACD-4ADC-8A90-F400193F5867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îṩḻïďè">
              <a:extLst>
                <a:ext uri="{FF2B5EF4-FFF2-40B4-BE49-F238E27FC236}">
                  <a16:creationId xmlns:a16="http://schemas.microsoft.com/office/drawing/2014/main" id="{2239A582-C160-4F8A-9171-28ED5B53FF01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şļídé">
              <a:extLst>
                <a:ext uri="{FF2B5EF4-FFF2-40B4-BE49-F238E27FC236}">
                  <a16:creationId xmlns:a16="http://schemas.microsoft.com/office/drawing/2014/main" id="{F9E1A4AC-4845-4AC7-ABB5-B3608AC39082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ṧḻíďe">
              <a:extLst>
                <a:ext uri="{FF2B5EF4-FFF2-40B4-BE49-F238E27FC236}">
                  <a16:creationId xmlns:a16="http://schemas.microsoft.com/office/drawing/2014/main" id="{E16CEF24-85BF-4C1F-BDFE-30D782A5318E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ïSlïḓé">
              <a:extLst>
                <a:ext uri="{FF2B5EF4-FFF2-40B4-BE49-F238E27FC236}">
                  <a16:creationId xmlns:a16="http://schemas.microsoft.com/office/drawing/2014/main" id="{E5A1E6C7-56F5-4158-ACE3-D66BC5887352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išľîḑé">
              <a:extLst>
                <a:ext uri="{FF2B5EF4-FFF2-40B4-BE49-F238E27FC236}">
                  <a16:creationId xmlns:a16="http://schemas.microsoft.com/office/drawing/2014/main" id="{4CC0C176-791F-4AAA-A774-C8766B49EDCC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ṥḻîďè">
              <a:extLst>
                <a:ext uri="{FF2B5EF4-FFF2-40B4-BE49-F238E27FC236}">
                  <a16:creationId xmlns:a16="http://schemas.microsoft.com/office/drawing/2014/main" id="{B151BD1B-C67D-4E09-B86B-2EAF8414BA0A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i$líḋé">
              <a:extLst>
                <a:ext uri="{FF2B5EF4-FFF2-40B4-BE49-F238E27FC236}">
                  <a16:creationId xmlns:a16="http://schemas.microsoft.com/office/drawing/2014/main" id="{2D3B3C12-275E-43C0-A5C8-A633229C41EC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ľîḋê">
              <a:extLst>
                <a:ext uri="{FF2B5EF4-FFF2-40B4-BE49-F238E27FC236}">
                  <a16:creationId xmlns:a16="http://schemas.microsoft.com/office/drawing/2014/main" id="{FB9F5C41-17F3-4C0A-88AB-97565D7D7635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ïśḷîḍè">
              <a:extLst>
                <a:ext uri="{FF2B5EF4-FFF2-40B4-BE49-F238E27FC236}">
                  <a16:creationId xmlns:a16="http://schemas.microsoft.com/office/drawing/2014/main" id="{8736062F-8ED9-4E47-8C83-E31E42F7AB43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íṣļíḓe">
              <a:extLst>
                <a:ext uri="{FF2B5EF4-FFF2-40B4-BE49-F238E27FC236}">
                  <a16:creationId xmlns:a16="http://schemas.microsoft.com/office/drawing/2014/main" id="{B42652D7-331D-4417-B73B-609D37FACE55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ïslïḓé">
              <a:extLst>
                <a:ext uri="{FF2B5EF4-FFF2-40B4-BE49-F238E27FC236}">
                  <a16:creationId xmlns:a16="http://schemas.microsoft.com/office/drawing/2014/main" id="{6C03B68B-1B98-4918-8B5C-6515C7D2FD60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ïṣḻîḋé">
              <a:extLst>
                <a:ext uri="{FF2B5EF4-FFF2-40B4-BE49-F238E27FC236}">
                  <a16:creationId xmlns:a16="http://schemas.microsoft.com/office/drawing/2014/main" id="{72C420A4-1005-42BD-B7EB-24F9D62D1176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ïṥḷîḓè">
              <a:extLst>
                <a:ext uri="{FF2B5EF4-FFF2-40B4-BE49-F238E27FC236}">
                  <a16:creationId xmlns:a16="http://schemas.microsoft.com/office/drawing/2014/main" id="{C49A975A-0601-4D0E-B007-975850AD38F5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iṥḷíďè">
              <a:extLst>
                <a:ext uri="{FF2B5EF4-FFF2-40B4-BE49-F238E27FC236}">
                  <a16:creationId xmlns:a16="http://schemas.microsoft.com/office/drawing/2014/main" id="{0F1BB791-2CD7-434B-A26F-9D2FFB665FA5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ïş1ídè">
              <a:extLst>
                <a:ext uri="{FF2B5EF4-FFF2-40B4-BE49-F238E27FC236}">
                  <a16:creationId xmlns:a16="http://schemas.microsoft.com/office/drawing/2014/main" id="{48B83BF4-5AD5-49C1-8B23-483DF141A4AB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îŝļiḑe">
              <a:extLst>
                <a:ext uri="{FF2B5EF4-FFF2-40B4-BE49-F238E27FC236}">
                  <a16:creationId xmlns:a16="http://schemas.microsoft.com/office/drawing/2014/main" id="{7E5E3951-36BA-4D12-B1D5-8DCAF37AB3C4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$ļïḓé">
              <a:extLst>
                <a:ext uri="{FF2B5EF4-FFF2-40B4-BE49-F238E27FC236}">
                  <a16:creationId xmlns:a16="http://schemas.microsoft.com/office/drawing/2014/main" id="{0BD07E8F-B8EA-4F79-B49A-F822350EE240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$1iďê">
              <a:extLst>
                <a:ext uri="{FF2B5EF4-FFF2-40B4-BE49-F238E27FC236}">
                  <a16:creationId xmlns:a16="http://schemas.microsoft.com/office/drawing/2014/main" id="{FECC6020-AB3A-4030-8F98-F466C809E30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îšḷiḍe">
              <a:extLst>
                <a:ext uri="{FF2B5EF4-FFF2-40B4-BE49-F238E27FC236}">
                  <a16:creationId xmlns:a16="http://schemas.microsoft.com/office/drawing/2014/main" id="{8D194721-99D8-4023-B41A-9D6FBB0FEC61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ṥlïdê">
              <a:extLst>
                <a:ext uri="{FF2B5EF4-FFF2-40B4-BE49-F238E27FC236}">
                  <a16:creationId xmlns:a16="http://schemas.microsoft.com/office/drawing/2014/main" id="{759E86FF-B267-4212-9D1A-F4FCB768A31D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śľîďé">
              <a:extLst>
                <a:ext uri="{FF2B5EF4-FFF2-40B4-BE49-F238E27FC236}">
                  <a16:creationId xmlns:a16="http://schemas.microsoft.com/office/drawing/2014/main" id="{19BB9352-C274-4197-BE2C-B4377239425B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iŝḻîdé">
              <a:extLst>
                <a:ext uri="{FF2B5EF4-FFF2-40B4-BE49-F238E27FC236}">
                  <a16:creationId xmlns:a16="http://schemas.microsoft.com/office/drawing/2014/main" id="{49F4EDB6-A957-429D-848C-6DD59080B28C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sḷiḍé">
              <a:extLst>
                <a:ext uri="{FF2B5EF4-FFF2-40B4-BE49-F238E27FC236}">
                  <a16:creationId xmlns:a16="http://schemas.microsoft.com/office/drawing/2014/main" id="{DD4C49D8-B857-45EF-A5FF-A5F188B45A19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íṧ1iďè">
              <a:extLst>
                <a:ext uri="{FF2B5EF4-FFF2-40B4-BE49-F238E27FC236}">
                  <a16:creationId xmlns:a16="http://schemas.microsoft.com/office/drawing/2014/main" id="{05572607-00FA-465E-BB4A-8D950F05E24B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ṩľíḓe">
              <a:extLst>
                <a:ext uri="{FF2B5EF4-FFF2-40B4-BE49-F238E27FC236}">
                  <a16:creationId xmlns:a16="http://schemas.microsoft.com/office/drawing/2014/main" id="{73F97950-F65B-44CE-8526-0ABA350DC161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ïṡ1ïḑé">
              <a:extLst>
                <a:ext uri="{FF2B5EF4-FFF2-40B4-BE49-F238E27FC236}">
                  <a16:creationId xmlns:a16="http://schemas.microsoft.com/office/drawing/2014/main" id="{620F7DEE-055C-4437-9C79-5A0B17B05BEC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iṡlíďe">
              <a:extLst>
                <a:ext uri="{FF2B5EF4-FFF2-40B4-BE49-F238E27FC236}">
                  <a16:creationId xmlns:a16="http://schemas.microsoft.com/office/drawing/2014/main" id="{209CD8D5-C519-4D16-B813-42F322757C2E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šḷiḍè">
              <a:extLst>
                <a:ext uri="{FF2B5EF4-FFF2-40B4-BE49-F238E27FC236}">
                  <a16:creationId xmlns:a16="http://schemas.microsoft.com/office/drawing/2014/main" id="{86C4D568-D623-4128-8CD4-518A40978BE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$1îḓè">
              <a:extLst>
                <a:ext uri="{FF2B5EF4-FFF2-40B4-BE49-F238E27FC236}">
                  <a16:creationId xmlns:a16="http://schemas.microsoft.com/office/drawing/2014/main" id="{A748391C-61C8-47D3-BD94-B8D19822BB01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$ľidé">
              <a:extLst>
                <a:ext uri="{FF2B5EF4-FFF2-40B4-BE49-F238E27FC236}">
                  <a16:creationId xmlns:a16="http://schemas.microsoft.com/office/drawing/2014/main" id="{1D6EE668-B625-479D-AD75-8A4B4B5EE70F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išḻïďê">
              <a:extLst>
                <a:ext uri="{FF2B5EF4-FFF2-40B4-BE49-F238E27FC236}">
                  <a16:creationId xmlns:a16="http://schemas.microsoft.com/office/drawing/2014/main" id="{61FA7743-226A-48B6-A9FC-0DBD091E240F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îSļíďê">
              <a:extLst>
                <a:ext uri="{FF2B5EF4-FFF2-40B4-BE49-F238E27FC236}">
                  <a16:creationId xmlns:a16="http://schemas.microsoft.com/office/drawing/2014/main" id="{379B63A7-CC83-4479-AFF6-C64C041A0341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ṧḻiḋe">
              <a:extLst>
                <a:ext uri="{FF2B5EF4-FFF2-40B4-BE49-F238E27FC236}">
                  <a16:creationId xmlns:a16="http://schemas.microsoft.com/office/drawing/2014/main" id="{AD0B9A7B-F4F7-4286-AB2C-3BFB9F050BF0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îṡ1iďé">
              <a:extLst>
                <a:ext uri="{FF2B5EF4-FFF2-40B4-BE49-F238E27FC236}">
                  <a16:creationId xmlns:a16="http://schemas.microsoft.com/office/drawing/2014/main" id="{988627DB-6011-4D06-BA37-769B520D0C23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ï$ḷïdè">
              <a:extLst>
                <a:ext uri="{FF2B5EF4-FFF2-40B4-BE49-F238E27FC236}">
                  <a16:creationId xmlns:a16="http://schemas.microsoft.com/office/drawing/2014/main" id="{B38589FE-DA96-4EB9-816B-A381CB0BA409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işlîḋê">
              <a:extLst>
                <a:ext uri="{FF2B5EF4-FFF2-40B4-BE49-F238E27FC236}">
                  <a16:creationId xmlns:a16="http://schemas.microsoft.com/office/drawing/2014/main" id="{878804B2-A9D2-4E01-9E58-D70093452395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şḻïḑè">
              <a:extLst>
                <a:ext uri="{FF2B5EF4-FFF2-40B4-BE49-F238E27FC236}">
                  <a16:creationId xmlns:a16="http://schemas.microsoft.com/office/drawing/2014/main" id="{F847D0F7-919C-4C25-9B95-81CB0FCAAF40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ïslidê">
              <a:extLst>
                <a:ext uri="{FF2B5EF4-FFF2-40B4-BE49-F238E27FC236}">
                  <a16:creationId xmlns:a16="http://schemas.microsoft.com/office/drawing/2014/main" id="{503638E4-956F-413B-8897-CDD99FD4CC94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ṣḻíḑê">
              <a:extLst>
                <a:ext uri="{FF2B5EF4-FFF2-40B4-BE49-F238E27FC236}">
                  <a16:creationId xmlns:a16="http://schemas.microsoft.com/office/drawing/2014/main" id="{19CF597C-244F-424C-9FE6-DC0D499125CC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ísḻídé">
              <a:extLst>
                <a:ext uri="{FF2B5EF4-FFF2-40B4-BE49-F238E27FC236}">
                  <a16:creationId xmlns:a16="http://schemas.microsoft.com/office/drawing/2014/main" id="{3531395D-DC56-4B48-A95A-C6F235EB63C3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iṧḻide">
              <a:extLst>
                <a:ext uri="{FF2B5EF4-FFF2-40B4-BE49-F238E27FC236}">
                  <a16:creationId xmlns:a16="http://schemas.microsoft.com/office/drawing/2014/main" id="{D6FFC8CF-B749-4860-8C57-8044FF6CB902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ṧļïďe">
              <a:extLst>
                <a:ext uri="{FF2B5EF4-FFF2-40B4-BE49-F238E27FC236}">
                  <a16:creationId xmlns:a16="http://schemas.microsoft.com/office/drawing/2014/main" id="{C6DC6093-03D5-41D4-B44F-C6937E73421F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ṣḷîḋê">
              <a:extLst>
                <a:ext uri="{FF2B5EF4-FFF2-40B4-BE49-F238E27FC236}">
                  <a16:creationId xmlns:a16="http://schemas.microsoft.com/office/drawing/2014/main" id="{CB0B0BE1-8904-4524-8ABC-AC84947369D9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ŝ1ïḍè">
              <a:extLst>
                <a:ext uri="{FF2B5EF4-FFF2-40B4-BE49-F238E27FC236}">
                  <a16:creationId xmlns:a16="http://schemas.microsoft.com/office/drawing/2014/main" id="{E412D4CE-8DE9-4DA7-A71B-17F4B17520A5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ŝlîḋe">
              <a:extLst>
                <a:ext uri="{FF2B5EF4-FFF2-40B4-BE49-F238E27FC236}">
                  <a16:creationId xmlns:a16="http://schemas.microsoft.com/office/drawing/2014/main" id="{65E1FD7A-9EE4-4B21-9213-32BFD3B5078A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iŝḻiďê">
              <a:extLst>
                <a:ext uri="{FF2B5EF4-FFF2-40B4-BE49-F238E27FC236}">
                  <a16:creationId xmlns:a16="http://schemas.microsoft.com/office/drawing/2014/main" id="{90144B1D-D4D0-4353-8E41-46F225878C50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îṥḻiḍè">
              <a:extLst>
                <a:ext uri="{FF2B5EF4-FFF2-40B4-BE49-F238E27FC236}">
                  <a16:creationId xmlns:a16="http://schemas.microsoft.com/office/drawing/2014/main" id="{F95A83D0-CCDD-495A-8CF8-CF7515804C0F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ṩḷîḋe">
              <a:extLst>
                <a:ext uri="{FF2B5EF4-FFF2-40B4-BE49-F238E27FC236}">
                  <a16:creationId xmlns:a16="http://schemas.microsoft.com/office/drawing/2014/main" id="{AF9B4090-3A08-4022-B3EA-A0413D774DDC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ṧḻiḋè">
              <a:extLst>
                <a:ext uri="{FF2B5EF4-FFF2-40B4-BE49-F238E27FC236}">
                  <a16:creationId xmlns:a16="http://schemas.microsoft.com/office/drawing/2014/main" id="{AE56AC39-9C0A-4C0E-99D8-4FCF4D2796E3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î$ľíḓè">
              <a:extLst>
                <a:ext uri="{FF2B5EF4-FFF2-40B4-BE49-F238E27FC236}">
                  <a16:creationId xmlns:a16="http://schemas.microsoft.com/office/drawing/2014/main" id="{276D8587-62A4-44EA-9409-8024F50389B0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ïsľíďe">
              <a:extLst>
                <a:ext uri="{FF2B5EF4-FFF2-40B4-BE49-F238E27FC236}">
                  <a16:creationId xmlns:a16="http://schemas.microsoft.com/office/drawing/2014/main" id="{8500F066-253C-470D-BFC1-09C0232B6EA1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íšḷïdé">
              <a:extLst>
                <a:ext uri="{FF2B5EF4-FFF2-40B4-BE49-F238E27FC236}">
                  <a16:creationId xmlns:a16="http://schemas.microsoft.com/office/drawing/2014/main" id="{7527FBD6-2C24-4137-87E9-2F6F1FAB10BB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ïslîḍê">
              <a:extLst>
                <a:ext uri="{FF2B5EF4-FFF2-40B4-BE49-F238E27FC236}">
                  <a16:creationId xmlns:a16="http://schemas.microsoft.com/office/drawing/2014/main" id="{D7BBB215-B34A-4A30-A6AC-196DFAFD3867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ŝľíḍè">
              <a:extLst>
                <a:ext uri="{FF2B5EF4-FFF2-40B4-BE49-F238E27FC236}">
                  <a16:creationId xmlns:a16="http://schemas.microsoft.com/office/drawing/2014/main" id="{452B0065-201F-4273-882D-B2D36A18C7FF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íşľîḑé">
              <a:extLst>
                <a:ext uri="{FF2B5EF4-FFF2-40B4-BE49-F238E27FC236}">
                  <a16:creationId xmlns:a16="http://schemas.microsoft.com/office/drawing/2014/main" id="{E43A8A5C-F71A-49C7-9D4E-4A751906EC00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íSḷîḍè">
              <a:extLst>
                <a:ext uri="{FF2B5EF4-FFF2-40B4-BE49-F238E27FC236}">
                  <a16:creationId xmlns:a16="http://schemas.microsoft.com/office/drawing/2014/main" id="{E8E78389-29D9-4D4D-AF21-98D5067E300E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îḍè">
              <a:extLst>
                <a:ext uri="{FF2B5EF4-FFF2-40B4-BE49-F238E27FC236}">
                  <a16:creationId xmlns:a16="http://schemas.microsoft.com/office/drawing/2014/main" id="{5BD4A37E-D02A-4B6B-9DE8-3018FCF0A92F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ísḷiḋe">
              <a:extLst>
                <a:ext uri="{FF2B5EF4-FFF2-40B4-BE49-F238E27FC236}">
                  <a16:creationId xmlns:a16="http://schemas.microsoft.com/office/drawing/2014/main" id="{45A14514-6E83-4177-A9E9-D91CC0EC28AA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šḷîḓe">
              <a:extLst>
                <a:ext uri="{FF2B5EF4-FFF2-40B4-BE49-F238E27FC236}">
                  <a16:creationId xmlns:a16="http://schemas.microsoft.com/office/drawing/2014/main" id="{CC275142-586F-4ABF-9865-91A15A69B99F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ïṩļidê">
              <a:extLst>
                <a:ext uri="{FF2B5EF4-FFF2-40B4-BE49-F238E27FC236}">
                  <a16:creationId xmlns:a16="http://schemas.microsoft.com/office/drawing/2014/main" id="{CB1EB223-3268-49E3-9009-8FB4F6B1C0A1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ṧliḑe">
              <a:extLst>
                <a:ext uri="{FF2B5EF4-FFF2-40B4-BE49-F238E27FC236}">
                  <a16:creationId xmlns:a16="http://schemas.microsoft.com/office/drawing/2014/main" id="{78D8483C-51F5-41B6-B92D-284D1FA2DA29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ïśḷïḓè">
              <a:extLst>
                <a:ext uri="{FF2B5EF4-FFF2-40B4-BE49-F238E27FC236}">
                  <a16:creationId xmlns:a16="http://schemas.microsoft.com/office/drawing/2014/main" id="{D0FAE020-E0E9-4A13-882F-6164298F229C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ísliďè">
              <a:extLst>
                <a:ext uri="{FF2B5EF4-FFF2-40B4-BE49-F238E27FC236}">
                  <a16:creationId xmlns:a16="http://schemas.microsoft.com/office/drawing/2014/main" id="{2C4C12CE-7C7F-4659-8EA0-5AA1523635DE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sḷíḍé">
              <a:extLst>
                <a:ext uri="{FF2B5EF4-FFF2-40B4-BE49-F238E27FC236}">
                  <a16:creationId xmlns:a16="http://schemas.microsoft.com/office/drawing/2014/main" id="{0A008D82-9A5C-4C7F-92E1-205C76002CEF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šlîḑê">
              <a:extLst>
                <a:ext uri="{FF2B5EF4-FFF2-40B4-BE49-F238E27FC236}">
                  <a16:creationId xmlns:a16="http://schemas.microsoft.com/office/drawing/2014/main" id="{8E54FE52-7C25-4436-8F28-FD1A9CD43B85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îṧḻîḓé">
              <a:extLst>
                <a:ext uri="{FF2B5EF4-FFF2-40B4-BE49-F238E27FC236}">
                  <a16:creationId xmlns:a16="http://schemas.microsoft.com/office/drawing/2014/main" id="{60871A67-9948-40EE-B00E-92FEBAB9C33F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iśļîḋê">
              <a:extLst>
                <a:ext uri="{FF2B5EF4-FFF2-40B4-BE49-F238E27FC236}">
                  <a16:creationId xmlns:a16="http://schemas.microsoft.com/office/drawing/2014/main" id="{0E5B1037-4321-4789-84B3-A4DE23D0003A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788F9-2C1B-4ED7-83D6-CE9345B8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97F6D-FA34-49FA-872F-778AAEB988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4B76C6D9-580E-489C-9EA8-3883FABF2BF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797F6D-FA34-49FA-872F-778AAEB988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7</a:t>
            </a:r>
            <a:r>
              <a:rPr lang="zh-CN" altLang="en-US" sz="4400" dirty="0"/>
              <a:t>章 树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0F0531-65C4-40EE-8659-50983D5E3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96" y="1667774"/>
            <a:ext cx="8229600" cy="2403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7.1 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无向树及生成树</a:t>
            </a:r>
          </a:p>
          <a:p>
            <a:pPr algn="just"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7.2 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根树及其应用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38F19F4-6DF3-40F1-9AA4-944FF3854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06" y="1479218"/>
            <a:ext cx="10568886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7.1 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(1) 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无向树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——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连通无回路的无向图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（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边最少的无向连通图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）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(2) 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——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平凡图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(3) 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森林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——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至少由两个连通分支（每个都是树）组成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(4) 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树叶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——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(5) 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分支点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——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度数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                                           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44C3E3-FC24-4BAE-B1C1-81A0856D811B}"/>
              </a:ext>
            </a:extLst>
          </p:cNvPr>
          <p:cNvGrpSpPr/>
          <p:nvPr/>
        </p:nvGrpSpPr>
        <p:grpSpPr>
          <a:xfrm>
            <a:off x="703248" y="3880605"/>
            <a:ext cx="7901796" cy="1238755"/>
            <a:chOff x="703248" y="3880605"/>
            <a:chExt cx="7901796" cy="1238755"/>
          </a:xfrm>
        </p:grpSpPr>
        <p:pic>
          <p:nvPicPr>
            <p:cNvPr id="15" name="Picture 8" descr="16-1(1)">
              <a:extLst>
                <a:ext uri="{FF2B5EF4-FFF2-40B4-BE49-F238E27FC236}">
                  <a16:creationId xmlns:a16="http://schemas.microsoft.com/office/drawing/2014/main" id="{8422DB73-42EC-4A31-9912-20AEA88727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1787" y="3880605"/>
              <a:ext cx="853741" cy="1104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5B49788-B03A-4ABE-92D8-9804F8DABD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3248" y="4128755"/>
              <a:ext cx="7901796" cy="99060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右图为一棵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阶树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注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本章中所讨论的回路均指简单回路或初级回路  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903EF4D-EFA4-410D-9AB7-47D7B5B18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240" y="5184010"/>
            <a:ext cx="4448114" cy="122183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9A0B5E1-9836-4DBF-BC5E-1ECF1C7F000A}"/>
              </a:ext>
            </a:extLst>
          </p:cNvPr>
          <p:cNvSpPr txBox="1"/>
          <p:nvPr/>
        </p:nvSpPr>
        <p:spPr>
          <a:xfrm>
            <a:off x="2729926" y="6406077"/>
            <a:ext cx="4077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树            不是树           森林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1B0535-179B-45E0-9E62-A8957856D60B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ED72BA-D3F6-43FD-8A2C-DB225DE63D25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6D6CB-1113-4C05-975C-BB292DBCF4FE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47B310-CD33-4D9B-9CCB-FA74D83EACCF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3354013-04E5-41E5-8E98-B33758265A8A}"/>
              </a:ext>
            </a:extLst>
          </p:cNvPr>
          <p:cNvSpPr txBox="1">
            <a:spLocks/>
          </p:cNvSpPr>
          <p:nvPr/>
        </p:nvSpPr>
        <p:spPr>
          <a:xfrm>
            <a:off x="543463" y="1740124"/>
            <a:ext cx="8229600" cy="5693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树的应用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D6C771-3294-4924-93A2-FF1C1C00EC0D}"/>
              </a:ext>
            </a:extLst>
          </p:cNvPr>
          <p:cNvSpPr txBox="1">
            <a:spLocks/>
          </p:cNvSpPr>
          <p:nvPr/>
        </p:nvSpPr>
        <p:spPr>
          <a:xfrm>
            <a:off x="551821" y="2431587"/>
            <a:ext cx="10964443" cy="16808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英国数学家凯莱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(Arthur Cayley)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世纪中叶研究饱和碳氢化合物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2n+2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的同分异构体时提出树的概念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n=1,2,3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都只有一棵非同构的树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n=4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棵不同构的树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71">
            <a:extLst>
              <a:ext uri="{FF2B5EF4-FFF2-40B4-BE49-F238E27FC236}">
                <a16:creationId xmlns:a16="http://schemas.microsoft.com/office/drawing/2014/main" id="{D9F6B73A-9D0F-4D48-B151-4119970AB87C}"/>
              </a:ext>
            </a:extLst>
          </p:cNvPr>
          <p:cNvGrpSpPr>
            <a:grpSpLocks/>
          </p:cNvGrpSpPr>
          <p:nvPr/>
        </p:nvGrpSpPr>
        <p:grpSpPr bwMode="auto">
          <a:xfrm>
            <a:off x="2668528" y="4292736"/>
            <a:ext cx="6572250" cy="2143125"/>
            <a:chOff x="1357290" y="3786190"/>
            <a:chExt cx="6572296" cy="2142531"/>
          </a:xfrm>
        </p:grpSpPr>
        <p:sp>
          <p:nvSpPr>
            <p:cNvPr id="16" name="Text Box 3">
              <a:extLst>
                <a:ext uri="{FF2B5EF4-FFF2-40B4-BE49-F238E27FC236}">
                  <a16:creationId xmlns:a16="http://schemas.microsoft.com/office/drawing/2014/main" id="{A016D178-C1B8-4072-B5A6-DF0DFD655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290" y="5500702"/>
              <a:ext cx="928694" cy="42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甲烷</a:t>
              </a:r>
              <a:endPara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" name="Group 12">
              <a:extLst>
                <a:ext uri="{FF2B5EF4-FFF2-40B4-BE49-F238E27FC236}">
                  <a16:creationId xmlns:a16="http://schemas.microsoft.com/office/drawing/2014/main" id="{4436FDF1-E6F9-4764-994E-85F418423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7290" y="3786190"/>
              <a:ext cx="6572296" cy="1500198"/>
              <a:chOff x="2486" y="1986"/>
              <a:chExt cx="7529" cy="1736"/>
            </a:xfrm>
          </p:grpSpPr>
          <p:sp>
            <p:nvSpPr>
              <p:cNvPr id="22" name="Oval 13">
                <a:extLst>
                  <a:ext uri="{FF2B5EF4-FFF2-40B4-BE49-F238E27FC236}">
                    <a16:creationId xmlns:a16="http://schemas.microsoft.com/office/drawing/2014/main" id="{1E8356A9-B248-48F6-AD84-BFF5D3C9A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6" y="281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" name="Oval 14">
                <a:extLst>
                  <a:ext uri="{FF2B5EF4-FFF2-40B4-BE49-F238E27FC236}">
                    <a16:creationId xmlns:a16="http://schemas.microsoft.com/office/drawing/2014/main" id="{60C50B4B-D49C-480E-A279-922B8DC7D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6" y="2829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5" name="Oval 15">
                <a:extLst>
                  <a:ext uri="{FF2B5EF4-FFF2-40B4-BE49-F238E27FC236}">
                    <a16:creationId xmlns:a16="http://schemas.microsoft.com/office/drawing/2014/main" id="{BCB2554A-609C-45E7-B21F-6589BE0F6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2" y="281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6" name="Oval 16">
                <a:extLst>
                  <a:ext uri="{FF2B5EF4-FFF2-40B4-BE49-F238E27FC236}">
                    <a16:creationId xmlns:a16="http://schemas.microsoft.com/office/drawing/2014/main" id="{177E6896-519D-442B-B95D-32E8F490B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2478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" name="Oval 17">
                <a:extLst>
                  <a:ext uri="{FF2B5EF4-FFF2-40B4-BE49-F238E27FC236}">
                    <a16:creationId xmlns:a16="http://schemas.microsoft.com/office/drawing/2014/main" id="{D45DEE44-2991-456E-93C6-1B1D3E8F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314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28" name="AutoShape 18">
                <a:extLst>
                  <a:ext uri="{FF2B5EF4-FFF2-40B4-BE49-F238E27FC236}">
                    <a16:creationId xmlns:a16="http://schemas.microsoft.com/office/drawing/2014/main" id="{52026041-4261-446A-BC19-72E6F0BC2E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15" y="2549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AutoShape 19">
                <a:extLst>
                  <a:ext uri="{FF2B5EF4-FFF2-40B4-BE49-F238E27FC236}">
                    <a16:creationId xmlns:a16="http://schemas.microsoft.com/office/drawing/2014/main" id="{CC489FD6-3832-4E85-907E-EFB08CD4E7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15" y="2888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AutoShape 20">
                <a:extLst>
                  <a:ext uri="{FF2B5EF4-FFF2-40B4-BE49-F238E27FC236}">
                    <a16:creationId xmlns:a16="http://schemas.microsoft.com/office/drawing/2014/main" id="{1FA40E78-3615-415C-9C7A-791B77C3E4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59" y="2852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AutoShape 21">
                <a:extLst>
                  <a:ext uri="{FF2B5EF4-FFF2-40B4-BE49-F238E27FC236}">
                    <a16:creationId xmlns:a16="http://schemas.microsoft.com/office/drawing/2014/main" id="{BF98C9DF-F912-4BE0-BD24-AF5B1E9E801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563" y="2852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" name="Oval 22">
                <a:extLst>
                  <a:ext uri="{FF2B5EF4-FFF2-40B4-BE49-F238E27FC236}">
                    <a16:creationId xmlns:a16="http://schemas.microsoft.com/office/drawing/2014/main" id="{7ED016BC-F331-4D91-BCE9-A5F3ED940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299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" name="Oval 23">
                <a:extLst>
                  <a:ext uri="{FF2B5EF4-FFF2-40B4-BE49-F238E27FC236}">
                    <a16:creationId xmlns:a16="http://schemas.microsoft.com/office/drawing/2014/main" id="{068FB8E8-ED35-4C89-A527-A17F887EA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4" y="3009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" name="Oval 24">
                <a:extLst>
                  <a:ext uri="{FF2B5EF4-FFF2-40B4-BE49-F238E27FC236}">
                    <a16:creationId xmlns:a16="http://schemas.microsoft.com/office/drawing/2014/main" id="{E028A7B7-64F4-46BC-B542-EC122565F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299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" name="Oval 25">
                <a:extLst>
                  <a:ext uri="{FF2B5EF4-FFF2-40B4-BE49-F238E27FC236}">
                    <a16:creationId xmlns:a16="http://schemas.microsoft.com/office/drawing/2014/main" id="{1F352A5E-B4A1-4059-8B0C-8A836146B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" y="332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36" name="AutoShape 26">
                <a:extLst>
                  <a:ext uri="{FF2B5EF4-FFF2-40B4-BE49-F238E27FC236}">
                    <a16:creationId xmlns:a16="http://schemas.microsoft.com/office/drawing/2014/main" id="{E1A1A4DF-8473-4A56-AAC8-03B6AEC90EA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403" y="2729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AutoShape 27">
                <a:extLst>
                  <a:ext uri="{FF2B5EF4-FFF2-40B4-BE49-F238E27FC236}">
                    <a16:creationId xmlns:a16="http://schemas.microsoft.com/office/drawing/2014/main" id="{6F3ED24C-74C3-443F-901A-5B3300A50F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403" y="3068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AutoShape 28">
                <a:extLst>
                  <a:ext uri="{FF2B5EF4-FFF2-40B4-BE49-F238E27FC236}">
                    <a16:creationId xmlns:a16="http://schemas.microsoft.com/office/drawing/2014/main" id="{E41CB606-B3F8-4CAA-AD73-133005571BA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447" y="3032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AutoShape 29">
                <a:extLst>
                  <a:ext uri="{FF2B5EF4-FFF2-40B4-BE49-F238E27FC236}">
                    <a16:creationId xmlns:a16="http://schemas.microsoft.com/office/drawing/2014/main" id="{79EE44C6-E1F8-4B9A-A8B2-7933759D75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051" y="3032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0" name="Oval 30">
                <a:extLst>
                  <a:ext uri="{FF2B5EF4-FFF2-40B4-BE49-F238E27FC236}">
                    <a16:creationId xmlns:a16="http://schemas.microsoft.com/office/drawing/2014/main" id="{0A2D1475-524C-48B5-BA33-6A3F7D13A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2" y="26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" name="Oval 31">
                <a:extLst>
                  <a:ext uri="{FF2B5EF4-FFF2-40B4-BE49-F238E27FC236}">
                    <a16:creationId xmlns:a16="http://schemas.microsoft.com/office/drawing/2014/main" id="{D24FD733-28A2-499C-9108-8FBB2186B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2" y="267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" name="Oval 32">
                <a:extLst>
                  <a:ext uri="{FF2B5EF4-FFF2-40B4-BE49-F238E27FC236}">
                    <a16:creationId xmlns:a16="http://schemas.microsoft.com/office/drawing/2014/main" id="{428AA952-2F11-4D98-B131-832DD7A2D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8" y="26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3" name="Oval 33">
                <a:extLst>
                  <a:ext uri="{FF2B5EF4-FFF2-40B4-BE49-F238E27FC236}">
                    <a16:creationId xmlns:a16="http://schemas.microsoft.com/office/drawing/2014/main" id="{7DD3D49C-6B16-46F4-A1A8-C00BEB056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5" y="2322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44" name="AutoShape 34">
                <a:extLst>
                  <a:ext uri="{FF2B5EF4-FFF2-40B4-BE49-F238E27FC236}">
                    <a16:creationId xmlns:a16="http://schemas.microsoft.com/office/drawing/2014/main" id="{C4630290-7850-46A6-BEA8-7C6D57AF849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91" y="2393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35">
                <a:extLst>
                  <a:ext uri="{FF2B5EF4-FFF2-40B4-BE49-F238E27FC236}">
                    <a16:creationId xmlns:a16="http://schemas.microsoft.com/office/drawing/2014/main" id="{51FFFF70-7CEC-4F22-99BA-3C1A1C0F75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435" y="269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36">
                <a:extLst>
                  <a:ext uri="{FF2B5EF4-FFF2-40B4-BE49-F238E27FC236}">
                    <a16:creationId xmlns:a16="http://schemas.microsoft.com/office/drawing/2014/main" id="{32D83E37-7087-40BD-B157-B680572F87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4039" y="269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Oval 37">
                <a:extLst>
                  <a:ext uri="{FF2B5EF4-FFF2-40B4-BE49-F238E27FC236}">
                    <a16:creationId xmlns:a16="http://schemas.microsoft.com/office/drawing/2014/main" id="{052123CD-B7EF-4EE4-8CB6-E863EA6BD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2" y="31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Oval 38">
                <a:extLst>
                  <a:ext uri="{FF2B5EF4-FFF2-40B4-BE49-F238E27FC236}">
                    <a16:creationId xmlns:a16="http://schemas.microsoft.com/office/drawing/2014/main" id="{A7C0F084-87C9-4C45-A337-A13FD1284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2" y="315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9" name="Oval 39">
                <a:extLst>
                  <a:ext uri="{FF2B5EF4-FFF2-40B4-BE49-F238E27FC236}">
                    <a16:creationId xmlns:a16="http://schemas.microsoft.com/office/drawing/2014/main" id="{CDE90145-F6A2-4AB5-A8D1-44DB9F182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8" y="31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0" name="Oval 40">
                <a:extLst>
                  <a:ext uri="{FF2B5EF4-FFF2-40B4-BE49-F238E27FC236}">
                    <a16:creationId xmlns:a16="http://schemas.microsoft.com/office/drawing/2014/main" id="{3900E54E-77B0-436B-BD50-25ABE9EBC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2" y="347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51" name="AutoShape 41">
                <a:extLst>
                  <a:ext uri="{FF2B5EF4-FFF2-40B4-BE49-F238E27FC236}">
                    <a16:creationId xmlns:a16="http://schemas.microsoft.com/office/drawing/2014/main" id="{88159E1D-FB82-488C-8C4E-C2B16CB56AC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91" y="3212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AutoShape 42">
                <a:extLst>
                  <a:ext uri="{FF2B5EF4-FFF2-40B4-BE49-F238E27FC236}">
                    <a16:creationId xmlns:a16="http://schemas.microsoft.com/office/drawing/2014/main" id="{FE961765-63D4-426B-B052-4058BBC612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35" y="317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AutoShape 43">
                <a:extLst>
                  <a:ext uri="{FF2B5EF4-FFF2-40B4-BE49-F238E27FC236}">
                    <a16:creationId xmlns:a16="http://schemas.microsoft.com/office/drawing/2014/main" id="{4EB54AC7-C198-4DFD-B9A4-C7355556FE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539" y="317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4" name="Oval 44">
                <a:extLst>
                  <a:ext uri="{FF2B5EF4-FFF2-40B4-BE49-F238E27FC236}">
                    <a16:creationId xmlns:a16="http://schemas.microsoft.com/office/drawing/2014/main" id="{C2CEAFC3-2577-4BB0-B6C1-91214E4DF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2" y="28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5" name="Oval 45">
                <a:extLst>
                  <a:ext uri="{FF2B5EF4-FFF2-40B4-BE49-F238E27FC236}">
                    <a16:creationId xmlns:a16="http://schemas.microsoft.com/office/drawing/2014/main" id="{FFA16526-2F3C-4173-81C3-7357CD4EA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2" y="285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6" name="Oval 46">
                <a:extLst>
                  <a:ext uri="{FF2B5EF4-FFF2-40B4-BE49-F238E27FC236}">
                    <a16:creationId xmlns:a16="http://schemas.microsoft.com/office/drawing/2014/main" id="{F97964E9-055D-4840-9186-02A466B4B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8" y="28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57" name="AutoShape 47">
                <a:extLst>
                  <a:ext uri="{FF2B5EF4-FFF2-40B4-BE49-F238E27FC236}">
                    <a16:creationId xmlns:a16="http://schemas.microsoft.com/office/drawing/2014/main" id="{BD47E964-928B-4117-868D-2512F3D928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91" y="2573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AutoShape 48">
                <a:extLst>
                  <a:ext uri="{FF2B5EF4-FFF2-40B4-BE49-F238E27FC236}">
                    <a16:creationId xmlns:a16="http://schemas.microsoft.com/office/drawing/2014/main" id="{6F395C9F-57A9-4004-BFAE-091FEA4E6CD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91" y="2912"/>
                <a:ext cx="12" cy="22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9" name="AutoShape 49">
                <a:extLst>
                  <a:ext uri="{FF2B5EF4-FFF2-40B4-BE49-F238E27FC236}">
                    <a16:creationId xmlns:a16="http://schemas.microsoft.com/office/drawing/2014/main" id="{93BE7F4E-E50C-48EA-93B6-9555B580F2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35" y="287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AutoShape 50">
                <a:extLst>
                  <a:ext uri="{FF2B5EF4-FFF2-40B4-BE49-F238E27FC236}">
                    <a16:creationId xmlns:a16="http://schemas.microsoft.com/office/drawing/2014/main" id="{3EE1E8AE-CFA7-4C9D-9447-CF98283361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539" y="287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1" name="Oval 51">
                <a:extLst>
                  <a:ext uri="{FF2B5EF4-FFF2-40B4-BE49-F238E27FC236}">
                    <a16:creationId xmlns:a16="http://schemas.microsoft.com/office/drawing/2014/main" id="{62917E80-1FCE-42B6-99C7-AE3C6049FE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0" y="250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" name="Oval 52">
                <a:extLst>
                  <a:ext uri="{FF2B5EF4-FFF2-40B4-BE49-F238E27FC236}">
                    <a16:creationId xmlns:a16="http://schemas.microsoft.com/office/drawing/2014/main" id="{BB6B2429-5EC2-42D5-ABEC-16981C8E5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0" y="251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" name="Oval 53">
                <a:extLst>
                  <a:ext uri="{FF2B5EF4-FFF2-40B4-BE49-F238E27FC236}">
                    <a16:creationId xmlns:a16="http://schemas.microsoft.com/office/drawing/2014/main" id="{006C665F-DDE0-4958-8223-5C7E763A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6" y="250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4" name="Oval 54">
                <a:extLst>
                  <a:ext uri="{FF2B5EF4-FFF2-40B4-BE49-F238E27FC236}">
                    <a16:creationId xmlns:a16="http://schemas.microsoft.com/office/drawing/2014/main" id="{9280D6A6-D257-441C-9D26-9AD2DF081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3" y="2166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65" name="AutoShape 55">
                <a:extLst>
                  <a:ext uri="{FF2B5EF4-FFF2-40B4-BE49-F238E27FC236}">
                    <a16:creationId xmlns:a16="http://schemas.microsoft.com/office/drawing/2014/main" id="{639A04B0-B891-4C70-B478-BB5FEFBD3F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79" y="2237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AutoShape 56">
                <a:extLst>
                  <a:ext uri="{FF2B5EF4-FFF2-40B4-BE49-F238E27FC236}">
                    <a16:creationId xmlns:a16="http://schemas.microsoft.com/office/drawing/2014/main" id="{34A823C6-8EEE-4935-8F07-272492E6D0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23" y="2540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" name="AutoShape 57">
                <a:extLst>
                  <a:ext uri="{FF2B5EF4-FFF2-40B4-BE49-F238E27FC236}">
                    <a16:creationId xmlns:a16="http://schemas.microsoft.com/office/drawing/2014/main" id="{7DCF4AD7-EDE7-4500-8BE8-87C7BFEC0E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527" y="2540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8" name="Oval 58">
                <a:extLst>
                  <a:ext uri="{FF2B5EF4-FFF2-40B4-BE49-F238E27FC236}">
                    <a16:creationId xmlns:a16="http://schemas.microsoft.com/office/drawing/2014/main" id="{24681A1A-2181-4B95-986F-7BA8FF4B8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8" y="29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9" name="Oval 59">
                <a:extLst>
                  <a:ext uri="{FF2B5EF4-FFF2-40B4-BE49-F238E27FC236}">
                    <a16:creationId xmlns:a16="http://schemas.microsoft.com/office/drawing/2014/main" id="{2095BA2E-D8DA-46CB-85EE-E28746D1F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8" y="297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0" name="Oval 60">
                <a:extLst>
                  <a:ext uri="{FF2B5EF4-FFF2-40B4-BE49-F238E27FC236}">
                    <a16:creationId xmlns:a16="http://schemas.microsoft.com/office/drawing/2014/main" id="{49EB9EA5-0194-4B67-B916-49FBD6CFF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" y="29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" name="Oval 61">
                <a:extLst>
                  <a:ext uri="{FF2B5EF4-FFF2-40B4-BE49-F238E27FC236}">
                    <a16:creationId xmlns:a16="http://schemas.microsoft.com/office/drawing/2014/main" id="{5CEEF520-9C0F-4B3F-8FA8-56994CD90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8" y="329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72" name="AutoShape 62">
                <a:extLst>
                  <a:ext uri="{FF2B5EF4-FFF2-40B4-BE49-F238E27FC236}">
                    <a16:creationId xmlns:a16="http://schemas.microsoft.com/office/drawing/2014/main" id="{F4E22858-EBA2-44D7-A7A3-7CD09738E5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27" y="3032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3" name="AutoShape 63">
                <a:extLst>
                  <a:ext uri="{FF2B5EF4-FFF2-40B4-BE49-F238E27FC236}">
                    <a16:creationId xmlns:a16="http://schemas.microsoft.com/office/drawing/2014/main" id="{2F6C25B9-2A7D-4C29-B64A-0C46538127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71" y="299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4" name="AutoShape 64">
                <a:extLst>
                  <a:ext uri="{FF2B5EF4-FFF2-40B4-BE49-F238E27FC236}">
                    <a16:creationId xmlns:a16="http://schemas.microsoft.com/office/drawing/2014/main" id="{883100D5-68A9-4234-9382-665D3D921DA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075" y="299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5" name="Oval 65">
                <a:extLst>
                  <a:ext uri="{FF2B5EF4-FFF2-40B4-BE49-F238E27FC236}">
                    <a16:creationId xmlns:a16="http://schemas.microsoft.com/office/drawing/2014/main" id="{9AA20A2C-BB11-402E-B36B-FA96CDA59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8" y="26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6" name="Oval 66">
                <a:extLst>
                  <a:ext uri="{FF2B5EF4-FFF2-40B4-BE49-F238E27FC236}">
                    <a16:creationId xmlns:a16="http://schemas.microsoft.com/office/drawing/2014/main" id="{81096511-D3FD-474F-A92A-48E2D85AA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78" y="267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7" name="Oval 67">
                <a:extLst>
                  <a:ext uri="{FF2B5EF4-FFF2-40B4-BE49-F238E27FC236}">
                    <a16:creationId xmlns:a16="http://schemas.microsoft.com/office/drawing/2014/main" id="{FCE5E681-607C-43B7-AA49-D9AEE37C36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" y="266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78" name="AutoShape 68">
                <a:extLst>
                  <a:ext uri="{FF2B5EF4-FFF2-40B4-BE49-F238E27FC236}">
                    <a16:creationId xmlns:a16="http://schemas.microsoft.com/office/drawing/2014/main" id="{0CF8DCAF-2244-4972-B9AC-1EE62CF22A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27" y="2393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AutoShape 69">
                <a:extLst>
                  <a:ext uri="{FF2B5EF4-FFF2-40B4-BE49-F238E27FC236}">
                    <a16:creationId xmlns:a16="http://schemas.microsoft.com/office/drawing/2014/main" id="{37C48CFD-F061-46DB-B6A9-F9F2A7CBC5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27" y="2732"/>
                <a:ext cx="12" cy="22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AutoShape 70">
                <a:extLst>
                  <a:ext uri="{FF2B5EF4-FFF2-40B4-BE49-F238E27FC236}">
                    <a16:creationId xmlns:a16="http://schemas.microsoft.com/office/drawing/2014/main" id="{C2EA9072-7877-4928-ACEC-1773CDA767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71" y="269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AutoShape 71">
                <a:extLst>
                  <a:ext uri="{FF2B5EF4-FFF2-40B4-BE49-F238E27FC236}">
                    <a16:creationId xmlns:a16="http://schemas.microsoft.com/office/drawing/2014/main" id="{43C5C7F3-4379-4EAE-887D-C73711DFC7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075" y="269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" name="Oval 72">
                <a:extLst>
                  <a:ext uri="{FF2B5EF4-FFF2-40B4-BE49-F238E27FC236}">
                    <a16:creationId xmlns:a16="http://schemas.microsoft.com/office/drawing/2014/main" id="{19DC0B2C-6147-49EE-8D49-60073064A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6" y="232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3" name="Oval 73">
                <a:extLst>
                  <a:ext uri="{FF2B5EF4-FFF2-40B4-BE49-F238E27FC236}">
                    <a16:creationId xmlns:a16="http://schemas.microsoft.com/office/drawing/2014/main" id="{A2F3264B-E1DA-4804-B8EE-C1D2EEBDA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6" y="233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4" name="Oval 74">
                <a:extLst>
                  <a:ext uri="{FF2B5EF4-FFF2-40B4-BE49-F238E27FC236}">
                    <a16:creationId xmlns:a16="http://schemas.microsoft.com/office/drawing/2014/main" id="{A2872DA1-AD2D-4BEA-B421-D056A03E7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2" y="232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" name="Oval 75">
                <a:extLst>
                  <a:ext uri="{FF2B5EF4-FFF2-40B4-BE49-F238E27FC236}">
                    <a16:creationId xmlns:a16="http://schemas.microsoft.com/office/drawing/2014/main" id="{DABDBA2B-0609-478D-8E55-D025DC2FA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9" y="1986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86" name="AutoShape 76">
                <a:extLst>
                  <a:ext uri="{FF2B5EF4-FFF2-40B4-BE49-F238E27FC236}">
                    <a16:creationId xmlns:a16="http://schemas.microsoft.com/office/drawing/2014/main" id="{52219103-FE1A-46BE-BE6F-C1A89180B8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15" y="2057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7" name="AutoShape 77">
                <a:extLst>
                  <a:ext uri="{FF2B5EF4-FFF2-40B4-BE49-F238E27FC236}">
                    <a16:creationId xmlns:a16="http://schemas.microsoft.com/office/drawing/2014/main" id="{3BA36A15-A632-49FB-A83B-BDD53309191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59" y="2360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AutoShape 78">
                <a:extLst>
                  <a:ext uri="{FF2B5EF4-FFF2-40B4-BE49-F238E27FC236}">
                    <a16:creationId xmlns:a16="http://schemas.microsoft.com/office/drawing/2014/main" id="{C37741F8-C23A-4A0E-AE50-F047E871D9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063" y="2360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9" name="Oval 79">
                <a:extLst>
                  <a:ext uri="{FF2B5EF4-FFF2-40B4-BE49-F238E27FC236}">
                    <a16:creationId xmlns:a16="http://schemas.microsoft.com/office/drawing/2014/main" id="{CEE2850A-A775-454B-B002-2AF3ED738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" y="329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0" name="Oval 80">
                <a:extLst>
                  <a:ext uri="{FF2B5EF4-FFF2-40B4-BE49-F238E27FC236}">
                    <a16:creationId xmlns:a16="http://schemas.microsoft.com/office/drawing/2014/main" id="{4869216F-C4C1-4921-AB83-1D3D8A26C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0" y="3309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1" name="Oval 81">
                <a:extLst>
                  <a:ext uri="{FF2B5EF4-FFF2-40B4-BE49-F238E27FC236}">
                    <a16:creationId xmlns:a16="http://schemas.microsoft.com/office/drawing/2014/main" id="{CF5450B2-E8D7-4928-B1BB-094B3B9D0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6" y="329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" name="Oval 82">
                <a:extLst>
                  <a:ext uri="{FF2B5EF4-FFF2-40B4-BE49-F238E27FC236}">
                    <a16:creationId xmlns:a16="http://schemas.microsoft.com/office/drawing/2014/main" id="{F2F19010-6C8F-4218-80D0-A682869F9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0" y="362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93" name="AutoShape 83">
                <a:extLst>
                  <a:ext uri="{FF2B5EF4-FFF2-40B4-BE49-F238E27FC236}">
                    <a16:creationId xmlns:a16="http://schemas.microsoft.com/office/drawing/2014/main" id="{1A6383CE-C3A0-4472-A69C-049852BC8C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39" y="3368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AutoShape 84">
                <a:extLst>
                  <a:ext uri="{FF2B5EF4-FFF2-40B4-BE49-F238E27FC236}">
                    <a16:creationId xmlns:a16="http://schemas.microsoft.com/office/drawing/2014/main" id="{3C36BF44-2732-4DA5-AA80-C8EB159793C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83" y="3332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5" name="AutoShape 85">
                <a:extLst>
                  <a:ext uri="{FF2B5EF4-FFF2-40B4-BE49-F238E27FC236}">
                    <a16:creationId xmlns:a16="http://schemas.microsoft.com/office/drawing/2014/main" id="{8FDA3465-39E7-40B6-87CD-F523E61548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087" y="3332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6" name="Oval 86">
                <a:extLst>
                  <a:ext uri="{FF2B5EF4-FFF2-40B4-BE49-F238E27FC236}">
                    <a16:creationId xmlns:a16="http://schemas.microsoft.com/office/drawing/2014/main" id="{6034E404-6961-4DF2-85B1-FE032A3FE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6" y="332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7" name="Oval 87">
                <a:extLst>
                  <a:ext uri="{FF2B5EF4-FFF2-40B4-BE49-F238E27FC236}">
                    <a16:creationId xmlns:a16="http://schemas.microsoft.com/office/drawing/2014/main" id="{49544CA7-BC7A-4C85-95CC-01A8602A3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6" y="333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8" name="Oval 88">
                <a:extLst>
                  <a:ext uri="{FF2B5EF4-FFF2-40B4-BE49-F238E27FC236}">
                    <a16:creationId xmlns:a16="http://schemas.microsoft.com/office/drawing/2014/main" id="{2DC1C51A-E242-46B9-A3A1-F8971625D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2" y="332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9" name="Oval 89">
                <a:extLst>
                  <a:ext uri="{FF2B5EF4-FFF2-40B4-BE49-F238E27FC236}">
                    <a16:creationId xmlns:a16="http://schemas.microsoft.com/office/drawing/2014/main" id="{FCF01005-288A-4EF0-A06E-04479FFF78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6" y="365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00" name="AutoShape 90">
                <a:extLst>
                  <a:ext uri="{FF2B5EF4-FFF2-40B4-BE49-F238E27FC236}">
                    <a16:creationId xmlns:a16="http://schemas.microsoft.com/office/drawing/2014/main" id="{C987EB53-1C1F-454E-9088-B6621B4E8E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75" y="3392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AutoShape 91">
                <a:extLst>
                  <a:ext uri="{FF2B5EF4-FFF2-40B4-BE49-F238E27FC236}">
                    <a16:creationId xmlns:a16="http://schemas.microsoft.com/office/drawing/2014/main" id="{AB90C3CE-5737-4E4F-89A5-E73ABB2813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19" y="3356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AutoShape 92">
                <a:extLst>
                  <a:ext uri="{FF2B5EF4-FFF2-40B4-BE49-F238E27FC236}">
                    <a16:creationId xmlns:a16="http://schemas.microsoft.com/office/drawing/2014/main" id="{28E417FB-7A04-4408-91A5-4B825DA5C6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623" y="335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3" name="Oval 93">
                <a:extLst>
                  <a:ext uri="{FF2B5EF4-FFF2-40B4-BE49-F238E27FC236}">
                    <a16:creationId xmlns:a16="http://schemas.microsoft.com/office/drawing/2014/main" id="{5831A305-936A-4FCB-B036-E4C93E28D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6" y="28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/>
              </a:p>
            </p:txBody>
          </p:sp>
          <p:sp>
            <p:nvSpPr>
              <p:cNvPr id="104" name="Oval 94">
                <a:extLst>
                  <a:ext uri="{FF2B5EF4-FFF2-40B4-BE49-F238E27FC236}">
                    <a16:creationId xmlns:a16="http://schemas.microsoft.com/office/drawing/2014/main" id="{7D8195CF-D187-45A5-9067-60B474ADC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2" y="2841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05" name="AutoShape 95">
                <a:extLst>
                  <a:ext uri="{FF2B5EF4-FFF2-40B4-BE49-F238E27FC236}">
                    <a16:creationId xmlns:a16="http://schemas.microsoft.com/office/drawing/2014/main" id="{568B2952-C186-44D8-8FC8-2935EC520A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63" y="2372"/>
                <a:ext cx="0" cy="48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6" name="AutoShape 96">
                <a:extLst>
                  <a:ext uri="{FF2B5EF4-FFF2-40B4-BE49-F238E27FC236}">
                    <a16:creationId xmlns:a16="http://schemas.microsoft.com/office/drawing/2014/main" id="{39E21E0D-C41C-4059-AE62-48E754CB9F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75" y="2912"/>
                <a:ext cx="0" cy="40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AutoShape 97">
                <a:extLst>
                  <a:ext uri="{FF2B5EF4-FFF2-40B4-BE49-F238E27FC236}">
                    <a16:creationId xmlns:a16="http://schemas.microsoft.com/office/drawing/2014/main" id="{C98456F5-A067-44CC-90DC-512C8CBC1A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19" y="2876"/>
                <a:ext cx="532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" name="AutoShape 98">
                <a:extLst>
                  <a:ext uri="{FF2B5EF4-FFF2-40B4-BE49-F238E27FC236}">
                    <a16:creationId xmlns:a16="http://schemas.microsoft.com/office/drawing/2014/main" id="{9F32CAC9-E91F-40F9-A8BB-F7C7164D4E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623" y="2876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9" name="Oval 99">
                <a:extLst>
                  <a:ext uri="{FF2B5EF4-FFF2-40B4-BE49-F238E27FC236}">
                    <a16:creationId xmlns:a16="http://schemas.microsoft.com/office/drawing/2014/main" id="{AC651C5E-3496-4CFA-B7DC-98AB1913C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4" y="232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0" name="Oval 100">
                <a:extLst>
                  <a:ext uri="{FF2B5EF4-FFF2-40B4-BE49-F238E27FC236}">
                    <a16:creationId xmlns:a16="http://schemas.microsoft.com/office/drawing/2014/main" id="{EC9136D4-0DA1-4B89-B292-B0C0A73BB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4" y="2337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1" name="Oval 101">
                <a:extLst>
                  <a:ext uri="{FF2B5EF4-FFF2-40B4-BE49-F238E27FC236}">
                    <a16:creationId xmlns:a16="http://schemas.microsoft.com/office/drawing/2014/main" id="{F9359EDC-C250-4170-8669-F7EB7B312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0" y="232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2" name="Oval 102">
                <a:extLst>
                  <a:ext uri="{FF2B5EF4-FFF2-40B4-BE49-F238E27FC236}">
                    <a16:creationId xmlns:a16="http://schemas.microsoft.com/office/drawing/2014/main" id="{257F1EAE-29AB-412B-8FB4-17DA6E2D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7" y="1986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13" name="AutoShape 103">
                <a:extLst>
                  <a:ext uri="{FF2B5EF4-FFF2-40B4-BE49-F238E27FC236}">
                    <a16:creationId xmlns:a16="http://schemas.microsoft.com/office/drawing/2014/main" id="{EF6B39A8-C4AD-420C-8A25-37488E2D21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63" y="2057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4" name="AutoShape 104">
                <a:extLst>
                  <a:ext uri="{FF2B5EF4-FFF2-40B4-BE49-F238E27FC236}">
                    <a16:creationId xmlns:a16="http://schemas.microsoft.com/office/drawing/2014/main" id="{19B4D2DF-969E-4A21-A7B1-51247F5949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07" y="2360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" name="AutoShape 105">
                <a:extLst>
                  <a:ext uri="{FF2B5EF4-FFF2-40B4-BE49-F238E27FC236}">
                    <a16:creationId xmlns:a16="http://schemas.microsoft.com/office/drawing/2014/main" id="{92FCD08C-0395-47C1-BAB0-AFAA7EB39F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611" y="2360"/>
                <a:ext cx="340" cy="7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6" name="Oval 106">
                <a:extLst>
                  <a:ext uri="{FF2B5EF4-FFF2-40B4-BE49-F238E27FC236}">
                    <a16:creationId xmlns:a16="http://schemas.microsoft.com/office/drawing/2014/main" id="{ACBC87A3-6FFC-46CE-8160-CDE57CEF03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8" y="2865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7" name="Oval 107">
                <a:extLst>
                  <a:ext uri="{FF2B5EF4-FFF2-40B4-BE49-F238E27FC236}">
                    <a16:creationId xmlns:a16="http://schemas.microsoft.com/office/drawing/2014/main" id="{C73A790F-08DE-4DC3-ABA3-7CCB1EEA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4" y="285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8" name="Oval 108">
                <a:extLst>
                  <a:ext uri="{FF2B5EF4-FFF2-40B4-BE49-F238E27FC236}">
                    <a16:creationId xmlns:a16="http://schemas.microsoft.com/office/drawing/2014/main" id="{5F1B35D2-944A-4FC0-996C-CC904B1BD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" y="2514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9" name="Oval 109">
                <a:extLst>
                  <a:ext uri="{FF2B5EF4-FFF2-40B4-BE49-F238E27FC236}">
                    <a16:creationId xmlns:a16="http://schemas.microsoft.com/office/drawing/2014/main" id="{590EA044-EB53-44B8-8007-A77DE880E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8" y="3183"/>
                <a:ext cx="77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120" name="AutoShape 110">
                <a:extLst>
                  <a:ext uri="{FF2B5EF4-FFF2-40B4-BE49-F238E27FC236}">
                    <a16:creationId xmlns:a16="http://schemas.microsoft.com/office/drawing/2014/main" id="{66B0A6DE-4873-44A2-9289-6097B1AEA1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87" y="2585"/>
                <a:ext cx="12" cy="268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1" name="AutoShape 111">
                <a:extLst>
                  <a:ext uri="{FF2B5EF4-FFF2-40B4-BE49-F238E27FC236}">
                    <a16:creationId xmlns:a16="http://schemas.microsoft.com/office/drawing/2014/main" id="{1AA33041-3FEC-4201-8E75-2B96163A8AA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87" y="2924"/>
                <a:ext cx="0" cy="259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2" name="AutoShape 112">
                <a:extLst>
                  <a:ext uri="{FF2B5EF4-FFF2-40B4-BE49-F238E27FC236}">
                    <a16:creationId xmlns:a16="http://schemas.microsoft.com/office/drawing/2014/main" id="{BAC62112-E1F4-41DF-A212-29CA2B7BE7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631" y="2888"/>
                <a:ext cx="324" cy="12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" name="Text Box 3">
              <a:extLst>
                <a:ext uri="{FF2B5EF4-FFF2-40B4-BE49-F238E27FC236}">
                  <a16:creationId xmlns:a16="http://schemas.microsoft.com/office/drawing/2014/main" id="{21818834-7D8A-4969-9C49-60C32FB41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5500702"/>
              <a:ext cx="928694" cy="42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乙烷</a:t>
              </a:r>
              <a:endPara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3">
              <a:extLst>
                <a:ext uri="{FF2B5EF4-FFF2-40B4-BE49-F238E27FC236}">
                  <a16:creationId xmlns:a16="http://schemas.microsoft.com/office/drawing/2014/main" id="{6630BB69-42B7-421A-8EEA-698AE6F28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058" y="5500702"/>
              <a:ext cx="928694" cy="42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丙烷</a:t>
              </a:r>
              <a:endPara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2D12ACE5-CB24-44CC-91A4-839454073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5500702"/>
              <a:ext cx="928694" cy="42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丁烷</a:t>
              </a:r>
              <a:endPara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3">
              <a:extLst>
                <a:ext uri="{FF2B5EF4-FFF2-40B4-BE49-F238E27FC236}">
                  <a16:creationId xmlns:a16="http://schemas.microsoft.com/office/drawing/2014/main" id="{DBAED01D-EA09-45BE-8FF7-0581037E4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5500702"/>
              <a:ext cx="1071570" cy="42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异丁烷</a:t>
              </a:r>
              <a:endPara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3" name="文本框 122">
            <a:extLst>
              <a:ext uri="{FF2B5EF4-FFF2-40B4-BE49-F238E27FC236}">
                <a16:creationId xmlns:a16="http://schemas.microsoft.com/office/drawing/2014/main" id="{653AD045-C2A6-4B13-BF8E-C6600C8F3D5C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033CAE2-8E2C-4A49-B699-FAA91CDD3256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66FA4AF-9AB4-41E8-B79D-486CCE20F10E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CCB8A10-9A6D-4E94-AAE5-850AD8D95D14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19509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060384B-76AB-43B4-8742-DBECBC707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1851843"/>
            <a:ext cx="11224493" cy="61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7.1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latin typeface="Times New Roman" panose="02020603050405020304" pitchFamily="18" charset="0"/>
              </a:rPr>
              <a:t>=&lt;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i="1" kern="0" dirty="0">
                <a:latin typeface="Times New Roman" panose="02020603050405020304" pitchFamily="18" charset="0"/>
              </a:rPr>
              <a:t>n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lang="en-US" altLang="zh-CN" i="1" kern="0" dirty="0">
                <a:latin typeface="Times New Roman" panose="02020603050405020304" pitchFamily="18" charset="0"/>
              </a:rPr>
              <a:t>m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条边的无向图，则下面各命题是等价的：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1C4EB34C-47A2-469B-9E62-CD1430D70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2431642"/>
            <a:ext cx="1122449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(1)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是树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（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无回路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  <a:endParaRPr lang="zh-CN" altLang="en-US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48CAF9E-4E2C-4ADB-BF9C-91B77BED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2955517"/>
            <a:ext cx="1122449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(2)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中任意两个顶点之间存在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唯一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（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无回路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）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路径（连通）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B079E8F4-3248-47BE-8E9F-AAE8FD194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3460342"/>
            <a:ext cx="1122449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(3)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无回路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m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=</a:t>
            </a:r>
            <a:r>
              <a:rPr lang="en-US" altLang="zh-CN" i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（边不少）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 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931FBF7-5F78-4107-B9F5-447FC7B29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4020730"/>
            <a:ext cx="1122449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(4)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m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=</a:t>
            </a:r>
            <a:r>
              <a:rPr lang="en-US" altLang="zh-CN" i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（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边不多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68EB579D-4B20-470F-8DA1-C3B18E605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4612867"/>
            <a:ext cx="1122449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(5)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任何边均为桥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（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边不多</a:t>
            </a:r>
            <a:r>
              <a:rPr lang="zh-CN" altLang="en-US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</a:rPr>
              <a:t>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FCEC435-A3D4-4B4F-B62B-1BAA44FD6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99" y="5203417"/>
            <a:ext cx="11224493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(6)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 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无回路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，但在任何两个不同的顶点之间加一条新边，在所得图中得到惟一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一个含新边的圈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（连通）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6C1244-45E2-4D26-AE34-D6910D8E52B3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6B6A67-2888-4490-9518-6E3AFCC6AA6D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995BA0-20B6-44A5-BCB2-AC025D401F4D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B571D4-5E0D-4C71-91CB-3E4078629DD9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85951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CDDB490F-6FC8-4FDA-92B0-9E6402731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93" y="1702153"/>
            <a:ext cx="11658600" cy="120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无向树的性质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阶非平凡的无向树，则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中至少有两片树叶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AB68C6E3-5CEA-4998-B7A2-BB04B5051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79" y="3192533"/>
            <a:ext cx="11658600" cy="183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 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片树叶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由握手定理及前面的定理，</a:t>
            </a:r>
          </a:p>
          <a:p>
            <a:pPr algn="just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-1)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</a:p>
          <a:p>
            <a:pPr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解得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4B5774-5C80-42A0-86A6-C03CB6ED3C14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64C4E6-DA13-414E-BF30-20C96EC44482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C6F97B-3396-4ADC-BE98-8E3768167ED3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23B4DD-FD34-4E9F-A089-D24DCB15448E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424452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977A728-87DD-42E3-89CA-3752C38FC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31" y="1783480"/>
            <a:ext cx="11388396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例 已知无向树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度顶点，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度顶点，其余顶点全是树叶，试求树叶数，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并画出满足要求的非同构的无向树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409327A-C350-49BC-97C2-6BE87F26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72" y="2972696"/>
            <a:ext cx="7420416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树的性质</a:t>
            </a:r>
            <a:r>
              <a:rPr lang="zh-CN" altLang="zh-CN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=</a:t>
            </a:r>
            <a:r>
              <a:rPr lang="zh-CN" altLang="zh-CN" i="1" dirty="0">
                <a:solidFill>
                  <a:srgbClr val="992677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设有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片树叶，于是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1+2+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3+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2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2(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1) = 2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= 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3+2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2+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zh-CN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1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解出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，故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片树叶.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C6C18143-6215-4119-8892-B63F516FD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5029527"/>
            <a:ext cx="7761287" cy="127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的度数列应为 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3, 2, 2, 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1, 1, 1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易知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度顶点与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度顶点相邻与和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度顶点均相邻是非同构的，因而有</a:t>
            </a:r>
            <a:r>
              <a:rPr lang="zh-CN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棵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非同构的无向树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，如图所示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 </a:t>
            </a:r>
          </a:p>
        </p:txBody>
      </p:sp>
      <p:pic>
        <p:nvPicPr>
          <p:cNvPr id="21" name="Picture 6" descr="16-2">
            <a:extLst>
              <a:ext uri="{FF2B5EF4-FFF2-40B4-BE49-F238E27FC236}">
                <a16:creationId xmlns:a16="http://schemas.microsoft.com/office/drawing/2014/main" id="{31BEA527-FA0F-44EF-BB81-1227D3DD1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67"/>
          <a:stretch>
            <a:fillRect/>
          </a:stretch>
        </p:blipFill>
        <p:spPr bwMode="auto">
          <a:xfrm>
            <a:off x="8596641" y="4134567"/>
            <a:ext cx="3167063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CF78475-099F-45E0-B3F3-2A012070C33A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563021-098D-4A58-A4FA-0F2B3B729428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01CAEC-CE1B-48CC-9845-2EED001BFB19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9D4A9B-B05D-4FCD-B796-68698013E9B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154556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6177C43D-38A9-40D7-BE40-E8A0035AA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3" y="1891897"/>
            <a:ext cx="11205713" cy="1390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已知无向树</a:t>
            </a: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片树叶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其余顶点的度数均为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阶数</a:t>
            </a: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并画出满足要求的所有非同构的无向树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i="1" kern="0" dirty="0">
              <a:latin typeface="Times New Roman" panose="02020603050405020304" pitchFamily="18" charset="0"/>
            </a:endParaRPr>
          </a:p>
        </p:txBody>
      </p:sp>
      <p:pic>
        <p:nvPicPr>
          <p:cNvPr id="26" name="Picture 5" descr="16-3">
            <a:extLst>
              <a:ext uri="{FF2B5EF4-FFF2-40B4-BE49-F238E27FC236}">
                <a16:creationId xmlns:a16="http://schemas.microsoft.com/office/drawing/2014/main" id="{550CB5AA-8A99-43D1-A21C-E1673FFF2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61" b="53911"/>
          <a:stretch>
            <a:fillRect/>
          </a:stretch>
        </p:blipFill>
        <p:spPr bwMode="auto">
          <a:xfrm>
            <a:off x="8225706" y="4589329"/>
            <a:ext cx="9937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5">
            <a:extLst>
              <a:ext uri="{FF2B5EF4-FFF2-40B4-BE49-F238E27FC236}">
                <a16:creationId xmlns:a16="http://schemas.microsoft.com/office/drawing/2014/main" id="{AC7D8789-8DA6-4CAE-B1FB-099ADAAA8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63" y="3302016"/>
            <a:ext cx="1088060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 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的阶数为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则边数为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度顶点的个数为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由握手定理得</a:t>
            </a:r>
          </a:p>
          <a:p>
            <a:pPr algn="just"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=2(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)=5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1+4(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解得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=8,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度顶点为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0C805D3F-4A8D-4D0A-AF7C-627350C40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5" y="5371396"/>
            <a:ext cx="414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的度数列为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1,1,1,1,1,2,3,4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7D76BEAE-FBE6-43F0-92F7-697396641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5" y="5977821"/>
            <a:ext cx="385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棵非同构的无向树 </a:t>
            </a:r>
          </a:p>
        </p:txBody>
      </p:sp>
      <p:pic>
        <p:nvPicPr>
          <p:cNvPr id="30" name="Picture 5" descr="16-3">
            <a:extLst>
              <a:ext uri="{FF2B5EF4-FFF2-40B4-BE49-F238E27FC236}">
                <a16:creationId xmlns:a16="http://schemas.microsoft.com/office/drawing/2014/main" id="{CA68267B-64FA-47CB-9655-F8EA53D38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1" r="41948" b="52252"/>
          <a:stretch>
            <a:fillRect/>
          </a:stretch>
        </p:blipFill>
        <p:spPr bwMode="auto">
          <a:xfrm>
            <a:off x="9219481" y="4594092"/>
            <a:ext cx="128587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5" descr="16-3">
            <a:extLst>
              <a:ext uri="{FF2B5EF4-FFF2-40B4-BE49-F238E27FC236}">
                <a16:creationId xmlns:a16="http://schemas.microsoft.com/office/drawing/2014/main" id="{BE27A4A5-7FCC-4385-9C92-D0193C36A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8" r="59686" b="52126"/>
          <a:stretch>
            <a:fillRect/>
          </a:stretch>
        </p:blipFill>
        <p:spPr bwMode="auto">
          <a:xfrm>
            <a:off x="10576794" y="4594092"/>
            <a:ext cx="100012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CABF6BC-6D2C-46F9-87E8-771AD2F297C5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CEBDAE-ED52-48BA-9013-E4C19CC11901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B8BA56-1D40-4B50-ADA6-DE6336C089F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0996F3-C3D0-4B84-B61A-67971A2B7364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41975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D7EF6A09-F5AE-4ADD-995F-5F85BEFF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212" y="5796857"/>
            <a:ext cx="67104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8096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余树一般不是树；</a:t>
            </a:r>
            <a:r>
              <a:rPr lang="zh-CN" altLang="zh-CN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不一定连通，也不一定不含回路，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78E258DD-B3E3-4A7F-B6AF-2A6ACE83C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590660"/>
            <a:ext cx="8714200" cy="256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77813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tabLst>
                <a:tab pos="228600" algn="l"/>
                <a:tab pos="3429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3429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277813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342900" algn="l"/>
              </a:tabLst>
              <a:defRPr/>
            </a:pP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.2 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为无向图</a:t>
            </a:r>
          </a:p>
          <a:p>
            <a:pPr marL="0" marR="0" lvl="0" indent="277813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342900" algn="l"/>
              </a:tabLst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(1) 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G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——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G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的子图并且是树</a:t>
            </a:r>
          </a:p>
          <a:p>
            <a:pPr marL="0" marR="0" lvl="0" indent="277813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342900" algn="l"/>
              </a:tabLst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(2) 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G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生成树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——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G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生成子图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并且是树</a:t>
            </a:r>
          </a:p>
          <a:p>
            <a:pPr marL="0" marR="0" lvl="0" indent="277813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342900" algn="l"/>
              </a:tabLst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(3)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生成树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树枝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——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中的边</a:t>
            </a:r>
          </a:p>
          <a:p>
            <a:pPr marL="0" marR="0" lvl="0" indent="277813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  <a:tab pos="342900" algn="l"/>
              </a:tabLst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(4)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生成树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200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——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不在</a:t>
            </a:r>
            <a:r>
              <a:rPr kumimoji="0" lang="zh-CN" altLang="en-US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中的边</a:t>
            </a:r>
          </a:p>
        </p:txBody>
      </p:sp>
      <p:pic>
        <p:nvPicPr>
          <p:cNvPr id="36" name="Picture 9" descr="16-4">
            <a:extLst>
              <a:ext uri="{FF2B5EF4-FFF2-40B4-BE49-F238E27FC236}">
                <a16:creationId xmlns:a16="http://schemas.microsoft.com/office/drawing/2014/main" id="{E5305DC6-661B-4FAB-B528-4D156BAB4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8" b="30458"/>
          <a:stretch>
            <a:fillRect/>
          </a:stretch>
        </p:blipFill>
        <p:spPr bwMode="auto">
          <a:xfrm>
            <a:off x="8065438" y="2744050"/>
            <a:ext cx="3680568" cy="1727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E1BF234-D7E9-4E03-8376-F6C6BC232C32}"/>
              </a:ext>
            </a:extLst>
          </p:cNvPr>
          <p:cNvGrpSpPr/>
          <p:nvPr/>
        </p:nvGrpSpPr>
        <p:grpSpPr>
          <a:xfrm>
            <a:off x="379600" y="4322299"/>
            <a:ext cx="8714200" cy="434350"/>
            <a:chOff x="4877641" y="4913961"/>
            <a:chExt cx="8714200" cy="434350"/>
          </a:xfrm>
        </p:grpSpPr>
        <p:graphicFrame>
          <p:nvGraphicFramePr>
            <p:cNvPr id="35" name="Object 7">
              <a:extLst>
                <a:ext uri="{FF2B5EF4-FFF2-40B4-BE49-F238E27FC236}">
                  <a16:creationId xmlns:a16="http://schemas.microsoft.com/office/drawing/2014/main" id="{377B7995-B328-41CE-829A-A394F933DD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925641"/>
                </p:ext>
              </p:extLst>
            </p:nvPr>
          </p:nvGraphicFramePr>
          <p:xfrm>
            <a:off x="8173084" y="4923031"/>
            <a:ext cx="336280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3064" imgH="204086" progId="Equation.3">
                    <p:embed/>
                  </p:oleObj>
                </mc:Choice>
                <mc:Fallback>
                  <p:oleObj r:id="rId4" imgW="153064" imgH="204086" progId="Equation.3">
                    <p:embed/>
                    <p:pic>
                      <p:nvPicPr>
                        <p:cNvPr id="35" name="Object 7">
                          <a:extLst>
                            <a:ext uri="{FF2B5EF4-FFF2-40B4-BE49-F238E27FC236}">
                              <a16:creationId xmlns:a16="http://schemas.microsoft.com/office/drawing/2014/main" id="{377B7995-B328-41CE-829A-A394F933DD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3084" y="4923031"/>
                          <a:ext cx="336280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7A653FBB-3213-4EC3-A1FE-EAF08F35B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7641" y="4913961"/>
              <a:ext cx="8714200" cy="43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indent="277813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Char char="•"/>
                <a:tabLst>
                  <a:tab pos="228600" algn="l"/>
                  <a:tab pos="3429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228600" algn="l"/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277813" defTabSz="91440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28600" algn="l"/>
                  <a:tab pos="342900" algn="l"/>
                </a:tabLst>
                <a:defRPr/>
              </a:pPr>
              <a:r>
                <a:rPr lang="zh-CN" altLang="en-US" sz="2200" kern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(5)</a:t>
              </a:r>
              <a:r>
                <a:rPr lang="zh-CN" altLang="en-US" sz="2200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生成树</a:t>
              </a:r>
              <a:r>
                <a:rPr kumimoji="0" lang="zh-CN" altLang="en-US" sz="22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</a:t>
              </a:r>
              <a:r>
                <a:rPr lang="zh-CN" altLang="en-US" sz="2200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en-US" sz="2200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余树</a:t>
              </a:r>
              <a:r>
                <a:rPr kumimoji="0" lang="zh-CN" alt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</a:t>
              </a:r>
              <a:r>
                <a:rPr kumimoji="0" lang="zh-CN" alt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——      </a:t>
              </a:r>
              <a:r>
                <a:rPr lang="zh-CN" altLang="en-US" sz="2200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全体弦组成的集合的导出子图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4EFEAD6-2D26-4923-8176-646BA35F10B0}"/>
              </a:ext>
            </a:extLst>
          </p:cNvPr>
          <p:cNvSpPr txBox="1"/>
          <p:nvPr/>
        </p:nvSpPr>
        <p:spPr>
          <a:xfrm>
            <a:off x="835399" y="5234506"/>
            <a:ext cx="6094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余树是树吗？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7B1320B-7D10-4BF9-8B43-174FC859D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94" y="6278710"/>
            <a:ext cx="47243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8096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一个连通图可以有多个不同的生成树</a:t>
            </a:r>
            <a:endParaRPr lang="zh-CN" altLang="zh-CN" sz="2200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A8996F8-996F-4CCD-BE71-4AD2BDCA6D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406" y="4995790"/>
            <a:ext cx="4484594" cy="178826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91A3F81-CE0B-43F4-8226-74ECA54D0DA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64E81C5-FE81-4C36-8FE3-33A6EBFFB7C2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C89F9B-7566-43A0-8C98-3E3860C6AD86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F84F66E-7C73-4ECA-A63A-382A7B117E18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62105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5F0B668-A95E-45C5-B96A-417BE9841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916113"/>
            <a:ext cx="10942009" cy="143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7.3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生成树存在条件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kern="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400" b="1" kern="0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任何无向连通图都有生成树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9229B81-C57C-45C0-81A1-C0D2F6E54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12" y="5294782"/>
            <a:ext cx="10959729" cy="635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阶无向连通图有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A434B18-F7E2-4623-8A83-F1C4A58FF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09" y="3258576"/>
            <a:ext cx="10942009" cy="15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证 用破圈法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若图中无圈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则图本身就是自己的生成树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   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否则删去圈上的任一条边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这不破坏连通性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重复进行直到无圈为止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剩下的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图是一棵生成树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2B41AD-D940-44DB-8A81-B9C198A0DB36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91F3DE-E43C-421A-8B12-761FB57DCD54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6CDA4F-5E39-40DF-B4E5-F814A24EBB1D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E62985-81C6-461E-B322-6EACF51BF12C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399868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4A1C0A-6611-4351-914E-859A1FBD5773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6CBECC-1755-4C45-A03C-BCA24082F965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A076ED-8255-4342-9899-58CAD121A3ED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D2B2D1-4BF8-4722-B7C0-318D14BE1AA3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6DBD54-B474-41DB-9580-47E0C7ABDFAB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1654832"/>
            <a:ext cx="10967888" cy="2053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7.3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是连通图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的一棵生成树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对每一条弦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存在惟一的由弦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的树枝构成的初级回路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为对应于弦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基本回路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称所有基本回路的集合为对应生成树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基本回路系统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14" name="Picture 6" descr="16-5">
            <a:extLst>
              <a:ext uri="{FF2B5EF4-FFF2-40B4-BE49-F238E27FC236}">
                <a16:creationId xmlns:a16="http://schemas.microsoft.com/office/drawing/2014/main" id="{1037A41E-55D3-4392-A2B0-417726AFD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7556170" y="4546268"/>
            <a:ext cx="2741612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44E01335-FF22-46DB-BD6F-24291494B38A}"/>
              </a:ext>
            </a:extLst>
          </p:cNvPr>
          <p:cNvSpPr txBox="1">
            <a:spLocks noChangeArrowheads="1"/>
          </p:cNvSpPr>
          <p:nvPr/>
        </p:nvSpPr>
        <p:spPr>
          <a:xfrm>
            <a:off x="554127" y="4101847"/>
            <a:ext cx="10967888" cy="19360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求基本回路的算法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设弦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的路径</a:t>
            </a:r>
            <a:r>
              <a:rPr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uv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再加上弦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lang="en-US" altLang="zh-CN" sz="2400" b="1" dirty="0">
                <a:latin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}. </a:t>
            </a:r>
          </a:p>
        </p:txBody>
      </p:sp>
    </p:spTree>
    <p:extLst>
      <p:ext uri="{BB962C8B-B14F-4D97-AF65-F5344CB8AC3E}">
        <p14:creationId xmlns:p14="http://schemas.microsoft.com/office/powerpoint/2010/main" val="178742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080C329C-8A3A-4AF9-99D6-2618A0F0F294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fld id="{37614138-8B97-4D57-A8F8-49F1B242B3C6}" type="slidenum">
              <a:rPr lang="en-US" altLang="zh-CN" smtClean="0">
                <a:solidFill>
                  <a:srgbClr val="000000"/>
                </a:solidFill>
                <a:latin typeface="Arial Black" panose="020B0A04020102020204" pitchFamily="34" charset="0"/>
              </a:rPr>
              <a:pPr eaLnBrk="1" hangingPunct="1"/>
              <a:t>12</a:t>
            </a:fld>
            <a:endParaRPr lang="en-US" altLang="zh-CN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879012E-5E98-40C6-B162-12A86EB46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90" y="1593192"/>
            <a:ext cx="10964174" cy="158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7.4 </a:t>
            </a:r>
          </a:p>
          <a:p>
            <a:pPr marL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是连通图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的一棵生成树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的每一条树枝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存在唯一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的由树枝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其余的边都是弦的割集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kern="0" baseline="-25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称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kern="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为对应树枝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</a:t>
            </a:r>
            <a:r>
              <a:rPr lang="zh-CN" sz="2400" b="1" kern="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称所有基本割集的集合为对应生成树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基本割集系统</a:t>
            </a:r>
            <a:r>
              <a:rPr lang="en-US" altLang="zh-CN" sz="2400" b="1" kern="0" dirty="0">
                <a:latin typeface="Times New Roman" pitchFamily="18" charset="0"/>
              </a:rPr>
              <a:t>.</a:t>
            </a:r>
          </a:p>
        </p:txBody>
      </p:sp>
      <p:pic>
        <p:nvPicPr>
          <p:cNvPr id="21" name="Picture 6" descr="16-5">
            <a:extLst>
              <a:ext uri="{FF2B5EF4-FFF2-40B4-BE49-F238E27FC236}">
                <a16:creationId xmlns:a16="http://schemas.microsoft.com/office/drawing/2014/main" id="{E4F4F671-6B34-46C2-870B-C37626B2B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6800491" y="4702175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70F36B2C-6A0D-4699-B06B-53416C28E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04" y="3902193"/>
            <a:ext cx="10964174" cy="215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eaLnBrk="1" hangingPunct="1">
              <a:lnSpc>
                <a:spcPct val="90000"/>
              </a:lnSpc>
              <a:spcBef>
                <a:spcPts val="3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求基本割集的算法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altLang="zh-CN" sz="2400" b="1" i="1" kern="0" dirty="0">
                <a:latin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的树枝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dirty="0" err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i="1" kern="0" dirty="0" err="1">
                <a:latin typeface="Times New Roman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由两棵子树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组成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</a:rPr>
              <a:t>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 | </a:t>
            </a:r>
            <a:r>
              <a:rPr lang="en-US" altLang="zh-CN" sz="2400" b="1" i="1" kern="0" dirty="0" err="1">
                <a:latin typeface="Times New Roman" pitchFamily="18" charset="0"/>
              </a:rPr>
              <a:t>e</a:t>
            </a:r>
            <a:r>
              <a:rPr lang="en-US" altLang="zh-CN" sz="2400" b="1" kern="0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kern="0" dirty="0" err="1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的两个端点分别属于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 err="1">
                <a:latin typeface="Times New Roman" pitchFamily="18" charset="0"/>
              </a:rPr>
              <a:t>T</a:t>
            </a:r>
            <a:r>
              <a:rPr lang="en-US" altLang="zh-CN" sz="2400" b="1" kern="0" baseline="-30000" dirty="0" err="1">
                <a:latin typeface="Times New Roman" pitchFamily="18" charset="0"/>
              </a:rPr>
              <a:t>2</a:t>
            </a:r>
            <a:r>
              <a:rPr lang="en-US" altLang="zh-CN" sz="2400" b="1" kern="0" dirty="0">
                <a:latin typeface="Times New Roman" pitchFamily="18" charset="0"/>
              </a:rPr>
              <a:t>} 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kern="0" dirty="0"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sz="2400" b="1" kern="0" dirty="0">
                <a:latin typeface="Times New Roman" pitchFamily="18" charset="0"/>
              </a:rPr>
              <a:t>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</a:rPr>
              <a:t>      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</a:rPr>
              <a:t>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},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</a:rPr>
              <a:t>            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zh-CN" altLang="en-US" sz="2400" b="1" kern="0" baseline="-30000" dirty="0">
                <a:latin typeface="Times New Roman" pitchFamily="18" charset="0"/>
              </a:rPr>
              <a:t>基</a:t>
            </a:r>
            <a:r>
              <a:rPr lang="en-US" altLang="zh-CN" sz="2400" b="1" kern="0" dirty="0">
                <a:latin typeface="Times New Roman" pitchFamily="18" charset="0"/>
              </a:rPr>
              <a:t>={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a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b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c</a:t>
            </a:r>
            <a:r>
              <a:rPr lang="en-US" altLang="zh-CN" sz="2400" b="1" kern="0" dirty="0">
                <a:latin typeface="Times New Roman" pitchFamily="18" charset="0"/>
              </a:rPr>
              <a:t>, </a:t>
            </a:r>
            <a:r>
              <a:rPr lang="en-US" altLang="zh-CN" sz="2400" b="1" i="1" kern="0" dirty="0">
                <a:latin typeface="Times New Roman" pitchFamily="18" charset="0"/>
              </a:rPr>
              <a:t>S</a:t>
            </a:r>
            <a:r>
              <a:rPr lang="en-US" altLang="zh-CN" sz="2400" b="1" i="1" kern="0" baseline="-30000" dirty="0">
                <a:latin typeface="Times New Roman" pitchFamily="18" charset="0"/>
              </a:rPr>
              <a:t>d</a:t>
            </a:r>
            <a:r>
              <a:rPr lang="en-US" altLang="zh-CN" sz="2400" b="1" kern="0" dirty="0">
                <a:latin typeface="Times New Roman" pitchFamily="18" charset="0"/>
              </a:rPr>
              <a:t>}.</a:t>
            </a:r>
            <a:endParaRPr lang="en-US" altLang="zh-CN" sz="2400" b="1" kern="0" dirty="0">
              <a:latin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4AAC07-F03C-4AC4-8550-80E6952DEE46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1DBD79-4516-44DD-884C-B438D6166A68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FDEBFB-B939-4322-B730-F2899E3B1F97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464A3F-2552-4097-AA27-E67E67833F3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16651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98AF77F-B5BB-4D8C-8848-229CF94EA0B8}"/>
              </a:ext>
            </a:extLst>
          </p:cNvPr>
          <p:cNvSpPr txBox="1">
            <a:spLocks/>
          </p:cNvSpPr>
          <p:nvPr/>
        </p:nvSpPr>
        <p:spPr>
          <a:xfrm>
            <a:off x="517582" y="1865082"/>
            <a:ext cx="8229600" cy="7159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回路合并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F923E1DE-7107-4E1E-B10B-7668E18A09B7}"/>
              </a:ext>
            </a:extLst>
          </p:cNvPr>
          <p:cNvSpPr txBox="1">
            <a:spLocks/>
          </p:cNvSpPr>
          <p:nvPr/>
        </p:nvSpPr>
        <p:spPr>
          <a:xfrm>
            <a:off x="543191" y="2564090"/>
            <a:ext cx="11326753" cy="1345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合并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回路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):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上的边的对称差构成的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一条或几条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回路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62">
            <a:extLst>
              <a:ext uri="{FF2B5EF4-FFF2-40B4-BE49-F238E27FC236}">
                <a16:creationId xmlns:a16="http://schemas.microsoft.com/office/drawing/2014/main" id="{D70C68C8-0751-4B7D-8B06-C276116D31BC}"/>
              </a:ext>
            </a:extLst>
          </p:cNvPr>
          <p:cNvGrpSpPr>
            <a:grpSpLocks/>
          </p:cNvGrpSpPr>
          <p:nvPr/>
        </p:nvGrpSpPr>
        <p:grpSpPr bwMode="auto">
          <a:xfrm>
            <a:off x="2906294" y="3576395"/>
            <a:ext cx="1616075" cy="1065212"/>
            <a:chOff x="1500188" y="2903538"/>
            <a:chExt cx="1616075" cy="1065212"/>
          </a:xfrm>
        </p:grpSpPr>
        <p:sp>
          <p:nvSpPr>
            <p:cNvPr id="16" name="Oval 3">
              <a:extLst>
                <a:ext uri="{FF2B5EF4-FFF2-40B4-BE49-F238E27FC236}">
                  <a16:creationId xmlns:a16="http://schemas.microsoft.com/office/drawing/2014/main" id="{D6EDE300-2398-4ECF-B058-8A370BEA9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773" y="3406947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EF32903E-C792-4FDE-9A78-FD3978A20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354" y="3406947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8" name="AutoShape 5">
              <a:extLst>
                <a:ext uri="{FF2B5EF4-FFF2-40B4-BE49-F238E27FC236}">
                  <a16:creationId xmlns:a16="http://schemas.microsoft.com/office/drawing/2014/main" id="{DB6C56D0-45EE-47DF-8C8C-1BFEF6E625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46426" y="3439110"/>
              <a:ext cx="299928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A6DB1DAC-1362-4340-BC56-5C4A84DC6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986" y="3406947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9686C3C3-3D10-47FE-A4EF-BAF46C2DD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69" y="3406947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6" name="AutoShape 8">
              <a:extLst>
                <a:ext uri="{FF2B5EF4-FFF2-40B4-BE49-F238E27FC236}">
                  <a16:creationId xmlns:a16="http://schemas.microsoft.com/office/drawing/2014/main" id="{C3290B1C-BCAC-4D23-BE42-E8CDD82FE2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30639" y="3439110"/>
              <a:ext cx="299928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263E5918-6C0A-4BB5-839D-8D685095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138" y="3197225"/>
              <a:ext cx="695325" cy="209550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370" y="0"/>
                </a:cxn>
                <a:cxn ang="0">
                  <a:pos x="747" y="229"/>
                </a:cxn>
              </a:cxnLst>
              <a:rect l="0" t="0" r="r" b="b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ln w="28575"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D4A847FB-BCF2-42D9-AA01-7357E9C3479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89138" y="3460750"/>
              <a:ext cx="695325" cy="211138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370" y="0"/>
                </a:cxn>
                <a:cxn ang="0">
                  <a:pos x="747" y="229"/>
                </a:cxn>
              </a:cxnLst>
              <a:rect l="0" t="0" r="r" b="b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ln w="28575">
              <a:solidFill>
                <a:srgbClr val="3366CC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D75C05D9-0E14-40CD-890D-C5591D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188" y="2903538"/>
              <a:ext cx="1616075" cy="503237"/>
            </a:xfrm>
            <a:custGeom>
              <a:avLst/>
              <a:gdLst/>
              <a:ahLst/>
              <a:cxnLst>
                <a:cxn ang="0">
                  <a:pos x="79" y="548"/>
                </a:cxn>
                <a:cxn ang="0">
                  <a:pos x="18" y="481"/>
                </a:cxn>
                <a:cxn ang="0">
                  <a:pos x="186" y="204"/>
                </a:cxn>
                <a:cxn ang="0">
                  <a:pos x="883" y="8"/>
                </a:cxn>
                <a:cxn ang="0">
                  <a:pos x="1643" y="250"/>
                </a:cxn>
                <a:cxn ang="0">
                  <a:pos x="1749" y="548"/>
                </a:cxn>
              </a:cxnLst>
              <a:rect l="0" t="0" r="r" b="b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ln w="28575"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chemeClr val="tx1"/>
                  </a:solidFill>
                  <a:prstDash val="solid"/>
                </a:ln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F8BA11AD-93D3-4AC8-AD54-EC81F3E6C68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00188" y="3465513"/>
              <a:ext cx="1616075" cy="503237"/>
            </a:xfrm>
            <a:custGeom>
              <a:avLst/>
              <a:gdLst/>
              <a:ahLst/>
              <a:cxnLst>
                <a:cxn ang="0">
                  <a:pos x="79" y="548"/>
                </a:cxn>
                <a:cxn ang="0">
                  <a:pos x="18" y="481"/>
                </a:cxn>
                <a:cxn ang="0">
                  <a:pos x="186" y="204"/>
                </a:cxn>
                <a:cxn ang="0">
                  <a:pos x="883" y="8"/>
                </a:cxn>
                <a:cxn ang="0">
                  <a:pos x="1643" y="250"/>
                </a:cxn>
                <a:cxn ang="0">
                  <a:pos x="1749" y="548"/>
                </a:cxn>
              </a:cxnLst>
              <a:rect l="0" t="0" r="r" b="b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ln w="28575">
              <a:solidFill>
                <a:srgbClr val="3366CC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cxnSp>
          <p:nvCxnSpPr>
            <p:cNvPr id="31" name="AutoShape 5">
              <a:extLst>
                <a:ext uri="{FF2B5EF4-FFF2-40B4-BE49-F238E27FC236}">
                  <a16:creationId xmlns:a16="http://schemas.microsoft.com/office/drawing/2014/main" id="{0A84B195-909C-4C47-B5F1-60E4F14EF8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15761" y="3429000"/>
              <a:ext cx="366920" cy="1587"/>
            </a:xfrm>
            <a:prstGeom prst="straightConnector1">
              <a:avLst/>
            </a:pr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AutoShape 8">
              <a:extLst>
                <a:ext uri="{FF2B5EF4-FFF2-40B4-BE49-F238E27FC236}">
                  <a16:creationId xmlns:a16="http://schemas.microsoft.com/office/drawing/2014/main" id="{4B3E7477-DB06-4A57-8DC9-092C729CA6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44883" y="3429000"/>
              <a:ext cx="299928" cy="0"/>
            </a:xfrm>
            <a:prstGeom prst="straightConnector1">
              <a:avLst/>
            </a:pr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" name="组合 77">
            <a:extLst>
              <a:ext uri="{FF2B5EF4-FFF2-40B4-BE49-F238E27FC236}">
                <a16:creationId xmlns:a16="http://schemas.microsoft.com/office/drawing/2014/main" id="{857E1185-6536-41A9-8533-7F1928E2B5AB}"/>
              </a:ext>
            </a:extLst>
          </p:cNvPr>
          <p:cNvGrpSpPr>
            <a:grpSpLocks/>
          </p:cNvGrpSpPr>
          <p:nvPr/>
        </p:nvGrpSpPr>
        <p:grpSpPr bwMode="auto">
          <a:xfrm>
            <a:off x="2977731" y="5267082"/>
            <a:ext cx="1616075" cy="1065213"/>
            <a:chOff x="4527888" y="3480814"/>
            <a:chExt cx="1615748" cy="1065781"/>
          </a:xfrm>
        </p:grpSpPr>
        <p:sp>
          <p:nvSpPr>
            <p:cNvPr id="34" name="Oval 3">
              <a:extLst>
                <a:ext uri="{FF2B5EF4-FFF2-40B4-BE49-F238E27FC236}">
                  <a16:creationId xmlns:a16="http://schemas.microsoft.com/office/drawing/2014/main" id="{F1226ED7-E8B0-4A5D-AFED-51586FC6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458" y="3984492"/>
              <a:ext cx="72639" cy="652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4">
              <a:extLst>
                <a:ext uri="{FF2B5EF4-FFF2-40B4-BE49-F238E27FC236}">
                  <a16:creationId xmlns:a16="http://schemas.microsoft.com/office/drawing/2014/main" id="{564826B7-EAA9-4964-B497-032AEAB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964" y="3984492"/>
              <a:ext cx="72639" cy="652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6">
              <a:extLst>
                <a:ext uri="{FF2B5EF4-FFF2-40B4-BE49-F238E27FC236}">
                  <a16:creationId xmlns:a16="http://schemas.microsoft.com/office/drawing/2014/main" id="{C1BE3A72-6B01-47B0-BF59-CBF2BF336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5452" y="3984492"/>
              <a:ext cx="72639" cy="652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7">
              <a:extLst>
                <a:ext uri="{FF2B5EF4-FFF2-40B4-BE49-F238E27FC236}">
                  <a16:creationId xmlns:a16="http://schemas.microsoft.com/office/drawing/2014/main" id="{B1D4E3DA-0499-4AEB-ACA1-C86034C30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7959" y="3984492"/>
              <a:ext cx="72639" cy="652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7B0A9045-0997-41DC-8B11-57C34F7ED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739" y="3774659"/>
              <a:ext cx="695184" cy="209662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370" y="0"/>
                </a:cxn>
                <a:cxn ang="0">
                  <a:pos x="747" y="229"/>
                </a:cxn>
              </a:cxnLst>
              <a:rect l="0" t="0" r="r" b="b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ln w="28575">
              <a:solidFill>
                <a:srgbClr val="3366CC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02E33BB2-835F-4EB8-9071-F1F2A3D807E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16739" y="4038324"/>
              <a:ext cx="695184" cy="211250"/>
            </a:xfrm>
            <a:custGeom>
              <a:avLst/>
              <a:gdLst/>
              <a:ahLst/>
              <a:cxnLst>
                <a:cxn ang="0">
                  <a:pos x="0" y="229"/>
                </a:cxn>
                <a:cxn ang="0">
                  <a:pos x="370" y="0"/>
                </a:cxn>
                <a:cxn ang="0">
                  <a:pos x="747" y="229"/>
                </a:cxn>
              </a:cxnLst>
              <a:rect l="0" t="0" r="r" b="b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ln w="28575">
              <a:solidFill>
                <a:srgbClr val="3366CC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0AC72C00-C7CC-41C9-B6F8-1ABE4B824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888" y="3480814"/>
              <a:ext cx="1615748" cy="503506"/>
            </a:xfrm>
            <a:custGeom>
              <a:avLst/>
              <a:gdLst/>
              <a:ahLst/>
              <a:cxnLst>
                <a:cxn ang="0">
                  <a:pos x="79" y="548"/>
                </a:cxn>
                <a:cxn ang="0">
                  <a:pos x="18" y="481"/>
                </a:cxn>
                <a:cxn ang="0">
                  <a:pos x="186" y="204"/>
                </a:cxn>
                <a:cxn ang="0">
                  <a:pos x="883" y="8"/>
                </a:cxn>
                <a:cxn ang="0">
                  <a:pos x="1643" y="250"/>
                </a:cxn>
                <a:cxn ang="0">
                  <a:pos x="1749" y="548"/>
                </a:cxn>
              </a:cxnLst>
              <a:rect l="0" t="0" r="r" b="b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ln w="28575"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chemeClr val="tx1"/>
                  </a:solidFill>
                  <a:prstDash val="solid"/>
                </a:ln>
              </a:endParaRPr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CB718201-2A1C-47D5-84D3-7CB4AC2B696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27888" y="4043089"/>
              <a:ext cx="1615748" cy="503506"/>
            </a:xfrm>
            <a:custGeom>
              <a:avLst/>
              <a:gdLst/>
              <a:ahLst/>
              <a:cxnLst>
                <a:cxn ang="0">
                  <a:pos x="79" y="548"/>
                </a:cxn>
                <a:cxn ang="0">
                  <a:pos x="18" y="481"/>
                </a:cxn>
                <a:cxn ang="0">
                  <a:pos x="186" y="204"/>
                </a:cxn>
                <a:cxn ang="0">
                  <a:pos x="883" y="8"/>
                </a:cxn>
                <a:cxn ang="0">
                  <a:pos x="1643" y="250"/>
                </a:cxn>
                <a:cxn ang="0">
                  <a:pos x="1749" y="548"/>
                </a:cxn>
              </a:cxnLst>
              <a:rect l="0" t="0" r="r" b="b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ln w="28575">
              <a:solidFill>
                <a:srgbClr val="FF0000"/>
              </a:solidFill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42" name="组合 97">
            <a:extLst>
              <a:ext uri="{FF2B5EF4-FFF2-40B4-BE49-F238E27FC236}">
                <a16:creationId xmlns:a16="http://schemas.microsoft.com/office/drawing/2014/main" id="{DF710A61-22B2-4380-91E6-02B63F10951B}"/>
              </a:ext>
            </a:extLst>
          </p:cNvPr>
          <p:cNvGrpSpPr>
            <a:grpSpLocks/>
          </p:cNvGrpSpPr>
          <p:nvPr/>
        </p:nvGrpSpPr>
        <p:grpSpPr bwMode="auto">
          <a:xfrm>
            <a:off x="5335169" y="3620845"/>
            <a:ext cx="1571625" cy="874712"/>
            <a:chOff x="1571604" y="5025766"/>
            <a:chExt cx="1571636" cy="875293"/>
          </a:xfrm>
        </p:grpSpPr>
        <p:sp>
          <p:nvSpPr>
            <p:cNvPr id="43" name="Oval 25">
              <a:extLst>
                <a:ext uri="{FF2B5EF4-FFF2-40B4-BE49-F238E27FC236}">
                  <a16:creationId xmlns:a16="http://schemas.microsoft.com/office/drawing/2014/main" id="{75CDE7F7-5C92-48F5-BC2F-D478CF6C2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164" y="5599523"/>
              <a:ext cx="70656" cy="743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366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Oval 26">
              <a:extLst>
                <a:ext uri="{FF2B5EF4-FFF2-40B4-BE49-F238E27FC236}">
                  <a16:creationId xmlns:a16="http://schemas.microsoft.com/office/drawing/2014/main" id="{77226E7C-12B3-4E92-A7EA-6368BDCE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501" y="5599523"/>
              <a:ext cx="70656" cy="743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366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45" name="AutoShape 27">
              <a:extLst>
                <a:ext uri="{FF2B5EF4-FFF2-40B4-BE49-F238E27FC236}">
                  <a16:creationId xmlns:a16="http://schemas.microsoft.com/office/drawing/2014/main" id="{035FB193-5B2C-4043-B977-7C99B26B63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13821" y="5636169"/>
              <a:ext cx="291681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Oval 28">
              <a:extLst>
                <a:ext uri="{FF2B5EF4-FFF2-40B4-BE49-F238E27FC236}">
                  <a16:creationId xmlns:a16="http://schemas.microsoft.com/office/drawing/2014/main" id="{43A4CD91-3202-4A48-BCFE-65C81BC77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565" y="5599523"/>
              <a:ext cx="70656" cy="743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366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" name="Oval 29">
              <a:extLst>
                <a:ext uri="{FF2B5EF4-FFF2-40B4-BE49-F238E27FC236}">
                  <a16:creationId xmlns:a16="http://schemas.microsoft.com/office/drawing/2014/main" id="{0CF9286D-1D42-4425-B0EF-776B644D4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901" y="5599523"/>
              <a:ext cx="70656" cy="743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3366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48" name="AutoShape 30">
              <a:extLst>
                <a:ext uri="{FF2B5EF4-FFF2-40B4-BE49-F238E27FC236}">
                  <a16:creationId xmlns:a16="http://schemas.microsoft.com/office/drawing/2014/main" id="{C623E9AD-EDB8-4967-8E82-3BD6E7446E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68220" y="5636169"/>
              <a:ext cx="291681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5AF86448-A4BE-4AD6-AF00-073E5E37B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171" y="5359759"/>
              <a:ext cx="676664" cy="239764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75281EFB-AB5C-492E-8707-E8B8CAA4739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59853" y="5694800"/>
              <a:ext cx="1012731" cy="206259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C6636936-31A9-4083-93F1-C296C6DE3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04" y="5025766"/>
              <a:ext cx="1571636" cy="573757"/>
            </a:xfrm>
            <a:custGeom>
              <a:avLst/>
              <a:gdLst>
                <a:gd name="T0" fmla="*/ 2147483647 w 1787"/>
                <a:gd name="T1" fmla="*/ 2147483647 h 548"/>
                <a:gd name="T2" fmla="*/ 2147483647 w 1787"/>
                <a:gd name="T3" fmla="*/ 2147483647 h 548"/>
                <a:gd name="T4" fmla="*/ 2147483647 w 1787"/>
                <a:gd name="T5" fmla="*/ 2147483647 h 548"/>
                <a:gd name="T6" fmla="*/ 2147483647 w 1787"/>
                <a:gd name="T7" fmla="*/ 2147483647 h 548"/>
                <a:gd name="T8" fmla="*/ 2147483647 w 1787"/>
                <a:gd name="T9" fmla="*/ 2147483647 h 548"/>
                <a:gd name="T10" fmla="*/ 2147483647 w 1787"/>
                <a:gd name="T11" fmla="*/ 2147483647 h 5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87"/>
                <a:gd name="T19" fmla="*/ 0 h 548"/>
                <a:gd name="T20" fmla="*/ 1787 w 1787"/>
                <a:gd name="T21" fmla="*/ 548 h 5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id="{6698340B-93BC-4D1E-96FF-569A893BD6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90269" y="5682237"/>
              <a:ext cx="1012731" cy="206259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3" name="AutoShape 30">
              <a:extLst>
                <a:ext uri="{FF2B5EF4-FFF2-40B4-BE49-F238E27FC236}">
                  <a16:creationId xmlns:a16="http://schemas.microsoft.com/office/drawing/2014/main" id="{4D3D2FDE-3721-4390-A58F-3A9F85B19E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86050" y="5643578"/>
              <a:ext cx="291681" cy="0"/>
            </a:xfrm>
            <a:prstGeom prst="straightConnector1">
              <a:avLst/>
            </a:pr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AutoShape 27">
              <a:extLst>
                <a:ext uri="{FF2B5EF4-FFF2-40B4-BE49-F238E27FC236}">
                  <a16:creationId xmlns:a16="http://schemas.microsoft.com/office/drawing/2014/main" id="{FD44C5BD-B2AC-4BCC-9FBC-50860E92BB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14480" y="5643578"/>
              <a:ext cx="291681" cy="0"/>
            </a:xfrm>
            <a:prstGeom prst="straightConnector1">
              <a:avLst/>
            </a:prstGeom>
            <a:noFill/>
            <a:ln w="28575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5" name="组合 61">
            <a:extLst>
              <a:ext uri="{FF2B5EF4-FFF2-40B4-BE49-F238E27FC236}">
                <a16:creationId xmlns:a16="http://schemas.microsoft.com/office/drawing/2014/main" id="{B032B1A9-2981-4690-8DEE-B8ED14D2B79F}"/>
              </a:ext>
            </a:extLst>
          </p:cNvPr>
          <p:cNvGrpSpPr>
            <a:grpSpLocks/>
          </p:cNvGrpSpPr>
          <p:nvPr/>
        </p:nvGrpSpPr>
        <p:grpSpPr bwMode="auto">
          <a:xfrm>
            <a:off x="5406606" y="5341695"/>
            <a:ext cx="1571625" cy="823912"/>
            <a:chOff x="4000500" y="4668838"/>
            <a:chExt cx="1571625" cy="823672"/>
          </a:xfrm>
        </p:grpSpPr>
        <p:sp>
          <p:nvSpPr>
            <p:cNvPr id="56" name="Oval 25">
              <a:extLst>
                <a:ext uri="{FF2B5EF4-FFF2-40B4-BE49-F238E27FC236}">
                  <a16:creationId xmlns:a16="http://schemas.microsoft.com/office/drawing/2014/main" id="{6804AF24-9472-4C14-9FD9-D8DB2B56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2059" y="5242214"/>
              <a:ext cx="70656" cy="7428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" name="Oval 26">
              <a:extLst>
                <a:ext uri="{FF2B5EF4-FFF2-40B4-BE49-F238E27FC236}">
                  <a16:creationId xmlns:a16="http://schemas.microsoft.com/office/drawing/2014/main" id="{DF8D91DA-FFBC-4FDF-8FEE-46EABEB95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4394" y="5242214"/>
              <a:ext cx="70656" cy="7428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" name="Oval 28">
              <a:extLst>
                <a:ext uri="{FF2B5EF4-FFF2-40B4-BE49-F238E27FC236}">
                  <a16:creationId xmlns:a16="http://schemas.microsoft.com/office/drawing/2014/main" id="{469446CB-8B0C-4849-8B1C-1650D87CE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504" y="5214950"/>
              <a:ext cx="70656" cy="7428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Oval 29">
              <a:extLst>
                <a:ext uri="{FF2B5EF4-FFF2-40B4-BE49-F238E27FC236}">
                  <a16:creationId xmlns:a16="http://schemas.microsoft.com/office/drawing/2014/main" id="{9DB1E2C3-4DD2-4A4C-894E-22E7A69EF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787" y="5242214"/>
              <a:ext cx="70656" cy="7428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Freeform 31">
              <a:extLst>
                <a:ext uri="{FF2B5EF4-FFF2-40B4-BE49-F238E27FC236}">
                  <a16:creationId xmlns:a16="http://schemas.microsoft.com/office/drawing/2014/main" id="{22673804-E48D-4019-B81B-A59B91AF2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064" y="5002609"/>
              <a:ext cx="676659" cy="239605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0A2FEBFC-B97D-44C0-BB7D-C1D1D7492E1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88746" y="5286388"/>
              <a:ext cx="1012724" cy="206122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id="{827CE50C-2C5F-4923-9ABD-3E957C9A1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500" y="4668838"/>
              <a:ext cx="1571625" cy="573376"/>
            </a:xfrm>
            <a:custGeom>
              <a:avLst/>
              <a:gdLst>
                <a:gd name="T0" fmla="*/ 2147483647 w 1787"/>
                <a:gd name="T1" fmla="*/ 2147483647 h 548"/>
                <a:gd name="T2" fmla="*/ 2147483647 w 1787"/>
                <a:gd name="T3" fmla="*/ 2147483647 h 548"/>
                <a:gd name="T4" fmla="*/ 2147483647 w 1787"/>
                <a:gd name="T5" fmla="*/ 2147483647 h 548"/>
                <a:gd name="T6" fmla="*/ 2147483647 w 1787"/>
                <a:gd name="T7" fmla="*/ 2147483647 h 548"/>
                <a:gd name="T8" fmla="*/ 2147483647 w 1787"/>
                <a:gd name="T9" fmla="*/ 2147483647 h 548"/>
                <a:gd name="T10" fmla="*/ 2147483647 w 1787"/>
                <a:gd name="T11" fmla="*/ 2147483647 h 5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87"/>
                <a:gd name="T19" fmla="*/ 0 h 548"/>
                <a:gd name="T20" fmla="*/ 1787 w 1787"/>
                <a:gd name="T21" fmla="*/ 548 h 5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87" h="548">
                  <a:moveTo>
                    <a:pt x="79" y="548"/>
                  </a:moveTo>
                  <a:cubicBezTo>
                    <a:pt x="39" y="543"/>
                    <a:pt x="0" y="538"/>
                    <a:pt x="18" y="481"/>
                  </a:cubicBezTo>
                  <a:cubicBezTo>
                    <a:pt x="36" y="424"/>
                    <a:pt x="42" y="283"/>
                    <a:pt x="186" y="204"/>
                  </a:cubicBezTo>
                  <a:cubicBezTo>
                    <a:pt x="330" y="125"/>
                    <a:pt x="640" y="0"/>
                    <a:pt x="883" y="8"/>
                  </a:cubicBezTo>
                  <a:cubicBezTo>
                    <a:pt x="1126" y="16"/>
                    <a:pt x="1499" y="160"/>
                    <a:pt x="1643" y="250"/>
                  </a:cubicBezTo>
                  <a:cubicBezTo>
                    <a:pt x="1787" y="340"/>
                    <a:pt x="1736" y="498"/>
                    <a:pt x="1749" y="54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370F202D-DA97-4287-9A1E-5759C85CB97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19164" y="5286388"/>
              <a:ext cx="1012724" cy="206122"/>
            </a:xfrm>
            <a:custGeom>
              <a:avLst/>
              <a:gdLst>
                <a:gd name="T0" fmla="*/ 0 w 747"/>
                <a:gd name="T1" fmla="*/ 2147483647 h 229"/>
                <a:gd name="T2" fmla="*/ 2147483647 w 747"/>
                <a:gd name="T3" fmla="*/ 0 h 229"/>
                <a:gd name="T4" fmla="*/ 2147483647 w 747"/>
                <a:gd name="T5" fmla="*/ 2147483647 h 229"/>
                <a:gd name="T6" fmla="*/ 0 60000 65536"/>
                <a:gd name="T7" fmla="*/ 0 60000 65536"/>
                <a:gd name="T8" fmla="*/ 0 60000 65536"/>
                <a:gd name="T9" fmla="*/ 0 w 747"/>
                <a:gd name="T10" fmla="*/ 0 h 229"/>
                <a:gd name="T11" fmla="*/ 747 w 747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7" h="229">
                  <a:moveTo>
                    <a:pt x="0" y="229"/>
                  </a:moveTo>
                  <a:cubicBezTo>
                    <a:pt x="123" y="114"/>
                    <a:pt x="246" y="0"/>
                    <a:pt x="370" y="0"/>
                  </a:cubicBezTo>
                  <a:cubicBezTo>
                    <a:pt x="494" y="0"/>
                    <a:pt x="684" y="191"/>
                    <a:pt x="747" y="22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" name="组合 92">
            <a:extLst>
              <a:ext uri="{FF2B5EF4-FFF2-40B4-BE49-F238E27FC236}">
                <a16:creationId xmlns:a16="http://schemas.microsoft.com/office/drawing/2014/main" id="{8D52C71F-36C7-4340-9C8D-F3BC3355F2D2}"/>
              </a:ext>
            </a:extLst>
          </p:cNvPr>
          <p:cNvGrpSpPr>
            <a:grpSpLocks/>
          </p:cNvGrpSpPr>
          <p:nvPr/>
        </p:nvGrpSpPr>
        <p:grpSpPr bwMode="auto">
          <a:xfrm>
            <a:off x="7797381" y="3595445"/>
            <a:ext cx="1438275" cy="1077912"/>
            <a:chOff x="6390968" y="2857496"/>
            <a:chExt cx="1437968" cy="1077865"/>
          </a:xfrm>
        </p:grpSpPr>
        <p:sp>
          <p:nvSpPr>
            <p:cNvPr id="65" name="Oval 4">
              <a:extLst>
                <a:ext uri="{FF2B5EF4-FFF2-40B4-BE49-F238E27FC236}">
                  <a16:creationId xmlns:a16="http://schemas.microsoft.com/office/drawing/2014/main" id="{C93D24F0-3B24-4CA8-9282-78112D3A5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678" y="3383130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6" name="Oval 6">
              <a:extLst>
                <a:ext uri="{FF2B5EF4-FFF2-40B4-BE49-F238E27FC236}">
                  <a16:creationId xmlns:a16="http://schemas.microsoft.com/office/drawing/2014/main" id="{72D80D25-2C87-4A20-A2B7-5CAB30A3D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4310" y="3383130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7" name="任意多边形 85">
              <a:extLst>
                <a:ext uri="{FF2B5EF4-FFF2-40B4-BE49-F238E27FC236}">
                  <a16:creationId xmlns:a16="http://schemas.microsoft.com/office/drawing/2014/main" id="{34EF02C2-2FC8-465D-A14C-7BDB2967B023}"/>
                </a:ext>
              </a:extLst>
            </p:cNvPr>
            <p:cNvSpPr/>
            <p:nvPr/>
          </p:nvSpPr>
          <p:spPr>
            <a:xfrm>
              <a:off x="6390968" y="2857496"/>
              <a:ext cx="1437968" cy="560363"/>
            </a:xfrm>
            <a:custGeom>
              <a:avLst/>
              <a:gdLst>
                <a:gd name="connsiteX0" fmla="*/ 363793 w 1437968"/>
                <a:gd name="connsiteY0" fmla="*/ 518651 h 560438"/>
                <a:gd name="connsiteX1" fmla="*/ 113071 w 1437968"/>
                <a:gd name="connsiteY1" fmla="*/ 444909 h 560438"/>
                <a:gd name="connsiteX2" fmla="*/ 98322 w 1437968"/>
                <a:gd name="connsiteY2" fmla="*/ 149942 h 560438"/>
                <a:gd name="connsiteX3" fmla="*/ 703006 w 1437968"/>
                <a:gd name="connsiteY3" fmla="*/ 2458 h 560438"/>
                <a:gd name="connsiteX4" fmla="*/ 1366684 w 1437968"/>
                <a:gd name="connsiteY4" fmla="*/ 164690 h 560438"/>
                <a:gd name="connsiteX5" fmla="*/ 1130709 w 1437968"/>
                <a:gd name="connsiteY5" fmla="*/ 518651 h 560438"/>
                <a:gd name="connsiteX6" fmla="*/ 776748 w 1437968"/>
                <a:gd name="connsiteY6" fmla="*/ 415413 h 560438"/>
                <a:gd name="connsiteX7" fmla="*/ 599767 w 1437968"/>
                <a:gd name="connsiteY7" fmla="*/ 444909 h 560438"/>
                <a:gd name="connsiteX8" fmla="*/ 363793 w 1437968"/>
                <a:gd name="connsiteY8" fmla="*/ 518651 h 5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7968" h="560438">
                  <a:moveTo>
                    <a:pt x="363793" y="518651"/>
                  </a:moveTo>
                  <a:cubicBezTo>
                    <a:pt x="282677" y="518651"/>
                    <a:pt x="157316" y="506360"/>
                    <a:pt x="113071" y="444909"/>
                  </a:cubicBezTo>
                  <a:cubicBezTo>
                    <a:pt x="68826" y="383458"/>
                    <a:pt x="0" y="223684"/>
                    <a:pt x="98322" y="149942"/>
                  </a:cubicBezTo>
                  <a:cubicBezTo>
                    <a:pt x="196645" y="76200"/>
                    <a:pt x="491612" y="0"/>
                    <a:pt x="703006" y="2458"/>
                  </a:cubicBezTo>
                  <a:cubicBezTo>
                    <a:pt x="914400" y="4916"/>
                    <a:pt x="1295400" y="78658"/>
                    <a:pt x="1366684" y="164690"/>
                  </a:cubicBezTo>
                  <a:cubicBezTo>
                    <a:pt x="1437968" y="250722"/>
                    <a:pt x="1229032" y="476864"/>
                    <a:pt x="1130709" y="518651"/>
                  </a:cubicBezTo>
                  <a:cubicBezTo>
                    <a:pt x="1032386" y="560438"/>
                    <a:pt x="865238" y="427703"/>
                    <a:pt x="776748" y="415413"/>
                  </a:cubicBezTo>
                  <a:cubicBezTo>
                    <a:pt x="688258" y="403123"/>
                    <a:pt x="663677" y="425245"/>
                    <a:pt x="599767" y="444909"/>
                  </a:cubicBezTo>
                  <a:cubicBezTo>
                    <a:pt x="535857" y="464573"/>
                    <a:pt x="444909" y="518651"/>
                    <a:pt x="363793" y="518651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8" name="任意多边形 86">
              <a:extLst>
                <a:ext uri="{FF2B5EF4-FFF2-40B4-BE49-F238E27FC236}">
                  <a16:creationId xmlns:a16="http://schemas.microsoft.com/office/drawing/2014/main" id="{97C19D43-7346-4F87-8FD5-DEEDE8E163A3}"/>
                </a:ext>
              </a:extLst>
            </p:cNvPr>
            <p:cNvSpPr/>
            <p:nvPr/>
          </p:nvSpPr>
          <p:spPr>
            <a:xfrm>
              <a:off x="6436996" y="3411509"/>
              <a:ext cx="1360197" cy="523852"/>
            </a:xfrm>
            <a:custGeom>
              <a:avLst/>
              <a:gdLst>
                <a:gd name="connsiteX0" fmla="*/ 331839 w 1359310"/>
                <a:gd name="connsiteY0" fmla="*/ 24580 h 523567"/>
                <a:gd name="connsiteX1" fmla="*/ 95864 w 1359310"/>
                <a:gd name="connsiteY1" fmla="*/ 216309 h 523567"/>
                <a:gd name="connsiteX2" fmla="*/ 110613 w 1359310"/>
                <a:gd name="connsiteY2" fmla="*/ 481780 h 523567"/>
                <a:gd name="connsiteX3" fmla="*/ 759542 w 1359310"/>
                <a:gd name="connsiteY3" fmla="*/ 467032 h 523567"/>
                <a:gd name="connsiteX4" fmla="*/ 1187245 w 1359310"/>
                <a:gd name="connsiteY4" fmla="*/ 452283 h 523567"/>
                <a:gd name="connsiteX5" fmla="*/ 1334729 w 1359310"/>
                <a:gd name="connsiteY5" fmla="*/ 186812 h 523567"/>
                <a:gd name="connsiteX6" fmla="*/ 1039761 w 1359310"/>
                <a:gd name="connsiteY6" fmla="*/ 9832 h 523567"/>
                <a:gd name="connsiteX7" fmla="*/ 715297 w 1359310"/>
                <a:gd name="connsiteY7" fmla="*/ 127819 h 523567"/>
                <a:gd name="connsiteX8" fmla="*/ 494071 w 1359310"/>
                <a:gd name="connsiteY8" fmla="*/ 113071 h 523567"/>
                <a:gd name="connsiteX9" fmla="*/ 331839 w 1359310"/>
                <a:gd name="connsiteY9" fmla="*/ 24580 h 52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9310" h="523567">
                  <a:moveTo>
                    <a:pt x="331839" y="24580"/>
                  </a:moveTo>
                  <a:cubicBezTo>
                    <a:pt x="265471" y="41786"/>
                    <a:pt x="132735" y="140109"/>
                    <a:pt x="95864" y="216309"/>
                  </a:cubicBezTo>
                  <a:cubicBezTo>
                    <a:pt x="58993" y="292509"/>
                    <a:pt x="0" y="439993"/>
                    <a:pt x="110613" y="481780"/>
                  </a:cubicBezTo>
                  <a:cubicBezTo>
                    <a:pt x="221226" y="523567"/>
                    <a:pt x="759542" y="467032"/>
                    <a:pt x="759542" y="467032"/>
                  </a:cubicBezTo>
                  <a:cubicBezTo>
                    <a:pt x="938981" y="462116"/>
                    <a:pt x="1091381" y="498986"/>
                    <a:pt x="1187245" y="452283"/>
                  </a:cubicBezTo>
                  <a:cubicBezTo>
                    <a:pt x="1283110" y="405580"/>
                    <a:pt x="1359310" y="260554"/>
                    <a:pt x="1334729" y="186812"/>
                  </a:cubicBezTo>
                  <a:cubicBezTo>
                    <a:pt x="1310148" y="113070"/>
                    <a:pt x="1143000" y="19664"/>
                    <a:pt x="1039761" y="9832"/>
                  </a:cubicBezTo>
                  <a:cubicBezTo>
                    <a:pt x="936522" y="0"/>
                    <a:pt x="806245" y="110612"/>
                    <a:pt x="715297" y="127819"/>
                  </a:cubicBezTo>
                  <a:cubicBezTo>
                    <a:pt x="624349" y="145026"/>
                    <a:pt x="553065" y="130277"/>
                    <a:pt x="494071" y="113071"/>
                  </a:cubicBezTo>
                  <a:cubicBezTo>
                    <a:pt x="435077" y="95865"/>
                    <a:pt x="398207" y="7374"/>
                    <a:pt x="331839" y="2458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69" name="组合 91">
            <a:extLst>
              <a:ext uri="{FF2B5EF4-FFF2-40B4-BE49-F238E27FC236}">
                <a16:creationId xmlns:a16="http://schemas.microsoft.com/office/drawing/2014/main" id="{2C805637-9412-472E-82F1-5AD5A612EEB5}"/>
              </a:ext>
            </a:extLst>
          </p:cNvPr>
          <p:cNvGrpSpPr>
            <a:grpSpLocks/>
          </p:cNvGrpSpPr>
          <p:nvPr/>
        </p:nvGrpSpPr>
        <p:grpSpPr bwMode="auto">
          <a:xfrm>
            <a:off x="7835481" y="5309945"/>
            <a:ext cx="1438275" cy="1077912"/>
            <a:chOff x="6429388" y="4637151"/>
            <a:chExt cx="1437968" cy="1077865"/>
          </a:xfrm>
        </p:grpSpPr>
        <p:sp>
          <p:nvSpPr>
            <p:cNvPr id="70" name="Oval 4">
              <a:extLst>
                <a:ext uri="{FF2B5EF4-FFF2-40B4-BE49-F238E27FC236}">
                  <a16:creationId xmlns:a16="http://schemas.microsoft.com/office/drawing/2014/main" id="{CBE98C1C-88A2-4942-AD71-8BCECA8CB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1098" y="5162785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" name="Oval 6">
              <a:extLst>
                <a:ext uri="{FF2B5EF4-FFF2-40B4-BE49-F238E27FC236}">
                  <a16:creationId xmlns:a16="http://schemas.microsoft.com/office/drawing/2014/main" id="{6B26151A-32D0-4930-9493-5C18678EA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730" y="5162785"/>
              <a:ext cx="72654" cy="652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" name="任意多边形 89">
              <a:extLst>
                <a:ext uri="{FF2B5EF4-FFF2-40B4-BE49-F238E27FC236}">
                  <a16:creationId xmlns:a16="http://schemas.microsoft.com/office/drawing/2014/main" id="{198E478D-B281-4EBB-963D-6C2EA8162474}"/>
                </a:ext>
              </a:extLst>
            </p:cNvPr>
            <p:cNvSpPr/>
            <p:nvPr/>
          </p:nvSpPr>
          <p:spPr>
            <a:xfrm>
              <a:off x="6429388" y="4637151"/>
              <a:ext cx="1437968" cy="560363"/>
            </a:xfrm>
            <a:custGeom>
              <a:avLst/>
              <a:gdLst>
                <a:gd name="connsiteX0" fmla="*/ 363793 w 1437968"/>
                <a:gd name="connsiteY0" fmla="*/ 518651 h 560438"/>
                <a:gd name="connsiteX1" fmla="*/ 113071 w 1437968"/>
                <a:gd name="connsiteY1" fmla="*/ 444909 h 560438"/>
                <a:gd name="connsiteX2" fmla="*/ 98322 w 1437968"/>
                <a:gd name="connsiteY2" fmla="*/ 149942 h 560438"/>
                <a:gd name="connsiteX3" fmla="*/ 703006 w 1437968"/>
                <a:gd name="connsiteY3" fmla="*/ 2458 h 560438"/>
                <a:gd name="connsiteX4" fmla="*/ 1366684 w 1437968"/>
                <a:gd name="connsiteY4" fmla="*/ 164690 h 560438"/>
                <a:gd name="connsiteX5" fmla="*/ 1130709 w 1437968"/>
                <a:gd name="connsiteY5" fmla="*/ 518651 h 560438"/>
                <a:gd name="connsiteX6" fmla="*/ 776748 w 1437968"/>
                <a:gd name="connsiteY6" fmla="*/ 415413 h 560438"/>
                <a:gd name="connsiteX7" fmla="*/ 599767 w 1437968"/>
                <a:gd name="connsiteY7" fmla="*/ 444909 h 560438"/>
                <a:gd name="connsiteX8" fmla="*/ 363793 w 1437968"/>
                <a:gd name="connsiteY8" fmla="*/ 518651 h 56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7968" h="560438">
                  <a:moveTo>
                    <a:pt x="363793" y="518651"/>
                  </a:moveTo>
                  <a:cubicBezTo>
                    <a:pt x="282677" y="518651"/>
                    <a:pt x="157316" y="506360"/>
                    <a:pt x="113071" y="444909"/>
                  </a:cubicBezTo>
                  <a:cubicBezTo>
                    <a:pt x="68826" y="383458"/>
                    <a:pt x="0" y="223684"/>
                    <a:pt x="98322" y="149942"/>
                  </a:cubicBezTo>
                  <a:cubicBezTo>
                    <a:pt x="196645" y="76200"/>
                    <a:pt x="491612" y="0"/>
                    <a:pt x="703006" y="2458"/>
                  </a:cubicBezTo>
                  <a:cubicBezTo>
                    <a:pt x="914400" y="4916"/>
                    <a:pt x="1295400" y="78658"/>
                    <a:pt x="1366684" y="164690"/>
                  </a:cubicBezTo>
                  <a:cubicBezTo>
                    <a:pt x="1437968" y="250722"/>
                    <a:pt x="1229032" y="476864"/>
                    <a:pt x="1130709" y="518651"/>
                  </a:cubicBezTo>
                  <a:cubicBezTo>
                    <a:pt x="1032386" y="560438"/>
                    <a:pt x="865238" y="427703"/>
                    <a:pt x="776748" y="415413"/>
                  </a:cubicBezTo>
                  <a:cubicBezTo>
                    <a:pt x="688258" y="403123"/>
                    <a:pt x="663677" y="425245"/>
                    <a:pt x="599767" y="444909"/>
                  </a:cubicBezTo>
                  <a:cubicBezTo>
                    <a:pt x="535857" y="464573"/>
                    <a:pt x="444909" y="518651"/>
                    <a:pt x="363793" y="518651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3" name="任意多边形 90">
              <a:extLst>
                <a:ext uri="{FF2B5EF4-FFF2-40B4-BE49-F238E27FC236}">
                  <a16:creationId xmlns:a16="http://schemas.microsoft.com/office/drawing/2014/main" id="{6D42606E-AB0A-470F-8ADB-68382EDB3851}"/>
                </a:ext>
              </a:extLst>
            </p:cNvPr>
            <p:cNvSpPr/>
            <p:nvPr/>
          </p:nvSpPr>
          <p:spPr>
            <a:xfrm>
              <a:off x="6475416" y="5191164"/>
              <a:ext cx="1360197" cy="523852"/>
            </a:xfrm>
            <a:custGeom>
              <a:avLst/>
              <a:gdLst>
                <a:gd name="connsiteX0" fmla="*/ 331839 w 1359310"/>
                <a:gd name="connsiteY0" fmla="*/ 24580 h 523567"/>
                <a:gd name="connsiteX1" fmla="*/ 95864 w 1359310"/>
                <a:gd name="connsiteY1" fmla="*/ 216309 h 523567"/>
                <a:gd name="connsiteX2" fmla="*/ 110613 w 1359310"/>
                <a:gd name="connsiteY2" fmla="*/ 481780 h 523567"/>
                <a:gd name="connsiteX3" fmla="*/ 759542 w 1359310"/>
                <a:gd name="connsiteY3" fmla="*/ 467032 h 523567"/>
                <a:gd name="connsiteX4" fmla="*/ 1187245 w 1359310"/>
                <a:gd name="connsiteY4" fmla="*/ 452283 h 523567"/>
                <a:gd name="connsiteX5" fmla="*/ 1334729 w 1359310"/>
                <a:gd name="connsiteY5" fmla="*/ 186812 h 523567"/>
                <a:gd name="connsiteX6" fmla="*/ 1039761 w 1359310"/>
                <a:gd name="connsiteY6" fmla="*/ 9832 h 523567"/>
                <a:gd name="connsiteX7" fmla="*/ 715297 w 1359310"/>
                <a:gd name="connsiteY7" fmla="*/ 127819 h 523567"/>
                <a:gd name="connsiteX8" fmla="*/ 494071 w 1359310"/>
                <a:gd name="connsiteY8" fmla="*/ 113071 h 523567"/>
                <a:gd name="connsiteX9" fmla="*/ 331839 w 1359310"/>
                <a:gd name="connsiteY9" fmla="*/ 24580 h 52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9310" h="523567">
                  <a:moveTo>
                    <a:pt x="331839" y="24580"/>
                  </a:moveTo>
                  <a:cubicBezTo>
                    <a:pt x="265471" y="41786"/>
                    <a:pt x="132735" y="140109"/>
                    <a:pt x="95864" y="216309"/>
                  </a:cubicBezTo>
                  <a:cubicBezTo>
                    <a:pt x="58993" y="292509"/>
                    <a:pt x="0" y="439993"/>
                    <a:pt x="110613" y="481780"/>
                  </a:cubicBezTo>
                  <a:cubicBezTo>
                    <a:pt x="221226" y="523567"/>
                    <a:pt x="759542" y="467032"/>
                    <a:pt x="759542" y="467032"/>
                  </a:cubicBezTo>
                  <a:cubicBezTo>
                    <a:pt x="938981" y="462116"/>
                    <a:pt x="1091381" y="498986"/>
                    <a:pt x="1187245" y="452283"/>
                  </a:cubicBezTo>
                  <a:cubicBezTo>
                    <a:pt x="1283110" y="405580"/>
                    <a:pt x="1359310" y="260554"/>
                    <a:pt x="1334729" y="186812"/>
                  </a:cubicBezTo>
                  <a:cubicBezTo>
                    <a:pt x="1310148" y="113070"/>
                    <a:pt x="1143000" y="19664"/>
                    <a:pt x="1039761" y="9832"/>
                  </a:cubicBezTo>
                  <a:cubicBezTo>
                    <a:pt x="936522" y="0"/>
                    <a:pt x="806245" y="110612"/>
                    <a:pt x="715297" y="127819"/>
                  </a:cubicBezTo>
                  <a:cubicBezTo>
                    <a:pt x="624349" y="145026"/>
                    <a:pt x="553065" y="130277"/>
                    <a:pt x="494071" y="113071"/>
                  </a:cubicBezTo>
                  <a:cubicBezTo>
                    <a:pt x="435077" y="95865"/>
                    <a:pt x="398207" y="7374"/>
                    <a:pt x="331839" y="2458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74" name="TextBox 93">
            <a:extLst>
              <a:ext uri="{FF2B5EF4-FFF2-40B4-BE49-F238E27FC236}">
                <a16:creationId xmlns:a16="http://schemas.microsoft.com/office/drawing/2014/main" id="{E36BB13E-DBA2-4671-8B49-2976EA39D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256" y="4816232"/>
            <a:ext cx="5540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94">
            <a:extLst>
              <a:ext uri="{FF2B5EF4-FFF2-40B4-BE49-F238E27FC236}">
                <a16:creationId xmlns:a16="http://schemas.microsoft.com/office/drawing/2014/main" id="{29F5D351-16CC-47CD-AA10-1882E5D17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6669" y="4816232"/>
            <a:ext cx="5540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95">
            <a:extLst>
              <a:ext uri="{FF2B5EF4-FFF2-40B4-BE49-F238E27FC236}">
                <a16:creationId xmlns:a16="http://schemas.microsoft.com/office/drawing/2014/main" id="{905BC508-A3B3-4035-9E0E-D0DAA8366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569" y="4816232"/>
            <a:ext cx="5540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463D402-BE8B-4959-BC48-09699B357FE3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A252E4B-115C-4CC4-895E-E8C51CB1F995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FA896B26-71DD-4651-92F4-4E171A098DAD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6800495-9C04-411F-B060-91F4ABED809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</p:spTree>
    <p:extLst>
      <p:ext uri="{BB962C8B-B14F-4D97-AF65-F5344CB8AC3E}">
        <p14:creationId xmlns:p14="http://schemas.microsoft.com/office/powerpoint/2010/main" val="413445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98AF77F-B5BB-4D8C-8848-229CF94EA0B8}"/>
              </a:ext>
            </a:extLst>
          </p:cNvPr>
          <p:cNvSpPr txBox="1">
            <a:spLocks/>
          </p:cNvSpPr>
          <p:nvPr/>
        </p:nvSpPr>
        <p:spPr>
          <a:xfrm>
            <a:off x="569343" y="1865082"/>
            <a:ext cx="8229600" cy="3278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基本回路的性质</a:t>
            </a:r>
          </a:p>
        </p:txBody>
      </p:sp>
      <p:sp>
        <p:nvSpPr>
          <p:cNvPr id="79" name="内容占位符 2">
            <a:extLst>
              <a:ext uri="{FF2B5EF4-FFF2-40B4-BE49-F238E27FC236}">
                <a16:creationId xmlns:a16="http://schemas.microsoft.com/office/drawing/2014/main" id="{3667014C-0FA6-45F0-AD0C-84A62368C799}"/>
              </a:ext>
            </a:extLst>
          </p:cNvPr>
          <p:cNvSpPr txBox="1">
            <a:spLocks/>
          </p:cNvSpPr>
          <p:nvPr/>
        </p:nvSpPr>
        <p:spPr bwMode="auto">
          <a:xfrm>
            <a:off x="560716" y="2517818"/>
            <a:ext cx="1009290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连通图中的任一条回路都可以表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示成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所含弦的基本回路的合并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0" name="Picture 6" descr="16-5">
            <a:extLst>
              <a:ext uri="{FF2B5EF4-FFF2-40B4-BE49-F238E27FC236}">
                <a16:creationId xmlns:a16="http://schemas.microsoft.com/office/drawing/2014/main" id="{CD4DE9FD-B24E-4D4C-BDBC-C63422E8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6003443" y="3435332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内容占位符 2">
            <a:extLst>
              <a:ext uri="{FF2B5EF4-FFF2-40B4-BE49-F238E27FC236}">
                <a16:creationId xmlns:a16="http://schemas.microsoft.com/office/drawing/2014/main" id="{05A7CB0B-D6F0-4716-843B-D4B94DDB259A}"/>
              </a:ext>
            </a:extLst>
          </p:cNvPr>
          <p:cNvSpPr txBox="1">
            <a:spLocks/>
          </p:cNvSpPr>
          <p:nvPr/>
        </p:nvSpPr>
        <p:spPr>
          <a:xfrm>
            <a:off x="707364" y="3492600"/>
            <a:ext cx="8229600" cy="2176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aedg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bcdgfe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Cg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7F6115-7DB3-4356-8975-7579B2D9FAD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34FEAE-52FC-45F4-BA05-4E0B07FE4DD3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E5F7F6-616C-4820-843F-F709064FE2E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A5B1B3-55F9-4230-98C6-293EA8120ABF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CCF8840-4714-4EFB-8FBB-A281D3150EE6}"/>
              </a:ext>
            </a:extLst>
          </p:cNvPr>
          <p:cNvSpPr txBox="1">
            <a:spLocks noChangeArrowheads="1"/>
          </p:cNvSpPr>
          <p:nvPr/>
        </p:nvSpPr>
        <p:spPr>
          <a:xfrm>
            <a:off x="1499166" y="5700485"/>
            <a:ext cx="7127249" cy="847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由前页：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,  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,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 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=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</a:rPr>
              <a:t>,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000" b="1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lang="en-US" altLang="zh-CN" sz="2000" b="1" dirty="0">
                <a:latin typeface="Times New Roman" panose="02020603050405020304" pitchFamily="18" charset="0"/>
              </a:rPr>
              <a:t>={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="1" i="1" baseline="-30000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}. </a:t>
            </a:r>
          </a:p>
        </p:txBody>
      </p:sp>
    </p:spTree>
    <p:extLst>
      <p:ext uri="{BB962C8B-B14F-4D97-AF65-F5344CB8AC3E}">
        <p14:creationId xmlns:p14="http://schemas.microsoft.com/office/powerpoint/2010/main" val="187158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21FFF7D-6D4F-4459-A1B6-42DAA530C65C}"/>
              </a:ext>
            </a:extLst>
          </p:cNvPr>
          <p:cNvSpPr txBox="1">
            <a:spLocks/>
          </p:cNvSpPr>
          <p:nvPr/>
        </p:nvSpPr>
        <p:spPr>
          <a:xfrm>
            <a:off x="543463" y="1705490"/>
            <a:ext cx="8229600" cy="6987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基本割集的性质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1C63D9B6-C59F-49C4-BF31-03E09BF0A12A}"/>
              </a:ext>
            </a:extLst>
          </p:cNvPr>
          <p:cNvSpPr txBox="1">
            <a:spLocks/>
          </p:cNvSpPr>
          <p:nvPr/>
        </p:nvSpPr>
        <p:spPr>
          <a:xfrm>
            <a:off x="526210" y="2573882"/>
            <a:ext cx="11153955" cy="29617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连通图中的任一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割集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都可以表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所含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树枝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的基本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割集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对称差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{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}=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6" descr="16-5">
            <a:extLst>
              <a:ext uri="{FF2B5EF4-FFF2-40B4-BE49-F238E27FC236}">
                <a16:creationId xmlns:a16="http://schemas.microsoft.com/office/drawing/2014/main" id="{8737F434-AB7A-44D5-A6DC-7DA8EB866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0" r="20482" b="39070"/>
          <a:stretch>
            <a:fillRect/>
          </a:stretch>
        </p:blipFill>
        <p:spPr bwMode="auto">
          <a:xfrm>
            <a:off x="5459484" y="3342737"/>
            <a:ext cx="274161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6AD914-5327-488A-AF18-2022B52FA57E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2386F9-36D8-4CAC-ADEB-312AA1949692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1A84F1-B6AA-4253-B772-D35F7CC88948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割集</a:t>
            </a:r>
            <a:r>
              <a:rPr lang="zh-CN" altLang="en-US" dirty="0"/>
              <a:t>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CFB056-40E1-4D9E-98BC-2C4BFC025371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251C0D-31A3-4D60-8AEA-98FDC4778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540" y="5705271"/>
            <a:ext cx="7374588" cy="827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eaLnBrk="1" hangingPunct="1">
              <a:lnSpc>
                <a:spcPct val="90000"/>
              </a:lnSpc>
              <a:spcBef>
                <a:spcPts val="3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由前页：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e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 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e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f</a:t>
            </a:r>
            <a:r>
              <a:rPr lang="en-US" altLang="zh-CN" sz="2000" b="1" kern="0" dirty="0">
                <a:latin typeface="Times New Roman" pitchFamily="18" charset="0"/>
              </a:rPr>
              <a:t>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g</a:t>
            </a:r>
            <a:r>
              <a:rPr lang="en-US" altLang="zh-CN" sz="2000" b="1" kern="0" dirty="0">
                <a:latin typeface="Times New Roman" pitchFamily="18" charset="0"/>
              </a:rPr>
              <a:t>},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0" dirty="0">
                <a:latin typeface="Times New Roman" pitchFamily="18" charset="0"/>
              </a:rPr>
              <a:t>               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zh-CN" altLang="en-US" sz="2000" b="1" kern="0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lang="en-US" altLang="zh-CN" sz="2000" b="1" kern="0" dirty="0">
                <a:latin typeface="Times New Roman" pitchFamily="18" charset="0"/>
              </a:rPr>
              <a:t>={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a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b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c</a:t>
            </a:r>
            <a:r>
              <a:rPr lang="en-US" altLang="zh-CN" sz="2000" b="1" kern="0" dirty="0">
                <a:latin typeface="Times New Roman" pitchFamily="18" charset="0"/>
              </a:rPr>
              <a:t>, </a:t>
            </a:r>
            <a:r>
              <a:rPr lang="en-US" altLang="zh-CN" sz="2000" b="1" i="1" kern="0" dirty="0">
                <a:latin typeface="Times New Roman" pitchFamily="18" charset="0"/>
              </a:rPr>
              <a:t>S</a:t>
            </a:r>
            <a:r>
              <a:rPr lang="en-US" altLang="zh-CN" sz="2000" b="1" i="1" kern="0" baseline="-30000" dirty="0">
                <a:latin typeface="Times New Roman" pitchFamily="18" charset="0"/>
              </a:rPr>
              <a:t>d</a:t>
            </a:r>
            <a:r>
              <a:rPr lang="en-US" altLang="zh-CN" sz="2000" b="1" kern="0" dirty="0">
                <a:latin typeface="Times New Roman" pitchFamily="18" charset="0"/>
              </a:rPr>
              <a:t>}.</a:t>
            </a:r>
            <a:endParaRPr lang="en-US" altLang="zh-CN" sz="2000" b="1" kern="0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2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E613431-B443-486A-AECA-2CADA6F1B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67" y="1510160"/>
            <a:ext cx="11238692" cy="107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对无向图或有向图的每一条边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附加一个实数</a:t>
            </a:r>
            <a:r>
              <a:rPr lang="en-US" altLang="zh-CN" sz="2400" b="1" i="1" kern="0" dirty="0">
                <a:latin typeface="Times New Roman" pitchFamily="18" charset="0"/>
              </a:rPr>
              <a:t>w</a:t>
            </a:r>
            <a:r>
              <a:rPr lang="en-US" altLang="zh-CN" sz="2400" b="1" kern="0" dirty="0">
                <a:latin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</a:rPr>
              <a:t>e</a:t>
            </a:r>
            <a:r>
              <a:rPr lang="en-US" altLang="zh-CN" sz="2400" b="1" kern="0" dirty="0">
                <a:latin typeface="Times New Roman" pitchFamily="18" charset="0"/>
              </a:rPr>
              <a:t>)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itchFamily="18" charset="0"/>
              </a:rPr>
              <a:t>e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的权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图连同附加在边上的权称作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带权图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lang="en-US" altLang="zh-CN" sz="2400" b="1" i="1" kern="0" dirty="0">
                <a:latin typeface="Times New Roman" pitchFamily="18" charset="0"/>
              </a:rPr>
              <a:t>G</a:t>
            </a:r>
            <a:r>
              <a:rPr lang="en-US" altLang="zh-CN" sz="2400" b="1" kern="0" dirty="0">
                <a:latin typeface="Times New Roman" pitchFamily="18" charset="0"/>
              </a:rPr>
              <a:t>=&lt;</a:t>
            </a:r>
            <a:r>
              <a:rPr lang="en-US" altLang="zh-CN" sz="2400" b="1" i="1" kern="0" dirty="0" err="1">
                <a:latin typeface="Times New Roman" pitchFamily="18" charset="0"/>
              </a:rPr>
              <a:t>V</a:t>
            </a:r>
            <a:r>
              <a:rPr lang="en-US" altLang="zh-CN" sz="2400" b="1" kern="0" dirty="0" err="1">
                <a:latin typeface="Times New Roman" pitchFamily="18" charset="0"/>
              </a:rPr>
              <a:t>,</a:t>
            </a:r>
            <a:r>
              <a:rPr lang="en-US" altLang="zh-CN" sz="2400" b="1" i="1" kern="0" dirty="0" err="1">
                <a:latin typeface="Times New Roman" pitchFamily="18" charset="0"/>
              </a:rPr>
              <a:t>E</a:t>
            </a:r>
            <a:r>
              <a:rPr lang="en-US" altLang="zh-CN" sz="2400" b="1" kern="0" dirty="0" err="1">
                <a:latin typeface="Times New Roman" pitchFamily="18" charset="0"/>
              </a:rPr>
              <a:t>,</a:t>
            </a:r>
            <a:r>
              <a:rPr lang="en-US" altLang="zh-CN" sz="2400" b="1" i="1" kern="0" dirty="0" err="1">
                <a:latin typeface="Times New Roman" pitchFamily="18" charset="0"/>
              </a:rPr>
              <a:t>W</a:t>
            </a:r>
            <a:r>
              <a:rPr lang="en-US" altLang="zh-CN" sz="2400" b="1" kern="0" dirty="0">
                <a:latin typeface="Times New Roman" pitchFamily="18" charset="0"/>
              </a:rPr>
              <a:t>&gt;.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909DCD-1BC9-4CE7-B11D-72C6B30D427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0C79F6-40B6-4824-83AA-17525D00E6F9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932DDC-C57B-4D82-A93A-07D7A756ACB4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53FAFA-D132-4481-8D6E-33FD654911CF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最小生成树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6B5F90F-95FE-4B91-97CE-0104C7677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67" y="2541571"/>
            <a:ext cx="11238692" cy="732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是</a:t>
            </a:r>
            <a:r>
              <a:rPr lang="en-US" altLang="zh-CN" sz="2400" b="1" i="1" kern="0" dirty="0">
                <a:latin typeface="Times New Roman" pitchFamily="18" charset="0"/>
                <a:sym typeface="Symbol" pitchFamily="18" charset="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的生成树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,</a:t>
            </a:r>
            <a:r>
              <a:rPr lang="en-US" altLang="zh-CN" sz="2400" b="1" i="1" kern="0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所有边的权的和称作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itchFamily="18" charset="0"/>
                <a:sym typeface="Symbol" pitchFamily="18" charset="2"/>
              </a:rPr>
              <a:t>T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的权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记作</a:t>
            </a:r>
            <a:r>
              <a:rPr lang="en-US" altLang="zh-CN" sz="2400" b="1" i="1" kern="0" dirty="0">
                <a:latin typeface="Times New Roman" pitchFamily="18" charset="0"/>
                <a:sym typeface="Symbol" pitchFamily="18" charset="2"/>
              </a:rPr>
              <a:t>W</a:t>
            </a:r>
            <a:r>
              <a:rPr lang="en-US" altLang="zh-CN" sz="2400" b="1" kern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 sz="2400" b="1" kern="0" dirty="0">
                <a:latin typeface="Times New Roman" pitchFamily="18" charset="0"/>
                <a:sym typeface="Symbol" pitchFamily="18" charset="2"/>
              </a:rPr>
              <a:t>).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225DE64-BCC8-4E75-A56D-7B756BEA6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67" y="3083325"/>
            <a:ext cx="8141262" cy="6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  <a:r>
              <a:rPr lang="en-US" altLang="zh-CN" sz="2400" b="1" kern="0" dirty="0">
                <a:latin typeface="Times New Roman" pitchFamily="18" charset="0"/>
              </a:rPr>
              <a:t>: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带权图权最小的生成树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24A547-5438-4CC0-844A-0FF0ECC7E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95" y="4160796"/>
            <a:ext cx="3264930" cy="23543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3C1FFC-EDAC-4250-82E3-45F27A2C1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274" y="4016636"/>
            <a:ext cx="3139138" cy="25589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BF05F7-94E9-4F2B-9FF8-01C85BBA8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56" y="3990401"/>
            <a:ext cx="3094692" cy="259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9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909DCD-1BC9-4CE7-B11D-72C6B30D427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0C79F6-40B6-4824-83AA-17525D00E6F9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932DDC-C57B-4D82-A93A-07D7A756ACB4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53FAFA-D132-4481-8D6E-33FD654911CF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最小生成树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173CB46-8500-4ED5-ABD4-E2D4C807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29" y="1681462"/>
            <a:ext cx="11238692" cy="293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ts val="0"/>
              </a:spcBef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求最小生成树的算法</a:t>
            </a:r>
            <a:r>
              <a:rPr lang="en-US" altLang="zh-CN" sz="2400" b="1" kern="0" dirty="0">
                <a:latin typeface="Times New Roman" pitchFamily="18" charset="0"/>
                <a:cs typeface="Times New Roman" pitchFamily="18" charset="0"/>
              </a:rPr>
              <a:t>——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避圈法 </a:t>
            </a:r>
            <a:r>
              <a:rPr lang="en-US" altLang="zh-CN" sz="2400" b="1" kern="0" dirty="0">
                <a:solidFill>
                  <a:srgbClr val="992677"/>
                </a:solidFill>
                <a:latin typeface="Times New Roman" pitchFamily="18" charset="0"/>
                <a:cs typeface="Times New Roman" pitchFamily="18" charset="0"/>
              </a:rPr>
              <a:t>(Kruskal)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阶无向连通带权图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sz="2400" b="1" kern="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按权从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小到大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排列边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环除外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kern="0" baseline="-25000" dirty="0" err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sz="2400" b="1" kern="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kern="0" baseline="-25000" dirty="0" err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sz="2400" b="1" kern="0" dirty="0">
                <a:latin typeface="Times New Roman" pitchFamily="18" charset="0"/>
                <a:cs typeface="Times New Roman" pitchFamily="18" charset="0"/>
              </a:rPr>
              <a:t>≤…≤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i="1" kern="0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).</a:t>
            </a:r>
            <a:endParaRPr lang="zh-CN" sz="2400" b="1" kern="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  <a:sym typeface="Symbol"/>
              </a:rPr>
              <a:t>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  <a:sym typeface="Symbol"/>
              </a:rPr>
              <a:t>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  <a:sym typeface="Symbol"/>
              </a:rPr>
              <a:t>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sz="2400" b="1" kern="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i="1" kern="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中的边不构成回路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则令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  <a:sym typeface="Symbol"/>
              </a:rPr>
              <a:t>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宋体"/>
                <a:cs typeface="+mn-cs"/>
                <a:sym typeface="Symbol" pitchFamily="18" charset="2"/>
              </a:rPr>
              <a:t> ∪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i="1" kern="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  <a:sym typeface="Symbol"/>
              </a:rPr>
              <a:t>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.  </a:t>
            </a:r>
            <a:endParaRPr lang="zh-CN" sz="2400" b="1" kern="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(4) </a:t>
            </a:r>
            <a:r>
              <a:rPr 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若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i="1" kern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则令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  <a:sym typeface="Symbol"/>
              </a:rPr>
              <a:t></a:t>
            </a:r>
            <a:r>
              <a:rPr lang="en-US" sz="2400" b="1" i="1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kern="0" dirty="0" err="1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转</a:t>
            </a:r>
            <a:r>
              <a:rPr lang="en-US" sz="2400" b="1" kern="0" dirty="0">
                <a:latin typeface="Times New Roman" pitchFamily="18" charset="0"/>
                <a:cs typeface="Times New Roman" pitchFamily="18" charset="0"/>
              </a:rPr>
              <a:t>(3).</a:t>
            </a:r>
            <a:endParaRPr lang="en-US" altLang="zh-CN" sz="2400" b="1" kern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9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无向树及其生成树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2AF0317-BBAC-4F69-B76E-DF80AE7A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35" y="15962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    求图的一棵最小生成树.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0C6A83C-350A-4E9A-9A36-35D86CDCB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919" y="5390469"/>
            <a:ext cx="57252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所求最小生成树如图所示，</a:t>
            </a:r>
            <a:r>
              <a:rPr lang="zh-CN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W(T)=38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B6CF9E-87A8-454A-9CD9-FC273F3E533F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无向树与森林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58D4C4-C619-48CA-AD5A-6553BD6CAFE3}"/>
              </a:ext>
            </a:extLst>
          </p:cNvPr>
          <p:cNvSpPr txBox="1"/>
          <p:nvPr/>
        </p:nvSpPr>
        <p:spPr>
          <a:xfrm>
            <a:off x="3525844" y="984288"/>
            <a:ext cx="1805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生成树与余树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E03F80-665A-4699-86B3-3B6BB4D20BDC}"/>
              </a:ext>
            </a:extLst>
          </p:cNvPr>
          <p:cNvSpPr txBox="1"/>
          <p:nvPr/>
        </p:nvSpPr>
        <p:spPr>
          <a:xfrm>
            <a:off x="6420989" y="99004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基本回路</a:t>
            </a:r>
            <a:r>
              <a:rPr lang="en-US" altLang="zh-CN" dirty="0"/>
              <a:t>/</a:t>
            </a:r>
            <a:r>
              <a:rPr lang="zh-CN" altLang="en-US" dirty="0"/>
              <a:t>割集系统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44C3B5-DFAF-4A08-9933-FBBA96317932}"/>
              </a:ext>
            </a:extLst>
          </p:cNvPr>
          <p:cNvSpPr txBox="1"/>
          <p:nvPr/>
        </p:nvSpPr>
        <p:spPr>
          <a:xfrm>
            <a:off x="10058151" y="991740"/>
            <a:ext cx="157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最小生成树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9D478-FDA9-49B9-9F81-9D5B9119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72" y="2457973"/>
            <a:ext cx="2685212" cy="21976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4DCDC3-9E93-4F03-9274-ED2CF10A4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557" y="2457973"/>
            <a:ext cx="2793660" cy="202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9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DBB5353-A2AD-4E0A-851D-17ADB1165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74" y="1593789"/>
            <a:ext cx="83915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7.5  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i="1" kern="0" dirty="0">
                <a:latin typeface="Times New Roman" panose="02020603050405020304" pitchFamily="18" charset="0"/>
              </a:rPr>
              <a:t>T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有向树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（基图为无向树的有向图）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(1) </a:t>
            </a:r>
            <a:r>
              <a:rPr lang="en-US" altLang="zh-CN" i="1" kern="0" dirty="0">
                <a:latin typeface="Times New Roman" panose="02020603050405020304" pitchFamily="18" charset="0"/>
              </a:rPr>
              <a:t>T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根树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en-US" altLang="zh-CN" i="1" kern="0" dirty="0">
                <a:latin typeface="Times New Roman" panose="02020603050405020304" pitchFamily="18" charset="0"/>
              </a:rPr>
              <a:t>T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中一个顶点入度为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，其余顶点入度均为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(2)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树根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入度为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(3)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树叶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入度为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，出度为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(4)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内点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入度为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，出度不为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(5)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分支点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树根与内点的总称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(6)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顶点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层数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从树根到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的通路长度</a:t>
            </a:r>
          </a:p>
          <a:p>
            <a:pPr marL="0" indent="-6096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(7)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树高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en-US" altLang="zh-CN" i="1" kern="0" dirty="0">
                <a:latin typeface="Times New Roman" panose="02020603050405020304" pitchFamily="18" charset="0"/>
              </a:rPr>
              <a:t>T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中层数最大顶点的层数</a:t>
            </a:r>
          </a:p>
        </p:txBody>
      </p:sp>
      <p:pic>
        <p:nvPicPr>
          <p:cNvPr id="13" name="Picture 7" descr="16-12(1)">
            <a:extLst>
              <a:ext uri="{FF2B5EF4-FFF2-40B4-BE49-F238E27FC236}">
                <a16:creationId xmlns:a16="http://schemas.microsoft.com/office/drawing/2014/main" id="{5512A8FE-B9CC-4F50-8BDB-E05536C15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342" y="2286000"/>
            <a:ext cx="2099293" cy="382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0F923BE-DF35-48F1-8DC9-EFFD8A8B1B39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873CCA-DABC-4203-B4BB-602A9D28F61A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3D9970-B919-4A9C-BD6F-B4602769382B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396508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F5FF0FC-030E-47D0-979A-4C0D6E524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627517"/>
            <a:ext cx="8229600" cy="826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根树的画法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树根放上方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省去所有有向边上的箭头</a:t>
            </a:r>
          </a:p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如右图所示</a:t>
            </a:r>
          </a:p>
        </p:txBody>
      </p:sp>
      <p:pic>
        <p:nvPicPr>
          <p:cNvPr id="16" name="Picture 7" descr="16-12(1)">
            <a:extLst>
              <a:ext uri="{FF2B5EF4-FFF2-40B4-BE49-F238E27FC236}">
                <a16:creationId xmlns:a16="http://schemas.microsoft.com/office/drawing/2014/main" id="{17FC6B27-36B4-41C0-A1EB-3C178DA9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948" y="2817159"/>
            <a:ext cx="2099293" cy="382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4599698A-472F-4B20-B3B3-A92EACA2A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048" y="2801891"/>
            <a:ext cx="581604" cy="60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B16AF0E-BB02-459B-B345-3D09F265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2860162"/>
            <a:ext cx="8229600" cy="60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是树根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7EED5C7-A136-40B9-8778-68C2E1CC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3391698"/>
            <a:ext cx="3248607" cy="61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是树叶</a:t>
            </a:r>
          </a:p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08097E8-48BD-4C9A-9809-93FDD6998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990" y="3339774"/>
            <a:ext cx="1670818" cy="61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b, e, f, h,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3C9DED2-2FA7-4DEA-AF63-DA93E46D1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256" y="3853005"/>
            <a:ext cx="1630479" cy="6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c, d, g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1B5BA873-6F88-4286-BE7B-4C4079A3F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3934437"/>
            <a:ext cx="3566855" cy="6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是内点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50E23F0-EFD0-47B8-BB13-81D51745F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4463728"/>
            <a:ext cx="3026732" cy="582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是分支点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9A9EA4B-566C-41D3-A23A-9B0E9879F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913" y="4411059"/>
            <a:ext cx="1408603" cy="582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a, c, d, g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753E767-072F-4422-A5A6-E061B698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734" y="4946695"/>
            <a:ext cx="610744" cy="51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D3FB15CF-80CC-4CE0-B26C-106E00550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5616440"/>
            <a:ext cx="8229600" cy="707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  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层有</a:t>
            </a:r>
            <a:r>
              <a:rPr lang="zh-CN" altLang="en-US" sz="2400" b="1" u="sng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F803C1F7-9A95-460F-A862-E598D280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379" y="4970607"/>
            <a:ext cx="4463326" cy="72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i="1" u="sng" kern="0" dirty="0">
                <a:latin typeface="Times New Roman" panose="02020603050405020304" pitchFamily="18" charset="0"/>
                <a:ea typeface="宋体"/>
              </a:rPr>
              <a:t>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0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B9D42A-117D-4AF5-B1FC-8CFC02C0DD2D}"/>
              </a:ext>
            </a:extLst>
          </p:cNvPr>
          <p:cNvSpPr txBox="1"/>
          <p:nvPr/>
        </p:nvSpPr>
        <p:spPr>
          <a:xfrm>
            <a:off x="2012017" y="5593975"/>
            <a:ext cx="905994" cy="48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-342900" algn="just" fontAlgn="base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 kumimoji="0" sz="2400" b="1" i="1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/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/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/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/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/>
            </a:lvl9pPr>
          </a:lstStyle>
          <a:p>
            <a:r>
              <a:rPr lang="en-US" altLang="zh-CN" dirty="0"/>
              <a:t>b, c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F5336C-87E2-4CC0-89B3-49AF219D9251}"/>
              </a:ext>
            </a:extLst>
          </p:cNvPr>
          <p:cNvSpPr txBox="1"/>
          <p:nvPr/>
        </p:nvSpPr>
        <p:spPr>
          <a:xfrm>
            <a:off x="3666000" y="5651352"/>
            <a:ext cx="1195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d, e, f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A263FB-02DB-44BD-8E4E-A1647DD617DD}"/>
              </a:ext>
            </a:extLst>
          </p:cNvPr>
          <p:cNvSpPr txBox="1"/>
          <p:nvPr/>
        </p:nvSpPr>
        <p:spPr>
          <a:xfrm>
            <a:off x="7363946" y="5678251"/>
            <a:ext cx="798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A53EC4-F46F-4DAA-AAA6-3B9974917F3D}"/>
              </a:ext>
            </a:extLst>
          </p:cNvPr>
          <p:cNvSpPr txBox="1"/>
          <p:nvPr/>
        </p:nvSpPr>
        <p:spPr>
          <a:xfrm>
            <a:off x="5555317" y="5644634"/>
            <a:ext cx="1470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</a:rPr>
              <a:t>g, h</a:t>
            </a:r>
            <a:endParaRPr lang="zh-CN" altLang="en-US" sz="2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0ABD288-DC75-4379-BA59-9535C336529F}"/>
              </a:ext>
            </a:extLst>
          </p:cNvPr>
          <p:cNvSpPr txBox="1"/>
          <p:nvPr/>
        </p:nvSpPr>
        <p:spPr>
          <a:xfrm>
            <a:off x="2314575" y="6313632"/>
            <a:ext cx="953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endParaRPr lang="zh-CN" altLang="en-US" sz="24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BB64785-6461-4402-AD09-5AEE9F31629F}"/>
              </a:ext>
            </a:extLst>
          </p:cNvPr>
          <p:cNvGrpSpPr/>
          <p:nvPr/>
        </p:nvGrpSpPr>
        <p:grpSpPr>
          <a:xfrm>
            <a:off x="1137379" y="6248825"/>
            <a:ext cx="1991309" cy="548663"/>
            <a:chOff x="1137379" y="6248825"/>
            <a:chExt cx="1991309" cy="548663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C346479B-F49B-4411-9918-3F2D6F8B8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379" y="6248825"/>
              <a:ext cx="1991309" cy="548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marR="0" lvl="0" indent="-342900" algn="just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树高为</a:t>
              </a:r>
              <a:r>
                <a:rPr lang="zh-CN" altLang="en-US" sz="2400" b="1" u="sng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    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endParaRPr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56F509F7-54C5-48ED-BDC6-F7BF2CC16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0607" y="6670371"/>
              <a:ext cx="530398" cy="12193"/>
            </a:xfrm>
            <a:prstGeom prst="rect">
              <a:avLst/>
            </a:prstGeom>
          </p:spPr>
        </p:pic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F0938CD2-E065-45F7-8B35-579C9CFF17B0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CCCC04-0069-4176-B4F8-13962F086952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B9F252-8104-4F6A-BBCD-11B3D60FAA03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64547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EAEC8DE-79AB-4A6F-AE8D-F1C70EDE5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8" y="1700213"/>
            <a:ext cx="11425089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把根树看作一棵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家族树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</a:t>
            </a:r>
          </a:p>
          <a:p>
            <a:pPr marL="0" marR="0" lvl="0" indent="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若顶点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邻接到顶点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儿子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父亲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</a:t>
            </a:r>
          </a:p>
          <a:p>
            <a:pPr marL="0" marR="0" lvl="0" indent="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为同一个顶点的儿子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兄弟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</a:t>
            </a:r>
          </a:p>
          <a:p>
            <a:pPr marL="0" marR="0" lvl="0" indent="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(3)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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祖先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7.6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为根树的一个顶点且不是树根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及其所有后代的导出子图为以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为根的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根子树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F8A1C6-E225-4796-BF6C-C247D1E14EC5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B9D88D-B6BE-4D91-8CA5-987B12944CB8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8AD83E-CBA2-4615-9C9F-6AC2F79DCC9B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9630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BE8DAB5-8E2D-4A2F-85B6-F8C983E0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02" y="2233433"/>
            <a:ext cx="82296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358775" indent="-358775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(1) </a:t>
            </a:r>
            <a:r>
              <a:rPr lang="en-US" altLang="zh-CN" i="1" kern="0" dirty="0">
                <a:latin typeface="Times New Roman" panose="02020603050405020304" pitchFamily="18" charset="0"/>
              </a:rPr>
              <a:t>T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有序根树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同层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上顶点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标定次序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的根树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04671CAD-3212-4EE3-9E34-268B8AB69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02" y="3097033"/>
            <a:ext cx="8229600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分类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①</a:t>
            </a:r>
            <a:r>
              <a:rPr lang="zh-CN" altLang="en-US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叉树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——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每个分支点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至多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个儿子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②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</a:t>
            </a:r>
            <a:r>
              <a:rPr lang="en-US" altLang="zh-CN" i="1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叉有序树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——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叉树是有序的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③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</a:t>
            </a:r>
            <a:r>
              <a:rPr lang="en-US" altLang="zh-CN" i="1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叉正则树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——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每个分支点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恰有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个儿子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④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</a:t>
            </a:r>
            <a:r>
              <a:rPr lang="en-US" altLang="zh-CN" i="1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叉正则有序树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⑤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</a:t>
            </a:r>
            <a:r>
              <a:rPr lang="en-US" altLang="zh-CN" i="1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叉完全正则树</a:t>
            </a:r>
            <a:r>
              <a:rPr lang="en-US" altLang="zh-CN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——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树叶层数相同的</a:t>
            </a:r>
            <a:r>
              <a:rPr lang="en-US" altLang="zh-CN" i="1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叉正则树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itchFamily="18" charset="0"/>
                <a:ea typeface="宋体"/>
              </a:rPr>
              <a:t>     ⑥</a:t>
            </a:r>
            <a:r>
              <a:rPr lang="zh-CN" altLang="en-US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en-US" altLang="zh-CN" i="1" kern="0" dirty="0">
                <a:solidFill>
                  <a:srgbClr val="992677"/>
                </a:solidFill>
                <a:latin typeface="Times New Roman" pitchFamily="18" charset="0"/>
                <a:ea typeface="宋体"/>
              </a:rPr>
              <a:t>r</a:t>
            </a:r>
            <a:r>
              <a:rPr lang="en-US" altLang="zh-CN" i="1" kern="0" dirty="0">
                <a:solidFill>
                  <a:srgbClr val="0000FF"/>
                </a:solidFill>
                <a:latin typeface="Times New Roman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叉完全正则有序树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FEC2997-E35E-4859-B309-CD6520D81AB0}"/>
              </a:ext>
            </a:extLst>
          </p:cNvPr>
          <p:cNvSpPr txBox="1">
            <a:spLocks noChangeArrowheads="1"/>
          </p:cNvSpPr>
          <p:nvPr/>
        </p:nvSpPr>
        <p:spPr>
          <a:xfrm>
            <a:off x="540617" y="1691889"/>
            <a:ext cx="3161730" cy="4175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根树的分类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153308-6D6E-4D15-9DF9-290F246FA99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B263EA-BDD1-431A-A71D-503D1CB45077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303332-CE34-45F9-A009-B11DD4CD3023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C08806-CBB4-4065-9F20-CA9CF9C8E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373" y="2314043"/>
            <a:ext cx="725949" cy="15116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09C64E0-02A1-4BD0-A264-5016CCF94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9161" y="2417714"/>
            <a:ext cx="694419" cy="13945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C36DAC-99BF-4B16-8726-C6C4A5911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823" y="4872286"/>
            <a:ext cx="988784" cy="106257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3C72F7A-56C7-431F-AD7A-ABF1A880FFE9}"/>
              </a:ext>
            </a:extLst>
          </p:cNvPr>
          <p:cNvSpPr txBox="1"/>
          <p:nvPr/>
        </p:nvSpPr>
        <p:spPr>
          <a:xfrm>
            <a:off x="8805597" y="4020110"/>
            <a:ext cx="903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600" dirty="0"/>
              <a:t>二叉树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A14174-ADF1-4D59-B9B6-AAF8D5D9C0E5}"/>
              </a:ext>
            </a:extLst>
          </p:cNvPr>
          <p:cNvSpPr txBox="1"/>
          <p:nvPr/>
        </p:nvSpPr>
        <p:spPr>
          <a:xfrm>
            <a:off x="10652334" y="4024591"/>
            <a:ext cx="13626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600" dirty="0"/>
              <a:t>二叉正则树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A5701D-325B-4C03-AD55-609AB7C33B57}"/>
              </a:ext>
            </a:extLst>
          </p:cNvPr>
          <p:cNvSpPr txBox="1"/>
          <p:nvPr/>
        </p:nvSpPr>
        <p:spPr>
          <a:xfrm>
            <a:off x="9621393" y="6059584"/>
            <a:ext cx="1882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600" dirty="0"/>
              <a:t>二叉完全正则树</a:t>
            </a:r>
          </a:p>
        </p:txBody>
      </p:sp>
    </p:spTree>
    <p:extLst>
      <p:ext uri="{BB962C8B-B14F-4D97-AF65-F5344CB8AC3E}">
        <p14:creationId xmlns:p14="http://schemas.microsoft.com/office/powerpoint/2010/main" val="325580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08B2806-C681-460B-8230-016D5B199658}"/>
              </a:ext>
            </a:extLst>
          </p:cNvPr>
          <p:cNvGrpSpPr/>
          <p:nvPr/>
        </p:nvGrpSpPr>
        <p:grpSpPr>
          <a:xfrm>
            <a:off x="533305" y="1040372"/>
            <a:ext cx="10965703" cy="2792239"/>
            <a:chOff x="490175" y="1256028"/>
            <a:chExt cx="10965703" cy="2792239"/>
          </a:xfrm>
        </p:grpSpPr>
        <p:graphicFrame>
          <p:nvGraphicFramePr>
            <p:cNvPr id="15" name="Object 4">
              <a:extLst>
                <a:ext uri="{FF2B5EF4-FFF2-40B4-BE49-F238E27FC236}">
                  <a16:creationId xmlns:a16="http://schemas.microsoft.com/office/drawing/2014/main" id="{89533977-ACC6-4591-87D9-8E2D3EC88D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3419143"/>
                </p:ext>
              </p:extLst>
            </p:nvPr>
          </p:nvGraphicFramePr>
          <p:xfrm>
            <a:off x="2615540" y="2246467"/>
            <a:ext cx="2281238" cy="86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29810" imgH="431613" progId="Equation.3">
                    <p:embed/>
                  </p:oleObj>
                </mc:Choice>
                <mc:Fallback>
                  <p:oleObj name="公式" r:id="rId3" imgW="1129810" imgH="431613" progId="Equation.3">
                    <p:embed/>
                    <p:pic>
                      <p:nvPicPr>
                        <p:cNvPr id="15" name="Object 4">
                          <a:extLst>
                            <a:ext uri="{FF2B5EF4-FFF2-40B4-BE49-F238E27FC236}">
                              <a16:creationId xmlns:a16="http://schemas.microsoft.com/office/drawing/2014/main" id="{89533977-ACC6-4591-87D9-8E2D3EC88D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540" y="2246467"/>
                          <a:ext cx="2281238" cy="863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6CAB7928-2B30-4324-BD8C-9EB333960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75" y="1256028"/>
              <a:ext cx="10965703" cy="2792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Char char="•"/>
                <a:tabLst>
                  <a:tab pos="342900" algn="l"/>
                </a:tabLs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2900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3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定义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.9</a:t>
              </a: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叉树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片树叶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，权分别为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1" u="none" strike="noStrike" kern="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，称                               </a:t>
              </a:r>
              <a:endPara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lang="en-US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</a:p>
            <a:p>
              <a:pPr marL="0" marR="0" lvl="0" indent="0" defTabSz="914400" eaLnBrk="0" fontAlgn="base" latinLnBrk="0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42900" algn="l"/>
                </a:tabLst>
                <a:defRPr/>
              </a:pP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  <a:r>
                <a:rPr lang="zh-CN" altLang="zh-CN" kern="0" dirty="0">
                  <a:solidFill>
                    <a:srgbClr val="992677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 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的权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，其中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的层数. 在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所有的含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片树叶，带权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kumimoji="0" lang="zh-CN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r>
                <a:rPr kumimoji="0" lang="zh-CN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叉树中，权最小的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叉树称为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最优</a:t>
              </a:r>
              <a:r>
                <a:rPr lang="zh-CN" altLang="en-US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叉树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. </a:t>
              </a:r>
            </a:p>
          </p:txBody>
        </p:sp>
      </p:grpSp>
      <p:sp>
        <p:nvSpPr>
          <p:cNvPr id="27" name="TextBox 8">
            <a:extLst>
              <a:ext uri="{FF2B5EF4-FFF2-40B4-BE49-F238E27FC236}">
                <a16:creationId xmlns:a16="http://schemas.microsoft.com/office/drawing/2014/main" id="{C7CAAB67-2EB5-4132-9CD7-FD57D2C7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476" y="6184032"/>
            <a:ext cx="38391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(6+3)*3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4*2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(5+1) *2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= 47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E249B3AE-E3DD-46DA-AAC7-7F627EE6C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450" y="6184032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)=54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AB725ED1-5C3E-4CBF-BE18-62BF31EC3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108" y="6231097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)=42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9E5965-AFAC-4103-AB00-CEA2583F7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425" y="4020252"/>
            <a:ext cx="6205339" cy="224426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408E4A2-F8CE-4138-92B0-2F4120B57178}"/>
              </a:ext>
            </a:extLst>
          </p:cNvPr>
          <p:cNvSpPr txBox="1"/>
          <p:nvPr/>
        </p:nvSpPr>
        <p:spPr>
          <a:xfrm>
            <a:off x="9676682" y="6171860"/>
            <a:ext cx="2277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是最优二叉树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56A731-8A4D-4DD7-9A5F-EECFCEE95C62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8DECB7-8E62-4BE7-BEAE-54D09BD911CA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3748AD-9C61-4779-A11D-D8D8102CC99D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14890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5518EE86-8D0B-4E6D-A1C7-DAB7C3A9A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400" y="1484313"/>
            <a:ext cx="8424863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求最优树的算法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——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Huffman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给定实数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kumimoji="0" lang="zh-CN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0" lang="zh-CN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kumimoji="0" lang="zh-CN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21F267C0-E45D-4046-8BD4-39AC50C6F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18" y="2980697"/>
            <a:ext cx="11207002" cy="319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片树叶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分别以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t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为权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在所有入度为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不一定是树叶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中选出两个权最小的顶点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添加一个新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分支点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以这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个顶点为儿子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其权等于这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个儿子的权之和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重复②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直到只有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个入度为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的顶点为止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i="1" kern="0" dirty="0">
                <a:latin typeface="Times New Roman" panose="02020603050405020304" pitchFamily="18" charset="0"/>
              </a:rPr>
              <a:t>W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T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等于所有分支点的权之和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8DB3C8-BCD0-4EF4-9C97-A1EE219240D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186DA0-3360-4772-8859-CFE359408A7A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EA5F6B-D181-4C95-9D87-0BB4ED9AB5C6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50972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D5CB42D-9DCD-4004-B7F5-14577CDA5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14" y="1564078"/>
            <a:ext cx="8229600" cy="67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  求权为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1, 3, 4, 5, 6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的最优树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50E1863-8A48-4F21-BBB2-2AC07DC0B191}"/>
              </a:ext>
            </a:extLst>
          </p:cNvPr>
          <p:cNvSpPr txBox="1"/>
          <p:nvPr/>
        </p:nvSpPr>
        <p:spPr>
          <a:xfrm>
            <a:off x="8405935" y="5129713"/>
            <a:ext cx="37233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(1+3)*3 + 4*2 + (5+6) *2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42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80AE7A4-62EC-4036-96F7-2E28A3D04F4B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4F972F-FDD5-4484-9412-D8C70C574182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B67CCC-0E61-47BE-9D91-B470D2F5B8D3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63D5B4-DA31-4FE5-9734-B1C4F4A9A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001" y="1978041"/>
            <a:ext cx="6808099" cy="2314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35FFA9-0981-4D28-9B4D-51B0FC06A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907" y="4271237"/>
            <a:ext cx="5247275" cy="25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0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73C2359-4B4D-4CF9-8BEF-B1723834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32" y="1645547"/>
            <a:ext cx="10502302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7.10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, …,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n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是长度为 </a:t>
            </a:r>
            <a:r>
              <a:rPr lang="en-US" altLang="zh-CN" i="1" kern="0" dirty="0">
                <a:latin typeface="Times New Roman" panose="02020603050405020304" pitchFamily="18" charset="0"/>
              </a:rPr>
              <a:t>n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的符号串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(1)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前缀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, …,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…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kern="0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 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(2)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前缀码</a:t>
            </a:r>
            <a:r>
              <a:rPr lang="en-US" altLang="zh-CN" kern="0" dirty="0">
                <a:latin typeface="Times New Roman" panose="02020603050405020304" pitchFamily="18" charset="0"/>
              </a:rPr>
              <a:t>——{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kern="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, …,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latin typeface="Times New Roman" panose="02020603050405020304" pitchFamily="18" charset="0"/>
              </a:rPr>
              <a:t>}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中任何两个元素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互不为前缀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Times New Roman" panose="02020603050405020304" pitchFamily="18" charset="0"/>
              </a:rPr>
              <a:t>(3)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二元前缀码</a:t>
            </a:r>
            <a:r>
              <a:rPr lang="en-US" altLang="zh-CN" kern="0" dirty="0">
                <a:latin typeface="Times New Roman" panose="02020603050405020304" pitchFamily="18" charset="0"/>
              </a:rPr>
              <a:t>——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Times New Roman" panose="02020603050405020304" pitchFamily="18" charset="0"/>
              </a:rPr>
              <a:t>(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Times New Roman" panose="02020603050405020304" pitchFamily="18" charset="0"/>
              </a:rPr>
              <a:t>=1, 2, …, </a:t>
            </a:r>
            <a:r>
              <a:rPr lang="en-US" altLang="zh-CN" i="1" kern="0" dirty="0"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latin typeface="Times New Roman" panose="02020603050405020304" pitchFamily="18" charset="0"/>
              </a:rPr>
              <a:t>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中只出现两个符号，如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7B899A00-21E1-468E-A064-8104C072D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59" y="4889529"/>
            <a:ext cx="9442752" cy="137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如何产生二元前缀码？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棵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叉树产生一个二元前缀码.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lang="zh-CN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一棵正则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叉树产生惟一的前缀码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r>
              <a:rPr lang="zh-CN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子树标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子树标</a:t>
            </a:r>
            <a:r>
              <a:rPr lang="zh-CN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36E861-739C-459F-9F28-D4ADEBA372DB}"/>
              </a:ext>
            </a:extLst>
          </p:cNvPr>
          <p:cNvSpPr txBox="1"/>
          <p:nvPr/>
        </p:nvSpPr>
        <p:spPr>
          <a:xfrm>
            <a:off x="795787" y="3599187"/>
            <a:ext cx="8745028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如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{0,10,110, 1111}, {10,01,001,110}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是二元前缀码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{0,10,010, 1010}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不是前缀码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350C55-27E0-49CC-A0A1-E4C4ED9943A9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C9AB4A-BEA8-4651-8DA1-F8C57FACF43E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A4272E-75AD-42F0-B4D8-BAAB31301344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414047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E84252D-7BE9-4362-A436-C33F20EFE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33" y="4635479"/>
            <a:ext cx="11662456" cy="1166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对每个分支点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若关联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则给左边标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右边标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1; </a:t>
            </a:r>
          </a:p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若只关联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则可以给它标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看作左边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也可以标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看作右边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).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083466-74D0-4408-93B2-2AC31937F059}"/>
              </a:ext>
            </a:extLst>
          </p:cNvPr>
          <p:cNvSpPr txBox="1"/>
          <p:nvPr/>
        </p:nvSpPr>
        <p:spPr>
          <a:xfrm>
            <a:off x="588753" y="1562182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537588-CA4D-4B74-A19E-5BB74D776461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0D25B-2EA0-43B2-857D-327D01DCFCC3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1EB5071-909E-43C0-AADE-71ECB908CB51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5B940E-58BE-43EF-B5FD-A7C22D62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54" y="1944020"/>
            <a:ext cx="7468588" cy="2551963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7ABC8182-EBA7-4E2D-9480-B50E3DE74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73" y="5682118"/>
            <a:ext cx="11718486" cy="116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将从树根到每一片树叶的通路上标的数字组成的字符串记在树叶处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所得的字符串构成一个前缀码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71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ECD3D323-15CA-44A8-A96A-B9ADF9B360BA}"/>
              </a:ext>
            </a:extLst>
          </p:cNvPr>
          <p:cNvSpPr txBox="1">
            <a:spLocks/>
          </p:cNvSpPr>
          <p:nvPr/>
        </p:nvSpPr>
        <p:spPr bwMode="auto">
          <a:xfrm>
            <a:off x="537264" y="1631562"/>
            <a:ext cx="11151528" cy="192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设要传输的电文中含有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个字符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字符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出现的频率为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它的编码的长度为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i="1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那么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个字符的电文的编码的期望长度是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100            .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称编码期望长度最小的二元前缀码为</a:t>
            </a:r>
            <a:r>
              <a:rPr lang="zh-CN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最佳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zh-CN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元前缀码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91647FF7-03C6-4EFD-88F3-936C1A802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002585"/>
              </p:ext>
            </p:extLst>
          </p:nvPr>
        </p:nvGraphicFramePr>
        <p:xfrm>
          <a:off x="6778643" y="2173857"/>
          <a:ext cx="760220" cy="69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3">
                  <p:embed/>
                </p:oleObj>
              </mc:Choice>
              <mc:Fallback>
                <p:oleObj name="Equation" r:id="rId3" imgW="469800" imgH="431640" progId="Equation.3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91647FF7-03C6-4EFD-88F3-936C1A8023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43" y="2173857"/>
                        <a:ext cx="760220" cy="698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6711379-8EAB-42F5-8C92-BD157B8C32AE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D527FA-FBE8-4B33-B243-2E2901C075D1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5E6F9F-EE8A-47C6-BAA5-1404B644181D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1EAE327D-C6D6-4D7B-B25B-04C5732B229E}"/>
              </a:ext>
            </a:extLst>
          </p:cNvPr>
          <p:cNvSpPr txBox="1">
            <a:spLocks/>
          </p:cNvSpPr>
          <p:nvPr/>
        </p:nvSpPr>
        <p:spPr bwMode="auto">
          <a:xfrm>
            <a:off x="535023" y="3686716"/>
            <a:ext cx="11170642" cy="204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在用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叉树产生二元前缀码时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每个二进制串的长度等于它所在树叶的深度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因而权为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的最优二叉树产生的二元前缀码是最佳二元前缀码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给定字符出现的频率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可以用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算法产生最佳二元前缀码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28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BE09A4D-5F49-4204-87A3-739372D64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557339"/>
            <a:ext cx="11131791" cy="318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在通信中，设八进制数字出现的频率如下：</a:t>
            </a:r>
          </a:p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25%       1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20%      2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15%        3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</a:t>
            </a:r>
          </a:p>
          <a:p>
            <a:pPr marL="0" indent="0"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 4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       5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10%      6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5%          7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5%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采用二元前缀码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求传输数字最少的二元前缀码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并求传输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个按上述比例出现的八进制数字需要多少个二进制数字？若用等长的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长为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的码字传输需要多少个二进制数字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4455A3-D154-4C52-9CD2-DA5379146FE9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BA75D5-6EC1-4B92-AECB-BEC21F34CB2D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589AE4-DD30-4CEB-B2FD-E0164F5A95D9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A91337E-700E-4EA8-B3D1-F681BED09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839" y="4446214"/>
            <a:ext cx="10813544" cy="1961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解：用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Huffman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算法求以频率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乘以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100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为权的最优二叉树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这里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i="1" kern="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=15,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7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=20,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w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8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=25.  </a:t>
            </a:r>
          </a:p>
        </p:txBody>
      </p:sp>
    </p:spTree>
    <p:extLst>
      <p:ext uri="{BB962C8B-B14F-4D97-AF65-F5344CB8AC3E}">
        <p14:creationId xmlns:p14="http://schemas.microsoft.com/office/powerpoint/2010/main" val="49593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D347031-8B68-4745-A97B-231A09F37B6C}"/>
              </a:ext>
            </a:extLst>
          </p:cNvPr>
          <p:cNvSpPr txBox="1">
            <a:spLocks noChangeArrowheads="1"/>
          </p:cNvSpPr>
          <p:nvPr/>
        </p:nvSpPr>
        <p:spPr>
          <a:xfrm>
            <a:off x="522496" y="1438032"/>
            <a:ext cx="11545859" cy="556661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0---01                    4---101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1---11                    5---0001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2---001                 6---00000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3---100                 7---00001</a:t>
            </a:r>
          </a:p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</a:t>
            </a: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个按比例出现的八进制数字所需二进制数字的个数为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)=285.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个所用二进制数字的个数为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2.85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而用等长码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长为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需要用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10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个数字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499B3125-94AA-4138-A2FD-FB512CF3F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D9FCFF"/>
              </a:clrFrom>
              <a:clrTo>
                <a:srgbClr val="D9FC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2063" r="4990"/>
          <a:stretch>
            <a:fillRect/>
          </a:stretch>
        </p:blipFill>
        <p:spPr bwMode="auto">
          <a:xfrm>
            <a:off x="6548199" y="1545536"/>
            <a:ext cx="4608512" cy="341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0914354-EE27-4189-BB08-DEAAC8278E24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88EF0B-4559-4078-8BC2-FDE25AA23A0B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2457DC-1BDF-4A0F-BF3A-11716BD7A642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83225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1959190-BA05-4CB0-ABDE-73F2AA02E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311" y="1522353"/>
            <a:ext cx="813752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行遍或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周游根树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的每个顶点访问且仅访问一次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对二叉有序正则树的周游方式：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中序行遍法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次序为：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子树、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前序行遍法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次序为：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子树、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后序行遍法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次序为：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子树、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子树、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</a:t>
            </a:r>
          </a:p>
        </p:txBody>
      </p:sp>
      <p:pic>
        <p:nvPicPr>
          <p:cNvPr id="20" name="Picture 4" descr="16-12">
            <a:extLst>
              <a:ext uri="{FF2B5EF4-FFF2-40B4-BE49-F238E27FC236}">
                <a16:creationId xmlns:a16="http://schemas.microsoft.com/office/drawing/2014/main" id="{650FF3CD-0322-4293-AE35-2270E6389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1"/>
          <a:stretch>
            <a:fillRect/>
          </a:stretch>
        </p:blipFill>
        <p:spPr bwMode="auto">
          <a:xfrm>
            <a:off x="8459339" y="4108300"/>
            <a:ext cx="1873250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5">
            <a:extLst>
              <a:ext uri="{FF2B5EF4-FFF2-40B4-BE49-F238E27FC236}">
                <a16:creationId xmlns:a16="http://schemas.microsoft.com/office/drawing/2014/main" id="{99CAC39F-4834-44A6-8B26-E93937FE5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73" y="4257615"/>
            <a:ext cx="699973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对图所示根树按中序、前序、后序行遍法访问结果分别为：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)，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((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zh-CN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060587-D227-4E52-8E79-C9A09FFEF620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53CBCE1-F92B-4AAA-AB56-85FBA8760BE9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836C6A-1A80-4B24-B25E-52A04195B745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58503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EADBE93-846A-49BF-AC1F-23BDEF808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90" y="1431985"/>
            <a:ext cx="8229600" cy="75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用二叉有序树表示算式</a:t>
            </a:r>
            <a:endParaRPr lang="en-US" altLang="zh-CN" sz="28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12DEB510-2CDE-4BF2-A224-A83FB0DD1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2346713"/>
            <a:ext cx="6648479" cy="338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buClr>
                <a:srgbClr val="992677"/>
              </a:buClr>
              <a:buSzPct val="70000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存放规则</a:t>
            </a:r>
          </a:p>
          <a:p>
            <a:pPr eaLnBrk="1" hangingPunct="1">
              <a:lnSpc>
                <a:spcPct val="110000"/>
              </a:lnSpc>
              <a:buClr>
                <a:srgbClr val="992677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最高层次运算放在树根</a:t>
            </a:r>
          </a:p>
          <a:p>
            <a:pPr eaLnBrk="1" hangingPunct="1">
              <a:lnSpc>
                <a:spcPct val="110000"/>
              </a:lnSpc>
              <a:buClr>
                <a:srgbClr val="992677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后依次将运算符放在根子树的根上</a:t>
            </a:r>
          </a:p>
          <a:p>
            <a:pPr eaLnBrk="1" hangingPunct="1">
              <a:lnSpc>
                <a:spcPct val="110000"/>
              </a:lnSpc>
              <a:buClr>
                <a:srgbClr val="992677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数放在树叶上</a:t>
            </a:r>
          </a:p>
          <a:p>
            <a:pPr eaLnBrk="1" hangingPunct="1">
              <a:lnSpc>
                <a:spcPct val="110000"/>
              </a:lnSpc>
              <a:buClr>
                <a:srgbClr val="992677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规定：被除数、被减数放在左子树树叶上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C1C224-CCB0-411E-9DBA-F8C7C6B97052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F42DDB-632D-499B-9F28-1C5A6916E537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90CCFF-186E-46FB-ACC1-8413E08535A8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46083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pic>
        <p:nvPicPr>
          <p:cNvPr id="13" name="Picture 5" descr="16-13">
            <a:extLst>
              <a:ext uri="{FF2B5EF4-FFF2-40B4-BE49-F238E27FC236}">
                <a16:creationId xmlns:a16="http://schemas.microsoft.com/office/drawing/2014/main" id="{CEFEBCB3-5D97-4BB6-85D8-E7D50878B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1" b="24918"/>
          <a:stretch>
            <a:fillRect/>
          </a:stretch>
        </p:blipFill>
        <p:spPr bwMode="auto">
          <a:xfrm>
            <a:off x="7662204" y="2005909"/>
            <a:ext cx="4392612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CA7D2F0B-FD17-40B9-A192-E98B1B1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29" y="1586688"/>
            <a:ext cx="9572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342900" lvl="0" indent="-342900" eaLnBrk="0" fontAlgn="base" hangingPunct="0">
              <a:spcAft>
                <a:spcPct val="0"/>
              </a:spcAft>
              <a:buClr>
                <a:srgbClr val="00007D"/>
              </a:buClr>
              <a:buSzPct val="7500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 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b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 </a:t>
            </a:r>
            <a:r>
              <a:rPr lang="en-US" altLang="zh-CN" kern="0" dirty="0">
                <a:solidFill>
                  <a:srgbClr val="92D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d</a:t>
            </a:r>
            <a:r>
              <a:rPr lang="en-US" altLang="zh-CN" kern="0" dirty="0">
                <a:solidFill>
                  <a:srgbClr val="92D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B05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 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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e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f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+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h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i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j</a:t>
            </a:r>
            <a:r>
              <a:rPr lang="en-US" altLang="zh-CN" kern="0" dirty="0">
                <a:solidFill>
                  <a:srgbClr val="00B0F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有序</a:t>
            </a:r>
            <a:r>
              <a:rPr lang="zh-CN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5E03D959-B8F7-42C9-8E52-6E00AC837C3F}"/>
              </a:ext>
            </a:extLst>
          </p:cNvPr>
          <p:cNvSpPr txBox="1">
            <a:spLocks/>
          </p:cNvSpPr>
          <p:nvPr/>
        </p:nvSpPr>
        <p:spPr>
          <a:xfrm>
            <a:off x="757598" y="2268747"/>
            <a:ext cx="6799142" cy="374386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前序行遍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((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)((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)((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)(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)))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后序行遍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))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)((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gh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)(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)))</a:t>
            </a:r>
          </a:p>
          <a:p>
            <a:pPr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中序行遍的结果是原式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3DF94A-9053-4BA8-AFB5-3A6E1B974928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18DF13-5444-4EA3-A2A1-A5E50947DD0C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ED0622-FD4A-49E9-9704-6594480589CB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226479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D21F8E0-D79B-4EA1-B8E6-4E7785D45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63" y="1565429"/>
            <a:ext cx="10832051" cy="922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波兰符号法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前缀符号法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按前序行遍法访问表示算式的二叉有序树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并舍去所有括号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AFEABC-AD14-4219-8BC0-694CDF9D409E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435ABE-8F9E-4E4A-B384-41FC99D4457B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5C1987-489B-48FA-9F52-371C062D744D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9E09FB-844D-4C7D-9E2A-FFCF22F90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63" y="2681540"/>
            <a:ext cx="9944419" cy="955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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cda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gh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algn="just" eaLnBrk="1" hangingPunct="1">
              <a:spcBef>
                <a:spcPts val="0"/>
              </a:spcBef>
              <a:buClr>
                <a:srgbClr val="00007D"/>
              </a:buClr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计算方法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左到右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每个运算符号对其后紧邻的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数进行运算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274D169-376E-4F59-9EFB-662DB6E7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17" y="3950043"/>
            <a:ext cx="2214602" cy="2219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=3,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=1,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=2,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=3,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=1,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=2. 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FF7866A-C388-4450-B533-B2307261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752" y="3938838"/>
            <a:ext cx="7275177" cy="285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+22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 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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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5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33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sym typeface="Symbol" panose="05050102010706020507" pitchFamily="18" charset="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   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sym typeface="Symbol" panose="05050102010706020507" pitchFamily="18" charset="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(15)93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12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(15)9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96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  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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   5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F814736-DD30-4262-8ADD-E2A6FADD4C35}"/>
              </a:ext>
            </a:extLst>
          </p:cNvPr>
          <p:cNvGrpSpPr/>
          <p:nvPr/>
        </p:nvGrpSpPr>
        <p:grpSpPr>
          <a:xfrm>
            <a:off x="9128375" y="4398907"/>
            <a:ext cx="3080959" cy="2495928"/>
            <a:chOff x="9128375" y="4398907"/>
            <a:chExt cx="3080959" cy="2495928"/>
          </a:xfrm>
        </p:grpSpPr>
        <p:pic>
          <p:nvPicPr>
            <p:cNvPr id="12" name="Picture 5" descr="16-13">
              <a:extLst>
                <a:ext uri="{FF2B5EF4-FFF2-40B4-BE49-F238E27FC236}">
                  <a16:creationId xmlns:a16="http://schemas.microsoft.com/office/drawing/2014/main" id="{D0F2B4CA-9785-43D0-B43E-4C0818884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01" b="24918"/>
            <a:stretch>
              <a:fillRect/>
            </a:stretch>
          </p:blipFill>
          <p:spPr bwMode="auto">
            <a:xfrm>
              <a:off x="9128375" y="4398907"/>
              <a:ext cx="3063625" cy="2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2FD6BC3-F09C-4B61-92EA-8136DEC9E955}"/>
                </a:ext>
              </a:extLst>
            </p:cNvPr>
            <p:cNvGrpSpPr/>
            <p:nvPr/>
          </p:nvGrpSpPr>
          <p:grpSpPr>
            <a:xfrm>
              <a:off x="9256054" y="5540188"/>
              <a:ext cx="2953280" cy="1354647"/>
              <a:chOff x="9256054" y="5540188"/>
              <a:chExt cx="2953280" cy="1354647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F3C919B-D5E2-48E7-9380-CE6C511CA475}"/>
                  </a:ext>
                </a:extLst>
              </p:cNvPr>
              <p:cNvSpPr txBox="1"/>
              <p:nvPr/>
            </p:nvSpPr>
            <p:spPr>
              <a:xfrm>
                <a:off x="10031510" y="554018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920BE5B-FD69-40F9-A6B4-A26FD0BCC07E}"/>
                  </a:ext>
                </a:extLst>
              </p:cNvPr>
              <p:cNvSpPr txBox="1"/>
              <p:nvPr/>
            </p:nvSpPr>
            <p:spPr>
              <a:xfrm>
                <a:off x="9256054" y="6109450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62D805B-95B5-4FF5-ABF4-2DD23EFC53AA}"/>
                  </a:ext>
                </a:extLst>
              </p:cNvPr>
              <p:cNvSpPr txBox="1"/>
              <p:nvPr/>
            </p:nvSpPr>
            <p:spPr>
              <a:xfrm>
                <a:off x="9558615" y="6600267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6046F8C-EAED-42E3-96C3-499D44B5CD26}"/>
                  </a:ext>
                </a:extLst>
              </p:cNvPr>
              <p:cNvSpPr txBox="1"/>
              <p:nvPr/>
            </p:nvSpPr>
            <p:spPr>
              <a:xfrm>
                <a:off x="10040467" y="6598021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73E23CF-433A-43FA-B83C-08D2F3E36D9F}"/>
                  </a:ext>
                </a:extLst>
              </p:cNvPr>
              <p:cNvSpPr txBox="1"/>
              <p:nvPr/>
            </p:nvSpPr>
            <p:spPr>
              <a:xfrm>
                <a:off x="10358723" y="5981702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72FFBCD-CB4F-4BF8-8B31-09A4C7357A4C}"/>
                  </a:ext>
                </a:extLst>
              </p:cNvPr>
              <p:cNvSpPr txBox="1"/>
              <p:nvPr/>
            </p:nvSpPr>
            <p:spPr>
              <a:xfrm>
                <a:off x="10681451" y="597498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F565D66-8D74-401D-AC4F-3FF9FC0E1AAA}"/>
                  </a:ext>
                </a:extLst>
              </p:cNvPr>
              <p:cNvSpPr txBox="1"/>
              <p:nvPr/>
            </p:nvSpPr>
            <p:spPr>
              <a:xfrm>
                <a:off x="10827127" y="657113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426B04E-BF25-459A-86B7-3D9DA8D0656C}"/>
                  </a:ext>
                </a:extLst>
              </p:cNvPr>
              <p:cNvSpPr txBox="1"/>
              <p:nvPr/>
            </p:nvSpPr>
            <p:spPr>
              <a:xfrm>
                <a:off x="11530869" y="658234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3ED1389-1F5B-42FD-BAFB-36D766E1CF00}"/>
                  </a:ext>
                </a:extLst>
              </p:cNvPr>
              <p:cNvSpPr txBox="1"/>
              <p:nvPr/>
            </p:nvSpPr>
            <p:spPr>
              <a:xfrm>
                <a:off x="11203643" y="6577848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44A795A-5726-41CB-9EA8-5691F7DCE7FD}"/>
                  </a:ext>
                </a:extLst>
              </p:cNvPr>
              <p:cNvSpPr txBox="1"/>
              <p:nvPr/>
            </p:nvSpPr>
            <p:spPr>
              <a:xfrm>
                <a:off x="11947724" y="6595776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067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DFD8187-9070-4F03-BFFC-608AAF3F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96" y="1602897"/>
            <a:ext cx="10857930" cy="104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逆波兰符号法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后缀符号法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按后序行遍法访问表示算式的二叉有序树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并舍去所有括号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30F5E7-EDBB-4E98-AD16-E37E323EC9BF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4F44D2-6956-4436-96CC-7F6EDC7BCCD6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98B26A-5C3F-46D9-81FA-C17D5F897761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7714E4E-86EC-4705-9430-6F377C820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04" y="2562120"/>
            <a:ext cx="10857930" cy="1250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bcd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gh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计算方法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右到左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每个运算符号对其前面紧邻的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数进行运算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1004C5B-8AE4-4A6F-9E42-8C315AC9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96" y="3862000"/>
            <a:ext cx="8126275" cy="25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3312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12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,    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33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33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6 ,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122++3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96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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22+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 ,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14+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3 , 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5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3 ,    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(15)3 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,     5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Symbol" panose="05050102010706020507" pitchFamily="18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28CE086-A299-4A95-B392-306C72FEB307}"/>
              </a:ext>
            </a:extLst>
          </p:cNvPr>
          <p:cNvGrpSpPr/>
          <p:nvPr/>
        </p:nvGrpSpPr>
        <p:grpSpPr>
          <a:xfrm>
            <a:off x="9128375" y="4398907"/>
            <a:ext cx="3080959" cy="2495928"/>
            <a:chOff x="9128375" y="4398907"/>
            <a:chExt cx="3080959" cy="2495928"/>
          </a:xfrm>
        </p:grpSpPr>
        <p:pic>
          <p:nvPicPr>
            <p:cNvPr id="17" name="Picture 5" descr="16-13">
              <a:extLst>
                <a:ext uri="{FF2B5EF4-FFF2-40B4-BE49-F238E27FC236}">
                  <a16:creationId xmlns:a16="http://schemas.microsoft.com/office/drawing/2014/main" id="{5DA567E2-C54B-4513-9E28-5079466E5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01" b="24918"/>
            <a:stretch>
              <a:fillRect/>
            </a:stretch>
          </p:blipFill>
          <p:spPr bwMode="auto">
            <a:xfrm>
              <a:off x="9128375" y="4398907"/>
              <a:ext cx="3063625" cy="2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E6DAC9E-6D7F-4AB9-96B2-C72A8A2DB969}"/>
                </a:ext>
              </a:extLst>
            </p:cNvPr>
            <p:cNvGrpSpPr/>
            <p:nvPr/>
          </p:nvGrpSpPr>
          <p:grpSpPr>
            <a:xfrm>
              <a:off x="9256054" y="5540188"/>
              <a:ext cx="2953280" cy="1354647"/>
              <a:chOff x="9256054" y="5540188"/>
              <a:chExt cx="2953280" cy="1354647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ECED78-6F2D-4939-B613-8099711631D7}"/>
                  </a:ext>
                </a:extLst>
              </p:cNvPr>
              <p:cNvSpPr txBox="1"/>
              <p:nvPr/>
            </p:nvSpPr>
            <p:spPr>
              <a:xfrm>
                <a:off x="10031510" y="554018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DD8EE74-CE82-4C47-9107-B9B0802E41EA}"/>
                  </a:ext>
                </a:extLst>
              </p:cNvPr>
              <p:cNvSpPr txBox="1"/>
              <p:nvPr/>
            </p:nvSpPr>
            <p:spPr>
              <a:xfrm>
                <a:off x="9256054" y="6109450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E40A35B-95CA-40D1-9AE4-1A4ED549F8AE}"/>
                  </a:ext>
                </a:extLst>
              </p:cNvPr>
              <p:cNvSpPr txBox="1"/>
              <p:nvPr/>
            </p:nvSpPr>
            <p:spPr>
              <a:xfrm>
                <a:off x="9558615" y="6600267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E59B108-9274-4505-B377-ADF14AEC4065}"/>
                  </a:ext>
                </a:extLst>
              </p:cNvPr>
              <p:cNvSpPr txBox="1"/>
              <p:nvPr/>
            </p:nvSpPr>
            <p:spPr>
              <a:xfrm>
                <a:off x="10040467" y="6598021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C2C85B-43FE-4B0A-9EBD-DDD03749025D}"/>
                  </a:ext>
                </a:extLst>
              </p:cNvPr>
              <p:cNvSpPr txBox="1"/>
              <p:nvPr/>
            </p:nvSpPr>
            <p:spPr>
              <a:xfrm>
                <a:off x="10358723" y="5981702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C7FD57E-44A9-4A59-A411-B5E871A89DAF}"/>
                  </a:ext>
                </a:extLst>
              </p:cNvPr>
              <p:cNvSpPr txBox="1"/>
              <p:nvPr/>
            </p:nvSpPr>
            <p:spPr>
              <a:xfrm>
                <a:off x="10681451" y="597498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3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C834835-801A-4459-B85C-6A083CAE1D66}"/>
                  </a:ext>
                </a:extLst>
              </p:cNvPr>
              <p:cNvSpPr txBox="1"/>
              <p:nvPr/>
            </p:nvSpPr>
            <p:spPr>
              <a:xfrm>
                <a:off x="10827127" y="6571138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D629D3F-1323-4DA6-972E-4B98010F8D97}"/>
                  </a:ext>
                </a:extLst>
              </p:cNvPr>
              <p:cNvSpPr txBox="1"/>
              <p:nvPr/>
            </p:nvSpPr>
            <p:spPr>
              <a:xfrm>
                <a:off x="11530869" y="6582344"/>
                <a:ext cx="261610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1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137994-E37A-48F1-A1C6-12C5641A935A}"/>
                  </a:ext>
                </a:extLst>
              </p:cNvPr>
              <p:cNvSpPr txBox="1"/>
              <p:nvPr/>
            </p:nvSpPr>
            <p:spPr>
              <a:xfrm>
                <a:off x="11203643" y="6577848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1F87103-4485-4A80-AEA0-66529CEDAC56}"/>
                  </a:ext>
                </a:extLst>
              </p:cNvPr>
              <p:cNvSpPr txBox="1"/>
              <p:nvPr/>
            </p:nvSpPr>
            <p:spPr>
              <a:xfrm>
                <a:off x="11947724" y="6595776"/>
                <a:ext cx="261610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altLang="zh-CN" sz="1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2</a:t>
                </a:r>
                <a:endParaRPr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145BE26-D8B5-4007-AFD8-94B63695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893" y="3942276"/>
            <a:ext cx="883643" cy="216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7.2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根树及其应用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DC8CCA4-B5E6-47E9-B881-DECD423A73CD}"/>
              </a:ext>
            </a:extLst>
          </p:cNvPr>
          <p:cNvSpPr txBox="1">
            <a:spLocks/>
          </p:cNvSpPr>
          <p:nvPr/>
        </p:nvSpPr>
        <p:spPr bwMode="auto">
          <a:xfrm>
            <a:off x="534836" y="1624731"/>
            <a:ext cx="11560793" cy="5072062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用二叉有序树表示下述命题公式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并写出它的波兰符号法和逆波兰符号法表达式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          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)((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)(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/>
              </a:rPr>
              <a:t>解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  <a:sym typeface="Symbo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波兰符号法表达式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     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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qr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>
              <a:buClr>
                <a:srgbClr val="00007D"/>
              </a:buClr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逆波兰符号法表达式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pq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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qr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Times New Roman" pitchFamily="18" charset="0"/>
                <a:sym typeface="Symbol"/>
              </a:rPr>
              <a:t>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Times New Roman" pitchFamily="18" charset="0"/>
            </a:endParaRPr>
          </a:p>
          <a:p>
            <a:pPr marR="0" lvl="0">
              <a:lnSpc>
                <a:spcPct val="100000"/>
              </a:lnSpc>
              <a:buClr>
                <a:srgbClr val="00007D"/>
              </a:buClr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注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当一元运算符在运算对象前面时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应画成右儿子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pSp>
        <p:nvGrpSpPr>
          <p:cNvPr id="16" name="组合 70">
            <a:extLst>
              <a:ext uri="{FF2B5EF4-FFF2-40B4-BE49-F238E27FC236}">
                <a16:creationId xmlns:a16="http://schemas.microsoft.com/office/drawing/2014/main" id="{764D855F-4579-4313-9F11-79785B9C53C1}"/>
              </a:ext>
            </a:extLst>
          </p:cNvPr>
          <p:cNvGrpSpPr>
            <a:grpSpLocks/>
          </p:cNvGrpSpPr>
          <p:nvPr/>
        </p:nvGrpSpPr>
        <p:grpSpPr bwMode="auto">
          <a:xfrm>
            <a:off x="7618203" y="2554229"/>
            <a:ext cx="3429000" cy="2714625"/>
            <a:chOff x="4214810" y="3214686"/>
            <a:chExt cx="3429024" cy="271464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FE882E1-A765-4847-ABD7-39DE5DDB2C74}"/>
                </a:ext>
              </a:extLst>
            </p:cNvPr>
            <p:cNvSpPr/>
            <p:nvPr/>
          </p:nvSpPr>
          <p:spPr>
            <a:xfrm>
              <a:off x="5429257" y="3286123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43029B7-C872-4BE8-B5BD-0395C7EB3DF8}"/>
                </a:ext>
              </a:extLst>
            </p:cNvPr>
            <p:cNvSpPr/>
            <p:nvPr/>
          </p:nvSpPr>
          <p:spPr>
            <a:xfrm>
              <a:off x="4500562" y="3857627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2E229FA-BE38-44F7-8467-E572C38A36F6}"/>
                </a:ext>
              </a:extLst>
            </p:cNvPr>
            <p:cNvSpPr/>
            <p:nvPr/>
          </p:nvSpPr>
          <p:spPr>
            <a:xfrm>
              <a:off x="6500826" y="3857627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5EBA4BA-E183-4ED4-B41A-1B3491C9D5A3}"/>
                </a:ext>
              </a:extLst>
            </p:cNvPr>
            <p:cNvSpPr/>
            <p:nvPr/>
          </p:nvSpPr>
          <p:spPr>
            <a:xfrm>
              <a:off x="6143637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171C9AA-E747-4F9E-9C12-C4EEB6EFEF64}"/>
                </a:ext>
              </a:extLst>
            </p:cNvPr>
            <p:cNvSpPr/>
            <p:nvPr/>
          </p:nvSpPr>
          <p:spPr>
            <a:xfrm>
              <a:off x="7000893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265E57E-27EA-49E6-BEB0-D46E8AF19145}"/>
                </a:ext>
              </a:extLst>
            </p:cNvPr>
            <p:cNvSpPr/>
            <p:nvPr/>
          </p:nvSpPr>
          <p:spPr>
            <a:xfrm>
              <a:off x="4857753" y="4429131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07050BD-4A74-4D59-A88C-7D71CDD722C7}"/>
                </a:ext>
              </a:extLst>
            </p:cNvPr>
            <p:cNvSpPr/>
            <p:nvPr/>
          </p:nvSpPr>
          <p:spPr>
            <a:xfrm>
              <a:off x="5857885" y="4929198"/>
              <a:ext cx="285752" cy="2857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09D1315-1538-4CF7-A167-3E646C8D1307}"/>
                </a:ext>
              </a:extLst>
            </p:cNvPr>
            <p:cNvSpPr/>
            <p:nvPr/>
          </p:nvSpPr>
          <p:spPr>
            <a:xfrm>
              <a:off x="6786578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A847A6A-EFC0-4ED8-AF16-B31977742FE2}"/>
                </a:ext>
              </a:extLst>
            </p:cNvPr>
            <p:cNvSpPr/>
            <p:nvPr/>
          </p:nvSpPr>
          <p:spPr>
            <a:xfrm>
              <a:off x="7429521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8275FC0-7F30-4A34-9B95-E84764FC3F80}"/>
                </a:ext>
              </a:extLst>
            </p:cNvPr>
            <p:cNvSpPr/>
            <p:nvPr/>
          </p:nvSpPr>
          <p:spPr>
            <a:xfrm>
              <a:off x="6500826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41C41FF-581B-48F4-AC24-EAD4530B7473}"/>
                </a:ext>
              </a:extLst>
            </p:cNvPr>
            <p:cNvSpPr/>
            <p:nvPr/>
          </p:nvSpPr>
          <p:spPr>
            <a:xfrm>
              <a:off x="6215074" y="5500702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881B4B3-0076-42CC-BBEA-289FBD6B1608}"/>
                </a:ext>
              </a:extLst>
            </p:cNvPr>
            <p:cNvSpPr/>
            <p:nvPr/>
          </p:nvSpPr>
          <p:spPr>
            <a:xfrm>
              <a:off x="5357818" y="5000635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D11BB07-851C-41B4-A93D-8701C2350C2A}"/>
                </a:ext>
              </a:extLst>
            </p:cNvPr>
            <p:cNvSpPr/>
            <p:nvPr/>
          </p:nvSpPr>
          <p:spPr>
            <a:xfrm>
              <a:off x="4286249" y="4500570"/>
              <a:ext cx="142876" cy="1428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EDF17D0-2205-4880-B1C9-EB594A7C2473}"/>
                </a:ext>
              </a:extLst>
            </p:cNvPr>
            <p:cNvCxnSpPr>
              <a:stCxn id="17" idx="3"/>
              <a:endCxn id="18" idx="7"/>
            </p:cNvCxnSpPr>
            <p:nvPr/>
          </p:nvCxnSpPr>
          <p:spPr>
            <a:xfrm rot="5400000">
              <a:off x="4923634" y="3352005"/>
              <a:ext cx="368303" cy="72549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D5F8058-9ED8-49A0-A400-E564FE913030}"/>
                </a:ext>
              </a:extLst>
            </p:cNvPr>
            <p:cNvCxnSpPr>
              <a:stCxn id="17" idx="5"/>
              <a:endCxn id="19" idx="1"/>
            </p:cNvCxnSpPr>
            <p:nvPr/>
          </p:nvCxnSpPr>
          <p:spPr>
            <a:xfrm rot="16200000" flipH="1">
              <a:off x="5923766" y="3280567"/>
              <a:ext cx="368303" cy="8683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BC0180A-0A35-4668-BAAB-613C869AC3FB}"/>
                </a:ext>
              </a:extLst>
            </p:cNvPr>
            <p:cNvCxnSpPr>
              <a:stCxn id="18" idx="4"/>
              <a:endCxn id="30" idx="7"/>
            </p:cNvCxnSpPr>
            <p:nvPr/>
          </p:nvCxnSpPr>
          <p:spPr>
            <a:xfrm rot="5400000">
              <a:off x="4337048" y="4214818"/>
              <a:ext cx="377828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44644AF-BA8B-4142-B25E-A1729E62BF06}"/>
                </a:ext>
              </a:extLst>
            </p:cNvPr>
            <p:cNvCxnSpPr>
              <a:stCxn id="18" idx="4"/>
              <a:endCxn id="22" idx="1"/>
            </p:cNvCxnSpPr>
            <p:nvPr/>
          </p:nvCxnSpPr>
          <p:spPr>
            <a:xfrm rot="16200000" flipH="1">
              <a:off x="4607719" y="4179099"/>
              <a:ext cx="327027" cy="2555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A298E01-10EC-4980-8061-17619DCDD8BA}"/>
                </a:ext>
              </a:extLst>
            </p:cNvPr>
            <p:cNvCxnSpPr>
              <a:stCxn id="22" idx="5"/>
              <a:endCxn id="29" idx="1"/>
            </p:cNvCxnSpPr>
            <p:nvPr/>
          </p:nvCxnSpPr>
          <p:spPr>
            <a:xfrm rot="16200000" flipH="1">
              <a:off x="5066510" y="4709327"/>
              <a:ext cx="347665" cy="27622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14A3D34-1932-4F1B-A90B-D594C55C4964}"/>
                </a:ext>
              </a:extLst>
            </p:cNvPr>
            <p:cNvCxnSpPr>
              <a:stCxn id="19" idx="4"/>
              <a:endCxn id="20" idx="7"/>
            </p:cNvCxnSpPr>
            <p:nvPr/>
          </p:nvCxnSpPr>
          <p:spPr>
            <a:xfrm rot="5400000">
              <a:off x="6352394" y="4179099"/>
              <a:ext cx="327027" cy="255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064FD42-86BA-4C18-A61D-98CAA5274B83}"/>
                </a:ext>
              </a:extLst>
            </p:cNvPr>
            <p:cNvCxnSpPr>
              <a:stCxn id="19" idx="5"/>
              <a:endCxn id="21" idx="1"/>
            </p:cNvCxnSpPr>
            <p:nvPr/>
          </p:nvCxnSpPr>
          <p:spPr>
            <a:xfrm rot="16200000" flipH="1">
              <a:off x="6709584" y="4137822"/>
              <a:ext cx="368303" cy="2968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348BFB1-1EB3-4A1F-8C7C-D274BAB7611C}"/>
                </a:ext>
              </a:extLst>
            </p:cNvPr>
            <p:cNvCxnSpPr>
              <a:stCxn id="20" idx="4"/>
              <a:endCxn id="24" idx="7"/>
            </p:cNvCxnSpPr>
            <p:nvPr/>
          </p:nvCxnSpPr>
          <p:spPr>
            <a:xfrm rot="5400000">
              <a:off x="6066642" y="4750603"/>
              <a:ext cx="255590" cy="1841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B8ED59D-C953-447F-89B1-8F46696B760B}"/>
                </a:ext>
              </a:extLst>
            </p:cNvPr>
            <p:cNvCxnSpPr>
              <a:stCxn id="20" idx="4"/>
              <a:endCxn id="27" idx="1"/>
            </p:cNvCxnSpPr>
            <p:nvPr/>
          </p:nvCxnSpPr>
          <p:spPr>
            <a:xfrm rot="16200000" flipH="1">
              <a:off x="6250793" y="4750603"/>
              <a:ext cx="306390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58FE8AA-FAEA-45F6-8F27-37F5C1A6D971}"/>
                </a:ext>
              </a:extLst>
            </p:cNvPr>
            <p:cNvCxnSpPr>
              <a:stCxn id="24" idx="4"/>
              <a:endCxn id="28" idx="1"/>
            </p:cNvCxnSpPr>
            <p:nvPr/>
          </p:nvCxnSpPr>
          <p:spPr>
            <a:xfrm rot="16200000" flipH="1">
              <a:off x="5965041" y="5250669"/>
              <a:ext cx="306389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2292295-B781-4122-B6DD-E0C09A2D9804}"/>
                </a:ext>
              </a:extLst>
            </p:cNvPr>
            <p:cNvCxnSpPr>
              <a:stCxn id="21" idx="4"/>
              <a:endCxn id="25" idx="7"/>
            </p:cNvCxnSpPr>
            <p:nvPr/>
          </p:nvCxnSpPr>
          <p:spPr>
            <a:xfrm rot="5400000">
              <a:off x="6873098" y="4750603"/>
              <a:ext cx="306390" cy="2349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A70C0A-06EF-476B-9A6F-62B243FC4070}"/>
                </a:ext>
              </a:extLst>
            </p:cNvPr>
            <p:cNvCxnSpPr>
              <a:stCxn id="21" idx="4"/>
              <a:endCxn id="26" idx="1"/>
            </p:cNvCxnSpPr>
            <p:nvPr/>
          </p:nvCxnSpPr>
          <p:spPr>
            <a:xfrm rot="16200000" flipH="1">
              <a:off x="7143769" y="4714883"/>
              <a:ext cx="306390" cy="3063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57">
              <a:extLst>
                <a:ext uri="{FF2B5EF4-FFF2-40B4-BE49-F238E27FC236}">
                  <a16:creationId xmlns:a16="http://schemas.microsoft.com/office/drawing/2014/main" id="{B0E4EF7D-5CB2-4240-B64F-D0BD600D5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562" y="3845486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</a:t>
              </a:r>
              <a:endParaRPr lang="zh-CN" altLang="en-US" b="1"/>
            </a:p>
          </p:txBody>
        </p:sp>
        <p:sp>
          <p:nvSpPr>
            <p:cNvPr id="44" name="TextBox 58">
              <a:extLst>
                <a:ext uri="{FF2B5EF4-FFF2-40B4-BE49-F238E27FC236}">
                  <a16:creationId xmlns:a16="http://schemas.microsoft.com/office/drawing/2014/main" id="{E9C7F722-DB99-4632-9284-892A2ACB8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892" y="4357694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</a:t>
              </a:r>
              <a:endParaRPr lang="zh-CN" altLang="en-US" b="1"/>
            </a:p>
          </p:txBody>
        </p:sp>
        <p:sp>
          <p:nvSpPr>
            <p:cNvPr id="45" name="TextBox 59">
              <a:extLst>
                <a:ext uri="{FF2B5EF4-FFF2-40B4-BE49-F238E27FC236}">
                  <a16:creationId xmlns:a16="http://schemas.microsoft.com/office/drawing/2014/main" id="{C5CF66DC-E46C-42F0-BD6E-CCBABD9DE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4345552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</a:t>
              </a:r>
              <a:endParaRPr lang="zh-CN" altLang="en-US" b="1"/>
            </a:p>
          </p:txBody>
        </p:sp>
        <p:sp>
          <p:nvSpPr>
            <p:cNvPr id="46" name="TextBox 60">
              <a:extLst>
                <a:ext uri="{FF2B5EF4-FFF2-40B4-BE49-F238E27FC236}">
                  <a16:creationId xmlns:a16="http://schemas.microsoft.com/office/drawing/2014/main" id="{67D3338F-978A-40CC-8882-CD9F5899E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18" y="3214686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</a:t>
              </a:r>
              <a:endParaRPr lang="zh-CN" altLang="en-US" b="1"/>
            </a:p>
          </p:txBody>
        </p:sp>
        <p:sp>
          <p:nvSpPr>
            <p:cNvPr id="47" name="TextBox 61">
              <a:extLst>
                <a:ext uri="{FF2B5EF4-FFF2-40B4-BE49-F238E27FC236}">
                  <a16:creationId xmlns:a16="http://schemas.microsoft.com/office/drawing/2014/main" id="{1DCF9B1C-35E1-478D-AC2A-41407EA2E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88" y="3786190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</a:t>
              </a:r>
              <a:endParaRPr lang="zh-CN" altLang="en-US" b="1"/>
            </a:p>
          </p:txBody>
        </p:sp>
        <p:sp>
          <p:nvSpPr>
            <p:cNvPr id="48" name="TextBox 62">
              <a:extLst>
                <a:ext uri="{FF2B5EF4-FFF2-40B4-BE49-F238E27FC236}">
                  <a16:creationId xmlns:a16="http://schemas.microsoft.com/office/drawing/2014/main" id="{AFA0B03B-6FDD-4701-983E-7B6FD1C35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4357694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</a:t>
              </a:r>
              <a:endParaRPr lang="zh-CN" altLang="en-US" b="1"/>
            </a:p>
          </p:txBody>
        </p:sp>
        <p:sp>
          <p:nvSpPr>
            <p:cNvPr id="49" name="TextBox 63">
              <a:extLst>
                <a:ext uri="{FF2B5EF4-FFF2-40B4-BE49-F238E27FC236}">
                  <a16:creationId xmlns:a16="http://schemas.microsoft.com/office/drawing/2014/main" id="{CED9E627-FE2F-403F-8B34-D49BAC307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6446" y="4845618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ym typeface="Symbol" panose="05050102010706020507" pitchFamily="18" charset="2"/>
                </a:rPr>
                <a:t></a:t>
              </a:r>
              <a:endParaRPr lang="zh-CN" altLang="en-US" b="1"/>
            </a:p>
          </p:txBody>
        </p:sp>
        <p:sp>
          <p:nvSpPr>
            <p:cNvPr id="50" name="TextBox 64">
              <a:extLst>
                <a:ext uri="{FF2B5EF4-FFF2-40B4-BE49-F238E27FC236}">
                  <a16:creationId xmlns:a16="http://schemas.microsoft.com/office/drawing/2014/main" id="{E353D7E0-A324-4DD4-869F-683B0A570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810" y="4572008"/>
              <a:ext cx="428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zh-CN" altLang="en-US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 65">
              <a:extLst>
                <a:ext uri="{FF2B5EF4-FFF2-40B4-BE49-F238E27FC236}">
                  <a16:creationId xmlns:a16="http://schemas.microsoft.com/office/drawing/2014/main" id="{2DDDF92E-1618-4934-B406-6C6010AE9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06" y="555999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lang="zh-CN" altLang="en-US"/>
            </a:p>
          </p:txBody>
        </p:sp>
        <p:sp>
          <p:nvSpPr>
            <p:cNvPr id="52" name="矩形 66">
              <a:extLst>
                <a:ext uri="{FF2B5EF4-FFF2-40B4-BE49-F238E27FC236}">
                  <a16:creationId xmlns:a16="http://schemas.microsoft.com/office/drawing/2014/main" id="{F7E52452-5462-413F-B0CC-58EA1B7BC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380" y="507207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/>
            </a:p>
          </p:txBody>
        </p:sp>
        <p:sp>
          <p:nvSpPr>
            <p:cNvPr id="53" name="矩形 67">
              <a:extLst>
                <a:ext uri="{FF2B5EF4-FFF2-40B4-BE49-F238E27FC236}">
                  <a16:creationId xmlns:a16="http://schemas.microsoft.com/office/drawing/2014/main" id="{D33E5FE3-B71E-4975-B7E2-38EDB69CF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0810" y="507207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/>
            </a:p>
          </p:txBody>
        </p:sp>
        <p:sp>
          <p:nvSpPr>
            <p:cNvPr id="54" name="矩形 68">
              <a:extLst>
                <a:ext uri="{FF2B5EF4-FFF2-40B4-BE49-F238E27FC236}">
                  <a16:creationId xmlns:a16="http://schemas.microsoft.com/office/drawing/2014/main" id="{B8C45650-38FD-42DE-9A6E-78B6BFED7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388" y="5072074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zh-CN" altLang="en-US"/>
            </a:p>
          </p:txBody>
        </p:sp>
        <p:sp>
          <p:nvSpPr>
            <p:cNvPr id="55" name="矩形 69">
              <a:extLst>
                <a:ext uri="{FF2B5EF4-FFF2-40B4-BE49-F238E27FC236}">
                  <a16:creationId xmlns:a16="http://schemas.microsoft.com/office/drawing/2014/main" id="{11404469-C86C-4A2F-84EE-FB0BF094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9400" y="5072074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EBAC3739-2080-4EC0-9249-C80A84B6C3C4}"/>
              </a:ext>
            </a:extLst>
          </p:cNvPr>
          <p:cNvSpPr txBox="1"/>
          <p:nvPr/>
        </p:nvSpPr>
        <p:spPr>
          <a:xfrm>
            <a:off x="568035" y="949038"/>
            <a:ext cx="173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有向树与根树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87FF57-658D-4B0A-9F05-BB7D4F1E539F}"/>
              </a:ext>
            </a:extLst>
          </p:cNvPr>
          <p:cNvSpPr txBox="1"/>
          <p:nvPr/>
        </p:nvSpPr>
        <p:spPr>
          <a:xfrm>
            <a:off x="5627609" y="956422"/>
            <a:ext cx="238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C65BBDE-8DC4-4E5E-90BA-534356B4DB2C}"/>
              </a:ext>
            </a:extLst>
          </p:cNvPr>
          <p:cNvSpPr txBox="1"/>
          <p:nvPr/>
        </p:nvSpPr>
        <p:spPr>
          <a:xfrm>
            <a:off x="9802906" y="951396"/>
            <a:ext cx="183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二叉树的应用</a:t>
            </a:r>
          </a:p>
        </p:txBody>
      </p:sp>
    </p:spTree>
    <p:extLst>
      <p:ext uri="{BB962C8B-B14F-4D97-AF65-F5344CB8AC3E}">
        <p14:creationId xmlns:p14="http://schemas.microsoft.com/office/powerpoint/2010/main" val="14901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33523</TotalTime>
  <Words>4337</Words>
  <Application>Microsoft Office PowerPoint</Application>
  <PresentationFormat>宽屏</PresentationFormat>
  <Paragraphs>495</Paragraphs>
  <Slides>36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等线</vt:lpstr>
      <vt:lpstr>黑体</vt:lpstr>
      <vt:lpstr>华文中宋</vt:lpstr>
      <vt:lpstr>宋体</vt:lpstr>
      <vt:lpstr>微软雅黑 Light</vt:lpstr>
      <vt:lpstr>Arial</vt:lpstr>
      <vt:lpstr>Arial Black</vt:lpstr>
      <vt:lpstr>Cambria Math</vt:lpstr>
      <vt:lpstr>Symbol</vt:lpstr>
      <vt:lpstr>Times New Roman</vt:lpstr>
      <vt:lpstr>Wingdings</vt:lpstr>
      <vt:lpstr>南京理工大学通用模板</vt:lpstr>
      <vt:lpstr>Equation.3</vt:lpstr>
      <vt:lpstr>公式</vt:lpstr>
      <vt:lpstr>Equation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356</cp:revision>
  <dcterms:created xsi:type="dcterms:W3CDTF">2024-03-07T10:43:13Z</dcterms:created>
  <dcterms:modified xsi:type="dcterms:W3CDTF">2026-04-21T04:15:07Z</dcterms:modified>
</cp:coreProperties>
</file>