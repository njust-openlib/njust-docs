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50"/>
  </p:notesMasterIdLst>
  <p:handoutMasterIdLst>
    <p:handoutMasterId r:id="rId51"/>
  </p:handoutMasterIdLst>
  <p:sldIdLst>
    <p:sldId id="415" r:id="rId2"/>
    <p:sldId id="375" r:id="rId3"/>
    <p:sldId id="425" r:id="rId4"/>
    <p:sldId id="449" r:id="rId5"/>
    <p:sldId id="450" r:id="rId6"/>
    <p:sldId id="451" r:id="rId7"/>
    <p:sldId id="452" r:id="rId8"/>
    <p:sldId id="453" r:id="rId9"/>
    <p:sldId id="457" r:id="rId10"/>
    <p:sldId id="454" r:id="rId11"/>
    <p:sldId id="455" r:id="rId12"/>
    <p:sldId id="459" r:id="rId13"/>
    <p:sldId id="461" r:id="rId14"/>
    <p:sldId id="462" r:id="rId15"/>
    <p:sldId id="514" r:id="rId16"/>
    <p:sldId id="469" r:id="rId17"/>
    <p:sldId id="471" r:id="rId18"/>
    <p:sldId id="472" r:id="rId19"/>
    <p:sldId id="470" r:id="rId20"/>
    <p:sldId id="518" r:id="rId21"/>
    <p:sldId id="463" r:id="rId22"/>
    <p:sldId id="464" r:id="rId23"/>
    <p:sldId id="517" r:id="rId24"/>
    <p:sldId id="465" r:id="rId25"/>
    <p:sldId id="467" r:id="rId26"/>
    <p:sldId id="479" r:id="rId27"/>
    <p:sldId id="474" r:id="rId28"/>
    <p:sldId id="475" r:id="rId29"/>
    <p:sldId id="476" r:id="rId30"/>
    <p:sldId id="516" r:id="rId31"/>
    <p:sldId id="515" r:id="rId32"/>
    <p:sldId id="481" r:id="rId33"/>
    <p:sldId id="482" r:id="rId34"/>
    <p:sldId id="483" r:id="rId35"/>
    <p:sldId id="485" r:id="rId36"/>
    <p:sldId id="486" r:id="rId37"/>
    <p:sldId id="487" r:id="rId38"/>
    <p:sldId id="488" r:id="rId39"/>
    <p:sldId id="489" r:id="rId40"/>
    <p:sldId id="490" r:id="rId41"/>
    <p:sldId id="491" r:id="rId42"/>
    <p:sldId id="448" r:id="rId43"/>
    <p:sldId id="493" r:id="rId44"/>
    <p:sldId id="494" r:id="rId45"/>
    <p:sldId id="496" r:id="rId46"/>
    <p:sldId id="497" r:id="rId47"/>
    <p:sldId id="498" r:id="rId48"/>
    <p:sldId id="499" r:id="rId4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AA1110A6-7347-4355-8A1B-2BB69E09AF3A}">
          <p14:sldIdLst>
            <p14:sldId id="415"/>
            <p14:sldId id="375"/>
          </p14:sldIdLst>
        </p14:section>
        <p14:section name="5.1 无向图及有向图" id="{7B3F7B1D-C486-40BB-9FD1-6D2344F8D1D0}">
          <p14:sldIdLst>
            <p14:sldId id="425"/>
            <p14:sldId id="449"/>
            <p14:sldId id="450"/>
            <p14:sldId id="451"/>
            <p14:sldId id="452"/>
            <p14:sldId id="453"/>
            <p14:sldId id="457"/>
            <p14:sldId id="454"/>
            <p14:sldId id="455"/>
            <p14:sldId id="459"/>
            <p14:sldId id="461"/>
            <p14:sldId id="462"/>
            <p14:sldId id="514"/>
            <p14:sldId id="469"/>
            <p14:sldId id="471"/>
            <p14:sldId id="472"/>
            <p14:sldId id="470"/>
            <p14:sldId id="518"/>
            <p14:sldId id="463"/>
            <p14:sldId id="464"/>
            <p14:sldId id="517"/>
            <p14:sldId id="465"/>
            <p14:sldId id="467"/>
          </p14:sldIdLst>
        </p14:section>
        <p14:section name="5.2 通路、回路和图的连通性" id="{C0FB7776-5E06-4361-B6E5-F31CA17EA99A}">
          <p14:sldIdLst>
            <p14:sldId id="479"/>
            <p14:sldId id="474"/>
            <p14:sldId id="475"/>
            <p14:sldId id="476"/>
            <p14:sldId id="516"/>
            <p14:sldId id="515"/>
            <p14:sldId id="481"/>
            <p14:sldId id="482"/>
            <p14:sldId id="483"/>
            <p14:sldId id="485"/>
            <p14:sldId id="486"/>
            <p14:sldId id="487"/>
            <p14:sldId id="488"/>
            <p14:sldId id="489"/>
            <p14:sldId id="490"/>
            <p14:sldId id="491"/>
            <p14:sldId id="448"/>
            <p14:sldId id="493"/>
            <p14:sldId id="494"/>
            <p14:sldId id="496"/>
            <p14:sldId id="497"/>
            <p14:sldId id="498"/>
            <p14:sldId id="49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2677"/>
    <a:srgbClr val="AD51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4C162B-CB82-48A8-93DA-D53C6DFDB428}" v="8" dt="2026-03-29T03:10:19.8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2" autoAdjust="0"/>
    <p:restoredTop sz="96151" autoAdjust="0"/>
  </p:normalViewPr>
  <p:slideViewPr>
    <p:cSldViewPr snapToGrid="0">
      <p:cViewPr varScale="1">
        <p:scale>
          <a:sx n="92" d="100"/>
          <a:sy n="92" d="100"/>
        </p:scale>
        <p:origin x="740" y="56"/>
      </p:cViewPr>
      <p:guideLst/>
    </p:cSldViewPr>
  </p:slideViewPr>
  <p:outlineViewPr>
    <p:cViewPr>
      <p:scale>
        <a:sx n="33" d="100"/>
        <a:sy n="33" d="100"/>
      </p:scale>
      <p:origin x="0" y="-288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79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5/10/relationships/revisionInfo" Target="revisionInfo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744311194@qq.com" userId="e2a28223f2085f4b" providerId="LiveId" clId="{93EAE7B5-FDEE-48D0-B65C-03455E3B8632}"/>
    <pc:docChg chg="modSld addSection modSection">
      <pc:chgData name="744311194@qq.com" userId="e2a28223f2085f4b" providerId="LiveId" clId="{93EAE7B5-FDEE-48D0-B65C-03455E3B8632}" dt="2026-04-02T13:20:40.879" v="11" actId="17846"/>
      <pc:docMkLst>
        <pc:docMk/>
      </pc:docMkLst>
      <pc:sldChg chg="modSp mod">
        <pc:chgData name="744311194@qq.com" userId="e2a28223f2085f4b" providerId="LiveId" clId="{93EAE7B5-FDEE-48D0-B65C-03455E3B8632}" dt="2026-03-29T03:09:11.669" v="0" actId="13926"/>
        <pc:sldMkLst>
          <pc:docMk/>
          <pc:sldMk cId="2712057873" sldId="455"/>
        </pc:sldMkLst>
        <pc:spChg chg="mod">
          <ac:chgData name="744311194@qq.com" userId="e2a28223f2085f4b" providerId="LiveId" clId="{93EAE7B5-FDEE-48D0-B65C-03455E3B8632}" dt="2026-03-29T03:09:11.669" v="0" actId="13926"/>
          <ac:spMkLst>
            <pc:docMk/>
            <pc:sldMk cId="2712057873" sldId="455"/>
            <ac:spMk id="16" creationId="{E6349FA5-CEBA-4761-8371-67707FE8B230}"/>
          </ac:spMkLst>
        </pc:spChg>
      </pc:sldChg>
      <pc:sldChg chg="modSp">
        <pc:chgData name="744311194@qq.com" userId="e2a28223f2085f4b" providerId="LiveId" clId="{93EAE7B5-FDEE-48D0-B65C-03455E3B8632}" dt="2026-03-29T03:10:19.859" v="7" actId="13926"/>
        <pc:sldMkLst>
          <pc:docMk/>
          <pc:sldMk cId="2372345504" sldId="459"/>
        </pc:sldMkLst>
        <pc:spChg chg="mod">
          <ac:chgData name="744311194@qq.com" userId="e2a28223f2085f4b" providerId="LiveId" clId="{93EAE7B5-FDEE-48D0-B65C-03455E3B8632}" dt="2026-03-29T03:10:19.859" v="7" actId="13926"/>
          <ac:spMkLst>
            <pc:docMk/>
            <pc:sldMk cId="2372345504" sldId="459"/>
            <ac:spMk id="41" creationId="{8A533167-9277-455D-8D12-07C7A0F88BB4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A676A4C9-C1DC-465A-944B-7C50805B0B9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439A52E-7501-44B8-A3A7-1516D6D265A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430BC2-F86A-42C0-8A80-84DBB0255044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26BD8F0-9D4E-47EE-86F0-A40EAEF9C22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FA70BE2-7855-41A8-B606-2F9DF3FA0A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6FB91C-8383-4E9F-96C0-D9618EADB2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4424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37446B-2894-449C-92CD-CB8A7EEE00B4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C4DD7C-FBF0-44C0-A1F7-EB98AA47B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4547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4E569D-EDD6-4BC5-AFEC-DD57613D915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26408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37807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40042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08742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82747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84887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06438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24049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59644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96938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21077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99150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75133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85484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01917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65241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02218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52599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720834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62580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864147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212704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064499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343192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41178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571414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934069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240286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012397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017323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020398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386008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753063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252384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951374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440561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787458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593325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787748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562972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908404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377186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549441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166934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714767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660025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122014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8446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矩形 79">
            <a:extLst>
              <a:ext uri="{FF2B5EF4-FFF2-40B4-BE49-F238E27FC236}">
                <a16:creationId xmlns:a16="http://schemas.microsoft.com/office/drawing/2014/main" id="{B69D3C12-69C4-4A3C-8A16-E380AFBB702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spc="300" dirty="0">
              <a:cs typeface="+mn-ea"/>
              <a:sym typeface="+mn-lt"/>
            </a:endParaRPr>
          </a:p>
        </p:txBody>
      </p:sp>
      <p:sp>
        <p:nvSpPr>
          <p:cNvPr id="82" name="任意多边形: 形状 81">
            <a:extLst>
              <a:ext uri="{FF2B5EF4-FFF2-40B4-BE49-F238E27FC236}">
                <a16:creationId xmlns:a16="http://schemas.microsoft.com/office/drawing/2014/main" id="{D66FF192-87A1-4842-AED9-B944F1200217}"/>
              </a:ext>
            </a:extLst>
          </p:cNvPr>
          <p:cNvSpPr/>
          <p:nvPr userDrawn="1"/>
        </p:nvSpPr>
        <p:spPr>
          <a:xfrm>
            <a:off x="0" y="1736723"/>
            <a:ext cx="12192000" cy="3384552"/>
          </a:xfrm>
          <a:custGeom>
            <a:avLst/>
            <a:gdLst>
              <a:gd name="connsiteX0" fmla="*/ 0 w 12192000"/>
              <a:gd name="connsiteY0" fmla="*/ 0 h 3384552"/>
              <a:gd name="connsiteX1" fmla="*/ 5221304 w 12192000"/>
              <a:gd name="connsiteY1" fmla="*/ 0 h 3384552"/>
              <a:gd name="connsiteX2" fmla="*/ 5237005 w 12192000"/>
              <a:gd name="connsiteY2" fmla="*/ 155754 h 3384552"/>
              <a:gd name="connsiteX3" fmla="*/ 6096000 w 12192000"/>
              <a:gd name="connsiteY3" fmla="*/ 855855 h 3384552"/>
              <a:gd name="connsiteX4" fmla="*/ 6954996 w 12192000"/>
              <a:gd name="connsiteY4" fmla="*/ 155754 h 3384552"/>
              <a:gd name="connsiteX5" fmla="*/ 6970697 w 12192000"/>
              <a:gd name="connsiteY5" fmla="*/ 0 h 3384552"/>
              <a:gd name="connsiteX6" fmla="*/ 12192000 w 12192000"/>
              <a:gd name="connsiteY6" fmla="*/ 0 h 3384552"/>
              <a:gd name="connsiteX7" fmla="*/ 12192000 w 12192000"/>
              <a:gd name="connsiteY7" fmla="*/ 3384552 h 3384552"/>
              <a:gd name="connsiteX8" fmla="*/ 0 w 12192000"/>
              <a:gd name="connsiteY8" fmla="*/ 3384552 h 3384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3384552">
                <a:moveTo>
                  <a:pt x="0" y="0"/>
                </a:moveTo>
                <a:lnTo>
                  <a:pt x="5221304" y="0"/>
                </a:lnTo>
                <a:lnTo>
                  <a:pt x="5237005" y="155754"/>
                </a:lnTo>
                <a:cubicBezTo>
                  <a:pt x="5318764" y="555301"/>
                  <a:pt x="5672283" y="855855"/>
                  <a:pt x="6096000" y="855855"/>
                </a:cubicBezTo>
                <a:cubicBezTo>
                  <a:pt x="6519717" y="855855"/>
                  <a:pt x="6873236" y="555301"/>
                  <a:pt x="6954996" y="155754"/>
                </a:cubicBezTo>
                <a:lnTo>
                  <a:pt x="6970697" y="0"/>
                </a:lnTo>
                <a:lnTo>
                  <a:pt x="12192000" y="0"/>
                </a:lnTo>
                <a:lnTo>
                  <a:pt x="12192000" y="3384552"/>
                </a:lnTo>
                <a:lnTo>
                  <a:pt x="0" y="3384552"/>
                </a:lnTo>
                <a:close/>
              </a:path>
            </a:pathLst>
          </a:custGeom>
          <a:solidFill>
            <a:srgbClr val="9926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600" spc="300" dirty="0">
              <a:cs typeface="+mn-ea"/>
              <a:sym typeface="+mn-lt"/>
            </a:endParaRPr>
          </a:p>
        </p:txBody>
      </p:sp>
      <p:sp useBgFill="1">
        <p:nvSpPr>
          <p:cNvPr id="104" name="矩形 103">
            <a:extLst>
              <a:ext uri="{FF2B5EF4-FFF2-40B4-BE49-F238E27FC236}">
                <a16:creationId xmlns:a16="http://schemas.microsoft.com/office/drawing/2014/main" id="{25E46E35-8EC9-4AC4-909B-B1F3BC63089E}"/>
              </a:ext>
            </a:extLst>
          </p:cNvPr>
          <p:cNvSpPr/>
          <p:nvPr userDrawn="1"/>
        </p:nvSpPr>
        <p:spPr>
          <a:xfrm>
            <a:off x="423387" y="1736724"/>
            <a:ext cx="164788" cy="33845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spc="300" dirty="0">
              <a:cs typeface="+mn-ea"/>
              <a:sym typeface="+mn-lt"/>
            </a:endParaRPr>
          </a:p>
        </p:txBody>
      </p:sp>
      <p:sp useBgFill="1">
        <p:nvSpPr>
          <p:cNvPr id="106" name="矩形 105">
            <a:extLst>
              <a:ext uri="{FF2B5EF4-FFF2-40B4-BE49-F238E27FC236}">
                <a16:creationId xmlns:a16="http://schemas.microsoft.com/office/drawing/2014/main" id="{D87BC45E-E4CF-4749-91B0-AB004E8258BC}"/>
              </a:ext>
            </a:extLst>
          </p:cNvPr>
          <p:cNvSpPr/>
          <p:nvPr userDrawn="1"/>
        </p:nvSpPr>
        <p:spPr>
          <a:xfrm>
            <a:off x="11649241" y="1736724"/>
            <a:ext cx="164788" cy="33845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spc="300" dirty="0">
              <a:cs typeface="+mn-ea"/>
              <a:sym typeface="+mn-lt"/>
            </a:endParaRPr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F6385A17-6A4B-4926-AD6D-2A09F5402B58}"/>
              </a:ext>
            </a:extLst>
          </p:cNvPr>
          <p:cNvSpPr/>
          <p:nvPr userDrawn="1"/>
        </p:nvSpPr>
        <p:spPr>
          <a:xfrm>
            <a:off x="11649241" y="1736724"/>
            <a:ext cx="164788" cy="3384552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spc="300" dirty="0">
              <a:cs typeface="+mn-ea"/>
              <a:sym typeface="+mn-lt"/>
            </a:endParaRP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ABC598F6-7EB1-4C8F-9F87-5CA9A5CECDC1}"/>
              </a:ext>
            </a:extLst>
          </p:cNvPr>
          <p:cNvSpPr/>
          <p:nvPr userDrawn="1"/>
        </p:nvSpPr>
        <p:spPr>
          <a:xfrm>
            <a:off x="423387" y="1736724"/>
            <a:ext cx="164788" cy="3384552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spc="300" dirty="0">
              <a:cs typeface="+mn-ea"/>
              <a:sym typeface="+mn-lt"/>
            </a:endParaRPr>
          </a:p>
        </p:txBody>
      </p:sp>
      <p:sp>
        <p:nvSpPr>
          <p:cNvPr id="114" name="标题 112">
            <a:extLst>
              <a:ext uri="{FF2B5EF4-FFF2-40B4-BE49-F238E27FC236}">
                <a16:creationId xmlns:a16="http://schemas.microsoft.com/office/drawing/2014/main" id="{FA5E98B8-A581-470E-A5D3-7587EC891C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1094" y="2795268"/>
            <a:ext cx="10335228" cy="663712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0" hangingPunct="1">
              <a:defRPr lang="zh-CN" altLang="en-US" sz="4000" b="1" kern="1200" spc="600" dirty="0">
                <a:solidFill>
                  <a:schemeClr val="bg1"/>
                </a:solidFill>
                <a:latin typeface="+mj-ea"/>
                <a:ea typeface="+mj-ea"/>
                <a:cs typeface="+mn-ea"/>
              </a:defRPr>
            </a:lvl1pPr>
          </a:lstStyle>
          <a:p>
            <a:pPr algn="ctr"/>
            <a:r>
              <a:rPr lang="zh-CN" altLang="en-US" sz="4000" b="1" spc="600" dirty="0">
                <a:solidFill>
                  <a:schemeClr val="bg1"/>
                </a:solidFill>
                <a:cs typeface="+mn-ea"/>
                <a:sym typeface="+mn-lt"/>
              </a:rPr>
              <a:t>南京理工大学通用模板</a:t>
            </a:r>
          </a:p>
        </p:txBody>
      </p:sp>
      <p:grpSp>
        <p:nvGrpSpPr>
          <p:cNvPr id="12" name="ab742894-b611-4118-8065-b69e992411d4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4526AE39-2E3F-40FB-8FE9-81FA86968FA7}"/>
              </a:ext>
            </a:extLst>
          </p:cNvPr>
          <p:cNvGrpSpPr>
            <a:grpSpLocks noChangeAspect="1"/>
          </p:cNvGrpSpPr>
          <p:nvPr userDrawn="1">
            <p:custDataLst>
              <p:tags r:id="rId1"/>
            </p:custDataLst>
          </p:nvPr>
        </p:nvGrpSpPr>
        <p:grpSpPr>
          <a:xfrm>
            <a:off x="5326643" y="955675"/>
            <a:ext cx="1538714" cy="1545269"/>
            <a:chOff x="2035175" y="2493963"/>
            <a:chExt cx="1865313" cy="1873250"/>
          </a:xfrm>
        </p:grpSpPr>
        <p:sp>
          <p:nvSpPr>
            <p:cNvPr id="13" name="iśļîḋè">
              <a:extLst>
                <a:ext uri="{FF2B5EF4-FFF2-40B4-BE49-F238E27FC236}">
                  <a16:creationId xmlns:a16="http://schemas.microsoft.com/office/drawing/2014/main" id="{E319FA1B-0C38-4F2B-912C-F12A100B6C5A}"/>
                </a:ext>
              </a:extLst>
            </p:cNvPr>
            <p:cNvSpPr/>
            <p:nvPr/>
          </p:nvSpPr>
          <p:spPr bwMode="auto">
            <a:xfrm>
              <a:off x="2927350" y="3657601"/>
              <a:ext cx="14288" cy="22225"/>
            </a:xfrm>
            <a:custGeom>
              <a:avLst/>
              <a:gdLst>
                <a:gd name="T0" fmla="*/ 2 w 4"/>
                <a:gd name="T1" fmla="*/ 0 h 6"/>
                <a:gd name="T2" fmla="*/ 0 w 4"/>
                <a:gd name="T3" fmla="*/ 3 h 6"/>
                <a:gd name="T4" fmla="*/ 2 w 4"/>
                <a:gd name="T5" fmla="*/ 6 h 6"/>
                <a:gd name="T6" fmla="*/ 4 w 4"/>
                <a:gd name="T7" fmla="*/ 5 h 6"/>
                <a:gd name="T8" fmla="*/ 4 w 4"/>
                <a:gd name="T9" fmla="*/ 4 h 6"/>
                <a:gd name="T10" fmla="*/ 2 w 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6">
                  <a:moveTo>
                    <a:pt x="2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5"/>
                    <a:pt x="1" y="6"/>
                    <a:pt x="2" y="6"/>
                  </a:cubicBezTo>
                  <a:cubicBezTo>
                    <a:pt x="3" y="6"/>
                    <a:pt x="4" y="5"/>
                    <a:pt x="4" y="5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2"/>
                    <a:pt x="4" y="0"/>
                    <a:pt x="2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" name="iṣliḓê">
              <a:extLst>
                <a:ext uri="{FF2B5EF4-FFF2-40B4-BE49-F238E27FC236}">
                  <a16:creationId xmlns:a16="http://schemas.microsoft.com/office/drawing/2014/main" id="{DE80505B-DFEF-450A-8CDF-C6F5A71E4535}"/>
                </a:ext>
              </a:extLst>
            </p:cNvPr>
            <p:cNvSpPr/>
            <p:nvPr/>
          </p:nvSpPr>
          <p:spPr bwMode="auto">
            <a:xfrm>
              <a:off x="2706688" y="3098801"/>
              <a:ext cx="519113" cy="703263"/>
            </a:xfrm>
            <a:custGeom>
              <a:avLst/>
              <a:gdLst>
                <a:gd name="T0" fmla="*/ 46 w 144"/>
                <a:gd name="T1" fmla="*/ 167 h 194"/>
                <a:gd name="T2" fmla="*/ 46 w 144"/>
                <a:gd name="T3" fmla="*/ 155 h 194"/>
                <a:gd name="T4" fmla="*/ 42 w 144"/>
                <a:gd name="T5" fmla="*/ 154 h 194"/>
                <a:gd name="T6" fmla="*/ 49 w 144"/>
                <a:gd name="T7" fmla="*/ 152 h 194"/>
                <a:gd name="T8" fmla="*/ 59 w 144"/>
                <a:gd name="T9" fmla="*/ 167 h 194"/>
                <a:gd name="T10" fmla="*/ 61 w 144"/>
                <a:gd name="T11" fmla="*/ 165 h 194"/>
                <a:gd name="T12" fmla="*/ 65 w 144"/>
                <a:gd name="T13" fmla="*/ 161 h 194"/>
                <a:gd name="T14" fmla="*/ 58 w 144"/>
                <a:gd name="T15" fmla="*/ 157 h 194"/>
                <a:gd name="T16" fmla="*/ 69 w 144"/>
                <a:gd name="T17" fmla="*/ 158 h 194"/>
                <a:gd name="T18" fmla="*/ 79 w 144"/>
                <a:gd name="T19" fmla="*/ 167 h 194"/>
                <a:gd name="T20" fmla="*/ 76 w 144"/>
                <a:gd name="T21" fmla="*/ 164 h 194"/>
                <a:gd name="T22" fmla="*/ 82 w 144"/>
                <a:gd name="T23" fmla="*/ 162 h 194"/>
                <a:gd name="T24" fmla="*/ 77 w 144"/>
                <a:gd name="T25" fmla="*/ 160 h 194"/>
                <a:gd name="T26" fmla="*/ 85 w 144"/>
                <a:gd name="T27" fmla="*/ 152 h 194"/>
                <a:gd name="T28" fmla="*/ 80 w 144"/>
                <a:gd name="T29" fmla="*/ 155 h 194"/>
                <a:gd name="T30" fmla="*/ 80 w 144"/>
                <a:gd name="T31" fmla="*/ 157 h 194"/>
                <a:gd name="T32" fmla="*/ 79 w 144"/>
                <a:gd name="T33" fmla="*/ 167 h 194"/>
                <a:gd name="T34" fmla="*/ 92 w 144"/>
                <a:gd name="T35" fmla="*/ 166 h 194"/>
                <a:gd name="T36" fmla="*/ 96 w 144"/>
                <a:gd name="T37" fmla="*/ 165 h 194"/>
                <a:gd name="T38" fmla="*/ 96 w 144"/>
                <a:gd name="T39" fmla="*/ 160 h 194"/>
                <a:gd name="T40" fmla="*/ 95 w 144"/>
                <a:gd name="T41" fmla="*/ 158 h 194"/>
                <a:gd name="T42" fmla="*/ 99 w 144"/>
                <a:gd name="T43" fmla="*/ 156 h 194"/>
                <a:gd name="T44" fmla="*/ 93 w 144"/>
                <a:gd name="T45" fmla="*/ 155 h 194"/>
                <a:gd name="T46" fmla="*/ 97 w 144"/>
                <a:gd name="T47" fmla="*/ 152 h 194"/>
                <a:gd name="T48" fmla="*/ 99 w 144"/>
                <a:gd name="T49" fmla="*/ 159 h 194"/>
                <a:gd name="T50" fmla="*/ 102 w 144"/>
                <a:gd name="T51" fmla="*/ 163 h 194"/>
                <a:gd name="T52" fmla="*/ 139 w 144"/>
                <a:gd name="T53" fmla="*/ 2 h 194"/>
                <a:gd name="T54" fmla="*/ 136 w 144"/>
                <a:gd name="T55" fmla="*/ 132 h 194"/>
                <a:gd name="T56" fmla="*/ 12 w 144"/>
                <a:gd name="T57" fmla="*/ 141 h 194"/>
                <a:gd name="T58" fmla="*/ 6 w 144"/>
                <a:gd name="T59" fmla="*/ 115 h 194"/>
                <a:gd name="T60" fmla="*/ 0 w 144"/>
                <a:gd name="T61" fmla="*/ 0 h 194"/>
                <a:gd name="T62" fmla="*/ 2 w 144"/>
                <a:gd name="T63" fmla="*/ 130 h 194"/>
                <a:gd name="T64" fmla="*/ 6 w 144"/>
                <a:gd name="T65" fmla="*/ 141 h 194"/>
                <a:gd name="T66" fmla="*/ 7 w 144"/>
                <a:gd name="T67" fmla="*/ 144 h 194"/>
                <a:gd name="T68" fmla="*/ 9 w 144"/>
                <a:gd name="T69" fmla="*/ 147 h 194"/>
                <a:gd name="T70" fmla="*/ 11 w 144"/>
                <a:gd name="T71" fmla="*/ 151 h 194"/>
                <a:gd name="T72" fmla="*/ 12 w 144"/>
                <a:gd name="T73" fmla="*/ 154 h 194"/>
                <a:gd name="T74" fmla="*/ 15 w 144"/>
                <a:gd name="T75" fmla="*/ 157 h 194"/>
                <a:gd name="T76" fmla="*/ 17 w 144"/>
                <a:gd name="T77" fmla="*/ 160 h 194"/>
                <a:gd name="T78" fmla="*/ 19 w 144"/>
                <a:gd name="T79" fmla="*/ 163 h 194"/>
                <a:gd name="T80" fmla="*/ 22 w 144"/>
                <a:gd name="T81" fmla="*/ 166 h 194"/>
                <a:gd name="T82" fmla="*/ 123 w 144"/>
                <a:gd name="T83" fmla="*/ 166 h 194"/>
                <a:gd name="T84" fmla="*/ 125 w 144"/>
                <a:gd name="T85" fmla="*/ 163 h 194"/>
                <a:gd name="T86" fmla="*/ 127 w 144"/>
                <a:gd name="T87" fmla="*/ 160 h 194"/>
                <a:gd name="T88" fmla="*/ 130 w 144"/>
                <a:gd name="T89" fmla="*/ 157 h 194"/>
                <a:gd name="T90" fmla="*/ 132 w 144"/>
                <a:gd name="T91" fmla="*/ 154 h 194"/>
                <a:gd name="T92" fmla="*/ 134 w 144"/>
                <a:gd name="T93" fmla="*/ 151 h 194"/>
                <a:gd name="T94" fmla="*/ 136 w 144"/>
                <a:gd name="T95" fmla="*/ 147 h 194"/>
                <a:gd name="T96" fmla="*/ 137 w 144"/>
                <a:gd name="T97" fmla="*/ 144 h 194"/>
                <a:gd name="T98" fmla="*/ 144 w 144"/>
                <a:gd name="T99" fmla="*/ 114 h 194"/>
                <a:gd name="T100" fmla="*/ 139 w 144"/>
                <a:gd name="T101" fmla="*/ 2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4" h="194">
                  <a:moveTo>
                    <a:pt x="49" y="167"/>
                  </a:moveTo>
                  <a:cubicBezTo>
                    <a:pt x="46" y="167"/>
                    <a:pt x="46" y="167"/>
                    <a:pt x="46" y="167"/>
                  </a:cubicBezTo>
                  <a:cubicBezTo>
                    <a:pt x="46" y="155"/>
                    <a:pt x="46" y="155"/>
                    <a:pt x="46" y="155"/>
                  </a:cubicBezTo>
                  <a:cubicBezTo>
                    <a:pt x="46" y="155"/>
                    <a:pt x="46" y="155"/>
                    <a:pt x="46" y="155"/>
                  </a:cubicBezTo>
                  <a:cubicBezTo>
                    <a:pt x="43" y="156"/>
                    <a:pt x="43" y="156"/>
                    <a:pt x="43" y="156"/>
                  </a:cubicBezTo>
                  <a:cubicBezTo>
                    <a:pt x="42" y="154"/>
                    <a:pt x="42" y="154"/>
                    <a:pt x="42" y="154"/>
                  </a:cubicBezTo>
                  <a:cubicBezTo>
                    <a:pt x="46" y="152"/>
                    <a:pt x="46" y="152"/>
                    <a:pt x="46" y="152"/>
                  </a:cubicBezTo>
                  <a:cubicBezTo>
                    <a:pt x="49" y="152"/>
                    <a:pt x="49" y="152"/>
                    <a:pt x="49" y="152"/>
                  </a:cubicBezTo>
                  <a:lnTo>
                    <a:pt x="49" y="167"/>
                  </a:lnTo>
                  <a:close/>
                  <a:moveTo>
                    <a:pt x="59" y="167"/>
                  </a:moveTo>
                  <a:cubicBezTo>
                    <a:pt x="59" y="165"/>
                    <a:pt x="59" y="165"/>
                    <a:pt x="59" y="165"/>
                  </a:cubicBezTo>
                  <a:cubicBezTo>
                    <a:pt x="60" y="165"/>
                    <a:pt x="60" y="165"/>
                    <a:pt x="61" y="165"/>
                  </a:cubicBezTo>
                  <a:cubicBezTo>
                    <a:pt x="63" y="165"/>
                    <a:pt x="65" y="163"/>
                    <a:pt x="65" y="161"/>
                  </a:cubicBezTo>
                  <a:cubicBezTo>
                    <a:pt x="65" y="161"/>
                    <a:pt x="65" y="161"/>
                    <a:pt x="65" y="161"/>
                  </a:cubicBezTo>
                  <a:cubicBezTo>
                    <a:pt x="65" y="161"/>
                    <a:pt x="64" y="162"/>
                    <a:pt x="62" y="162"/>
                  </a:cubicBezTo>
                  <a:cubicBezTo>
                    <a:pt x="60" y="162"/>
                    <a:pt x="58" y="160"/>
                    <a:pt x="58" y="157"/>
                  </a:cubicBezTo>
                  <a:cubicBezTo>
                    <a:pt x="58" y="155"/>
                    <a:pt x="60" y="152"/>
                    <a:pt x="63" y="152"/>
                  </a:cubicBezTo>
                  <a:cubicBezTo>
                    <a:pt x="67" y="152"/>
                    <a:pt x="69" y="155"/>
                    <a:pt x="69" y="158"/>
                  </a:cubicBezTo>
                  <a:cubicBezTo>
                    <a:pt x="69" y="163"/>
                    <a:pt x="66" y="167"/>
                    <a:pt x="59" y="167"/>
                  </a:cubicBezTo>
                  <a:close/>
                  <a:moveTo>
                    <a:pt x="79" y="167"/>
                  </a:moveTo>
                  <a:cubicBezTo>
                    <a:pt x="78" y="167"/>
                    <a:pt x="76" y="167"/>
                    <a:pt x="76" y="166"/>
                  </a:cubicBezTo>
                  <a:cubicBezTo>
                    <a:pt x="76" y="164"/>
                    <a:pt x="76" y="164"/>
                    <a:pt x="76" y="164"/>
                  </a:cubicBezTo>
                  <a:cubicBezTo>
                    <a:pt x="77" y="165"/>
                    <a:pt x="78" y="165"/>
                    <a:pt x="79" y="165"/>
                  </a:cubicBezTo>
                  <a:cubicBezTo>
                    <a:pt x="81" y="165"/>
                    <a:pt x="82" y="164"/>
                    <a:pt x="82" y="162"/>
                  </a:cubicBezTo>
                  <a:cubicBezTo>
                    <a:pt x="82" y="161"/>
                    <a:pt x="81" y="160"/>
                    <a:pt x="78" y="160"/>
                  </a:cubicBezTo>
                  <a:cubicBezTo>
                    <a:pt x="78" y="160"/>
                    <a:pt x="77" y="160"/>
                    <a:pt x="77" y="160"/>
                  </a:cubicBezTo>
                  <a:cubicBezTo>
                    <a:pt x="77" y="152"/>
                    <a:pt x="77" y="152"/>
                    <a:pt x="77" y="152"/>
                  </a:cubicBezTo>
                  <a:cubicBezTo>
                    <a:pt x="85" y="152"/>
                    <a:pt x="85" y="152"/>
                    <a:pt x="85" y="152"/>
                  </a:cubicBezTo>
                  <a:cubicBezTo>
                    <a:pt x="85" y="155"/>
                    <a:pt x="85" y="155"/>
                    <a:pt x="85" y="155"/>
                  </a:cubicBezTo>
                  <a:cubicBezTo>
                    <a:pt x="80" y="155"/>
                    <a:pt x="80" y="155"/>
                    <a:pt x="80" y="155"/>
                  </a:cubicBezTo>
                  <a:cubicBezTo>
                    <a:pt x="79" y="158"/>
                    <a:pt x="79" y="158"/>
                    <a:pt x="79" y="158"/>
                  </a:cubicBezTo>
                  <a:cubicBezTo>
                    <a:pt x="80" y="157"/>
                    <a:pt x="80" y="157"/>
                    <a:pt x="80" y="157"/>
                  </a:cubicBezTo>
                  <a:cubicBezTo>
                    <a:pt x="83" y="157"/>
                    <a:pt x="86" y="159"/>
                    <a:pt x="86" y="162"/>
                  </a:cubicBezTo>
                  <a:cubicBezTo>
                    <a:pt x="86" y="165"/>
                    <a:pt x="83" y="167"/>
                    <a:pt x="79" y="167"/>
                  </a:cubicBezTo>
                  <a:close/>
                  <a:moveTo>
                    <a:pt x="96" y="167"/>
                  </a:moveTo>
                  <a:cubicBezTo>
                    <a:pt x="95" y="167"/>
                    <a:pt x="93" y="167"/>
                    <a:pt x="92" y="166"/>
                  </a:cubicBezTo>
                  <a:cubicBezTo>
                    <a:pt x="93" y="164"/>
                    <a:pt x="93" y="164"/>
                    <a:pt x="93" y="164"/>
                  </a:cubicBezTo>
                  <a:cubicBezTo>
                    <a:pt x="94" y="164"/>
                    <a:pt x="95" y="165"/>
                    <a:pt x="96" y="165"/>
                  </a:cubicBezTo>
                  <a:cubicBezTo>
                    <a:pt x="98" y="165"/>
                    <a:pt x="99" y="164"/>
                    <a:pt x="99" y="163"/>
                  </a:cubicBezTo>
                  <a:cubicBezTo>
                    <a:pt x="99" y="161"/>
                    <a:pt x="97" y="160"/>
                    <a:pt x="96" y="160"/>
                  </a:cubicBezTo>
                  <a:cubicBezTo>
                    <a:pt x="95" y="160"/>
                    <a:pt x="95" y="160"/>
                    <a:pt x="95" y="160"/>
                  </a:cubicBezTo>
                  <a:cubicBezTo>
                    <a:pt x="95" y="158"/>
                    <a:pt x="95" y="158"/>
                    <a:pt x="95" y="158"/>
                  </a:cubicBezTo>
                  <a:cubicBezTo>
                    <a:pt x="96" y="158"/>
                    <a:pt x="96" y="158"/>
                    <a:pt x="96" y="158"/>
                  </a:cubicBezTo>
                  <a:cubicBezTo>
                    <a:pt x="97" y="158"/>
                    <a:pt x="99" y="158"/>
                    <a:pt x="99" y="156"/>
                  </a:cubicBezTo>
                  <a:cubicBezTo>
                    <a:pt x="99" y="155"/>
                    <a:pt x="98" y="154"/>
                    <a:pt x="96" y="154"/>
                  </a:cubicBezTo>
                  <a:cubicBezTo>
                    <a:pt x="95" y="154"/>
                    <a:pt x="94" y="155"/>
                    <a:pt x="93" y="155"/>
                  </a:cubicBezTo>
                  <a:cubicBezTo>
                    <a:pt x="93" y="153"/>
                    <a:pt x="93" y="153"/>
                    <a:pt x="93" y="153"/>
                  </a:cubicBezTo>
                  <a:cubicBezTo>
                    <a:pt x="94" y="153"/>
                    <a:pt x="95" y="152"/>
                    <a:pt x="97" y="152"/>
                  </a:cubicBezTo>
                  <a:cubicBezTo>
                    <a:pt x="100" y="152"/>
                    <a:pt x="102" y="154"/>
                    <a:pt x="102" y="156"/>
                  </a:cubicBezTo>
                  <a:cubicBezTo>
                    <a:pt x="102" y="157"/>
                    <a:pt x="101" y="158"/>
                    <a:pt x="99" y="159"/>
                  </a:cubicBezTo>
                  <a:cubicBezTo>
                    <a:pt x="99" y="159"/>
                    <a:pt x="99" y="159"/>
                    <a:pt x="99" y="159"/>
                  </a:cubicBezTo>
                  <a:cubicBezTo>
                    <a:pt x="101" y="159"/>
                    <a:pt x="102" y="161"/>
                    <a:pt x="102" y="163"/>
                  </a:cubicBezTo>
                  <a:cubicBezTo>
                    <a:pt x="102" y="165"/>
                    <a:pt x="100" y="167"/>
                    <a:pt x="96" y="167"/>
                  </a:cubicBezTo>
                  <a:close/>
                  <a:moveTo>
                    <a:pt x="139" y="2"/>
                  </a:moveTo>
                  <a:cubicBezTo>
                    <a:pt x="139" y="30"/>
                    <a:pt x="139" y="113"/>
                    <a:pt x="139" y="115"/>
                  </a:cubicBezTo>
                  <a:cubicBezTo>
                    <a:pt x="138" y="118"/>
                    <a:pt x="138" y="124"/>
                    <a:pt x="136" y="132"/>
                  </a:cubicBezTo>
                  <a:cubicBezTo>
                    <a:pt x="135" y="135"/>
                    <a:pt x="134" y="138"/>
                    <a:pt x="132" y="141"/>
                  </a:cubicBezTo>
                  <a:cubicBezTo>
                    <a:pt x="12" y="141"/>
                    <a:pt x="12" y="141"/>
                    <a:pt x="12" y="141"/>
                  </a:cubicBezTo>
                  <a:cubicBezTo>
                    <a:pt x="11" y="138"/>
                    <a:pt x="9" y="135"/>
                    <a:pt x="9" y="132"/>
                  </a:cubicBezTo>
                  <a:cubicBezTo>
                    <a:pt x="6" y="124"/>
                    <a:pt x="6" y="118"/>
                    <a:pt x="6" y="115"/>
                  </a:cubicBezTo>
                  <a:cubicBezTo>
                    <a:pt x="6" y="113"/>
                    <a:pt x="6" y="30"/>
                    <a:pt x="6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10"/>
                    <a:pt x="0" y="114"/>
                  </a:cubicBezTo>
                  <a:cubicBezTo>
                    <a:pt x="0" y="118"/>
                    <a:pt x="1" y="123"/>
                    <a:pt x="2" y="130"/>
                  </a:cubicBezTo>
                  <a:cubicBezTo>
                    <a:pt x="3" y="133"/>
                    <a:pt x="4" y="137"/>
                    <a:pt x="6" y="141"/>
                  </a:cubicBezTo>
                  <a:cubicBezTo>
                    <a:pt x="6" y="141"/>
                    <a:pt x="6" y="141"/>
                    <a:pt x="6" y="141"/>
                  </a:cubicBezTo>
                  <a:cubicBezTo>
                    <a:pt x="6" y="141"/>
                    <a:pt x="6" y="141"/>
                    <a:pt x="6" y="141"/>
                  </a:cubicBezTo>
                  <a:cubicBezTo>
                    <a:pt x="6" y="142"/>
                    <a:pt x="7" y="143"/>
                    <a:pt x="7" y="144"/>
                  </a:cubicBezTo>
                  <a:cubicBezTo>
                    <a:pt x="7" y="144"/>
                    <a:pt x="7" y="144"/>
                    <a:pt x="7" y="145"/>
                  </a:cubicBezTo>
                  <a:cubicBezTo>
                    <a:pt x="8" y="145"/>
                    <a:pt x="8" y="146"/>
                    <a:pt x="9" y="147"/>
                  </a:cubicBezTo>
                  <a:cubicBezTo>
                    <a:pt x="9" y="147"/>
                    <a:pt x="9" y="147"/>
                    <a:pt x="9" y="148"/>
                  </a:cubicBezTo>
                  <a:cubicBezTo>
                    <a:pt x="9" y="149"/>
                    <a:pt x="10" y="150"/>
                    <a:pt x="11" y="151"/>
                  </a:cubicBezTo>
                  <a:cubicBezTo>
                    <a:pt x="11" y="151"/>
                    <a:pt x="11" y="151"/>
                    <a:pt x="11" y="151"/>
                  </a:cubicBezTo>
                  <a:cubicBezTo>
                    <a:pt x="11" y="152"/>
                    <a:pt x="12" y="153"/>
                    <a:pt x="12" y="154"/>
                  </a:cubicBezTo>
                  <a:cubicBezTo>
                    <a:pt x="13" y="154"/>
                    <a:pt x="13" y="154"/>
                    <a:pt x="13" y="154"/>
                  </a:cubicBezTo>
                  <a:cubicBezTo>
                    <a:pt x="13" y="155"/>
                    <a:pt x="14" y="156"/>
                    <a:pt x="15" y="157"/>
                  </a:cubicBezTo>
                  <a:cubicBezTo>
                    <a:pt x="15" y="157"/>
                    <a:pt x="15" y="157"/>
                    <a:pt x="15" y="157"/>
                  </a:cubicBezTo>
                  <a:cubicBezTo>
                    <a:pt x="16" y="158"/>
                    <a:pt x="16" y="159"/>
                    <a:pt x="17" y="160"/>
                  </a:cubicBezTo>
                  <a:cubicBezTo>
                    <a:pt x="17" y="160"/>
                    <a:pt x="17" y="160"/>
                    <a:pt x="17" y="161"/>
                  </a:cubicBezTo>
                  <a:cubicBezTo>
                    <a:pt x="18" y="161"/>
                    <a:pt x="18" y="162"/>
                    <a:pt x="19" y="163"/>
                  </a:cubicBezTo>
                  <a:cubicBezTo>
                    <a:pt x="19" y="163"/>
                    <a:pt x="19" y="163"/>
                    <a:pt x="20" y="163"/>
                  </a:cubicBezTo>
                  <a:cubicBezTo>
                    <a:pt x="20" y="164"/>
                    <a:pt x="21" y="165"/>
                    <a:pt x="22" y="166"/>
                  </a:cubicBezTo>
                  <a:cubicBezTo>
                    <a:pt x="37" y="182"/>
                    <a:pt x="58" y="189"/>
                    <a:pt x="72" y="194"/>
                  </a:cubicBezTo>
                  <a:cubicBezTo>
                    <a:pt x="86" y="189"/>
                    <a:pt x="108" y="182"/>
                    <a:pt x="123" y="166"/>
                  </a:cubicBezTo>
                  <a:cubicBezTo>
                    <a:pt x="123" y="165"/>
                    <a:pt x="124" y="164"/>
                    <a:pt x="125" y="163"/>
                  </a:cubicBezTo>
                  <a:cubicBezTo>
                    <a:pt x="125" y="163"/>
                    <a:pt x="125" y="163"/>
                    <a:pt x="125" y="163"/>
                  </a:cubicBezTo>
                  <a:cubicBezTo>
                    <a:pt x="126" y="162"/>
                    <a:pt x="126" y="161"/>
                    <a:pt x="127" y="161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9"/>
                    <a:pt x="129" y="158"/>
                    <a:pt x="130" y="157"/>
                  </a:cubicBezTo>
                  <a:cubicBezTo>
                    <a:pt x="130" y="157"/>
                    <a:pt x="130" y="157"/>
                    <a:pt x="130" y="157"/>
                  </a:cubicBezTo>
                  <a:cubicBezTo>
                    <a:pt x="130" y="156"/>
                    <a:pt x="131" y="155"/>
                    <a:pt x="131" y="154"/>
                  </a:cubicBezTo>
                  <a:cubicBezTo>
                    <a:pt x="132" y="154"/>
                    <a:pt x="132" y="154"/>
                    <a:pt x="132" y="154"/>
                  </a:cubicBezTo>
                  <a:cubicBezTo>
                    <a:pt x="132" y="153"/>
                    <a:pt x="133" y="152"/>
                    <a:pt x="133" y="151"/>
                  </a:cubicBezTo>
                  <a:cubicBezTo>
                    <a:pt x="134" y="151"/>
                    <a:pt x="134" y="151"/>
                    <a:pt x="134" y="151"/>
                  </a:cubicBezTo>
                  <a:cubicBezTo>
                    <a:pt x="134" y="150"/>
                    <a:pt x="135" y="149"/>
                    <a:pt x="135" y="148"/>
                  </a:cubicBezTo>
                  <a:cubicBezTo>
                    <a:pt x="136" y="147"/>
                    <a:pt x="136" y="147"/>
                    <a:pt x="136" y="147"/>
                  </a:cubicBezTo>
                  <a:cubicBezTo>
                    <a:pt x="136" y="146"/>
                    <a:pt x="137" y="145"/>
                    <a:pt x="137" y="144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40" y="139"/>
                    <a:pt x="142" y="134"/>
                    <a:pt x="143" y="130"/>
                  </a:cubicBezTo>
                  <a:cubicBezTo>
                    <a:pt x="144" y="123"/>
                    <a:pt x="144" y="118"/>
                    <a:pt x="144" y="114"/>
                  </a:cubicBezTo>
                  <a:cubicBezTo>
                    <a:pt x="144" y="110"/>
                    <a:pt x="144" y="0"/>
                    <a:pt x="144" y="0"/>
                  </a:cubicBezTo>
                  <a:lnTo>
                    <a:pt x="139" y="2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" name="íṡľiḍê">
              <a:extLst>
                <a:ext uri="{FF2B5EF4-FFF2-40B4-BE49-F238E27FC236}">
                  <a16:creationId xmlns:a16="http://schemas.microsoft.com/office/drawing/2014/main" id="{C20C8E40-C556-48DD-B051-8D0895E54928}"/>
                </a:ext>
              </a:extLst>
            </p:cNvPr>
            <p:cNvSpPr/>
            <p:nvPr/>
          </p:nvSpPr>
          <p:spPr bwMode="auto">
            <a:xfrm>
              <a:off x="2395538" y="2917826"/>
              <a:ext cx="1141413" cy="1050925"/>
            </a:xfrm>
            <a:custGeom>
              <a:avLst/>
              <a:gdLst>
                <a:gd name="T0" fmla="*/ 300 w 316"/>
                <a:gd name="T1" fmla="*/ 173 h 290"/>
                <a:gd name="T2" fmla="*/ 294 w 316"/>
                <a:gd name="T3" fmla="*/ 163 h 290"/>
                <a:gd name="T4" fmla="*/ 299 w 316"/>
                <a:gd name="T5" fmla="*/ 78 h 290"/>
                <a:gd name="T6" fmla="*/ 285 w 316"/>
                <a:gd name="T7" fmla="*/ 84 h 290"/>
                <a:gd name="T8" fmla="*/ 248 w 316"/>
                <a:gd name="T9" fmla="*/ 17 h 290"/>
                <a:gd name="T10" fmla="*/ 233 w 316"/>
                <a:gd name="T11" fmla="*/ 15 h 290"/>
                <a:gd name="T12" fmla="*/ 233 w 316"/>
                <a:gd name="T13" fmla="*/ 33 h 290"/>
                <a:gd name="T14" fmla="*/ 242 w 316"/>
                <a:gd name="T15" fmla="*/ 45 h 290"/>
                <a:gd name="T16" fmla="*/ 278 w 316"/>
                <a:gd name="T17" fmla="*/ 88 h 290"/>
                <a:gd name="T18" fmla="*/ 276 w 316"/>
                <a:gd name="T19" fmla="*/ 93 h 290"/>
                <a:gd name="T20" fmla="*/ 286 w 316"/>
                <a:gd name="T21" fmla="*/ 156 h 290"/>
                <a:gd name="T22" fmla="*/ 278 w 316"/>
                <a:gd name="T23" fmla="*/ 170 h 290"/>
                <a:gd name="T24" fmla="*/ 269 w 316"/>
                <a:gd name="T25" fmla="*/ 179 h 290"/>
                <a:gd name="T26" fmla="*/ 254 w 316"/>
                <a:gd name="T27" fmla="*/ 230 h 290"/>
                <a:gd name="T28" fmla="*/ 246 w 316"/>
                <a:gd name="T29" fmla="*/ 219 h 290"/>
                <a:gd name="T30" fmla="*/ 169 w 316"/>
                <a:gd name="T31" fmla="*/ 262 h 290"/>
                <a:gd name="T32" fmla="*/ 147 w 316"/>
                <a:gd name="T33" fmla="*/ 262 h 290"/>
                <a:gd name="T34" fmla="*/ 70 w 316"/>
                <a:gd name="T35" fmla="*/ 219 h 290"/>
                <a:gd name="T36" fmla="*/ 62 w 316"/>
                <a:gd name="T37" fmla="*/ 230 h 290"/>
                <a:gd name="T38" fmla="*/ 48 w 316"/>
                <a:gd name="T39" fmla="*/ 179 h 290"/>
                <a:gd name="T40" fmla="*/ 38 w 316"/>
                <a:gd name="T41" fmla="*/ 170 h 290"/>
                <a:gd name="T42" fmla="*/ 30 w 316"/>
                <a:gd name="T43" fmla="*/ 156 h 290"/>
                <a:gd name="T44" fmla="*/ 41 w 316"/>
                <a:gd name="T45" fmla="*/ 93 h 290"/>
                <a:gd name="T46" fmla="*/ 38 w 316"/>
                <a:gd name="T47" fmla="*/ 88 h 290"/>
                <a:gd name="T48" fmla="*/ 75 w 316"/>
                <a:gd name="T49" fmla="*/ 45 h 290"/>
                <a:gd name="T50" fmla="*/ 84 w 316"/>
                <a:gd name="T51" fmla="*/ 33 h 290"/>
                <a:gd name="T52" fmla="*/ 83 w 316"/>
                <a:gd name="T53" fmla="*/ 15 h 290"/>
                <a:gd name="T54" fmla="*/ 68 w 316"/>
                <a:gd name="T55" fmla="*/ 17 h 290"/>
                <a:gd name="T56" fmla="*/ 31 w 316"/>
                <a:gd name="T57" fmla="*/ 84 h 290"/>
                <a:gd name="T58" fmla="*/ 17 w 316"/>
                <a:gd name="T59" fmla="*/ 78 h 290"/>
                <a:gd name="T60" fmla="*/ 23 w 316"/>
                <a:gd name="T61" fmla="*/ 163 h 290"/>
                <a:gd name="T62" fmla="*/ 16 w 316"/>
                <a:gd name="T63" fmla="*/ 173 h 290"/>
                <a:gd name="T64" fmla="*/ 14 w 316"/>
                <a:gd name="T65" fmla="*/ 182 h 290"/>
                <a:gd name="T66" fmla="*/ 93 w 316"/>
                <a:gd name="T67" fmla="*/ 253 h 290"/>
                <a:gd name="T68" fmla="*/ 72 w 316"/>
                <a:gd name="T69" fmla="*/ 258 h 290"/>
                <a:gd name="T70" fmla="*/ 134 w 316"/>
                <a:gd name="T71" fmla="*/ 265 h 290"/>
                <a:gd name="T72" fmla="*/ 138 w 316"/>
                <a:gd name="T73" fmla="*/ 272 h 290"/>
                <a:gd name="T74" fmla="*/ 131 w 316"/>
                <a:gd name="T75" fmla="*/ 290 h 290"/>
                <a:gd name="T76" fmla="*/ 158 w 316"/>
                <a:gd name="T77" fmla="*/ 272 h 290"/>
                <a:gd name="T78" fmla="*/ 186 w 316"/>
                <a:gd name="T79" fmla="*/ 290 h 290"/>
                <a:gd name="T80" fmla="*/ 178 w 316"/>
                <a:gd name="T81" fmla="*/ 272 h 290"/>
                <a:gd name="T82" fmla="*/ 182 w 316"/>
                <a:gd name="T83" fmla="*/ 265 h 290"/>
                <a:gd name="T84" fmla="*/ 244 w 316"/>
                <a:gd name="T85" fmla="*/ 258 h 290"/>
                <a:gd name="T86" fmla="*/ 223 w 316"/>
                <a:gd name="T87" fmla="*/ 253 h 290"/>
                <a:gd name="T88" fmla="*/ 302 w 316"/>
                <a:gd name="T89" fmla="*/ 182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16" h="290">
                  <a:moveTo>
                    <a:pt x="276" y="216"/>
                  </a:moveTo>
                  <a:cubicBezTo>
                    <a:pt x="282" y="191"/>
                    <a:pt x="289" y="190"/>
                    <a:pt x="300" y="173"/>
                  </a:cubicBezTo>
                  <a:cubicBezTo>
                    <a:pt x="310" y="157"/>
                    <a:pt x="316" y="126"/>
                    <a:pt x="305" y="115"/>
                  </a:cubicBezTo>
                  <a:cubicBezTo>
                    <a:pt x="304" y="138"/>
                    <a:pt x="296" y="143"/>
                    <a:pt x="294" y="163"/>
                  </a:cubicBezTo>
                  <a:cubicBezTo>
                    <a:pt x="292" y="147"/>
                    <a:pt x="292" y="137"/>
                    <a:pt x="295" y="126"/>
                  </a:cubicBezTo>
                  <a:cubicBezTo>
                    <a:pt x="298" y="117"/>
                    <a:pt x="302" y="95"/>
                    <a:pt x="299" y="78"/>
                  </a:cubicBezTo>
                  <a:cubicBezTo>
                    <a:pt x="297" y="66"/>
                    <a:pt x="291" y="61"/>
                    <a:pt x="284" y="58"/>
                  </a:cubicBezTo>
                  <a:cubicBezTo>
                    <a:pt x="288" y="72"/>
                    <a:pt x="285" y="84"/>
                    <a:pt x="285" y="84"/>
                  </a:cubicBezTo>
                  <a:cubicBezTo>
                    <a:pt x="285" y="84"/>
                    <a:pt x="277" y="75"/>
                    <a:pt x="274" y="52"/>
                  </a:cubicBezTo>
                  <a:cubicBezTo>
                    <a:pt x="271" y="29"/>
                    <a:pt x="256" y="18"/>
                    <a:pt x="248" y="17"/>
                  </a:cubicBezTo>
                  <a:cubicBezTo>
                    <a:pt x="255" y="29"/>
                    <a:pt x="255" y="33"/>
                    <a:pt x="257" y="44"/>
                  </a:cubicBezTo>
                  <a:cubicBezTo>
                    <a:pt x="250" y="40"/>
                    <a:pt x="245" y="26"/>
                    <a:pt x="233" y="15"/>
                  </a:cubicBezTo>
                  <a:cubicBezTo>
                    <a:pt x="216" y="0"/>
                    <a:pt x="203" y="0"/>
                    <a:pt x="195" y="7"/>
                  </a:cubicBezTo>
                  <a:cubicBezTo>
                    <a:pt x="218" y="16"/>
                    <a:pt x="214" y="18"/>
                    <a:pt x="233" y="33"/>
                  </a:cubicBezTo>
                  <a:cubicBezTo>
                    <a:pt x="251" y="45"/>
                    <a:pt x="259" y="46"/>
                    <a:pt x="264" y="62"/>
                  </a:cubicBezTo>
                  <a:cubicBezTo>
                    <a:pt x="256" y="54"/>
                    <a:pt x="251" y="49"/>
                    <a:pt x="242" y="45"/>
                  </a:cubicBezTo>
                  <a:cubicBezTo>
                    <a:pt x="239" y="50"/>
                    <a:pt x="243" y="60"/>
                    <a:pt x="257" y="71"/>
                  </a:cubicBezTo>
                  <a:cubicBezTo>
                    <a:pt x="267" y="82"/>
                    <a:pt x="270" y="77"/>
                    <a:pt x="278" y="88"/>
                  </a:cubicBezTo>
                  <a:cubicBezTo>
                    <a:pt x="285" y="96"/>
                    <a:pt x="291" y="105"/>
                    <a:pt x="289" y="124"/>
                  </a:cubicBezTo>
                  <a:cubicBezTo>
                    <a:pt x="283" y="110"/>
                    <a:pt x="279" y="108"/>
                    <a:pt x="276" y="93"/>
                  </a:cubicBezTo>
                  <a:cubicBezTo>
                    <a:pt x="272" y="98"/>
                    <a:pt x="270" y="106"/>
                    <a:pt x="271" y="116"/>
                  </a:cubicBezTo>
                  <a:cubicBezTo>
                    <a:pt x="275" y="136"/>
                    <a:pt x="283" y="136"/>
                    <a:pt x="286" y="156"/>
                  </a:cubicBezTo>
                  <a:cubicBezTo>
                    <a:pt x="288" y="168"/>
                    <a:pt x="288" y="183"/>
                    <a:pt x="278" y="194"/>
                  </a:cubicBezTo>
                  <a:cubicBezTo>
                    <a:pt x="276" y="184"/>
                    <a:pt x="277" y="179"/>
                    <a:pt x="278" y="170"/>
                  </a:cubicBezTo>
                  <a:cubicBezTo>
                    <a:pt x="280" y="161"/>
                    <a:pt x="279" y="154"/>
                    <a:pt x="276" y="145"/>
                  </a:cubicBezTo>
                  <a:cubicBezTo>
                    <a:pt x="269" y="151"/>
                    <a:pt x="267" y="165"/>
                    <a:pt x="269" y="179"/>
                  </a:cubicBezTo>
                  <a:cubicBezTo>
                    <a:pt x="270" y="193"/>
                    <a:pt x="280" y="203"/>
                    <a:pt x="265" y="223"/>
                  </a:cubicBezTo>
                  <a:cubicBezTo>
                    <a:pt x="258" y="229"/>
                    <a:pt x="254" y="231"/>
                    <a:pt x="254" y="230"/>
                  </a:cubicBezTo>
                  <a:cubicBezTo>
                    <a:pt x="262" y="221"/>
                    <a:pt x="273" y="198"/>
                    <a:pt x="265" y="187"/>
                  </a:cubicBezTo>
                  <a:cubicBezTo>
                    <a:pt x="262" y="200"/>
                    <a:pt x="254" y="207"/>
                    <a:pt x="246" y="219"/>
                  </a:cubicBezTo>
                  <a:cubicBezTo>
                    <a:pt x="235" y="235"/>
                    <a:pt x="245" y="240"/>
                    <a:pt x="210" y="253"/>
                  </a:cubicBezTo>
                  <a:cubicBezTo>
                    <a:pt x="199" y="257"/>
                    <a:pt x="185" y="258"/>
                    <a:pt x="169" y="262"/>
                  </a:cubicBezTo>
                  <a:cubicBezTo>
                    <a:pt x="165" y="263"/>
                    <a:pt x="161" y="264"/>
                    <a:pt x="158" y="265"/>
                  </a:cubicBezTo>
                  <a:cubicBezTo>
                    <a:pt x="155" y="264"/>
                    <a:pt x="151" y="263"/>
                    <a:pt x="147" y="262"/>
                  </a:cubicBezTo>
                  <a:cubicBezTo>
                    <a:pt x="132" y="258"/>
                    <a:pt x="117" y="257"/>
                    <a:pt x="107" y="253"/>
                  </a:cubicBezTo>
                  <a:cubicBezTo>
                    <a:pt x="72" y="240"/>
                    <a:pt x="81" y="235"/>
                    <a:pt x="70" y="219"/>
                  </a:cubicBezTo>
                  <a:cubicBezTo>
                    <a:pt x="62" y="207"/>
                    <a:pt x="54" y="200"/>
                    <a:pt x="51" y="187"/>
                  </a:cubicBezTo>
                  <a:cubicBezTo>
                    <a:pt x="43" y="198"/>
                    <a:pt x="54" y="221"/>
                    <a:pt x="62" y="230"/>
                  </a:cubicBezTo>
                  <a:cubicBezTo>
                    <a:pt x="62" y="231"/>
                    <a:pt x="58" y="229"/>
                    <a:pt x="51" y="223"/>
                  </a:cubicBezTo>
                  <a:cubicBezTo>
                    <a:pt x="36" y="203"/>
                    <a:pt x="46" y="193"/>
                    <a:pt x="48" y="179"/>
                  </a:cubicBezTo>
                  <a:cubicBezTo>
                    <a:pt x="49" y="165"/>
                    <a:pt x="47" y="151"/>
                    <a:pt x="40" y="145"/>
                  </a:cubicBezTo>
                  <a:cubicBezTo>
                    <a:pt x="38" y="154"/>
                    <a:pt x="36" y="161"/>
                    <a:pt x="38" y="170"/>
                  </a:cubicBezTo>
                  <a:cubicBezTo>
                    <a:pt x="40" y="179"/>
                    <a:pt x="41" y="184"/>
                    <a:pt x="39" y="194"/>
                  </a:cubicBezTo>
                  <a:cubicBezTo>
                    <a:pt x="28" y="183"/>
                    <a:pt x="29" y="168"/>
                    <a:pt x="30" y="156"/>
                  </a:cubicBezTo>
                  <a:cubicBezTo>
                    <a:pt x="33" y="136"/>
                    <a:pt x="41" y="136"/>
                    <a:pt x="45" y="116"/>
                  </a:cubicBezTo>
                  <a:cubicBezTo>
                    <a:pt x="47" y="106"/>
                    <a:pt x="44" y="98"/>
                    <a:pt x="41" y="93"/>
                  </a:cubicBezTo>
                  <a:cubicBezTo>
                    <a:pt x="37" y="108"/>
                    <a:pt x="33" y="110"/>
                    <a:pt x="28" y="124"/>
                  </a:cubicBezTo>
                  <a:cubicBezTo>
                    <a:pt x="25" y="105"/>
                    <a:pt x="32" y="96"/>
                    <a:pt x="38" y="88"/>
                  </a:cubicBezTo>
                  <a:cubicBezTo>
                    <a:pt x="47" y="77"/>
                    <a:pt x="49" y="82"/>
                    <a:pt x="60" y="71"/>
                  </a:cubicBezTo>
                  <a:cubicBezTo>
                    <a:pt x="73" y="60"/>
                    <a:pt x="77" y="50"/>
                    <a:pt x="75" y="45"/>
                  </a:cubicBezTo>
                  <a:cubicBezTo>
                    <a:pt x="65" y="49"/>
                    <a:pt x="60" y="54"/>
                    <a:pt x="53" y="62"/>
                  </a:cubicBezTo>
                  <a:cubicBezTo>
                    <a:pt x="57" y="46"/>
                    <a:pt x="66" y="45"/>
                    <a:pt x="84" y="33"/>
                  </a:cubicBezTo>
                  <a:cubicBezTo>
                    <a:pt x="102" y="18"/>
                    <a:pt x="98" y="16"/>
                    <a:pt x="121" y="7"/>
                  </a:cubicBezTo>
                  <a:cubicBezTo>
                    <a:pt x="113" y="0"/>
                    <a:pt x="100" y="0"/>
                    <a:pt x="83" y="15"/>
                  </a:cubicBezTo>
                  <a:cubicBezTo>
                    <a:pt x="72" y="26"/>
                    <a:pt x="66" y="40"/>
                    <a:pt x="59" y="44"/>
                  </a:cubicBezTo>
                  <a:cubicBezTo>
                    <a:pt x="62" y="33"/>
                    <a:pt x="61" y="29"/>
                    <a:pt x="68" y="17"/>
                  </a:cubicBezTo>
                  <a:cubicBezTo>
                    <a:pt x="61" y="18"/>
                    <a:pt x="45" y="29"/>
                    <a:pt x="42" y="52"/>
                  </a:cubicBezTo>
                  <a:cubicBezTo>
                    <a:pt x="39" y="75"/>
                    <a:pt x="31" y="84"/>
                    <a:pt x="31" y="84"/>
                  </a:cubicBezTo>
                  <a:cubicBezTo>
                    <a:pt x="31" y="84"/>
                    <a:pt x="29" y="72"/>
                    <a:pt x="32" y="58"/>
                  </a:cubicBezTo>
                  <a:cubicBezTo>
                    <a:pt x="25" y="61"/>
                    <a:pt x="19" y="66"/>
                    <a:pt x="17" y="78"/>
                  </a:cubicBezTo>
                  <a:cubicBezTo>
                    <a:pt x="14" y="95"/>
                    <a:pt x="18" y="117"/>
                    <a:pt x="21" y="126"/>
                  </a:cubicBezTo>
                  <a:cubicBezTo>
                    <a:pt x="25" y="137"/>
                    <a:pt x="24" y="147"/>
                    <a:pt x="23" y="163"/>
                  </a:cubicBezTo>
                  <a:cubicBezTo>
                    <a:pt x="20" y="143"/>
                    <a:pt x="12" y="138"/>
                    <a:pt x="11" y="115"/>
                  </a:cubicBezTo>
                  <a:cubicBezTo>
                    <a:pt x="0" y="126"/>
                    <a:pt x="6" y="157"/>
                    <a:pt x="16" y="173"/>
                  </a:cubicBezTo>
                  <a:cubicBezTo>
                    <a:pt x="27" y="190"/>
                    <a:pt x="34" y="191"/>
                    <a:pt x="41" y="216"/>
                  </a:cubicBezTo>
                  <a:cubicBezTo>
                    <a:pt x="30" y="201"/>
                    <a:pt x="22" y="199"/>
                    <a:pt x="14" y="182"/>
                  </a:cubicBezTo>
                  <a:cubicBezTo>
                    <a:pt x="8" y="190"/>
                    <a:pt x="13" y="206"/>
                    <a:pt x="30" y="219"/>
                  </a:cubicBezTo>
                  <a:cubicBezTo>
                    <a:pt x="44" y="233"/>
                    <a:pt x="67" y="232"/>
                    <a:pt x="93" y="253"/>
                  </a:cubicBezTo>
                  <a:cubicBezTo>
                    <a:pt x="72" y="241"/>
                    <a:pt x="50" y="241"/>
                    <a:pt x="38" y="234"/>
                  </a:cubicBezTo>
                  <a:cubicBezTo>
                    <a:pt x="36" y="243"/>
                    <a:pt x="50" y="252"/>
                    <a:pt x="72" y="258"/>
                  </a:cubicBezTo>
                  <a:cubicBezTo>
                    <a:pt x="81" y="260"/>
                    <a:pt x="95" y="260"/>
                    <a:pt x="103" y="260"/>
                  </a:cubicBezTo>
                  <a:cubicBezTo>
                    <a:pt x="117" y="261"/>
                    <a:pt x="125" y="264"/>
                    <a:pt x="134" y="265"/>
                  </a:cubicBezTo>
                  <a:cubicBezTo>
                    <a:pt x="138" y="266"/>
                    <a:pt x="142" y="267"/>
                    <a:pt x="147" y="268"/>
                  </a:cubicBezTo>
                  <a:cubicBezTo>
                    <a:pt x="143" y="270"/>
                    <a:pt x="140" y="271"/>
                    <a:pt x="138" y="272"/>
                  </a:cubicBezTo>
                  <a:cubicBezTo>
                    <a:pt x="132" y="276"/>
                    <a:pt x="132" y="276"/>
                    <a:pt x="119" y="285"/>
                  </a:cubicBezTo>
                  <a:cubicBezTo>
                    <a:pt x="131" y="290"/>
                    <a:pt x="131" y="290"/>
                    <a:pt x="131" y="290"/>
                  </a:cubicBezTo>
                  <a:cubicBezTo>
                    <a:pt x="131" y="290"/>
                    <a:pt x="137" y="282"/>
                    <a:pt x="150" y="276"/>
                  </a:cubicBezTo>
                  <a:cubicBezTo>
                    <a:pt x="152" y="275"/>
                    <a:pt x="155" y="273"/>
                    <a:pt x="158" y="272"/>
                  </a:cubicBezTo>
                  <a:cubicBezTo>
                    <a:pt x="161" y="273"/>
                    <a:pt x="164" y="275"/>
                    <a:pt x="167" y="276"/>
                  </a:cubicBezTo>
                  <a:cubicBezTo>
                    <a:pt x="179" y="282"/>
                    <a:pt x="186" y="290"/>
                    <a:pt x="186" y="290"/>
                  </a:cubicBezTo>
                  <a:cubicBezTo>
                    <a:pt x="198" y="285"/>
                    <a:pt x="198" y="285"/>
                    <a:pt x="198" y="285"/>
                  </a:cubicBezTo>
                  <a:cubicBezTo>
                    <a:pt x="184" y="276"/>
                    <a:pt x="185" y="276"/>
                    <a:pt x="178" y="272"/>
                  </a:cubicBezTo>
                  <a:cubicBezTo>
                    <a:pt x="176" y="271"/>
                    <a:pt x="173" y="270"/>
                    <a:pt x="169" y="268"/>
                  </a:cubicBezTo>
                  <a:cubicBezTo>
                    <a:pt x="174" y="267"/>
                    <a:pt x="178" y="266"/>
                    <a:pt x="182" y="265"/>
                  </a:cubicBezTo>
                  <a:cubicBezTo>
                    <a:pt x="192" y="264"/>
                    <a:pt x="199" y="261"/>
                    <a:pt x="214" y="260"/>
                  </a:cubicBezTo>
                  <a:cubicBezTo>
                    <a:pt x="221" y="260"/>
                    <a:pt x="235" y="260"/>
                    <a:pt x="244" y="258"/>
                  </a:cubicBezTo>
                  <a:cubicBezTo>
                    <a:pt x="267" y="252"/>
                    <a:pt x="280" y="243"/>
                    <a:pt x="278" y="234"/>
                  </a:cubicBezTo>
                  <a:cubicBezTo>
                    <a:pt x="266" y="241"/>
                    <a:pt x="244" y="241"/>
                    <a:pt x="223" y="253"/>
                  </a:cubicBezTo>
                  <a:cubicBezTo>
                    <a:pt x="249" y="232"/>
                    <a:pt x="272" y="233"/>
                    <a:pt x="286" y="219"/>
                  </a:cubicBezTo>
                  <a:cubicBezTo>
                    <a:pt x="303" y="206"/>
                    <a:pt x="309" y="190"/>
                    <a:pt x="302" y="182"/>
                  </a:cubicBezTo>
                  <a:cubicBezTo>
                    <a:pt x="294" y="199"/>
                    <a:pt x="286" y="201"/>
                    <a:pt x="276" y="216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6" name="íšlîde">
              <a:extLst>
                <a:ext uri="{FF2B5EF4-FFF2-40B4-BE49-F238E27FC236}">
                  <a16:creationId xmlns:a16="http://schemas.microsoft.com/office/drawing/2014/main" id="{F86CB2C8-4A5E-4335-8F23-920FECFA35A3}"/>
                </a:ext>
              </a:extLst>
            </p:cNvPr>
            <p:cNvSpPr/>
            <p:nvPr/>
          </p:nvSpPr>
          <p:spPr bwMode="auto">
            <a:xfrm>
              <a:off x="2162175" y="3240088"/>
              <a:ext cx="104775" cy="80963"/>
            </a:xfrm>
            <a:custGeom>
              <a:avLst/>
              <a:gdLst>
                <a:gd name="T0" fmla="*/ 9 w 66"/>
                <a:gd name="T1" fmla="*/ 0 h 51"/>
                <a:gd name="T2" fmla="*/ 66 w 66"/>
                <a:gd name="T3" fmla="*/ 12 h 51"/>
                <a:gd name="T4" fmla="*/ 63 w 66"/>
                <a:gd name="T5" fmla="*/ 21 h 51"/>
                <a:gd name="T6" fmla="*/ 20 w 66"/>
                <a:gd name="T7" fmla="*/ 35 h 51"/>
                <a:gd name="T8" fmla="*/ 59 w 66"/>
                <a:gd name="T9" fmla="*/ 41 h 51"/>
                <a:gd name="T10" fmla="*/ 57 w 66"/>
                <a:gd name="T11" fmla="*/ 51 h 51"/>
                <a:gd name="T12" fmla="*/ 0 w 66"/>
                <a:gd name="T13" fmla="*/ 39 h 51"/>
                <a:gd name="T14" fmla="*/ 2 w 66"/>
                <a:gd name="T15" fmla="*/ 30 h 51"/>
                <a:gd name="T16" fmla="*/ 43 w 66"/>
                <a:gd name="T17" fmla="*/ 16 h 51"/>
                <a:gd name="T18" fmla="*/ 7 w 66"/>
                <a:gd name="T19" fmla="*/ 9 h 51"/>
                <a:gd name="T20" fmla="*/ 9 w 66"/>
                <a:gd name="T21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6" h="51">
                  <a:moveTo>
                    <a:pt x="9" y="0"/>
                  </a:moveTo>
                  <a:lnTo>
                    <a:pt x="66" y="12"/>
                  </a:lnTo>
                  <a:lnTo>
                    <a:pt x="63" y="21"/>
                  </a:lnTo>
                  <a:lnTo>
                    <a:pt x="20" y="35"/>
                  </a:lnTo>
                  <a:lnTo>
                    <a:pt x="59" y="41"/>
                  </a:lnTo>
                  <a:lnTo>
                    <a:pt x="57" y="51"/>
                  </a:lnTo>
                  <a:lnTo>
                    <a:pt x="0" y="39"/>
                  </a:lnTo>
                  <a:lnTo>
                    <a:pt x="2" y="30"/>
                  </a:lnTo>
                  <a:lnTo>
                    <a:pt x="43" y="16"/>
                  </a:lnTo>
                  <a:lnTo>
                    <a:pt x="7" y="9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7" name="îṡḷíḋé">
              <a:extLst>
                <a:ext uri="{FF2B5EF4-FFF2-40B4-BE49-F238E27FC236}">
                  <a16:creationId xmlns:a16="http://schemas.microsoft.com/office/drawing/2014/main" id="{3B3DDF79-0981-40C2-8430-556067EB1B2B}"/>
                </a:ext>
              </a:extLst>
            </p:cNvPr>
            <p:cNvSpPr/>
            <p:nvPr/>
          </p:nvSpPr>
          <p:spPr bwMode="auto">
            <a:xfrm>
              <a:off x="2154238" y="3316288"/>
              <a:ext cx="93663" cy="79375"/>
            </a:xfrm>
            <a:custGeom>
              <a:avLst/>
              <a:gdLst>
                <a:gd name="T0" fmla="*/ 0 w 59"/>
                <a:gd name="T1" fmla="*/ 50 h 50"/>
                <a:gd name="T2" fmla="*/ 0 w 59"/>
                <a:gd name="T3" fmla="*/ 39 h 50"/>
                <a:gd name="T4" fmla="*/ 14 w 59"/>
                <a:gd name="T5" fmla="*/ 34 h 50"/>
                <a:gd name="T6" fmla="*/ 16 w 59"/>
                <a:gd name="T7" fmla="*/ 16 h 50"/>
                <a:gd name="T8" fmla="*/ 2 w 59"/>
                <a:gd name="T9" fmla="*/ 12 h 50"/>
                <a:gd name="T10" fmla="*/ 5 w 59"/>
                <a:gd name="T11" fmla="*/ 0 h 50"/>
                <a:gd name="T12" fmla="*/ 59 w 59"/>
                <a:gd name="T13" fmla="*/ 25 h 50"/>
                <a:gd name="T14" fmla="*/ 59 w 59"/>
                <a:gd name="T15" fmla="*/ 34 h 50"/>
                <a:gd name="T16" fmla="*/ 0 w 59"/>
                <a:gd name="T17" fmla="*/ 50 h 50"/>
                <a:gd name="T18" fmla="*/ 23 w 59"/>
                <a:gd name="T19" fmla="*/ 32 h 50"/>
                <a:gd name="T20" fmla="*/ 46 w 59"/>
                <a:gd name="T21" fmla="*/ 28 h 50"/>
                <a:gd name="T22" fmla="*/ 25 w 59"/>
                <a:gd name="T23" fmla="*/ 21 h 50"/>
                <a:gd name="T24" fmla="*/ 23 w 59"/>
                <a:gd name="T25" fmla="*/ 32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" h="50">
                  <a:moveTo>
                    <a:pt x="0" y="50"/>
                  </a:moveTo>
                  <a:lnTo>
                    <a:pt x="0" y="39"/>
                  </a:lnTo>
                  <a:lnTo>
                    <a:pt x="14" y="34"/>
                  </a:lnTo>
                  <a:lnTo>
                    <a:pt x="16" y="16"/>
                  </a:lnTo>
                  <a:lnTo>
                    <a:pt x="2" y="12"/>
                  </a:lnTo>
                  <a:lnTo>
                    <a:pt x="5" y="0"/>
                  </a:lnTo>
                  <a:lnTo>
                    <a:pt x="59" y="25"/>
                  </a:lnTo>
                  <a:lnTo>
                    <a:pt x="59" y="34"/>
                  </a:lnTo>
                  <a:lnTo>
                    <a:pt x="0" y="50"/>
                  </a:lnTo>
                  <a:close/>
                  <a:moveTo>
                    <a:pt x="23" y="32"/>
                  </a:moveTo>
                  <a:lnTo>
                    <a:pt x="46" y="28"/>
                  </a:lnTo>
                  <a:lnTo>
                    <a:pt x="25" y="21"/>
                  </a:lnTo>
                  <a:lnTo>
                    <a:pt x="23" y="32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8" name="îsḻiḓe">
              <a:extLst>
                <a:ext uri="{FF2B5EF4-FFF2-40B4-BE49-F238E27FC236}">
                  <a16:creationId xmlns:a16="http://schemas.microsoft.com/office/drawing/2014/main" id="{15EC583D-F454-48BD-ACC1-7AD76D7542C9}"/>
                </a:ext>
              </a:extLst>
            </p:cNvPr>
            <p:cNvSpPr/>
            <p:nvPr/>
          </p:nvSpPr>
          <p:spPr bwMode="auto">
            <a:xfrm>
              <a:off x="2154238" y="3406776"/>
              <a:ext cx="90488" cy="65088"/>
            </a:xfrm>
            <a:custGeom>
              <a:avLst/>
              <a:gdLst>
                <a:gd name="T0" fmla="*/ 0 w 57"/>
                <a:gd name="T1" fmla="*/ 3 h 41"/>
                <a:gd name="T2" fmla="*/ 57 w 57"/>
                <a:gd name="T3" fmla="*/ 0 h 41"/>
                <a:gd name="T4" fmla="*/ 57 w 57"/>
                <a:gd name="T5" fmla="*/ 12 h 41"/>
                <a:gd name="T6" fmla="*/ 18 w 57"/>
                <a:gd name="T7" fmla="*/ 32 h 41"/>
                <a:gd name="T8" fmla="*/ 57 w 57"/>
                <a:gd name="T9" fmla="*/ 30 h 41"/>
                <a:gd name="T10" fmla="*/ 57 w 57"/>
                <a:gd name="T11" fmla="*/ 39 h 41"/>
                <a:gd name="T12" fmla="*/ 0 w 57"/>
                <a:gd name="T13" fmla="*/ 41 h 41"/>
                <a:gd name="T14" fmla="*/ 0 w 57"/>
                <a:gd name="T15" fmla="*/ 30 h 41"/>
                <a:gd name="T16" fmla="*/ 37 w 57"/>
                <a:gd name="T17" fmla="*/ 9 h 41"/>
                <a:gd name="T18" fmla="*/ 0 w 57"/>
                <a:gd name="T19" fmla="*/ 12 h 41"/>
                <a:gd name="T20" fmla="*/ 0 w 57"/>
                <a:gd name="T21" fmla="*/ 3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7" h="41">
                  <a:moveTo>
                    <a:pt x="0" y="3"/>
                  </a:moveTo>
                  <a:lnTo>
                    <a:pt x="57" y="0"/>
                  </a:lnTo>
                  <a:lnTo>
                    <a:pt x="57" y="12"/>
                  </a:lnTo>
                  <a:lnTo>
                    <a:pt x="18" y="32"/>
                  </a:lnTo>
                  <a:lnTo>
                    <a:pt x="57" y="30"/>
                  </a:lnTo>
                  <a:lnTo>
                    <a:pt x="57" y="39"/>
                  </a:lnTo>
                  <a:lnTo>
                    <a:pt x="0" y="41"/>
                  </a:lnTo>
                  <a:lnTo>
                    <a:pt x="0" y="30"/>
                  </a:lnTo>
                  <a:lnTo>
                    <a:pt x="37" y="9"/>
                  </a:lnTo>
                  <a:lnTo>
                    <a:pt x="0" y="12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9" name="î$ļïdè">
              <a:extLst>
                <a:ext uri="{FF2B5EF4-FFF2-40B4-BE49-F238E27FC236}">
                  <a16:creationId xmlns:a16="http://schemas.microsoft.com/office/drawing/2014/main" id="{C5F3B41E-58B0-4D77-9C1A-19EAEB79FC87}"/>
                </a:ext>
              </a:extLst>
            </p:cNvPr>
            <p:cNvSpPr/>
            <p:nvPr/>
          </p:nvSpPr>
          <p:spPr bwMode="auto">
            <a:xfrm>
              <a:off x="2154238" y="3482976"/>
              <a:ext cx="98425" cy="50800"/>
            </a:xfrm>
            <a:custGeom>
              <a:avLst/>
              <a:gdLst>
                <a:gd name="T0" fmla="*/ 26 w 27"/>
                <a:gd name="T1" fmla="*/ 8 h 14"/>
                <a:gd name="T2" fmla="*/ 27 w 27"/>
                <a:gd name="T3" fmla="*/ 12 h 14"/>
                <a:gd name="T4" fmla="*/ 11 w 27"/>
                <a:gd name="T5" fmla="*/ 14 h 14"/>
                <a:gd name="T6" fmla="*/ 6 w 27"/>
                <a:gd name="T7" fmla="*/ 14 h 14"/>
                <a:gd name="T8" fmla="*/ 2 w 27"/>
                <a:gd name="T9" fmla="*/ 12 h 14"/>
                <a:gd name="T10" fmla="*/ 0 w 27"/>
                <a:gd name="T11" fmla="*/ 8 h 14"/>
                <a:gd name="T12" fmla="*/ 2 w 27"/>
                <a:gd name="T13" fmla="*/ 3 h 14"/>
                <a:gd name="T14" fmla="*/ 8 w 27"/>
                <a:gd name="T15" fmla="*/ 0 h 14"/>
                <a:gd name="T16" fmla="*/ 9 w 27"/>
                <a:gd name="T17" fmla="*/ 4 h 14"/>
                <a:gd name="T18" fmla="*/ 6 w 27"/>
                <a:gd name="T19" fmla="*/ 5 h 14"/>
                <a:gd name="T20" fmla="*/ 5 w 27"/>
                <a:gd name="T21" fmla="*/ 8 h 14"/>
                <a:gd name="T22" fmla="*/ 6 w 27"/>
                <a:gd name="T23" fmla="*/ 9 h 14"/>
                <a:gd name="T24" fmla="*/ 10 w 27"/>
                <a:gd name="T25" fmla="*/ 10 h 14"/>
                <a:gd name="T26" fmla="*/ 26 w 27"/>
                <a:gd name="T27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7" h="14">
                  <a:moveTo>
                    <a:pt x="26" y="8"/>
                  </a:moveTo>
                  <a:cubicBezTo>
                    <a:pt x="27" y="12"/>
                    <a:pt x="27" y="12"/>
                    <a:pt x="27" y="12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9" y="14"/>
                    <a:pt x="7" y="14"/>
                    <a:pt x="6" y="14"/>
                  </a:cubicBezTo>
                  <a:cubicBezTo>
                    <a:pt x="4" y="14"/>
                    <a:pt x="3" y="13"/>
                    <a:pt x="2" y="12"/>
                  </a:cubicBezTo>
                  <a:cubicBezTo>
                    <a:pt x="1" y="11"/>
                    <a:pt x="0" y="10"/>
                    <a:pt x="0" y="8"/>
                  </a:cubicBezTo>
                  <a:cubicBezTo>
                    <a:pt x="0" y="6"/>
                    <a:pt x="1" y="4"/>
                    <a:pt x="2" y="3"/>
                  </a:cubicBezTo>
                  <a:cubicBezTo>
                    <a:pt x="3" y="1"/>
                    <a:pt x="5" y="1"/>
                    <a:pt x="8" y="0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7" y="5"/>
                    <a:pt x="6" y="5"/>
                    <a:pt x="6" y="5"/>
                  </a:cubicBezTo>
                  <a:cubicBezTo>
                    <a:pt x="5" y="6"/>
                    <a:pt x="5" y="7"/>
                    <a:pt x="5" y="8"/>
                  </a:cubicBezTo>
                  <a:cubicBezTo>
                    <a:pt x="5" y="8"/>
                    <a:pt x="5" y="9"/>
                    <a:pt x="6" y="9"/>
                  </a:cubicBezTo>
                  <a:cubicBezTo>
                    <a:pt x="7" y="10"/>
                    <a:pt x="8" y="10"/>
                    <a:pt x="10" y="10"/>
                  </a:cubicBezTo>
                  <a:lnTo>
                    <a:pt x="26" y="8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0" name="îṧḷíḓê">
              <a:extLst>
                <a:ext uri="{FF2B5EF4-FFF2-40B4-BE49-F238E27FC236}">
                  <a16:creationId xmlns:a16="http://schemas.microsoft.com/office/drawing/2014/main" id="{8660D663-638B-4454-ADEC-E599B04271E0}"/>
                </a:ext>
              </a:extLst>
            </p:cNvPr>
            <p:cNvSpPr/>
            <p:nvPr/>
          </p:nvSpPr>
          <p:spPr bwMode="auto">
            <a:xfrm>
              <a:off x="2162175" y="3541713"/>
              <a:ext cx="93663" cy="31750"/>
            </a:xfrm>
            <a:custGeom>
              <a:avLst/>
              <a:gdLst>
                <a:gd name="T0" fmla="*/ 0 w 59"/>
                <a:gd name="T1" fmla="*/ 9 h 20"/>
                <a:gd name="T2" fmla="*/ 57 w 59"/>
                <a:gd name="T3" fmla="*/ 0 h 20"/>
                <a:gd name="T4" fmla="*/ 59 w 59"/>
                <a:gd name="T5" fmla="*/ 9 h 20"/>
                <a:gd name="T6" fmla="*/ 2 w 59"/>
                <a:gd name="T7" fmla="*/ 20 h 20"/>
                <a:gd name="T8" fmla="*/ 0 w 59"/>
                <a:gd name="T9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20">
                  <a:moveTo>
                    <a:pt x="0" y="9"/>
                  </a:moveTo>
                  <a:lnTo>
                    <a:pt x="57" y="0"/>
                  </a:lnTo>
                  <a:lnTo>
                    <a:pt x="59" y="9"/>
                  </a:lnTo>
                  <a:lnTo>
                    <a:pt x="2" y="20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1" name="íṩ1iḑê">
              <a:extLst>
                <a:ext uri="{FF2B5EF4-FFF2-40B4-BE49-F238E27FC236}">
                  <a16:creationId xmlns:a16="http://schemas.microsoft.com/office/drawing/2014/main" id="{C4F58A77-602E-42E6-B434-E28BA349C900}"/>
                </a:ext>
              </a:extLst>
            </p:cNvPr>
            <p:cNvSpPr/>
            <p:nvPr/>
          </p:nvSpPr>
          <p:spPr bwMode="auto">
            <a:xfrm>
              <a:off x="2168525" y="3570288"/>
              <a:ext cx="104775" cy="84138"/>
            </a:xfrm>
            <a:custGeom>
              <a:avLst/>
              <a:gdLst>
                <a:gd name="T0" fmla="*/ 0 w 66"/>
                <a:gd name="T1" fmla="*/ 14 h 53"/>
                <a:gd name="T2" fmla="*/ 57 w 66"/>
                <a:gd name="T3" fmla="*/ 0 h 53"/>
                <a:gd name="T4" fmla="*/ 59 w 66"/>
                <a:gd name="T5" fmla="*/ 9 h 53"/>
                <a:gd name="T6" fmla="*/ 25 w 66"/>
                <a:gd name="T7" fmla="*/ 39 h 53"/>
                <a:gd name="T8" fmla="*/ 64 w 66"/>
                <a:gd name="T9" fmla="*/ 30 h 53"/>
                <a:gd name="T10" fmla="*/ 66 w 66"/>
                <a:gd name="T11" fmla="*/ 39 h 53"/>
                <a:gd name="T12" fmla="*/ 9 w 66"/>
                <a:gd name="T13" fmla="*/ 53 h 53"/>
                <a:gd name="T14" fmla="*/ 7 w 66"/>
                <a:gd name="T15" fmla="*/ 41 h 53"/>
                <a:gd name="T16" fmla="*/ 39 w 66"/>
                <a:gd name="T17" fmla="*/ 14 h 53"/>
                <a:gd name="T18" fmla="*/ 3 w 66"/>
                <a:gd name="T19" fmla="*/ 23 h 53"/>
                <a:gd name="T20" fmla="*/ 0 w 66"/>
                <a:gd name="T21" fmla="*/ 14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6" h="53">
                  <a:moveTo>
                    <a:pt x="0" y="14"/>
                  </a:moveTo>
                  <a:lnTo>
                    <a:pt x="57" y="0"/>
                  </a:lnTo>
                  <a:lnTo>
                    <a:pt x="59" y="9"/>
                  </a:lnTo>
                  <a:lnTo>
                    <a:pt x="25" y="39"/>
                  </a:lnTo>
                  <a:lnTo>
                    <a:pt x="64" y="30"/>
                  </a:lnTo>
                  <a:lnTo>
                    <a:pt x="66" y="39"/>
                  </a:lnTo>
                  <a:lnTo>
                    <a:pt x="9" y="53"/>
                  </a:lnTo>
                  <a:lnTo>
                    <a:pt x="7" y="41"/>
                  </a:lnTo>
                  <a:lnTo>
                    <a:pt x="39" y="14"/>
                  </a:lnTo>
                  <a:lnTo>
                    <a:pt x="3" y="23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2" name="îṥlîdê">
              <a:extLst>
                <a:ext uri="{FF2B5EF4-FFF2-40B4-BE49-F238E27FC236}">
                  <a16:creationId xmlns:a16="http://schemas.microsoft.com/office/drawing/2014/main" id="{FD136A19-7EE5-4B90-924F-86F8D9CB6273}"/>
                </a:ext>
              </a:extLst>
            </p:cNvPr>
            <p:cNvSpPr/>
            <p:nvPr/>
          </p:nvSpPr>
          <p:spPr bwMode="auto">
            <a:xfrm>
              <a:off x="2197100" y="3649663"/>
              <a:ext cx="95250" cy="87313"/>
            </a:xfrm>
            <a:custGeom>
              <a:avLst/>
              <a:gdLst>
                <a:gd name="T0" fmla="*/ 10 w 26"/>
                <a:gd name="T1" fmla="*/ 13 h 24"/>
                <a:gd name="T2" fmla="*/ 14 w 26"/>
                <a:gd name="T3" fmla="*/ 12 h 24"/>
                <a:gd name="T4" fmla="*/ 17 w 26"/>
                <a:gd name="T5" fmla="*/ 20 h 24"/>
                <a:gd name="T6" fmla="*/ 8 w 26"/>
                <a:gd name="T7" fmla="*/ 24 h 24"/>
                <a:gd name="T8" fmla="*/ 4 w 26"/>
                <a:gd name="T9" fmla="*/ 21 h 24"/>
                <a:gd name="T10" fmla="*/ 1 w 26"/>
                <a:gd name="T11" fmla="*/ 17 h 24"/>
                <a:gd name="T12" fmla="*/ 0 w 26"/>
                <a:gd name="T13" fmla="*/ 10 h 24"/>
                <a:gd name="T14" fmla="*/ 3 w 26"/>
                <a:gd name="T15" fmla="*/ 5 h 24"/>
                <a:gd name="T16" fmla="*/ 9 w 26"/>
                <a:gd name="T17" fmla="*/ 2 h 24"/>
                <a:gd name="T18" fmla="*/ 17 w 26"/>
                <a:gd name="T19" fmla="*/ 1 h 24"/>
                <a:gd name="T20" fmla="*/ 22 w 26"/>
                <a:gd name="T21" fmla="*/ 3 h 24"/>
                <a:gd name="T22" fmla="*/ 25 w 26"/>
                <a:gd name="T23" fmla="*/ 7 h 24"/>
                <a:gd name="T24" fmla="*/ 26 w 26"/>
                <a:gd name="T25" fmla="*/ 14 h 24"/>
                <a:gd name="T26" fmla="*/ 22 w 26"/>
                <a:gd name="T27" fmla="*/ 19 h 24"/>
                <a:gd name="T28" fmla="*/ 19 w 26"/>
                <a:gd name="T29" fmla="*/ 15 h 24"/>
                <a:gd name="T30" fmla="*/ 21 w 26"/>
                <a:gd name="T31" fmla="*/ 12 h 24"/>
                <a:gd name="T32" fmla="*/ 21 w 26"/>
                <a:gd name="T33" fmla="*/ 9 h 24"/>
                <a:gd name="T34" fmla="*/ 18 w 26"/>
                <a:gd name="T35" fmla="*/ 5 h 24"/>
                <a:gd name="T36" fmla="*/ 11 w 26"/>
                <a:gd name="T37" fmla="*/ 6 h 24"/>
                <a:gd name="T38" fmla="*/ 5 w 26"/>
                <a:gd name="T39" fmla="*/ 10 h 24"/>
                <a:gd name="T40" fmla="*/ 5 w 26"/>
                <a:gd name="T41" fmla="*/ 15 h 24"/>
                <a:gd name="T42" fmla="*/ 6 w 26"/>
                <a:gd name="T43" fmla="*/ 17 h 24"/>
                <a:gd name="T44" fmla="*/ 9 w 26"/>
                <a:gd name="T45" fmla="*/ 19 h 24"/>
                <a:gd name="T46" fmla="*/ 12 w 26"/>
                <a:gd name="T47" fmla="*/ 18 h 24"/>
                <a:gd name="T48" fmla="*/ 10 w 26"/>
                <a:gd name="T49" fmla="*/ 1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6" h="24">
                  <a:moveTo>
                    <a:pt x="10" y="13"/>
                  </a:moveTo>
                  <a:cubicBezTo>
                    <a:pt x="14" y="12"/>
                    <a:pt x="14" y="12"/>
                    <a:pt x="14" y="12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3"/>
                    <a:pt x="5" y="22"/>
                    <a:pt x="4" y="21"/>
                  </a:cubicBezTo>
                  <a:cubicBezTo>
                    <a:pt x="2" y="20"/>
                    <a:pt x="1" y="18"/>
                    <a:pt x="1" y="17"/>
                  </a:cubicBezTo>
                  <a:cubicBezTo>
                    <a:pt x="0" y="14"/>
                    <a:pt x="0" y="12"/>
                    <a:pt x="0" y="10"/>
                  </a:cubicBezTo>
                  <a:cubicBezTo>
                    <a:pt x="1" y="8"/>
                    <a:pt x="2" y="7"/>
                    <a:pt x="3" y="5"/>
                  </a:cubicBezTo>
                  <a:cubicBezTo>
                    <a:pt x="5" y="4"/>
                    <a:pt x="7" y="3"/>
                    <a:pt x="9" y="2"/>
                  </a:cubicBezTo>
                  <a:cubicBezTo>
                    <a:pt x="12" y="1"/>
                    <a:pt x="14" y="0"/>
                    <a:pt x="17" y="1"/>
                  </a:cubicBezTo>
                  <a:cubicBezTo>
                    <a:pt x="19" y="1"/>
                    <a:pt x="21" y="2"/>
                    <a:pt x="22" y="3"/>
                  </a:cubicBezTo>
                  <a:cubicBezTo>
                    <a:pt x="24" y="4"/>
                    <a:pt x="25" y="5"/>
                    <a:pt x="25" y="7"/>
                  </a:cubicBezTo>
                  <a:cubicBezTo>
                    <a:pt x="26" y="10"/>
                    <a:pt x="26" y="12"/>
                    <a:pt x="26" y="14"/>
                  </a:cubicBezTo>
                  <a:cubicBezTo>
                    <a:pt x="25" y="16"/>
                    <a:pt x="24" y="17"/>
                    <a:pt x="22" y="19"/>
                  </a:cubicBezTo>
                  <a:cubicBezTo>
                    <a:pt x="19" y="15"/>
                    <a:pt x="19" y="15"/>
                    <a:pt x="19" y="15"/>
                  </a:cubicBezTo>
                  <a:cubicBezTo>
                    <a:pt x="20" y="14"/>
                    <a:pt x="21" y="13"/>
                    <a:pt x="21" y="12"/>
                  </a:cubicBezTo>
                  <a:cubicBezTo>
                    <a:pt x="22" y="11"/>
                    <a:pt x="22" y="10"/>
                    <a:pt x="21" y="9"/>
                  </a:cubicBezTo>
                  <a:cubicBezTo>
                    <a:pt x="21" y="7"/>
                    <a:pt x="19" y="6"/>
                    <a:pt x="18" y="5"/>
                  </a:cubicBezTo>
                  <a:cubicBezTo>
                    <a:pt x="16" y="5"/>
                    <a:pt x="14" y="5"/>
                    <a:pt x="11" y="6"/>
                  </a:cubicBezTo>
                  <a:cubicBezTo>
                    <a:pt x="8" y="7"/>
                    <a:pt x="6" y="8"/>
                    <a:pt x="5" y="10"/>
                  </a:cubicBezTo>
                  <a:cubicBezTo>
                    <a:pt x="4" y="11"/>
                    <a:pt x="4" y="13"/>
                    <a:pt x="5" y="15"/>
                  </a:cubicBezTo>
                  <a:cubicBezTo>
                    <a:pt x="5" y="16"/>
                    <a:pt x="6" y="16"/>
                    <a:pt x="6" y="17"/>
                  </a:cubicBezTo>
                  <a:cubicBezTo>
                    <a:pt x="7" y="18"/>
                    <a:pt x="8" y="18"/>
                    <a:pt x="9" y="19"/>
                  </a:cubicBezTo>
                  <a:cubicBezTo>
                    <a:pt x="12" y="18"/>
                    <a:pt x="12" y="18"/>
                    <a:pt x="12" y="18"/>
                  </a:cubicBezTo>
                  <a:lnTo>
                    <a:pt x="10" y="13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3" name="îṧľîḑé">
              <a:extLst>
                <a:ext uri="{FF2B5EF4-FFF2-40B4-BE49-F238E27FC236}">
                  <a16:creationId xmlns:a16="http://schemas.microsoft.com/office/drawing/2014/main" id="{A30F0F74-58BE-4D89-9B58-BD559FD9308D}"/>
                </a:ext>
              </a:extLst>
            </p:cNvPr>
            <p:cNvSpPr/>
            <p:nvPr/>
          </p:nvSpPr>
          <p:spPr bwMode="auto">
            <a:xfrm>
              <a:off x="2244725" y="3744913"/>
              <a:ext cx="101600" cy="90488"/>
            </a:xfrm>
            <a:custGeom>
              <a:avLst/>
              <a:gdLst>
                <a:gd name="T0" fmla="*/ 20 w 28"/>
                <a:gd name="T1" fmla="*/ 0 h 25"/>
                <a:gd name="T2" fmla="*/ 22 w 28"/>
                <a:gd name="T3" fmla="*/ 4 h 25"/>
                <a:gd name="T4" fmla="*/ 10 w 28"/>
                <a:gd name="T5" fmla="*/ 11 h 25"/>
                <a:gd name="T6" fmla="*/ 6 w 28"/>
                <a:gd name="T7" fmla="*/ 13 h 25"/>
                <a:gd name="T8" fmla="*/ 4 w 28"/>
                <a:gd name="T9" fmla="*/ 15 h 25"/>
                <a:gd name="T10" fmla="*/ 5 w 28"/>
                <a:gd name="T11" fmla="*/ 18 h 25"/>
                <a:gd name="T12" fmla="*/ 7 w 28"/>
                <a:gd name="T13" fmla="*/ 20 h 25"/>
                <a:gd name="T14" fmla="*/ 10 w 28"/>
                <a:gd name="T15" fmla="*/ 20 h 25"/>
                <a:gd name="T16" fmla="*/ 13 w 28"/>
                <a:gd name="T17" fmla="*/ 19 h 25"/>
                <a:gd name="T18" fmla="*/ 26 w 28"/>
                <a:gd name="T19" fmla="*/ 12 h 25"/>
                <a:gd name="T20" fmla="*/ 28 w 28"/>
                <a:gd name="T21" fmla="*/ 16 h 25"/>
                <a:gd name="T22" fmla="*/ 16 w 28"/>
                <a:gd name="T23" fmla="*/ 22 h 25"/>
                <a:gd name="T24" fmla="*/ 10 w 28"/>
                <a:gd name="T25" fmla="*/ 25 h 25"/>
                <a:gd name="T26" fmla="*/ 7 w 28"/>
                <a:gd name="T27" fmla="*/ 25 h 25"/>
                <a:gd name="T28" fmla="*/ 4 w 28"/>
                <a:gd name="T29" fmla="*/ 24 h 25"/>
                <a:gd name="T30" fmla="*/ 1 w 28"/>
                <a:gd name="T31" fmla="*/ 21 h 25"/>
                <a:gd name="T32" fmla="*/ 0 w 28"/>
                <a:gd name="T33" fmla="*/ 16 h 25"/>
                <a:gd name="T34" fmla="*/ 0 w 28"/>
                <a:gd name="T35" fmla="*/ 13 h 25"/>
                <a:gd name="T36" fmla="*/ 2 w 28"/>
                <a:gd name="T37" fmla="*/ 10 h 25"/>
                <a:gd name="T38" fmla="*/ 8 w 28"/>
                <a:gd name="T39" fmla="*/ 7 h 25"/>
                <a:gd name="T40" fmla="*/ 20 w 28"/>
                <a:gd name="T41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" h="25">
                  <a:moveTo>
                    <a:pt x="20" y="0"/>
                  </a:moveTo>
                  <a:cubicBezTo>
                    <a:pt x="22" y="4"/>
                    <a:pt x="22" y="4"/>
                    <a:pt x="22" y="4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8" y="12"/>
                    <a:pt x="7" y="13"/>
                    <a:pt x="6" y="13"/>
                  </a:cubicBezTo>
                  <a:cubicBezTo>
                    <a:pt x="5" y="14"/>
                    <a:pt x="5" y="14"/>
                    <a:pt x="4" y="15"/>
                  </a:cubicBezTo>
                  <a:cubicBezTo>
                    <a:pt x="4" y="16"/>
                    <a:pt x="4" y="17"/>
                    <a:pt x="5" y="18"/>
                  </a:cubicBezTo>
                  <a:cubicBezTo>
                    <a:pt x="6" y="19"/>
                    <a:pt x="6" y="20"/>
                    <a:pt x="7" y="20"/>
                  </a:cubicBezTo>
                  <a:cubicBezTo>
                    <a:pt x="8" y="21"/>
                    <a:pt x="9" y="21"/>
                    <a:pt x="10" y="20"/>
                  </a:cubicBezTo>
                  <a:cubicBezTo>
                    <a:pt x="10" y="20"/>
                    <a:pt x="12" y="19"/>
                    <a:pt x="13" y="19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4" y="23"/>
                    <a:pt x="12" y="24"/>
                    <a:pt x="10" y="25"/>
                  </a:cubicBezTo>
                  <a:cubicBezTo>
                    <a:pt x="9" y="25"/>
                    <a:pt x="8" y="25"/>
                    <a:pt x="7" y="25"/>
                  </a:cubicBezTo>
                  <a:cubicBezTo>
                    <a:pt x="6" y="25"/>
                    <a:pt x="5" y="25"/>
                    <a:pt x="4" y="24"/>
                  </a:cubicBezTo>
                  <a:cubicBezTo>
                    <a:pt x="3" y="23"/>
                    <a:pt x="2" y="22"/>
                    <a:pt x="1" y="21"/>
                  </a:cubicBezTo>
                  <a:cubicBezTo>
                    <a:pt x="0" y="19"/>
                    <a:pt x="0" y="17"/>
                    <a:pt x="0" y="16"/>
                  </a:cubicBezTo>
                  <a:cubicBezTo>
                    <a:pt x="0" y="15"/>
                    <a:pt x="0" y="14"/>
                    <a:pt x="0" y="13"/>
                  </a:cubicBezTo>
                  <a:cubicBezTo>
                    <a:pt x="1" y="12"/>
                    <a:pt x="2" y="11"/>
                    <a:pt x="2" y="10"/>
                  </a:cubicBezTo>
                  <a:cubicBezTo>
                    <a:pt x="3" y="9"/>
                    <a:pt x="5" y="8"/>
                    <a:pt x="8" y="7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4" name="ï$ļíḑe">
              <a:extLst>
                <a:ext uri="{FF2B5EF4-FFF2-40B4-BE49-F238E27FC236}">
                  <a16:creationId xmlns:a16="http://schemas.microsoft.com/office/drawing/2014/main" id="{6935024F-262A-4687-B02D-6D00B549D838}"/>
                </a:ext>
              </a:extLst>
            </p:cNvPr>
            <p:cNvSpPr/>
            <p:nvPr/>
          </p:nvSpPr>
          <p:spPr bwMode="auto">
            <a:xfrm>
              <a:off x="2276475" y="3813176"/>
              <a:ext cx="112713" cy="101600"/>
            </a:xfrm>
            <a:custGeom>
              <a:avLst/>
              <a:gdLst>
                <a:gd name="T0" fmla="*/ 0 w 71"/>
                <a:gd name="T1" fmla="*/ 32 h 64"/>
                <a:gd name="T2" fmla="*/ 48 w 71"/>
                <a:gd name="T3" fmla="*/ 0 h 64"/>
                <a:gd name="T4" fmla="*/ 53 w 71"/>
                <a:gd name="T5" fmla="*/ 7 h 64"/>
                <a:gd name="T6" fmla="*/ 32 w 71"/>
                <a:gd name="T7" fmla="*/ 46 h 64"/>
                <a:gd name="T8" fmla="*/ 64 w 71"/>
                <a:gd name="T9" fmla="*/ 25 h 64"/>
                <a:gd name="T10" fmla="*/ 71 w 71"/>
                <a:gd name="T11" fmla="*/ 32 h 64"/>
                <a:gd name="T12" fmla="*/ 21 w 71"/>
                <a:gd name="T13" fmla="*/ 64 h 64"/>
                <a:gd name="T14" fmla="*/ 16 w 71"/>
                <a:gd name="T15" fmla="*/ 57 h 64"/>
                <a:gd name="T16" fmla="*/ 37 w 71"/>
                <a:gd name="T17" fmla="*/ 18 h 64"/>
                <a:gd name="T18" fmla="*/ 5 w 71"/>
                <a:gd name="T19" fmla="*/ 39 h 64"/>
                <a:gd name="T20" fmla="*/ 0 w 71"/>
                <a:gd name="T21" fmla="*/ 32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1" h="64">
                  <a:moveTo>
                    <a:pt x="0" y="32"/>
                  </a:moveTo>
                  <a:lnTo>
                    <a:pt x="48" y="0"/>
                  </a:lnTo>
                  <a:lnTo>
                    <a:pt x="53" y="7"/>
                  </a:lnTo>
                  <a:lnTo>
                    <a:pt x="32" y="46"/>
                  </a:lnTo>
                  <a:lnTo>
                    <a:pt x="64" y="25"/>
                  </a:lnTo>
                  <a:lnTo>
                    <a:pt x="71" y="32"/>
                  </a:lnTo>
                  <a:lnTo>
                    <a:pt x="21" y="64"/>
                  </a:lnTo>
                  <a:lnTo>
                    <a:pt x="16" y="57"/>
                  </a:lnTo>
                  <a:lnTo>
                    <a:pt x="37" y="18"/>
                  </a:lnTo>
                  <a:lnTo>
                    <a:pt x="5" y="39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5" name="iṩḷïde">
              <a:extLst>
                <a:ext uri="{FF2B5EF4-FFF2-40B4-BE49-F238E27FC236}">
                  <a16:creationId xmlns:a16="http://schemas.microsoft.com/office/drawing/2014/main" id="{346C9603-64BA-4063-9B4B-223EF14DB1AC}"/>
                </a:ext>
              </a:extLst>
            </p:cNvPr>
            <p:cNvSpPr/>
            <p:nvPr/>
          </p:nvSpPr>
          <p:spPr bwMode="auto">
            <a:xfrm>
              <a:off x="2324100" y="3875088"/>
              <a:ext cx="82550" cy="68263"/>
            </a:xfrm>
            <a:custGeom>
              <a:avLst/>
              <a:gdLst>
                <a:gd name="T0" fmla="*/ 0 w 52"/>
                <a:gd name="T1" fmla="*/ 36 h 43"/>
                <a:gd name="T2" fmla="*/ 45 w 52"/>
                <a:gd name="T3" fmla="*/ 0 h 43"/>
                <a:gd name="T4" fmla="*/ 52 w 52"/>
                <a:gd name="T5" fmla="*/ 7 h 43"/>
                <a:gd name="T6" fmla="*/ 7 w 52"/>
                <a:gd name="T7" fmla="*/ 43 h 43"/>
                <a:gd name="T8" fmla="*/ 0 w 52"/>
                <a:gd name="T9" fmla="*/ 3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43">
                  <a:moveTo>
                    <a:pt x="0" y="36"/>
                  </a:moveTo>
                  <a:lnTo>
                    <a:pt x="45" y="0"/>
                  </a:lnTo>
                  <a:lnTo>
                    <a:pt x="52" y="7"/>
                  </a:lnTo>
                  <a:lnTo>
                    <a:pt x="7" y="43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6" name="í$ḷïďê">
              <a:extLst>
                <a:ext uri="{FF2B5EF4-FFF2-40B4-BE49-F238E27FC236}">
                  <a16:creationId xmlns:a16="http://schemas.microsoft.com/office/drawing/2014/main" id="{BD46C2D7-4619-4C8B-890B-3F1204738D68}"/>
                </a:ext>
              </a:extLst>
            </p:cNvPr>
            <p:cNvSpPr/>
            <p:nvPr/>
          </p:nvSpPr>
          <p:spPr bwMode="auto">
            <a:xfrm>
              <a:off x="2360613" y="3889376"/>
              <a:ext cx="96838" cy="98425"/>
            </a:xfrm>
            <a:custGeom>
              <a:avLst/>
              <a:gdLst>
                <a:gd name="T0" fmla="*/ 0 w 61"/>
                <a:gd name="T1" fmla="*/ 52 h 62"/>
                <a:gd name="T2" fmla="*/ 29 w 61"/>
                <a:gd name="T3" fmla="*/ 0 h 62"/>
                <a:gd name="T4" fmla="*/ 38 w 61"/>
                <a:gd name="T5" fmla="*/ 9 h 62"/>
                <a:gd name="T6" fmla="*/ 13 w 61"/>
                <a:gd name="T7" fmla="*/ 48 h 62"/>
                <a:gd name="T8" fmla="*/ 54 w 61"/>
                <a:gd name="T9" fmla="*/ 27 h 62"/>
                <a:gd name="T10" fmla="*/ 61 w 61"/>
                <a:gd name="T11" fmla="*/ 34 h 62"/>
                <a:gd name="T12" fmla="*/ 7 w 61"/>
                <a:gd name="T13" fmla="*/ 62 h 62"/>
                <a:gd name="T14" fmla="*/ 0 w 61"/>
                <a:gd name="T15" fmla="*/ 5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1" h="62">
                  <a:moveTo>
                    <a:pt x="0" y="52"/>
                  </a:moveTo>
                  <a:lnTo>
                    <a:pt x="29" y="0"/>
                  </a:lnTo>
                  <a:lnTo>
                    <a:pt x="38" y="9"/>
                  </a:lnTo>
                  <a:lnTo>
                    <a:pt x="13" y="48"/>
                  </a:lnTo>
                  <a:lnTo>
                    <a:pt x="54" y="27"/>
                  </a:lnTo>
                  <a:lnTo>
                    <a:pt x="61" y="34"/>
                  </a:lnTo>
                  <a:lnTo>
                    <a:pt x="7" y="62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7" name="îśľïḑe">
              <a:extLst>
                <a:ext uri="{FF2B5EF4-FFF2-40B4-BE49-F238E27FC236}">
                  <a16:creationId xmlns:a16="http://schemas.microsoft.com/office/drawing/2014/main" id="{10C2247F-0370-4422-95E6-1554E47E1CA5}"/>
                </a:ext>
              </a:extLst>
            </p:cNvPr>
            <p:cNvSpPr/>
            <p:nvPr/>
          </p:nvSpPr>
          <p:spPr bwMode="auto">
            <a:xfrm>
              <a:off x="2400300" y="3946526"/>
              <a:ext cx="104775" cy="109538"/>
            </a:xfrm>
            <a:custGeom>
              <a:avLst/>
              <a:gdLst>
                <a:gd name="T0" fmla="*/ 0 w 66"/>
                <a:gd name="T1" fmla="*/ 44 h 69"/>
                <a:gd name="T2" fmla="*/ 38 w 66"/>
                <a:gd name="T3" fmla="*/ 0 h 69"/>
                <a:gd name="T4" fmla="*/ 66 w 66"/>
                <a:gd name="T5" fmla="*/ 26 h 69"/>
                <a:gd name="T6" fmla="*/ 59 w 66"/>
                <a:gd name="T7" fmla="*/ 32 h 69"/>
                <a:gd name="T8" fmla="*/ 38 w 66"/>
                <a:gd name="T9" fmla="*/ 14 h 69"/>
                <a:gd name="T10" fmla="*/ 29 w 66"/>
                <a:gd name="T11" fmla="*/ 26 h 69"/>
                <a:gd name="T12" fmla="*/ 47 w 66"/>
                <a:gd name="T13" fmla="*/ 42 h 69"/>
                <a:gd name="T14" fmla="*/ 43 w 66"/>
                <a:gd name="T15" fmla="*/ 48 h 69"/>
                <a:gd name="T16" fmla="*/ 22 w 66"/>
                <a:gd name="T17" fmla="*/ 32 h 69"/>
                <a:gd name="T18" fmla="*/ 13 w 66"/>
                <a:gd name="T19" fmla="*/ 44 h 69"/>
                <a:gd name="T20" fmla="*/ 34 w 66"/>
                <a:gd name="T21" fmla="*/ 62 h 69"/>
                <a:gd name="T22" fmla="*/ 27 w 66"/>
                <a:gd name="T23" fmla="*/ 69 h 69"/>
                <a:gd name="T24" fmla="*/ 0 w 66"/>
                <a:gd name="T25" fmla="*/ 44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6" h="69">
                  <a:moveTo>
                    <a:pt x="0" y="44"/>
                  </a:moveTo>
                  <a:lnTo>
                    <a:pt x="38" y="0"/>
                  </a:lnTo>
                  <a:lnTo>
                    <a:pt x="66" y="26"/>
                  </a:lnTo>
                  <a:lnTo>
                    <a:pt x="59" y="32"/>
                  </a:lnTo>
                  <a:lnTo>
                    <a:pt x="38" y="14"/>
                  </a:lnTo>
                  <a:lnTo>
                    <a:pt x="29" y="26"/>
                  </a:lnTo>
                  <a:lnTo>
                    <a:pt x="47" y="42"/>
                  </a:lnTo>
                  <a:lnTo>
                    <a:pt x="43" y="48"/>
                  </a:lnTo>
                  <a:lnTo>
                    <a:pt x="22" y="32"/>
                  </a:lnTo>
                  <a:lnTo>
                    <a:pt x="13" y="44"/>
                  </a:lnTo>
                  <a:lnTo>
                    <a:pt x="34" y="62"/>
                  </a:lnTo>
                  <a:lnTo>
                    <a:pt x="27" y="69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8" name="ïSlîḍè">
              <a:extLst>
                <a:ext uri="{FF2B5EF4-FFF2-40B4-BE49-F238E27FC236}">
                  <a16:creationId xmlns:a16="http://schemas.microsoft.com/office/drawing/2014/main" id="{D0B379BE-B15A-4713-B8D9-B3226AB3C063}"/>
                </a:ext>
              </a:extLst>
            </p:cNvPr>
            <p:cNvSpPr/>
            <p:nvPr/>
          </p:nvSpPr>
          <p:spPr bwMode="auto">
            <a:xfrm>
              <a:off x="2457450" y="3994151"/>
              <a:ext cx="96838" cy="115888"/>
            </a:xfrm>
            <a:custGeom>
              <a:avLst/>
              <a:gdLst>
                <a:gd name="T0" fmla="*/ 0 w 27"/>
                <a:gd name="T1" fmla="*/ 21 h 32"/>
                <a:gd name="T2" fmla="*/ 15 w 27"/>
                <a:gd name="T3" fmla="*/ 0 h 32"/>
                <a:gd name="T4" fmla="*/ 23 w 27"/>
                <a:gd name="T5" fmla="*/ 6 h 32"/>
                <a:gd name="T6" fmla="*/ 26 w 27"/>
                <a:gd name="T7" fmla="*/ 9 h 32"/>
                <a:gd name="T8" fmla="*/ 27 w 27"/>
                <a:gd name="T9" fmla="*/ 13 h 32"/>
                <a:gd name="T10" fmla="*/ 25 w 27"/>
                <a:gd name="T11" fmla="*/ 16 h 32"/>
                <a:gd name="T12" fmla="*/ 21 w 27"/>
                <a:gd name="T13" fmla="*/ 19 h 32"/>
                <a:gd name="T14" fmla="*/ 16 w 27"/>
                <a:gd name="T15" fmla="*/ 19 h 32"/>
                <a:gd name="T16" fmla="*/ 17 w 27"/>
                <a:gd name="T17" fmla="*/ 22 h 32"/>
                <a:gd name="T18" fmla="*/ 16 w 27"/>
                <a:gd name="T19" fmla="*/ 27 h 32"/>
                <a:gd name="T20" fmla="*/ 16 w 27"/>
                <a:gd name="T21" fmla="*/ 32 h 32"/>
                <a:gd name="T22" fmla="*/ 11 w 27"/>
                <a:gd name="T23" fmla="*/ 29 h 32"/>
                <a:gd name="T24" fmla="*/ 12 w 27"/>
                <a:gd name="T25" fmla="*/ 23 h 32"/>
                <a:gd name="T26" fmla="*/ 13 w 27"/>
                <a:gd name="T27" fmla="*/ 18 h 32"/>
                <a:gd name="T28" fmla="*/ 12 w 27"/>
                <a:gd name="T29" fmla="*/ 17 h 32"/>
                <a:gd name="T30" fmla="*/ 11 w 27"/>
                <a:gd name="T31" fmla="*/ 15 h 32"/>
                <a:gd name="T32" fmla="*/ 10 w 27"/>
                <a:gd name="T33" fmla="*/ 15 h 32"/>
                <a:gd name="T34" fmla="*/ 3 w 27"/>
                <a:gd name="T35" fmla="*/ 23 h 32"/>
                <a:gd name="T36" fmla="*/ 0 w 27"/>
                <a:gd name="T37" fmla="*/ 21 h 32"/>
                <a:gd name="T38" fmla="*/ 12 w 27"/>
                <a:gd name="T39" fmla="*/ 11 h 32"/>
                <a:gd name="T40" fmla="*/ 15 w 27"/>
                <a:gd name="T41" fmla="*/ 13 h 32"/>
                <a:gd name="T42" fmla="*/ 18 w 27"/>
                <a:gd name="T43" fmla="*/ 15 h 32"/>
                <a:gd name="T44" fmla="*/ 20 w 27"/>
                <a:gd name="T45" fmla="*/ 15 h 32"/>
                <a:gd name="T46" fmla="*/ 21 w 27"/>
                <a:gd name="T47" fmla="*/ 14 h 32"/>
                <a:gd name="T48" fmla="*/ 22 w 27"/>
                <a:gd name="T49" fmla="*/ 12 h 32"/>
                <a:gd name="T50" fmla="*/ 21 w 27"/>
                <a:gd name="T51" fmla="*/ 10 h 32"/>
                <a:gd name="T52" fmla="*/ 19 w 27"/>
                <a:gd name="T53" fmla="*/ 8 h 32"/>
                <a:gd name="T54" fmla="*/ 16 w 27"/>
                <a:gd name="T55" fmla="*/ 6 h 32"/>
                <a:gd name="T56" fmla="*/ 12 w 27"/>
                <a:gd name="T57" fmla="*/ 1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7" h="32">
                  <a:moveTo>
                    <a:pt x="0" y="21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4" y="7"/>
                    <a:pt x="26" y="8"/>
                    <a:pt x="26" y="9"/>
                  </a:cubicBezTo>
                  <a:cubicBezTo>
                    <a:pt x="27" y="10"/>
                    <a:pt x="27" y="11"/>
                    <a:pt x="27" y="13"/>
                  </a:cubicBezTo>
                  <a:cubicBezTo>
                    <a:pt x="27" y="14"/>
                    <a:pt x="26" y="15"/>
                    <a:pt x="25" y="16"/>
                  </a:cubicBezTo>
                  <a:cubicBezTo>
                    <a:pt x="24" y="18"/>
                    <a:pt x="23" y="19"/>
                    <a:pt x="21" y="19"/>
                  </a:cubicBezTo>
                  <a:cubicBezTo>
                    <a:pt x="20" y="20"/>
                    <a:pt x="18" y="20"/>
                    <a:pt x="16" y="19"/>
                  </a:cubicBezTo>
                  <a:cubicBezTo>
                    <a:pt x="17" y="20"/>
                    <a:pt x="17" y="21"/>
                    <a:pt x="17" y="22"/>
                  </a:cubicBezTo>
                  <a:cubicBezTo>
                    <a:pt x="17" y="23"/>
                    <a:pt x="17" y="24"/>
                    <a:pt x="16" y="27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1" y="29"/>
                    <a:pt x="11" y="29"/>
                    <a:pt x="11" y="29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0"/>
                    <a:pt x="13" y="19"/>
                    <a:pt x="13" y="18"/>
                  </a:cubicBezTo>
                  <a:cubicBezTo>
                    <a:pt x="13" y="18"/>
                    <a:pt x="12" y="17"/>
                    <a:pt x="12" y="17"/>
                  </a:cubicBezTo>
                  <a:cubicBezTo>
                    <a:pt x="12" y="16"/>
                    <a:pt x="11" y="16"/>
                    <a:pt x="11" y="15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3" y="23"/>
                    <a:pt x="3" y="23"/>
                    <a:pt x="3" y="23"/>
                  </a:cubicBezTo>
                  <a:lnTo>
                    <a:pt x="0" y="21"/>
                  </a:lnTo>
                  <a:close/>
                  <a:moveTo>
                    <a:pt x="12" y="11"/>
                  </a:moveTo>
                  <a:cubicBezTo>
                    <a:pt x="15" y="13"/>
                    <a:pt x="15" y="13"/>
                    <a:pt x="15" y="13"/>
                  </a:cubicBezTo>
                  <a:cubicBezTo>
                    <a:pt x="17" y="15"/>
                    <a:pt x="18" y="15"/>
                    <a:pt x="18" y="15"/>
                  </a:cubicBezTo>
                  <a:cubicBezTo>
                    <a:pt x="19" y="16"/>
                    <a:pt x="19" y="15"/>
                    <a:pt x="20" y="15"/>
                  </a:cubicBezTo>
                  <a:cubicBezTo>
                    <a:pt x="20" y="15"/>
                    <a:pt x="21" y="15"/>
                    <a:pt x="21" y="14"/>
                  </a:cubicBezTo>
                  <a:cubicBezTo>
                    <a:pt x="22" y="13"/>
                    <a:pt x="22" y="13"/>
                    <a:pt x="22" y="12"/>
                  </a:cubicBezTo>
                  <a:cubicBezTo>
                    <a:pt x="22" y="11"/>
                    <a:pt x="22" y="11"/>
                    <a:pt x="21" y="10"/>
                  </a:cubicBezTo>
                  <a:cubicBezTo>
                    <a:pt x="21" y="10"/>
                    <a:pt x="20" y="9"/>
                    <a:pt x="19" y="8"/>
                  </a:cubicBezTo>
                  <a:cubicBezTo>
                    <a:pt x="16" y="6"/>
                    <a:pt x="16" y="6"/>
                    <a:pt x="16" y="6"/>
                  </a:cubicBezTo>
                  <a:lnTo>
                    <a:pt x="12" y="11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9" name="işliḍé">
              <a:extLst>
                <a:ext uri="{FF2B5EF4-FFF2-40B4-BE49-F238E27FC236}">
                  <a16:creationId xmlns:a16="http://schemas.microsoft.com/office/drawing/2014/main" id="{8C4FE83E-416D-48A6-BBCF-6B960E38CB85}"/>
                </a:ext>
              </a:extLst>
            </p:cNvPr>
            <p:cNvSpPr/>
            <p:nvPr/>
          </p:nvSpPr>
          <p:spPr bwMode="auto">
            <a:xfrm>
              <a:off x="2533650" y="4044951"/>
              <a:ext cx="79375" cy="93663"/>
            </a:xfrm>
            <a:custGeom>
              <a:avLst/>
              <a:gdLst>
                <a:gd name="T0" fmla="*/ 1 w 22"/>
                <a:gd name="T1" fmla="*/ 13 h 26"/>
                <a:gd name="T2" fmla="*/ 5 w 22"/>
                <a:gd name="T3" fmla="*/ 14 h 26"/>
                <a:gd name="T4" fmla="*/ 5 w 22"/>
                <a:gd name="T5" fmla="*/ 18 h 26"/>
                <a:gd name="T6" fmla="*/ 7 w 22"/>
                <a:gd name="T7" fmla="*/ 21 h 26"/>
                <a:gd name="T8" fmla="*/ 10 w 22"/>
                <a:gd name="T9" fmla="*/ 22 h 26"/>
                <a:gd name="T10" fmla="*/ 12 w 22"/>
                <a:gd name="T11" fmla="*/ 20 h 26"/>
                <a:gd name="T12" fmla="*/ 13 w 22"/>
                <a:gd name="T13" fmla="*/ 19 h 26"/>
                <a:gd name="T14" fmla="*/ 12 w 22"/>
                <a:gd name="T15" fmla="*/ 17 h 26"/>
                <a:gd name="T16" fmla="*/ 9 w 22"/>
                <a:gd name="T17" fmla="*/ 14 h 26"/>
                <a:gd name="T18" fmla="*/ 6 w 22"/>
                <a:gd name="T19" fmla="*/ 9 h 26"/>
                <a:gd name="T20" fmla="*/ 7 w 22"/>
                <a:gd name="T21" fmla="*/ 4 h 26"/>
                <a:gd name="T22" fmla="*/ 10 w 22"/>
                <a:gd name="T23" fmla="*/ 1 h 26"/>
                <a:gd name="T24" fmla="*/ 14 w 22"/>
                <a:gd name="T25" fmla="*/ 0 h 26"/>
                <a:gd name="T26" fmla="*/ 18 w 22"/>
                <a:gd name="T27" fmla="*/ 2 h 26"/>
                <a:gd name="T28" fmla="*/ 22 w 22"/>
                <a:gd name="T29" fmla="*/ 7 h 26"/>
                <a:gd name="T30" fmla="*/ 21 w 22"/>
                <a:gd name="T31" fmla="*/ 13 h 26"/>
                <a:gd name="T32" fmla="*/ 17 w 22"/>
                <a:gd name="T33" fmla="*/ 11 h 26"/>
                <a:gd name="T34" fmla="*/ 18 w 22"/>
                <a:gd name="T35" fmla="*/ 8 h 26"/>
                <a:gd name="T36" fmla="*/ 16 w 22"/>
                <a:gd name="T37" fmla="*/ 5 h 26"/>
                <a:gd name="T38" fmla="*/ 13 w 22"/>
                <a:gd name="T39" fmla="*/ 5 h 26"/>
                <a:gd name="T40" fmla="*/ 11 w 22"/>
                <a:gd name="T41" fmla="*/ 6 h 26"/>
                <a:gd name="T42" fmla="*/ 11 w 22"/>
                <a:gd name="T43" fmla="*/ 7 h 26"/>
                <a:gd name="T44" fmla="*/ 13 w 22"/>
                <a:gd name="T45" fmla="*/ 11 h 26"/>
                <a:gd name="T46" fmla="*/ 17 w 22"/>
                <a:gd name="T47" fmla="*/ 15 h 26"/>
                <a:gd name="T48" fmla="*/ 17 w 22"/>
                <a:gd name="T49" fmla="*/ 18 h 26"/>
                <a:gd name="T50" fmla="*/ 16 w 22"/>
                <a:gd name="T51" fmla="*/ 22 h 26"/>
                <a:gd name="T52" fmla="*/ 13 w 22"/>
                <a:gd name="T53" fmla="*/ 25 h 26"/>
                <a:gd name="T54" fmla="*/ 9 w 22"/>
                <a:gd name="T55" fmla="*/ 26 h 26"/>
                <a:gd name="T56" fmla="*/ 4 w 22"/>
                <a:gd name="T57" fmla="*/ 25 h 26"/>
                <a:gd name="T58" fmla="*/ 0 w 22"/>
                <a:gd name="T59" fmla="*/ 20 h 26"/>
                <a:gd name="T60" fmla="*/ 1 w 22"/>
                <a:gd name="T61" fmla="*/ 13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2" h="26">
                  <a:moveTo>
                    <a:pt x="1" y="13"/>
                  </a:moveTo>
                  <a:cubicBezTo>
                    <a:pt x="5" y="14"/>
                    <a:pt x="5" y="14"/>
                    <a:pt x="5" y="14"/>
                  </a:cubicBezTo>
                  <a:cubicBezTo>
                    <a:pt x="5" y="16"/>
                    <a:pt x="4" y="17"/>
                    <a:pt x="5" y="18"/>
                  </a:cubicBezTo>
                  <a:cubicBezTo>
                    <a:pt x="5" y="19"/>
                    <a:pt x="6" y="20"/>
                    <a:pt x="7" y="21"/>
                  </a:cubicBezTo>
                  <a:cubicBezTo>
                    <a:pt x="8" y="22"/>
                    <a:pt x="9" y="22"/>
                    <a:pt x="10" y="22"/>
                  </a:cubicBezTo>
                  <a:cubicBezTo>
                    <a:pt x="11" y="21"/>
                    <a:pt x="12" y="21"/>
                    <a:pt x="12" y="20"/>
                  </a:cubicBezTo>
                  <a:cubicBezTo>
                    <a:pt x="13" y="20"/>
                    <a:pt x="13" y="19"/>
                    <a:pt x="13" y="19"/>
                  </a:cubicBezTo>
                  <a:cubicBezTo>
                    <a:pt x="13" y="18"/>
                    <a:pt x="12" y="17"/>
                    <a:pt x="12" y="17"/>
                  </a:cubicBezTo>
                  <a:cubicBezTo>
                    <a:pt x="12" y="16"/>
                    <a:pt x="11" y="15"/>
                    <a:pt x="9" y="14"/>
                  </a:cubicBezTo>
                  <a:cubicBezTo>
                    <a:pt x="8" y="12"/>
                    <a:pt x="7" y="11"/>
                    <a:pt x="6" y="9"/>
                  </a:cubicBezTo>
                  <a:cubicBezTo>
                    <a:pt x="6" y="7"/>
                    <a:pt x="6" y="6"/>
                    <a:pt x="7" y="4"/>
                  </a:cubicBezTo>
                  <a:cubicBezTo>
                    <a:pt x="8" y="3"/>
                    <a:pt x="9" y="2"/>
                    <a:pt x="10" y="1"/>
                  </a:cubicBezTo>
                  <a:cubicBezTo>
                    <a:pt x="11" y="1"/>
                    <a:pt x="12" y="0"/>
                    <a:pt x="14" y="0"/>
                  </a:cubicBezTo>
                  <a:cubicBezTo>
                    <a:pt x="15" y="1"/>
                    <a:pt x="16" y="1"/>
                    <a:pt x="18" y="2"/>
                  </a:cubicBezTo>
                  <a:cubicBezTo>
                    <a:pt x="20" y="3"/>
                    <a:pt x="22" y="5"/>
                    <a:pt x="22" y="7"/>
                  </a:cubicBezTo>
                  <a:cubicBezTo>
                    <a:pt x="22" y="9"/>
                    <a:pt x="22" y="11"/>
                    <a:pt x="21" y="13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8" y="9"/>
                    <a:pt x="18" y="8"/>
                    <a:pt x="18" y="8"/>
                  </a:cubicBezTo>
                  <a:cubicBezTo>
                    <a:pt x="17" y="7"/>
                    <a:pt x="17" y="6"/>
                    <a:pt x="16" y="5"/>
                  </a:cubicBezTo>
                  <a:cubicBezTo>
                    <a:pt x="14" y="5"/>
                    <a:pt x="13" y="5"/>
                    <a:pt x="13" y="5"/>
                  </a:cubicBezTo>
                  <a:cubicBezTo>
                    <a:pt x="12" y="5"/>
                    <a:pt x="11" y="5"/>
                    <a:pt x="11" y="6"/>
                  </a:cubicBezTo>
                  <a:cubicBezTo>
                    <a:pt x="11" y="6"/>
                    <a:pt x="11" y="7"/>
                    <a:pt x="11" y="7"/>
                  </a:cubicBezTo>
                  <a:cubicBezTo>
                    <a:pt x="11" y="8"/>
                    <a:pt x="12" y="9"/>
                    <a:pt x="13" y="11"/>
                  </a:cubicBezTo>
                  <a:cubicBezTo>
                    <a:pt x="15" y="13"/>
                    <a:pt x="16" y="14"/>
                    <a:pt x="17" y="15"/>
                  </a:cubicBezTo>
                  <a:cubicBezTo>
                    <a:pt x="17" y="16"/>
                    <a:pt x="17" y="17"/>
                    <a:pt x="17" y="18"/>
                  </a:cubicBezTo>
                  <a:cubicBezTo>
                    <a:pt x="17" y="20"/>
                    <a:pt x="17" y="21"/>
                    <a:pt x="16" y="22"/>
                  </a:cubicBezTo>
                  <a:cubicBezTo>
                    <a:pt x="15" y="24"/>
                    <a:pt x="14" y="25"/>
                    <a:pt x="13" y="25"/>
                  </a:cubicBezTo>
                  <a:cubicBezTo>
                    <a:pt x="12" y="26"/>
                    <a:pt x="10" y="26"/>
                    <a:pt x="9" y="26"/>
                  </a:cubicBezTo>
                  <a:cubicBezTo>
                    <a:pt x="8" y="26"/>
                    <a:pt x="6" y="26"/>
                    <a:pt x="4" y="25"/>
                  </a:cubicBezTo>
                  <a:cubicBezTo>
                    <a:pt x="2" y="23"/>
                    <a:pt x="1" y="22"/>
                    <a:pt x="0" y="20"/>
                  </a:cubicBezTo>
                  <a:cubicBezTo>
                    <a:pt x="0" y="17"/>
                    <a:pt x="0" y="15"/>
                    <a:pt x="1" y="13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0" name="ísḻïde">
              <a:extLst>
                <a:ext uri="{FF2B5EF4-FFF2-40B4-BE49-F238E27FC236}">
                  <a16:creationId xmlns:a16="http://schemas.microsoft.com/office/drawing/2014/main" id="{2734F4EE-C3A2-4E41-845D-400A6F2812C3}"/>
                </a:ext>
              </a:extLst>
            </p:cNvPr>
            <p:cNvSpPr/>
            <p:nvPr/>
          </p:nvSpPr>
          <p:spPr bwMode="auto">
            <a:xfrm>
              <a:off x="2590800" y="4073526"/>
              <a:ext cx="58738" cy="90488"/>
            </a:xfrm>
            <a:custGeom>
              <a:avLst/>
              <a:gdLst>
                <a:gd name="T0" fmla="*/ 0 w 37"/>
                <a:gd name="T1" fmla="*/ 53 h 57"/>
                <a:gd name="T2" fmla="*/ 27 w 37"/>
                <a:gd name="T3" fmla="*/ 0 h 57"/>
                <a:gd name="T4" fmla="*/ 37 w 37"/>
                <a:gd name="T5" fmla="*/ 5 h 57"/>
                <a:gd name="T6" fmla="*/ 9 w 37"/>
                <a:gd name="T7" fmla="*/ 57 h 57"/>
                <a:gd name="T8" fmla="*/ 0 w 37"/>
                <a:gd name="T9" fmla="*/ 53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57">
                  <a:moveTo>
                    <a:pt x="0" y="53"/>
                  </a:moveTo>
                  <a:lnTo>
                    <a:pt x="27" y="0"/>
                  </a:lnTo>
                  <a:lnTo>
                    <a:pt x="37" y="5"/>
                  </a:lnTo>
                  <a:lnTo>
                    <a:pt x="9" y="57"/>
                  </a:lnTo>
                  <a:lnTo>
                    <a:pt x="0" y="53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1" name="iŝļiḋê">
              <a:extLst>
                <a:ext uri="{FF2B5EF4-FFF2-40B4-BE49-F238E27FC236}">
                  <a16:creationId xmlns:a16="http://schemas.microsoft.com/office/drawing/2014/main" id="{6264C823-B6B6-46A8-A230-B1FE3CB54C72}"/>
                </a:ext>
              </a:extLst>
            </p:cNvPr>
            <p:cNvSpPr/>
            <p:nvPr/>
          </p:nvSpPr>
          <p:spPr bwMode="auto">
            <a:xfrm>
              <a:off x="2638425" y="4084638"/>
              <a:ext cx="71438" cy="101600"/>
            </a:xfrm>
            <a:custGeom>
              <a:avLst/>
              <a:gdLst>
                <a:gd name="T0" fmla="*/ 0 w 45"/>
                <a:gd name="T1" fmla="*/ 60 h 64"/>
                <a:gd name="T2" fmla="*/ 20 w 45"/>
                <a:gd name="T3" fmla="*/ 14 h 64"/>
                <a:gd name="T4" fmla="*/ 7 w 45"/>
                <a:gd name="T5" fmla="*/ 9 h 64"/>
                <a:gd name="T6" fmla="*/ 9 w 45"/>
                <a:gd name="T7" fmla="*/ 0 h 64"/>
                <a:gd name="T8" fmla="*/ 45 w 45"/>
                <a:gd name="T9" fmla="*/ 16 h 64"/>
                <a:gd name="T10" fmla="*/ 43 w 45"/>
                <a:gd name="T11" fmla="*/ 25 h 64"/>
                <a:gd name="T12" fmla="*/ 29 w 45"/>
                <a:gd name="T13" fmla="*/ 18 h 64"/>
                <a:gd name="T14" fmla="*/ 9 w 45"/>
                <a:gd name="T15" fmla="*/ 64 h 64"/>
                <a:gd name="T16" fmla="*/ 0 w 45"/>
                <a:gd name="T17" fmla="*/ 6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5" h="64">
                  <a:moveTo>
                    <a:pt x="0" y="60"/>
                  </a:moveTo>
                  <a:lnTo>
                    <a:pt x="20" y="14"/>
                  </a:lnTo>
                  <a:lnTo>
                    <a:pt x="7" y="9"/>
                  </a:lnTo>
                  <a:lnTo>
                    <a:pt x="9" y="0"/>
                  </a:lnTo>
                  <a:lnTo>
                    <a:pt x="45" y="16"/>
                  </a:lnTo>
                  <a:lnTo>
                    <a:pt x="43" y="25"/>
                  </a:lnTo>
                  <a:lnTo>
                    <a:pt x="29" y="18"/>
                  </a:lnTo>
                  <a:lnTo>
                    <a:pt x="9" y="64"/>
                  </a:lnTo>
                  <a:lnTo>
                    <a:pt x="0" y="6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2" name="iṧḷîdè">
              <a:extLst>
                <a:ext uri="{FF2B5EF4-FFF2-40B4-BE49-F238E27FC236}">
                  <a16:creationId xmlns:a16="http://schemas.microsoft.com/office/drawing/2014/main" id="{2F4ED27C-54FA-434A-ACA1-57534125683E}"/>
                </a:ext>
              </a:extLst>
            </p:cNvPr>
            <p:cNvSpPr/>
            <p:nvPr/>
          </p:nvSpPr>
          <p:spPr bwMode="auto">
            <a:xfrm>
              <a:off x="2709863" y="4110038"/>
              <a:ext cx="68263" cy="101600"/>
            </a:xfrm>
            <a:custGeom>
              <a:avLst/>
              <a:gdLst>
                <a:gd name="T0" fmla="*/ 0 w 43"/>
                <a:gd name="T1" fmla="*/ 60 h 64"/>
                <a:gd name="T2" fmla="*/ 7 w 43"/>
                <a:gd name="T3" fmla="*/ 37 h 64"/>
                <a:gd name="T4" fmla="*/ 0 w 43"/>
                <a:gd name="T5" fmla="*/ 0 h 64"/>
                <a:gd name="T6" fmla="*/ 12 w 43"/>
                <a:gd name="T7" fmla="*/ 2 h 64"/>
                <a:gd name="T8" fmla="*/ 16 w 43"/>
                <a:gd name="T9" fmla="*/ 28 h 64"/>
                <a:gd name="T10" fmla="*/ 32 w 43"/>
                <a:gd name="T11" fmla="*/ 9 h 64"/>
                <a:gd name="T12" fmla="*/ 43 w 43"/>
                <a:gd name="T13" fmla="*/ 14 h 64"/>
                <a:gd name="T14" fmla="*/ 16 w 43"/>
                <a:gd name="T15" fmla="*/ 41 h 64"/>
                <a:gd name="T16" fmla="*/ 9 w 43"/>
                <a:gd name="T17" fmla="*/ 64 h 64"/>
                <a:gd name="T18" fmla="*/ 0 w 43"/>
                <a:gd name="T19" fmla="*/ 6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3" h="64">
                  <a:moveTo>
                    <a:pt x="0" y="60"/>
                  </a:moveTo>
                  <a:lnTo>
                    <a:pt x="7" y="37"/>
                  </a:lnTo>
                  <a:lnTo>
                    <a:pt x="0" y="0"/>
                  </a:lnTo>
                  <a:lnTo>
                    <a:pt x="12" y="2"/>
                  </a:lnTo>
                  <a:lnTo>
                    <a:pt x="16" y="28"/>
                  </a:lnTo>
                  <a:lnTo>
                    <a:pt x="32" y="9"/>
                  </a:lnTo>
                  <a:lnTo>
                    <a:pt x="43" y="14"/>
                  </a:lnTo>
                  <a:lnTo>
                    <a:pt x="16" y="41"/>
                  </a:lnTo>
                  <a:lnTo>
                    <a:pt x="9" y="64"/>
                  </a:lnTo>
                  <a:lnTo>
                    <a:pt x="0" y="6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3" name="isļíḍè">
              <a:extLst>
                <a:ext uri="{FF2B5EF4-FFF2-40B4-BE49-F238E27FC236}">
                  <a16:creationId xmlns:a16="http://schemas.microsoft.com/office/drawing/2014/main" id="{EFE13A69-5E04-4822-8628-83BABE47595F}"/>
                </a:ext>
              </a:extLst>
            </p:cNvPr>
            <p:cNvSpPr/>
            <p:nvPr/>
          </p:nvSpPr>
          <p:spPr bwMode="auto">
            <a:xfrm>
              <a:off x="2797175" y="4143376"/>
              <a:ext cx="79375" cy="96838"/>
            </a:xfrm>
            <a:custGeom>
              <a:avLst/>
              <a:gdLst>
                <a:gd name="T0" fmla="*/ 1 w 22"/>
                <a:gd name="T1" fmla="*/ 11 h 27"/>
                <a:gd name="T2" fmla="*/ 3 w 22"/>
                <a:gd name="T3" fmla="*/ 5 h 27"/>
                <a:gd name="T4" fmla="*/ 5 w 22"/>
                <a:gd name="T5" fmla="*/ 2 h 27"/>
                <a:gd name="T6" fmla="*/ 8 w 22"/>
                <a:gd name="T7" fmla="*/ 0 h 27"/>
                <a:gd name="T8" fmla="*/ 13 w 22"/>
                <a:gd name="T9" fmla="*/ 0 h 27"/>
                <a:gd name="T10" fmla="*/ 20 w 22"/>
                <a:gd name="T11" fmla="*/ 5 h 27"/>
                <a:gd name="T12" fmla="*/ 21 w 22"/>
                <a:gd name="T13" fmla="*/ 15 h 27"/>
                <a:gd name="T14" fmla="*/ 17 w 22"/>
                <a:gd name="T15" fmla="*/ 24 h 27"/>
                <a:gd name="T16" fmla="*/ 9 w 22"/>
                <a:gd name="T17" fmla="*/ 26 h 27"/>
                <a:gd name="T18" fmla="*/ 2 w 22"/>
                <a:gd name="T19" fmla="*/ 21 h 27"/>
                <a:gd name="T20" fmla="*/ 1 w 22"/>
                <a:gd name="T21" fmla="*/ 11 h 27"/>
                <a:gd name="T22" fmla="*/ 5 w 22"/>
                <a:gd name="T23" fmla="*/ 12 h 27"/>
                <a:gd name="T24" fmla="*/ 6 w 22"/>
                <a:gd name="T25" fmla="*/ 19 h 27"/>
                <a:gd name="T26" fmla="*/ 10 w 22"/>
                <a:gd name="T27" fmla="*/ 22 h 27"/>
                <a:gd name="T28" fmla="*/ 14 w 22"/>
                <a:gd name="T29" fmla="*/ 20 h 27"/>
                <a:gd name="T30" fmla="*/ 17 w 22"/>
                <a:gd name="T31" fmla="*/ 14 h 27"/>
                <a:gd name="T32" fmla="*/ 16 w 22"/>
                <a:gd name="T33" fmla="*/ 7 h 27"/>
                <a:gd name="T34" fmla="*/ 13 w 22"/>
                <a:gd name="T35" fmla="*/ 4 h 27"/>
                <a:gd name="T36" fmla="*/ 8 w 22"/>
                <a:gd name="T37" fmla="*/ 6 h 27"/>
                <a:gd name="T38" fmla="*/ 5 w 22"/>
                <a:gd name="T39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2" h="27">
                  <a:moveTo>
                    <a:pt x="1" y="11"/>
                  </a:moveTo>
                  <a:cubicBezTo>
                    <a:pt x="1" y="9"/>
                    <a:pt x="2" y="7"/>
                    <a:pt x="3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7" y="1"/>
                    <a:pt x="8" y="0"/>
                  </a:cubicBezTo>
                  <a:cubicBezTo>
                    <a:pt x="10" y="0"/>
                    <a:pt x="11" y="0"/>
                    <a:pt x="13" y="0"/>
                  </a:cubicBezTo>
                  <a:cubicBezTo>
                    <a:pt x="16" y="1"/>
                    <a:pt x="19" y="2"/>
                    <a:pt x="20" y="5"/>
                  </a:cubicBezTo>
                  <a:cubicBezTo>
                    <a:pt x="22" y="7"/>
                    <a:pt x="22" y="11"/>
                    <a:pt x="21" y="15"/>
                  </a:cubicBezTo>
                  <a:cubicBezTo>
                    <a:pt x="21" y="19"/>
                    <a:pt x="19" y="22"/>
                    <a:pt x="17" y="24"/>
                  </a:cubicBezTo>
                  <a:cubicBezTo>
                    <a:pt x="15" y="26"/>
                    <a:pt x="12" y="27"/>
                    <a:pt x="9" y="26"/>
                  </a:cubicBezTo>
                  <a:cubicBezTo>
                    <a:pt x="6" y="26"/>
                    <a:pt x="3" y="24"/>
                    <a:pt x="2" y="21"/>
                  </a:cubicBezTo>
                  <a:cubicBezTo>
                    <a:pt x="0" y="19"/>
                    <a:pt x="0" y="15"/>
                    <a:pt x="1" y="11"/>
                  </a:cubicBezTo>
                  <a:close/>
                  <a:moveTo>
                    <a:pt x="5" y="12"/>
                  </a:moveTo>
                  <a:cubicBezTo>
                    <a:pt x="5" y="15"/>
                    <a:pt x="5" y="17"/>
                    <a:pt x="6" y="19"/>
                  </a:cubicBezTo>
                  <a:cubicBezTo>
                    <a:pt x="7" y="21"/>
                    <a:pt x="8" y="21"/>
                    <a:pt x="10" y="22"/>
                  </a:cubicBezTo>
                  <a:cubicBezTo>
                    <a:pt x="11" y="22"/>
                    <a:pt x="13" y="22"/>
                    <a:pt x="14" y="20"/>
                  </a:cubicBezTo>
                  <a:cubicBezTo>
                    <a:pt x="16" y="19"/>
                    <a:pt x="16" y="17"/>
                    <a:pt x="17" y="14"/>
                  </a:cubicBezTo>
                  <a:cubicBezTo>
                    <a:pt x="17" y="11"/>
                    <a:pt x="17" y="9"/>
                    <a:pt x="16" y="7"/>
                  </a:cubicBezTo>
                  <a:cubicBezTo>
                    <a:pt x="16" y="6"/>
                    <a:pt x="14" y="5"/>
                    <a:pt x="13" y="4"/>
                  </a:cubicBezTo>
                  <a:cubicBezTo>
                    <a:pt x="11" y="4"/>
                    <a:pt x="9" y="5"/>
                    <a:pt x="8" y="6"/>
                  </a:cubicBezTo>
                  <a:cubicBezTo>
                    <a:pt x="7" y="7"/>
                    <a:pt x="6" y="9"/>
                    <a:pt x="5" y="12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4" name="ïṡ1íḓe">
              <a:extLst>
                <a:ext uri="{FF2B5EF4-FFF2-40B4-BE49-F238E27FC236}">
                  <a16:creationId xmlns:a16="http://schemas.microsoft.com/office/drawing/2014/main" id="{A9324D63-B67E-44D7-AE8B-74BA73907C20}"/>
                </a:ext>
              </a:extLst>
            </p:cNvPr>
            <p:cNvSpPr/>
            <p:nvPr/>
          </p:nvSpPr>
          <p:spPr bwMode="auto">
            <a:xfrm>
              <a:off x="2882900" y="4149726"/>
              <a:ext cx="61913" cy="95250"/>
            </a:xfrm>
            <a:custGeom>
              <a:avLst/>
              <a:gdLst>
                <a:gd name="T0" fmla="*/ 0 w 39"/>
                <a:gd name="T1" fmla="*/ 60 h 60"/>
                <a:gd name="T2" fmla="*/ 5 w 39"/>
                <a:gd name="T3" fmla="*/ 0 h 60"/>
                <a:gd name="T4" fmla="*/ 39 w 39"/>
                <a:gd name="T5" fmla="*/ 3 h 60"/>
                <a:gd name="T6" fmla="*/ 37 w 39"/>
                <a:gd name="T7" fmla="*/ 14 h 60"/>
                <a:gd name="T8" fmla="*/ 14 w 39"/>
                <a:gd name="T9" fmla="*/ 12 h 60"/>
                <a:gd name="T10" fmla="*/ 12 w 39"/>
                <a:gd name="T11" fmla="*/ 25 h 60"/>
                <a:gd name="T12" fmla="*/ 34 w 39"/>
                <a:gd name="T13" fmla="*/ 28 h 60"/>
                <a:gd name="T14" fmla="*/ 32 w 39"/>
                <a:gd name="T15" fmla="*/ 37 h 60"/>
                <a:gd name="T16" fmla="*/ 12 w 39"/>
                <a:gd name="T17" fmla="*/ 35 h 60"/>
                <a:gd name="T18" fmla="*/ 9 w 39"/>
                <a:gd name="T19" fmla="*/ 60 h 60"/>
                <a:gd name="T20" fmla="*/ 0 w 39"/>
                <a:gd name="T21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9" h="60">
                  <a:moveTo>
                    <a:pt x="0" y="60"/>
                  </a:moveTo>
                  <a:lnTo>
                    <a:pt x="5" y="0"/>
                  </a:lnTo>
                  <a:lnTo>
                    <a:pt x="39" y="3"/>
                  </a:lnTo>
                  <a:lnTo>
                    <a:pt x="37" y="14"/>
                  </a:lnTo>
                  <a:lnTo>
                    <a:pt x="14" y="12"/>
                  </a:lnTo>
                  <a:lnTo>
                    <a:pt x="12" y="25"/>
                  </a:lnTo>
                  <a:lnTo>
                    <a:pt x="34" y="28"/>
                  </a:lnTo>
                  <a:lnTo>
                    <a:pt x="32" y="37"/>
                  </a:lnTo>
                  <a:lnTo>
                    <a:pt x="12" y="35"/>
                  </a:lnTo>
                  <a:lnTo>
                    <a:pt x="9" y="60"/>
                  </a:lnTo>
                  <a:lnTo>
                    <a:pt x="0" y="6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5" name="isḷiḑê">
              <a:extLst>
                <a:ext uri="{FF2B5EF4-FFF2-40B4-BE49-F238E27FC236}">
                  <a16:creationId xmlns:a16="http://schemas.microsoft.com/office/drawing/2014/main" id="{98CDD5EA-5A89-4A80-82C6-47F4FFDD6421}"/>
                </a:ext>
              </a:extLst>
            </p:cNvPr>
            <p:cNvSpPr/>
            <p:nvPr/>
          </p:nvSpPr>
          <p:spPr bwMode="auto">
            <a:xfrm>
              <a:off x="2981325" y="4149726"/>
              <a:ext cx="65088" cy="98425"/>
            </a:xfrm>
            <a:custGeom>
              <a:avLst/>
              <a:gdLst>
                <a:gd name="T0" fmla="*/ 0 w 18"/>
                <a:gd name="T1" fmla="*/ 19 h 27"/>
                <a:gd name="T2" fmla="*/ 5 w 18"/>
                <a:gd name="T3" fmla="*/ 18 h 27"/>
                <a:gd name="T4" fmla="*/ 6 w 18"/>
                <a:gd name="T5" fmla="*/ 22 h 27"/>
                <a:gd name="T6" fmla="*/ 10 w 18"/>
                <a:gd name="T7" fmla="*/ 23 h 27"/>
                <a:gd name="T8" fmla="*/ 13 w 18"/>
                <a:gd name="T9" fmla="*/ 21 h 27"/>
                <a:gd name="T10" fmla="*/ 14 w 18"/>
                <a:gd name="T11" fmla="*/ 19 h 27"/>
                <a:gd name="T12" fmla="*/ 13 w 18"/>
                <a:gd name="T13" fmla="*/ 17 h 27"/>
                <a:gd name="T14" fmla="*/ 11 w 18"/>
                <a:gd name="T15" fmla="*/ 16 h 27"/>
                <a:gd name="T16" fmla="*/ 8 w 18"/>
                <a:gd name="T17" fmla="*/ 15 h 27"/>
                <a:gd name="T18" fmla="*/ 3 w 18"/>
                <a:gd name="T19" fmla="*/ 13 h 27"/>
                <a:gd name="T20" fmla="*/ 0 w 18"/>
                <a:gd name="T21" fmla="*/ 8 h 27"/>
                <a:gd name="T22" fmla="*/ 1 w 18"/>
                <a:gd name="T23" fmla="*/ 5 h 27"/>
                <a:gd name="T24" fmla="*/ 4 w 18"/>
                <a:gd name="T25" fmla="*/ 2 h 27"/>
                <a:gd name="T26" fmla="*/ 8 w 18"/>
                <a:gd name="T27" fmla="*/ 1 h 27"/>
                <a:gd name="T28" fmla="*/ 14 w 18"/>
                <a:gd name="T29" fmla="*/ 2 h 27"/>
                <a:gd name="T30" fmla="*/ 17 w 18"/>
                <a:gd name="T31" fmla="*/ 8 h 27"/>
                <a:gd name="T32" fmla="*/ 12 w 18"/>
                <a:gd name="T33" fmla="*/ 8 h 27"/>
                <a:gd name="T34" fmla="*/ 11 w 18"/>
                <a:gd name="T35" fmla="*/ 6 h 27"/>
                <a:gd name="T36" fmla="*/ 8 w 18"/>
                <a:gd name="T37" fmla="*/ 5 h 27"/>
                <a:gd name="T38" fmla="*/ 5 w 18"/>
                <a:gd name="T39" fmla="*/ 6 h 27"/>
                <a:gd name="T40" fmla="*/ 5 w 18"/>
                <a:gd name="T41" fmla="*/ 8 h 27"/>
                <a:gd name="T42" fmla="*/ 5 w 18"/>
                <a:gd name="T43" fmla="*/ 9 h 27"/>
                <a:gd name="T44" fmla="*/ 10 w 18"/>
                <a:gd name="T45" fmla="*/ 11 h 27"/>
                <a:gd name="T46" fmla="*/ 14 w 18"/>
                <a:gd name="T47" fmla="*/ 12 h 27"/>
                <a:gd name="T48" fmla="*/ 17 w 18"/>
                <a:gd name="T49" fmla="*/ 15 h 27"/>
                <a:gd name="T50" fmla="*/ 18 w 18"/>
                <a:gd name="T51" fmla="*/ 19 h 27"/>
                <a:gd name="T52" fmla="*/ 17 w 18"/>
                <a:gd name="T53" fmla="*/ 23 h 27"/>
                <a:gd name="T54" fmla="*/ 14 w 18"/>
                <a:gd name="T55" fmla="*/ 26 h 27"/>
                <a:gd name="T56" fmla="*/ 10 w 18"/>
                <a:gd name="T57" fmla="*/ 27 h 27"/>
                <a:gd name="T58" fmla="*/ 3 w 18"/>
                <a:gd name="T59" fmla="*/ 25 h 27"/>
                <a:gd name="T60" fmla="*/ 0 w 18"/>
                <a:gd name="T61" fmla="*/ 19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8" h="27">
                  <a:moveTo>
                    <a:pt x="0" y="19"/>
                  </a:moveTo>
                  <a:cubicBezTo>
                    <a:pt x="5" y="18"/>
                    <a:pt x="5" y="18"/>
                    <a:pt x="5" y="18"/>
                  </a:cubicBezTo>
                  <a:cubicBezTo>
                    <a:pt x="5" y="20"/>
                    <a:pt x="6" y="21"/>
                    <a:pt x="6" y="22"/>
                  </a:cubicBezTo>
                  <a:cubicBezTo>
                    <a:pt x="7" y="22"/>
                    <a:pt x="8" y="23"/>
                    <a:pt x="10" y="23"/>
                  </a:cubicBezTo>
                  <a:cubicBezTo>
                    <a:pt x="11" y="23"/>
                    <a:pt x="12" y="22"/>
                    <a:pt x="13" y="21"/>
                  </a:cubicBezTo>
                  <a:cubicBezTo>
                    <a:pt x="13" y="21"/>
                    <a:pt x="14" y="20"/>
                    <a:pt x="14" y="19"/>
                  </a:cubicBezTo>
                  <a:cubicBezTo>
                    <a:pt x="14" y="18"/>
                    <a:pt x="13" y="18"/>
                    <a:pt x="13" y="17"/>
                  </a:cubicBezTo>
                  <a:cubicBezTo>
                    <a:pt x="13" y="17"/>
                    <a:pt x="12" y="17"/>
                    <a:pt x="11" y="16"/>
                  </a:cubicBezTo>
                  <a:cubicBezTo>
                    <a:pt x="11" y="16"/>
                    <a:pt x="10" y="16"/>
                    <a:pt x="8" y="15"/>
                  </a:cubicBezTo>
                  <a:cubicBezTo>
                    <a:pt x="5" y="15"/>
                    <a:pt x="4" y="14"/>
                    <a:pt x="3" y="13"/>
                  </a:cubicBezTo>
                  <a:cubicBezTo>
                    <a:pt x="1" y="12"/>
                    <a:pt x="1" y="10"/>
                    <a:pt x="0" y="8"/>
                  </a:cubicBezTo>
                  <a:cubicBezTo>
                    <a:pt x="0" y="7"/>
                    <a:pt x="1" y="6"/>
                    <a:pt x="1" y="5"/>
                  </a:cubicBezTo>
                  <a:cubicBezTo>
                    <a:pt x="2" y="3"/>
                    <a:pt x="3" y="2"/>
                    <a:pt x="4" y="2"/>
                  </a:cubicBezTo>
                  <a:cubicBezTo>
                    <a:pt x="5" y="1"/>
                    <a:pt x="6" y="1"/>
                    <a:pt x="8" y="1"/>
                  </a:cubicBezTo>
                  <a:cubicBezTo>
                    <a:pt x="11" y="0"/>
                    <a:pt x="13" y="1"/>
                    <a:pt x="14" y="2"/>
                  </a:cubicBezTo>
                  <a:cubicBezTo>
                    <a:pt x="16" y="4"/>
                    <a:pt x="17" y="6"/>
                    <a:pt x="17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2" y="7"/>
                    <a:pt x="12" y="6"/>
                    <a:pt x="11" y="6"/>
                  </a:cubicBezTo>
                  <a:cubicBezTo>
                    <a:pt x="10" y="5"/>
                    <a:pt x="9" y="5"/>
                    <a:pt x="8" y="5"/>
                  </a:cubicBezTo>
                  <a:cubicBezTo>
                    <a:pt x="7" y="5"/>
                    <a:pt x="6" y="5"/>
                    <a:pt x="5" y="6"/>
                  </a:cubicBezTo>
                  <a:cubicBezTo>
                    <a:pt x="5" y="6"/>
                    <a:pt x="5" y="7"/>
                    <a:pt x="5" y="8"/>
                  </a:cubicBezTo>
                  <a:cubicBezTo>
                    <a:pt x="5" y="8"/>
                    <a:pt x="5" y="9"/>
                    <a:pt x="5" y="9"/>
                  </a:cubicBezTo>
                  <a:cubicBezTo>
                    <a:pt x="6" y="10"/>
                    <a:pt x="7" y="10"/>
                    <a:pt x="10" y="11"/>
                  </a:cubicBezTo>
                  <a:cubicBezTo>
                    <a:pt x="12" y="11"/>
                    <a:pt x="13" y="12"/>
                    <a:pt x="14" y="12"/>
                  </a:cubicBezTo>
                  <a:cubicBezTo>
                    <a:pt x="15" y="13"/>
                    <a:pt x="16" y="14"/>
                    <a:pt x="17" y="15"/>
                  </a:cubicBezTo>
                  <a:cubicBezTo>
                    <a:pt x="18" y="16"/>
                    <a:pt x="18" y="17"/>
                    <a:pt x="18" y="19"/>
                  </a:cubicBezTo>
                  <a:cubicBezTo>
                    <a:pt x="18" y="20"/>
                    <a:pt x="18" y="21"/>
                    <a:pt x="17" y="23"/>
                  </a:cubicBezTo>
                  <a:cubicBezTo>
                    <a:pt x="17" y="24"/>
                    <a:pt x="16" y="25"/>
                    <a:pt x="14" y="26"/>
                  </a:cubicBezTo>
                  <a:cubicBezTo>
                    <a:pt x="13" y="26"/>
                    <a:pt x="12" y="27"/>
                    <a:pt x="10" y="27"/>
                  </a:cubicBezTo>
                  <a:cubicBezTo>
                    <a:pt x="7" y="27"/>
                    <a:pt x="5" y="27"/>
                    <a:pt x="3" y="25"/>
                  </a:cubicBezTo>
                  <a:cubicBezTo>
                    <a:pt x="2" y="24"/>
                    <a:pt x="1" y="22"/>
                    <a:pt x="0" y="19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6" name="ïṥlíḓê">
              <a:extLst>
                <a:ext uri="{FF2B5EF4-FFF2-40B4-BE49-F238E27FC236}">
                  <a16:creationId xmlns:a16="http://schemas.microsoft.com/office/drawing/2014/main" id="{C4D79308-07D4-4619-AD52-15E2DB368814}"/>
                </a:ext>
              </a:extLst>
            </p:cNvPr>
            <p:cNvSpPr/>
            <p:nvPr/>
          </p:nvSpPr>
          <p:spPr bwMode="auto">
            <a:xfrm>
              <a:off x="3052763" y="4143376"/>
              <a:ext cx="73025" cy="96838"/>
            </a:xfrm>
            <a:custGeom>
              <a:avLst/>
              <a:gdLst>
                <a:gd name="T0" fmla="*/ 16 w 20"/>
                <a:gd name="T1" fmla="*/ 16 h 27"/>
                <a:gd name="T2" fmla="*/ 20 w 20"/>
                <a:gd name="T3" fmla="*/ 17 h 27"/>
                <a:gd name="T4" fmla="*/ 18 w 20"/>
                <a:gd name="T5" fmla="*/ 24 h 27"/>
                <a:gd name="T6" fmla="*/ 13 w 20"/>
                <a:gd name="T7" fmla="*/ 26 h 27"/>
                <a:gd name="T8" fmla="*/ 5 w 20"/>
                <a:gd name="T9" fmla="*/ 24 h 27"/>
                <a:gd name="T10" fmla="*/ 1 w 20"/>
                <a:gd name="T11" fmla="*/ 15 h 27"/>
                <a:gd name="T12" fmla="*/ 2 w 20"/>
                <a:gd name="T13" fmla="*/ 5 h 27"/>
                <a:gd name="T14" fmla="*/ 9 w 20"/>
                <a:gd name="T15" fmla="*/ 0 h 27"/>
                <a:gd name="T16" fmla="*/ 16 w 20"/>
                <a:gd name="T17" fmla="*/ 2 h 27"/>
                <a:gd name="T18" fmla="*/ 19 w 20"/>
                <a:gd name="T19" fmla="*/ 6 h 27"/>
                <a:gd name="T20" fmla="*/ 14 w 20"/>
                <a:gd name="T21" fmla="*/ 8 h 27"/>
                <a:gd name="T22" fmla="*/ 12 w 20"/>
                <a:gd name="T23" fmla="*/ 5 h 27"/>
                <a:gd name="T24" fmla="*/ 9 w 20"/>
                <a:gd name="T25" fmla="*/ 5 h 27"/>
                <a:gd name="T26" fmla="*/ 6 w 20"/>
                <a:gd name="T27" fmla="*/ 7 h 27"/>
                <a:gd name="T28" fmla="*/ 5 w 20"/>
                <a:gd name="T29" fmla="*/ 14 h 27"/>
                <a:gd name="T30" fmla="*/ 8 w 20"/>
                <a:gd name="T31" fmla="*/ 21 h 27"/>
                <a:gd name="T32" fmla="*/ 12 w 20"/>
                <a:gd name="T33" fmla="*/ 22 h 27"/>
                <a:gd name="T34" fmla="*/ 15 w 20"/>
                <a:gd name="T35" fmla="*/ 20 h 27"/>
                <a:gd name="T36" fmla="*/ 16 w 20"/>
                <a:gd name="T37" fmla="*/ 16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0" h="27">
                  <a:moveTo>
                    <a:pt x="16" y="16"/>
                  </a:moveTo>
                  <a:cubicBezTo>
                    <a:pt x="20" y="17"/>
                    <a:pt x="20" y="17"/>
                    <a:pt x="20" y="17"/>
                  </a:cubicBezTo>
                  <a:cubicBezTo>
                    <a:pt x="20" y="20"/>
                    <a:pt x="19" y="22"/>
                    <a:pt x="18" y="24"/>
                  </a:cubicBezTo>
                  <a:cubicBezTo>
                    <a:pt x="17" y="25"/>
                    <a:pt x="15" y="26"/>
                    <a:pt x="13" y="26"/>
                  </a:cubicBezTo>
                  <a:cubicBezTo>
                    <a:pt x="10" y="27"/>
                    <a:pt x="7" y="26"/>
                    <a:pt x="5" y="24"/>
                  </a:cubicBezTo>
                  <a:cubicBezTo>
                    <a:pt x="3" y="22"/>
                    <a:pt x="2" y="19"/>
                    <a:pt x="1" y="15"/>
                  </a:cubicBezTo>
                  <a:cubicBezTo>
                    <a:pt x="0" y="11"/>
                    <a:pt x="1" y="8"/>
                    <a:pt x="2" y="5"/>
                  </a:cubicBezTo>
                  <a:cubicBezTo>
                    <a:pt x="4" y="2"/>
                    <a:pt x="6" y="1"/>
                    <a:pt x="9" y="0"/>
                  </a:cubicBezTo>
                  <a:cubicBezTo>
                    <a:pt x="11" y="0"/>
                    <a:pt x="14" y="0"/>
                    <a:pt x="16" y="2"/>
                  </a:cubicBezTo>
                  <a:cubicBezTo>
                    <a:pt x="17" y="3"/>
                    <a:pt x="18" y="4"/>
                    <a:pt x="19" y="6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7"/>
                    <a:pt x="13" y="6"/>
                    <a:pt x="12" y="5"/>
                  </a:cubicBezTo>
                  <a:cubicBezTo>
                    <a:pt x="11" y="5"/>
                    <a:pt x="10" y="5"/>
                    <a:pt x="9" y="5"/>
                  </a:cubicBezTo>
                  <a:cubicBezTo>
                    <a:pt x="8" y="5"/>
                    <a:pt x="6" y="6"/>
                    <a:pt x="6" y="7"/>
                  </a:cubicBezTo>
                  <a:cubicBezTo>
                    <a:pt x="5" y="9"/>
                    <a:pt x="5" y="11"/>
                    <a:pt x="5" y="14"/>
                  </a:cubicBezTo>
                  <a:cubicBezTo>
                    <a:pt x="6" y="17"/>
                    <a:pt x="7" y="19"/>
                    <a:pt x="8" y="21"/>
                  </a:cubicBezTo>
                  <a:cubicBezTo>
                    <a:pt x="9" y="22"/>
                    <a:pt x="10" y="22"/>
                    <a:pt x="12" y="22"/>
                  </a:cubicBezTo>
                  <a:cubicBezTo>
                    <a:pt x="13" y="22"/>
                    <a:pt x="14" y="21"/>
                    <a:pt x="15" y="20"/>
                  </a:cubicBezTo>
                  <a:cubicBezTo>
                    <a:pt x="15" y="19"/>
                    <a:pt x="16" y="18"/>
                    <a:pt x="16" y="16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7" name="îṧḷíḍé">
              <a:extLst>
                <a:ext uri="{FF2B5EF4-FFF2-40B4-BE49-F238E27FC236}">
                  <a16:creationId xmlns:a16="http://schemas.microsoft.com/office/drawing/2014/main" id="{3CD0E4FF-8ACD-4ADC-8A90-F400193F5867}"/>
                </a:ext>
              </a:extLst>
            </p:cNvPr>
            <p:cNvSpPr/>
            <p:nvPr/>
          </p:nvSpPr>
          <p:spPr bwMode="auto">
            <a:xfrm>
              <a:off x="3125788" y="4135438"/>
              <a:ext cx="34925" cy="90488"/>
            </a:xfrm>
            <a:custGeom>
              <a:avLst/>
              <a:gdLst>
                <a:gd name="T0" fmla="*/ 13 w 22"/>
                <a:gd name="T1" fmla="*/ 57 h 57"/>
                <a:gd name="T2" fmla="*/ 0 w 22"/>
                <a:gd name="T3" fmla="*/ 2 h 57"/>
                <a:gd name="T4" fmla="*/ 11 w 22"/>
                <a:gd name="T5" fmla="*/ 0 h 57"/>
                <a:gd name="T6" fmla="*/ 22 w 22"/>
                <a:gd name="T7" fmla="*/ 55 h 57"/>
                <a:gd name="T8" fmla="*/ 13 w 22"/>
                <a:gd name="T9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57">
                  <a:moveTo>
                    <a:pt x="13" y="57"/>
                  </a:moveTo>
                  <a:lnTo>
                    <a:pt x="0" y="2"/>
                  </a:lnTo>
                  <a:lnTo>
                    <a:pt x="11" y="0"/>
                  </a:lnTo>
                  <a:lnTo>
                    <a:pt x="22" y="55"/>
                  </a:lnTo>
                  <a:lnTo>
                    <a:pt x="13" y="57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8" name="îṩḻïďè">
              <a:extLst>
                <a:ext uri="{FF2B5EF4-FFF2-40B4-BE49-F238E27FC236}">
                  <a16:creationId xmlns:a16="http://schemas.microsoft.com/office/drawing/2014/main" id="{2239A582-C160-4F8A-9171-28ED5B53FF01}"/>
                </a:ext>
              </a:extLst>
            </p:cNvPr>
            <p:cNvSpPr/>
            <p:nvPr/>
          </p:nvSpPr>
          <p:spPr bwMode="auto">
            <a:xfrm>
              <a:off x="3154363" y="4113213"/>
              <a:ext cx="82550" cy="106363"/>
            </a:xfrm>
            <a:custGeom>
              <a:avLst/>
              <a:gdLst>
                <a:gd name="T0" fmla="*/ 18 w 52"/>
                <a:gd name="T1" fmla="*/ 67 h 67"/>
                <a:gd name="T2" fmla="*/ 0 w 52"/>
                <a:gd name="T3" fmla="*/ 12 h 67"/>
                <a:gd name="T4" fmla="*/ 34 w 52"/>
                <a:gd name="T5" fmla="*/ 0 h 67"/>
                <a:gd name="T6" fmla="*/ 38 w 52"/>
                <a:gd name="T7" fmla="*/ 10 h 67"/>
                <a:gd name="T8" fmla="*/ 11 w 52"/>
                <a:gd name="T9" fmla="*/ 19 h 67"/>
                <a:gd name="T10" fmla="*/ 16 w 52"/>
                <a:gd name="T11" fmla="*/ 30 h 67"/>
                <a:gd name="T12" fmla="*/ 38 w 52"/>
                <a:gd name="T13" fmla="*/ 23 h 67"/>
                <a:gd name="T14" fmla="*/ 43 w 52"/>
                <a:gd name="T15" fmla="*/ 32 h 67"/>
                <a:gd name="T16" fmla="*/ 18 w 52"/>
                <a:gd name="T17" fmla="*/ 39 h 67"/>
                <a:gd name="T18" fmla="*/ 22 w 52"/>
                <a:gd name="T19" fmla="*/ 55 h 67"/>
                <a:gd name="T20" fmla="*/ 50 w 52"/>
                <a:gd name="T21" fmla="*/ 46 h 67"/>
                <a:gd name="T22" fmla="*/ 52 w 52"/>
                <a:gd name="T23" fmla="*/ 55 h 67"/>
                <a:gd name="T24" fmla="*/ 18 w 52"/>
                <a:gd name="T25" fmla="*/ 6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2" h="67">
                  <a:moveTo>
                    <a:pt x="18" y="67"/>
                  </a:moveTo>
                  <a:lnTo>
                    <a:pt x="0" y="12"/>
                  </a:lnTo>
                  <a:lnTo>
                    <a:pt x="34" y="0"/>
                  </a:lnTo>
                  <a:lnTo>
                    <a:pt x="38" y="10"/>
                  </a:lnTo>
                  <a:lnTo>
                    <a:pt x="11" y="19"/>
                  </a:lnTo>
                  <a:lnTo>
                    <a:pt x="16" y="30"/>
                  </a:lnTo>
                  <a:lnTo>
                    <a:pt x="38" y="23"/>
                  </a:lnTo>
                  <a:lnTo>
                    <a:pt x="43" y="32"/>
                  </a:lnTo>
                  <a:lnTo>
                    <a:pt x="18" y="39"/>
                  </a:lnTo>
                  <a:lnTo>
                    <a:pt x="22" y="55"/>
                  </a:lnTo>
                  <a:lnTo>
                    <a:pt x="50" y="46"/>
                  </a:lnTo>
                  <a:lnTo>
                    <a:pt x="52" y="55"/>
                  </a:lnTo>
                  <a:lnTo>
                    <a:pt x="18" y="67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9" name="ïşļídé">
              <a:extLst>
                <a:ext uri="{FF2B5EF4-FFF2-40B4-BE49-F238E27FC236}">
                  <a16:creationId xmlns:a16="http://schemas.microsoft.com/office/drawing/2014/main" id="{F9E1A4AC-4845-4AC7-ABB5-B3608AC39082}"/>
                </a:ext>
              </a:extLst>
            </p:cNvPr>
            <p:cNvSpPr/>
            <p:nvPr/>
          </p:nvSpPr>
          <p:spPr bwMode="auto">
            <a:xfrm>
              <a:off x="3219450" y="4084638"/>
              <a:ext cx="93663" cy="109538"/>
            </a:xfrm>
            <a:custGeom>
              <a:avLst/>
              <a:gdLst>
                <a:gd name="T0" fmla="*/ 22 w 59"/>
                <a:gd name="T1" fmla="*/ 69 h 69"/>
                <a:gd name="T2" fmla="*/ 0 w 59"/>
                <a:gd name="T3" fmla="*/ 16 h 69"/>
                <a:gd name="T4" fmla="*/ 9 w 59"/>
                <a:gd name="T5" fmla="*/ 12 h 69"/>
                <a:gd name="T6" fmla="*/ 43 w 59"/>
                <a:gd name="T7" fmla="*/ 39 h 69"/>
                <a:gd name="T8" fmla="*/ 27 w 59"/>
                <a:gd name="T9" fmla="*/ 5 h 69"/>
                <a:gd name="T10" fmla="*/ 36 w 59"/>
                <a:gd name="T11" fmla="*/ 0 h 69"/>
                <a:gd name="T12" fmla="*/ 59 w 59"/>
                <a:gd name="T13" fmla="*/ 55 h 69"/>
                <a:gd name="T14" fmla="*/ 50 w 59"/>
                <a:gd name="T15" fmla="*/ 57 h 69"/>
                <a:gd name="T16" fmla="*/ 16 w 59"/>
                <a:gd name="T17" fmla="*/ 30 h 69"/>
                <a:gd name="T18" fmla="*/ 31 w 59"/>
                <a:gd name="T19" fmla="*/ 66 h 69"/>
                <a:gd name="T20" fmla="*/ 22 w 59"/>
                <a:gd name="T21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69">
                  <a:moveTo>
                    <a:pt x="22" y="69"/>
                  </a:moveTo>
                  <a:lnTo>
                    <a:pt x="0" y="16"/>
                  </a:lnTo>
                  <a:lnTo>
                    <a:pt x="9" y="12"/>
                  </a:lnTo>
                  <a:lnTo>
                    <a:pt x="43" y="39"/>
                  </a:lnTo>
                  <a:lnTo>
                    <a:pt x="27" y="5"/>
                  </a:lnTo>
                  <a:lnTo>
                    <a:pt x="36" y="0"/>
                  </a:lnTo>
                  <a:lnTo>
                    <a:pt x="59" y="55"/>
                  </a:lnTo>
                  <a:lnTo>
                    <a:pt x="50" y="57"/>
                  </a:lnTo>
                  <a:lnTo>
                    <a:pt x="16" y="30"/>
                  </a:lnTo>
                  <a:lnTo>
                    <a:pt x="31" y="66"/>
                  </a:lnTo>
                  <a:lnTo>
                    <a:pt x="22" y="69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0" name="iṧḻíďe">
              <a:extLst>
                <a:ext uri="{FF2B5EF4-FFF2-40B4-BE49-F238E27FC236}">
                  <a16:creationId xmlns:a16="http://schemas.microsoft.com/office/drawing/2014/main" id="{E16CEF24-85BF-4C1F-BDFE-30D782A5318E}"/>
                </a:ext>
              </a:extLst>
            </p:cNvPr>
            <p:cNvSpPr/>
            <p:nvPr/>
          </p:nvSpPr>
          <p:spPr bwMode="auto">
            <a:xfrm>
              <a:off x="3298825" y="4056063"/>
              <a:ext cx="82550" cy="93663"/>
            </a:xfrm>
            <a:custGeom>
              <a:avLst/>
              <a:gdLst>
                <a:gd name="T0" fmla="*/ 17 w 23"/>
                <a:gd name="T1" fmla="*/ 14 h 26"/>
                <a:gd name="T2" fmla="*/ 22 w 23"/>
                <a:gd name="T3" fmla="*/ 13 h 26"/>
                <a:gd name="T4" fmla="*/ 22 w 23"/>
                <a:gd name="T5" fmla="*/ 20 h 26"/>
                <a:gd name="T6" fmla="*/ 18 w 23"/>
                <a:gd name="T7" fmla="*/ 25 h 26"/>
                <a:gd name="T8" fmla="*/ 10 w 23"/>
                <a:gd name="T9" fmla="*/ 25 h 26"/>
                <a:gd name="T10" fmla="*/ 3 w 23"/>
                <a:gd name="T11" fmla="*/ 18 h 26"/>
                <a:gd name="T12" fmla="*/ 1 w 23"/>
                <a:gd name="T13" fmla="*/ 8 h 26"/>
                <a:gd name="T14" fmla="*/ 5 w 23"/>
                <a:gd name="T15" fmla="*/ 2 h 26"/>
                <a:gd name="T16" fmla="*/ 12 w 23"/>
                <a:gd name="T17" fmla="*/ 1 h 26"/>
                <a:gd name="T18" fmla="*/ 17 w 23"/>
                <a:gd name="T19" fmla="*/ 4 h 26"/>
                <a:gd name="T20" fmla="*/ 13 w 23"/>
                <a:gd name="T21" fmla="*/ 7 h 26"/>
                <a:gd name="T22" fmla="*/ 10 w 23"/>
                <a:gd name="T23" fmla="*/ 5 h 26"/>
                <a:gd name="T24" fmla="*/ 7 w 23"/>
                <a:gd name="T25" fmla="*/ 6 h 26"/>
                <a:gd name="T26" fmla="*/ 5 w 23"/>
                <a:gd name="T27" fmla="*/ 9 h 26"/>
                <a:gd name="T28" fmla="*/ 7 w 23"/>
                <a:gd name="T29" fmla="*/ 16 h 26"/>
                <a:gd name="T30" fmla="*/ 11 w 23"/>
                <a:gd name="T31" fmla="*/ 21 h 26"/>
                <a:gd name="T32" fmla="*/ 16 w 23"/>
                <a:gd name="T33" fmla="*/ 21 h 26"/>
                <a:gd name="T34" fmla="*/ 18 w 23"/>
                <a:gd name="T35" fmla="*/ 18 h 26"/>
                <a:gd name="T36" fmla="*/ 17 w 23"/>
                <a:gd name="T37" fmla="*/ 14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" h="26">
                  <a:moveTo>
                    <a:pt x="17" y="14"/>
                  </a:moveTo>
                  <a:cubicBezTo>
                    <a:pt x="22" y="13"/>
                    <a:pt x="22" y="13"/>
                    <a:pt x="22" y="13"/>
                  </a:cubicBezTo>
                  <a:cubicBezTo>
                    <a:pt x="23" y="16"/>
                    <a:pt x="23" y="18"/>
                    <a:pt x="22" y="20"/>
                  </a:cubicBezTo>
                  <a:cubicBezTo>
                    <a:pt x="21" y="22"/>
                    <a:pt x="20" y="24"/>
                    <a:pt x="18" y="25"/>
                  </a:cubicBezTo>
                  <a:cubicBezTo>
                    <a:pt x="15" y="26"/>
                    <a:pt x="13" y="26"/>
                    <a:pt x="10" y="25"/>
                  </a:cubicBezTo>
                  <a:cubicBezTo>
                    <a:pt x="7" y="24"/>
                    <a:pt x="5" y="22"/>
                    <a:pt x="3" y="18"/>
                  </a:cubicBezTo>
                  <a:cubicBezTo>
                    <a:pt x="1" y="15"/>
                    <a:pt x="0" y="11"/>
                    <a:pt x="1" y="8"/>
                  </a:cubicBezTo>
                  <a:cubicBezTo>
                    <a:pt x="1" y="5"/>
                    <a:pt x="3" y="3"/>
                    <a:pt x="5" y="2"/>
                  </a:cubicBezTo>
                  <a:cubicBezTo>
                    <a:pt x="8" y="0"/>
                    <a:pt x="10" y="0"/>
                    <a:pt x="12" y="1"/>
                  </a:cubicBezTo>
                  <a:cubicBezTo>
                    <a:pt x="14" y="1"/>
                    <a:pt x="15" y="2"/>
                    <a:pt x="17" y="4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2" y="6"/>
                    <a:pt x="11" y="5"/>
                    <a:pt x="10" y="5"/>
                  </a:cubicBezTo>
                  <a:cubicBezTo>
                    <a:pt x="9" y="5"/>
                    <a:pt x="8" y="5"/>
                    <a:pt x="7" y="6"/>
                  </a:cubicBezTo>
                  <a:cubicBezTo>
                    <a:pt x="6" y="6"/>
                    <a:pt x="5" y="8"/>
                    <a:pt x="5" y="9"/>
                  </a:cubicBezTo>
                  <a:cubicBezTo>
                    <a:pt x="5" y="11"/>
                    <a:pt x="5" y="13"/>
                    <a:pt x="7" y="16"/>
                  </a:cubicBezTo>
                  <a:cubicBezTo>
                    <a:pt x="8" y="19"/>
                    <a:pt x="10" y="20"/>
                    <a:pt x="11" y="21"/>
                  </a:cubicBezTo>
                  <a:cubicBezTo>
                    <a:pt x="13" y="22"/>
                    <a:pt x="14" y="22"/>
                    <a:pt x="16" y="21"/>
                  </a:cubicBezTo>
                  <a:cubicBezTo>
                    <a:pt x="17" y="20"/>
                    <a:pt x="17" y="20"/>
                    <a:pt x="18" y="18"/>
                  </a:cubicBezTo>
                  <a:cubicBezTo>
                    <a:pt x="18" y="17"/>
                    <a:pt x="18" y="16"/>
                    <a:pt x="17" y="14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1" name="ïSlïḓé">
              <a:extLst>
                <a:ext uri="{FF2B5EF4-FFF2-40B4-BE49-F238E27FC236}">
                  <a16:creationId xmlns:a16="http://schemas.microsoft.com/office/drawing/2014/main" id="{E5A1E6C7-56F5-4158-ACE3-D66BC5887352}"/>
                </a:ext>
              </a:extLst>
            </p:cNvPr>
            <p:cNvSpPr/>
            <p:nvPr/>
          </p:nvSpPr>
          <p:spPr bwMode="auto">
            <a:xfrm>
              <a:off x="3352800" y="4008438"/>
              <a:ext cx="104775" cy="109538"/>
            </a:xfrm>
            <a:custGeom>
              <a:avLst/>
              <a:gdLst>
                <a:gd name="T0" fmla="*/ 34 w 66"/>
                <a:gd name="T1" fmla="*/ 69 h 69"/>
                <a:gd name="T2" fmla="*/ 0 w 66"/>
                <a:gd name="T3" fmla="*/ 21 h 69"/>
                <a:gd name="T4" fmla="*/ 31 w 66"/>
                <a:gd name="T5" fmla="*/ 0 h 69"/>
                <a:gd name="T6" fmla="*/ 36 w 66"/>
                <a:gd name="T7" fmla="*/ 9 h 69"/>
                <a:gd name="T8" fmla="*/ 16 w 66"/>
                <a:gd name="T9" fmla="*/ 23 h 69"/>
                <a:gd name="T10" fmla="*/ 22 w 66"/>
                <a:gd name="T11" fmla="*/ 35 h 69"/>
                <a:gd name="T12" fmla="*/ 43 w 66"/>
                <a:gd name="T13" fmla="*/ 21 h 69"/>
                <a:gd name="T14" fmla="*/ 47 w 66"/>
                <a:gd name="T15" fmla="*/ 28 h 69"/>
                <a:gd name="T16" fmla="*/ 27 w 66"/>
                <a:gd name="T17" fmla="*/ 44 h 69"/>
                <a:gd name="T18" fmla="*/ 36 w 66"/>
                <a:gd name="T19" fmla="*/ 55 h 69"/>
                <a:gd name="T20" fmla="*/ 59 w 66"/>
                <a:gd name="T21" fmla="*/ 39 h 69"/>
                <a:gd name="T22" fmla="*/ 66 w 66"/>
                <a:gd name="T23" fmla="*/ 48 h 69"/>
                <a:gd name="T24" fmla="*/ 34 w 66"/>
                <a:gd name="T25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6" h="69">
                  <a:moveTo>
                    <a:pt x="34" y="69"/>
                  </a:moveTo>
                  <a:lnTo>
                    <a:pt x="0" y="21"/>
                  </a:lnTo>
                  <a:lnTo>
                    <a:pt x="31" y="0"/>
                  </a:lnTo>
                  <a:lnTo>
                    <a:pt x="36" y="9"/>
                  </a:lnTo>
                  <a:lnTo>
                    <a:pt x="16" y="23"/>
                  </a:lnTo>
                  <a:lnTo>
                    <a:pt x="22" y="35"/>
                  </a:lnTo>
                  <a:lnTo>
                    <a:pt x="43" y="21"/>
                  </a:lnTo>
                  <a:lnTo>
                    <a:pt x="47" y="28"/>
                  </a:lnTo>
                  <a:lnTo>
                    <a:pt x="27" y="44"/>
                  </a:lnTo>
                  <a:lnTo>
                    <a:pt x="36" y="55"/>
                  </a:lnTo>
                  <a:lnTo>
                    <a:pt x="59" y="39"/>
                  </a:lnTo>
                  <a:lnTo>
                    <a:pt x="66" y="48"/>
                  </a:lnTo>
                  <a:lnTo>
                    <a:pt x="34" y="69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2" name="išľîḑé">
              <a:extLst>
                <a:ext uri="{FF2B5EF4-FFF2-40B4-BE49-F238E27FC236}">
                  <a16:creationId xmlns:a16="http://schemas.microsoft.com/office/drawing/2014/main" id="{4CC0C176-791F-4AAA-A774-C8766B49EDCC}"/>
                </a:ext>
              </a:extLst>
            </p:cNvPr>
            <p:cNvSpPr/>
            <p:nvPr/>
          </p:nvSpPr>
          <p:spPr bwMode="auto">
            <a:xfrm>
              <a:off x="3446463" y="3957638"/>
              <a:ext cx="93663" cy="87313"/>
            </a:xfrm>
            <a:custGeom>
              <a:avLst/>
              <a:gdLst>
                <a:gd name="T0" fmla="*/ 26 w 26"/>
                <a:gd name="T1" fmla="*/ 11 h 24"/>
                <a:gd name="T2" fmla="*/ 26 w 26"/>
                <a:gd name="T3" fmla="*/ 15 h 24"/>
                <a:gd name="T4" fmla="*/ 22 w 26"/>
                <a:gd name="T5" fmla="*/ 15 h 24"/>
                <a:gd name="T6" fmla="*/ 21 w 26"/>
                <a:gd name="T7" fmla="*/ 19 h 24"/>
                <a:gd name="T8" fmla="*/ 19 w 26"/>
                <a:gd name="T9" fmla="*/ 22 h 24"/>
                <a:gd name="T10" fmla="*/ 13 w 26"/>
                <a:gd name="T11" fmla="*/ 24 h 24"/>
                <a:gd name="T12" fmla="*/ 8 w 26"/>
                <a:gd name="T13" fmla="*/ 21 h 24"/>
                <a:gd name="T14" fmla="*/ 6 w 26"/>
                <a:gd name="T15" fmla="*/ 17 h 24"/>
                <a:gd name="T16" fmla="*/ 7 w 26"/>
                <a:gd name="T17" fmla="*/ 12 h 24"/>
                <a:gd name="T18" fmla="*/ 3 w 26"/>
                <a:gd name="T19" fmla="*/ 11 h 24"/>
                <a:gd name="T20" fmla="*/ 1 w 26"/>
                <a:gd name="T21" fmla="*/ 10 h 24"/>
                <a:gd name="T22" fmla="*/ 0 w 26"/>
                <a:gd name="T23" fmla="*/ 6 h 24"/>
                <a:gd name="T24" fmla="*/ 2 w 26"/>
                <a:gd name="T25" fmla="*/ 1 h 24"/>
                <a:gd name="T26" fmla="*/ 6 w 26"/>
                <a:gd name="T27" fmla="*/ 0 h 24"/>
                <a:gd name="T28" fmla="*/ 10 w 26"/>
                <a:gd name="T29" fmla="*/ 2 h 24"/>
                <a:gd name="T30" fmla="*/ 12 w 26"/>
                <a:gd name="T31" fmla="*/ 4 h 24"/>
                <a:gd name="T32" fmla="*/ 11 w 26"/>
                <a:gd name="T33" fmla="*/ 9 h 24"/>
                <a:gd name="T34" fmla="*/ 17 w 26"/>
                <a:gd name="T35" fmla="*/ 10 h 24"/>
                <a:gd name="T36" fmla="*/ 16 w 26"/>
                <a:gd name="T37" fmla="*/ 7 h 24"/>
                <a:gd name="T38" fmla="*/ 19 w 26"/>
                <a:gd name="T39" fmla="*/ 6 h 24"/>
                <a:gd name="T40" fmla="*/ 21 w 26"/>
                <a:gd name="T41" fmla="*/ 9 h 24"/>
                <a:gd name="T42" fmla="*/ 21 w 26"/>
                <a:gd name="T43" fmla="*/ 11 h 24"/>
                <a:gd name="T44" fmla="*/ 24 w 26"/>
                <a:gd name="T45" fmla="*/ 11 h 24"/>
                <a:gd name="T46" fmla="*/ 26 w 26"/>
                <a:gd name="T47" fmla="*/ 11 h 24"/>
                <a:gd name="T48" fmla="*/ 8 w 26"/>
                <a:gd name="T49" fmla="*/ 8 h 24"/>
                <a:gd name="T50" fmla="*/ 8 w 26"/>
                <a:gd name="T51" fmla="*/ 7 h 24"/>
                <a:gd name="T52" fmla="*/ 7 w 26"/>
                <a:gd name="T53" fmla="*/ 4 h 24"/>
                <a:gd name="T54" fmla="*/ 6 w 26"/>
                <a:gd name="T55" fmla="*/ 3 h 24"/>
                <a:gd name="T56" fmla="*/ 4 w 26"/>
                <a:gd name="T57" fmla="*/ 4 h 24"/>
                <a:gd name="T58" fmla="*/ 4 w 26"/>
                <a:gd name="T59" fmla="*/ 5 h 24"/>
                <a:gd name="T60" fmla="*/ 4 w 26"/>
                <a:gd name="T61" fmla="*/ 7 h 24"/>
                <a:gd name="T62" fmla="*/ 6 w 26"/>
                <a:gd name="T63" fmla="*/ 8 h 24"/>
                <a:gd name="T64" fmla="*/ 8 w 26"/>
                <a:gd name="T65" fmla="*/ 8 h 24"/>
                <a:gd name="T66" fmla="*/ 10 w 26"/>
                <a:gd name="T67" fmla="*/ 13 h 24"/>
                <a:gd name="T68" fmla="*/ 10 w 26"/>
                <a:gd name="T69" fmla="*/ 16 h 24"/>
                <a:gd name="T70" fmla="*/ 11 w 26"/>
                <a:gd name="T71" fmla="*/ 18 h 24"/>
                <a:gd name="T72" fmla="*/ 14 w 26"/>
                <a:gd name="T73" fmla="*/ 20 h 24"/>
                <a:gd name="T74" fmla="*/ 16 w 26"/>
                <a:gd name="T75" fmla="*/ 19 h 24"/>
                <a:gd name="T76" fmla="*/ 17 w 26"/>
                <a:gd name="T77" fmla="*/ 17 h 24"/>
                <a:gd name="T78" fmla="*/ 18 w 26"/>
                <a:gd name="T79" fmla="*/ 15 h 24"/>
                <a:gd name="T80" fmla="*/ 10 w 26"/>
                <a:gd name="T81" fmla="*/ 1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6" h="24">
                  <a:moveTo>
                    <a:pt x="26" y="11"/>
                  </a:moveTo>
                  <a:cubicBezTo>
                    <a:pt x="26" y="15"/>
                    <a:pt x="26" y="15"/>
                    <a:pt x="26" y="15"/>
                  </a:cubicBezTo>
                  <a:cubicBezTo>
                    <a:pt x="25" y="15"/>
                    <a:pt x="23" y="15"/>
                    <a:pt x="22" y="15"/>
                  </a:cubicBezTo>
                  <a:cubicBezTo>
                    <a:pt x="22" y="17"/>
                    <a:pt x="22" y="18"/>
                    <a:pt x="21" y="19"/>
                  </a:cubicBezTo>
                  <a:cubicBezTo>
                    <a:pt x="21" y="20"/>
                    <a:pt x="20" y="21"/>
                    <a:pt x="19" y="22"/>
                  </a:cubicBezTo>
                  <a:cubicBezTo>
                    <a:pt x="17" y="23"/>
                    <a:pt x="15" y="24"/>
                    <a:pt x="13" y="24"/>
                  </a:cubicBezTo>
                  <a:cubicBezTo>
                    <a:pt x="11" y="23"/>
                    <a:pt x="10" y="23"/>
                    <a:pt x="8" y="21"/>
                  </a:cubicBezTo>
                  <a:cubicBezTo>
                    <a:pt x="7" y="20"/>
                    <a:pt x="7" y="19"/>
                    <a:pt x="6" y="17"/>
                  </a:cubicBezTo>
                  <a:cubicBezTo>
                    <a:pt x="6" y="16"/>
                    <a:pt x="6" y="14"/>
                    <a:pt x="7" y="12"/>
                  </a:cubicBezTo>
                  <a:cubicBezTo>
                    <a:pt x="5" y="12"/>
                    <a:pt x="4" y="12"/>
                    <a:pt x="3" y="11"/>
                  </a:cubicBezTo>
                  <a:cubicBezTo>
                    <a:pt x="3" y="11"/>
                    <a:pt x="2" y="10"/>
                    <a:pt x="1" y="10"/>
                  </a:cubicBezTo>
                  <a:cubicBezTo>
                    <a:pt x="0" y="9"/>
                    <a:pt x="0" y="7"/>
                    <a:pt x="0" y="6"/>
                  </a:cubicBezTo>
                  <a:cubicBezTo>
                    <a:pt x="0" y="4"/>
                    <a:pt x="0" y="3"/>
                    <a:pt x="2" y="1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9" y="0"/>
                    <a:pt x="10" y="2"/>
                  </a:cubicBezTo>
                  <a:cubicBezTo>
                    <a:pt x="11" y="2"/>
                    <a:pt x="11" y="3"/>
                    <a:pt x="12" y="4"/>
                  </a:cubicBezTo>
                  <a:cubicBezTo>
                    <a:pt x="12" y="5"/>
                    <a:pt x="12" y="7"/>
                    <a:pt x="11" y="9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17" y="9"/>
                    <a:pt x="16" y="9"/>
                    <a:pt x="16" y="7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20" y="7"/>
                    <a:pt x="20" y="8"/>
                    <a:pt x="21" y="9"/>
                  </a:cubicBezTo>
                  <a:cubicBezTo>
                    <a:pt x="21" y="10"/>
                    <a:pt x="21" y="10"/>
                    <a:pt x="21" y="11"/>
                  </a:cubicBezTo>
                  <a:cubicBezTo>
                    <a:pt x="22" y="11"/>
                    <a:pt x="23" y="11"/>
                    <a:pt x="24" y="11"/>
                  </a:cubicBezTo>
                  <a:cubicBezTo>
                    <a:pt x="25" y="11"/>
                    <a:pt x="25" y="11"/>
                    <a:pt x="26" y="11"/>
                  </a:cubicBezTo>
                  <a:close/>
                  <a:moveTo>
                    <a:pt x="8" y="8"/>
                  </a:moveTo>
                  <a:cubicBezTo>
                    <a:pt x="8" y="7"/>
                    <a:pt x="8" y="7"/>
                    <a:pt x="8" y="7"/>
                  </a:cubicBezTo>
                  <a:cubicBezTo>
                    <a:pt x="8" y="5"/>
                    <a:pt x="8" y="5"/>
                    <a:pt x="7" y="4"/>
                  </a:cubicBezTo>
                  <a:cubicBezTo>
                    <a:pt x="7" y="4"/>
                    <a:pt x="7" y="3"/>
                    <a:pt x="6" y="3"/>
                  </a:cubicBezTo>
                  <a:cubicBezTo>
                    <a:pt x="5" y="3"/>
                    <a:pt x="5" y="3"/>
                    <a:pt x="4" y="4"/>
                  </a:cubicBezTo>
                  <a:cubicBezTo>
                    <a:pt x="4" y="4"/>
                    <a:pt x="4" y="5"/>
                    <a:pt x="4" y="5"/>
                  </a:cubicBezTo>
                  <a:cubicBezTo>
                    <a:pt x="4" y="6"/>
                    <a:pt x="4" y="6"/>
                    <a:pt x="4" y="7"/>
                  </a:cubicBezTo>
                  <a:cubicBezTo>
                    <a:pt x="4" y="7"/>
                    <a:pt x="5" y="8"/>
                    <a:pt x="6" y="8"/>
                  </a:cubicBezTo>
                  <a:lnTo>
                    <a:pt x="8" y="8"/>
                  </a:lnTo>
                  <a:close/>
                  <a:moveTo>
                    <a:pt x="10" y="13"/>
                  </a:moveTo>
                  <a:cubicBezTo>
                    <a:pt x="10" y="14"/>
                    <a:pt x="10" y="15"/>
                    <a:pt x="10" y="16"/>
                  </a:cubicBezTo>
                  <a:cubicBezTo>
                    <a:pt x="10" y="17"/>
                    <a:pt x="11" y="18"/>
                    <a:pt x="11" y="18"/>
                  </a:cubicBezTo>
                  <a:cubicBezTo>
                    <a:pt x="12" y="19"/>
                    <a:pt x="13" y="20"/>
                    <a:pt x="14" y="20"/>
                  </a:cubicBezTo>
                  <a:cubicBezTo>
                    <a:pt x="15" y="20"/>
                    <a:pt x="15" y="19"/>
                    <a:pt x="16" y="19"/>
                  </a:cubicBezTo>
                  <a:cubicBezTo>
                    <a:pt x="17" y="18"/>
                    <a:pt x="17" y="18"/>
                    <a:pt x="17" y="17"/>
                  </a:cubicBezTo>
                  <a:cubicBezTo>
                    <a:pt x="17" y="17"/>
                    <a:pt x="18" y="16"/>
                    <a:pt x="18" y="15"/>
                  </a:cubicBezTo>
                  <a:lnTo>
                    <a:pt x="10" y="13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3" name="îṥḻîďè">
              <a:extLst>
                <a:ext uri="{FF2B5EF4-FFF2-40B4-BE49-F238E27FC236}">
                  <a16:creationId xmlns:a16="http://schemas.microsoft.com/office/drawing/2014/main" id="{B151BD1B-C67D-4E09-B86B-2EAF8414BA0A}"/>
                </a:ext>
              </a:extLst>
            </p:cNvPr>
            <p:cNvSpPr/>
            <p:nvPr/>
          </p:nvSpPr>
          <p:spPr bwMode="auto">
            <a:xfrm>
              <a:off x="3503613" y="3867151"/>
              <a:ext cx="96838" cy="87313"/>
            </a:xfrm>
            <a:custGeom>
              <a:avLst/>
              <a:gdLst>
                <a:gd name="T0" fmla="*/ 55 w 61"/>
                <a:gd name="T1" fmla="*/ 55 h 55"/>
                <a:gd name="T2" fmla="*/ 16 w 61"/>
                <a:gd name="T3" fmla="*/ 25 h 55"/>
                <a:gd name="T4" fmla="*/ 7 w 61"/>
                <a:gd name="T5" fmla="*/ 37 h 55"/>
                <a:gd name="T6" fmla="*/ 0 w 61"/>
                <a:gd name="T7" fmla="*/ 30 h 55"/>
                <a:gd name="T8" fmla="*/ 25 w 61"/>
                <a:gd name="T9" fmla="*/ 0 h 55"/>
                <a:gd name="T10" fmla="*/ 32 w 61"/>
                <a:gd name="T11" fmla="*/ 5 h 55"/>
                <a:gd name="T12" fmla="*/ 23 w 61"/>
                <a:gd name="T13" fmla="*/ 16 h 55"/>
                <a:gd name="T14" fmla="*/ 61 w 61"/>
                <a:gd name="T15" fmla="*/ 48 h 55"/>
                <a:gd name="T16" fmla="*/ 55 w 61"/>
                <a:gd name="T17" fmla="*/ 5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" h="55">
                  <a:moveTo>
                    <a:pt x="55" y="55"/>
                  </a:moveTo>
                  <a:lnTo>
                    <a:pt x="16" y="25"/>
                  </a:lnTo>
                  <a:lnTo>
                    <a:pt x="7" y="37"/>
                  </a:lnTo>
                  <a:lnTo>
                    <a:pt x="0" y="30"/>
                  </a:lnTo>
                  <a:lnTo>
                    <a:pt x="25" y="0"/>
                  </a:lnTo>
                  <a:lnTo>
                    <a:pt x="32" y="5"/>
                  </a:lnTo>
                  <a:lnTo>
                    <a:pt x="23" y="16"/>
                  </a:lnTo>
                  <a:lnTo>
                    <a:pt x="61" y="48"/>
                  </a:lnTo>
                  <a:lnTo>
                    <a:pt x="55" y="55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4" name="i$líḋé">
              <a:extLst>
                <a:ext uri="{FF2B5EF4-FFF2-40B4-BE49-F238E27FC236}">
                  <a16:creationId xmlns:a16="http://schemas.microsoft.com/office/drawing/2014/main" id="{2D3B3C12-275E-43C0-A5C8-A633229C41EC}"/>
                </a:ext>
              </a:extLst>
            </p:cNvPr>
            <p:cNvSpPr/>
            <p:nvPr/>
          </p:nvSpPr>
          <p:spPr bwMode="auto">
            <a:xfrm>
              <a:off x="3546475" y="3813176"/>
              <a:ext cx="109538" cy="101600"/>
            </a:xfrm>
            <a:custGeom>
              <a:avLst/>
              <a:gdLst>
                <a:gd name="T0" fmla="*/ 48 w 69"/>
                <a:gd name="T1" fmla="*/ 64 h 64"/>
                <a:gd name="T2" fmla="*/ 0 w 69"/>
                <a:gd name="T3" fmla="*/ 30 h 64"/>
                <a:gd name="T4" fmla="*/ 21 w 69"/>
                <a:gd name="T5" fmla="*/ 0 h 64"/>
                <a:gd name="T6" fmla="*/ 30 w 69"/>
                <a:gd name="T7" fmla="*/ 5 h 64"/>
                <a:gd name="T8" fmla="*/ 14 w 69"/>
                <a:gd name="T9" fmla="*/ 27 h 64"/>
                <a:gd name="T10" fmla="*/ 25 w 69"/>
                <a:gd name="T11" fmla="*/ 34 h 64"/>
                <a:gd name="T12" fmla="*/ 39 w 69"/>
                <a:gd name="T13" fmla="*/ 14 h 64"/>
                <a:gd name="T14" fmla="*/ 46 w 69"/>
                <a:gd name="T15" fmla="*/ 21 h 64"/>
                <a:gd name="T16" fmla="*/ 32 w 69"/>
                <a:gd name="T17" fmla="*/ 41 h 64"/>
                <a:gd name="T18" fmla="*/ 46 w 69"/>
                <a:gd name="T19" fmla="*/ 50 h 64"/>
                <a:gd name="T20" fmla="*/ 62 w 69"/>
                <a:gd name="T21" fmla="*/ 25 h 64"/>
                <a:gd name="T22" fmla="*/ 69 w 69"/>
                <a:gd name="T23" fmla="*/ 32 h 64"/>
                <a:gd name="T24" fmla="*/ 48 w 69"/>
                <a:gd name="T25" fmla="*/ 6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9" h="64">
                  <a:moveTo>
                    <a:pt x="48" y="64"/>
                  </a:moveTo>
                  <a:lnTo>
                    <a:pt x="0" y="30"/>
                  </a:lnTo>
                  <a:lnTo>
                    <a:pt x="21" y="0"/>
                  </a:lnTo>
                  <a:lnTo>
                    <a:pt x="30" y="5"/>
                  </a:lnTo>
                  <a:lnTo>
                    <a:pt x="14" y="27"/>
                  </a:lnTo>
                  <a:lnTo>
                    <a:pt x="25" y="34"/>
                  </a:lnTo>
                  <a:lnTo>
                    <a:pt x="39" y="14"/>
                  </a:lnTo>
                  <a:lnTo>
                    <a:pt x="46" y="21"/>
                  </a:lnTo>
                  <a:lnTo>
                    <a:pt x="32" y="41"/>
                  </a:lnTo>
                  <a:lnTo>
                    <a:pt x="46" y="50"/>
                  </a:lnTo>
                  <a:lnTo>
                    <a:pt x="62" y="25"/>
                  </a:lnTo>
                  <a:lnTo>
                    <a:pt x="69" y="32"/>
                  </a:lnTo>
                  <a:lnTo>
                    <a:pt x="48" y="64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5" name="iṡľîḋê">
              <a:extLst>
                <a:ext uri="{FF2B5EF4-FFF2-40B4-BE49-F238E27FC236}">
                  <a16:creationId xmlns:a16="http://schemas.microsoft.com/office/drawing/2014/main" id="{FB9F5C41-17F3-4C0A-88AB-97565D7D7635}"/>
                </a:ext>
              </a:extLst>
            </p:cNvPr>
            <p:cNvSpPr/>
            <p:nvPr/>
          </p:nvSpPr>
          <p:spPr bwMode="auto">
            <a:xfrm>
              <a:off x="3594100" y="3754438"/>
              <a:ext cx="93663" cy="84138"/>
            </a:xfrm>
            <a:custGeom>
              <a:avLst/>
              <a:gdLst>
                <a:gd name="T0" fmla="*/ 19 w 26"/>
                <a:gd name="T1" fmla="*/ 9 h 23"/>
                <a:gd name="T2" fmla="*/ 22 w 26"/>
                <a:gd name="T3" fmla="*/ 6 h 23"/>
                <a:gd name="T4" fmla="*/ 26 w 26"/>
                <a:gd name="T5" fmla="*/ 12 h 23"/>
                <a:gd name="T6" fmla="*/ 25 w 26"/>
                <a:gd name="T7" fmla="*/ 18 h 23"/>
                <a:gd name="T8" fmla="*/ 19 w 26"/>
                <a:gd name="T9" fmla="*/ 22 h 23"/>
                <a:gd name="T10" fmla="*/ 9 w 26"/>
                <a:gd name="T11" fmla="*/ 20 h 23"/>
                <a:gd name="T12" fmla="*/ 1 w 26"/>
                <a:gd name="T13" fmla="*/ 13 h 23"/>
                <a:gd name="T14" fmla="*/ 2 w 26"/>
                <a:gd name="T15" fmla="*/ 5 h 23"/>
                <a:gd name="T16" fmla="*/ 7 w 26"/>
                <a:gd name="T17" fmla="*/ 0 h 23"/>
                <a:gd name="T18" fmla="*/ 13 w 26"/>
                <a:gd name="T19" fmla="*/ 1 h 23"/>
                <a:gd name="T20" fmla="*/ 12 w 26"/>
                <a:gd name="T21" fmla="*/ 5 h 23"/>
                <a:gd name="T22" fmla="*/ 8 w 26"/>
                <a:gd name="T23" fmla="*/ 5 h 23"/>
                <a:gd name="T24" fmla="*/ 6 w 26"/>
                <a:gd name="T25" fmla="*/ 7 h 23"/>
                <a:gd name="T26" fmla="*/ 6 w 26"/>
                <a:gd name="T27" fmla="*/ 11 h 23"/>
                <a:gd name="T28" fmla="*/ 11 w 26"/>
                <a:gd name="T29" fmla="*/ 16 h 23"/>
                <a:gd name="T30" fmla="*/ 17 w 26"/>
                <a:gd name="T31" fmla="*/ 18 h 23"/>
                <a:gd name="T32" fmla="*/ 21 w 26"/>
                <a:gd name="T33" fmla="*/ 16 h 23"/>
                <a:gd name="T34" fmla="*/ 21 w 26"/>
                <a:gd name="T35" fmla="*/ 12 h 23"/>
                <a:gd name="T36" fmla="*/ 19 w 26"/>
                <a:gd name="T37" fmla="*/ 9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6" h="23">
                  <a:moveTo>
                    <a:pt x="19" y="9"/>
                  </a:moveTo>
                  <a:cubicBezTo>
                    <a:pt x="22" y="6"/>
                    <a:pt x="22" y="6"/>
                    <a:pt x="22" y="6"/>
                  </a:cubicBezTo>
                  <a:cubicBezTo>
                    <a:pt x="24" y="8"/>
                    <a:pt x="25" y="10"/>
                    <a:pt x="26" y="12"/>
                  </a:cubicBezTo>
                  <a:cubicBezTo>
                    <a:pt x="26" y="14"/>
                    <a:pt x="26" y="16"/>
                    <a:pt x="25" y="18"/>
                  </a:cubicBezTo>
                  <a:cubicBezTo>
                    <a:pt x="24" y="20"/>
                    <a:pt x="21" y="22"/>
                    <a:pt x="19" y="22"/>
                  </a:cubicBezTo>
                  <a:cubicBezTo>
                    <a:pt x="16" y="23"/>
                    <a:pt x="12" y="22"/>
                    <a:pt x="9" y="20"/>
                  </a:cubicBezTo>
                  <a:cubicBezTo>
                    <a:pt x="5" y="18"/>
                    <a:pt x="3" y="16"/>
                    <a:pt x="1" y="13"/>
                  </a:cubicBezTo>
                  <a:cubicBezTo>
                    <a:pt x="0" y="10"/>
                    <a:pt x="0" y="7"/>
                    <a:pt x="2" y="5"/>
                  </a:cubicBezTo>
                  <a:cubicBezTo>
                    <a:pt x="3" y="2"/>
                    <a:pt x="5" y="1"/>
                    <a:pt x="7" y="0"/>
                  </a:cubicBezTo>
                  <a:cubicBezTo>
                    <a:pt x="9" y="0"/>
                    <a:pt x="11" y="0"/>
                    <a:pt x="13" y="1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0" y="5"/>
                    <a:pt x="9" y="5"/>
                    <a:pt x="8" y="5"/>
                  </a:cubicBezTo>
                  <a:cubicBezTo>
                    <a:pt x="7" y="5"/>
                    <a:pt x="6" y="6"/>
                    <a:pt x="6" y="7"/>
                  </a:cubicBezTo>
                  <a:cubicBezTo>
                    <a:pt x="5" y="8"/>
                    <a:pt x="5" y="10"/>
                    <a:pt x="6" y="11"/>
                  </a:cubicBezTo>
                  <a:cubicBezTo>
                    <a:pt x="6" y="13"/>
                    <a:pt x="8" y="15"/>
                    <a:pt x="11" y="16"/>
                  </a:cubicBezTo>
                  <a:cubicBezTo>
                    <a:pt x="13" y="17"/>
                    <a:pt x="16" y="18"/>
                    <a:pt x="17" y="18"/>
                  </a:cubicBezTo>
                  <a:cubicBezTo>
                    <a:pt x="19" y="18"/>
                    <a:pt x="20" y="17"/>
                    <a:pt x="21" y="16"/>
                  </a:cubicBezTo>
                  <a:cubicBezTo>
                    <a:pt x="22" y="15"/>
                    <a:pt x="22" y="13"/>
                    <a:pt x="21" y="12"/>
                  </a:cubicBezTo>
                  <a:cubicBezTo>
                    <a:pt x="21" y="11"/>
                    <a:pt x="20" y="10"/>
                    <a:pt x="19" y="9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6" name="ïśḷîḍè">
              <a:extLst>
                <a:ext uri="{FF2B5EF4-FFF2-40B4-BE49-F238E27FC236}">
                  <a16:creationId xmlns:a16="http://schemas.microsoft.com/office/drawing/2014/main" id="{8736062F-8ED9-4E47-8C83-E31E42F7AB43}"/>
                </a:ext>
              </a:extLst>
            </p:cNvPr>
            <p:cNvSpPr/>
            <p:nvPr/>
          </p:nvSpPr>
          <p:spPr bwMode="auto">
            <a:xfrm>
              <a:off x="3622675" y="3679826"/>
              <a:ext cx="107950" cy="93663"/>
            </a:xfrm>
            <a:custGeom>
              <a:avLst/>
              <a:gdLst>
                <a:gd name="T0" fmla="*/ 52 w 68"/>
                <a:gd name="T1" fmla="*/ 59 h 59"/>
                <a:gd name="T2" fmla="*/ 0 w 68"/>
                <a:gd name="T3" fmla="*/ 36 h 59"/>
                <a:gd name="T4" fmla="*/ 2 w 68"/>
                <a:gd name="T5" fmla="*/ 27 h 59"/>
                <a:gd name="T6" fmla="*/ 23 w 68"/>
                <a:gd name="T7" fmla="*/ 36 h 59"/>
                <a:gd name="T8" fmla="*/ 32 w 68"/>
                <a:gd name="T9" fmla="*/ 18 h 59"/>
                <a:gd name="T10" fmla="*/ 9 w 68"/>
                <a:gd name="T11" fmla="*/ 9 h 59"/>
                <a:gd name="T12" fmla="*/ 14 w 68"/>
                <a:gd name="T13" fmla="*/ 0 h 59"/>
                <a:gd name="T14" fmla="*/ 68 w 68"/>
                <a:gd name="T15" fmla="*/ 22 h 59"/>
                <a:gd name="T16" fmla="*/ 64 w 68"/>
                <a:gd name="T17" fmla="*/ 32 h 59"/>
                <a:gd name="T18" fmla="*/ 41 w 68"/>
                <a:gd name="T19" fmla="*/ 20 h 59"/>
                <a:gd name="T20" fmla="*/ 32 w 68"/>
                <a:gd name="T21" fmla="*/ 38 h 59"/>
                <a:gd name="T22" fmla="*/ 57 w 68"/>
                <a:gd name="T23" fmla="*/ 50 h 59"/>
                <a:gd name="T24" fmla="*/ 52 w 68"/>
                <a:gd name="T25" fmla="*/ 5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8" h="59">
                  <a:moveTo>
                    <a:pt x="52" y="59"/>
                  </a:moveTo>
                  <a:lnTo>
                    <a:pt x="0" y="36"/>
                  </a:lnTo>
                  <a:lnTo>
                    <a:pt x="2" y="27"/>
                  </a:lnTo>
                  <a:lnTo>
                    <a:pt x="23" y="36"/>
                  </a:lnTo>
                  <a:lnTo>
                    <a:pt x="32" y="18"/>
                  </a:lnTo>
                  <a:lnTo>
                    <a:pt x="9" y="9"/>
                  </a:lnTo>
                  <a:lnTo>
                    <a:pt x="14" y="0"/>
                  </a:lnTo>
                  <a:lnTo>
                    <a:pt x="68" y="22"/>
                  </a:lnTo>
                  <a:lnTo>
                    <a:pt x="64" y="32"/>
                  </a:lnTo>
                  <a:lnTo>
                    <a:pt x="41" y="20"/>
                  </a:lnTo>
                  <a:lnTo>
                    <a:pt x="32" y="38"/>
                  </a:lnTo>
                  <a:lnTo>
                    <a:pt x="57" y="50"/>
                  </a:lnTo>
                  <a:lnTo>
                    <a:pt x="52" y="59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7" name="íṣļíḓe">
              <a:extLst>
                <a:ext uri="{FF2B5EF4-FFF2-40B4-BE49-F238E27FC236}">
                  <a16:creationId xmlns:a16="http://schemas.microsoft.com/office/drawing/2014/main" id="{B42652D7-331D-4417-B73B-609D37FACE55}"/>
                </a:ext>
              </a:extLst>
            </p:cNvPr>
            <p:cNvSpPr/>
            <p:nvPr/>
          </p:nvSpPr>
          <p:spPr bwMode="auto">
            <a:xfrm>
              <a:off x="3648075" y="3606801"/>
              <a:ext cx="107950" cy="87313"/>
            </a:xfrm>
            <a:custGeom>
              <a:avLst/>
              <a:gdLst>
                <a:gd name="T0" fmla="*/ 57 w 68"/>
                <a:gd name="T1" fmla="*/ 55 h 55"/>
                <a:gd name="T2" fmla="*/ 0 w 68"/>
                <a:gd name="T3" fmla="*/ 36 h 55"/>
                <a:gd name="T4" fmla="*/ 2 w 68"/>
                <a:gd name="T5" fmla="*/ 27 h 55"/>
                <a:gd name="T6" fmla="*/ 45 w 68"/>
                <a:gd name="T7" fmla="*/ 20 h 55"/>
                <a:gd name="T8" fmla="*/ 9 w 68"/>
                <a:gd name="T9" fmla="*/ 9 h 55"/>
                <a:gd name="T10" fmla="*/ 11 w 68"/>
                <a:gd name="T11" fmla="*/ 0 h 55"/>
                <a:gd name="T12" fmla="*/ 68 w 68"/>
                <a:gd name="T13" fmla="*/ 16 h 55"/>
                <a:gd name="T14" fmla="*/ 64 w 68"/>
                <a:gd name="T15" fmla="*/ 25 h 55"/>
                <a:gd name="T16" fmla="*/ 23 w 68"/>
                <a:gd name="T17" fmla="*/ 34 h 55"/>
                <a:gd name="T18" fmla="*/ 59 w 68"/>
                <a:gd name="T19" fmla="*/ 46 h 55"/>
                <a:gd name="T20" fmla="*/ 57 w 68"/>
                <a:gd name="T21" fmla="*/ 5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8" h="55">
                  <a:moveTo>
                    <a:pt x="57" y="55"/>
                  </a:moveTo>
                  <a:lnTo>
                    <a:pt x="0" y="36"/>
                  </a:lnTo>
                  <a:lnTo>
                    <a:pt x="2" y="27"/>
                  </a:lnTo>
                  <a:lnTo>
                    <a:pt x="45" y="20"/>
                  </a:lnTo>
                  <a:lnTo>
                    <a:pt x="9" y="9"/>
                  </a:lnTo>
                  <a:lnTo>
                    <a:pt x="11" y="0"/>
                  </a:lnTo>
                  <a:lnTo>
                    <a:pt x="68" y="16"/>
                  </a:lnTo>
                  <a:lnTo>
                    <a:pt x="64" y="25"/>
                  </a:lnTo>
                  <a:lnTo>
                    <a:pt x="23" y="34"/>
                  </a:lnTo>
                  <a:lnTo>
                    <a:pt x="59" y="46"/>
                  </a:lnTo>
                  <a:lnTo>
                    <a:pt x="57" y="55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8" name="ïslïḓé">
              <a:extLst>
                <a:ext uri="{FF2B5EF4-FFF2-40B4-BE49-F238E27FC236}">
                  <a16:creationId xmlns:a16="http://schemas.microsoft.com/office/drawing/2014/main" id="{6C03B68B-1B98-4918-8B5C-6515C7D2FD60}"/>
                </a:ext>
              </a:extLst>
            </p:cNvPr>
            <p:cNvSpPr/>
            <p:nvPr/>
          </p:nvSpPr>
          <p:spPr bwMode="auto">
            <a:xfrm>
              <a:off x="3673475" y="3527426"/>
              <a:ext cx="96838" cy="79375"/>
            </a:xfrm>
            <a:custGeom>
              <a:avLst/>
              <a:gdLst>
                <a:gd name="T0" fmla="*/ 12 w 27"/>
                <a:gd name="T1" fmla="*/ 22 h 22"/>
                <a:gd name="T2" fmla="*/ 5 w 27"/>
                <a:gd name="T3" fmla="*/ 20 h 22"/>
                <a:gd name="T4" fmla="*/ 2 w 27"/>
                <a:gd name="T5" fmla="*/ 17 h 22"/>
                <a:gd name="T6" fmla="*/ 0 w 27"/>
                <a:gd name="T7" fmla="*/ 14 h 22"/>
                <a:gd name="T8" fmla="*/ 0 w 27"/>
                <a:gd name="T9" fmla="*/ 9 h 22"/>
                <a:gd name="T10" fmla="*/ 5 w 27"/>
                <a:gd name="T11" fmla="*/ 2 h 22"/>
                <a:gd name="T12" fmla="*/ 15 w 27"/>
                <a:gd name="T13" fmla="*/ 1 h 22"/>
                <a:gd name="T14" fmla="*/ 24 w 27"/>
                <a:gd name="T15" fmla="*/ 5 h 22"/>
                <a:gd name="T16" fmla="*/ 26 w 27"/>
                <a:gd name="T17" fmla="*/ 14 h 22"/>
                <a:gd name="T18" fmla="*/ 21 w 27"/>
                <a:gd name="T19" fmla="*/ 21 h 22"/>
                <a:gd name="T20" fmla="*/ 12 w 27"/>
                <a:gd name="T21" fmla="*/ 22 h 22"/>
                <a:gd name="T22" fmla="*/ 12 w 27"/>
                <a:gd name="T23" fmla="*/ 17 h 22"/>
                <a:gd name="T24" fmla="*/ 19 w 27"/>
                <a:gd name="T25" fmla="*/ 17 h 22"/>
                <a:gd name="T26" fmla="*/ 22 w 27"/>
                <a:gd name="T27" fmla="*/ 13 h 22"/>
                <a:gd name="T28" fmla="*/ 21 w 27"/>
                <a:gd name="T29" fmla="*/ 8 h 22"/>
                <a:gd name="T30" fmla="*/ 14 w 27"/>
                <a:gd name="T31" fmla="*/ 5 h 22"/>
                <a:gd name="T32" fmla="*/ 8 w 27"/>
                <a:gd name="T33" fmla="*/ 6 h 22"/>
                <a:gd name="T34" fmla="*/ 5 w 27"/>
                <a:gd name="T35" fmla="*/ 10 h 22"/>
                <a:gd name="T36" fmla="*/ 6 w 27"/>
                <a:gd name="T37" fmla="*/ 14 h 22"/>
                <a:gd name="T38" fmla="*/ 12 w 27"/>
                <a:gd name="T39" fmla="*/ 17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7" h="22">
                  <a:moveTo>
                    <a:pt x="12" y="22"/>
                  </a:moveTo>
                  <a:cubicBezTo>
                    <a:pt x="9" y="21"/>
                    <a:pt x="7" y="21"/>
                    <a:pt x="5" y="20"/>
                  </a:cubicBezTo>
                  <a:cubicBezTo>
                    <a:pt x="4" y="19"/>
                    <a:pt x="3" y="18"/>
                    <a:pt x="2" y="17"/>
                  </a:cubicBezTo>
                  <a:cubicBezTo>
                    <a:pt x="1" y="16"/>
                    <a:pt x="1" y="15"/>
                    <a:pt x="0" y="14"/>
                  </a:cubicBezTo>
                  <a:cubicBezTo>
                    <a:pt x="0" y="12"/>
                    <a:pt x="0" y="11"/>
                    <a:pt x="0" y="9"/>
                  </a:cubicBezTo>
                  <a:cubicBezTo>
                    <a:pt x="1" y="6"/>
                    <a:pt x="2" y="4"/>
                    <a:pt x="5" y="2"/>
                  </a:cubicBezTo>
                  <a:cubicBezTo>
                    <a:pt x="8" y="1"/>
                    <a:pt x="11" y="0"/>
                    <a:pt x="15" y="1"/>
                  </a:cubicBezTo>
                  <a:cubicBezTo>
                    <a:pt x="19" y="2"/>
                    <a:pt x="22" y="3"/>
                    <a:pt x="24" y="5"/>
                  </a:cubicBezTo>
                  <a:cubicBezTo>
                    <a:pt x="26" y="8"/>
                    <a:pt x="27" y="10"/>
                    <a:pt x="26" y="14"/>
                  </a:cubicBezTo>
                  <a:cubicBezTo>
                    <a:pt x="26" y="17"/>
                    <a:pt x="24" y="19"/>
                    <a:pt x="21" y="21"/>
                  </a:cubicBezTo>
                  <a:cubicBezTo>
                    <a:pt x="19" y="22"/>
                    <a:pt x="16" y="22"/>
                    <a:pt x="12" y="22"/>
                  </a:cubicBezTo>
                  <a:close/>
                  <a:moveTo>
                    <a:pt x="12" y="17"/>
                  </a:moveTo>
                  <a:cubicBezTo>
                    <a:pt x="15" y="18"/>
                    <a:pt x="17" y="18"/>
                    <a:pt x="19" y="17"/>
                  </a:cubicBezTo>
                  <a:cubicBezTo>
                    <a:pt x="21" y="16"/>
                    <a:pt x="22" y="15"/>
                    <a:pt x="22" y="13"/>
                  </a:cubicBezTo>
                  <a:cubicBezTo>
                    <a:pt x="22" y="11"/>
                    <a:pt x="22" y="10"/>
                    <a:pt x="21" y="8"/>
                  </a:cubicBezTo>
                  <a:cubicBezTo>
                    <a:pt x="19" y="7"/>
                    <a:pt x="17" y="6"/>
                    <a:pt x="14" y="5"/>
                  </a:cubicBezTo>
                  <a:cubicBezTo>
                    <a:pt x="11" y="5"/>
                    <a:pt x="9" y="5"/>
                    <a:pt x="8" y="6"/>
                  </a:cubicBezTo>
                  <a:cubicBezTo>
                    <a:pt x="6" y="7"/>
                    <a:pt x="5" y="8"/>
                    <a:pt x="5" y="10"/>
                  </a:cubicBezTo>
                  <a:cubicBezTo>
                    <a:pt x="4" y="12"/>
                    <a:pt x="5" y="13"/>
                    <a:pt x="6" y="14"/>
                  </a:cubicBezTo>
                  <a:cubicBezTo>
                    <a:pt x="7" y="16"/>
                    <a:pt x="9" y="17"/>
                    <a:pt x="12" y="17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9" name="ïṣḻîḋé">
              <a:extLst>
                <a:ext uri="{FF2B5EF4-FFF2-40B4-BE49-F238E27FC236}">
                  <a16:creationId xmlns:a16="http://schemas.microsoft.com/office/drawing/2014/main" id="{72C420A4-1005-42BD-B7EB-24F9D62D1176}"/>
                </a:ext>
              </a:extLst>
            </p:cNvPr>
            <p:cNvSpPr/>
            <p:nvPr/>
          </p:nvSpPr>
          <p:spPr bwMode="auto">
            <a:xfrm>
              <a:off x="3684588" y="3465513"/>
              <a:ext cx="93663" cy="53975"/>
            </a:xfrm>
            <a:custGeom>
              <a:avLst/>
              <a:gdLst>
                <a:gd name="T0" fmla="*/ 57 w 59"/>
                <a:gd name="T1" fmla="*/ 34 h 34"/>
                <a:gd name="T2" fmla="*/ 0 w 59"/>
                <a:gd name="T3" fmla="*/ 30 h 34"/>
                <a:gd name="T4" fmla="*/ 0 w 59"/>
                <a:gd name="T5" fmla="*/ 20 h 34"/>
                <a:gd name="T6" fmla="*/ 47 w 59"/>
                <a:gd name="T7" fmla="*/ 23 h 34"/>
                <a:gd name="T8" fmla="*/ 50 w 59"/>
                <a:gd name="T9" fmla="*/ 0 h 34"/>
                <a:gd name="T10" fmla="*/ 59 w 59"/>
                <a:gd name="T11" fmla="*/ 0 h 34"/>
                <a:gd name="T12" fmla="*/ 57 w 59"/>
                <a:gd name="T13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9" h="34">
                  <a:moveTo>
                    <a:pt x="57" y="34"/>
                  </a:moveTo>
                  <a:lnTo>
                    <a:pt x="0" y="30"/>
                  </a:lnTo>
                  <a:lnTo>
                    <a:pt x="0" y="20"/>
                  </a:lnTo>
                  <a:lnTo>
                    <a:pt x="47" y="23"/>
                  </a:lnTo>
                  <a:lnTo>
                    <a:pt x="50" y="0"/>
                  </a:lnTo>
                  <a:lnTo>
                    <a:pt x="59" y="0"/>
                  </a:lnTo>
                  <a:lnTo>
                    <a:pt x="57" y="34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0" name="ïṥḷîḓè">
              <a:extLst>
                <a:ext uri="{FF2B5EF4-FFF2-40B4-BE49-F238E27FC236}">
                  <a16:creationId xmlns:a16="http://schemas.microsoft.com/office/drawing/2014/main" id="{C49A975A-0601-4D0E-B007-975850AD38F5}"/>
                </a:ext>
              </a:extLst>
            </p:cNvPr>
            <p:cNvSpPr/>
            <p:nvPr/>
          </p:nvSpPr>
          <p:spPr bwMode="auto">
            <a:xfrm>
              <a:off x="3684588" y="3375026"/>
              <a:ext cx="96838" cy="76200"/>
            </a:xfrm>
            <a:custGeom>
              <a:avLst/>
              <a:gdLst>
                <a:gd name="T0" fmla="*/ 14 w 27"/>
                <a:gd name="T1" fmla="*/ 21 h 21"/>
                <a:gd name="T2" fmla="*/ 7 w 27"/>
                <a:gd name="T3" fmla="*/ 21 h 21"/>
                <a:gd name="T4" fmla="*/ 4 w 27"/>
                <a:gd name="T5" fmla="*/ 19 h 21"/>
                <a:gd name="T6" fmla="*/ 2 w 27"/>
                <a:gd name="T7" fmla="*/ 16 h 21"/>
                <a:gd name="T8" fmla="*/ 0 w 27"/>
                <a:gd name="T9" fmla="*/ 11 h 21"/>
                <a:gd name="T10" fmla="*/ 4 w 27"/>
                <a:gd name="T11" fmla="*/ 3 h 21"/>
                <a:gd name="T12" fmla="*/ 13 w 27"/>
                <a:gd name="T13" fmla="*/ 0 h 21"/>
                <a:gd name="T14" fmla="*/ 23 w 27"/>
                <a:gd name="T15" fmla="*/ 3 h 21"/>
                <a:gd name="T16" fmla="*/ 27 w 27"/>
                <a:gd name="T17" fmla="*/ 11 h 21"/>
                <a:gd name="T18" fmla="*/ 24 w 27"/>
                <a:gd name="T19" fmla="*/ 18 h 21"/>
                <a:gd name="T20" fmla="*/ 14 w 27"/>
                <a:gd name="T21" fmla="*/ 21 h 21"/>
                <a:gd name="T22" fmla="*/ 14 w 27"/>
                <a:gd name="T23" fmla="*/ 17 h 21"/>
                <a:gd name="T24" fmla="*/ 20 w 27"/>
                <a:gd name="T25" fmla="*/ 15 h 21"/>
                <a:gd name="T26" fmla="*/ 22 w 27"/>
                <a:gd name="T27" fmla="*/ 11 h 21"/>
                <a:gd name="T28" fmla="*/ 20 w 27"/>
                <a:gd name="T29" fmla="*/ 6 h 21"/>
                <a:gd name="T30" fmla="*/ 13 w 27"/>
                <a:gd name="T31" fmla="*/ 5 h 21"/>
                <a:gd name="T32" fmla="*/ 7 w 27"/>
                <a:gd name="T33" fmla="*/ 7 h 21"/>
                <a:gd name="T34" fmla="*/ 5 w 27"/>
                <a:gd name="T35" fmla="*/ 11 h 21"/>
                <a:gd name="T36" fmla="*/ 7 w 27"/>
                <a:gd name="T37" fmla="*/ 15 h 21"/>
                <a:gd name="T38" fmla="*/ 14 w 27"/>
                <a:gd name="T39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7" h="21">
                  <a:moveTo>
                    <a:pt x="14" y="21"/>
                  </a:moveTo>
                  <a:cubicBezTo>
                    <a:pt x="11" y="21"/>
                    <a:pt x="9" y="21"/>
                    <a:pt x="7" y="21"/>
                  </a:cubicBezTo>
                  <a:cubicBezTo>
                    <a:pt x="6" y="20"/>
                    <a:pt x="5" y="19"/>
                    <a:pt x="4" y="19"/>
                  </a:cubicBezTo>
                  <a:cubicBezTo>
                    <a:pt x="3" y="18"/>
                    <a:pt x="2" y="17"/>
                    <a:pt x="2" y="16"/>
                  </a:cubicBezTo>
                  <a:cubicBezTo>
                    <a:pt x="1" y="15"/>
                    <a:pt x="0" y="13"/>
                    <a:pt x="0" y="11"/>
                  </a:cubicBezTo>
                  <a:cubicBezTo>
                    <a:pt x="0" y="8"/>
                    <a:pt x="1" y="5"/>
                    <a:pt x="4" y="3"/>
                  </a:cubicBezTo>
                  <a:cubicBezTo>
                    <a:pt x="6" y="1"/>
                    <a:pt x="9" y="0"/>
                    <a:pt x="13" y="0"/>
                  </a:cubicBezTo>
                  <a:cubicBezTo>
                    <a:pt x="18" y="0"/>
                    <a:pt x="21" y="1"/>
                    <a:pt x="23" y="3"/>
                  </a:cubicBezTo>
                  <a:cubicBezTo>
                    <a:pt x="26" y="5"/>
                    <a:pt x="27" y="7"/>
                    <a:pt x="27" y="11"/>
                  </a:cubicBezTo>
                  <a:cubicBezTo>
                    <a:pt x="27" y="14"/>
                    <a:pt x="26" y="16"/>
                    <a:pt x="24" y="18"/>
                  </a:cubicBezTo>
                  <a:cubicBezTo>
                    <a:pt x="21" y="20"/>
                    <a:pt x="18" y="21"/>
                    <a:pt x="14" y="21"/>
                  </a:cubicBezTo>
                  <a:close/>
                  <a:moveTo>
                    <a:pt x="14" y="17"/>
                  </a:moveTo>
                  <a:cubicBezTo>
                    <a:pt x="17" y="17"/>
                    <a:pt x="19" y="16"/>
                    <a:pt x="20" y="15"/>
                  </a:cubicBezTo>
                  <a:cubicBezTo>
                    <a:pt x="22" y="14"/>
                    <a:pt x="22" y="12"/>
                    <a:pt x="22" y="11"/>
                  </a:cubicBezTo>
                  <a:cubicBezTo>
                    <a:pt x="22" y="9"/>
                    <a:pt x="22" y="8"/>
                    <a:pt x="20" y="6"/>
                  </a:cubicBezTo>
                  <a:cubicBezTo>
                    <a:pt x="19" y="5"/>
                    <a:pt x="16" y="5"/>
                    <a:pt x="13" y="5"/>
                  </a:cubicBezTo>
                  <a:cubicBezTo>
                    <a:pt x="10" y="5"/>
                    <a:pt x="8" y="6"/>
                    <a:pt x="7" y="7"/>
                  </a:cubicBezTo>
                  <a:cubicBezTo>
                    <a:pt x="5" y="8"/>
                    <a:pt x="5" y="9"/>
                    <a:pt x="5" y="11"/>
                  </a:cubicBezTo>
                  <a:cubicBezTo>
                    <a:pt x="5" y="13"/>
                    <a:pt x="6" y="14"/>
                    <a:pt x="7" y="15"/>
                  </a:cubicBezTo>
                  <a:cubicBezTo>
                    <a:pt x="9" y="16"/>
                    <a:pt x="11" y="17"/>
                    <a:pt x="14" y="17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1" name="iṥḷíďè">
              <a:extLst>
                <a:ext uri="{FF2B5EF4-FFF2-40B4-BE49-F238E27FC236}">
                  <a16:creationId xmlns:a16="http://schemas.microsoft.com/office/drawing/2014/main" id="{0F1BB791-2CD7-434B-A26F-9D2FFB665FA5}"/>
                </a:ext>
              </a:extLst>
            </p:cNvPr>
            <p:cNvSpPr/>
            <p:nvPr/>
          </p:nvSpPr>
          <p:spPr bwMode="auto">
            <a:xfrm>
              <a:off x="3676650" y="3287713"/>
              <a:ext cx="98425" cy="79375"/>
            </a:xfrm>
            <a:custGeom>
              <a:avLst/>
              <a:gdLst>
                <a:gd name="T0" fmla="*/ 17 w 27"/>
                <a:gd name="T1" fmla="*/ 10 h 22"/>
                <a:gd name="T2" fmla="*/ 13 w 27"/>
                <a:gd name="T3" fmla="*/ 11 h 22"/>
                <a:gd name="T4" fmla="*/ 12 w 27"/>
                <a:gd name="T5" fmla="*/ 1 h 22"/>
                <a:gd name="T6" fmla="*/ 22 w 27"/>
                <a:gd name="T7" fmla="*/ 0 h 22"/>
                <a:gd name="T8" fmla="*/ 25 w 27"/>
                <a:gd name="T9" fmla="*/ 4 h 22"/>
                <a:gd name="T10" fmla="*/ 27 w 27"/>
                <a:gd name="T11" fmla="*/ 9 h 22"/>
                <a:gd name="T12" fmla="*/ 26 w 27"/>
                <a:gd name="T13" fmla="*/ 15 h 22"/>
                <a:gd name="T14" fmla="*/ 22 w 27"/>
                <a:gd name="T15" fmla="*/ 19 h 22"/>
                <a:gd name="T16" fmla="*/ 15 w 27"/>
                <a:gd name="T17" fmla="*/ 21 h 22"/>
                <a:gd name="T18" fmla="*/ 8 w 27"/>
                <a:gd name="T19" fmla="*/ 21 h 22"/>
                <a:gd name="T20" fmla="*/ 3 w 27"/>
                <a:gd name="T21" fmla="*/ 17 h 22"/>
                <a:gd name="T22" fmla="*/ 1 w 27"/>
                <a:gd name="T23" fmla="*/ 12 h 22"/>
                <a:gd name="T24" fmla="*/ 2 w 27"/>
                <a:gd name="T25" fmla="*/ 6 h 22"/>
                <a:gd name="T26" fmla="*/ 7 w 27"/>
                <a:gd name="T27" fmla="*/ 2 h 22"/>
                <a:gd name="T28" fmla="*/ 8 w 27"/>
                <a:gd name="T29" fmla="*/ 7 h 22"/>
                <a:gd name="T30" fmla="*/ 6 w 27"/>
                <a:gd name="T31" fmla="*/ 9 h 22"/>
                <a:gd name="T32" fmla="*/ 5 w 27"/>
                <a:gd name="T33" fmla="*/ 12 h 22"/>
                <a:gd name="T34" fmla="*/ 8 w 27"/>
                <a:gd name="T35" fmla="*/ 16 h 22"/>
                <a:gd name="T36" fmla="*/ 14 w 27"/>
                <a:gd name="T37" fmla="*/ 17 h 22"/>
                <a:gd name="T38" fmla="*/ 21 w 27"/>
                <a:gd name="T39" fmla="*/ 14 h 22"/>
                <a:gd name="T40" fmla="*/ 22 w 27"/>
                <a:gd name="T41" fmla="*/ 10 h 22"/>
                <a:gd name="T42" fmla="*/ 21 w 27"/>
                <a:gd name="T43" fmla="*/ 7 h 22"/>
                <a:gd name="T44" fmla="*/ 20 w 27"/>
                <a:gd name="T45" fmla="*/ 5 h 22"/>
                <a:gd name="T46" fmla="*/ 16 w 27"/>
                <a:gd name="T47" fmla="*/ 5 h 22"/>
                <a:gd name="T48" fmla="*/ 17 w 27"/>
                <a:gd name="T49" fmla="*/ 1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7" h="22">
                  <a:moveTo>
                    <a:pt x="17" y="10"/>
                  </a:moveTo>
                  <a:cubicBezTo>
                    <a:pt x="13" y="11"/>
                    <a:pt x="13" y="11"/>
                    <a:pt x="13" y="11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3" y="1"/>
                    <a:pt x="24" y="2"/>
                    <a:pt x="25" y="4"/>
                  </a:cubicBezTo>
                  <a:cubicBezTo>
                    <a:pt x="26" y="5"/>
                    <a:pt x="27" y="7"/>
                    <a:pt x="27" y="9"/>
                  </a:cubicBezTo>
                  <a:cubicBezTo>
                    <a:pt x="27" y="11"/>
                    <a:pt x="27" y="13"/>
                    <a:pt x="26" y="15"/>
                  </a:cubicBezTo>
                  <a:cubicBezTo>
                    <a:pt x="25" y="17"/>
                    <a:pt x="24" y="18"/>
                    <a:pt x="22" y="19"/>
                  </a:cubicBezTo>
                  <a:cubicBezTo>
                    <a:pt x="20" y="20"/>
                    <a:pt x="18" y="21"/>
                    <a:pt x="15" y="21"/>
                  </a:cubicBezTo>
                  <a:cubicBezTo>
                    <a:pt x="12" y="22"/>
                    <a:pt x="10" y="22"/>
                    <a:pt x="8" y="21"/>
                  </a:cubicBezTo>
                  <a:cubicBezTo>
                    <a:pt x="6" y="20"/>
                    <a:pt x="4" y="19"/>
                    <a:pt x="3" y="17"/>
                  </a:cubicBezTo>
                  <a:cubicBezTo>
                    <a:pt x="2" y="16"/>
                    <a:pt x="1" y="15"/>
                    <a:pt x="1" y="12"/>
                  </a:cubicBezTo>
                  <a:cubicBezTo>
                    <a:pt x="0" y="10"/>
                    <a:pt x="1" y="8"/>
                    <a:pt x="2" y="6"/>
                  </a:cubicBezTo>
                  <a:cubicBezTo>
                    <a:pt x="3" y="4"/>
                    <a:pt x="5" y="3"/>
                    <a:pt x="7" y="2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7" y="7"/>
                    <a:pt x="6" y="8"/>
                    <a:pt x="6" y="9"/>
                  </a:cubicBezTo>
                  <a:cubicBezTo>
                    <a:pt x="5" y="10"/>
                    <a:pt x="5" y="11"/>
                    <a:pt x="5" y="12"/>
                  </a:cubicBezTo>
                  <a:cubicBezTo>
                    <a:pt x="5" y="14"/>
                    <a:pt x="6" y="15"/>
                    <a:pt x="8" y="16"/>
                  </a:cubicBezTo>
                  <a:cubicBezTo>
                    <a:pt x="9" y="17"/>
                    <a:pt x="12" y="17"/>
                    <a:pt x="14" y="17"/>
                  </a:cubicBezTo>
                  <a:cubicBezTo>
                    <a:pt x="17" y="17"/>
                    <a:pt x="19" y="16"/>
                    <a:pt x="21" y="14"/>
                  </a:cubicBezTo>
                  <a:cubicBezTo>
                    <a:pt x="22" y="13"/>
                    <a:pt x="23" y="11"/>
                    <a:pt x="22" y="10"/>
                  </a:cubicBezTo>
                  <a:cubicBezTo>
                    <a:pt x="22" y="9"/>
                    <a:pt x="22" y="8"/>
                    <a:pt x="21" y="7"/>
                  </a:cubicBezTo>
                  <a:cubicBezTo>
                    <a:pt x="21" y="6"/>
                    <a:pt x="20" y="5"/>
                    <a:pt x="20" y="5"/>
                  </a:cubicBezTo>
                  <a:cubicBezTo>
                    <a:pt x="16" y="5"/>
                    <a:pt x="16" y="5"/>
                    <a:pt x="16" y="5"/>
                  </a:cubicBezTo>
                  <a:lnTo>
                    <a:pt x="17" y="1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2" name="ïş1ídè">
              <a:extLst>
                <a:ext uri="{FF2B5EF4-FFF2-40B4-BE49-F238E27FC236}">
                  <a16:creationId xmlns:a16="http://schemas.microsoft.com/office/drawing/2014/main" id="{48B83BF4-5AD5-49C1-8B23-483DF141A4AB}"/>
                </a:ext>
              </a:extLst>
            </p:cNvPr>
            <p:cNvSpPr/>
            <p:nvPr/>
          </p:nvSpPr>
          <p:spPr bwMode="auto">
            <a:xfrm>
              <a:off x="3659188" y="3225801"/>
              <a:ext cx="100013" cy="69850"/>
            </a:xfrm>
            <a:custGeom>
              <a:avLst/>
              <a:gdLst>
                <a:gd name="T0" fmla="*/ 63 w 63"/>
                <a:gd name="T1" fmla="*/ 14 h 44"/>
                <a:gd name="T2" fmla="*/ 38 w 63"/>
                <a:gd name="T3" fmla="*/ 18 h 44"/>
                <a:gd name="T4" fmla="*/ 11 w 63"/>
                <a:gd name="T5" fmla="*/ 44 h 44"/>
                <a:gd name="T6" fmla="*/ 7 w 63"/>
                <a:gd name="T7" fmla="*/ 32 h 44"/>
                <a:gd name="T8" fmla="*/ 27 w 63"/>
                <a:gd name="T9" fmla="*/ 16 h 44"/>
                <a:gd name="T10" fmla="*/ 2 w 63"/>
                <a:gd name="T11" fmla="*/ 9 h 44"/>
                <a:gd name="T12" fmla="*/ 0 w 63"/>
                <a:gd name="T13" fmla="*/ 0 h 44"/>
                <a:gd name="T14" fmla="*/ 36 w 63"/>
                <a:gd name="T15" fmla="*/ 9 h 44"/>
                <a:gd name="T16" fmla="*/ 61 w 63"/>
                <a:gd name="T17" fmla="*/ 2 h 44"/>
                <a:gd name="T18" fmla="*/ 63 w 63"/>
                <a:gd name="T19" fmla="*/ 1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3" h="44">
                  <a:moveTo>
                    <a:pt x="63" y="14"/>
                  </a:moveTo>
                  <a:lnTo>
                    <a:pt x="38" y="18"/>
                  </a:lnTo>
                  <a:lnTo>
                    <a:pt x="11" y="44"/>
                  </a:lnTo>
                  <a:lnTo>
                    <a:pt x="7" y="32"/>
                  </a:lnTo>
                  <a:lnTo>
                    <a:pt x="27" y="16"/>
                  </a:lnTo>
                  <a:lnTo>
                    <a:pt x="2" y="9"/>
                  </a:lnTo>
                  <a:lnTo>
                    <a:pt x="0" y="0"/>
                  </a:lnTo>
                  <a:lnTo>
                    <a:pt x="36" y="9"/>
                  </a:lnTo>
                  <a:lnTo>
                    <a:pt x="61" y="2"/>
                  </a:lnTo>
                  <a:lnTo>
                    <a:pt x="63" y="14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3" name="îŝļiḑe">
              <a:extLst>
                <a:ext uri="{FF2B5EF4-FFF2-40B4-BE49-F238E27FC236}">
                  <a16:creationId xmlns:a16="http://schemas.microsoft.com/office/drawing/2014/main" id="{7E5E3951-36BA-4D12-B1D5-8DCAF37AB3C4}"/>
                </a:ext>
              </a:extLst>
            </p:cNvPr>
            <p:cNvSpPr/>
            <p:nvPr/>
          </p:nvSpPr>
          <p:spPr bwMode="auto">
            <a:xfrm>
              <a:off x="2967038" y="3346451"/>
              <a:ext cx="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4" name="í$ļïḓé">
              <a:extLst>
                <a:ext uri="{FF2B5EF4-FFF2-40B4-BE49-F238E27FC236}">
                  <a16:creationId xmlns:a16="http://schemas.microsoft.com/office/drawing/2014/main" id="{0BD07E8F-B8EA-4F79-B49A-F822350EE240}"/>
                </a:ext>
              </a:extLst>
            </p:cNvPr>
            <p:cNvSpPr/>
            <p:nvPr/>
          </p:nvSpPr>
          <p:spPr bwMode="auto">
            <a:xfrm>
              <a:off x="2967038" y="3346451"/>
              <a:ext cx="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5" name="i$1iďê">
              <a:extLst>
                <a:ext uri="{FF2B5EF4-FFF2-40B4-BE49-F238E27FC236}">
                  <a16:creationId xmlns:a16="http://schemas.microsoft.com/office/drawing/2014/main" id="{FECC6020-AB3A-4030-8F98-F466C809E309}"/>
                </a:ext>
              </a:extLst>
            </p:cNvPr>
            <p:cNvSpPr/>
            <p:nvPr/>
          </p:nvSpPr>
          <p:spPr bwMode="auto">
            <a:xfrm>
              <a:off x="2768600" y="3592513"/>
              <a:ext cx="42863" cy="14288"/>
            </a:xfrm>
            <a:prstGeom prst="rect">
              <a:avLst/>
            </a:pr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6" name="îšḷiḍe">
              <a:extLst>
                <a:ext uri="{FF2B5EF4-FFF2-40B4-BE49-F238E27FC236}">
                  <a16:creationId xmlns:a16="http://schemas.microsoft.com/office/drawing/2014/main" id="{8D194721-99D8-4023-B41A-9D6FBB0FEC61}"/>
                </a:ext>
              </a:extLst>
            </p:cNvPr>
            <p:cNvSpPr/>
            <p:nvPr/>
          </p:nvSpPr>
          <p:spPr bwMode="auto">
            <a:xfrm>
              <a:off x="3121025" y="3592513"/>
              <a:ext cx="44450" cy="14288"/>
            </a:xfrm>
            <a:prstGeom prst="rect">
              <a:avLst/>
            </a:pr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7" name="íṥlïdê">
              <a:extLst>
                <a:ext uri="{FF2B5EF4-FFF2-40B4-BE49-F238E27FC236}">
                  <a16:creationId xmlns:a16="http://schemas.microsoft.com/office/drawing/2014/main" id="{759E86FF-B267-4212-9D1A-F4FCB768A31D}"/>
                </a:ext>
              </a:extLst>
            </p:cNvPr>
            <p:cNvSpPr/>
            <p:nvPr/>
          </p:nvSpPr>
          <p:spPr bwMode="auto">
            <a:xfrm>
              <a:off x="2871788" y="3592513"/>
              <a:ext cx="44450" cy="14288"/>
            </a:xfrm>
            <a:prstGeom prst="rect">
              <a:avLst/>
            </a:pr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8" name="íśľîďé">
              <a:extLst>
                <a:ext uri="{FF2B5EF4-FFF2-40B4-BE49-F238E27FC236}">
                  <a16:creationId xmlns:a16="http://schemas.microsoft.com/office/drawing/2014/main" id="{19BB9352-C274-4197-BE2C-B4377239425B}"/>
                </a:ext>
              </a:extLst>
            </p:cNvPr>
            <p:cNvSpPr/>
            <p:nvPr/>
          </p:nvSpPr>
          <p:spPr bwMode="auto">
            <a:xfrm>
              <a:off x="3021013" y="3592513"/>
              <a:ext cx="42863" cy="14288"/>
            </a:xfrm>
            <a:prstGeom prst="rect">
              <a:avLst/>
            </a:pr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9" name="iŝḻîdé">
              <a:extLst>
                <a:ext uri="{FF2B5EF4-FFF2-40B4-BE49-F238E27FC236}">
                  <a16:creationId xmlns:a16="http://schemas.microsoft.com/office/drawing/2014/main" id="{49F4EDB6-A957-429D-848C-6DD59080B28C}"/>
                </a:ext>
              </a:extLst>
            </p:cNvPr>
            <p:cNvSpPr/>
            <p:nvPr/>
          </p:nvSpPr>
          <p:spPr bwMode="auto">
            <a:xfrm>
              <a:off x="2768600" y="3482976"/>
              <a:ext cx="396875" cy="109538"/>
            </a:xfrm>
            <a:custGeom>
              <a:avLst/>
              <a:gdLst>
                <a:gd name="T0" fmla="*/ 250 w 250"/>
                <a:gd name="T1" fmla="*/ 0 h 69"/>
                <a:gd name="T2" fmla="*/ 225 w 250"/>
                <a:gd name="T3" fmla="*/ 0 h 69"/>
                <a:gd name="T4" fmla="*/ 225 w 250"/>
                <a:gd name="T5" fmla="*/ 5 h 69"/>
                <a:gd name="T6" fmla="*/ 222 w 250"/>
                <a:gd name="T7" fmla="*/ 5 h 69"/>
                <a:gd name="T8" fmla="*/ 222 w 250"/>
                <a:gd name="T9" fmla="*/ 0 h 69"/>
                <a:gd name="T10" fmla="*/ 186 w 250"/>
                <a:gd name="T11" fmla="*/ 0 h 69"/>
                <a:gd name="T12" fmla="*/ 186 w 250"/>
                <a:gd name="T13" fmla="*/ 5 h 69"/>
                <a:gd name="T14" fmla="*/ 184 w 250"/>
                <a:gd name="T15" fmla="*/ 5 h 69"/>
                <a:gd name="T16" fmla="*/ 184 w 250"/>
                <a:gd name="T17" fmla="*/ 0 h 69"/>
                <a:gd name="T18" fmla="*/ 161 w 250"/>
                <a:gd name="T19" fmla="*/ 0 h 69"/>
                <a:gd name="T20" fmla="*/ 161 w 250"/>
                <a:gd name="T21" fmla="*/ 5 h 69"/>
                <a:gd name="T22" fmla="*/ 159 w 250"/>
                <a:gd name="T23" fmla="*/ 5 h 69"/>
                <a:gd name="T24" fmla="*/ 159 w 250"/>
                <a:gd name="T25" fmla="*/ 0 h 69"/>
                <a:gd name="T26" fmla="*/ 93 w 250"/>
                <a:gd name="T27" fmla="*/ 0 h 69"/>
                <a:gd name="T28" fmla="*/ 93 w 250"/>
                <a:gd name="T29" fmla="*/ 5 h 69"/>
                <a:gd name="T30" fmla="*/ 90 w 250"/>
                <a:gd name="T31" fmla="*/ 5 h 69"/>
                <a:gd name="T32" fmla="*/ 90 w 250"/>
                <a:gd name="T33" fmla="*/ 0 h 69"/>
                <a:gd name="T34" fmla="*/ 65 w 250"/>
                <a:gd name="T35" fmla="*/ 0 h 69"/>
                <a:gd name="T36" fmla="*/ 65 w 250"/>
                <a:gd name="T37" fmla="*/ 5 h 69"/>
                <a:gd name="T38" fmla="*/ 65 w 250"/>
                <a:gd name="T39" fmla="*/ 5 h 69"/>
                <a:gd name="T40" fmla="*/ 65 w 250"/>
                <a:gd name="T41" fmla="*/ 0 h 69"/>
                <a:gd name="T42" fmla="*/ 27 w 250"/>
                <a:gd name="T43" fmla="*/ 0 h 69"/>
                <a:gd name="T44" fmla="*/ 27 w 250"/>
                <a:gd name="T45" fmla="*/ 5 h 69"/>
                <a:gd name="T46" fmla="*/ 25 w 250"/>
                <a:gd name="T47" fmla="*/ 5 h 69"/>
                <a:gd name="T48" fmla="*/ 25 w 250"/>
                <a:gd name="T49" fmla="*/ 0 h 69"/>
                <a:gd name="T50" fmla="*/ 2 w 250"/>
                <a:gd name="T51" fmla="*/ 0 h 69"/>
                <a:gd name="T52" fmla="*/ 2 w 250"/>
                <a:gd name="T53" fmla="*/ 5 h 69"/>
                <a:gd name="T54" fmla="*/ 0 w 250"/>
                <a:gd name="T55" fmla="*/ 5 h 69"/>
                <a:gd name="T56" fmla="*/ 0 w 250"/>
                <a:gd name="T57" fmla="*/ 69 h 69"/>
                <a:gd name="T58" fmla="*/ 27 w 250"/>
                <a:gd name="T59" fmla="*/ 69 h 69"/>
                <a:gd name="T60" fmla="*/ 27 w 250"/>
                <a:gd name="T61" fmla="*/ 12 h 69"/>
                <a:gd name="T62" fmla="*/ 65 w 250"/>
                <a:gd name="T63" fmla="*/ 12 h 69"/>
                <a:gd name="T64" fmla="*/ 65 w 250"/>
                <a:gd name="T65" fmla="*/ 69 h 69"/>
                <a:gd name="T66" fmla="*/ 93 w 250"/>
                <a:gd name="T67" fmla="*/ 69 h 69"/>
                <a:gd name="T68" fmla="*/ 93 w 250"/>
                <a:gd name="T69" fmla="*/ 12 h 69"/>
                <a:gd name="T70" fmla="*/ 159 w 250"/>
                <a:gd name="T71" fmla="*/ 12 h 69"/>
                <a:gd name="T72" fmla="*/ 159 w 250"/>
                <a:gd name="T73" fmla="*/ 69 h 69"/>
                <a:gd name="T74" fmla="*/ 186 w 250"/>
                <a:gd name="T75" fmla="*/ 69 h 69"/>
                <a:gd name="T76" fmla="*/ 186 w 250"/>
                <a:gd name="T77" fmla="*/ 12 h 69"/>
                <a:gd name="T78" fmla="*/ 222 w 250"/>
                <a:gd name="T79" fmla="*/ 12 h 69"/>
                <a:gd name="T80" fmla="*/ 222 w 250"/>
                <a:gd name="T81" fmla="*/ 69 h 69"/>
                <a:gd name="T82" fmla="*/ 250 w 250"/>
                <a:gd name="T83" fmla="*/ 69 h 69"/>
                <a:gd name="T84" fmla="*/ 250 w 250"/>
                <a:gd name="T85" fmla="*/ 5 h 69"/>
                <a:gd name="T86" fmla="*/ 250 w 250"/>
                <a:gd name="T87" fmla="*/ 5 h 69"/>
                <a:gd name="T88" fmla="*/ 250 w 250"/>
                <a:gd name="T89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50" h="69">
                  <a:moveTo>
                    <a:pt x="250" y="0"/>
                  </a:moveTo>
                  <a:lnTo>
                    <a:pt x="225" y="0"/>
                  </a:lnTo>
                  <a:lnTo>
                    <a:pt x="225" y="5"/>
                  </a:lnTo>
                  <a:lnTo>
                    <a:pt x="222" y="5"/>
                  </a:lnTo>
                  <a:lnTo>
                    <a:pt x="222" y="0"/>
                  </a:lnTo>
                  <a:lnTo>
                    <a:pt x="186" y="0"/>
                  </a:lnTo>
                  <a:lnTo>
                    <a:pt x="186" y="5"/>
                  </a:lnTo>
                  <a:lnTo>
                    <a:pt x="184" y="5"/>
                  </a:lnTo>
                  <a:lnTo>
                    <a:pt x="184" y="0"/>
                  </a:lnTo>
                  <a:lnTo>
                    <a:pt x="161" y="0"/>
                  </a:lnTo>
                  <a:lnTo>
                    <a:pt x="161" y="5"/>
                  </a:lnTo>
                  <a:lnTo>
                    <a:pt x="159" y="5"/>
                  </a:lnTo>
                  <a:lnTo>
                    <a:pt x="159" y="0"/>
                  </a:lnTo>
                  <a:lnTo>
                    <a:pt x="93" y="0"/>
                  </a:lnTo>
                  <a:lnTo>
                    <a:pt x="93" y="5"/>
                  </a:lnTo>
                  <a:lnTo>
                    <a:pt x="90" y="5"/>
                  </a:lnTo>
                  <a:lnTo>
                    <a:pt x="90" y="0"/>
                  </a:lnTo>
                  <a:lnTo>
                    <a:pt x="65" y="0"/>
                  </a:lnTo>
                  <a:lnTo>
                    <a:pt x="65" y="5"/>
                  </a:lnTo>
                  <a:lnTo>
                    <a:pt x="65" y="5"/>
                  </a:lnTo>
                  <a:lnTo>
                    <a:pt x="65" y="0"/>
                  </a:lnTo>
                  <a:lnTo>
                    <a:pt x="27" y="0"/>
                  </a:lnTo>
                  <a:lnTo>
                    <a:pt x="27" y="5"/>
                  </a:lnTo>
                  <a:lnTo>
                    <a:pt x="25" y="5"/>
                  </a:lnTo>
                  <a:lnTo>
                    <a:pt x="25" y="0"/>
                  </a:lnTo>
                  <a:lnTo>
                    <a:pt x="2" y="0"/>
                  </a:lnTo>
                  <a:lnTo>
                    <a:pt x="2" y="5"/>
                  </a:lnTo>
                  <a:lnTo>
                    <a:pt x="0" y="5"/>
                  </a:lnTo>
                  <a:lnTo>
                    <a:pt x="0" y="69"/>
                  </a:lnTo>
                  <a:lnTo>
                    <a:pt x="27" y="69"/>
                  </a:lnTo>
                  <a:lnTo>
                    <a:pt x="27" y="12"/>
                  </a:lnTo>
                  <a:lnTo>
                    <a:pt x="65" y="12"/>
                  </a:lnTo>
                  <a:lnTo>
                    <a:pt x="65" y="69"/>
                  </a:lnTo>
                  <a:lnTo>
                    <a:pt x="93" y="69"/>
                  </a:lnTo>
                  <a:lnTo>
                    <a:pt x="93" y="12"/>
                  </a:lnTo>
                  <a:lnTo>
                    <a:pt x="159" y="12"/>
                  </a:lnTo>
                  <a:lnTo>
                    <a:pt x="159" y="69"/>
                  </a:lnTo>
                  <a:lnTo>
                    <a:pt x="186" y="69"/>
                  </a:lnTo>
                  <a:lnTo>
                    <a:pt x="186" y="12"/>
                  </a:lnTo>
                  <a:lnTo>
                    <a:pt x="222" y="12"/>
                  </a:lnTo>
                  <a:lnTo>
                    <a:pt x="222" y="69"/>
                  </a:lnTo>
                  <a:lnTo>
                    <a:pt x="250" y="69"/>
                  </a:lnTo>
                  <a:lnTo>
                    <a:pt x="250" y="5"/>
                  </a:lnTo>
                  <a:lnTo>
                    <a:pt x="250" y="5"/>
                  </a:lnTo>
                  <a:lnTo>
                    <a:pt x="250" y="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0" name="ïsḷiḍé">
              <a:extLst>
                <a:ext uri="{FF2B5EF4-FFF2-40B4-BE49-F238E27FC236}">
                  <a16:creationId xmlns:a16="http://schemas.microsoft.com/office/drawing/2014/main" id="{DD4C49D8-B857-45EF-A5FF-A5F188B45A19}"/>
                </a:ext>
              </a:extLst>
            </p:cNvPr>
            <p:cNvSpPr/>
            <p:nvPr/>
          </p:nvSpPr>
          <p:spPr bwMode="auto">
            <a:xfrm>
              <a:off x="2901950" y="3443288"/>
              <a:ext cx="3175" cy="0"/>
            </a:xfrm>
            <a:custGeom>
              <a:avLst/>
              <a:gdLst>
                <a:gd name="T0" fmla="*/ 1 w 1"/>
                <a:gd name="T1" fmla="*/ 1 w 1"/>
                <a:gd name="T2" fmla="*/ 1 w 1"/>
                <a:gd name="T3" fmla="*/ 1 w 1"/>
                <a:gd name="T4" fmla="*/ 1 w 1"/>
                <a:gd name="T5" fmla="*/ 1 w 1"/>
                <a:gd name="T6" fmla="*/ 1 w 1"/>
                <a:gd name="T7" fmla="*/ 1 w 1"/>
                <a:gd name="T8" fmla="*/ 0 w 1"/>
                <a:gd name="T9" fmla="*/ 0 w 1"/>
                <a:gd name="T10" fmla="*/ 0 w 1"/>
                <a:gd name="T11" fmla="*/ 0 w 1"/>
                <a:gd name="T12" fmla="*/ 1 w 1"/>
                <a:gd name="T1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  <a:cxn ang="0">
                  <a:pos x="T8" y="0"/>
                </a:cxn>
                <a:cxn ang="0">
                  <a:pos x="T9" y="0"/>
                </a:cxn>
                <a:cxn ang="0">
                  <a:pos x="T10" y="0"/>
                </a:cxn>
                <a:cxn ang="0">
                  <a:pos x="T11" y="0"/>
                </a:cxn>
                <a:cxn ang="0">
                  <a:pos x="T12" y="0"/>
                </a:cxn>
                <a:cxn ang="0">
                  <a:pos x="T1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1" name="íṧ1iďè">
              <a:extLst>
                <a:ext uri="{FF2B5EF4-FFF2-40B4-BE49-F238E27FC236}">
                  <a16:creationId xmlns:a16="http://schemas.microsoft.com/office/drawing/2014/main" id="{05572607-00FA-465E-BB4A-8D950F05E24B}"/>
                </a:ext>
              </a:extLst>
            </p:cNvPr>
            <p:cNvSpPr/>
            <p:nvPr/>
          </p:nvSpPr>
          <p:spPr bwMode="auto">
            <a:xfrm>
              <a:off x="2901950" y="3443288"/>
              <a:ext cx="0" cy="3175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1 h 1"/>
                <a:gd name="T4" fmla="*/ 0 h 1"/>
                <a:gd name="T5" fmla="*/ 0 h 1"/>
                <a:gd name="T6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2" name="îṩľíḓe">
              <a:extLst>
                <a:ext uri="{FF2B5EF4-FFF2-40B4-BE49-F238E27FC236}">
                  <a16:creationId xmlns:a16="http://schemas.microsoft.com/office/drawing/2014/main" id="{73F97950-F65B-44CE-8526-0ABA350DC161}"/>
                </a:ext>
              </a:extLst>
            </p:cNvPr>
            <p:cNvSpPr/>
            <p:nvPr/>
          </p:nvSpPr>
          <p:spPr bwMode="auto">
            <a:xfrm>
              <a:off x="2901950" y="3440113"/>
              <a:ext cx="3175" cy="0"/>
            </a:xfrm>
            <a:custGeom>
              <a:avLst/>
              <a:gdLst>
                <a:gd name="T0" fmla="*/ 1 w 1"/>
                <a:gd name="T1" fmla="*/ 1 w 1"/>
                <a:gd name="T2" fmla="*/ 1 w 1"/>
                <a:gd name="T3" fmla="*/ 1 w 1"/>
                <a:gd name="T4" fmla="*/ 1 w 1"/>
                <a:gd name="T5" fmla="*/ 1 w 1"/>
                <a:gd name="T6" fmla="*/ 1 w 1"/>
                <a:gd name="T7" fmla="*/ 1 w 1"/>
                <a:gd name="T8" fmla="*/ 1 w 1"/>
                <a:gd name="T9" fmla="*/ 1 w 1"/>
                <a:gd name="T10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  <a:cxn ang="0">
                  <a:pos x="T8" y="0"/>
                </a:cxn>
                <a:cxn ang="0">
                  <a:pos x="T9" y="0"/>
                </a:cxn>
                <a:cxn ang="0">
                  <a:pos x="T10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3" name="ïṡ1ïḑé">
              <a:extLst>
                <a:ext uri="{FF2B5EF4-FFF2-40B4-BE49-F238E27FC236}">
                  <a16:creationId xmlns:a16="http://schemas.microsoft.com/office/drawing/2014/main" id="{620F7DEE-055C-4437-9C79-5A0B17B05BEC}"/>
                </a:ext>
              </a:extLst>
            </p:cNvPr>
            <p:cNvSpPr/>
            <p:nvPr/>
          </p:nvSpPr>
          <p:spPr bwMode="auto">
            <a:xfrm>
              <a:off x="2905125" y="3446463"/>
              <a:ext cx="3175" cy="0"/>
            </a:xfrm>
            <a:custGeom>
              <a:avLst/>
              <a:gdLst>
                <a:gd name="T0" fmla="*/ 1 w 1"/>
                <a:gd name="T1" fmla="*/ 0 w 1"/>
                <a:gd name="T2" fmla="*/ 0 w 1"/>
                <a:gd name="T3" fmla="*/ 0 w 1"/>
                <a:gd name="T4" fmla="*/ 1 w 1"/>
                <a:gd name="T5" fmla="*/ 1 w 1"/>
                <a:gd name="T6" fmla="*/ 1 w 1"/>
                <a:gd name="T7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4" name="iṡlíďe">
              <a:extLst>
                <a:ext uri="{FF2B5EF4-FFF2-40B4-BE49-F238E27FC236}">
                  <a16:creationId xmlns:a16="http://schemas.microsoft.com/office/drawing/2014/main" id="{209CD8D5-C519-4D16-B813-42F322757C2E}"/>
                </a:ext>
              </a:extLst>
            </p:cNvPr>
            <p:cNvSpPr/>
            <p:nvPr/>
          </p:nvSpPr>
          <p:spPr bwMode="auto">
            <a:xfrm>
              <a:off x="2908300" y="3446463"/>
              <a:ext cx="3175" cy="4763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1 w 1"/>
                <a:gd name="T13" fmla="*/ 0 h 1"/>
                <a:gd name="T14" fmla="*/ 1 w 1"/>
                <a:gd name="T15" fmla="*/ 0 h 1"/>
                <a:gd name="T16" fmla="*/ 1 w 1"/>
                <a:gd name="T17" fmla="*/ 0 h 1"/>
                <a:gd name="T18" fmla="*/ 0 w 1"/>
                <a:gd name="T1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5" name="ïšḷiḍè">
              <a:extLst>
                <a:ext uri="{FF2B5EF4-FFF2-40B4-BE49-F238E27FC236}">
                  <a16:creationId xmlns:a16="http://schemas.microsoft.com/office/drawing/2014/main" id="{86C4D568-D623-4128-8CD4-518A40978BE0}"/>
                </a:ext>
              </a:extLst>
            </p:cNvPr>
            <p:cNvSpPr/>
            <p:nvPr/>
          </p:nvSpPr>
          <p:spPr bwMode="auto">
            <a:xfrm>
              <a:off x="2905125" y="3451226"/>
              <a:ext cx="0" cy="3175"/>
            </a:xfrm>
            <a:custGeom>
              <a:avLst/>
              <a:gdLst>
                <a:gd name="T0" fmla="*/ 0 h 1"/>
                <a:gd name="T1" fmla="*/ 0 h 1"/>
                <a:gd name="T2" fmla="*/ 0 h 1"/>
                <a:gd name="T3" fmla="*/ 1 h 1"/>
                <a:gd name="T4" fmla="*/ 1 h 1"/>
                <a:gd name="T5" fmla="*/ 1 h 1"/>
                <a:gd name="T6" fmla="*/ 0 h 1"/>
                <a:gd name="T7" fmla="*/ 0 h 1"/>
                <a:gd name="T8" fmla="*/ 0 h 1"/>
                <a:gd name="T9" fmla="*/ 0 h 1"/>
                <a:gd name="T10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  <a:cxn ang="0">
                  <a:pos x="0" y="T7"/>
                </a:cxn>
                <a:cxn ang="0">
                  <a:pos x="0" y="T8"/>
                </a:cxn>
                <a:cxn ang="0">
                  <a:pos x="0" y="T9"/>
                </a:cxn>
                <a:cxn ang="0">
                  <a:pos x="0" y="T10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6" name="í$1îḓè">
              <a:extLst>
                <a:ext uri="{FF2B5EF4-FFF2-40B4-BE49-F238E27FC236}">
                  <a16:creationId xmlns:a16="http://schemas.microsoft.com/office/drawing/2014/main" id="{A748391C-61C8-47D3-BD94-B8D19822BB01}"/>
                </a:ext>
              </a:extLst>
            </p:cNvPr>
            <p:cNvSpPr/>
            <p:nvPr/>
          </p:nvSpPr>
          <p:spPr bwMode="auto">
            <a:xfrm>
              <a:off x="2857500" y="3446463"/>
              <a:ext cx="11113" cy="7938"/>
            </a:xfrm>
            <a:custGeom>
              <a:avLst/>
              <a:gdLst>
                <a:gd name="T0" fmla="*/ 2 w 3"/>
                <a:gd name="T1" fmla="*/ 1 h 2"/>
                <a:gd name="T2" fmla="*/ 1 w 3"/>
                <a:gd name="T3" fmla="*/ 1 h 2"/>
                <a:gd name="T4" fmla="*/ 1 w 3"/>
                <a:gd name="T5" fmla="*/ 1 h 2"/>
                <a:gd name="T6" fmla="*/ 1 w 3"/>
                <a:gd name="T7" fmla="*/ 1 h 2"/>
                <a:gd name="T8" fmla="*/ 1 w 3"/>
                <a:gd name="T9" fmla="*/ 1 h 2"/>
                <a:gd name="T10" fmla="*/ 1 w 3"/>
                <a:gd name="T11" fmla="*/ 0 h 2"/>
                <a:gd name="T12" fmla="*/ 1 w 3"/>
                <a:gd name="T13" fmla="*/ 0 h 2"/>
                <a:gd name="T14" fmla="*/ 1 w 3"/>
                <a:gd name="T15" fmla="*/ 0 h 2"/>
                <a:gd name="T16" fmla="*/ 1 w 3"/>
                <a:gd name="T17" fmla="*/ 0 h 2"/>
                <a:gd name="T18" fmla="*/ 1 w 3"/>
                <a:gd name="T19" fmla="*/ 0 h 2"/>
                <a:gd name="T20" fmla="*/ 1 w 3"/>
                <a:gd name="T21" fmla="*/ 0 h 2"/>
                <a:gd name="T22" fmla="*/ 1 w 3"/>
                <a:gd name="T23" fmla="*/ 0 h 2"/>
                <a:gd name="T24" fmla="*/ 1 w 3"/>
                <a:gd name="T25" fmla="*/ 0 h 2"/>
                <a:gd name="T26" fmla="*/ 1 w 3"/>
                <a:gd name="T27" fmla="*/ 0 h 2"/>
                <a:gd name="T28" fmla="*/ 0 w 3"/>
                <a:gd name="T29" fmla="*/ 0 h 2"/>
                <a:gd name="T30" fmla="*/ 0 w 3"/>
                <a:gd name="T31" fmla="*/ 0 h 2"/>
                <a:gd name="T32" fmla="*/ 0 w 3"/>
                <a:gd name="T33" fmla="*/ 0 h 2"/>
                <a:gd name="T34" fmla="*/ 0 w 3"/>
                <a:gd name="T35" fmla="*/ 0 h 2"/>
                <a:gd name="T36" fmla="*/ 0 w 3"/>
                <a:gd name="T37" fmla="*/ 0 h 2"/>
                <a:gd name="T38" fmla="*/ 1 w 3"/>
                <a:gd name="T39" fmla="*/ 1 h 2"/>
                <a:gd name="T40" fmla="*/ 1 w 3"/>
                <a:gd name="T41" fmla="*/ 1 h 2"/>
                <a:gd name="T42" fmla="*/ 1 w 3"/>
                <a:gd name="T43" fmla="*/ 1 h 2"/>
                <a:gd name="T44" fmla="*/ 1 w 3"/>
                <a:gd name="T45" fmla="*/ 2 h 2"/>
                <a:gd name="T46" fmla="*/ 1 w 3"/>
                <a:gd name="T47" fmla="*/ 1 h 2"/>
                <a:gd name="T48" fmla="*/ 2 w 3"/>
                <a:gd name="T49" fmla="*/ 1 h 2"/>
                <a:gd name="T50" fmla="*/ 2 w 3"/>
                <a:gd name="T51" fmla="*/ 1 h 2"/>
                <a:gd name="T52" fmla="*/ 2 w 3"/>
                <a:gd name="T53" fmla="*/ 1 h 2"/>
                <a:gd name="T54" fmla="*/ 3 w 3"/>
                <a:gd name="T55" fmla="*/ 1 h 2"/>
                <a:gd name="T56" fmla="*/ 3 w 3"/>
                <a:gd name="T57" fmla="*/ 1 h 2"/>
                <a:gd name="T58" fmla="*/ 2 w 3"/>
                <a:gd name="T59" fmla="*/ 1 h 2"/>
                <a:gd name="T60" fmla="*/ 2 w 3"/>
                <a:gd name="T61" fmla="*/ 1 h 2"/>
                <a:gd name="T62" fmla="*/ 2 w 3"/>
                <a:gd name="T63" fmla="*/ 1 h 2"/>
                <a:gd name="T64" fmla="*/ 2 w 3"/>
                <a:gd name="T65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" h="2">
                  <a:moveTo>
                    <a:pt x="2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2"/>
                    <a:pt x="1" y="2"/>
                  </a:cubicBezTo>
                  <a:cubicBezTo>
                    <a:pt x="1" y="2"/>
                    <a:pt x="1" y="1"/>
                    <a:pt x="1" y="1"/>
                  </a:cubicBezTo>
                  <a:cubicBezTo>
                    <a:pt x="1" y="1"/>
                    <a:pt x="2" y="1"/>
                    <a:pt x="2" y="1"/>
                  </a:cubicBezTo>
                  <a:cubicBezTo>
                    <a:pt x="2" y="2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7" name="î$ľidé">
              <a:extLst>
                <a:ext uri="{FF2B5EF4-FFF2-40B4-BE49-F238E27FC236}">
                  <a16:creationId xmlns:a16="http://schemas.microsoft.com/office/drawing/2014/main" id="{1D6EE668-B625-479D-AD75-8A4B4B5EE70F}"/>
                </a:ext>
              </a:extLst>
            </p:cNvPr>
            <p:cNvSpPr/>
            <p:nvPr/>
          </p:nvSpPr>
          <p:spPr bwMode="auto">
            <a:xfrm>
              <a:off x="2908300" y="3451226"/>
              <a:ext cx="3175" cy="0"/>
            </a:xfrm>
            <a:custGeom>
              <a:avLst/>
              <a:gdLst>
                <a:gd name="T0" fmla="*/ 0 w 1"/>
                <a:gd name="T1" fmla="*/ 0 w 1"/>
                <a:gd name="T2" fmla="*/ 0 w 1"/>
                <a:gd name="T3" fmla="*/ 0 w 1"/>
                <a:gd name="T4" fmla="*/ 0 w 1"/>
                <a:gd name="T5" fmla="*/ 0 w 1"/>
                <a:gd name="T6" fmla="*/ 0 w 1"/>
                <a:gd name="T7" fmla="*/ 1 w 1"/>
                <a:gd name="T8" fmla="*/ 1 w 1"/>
                <a:gd name="T9" fmla="*/ 1 w 1"/>
                <a:gd name="T10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  <a:cxn ang="0">
                  <a:pos x="T8" y="0"/>
                </a:cxn>
                <a:cxn ang="0">
                  <a:pos x="T9" y="0"/>
                </a:cxn>
                <a:cxn ang="0">
                  <a:pos x="T10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8" name="išḻïďê">
              <a:extLst>
                <a:ext uri="{FF2B5EF4-FFF2-40B4-BE49-F238E27FC236}">
                  <a16:creationId xmlns:a16="http://schemas.microsoft.com/office/drawing/2014/main" id="{61FA7743-226A-48B6-A9FC-0DBD091E240F}"/>
                </a:ext>
              </a:extLst>
            </p:cNvPr>
            <p:cNvSpPr/>
            <p:nvPr/>
          </p:nvSpPr>
          <p:spPr bwMode="auto">
            <a:xfrm>
              <a:off x="2822575" y="3440113"/>
              <a:ext cx="3175" cy="3175"/>
            </a:xfrm>
            <a:custGeom>
              <a:avLst/>
              <a:gdLst>
                <a:gd name="T0" fmla="*/ 0 w 1"/>
                <a:gd name="T1" fmla="*/ 1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1 w 1"/>
                <a:gd name="T9" fmla="*/ 0 h 1"/>
                <a:gd name="T10" fmla="*/ 1 w 1"/>
                <a:gd name="T11" fmla="*/ 0 h 1"/>
                <a:gd name="T12" fmla="*/ 1 w 1"/>
                <a:gd name="T13" fmla="*/ 0 h 1"/>
                <a:gd name="T14" fmla="*/ 1 w 1"/>
                <a:gd name="T15" fmla="*/ 0 h 1"/>
                <a:gd name="T16" fmla="*/ 1 w 1"/>
                <a:gd name="T17" fmla="*/ 0 h 1"/>
                <a:gd name="T18" fmla="*/ 0 w 1"/>
                <a:gd name="T19" fmla="*/ 0 h 1"/>
                <a:gd name="T20" fmla="*/ 0 w 1"/>
                <a:gd name="T21" fmla="*/ 0 h 1"/>
                <a:gd name="T22" fmla="*/ 0 w 1"/>
                <a:gd name="T23" fmla="*/ 1 h 1"/>
                <a:gd name="T24" fmla="*/ 0 w 1"/>
                <a:gd name="T2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9" name="îSļíďê">
              <a:extLst>
                <a:ext uri="{FF2B5EF4-FFF2-40B4-BE49-F238E27FC236}">
                  <a16:creationId xmlns:a16="http://schemas.microsoft.com/office/drawing/2014/main" id="{379B63A7-CC83-4479-AFF6-C64C041A0341}"/>
                </a:ext>
              </a:extLst>
            </p:cNvPr>
            <p:cNvSpPr/>
            <p:nvPr/>
          </p:nvSpPr>
          <p:spPr bwMode="auto">
            <a:xfrm>
              <a:off x="2817813" y="3440113"/>
              <a:ext cx="7938" cy="11113"/>
            </a:xfrm>
            <a:custGeom>
              <a:avLst/>
              <a:gdLst>
                <a:gd name="T0" fmla="*/ 0 w 2"/>
                <a:gd name="T1" fmla="*/ 2 h 3"/>
                <a:gd name="T2" fmla="*/ 0 w 2"/>
                <a:gd name="T3" fmla="*/ 2 h 3"/>
                <a:gd name="T4" fmla="*/ 1 w 2"/>
                <a:gd name="T5" fmla="*/ 3 h 3"/>
                <a:gd name="T6" fmla="*/ 1 w 2"/>
                <a:gd name="T7" fmla="*/ 3 h 3"/>
                <a:gd name="T8" fmla="*/ 1 w 2"/>
                <a:gd name="T9" fmla="*/ 3 h 3"/>
                <a:gd name="T10" fmla="*/ 1 w 2"/>
                <a:gd name="T11" fmla="*/ 2 h 3"/>
                <a:gd name="T12" fmla="*/ 2 w 2"/>
                <a:gd name="T13" fmla="*/ 2 h 3"/>
                <a:gd name="T14" fmla="*/ 2 w 2"/>
                <a:gd name="T15" fmla="*/ 2 h 3"/>
                <a:gd name="T16" fmla="*/ 2 w 2"/>
                <a:gd name="T17" fmla="*/ 2 h 3"/>
                <a:gd name="T18" fmla="*/ 2 w 2"/>
                <a:gd name="T19" fmla="*/ 2 h 3"/>
                <a:gd name="T20" fmla="*/ 2 w 2"/>
                <a:gd name="T21" fmla="*/ 2 h 3"/>
                <a:gd name="T22" fmla="*/ 2 w 2"/>
                <a:gd name="T23" fmla="*/ 2 h 3"/>
                <a:gd name="T24" fmla="*/ 2 w 2"/>
                <a:gd name="T25" fmla="*/ 2 h 3"/>
                <a:gd name="T26" fmla="*/ 1 w 2"/>
                <a:gd name="T27" fmla="*/ 2 h 3"/>
                <a:gd name="T28" fmla="*/ 1 w 2"/>
                <a:gd name="T29" fmla="*/ 2 h 3"/>
                <a:gd name="T30" fmla="*/ 1 w 2"/>
                <a:gd name="T31" fmla="*/ 2 h 3"/>
                <a:gd name="T32" fmla="*/ 1 w 2"/>
                <a:gd name="T33" fmla="*/ 2 h 3"/>
                <a:gd name="T34" fmla="*/ 1 w 2"/>
                <a:gd name="T35" fmla="*/ 1 h 3"/>
                <a:gd name="T36" fmla="*/ 1 w 2"/>
                <a:gd name="T37" fmla="*/ 1 h 3"/>
                <a:gd name="T38" fmla="*/ 1 w 2"/>
                <a:gd name="T39" fmla="*/ 0 h 3"/>
                <a:gd name="T40" fmla="*/ 0 w 2"/>
                <a:gd name="T41" fmla="*/ 0 h 3"/>
                <a:gd name="T42" fmla="*/ 0 w 2"/>
                <a:gd name="T43" fmla="*/ 0 h 3"/>
                <a:gd name="T44" fmla="*/ 0 w 2"/>
                <a:gd name="T45" fmla="*/ 1 h 3"/>
                <a:gd name="T46" fmla="*/ 0 w 2"/>
                <a:gd name="T4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" h="3">
                  <a:moveTo>
                    <a:pt x="0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1" y="2"/>
                    <a:pt x="1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1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0" name="íṧḻiḋe">
              <a:extLst>
                <a:ext uri="{FF2B5EF4-FFF2-40B4-BE49-F238E27FC236}">
                  <a16:creationId xmlns:a16="http://schemas.microsoft.com/office/drawing/2014/main" id="{AD0B9A7B-F4F7-4286-AB2C-3BFB9F050BF0}"/>
                </a:ext>
              </a:extLst>
            </p:cNvPr>
            <p:cNvSpPr/>
            <p:nvPr/>
          </p:nvSpPr>
          <p:spPr bwMode="auto">
            <a:xfrm>
              <a:off x="2822575" y="3443288"/>
              <a:ext cx="3175" cy="3175"/>
            </a:xfrm>
            <a:custGeom>
              <a:avLst/>
              <a:gdLst>
                <a:gd name="T0" fmla="*/ 1 w 1"/>
                <a:gd name="T1" fmla="*/ 0 h 1"/>
                <a:gd name="T2" fmla="*/ 1 w 1"/>
                <a:gd name="T3" fmla="*/ 0 h 1"/>
                <a:gd name="T4" fmla="*/ 0 w 1"/>
                <a:gd name="T5" fmla="*/ 0 h 1"/>
                <a:gd name="T6" fmla="*/ 1 w 1"/>
                <a:gd name="T7" fmla="*/ 1 h 1"/>
                <a:gd name="T8" fmla="*/ 1 w 1"/>
                <a:gd name="T9" fmla="*/ 1 h 1"/>
                <a:gd name="T10" fmla="*/ 1 w 1"/>
                <a:gd name="T11" fmla="*/ 1 h 1"/>
                <a:gd name="T12" fmla="*/ 1 w 1"/>
                <a:gd name="T13" fmla="*/ 1 h 1"/>
                <a:gd name="T14" fmla="*/ 1 w 1"/>
                <a:gd name="T15" fmla="*/ 1 h 1"/>
                <a:gd name="T16" fmla="*/ 1 w 1"/>
                <a:gd name="T17" fmla="*/ 0 h 1"/>
                <a:gd name="T18" fmla="*/ 1 w 1"/>
                <a:gd name="T19" fmla="*/ 0 h 1"/>
                <a:gd name="T20" fmla="*/ 1 w 1"/>
                <a:gd name="T21" fmla="*/ 0 h 1"/>
                <a:gd name="T22" fmla="*/ 1 w 1"/>
                <a:gd name="T2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1" name="îṡ1iďé">
              <a:extLst>
                <a:ext uri="{FF2B5EF4-FFF2-40B4-BE49-F238E27FC236}">
                  <a16:creationId xmlns:a16="http://schemas.microsoft.com/office/drawing/2014/main" id="{988627DB-6011-4D06-BA37-769B520D0C23}"/>
                </a:ext>
              </a:extLst>
            </p:cNvPr>
            <p:cNvSpPr/>
            <p:nvPr/>
          </p:nvSpPr>
          <p:spPr bwMode="auto">
            <a:xfrm>
              <a:off x="2828925" y="3432176"/>
              <a:ext cx="7938" cy="14288"/>
            </a:xfrm>
            <a:custGeom>
              <a:avLst/>
              <a:gdLst>
                <a:gd name="T0" fmla="*/ 1 w 2"/>
                <a:gd name="T1" fmla="*/ 0 h 4"/>
                <a:gd name="T2" fmla="*/ 1 w 2"/>
                <a:gd name="T3" fmla="*/ 0 h 4"/>
                <a:gd name="T4" fmla="*/ 1 w 2"/>
                <a:gd name="T5" fmla="*/ 0 h 4"/>
                <a:gd name="T6" fmla="*/ 0 w 2"/>
                <a:gd name="T7" fmla="*/ 0 h 4"/>
                <a:gd name="T8" fmla="*/ 0 w 2"/>
                <a:gd name="T9" fmla="*/ 0 h 4"/>
                <a:gd name="T10" fmla="*/ 0 w 2"/>
                <a:gd name="T11" fmla="*/ 0 h 4"/>
                <a:gd name="T12" fmla="*/ 0 w 2"/>
                <a:gd name="T13" fmla="*/ 0 h 4"/>
                <a:gd name="T14" fmla="*/ 0 w 2"/>
                <a:gd name="T15" fmla="*/ 0 h 4"/>
                <a:gd name="T16" fmla="*/ 0 w 2"/>
                <a:gd name="T17" fmla="*/ 0 h 4"/>
                <a:gd name="T18" fmla="*/ 0 w 2"/>
                <a:gd name="T19" fmla="*/ 0 h 4"/>
                <a:gd name="T20" fmla="*/ 0 w 2"/>
                <a:gd name="T21" fmla="*/ 0 h 4"/>
                <a:gd name="T22" fmla="*/ 1 w 2"/>
                <a:gd name="T23" fmla="*/ 1 h 4"/>
                <a:gd name="T24" fmla="*/ 1 w 2"/>
                <a:gd name="T25" fmla="*/ 1 h 4"/>
                <a:gd name="T26" fmla="*/ 1 w 2"/>
                <a:gd name="T27" fmla="*/ 1 h 4"/>
                <a:gd name="T28" fmla="*/ 0 w 2"/>
                <a:gd name="T29" fmla="*/ 1 h 4"/>
                <a:gd name="T30" fmla="*/ 0 w 2"/>
                <a:gd name="T31" fmla="*/ 1 h 4"/>
                <a:gd name="T32" fmla="*/ 0 w 2"/>
                <a:gd name="T33" fmla="*/ 1 h 4"/>
                <a:gd name="T34" fmla="*/ 0 w 2"/>
                <a:gd name="T35" fmla="*/ 1 h 4"/>
                <a:gd name="T36" fmla="*/ 0 w 2"/>
                <a:gd name="T37" fmla="*/ 1 h 4"/>
                <a:gd name="T38" fmla="*/ 0 w 2"/>
                <a:gd name="T39" fmla="*/ 1 h 4"/>
                <a:gd name="T40" fmla="*/ 1 w 2"/>
                <a:gd name="T41" fmla="*/ 1 h 4"/>
                <a:gd name="T42" fmla="*/ 1 w 2"/>
                <a:gd name="T43" fmla="*/ 1 h 4"/>
                <a:gd name="T44" fmla="*/ 1 w 2"/>
                <a:gd name="T45" fmla="*/ 1 h 4"/>
                <a:gd name="T46" fmla="*/ 1 w 2"/>
                <a:gd name="T47" fmla="*/ 2 h 4"/>
                <a:gd name="T48" fmla="*/ 1 w 2"/>
                <a:gd name="T49" fmla="*/ 2 h 4"/>
                <a:gd name="T50" fmla="*/ 1 w 2"/>
                <a:gd name="T51" fmla="*/ 3 h 4"/>
                <a:gd name="T52" fmla="*/ 1 w 2"/>
                <a:gd name="T53" fmla="*/ 3 h 4"/>
                <a:gd name="T54" fmla="*/ 1 w 2"/>
                <a:gd name="T55" fmla="*/ 3 h 4"/>
                <a:gd name="T56" fmla="*/ 1 w 2"/>
                <a:gd name="T57" fmla="*/ 3 h 4"/>
                <a:gd name="T58" fmla="*/ 1 w 2"/>
                <a:gd name="T59" fmla="*/ 4 h 4"/>
                <a:gd name="T60" fmla="*/ 1 w 2"/>
                <a:gd name="T61" fmla="*/ 4 h 4"/>
                <a:gd name="T62" fmla="*/ 1 w 2"/>
                <a:gd name="T63" fmla="*/ 4 h 4"/>
                <a:gd name="T64" fmla="*/ 1 w 2"/>
                <a:gd name="T65" fmla="*/ 4 h 4"/>
                <a:gd name="T66" fmla="*/ 2 w 2"/>
                <a:gd name="T67" fmla="*/ 4 h 4"/>
                <a:gd name="T68" fmla="*/ 2 w 2"/>
                <a:gd name="T69" fmla="*/ 3 h 4"/>
                <a:gd name="T70" fmla="*/ 2 w 2"/>
                <a:gd name="T71" fmla="*/ 2 h 4"/>
                <a:gd name="T72" fmla="*/ 2 w 2"/>
                <a:gd name="T73" fmla="*/ 2 h 4"/>
                <a:gd name="T74" fmla="*/ 2 w 2"/>
                <a:gd name="T75" fmla="*/ 1 h 4"/>
                <a:gd name="T76" fmla="*/ 2 w 2"/>
                <a:gd name="T77" fmla="*/ 1 h 4"/>
                <a:gd name="T78" fmla="*/ 2 w 2"/>
                <a:gd name="T79" fmla="*/ 0 h 4"/>
                <a:gd name="T80" fmla="*/ 1 w 2"/>
                <a:gd name="T8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" h="4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" y="0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2" y="4"/>
                    <a:pt x="2" y="4"/>
                  </a:cubicBezTo>
                  <a:cubicBezTo>
                    <a:pt x="2" y="4"/>
                    <a:pt x="2" y="3"/>
                    <a:pt x="2" y="3"/>
                  </a:cubicBezTo>
                  <a:cubicBezTo>
                    <a:pt x="2" y="3"/>
                    <a:pt x="2" y="3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2" name="ï$ḷïdè">
              <a:extLst>
                <a:ext uri="{FF2B5EF4-FFF2-40B4-BE49-F238E27FC236}">
                  <a16:creationId xmlns:a16="http://schemas.microsoft.com/office/drawing/2014/main" id="{B38589FE-DA96-4EB9-816B-A381CB0BA409}"/>
                </a:ext>
              </a:extLst>
            </p:cNvPr>
            <p:cNvSpPr/>
            <p:nvPr/>
          </p:nvSpPr>
          <p:spPr bwMode="auto">
            <a:xfrm>
              <a:off x="2817813" y="3451226"/>
              <a:ext cx="7938" cy="3175"/>
            </a:xfrm>
            <a:custGeom>
              <a:avLst/>
              <a:gdLst>
                <a:gd name="T0" fmla="*/ 2 w 2"/>
                <a:gd name="T1" fmla="*/ 0 h 1"/>
                <a:gd name="T2" fmla="*/ 2 w 2"/>
                <a:gd name="T3" fmla="*/ 0 h 1"/>
                <a:gd name="T4" fmla="*/ 2 w 2"/>
                <a:gd name="T5" fmla="*/ 0 h 1"/>
                <a:gd name="T6" fmla="*/ 2 w 2"/>
                <a:gd name="T7" fmla="*/ 0 h 1"/>
                <a:gd name="T8" fmla="*/ 2 w 2"/>
                <a:gd name="T9" fmla="*/ 0 h 1"/>
                <a:gd name="T10" fmla="*/ 2 w 2"/>
                <a:gd name="T11" fmla="*/ 0 h 1"/>
                <a:gd name="T12" fmla="*/ 1 w 2"/>
                <a:gd name="T13" fmla="*/ 0 h 1"/>
                <a:gd name="T14" fmla="*/ 1 w 2"/>
                <a:gd name="T15" fmla="*/ 0 h 1"/>
                <a:gd name="T16" fmla="*/ 1 w 2"/>
                <a:gd name="T17" fmla="*/ 0 h 1"/>
                <a:gd name="T18" fmla="*/ 1 w 2"/>
                <a:gd name="T19" fmla="*/ 0 h 1"/>
                <a:gd name="T20" fmla="*/ 1 w 2"/>
                <a:gd name="T21" fmla="*/ 0 h 1"/>
                <a:gd name="T22" fmla="*/ 0 w 2"/>
                <a:gd name="T23" fmla="*/ 0 h 1"/>
                <a:gd name="T24" fmla="*/ 0 w 2"/>
                <a:gd name="T25" fmla="*/ 0 h 1"/>
                <a:gd name="T26" fmla="*/ 0 w 2"/>
                <a:gd name="T27" fmla="*/ 0 h 1"/>
                <a:gd name="T28" fmla="*/ 0 w 2"/>
                <a:gd name="T29" fmla="*/ 0 h 1"/>
                <a:gd name="T30" fmla="*/ 0 w 2"/>
                <a:gd name="T31" fmla="*/ 1 h 1"/>
                <a:gd name="T32" fmla="*/ 0 w 2"/>
                <a:gd name="T33" fmla="*/ 1 h 1"/>
                <a:gd name="T34" fmla="*/ 1 w 2"/>
                <a:gd name="T35" fmla="*/ 1 h 1"/>
                <a:gd name="T36" fmla="*/ 1 w 2"/>
                <a:gd name="T37" fmla="*/ 1 h 1"/>
                <a:gd name="T38" fmla="*/ 1 w 2"/>
                <a:gd name="T39" fmla="*/ 1 h 1"/>
                <a:gd name="T40" fmla="*/ 2 w 2"/>
                <a:gd name="T41" fmla="*/ 1 h 1"/>
                <a:gd name="T42" fmla="*/ 2 w 2"/>
                <a:gd name="T43" fmla="*/ 1 h 1"/>
                <a:gd name="T44" fmla="*/ 2 w 2"/>
                <a:gd name="T45" fmla="*/ 1 h 1"/>
                <a:gd name="T46" fmla="*/ 2 w 2"/>
                <a:gd name="T47" fmla="*/ 0 h 1"/>
                <a:gd name="T48" fmla="*/ 2 w 2"/>
                <a:gd name="T4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3" name="işlîḋê">
              <a:extLst>
                <a:ext uri="{FF2B5EF4-FFF2-40B4-BE49-F238E27FC236}">
                  <a16:creationId xmlns:a16="http://schemas.microsoft.com/office/drawing/2014/main" id="{878804B2-A9D2-4E01-9E58-D70093452395}"/>
                </a:ext>
              </a:extLst>
            </p:cNvPr>
            <p:cNvSpPr/>
            <p:nvPr/>
          </p:nvSpPr>
          <p:spPr bwMode="auto">
            <a:xfrm>
              <a:off x="2828925" y="3440113"/>
              <a:ext cx="3175" cy="3175"/>
            </a:xfrm>
            <a:custGeom>
              <a:avLst/>
              <a:gdLst>
                <a:gd name="T0" fmla="*/ 1 w 1"/>
                <a:gd name="T1" fmla="*/ 0 h 1"/>
                <a:gd name="T2" fmla="*/ 1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w 1"/>
                <a:gd name="T15" fmla="*/ 1 h 1"/>
                <a:gd name="T16" fmla="*/ 0 w 1"/>
                <a:gd name="T17" fmla="*/ 1 h 1"/>
                <a:gd name="T18" fmla="*/ 0 w 1"/>
                <a:gd name="T19" fmla="*/ 1 h 1"/>
                <a:gd name="T20" fmla="*/ 0 w 1"/>
                <a:gd name="T21" fmla="*/ 1 h 1"/>
                <a:gd name="T22" fmla="*/ 0 w 1"/>
                <a:gd name="T23" fmla="*/ 1 h 1"/>
                <a:gd name="T24" fmla="*/ 0 w 1"/>
                <a:gd name="T25" fmla="*/ 1 h 1"/>
                <a:gd name="T26" fmla="*/ 0 w 1"/>
                <a:gd name="T27" fmla="*/ 1 h 1"/>
                <a:gd name="T28" fmla="*/ 0 w 1"/>
                <a:gd name="T29" fmla="*/ 1 h 1"/>
                <a:gd name="T30" fmla="*/ 1 w 1"/>
                <a:gd name="T31" fmla="*/ 0 h 1"/>
                <a:gd name="T32" fmla="*/ 1 w 1"/>
                <a:gd name="T33" fmla="*/ 0 h 1"/>
                <a:gd name="T34" fmla="*/ 1 w 1"/>
                <a:gd name="T35" fmla="*/ 0 h 1"/>
                <a:gd name="T36" fmla="*/ 1 w 1"/>
                <a:gd name="T3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4" name="işḻïḑè">
              <a:extLst>
                <a:ext uri="{FF2B5EF4-FFF2-40B4-BE49-F238E27FC236}">
                  <a16:creationId xmlns:a16="http://schemas.microsoft.com/office/drawing/2014/main" id="{F847D0F7-919C-4C25-9B95-81CB0FCAAF40}"/>
                </a:ext>
              </a:extLst>
            </p:cNvPr>
            <p:cNvSpPr/>
            <p:nvPr/>
          </p:nvSpPr>
          <p:spPr bwMode="auto">
            <a:xfrm>
              <a:off x="2825750" y="3451226"/>
              <a:ext cx="3175" cy="3175"/>
            </a:xfrm>
            <a:custGeom>
              <a:avLst/>
              <a:gdLst>
                <a:gd name="T0" fmla="*/ 1 w 1"/>
                <a:gd name="T1" fmla="*/ 0 h 1"/>
                <a:gd name="T2" fmla="*/ 1 w 1"/>
                <a:gd name="T3" fmla="*/ 0 h 1"/>
                <a:gd name="T4" fmla="*/ 1 w 1"/>
                <a:gd name="T5" fmla="*/ 0 h 1"/>
                <a:gd name="T6" fmla="*/ 1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w 1"/>
                <a:gd name="T15" fmla="*/ 0 h 1"/>
                <a:gd name="T16" fmla="*/ 0 w 1"/>
                <a:gd name="T17" fmla="*/ 0 h 1"/>
                <a:gd name="T18" fmla="*/ 1 w 1"/>
                <a:gd name="T19" fmla="*/ 0 h 1"/>
                <a:gd name="T20" fmla="*/ 1 w 1"/>
                <a:gd name="T21" fmla="*/ 0 h 1"/>
                <a:gd name="T22" fmla="*/ 1 w 1"/>
                <a:gd name="T23" fmla="*/ 0 h 1"/>
                <a:gd name="T24" fmla="*/ 1 w 1"/>
                <a:gd name="T25" fmla="*/ 1 h 1"/>
                <a:gd name="T26" fmla="*/ 1 w 1"/>
                <a:gd name="T27" fmla="*/ 0 h 1"/>
                <a:gd name="T28" fmla="*/ 1 w 1"/>
                <a:gd name="T29" fmla="*/ 0 h 1"/>
                <a:gd name="T30" fmla="*/ 1 w 1"/>
                <a:gd name="T31" fmla="*/ 0 h 1"/>
                <a:gd name="T32" fmla="*/ 1 w 1"/>
                <a:gd name="T3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1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5" name="ïslidê">
              <a:extLst>
                <a:ext uri="{FF2B5EF4-FFF2-40B4-BE49-F238E27FC236}">
                  <a16:creationId xmlns:a16="http://schemas.microsoft.com/office/drawing/2014/main" id="{503638E4-956F-413B-8897-CDD99FD4CC94}"/>
                </a:ext>
              </a:extLst>
            </p:cNvPr>
            <p:cNvSpPr/>
            <p:nvPr/>
          </p:nvSpPr>
          <p:spPr bwMode="auto">
            <a:xfrm>
              <a:off x="2828925" y="344646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6" name="íṣḻíḑê">
              <a:extLst>
                <a:ext uri="{FF2B5EF4-FFF2-40B4-BE49-F238E27FC236}">
                  <a16:creationId xmlns:a16="http://schemas.microsoft.com/office/drawing/2014/main" id="{19CF597C-244F-424C-9FE6-DC0D499125CC}"/>
                </a:ext>
              </a:extLst>
            </p:cNvPr>
            <p:cNvSpPr/>
            <p:nvPr/>
          </p:nvSpPr>
          <p:spPr bwMode="auto">
            <a:xfrm>
              <a:off x="2905125" y="3446463"/>
              <a:ext cx="0" cy="4763"/>
            </a:xfrm>
            <a:custGeom>
              <a:avLst/>
              <a:gdLst>
                <a:gd name="T0" fmla="*/ 1 h 1"/>
                <a:gd name="T1" fmla="*/ 1 h 1"/>
                <a:gd name="T2" fmla="*/ 1 h 1"/>
                <a:gd name="T3" fmla="*/ 0 h 1"/>
                <a:gd name="T4" fmla="*/ 0 h 1"/>
                <a:gd name="T5" fmla="*/ 0 h 1"/>
                <a:gd name="T6" fmla="*/ 0 h 1"/>
                <a:gd name="T7" fmla="*/ 1 h 1"/>
                <a:gd name="T8" fmla="*/ 1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  <a:cxn ang="0">
                  <a:pos x="0" y="T7"/>
                </a:cxn>
                <a:cxn ang="0">
                  <a:pos x="0" y="T8"/>
                </a:cxn>
              </a:cxnLst>
              <a:rect l="0" t="0" r="r" b="b"/>
              <a:pathLst>
                <a:path h="1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7" name="ísḻídé">
              <a:extLst>
                <a:ext uri="{FF2B5EF4-FFF2-40B4-BE49-F238E27FC236}">
                  <a16:creationId xmlns:a16="http://schemas.microsoft.com/office/drawing/2014/main" id="{3531395D-DC56-4B48-A95A-C6F235EB63C3}"/>
                </a:ext>
              </a:extLst>
            </p:cNvPr>
            <p:cNvSpPr/>
            <p:nvPr/>
          </p:nvSpPr>
          <p:spPr bwMode="auto">
            <a:xfrm>
              <a:off x="3067050" y="3443288"/>
              <a:ext cx="3175" cy="0"/>
            </a:xfrm>
            <a:custGeom>
              <a:avLst/>
              <a:gdLst>
                <a:gd name="T0" fmla="*/ 1 w 1"/>
                <a:gd name="T1" fmla="*/ 1 w 1"/>
                <a:gd name="T2" fmla="*/ 1 w 1"/>
                <a:gd name="T3" fmla="*/ 0 w 1"/>
                <a:gd name="T4" fmla="*/ 0 w 1"/>
                <a:gd name="T5" fmla="*/ 1 w 1"/>
                <a:gd name="T6" fmla="*/ 1 w 1"/>
                <a:gd name="T7" fmla="*/ 1 w 1"/>
                <a:gd name="T8" fmla="*/ 1 w 1"/>
                <a:gd name="T9" fmla="*/ 1 w 1"/>
                <a:gd name="T10" fmla="*/ 1 w 1"/>
                <a:gd name="T11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  <a:cxn ang="0">
                  <a:pos x="T8" y="0"/>
                </a:cxn>
                <a:cxn ang="0">
                  <a:pos x="T9" y="0"/>
                </a:cxn>
                <a:cxn ang="0">
                  <a:pos x="T10" y="0"/>
                </a:cxn>
                <a:cxn ang="0">
                  <a:pos x="T11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8" name="iṧḻide">
              <a:extLst>
                <a:ext uri="{FF2B5EF4-FFF2-40B4-BE49-F238E27FC236}">
                  <a16:creationId xmlns:a16="http://schemas.microsoft.com/office/drawing/2014/main" id="{D6FFC8CF-B749-4860-8C57-8044FF6CB902}"/>
                </a:ext>
              </a:extLst>
            </p:cNvPr>
            <p:cNvSpPr/>
            <p:nvPr/>
          </p:nvSpPr>
          <p:spPr bwMode="auto">
            <a:xfrm>
              <a:off x="3067050" y="3440113"/>
              <a:ext cx="7938" cy="3175"/>
            </a:xfrm>
            <a:custGeom>
              <a:avLst/>
              <a:gdLst>
                <a:gd name="T0" fmla="*/ 2 w 2"/>
                <a:gd name="T1" fmla="*/ 0 h 1"/>
                <a:gd name="T2" fmla="*/ 2 w 2"/>
                <a:gd name="T3" fmla="*/ 0 h 1"/>
                <a:gd name="T4" fmla="*/ 1 w 2"/>
                <a:gd name="T5" fmla="*/ 0 h 1"/>
                <a:gd name="T6" fmla="*/ 1 w 2"/>
                <a:gd name="T7" fmla="*/ 0 h 1"/>
                <a:gd name="T8" fmla="*/ 1 w 2"/>
                <a:gd name="T9" fmla="*/ 0 h 1"/>
                <a:gd name="T10" fmla="*/ 1 w 2"/>
                <a:gd name="T11" fmla="*/ 0 h 1"/>
                <a:gd name="T12" fmla="*/ 1 w 2"/>
                <a:gd name="T13" fmla="*/ 1 h 1"/>
                <a:gd name="T14" fmla="*/ 1 w 2"/>
                <a:gd name="T15" fmla="*/ 1 h 1"/>
                <a:gd name="T16" fmla="*/ 1 w 2"/>
                <a:gd name="T17" fmla="*/ 1 h 1"/>
                <a:gd name="T18" fmla="*/ 1 w 2"/>
                <a:gd name="T19" fmla="*/ 0 h 1"/>
                <a:gd name="T20" fmla="*/ 1 w 2"/>
                <a:gd name="T21" fmla="*/ 0 h 1"/>
                <a:gd name="T22" fmla="*/ 2 w 2"/>
                <a:gd name="T23" fmla="*/ 0 h 1"/>
                <a:gd name="T24" fmla="*/ 2 w 2"/>
                <a:gd name="T25" fmla="*/ 0 h 1"/>
                <a:gd name="T26" fmla="*/ 2 w 2"/>
                <a:gd name="T27" fmla="*/ 0 h 1"/>
                <a:gd name="T28" fmla="*/ 2 w 2"/>
                <a:gd name="T2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1" y="0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9" name="îṧļïďe">
              <a:extLst>
                <a:ext uri="{FF2B5EF4-FFF2-40B4-BE49-F238E27FC236}">
                  <a16:creationId xmlns:a16="http://schemas.microsoft.com/office/drawing/2014/main" id="{C6DC6093-03D5-41D4-B44F-C6937E73421F}"/>
                </a:ext>
              </a:extLst>
            </p:cNvPr>
            <p:cNvSpPr/>
            <p:nvPr/>
          </p:nvSpPr>
          <p:spPr bwMode="auto">
            <a:xfrm>
              <a:off x="3067050" y="3451226"/>
              <a:ext cx="3175" cy="0"/>
            </a:xfrm>
            <a:custGeom>
              <a:avLst/>
              <a:gdLst>
                <a:gd name="T0" fmla="*/ 1 w 1"/>
                <a:gd name="T1" fmla="*/ 1 w 1"/>
                <a:gd name="T2" fmla="*/ 1 w 1"/>
                <a:gd name="T3" fmla="*/ 1 w 1"/>
                <a:gd name="T4" fmla="*/ 1 w 1"/>
                <a:gd name="T5" fmla="*/ 1 w 1"/>
                <a:gd name="T6" fmla="*/ 1 w 1"/>
                <a:gd name="T7" fmla="*/ 0 w 1"/>
                <a:gd name="T8" fmla="*/ 0 w 1"/>
                <a:gd name="T9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  <a:cxn ang="0">
                  <a:pos x="T8" y="0"/>
                </a:cxn>
                <a:cxn ang="0">
                  <a:pos x="T9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1" name="iṣḷîḋê">
              <a:extLst>
                <a:ext uri="{FF2B5EF4-FFF2-40B4-BE49-F238E27FC236}">
                  <a16:creationId xmlns:a16="http://schemas.microsoft.com/office/drawing/2014/main" id="{CB0B0BE1-8904-4524-8ABC-AC84947369D9}"/>
                </a:ext>
              </a:extLst>
            </p:cNvPr>
            <p:cNvSpPr/>
            <p:nvPr/>
          </p:nvSpPr>
          <p:spPr bwMode="auto">
            <a:xfrm>
              <a:off x="2911475" y="3446463"/>
              <a:ext cx="0" cy="4763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1 h 1"/>
                <a:gd name="T4" fmla="*/ 1 h 1"/>
                <a:gd name="T5" fmla="*/ 0 h 1"/>
                <a:gd name="T6" fmla="*/ 0 h 1"/>
                <a:gd name="T7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  <a:cxn ang="0">
                  <a:pos x="0" y="T7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3" name="íŝ1ïḍè">
              <a:extLst>
                <a:ext uri="{FF2B5EF4-FFF2-40B4-BE49-F238E27FC236}">
                  <a16:creationId xmlns:a16="http://schemas.microsoft.com/office/drawing/2014/main" id="{E412D4CE-8DE9-4DA7-A71B-17F4B17520A5}"/>
                </a:ext>
              </a:extLst>
            </p:cNvPr>
            <p:cNvSpPr/>
            <p:nvPr/>
          </p:nvSpPr>
          <p:spPr bwMode="auto">
            <a:xfrm>
              <a:off x="3100388" y="3436938"/>
              <a:ext cx="3175" cy="3175"/>
            </a:xfrm>
            <a:custGeom>
              <a:avLst/>
              <a:gdLst>
                <a:gd name="T0" fmla="*/ 1 w 1"/>
                <a:gd name="T1" fmla="*/ 0 h 1"/>
                <a:gd name="T2" fmla="*/ 1 w 1"/>
                <a:gd name="T3" fmla="*/ 0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1 h 1"/>
                <a:gd name="T10" fmla="*/ 1 w 1"/>
                <a:gd name="T11" fmla="*/ 1 h 1"/>
                <a:gd name="T12" fmla="*/ 1 w 1"/>
                <a:gd name="T13" fmla="*/ 0 h 1"/>
                <a:gd name="T14" fmla="*/ 1 w 1"/>
                <a:gd name="T1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4" name="íŝlîḋe">
              <a:extLst>
                <a:ext uri="{FF2B5EF4-FFF2-40B4-BE49-F238E27FC236}">
                  <a16:creationId xmlns:a16="http://schemas.microsoft.com/office/drawing/2014/main" id="{65E1FD7A-9EE4-4B21-9213-32BFD3B5078A}"/>
                </a:ext>
              </a:extLst>
            </p:cNvPr>
            <p:cNvSpPr/>
            <p:nvPr/>
          </p:nvSpPr>
          <p:spPr bwMode="auto">
            <a:xfrm>
              <a:off x="2763838" y="3406776"/>
              <a:ext cx="407988" cy="73025"/>
            </a:xfrm>
            <a:custGeom>
              <a:avLst/>
              <a:gdLst>
                <a:gd name="T0" fmla="*/ 95 w 113"/>
                <a:gd name="T1" fmla="*/ 7 h 20"/>
                <a:gd name="T2" fmla="*/ 86 w 113"/>
                <a:gd name="T3" fmla="*/ 6 h 20"/>
                <a:gd name="T4" fmla="*/ 73 w 113"/>
                <a:gd name="T5" fmla="*/ 11 h 20"/>
                <a:gd name="T6" fmla="*/ 71 w 113"/>
                <a:gd name="T7" fmla="*/ 8 h 20"/>
                <a:gd name="T8" fmla="*/ 73 w 113"/>
                <a:gd name="T9" fmla="*/ 8 h 20"/>
                <a:gd name="T10" fmla="*/ 70 w 113"/>
                <a:gd name="T11" fmla="*/ 6 h 20"/>
                <a:gd name="T12" fmla="*/ 63 w 113"/>
                <a:gd name="T13" fmla="*/ 9 h 20"/>
                <a:gd name="T14" fmla="*/ 50 w 113"/>
                <a:gd name="T15" fmla="*/ 6 h 20"/>
                <a:gd name="T16" fmla="*/ 43 w 113"/>
                <a:gd name="T17" fmla="*/ 7 h 20"/>
                <a:gd name="T18" fmla="*/ 18 w 113"/>
                <a:gd name="T19" fmla="*/ 13 h 20"/>
                <a:gd name="T20" fmla="*/ 19 w 113"/>
                <a:gd name="T21" fmla="*/ 13 h 20"/>
                <a:gd name="T22" fmla="*/ 14 w 113"/>
                <a:gd name="T23" fmla="*/ 9 h 20"/>
                <a:gd name="T24" fmla="*/ 16 w 113"/>
                <a:gd name="T25" fmla="*/ 8 h 20"/>
                <a:gd name="T26" fmla="*/ 17 w 113"/>
                <a:gd name="T27" fmla="*/ 7 h 20"/>
                <a:gd name="T28" fmla="*/ 20 w 113"/>
                <a:gd name="T29" fmla="*/ 9 h 20"/>
                <a:gd name="T30" fmla="*/ 28 w 113"/>
                <a:gd name="T31" fmla="*/ 13 h 20"/>
                <a:gd name="T32" fmla="*/ 24 w 113"/>
                <a:gd name="T33" fmla="*/ 13 h 20"/>
                <a:gd name="T34" fmla="*/ 24 w 113"/>
                <a:gd name="T35" fmla="*/ 9 h 20"/>
                <a:gd name="T36" fmla="*/ 25 w 113"/>
                <a:gd name="T37" fmla="*/ 9 h 20"/>
                <a:gd name="T38" fmla="*/ 27 w 113"/>
                <a:gd name="T39" fmla="*/ 9 h 20"/>
                <a:gd name="T40" fmla="*/ 28 w 113"/>
                <a:gd name="T41" fmla="*/ 7 h 20"/>
                <a:gd name="T42" fmla="*/ 30 w 113"/>
                <a:gd name="T43" fmla="*/ 10 h 20"/>
                <a:gd name="T44" fmla="*/ 41 w 113"/>
                <a:gd name="T45" fmla="*/ 13 h 20"/>
                <a:gd name="T46" fmla="*/ 38 w 113"/>
                <a:gd name="T47" fmla="*/ 12 h 20"/>
                <a:gd name="T48" fmla="*/ 37 w 113"/>
                <a:gd name="T49" fmla="*/ 9 h 20"/>
                <a:gd name="T50" fmla="*/ 40 w 113"/>
                <a:gd name="T51" fmla="*/ 6 h 20"/>
                <a:gd name="T52" fmla="*/ 41 w 113"/>
                <a:gd name="T53" fmla="*/ 9 h 20"/>
                <a:gd name="T54" fmla="*/ 40 w 113"/>
                <a:gd name="T55" fmla="*/ 9 h 20"/>
                <a:gd name="T56" fmla="*/ 40 w 113"/>
                <a:gd name="T57" fmla="*/ 10 h 20"/>
                <a:gd name="T58" fmla="*/ 42 w 113"/>
                <a:gd name="T59" fmla="*/ 9 h 20"/>
                <a:gd name="T60" fmla="*/ 43 w 113"/>
                <a:gd name="T61" fmla="*/ 9 h 20"/>
                <a:gd name="T62" fmla="*/ 51 w 113"/>
                <a:gd name="T63" fmla="*/ 10 h 20"/>
                <a:gd name="T64" fmla="*/ 49 w 113"/>
                <a:gd name="T65" fmla="*/ 13 h 20"/>
                <a:gd name="T66" fmla="*/ 48 w 113"/>
                <a:gd name="T67" fmla="*/ 13 h 20"/>
                <a:gd name="T68" fmla="*/ 48 w 113"/>
                <a:gd name="T69" fmla="*/ 11 h 20"/>
                <a:gd name="T70" fmla="*/ 50 w 113"/>
                <a:gd name="T71" fmla="*/ 7 h 20"/>
                <a:gd name="T72" fmla="*/ 65 w 113"/>
                <a:gd name="T73" fmla="*/ 12 h 20"/>
                <a:gd name="T74" fmla="*/ 62 w 113"/>
                <a:gd name="T75" fmla="*/ 12 h 20"/>
                <a:gd name="T76" fmla="*/ 60 w 113"/>
                <a:gd name="T77" fmla="*/ 10 h 20"/>
                <a:gd name="T78" fmla="*/ 61 w 113"/>
                <a:gd name="T79" fmla="*/ 11 h 20"/>
                <a:gd name="T80" fmla="*/ 60 w 113"/>
                <a:gd name="T81" fmla="*/ 7 h 20"/>
                <a:gd name="T82" fmla="*/ 63 w 113"/>
                <a:gd name="T83" fmla="*/ 7 h 20"/>
                <a:gd name="T84" fmla="*/ 65 w 113"/>
                <a:gd name="T85" fmla="*/ 11 h 20"/>
                <a:gd name="T86" fmla="*/ 71 w 113"/>
                <a:gd name="T87" fmla="*/ 12 h 20"/>
                <a:gd name="T88" fmla="*/ 69 w 113"/>
                <a:gd name="T89" fmla="*/ 11 h 20"/>
                <a:gd name="T90" fmla="*/ 70 w 113"/>
                <a:gd name="T91" fmla="*/ 9 h 20"/>
                <a:gd name="T92" fmla="*/ 74 w 113"/>
                <a:gd name="T93" fmla="*/ 12 h 20"/>
                <a:gd name="T94" fmla="*/ 84 w 113"/>
                <a:gd name="T95" fmla="*/ 11 h 20"/>
                <a:gd name="T96" fmla="*/ 84 w 113"/>
                <a:gd name="T97" fmla="*/ 13 h 20"/>
                <a:gd name="T98" fmla="*/ 83 w 113"/>
                <a:gd name="T99" fmla="*/ 11 h 20"/>
                <a:gd name="T100" fmla="*/ 84 w 113"/>
                <a:gd name="T101" fmla="*/ 8 h 20"/>
                <a:gd name="T102" fmla="*/ 84 w 113"/>
                <a:gd name="T103" fmla="*/ 6 h 20"/>
                <a:gd name="T104" fmla="*/ 87 w 113"/>
                <a:gd name="T105" fmla="*/ 9 h 20"/>
                <a:gd name="T106" fmla="*/ 88 w 113"/>
                <a:gd name="T107" fmla="*/ 9 h 20"/>
                <a:gd name="T108" fmla="*/ 87 w 113"/>
                <a:gd name="T109" fmla="*/ 9 h 20"/>
                <a:gd name="T110" fmla="*/ 94 w 113"/>
                <a:gd name="T111" fmla="*/ 12 h 20"/>
                <a:gd name="T112" fmla="*/ 96 w 113"/>
                <a:gd name="T113" fmla="*/ 12 h 20"/>
                <a:gd name="T114" fmla="*/ 94 w 113"/>
                <a:gd name="T115" fmla="*/ 10 h 20"/>
                <a:gd name="T116" fmla="*/ 93 w 113"/>
                <a:gd name="T117" fmla="*/ 12 h 20"/>
                <a:gd name="T118" fmla="*/ 92 w 113"/>
                <a:gd name="T119" fmla="*/ 11 h 20"/>
                <a:gd name="T120" fmla="*/ 92 w 113"/>
                <a:gd name="T121" fmla="*/ 9 h 20"/>
                <a:gd name="T122" fmla="*/ 94 w 113"/>
                <a:gd name="T123" fmla="*/ 7 h 20"/>
                <a:gd name="T124" fmla="*/ 95 w 113"/>
                <a:gd name="T125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13" h="20">
                  <a:moveTo>
                    <a:pt x="110" y="4"/>
                  </a:moveTo>
                  <a:cubicBezTo>
                    <a:pt x="110" y="0"/>
                    <a:pt x="110" y="0"/>
                    <a:pt x="11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113" y="4"/>
                    <a:pt x="113" y="4"/>
                    <a:pt x="113" y="4"/>
                  </a:cubicBezTo>
                  <a:lnTo>
                    <a:pt x="110" y="4"/>
                  </a:lnTo>
                  <a:close/>
                  <a:moveTo>
                    <a:pt x="95" y="7"/>
                  </a:moveTo>
                  <a:cubicBezTo>
                    <a:pt x="95" y="7"/>
                    <a:pt x="95" y="7"/>
                    <a:pt x="96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6"/>
                    <a:pt x="96" y="6"/>
                    <a:pt x="96" y="6"/>
                  </a:cubicBezTo>
                  <a:cubicBezTo>
                    <a:pt x="96" y="6"/>
                    <a:pt x="96" y="6"/>
                    <a:pt x="96" y="6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lose/>
                  <a:moveTo>
                    <a:pt x="93" y="5"/>
                  </a:moveTo>
                  <a:cubicBezTo>
                    <a:pt x="93" y="5"/>
                    <a:pt x="93" y="5"/>
                    <a:pt x="93" y="5"/>
                  </a:cubicBezTo>
                  <a:cubicBezTo>
                    <a:pt x="93" y="5"/>
                    <a:pt x="93" y="5"/>
                    <a:pt x="93" y="5"/>
                  </a:cubicBezTo>
                  <a:cubicBezTo>
                    <a:pt x="93" y="5"/>
                    <a:pt x="93" y="5"/>
                    <a:pt x="93" y="5"/>
                  </a:cubicBezTo>
                  <a:cubicBezTo>
                    <a:pt x="93" y="5"/>
                    <a:pt x="93" y="5"/>
                    <a:pt x="93" y="5"/>
                  </a:cubicBezTo>
                  <a:cubicBezTo>
                    <a:pt x="93" y="5"/>
                    <a:pt x="94" y="5"/>
                    <a:pt x="94" y="6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6"/>
                    <a:pt x="93" y="6"/>
                    <a:pt x="93" y="6"/>
                  </a:cubicBezTo>
                  <a:cubicBezTo>
                    <a:pt x="93" y="6"/>
                    <a:pt x="93" y="6"/>
                    <a:pt x="93" y="6"/>
                  </a:cubicBezTo>
                  <a:cubicBezTo>
                    <a:pt x="93" y="6"/>
                    <a:pt x="93" y="6"/>
                    <a:pt x="93" y="6"/>
                  </a:cubicBezTo>
                  <a:cubicBezTo>
                    <a:pt x="93" y="6"/>
                    <a:pt x="93" y="6"/>
                    <a:pt x="93" y="6"/>
                  </a:cubicBezTo>
                  <a:cubicBezTo>
                    <a:pt x="93" y="5"/>
                    <a:pt x="93" y="5"/>
                    <a:pt x="93" y="5"/>
                  </a:cubicBezTo>
                  <a:cubicBezTo>
                    <a:pt x="93" y="5"/>
                    <a:pt x="93" y="5"/>
                    <a:pt x="93" y="5"/>
                  </a:cubicBezTo>
                  <a:cubicBezTo>
                    <a:pt x="93" y="5"/>
                    <a:pt x="93" y="5"/>
                    <a:pt x="93" y="5"/>
                  </a:cubicBezTo>
                  <a:close/>
                  <a:moveTo>
                    <a:pt x="86" y="7"/>
                  </a:moveTo>
                  <a:cubicBezTo>
                    <a:pt x="86" y="7"/>
                    <a:pt x="86" y="6"/>
                    <a:pt x="86" y="6"/>
                  </a:cubicBezTo>
                  <a:cubicBezTo>
                    <a:pt x="86" y="6"/>
                    <a:pt x="86" y="6"/>
                    <a:pt x="86" y="6"/>
                  </a:cubicBezTo>
                  <a:cubicBezTo>
                    <a:pt x="86" y="6"/>
                    <a:pt x="86" y="6"/>
                    <a:pt x="86" y="6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7" y="7"/>
                    <a:pt x="87" y="7"/>
                  </a:cubicBezTo>
                  <a:cubicBezTo>
                    <a:pt x="87" y="7"/>
                    <a:pt x="87" y="7"/>
                    <a:pt x="86" y="7"/>
                  </a:cubicBezTo>
                  <a:cubicBezTo>
                    <a:pt x="86" y="7"/>
                    <a:pt x="86" y="8"/>
                    <a:pt x="86" y="8"/>
                  </a:cubicBezTo>
                  <a:cubicBezTo>
                    <a:pt x="86" y="8"/>
                    <a:pt x="86" y="8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lose/>
                  <a:moveTo>
                    <a:pt x="74" y="10"/>
                  </a:moveTo>
                  <a:cubicBezTo>
                    <a:pt x="74" y="10"/>
                    <a:pt x="74" y="11"/>
                    <a:pt x="74" y="11"/>
                  </a:cubicBezTo>
                  <a:cubicBezTo>
                    <a:pt x="74" y="11"/>
                    <a:pt x="74" y="11"/>
                    <a:pt x="74" y="11"/>
                  </a:cubicBezTo>
                  <a:cubicBezTo>
                    <a:pt x="74" y="11"/>
                    <a:pt x="73" y="11"/>
                    <a:pt x="73" y="11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3" y="10"/>
                    <a:pt x="74" y="10"/>
                    <a:pt x="74" y="10"/>
                  </a:cubicBezTo>
                  <a:close/>
                  <a:moveTo>
                    <a:pt x="70" y="6"/>
                  </a:moveTo>
                  <a:cubicBezTo>
                    <a:pt x="70" y="6"/>
                    <a:pt x="70" y="6"/>
                    <a:pt x="70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7"/>
                    <a:pt x="71" y="7"/>
                  </a:cubicBezTo>
                  <a:cubicBezTo>
                    <a:pt x="71" y="7"/>
                    <a:pt x="71" y="7"/>
                    <a:pt x="71" y="7"/>
                  </a:cubicBezTo>
                  <a:cubicBezTo>
                    <a:pt x="71" y="7"/>
                    <a:pt x="71" y="7"/>
                    <a:pt x="71" y="7"/>
                  </a:cubicBezTo>
                  <a:cubicBezTo>
                    <a:pt x="71" y="7"/>
                    <a:pt x="71" y="7"/>
                    <a:pt x="71" y="7"/>
                  </a:cubicBezTo>
                  <a:cubicBezTo>
                    <a:pt x="72" y="7"/>
                    <a:pt x="72" y="7"/>
                    <a:pt x="72" y="7"/>
                  </a:cubicBezTo>
                  <a:cubicBezTo>
                    <a:pt x="72" y="7"/>
                    <a:pt x="72" y="7"/>
                    <a:pt x="72" y="7"/>
                  </a:cubicBezTo>
                  <a:cubicBezTo>
                    <a:pt x="72" y="7"/>
                    <a:pt x="72" y="7"/>
                    <a:pt x="72" y="7"/>
                  </a:cubicBezTo>
                  <a:cubicBezTo>
                    <a:pt x="72" y="7"/>
                    <a:pt x="72" y="7"/>
                    <a:pt x="71" y="7"/>
                  </a:cubicBezTo>
                  <a:cubicBezTo>
                    <a:pt x="71" y="7"/>
                    <a:pt x="71" y="7"/>
                    <a:pt x="71" y="7"/>
                  </a:cubicBezTo>
                  <a:cubicBezTo>
                    <a:pt x="71" y="7"/>
                    <a:pt x="71" y="8"/>
                    <a:pt x="71" y="8"/>
                  </a:cubicBezTo>
                  <a:cubicBezTo>
                    <a:pt x="71" y="8"/>
                    <a:pt x="71" y="8"/>
                    <a:pt x="71" y="8"/>
                  </a:cubicBezTo>
                  <a:cubicBezTo>
                    <a:pt x="71" y="8"/>
                    <a:pt x="71" y="8"/>
                    <a:pt x="71" y="8"/>
                  </a:cubicBezTo>
                  <a:cubicBezTo>
                    <a:pt x="71" y="8"/>
                    <a:pt x="72" y="8"/>
                    <a:pt x="72" y="8"/>
                  </a:cubicBezTo>
                  <a:cubicBezTo>
                    <a:pt x="72" y="8"/>
                    <a:pt x="72" y="8"/>
                    <a:pt x="72" y="8"/>
                  </a:cubicBezTo>
                  <a:cubicBezTo>
                    <a:pt x="72" y="8"/>
                    <a:pt x="72" y="8"/>
                    <a:pt x="72" y="7"/>
                  </a:cubicBezTo>
                  <a:cubicBezTo>
                    <a:pt x="72" y="7"/>
                    <a:pt x="72" y="7"/>
                    <a:pt x="72" y="7"/>
                  </a:cubicBezTo>
                  <a:cubicBezTo>
                    <a:pt x="72" y="7"/>
                    <a:pt x="72" y="7"/>
                    <a:pt x="72" y="7"/>
                  </a:cubicBezTo>
                  <a:cubicBezTo>
                    <a:pt x="72" y="6"/>
                    <a:pt x="72" y="6"/>
                    <a:pt x="72" y="6"/>
                  </a:cubicBezTo>
                  <a:cubicBezTo>
                    <a:pt x="72" y="6"/>
                    <a:pt x="72" y="6"/>
                    <a:pt x="72" y="6"/>
                  </a:cubicBezTo>
                  <a:cubicBezTo>
                    <a:pt x="72" y="6"/>
                    <a:pt x="72" y="6"/>
                    <a:pt x="71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6"/>
                    <a:pt x="72" y="6"/>
                  </a:cubicBezTo>
                  <a:cubicBezTo>
                    <a:pt x="72" y="6"/>
                    <a:pt x="72" y="6"/>
                    <a:pt x="72" y="6"/>
                  </a:cubicBezTo>
                  <a:cubicBezTo>
                    <a:pt x="72" y="6"/>
                    <a:pt x="72" y="6"/>
                    <a:pt x="72" y="6"/>
                  </a:cubicBezTo>
                  <a:cubicBezTo>
                    <a:pt x="72" y="6"/>
                    <a:pt x="72" y="5"/>
                    <a:pt x="72" y="5"/>
                  </a:cubicBezTo>
                  <a:cubicBezTo>
                    <a:pt x="72" y="6"/>
                    <a:pt x="73" y="6"/>
                    <a:pt x="73" y="6"/>
                  </a:cubicBezTo>
                  <a:cubicBezTo>
                    <a:pt x="73" y="6"/>
                    <a:pt x="73" y="6"/>
                    <a:pt x="73" y="6"/>
                  </a:cubicBezTo>
                  <a:cubicBezTo>
                    <a:pt x="73" y="6"/>
                    <a:pt x="73" y="6"/>
                    <a:pt x="73" y="6"/>
                  </a:cubicBezTo>
                  <a:cubicBezTo>
                    <a:pt x="73" y="6"/>
                    <a:pt x="73" y="6"/>
                    <a:pt x="73" y="7"/>
                  </a:cubicBezTo>
                  <a:cubicBezTo>
                    <a:pt x="73" y="7"/>
                    <a:pt x="73" y="7"/>
                    <a:pt x="73" y="7"/>
                  </a:cubicBezTo>
                  <a:cubicBezTo>
                    <a:pt x="73" y="7"/>
                    <a:pt x="73" y="7"/>
                    <a:pt x="73" y="7"/>
                  </a:cubicBezTo>
                  <a:cubicBezTo>
                    <a:pt x="73" y="7"/>
                    <a:pt x="73" y="7"/>
                    <a:pt x="73" y="8"/>
                  </a:cubicBezTo>
                  <a:cubicBezTo>
                    <a:pt x="73" y="8"/>
                    <a:pt x="73" y="8"/>
                    <a:pt x="73" y="8"/>
                  </a:cubicBezTo>
                  <a:cubicBezTo>
                    <a:pt x="73" y="8"/>
                    <a:pt x="73" y="8"/>
                    <a:pt x="73" y="8"/>
                  </a:cubicBezTo>
                  <a:cubicBezTo>
                    <a:pt x="73" y="8"/>
                    <a:pt x="72" y="8"/>
                    <a:pt x="72" y="9"/>
                  </a:cubicBezTo>
                  <a:cubicBezTo>
                    <a:pt x="72" y="9"/>
                    <a:pt x="72" y="9"/>
                    <a:pt x="72" y="9"/>
                  </a:cubicBezTo>
                  <a:cubicBezTo>
                    <a:pt x="72" y="9"/>
                    <a:pt x="72" y="9"/>
                    <a:pt x="72" y="9"/>
                  </a:cubicBezTo>
                  <a:cubicBezTo>
                    <a:pt x="72" y="8"/>
                    <a:pt x="72" y="8"/>
                    <a:pt x="72" y="9"/>
                  </a:cubicBezTo>
                  <a:cubicBezTo>
                    <a:pt x="72" y="9"/>
                    <a:pt x="72" y="9"/>
                    <a:pt x="72" y="9"/>
                  </a:cubicBezTo>
                  <a:cubicBezTo>
                    <a:pt x="72" y="9"/>
                    <a:pt x="71" y="9"/>
                    <a:pt x="71" y="9"/>
                  </a:cubicBezTo>
                  <a:cubicBezTo>
                    <a:pt x="71" y="9"/>
                    <a:pt x="71" y="9"/>
                    <a:pt x="71" y="9"/>
                  </a:cubicBezTo>
                  <a:cubicBezTo>
                    <a:pt x="71" y="9"/>
                    <a:pt x="71" y="9"/>
                    <a:pt x="71" y="9"/>
                  </a:cubicBezTo>
                  <a:cubicBezTo>
                    <a:pt x="71" y="9"/>
                    <a:pt x="71" y="9"/>
                    <a:pt x="71" y="9"/>
                  </a:cubicBezTo>
                  <a:cubicBezTo>
                    <a:pt x="71" y="9"/>
                    <a:pt x="70" y="9"/>
                    <a:pt x="70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0" y="9"/>
                    <a:pt x="70" y="9"/>
                    <a:pt x="70" y="8"/>
                  </a:cubicBezTo>
                  <a:cubicBezTo>
                    <a:pt x="70" y="8"/>
                    <a:pt x="70" y="8"/>
                    <a:pt x="70" y="8"/>
                  </a:cubicBezTo>
                  <a:cubicBezTo>
                    <a:pt x="70" y="8"/>
                    <a:pt x="70" y="8"/>
                    <a:pt x="70" y="8"/>
                  </a:cubicBezTo>
                  <a:cubicBezTo>
                    <a:pt x="70" y="8"/>
                    <a:pt x="70" y="8"/>
                    <a:pt x="70" y="8"/>
                  </a:cubicBezTo>
                  <a:cubicBezTo>
                    <a:pt x="70" y="8"/>
                    <a:pt x="70" y="8"/>
                    <a:pt x="70" y="8"/>
                  </a:cubicBezTo>
                  <a:cubicBezTo>
                    <a:pt x="70" y="8"/>
                    <a:pt x="70" y="7"/>
                    <a:pt x="70" y="7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7"/>
                    <a:pt x="70" y="7"/>
                    <a:pt x="70" y="6"/>
                  </a:cubicBezTo>
                  <a:cubicBezTo>
                    <a:pt x="70" y="6"/>
                    <a:pt x="70" y="6"/>
                    <a:pt x="70" y="6"/>
                  </a:cubicBezTo>
                  <a:close/>
                  <a:moveTo>
                    <a:pt x="63" y="5"/>
                  </a:moveTo>
                  <a:cubicBezTo>
                    <a:pt x="63" y="5"/>
                    <a:pt x="63" y="5"/>
                    <a:pt x="63" y="5"/>
                  </a:cubicBezTo>
                  <a:cubicBezTo>
                    <a:pt x="63" y="5"/>
                    <a:pt x="64" y="5"/>
                    <a:pt x="64" y="5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4" y="5"/>
                    <a:pt x="64" y="6"/>
                    <a:pt x="64" y="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6"/>
                    <a:pt x="64" y="6"/>
                    <a:pt x="63" y="6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63" y="6"/>
                    <a:pt x="63" y="5"/>
                    <a:pt x="63" y="5"/>
                  </a:cubicBezTo>
                  <a:cubicBezTo>
                    <a:pt x="63" y="5"/>
                    <a:pt x="63" y="5"/>
                    <a:pt x="63" y="5"/>
                  </a:cubicBezTo>
                  <a:close/>
                  <a:moveTo>
                    <a:pt x="64" y="9"/>
                  </a:moveTo>
                  <a:cubicBezTo>
                    <a:pt x="64" y="9"/>
                    <a:pt x="64" y="9"/>
                    <a:pt x="64" y="9"/>
                  </a:cubicBezTo>
                  <a:cubicBezTo>
                    <a:pt x="64" y="9"/>
                    <a:pt x="64" y="9"/>
                    <a:pt x="64" y="9"/>
                  </a:cubicBezTo>
                  <a:cubicBezTo>
                    <a:pt x="64" y="9"/>
                    <a:pt x="64" y="9"/>
                    <a:pt x="64" y="9"/>
                  </a:cubicBezTo>
                  <a:cubicBezTo>
                    <a:pt x="64" y="9"/>
                    <a:pt x="63" y="10"/>
                    <a:pt x="63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3" y="9"/>
                    <a:pt x="63" y="9"/>
                    <a:pt x="64" y="9"/>
                  </a:cubicBezTo>
                  <a:cubicBezTo>
                    <a:pt x="64" y="9"/>
                    <a:pt x="64" y="9"/>
                    <a:pt x="64" y="9"/>
                  </a:cubicBezTo>
                  <a:cubicBezTo>
                    <a:pt x="64" y="8"/>
                    <a:pt x="64" y="8"/>
                    <a:pt x="64" y="8"/>
                  </a:cubicBezTo>
                  <a:cubicBezTo>
                    <a:pt x="64" y="8"/>
                    <a:pt x="64" y="9"/>
                    <a:pt x="64" y="9"/>
                  </a:cubicBezTo>
                  <a:cubicBezTo>
                    <a:pt x="64" y="9"/>
                    <a:pt x="64" y="9"/>
                    <a:pt x="64" y="9"/>
                  </a:cubicBezTo>
                  <a:close/>
                  <a:moveTo>
                    <a:pt x="49" y="5"/>
                  </a:move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50" y="5"/>
                  </a:cubicBezTo>
                  <a:cubicBezTo>
                    <a:pt x="50" y="5"/>
                    <a:pt x="50" y="5"/>
                    <a:pt x="50" y="5"/>
                  </a:cubicBezTo>
                  <a:cubicBezTo>
                    <a:pt x="50" y="5"/>
                    <a:pt x="50" y="5"/>
                    <a:pt x="50" y="5"/>
                  </a:cubicBezTo>
                  <a:cubicBezTo>
                    <a:pt x="50" y="5"/>
                    <a:pt x="50" y="5"/>
                    <a:pt x="50" y="5"/>
                  </a:cubicBezTo>
                  <a:cubicBezTo>
                    <a:pt x="50" y="5"/>
                    <a:pt x="50" y="5"/>
                    <a:pt x="50" y="5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lose/>
                  <a:moveTo>
                    <a:pt x="43" y="7"/>
                  </a:moveTo>
                  <a:cubicBezTo>
                    <a:pt x="43" y="7"/>
                    <a:pt x="43" y="7"/>
                    <a:pt x="44" y="7"/>
                  </a:cubicBezTo>
                  <a:cubicBezTo>
                    <a:pt x="44" y="7"/>
                    <a:pt x="44" y="7"/>
                    <a:pt x="44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8"/>
                    <a:pt x="43" y="8"/>
                    <a:pt x="43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lose/>
                  <a:moveTo>
                    <a:pt x="20" y="9"/>
                  </a:moveTo>
                  <a:cubicBezTo>
                    <a:pt x="20" y="9"/>
                    <a:pt x="20" y="10"/>
                    <a:pt x="20" y="10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20" y="10"/>
                    <a:pt x="20" y="11"/>
                    <a:pt x="20" y="11"/>
                  </a:cubicBezTo>
                  <a:cubicBezTo>
                    <a:pt x="20" y="11"/>
                    <a:pt x="20" y="11"/>
                    <a:pt x="20" y="11"/>
                  </a:cubicBezTo>
                  <a:cubicBezTo>
                    <a:pt x="20" y="11"/>
                    <a:pt x="20" y="12"/>
                    <a:pt x="20" y="12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2"/>
                    <a:pt x="20" y="12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18" y="14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8" y="14"/>
                    <a:pt x="18" y="14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19" y="14"/>
                    <a:pt x="20" y="14"/>
                  </a:cubicBezTo>
                  <a:cubicBezTo>
                    <a:pt x="20" y="14"/>
                    <a:pt x="20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2"/>
                    <a:pt x="20" y="12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1"/>
                    <a:pt x="20" y="11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11"/>
                    <a:pt x="19" y="11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12"/>
                    <a:pt x="19" y="12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6" y="13"/>
                    <a:pt x="16" y="13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5" y="13"/>
                    <a:pt x="15" y="13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4" y="9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5" y="9"/>
                    <a:pt x="15" y="9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8"/>
                    <a:pt x="14" y="8"/>
                    <a:pt x="15" y="8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8"/>
                    <a:pt x="15" y="8"/>
                    <a:pt x="15" y="9"/>
                  </a:cubicBezTo>
                  <a:cubicBezTo>
                    <a:pt x="15" y="9"/>
                    <a:pt x="15" y="9"/>
                    <a:pt x="15" y="9"/>
                  </a:cubicBezTo>
                  <a:cubicBezTo>
                    <a:pt x="15" y="9"/>
                    <a:pt x="15" y="9"/>
                    <a:pt x="15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9"/>
                    <a:pt x="17" y="9"/>
                    <a:pt x="17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8"/>
                    <a:pt x="17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7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8"/>
                    <a:pt x="17" y="7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7"/>
                    <a:pt x="17" y="7"/>
                    <a:pt x="18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9" y="6"/>
                    <a:pt x="19" y="6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8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0" y="9"/>
                    <a:pt x="20" y="9"/>
                    <a:pt x="20" y="9"/>
                  </a:cubicBezTo>
                  <a:cubicBezTo>
                    <a:pt x="20" y="9"/>
                    <a:pt x="20" y="9"/>
                    <a:pt x="20" y="9"/>
                  </a:cubicBezTo>
                  <a:close/>
                  <a:moveTo>
                    <a:pt x="30" y="10"/>
                  </a:moveTo>
                  <a:cubicBezTo>
                    <a:pt x="29" y="10"/>
                    <a:pt x="29" y="10"/>
                    <a:pt x="29" y="10"/>
                  </a:cubicBezTo>
                  <a:cubicBezTo>
                    <a:pt x="29" y="10"/>
                    <a:pt x="29" y="10"/>
                    <a:pt x="29" y="10"/>
                  </a:cubicBezTo>
                  <a:cubicBezTo>
                    <a:pt x="29" y="10"/>
                    <a:pt x="29" y="10"/>
                    <a:pt x="29" y="10"/>
                  </a:cubicBezTo>
                  <a:cubicBezTo>
                    <a:pt x="29" y="10"/>
                    <a:pt x="29" y="10"/>
                    <a:pt x="29" y="10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8" y="10"/>
                    <a:pt x="28" y="11"/>
                    <a:pt x="28" y="11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9" y="11"/>
                    <a:pt x="29" y="11"/>
                    <a:pt x="29" y="11"/>
                  </a:cubicBezTo>
                  <a:cubicBezTo>
                    <a:pt x="29" y="11"/>
                    <a:pt x="29" y="11"/>
                    <a:pt x="29" y="11"/>
                  </a:cubicBezTo>
                  <a:cubicBezTo>
                    <a:pt x="29" y="11"/>
                    <a:pt x="30" y="11"/>
                    <a:pt x="29" y="11"/>
                  </a:cubicBezTo>
                  <a:cubicBezTo>
                    <a:pt x="29" y="11"/>
                    <a:pt x="29" y="11"/>
                    <a:pt x="29" y="11"/>
                  </a:cubicBezTo>
                  <a:cubicBezTo>
                    <a:pt x="29" y="12"/>
                    <a:pt x="29" y="12"/>
                    <a:pt x="29" y="12"/>
                  </a:cubicBezTo>
                  <a:cubicBezTo>
                    <a:pt x="29" y="12"/>
                    <a:pt x="29" y="12"/>
                    <a:pt x="29" y="12"/>
                  </a:cubicBezTo>
                  <a:cubicBezTo>
                    <a:pt x="29" y="13"/>
                    <a:pt x="29" y="13"/>
                    <a:pt x="29" y="13"/>
                  </a:cubicBezTo>
                  <a:cubicBezTo>
                    <a:pt x="29" y="13"/>
                    <a:pt x="29" y="13"/>
                    <a:pt x="29" y="13"/>
                  </a:cubicBezTo>
                  <a:cubicBezTo>
                    <a:pt x="29" y="13"/>
                    <a:pt x="29" y="13"/>
                    <a:pt x="29" y="13"/>
                  </a:cubicBezTo>
                  <a:cubicBezTo>
                    <a:pt x="29" y="13"/>
                    <a:pt x="29" y="13"/>
                    <a:pt x="28" y="13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3"/>
                    <a:pt x="27" y="13"/>
                    <a:pt x="27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2"/>
                    <a:pt x="26" y="12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5" y="12"/>
                    <a:pt x="25" y="12"/>
                    <a:pt x="25" y="12"/>
                  </a:cubicBezTo>
                  <a:cubicBezTo>
                    <a:pt x="25" y="12"/>
                    <a:pt x="25" y="12"/>
                    <a:pt x="25" y="12"/>
                  </a:cubicBezTo>
                  <a:cubicBezTo>
                    <a:pt x="25" y="12"/>
                    <a:pt x="25" y="12"/>
                    <a:pt x="25" y="12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4" y="12"/>
                    <a:pt x="25" y="12"/>
                    <a:pt x="25" y="12"/>
                  </a:cubicBezTo>
                  <a:cubicBezTo>
                    <a:pt x="25" y="12"/>
                    <a:pt x="25" y="12"/>
                    <a:pt x="25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5" y="11"/>
                    <a:pt x="24" y="11"/>
                    <a:pt x="24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24" y="11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5" y="10"/>
                    <a:pt x="25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4" y="9"/>
                    <a:pt x="24" y="9"/>
                    <a:pt x="24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5" y="8"/>
                    <a:pt x="25" y="8"/>
                    <a:pt x="25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8"/>
                    <a:pt x="26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6" y="8"/>
                    <a:pt x="26" y="8"/>
                    <a:pt x="25" y="8"/>
                  </a:cubicBezTo>
                  <a:cubicBezTo>
                    <a:pt x="25" y="8"/>
                    <a:pt x="25" y="9"/>
                    <a:pt x="25" y="9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25" y="9"/>
                    <a:pt x="26" y="9"/>
                    <a:pt x="26" y="9"/>
                  </a:cubicBezTo>
                  <a:cubicBezTo>
                    <a:pt x="26" y="9"/>
                    <a:pt x="26" y="9"/>
                    <a:pt x="26" y="9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6" y="10"/>
                    <a:pt x="25" y="10"/>
                  </a:cubicBezTo>
                  <a:cubicBezTo>
                    <a:pt x="25" y="10"/>
                    <a:pt x="25" y="10"/>
                    <a:pt x="25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5" y="11"/>
                    <a:pt x="25" y="11"/>
                    <a:pt x="26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6" y="11"/>
                    <a:pt x="26" y="11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7" y="10"/>
                    <a:pt x="27" y="10"/>
                  </a:cubicBezTo>
                  <a:cubicBezTo>
                    <a:pt x="27" y="10"/>
                    <a:pt x="27" y="10"/>
                    <a:pt x="27" y="10"/>
                  </a:cubicBezTo>
                  <a:cubicBezTo>
                    <a:pt x="27" y="10"/>
                    <a:pt x="27" y="10"/>
                    <a:pt x="27" y="10"/>
                  </a:cubicBezTo>
                  <a:cubicBezTo>
                    <a:pt x="27" y="10"/>
                    <a:pt x="27" y="9"/>
                    <a:pt x="27" y="9"/>
                  </a:cubicBezTo>
                  <a:cubicBezTo>
                    <a:pt x="27" y="9"/>
                    <a:pt x="27" y="9"/>
                    <a:pt x="27" y="9"/>
                  </a:cubicBezTo>
                  <a:cubicBezTo>
                    <a:pt x="27" y="9"/>
                    <a:pt x="27" y="9"/>
                    <a:pt x="27" y="9"/>
                  </a:cubicBezTo>
                  <a:cubicBezTo>
                    <a:pt x="27" y="9"/>
                    <a:pt x="27" y="9"/>
                    <a:pt x="27" y="9"/>
                  </a:cubicBezTo>
                  <a:cubicBezTo>
                    <a:pt x="26" y="9"/>
                    <a:pt x="26" y="9"/>
                    <a:pt x="26" y="9"/>
                  </a:cubicBezTo>
                  <a:cubicBezTo>
                    <a:pt x="26" y="9"/>
                    <a:pt x="26" y="9"/>
                    <a:pt x="26" y="9"/>
                  </a:cubicBezTo>
                  <a:cubicBezTo>
                    <a:pt x="26" y="9"/>
                    <a:pt x="26" y="9"/>
                    <a:pt x="26" y="9"/>
                  </a:cubicBezTo>
                  <a:cubicBezTo>
                    <a:pt x="26" y="9"/>
                    <a:pt x="26" y="9"/>
                    <a:pt x="26" y="8"/>
                  </a:cubicBezTo>
                  <a:cubicBezTo>
                    <a:pt x="26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8" y="8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8" y="8"/>
                    <a:pt x="28" y="8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28" y="6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8" y="8"/>
                    <a:pt x="29" y="8"/>
                    <a:pt x="29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29" y="8"/>
                    <a:pt x="29" y="9"/>
                    <a:pt x="29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28" y="9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30" y="9"/>
                    <a:pt x="30" y="10"/>
                    <a:pt x="30" y="10"/>
                  </a:cubicBezTo>
                  <a:cubicBezTo>
                    <a:pt x="30" y="10"/>
                    <a:pt x="30" y="10"/>
                    <a:pt x="30" y="10"/>
                  </a:cubicBezTo>
                  <a:close/>
                  <a:moveTo>
                    <a:pt x="44" y="13"/>
                  </a:moveTo>
                  <a:cubicBezTo>
                    <a:pt x="44" y="13"/>
                    <a:pt x="44" y="13"/>
                    <a:pt x="44" y="13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3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2" y="12"/>
                    <a:pt x="42" y="12"/>
                    <a:pt x="42" y="12"/>
                  </a:cubicBezTo>
                  <a:cubicBezTo>
                    <a:pt x="42" y="12"/>
                    <a:pt x="42" y="12"/>
                    <a:pt x="42" y="12"/>
                  </a:cubicBezTo>
                  <a:cubicBezTo>
                    <a:pt x="42" y="12"/>
                    <a:pt x="42" y="12"/>
                    <a:pt x="42" y="12"/>
                  </a:cubicBezTo>
                  <a:cubicBezTo>
                    <a:pt x="42" y="12"/>
                    <a:pt x="41" y="12"/>
                    <a:pt x="41" y="1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12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2"/>
                    <a:pt x="41" y="12"/>
                    <a:pt x="40" y="12"/>
                  </a:cubicBezTo>
                  <a:cubicBezTo>
                    <a:pt x="40" y="12"/>
                    <a:pt x="40" y="12"/>
                    <a:pt x="40" y="12"/>
                  </a:cubicBezTo>
                  <a:cubicBezTo>
                    <a:pt x="40" y="12"/>
                    <a:pt x="40" y="13"/>
                    <a:pt x="40" y="13"/>
                  </a:cubicBezTo>
                  <a:cubicBezTo>
                    <a:pt x="40" y="13"/>
                    <a:pt x="40" y="13"/>
                    <a:pt x="40" y="13"/>
                  </a:cubicBezTo>
                  <a:cubicBezTo>
                    <a:pt x="40" y="13"/>
                    <a:pt x="40" y="13"/>
                    <a:pt x="40" y="13"/>
                  </a:cubicBezTo>
                  <a:cubicBezTo>
                    <a:pt x="40" y="13"/>
                    <a:pt x="40" y="13"/>
                    <a:pt x="40" y="13"/>
                  </a:cubicBezTo>
                  <a:cubicBezTo>
                    <a:pt x="40" y="13"/>
                    <a:pt x="40" y="13"/>
                    <a:pt x="40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8" y="13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1"/>
                    <a:pt x="38" y="11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3"/>
                    <a:pt x="38" y="13"/>
                  </a:cubicBezTo>
                  <a:cubicBezTo>
                    <a:pt x="38" y="13"/>
                    <a:pt x="37" y="13"/>
                    <a:pt x="37" y="13"/>
                  </a:cubicBezTo>
                  <a:cubicBezTo>
                    <a:pt x="37" y="13"/>
                    <a:pt x="37" y="13"/>
                    <a:pt x="37" y="13"/>
                  </a:cubicBezTo>
                  <a:cubicBezTo>
                    <a:pt x="37" y="13"/>
                    <a:pt x="37" y="13"/>
                    <a:pt x="37" y="13"/>
                  </a:cubicBezTo>
                  <a:cubicBezTo>
                    <a:pt x="37" y="13"/>
                    <a:pt x="37" y="13"/>
                    <a:pt x="37" y="12"/>
                  </a:cubicBezTo>
                  <a:cubicBezTo>
                    <a:pt x="37" y="12"/>
                    <a:pt x="37" y="12"/>
                    <a:pt x="37" y="12"/>
                  </a:cubicBezTo>
                  <a:cubicBezTo>
                    <a:pt x="37" y="12"/>
                    <a:pt x="37" y="12"/>
                    <a:pt x="37" y="12"/>
                  </a:cubicBezTo>
                  <a:cubicBezTo>
                    <a:pt x="37" y="12"/>
                    <a:pt x="37" y="12"/>
                    <a:pt x="37" y="12"/>
                  </a:cubicBezTo>
                  <a:cubicBezTo>
                    <a:pt x="37" y="12"/>
                    <a:pt x="37" y="12"/>
                    <a:pt x="37" y="11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8" y="11"/>
                    <a:pt x="38" y="11"/>
                    <a:pt x="38" y="10"/>
                  </a:cubicBezTo>
                  <a:cubicBezTo>
                    <a:pt x="38" y="10"/>
                    <a:pt x="38" y="10"/>
                    <a:pt x="38" y="10"/>
                  </a:cubicBezTo>
                  <a:cubicBezTo>
                    <a:pt x="38" y="10"/>
                    <a:pt x="38" y="10"/>
                    <a:pt x="38" y="10"/>
                  </a:cubicBezTo>
                  <a:cubicBezTo>
                    <a:pt x="38" y="10"/>
                    <a:pt x="38" y="10"/>
                    <a:pt x="38" y="10"/>
                  </a:cubicBezTo>
                  <a:cubicBezTo>
                    <a:pt x="38" y="9"/>
                    <a:pt x="38" y="9"/>
                    <a:pt x="38" y="9"/>
                  </a:cubicBezTo>
                  <a:cubicBezTo>
                    <a:pt x="38" y="9"/>
                    <a:pt x="38" y="9"/>
                    <a:pt x="38" y="9"/>
                  </a:cubicBezTo>
                  <a:cubicBezTo>
                    <a:pt x="38" y="9"/>
                    <a:pt x="38" y="9"/>
                    <a:pt x="38" y="9"/>
                  </a:cubicBezTo>
                  <a:cubicBezTo>
                    <a:pt x="38" y="9"/>
                    <a:pt x="38" y="9"/>
                    <a:pt x="38" y="9"/>
                  </a:cubicBezTo>
                  <a:cubicBezTo>
                    <a:pt x="38" y="9"/>
                    <a:pt x="37" y="9"/>
                    <a:pt x="37" y="9"/>
                  </a:cubicBezTo>
                  <a:cubicBezTo>
                    <a:pt x="37" y="9"/>
                    <a:pt x="37" y="9"/>
                    <a:pt x="37" y="9"/>
                  </a:cubicBezTo>
                  <a:cubicBezTo>
                    <a:pt x="37" y="9"/>
                    <a:pt x="37" y="9"/>
                    <a:pt x="37" y="9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8"/>
                    <a:pt x="39" y="7"/>
                  </a:cubicBezTo>
                  <a:cubicBezTo>
                    <a:pt x="39" y="7"/>
                    <a:pt x="39" y="7"/>
                    <a:pt x="39" y="7"/>
                  </a:cubicBezTo>
                  <a:cubicBezTo>
                    <a:pt x="39" y="7"/>
                    <a:pt x="39" y="7"/>
                    <a:pt x="39" y="7"/>
                  </a:cubicBezTo>
                  <a:cubicBezTo>
                    <a:pt x="39" y="7"/>
                    <a:pt x="39" y="7"/>
                    <a:pt x="39" y="7"/>
                  </a:cubicBezTo>
                  <a:cubicBezTo>
                    <a:pt x="38" y="7"/>
                    <a:pt x="38" y="7"/>
                    <a:pt x="38" y="7"/>
                  </a:cubicBezTo>
                  <a:cubicBezTo>
                    <a:pt x="38" y="6"/>
                    <a:pt x="38" y="6"/>
                    <a:pt x="39" y="6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6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0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8"/>
                    <a:pt x="40" y="8"/>
                    <a:pt x="40" y="7"/>
                  </a:cubicBezTo>
                  <a:cubicBezTo>
                    <a:pt x="40" y="7"/>
                    <a:pt x="41" y="7"/>
                    <a:pt x="41" y="7"/>
                  </a:cubicBezTo>
                  <a:cubicBezTo>
                    <a:pt x="41" y="7"/>
                    <a:pt x="41" y="7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2" y="8"/>
                    <a:pt x="42" y="9"/>
                    <a:pt x="42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8"/>
                    <a:pt x="40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9"/>
                    <a:pt x="39" y="9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1"/>
                  </a:cubicBezTo>
                  <a:cubicBezTo>
                    <a:pt x="39" y="11"/>
                    <a:pt x="39" y="11"/>
                    <a:pt x="39" y="11"/>
                  </a:cubicBezTo>
                  <a:cubicBezTo>
                    <a:pt x="39" y="11"/>
                    <a:pt x="39" y="11"/>
                    <a:pt x="39" y="11"/>
                  </a:cubicBezTo>
                  <a:cubicBezTo>
                    <a:pt x="39" y="11"/>
                    <a:pt x="39" y="11"/>
                    <a:pt x="39" y="11"/>
                  </a:cubicBezTo>
                  <a:cubicBezTo>
                    <a:pt x="39" y="11"/>
                    <a:pt x="39" y="11"/>
                    <a:pt x="39" y="11"/>
                  </a:cubicBezTo>
                  <a:cubicBezTo>
                    <a:pt x="39" y="11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1" y="1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10"/>
                    <a:pt x="41" y="10"/>
                    <a:pt x="41" y="11"/>
                  </a:cubicBezTo>
                  <a:cubicBezTo>
                    <a:pt x="41" y="11"/>
                    <a:pt x="41" y="11"/>
                    <a:pt x="41" y="11"/>
                  </a:cubicBezTo>
                  <a:cubicBezTo>
                    <a:pt x="41" y="11"/>
                    <a:pt x="41" y="11"/>
                    <a:pt x="41" y="11"/>
                  </a:cubicBezTo>
                  <a:cubicBezTo>
                    <a:pt x="41" y="11"/>
                    <a:pt x="41" y="11"/>
                    <a:pt x="42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2" y="10"/>
                    <a:pt x="42" y="10"/>
                    <a:pt x="42" y="10"/>
                  </a:cubicBezTo>
                  <a:cubicBezTo>
                    <a:pt x="42" y="10"/>
                    <a:pt x="42" y="10"/>
                    <a:pt x="42" y="10"/>
                  </a:cubicBezTo>
                  <a:cubicBezTo>
                    <a:pt x="42" y="10"/>
                    <a:pt x="41" y="10"/>
                    <a:pt x="41" y="1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10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2" y="9"/>
                    <a:pt x="42" y="9"/>
                  </a:cubicBezTo>
                  <a:cubicBezTo>
                    <a:pt x="42" y="9"/>
                    <a:pt x="42" y="9"/>
                    <a:pt x="42" y="9"/>
                  </a:cubicBezTo>
                  <a:cubicBezTo>
                    <a:pt x="42" y="9"/>
                    <a:pt x="42" y="9"/>
                    <a:pt x="42" y="9"/>
                  </a:cubicBezTo>
                  <a:cubicBezTo>
                    <a:pt x="42" y="9"/>
                    <a:pt x="42" y="8"/>
                    <a:pt x="42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2" y="8"/>
                    <a:pt x="42" y="7"/>
                    <a:pt x="42" y="7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2" y="7"/>
                    <a:pt x="42" y="6"/>
                    <a:pt x="42" y="6"/>
                  </a:cubicBezTo>
                  <a:cubicBezTo>
                    <a:pt x="42" y="6"/>
                    <a:pt x="42" y="6"/>
                    <a:pt x="42" y="6"/>
                  </a:cubicBezTo>
                  <a:cubicBezTo>
                    <a:pt x="42" y="6"/>
                    <a:pt x="42" y="6"/>
                    <a:pt x="42" y="6"/>
                  </a:cubicBezTo>
                  <a:cubicBezTo>
                    <a:pt x="43" y="6"/>
                    <a:pt x="43" y="6"/>
                    <a:pt x="43" y="6"/>
                  </a:cubicBezTo>
                  <a:cubicBezTo>
                    <a:pt x="43" y="6"/>
                    <a:pt x="43" y="6"/>
                    <a:pt x="43" y="6"/>
                  </a:cubicBezTo>
                  <a:cubicBezTo>
                    <a:pt x="43" y="6"/>
                    <a:pt x="43" y="6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3" y="8"/>
                    <a:pt x="43" y="8"/>
                    <a:pt x="43" y="9"/>
                  </a:cubicBezTo>
                  <a:cubicBezTo>
                    <a:pt x="43" y="9"/>
                    <a:pt x="43" y="9"/>
                    <a:pt x="43" y="9"/>
                  </a:cubicBezTo>
                  <a:cubicBezTo>
                    <a:pt x="43" y="9"/>
                    <a:pt x="43" y="9"/>
                    <a:pt x="43" y="9"/>
                  </a:cubicBezTo>
                  <a:cubicBezTo>
                    <a:pt x="43" y="9"/>
                    <a:pt x="43" y="9"/>
                    <a:pt x="43" y="9"/>
                  </a:cubicBezTo>
                  <a:cubicBezTo>
                    <a:pt x="43" y="9"/>
                    <a:pt x="43" y="9"/>
                    <a:pt x="43" y="9"/>
                  </a:cubicBezTo>
                  <a:cubicBezTo>
                    <a:pt x="43" y="9"/>
                    <a:pt x="43" y="9"/>
                    <a:pt x="43" y="9"/>
                  </a:cubicBezTo>
                  <a:cubicBezTo>
                    <a:pt x="43" y="9"/>
                    <a:pt x="43" y="9"/>
                    <a:pt x="43" y="10"/>
                  </a:cubicBezTo>
                  <a:cubicBezTo>
                    <a:pt x="43" y="10"/>
                    <a:pt x="43" y="10"/>
                    <a:pt x="43" y="10"/>
                  </a:cubicBezTo>
                  <a:cubicBezTo>
                    <a:pt x="43" y="10"/>
                    <a:pt x="43" y="10"/>
                    <a:pt x="43" y="10"/>
                  </a:cubicBezTo>
                  <a:cubicBezTo>
                    <a:pt x="43" y="10"/>
                    <a:pt x="43" y="10"/>
                    <a:pt x="43" y="10"/>
                  </a:cubicBezTo>
                  <a:cubicBezTo>
                    <a:pt x="43" y="10"/>
                    <a:pt x="43" y="10"/>
                    <a:pt x="43" y="10"/>
                  </a:cubicBezTo>
                  <a:cubicBezTo>
                    <a:pt x="42" y="10"/>
                    <a:pt x="42" y="11"/>
                    <a:pt x="42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2" y="11"/>
                    <a:pt x="42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3"/>
                    <a:pt x="44" y="13"/>
                    <a:pt x="44" y="13"/>
                  </a:cubicBezTo>
                  <a:close/>
                  <a:moveTo>
                    <a:pt x="53" y="8"/>
                  </a:moveTo>
                  <a:cubicBezTo>
                    <a:pt x="52" y="9"/>
                    <a:pt x="52" y="9"/>
                    <a:pt x="52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2" y="9"/>
                    <a:pt x="52" y="10"/>
                    <a:pt x="51" y="10"/>
                  </a:cubicBezTo>
                  <a:cubicBezTo>
                    <a:pt x="51" y="10"/>
                    <a:pt x="51" y="10"/>
                    <a:pt x="51" y="10"/>
                  </a:cubicBezTo>
                  <a:cubicBezTo>
                    <a:pt x="51" y="10"/>
                    <a:pt x="51" y="10"/>
                    <a:pt x="51" y="10"/>
                  </a:cubicBezTo>
                  <a:cubicBezTo>
                    <a:pt x="51" y="10"/>
                    <a:pt x="51" y="10"/>
                    <a:pt x="51" y="11"/>
                  </a:cubicBezTo>
                  <a:cubicBezTo>
                    <a:pt x="51" y="11"/>
                    <a:pt x="51" y="11"/>
                    <a:pt x="51" y="11"/>
                  </a:cubicBezTo>
                  <a:cubicBezTo>
                    <a:pt x="51" y="11"/>
                    <a:pt x="51" y="11"/>
                    <a:pt x="51" y="11"/>
                  </a:cubicBezTo>
                  <a:cubicBezTo>
                    <a:pt x="51" y="11"/>
                    <a:pt x="51" y="11"/>
                    <a:pt x="51" y="11"/>
                  </a:cubicBezTo>
                  <a:cubicBezTo>
                    <a:pt x="51" y="12"/>
                    <a:pt x="51" y="12"/>
                    <a:pt x="51" y="12"/>
                  </a:cubicBezTo>
                  <a:cubicBezTo>
                    <a:pt x="51" y="12"/>
                    <a:pt x="51" y="12"/>
                    <a:pt x="51" y="12"/>
                  </a:cubicBezTo>
                  <a:cubicBezTo>
                    <a:pt x="51" y="12"/>
                    <a:pt x="51" y="12"/>
                    <a:pt x="51" y="12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3"/>
                    <a:pt x="51" y="14"/>
                    <a:pt x="51" y="14"/>
                  </a:cubicBezTo>
                  <a:cubicBezTo>
                    <a:pt x="51" y="14"/>
                    <a:pt x="51" y="14"/>
                    <a:pt x="50" y="14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50" y="14"/>
                    <a:pt x="50" y="14"/>
                    <a:pt x="49" y="13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49" y="13"/>
                    <a:pt x="50" y="13"/>
                    <a:pt x="50" y="13"/>
                  </a:cubicBezTo>
                  <a:cubicBezTo>
                    <a:pt x="50" y="13"/>
                    <a:pt x="50" y="13"/>
                    <a:pt x="50" y="13"/>
                  </a:cubicBezTo>
                  <a:cubicBezTo>
                    <a:pt x="50" y="13"/>
                    <a:pt x="50" y="13"/>
                    <a:pt x="50" y="13"/>
                  </a:cubicBezTo>
                  <a:cubicBezTo>
                    <a:pt x="50" y="13"/>
                    <a:pt x="50" y="13"/>
                    <a:pt x="50" y="13"/>
                  </a:cubicBezTo>
                  <a:cubicBezTo>
                    <a:pt x="50" y="13"/>
                    <a:pt x="50" y="13"/>
                    <a:pt x="50" y="13"/>
                  </a:cubicBezTo>
                  <a:cubicBezTo>
                    <a:pt x="50" y="13"/>
                    <a:pt x="50" y="13"/>
                    <a:pt x="50" y="13"/>
                  </a:cubicBezTo>
                  <a:cubicBezTo>
                    <a:pt x="50" y="13"/>
                    <a:pt x="50" y="13"/>
                    <a:pt x="50" y="12"/>
                  </a:cubicBezTo>
                  <a:cubicBezTo>
                    <a:pt x="50" y="12"/>
                    <a:pt x="50" y="12"/>
                    <a:pt x="50" y="12"/>
                  </a:cubicBezTo>
                  <a:cubicBezTo>
                    <a:pt x="50" y="12"/>
                    <a:pt x="50" y="12"/>
                    <a:pt x="50" y="12"/>
                  </a:cubicBezTo>
                  <a:cubicBezTo>
                    <a:pt x="50" y="12"/>
                    <a:pt x="50" y="12"/>
                    <a:pt x="50" y="12"/>
                  </a:cubicBezTo>
                  <a:cubicBezTo>
                    <a:pt x="50" y="12"/>
                    <a:pt x="50" y="11"/>
                    <a:pt x="50" y="11"/>
                  </a:cubicBezTo>
                  <a:cubicBezTo>
                    <a:pt x="50" y="11"/>
                    <a:pt x="50" y="11"/>
                    <a:pt x="50" y="11"/>
                  </a:cubicBezTo>
                  <a:cubicBezTo>
                    <a:pt x="50" y="11"/>
                    <a:pt x="50" y="11"/>
                    <a:pt x="50" y="11"/>
                  </a:cubicBezTo>
                  <a:cubicBezTo>
                    <a:pt x="50" y="11"/>
                    <a:pt x="50" y="11"/>
                    <a:pt x="50" y="11"/>
                  </a:cubicBezTo>
                  <a:cubicBezTo>
                    <a:pt x="50" y="11"/>
                    <a:pt x="50" y="11"/>
                    <a:pt x="50" y="11"/>
                  </a:cubicBezTo>
                  <a:cubicBezTo>
                    <a:pt x="50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8" y="12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9" y="11"/>
                  </a:cubicBezTo>
                  <a:cubicBezTo>
                    <a:pt x="49" y="11"/>
                    <a:pt x="49" y="11"/>
                    <a:pt x="49" y="11"/>
                  </a:cubicBezTo>
                  <a:cubicBezTo>
                    <a:pt x="49" y="11"/>
                    <a:pt x="49" y="11"/>
                    <a:pt x="49" y="11"/>
                  </a:cubicBezTo>
                  <a:cubicBezTo>
                    <a:pt x="49" y="11"/>
                    <a:pt x="49" y="11"/>
                    <a:pt x="49" y="11"/>
                  </a:cubicBezTo>
                  <a:cubicBezTo>
                    <a:pt x="49" y="11"/>
                    <a:pt x="49" y="11"/>
                    <a:pt x="49" y="11"/>
                  </a:cubicBezTo>
                  <a:cubicBezTo>
                    <a:pt x="49" y="11"/>
                    <a:pt x="49" y="11"/>
                    <a:pt x="50" y="10"/>
                  </a:cubicBezTo>
                  <a:cubicBezTo>
                    <a:pt x="50" y="10"/>
                    <a:pt x="50" y="10"/>
                    <a:pt x="49" y="10"/>
                  </a:cubicBezTo>
                  <a:cubicBezTo>
                    <a:pt x="49" y="10"/>
                    <a:pt x="49" y="10"/>
                    <a:pt x="49" y="10"/>
                  </a:cubicBezTo>
                  <a:cubicBezTo>
                    <a:pt x="49" y="10"/>
                    <a:pt x="49" y="10"/>
                    <a:pt x="49" y="10"/>
                  </a:cubicBezTo>
                  <a:cubicBezTo>
                    <a:pt x="49" y="10"/>
                    <a:pt x="49" y="10"/>
                    <a:pt x="49" y="10"/>
                  </a:cubicBezTo>
                  <a:cubicBezTo>
                    <a:pt x="49" y="10"/>
                    <a:pt x="49" y="10"/>
                    <a:pt x="49" y="11"/>
                  </a:cubicBezTo>
                  <a:cubicBezTo>
                    <a:pt x="48" y="11"/>
                    <a:pt x="48" y="11"/>
                    <a:pt x="48" y="11"/>
                  </a:cubicBezTo>
                  <a:cubicBezTo>
                    <a:pt x="48" y="11"/>
                    <a:pt x="48" y="11"/>
                    <a:pt x="48" y="11"/>
                  </a:cubicBezTo>
                  <a:cubicBezTo>
                    <a:pt x="48" y="11"/>
                    <a:pt x="48" y="11"/>
                    <a:pt x="48" y="11"/>
                  </a:cubicBezTo>
                  <a:cubicBezTo>
                    <a:pt x="48" y="11"/>
                    <a:pt x="48" y="11"/>
                    <a:pt x="48" y="11"/>
                  </a:cubicBezTo>
                  <a:cubicBezTo>
                    <a:pt x="48" y="11"/>
                    <a:pt x="48" y="10"/>
                    <a:pt x="48" y="10"/>
                  </a:cubicBezTo>
                  <a:cubicBezTo>
                    <a:pt x="48" y="10"/>
                    <a:pt x="48" y="10"/>
                    <a:pt x="48" y="10"/>
                  </a:cubicBezTo>
                  <a:cubicBezTo>
                    <a:pt x="48" y="10"/>
                    <a:pt x="48" y="10"/>
                    <a:pt x="48" y="10"/>
                  </a:cubicBezTo>
                  <a:cubicBezTo>
                    <a:pt x="48" y="10"/>
                    <a:pt x="48" y="10"/>
                    <a:pt x="48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8"/>
                    <a:pt x="48" y="8"/>
                    <a:pt x="48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7"/>
                    <a:pt x="48" y="7"/>
                    <a:pt x="49" y="7"/>
                  </a:cubicBezTo>
                  <a:cubicBezTo>
                    <a:pt x="49" y="7"/>
                    <a:pt x="49" y="7"/>
                    <a:pt x="49" y="7"/>
                  </a:cubicBezTo>
                  <a:cubicBezTo>
                    <a:pt x="49" y="7"/>
                    <a:pt x="49" y="7"/>
                    <a:pt x="49" y="7"/>
                  </a:cubicBezTo>
                  <a:cubicBezTo>
                    <a:pt x="49" y="7"/>
                    <a:pt x="49" y="7"/>
                    <a:pt x="49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51" y="7"/>
                    <a:pt x="51" y="7"/>
                    <a:pt x="51" y="8"/>
                  </a:cubicBezTo>
                  <a:cubicBezTo>
                    <a:pt x="51" y="8"/>
                    <a:pt x="51" y="8"/>
                    <a:pt x="51" y="8"/>
                  </a:cubicBezTo>
                  <a:cubicBezTo>
                    <a:pt x="51" y="8"/>
                    <a:pt x="51" y="8"/>
                    <a:pt x="51" y="8"/>
                  </a:cubicBezTo>
                  <a:cubicBezTo>
                    <a:pt x="51" y="8"/>
                    <a:pt x="51" y="9"/>
                    <a:pt x="51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1" y="9"/>
                    <a:pt x="51" y="9"/>
                    <a:pt x="52" y="9"/>
                  </a:cubicBezTo>
                  <a:cubicBezTo>
                    <a:pt x="52" y="9"/>
                    <a:pt x="52" y="8"/>
                    <a:pt x="52" y="8"/>
                  </a:cubicBezTo>
                  <a:cubicBezTo>
                    <a:pt x="52" y="8"/>
                    <a:pt x="52" y="8"/>
                    <a:pt x="52" y="8"/>
                  </a:cubicBezTo>
                  <a:cubicBezTo>
                    <a:pt x="52" y="8"/>
                    <a:pt x="52" y="8"/>
                    <a:pt x="52" y="8"/>
                  </a:cubicBezTo>
                  <a:cubicBezTo>
                    <a:pt x="52" y="8"/>
                    <a:pt x="52" y="8"/>
                    <a:pt x="52" y="8"/>
                  </a:cubicBezTo>
                  <a:cubicBezTo>
                    <a:pt x="52" y="8"/>
                    <a:pt x="53" y="8"/>
                    <a:pt x="53" y="8"/>
                  </a:cubicBezTo>
                  <a:cubicBezTo>
                    <a:pt x="53" y="8"/>
                    <a:pt x="53" y="8"/>
                    <a:pt x="53" y="8"/>
                  </a:cubicBezTo>
                  <a:close/>
                  <a:moveTo>
                    <a:pt x="65" y="12"/>
                  </a:moveTo>
                  <a:cubicBezTo>
                    <a:pt x="65" y="12"/>
                    <a:pt x="65" y="12"/>
                    <a:pt x="65" y="12"/>
                  </a:cubicBezTo>
                  <a:cubicBezTo>
                    <a:pt x="65" y="12"/>
                    <a:pt x="65" y="12"/>
                    <a:pt x="65" y="12"/>
                  </a:cubicBezTo>
                  <a:cubicBezTo>
                    <a:pt x="65" y="12"/>
                    <a:pt x="65" y="12"/>
                    <a:pt x="65" y="12"/>
                  </a:cubicBezTo>
                  <a:cubicBezTo>
                    <a:pt x="65" y="12"/>
                    <a:pt x="65" y="12"/>
                    <a:pt x="65" y="12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63" y="12"/>
                    <a:pt x="63" y="12"/>
                    <a:pt x="63" y="11"/>
                  </a:cubicBezTo>
                  <a:cubicBezTo>
                    <a:pt x="63" y="11"/>
                    <a:pt x="63" y="11"/>
                    <a:pt x="63" y="11"/>
                  </a:cubicBezTo>
                  <a:cubicBezTo>
                    <a:pt x="63" y="11"/>
                    <a:pt x="63" y="11"/>
                    <a:pt x="63" y="11"/>
                  </a:cubicBezTo>
                  <a:cubicBezTo>
                    <a:pt x="63" y="12"/>
                    <a:pt x="63" y="12"/>
                    <a:pt x="63" y="12"/>
                  </a:cubicBezTo>
                  <a:cubicBezTo>
                    <a:pt x="63" y="12"/>
                    <a:pt x="63" y="12"/>
                    <a:pt x="63" y="12"/>
                  </a:cubicBezTo>
                  <a:cubicBezTo>
                    <a:pt x="63" y="12"/>
                    <a:pt x="63" y="12"/>
                    <a:pt x="63" y="12"/>
                  </a:cubicBezTo>
                  <a:cubicBezTo>
                    <a:pt x="63" y="12"/>
                    <a:pt x="63" y="12"/>
                    <a:pt x="63" y="12"/>
                  </a:cubicBezTo>
                  <a:cubicBezTo>
                    <a:pt x="63" y="13"/>
                    <a:pt x="63" y="13"/>
                    <a:pt x="63" y="13"/>
                  </a:cubicBezTo>
                  <a:cubicBezTo>
                    <a:pt x="63" y="13"/>
                    <a:pt x="63" y="13"/>
                    <a:pt x="63" y="13"/>
                  </a:cubicBezTo>
                  <a:cubicBezTo>
                    <a:pt x="63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2"/>
                    <a:pt x="62" y="12"/>
                    <a:pt x="62" y="12"/>
                  </a:cubicBezTo>
                  <a:cubicBezTo>
                    <a:pt x="62" y="12"/>
                    <a:pt x="62" y="12"/>
                    <a:pt x="62" y="12"/>
                  </a:cubicBezTo>
                  <a:cubicBezTo>
                    <a:pt x="62" y="12"/>
                    <a:pt x="62" y="12"/>
                    <a:pt x="62" y="12"/>
                  </a:cubicBezTo>
                  <a:cubicBezTo>
                    <a:pt x="62" y="12"/>
                    <a:pt x="62" y="11"/>
                    <a:pt x="62" y="11"/>
                  </a:cubicBezTo>
                  <a:cubicBezTo>
                    <a:pt x="62" y="11"/>
                    <a:pt x="62" y="11"/>
                    <a:pt x="62" y="11"/>
                  </a:cubicBezTo>
                  <a:cubicBezTo>
                    <a:pt x="62" y="11"/>
                    <a:pt x="62" y="11"/>
                    <a:pt x="62" y="11"/>
                  </a:cubicBezTo>
                  <a:cubicBezTo>
                    <a:pt x="62" y="11"/>
                    <a:pt x="61" y="11"/>
                    <a:pt x="61" y="11"/>
                  </a:cubicBezTo>
                  <a:cubicBezTo>
                    <a:pt x="61" y="11"/>
                    <a:pt x="61" y="12"/>
                    <a:pt x="61" y="12"/>
                  </a:cubicBezTo>
                  <a:cubicBezTo>
                    <a:pt x="61" y="12"/>
                    <a:pt x="61" y="12"/>
                    <a:pt x="61" y="12"/>
                  </a:cubicBezTo>
                  <a:cubicBezTo>
                    <a:pt x="61" y="12"/>
                    <a:pt x="60" y="12"/>
                    <a:pt x="60" y="1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60" y="11"/>
                    <a:pt x="60" y="10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10"/>
                    <a:pt x="60" y="9"/>
                    <a:pt x="60" y="9"/>
                  </a:cubicBezTo>
                  <a:cubicBezTo>
                    <a:pt x="60" y="9"/>
                    <a:pt x="59" y="9"/>
                    <a:pt x="59" y="9"/>
                  </a:cubicBezTo>
                  <a:cubicBezTo>
                    <a:pt x="59" y="9"/>
                    <a:pt x="59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1" y="9"/>
                    <a:pt x="61" y="9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1" y="11"/>
                    <a:pt x="60" y="11"/>
                    <a:pt x="60" y="11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60" y="11"/>
                    <a:pt x="61" y="11"/>
                    <a:pt x="61" y="11"/>
                  </a:cubicBezTo>
                  <a:cubicBezTo>
                    <a:pt x="61" y="11"/>
                    <a:pt x="61" y="11"/>
                    <a:pt x="61" y="11"/>
                  </a:cubicBezTo>
                  <a:cubicBezTo>
                    <a:pt x="61" y="11"/>
                    <a:pt x="61" y="11"/>
                    <a:pt x="61" y="11"/>
                  </a:cubicBezTo>
                  <a:cubicBezTo>
                    <a:pt x="61" y="11"/>
                    <a:pt x="61" y="10"/>
                    <a:pt x="61" y="10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1" y="10"/>
                    <a:pt x="62" y="10"/>
                    <a:pt x="62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2" y="10"/>
                    <a:pt x="62" y="9"/>
                    <a:pt x="62" y="9"/>
                  </a:cubicBezTo>
                  <a:cubicBezTo>
                    <a:pt x="62" y="9"/>
                    <a:pt x="62" y="9"/>
                    <a:pt x="62" y="9"/>
                  </a:cubicBezTo>
                  <a:cubicBezTo>
                    <a:pt x="62" y="9"/>
                    <a:pt x="62" y="9"/>
                    <a:pt x="62" y="9"/>
                  </a:cubicBezTo>
                  <a:cubicBezTo>
                    <a:pt x="62" y="9"/>
                    <a:pt x="62" y="9"/>
                    <a:pt x="62" y="9"/>
                  </a:cubicBezTo>
                  <a:cubicBezTo>
                    <a:pt x="61" y="8"/>
                    <a:pt x="61" y="8"/>
                    <a:pt x="61" y="8"/>
                  </a:cubicBezTo>
                  <a:cubicBezTo>
                    <a:pt x="61" y="8"/>
                    <a:pt x="61" y="8"/>
                    <a:pt x="61" y="8"/>
                  </a:cubicBezTo>
                  <a:cubicBezTo>
                    <a:pt x="61" y="8"/>
                    <a:pt x="61" y="8"/>
                    <a:pt x="61" y="8"/>
                  </a:cubicBezTo>
                  <a:cubicBezTo>
                    <a:pt x="61" y="8"/>
                    <a:pt x="61" y="8"/>
                    <a:pt x="61" y="8"/>
                  </a:cubicBezTo>
                  <a:cubicBezTo>
                    <a:pt x="61" y="8"/>
                    <a:pt x="61" y="8"/>
                    <a:pt x="61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59" y="8"/>
                    <a:pt x="59" y="8"/>
                    <a:pt x="60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0" y="7"/>
                    <a:pt x="60" y="7"/>
                    <a:pt x="60" y="7"/>
                  </a:cubicBezTo>
                  <a:cubicBezTo>
                    <a:pt x="60" y="7"/>
                    <a:pt x="60" y="7"/>
                    <a:pt x="60" y="7"/>
                  </a:cubicBezTo>
                  <a:cubicBezTo>
                    <a:pt x="60" y="7"/>
                    <a:pt x="60" y="7"/>
                    <a:pt x="60" y="7"/>
                  </a:cubicBezTo>
                  <a:cubicBezTo>
                    <a:pt x="60" y="7"/>
                    <a:pt x="61" y="7"/>
                    <a:pt x="61" y="7"/>
                  </a:cubicBezTo>
                  <a:cubicBezTo>
                    <a:pt x="61" y="7"/>
                    <a:pt x="61" y="7"/>
                    <a:pt x="61" y="7"/>
                  </a:cubicBezTo>
                  <a:cubicBezTo>
                    <a:pt x="61" y="7"/>
                    <a:pt x="61" y="7"/>
                    <a:pt x="61" y="7"/>
                  </a:cubicBezTo>
                  <a:cubicBezTo>
                    <a:pt x="61" y="7"/>
                    <a:pt x="61" y="7"/>
                    <a:pt x="61" y="7"/>
                  </a:cubicBezTo>
                  <a:cubicBezTo>
                    <a:pt x="61" y="7"/>
                    <a:pt x="62" y="7"/>
                    <a:pt x="62" y="7"/>
                  </a:cubicBezTo>
                  <a:cubicBezTo>
                    <a:pt x="62" y="7"/>
                    <a:pt x="62" y="7"/>
                    <a:pt x="62" y="7"/>
                  </a:cubicBezTo>
                  <a:cubicBezTo>
                    <a:pt x="62" y="7"/>
                    <a:pt x="62" y="7"/>
                    <a:pt x="62" y="7"/>
                  </a:cubicBezTo>
                  <a:cubicBezTo>
                    <a:pt x="62" y="7"/>
                    <a:pt x="62" y="7"/>
                    <a:pt x="62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2" y="6"/>
                    <a:pt x="61" y="6"/>
                    <a:pt x="61" y="6"/>
                  </a:cubicBezTo>
                  <a:cubicBezTo>
                    <a:pt x="61" y="6"/>
                    <a:pt x="61" y="6"/>
                    <a:pt x="61" y="6"/>
                  </a:cubicBezTo>
                  <a:cubicBezTo>
                    <a:pt x="61" y="6"/>
                    <a:pt x="61" y="6"/>
                    <a:pt x="61" y="6"/>
                  </a:cubicBezTo>
                  <a:cubicBezTo>
                    <a:pt x="61" y="6"/>
                    <a:pt x="61" y="5"/>
                    <a:pt x="61" y="5"/>
                  </a:cubicBezTo>
                  <a:cubicBezTo>
                    <a:pt x="62" y="5"/>
                    <a:pt x="62" y="5"/>
                    <a:pt x="62" y="5"/>
                  </a:cubicBezTo>
                  <a:cubicBezTo>
                    <a:pt x="62" y="5"/>
                    <a:pt x="62" y="6"/>
                    <a:pt x="62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2" y="6"/>
                    <a:pt x="62" y="6"/>
                    <a:pt x="62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4" y="7"/>
                    <a:pt x="64" y="7"/>
                    <a:pt x="64" y="7"/>
                  </a:cubicBezTo>
                  <a:cubicBezTo>
                    <a:pt x="64" y="7"/>
                    <a:pt x="64" y="7"/>
                    <a:pt x="64" y="7"/>
                  </a:cubicBezTo>
                  <a:cubicBezTo>
                    <a:pt x="64" y="7"/>
                    <a:pt x="64" y="7"/>
                    <a:pt x="64" y="7"/>
                  </a:cubicBezTo>
                  <a:cubicBezTo>
                    <a:pt x="64" y="7"/>
                    <a:pt x="64" y="7"/>
                    <a:pt x="64" y="7"/>
                  </a:cubicBezTo>
                  <a:cubicBezTo>
                    <a:pt x="64" y="8"/>
                    <a:pt x="64" y="8"/>
                    <a:pt x="64" y="8"/>
                  </a:cubicBezTo>
                  <a:cubicBezTo>
                    <a:pt x="64" y="8"/>
                    <a:pt x="64" y="8"/>
                    <a:pt x="64" y="8"/>
                  </a:cubicBezTo>
                  <a:cubicBezTo>
                    <a:pt x="63" y="8"/>
                    <a:pt x="63" y="8"/>
                    <a:pt x="63" y="8"/>
                  </a:cubicBezTo>
                  <a:cubicBezTo>
                    <a:pt x="63" y="8"/>
                    <a:pt x="63" y="8"/>
                    <a:pt x="63" y="8"/>
                  </a:cubicBezTo>
                  <a:cubicBezTo>
                    <a:pt x="63" y="8"/>
                    <a:pt x="63" y="8"/>
                    <a:pt x="63" y="9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3" y="10"/>
                    <a:pt x="63" y="10"/>
                    <a:pt x="63" y="11"/>
                  </a:cubicBezTo>
                  <a:cubicBezTo>
                    <a:pt x="63" y="11"/>
                    <a:pt x="63" y="11"/>
                    <a:pt x="64" y="11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64" y="11"/>
                    <a:pt x="64" y="11"/>
                    <a:pt x="65" y="11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5" y="11"/>
                    <a:pt x="65" y="11"/>
                    <a:pt x="65" y="12"/>
                  </a:cubicBezTo>
                  <a:cubicBezTo>
                    <a:pt x="65" y="12"/>
                    <a:pt x="65" y="12"/>
                    <a:pt x="65" y="12"/>
                  </a:cubicBezTo>
                  <a:close/>
                  <a:moveTo>
                    <a:pt x="75" y="12"/>
                  </a:moveTo>
                  <a:cubicBezTo>
                    <a:pt x="75" y="12"/>
                    <a:pt x="75" y="12"/>
                    <a:pt x="75" y="13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4" y="13"/>
                    <a:pt x="74" y="13"/>
                    <a:pt x="74" y="13"/>
                  </a:cubicBezTo>
                  <a:cubicBezTo>
                    <a:pt x="74" y="13"/>
                    <a:pt x="74" y="13"/>
                    <a:pt x="74" y="13"/>
                  </a:cubicBezTo>
                  <a:cubicBezTo>
                    <a:pt x="74" y="13"/>
                    <a:pt x="74" y="13"/>
                    <a:pt x="74" y="13"/>
                  </a:cubicBezTo>
                  <a:cubicBezTo>
                    <a:pt x="74" y="13"/>
                    <a:pt x="73" y="13"/>
                    <a:pt x="73" y="13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3" y="12"/>
                    <a:pt x="73" y="12"/>
                    <a:pt x="72" y="12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0" y="12"/>
                    <a:pt x="70" y="12"/>
                    <a:pt x="70" y="13"/>
                  </a:cubicBezTo>
                  <a:cubicBezTo>
                    <a:pt x="70" y="13"/>
                    <a:pt x="69" y="13"/>
                    <a:pt x="69" y="13"/>
                  </a:cubicBezTo>
                  <a:cubicBezTo>
                    <a:pt x="69" y="13"/>
                    <a:pt x="69" y="13"/>
                    <a:pt x="69" y="13"/>
                  </a:cubicBezTo>
                  <a:cubicBezTo>
                    <a:pt x="69" y="13"/>
                    <a:pt x="69" y="13"/>
                    <a:pt x="69" y="13"/>
                  </a:cubicBezTo>
                  <a:cubicBezTo>
                    <a:pt x="69" y="13"/>
                    <a:pt x="69" y="13"/>
                    <a:pt x="69" y="13"/>
                  </a:cubicBezTo>
                  <a:cubicBezTo>
                    <a:pt x="69" y="13"/>
                    <a:pt x="68" y="13"/>
                    <a:pt x="68" y="13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70" y="11"/>
                    <a:pt x="70" y="11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1"/>
                    <a:pt x="70" y="11"/>
                    <a:pt x="70" y="11"/>
                  </a:cubicBezTo>
                  <a:cubicBezTo>
                    <a:pt x="70" y="11"/>
                    <a:pt x="70" y="11"/>
                    <a:pt x="70" y="11"/>
                  </a:cubicBezTo>
                  <a:cubicBezTo>
                    <a:pt x="70" y="11"/>
                    <a:pt x="70" y="10"/>
                    <a:pt x="70" y="10"/>
                  </a:cubicBezTo>
                  <a:cubicBezTo>
                    <a:pt x="70" y="10"/>
                    <a:pt x="70" y="10"/>
                    <a:pt x="70" y="10"/>
                  </a:cubicBezTo>
                  <a:cubicBezTo>
                    <a:pt x="70" y="10"/>
                    <a:pt x="70" y="10"/>
                    <a:pt x="70" y="10"/>
                  </a:cubicBezTo>
                  <a:cubicBezTo>
                    <a:pt x="70" y="10"/>
                    <a:pt x="70" y="10"/>
                    <a:pt x="70" y="10"/>
                  </a:cubicBezTo>
                  <a:cubicBezTo>
                    <a:pt x="70" y="10"/>
                    <a:pt x="69" y="10"/>
                    <a:pt x="69" y="10"/>
                  </a:cubicBezTo>
                  <a:cubicBezTo>
                    <a:pt x="69" y="10"/>
                    <a:pt x="69" y="10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0"/>
                    <a:pt x="68" y="10"/>
                    <a:pt x="68" y="10"/>
                  </a:cubicBezTo>
                  <a:cubicBezTo>
                    <a:pt x="68" y="10"/>
                    <a:pt x="68" y="10"/>
                    <a:pt x="68" y="10"/>
                  </a:cubicBezTo>
                  <a:cubicBezTo>
                    <a:pt x="68" y="10"/>
                    <a:pt x="68" y="10"/>
                    <a:pt x="68" y="10"/>
                  </a:cubicBezTo>
                  <a:cubicBezTo>
                    <a:pt x="68" y="10"/>
                    <a:pt x="68" y="10"/>
                    <a:pt x="68" y="10"/>
                  </a:cubicBezTo>
                  <a:cubicBezTo>
                    <a:pt x="68" y="10"/>
                    <a:pt x="68" y="10"/>
                    <a:pt x="69" y="10"/>
                  </a:cubicBezTo>
                  <a:cubicBezTo>
                    <a:pt x="69" y="10"/>
                    <a:pt x="69" y="10"/>
                    <a:pt x="69" y="10"/>
                  </a:cubicBezTo>
                  <a:cubicBezTo>
                    <a:pt x="69" y="10"/>
                    <a:pt x="69" y="9"/>
                    <a:pt x="69" y="9"/>
                  </a:cubicBezTo>
                  <a:cubicBezTo>
                    <a:pt x="69" y="9"/>
                    <a:pt x="69" y="9"/>
                    <a:pt x="70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0" y="9"/>
                    <a:pt x="71" y="9"/>
                    <a:pt x="71" y="9"/>
                  </a:cubicBezTo>
                  <a:cubicBezTo>
                    <a:pt x="71" y="9"/>
                    <a:pt x="71" y="9"/>
                    <a:pt x="71" y="9"/>
                  </a:cubicBezTo>
                  <a:cubicBezTo>
                    <a:pt x="71" y="9"/>
                    <a:pt x="71" y="9"/>
                    <a:pt x="71" y="9"/>
                  </a:cubicBezTo>
                  <a:cubicBezTo>
                    <a:pt x="71" y="9"/>
                    <a:pt x="71" y="9"/>
                    <a:pt x="71" y="9"/>
                  </a:cubicBezTo>
                  <a:cubicBezTo>
                    <a:pt x="71" y="9"/>
                    <a:pt x="72" y="9"/>
                    <a:pt x="72" y="9"/>
                  </a:cubicBezTo>
                  <a:cubicBezTo>
                    <a:pt x="72" y="9"/>
                    <a:pt x="72" y="9"/>
                    <a:pt x="72" y="9"/>
                  </a:cubicBezTo>
                  <a:cubicBezTo>
                    <a:pt x="72" y="9"/>
                    <a:pt x="72" y="9"/>
                    <a:pt x="72" y="9"/>
                  </a:cubicBezTo>
                  <a:cubicBezTo>
                    <a:pt x="72" y="9"/>
                    <a:pt x="72" y="9"/>
                    <a:pt x="73" y="9"/>
                  </a:cubicBezTo>
                  <a:cubicBezTo>
                    <a:pt x="73" y="9"/>
                    <a:pt x="73" y="9"/>
                    <a:pt x="73" y="9"/>
                  </a:cubicBezTo>
                  <a:cubicBezTo>
                    <a:pt x="73" y="9"/>
                    <a:pt x="73" y="9"/>
                    <a:pt x="73" y="9"/>
                  </a:cubicBezTo>
                  <a:cubicBezTo>
                    <a:pt x="73" y="9"/>
                    <a:pt x="73" y="9"/>
                    <a:pt x="73" y="9"/>
                  </a:cubicBezTo>
                  <a:cubicBezTo>
                    <a:pt x="73" y="9"/>
                    <a:pt x="73" y="9"/>
                    <a:pt x="73" y="9"/>
                  </a:cubicBezTo>
                  <a:cubicBezTo>
                    <a:pt x="73" y="9"/>
                    <a:pt x="73" y="9"/>
                    <a:pt x="73" y="9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2" y="10"/>
                    <a:pt x="72" y="10"/>
                    <a:pt x="72" y="10"/>
                  </a:cubicBezTo>
                  <a:cubicBezTo>
                    <a:pt x="72" y="10"/>
                    <a:pt x="72" y="10"/>
                    <a:pt x="72" y="11"/>
                  </a:cubicBezTo>
                  <a:cubicBezTo>
                    <a:pt x="72" y="11"/>
                    <a:pt x="72" y="11"/>
                    <a:pt x="72" y="11"/>
                  </a:cubicBezTo>
                  <a:cubicBezTo>
                    <a:pt x="72" y="11"/>
                    <a:pt x="72" y="11"/>
                    <a:pt x="72" y="11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3" y="12"/>
                    <a:pt x="73" y="12"/>
                    <a:pt x="74" y="12"/>
                  </a:cubicBezTo>
                  <a:cubicBezTo>
                    <a:pt x="74" y="12"/>
                    <a:pt x="74" y="12"/>
                    <a:pt x="74" y="12"/>
                  </a:cubicBezTo>
                  <a:cubicBezTo>
                    <a:pt x="74" y="12"/>
                    <a:pt x="74" y="12"/>
                    <a:pt x="74" y="12"/>
                  </a:cubicBezTo>
                  <a:cubicBezTo>
                    <a:pt x="74" y="12"/>
                    <a:pt x="74" y="12"/>
                    <a:pt x="75" y="12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5" y="12"/>
                    <a:pt x="75" y="12"/>
                    <a:pt x="75" y="12"/>
                  </a:cubicBezTo>
                  <a:close/>
                  <a:moveTo>
                    <a:pt x="87" y="10"/>
                  </a:move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1"/>
                  </a:cubicBezTo>
                  <a:cubicBezTo>
                    <a:pt x="86" y="11"/>
                    <a:pt x="85" y="11"/>
                    <a:pt x="85" y="11"/>
                  </a:cubicBezTo>
                  <a:cubicBezTo>
                    <a:pt x="85" y="11"/>
                    <a:pt x="85" y="11"/>
                    <a:pt x="85" y="11"/>
                  </a:cubicBezTo>
                  <a:cubicBezTo>
                    <a:pt x="85" y="11"/>
                    <a:pt x="85" y="11"/>
                    <a:pt x="85" y="11"/>
                  </a:cubicBezTo>
                  <a:cubicBezTo>
                    <a:pt x="85" y="11"/>
                    <a:pt x="84" y="11"/>
                    <a:pt x="84" y="11"/>
                  </a:cubicBezTo>
                  <a:cubicBezTo>
                    <a:pt x="84" y="11"/>
                    <a:pt x="84" y="11"/>
                    <a:pt x="84" y="11"/>
                  </a:cubicBezTo>
                  <a:cubicBezTo>
                    <a:pt x="84" y="11"/>
                    <a:pt x="84" y="11"/>
                    <a:pt x="84" y="11"/>
                  </a:cubicBezTo>
                  <a:cubicBezTo>
                    <a:pt x="84" y="11"/>
                    <a:pt x="84" y="11"/>
                    <a:pt x="84" y="11"/>
                  </a:cubicBezTo>
                  <a:cubicBezTo>
                    <a:pt x="84" y="11"/>
                    <a:pt x="84" y="11"/>
                    <a:pt x="84" y="11"/>
                  </a:cubicBezTo>
                  <a:cubicBezTo>
                    <a:pt x="84" y="11"/>
                    <a:pt x="85" y="11"/>
                    <a:pt x="85" y="11"/>
                  </a:cubicBezTo>
                  <a:cubicBezTo>
                    <a:pt x="85" y="11"/>
                    <a:pt x="85" y="11"/>
                    <a:pt x="85" y="11"/>
                  </a:cubicBezTo>
                  <a:cubicBezTo>
                    <a:pt x="85" y="11"/>
                    <a:pt x="86" y="11"/>
                    <a:pt x="86" y="11"/>
                  </a:cubicBezTo>
                  <a:cubicBezTo>
                    <a:pt x="86" y="11"/>
                    <a:pt x="86" y="11"/>
                    <a:pt x="86" y="11"/>
                  </a:cubicBezTo>
                  <a:cubicBezTo>
                    <a:pt x="86" y="11"/>
                    <a:pt x="86" y="11"/>
                    <a:pt x="86" y="11"/>
                  </a:cubicBezTo>
                  <a:cubicBezTo>
                    <a:pt x="86" y="11"/>
                    <a:pt x="86" y="11"/>
                    <a:pt x="86" y="11"/>
                  </a:cubicBezTo>
                  <a:cubicBezTo>
                    <a:pt x="86" y="11"/>
                    <a:pt x="86" y="11"/>
                    <a:pt x="86" y="11"/>
                  </a:cubicBezTo>
                  <a:cubicBezTo>
                    <a:pt x="86" y="11"/>
                    <a:pt x="86" y="11"/>
                    <a:pt x="86" y="12"/>
                  </a:cubicBezTo>
                  <a:cubicBezTo>
                    <a:pt x="86" y="12"/>
                    <a:pt x="86" y="12"/>
                    <a:pt x="86" y="12"/>
                  </a:cubicBezTo>
                  <a:cubicBezTo>
                    <a:pt x="86" y="12"/>
                    <a:pt x="86" y="12"/>
                    <a:pt x="86" y="12"/>
                  </a:cubicBezTo>
                  <a:cubicBezTo>
                    <a:pt x="86" y="12"/>
                    <a:pt x="86" y="12"/>
                    <a:pt x="86" y="12"/>
                  </a:cubicBezTo>
                  <a:cubicBezTo>
                    <a:pt x="86" y="12"/>
                    <a:pt x="86" y="12"/>
                    <a:pt x="86" y="12"/>
                  </a:cubicBezTo>
                  <a:cubicBezTo>
                    <a:pt x="86" y="12"/>
                    <a:pt x="86" y="13"/>
                    <a:pt x="86" y="13"/>
                  </a:cubicBezTo>
                  <a:cubicBezTo>
                    <a:pt x="86" y="13"/>
                    <a:pt x="86" y="13"/>
                    <a:pt x="85" y="13"/>
                  </a:cubicBezTo>
                  <a:cubicBezTo>
                    <a:pt x="85" y="13"/>
                    <a:pt x="85" y="13"/>
                    <a:pt x="85" y="13"/>
                  </a:cubicBezTo>
                  <a:cubicBezTo>
                    <a:pt x="85" y="13"/>
                    <a:pt x="85" y="13"/>
                    <a:pt x="85" y="13"/>
                  </a:cubicBezTo>
                  <a:cubicBezTo>
                    <a:pt x="85" y="13"/>
                    <a:pt x="85" y="13"/>
                    <a:pt x="85" y="13"/>
                  </a:cubicBezTo>
                  <a:cubicBezTo>
                    <a:pt x="85" y="13"/>
                    <a:pt x="84" y="13"/>
                    <a:pt x="84" y="13"/>
                  </a:cubicBezTo>
                  <a:cubicBezTo>
                    <a:pt x="84" y="13"/>
                    <a:pt x="84" y="13"/>
                    <a:pt x="84" y="13"/>
                  </a:cubicBezTo>
                  <a:cubicBezTo>
                    <a:pt x="84" y="13"/>
                    <a:pt x="84" y="13"/>
                    <a:pt x="84" y="13"/>
                  </a:cubicBezTo>
                  <a:cubicBezTo>
                    <a:pt x="84" y="13"/>
                    <a:pt x="84" y="13"/>
                    <a:pt x="84" y="13"/>
                  </a:cubicBezTo>
                  <a:cubicBezTo>
                    <a:pt x="84" y="13"/>
                    <a:pt x="84" y="13"/>
                    <a:pt x="84" y="12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4" y="12"/>
                    <a:pt x="84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2"/>
                  </a:cubicBezTo>
                  <a:cubicBezTo>
                    <a:pt x="82" y="12"/>
                    <a:pt x="82" y="12"/>
                    <a:pt x="82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1"/>
                    <a:pt x="83" y="11"/>
                    <a:pt x="83" y="11"/>
                  </a:cubicBezTo>
                  <a:cubicBezTo>
                    <a:pt x="83" y="11"/>
                    <a:pt x="83" y="11"/>
                    <a:pt x="83" y="11"/>
                  </a:cubicBezTo>
                  <a:cubicBezTo>
                    <a:pt x="83" y="11"/>
                    <a:pt x="83" y="11"/>
                    <a:pt x="83" y="11"/>
                  </a:cubicBezTo>
                  <a:cubicBezTo>
                    <a:pt x="83" y="11"/>
                    <a:pt x="83" y="11"/>
                    <a:pt x="83" y="11"/>
                  </a:cubicBezTo>
                  <a:cubicBezTo>
                    <a:pt x="83" y="11"/>
                    <a:pt x="83" y="11"/>
                    <a:pt x="83" y="11"/>
                  </a:cubicBezTo>
                  <a:cubicBezTo>
                    <a:pt x="83" y="11"/>
                    <a:pt x="83" y="11"/>
                    <a:pt x="83" y="11"/>
                  </a:cubicBezTo>
                  <a:cubicBezTo>
                    <a:pt x="83" y="11"/>
                    <a:pt x="84" y="11"/>
                    <a:pt x="84" y="11"/>
                  </a:cubicBezTo>
                  <a:cubicBezTo>
                    <a:pt x="84" y="11"/>
                    <a:pt x="84" y="11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3" y="10"/>
                  </a:cubicBezTo>
                  <a:cubicBezTo>
                    <a:pt x="83" y="10"/>
                    <a:pt x="83" y="10"/>
                    <a:pt x="83" y="10"/>
                  </a:cubicBezTo>
                  <a:cubicBezTo>
                    <a:pt x="83" y="10"/>
                    <a:pt x="83" y="10"/>
                    <a:pt x="83" y="10"/>
                  </a:cubicBezTo>
                  <a:cubicBezTo>
                    <a:pt x="83" y="10"/>
                    <a:pt x="83" y="10"/>
                    <a:pt x="83" y="10"/>
                  </a:cubicBezTo>
                  <a:cubicBezTo>
                    <a:pt x="83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9"/>
                    <a:pt x="84" y="9"/>
                    <a:pt x="84" y="9"/>
                  </a:cubicBezTo>
                  <a:cubicBezTo>
                    <a:pt x="84" y="9"/>
                    <a:pt x="84" y="9"/>
                    <a:pt x="84" y="9"/>
                  </a:cubicBezTo>
                  <a:cubicBezTo>
                    <a:pt x="84" y="9"/>
                    <a:pt x="83" y="9"/>
                    <a:pt x="83" y="9"/>
                  </a:cubicBezTo>
                  <a:cubicBezTo>
                    <a:pt x="83" y="9"/>
                    <a:pt x="83" y="9"/>
                    <a:pt x="83" y="9"/>
                  </a:cubicBezTo>
                  <a:cubicBezTo>
                    <a:pt x="83" y="9"/>
                    <a:pt x="83" y="9"/>
                    <a:pt x="83" y="9"/>
                  </a:cubicBezTo>
                  <a:cubicBezTo>
                    <a:pt x="83" y="9"/>
                    <a:pt x="83" y="9"/>
                    <a:pt x="83" y="9"/>
                  </a:cubicBezTo>
                  <a:cubicBezTo>
                    <a:pt x="83" y="9"/>
                    <a:pt x="83" y="9"/>
                    <a:pt x="84" y="9"/>
                  </a:cubicBezTo>
                  <a:cubicBezTo>
                    <a:pt x="84" y="9"/>
                    <a:pt x="84" y="9"/>
                    <a:pt x="84" y="9"/>
                  </a:cubicBezTo>
                  <a:cubicBezTo>
                    <a:pt x="84" y="9"/>
                    <a:pt x="84" y="9"/>
                    <a:pt x="84" y="9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5" y="8"/>
                    <a:pt x="85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3" y="8"/>
                    <a:pt x="83" y="8"/>
                  </a:cubicBezTo>
                  <a:cubicBezTo>
                    <a:pt x="83" y="8"/>
                    <a:pt x="83" y="8"/>
                    <a:pt x="83" y="8"/>
                  </a:cubicBezTo>
                  <a:cubicBezTo>
                    <a:pt x="83" y="8"/>
                    <a:pt x="83" y="8"/>
                    <a:pt x="83" y="8"/>
                  </a:cubicBezTo>
                  <a:cubicBezTo>
                    <a:pt x="83" y="8"/>
                    <a:pt x="83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7"/>
                    <a:pt x="84" y="7"/>
                    <a:pt x="84" y="7"/>
                  </a:cubicBezTo>
                  <a:cubicBezTo>
                    <a:pt x="84" y="7"/>
                    <a:pt x="84" y="7"/>
                    <a:pt x="84" y="7"/>
                  </a:cubicBezTo>
                  <a:cubicBezTo>
                    <a:pt x="84" y="7"/>
                    <a:pt x="84" y="7"/>
                    <a:pt x="84" y="7"/>
                  </a:cubicBezTo>
                  <a:cubicBezTo>
                    <a:pt x="84" y="7"/>
                    <a:pt x="84" y="7"/>
                    <a:pt x="84" y="6"/>
                  </a:cubicBezTo>
                  <a:cubicBezTo>
                    <a:pt x="84" y="6"/>
                    <a:pt x="84" y="6"/>
                    <a:pt x="84" y="6"/>
                  </a:cubicBezTo>
                  <a:cubicBezTo>
                    <a:pt x="84" y="6"/>
                    <a:pt x="84" y="6"/>
                    <a:pt x="84" y="6"/>
                  </a:cubicBezTo>
                  <a:cubicBezTo>
                    <a:pt x="84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7"/>
                    <a:pt x="85" y="7"/>
                    <a:pt x="85" y="7"/>
                  </a:cubicBezTo>
                  <a:cubicBezTo>
                    <a:pt x="85" y="7"/>
                    <a:pt x="85" y="7"/>
                    <a:pt x="85" y="7"/>
                  </a:cubicBezTo>
                  <a:cubicBezTo>
                    <a:pt x="85" y="7"/>
                    <a:pt x="85" y="7"/>
                    <a:pt x="85" y="7"/>
                  </a:cubicBezTo>
                  <a:cubicBezTo>
                    <a:pt x="85" y="7"/>
                    <a:pt x="85" y="7"/>
                    <a:pt x="85" y="7"/>
                  </a:cubicBezTo>
                  <a:cubicBezTo>
                    <a:pt x="85" y="7"/>
                    <a:pt x="85" y="7"/>
                    <a:pt x="85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7" y="8"/>
                    <a:pt x="87" y="8"/>
                    <a:pt x="87" y="8"/>
                  </a:cubicBezTo>
                  <a:cubicBezTo>
                    <a:pt x="87" y="8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6" y="9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6" y="9"/>
                    <a:pt x="86" y="9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lose/>
                  <a:moveTo>
                    <a:pt x="88" y="8"/>
                  </a:moveTo>
                  <a:cubicBezTo>
                    <a:pt x="88" y="8"/>
                    <a:pt x="88" y="8"/>
                    <a:pt x="88" y="8"/>
                  </a:cubicBezTo>
                  <a:cubicBezTo>
                    <a:pt x="88" y="8"/>
                    <a:pt x="88" y="8"/>
                    <a:pt x="88" y="8"/>
                  </a:cubicBezTo>
                  <a:cubicBezTo>
                    <a:pt x="88" y="8"/>
                    <a:pt x="88" y="8"/>
                    <a:pt x="88" y="8"/>
                  </a:cubicBezTo>
                  <a:cubicBezTo>
                    <a:pt x="88" y="9"/>
                    <a:pt x="88" y="9"/>
                    <a:pt x="88" y="9"/>
                  </a:cubicBezTo>
                  <a:cubicBezTo>
                    <a:pt x="88" y="9"/>
                    <a:pt x="88" y="9"/>
                    <a:pt x="88" y="9"/>
                  </a:cubicBezTo>
                  <a:cubicBezTo>
                    <a:pt x="88" y="9"/>
                    <a:pt x="88" y="9"/>
                    <a:pt x="88" y="9"/>
                  </a:cubicBezTo>
                  <a:cubicBezTo>
                    <a:pt x="88" y="9"/>
                    <a:pt x="88" y="10"/>
                    <a:pt x="88" y="10"/>
                  </a:cubicBezTo>
                  <a:cubicBezTo>
                    <a:pt x="88" y="10"/>
                    <a:pt x="88" y="10"/>
                    <a:pt x="88" y="10"/>
                  </a:cubicBezTo>
                  <a:cubicBezTo>
                    <a:pt x="88" y="10"/>
                    <a:pt x="88" y="10"/>
                    <a:pt x="88" y="10"/>
                  </a:cubicBezTo>
                  <a:cubicBezTo>
                    <a:pt x="88" y="10"/>
                    <a:pt x="88" y="10"/>
                    <a:pt x="88" y="10"/>
                  </a:cubicBezTo>
                  <a:cubicBezTo>
                    <a:pt x="88" y="11"/>
                    <a:pt x="88" y="11"/>
                    <a:pt x="88" y="11"/>
                  </a:cubicBezTo>
                  <a:cubicBezTo>
                    <a:pt x="88" y="11"/>
                    <a:pt x="88" y="11"/>
                    <a:pt x="88" y="11"/>
                  </a:cubicBezTo>
                  <a:cubicBezTo>
                    <a:pt x="88" y="11"/>
                    <a:pt x="88" y="11"/>
                    <a:pt x="88" y="11"/>
                  </a:cubicBezTo>
                  <a:cubicBezTo>
                    <a:pt x="88" y="11"/>
                    <a:pt x="88" y="11"/>
                    <a:pt x="88" y="11"/>
                  </a:cubicBezTo>
                  <a:cubicBezTo>
                    <a:pt x="88" y="12"/>
                    <a:pt x="88" y="12"/>
                    <a:pt x="88" y="12"/>
                  </a:cubicBezTo>
                  <a:cubicBezTo>
                    <a:pt x="88" y="12"/>
                    <a:pt x="88" y="12"/>
                    <a:pt x="88" y="12"/>
                  </a:cubicBezTo>
                  <a:cubicBezTo>
                    <a:pt x="88" y="12"/>
                    <a:pt x="87" y="12"/>
                    <a:pt x="87" y="12"/>
                  </a:cubicBez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7" y="12"/>
                    <a:pt x="87" y="12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7" y="11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8"/>
                    <a:pt x="87" y="8"/>
                    <a:pt x="87" y="8"/>
                  </a:cubicBezTo>
                  <a:cubicBezTo>
                    <a:pt x="87" y="8"/>
                    <a:pt x="87" y="8"/>
                    <a:pt x="87" y="8"/>
                  </a:cubicBezTo>
                  <a:cubicBezTo>
                    <a:pt x="87" y="8"/>
                    <a:pt x="87" y="8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6"/>
                    <a:pt x="87" y="6"/>
                  </a:cubicBezTo>
                  <a:cubicBezTo>
                    <a:pt x="87" y="6"/>
                    <a:pt x="87" y="6"/>
                    <a:pt x="87" y="6"/>
                  </a:cubicBezTo>
                  <a:cubicBezTo>
                    <a:pt x="87" y="6"/>
                    <a:pt x="87" y="6"/>
                    <a:pt x="87" y="6"/>
                  </a:cubicBezTo>
                  <a:cubicBezTo>
                    <a:pt x="88" y="6"/>
                    <a:pt x="88" y="6"/>
                    <a:pt x="88" y="6"/>
                  </a:cubicBezTo>
                  <a:cubicBezTo>
                    <a:pt x="88" y="6"/>
                    <a:pt x="88" y="6"/>
                    <a:pt x="88" y="6"/>
                  </a:cubicBezTo>
                  <a:cubicBezTo>
                    <a:pt x="88" y="7"/>
                    <a:pt x="88" y="7"/>
                    <a:pt x="88" y="7"/>
                  </a:cubicBezTo>
                  <a:cubicBezTo>
                    <a:pt x="88" y="8"/>
                    <a:pt x="88" y="8"/>
                    <a:pt x="88" y="8"/>
                  </a:cubicBezTo>
                  <a:close/>
                  <a:moveTo>
                    <a:pt x="94" y="12"/>
                  </a:moveTo>
                  <a:cubicBezTo>
                    <a:pt x="94" y="12"/>
                    <a:pt x="94" y="12"/>
                    <a:pt x="94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4" y="11"/>
                    <a:pt x="94" y="11"/>
                    <a:pt x="94" y="11"/>
                  </a:cubicBezTo>
                  <a:cubicBezTo>
                    <a:pt x="94" y="11"/>
                    <a:pt x="94" y="11"/>
                    <a:pt x="94" y="11"/>
                  </a:cubicBezTo>
                  <a:cubicBezTo>
                    <a:pt x="94" y="11"/>
                    <a:pt x="94" y="11"/>
                    <a:pt x="94" y="11"/>
                  </a:cubicBezTo>
                  <a:cubicBezTo>
                    <a:pt x="94" y="11"/>
                    <a:pt x="94" y="11"/>
                    <a:pt x="95" y="11"/>
                  </a:cubicBezTo>
                  <a:cubicBezTo>
                    <a:pt x="95" y="12"/>
                    <a:pt x="95" y="12"/>
                    <a:pt x="95" y="12"/>
                  </a:cubicBezTo>
                  <a:cubicBezTo>
                    <a:pt x="95" y="12"/>
                    <a:pt x="95" y="12"/>
                    <a:pt x="94" y="12"/>
                  </a:cubicBezTo>
                  <a:close/>
                  <a:moveTo>
                    <a:pt x="97" y="9"/>
                  </a:moveTo>
                  <a:cubicBezTo>
                    <a:pt x="97" y="9"/>
                    <a:pt x="97" y="9"/>
                    <a:pt x="97" y="9"/>
                  </a:cubicBezTo>
                  <a:cubicBezTo>
                    <a:pt x="97" y="9"/>
                    <a:pt x="96" y="9"/>
                    <a:pt x="96" y="9"/>
                  </a:cubicBezTo>
                  <a:cubicBezTo>
                    <a:pt x="96" y="9"/>
                    <a:pt x="96" y="10"/>
                    <a:pt x="96" y="10"/>
                  </a:cubicBezTo>
                  <a:cubicBezTo>
                    <a:pt x="96" y="10"/>
                    <a:pt x="96" y="10"/>
                    <a:pt x="96" y="10"/>
                  </a:cubicBezTo>
                  <a:cubicBezTo>
                    <a:pt x="96" y="10"/>
                    <a:pt x="96" y="11"/>
                    <a:pt x="96" y="11"/>
                  </a:cubicBezTo>
                  <a:cubicBezTo>
                    <a:pt x="96" y="11"/>
                    <a:pt x="96" y="11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6" y="12"/>
                    <a:pt x="96" y="13"/>
                  </a:cubicBezTo>
                  <a:cubicBezTo>
                    <a:pt x="96" y="13"/>
                    <a:pt x="96" y="13"/>
                    <a:pt x="96" y="13"/>
                  </a:cubicBezTo>
                  <a:cubicBezTo>
                    <a:pt x="96" y="13"/>
                    <a:pt x="96" y="13"/>
                    <a:pt x="96" y="13"/>
                  </a:cubicBezTo>
                  <a:cubicBezTo>
                    <a:pt x="96" y="13"/>
                    <a:pt x="96" y="13"/>
                    <a:pt x="96" y="13"/>
                  </a:cubicBezTo>
                  <a:cubicBezTo>
                    <a:pt x="96" y="13"/>
                    <a:pt x="96" y="13"/>
                    <a:pt x="96" y="14"/>
                  </a:cubicBezTo>
                  <a:cubicBezTo>
                    <a:pt x="96" y="14"/>
                    <a:pt x="96" y="14"/>
                    <a:pt x="96" y="14"/>
                  </a:cubicBezTo>
                  <a:cubicBezTo>
                    <a:pt x="96" y="14"/>
                    <a:pt x="96" y="14"/>
                    <a:pt x="96" y="14"/>
                  </a:cubicBezTo>
                  <a:cubicBezTo>
                    <a:pt x="96" y="14"/>
                    <a:pt x="96" y="14"/>
                    <a:pt x="96" y="14"/>
                  </a:cubicBezTo>
                  <a:cubicBezTo>
                    <a:pt x="96" y="13"/>
                    <a:pt x="96" y="13"/>
                    <a:pt x="96" y="13"/>
                  </a:cubicBezTo>
                  <a:cubicBezTo>
                    <a:pt x="96" y="13"/>
                    <a:pt x="96" y="13"/>
                    <a:pt x="96" y="13"/>
                  </a:cubicBezTo>
                  <a:cubicBezTo>
                    <a:pt x="96" y="13"/>
                    <a:pt x="96" y="13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6" y="11"/>
                    <a:pt x="96" y="11"/>
                  </a:cubicBezTo>
                  <a:cubicBezTo>
                    <a:pt x="96" y="11"/>
                    <a:pt x="96" y="11"/>
                    <a:pt x="96" y="11"/>
                  </a:cubicBezTo>
                  <a:cubicBezTo>
                    <a:pt x="96" y="11"/>
                    <a:pt x="96" y="11"/>
                    <a:pt x="96" y="11"/>
                  </a:cubicBezTo>
                  <a:cubicBezTo>
                    <a:pt x="96" y="11"/>
                    <a:pt x="96" y="11"/>
                    <a:pt x="96" y="10"/>
                  </a:cubicBezTo>
                  <a:cubicBezTo>
                    <a:pt x="96" y="10"/>
                    <a:pt x="96" y="10"/>
                    <a:pt x="96" y="10"/>
                  </a:cubicBezTo>
                  <a:cubicBezTo>
                    <a:pt x="96" y="10"/>
                    <a:pt x="96" y="10"/>
                    <a:pt x="96" y="10"/>
                  </a:cubicBezTo>
                  <a:cubicBezTo>
                    <a:pt x="96" y="10"/>
                    <a:pt x="96" y="10"/>
                    <a:pt x="96" y="10"/>
                  </a:cubicBezTo>
                  <a:cubicBezTo>
                    <a:pt x="96" y="10"/>
                    <a:pt x="96" y="9"/>
                    <a:pt x="96" y="9"/>
                  </a:cubicBezTo>
                  <a:cubicBezTo>
                    <a:pt x="96" y="9"/>
                    <a:pt x="96" y="9"/>
                    <a:pt x="96" y="9"/>
                  </a:cubicBezTo>
                  <a:cubicBezTo>
                    <a:pt x="96" y="9"/>
                    <a:pt x="96" y="9"/>
                    <a:pt x="95" y="9"/>
                  </a:cubicBezTo>
                  <a:cubicBezTo>
                    <a:pt x="95" y="10"/>
                    <a:pt x="95" y="10"/>
                    <a:pt x="95" y="10"/>
                  </a:cubicBezTo>
                  <a:cubicBezTo>
                    <a:pt x="95" y="10"/>
                    <a:pt x="95" y="10"/>
                    <a:pt x="95" y="10"/>
                  </a:cubicBezTo>
                  <a:cubicBezTo>
                    <a:pt x="95" y="11"/>
                    <a:pt x="95" y="11"/>
                    <a:pt x="95" y="11"/>
                  </a:cubicBezTo>
                  <a:cubicBezTo>
                    <a:pt x="95" y="11"/>
                    <a:pt x="95" y="11"/>
                    <a:pt x="95" y="11"/>
                  </a:cubicBezTo>
                  <a:cubicBezTo>
                    <a:pt x="95" y="11"/>
                    <a:pt x="95" y="11"/>
                    <a:pt x="95" y="11"/>
                  </a:cubicBezTo>
                  <a:cubicBezTo>
                    <a:pt x="95" y="11"/>
                    <a:pt x="95" y="11"/>
                    <a:pt x="95" y="11"/>
                  </a:cubicBezTo>
                  <a:cubicBezTo>
                    <a:pt x="95" y="11"/>
                    <a:pt x="95" y="11"/>
                    <a:pt x="95" y="10"/>
                  </a:cubicBezTo>
                  <a:cubicBezTo>
                    <a:pt x="95" y="10"/>
                    <a:pt x="95" y="10"/>
                    <a:pt x="95" y="10"/>
                  </a:cubicBezTo>
                  <a:cubicBezTo>
                    <a:pt x="95" y="10"/>
                    <a:pt x="95" y="10"/>
                    <a:pt x="95" y="10"/>
                  </a:cubicBezTo>
                  <a:cubicBezTo>
                    <a:pt x="95" y="9"/>
                    <a:pt x="95" y="9"/>
                    <a:pt x="95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3" y="10"/>
                  </a:cubicBezTo>
                  <a:cubicBezTo>
                    <a:pt x="93" y="10"/>
                    <a:pt x="93" y="10"/>
                    <a:pt x="93" y="10"/>
                  </a:cubicBezTo>
                  <a:cubicBezTo>
                    <a:pt x="93" y="10"/>
                    <a:pt x="93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5" y="10"/>
                    <a:pt x="95" y="10"/>
                    <a:pt x="95" y="10"/>
                  </a:cubicBezTo>
                  <a:cubicBezTo>
                    <a:pt x="95" y="11"/>
                    <a:pt x="94" y="11"/>
                    <a:pt x="94" y="11"/>
                  </a:cubicBezTo>
                  <a:cubicBezTo>
                    <a:pt x="94" y="11"/>
                    <a:pt x="94" y="11"/>
                    <a:pt x="94" y="11"/>
                  </a:cubicBezTo>
                  <a:cubicBezTo>
                    <a:pt x="94" y="11"/>
                    <a:pt x="94" y="11"/>
                    <a:pt x="94" y="11"/>
                  </a:cubicBezTo>
                  <a:cubicBezTo>
                    <a:pt x="94" y="11"/>
                    <a:pt x="94" y="11"/>
                    <a:pt x="94" y="11"/>
                  </a:cubicBezTo>
                  <a:cubicBezTo>
                    <a:pt x="93" y="11"/>
                    <a:pt x="93" y="11"/>
                    <a:pt x="93" y="11"/>
                  </a:cubicBezTo>
                  <a:cubicBezTo>
                    <a:pt x="93" y="11"/>
                    <a:pt x="93" y="11"/>
                    <a:pt x="93" y="11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3"/>
                    <a:pt x="93" y="13"/>
                  </a:cubicBezTo>
                  <a:cubicBezTo>
                    <a:pt x="93" y="13"/>
                    <a:pt x="93" y="13"/>
                    <a:pt x="93" y="13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2"/>
                    <a:pt x="93" y="11"/>
                  </a:cubicBezTo>
                  <a:cubicBezTo>
                    <a:pt x="93" y="11"/>
                    <a:pt x="93" y="11"/>
                    <a:pt x="93" y="11"/>
                  </a:cubicBezTo>
                  <a:cubicBezTo>
                    <a:pt x="93" y="11"/>
                    <a:pt x="92" y="11"/>
                    <a:pt x="92" y="11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1" y="12"/>
                  </a:cubicBezTo>
                  <a:cubicBezTo>
                    <a:pt x="91" y="12"/>
                    <a:pt x="91" y="12"/>
                    <a:pt x="91" y="12"/>
                  </a:cubicBezTo>
                  <a:cubicBezTo>
                    <a:pt x="91" y="12"/>
                    <a:pt x="91" y="12"/>
                    <a:pt x="91" y="12"/>
                  </a:cubicBezTo>
                  <a:cubicBezTo>
                    <a:pt x="91" y="12"/>
                    <a:pt x="91" y="12"/>
                    <a:pt x="91" y="12"/>
                  </a:cubicBezTo>
                  <a:cubicBezTo>
                    <a:pt x="91" y="12"/>
                    <a:pt x="91" y="11"/>
                    <a:pt x="91" y="11"/>
                  </a:cubicBezTo>
                  <a:cubicBezTo>
                    <a:pt x="91" y="11"/>
                    <a:pt x="91" y="11"/>
                    <a:pt x="91" y="11"/>
                  </a:cubicBezTo>
                  <a:cubicBezTo>
                    <a:pt x="91" y="11"/>
                    <a:pt x="91" y="11"/>
                    <a:pt x="92" y="11"/>
                  </a:cubicBezTo>
                  <a:cubicBezTo>
                    <a:pt x="92" y="11"/>
                    <a:pt x="92" y="11"/>
                    <a:pt x="93" y="11"/>
                  </a:cubicBezTo>
                  <a:cubicBezTo>
                    <a:pt x="93" y="11"/>
                    <a:pt x="93" y="11"/>
                    <a:pt x="93" y="10"/>
                  </a:cubicBezTo>
                  <a:cubicBezTo>
                    <a:pt x="93" y="10"/>
                    <a:pt x="93" y="10"/>
                    <a:pt x="93" y="10"/>
                  </a:cubicBezTo>
                  <a:cubicBezTo>
                    <a:pt x="93" y="10"/>
                    <a:pt x="93" y="10"/>
                    <a:pt x="93" y="10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2" y="10"/>
                    <a:pt x="92" y="10"/>
                    <a:pt x="91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1" y="10"/>
                    <a:pt x="91" y="10"/>
                    <a:pt x="92" y="10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3" y="10"/>
                    <a:pt x="93" y="10"/>
                    <a:pt x="93" y="9"/>
                  </a:cubicBezTo>
                  <a:cubicBezTo>
                    <a:pt x="93" y="9"/>
                    <a:pt x="93" y="9"/>
                    <a:pt x="93" y="9"/>
                  </a:cubicBezTo>
                  <a:cubicBezTo>
                    <a:pt x="93" y="9"/>
                    <a:pt x="93" y="9"/>
                    <a:pt x="93" y="9"/>
                  </a:cubicBezTo>
                  <a:cubicBezTo>
                    <a:pt x="93" y="9"/>
                    <a:pt x="93" y="9"/>
                    <a:pt x="93" y="9"/>
                  </a:cubicBezTo>
                  <a:cubicBezTo>
                    <a:pt x="93" y="9"/>
                    <a:pt x="93" y="9"/>
                    <a:pt x="93" y="9"/>
                  </a:cubicBezTo>
                  <a:cubicBezTo>
                    <a:pt x="93" y="9"/>
                    <a:pt x="93" y="9"/>
                    <a:pt x="93" y="9"/>
                  </a:cubicBezTo>
                  <a:cubicBezTo>
                    <a:pt x="93" y="9"/>
                    <a:pt x="93" y="9"/>
                    <a:pt x="93" y="9"/>
                  </a:cubicBezTo>
                  <a:cubicBezTo>
                    <a:pt x="93" y="9"/>
                    <a:pt x="93" y="9"/>
                    <a:pt x="92" y="9"/>
                  </a:cubicBezTo>
                  <a:cubicBezTo>
                    <a:pt x="92" y="9"/>
                    <a:pt x="92" y="9"/>
                    <a:pt x="92" y="9"/>
                  </a:cubicBezTo>
                  <a:cubicBezTo>
                    <a:pt x="92" y="9"/>
                    <a:pt x="92" y="9"/>
                    <a:pt x="92" y="9"/>
                  </a:cubicBezTo>
                  <a:cubicBezTo>
                    <a:pt x="92" y="9"/>
                    <a:pt x="92" y="9"/>
                    <a:pt x="92" y="9"/>
                  </a:cubicBezTo>
                  <a:cubicBezTo>
                    <a:pt x="92" y="9"/>
                    <a:pt x="92" y="9"/>
                    <a:pt x="92" y="9"/>
                  </a:cubicBezTo>
                  <a:cubicBezTo>
                    <a:pt x="92" y="9"/>
                    <a:pt x="92" y="8"/>
                    <a:pt x="92" y="8"/>
                  </a:cubicBezTo>
                  <a:cubicBezTo>
                    <a:pt x="93" y="8"/>
                    <a:pt x="93" y="8"/>
                    <a:pt x="93" y="8"/>
                  </a:cubicBezTo>
                  <a:cubicBezTo>
                    <a:pt x="93" y="8"/>
                    <a:pt x="93" y="8"/>
                    <a:pt x="92" y="8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7"/>
                    <a:pt x="92" y="7"/>
                    <a:pt x="92" y="7"/>
                  </a:cubicBezTo>
                  <a:cubicBezTo>
                    <a:pt x="92" y="7"/>
                    <a:pt x="92" y="7"/>
                    <a:pt x="92" y="7"/>
                  </a:cubicBezTo>
                  <a:cubicBezTo>
                    <a:pt x="92" y="7"/>
                    <a:pt x="92" y="7"/>
                    <a:pt x="92" y="7"/>
                  </a:cubicBezTo>
                  <a:cubicBezTo>
                    <a:pt x="92" y="7"/>
                    <a:pt x="92" y="7"/>
                    <a:pt x="92" y="7"/>
                  </a:cubicBezTo>
                  <a:cubicBezTo>
                    <a:pt x="92" y="7"/>
                    <a:pt x="92" y="7"/>
                    <a:pt x="92" y="7"/>
                  </a:cubicBezTo>
                  <a:cubicBezTo>
                    <a:pt x="92" y="7"/>
                    <a:pt x="92" y="7"/>
                    <a:pt x="93" y="7"/>
                  </a:cubicBezTo>
                  <a:cubicBezTo>
                    <a:pt x="93" y="7"/>
                    <a:pt x="93" y="7"/>
                    <a:pt x="93" y="7"/>
                  </a:cubicBezTo>
                  <a:cubicBezTo>
                    <a:pt x="93" y="7"/>
                    <a:pt x="93" y="7"/>
                    <a:pt x="93" y="7"/>
                  </a:cubicBezTo>
                  <a:cubicBezTo>
                    <a:pt x="93" y="7"/>
                    <a:pt x="93" y="7"/>
                    <a:pt x="93" y="7"/>
                  </a:cubicBezTo>
                  <a:cubicBezTo>
                    <a:pt x="93" y="7"/>
                    <a:pt x="93" y="7"/>
                    <a:pt x="93" y="7"/>
                  </a:cubicBezTo>
                  <a:cubicBezTo>
                    <a:pt x="93" y="7"/>
                    <a:pt x="93" y="7"/>
                    <a:pt x="93" y="7"/>
                  </a:cubicBezTo>
                  <a:cubicBezTo>
                    <a:pt x="93" y="7"/>
                    <a:pt x="93" y="7"/>
                    <a:pt x="94" y="7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4" y="7"/>
                    <a:pt x="94" y="6"/>
                  </a:cubicBezTo>
                  <a:cubicBezTo>
                    <a:pt x="94" y="6"/>
                    <a:pt x="94" y="6"/>
                    <a:pt x="95" y="6"/>
                  </a:cubicBezTo>
                  <a:cubicBezTo>
                    <a:pt x="95" y="6"/>
                    <a:pt x="95" y="6"/>
                    <a:pt x="95" y="6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4" y="7"/>
                    <a:pt x="94" y="7"/>
                    <a:pt x="94" y="8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4" y="8"/>
                    <a:pt x="95" y="8"/>
                    <a:pt x="95" y="8"/>
                  </a:cubicBezTo>
                  <a:cubicBezTo>
                    <a:pt x="95" y="8"/>
                    <a:pt x="95" y="8"/>
                    <a:pt x="95" y="9"/>
                  </a:cubicBezTo>
                  <a:cubicBezTo>
                    <a:pt x="95" y="9"/>
                    <a:pt x="94" y="9"/>
                    <a:pt x="94" y="9"/>
                  </a:cubicBezTo>
                  <a:cubicBezTo>
                    <a:pt x="94" y="9"/>
                    <a:pt x="94" y="9"/>
                    <a:pt x="94" y="9"/>
                  </a:cubicBezTo>
                  <a:cubicBezTo>
                    <a:pt x="94" y="9"/>
                    <a:pt x="94" y="9"/>
                    <a:pt x="94" y="9"/>
                  </a:cubicBezTo>
                  <a:cubicBezTo>
                    <a:pt x="94" y="9"/>
                    <a:pt x="95" y="9"/>
                    <a:pt x="95" y="9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5" y="8"/>
                    <a:pt x="95" y="9"/>
                    <a:pt x="95" y="9"/>
                  </a:cubicBezTo>
                  <a:cubicBezTo>
                    <a:pt x="95" y="9"/>
                    <a:pt x="96" y="9"/>
                    <a:pt x="96" y="9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9"/>
                    <a:pt x="97" y="9"/>
                    <a:pt x="97" y="9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5" name="iŝḻiďê">
              <a:extLst>
                <a:ext uri="{FF2B5EF4-FFF2-40B4-BE49-F238E27FC236}">
                  <a16:creationId xmlns:a16="http://schemas.microsoft.com/office/drawing/2014/main" id="{90144B1D-D4D0-4353-8E41-46F225878C50}"/>
                </a:ext>
              </a:extLst>
            </p:cNvPr>
            <p:cNvSpPr/>
            <p:nvPr/>
          </p:nvSpPr>
          <p:spPr bwMode="auto">
            <a:xfrm>
              <a:off x="3103563" y="344011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6" name="îṥḻiḍè">
              <a:extLst>
                <a:ext uri="{FF2B5EF4-FFF2-40B4-BE49-F238E27FC236}">
                  <a16:creationId xmlns:a16="http://schemas.microsoft.com/office/drawing/2014/main" id="{F95A83D0-CCDD-495A-8CF8-CF7515804C0F}"/>
                </a:ext>
              </a:extLst>
            </p:cNvPr>
            <p:cNvSpPr/>
            <p:nvPr/>
          </p:nvSpPr>
          <p:spPr bwMode="auto">
            <a:xfrm>
              <a:off x="3021013" y="3443288"/>
              <a:ext cx="3175" cy="3175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1 h 1"/>
                <a:gd name="T10" fmla="*/ 0 w 1"/>
                <a:gd name="T11" fmla="*/ 1 h 1"/>
                <a:gd name="T12" fmla="*/ 0 w 1"/>
                <a:gd name="T13" fmla="*/ 1 h 1"/>
                <a:gd name="T14" fmla="*/ 0 w 1"/>
                <a:gd name="T15" fmla="*/ 1 h 1"/>
                <a:gd name="T16" fmla="*/ 0 w 1"/>
                <a:gd name="T17" fmla="*/ 1 h 1"/>
                <a:gd name="T18" fmla="*/ 1 w 1"/>
                <a:gd name="T19" fmla="*/ 1 h 1"/>
                <a:gd name="T20" fmla="*/ 1 w 1"/>
                <a:gd name="T21" fmla="*/ 1 h 1"/>
                <a:gd name="T22" fmla="*/ 1 w 1"/>
                <a:gd name="T23" fmla="*/ 0 h 1"/>
                <a:gd name="T24" fmla="*/ 1 w 1"/>
                <a:gd name="T25" fmla="*/ 0 h 1"/>
                <a:gd name="T26" fmla="*/ 1 w 1"/>
                <a:gd name="T2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7" name="íṩḷîḋe">
              <a:extLst>
                <a:ext uri="{FF2B5EF4-FFF2-40B4-BE49-F238E27FC236}">
                  <a16:creationId xmlns:a16="http://schemas.microsoft.com/office/drawing/2014/main" id="{AF9B4090-3A08-4022-B3EA-A0413D774DDC}"/>
                </a:ext>
              </a:extLst>
            </p:cNvPr>
            <p:cNvSpPr/>
            <p:nvPr/>
          </p:nvSpPr>
          <p:spPr bwMode="auto">
            <a:xfrm>
              <a:off x="2941638" y="3436938"/>
              <a:ext cx="3175" cy="6350"/>
            </a:xfrm>
            <a:custGeom>
              <a:avLst/>
              <a:gdLst>
                <a:gd name="T0" fmla="*/ 1 w 1"/>
                <a:gd name="T1" fmla="*/ 0 h 2"/>
                <a:gd name="T2" fmla="*/ 1 w 1"/>
                <a:gd name="T3" fmla="*/ 0 h 2"/>
                <a:gd name="T4" fmla="*/ 0 w 1"/>
                <a:gd name="T5" fmla="*/ 0 h 2"/>
                <a:gd name="T6" fmla="*/ 0 w 1"/>
                <a:gd name="T7" fmla="*/ 0 h 2"/>
                <a:gd name="T8" fmla="*/ 0 w 1"/>
                <a:gd name="T9" fmla="*/ 0 h 2"/>
                <a:gd name="T10" fmla="*/ 0 w 1"/>
                <a:gd name="T11" fmla="*/ 0 h 2"/>
                <a:gd name="T12" fmla="*/ 0 w 1"/>
                <a:gd name="T13" fmla="*/ 0 h 2"/>
                <a:gd name="T14" fmla="*/ 0 w 1"/>
                <a:gd name="T15" fmla="*/ 0 h 2"/>
                <a:gd name="T16" fmla="*/ 1 w 1"/>
                <a:gd name="T17" fmla="*/ 0 h 2"/>
                <a:gd name="T18" fmla="*/ 1 w 1"/>
                <a:gd name="T19" fmla="*/ 0 h 2"/>
                <a:gd name="T20" fmla="*/ 1 w 1"/>
                <a:gd name="T21" fmla="*/ 1 h 2"/>
                <a:gd name="T22" fmla="*/ 0 w 1"/>
                <a:gd name="T23" fmla="*/ 1 h 2"/>
                <a:gd name="T24" fmla="*/ 0 w 1"/>
                <a:gd name="T25" fmla="*/ 1 h 2"/>
                <a:gd name="T26" fmla="*/ 0 w 1"/>
                <a:gd name="T27" fmla="*/ 1 h 2"/>
                <a:gd name="T28" fmla="*/ 0 w 1"/>
                <a:gd name="T29" fmla="*/ 1 h 2"/>
                <a:gd name="T30" fmla="*/ 0 w 1"/>
                <a:gd name="T31" fmla="*/ 1 h 2"/>
                <a:gd name="T32" fmla="*/ 0 w 1"/>
                <a:gd name="T33" fmla="*/ 1 h 2"/>
                <a:gd name="T34" fmla="*/ 1 w 1"/>
                <a:gd name="T35" fmla="*/ 1 h 2"/>
                <a:gd name="T36" fmla="*/ 1 w 1"/>
                <a:gd name="T37" fmla="*/ 1 h 2"/>
                <a:gd name="T38" fmla="*/ 1 w 1"/>
                <a:gd name="T39" fmla="*/ 1 h 2"/>
                <a:gd name="T40" fmla="*/ 1 w 1"/>
                <a:gd name="T41" fmla="*/ 1 h 2"/>
                <a:gd name="T42" fmla="*/ 0 w 1"/>
                <a:gd name="T43" fmla="*/ 2 h 2"/>
                <a:gd name="T44" fmla="*/ 0 w 1"/>
                <a:gd name="T45" fmla="*/ 2 h 2"/>
                <a:gd name="T46" fmla="*/ 0 w 1"/>
                <a:gd name="T47" fmla="*/ 2 h 2"/>
                <a:gd name="T48" fmla="*/ 0 w 1"/>
                <a:gd name="T49" fmla="*/ 2 h 2"/>
                <a:gd name="T50" fmla="*/ 1 w 1"/>
                <a:gd name="T51" fmla="*/ 2 h 2"/>
                <a:gd name="T52" fmla="*/ 1 w 1"/>
                <a:gd name="T53" fmla="*/ 1 h 2"/>
                <a:gd name="T54" fmla="*/ 1 w 1"/>
                <a:gd name="T55" fmla="*/ 1 h 2"/>
                <a:gd name="T56" fmla="*/ 1 w 1"/>
                <a:gd name="T57" fmla="*/ 0 h 2"/>
                <a:gd name="T58" fmla="*/ 1 w 1"/>
                <a:gd name="T5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1"/>
                    <a:pt x="1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8" name="iṧḻiḋè">
              <a:extLst>
                <a:ext uri="{FF2B5EF4-FFF2-40B4-BE49-F238E27FC236}">
                  <a16:creationId xmlns:a16="http://schemas.microsoft.com/office/drawing/2014/main" id="{AE56AC39-9C0A-4C0E-99D8-4FCF4D2796E3}"/>
                </a:ext>
              </a:extLst>
            </p:cNvPr>
            <p:cNvSpPr/>
            <p:nvPr/>
          </p:nvSpPr>
          <p:spPr bwMode="auto">
            <a:xfrm>
              <a:off x="3517900" y="2994026"/>
              <a:ext cx="138113" cy="115888"/>
            </a:xfrm>
            <a:custGeom>
              <a:avLst/>
              <a:gdLst>
                <a:gd name="T0" fmla="*/ 36 w 38"/>
                <a:gd name="T1" fmla="*/ 26 h 32"/>
                <a:gd name="T2" fmla="*/ 34 w 38"/>
                <a:gd name="T3" fmla="*/ 22 h 32"/>
                <a:gd name="T4" fmla="*/ 28 w 38"/>
                <a:gd name="T5" fmla="*/ 16 h 32"/>
                <a:gd name="T6" fmla="*/ 27 w 38"/>
                <a:gd name="T7" fmla="*/ 14 h 32"/>
                <a:gd name="T8" fmla="*/ 26 w 38"/>
                <a:gd name="T9" fmla="*/ 14 h 32"/>
                <a:gd name="T10" fmla="*/ 27 w 38"/>
                <a:gd name="T11" fmla="*/ 13 h 32"/>
                <a:gd name="T12" fmla="*/ 30 w 38"/>
                <a:gd name="T13" fmla="*/ 14 h 32"/>
                <a:gd name="T14" fmla="*/ 32 w 38"/>
                <a:gd name="T15" fmla="*/ 14 h 32"/>
                <a:gd name="T16" fmla="*/ 36 w 38"/>
                <a:gd name="T17" fmla="*/ 14 h 32"/>
                <a:gd name="T18" fmla="*/ 37 w 38"/>
                <a:gd name="T19" fmla="*/ 13 h 32"/>
                <a:gd name="T20" fmla="*/ 37 w 38"/>
                <a:gd name="T21" fmla="*/ 12 h 32"/>
                <a:gd name="T22" fmla="*/ 36 w 38"/>
                <a:gd name="T23" fmla="*/ 7 h 32"/>
                <a:gd name="T24" fmla="*/ 33 w 38"/>
                <a:gd name="T25" fmla="*/ 4 h 32"/>
                <a:gd name="T26" fmla="*/ 31 w 38"/>
                <a:gd name="T27" fmla="*/ 4 h 32"/>
                <a:gd name="T28" fmla="*/ 31 w 38"/>
                <a:gd name="T29" fmla="*/ 6 h 32"/>
                <a:gd name="T30" fmla="*/ 31 w 38"/>
                <a:gd name="T31" fmla="*/ 8 h 32"/>
                <a:gd name="T32" fmla="*/ 31 w 38"/>
                <a:gd name="T33" fmla="*/ 9 h 32"/>
                <a:gd name="T34" fmla="*/ 28 w 38"/>
                <a:gd name="T35" fmla="*/ 10 h 32"/>
                <a:gd name="T36" fmla="*/ 26 w 38"/>
                <a:gd name="T37" fmla="*/ 10 h 32"/>
                <a:gd name="T38" fmla="*/ 23 w 38"/>
                <a:gd name="T39" fmla="*/ 11 h 32"/>
                <a:gd name="T40" fmla="*/ 22 w 38"/>
                <a:gd name="T41" fmla="*/ 10 h 32"/>
                <a:gd name="T42" fmla="*/ 16 w 38"/>
                <a:gd name="T43" fmla="*/ 6 h 32"/>
                <a:gd name="T44" fmla="*/ 12 w 38"/>
                <a:gd name="T45" fmla="*/ 3 h 32"/>
                <a:gd name="T46" fmla="*/ 8 w 38"/>
                <a:gd name="T47" fmla="*/ 0 h 32"/>
                <a:gd name="T48" fmla="*/ 7 w 38"/>
                <a:gd name="T49" fmla="*/ 0 h 32"/>
                <a:gd name="T50" fmla="*/ 6 w 38"/>
                <a:gd name="T51" fmla="*/ 1 h 32"/>
                <a:gd name="T52" fmla="*/ 7 w 38"/>
                <a:gd name="T53" fmla="*/ 7 h 32"/>
                <a:gd name="T54" fmla="*/ 7 w 38"/>
                <a:gd name="T55" fmla="*/ 8 h 32"/>
                <a:gd name="T56" fmla="*/ 16 w 38"/>
                <a:gd name="T57" fmla="*/ 14 h 32"/>
                <a:gd name="T58" fmla="*/ 19 w 38"/>
                <a:gd name="T59" fmla="*/ 16 h 32"/>
                <a:gd name="T60" fmla="*/ 12 w 38"/>
                <a:gd name="T61" fmla="*/ 20 h 32"/>
                <a:gd name="T62" fmla="*/ 7 w 38"/>
                <a:gd name="T63" fmla="*/ 20 h 32"/>
                <a:gd name="T64" fmla="*/ 5 w 38"/>
                <a:gd name="T65" fmla="*/ 18 h 32"/>
                <a:gd name="T66" fmla="*/ 5 w 38"/>
                <a:gd name="T67" fmla="*/ 14 h 32"/>
                <a:gd name="T68" fmla="*/ 5 w 38"/>
                <a:gd name="T69" fmla="*/ 12 h 32"/>
                <a:gd name="T70" fmla="*/ 4 w 38"/>
                <a:gd name="T71" fmla="*/ 12 h 32"/>
                <a:gd name="T72" fmla="*/ 3 w 38"/>
                <a:gd name="T73" fmla="*/ 15 h 32"/>
                <a:gd name="T74" fmla="*/ 1 w 38"/>
                <a:gd name="T75" fmla="*/ 17 h 32"/>
                <a:gd name="T76" fmla="*/ 0 w 38"/>
                <a:gd name="T77" fmla="*/ 20 h 32"/>
                <a:gd name="T78" fmla="*/ 2 w 38"/>
                <a:gd name="T79" fmla="*/ 24 h 32"/>
                <a:gd name="T80" fmla="*/ 14 w 38"/>
                <a:gd name="T81" fmla="*/ 25 h 32"/>
                <a:gd name="T82" fmla="*/ 22 w 38"/>
                <a:gd name="T83" fmla="*/ 21 h 32"/>
                <a:gd name="T84" fmla="*/ 23 w 38"/>
                <a:gd name="T85" fmla="*/ 21 h 32"/>
                <a:gd name="T86" fmla="*/ 25 w 38"/>
                <a:gd name="T87" fmla="*/ 24 h 32"/>
                <a:gd name="T88" fmla="*/ 28 w 38"/>
                <a:gd name="T89" fmla="*/ 28 h 32"/>
                <a:gd name="T90" fmla="*/ 29 w 38"/>
                <a:gd name="T91" fmla="*/ 31 h 32"/>
                <a:gd name="T92" fmla="*/ 32 w 38"/>
                <a:gd name="T93" fmla="*/ 32 h 32"/>
                <a:gd name="T94" fmla="*/ 35 w 38"/>
                <a:gd name="T95" fmla="*/ 29 h 32"/>
                <a:gd name="T96" fmla="*/ 36 w 38"/>
                <a:gd name="T97" fmla="*/ 26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8" h="32">
                  <a:moveTo>
                    <a:pt x="36" y="26"/>
                  </a:moveTo>
                  <a:cubicBezTo>
                    <a:pt x="36" y="25"/>
                    <a:pt x="35" y="24"/>
                    <a:pt x="34" y="22"/>
                  </a:cubicBezTo>
                  <a:cubicBezTo>
                    <a:pt x="32" y="21"/>
                    <a:pt x="31" y="18"/>
                    <a:pt x="28" y="16"/>
                  </a:cubicBezTo>
                  <a:cubicBezTo>
                    <a:pt x="28" y="16"/>
                    <a:pt x="27" y="15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7" y="14"/>
                    <a:pt x="27" y="13"/>
                    <a:pt x="27" y="13"/>
                  </a:cubicBezTo>
                  <a:cubicBezTo>
                    <a:pt x="28" y="13"/>
                    <a:pt x="29" y="14"/>
                    <a:pt x="30" y="14"/>
                  </a:cubicBezTo>
                  <a:cubicBezTo>
                    <a:pt x="30" y="14"/>
                    <a:pt x="31" y="14"/>
                    <a:pt x="32" y="14"/>
                  </a:cubicBezTo>
                  <a:cubicBezTo>
                    <a:pt x="33" y="14"/>
                    <a:pt x="34" y="14"/>
                    <a:pt x="36" y="14"/>
                  </a:cubicBezTo>
                  <a:cubicBezTo>
                    <a:pt x="37" y="14"/>
                    <a:pt x="37" y="14"/>
                    <a:pt x="37" y="13"/>
                  </a:cubicBezTo>
                  <a:cubicBezTo>
                    <a:pt x="37" y="13"/>
                    <a:pt x="37" y="12"/>
                    <a:pt x="37" y="12"/>
                  </a:cubicBezTo>
                  <a:cubicBezTo>
                    <a:pt x="38" y="11"/>
                    <a:pt x="38" y="8"/>
                    <a:pt x="36" y="7"/>
                  </a:cubicBezTo>
                  <a:cubicBezTo>
                    <a:pt x="35" y="6"/>
                    <a:pt x="34" y="5"/>
                    <a:pt x="33" y="4"/>
                  </a:cubicBezTo>
                  <a:cubicBezTo>
                    <a:pt x="33" y="4"/>
                    <a:pt x="32" y="4"/>
                    <a:pt x="31" y="4"/>
                  </a:cubicBezTo>
                  <a:cubicBezTo>
                    <a:pt x="31" y="5"/>
                    <a:pt x="31" y="5"/>
                    <a:pt x="31" y="6"/>
                  </a:cubicBezTo>
                  <a:cubicBezTo>
                    <a:pt x="30" y="7"/>
                    <a:pt x="30" y="8"/>
                    <a:pt x="31" y="8"/>
                  </a:cubicBezTo>
                  <a:cubicBezTo>
                    <a:pt x="31" y="9"/>
                    <a:pt x="31" y="9"/>
                    <a:pt x="31" y="9"/>
                  </a:cubicBezTo>
                  <a:cubicBezTo>
                    <a:pt x="30" y="9"/>
                    <a:pt x="29" y="10"/>
                    <a:pt x="28" y="10"/>
                  </a:cubicBezTo>
                  <a:cubicBezTo>
                    <a:pt x="27" y="10"/>
                    <a:pt x="26" y="10"/>
                    <a:pt x="26" y="10"/>
                  </a:cubicBezTo>
                  <a:cubicBezTo>
                    <a:pt x="25" y="10"/>
                    <a:pt x="24" y="10"/>
                    <a:pt x="23" y="11"/>
                  </a:cubicBezTo>
                  <a:cubicBezTo>
                    <a:pt x="23" y="11"/>
                    <a:pt x="23" y="11"/>
                    <a:pt x="22" y="10"/>
                  </a:cubicBezTo>
                  <a:cubicBezTo>
                    <a:pt x="20" y="9"/>
                    <a:pt x="18" y="7"/>
                    <a:pt x="16" y="6"/>
                  </a:cubicBezTo>
                  <a:cubicBezTo>
                    <a:pt x="15" y="5"/>
                    <a:pt x="13" y="4"/>
                    <a:pt x="12" y="3"/>
                  </a:cubicBezTo>
                  <a:cubicBezTo>
                    <a:pt x="10" y="2"/>
                    <a:pt x="9" y="1"/>
                    <a:pt x="8" y="0"/>
                  </a:cubicBezTo>
                  <a:cubicBezTo>
                    <a:pt x="8" y="0"/>
                    <a:pt x="7" y="0"/>
                    <a:pt x="7" y="0"/>
                  </a:cubicBezTo>
                  <a:cubicBezTo>
                    <a:pt x="7" y="1"/>
                    <a:pt x="7" y="1"/>
                    <a:pt x="6" y="1"/>
                  </a:cubicBezTo>
                  <a:cubicBezTo>
                    <a:pt x="5" y="3"/>
                    <a:pt x="5" y="5"/>
                    <a:pt x="7" y="7"/>
                  </a:cubicBezTo>
                  <a:cubicBezTo>
                    <a:pt x="7" y="7"/>
                    <a:pt x="7" y="7"/>
                    <a:pt x="7" y="8"/>
                  </a:cubicBezTo>
                  <a:cubicBezTo>
                    <a:pt x="10" y="10"/>
                    <a:pt x="14" y="12"/>
                    <a:pt x="16" y="14"/>
                  </a:cubicBezTo>
                  <a:cubicBezTo>
                    <a:pt x="17" y="15"/>
                    <a:pt x="18" y="16"/>
                    <a:pt x="19" y="16"/>
                  </a:cubicBezTo>
                  <a:cubicBezTo>
                    <a:pt x="20" y="18"/>
                    <a:pt x="15" y="20"/>
                    <a:pt x="12" y="20"/>
                  </a:cubicBezTo>
                  <a:cubicBezTo>
                    <a:pt x="10" y="21"/>
                    <a:pt x="7" y="20"/>
                    <a:pt x="7" y="20"/>
                  </a:cubicBezTo>
                  <a:cubicBezTo>
                    <a:pt x="6" y="20"/>
                    <a:pt x="5" y="20"/>
                    <a:pt x="5" y="18"/>
                  </a:cubicBezTo>
                  <a:cubicBezTo>
                    <a:pt x="4" y="16"/>
                    <a:pt x="5" y="14"/>
                    <a:pt x="5" y="14"/>
                  </a:cubicBezTo>
                  <a:cubicBezTo>
                    <a:pt x="5" y="13"/>
                    <a:pt x="5" y="12"/>
                    <a:pt x="5" y="12"/>
                  </a:cubicBezTo>
                  <a:cubicBezTo>
                    <a:pt x="5" y="12"/>
                    <a:pt x="5" y="12"/>
                    <a:pt x="4" y="12"/>
                  </a:cubicBezTo>
                  <a:cubicBezTo>
                    <a:pt x="4" y="12"/>
                    <a:pt x="3" y="14"/>
                    <a:pt x="3" y="15"/>
                  </a:cubicBezTo>
                  <a:cubicBezTo>
                    <a:pt x="2" y="17"/>
                    <a:pt x="1" y="16"/>
                    <a:pt x="1" y="17"/>
                  </a:cubicBezTo>
                  <a:cubicBezTo>
                    <a:pt x="0" y="18"/>
                    <a:pt x="0" y="19"/>
                    <a:pt x="0" y="20"/>
                  </a:cubicBezTo>
                  <a:cubicBezTo>
                    <a:pt x="0" y="21"/>
                    <a:pt x="1" y="23"/>
                    <a:pt x="2" y="24"/>
                  </a:cubicBezTo>
                  <a:cubicBezTo>
                    <a:pt x="4" y="25"/>
                    <a:pt x="9" y="26"/>
                    <a:pt x="14" y="25"/>
                  </a:cubicBezTo>
                  <a:cubicBezTo>
                    <a:pt x="17" y="24"/>
                    <a:pt x="21" y="22"/>
                    <a:pt x="22" y="21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24" y="22"/>
                    <a:pt x="25" y="23"/>
                    <a:pt x="25" y="24"/>
                  </a:cubicBezTo>
                  <a:cubicBezTo>
                    <a:pt x="26" y="25"/>
                    <a:pt x="28" y="26"/>
                    <a:pt x="28" y="28"/>
                  </a:cubicBezTo>
                  <a:cubicBezTo>
                    <a:pt x="28" y="29"/>
                    <a:pt x="29" y="30"/>
                    <a:pt x="29" y="31"/>
                  </a:cubicBezTo>
                  <a:cubicBezTo>
                    <a:pt x="30" y="32"/>
                    <a:pt x="30" y="32"/>
                    <a:pt x="32" y="32"/>
                  </a:cubicBezTo>
                  <a:cubicBezTo>
                    <a:pt x="34" y="32"/>
                    <a:pt x="35" y="30"/>
                    <a:pt x="35" y="29"/>
                  </a:cubicBezTo>
                  <a:cubicBezTo>
                    <a:pt x="36" y="28"/>
                    <a:pt x="36" y="27"/>
                    <a:pt x="36" y="26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9" name="î$ľíḓè">
              <a:extLst>
                <a:ext uri="{FF2B5EF4-FFF2-40B4-BE49-F238E27FC236}">
                  <a16:creationId xmlns:a16="http://schemas.microsoft.com/office/drawing/2014/main" id="{276D8587-62A4-44EA-9409-8024F50389B0}"/>
                </a:ext>
              </a:extLst>
            </p:cNvPr>
            <p:cNvSpPr/>
            <p:nvPr/>
          </p:nvSpPr>
          <p:spPr bwMode="auto">
            <a:xfrm>
              <a:off x="3636963" y="2936876"/>
              <a:ext cx="115888" cy="90488"/>
            </a:xfrm>
            <a:custGeom>
              <a:avLst/>
              <a:gdLst>
                <a:gd name="T0" fmla="*/ 0 w 32"/>
                <a:gd name="T1" fmla="*/ 7 h 25"/>
                <a:gd name="T2" fmla="*/ 1 w 32"/>
                <a:gd name="T3" fmla="*/ 8 h 25"/>
                <a:gd name="T4" fmla="*/ 2 w 32"/>
                <a:gd name="T5" fmla="*/ 11 h 25"/>
                <a:gd name="T6" fmla="*/ 4 w 32"/>
                <a:gd name="T7" fmla="*/ 12 h 25"/>
                <a:gd name="T8" fmla="*/ 6 w 32"/>
                <a:gd name="T9" fmla="*/ 11 h 25"/>
                <a:gd name="T10" fmla="*/ 7 w 32"/>
                <a:gd name="T11" fmla="*/ 9 h 25"/>
                <a:gd name="T12" fmla="*/ 11 w 32"/>
                <a:gd name="T13" fmla="*/ 8 h 25"/>
                <a:gd name="T14" fmla="*/ 12 w 32"/>
                <a:gd name="T15" fmla="*/ 8 h 25"/>
                <a:gd name="T16" fmla="*/ 11 w 32"/>
                <a:gd name="T17" fmla="*/ 8 h 25"/>
                <a:gd name="T18" fmla="*/ 11 w 32"/>
                <a:gd name="T19" fmla="*/ 13 h 25"/>
                <a:gd name="T20" fmla="*/ 10 w 32"/>
                <a:gd name="T21" fmla="*/ 14 h 25"/>
                <a:gd name="T22" fmla="*/ 8 w 32"/>
                <a:gd name="T23" fmla="*/ 13 h 25"/>
                <a:gd name="T24" fmla="*/ 6 w 32"/>
                <a:gd name="T25" fmla="*/ 13 h 25"/>
                <a:gd name="T26" fmla="*/ 4 w 32"/>
                <a:gd name="T27" fmla="*/ 14 h 25"/>
                <a:gd name="T28" fmla="*/ 6 w 32"/>
                <a:gd name="T29" fmla="*/ 15 h 25"/>
                <a:gd name="T30" fmla="*/ 22 w 32"/>
                <a:gd name="T31" fmla="*/ 22 h 25"/>
                <a:gd name="T32" fmla="*/ 24 w 32"/>
                <a:gd name="T33" fmla="*/ 23 h 25"/>
                <a:gd name="T34" fmla="*/ 25 w 32"/>
                <a:gd name="T35" fmla="*/ 23 h 25"/>
                <a:gd name="T36" fmla="*/ 26 w 32"/>
                <a:gd name="T37" fmla="*/ 24 h 25"/>
                <a:gd name="T38" fmla="*/ 28 w 32"/>
                <a:gd name="T39" fmla="*/ 25 h 25"/>
                <a:gd name="T40" fmla="*/ 30 w 32"/>
                <a:gd name="T41" fmla="*/ 24 h 25"/>
                <a:gd name="T42" fmla="*/ 31 w 32"/>
                <a:gd name="T43" fmla="*/ 23 h 25"/>
                <a:gd name="T44" fmla="*/ 32 w 32"/>
                <a:gd name="T45" fmla="*/ 22 h 25"/>
                <a:gd name="T46" fmla="*/ 32 w 32"/>
                <a:gd name="T47" fmla="*/ 19 h 25"/>
                <a:gd name="T48" fmla="*/ 31 w 32"/>
                <a:gd name="T49" fmla="*/ 17 h 25"/>
                <a:gd name="T50" fmla="*/ 29 w 32"/>
                <a:gd name="T51" fmla="*/ 16 h 25"/>
                <a:gd name="T52" fmla="*/ 28 w 32"/>
                <a:gd name="T53" fmla="*/ 15 h 25"/>
                <a:gd name="T54" fmla="*/ 28 w 32"/>
                <a:gd name="T55" fmla="*/ 15 h 25"/>
                <a:gd name="T56" fmla="*/ 28 w 32"/>
                <a:gd name="T57" fmla="*/ 16 h 25"/>
                <a:gd name="T58" fmla="*/ 27 w 32"/>
                <a:gd name="T59" fmla="*/ 17 h 25"/>
                <a:gd name="T60" fmla="*/ 24 w 32"/>
                <a:gd name="T61" fmla="*/ 17 h 25"/>
                <a:gd name="T62" fmla="*/ 14 w 32"/>
                <a:gd name="T63" fmla="*/ 15 h 25"/>
                <a:gd name="T64" fmla="*/ 16 w 32"/>
                <a:gd name="T65" fmla="*/ 14 h 25"/>
                <a:gd name="T66" fmla="*/ 20 w 32"/>
                <a:gd name="T67" fmla="*/ 11 h 25"/>
                <a:gd name="T68" fmla="*/ 21 w 32"/>
                <a:gd name="T69" fmla="*/ 8 h 25"/>
                <a:gd name="T70" fmla="*/ 20 w 32"/>
                <a:gd name="T71" fmla="*/ 7 h 25"/>
                <a:gd name="T72" fmla="*/ 19 w 32"/>
                <a:gd name="T73" fmla="*/ 7 h 25"/>
                <a:gd name="T74" fmla="*/ 16 w 32"/>
                <a:gd name="T75" fmla="*/ 7 h 25"/>
                <a:gd name="T76" fmla="*/ 11 w 32"/>
                <a:gd name="T77" fmla="*/ 7 h 25"/>
                <a:gd name="T78" fmla="*/ 11 w 32"/>
                <a:gd name="T79" fmla="*/ 7 h 25"/>
                <a:gd name="T80" fmla="*/ 11 w 32"/>
                <a:gd name="T81" fmla="*/ 6 h 25"/>
                <a:gd name="T82" fmla="*/ 13 w 32"/>
                <a:gd name="T83" fmla="*/ 4 h 25"/>
                <a:gd name="T84" fmla="*/ 13 w 32"/>
                <a:gd name="T85" fmla="*/ 1 h 25"/>
                <a:gd name="T86" fmla="*/ 9 w 32"/>
                <a:gd name="T87" fmla="*/ 0 h 25"/>
                <a:gd name="T88" fmla="*/ 4 w 32"/>
                <a:gd name="T89" fmla="*/ 2 h 25"/>
                <a:gd name="T90" fmla="*/ 2 w 32"/>
                <a:gd name="T91" fmla="*/ 4 h 25"/>
                <a:gd name="T92" fmla="*/ 0 w 32"/>
                <a:gd name="T93" fmla="*/ 7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2" h="25">
                  <a:moveTo>
                    <a:pt x="0" y="7"/>
                  </a:moveTo>
                  <a:cubicBezTo>
                    <a:pt x="0" y="8"/>
                    <a:pt x="1" y="8"/>
                    <a:pt x="1" y="8"/>
                  </a:cubicBezTo>
                  <a:cubicBezTo>
                    <a:pt x="1" y="10"/>
                    <a:pt x="1" y="11"/>
                    <a:pt x="2" y="11"/>
                  </a:cubicBezTo>
                  <a:cubicBezTo>
                    <a:pt x="2" y="12"/>
                    <a:pt x="3" y="12"/>
                    <a:pt x="4" y="12"/>
                  </a:cubicBezTo>
                  <a:cubicBezTo>
                    <a:pt x="4" y="11"/>
                    <a:pt x="5" y="11"/>
                    <a:pt x="6" y="11"/>
                  </a:cubicBezTo>
                  <a:cubicBezTo>
                    <a:pt x="6" y="10"/>
                    <a:pt x="7" y="10"/>
                    <a:pt x="7" y="9"/>
                  </a:cubicBezTo>
                  <a:cubicBezTo>
                    <a:pt x="8" y="8"/>
                    <a:pt x="10" y="8"/>
                    <a:pt x="11" y="8"/>
                  </a:cubicBezTo>
                  <a:cubicBezTo>
                    <a:pt x="11" y="8"/>
                    <a:pt x="11" y="8"/>
                    <a:pt x="12" y="8"/>
                  </a:cubicBezTo>
                  <a:cubicBezTo>
                    <a:pt x="12" y="8"/>
                    <a:pt x="12" y="8"/>
                    <a:pt x="11" y="8"/>
                  </a:cubicBezTo>
                  <a:cubicBezTo>
                    <a:pt x="11" y="10"/>
                    <a:pt x="11" y="11"/>
                    <a:pt x="11" y="13"/>
                  </a:cubicBezTo>
                  <a:cubicBezTo>
                    <a:pt x="11" y="14"/>
                    <a:pt x="10" y="14"/>
                    <a:pt x="10" y="14"/>
                  </a:cubicBezTo>
                  <a:cubicBezTo>
                    <a:pt x="10" y="14"/>
                    <a:pt x="8" y="13"/>
                    <a:pt x="8" y="13"/>
                  </a:cubicBezTo>
                  <a:cubicBezTo>
                    <a:pt x="7" y="13"/>
                    <a:pt x="6" y="13"/>
                    <a:pt x="6" y="13"/>
                  </a:cubicBezTo>
                  <a:cubicBezTo>
                    <a:pt x="6" y="14"/>
                    <a:pt x="4" y="14"/>
                    <a:pt x="4" y="14"/>
                  </a:cubicBezTo>
                  <a:cubicBezTo>
                    <a:pt x="4" y="15"/>
                    <a:pt x="6" y="15"/>
                    <a:pt x="6" y="15"/>
                  </a:cubicBezTo>
                  <a:cubicBezTo>
                    <a:pt x="6" y="15"/>
                    <a:pt x="20" y="21"/>
                    <a:pt x="22" y="22"/>
                  </a:cubicBezTo>
                  <a:cubicBezTo>
                    <a:pt x="23" y="22"/>
                    <a:pt x="24" y="23"/>
                    <a:pt x="24" y="23"/>
                  </a:cubicBezTo>
                  <a:cubicBezTo>
                    <a:pt x="24" y="23"/>
                    <a:pt x="25" y="23"/>
                    <a:pt x="25" y="23"/>
                  </a:cubicBezTo>
                  <a:cubicBezTo>
                    <a:pt x="25" y="24"/>
                    <a:pt x="26" y="24"/>
                    <a:pt x="26" y="24"/>
                  </a:cubicBezTo>
                  <a:cubicBezTo>
                    <a:pt x="27" y="24"/>
                    <a:pt x="28" y="25"/>
                    <a:pt x="28" y="25"/>
                  </a:cubicBezTo>
                  <a:cubicBezTo>
                    <a:pt x="29" y="24"/>
                    <a:pt x="30" y="24"/>
                    <a:pt x="30" y="24"/>
                  </a:cubicBezTo>
                  <a:cubicBezTo>
                    <a:pt x="30" y="24"/>
                    <a:pt x="31" y="23"/>
                    <a:pt x="31" y="23"/>
                  </a:cubicBezTo>
                  <a:cubicBezTo>
                    <a:pt x="31" y="23"/>
                    <a:pt x="32" y="22"/>
                    <a:pt x="32" y="22"/>
                  </a:cubicBezTo>
                  <a:cubicBezTo>
                    <a:pt x="32" y="21"/>
                    <a:pt x="32" y="20"/>
                    <a:pt x="32" y="19"/>
                  </a:cubicBezTo>
                  <a:cubicBezTo>
                    <a:pt x="32" y="19"/>
                    <a:pt x="32" y="18"/>
                    <a:pt x="31" y="17"/>
                  </a:cubicBezTo>
                  <a:cubicBezTo>
                    <a:pt x="30" y="17"/>
                    <a:pt x="30" y="16"/>
                    <a:pt x="29" y="16"/>
                  </a:cubicBezTo>
                  <a:cubicBezTo>
                    <a:pt x="29" y="16"/>
                    <a:pt x="28" y="15"/>
                    <a:pt x="28" y="15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7"/>
                    <a:pt x="28" y="17"/>
                    <a:pt x="27" y="17"/>
                  </a:cubicBezTo>
                  <a:cubicBezTo>
                    <a:pt x="26" y="17"/>
                    <a:pt x="25" y="17"/>
                    <a:pt x="24" y="17"/>
                  </a:cubicBezTo>
                  <a:cubicBezTo>
                    <a:pt x="22" y="17"/>
                    <a:pt x="15" y="15"/>
                    <a:pt x="14" y="15"/>
                  </a:cubicBezTo>
                  <a:cubicBezTo>
                    <a:pt x="14" y="15"/>
                    <a:pt x="16" y="14"/>
                    <a:pt x="16" y="14"/>
                  </a:cubicBezTo>
                  <a:cubicBezTo>
                    <a:pt x="18" y="13"/>
                    <a:pt x="20" y="12"/>
                    <a:pt x="20" y="11"/>
                  </a:cubicBezTo>
                  <a:cubicBezTo>
                    <a:pt x="21" y="10"/>
                    <a:pt x="21" y="9"/>
                    <a:pt x="21" y="8"/>
                  </a:cubicBezTo>
                  <a:cubicBezTo>
                    <a:pt x="21" y="8"/>
                    <a:pt x="20" y="8"/>
                    <a:pt x="20" y="7"/>
                  </a:cubicBezTo>
                  <a:cubicBezTo>
                    <a:pt x="20" y="7"/>
                    <a:pt x="19" y="7"/>
                    <a:pt x="19" y="7"/>
                  </a:cubicBezTo>
                  <a:cubicBezTo>
                    <a:pt x="18" y="6"/>
                    <a:pt x="17" y="6"/>
                    <a:pt x="16" y="7"/>
                  </a:cubicBezTo>
                  <a:cubicBezTo>
                    <a:pt x="14" y="7"/>
                    <a:pt x="13" y="7"/>
                    <a:pt x="11" y="7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12" y="5"/>
                    <a:pt x="13" y="4"/>
                    <a:pt x="13" y="4"/>
                  </a:cubicBezTo>
                  <a:cubicBezTo>
                    <a:pt x="14" y="3"/>
                    <a:pt x="14" y="2"/>
                    <a:pt x="13" y="1"/>
                  </a:cubicBezTo>
                  <a:cubicBezTo>
                    <a:pt x="12" y="1"/>
                    <a:pt x="11" y="0"/>
                    <a:pt x="9" y="0"/>
                  </a:cubicBezTo>
                  <a:cubicBezTo>
                    <a:pt x="7" y="1"/>
                    <a:pt x="6" y="1"/>
                    <a:pt x="4" y="2"/>
                  </a:cubicBezTo>
                  <a:cubicBezTo>
                    <a:pt x="3" y="3"/>
                    <a:pt x="3" y="3"/>
                    <a:pt x="2" y="4"/>
                  </a:cubicBezTo>
                  <a:cubicBezTo>
                    <a:pt x="1" y="5"/>
                    <a:pt x="0" y="6"/>
                    <a:pt x="0" y="7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0" name="ïsľíďe">
              <a:extLst>
                <a:ext uri="{FF2B5EF4-FFF2-40B4-BE49-F238E27FC236}">
                  <a16:creationId xmlns:a16="http://schemas.microsoft.com/office/drawing/2014/main" id="{8500F066-253C-470D-BFC1-09C0232B6EA1}"/>
                </a:ext>
              </a:extLst>
            </p:cNvPr>
            <p:cNvSpPr/>
            <p:nvPr/>
          </p:nvSpPr>
          <p:spPr bwMode="auto">
            <a:xfrm>
              <a:off x="3616325" y="2971801"/>
              <a:ext cx="96838" cy="106363"/>
            </a:xfrm>
            <a:custGeom>
              <a:avLst/>
              <a:gdLst>
                <a:gd name="T0" fmla="*/ 26 w 27"/>
                <a:gd name="T1" fmla="*/ 26 h 29"/>
                <a:gd name="T2" fmla="*/ 27 w 27"/>
                <a:gd name="T3" fmla="*/ 21 h 29"/>
                <a:gd name="T4" fmla="*/ 22 w 27"/>
                <a:gd name="T5" fmla="*/ 14 h 29"/>
                <a:gd name="T6" fmla="*/ 16 w 27"/>
                <a:gd name="T7" fmla="*/ 9 h 29"/>
                <a:gd name="T8" fmla="*/ 7 w 27"/>
                <a:gd name="T9" fmla="*/ 3 h 29"/>
                <a:gd name="T10" fmla="*/ 0 w 27"/>
                <a:gd name="T11" fmla="*/ 0 h 29"/>
                <a:gd name="T12" fmla="*/ 0 w 27"/>
                <a:gd name="T13" fmla="*/ 1 h 29"/>
                <a:gd name="T14" fmla="*/ 2 w 27"/>
                <a:gd name="T15" fmla="*/ 3 h 29"/>
                <a:gd name="T16" fmla="*/ 5 w 27"/>
                <a:gd name="T17" fmla="*/ 6 h 29"/>
                <a:gd name="T18" fmla="*/ 9 w 27"/>
                <a:gd name="T19" fmla="*/ 8 h 29"/>
                <a:gd name="T20" fmla="*/ 17 w 27"/>
                <a:gd name="T21" fmla="*/ 12 h 29"/>
                <a:gd name="T22" fmla="*/ 24 w 27"/>
                <a:gd name="T23" fmla="*/ 20 h 29"/>
                <a:gd name="T24" fmla="*/ 24 w 27"/>
                <a:gd name="T25" fmla="*/ 23 h 29"/>
                <a:gd name="T26" fmla="*/ 20 w 27"/>
                <a:gd name="T27" fmla="*/ 24 h 29"/>
                <a:gd name="T28" fmla="*/ 16 w 27"/>
                <a:gd name="T29" fmla="*/ 22 h 29"/>
                <a:gd name="T30" fmla="*/ 11 w 27"/>
                <a:gd name="T31" fmla="*/ 20 h 29"/>
                <a:gd name="T32" fmla="*/ 10 w 27"/>
                <a:gd name="T33" fmla="*/ 20 h 29"/>
                <a:gd name="T34" fmla="*/ 10 w 27"/>
                <a:gd name="T35" fmla="*/ 20 h 29"/>
                <a:gd name="T36" fmla="*/ 10 w 27"/>
                <a:gd name="T37" fmla="*/ 20 h 29"/>
                <a:gd name="T38" fmla="*/ 11 w 27"/>
                <a:gd name="T39" fmla="*/ 21 h 29"/>
                <a:gd name="T40" fmla="*/ 12 w 27"/>
                <a:gd name="T41" fmla="*/ 23 h 29"/>
                <a:gd name="T42" fmla="*/ 19 w 27"/>
                <a:gd name="T43" fmla="*/ 28 h 29"/>
                <a:gd name="T44" fmla="*/ 24 w 27"/>
                <a:gd name="T45" fmla="*/ 28 h 29"/>
                <a:gd name="T46" fmla="*/ 26 w 27"/>
                <a:gd name="T47" fmla="*/ 26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7" h="29">
                  <a:moveTo>
                    <a:pt x="26" y="26"/>
                  </a:moveTo>
                  <a:cubicBezTo>
                    <a:pt x="27" y="24"/>
                    <a:pt x="27" y="23"/>
                    <a:pt x="27" y="21"/>
                  </a:cubicBezTo>
                  <a:cubicBezTo>
                    <a:pt x="26" y="19"/>
                    <a:pt x="24" y="16"/>
                    <a:pt x="22" y="14"/>
                  </a:cubicBezTo>
                  <a:cubicBezTo>
                    <a:pt x="20" y="12"/>
                    <a:pt x="20" y="11"/>
                    <a:pt x="16" y="9"/>
                  </a:cubicBezTo>
                  <a:cubicBezTo>
                    <a:pt x="12" y="6"/>
                    <a:pt x="8" y="4"/>
                    <a:pt x="7" y="3"/>
                  </a:cubicBezTo>
                  <a:cubicBezTo>
                    <a:pt x="5" y="3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"/>
                    <a:pt x="2" y="3"/>
                    <a:pt x="2" y="3"/>
                  </a:cubicBezTo>
                  <a:cubicBezTo>
                    <a:pt x="3" y="4"/>
                    <a:pt x="4" y="6"/>
                    <a:pt x="5" y="6"/>
                  </a:cubicBezTo>
                  <a:cubicBezTo>
                    <a:pt x="7" y="7"/>
                    <a:pt x="8" y="8"/>
                    <a:pt x="9" y="8"/>
                  </a:cubicBezTo>
                  <a:cubicBezTo>
                    <a:pt x="12" y="9"/>
                    <a:pt x="16" y="12"/>
                    <a:pt x="17" y="12"/>
                  </a:cubicBezTo>
                  <a:cubicBezTo>
                    <a:pt x="20" y="15"/>
                    <a:pt x="23" y="18"/>
                    <a:pt x="24" y="20"/>
                  </a:cubicBezTo>
                  <a:cubicBezTo>
                    <a:pt x="25" y="21"/>
                    <a:pt x="25" y="22"/>
                    <a:pt x="24" y="23"/>
                  </a:cubicBezTo>
                  <a:cubicBezTo>
                    <a:pt x="23" y="24"/>
                    <a:pt x="21" y="24"/>
                    <a:pt x="20" y="24"/>
                  </a:cubicBezTo>
                  <a:cubicBezTo>
                    <a:pt x="19" y="23"/>
                    <a:pt x="17" y="23"/>
                    <a:pt x="16" y="22"/>
                  </a:cubicBezTo>
                  <a:cubicBezTo>
                    <a:pt x="14" y="21"/>
                    <a:pt x="11" y="20"/>
                    <a:pt x="11" y="20"/>
                  </a:cubicBezTo>
                  <a:cubicBezTo>
                    <a:pt x="11" y="20"/>
                    <a:pt x="11" y="20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0" y="20"/>
                    <a:pt x="11" y="21"/>
                  </a:cubicBezTo>
                  <a:cubicBezTo>
                    <a:pt x="11" y="21"/>
                    <a:pt x="12" y="23"/>
                    <a:pt x="12" y="23"/>
                  </a:cubicBezTo>
                  <a:cubicBezTo>
                    <a:pt x="13" y="24"/>
                    <a:pt x="15" y="27"/>
                    <a:pt x="19" y="28"/>
                  </a:cubicBezTo>
                  <a:cubicBezTo>
                    <a:pt x="21" y="28"/>
                    <a:pt x="22" y="29"/>
                    <a:pt x="24" y="28"/>
                  </a:cubicBezTo>
                  <a:cubicBezTo>
                    <a:pt x="25" y="27"/>
                    <a:pt x="26" y="27"/>
                    <a:pt x="26" y="26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1" name="íšḷïdé">
              <a:extLst>
                <a:ext uri="{FF2B5EF4-FFF2-40B4-BE49-F238E27FC236}">
                  <a16:creationId xmlns:a16="http://schemas.microsoft.com/office/drawing/2014/main" id="{7527FBD6-2C24-4137-87E9-2F6F1FAB10BB}"/>
                </a:ext>
              </a:extLst>
            </p:cNvPr>
            <p:cNvSpPr/>
            <p:nvPr/>
          </p:nvSpPr>
          <p:spPr bwMode="auto">
            <a:xfrm>
              <a:off x="3651250" y="3044826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2" name="ïslîḍê">
              <a:extLst>
                <a:ext uri="{FF2B5EF4-FFF2-40B4-BE49-F238E27FC236}">
                  <a16:creationId xmlns:a16="http://schemas.microsoft.com/office/drawing/2014/main" id="{D7BBB215-B34A-4A30-A6AC-196DFAFD3867}"/>
                </a:ext>
              </a:extLst>
            </p:cNvPr>
            <p:cNvSpPr/>
            <p:nvPr/>
          </p:nvSpPr>
          <p:spPr bwMode="auto">
            <a:xfrm>
              <a:off x="3651250" y="3044826"/>
              <a:ext cx="4763" cy="0"/>
            </a:xfrm>
            <a:custGeom>
              <a:avLst/>
              <a:gdLst>
                <a:gd name="T0" fmla="*/ 0 w 1"/>
                <a:gd name="T1" fmla="*/ 0 w 1"/>
                <a:gd name="T2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3" name="îŝľíḍè">
              <a:extLst>
                <a:ext uri="{FF2B5EF4-FFF2-40B4-BE49-F238E27FC236}">
                  <a16:creationId xmlns:a16="http://schemas.microsoft.com/office/drawing/2014/main" id="{452B0065-201F-4273-882D-B2D36A18C7FF}"/>
                </a:ext>
              </a:extLst>
            </p:cNvPr>
            <p:cNvSpPr/>
            <p:nvPr/>
          </p:nvSpPr>
          <p:spPr bwMode="auto">
            <a:xfrm>
              <a:off x="3560763" y="2951163"/>
              <a:ext cx="44450" cy="36513"/>
            </a:xfrm>
            <a:custGeom>
              <a:avLst/>
              <a:gdLst>
                <a:gd name="T0" fmla="*/ 3 w 12"/>
                <a:gd name="T1" fmla="*/ 9 h 10"/>
                <a:gd name="T2" fmla="*/ 6 w 12"/>
                <a:gd name="T3" fmla="*/ 8 h 10"/>
                <a:gd name="T4" fmla="*/ 11 w 12"/>
                <a:gd name="T5" fmla="*/ 5 h 10"/>
                <a:gd name="T6" fmla="*/ 12 w 12"/>
                <a:gd name="T7" fmla="*/ 4 h 10"/>
                <a:gd name="T8" fmla="*/ 12 w 12"/>
                <a:gd name="T9" fmla="*/ 3 h 10"/>
                <a:gd name="T10" fmla="*/ 11 w 12"/>
                <a:gd name="T11" fmla="*/ 1 h 10"/>
                <a:gd name="T12" fmla="*/ 10 w 12"/>
                <a:gd name="T13" fmla="*/ 1 h 10"/>
                <a:gd name="T14" fmla="*/ 8 w 12"/>
                <a:gd name="T15" fmla="*/ 1 h 10"/>
                <a:gd name="T16" fmla="*/ 2 w 12"/>
                <a:gd name="T17" fmla="*/ 3 h 10"/>
                <a:gd name="T18" fmla="*/ 0 w 12"/>
                <a:gd name="T19" fmla="*/ 7 h 10"/>
                <a:gd name="T20" fmla="*/ 1 w 12"/>
                <a:gd name="T21" fmla="*/ 8 h 10"/>
                <a:gd name="T22" fmla="*/ 3 w 12"/>
                <a:gd name="T23" fmla="*/ 9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" h="10">
                  <a:moveTo>
                    <a:pt x="3" y="9"/>
                  </a:moveTo>
                  <a:cubicBezTo>
                    <a:pt x="4" y="9"/>
                    <a:pt x="5" y="8"/>
                    <a:pt x="6" y="8"/>
                  </a:cubicBezTo>
                  <a:cubicBezTo>
                    <a:pt x="8" y="7"/>
                    <a:pt x="9" y="6"/>
                    <a:pt x="11" y="5"/>
                  </a:cubicBezTo>
                  <a:cubicBezTo>
                    <a:pt x="12" y="5"/>
                    <a:pt x="12" y="4"/>
                    <a:pt x="12" y="4"/>
                  </a:cubicBezTo>
                  <a:cubicBezTo>
                    <a:pt x="12" y="4"/>
                    <a:pt x="12" y="3"/>
                    <a:pt x="12" y="3"/>
                  </a:cubicBezTo>
                  <a:cubicBezTo>
                    <a:pt x="12" y="3"/>
                    <a:pt x="11" y="2"/>
                    <a:pt x="11" y="1"/>
                  </a:cubicBezTo>
                  <a:cubicBezTo>
                    <a:pt x="11" y="1"/>
                    <a:pt x="11" y="1"/>
                    <a:pt x="10" y="1"/>
                  </a:cubicBezTo>
                  <a:cubicBezTo>
                    <a:pt x="9" y="0"/>
                    <a:pt x="8" y="0"/>
                    <a:pt x="8" y="1"/>
                  </a:cubicBezTo>
                  <a:cubicBezTo>
                    <a:pt x="6" y="1"/>
                    <a:pt x="4" y="2"/>
                    <a:pt x="2" y="3"/>
                  </a:cubicBezTo>
                  <a:cubicBezTo>
                    <a:pt x="0" y="3"/>
                    <a:pt x="0" y="5"/>
                    <a:pt x="0" y="7"/>
                  </a:cubicBezTo>
                  <a:cubicBezTo>
                    <a:pt x="1" y="7"/>
                    <a:pt x="1" y="8"/>
                    <a:pt x="1" y="8"/>
                  </a:cubicBezTo>
                  <a:cubicBezTo>
                    <a:pt x="2" y="9"/>
                    <a:pt x="2" y="10"/>
                    <a:pt x="3" y="9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4" name="íşľîḑé">
              <a:extLst>
                <a:ext uri="{FF2B5EF4-FFF2-40B4-BE49-F238E27FC236}">
                  <a16:creationId xmlns:a16="http://schemas.microsoft.com/office/drawing/2014/main" id="{E43A8A5C-F71A-49C7-9D4E-4A751906EC00}"/>
                </a:ext>
              </a:extLst>
            </p:cNvPr>
            <p:cNvSpPr/>
            <p:nvPr/>
          </p:nvSpPr>
          <p:spPr bwMode="auto">
            <a:xfrm>
              <a:off x="2205038" y="2925763"/>
              <a:ext cx="220663" cy="198438"/>
            </a:xfrm>
            <a:custGeom>
              <a:avLst/>
              <a:gdLst>
                <a:gd name="T0" fmla="*/ 23 w 61"/>
                <a:gd name="T1" fmla="*/ 15 h 55"/>
                <a:gd name="T2" fmla="*/ 21 w 61"/>
                <a:gd name="T3" fmla="*/ 20 h 55"/>
                <a:gd name="T4" fmla="*/ 17 w 61"/>
                <a:gd name="T5" fmla="*/ 12 h 55"/>
                <a:gd name="T6" fmla="*/ 19 w 61"/>
                <a:gd name="T7" fmla="*/ 8 h 55"/>
                <a:gd name="T8" fmla="*/ 17 w 61"/>
                <a:gd name="T9" fmla="*/ 2 h 55"/>
                <a:gd name="T10" fmla="*/ 14 w 61"/>
                <a:gd name="T11" fmla="*/ 2 h 55"/>
                <a:gd name="T12" fmla="*/ 12 w 61"/>
                <a:gd name="T13" fmla="*/ 5 h 55"/>
                <a:gd name="T14" fmla="*/ 8 w 61"/>
                <a:gd name="T15" fmla="*/ 3 h 55"/>
                <a:gd name="T16" fmla="*/ 2 w 61"/>
                <a:gd name="T17" fmla="*/ 10 h 55"/>
                <a:gd name="T18" fmla="*/ 9 w 61"/>
                <a:gd name="T19" fmla="*/ 15 h 55"/>
                <a:gd name="T20" fmla="*/ 10 w 61"/>
                <a:gd name="T21" fmla="*/ 18 h 55"/>
                <a:gd name="T22" fmla="*/ 10 w 61"/>
                <a:gd name="T23" fmla="*/ 24 h 55"/>
                <a:gd name="T24" fmla="*/ 16 w 61"/>
                <a:gd name="T25" fmla="*/ 25 h 55"/>
                <a:gd name="T26" fmla="*/ 21 w 61"/>
                <a:gd name="T27" fmla="*/ 35 h 55"/>
                <a:gd name="T28" fmla="*/ 20 w 61"/>
                <a:gd name="T29" fmla="*/ 37 h 55"/>
                <a:gd name="T30" fmla="*/ 25 w 61"/>
                <a:gd name="T31" fmla="*/ 46 h 55"/>
                <a:gd name="T32" fmla="*/ 39 w 61"/>
                <a:gd name="T33" fmla="*/ 54 h 55"/>
                <a:gd name="T34" fmla="*/ 43 w 61"/>
                <a:gd name="T35" fmla="*/ 54 h 55"/>
                <a:gd name="T36" fmla="*/ 45 w 61"/>
                <a:gd name="T37" fmla="*/ 52 h 55"/>
                <a:gd name="T38" fmla="*/ 41 w 61"/>
                <a:gd name="T39" fmla="*/ 47 h 55"/>
                <a:gd name="T40" fmla="*/ 31 w 61"/>
                <a:gd name="T41" fmla="*/ 42 h 55"/>
                <a:gd name="T42" fmla="*/ 27 w 61"/>
                <a:gd name="T43" fmla="*/ 37 h 55"/>
                <a:gd name="T44" fmla="*/ 27 w 61"/>
                <a:gd name="T45" fmla="*/ 33 h 55"/>
                <a:gd name="T46" fmla="*/ 26 w 61"/>
                <a:gd name="T47" fmla="*/ 25 h 55"/>
                <a:gd name="T48" fmla="*/ 26 w 61"/>
                <a:gd name="T49" fmla="*/ 25 h 55"/>
                <a:gd name="T50" fmla="*/ 26 w 61"/>
                <a:gd name="T51" fmla="*/ 22 h 55"/>
                <a:gd name="T52" fmla="*/ 32 w 61"/>
                <a:gd name="T53" fmla="*/ 6 h 55"/>
                <a:gd name="T54" fmla="*/ 44 w 61"/>
                <a:gd name="T55" fmla="*/ 10 h 55"/>
                <a:gd name="T56" fmla="*/ 52 w 61"/>
                <a:gd name="T57" fmla="*/ 20 h 55"/>
                <a:gd name="T58" fmla="*/ 54 w 61"/>
                <a:gd name="T59" fmla="*/ 27 h 55"/>
                <a:gd name="T60" fmla="*/ 49 w 61"/>
                <a:gd name="T61" fmla="*/ 31 h 55"/>
                <a:gd name="T62" fmla="*/ 46 w 61"/>
                <a:gd name="T63" fmla="*/ 27 h 55"/>
                <a:gd name="T64" fmla="*/ 42 w 61"/>
                <a:gd name="T65" fmla="*/ 25 h 55"/>
                <a:gd name="T66" fmla="*/ 41 w 61"/>
                <a:gd name="T67" fmla="*/ 28 h 55"/>
                <a:gd name="T68" fmla="*/ 40 w 61"/>
                <a:gd name="T69" fmla="*/ 28 h 55"/>
                <a:gd name="T70" fmla="*/ 38 w 61"/>
                <a:gd name="T71" fmla="*/ 20 h 55"/>
                <a:gd name="T72" fmla="*/ 34 w 61"/>
                <a:gd name="T73" fmla="*/ 19 h 55"/>
                <a:gd name="T74" fmla="*/ 28 w 61"/>
                <a:gd name="T75" fmla="*/ 16 h 55"/>
                <a:gd name="T76" fmla="*/ 28 w 61"/>
                <a:gd name="T77" fmla="*/ 19 h 55"/>
                <a:gd name="T78" fmla="*/ 30 w 61"/>
                <a:gd name="T79" fmla="*/ 24 h 55"/>
                <a:gd name="T80" fmla="*/ 28 w 61"/>
                <a:gd name="T81" fmla="*/ 24 h 55"/>
                <a:gd name="T82" fmla="*/ 26 w 61"/>
                <a:gd name="T83" fmla="*/ 25 h 55"/>
                <a:gd name="T84" fmla="*/ 26 w 61"/>
                <a:gd name="T85" fmla="*/ 25 h 55"/>
                <a:gd name="T86" fmla="*/ 29 w 61"/>
                <a:gd name="T87" fmla="*/ 28 h 55"/>
                <a:gd name="T88" fmla="*/ 32 w 61"/>
                <a:gd name="T89" fmla="*/ 29 h 55"/>
                <a:gd name="T90" fmla="*/ 36 w 61"/>
                <a:gd name="T91" fmla="*/ 36 h 55"/>
                <a:gd name="T92" fmla="*/ 38 w 61"/>
                <a:gd name="T93" fmla="*/ 34 h 55"/>
                <a:gd name="T94" fmla="*/ 40 w 61"/>
                <a:gd name="T95" fmla="*/ 39 h 55"/>
                <a:gd name="T96" fmla="*/ 42 w 61"/>
                <a:gd name="T97" fmla="*/ 40 h 55"/>
                <a:gd name="T98" fmla="*/ 44 w 61"/>
                <a:gd name="T99" fmla="*/ 38 h 55"/>
                <a:gd name="T100" fmla="*/ 47 w 61"/>
                <a:gd name="T101" fmla="*/ 33 h 55"/>
                <a:gd name="T102" fmla="*/ 58 w 61"/>
                <a:gd name="T103" fmla="*/ 41 h 55"/>
                <a:gd name="T104" fmla="*/ 61 w 61"/>
                <a:gd name="T105" fmla="*/ 42 h 55"/>
                <a:gd name="T106" fmla="*/ 60 w 61"/>
                <a:gd name="T107" fmla="*/ 40 h 55"/>
                <a:gd name="T108" fmla="*/ 52 w 61"/>
                <a:gd name="T109" fmla="*/ 34 h 55"/>
                <a:gd name="T110" fmla="*/ 50 w 61"/>
                <a:gd name="T111" fmla="*/ 31 h 55"/>
                <a:gd name="T112" fmla="*/ 53 w 61"/>
                <a:gd name="T113" fmla="*/ 31 h 55"/>
                <a:gd name="T114" fmla="*/ 54 w 61"/>
                <a:gd name="T115" fmla="*/ 32 h 55"/>
                <a:gd name="T116" fmla="*/ 58 w 61"/>
                <a:gd name="T117" fmla="*/ 31 h 55"/>
                <a:gd name="T118" fmla="*/ 59 w 61"/>
                <a:gd name="T119" fmla="*/ 22 h 55"/>
                <a:gd name="T120" fmla="*/ 52 w 61"/>
                <a:gd name="T121" fmla="*/ 12 h 55"/>
                <a:gd name="T122" fmla="*/ 45 w 61"/>
                <a:gd name="T123" fmla="*/ 5 h 55"/>
                <a:gd name="T124" fmla="*/ 37 w 61"/>
                <a:gd name="T125" fmla="*/ 1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1" h="55">
                  <a:moveTo>
                    <a:pt x="30" y="3"/>
                  </a:moveTo>
                  <a:cubicBezTo>
                    <a:pt x="26" y="6"/>
                    <a:pt x="24" y="10"/>
                    <a:pt x="23" y="15"/>
                  </a:cubicBezTo>
                  <a:cubicBezTo>
                    <a:pt x="23" y="16"/>
                    <a:pt x="22" y="18"/>
                    <a:pt x="22" y="19"/>
                  </a:cubicBezTo>
                  <a:cubicBezTo>
                    <a:pt x="22" y="20"/>
                    <a:pt x="21" y="20"/>
                    <a:pt x="21" y="20"/>
                  </a:cubicBezTo>
                  <a:cubicBezTo>
                    <a:pt x="21" y="19"/>
                    <a:pt x="20" y="19"/>
                    <a:pt x="20" y="18"/>
                  </a:cubicBezTo>
                  <a:cubicBezTo>
                    <a:pt x="18" y="17"/>
                    <a:pt x="18" y="15"/>
                    <a:pt x="17" y="12"/>
                  </a:cubicBezTo>
                  <a:cubicBezTo>
                    <a:pt x="17" y="12"/>
                    <a:pt x="17" y="11"/>
                    <a:pt x="18" y="10"/>
                  </a:cubicBezTo>
                  <a:cubicBezTo>
                    <a:pt x="18" y="9"/>
                    <a:pt x="18" y="8"/>
                    <a:pt x="19" y="8"/>
                  </a:cubicBezTo>
                  <a:cubicBezTo>
                    <a:pt x="19" y="6"/>
                    <a:pt x="19" y="5"/>
                    <a:pt x="19" y="4"/>
                  </a:cubicBezTo>
                  <a:cubicBezTo>
                    <a:pt x="18" y="3"/>
                    <a:pt x="18" y="3"/>
                    <a:pt x="17" y="2"/>
                  </a:cubicBezTo>
                  <a:cubicBezTo>
                    <a:pt x="17" y="2"/>
                    <a:pt x="16" y="2"/>
                    <a:pt x="15" y="2"/>
                  </a:cubicBezTo>
                  <a:cubicBezTo>
                    <a:pt x="15" y="2"/>
                    <a:pt x="14" y="2"/>
                    <a:pt x="14" y="2"/>
                  </a:cubicBezTo>
                  <a:cubicBezTo>
                    <a:pt x="13" y="3"/>
                    <a:pt x="13" y="3"/>
                    <a:pt x="13" y="4"/>
                  </a:cubicBezTo>
                  <a:cubicBezTo>
                    <a:pt x="13" y="4"/>
                    <a:pt x="12" y="5"/>
                    <a:pt x="12" y="5"/>
                  </a:cubicBezTo>
                  <a:cubicBezTo>
                    <a:pt x="12" y="6"/>
                    <a:pt x="11" y="5"/>
                    <a:pt x="11" y="4"/>
                  </a:cubicBezTo>
                  <a:cubicBezTo>
                    <a:pt x="10" y="3"/>
                    <a:pt x="9" y="3"/>
                    <a:pt x="8" y="3"/>
                  </a:cubicBezTo>
                  <a:cubicBezTo>
                    <a:pt x="5" y="3"/>
                    <a:pt x="3" y="3"/>
                    <a:pt x="1" y="6"/>
                  </a:cubicBezTo>
                  <a:cubicBezTo>
                    <a:pt x="0" y="7"/>
                    <a:pt x="1" y="9"/>
                    <a:pt x="2" y="10"/>
                  </a:cubicBezTo>
                  <a:cubicBezTo>
                    <a:pt x="4" y="10"/>
                    <a:pt x="4" y="10"/>
                    <a:pt x="5" y="11"/>
                  </a:cubicBezTo>
                  <a:cubicBezTo>
                    <a:pt x="6" y="12"/>
                    <a:pt x="8" y="13"/>
                    <a:pt x="9" y="15"/>
                  </a:cubicBezTo>
                  <a:cubicBezTo>
                    <a:pt x="9" y="15"/>
                    <a:pt x="10" y="16"/>
                    <a:pt x="10" y="17"/>
                  </a:cubicBezTo>
                  <a:cubicBezTo>
                    <a:pt x="10" y="17"/>
                    <a:pt x="10" y="17"/>
                    <a:pt x="10" y="18"/>
                  </a:cubicBezTo>
                  <a:cubicBezTo>
                    <a:pt x="10" y="19"/>
                    <a:pt x="10" y="20"/>
                    <a:pt x="9" y="21"/>
                  </a:cubicBezTo>
                  <a:cubicBezTo>
                    <a:pt x="9" y="22"/>
                    <a:pt x="9" y="23"/>
                    <a:pt x="10" y="24"/>
                  </a:cubicBezTo>
                  <a:cubicBezTo>
                    <a:pt x="11" y="25"/>
                    <a:pt x="14" y="26"/>
                    <a:pt x="15" y="25"/>
                  </a:cubicBezTo>
                  <a:cubicBezTo>
                    <a:pt x="16" y="24"/>
                    <a:pt x="16" y="24"/>
                    <a:pt x="16" y="25"/>
                  </a:cubicBezTo>
                  <a:cubicBezTo>
                    <a:pt x="17" y="26"/>
                    <a:pt x="18" y="28"/>
                    <a:pt x="19" y="30"/>
                  </a:cubicBezTo>
                  <a:cubicBezTo>
                    <a:pt x="20" y="31"/>
                    <a:pt x="20" y="33"/>
                    <a:pt x="21" y="35"/>
                  </a:cubicBezTo>
                  <a:cubicBezTo>
                    <a:pt x="21" y="35"/>
                    <a:pt x="21" y="36"/>
                    <a:pt x="21" y="36"/>
                  </a:cubicBezTo>
                  <a:cubicBezTo>
                    <a:pt x="20" y="36"/>
                    <a:pt x="20" y="37"/>
                    <a:pt x="20" y="37"/>
                  </a:cubicBezTo>
                  <a:cubicBezTo>
                    <a:pt x="20" y="39"/>
                    <a:pt x="21" y="41"/>
                    <a:pt x="22" y="43"/>
                  </a:cubicBezTo>
                  <a:cubicBezTo>
                    <a:pt x="23" y="44"/>
                    <a:pt x="24" y="46"/>
                    <a:pt x="25" y="46"/>
                  </a:cubicBezTo>
                  <a:cubicBezTo>
                    <a:pt x="28" y="48"/>
                    <a:pt x="30" y="49"/>
                    <a:pt x="32" y="51"/>
                  </a:cubicBezTo>
                  <a:cubicBezTo>
                    <a:pt x="34" y="52"/>
                    <a:pt x="37" y="53"/>
                    <a:pt x="39" y="54"/>
                  </a:cubicBezTo>
                  <a:cubicBezTo>
                    <a:pt x="39" y="54"/>
                    <a:pt x="39" y="55"/>
                    <a:pt x="40" y="54"/>
                  </a:cubicBezTo>
                  <a:cubicBezTo>
                    <a:pt x="41" y="54"/>
                    <a:pt x="42" y="54"/>
                    <a:pt x="43" y="54"/>
                  </a:cubicBezTo>
                  <a:cubicBezTo>
                    <a:pt x="44" y="54"/>
                    <a:pt x="44" y="54"/>
                    <a:pt x="44" y="54"/>
                  </a:cubicBezTo>
                  <a:cubicBezTo>
                    <a:pt x="44" y="53"/>
                    <a:pt x="45" y="52"/>
                    <a:pt x="45" y="52"/>
                  </a:cubicBezTo>
                  <a:cubicBezTo>
                    <a:pt x="46" y="51"/>
                    <a:pt x="46" y="50"/>
                    <a:pt x="46" y="50"/>
                  </a:cubicBezTo>
                  <a:cubicBezTo>
                    <a:pt x="44" y="49"/>
                    <a:pt x="43" y="47"/>
                    <a:pt x="41" y="47"/>
                  </a:cubicBezTo>
                  <a:cubicBezTo>
                    <a:pt x="40" y="47"/>
                    <a:pt x="39" y="46"/>
                    <a:pt x="38" y="46"/>
                  </a:cubicBezTo>
                  <a:cubicBezTo>
                    <a:pt x="35" y="45"/>
                    <a:pt x="33" y="43"/>
                    <a:pt x="31" y="42"/>
                  </a:cubicBezTo>
                  <a:cubicBezTo>
                    <a:pt x="29" y="41"/>
                    <a:pt x="28" y="40"/>
                    <a:pt x="27" y="40"/>
                  </a:cubicBezTo>
                  <a:cubicBezTo>
                    <a:pt x="26" y="39"/>
                    <a:pt x="26" y="38"/>
                    <a:pt x="27" y="37"/>
                  </a:cubicBezTo>
                  <a:cubicBezTo>
                    <a:pt x="27" y="37"/>
                    <a:pt x="27" y="37"/>
                    <a:pt x="27" y="36"/>
                  </a:cubicBezTo>
                  <a:cubicBezTo>
                    <a:pt x="28" y="35"/>
                    <a:pt x="28" y="34"/>
                    <a:pt x="27" y="33"/>
                  </a:cubicBezTo>
                  <a:cubicBezTo>
                    <a:pt x="27" y="32"/>
                    <a:pt x="27" y="30"/>
                    <a:pt x="27" y="29"/>
                  </a:cubicBezTo>
                  <a:cubicBezTo>
                    <a:pt x="26" y="27"/>
                    <a:pt x="26" y="26"/>
                    <a:pt x="26" y="25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26" y="25"/>
                    <a:pt x="26" y="24"/>
                    <a:pt x="26" y="23"/>
                  </a:cubicBezTo>
                  <a:cubicBezTo>
                    <a:pt x="26" y="23"/>
                    <a:pt x="26" y="22"/>
                    <a:pt x="26" y="22"/>
                  </a:cubicBezTo>
                  <a:cubicBezTo>
                    <a:pt x="26" y="20"/>
                    <a:pt x="26" y="18"/>
                    <a:pt x="27" y="17"/>
                  </a:cubicBezTo>
                  <a:cubicBezTo>
                    <a:pt x="27" y="13"/>
                    <a:pt x="29" y="9"/>
                    <a:pt x="32" y="6"/>
                  </a:cubicBezTo>
                  <a:cubicBezTo>
                    <a:pt x="35" y="4"/>
                    <a:pt x="37" y="4"/>
                    <a:pt x="40" y="6"/>
                  </a:cubicBezTo>
                  <a:cubicBezTo>
                    <a:pt x="41" y="7"/>
                    <a:pt x="43" y="9"/>
                    <a:pt x="44" y="10"/>
                  </a:cubicBezTo>
                  <a:cubicBezTo>
                    <a:pt x="45" y="10"/>
                    <a:pt x="45" y="11"/>
                    <a:pt x="46" y="12"/>
                  </a:cubicBezTo>
                  <a:cubicBezTo>
                    <a:pt x="48" y="15"/>
                    <a:pt x="50" y="17"/>
                    <a:pt x="52" y="20"/>
                  </a:cubicBezTo>
                  <a:cubicBezTo>
                    <a:pt x="53" y="21"/>
                    <a:pt x="54" y="23"/>
                    <a:pt x="54" y="25"/>
                  </a:cubicBezTo>
                  <a:cubicBezTo>
                    <a:pt x="55" y="26"/>
                    <a:pt x="55" y="26"/>
                    <a:pt x="54" y="27"/>
                  </a:cubicBezTo>
                  <a:cubicBezTo>
                    <a:pt x="53" y="29"/>
                    <a:pt x="51" y="30"/>
                    <a:pt x="50" y="31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8" y="30"/>
                    <a:pt x="47" y="29"/>
                    <a:pt x="47" y="28"/>
                  </a:cubicBezTo>
                  <a:cubicBezTo>
                    <a:pt x="46" y="28"/>
                    <a:pt x="46" y="27"/>
                    <a:pt x="46" y="27"/>
                  </a:cubicBezTo>
                  <a:cubicBezTo>
                    <a:pt x="46" y="26"/>
                    <a:pt x="45" y="26"/>
                    <a:pt x="45" y="26"/>
                  </a:cubicBezTo>
                  <a:cubicBezTo>
                    <a:pt x="44" y="25"/>
                    <a:pt x="43" y="25"/>
                    <a:pt x="42" y="25"/>
                  </a:cubicBezTo>
                  <a:cubicBezTo>
                    <a:pt x="42" y="25"/>
                    <a:pt x="40" y="26"/>
                    <a:pt x="41" y="27"/>
                  </a:cubicBezTo>
                  <a:cubicBezTo>
                    <a:pt x="41" y="27"/>
                    <a:pt x="41" y="28"/>
                    <a:pt x="41" y="28"/>
                  </a:cubicBezTo>
                  <a:cubicBezTo>
                    <a:pt x="41" y="28"/>
                    <a:pt x="41" y="29"/>
                    <a:pt x="41" y="29"/>
                  </a:cubicBezTo>
                  <a:cubicBezTo>
                    <a:pt x="41" y="29"/>
                    <a:pt x="40" y="29"/>
                    <a:pt x="40" y="28"/>
                  </a:cubicBezTo>
                  <a:cubicBezTo>
                    <a:pt x="40" y="26"/>
                    <a:pt x="39" y="24"/>
                    <a:pt x="39" y="22"/>
                  </a:cubicBezTo>
                  <a:cubicBezTo>
                    <a:pt x="39" y="21"/>
                    <a:pt x="39" y="21"/>
                    <a:pt x="38" y="20"/>
                  </a:cubicBezTo>
                  <a:cubicBezTo>
                    <a:pt x="37" y="19"/>
                    <a:pt x="36" y="19"/>
                    <a:pt x="35" y="20"/>
                  </a:cubicBezTo>
                  <a:cubicBezTo>
                    <a:pt x="35" y="20"/>
                    <a:pt x="34" y="20"/>
                    <a:pt x="34" y="19"/>
                  </a:cubicBezTo>
                  <a:cubicBezTo>
                    <a:pt x="34" y="18"/>
                    <a:pt x="33" y="17"/>
                    <a:pt x="32" y="16"/>
                  </a:cubicBezTo>
                  <a:cubicBezTo>
                    <a:pt x="31" y="15"/>
                    <a:pt x="29" y="15"/>
                    <a:pt x="28" y="16"/>
                  </a:cubicBezTo>
                  <a:cubicBezTo>
                    <a:pt x="27" y="16"/>
                    <a:pt x="27" y="16"/>
                    <a:pt x="27" y="17"/>
                  </a:cubicBezTo>
                  <a:cubicBezTo>
                    <a:pt x="27" y="17"/>
                    <a:pt x="28" y="18"/>
                    <a:pt x="28" y="19"/>
                  </a:cubicBezTo>
                  <a:cubicBezTo>
                    <a:pt x="29" y="20"/>
                    <a:pt x="30" y="21"/>
                    <a:pt x="30" y="22"/>
                  </a:cubicBezTo>
                  <a:cubicBezTo>
                    <a:pt x="30" y="23"/>
                    <a:pt x="30" y="24"/>
                    <a:pt x="30" y="24"/>
                  </a:cubicBezTo>
                  <a:cubicBezTo>
                    <a:pt x="29" y="24"/>
                    <a:pt x="29" y="24"/>
                    <a:pt x="28" y="24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7" y="23"/>
                    <a:pt x="27" y="24"/>
                    <a:pt x="27" y="24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27" y="26"/>
                    <a:pt x="27" y="27"/>
                    <a:pt x="27" y="28"/>
                  </a:cubicBezTo>
                  <a:cubicBezTo>
                    <a:pt x="28" y="28"/>
                    <a:pt x="28" y="28"/>
                    <a:pt x="29" y="28"/>
                  </a:cubicBezTo>
                  <a:cubicBezTo>
                    <a:pt x="29" y="29"/>
                    <a:pt x="30" y="29"/>
                    <a:pt x="31" y="28"/>
                  </a:cubicBezTo>
                  <a:cubicBezTo>
                    <a:pt x="31" y="28"/>
                    <a:pt x="32" y="29"/>
                    <a:pt x="32" y="29"/>
                  </a:cubicBezTo>
                  <a:cubicBezTo>
                    <a:pt x="33" y="31"/>
                    <a:pt x="33" y="33"/>
                    <a:pt x="34" y="35"/>
                  </a:cubicBezTo>
                  <a:cubicBezTo>
                    <a:pt x="34" y="35"/>
                    <a:pt x="35" y="36"/>
                    <a:pt x="36" y="36"/>
                  </a:cubicBezTo>
                  <a:cubicBezTo>
                    <a:pt x="37" y="35"/>
                    <a:pt x="37" y="35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9" y="34"/>
                    <a:pt x="39" y="35"/>
                  </a:cubicBezTo>
                  <a:cubicBezTo>
                    <a:pt x="39" y="36"/>
                    <a:pt x="40" y="38"/>
                    <a:pt x="40" y="39"/>
                  </a:cubicBezTo>
                  <a:cubicBezTo>
                    <a:pt x="41" y="39"/>
                    <a:pt x="41" y="40"/>
                    <a:pt x="41" y="40"/>
                  </a:cubicBezTo>
                  <a:cubicBezTo>
                    <a:pt x="41" y="40"/>
                    <a:pt x="42" y="40"/>
                    <a:pt x="42" y="40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4" y="39"/>
                    <a:pt x="44" y="38"/>
                    <a:pt x="44" y="38"/>
                  </a:cubicBezTo>
                  <a:cubicBezTo>
                    <a:pt x="45" y="36"/>
                    <a:pt x="45" y="35"/>
                    <a:pt x="45" y="34"/>
                  </a:cubicBezTo>
                  <a:cubicBezTo>
                    <a:pt x="46" y="33"/>
                    <a:pt x="46" y="33"/>
                    <a:pt x="47" y="33"/>
                  </a:cubicBezTo>
                  <a:cubicBezTo>
                    <a:pt x="48" y="34"/>
                    <a:pt x="49" y="35"/>
                    <a:pt x="50" y="36"/>
                  </a:cubicBezTo>
                  <a:cubicBezTo>
                    <a:pt x="53" y="38"/>
                    <a:pt x="56" y="39"/>
                    <a:pt x="58" y="41"/>
                  </a:cubicBezTo>
                  <a:cubicBezTo>
                    <a:pt x="59" y="41"/>
                    <a:pt x="60" y="42"/>
                    <a:pt x="60" y="42"/>
                  </a:cubicBezTo>
                  <a:cubicBezTo>
                    <a:pt x="60" y="42"/>
                    <a:pt x="61" y="42"/>
                    <a:pt x="61" y="42"/>
                  </a:cubicBezTo>
                  <a:cubicBezTo>
                    <a:pt x="61" y="42"/>
                    <a:pt x="61" y="41"/>
                    <a:pt x="61" y="41"/>
                  </a:cubicBezTo>
                  <a:cubicBezTo>
                    <a:pt x="61" y="41"/>
                    <a:pt x="60" y="40"/>
                    <a:pt x="60" y="40"/>
                  </a:cubicBezTo>
                  <a:cubicBezTo>
                    <a:pt x="59" y="39"/>
                    <a:pt x="54" y="36"/>
                    <a:pt x="53" y="35"/>
                  </a:cubicBezTo>
                  <a:cubicBezTo>
                    <a:pt x="53" y="35"/>
                    <a:pt x="53" y="34"/>
                    <a:pt x="52" y="34"/>
                  </a:cubicBezTo>
                  <a:cubicBezTo>
                    <a:pt x="52" y="33"/>
                    <a:pt x="51" y="33"/>
                    <a:pt x="50" y="32"/>
                  </a:cubicBezTo>
                  <a:cubicBezTo>
                    <a:pt x="50" y="32"/>
                    <a:pt x="50" y="32"/>
                    <a:pt x="50" y="31"/>
                  </a:cubicBezTo>
                  <a:cubicBezTo>
                    <a:pt x="51" y="31"/>
                    <a:pt x="51" y="31"/>
                    <a:pt x="52" y="31"/>
                  </a:cubicBezTo>
                  <a:cubicBezTo>
                    <a:pt x="52" y="31"/>
                    <a:pt x="52" y="30"/>
                    <a:pt x="53" y="31"/>
                  </a:cubicBezTo>
                  <a:cubicBezTo>
                    <a:pt x="53" y="31"/>
                    <a:pt x="53" y="31"/>
                    <a:pt x="53" y="31"/>
                  </a:cubicBezTo>
                  <a:cubicBezTo>
                    <a:pt x="53" y="31"/>
                    <a:pt x="54" y="31"/>
                    <a:pt x="54" y="32"/>
                  </a:cubicBezTo>
                  <a:cubicBezTo>
                    <a:pt x="53" y="32"/>
                    <a:pt x="54" y="32"/>
                    <a:pt x="54" y="32"/>
                  </a:cubicBezTo>
                  <a:cubicBezTo>
                    <a:pt x="56" y="32"/>
                    <a:pt x="57" y="32"/>
                    <a:pt x="58" y="31"/>
                  </a:cubicBezTo>
                  <a:cubicBezTo>
                    <a:pt x="59" y="30"/>
                    <a:pt x="60" y="28"/>
                    <a:pt x="60" y="27"/>
                  </a:cubicBezTo>
                  <a:cubicBezTo>
                    <a:pt x="59" y="25"/>
                    <a:pt x="59" y="24"/>
                    <a:pt x="59" y="22"/>
                  </a:cubicBezTo>
                  <a:cubicBezTo>
                    <a:pt x="58" y="21"/>
                    <a:pt x="57" y="20"/>
                    <a:pt x="56" y="18"/>
                  </a:cubicBezTo>
                  <a:cubicBezTo>
                    <a:pt x="55" y="16"/>
                    <a:pt x="53" y="14"/>
                    <a:pt x="52" y="12"/>
                  </a:cubicBezTo>
                  <a:cubicBezTo>
                    <a:pt x="51" y="11"/>
                    <a:pt x="50" y="10"/>
                    <a:pt x="49" y="8"/>
                  </a:cubicBezTo>
                  <a:cubicBezTo>
                    <a:pt x="47" y="7"/>
                    <a:pt x="46" y="6"/>
                    <a:pt x="45" y="5"/>
                  </a:cubicBezTo>
                  <a:cubicBezTo>
                    <a:pt x="44" y="4"/>
                    <a:pt x="43" y="4"/>
                    <a:pt x="43" y="3"/>
                  </a:cubicBezTo>
                  <a:cubicBezTo>
                    <a:pt x="41" y="2"/>
                    <a:pt x="39" y="1"/>
                    <a:pt x="37" y="1"/>
                  </a:cubicBezTo>
                  <a:cubicBezTo>
                    <a:pt x="34" y="0"/>
                    <a:pt x="32" y="1"/>
                    <a:pt x="30" y="3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5" name="íSḷîḍè">
              <a:extLst>
                <a:ext uri="{FF2B5EF4-FFF2-40B4-BE49-F238E27FC236}">
                  <a16:creationId xmlns:a16="http://schemas.microsoft.com/office/drawing/2014/main" id="{E8E78389-29D9-4D4D-AF21-98D5067E300E}"/>
                </a:ext>
              </a:extLst>
            </p:cNvPr>
            <p:cNvSpPr/>
            <p:nvPr/>
          </p:nvSpPr>
          <p:spPr bwMode="auto">
            <a:xfrm>
              <a:off x="2443163" y="2686051"/>
              <a:ext cx="158750" cy="206375"/>
            </a:xfrm>
            <a:custGeom>
              <a:avLst/>
              <a:gdLst>
                <a:gd name="T0" fmla="*/ 25 w 44"/>
                <a:gd name="T1" fmla="*/ 1 h 57"/>
                <a:gd name="T2" fmla="*/ 20 w 44"/>
                <a:gd name="T3" fmla="*/ 7 h 57"/>
                <a:gd name="T4" fmla="*/ 7 w 44"/>
                <a:gd name="T5" fmla="*/ 27 h 57"/>
                <a:gd name="T6" fmla="*/ 2 w 44"/>
                <a:gd name="T7" fmla="*/ 36 h 57"/>
                <a:gd name="T8" fmla="*/ 1 w 44"/>
                <a:gd name="T9" fmla="*/ 41 h 57"/>
                <a:gd name="T10" fmla="*/ 5 w 44"/>
                <a:gd name="T11" fmla="*/ 42 h 57"/>
                <a:gd name="T12" fmla="*/ 12 w 44"/>
                <a:gd name="T13" fmla="*/ 28 h 57"/>
                <a:gd name="T14" fmla="*/ 16 w 44"/>
                <a:gd name="T15" fmla="*/ 21 h 57"/>
                <a:gd name="T16" fmla="*/ 17 w 44"/>
                <a:gd name="T17" fmla="*/ 22 h 57"/>
                <a:gd name="T18" fmla="*/ 17 w 44"/>
                <a:gd name="T19" fmla="*/ 40 h 57"/>
                <a:gd name="T20" fmla="*/ 22 w 44"/>
                <a:gd name="T21" fmla="*/ 43 h 57"/>
                <a:gd name="T22" fmla="*/ 22 w 44"/>
                <a:gd name="T23" fmla="*/ 39 h 57"/>
                <a:gd name="T24" fmla="*/ 22 w 44"/>
                <a:gd name="T25" fmla="*/ 37 h 57"/>
                <a:gd name="T26" fmla="*/ 21 w 44"/>
                <a:gd name="T27" fmla="*/ 33 h 57"/>
                <a:gd name="T28" fmla="*/ 26 w 44"/>
                <a:gd name="T29" fmla="*/ 23 h 57"/>
                <a:gd name="T30" fmla="*/ 27 w 44"/>
                <a:gd name="T31" fmla="*/ 23 h 57"/>
                <a:gd name="T32" fmla="*/ 23 w 44"/>
                <a:gd name="T33" fmla="*/ 35 h 57"/>
                <a:gd name="T34" fmla="*/ 26 w 44"/>
                <a:gd name="T35" fmla="*/ 40 h 57"/>
                <a:gd name="T36" fmla="*/ 27 w 44"/>
                <a:gd name="T37" fmla="*/ 40 h 57"/>
                <a:gd name="T38" fmla="*/ 30 w 44"/>
                <a:gd name="T39" fmla="*/ 45 h 57"/>
                <a:gd name="T40" fmla="*/ 25 w 44"/>
                <a:gd name="T41" fmla="*/ 51 h 57"/>
                <a:gd name="T42" fmla="*/ 24 w 44"/>
                <a:gd name="T43" fmla="*/ 54 h 57"/>
                <a:gd name="T44" fmla="*/ 28 w 44"/>
                <a:gd name="T45" fmla="*/ 57 h 57"/>
                <a:gd name="T46" fmla="*/ 31 w 44"/>
                <a:gd name="T47" fmla="*/ 51 h 57"/>
                <a:gd name="T48" fmla="*/ 33 w 44"/>
                <a:gd name="T49" fmla="*/ 51 h 57"/>
                <a:gd name="T50" fmla="*/ 35 w 44"/>
                <a:gd name="T51" fmla="*/ 54 h 57"/>
                <a:gd name="T52" fmla="*/ 38 w 44"/>
                <a:gd name="T53" fmla="*/ 53 h 57"/>
                <a:gd name="T54" fmla="*/ 39 w 44"/>
                <a:gd name="T55" fmla="*/ 52 h 57"/>
                <a:gd name="T56" fmla="*/ 39 w 44"/>
                <a:gd name="T57" fmla="*/ 49 h 57"/>
                <a:gd name="T58" fmla="*/ 36 w 44"/>
                <a:gd name="T59" fmla="*/ 44 h 57"/>
                <a:gd name="T60" fmla="*/ 40 w 44"/>
                <a:gd name="T61" fmla="*/ 40 h 57"/>
                <a:gd name="T62" fmla="*/ 40 w 44"/>
                <a:gd name="T63" fmla="*/ 44 h 57"/>
                <a:gd name="T64" fmla="*/ 40 w 44"/>
                <a:gd name="T65" fmla="*/ 44 h 57"/>
                <a:gd name="T66" fmla="*/ 42 w 44"/>
                <a:gd name="T67" fmla="*/ 42 h 57"/>
                <a:gd name="T68" fmla="*/ 40 w 44"/>
                <a:gd name="T69" fmla="*/ 35 h 57"/>
                <a:gd name="T70" fmla="*/ 33 w 44"/>
                <a:gd name="T71" fmla="*/ 40 h 57"/>
                <a:gd name="T72" fmla="*/ 30 w 44"/>
                <a:gd name="T73" fmla="*/ 36 h 57"/>
                <a:gd name="T74" fmla="*/ 32 w 44"/>
                <a:gd name="T75" fmla="*/ 32 h 57"/>
                <a:gd name="T76" fmla="*/ 29 w 44"/>
                <a:gd name="T77" fmla="*/ 27 h 57"/>
                <a:gd name="T78" fmla="*/ 28 w 44"/>
                <a:gd name="T79" fmla="*/ 21 h 57"/>
                <a:gd name="T80" fmla="*/ 23 w 44"/>
                <a:gd name="T81" fmla="*/ 20 h 57"/>
                <a:gd name="T82" fmla="*/ 19 w 44"/>
                <a:gd name="T83" fmla="*/ 28 h 57"/>
                <a:gd name="T84" fmla="*/ 18 w 44"/>
                <a:gd name="T85" fmla="*/ 33 h 57"/>
                <a:gd name="T86" fmla="*/ 17 w 44"/>
                <a:gd name="T87" fmla="*/ 33 h 57"/>
                <a:gd name="T88" fmla="*/ 17 w 44"/>
                <a:gd name="T89" fmla="*/ 27 h 57"/>
                <a:gd name="T90" fmla="*/ 20 w 44"/>
                <a:gd name="T91" fmla="*/ 18 h 57"/>
                <a:gd name="T92" fmla="*/ 26 w 44"/>
                <a:gd name="T93" fmla="*/ 11 h 57"/>
                <a:gd name="T94" fmla="*/ 32 w 44"/>
                <a:gd name="T95" fmla="*/ 6 h 57"/>
                <a:gd name="T96" fmla="*/ 30 w 44"/>
                <a:gd name="T97" fmla="*/ 1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4" h="57">
                  <a:moveTo>
                    <a:pt x="30" y="1"/>
                  </a:moveTo>
                  <a:cubicBezTo>
                    <a:pt x="29" y="0"/>
                    <a:pt x="27" y="0"/>
                    <a:pt x="25" y="1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23" y="4"/>
                    <a:pt x="22" y="6"/>
                    <a:pt x="20" y="7"/>
                  </a:cubicBezTo>
                  <a:cubicBezTo>
                    <a:pt x="19" y="9"/>
                    <a:pt x="18" y="11"/>
                    <a:pt x="16" y="13"/>
                  </a:cubicBezTo>
                  <a:cubicBezTo>
                    <a:pt x="15" y="14"/>
                    <a:pt x="8" y="26"/>
                    <a:pt x="7" y="27"/>
                  </a:cubicBezTo>
                  <a:cubicBezTo>
                    <a:pt x="6" y="29"/>
                    <a:pt x="5" y="30"/>
                    <a:pt x="4" y="32"/>
                  </a:cubicBezTo>
                  <a:cubicBezTo>
                    <a:pt x="4" y="33"/>
                    <a:pt x="3" y="35"/>
                    <a:pt x="2" y="36"/>
                  </a:cubicBezTo>
                  <a:cubicBezTo>
                    <a:pt x="1" y="37"/>
                    <a:pt x="1" y="39"/>
                    <a:pt x="0" y="40"/>
                  </a:cubicBezTo>
                  <a:cubicBezTo>
                    <a:pt x="0" y="41"/>
                    <a:pt x="0" y="41"/>
                    <a:pt x="1" y="41"/>
                  </a:cubicBezTo>
                  <a:cubicBezTo>
                    <a:pt x="1" y="42"/>
                    <a:pt x="2" y="43"/>
                    <a:pt x="3" y="43"/>
                  </a:cubicBezTo>
                  <a:cubicBezTo>
                    <a:pt x="4" y="43"/>
                    <a:pt x="5" y="43"/>
                    <a:pt x="5" y="42"/>
                  </a:cubicBezTo>
                  <a:cubicBezTo>
                    <a:pt x="6" y="40"/>
                    <a:pt x="7" y="38"/>
                    <a:pt x="8" y="36"/>
                  </a:cubicBezTo>
                  <a:cubicBezTo>
                    <a:pt x="10" y="33"/>
                    <a:pt x="10" y="31"/>
                    <a:pt x="12" y="28"/>
                  </a:cubicBezTo>
                  <a:cubicBezTo>
                    <a:pt x="12" y="28"/>
                    <a:pt x="12" y="27"/>
                    <a:pt x="13" y="27"/>
                  </a:cubicBezTo>
                  <a:cubicBezTo>
                    <a:pt x="14" y="25"/>
                    <a:pt x="15" y="23"/>
                    <a:pt x="16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1"/>
                    <a:pt x="17" y="22"/>
                    <a:pt x="17" y="22"/>
                  </a:cubicBezTo>
                  <a:cubicBezTo>
                    <a:pt x="16" y="26"/>
                    <a:pt x="15" y="30"/>
                    <a:pt x="15" y="34"/>
                  </a:cubicBezTo>
                  <a:cubicBezTo>
                    <a:pt x="15" y="36"/>
                    <a:pt x="16" y="38"/>
                    <a:pt x="17" y="40"/>
                  </a:cubicBezTo>
                  <a:cubicBezTo>
                    <a:pt x="18" y="41"/>
                    <a:pt x="18" y="43"/>
                    <a:pt x="20" y="43"/>
                  </a:cubicBezTo>
                  <a:cubicBezTo>
                    <a:pt x="20" y="44"/>
                    <a:pt x="21" y="44"/>
                    <a:pt x="22" y="43"/>
                  </a:cubicBezTo>
                  <a:cubicBezTo>
                    <a:pt x="22" y="43"/>
                    <a:pt x="22" y="43"/>
                    <a:pt x="22" y="42"/>
                  </a:cubicBezTo>
                  <a:cubicBezTo>
                    <a:pt x="22" y="41"/>
                    <a:pt x="22" y="40"/>
                    <a:pt x="22" y="39"/>
                  </a:cubicBezTo>
                  <a:cubicBezTo>
                    <a:pt x="22" y="39"/>
                    <a:pt x="22" y="39"/>
                    <a:pt x="22" y="38"/>
                  </a:cubicBezTo>
                  <a:cubicBezTo>
                    <a:pt x="22" y="38"/>
                    <a:pt x="22" y="37"/>
                    <a:pt x="22" y="37"/>
                  </a:cubicBezTo>
                  <a:cubicBezTo>
                    <a:pt x="22" y="36"/>
                    <a:pt x="22" y="36"/>
                    <a:pt x="22" y="35"/>
                  </a:cubicBezTo>
                  <a:cubicBezTo>
                    <a:pt x="22" y="35"/>
                    <a:pt x="21" y="34"/>
                    <a:pt x="21" y="33"/>
                  </a:cubicBezTo>
                  <a:cubicBezTo>
                    <a:pt x="22" y="31"/>
                    <a:pt x="22" y="28"/>
                    <a:pt x="24" y="26"/>
                  </a:cubicBezTo>
                  <a:cubicBezTo>
                    <a:pt x="24" y="25"/>
                    <a:pt x="25" y="23"/>
                    <a:pt x="26" y="23"/>
                  </a:cubicBezTo>
                  <a:cubicBezTo>
                    <a:pt x="26" y="22"/>
                    <a:pt x="27" y="22"/>
                    <a:pt x="27" y="22"/>
                  </a:cubicBezTo>
                  <a:cubicBezTo>
                    <a:pt x="27" y="22"/>
                    <a:pt x="27" y="23"/>
                    <a:pt x="27" y="23"/>
                  </a:cubicBezTo>
                  <a:cubicBezTo>
                    <a:pt x="27" y="26"/>
                    <a:pt x="26" y="28"/>
                    <a:pt x="25" y="30"/>
                  </a:cubicBezTo>
                  <a:cubicBezTo>
                    <a:pt x="25" y="32"/>
                    <a:pt x="24" y="33"/>
                    <a:pt x="23" y="35"/>
                  </a:cubicBezTo>
                  <a:cubicBezTo>
                    <a:pt x="22" y="37"/>
                    <a:pt x="23" y="38"/>
                    <a:pt x="24" y="40"/>
                  </a:cubicBezTo>
                  <a:cubicBezTo>
                    <a:pt x="24" y="41"/>
                    <a:pt x="26" y="41"/>
                    <a:pt x="26" y="40"/>
                  </a:cubicBezTo>
                  <a:cubicBezTo>
                    <a:pt x="26" y="40"/>
                    <a:pt x="26" y="40"/>
                    <a:pt x="27" y="40"/>
                  </a:cubicBezTo>
                  <a:cubicBezTo>
                    <a:pt x="27" y="39"/>
                    <a:pt x="27" y="39"/>
                    <a:pt x="27" y="40"/>
                  </a:cubicBezTo>
                  <a:cubicBezTo>
                    <a:pt x="28" y="41"/>
                    <a:pt x="29" y="43"/>
                    <a:pt x="30" y="44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9" y="47"/>
                    <a:pt x="28" y="49"/>
                    <a:pt x="27" y="51"/>
                  </a:cubicBezTo>
                  <a:cubicBezTo>
                    <a:pt x="27" y="51"/>
                    <a:pt x="26" y="52"/>
                    <a:pt x="25" y="51"/>
                  </a:cubicBezTo>
                  <a:cubicBezTo>
                    <a:pt x="25" y="51"/>
                    <a:pt x="25" y="51"/>
                    <a:pt x="25" y="51"/>
                  </a:cubicBezTo>
                  <a:cubicBezTo>
                    <a:pt x="24" y="52"/>
                    <a:pt x="24" y="53"/>
                    <a:pt x="24" y="54"/>
                  </a:cubicBezTo>
                  <a:cubicBezTo>
                    <a:pt x="25" y="54"/>
                    <a:pt x="25" y="54"/>
                    <a:pt x="25" y="55"/>
                  </a:cubicBezTo>
                  <a:cubicBezTo>
                    <a:pt x="25" y="56"/>
                    <a:pt x="26" y="57"/>
                    <a:pt x="28" y="57"/>
                  </a:cubicBezTo>
                  <a:cubicBezTo>
                    <a:pt x="29" y="57"/>
                    <a:pt x="29" y="57"/>
                    <a:pt x="30" y="55"/>
                  </a:cubicBezTo>
                  <a:cubicBezTo>
                    <a:pt x="31" y="54"/>
                    <a:pt x="31" y="52"/>
                    <a:pt x="31" y="51"/>
                  </a:cubicBezTo>
                  <a:cubicBezTo>
                    <a:pt x="32" y="51"/>
                    <a:pt x="32" y="50"/>
                    <a:pt x="32" y="50"/>
                  </a:cubicBezTo>
                  <a:cubicBezTo>
                    <a:pt x="32" y="50"/>
                    <a:pt x="33" y="51"/>
                    <a:pt x="33" y="51"/>
                  </a:cubicBezTo>
                  <a:cubicBezTo>
                    <a:pt x="33" y="52"/>
                    <a:pt x="34" y="53"/>
                    <a:pt x="35" y="53"/>
                  </a:cubicBezTo>
                  <a:cubicBezTo>
                    <a:pt x="35" y="53"/>
                    <a:pt x="35" y="54"/>
                    <a:pt x="35" y="54"/>
                  </a:cubicBezTo>
                  <a:cubicBezTo>
                    <a:pt x="36" y="54"/>
                    <a:pt x="37" y="54"/>
                    <a:pt x="37" y="54"/>
                  </a:cubicBezTo>
                  <a:cubicBezTo>
                    <a:pt x="38" y="54"/>
                    <a:pt x="38" y="54"/>
                    <a:pt x="38" y="53"/>
                  </a:cubicBezTo>
                  <a:cubicBezTo>
                    <a:pt x="38" y="53"/>
                    <a:pt x="39" y="53"/>
                    <a:pt x="39" y="53"/>
                  </a:cubicBezTo>
                  <a:cubicBezTo>
                    <a:pt x="39" y="53"/>
                    <a:pt x="39" y="52"/>
                    <a:pt x="39" y="52"/>
                  </a:cubicBezTo>
                  <a:cubicBezTo>
                    <a:pt x="39" y="51"/>
                    <a:pt x="39" y="51"/>
                    <a:pt x="39" y="50"/>
                  </a:cubicBezTo>
                  <a:cubicBezTo>
                    <a:pt x="40" y="50"/>
                    <a:pt x="39" y="49"/>
                    <a:pt x="39" y="49"/>
                  </a:cubicBezTo>
                  <a:cubicBezTo>
                    <a:pt x="38" y="48"/>
                    <a:pt x="37" y="47"/>
                    <a:pt x="36" y="45"/>
                  </a:cubicBezTo>
                  <a:cubicBezTo>
                    <a:pt x="35" y="45"/>
                    <a:pt x="35" y="44"/>
                    <a:pt x="36" y="44"/>
                  </a:cubicBezTo>
                  <a:cubicBezTo>
                    <a:pt x="37" y="42"/>
                    <a:pt x="38" y="41"/>
                    <a:pt x="39" y="41"/>
                  </a:cubicBezTo>
                  <a:cubicBezTo>
                    <a:pt x="40" y="40"/>
                    <a:pt x="40" y="40"/>
                    <a:pt x="40" y="40"/>
                  </a:cubicBezTo>
                  <a:cubicBezTo>
                    <a:pt x="41" y="40"/>
                    <a:pt x="41" y="41"/>
                    <a:pt x="41" y="42"/>
                  </a:cubicBezTo>
                  <a:cubicBezTo>
                    <a:pt x="40" y="42"/>
                    <a:pt x="40" y="44"/>
                    <a:pt x="40" y="44"/>
                  </a:cubicBezTo>
                  <a:cubicBezTo>
                    <a:pt x="40" y="44"/>
                    <a:pt x="40" y="44"/>
                    <a:pt x="40" y="44"/>
                  </a:cubicBezTo>
                  <a:cubicBezTo>
                    <a:pt x="40" y="44"/>
                    <a:pt x="40" y="44"/>
                    <a:pt x="40" y="44"/>
                  </a:cubicBezTo>
                  <a:cubicBezTo>
                    <a:pt x="40" y="44"/>
                    <a:pt x="41" y="43"/>
                    <a:pt x="41" y="43"/>
                  </a:cubicBezTo>
                  <a:cubicBezTo>
                    <a:pt x="41" y="43"/>
                    <a:pt x="42" y="43"/>
                    <a:pt x="42" y="42"/>
                  </a:cubicBezTo>
                  <a:cubicBezTo>
                    <a:pt x="43" y="41"/>
                    <a:pt x="44" y="40"/>
                    <a:pt x="44" y="38"/>
                  </a:cubicBezTo>
                  <a:cubicBezTo>
                    <a:pt x="44" y="36"/>
                    <a:pt x="42" y="35"/>
                    <a:pt x="40" y="35"/>
                  </a:cubicBezTo>
                  <a:cubicBezTo>
                    <a:pt x="39" y="35"/>
                    <a:pt x="37" y="36"/>
                    <a:pt x="36" y="37"/>
                  </a:cubicBezTo>
                  <a:cubicBezTo>
                    <a:pt x="35" y="38"/>
                    <a:pt x="34" y="39"/>
                    <a:pt x="33" y="40"/>
                  </a:cubicBezTo>
                  <a:cubicBezTo>
                    <a:pt x="33" y="41"/>
                    <a:pt x="32" y="41"/>
                    <a:pt x="32" y="40"/>
                  </a:cubicBezTo>
                  <a:cubicBezTo>
                    <a:pt x="32" y="39"/>
                    <a:pt x="31" y="37"/>
                    <a:pt x="30" y="36"/>
                  </a:cubicBezTo>
                  <a:cubicBezTo>
                    <a:pt x="30" y="36"/>
                    <a:pt x="30" y="35"/>
                    <a:pt x="31" y="35"/>
                  </a:cubicBezTo>
                  <a:cubicBezTo>
                    <a:pt x="31" y="34"/>
                    <a:pt x="32" y="33"/>
                    <a:pt x="32" y="32"/>
                  </a:cubicBezTo>
                  <a:cubicBezTo>
                    <a:pt x="31" y="31"/>
                    <a:pt x="31" y="30"/>
                    <a:pt x="30" y="29"/>
                  </a:cubicBezTo>
                  <a:cubicBezTo>
                    <a:pt x="29" y="29"/>
                    <a:pt x="29" y="28"/>
                    <a:pt x="29" y="27"/>
                  </a:cubicBezTo>
                  <a:cubicBezTo>
                    <a:pt x="29" y="26"/>
                    <a:pt x="29" y="25"/>
                    <a:pt x="29" y="24"/>
                  </a:cubicBezTo>
                  <a:cubicBezTo>
                    <a:pt x="28" y="23"/>
                    <a:pt x="28" y="22"/>
                    <a:pt x="28" y="21"/>
                  </a:cubicBezTo>
                  <a:cubicBezTo>
                    <a:pt x="28" y="20"/>
                    <a:pt x="27" y="19"/>
                    <a:pt x="26" y="19"/>
                  </a:cubicBezTo>
                  <a:cubicBezTo>
                    <a:pt x="25" y="20"/>
                    <a:pt x="24" y="20"/>
                    <a:pt x="23" y="20"/>
                  </a:cubicBezTo>
                  <a:cubicBezTo>
                    <a:pt x="22" y="21"/>
                    <a:pt x="21" y="23"/>
                    <a:pt x="21" y="24"/>
                  </a:cubicBezTo>
                  <a:cubicBezTo>
                    <a:pt x="20" y="25"/>
                    <a:pt x="20" y="27"/>
                    <a:pt x="19" y="28"/>
                  </a:cubicBezTo>
                  <a:cubicBezTo>
                    <a:pt x="19" y="29"/>
                    <a:pt x="18" y="29"/>
                    <a:pt x="18" y="30"/>
                  </a:cubicBezTo>
                  <a:cubicBezTo>
                    <a:pt x="18" y="31"/>
                    <a:pt x="18" y="32"/>
                    <a:pt x="18" y="33"/>
                  </a:cubicBezTo>
                  <a:cubicBezTo>
                    <a:pt x="18" y="33"/>
                    <a:pt x="18" y="33"/>
                    <a:pt x="17" y="33"/>
                  </a:cubicBezTo>
                  <a:cubicBezTo>
                    <a:pt x="17" y="33"/>
                    <a:pt x="17" y="33"/>
                    <a:pt x="17" y="33"/>
                  </a:cubicBezTo>
                  <a:cubicBezTo>
                    <a:pt x="17" y="32"/>
                    <a:pt x="17" y="31"/>
                    <a:pt x="17" y="31"/>
                  </a:cubicBezTo>
                  <a:cubicBezTo>
                    <a:pt x="17" y="29"/>
                    <a:pt x="17" y="28"/>
                    <a:pt x="17" y="27"/>
                  </a:cubicBezTo>
                  <a:cubicBezTo>
                    <a:pt x="17" y="25"/>
                    <a:pt x="17" y="23"/>
                    <a:pt x="18" y="21"/>
                  </a:cubicBezTo>
                  <a:cubicBezTo>
                    <a:pt x="18" y="20"/>
                    <a:pt x="19" y="19"/>
                    <a:pt x="20" y="18"/>
                  </a:cubicBezTo>
                  <a:cubicBezTo>
                    <a:pt x="21" y="17"/>
                    <a:pt x="21" y="16"/>
                    <a:pt x="22" y="15"/>
                  </a:cubicBezTo>
                  <a:cubicBezTo>
                    <a:pt x="23" y="14"/>
                    <a:pt x="25" y="12"/>
                    <a:pt x="26" y="11"/>
                  </a:cubicBezTo>
                  <a:cubicBezTo>
                    <a:pt x="27" y="10"/>
                    <a:pt x="28" y="9"/>
                    <a:pt x="29" y="8"/>
                  </a:cubicBezTo>
                  <a:cubicBezTo>
                    <a:pt x="30" y="7"/>
                    <a:pt x="31" y="7"/>
                    <a:pt x="32" y="6"/>
                  </a:cubicBezTo>
                  <a:cubicBezTo>
                    <a:pt x="32" y="5"/>
                    <a:pt x="32" y="5"/>
                    <a:pt x="32" y="4"/>
                  </a:cubicBezTo>
                  <a:cubicBezTo>
                    <a:pt x="32" y="3"/>
                    <a:pt x="31" y="2"/>
                    <a:pt x="30" y="1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6" name="ïşļîḍè">
              <a:extLst>
                <a:ext uri="{FF2B5EF4-FFF2-40B4-BE49-F238E27FC236}">
                  <a16:creationId xmlns:a16="http://schemas.microsoft.com/office/drawing/2014/main" id="{5BD4A37E-D02A-4B6B-9DE8-3018FCF0A92F}"/>
                </a:ext>
              </a:extLst>
            </p:cNvPr>
            <p:cNvSpPr/>
            <p:nvPr/>
          </p:nvSpPr>
          <p:spPr bwMode="auto">
            <a:xfrm>
              <a:off x="2451100" y="2693988"/>
              <a:ext cx="49213" cy="50800"/>
            </a:xfrm>
            <a:custGeom>
              <a:avLst/>
              <a:gdLst>
                <a:gd name="T0" fmla="*/ 4 w 14"/>
                <a:gd name="T1" fmla="*/ 8 h 14"/>
                <a:gd name="T2" fmla="*/ 5 w 14"/>
                <a:gd name="T3" fmla="*/ 9 h 14"/>
                <a:gd name="T4" fmla="*/ 6 w 14"/>
                <a:gd name="T5" fmla="*/ 10 h 14"/>
                <a:gd name="T6" fmla="*/ 6 w 14"/>
                <a:gd name="T7" fmla="*/ 12 h 14"/>
                <a:gd name="T8" fmla="*/ 6 w 14"/>
                <a:gd name="T9" fmla="*/ 14 h 14"/>
                <a:gd name="T10" fmla="*/ 7 w 14"/>
                <a:gd name="T11" fmla="*/ 12 h 14"/>
                <a:gd name="T12" fmla="*/ 9 w 14"/>
                <a:gd name="T13" fmla="*/ 10 h 14"/>
                <a:gd name="T14" fmla="*/ 12 w 14"/>
                <a:gd name="T15" fmla="*/ 8 h 14"/>
                <a:gd name="T16" fmla="*/ 13 w 14"/>
                <a:gd name="T17" fmla="*/ 5 h 14"/>
                <a:gd name="T18" fmla="*/ 10 w 14"/>
                <a:gd name="T19" fmla="*/ 1 h 14"/>
                <a:gd name="T20" fmla="*/ 7 w 14"/>
                <a:gd name="T21" fmla="*/ 0 h 14"/>
                <a:gd name="T22" fmla="*/ 3 w 14"/>
                <a:gd name="T23" fmla="*/ 0 h 14"/>
                <a:gd name="T24" fmla="*/ 1 w 14"/>
                <a:gd name="T25" fmla="*/ 2 h 14"/>
                <a:gd name="T26" fmla="*/ 1 w 14"/>
                <a:gd name="T27" fmla="*/ 4 h 14"/>
                <a:gd name="T28" fmla="*/ 3 w 14"/>
                <a:gd name="T29" fmla="*/ 8 h 14"/>
                <a:gd name="T30" fmla="*/ 4 w 14"/>
                <a:gd name="T31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4" h="14">
                  <a:moveTo>
                    <a:pt x="4" y="8"/>
                  </a:moveTo>
                  <a:cubicBezTo>
                    <a:pt x="4" y="9"/>
                    <a:pt x="5" y="9"/>
                    <a:pt x="5" y="9"/>
                  </a:cubicBezTo>
                  <a:cubicBezTo>
                    <a:pt x="6" y="9"/>
                    <a:pt x="6" y="9"/>
                    <a:pt x="6" y="10"/>
                  </a:cubicBezTo>
                  <a:cubicBezTo>
                    <a:pt x="6" y="10"/>
                    <a:pt x="6" y="11"/>
                    <a:pt x="6" y="12"/>
                  </a:cubicBezTo>
                  <a:cubicBezTo>
                    <a:pt x="6" y="12"/>
                    <a:pt x="6" y="14"/>
                    <a:pt x="6" y="14"/>
                  </a:cubicBezTo>
                  <a:cubicBezTo>
                    <a:pt x="6" y="14"/>
                    <a:pt x="7" y="12"/>
                    <a:pt x="7" y="12"/>
                  </a:cubicBezTo>
                  <a:cubicBezTo>
                    <a:pt x="7" y="11"/>
                    <a:pt x="8" y="10"/>
                    <a:pt x="9" y="10"/>
                  </a:cubicBezTo>
                  <a:cubicBezTo>
                    <a:pt x="10" y="10"/>
                    <a:pt x="11" y="9"/>
                    <a:pt x="12" y="8"/>
                  </a:cubicBezTo>
                  <a:cubicBezTo>
                    <a:pt x="13" y="7"/>
                    <a:pt x="14" y="6"/>
                    <a:pt x="13" y="5"/>
                  </a:cubicBezTo>
                  <a:cubicBezTo>
                    <a:pt x="13" y="3"/>
                    <a:pt x="12" y="1"/>
                    <a:pt x="10" y="1"/>
                  </a:cubicBezTo>
                  <a:cubicBezTo>
                    <a:pt x="9" y="0"/>
                    <a:pt x="8" y="0"/>
                    <a:pt x="7" y="0"/>
                  </a:cubicBezTo>
                  <a:cubicBezTo>
                    <a:pt x="6" y="0"/>
                    <a:pt x="4" y="0"/>
                    <a:pt x="3" y="0"/>
                  </a:cubicBezTo>
                  <a:cubicBezTo>
                    <a:pt x="2" y="1"/>
                    <a:pt x="2" y="1"/>
                    <a:pt x="1" y="2"/>
                  </a:cubicBezTo>
                  <a:cubicBezTo>
                    <a:pt x="1" y="2"/>
                    <a:pt x="1" y="3"/>
                    <a:pt x="1" y="4"/>
                  </a:cubicBezTo>
                  <a:cubicBezTo>
                    <a:pt x="0" y="5"/>
                    <a:pt x="1" y="8"/>
                    <a:pt x="3" y="8"/>
                  </a:cubicBezTo>
                  <a:cubicBezTo>
                    <a:pt x="3" y="8"/>
                    <a:pt x="4" y="8"/>
                    <a:pt x="4" y="8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7" name="ísḷiḋe">
              <a:extLst>
                <a:ext uri="{FF2B5EF4-FFF2-40B4-BE49-F238E27FC236}">
                  <a16:creationId xmlns:a16="http://schemas.microsoft.com/office/drawing/2014/main" id="{45A14514-6E83-4177-A9E9-D91CC0EC28AA}"/>
                </a:ext>
              </a:extLst>
            </p:cNvPr>
            <p:cNvSpPr/>
            <p:nvPr/>
          </p:nvSpPr>
          <p:spPr bwMode="auto">
            <a:xfrm>
              <a:off x="2768600" y="2555876"/>
              <a:ext cx="119063" cy="231775"/>
            </a:xfrm>
            <a:custGeom>
              <a:avLst/>
              <a:gdLst>
                <a:gd name="T0" fmla="*/ 22 w 33"/>
                <a:gd name="T1" fmla="*/ 29 h 64"/>
                <a:gd name="T2" fmla="*/ 24 w 33"/>
                <a:gd name="T3" fmla="*/ 24 h 64"/>
                <a:gd name="T4" fmla="*/ 27 w 33"/>
                <a:gd name="T5" fmla="*/ 11 h 64"/>
                <a:gd name="T6" fmla="*/ 25 w 33"/>
                <a:gd name="T7" fmla="*/ 4 h 64"/>
                <a:gd name="T8" fmla="*/ 17 w 33"/>
                <a:gd name="T9" fmla="*/ 0 h 64"/>
                <a:gd name="T10" fmla="*/ 15 w 33"/>
                <a:gd name="T11" fmla="*/ 1 h 64"/>
                <a:gd name="T12" fmla="*/ 6 w 33"/>
                <a:gd name="T13" fmla="*/ 7 h 64"/>
                <a:gd name="T14" fmla="*/ 3 w 33"/>
                <a:gd name="T15" fmla="*/ 13 h 64"/>
                <a:gd name="T16" fmla="*/ 6 w 33"/>
                <a:gd name="T17" fmla="*/ 15 h 64"/>
                <a:gd name="T18" fmla="*/ 10 w 33"/>
                <a:gd name="T19" fmla="*/ 14 h 64"/>
                <a:gd name="T20" fmla="*/ 18 w 33"/>
                <a:gd name="T21" fmla="*/ 6 h 64"/>
                <a:gd name="T22" fmla="*/ 22 w 33"/>
                <a:gd name="T23" fmla="*/ 10 h 64"/>
                <a:gd name="T24" fmla="*/ 21 w 33"/>
                <a:gd name="T25" fmla="*/ 18 h 64"/>
                <a:gd name="T26" fmla="*/ 18 w 33"/>
                <a:gd name="T27" fmla="*/ 26 h 64"/>
                <a:gd name="T28" fmla="*/ 16 w 33"/>
                <a:gd name="T29" fmla="*/ 25 h 64"/>
                <a:gd name="T30" fmla="*/ 19 w 33"/>
                <a:gd name="T31" fmla="*/ 19 h 64"/>
                <a:gd name="T32" fmla="*/ 20 w 33"/>
                <a:gd name="T33" fmla="*/ 15 h 64"/>
                <a:gd name="T34" fmla="*/ 15 w 33"/>
                <a:gd name="T35" fmla="*/ 14 h 64"/>
                <a:gd name="T36" fmla="*/ 11 w 33"/>
                <a:gd name="T37" fmla="*/ 14 h 64"/>
                <a:gd name="T38" fmla="*/ 10 w 33"/>
                <a:gd name="T39" fmla="*/ 17 h 64"/>
                <a:gd name="T40" fmla="*/ 9 w 33"/>
                <a:gd name="T41" fmla="*/ 19 h 64"/>
                <a:gd name="T42" fmla="*/ 8 w 33"/>
                <a:gd name="T43" fmla="*/ 24 h 64"/>
                <a:gd name="T44" fmla="*/ 7 w 33"/>
                <a:gd name="T45" fmla="*/ 23 h 64"/>
                <a:gd name="T46" fmla="*/ 0 w 33"/>
                <a:gd name="T47" fmla="*/ 24 h 64"/>
                <a:gd name="T48" fmla="*/ 2 w 33"/>
                <a:gd name="T49" fmla="*/ 32 h 64"/>
                <a:gd name="T50" fmla="*/ 8 w 33"/>
                <a:gd name="T51" fmla="*/ 35 h 64"/>
                <a:gd name="T52" fmla="*/ 11 w 33"/>
                <a:gd name="T53" fmla="*/ 37 h 64"/>
                <a:gd name="T54" fmla="*/ 12 w 33"/>
                <a:gd name="T55" fmla="*/ 40 h 64"/>
                <a:gd name="T56" fmla="*/ 8 w 33"/>
                <a:gd name="T57" fmla="*/ 48 h 64"/>
                <a:gd name="T58" fmla="*/ 12 w 33"/>
                <a:gd name="T59" fmla="*/ 50 h 64"/>
                <a:gd name="T60" fmla="*/ 13 w 33"/>
                <a:gd name="T61" fmla="*/ 53 h 64"/>
                <a:gd name="T62" fmla="*/ 9 w 33"/>
                <a:gd name="T63" fmla="*/ 56 h 64"/>
                <a:gd name="T64" fmla="*/ 8 w 33"/>
                <a:gd name="T65" fmla="*/ 61 h 64"/>
                <a:gd name="T66" fmla="*/ 10 w 33"/>
                <a:gd name="T67" fmla="*/ 64 h 64"/>
                <a:gd name="T68" fmla="*/ 16 w 33"/>
                <a:gd name="T69" fmla="*/ 61 h 64"/>
                <a:gd name="T70" fmla="*/ 25 w 33"/>
                <a:gd name="T71" fmla="*/ 58 h 64"/>
                <a:gd name="T72" fmla="*/ 29 w 33"/>
                <a:gd name="T73" fmla="*/ 58 h 64"/>
                <a:gd name="T74" fmla="*/ 31 w 33"/>
                <a:gd name="T75" fmla="*/ 57 h 64"/>
                <a:gd name="T76" fmla="*/ 32 w 33"/>
                <a:gd name="T77" fmla="*/ 52 h 64"/>
                <a:gd name="T78" fmla="*/ 29 w 33"/>
                <a:gd name="T79" fmla="*/ 50 h 64"/>
                <a:gd name="T80" fmla="*/ 20 w 33"/>
                <a:gd name="T81" fmla="*/ 52 h 64"/>
                <a:gd name="T82" fmla="*/ 19 w 33"/>
                <a:gd name="T83" fmla="*/ 50 h 64"/>
                <a:gd name="T84" fmla="*/ 23 w 33"/>
                <a:gd name="T85" fmla="*/ 43 h 64"/>
                <a:gd name="T86" fmla="*/ 24 w 33"/>
                <a:gd name="T87" fmla="*/ 37 h 64"/>
                <a:gd name="T88" fmla="*/ 20 w 33"/>
                <a:gd name="T89" fmla="*/ 37 h 64"/>
                <a:gd name="T90" fmla="*/ 16 w 33"/>
                <a:gd name="T91" fmla="*/ 38 h 64"/>
                <a:gd name="T92" fmla="*/ 19 w 33"/>
                <a:gd name="T93" fmla="*/ 32 h 64"/>
                <a:gd name="T94" fmla="*/ 10 w 33"/>
                <a:gd name="T95" fmla="*/ 29 h 64"/>
                <a:gd name="T96" fmla="*/ 10 w 33"/>
                <a:gd name="T97" fmla="*/ 29 h 64"/>
                <a:gd name="T98" fmla="*/ 8 w 33"/>
                <a:gd name="T99" fmla="*/ 25 h 64"/>
                <a:gd name="T100" fmla="*/ 8 w 33"/>
                <a:gd name="T101" fmla="*/ 25 h 64"/>
                <a:gd name="T102" fmla="*/ 11 w 33"/>
                <a:gd name="T103" fmla="*/ 27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3" h="64">
                  <a:moveTo>
                    <a:pt x="19" y="32"/>
                  </a:moveTo>
                  <a:cubicBezTo>
                    <a:pt x="20" y="32"/>
                    <a:pt x="21" y="31"/>
                    <a:pt x="22" y="29"/>
                  </a:cubicBezTo>
                  <a:cubicBezTo>
                    <a:pt x="22" y="29"/>
                    <a:pt x="22" y="28"/>
                    <a:pt x="22" y="28"/>
                  </a:cubicBezTo>
                  <a:cubicBezTo>
                    <a:pt x="23" y="27"/>
                    <a:pt x="23" y="25"/>
                    <a:pt x="24" y="24"/>
                  </a:cubicBezTo>
                  <a:cubicBezTo>
                    <a:pt x="24" y="23"/>
                    <a:pt x="25" y="22"/>
                    <a:pt x="25" y="20"/>
                  </a:cubicBezTo>
                  <a:cubicBezTo>
                    <a:pt x="26" y="17"/>
                    <a:pt x="27" y="14"/>
                    <a:pt x="27" y="11"/>
                  </a:cubicBezTo>
                  <a:cubicBezTo>
                    <a:pt x="27" y="10"/>
                    <a:pt x="27" y="8"/>
                    <a:pt x="27" y="7"/>
                  </a:cubicBezTo>
                  <a:cubicBezTo>
                    <a:pt x="26" y="6"/>
                    <a:pt x="26" y="5"/>
                    <a:pt x="25" y="4"/>
                  </a:cubicBezTo>
                  <a:cubicBezTo>
                    <a:pt x="24" y="2"/>
                    <a:pt x="23" y="1"/>
                    <a:pt x="21" y="0"/>
                  </a:cubicBezTo>
                  <a:cubicBezTo>
                    <a:pt x="20" y="0"/>
                    <a:pt x="18" y="0"/>
                    <a:pt x="17" y="0"/>
                  </a:cubicBezTo>
                  <a:cubicBezTo>
                    <a:pt x="17" y="0"/>
                    <a:pt x="16" y="0"/>
                    <a:pt x="16" y="0"/>
                  </a:cubicBezTo>
                  <a:cubicBezTo>
                    <a:pt x="16" y="0"/>
                    <a:pt x="15" y="0"/>
                    <a:pt x="15" y="1"/>
                  </a:cubicBezTo>
                  <a:cubicBezTo>
                    <a:pt x="14" y="1"/>
                    <a:pt x="13" y="1"/>
                    <a:pt x="12" y="1"/>
                  </a:cubicBezTo>
                  <a:cubicBezTo>
                    <a:pt x="10" y="3"/>
                    <a:pt x="8" y="5"/>
                    <a:pt x="6" y="7"/>
                  </a:cubicBezTo>
                  <a:cubicBezTo>
                    <a:pt x="5" y="8"/>
                    <a:pt x="5" y="9"/>
                    <a:pt x="4" y="11"/>
                  </a:cubicBezTo>
                  <a:cubicBezTo>
                    <a:pt x="4" y="12"/>
                    <a:pt x="3" y="12"/>
                    <a:pt x="3" y="13"/>
                  </a:cubicBezTo>
                  <a:cubicBezTo>
                    <a:pt x="3" y="14"/>
                    <a:pt x="3" y="15"/>
                    <a:pt x="4" y="15"/>
                  </a:cubicBezTo>
                  <a:cubicBezTo>
                    <a:pt x="4" y="15"/>
                    <a:pt x="5" y="15"/>
                    <a:pt x="6" y="15"/>
                  </a:cubicBezTo>
                  <a:cubicBezTo>
                    <a:pt x="7" y="15"/>
                    <a:pt x="8" y="15"/>
                    <a:pt x="8" y="15"/>
                  </a:cubicBezTo>
                  <a:cubicBezTo>
                    <a:pt x="9" y="15"/>
                    <a:pt x="9" y="15"/>
                    <a:pt x="10" y="14"/>
                  </a:cubicBezTo>
                  <a:cubicBezTo>
                    <a:pt x="11" y="13"/>
                    <a:pt x="11" y="12"/>
                    <a:pt x="12" y="11"/>
                  </a:cubicBezTo>
                  <a:cubicBezTo>
                    <a:pt x="14" y="9"/>
                    <a:pt x="16" y="7"/>
                    <a:pt x="18" y="6"/>
                  </a:cubicBezTo>
                  <a:cubicBezTo>
                    <a:pt x="19" y="6"/>
                    <a:pt x="20" y="6"/>
                    <a:pt x="20" y="6"/>
                  </a:cubicBezTo>
                  <a:cubicBezTo>
                    <a:pt x="21" y="7"/>
                    <a:pt x="22" y="8"/>
                    <a:pt x="22" y="10"/>
                  </a:cubicBezTo>
                  <a:cubicBezTo>
                    <a:pt x="22" y="11"/>
                    <a:pt x="22" y="12"/>
                    <a:pt x="22" y="13"/>
                  </a:cubicBezTo>
                  <a:cubicBezTo>
                    <a:pt x="22" y="15"/>
                    <a:pt x="22" y="17"/>
                    <a:pt x="21" y="18"/>
                  </a:cubicBezTo>
                  <a:cubicBezTo>
                    <a:pt x="21" y="20"/>
                    <a:pt x="20" y="22"/>
                    <a:pt x="20" y="24"/>
                  </a:cubicBezTo>
                  <a:cubicBezTo>
                    <a:pt x="20" y="25"/>
                    <a:pt x="19" y="26"/>
                    <a:pt x="18" y="26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6" y="26"/>
                    <a:pt x="16" y="26"/>
                    <a:pt x="16" y="25"/>
                  </a:cubicBezTo>
                  <a:cubicBezTo>
                    <a:pt x="16" y="24"/>
                    <a:pt x="16" y="23"/>
                    <a:pt x="16" y="22"/>
                  </a:cubicBezTo>
                  <a:cubicBezTo>
                    <a:pt x="17" y="21"/>
                    <a:pt x="18" y="20"/>
                    <a:pt x="19" y="19"/>
                  </a:cubicBezTo>
                  <a:cubicBezTo>
                    <a:pt x="19" y="19"/>
                    <a:pt x="19" y="18"/>
                    <a:pt x="19" y="18"/>
                  </a:cubicBezTo>
                  <a:cubicBezTo>
                    <a:pt x="20" y="17"/>
                    <a:pt x="20" y="16"/>
                    <a:pt x="20" y="15"/>
                  </a:cubicBezTo>
                  <a:cubicBezTo>
                    <a:pt x="20" y="15"/>
                    <a:pt x="20" y="15"/>
                    <a:pt x="19" y="15"/>
                  </a:cubicBezTo>
                  <a:cubicBezTo>
                    <a:pt x="18" y="14"/>
                    <a:pt x="17" y="13"/>
                    <a:pt x="15" y="14"/>
                  </a:cubicBezTo>
                  <a:cubicBezTo>
                    <a:pt x="15" y="14"/>
                    <a:pt x="14" y="14"/>
                    <a:pt x="14" y="14"/>
                  </a:cubicBezTo>
                  <a:cubicBezTo>
                    <a:pt x="13" y="13"/>
                    <a:pt x="11" y="13"/>
                    <a:pt x="11" y="14"/>
                  </a:cubicBezTo>
                  <a:cubicBezTo>
                    <a:pt x="10" y="15"/>
                    <a:pt x="10" y="15"/>
                    <a:pt x="10" y="16"/>
                  </a:cubicBezTo>
                  <a:cubicBezTo>
                    <a:pt x="10" y="16"/>
                    <a:pt x="10" y="17"/>
                    <a:pt x="10" y="17"/>
                  </a:cubicBezTo>
                  <a:cubicBezTo>
                    <a:pt x="10" y="17"/>
                    <a:pt x="10" y="18"/>
                    <a:pt x="10" y="18"/>
                  </a:cubicBezTo>
                  <a:cubicBezTo>
                    <a:pt x="10" y="18"/>
                    <a:pt x="9" y="19"/>
                    <a:pt x="9" y="19"/>
                  </a:cubicBezTo>
                  <a:cubicBezTo>
                    <a:pt x="8" y="20"/>
                    <a:pt x="8" y="22"/>
                    <a:pt x="8" y="23"/>
                  </a:cubicBezTo>
                  <a:cubicBezTo>
                    <a:pt x="8" y="23"/>
                    <a:pt x="8" y="24"/>
                    <a:pt x="8" y="24"/>
                  </a:cubicBezTo>
                  <a:cubicBezTo>
                    <a:pt x="8" y="24"/>
                    <a:pt x="7" y="24"/>
                    <a:pt x="7" y="24"/>
                  </a:cubicBezTo>
                  <a:cubicBezTo>
                    <a:pt x="7" y="24"/>
                    <a:pt x="7" y="23"/>
                    <a:pt x="7" y="23"/>
                  </a:cubicBezTo>
                  <a:cubicBezTo>
                    <a:pt x="6" y="22"/>
                    <a:pt x="5" y="21"/>
                    <a:pt x="3" y="21"/>
                  </a:cubicBezTo>
                  <a:cubicBezTo>
                    <a:pt x="2" y="21"/>
                    <a:pt x="0" y="22"/>
                    <a:pt x="0" y="24"/>
                  </a:cubicBezTo>
                  <a:cubicBezTo>
                    <a:pt x="0" y="26"/>
                    <a:pt x="1" y="28"/>
                    <a:pt x="1" y="29"/>
                  </a:cubicBezTo>
                  <a:cubicBezTo>
                    <a:pt x="2" y="30"/>
                    <a:pt x="2" y="31"/>
                    <a:pt x="2" y="32"/>
                  </a:cubicBezTo>
                  <a:cubicBezTo>
                    <a:pt x="3" y="34"/>
                    <a:pt x="4" y="35"/>
                    <a:pt x="6" y="35"/>
                  </a:cubicBezTo>
                  <a:cubicBezTo>
                    <a:pt x="7" y="35"/>
                    <a:pt x="7" y="35"/>
                    <a:pt x="8" y="35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9" y="37"/>
                    <a:pt x="10" y="37"/>
                    <a:pt x="11" y="37"/>
                  </a:cubicBezTo>
                  <a:cubicBezTo>
                    <a:pt x="12" y="37"/>
                    <a:pt x="12" y="37"/>
                    <a:pt x="12" y="38"/>
                  </a:cubicBezTo>
                  <a:cubicBezTo>
                    <a:pt x="12" y="39"/>
                    <a:pt x="12" y="39"/>
                    <a:pt x="12" y="40"/>
                  </a:cubicBezTo>
                  <a:cubicBezTo>
                    <a:pt x="12" y="42"/>
                    <a:pt x="12" y="43"/>
                    <a:pt x="11" y="44"/>
                  </a:cubicBezTo>
                  <a:cubicBezTo>
                    <a:pt x="10" y="45"/>
                    <a:pt x="9" y="47"/>
                    <a:pt x="8" y="48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9" y="50"/>
                    <a:pt x="11" y="50"/>
                    <a:pt x="12" y="50"/>
                  </a:cubicBezTo>
                  <a:cubicBezTo>
                    <a:pt x="13" y="50"/>
                    <a:pt x="13" y="50"/>
                    <a:pt x="13" y="51"/>
                  </a:cubicBezTo>
                  <a:cubicBezTo>
                    <a:pt x="13" y="51"/>
                    <a:pt x="13" y="52"/>
                    <a:pt x="13" y="53"/>
                  </a:cubicBezTo>
                  <a:cubicBezTo>
                    <a:pt x="13" y="54"/>
                    <a:pt x="13" y="54"/>
                    <a:pt x="12" y="54"/>
                  </a:cubicBezTo>
                  <a:cubicBezTo>
                    <a:pt x="11" y="55"/>
                    <a:pt x="10" y="55"/>
                    <a:pt x="9" y="56"/>
                  </a:cubicBezTo>
                  <a:cubicBezTo>
                    <a:pt x="9" y="57"/>
                    <a:pt x="9" y="57"/>
                    <a:pt x="8" y="57"/>
                  </a:cubicBezTo>
                  <a:cubicBezTo>
                    <a:pt x="7" y="59"/>
                    <a:pt x="7" y="60"/>
                    <a:pt x="8" y="61"/>
                  </a:cubicBezTo>
                  <a:cubicBezTo>
                    <a:pt x="8" y="62"/>
                    <a:pt x="8" y="62"/>
                    <a:pt x="9" y="62"/>
                  </a:cubicBezTo>
                  <a:cubicBezTo>
                    <a:pt x="9" y="63"/>
                    <a:pt x="10" y="64"/>
                    <a:pt x="10" y="64"/>
                  </a:cubicBezTo>
                  <a:cubicBezTo>
                    <a:pt x="11" y="63"/>
                    <a:pt x="12" y="63"/>
                    <a:pt x="13" y="63"/>
                  </a:cubicBezTo>
                  <a:cubicBezTo>
                    <a:pt x="14" y="62"/>
                    <a:pt x="15" y="61"/>
                    <a:pt x="16" y="61"/>
                  </a:cubicBezTo>
                  <a:cubicBezTo>
                    <a:pt x="17" y="60"/>
                    <a:pt x="18" y="60"/>
                    <a:pt x="19" y="59"/>
                  </a:cubicBezTo>
                  <a:cubicBezTo>
                    <a:pt x="21" y="58"/>
                    <a:pt x="23" y="58"/>
                    <a:pt x="25" y="58"/>
                  </a:cubicBezTo>
                  <a:cubicBezTo>
                    <a:pt x="26" y="58"/>
                    <a:pt x="27" y="58"/>
                    <a:pt x="28" y="58"/>
                  </a:cubicBezTo>
                  <a:cubicBezTo>
                    <a:pt x="28" y="58"/>
                    <a:pt x="28" y="58"/>
                    <a:pt x="29" y="58"/>
                  </a:cubicBezTo>
                  <a:cubicBezTo>
                    <a:pt x="29" y="58"/>
                    <a:pt x="30" y="58"/>
                    <a:pt x="30" y="57"/>
                  </a:cubicBezTo>
                  <a:cubicBezTo>
                    <a:pt x="31" y="57"/>
                    <a:pt x="31" y="57"/>
                    <a:pt x="31" y="57"/>
                  </a:cubicBezTo>
                  <a:cubicBezTo>
                    <a:pt x="31" y="56"/>
                    <a:pt x="32" y="55"/>
                    <a:pt x="32" y="55"/>
                  </a:cubicBezTo>
                  <a:cubicBezTo>
                    <a:pt x="32" y="54"/>
                    <a:pt x="32" y="53"/>
                    <a:pt x="32" y="52"/>
                  </a:cubicBezTo>
                  <a:cubicBezTo>
                    <a:pt x="33" y="51"/>
                    <a:pt x="32" y="51"/>
                    <a:pt x="32" y="50"/>
                  </a:cubicBezTo>
                  <a:cubicBezTo>
                    <a:pt x="31" y="50"/>
                    <a:pt x="30" y="50"/>
                    <a:pt x="29" y="50"/>
                  </a:cubicBezTo>
                  <a:cubicBezTo>
                    <a:pt x="28" y="50"/>
                    <a:pt x="27" y="50"/>
                    <a:pt x="26" y="50"/>
                  </a:cubicBezTo>
                  <a:cubicBezTo>
                    <a:pt x="24" y="50"/>
                    <a:pt x="22" y="51"/>
                    <a:pt x="20" y="52"/>
                  </a:cubicBezTo>
                  <a:cubicBezTo>
                    <a:pt x="20" y="52"/>
                    <a:pt x="20" y="51"/>
                    <a:pt x="19" y="51"/>
                  </a:cubicBezTo>
                  <a:cubicBezTo>
                    <a:pt x="19" y="51"/>
                    <a:pt x="19" y="50"/>
                    <a:pt x="19" y="50"/>
                  </a:cubicBezTo>
                  <a:cubicBezTo>
                    <a:pt x="18" y="48"/>
                    <a:pt x="18" y="47"/>
                    <a:pt x="19" y="46"/>
                  </a:cubicBezTo>
                  <a:cubicBezTo>
                    <a:pt x="20" y="45"/>
                    <a:pt x="21" y="44"/>
                    <a:pt x="23" y="43"/>
                  </a:cubicBezTo>
                  <a:cubicBezTo>
                    <a:pt x="24" y="42"/>
                    <a:pt x="25" y="39"/>
                    <a:pt x="24" y="38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6"/>
                    <a:pt x="23" y="36"/>
                    <a:pt x="22" y="36"/>
                  </a:cubicBezTo>
                  <a:cubicBezTo>
                    <a:pt x="21" y="36"/>
                    <a:pt x="20" y="37"/>
                    <a:pt x="20" y="37"/>
                  </a:cubicBezTo>
                  <a:cubicBezTo>
                    <a:pt x="19" y="37"/>
                    <a:pt x="18" y="38"/>
                    <a:pt x="17" y="38"/>
                  </a:cubicBezTo>
                  <a:cubicBezTo>
                    <a:pt x="17" y="39"/>
                    <a:pt x="17" y="39"/>
                    <a:pt x="16" y="38"/>
                  </a:cubicBezTo>
                  <a:cubicBezTo>
                    <a:pt x="16" y="37"/>
                    <a:pt x="16" y="36"/>
                    <a:pt x="16" y="36"/>
                  </a:cubicBezTo>
                  <a:cubicBezTo>
                    <a:pt x="16" y="34"/>
                    <a:pt x="17" y="33"/>
                    <a:pt x="19" y="32"/>
                  </a:cubicBezTo>
                  <a:close/>
                  <a:moveTo>
                    <a:pt x="11" y="27"/>
                  </a:moveTo>
                  <a:cubicBezTo>
                    <a:pt x="11" y="28"/>
                    <a:pt x="10" y="29"/>
                    <a:pt x="10" y="29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0"/>
                    <a:pt x="10" y="29"/>
                    <a:pt x="10" y="29"/>
                  </a:cubicBezTo>
                  <a:cubicBezTo>
                    <a:pt x="9" y="28"/>
                    <a:pt x="9" y="27"/>
                    <a:pt x="8" y="25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9" y="26"/>
                    <a:pt x="10" y="26"/>
                    <a:pt x="11" y="26"/>
                  </a:cubicBezTo>
                  <a:cubicBezTo>
                    <a:pt x="11" y="26"/>
                    <a:pt x="11" y="27"/>
                    <a:pt x="11" y="27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8" name="išḷîḓe">
              <a:extLst>
                <a:ext uri="{FF2B5EF4-FFF2-40B4-BE49-F238E27FC236}">
                  <a16:creationId xmlns:a16="http://schemas.microsoft.com/office/drawing/2014/main" id="{CC275142-586F-4ABF-9865-91A15A69B99F}"/>
                </a:ext>
              </a:extLst>
            </p:cNvPr>
            <p:cNvSpPr/>
            <p:nvPr/>
          </p:nvSpPr>
          <p:spPr bwMode="auto">
            <a:xfrm>
              <a:off x="2709863" y="2620963"/>
              <a:ext cx="73025" cy="174625"/>
            </a:xfrm>
            <a:custGeom>
              <a:avLst/>
              <a:gdLst>
                <a:gd name="T0" fmla="*/ 20 w 20"/>
                <a:gd name="T1" fmla="*/ 22 h 48"/>
                <a:gd name="T2" fmla="*/ 20 w 20"/>
                <a:gd name="T3" fmla="*/ 21 h 48"/>
                <a:gd name="T4" fmla="*/ 19 w 20"/>
                <a:gd name="T5" fmla="*/ 22 h 48"/>
                <a:gd name="T6" fmla="*/ 18 w 20"/>
                <a:gd name="T7" fmla="*/ 29 h 48"/>
                <a:gd name="T8" fmla="*/ 16 w 20"/>
                <a:gd name="T9" fmla="*/ 34 h 48"/>
                <a:gd name="T10" fmla="*/ 14 w 20"/>
                <a:gd name="T11" fmla="*/ 39 h 48"/>
                <a:gd name="T12" fmla="*/ 14 w 20"/>
                <a:gd name="T13" fmla="*/ 39 h 48"/>
                <a:gd name="T14" fmla="*/ 13 w 20"/>
                <a:gd name="T15" fmla="*/ 39 h 48"/>
                <a:gd name="T16" fmla="*/ 14 w 20"/>
                <a:gd name="T17" fmla="*/ 37 h 48"/>
                <a:gd name="T18" fmla="*/ 14 w 20"/>
                <a:gd name="T19" fmla="*/ 33 h 48"/>
                <a:gd name="T20" fmla="*/ 15 w 20"/>
                <a:gd name="T21" fmla="*/ 27 h 48"/>
                <a:gd name="T22" fmla="*/ 16 w 20"/>
                <a:gd name="T23" fmla="*/ 22 h 48"/>
                <a:gd name="T24" fmla="*/ 15 w 20"/>
                <a:gd name="T25" fmla="*/ 19 h 48"/>
                <a:gd name="T26" fmla="*/ 14 w 20"/>
                <a:gd name="T27" fmla="*/ 18 h 48"/>
                <a:gd name="T28" fmla="*/ 14 w 20"/>
                <a:gd name="T29" fmla="*/ 14 h 48"/>
                <a:gd name="T30" fmla="*/ 14 w 20"/>
                <a:gd name="T31" fmla="*/ 9 h 48"/>
                <a:gd name="T32" fmla="*/ 15 w 20"/>
                <a:gd name="T33" fmla="*/ 6 h 48"/>
                <a:gd name="T34" fmla="*/ 15 w 20"/>
                <a:gd name="T35" fmla="*/ 2 h 48"/>
                <a:gd name="T36" fmla="*/ 13 w 20"/>
                <a:gd name="T37" fmla="*/ 0 h 48"/>
                <a:gd name="T38" fmla="*/ 10 w 20"/>
                <a:gd name="T39" fmla="*/ 0 h 48"/>
                <a:gd name="T40" fmla="*/ 7 w 20"/>
                <a:gd name="T41" fmla="*/ 2 h 48"/>
                <a:gd name="T42" fmla="*/ 4 w 20"/>
                <a:gd name="T43" fmla="*/ 5 h 48"/>
                <a:gd name="T44" fmla="*/ 1 w 20"/>
                <a:gd name="T45" fmla="*/ 7 h 48"/>
                <a:gd name="T46" fmla="*/ 0 w 20"/>
                <a:gd name="T47" fmla="*/ 9 h 48"/>
                <a:gd name="T48" fmla="*/ 2 w 20"/>
                <a:gd name="T49" fmla="*/ 12 h 48"/>
                <a:gd name="T50" fmla="*/ 3 w 20"/>
                <a:gd name="T51" fmla="*/ 12 h 48"/>
                <a:gd name="T52" fmla="*/ 7 w 20"/>
                <a:gd name="T53" fmla="*/ 13 h 48"/>
                <a:gd name="T54" fmla="*/ 10 w 20"/>
                <a:gd name="T55" fmla="*/ 11 h 48"/>
                <a:gd name="T56" fmla="*/ 11 w 20"/>
                <a:gd name="T57" fmla="*/ 11 h 48"/>
                <a:gd name="T58" fmla="*/ 11 w 20"/>
                <a:gd name="T59" fmla="*/ 13 h 48"/>
                <a:gd name="T60" fmla="*/ 12 w 20"/>
                <a:gd name="T61" fmla="*/ 18 h 48"/>
                <a:gd name="T62" fmla="*/ 10 w 20"/>
                <a:gd name="T63" fmla="*/ 19 h 48"/>
                <a:gd name="T64" fmla="*/ 8 w 20"/>
                <a:gd name="T65" fmla="*/ 20 h 48"/>
                <a:gd name="T66" fmla="*/ 3 w 20"/>
                <a:gd name="T67" fmla="*/ 27 h 48"/>
                <a:gd name="T68" fmla="*/ 4 w 20"/>
                <a:gd name="T69" fmla="*/ 32 h 48"/>
                <a:gd name="T70" fmla="*/ 9 w 20"/>
                <a:gd name="T71" fmla="*/ 35 h 48"/>
                <a:gd name="T72" fmla="*/ 9 w 20"/>
                <a:gd name="T73" fmla="*/ 35 h 48"/>
                <a:gd name="T74" fmla="*/ 9 w 20"/>
                <a:gd name="T75" fmla="*/ 42 h 48"/>
                <a:gd name="T76" fmla="*/ 9 w 20"/>
                <a:gd name="T77" fmla="*/ 46 h 48"/>
                <a:gd name="T78" fmla="*/ 12 w 20"/>
                <a:gd name="T79" fmla="*/ 47 h 48"/>
                <a:gd name="T80" fmla="*/ 14 w 20"/>
                <a:gd name="T81" fmla="*/ 46 h 48"/>
                <a:gd name="T82" fmla="*/ 17 w 20"/>
                <a:gd name="T83" fmla="*/ 38 h 48"/>
                <a:gd name="T84" fmla="*/ 18 w 20"/>
                <a:gd name="T85" fmla="*/ 35 h 48"/>
                <a:gd name="T86" fmla="*/ 19 w 20"/>
                <a:gd name="T87" fmla="*/ 31 h 48"/>
                <a:gd name="T88" fmla="*/ 19 w 20"/>
                <a:gd name="T89" fmla="*/ 27 h 48"/>
                <a:gd name="T90" fmla="*/ 20 w 20"/>
                <a:gd name="T91" fmla="*/ 23 h 48"/>
                <a:gd name="T92" fmla="*/ 20 w 20"/>
                <a:gd name="T93" fmla="*/ 22 h 48"/>
                <a:gd name="T94" fmla="*/ 10 w 20"/>
                <a:gd name="T95" fmla="*/ 28 h 48"/>
                <a:gd name="T96" fmla="*/ 10 w 20"/>
                <a:gd name="T97" fmla="*/ 29 h 48"/>
                <a:gd name="T98" fmla="*/ 9 w 20"/>
                <a:gd name="T99" fmla="*/ 30 h 48"/>
                <a:gd name="T100" fmla="*/ 8 w 20"/>
                <a:gd name="T101" fmla="*/ 28 h 48"/>
                <a:gd name="T102" fmla="*/ 10 w 20"/>
                <a:gd name="T103" fmla="*/ 24 h 48"/>
                <a:gd name="T104" fmla="*/ 10 w 20"/>
                <a:gd name="T105" fmla="*/ 24 h 48"/>
                <a:gd name="T106" fmla="*/ 10 w 20"/>
                <a:gd name="T107" fmla="*/ 25 h 48"/>
                <a:gd name="T108" fmla="*/ 10 w 20"/>
                <a:gd name="T109" fmla="*/ 2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" h="48">
                  <a:moveTo>
                    <a:pt x="20" y="22"/>
                  </a:moveTo>
                  <a:cubicBezTo>
                    <a:pt x="20" y="22"/>
                    <a:pt x="20" y="21"/>
                    <a:pt x="20" y="21"/>
                  </a:cubicBezTo>
                  <a:cubicBezTo>
                    <a:pt x="19" y="21"/>
                    <a:pt x="19" y="22"/>
                    <a:pt x="19" y="22"/>
                  </a:cubicBezTo>
                  <a:cubicBezTo>
                    <a:pt x="19" y="24"/>
                    <a:pt x="18" y="26"/>
                    <a:pt x="18" y="29"/>
                  </a:cubicBezTo>
                  <a:cubicBezTo>
                    <a:pt x="17" y="30"/>
                    <a:pt x="17" y="32"/>
                    <a:pt x="16" y="34"/>
                  </a:cubicBezTo>
                  <a:cubicBezTo>
                    <a:pt x="16" y="36"/>
                    <a:pt x="15" y="37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8"/>
                    <a:pt x="14" y="38"/>
                    <a:pt x="14" y="37"/>
                  </a:cubicBezTo>
                  <a:cubicBezTo>
                    <a:pt x="14" y="36"/>
                    <a:pt x="14" y="35"/>
                    <a:pt x="14" y="33"/>
                  </a:cubicBezTo>
                  <a:cubicBezTo>
                    <a:pt x="15" y="31"/>
                    <a:pt x="15" y="29"/>
                    <a:pt x="15" y="27"/>
                  </a:cubicBezTo>
                  <a:cubicBezTo>
                    <a:pt x="16" y="25"/>
                    <a:pt x="16" y="23"/>
                    <a:pt x="16" y="22"/>
                  </a:cubicBezTo>
                  <a:cubicBezTo>
                    <a:pt x="16" y="21"/>
                    <a:pt x="15" y="20"/>
                    <a:pt x="15" y="19"/>
                  </a:cubicBezTo>
                  <a:cubicBezTo>
                    <a:pt x="14" y="19"/>
                    <a:pt x="14" y="18"/>
                    <a:pt x="14" y="18"/>
                  </a:cubicBezTo>
                  <a:cubicBezTo>
                    <a:pt x="14" y="17"/>
                    <a:pt x="14" y="15"/>
                    <a:pt x="14" y="14"/>
                  </a:cubicBezTo>
                  <a:cubicBezTo>
                    <a:pt x="13" y="12"/>
                    <a:pt x="13" y="10"/>
                    <a:pt x="14" y="9"/>
                  </a:cubicBezTo>
                  <a:cubicBezTo>
                    <a:pt x="14" y="8"/>
                    <a:pt x="14" y="7"/>
                    <a:pt x="15" y="6"/>
                  </a:cubicBezTo>
                  <a:cubicBezTo>
                    <a:pt x="16" y="5"/>
                    <a:pt x="16" y="3"/>
                    <a:pt x="15" y="2"/>
                  </a:cubicBezTo>
                  <a:cubicBezTo>
                    <a:pt x="15" y="1"/>
                    <a:pt x="14" y="0"/>
                    <a:pt x="13" y="0"/>
                  </a:cubicBezTo>
                  <a:cubicBezTo>
                    <a:pt x="12" y="0"/>
                    <a:pt x="11" y="0"/>
                    <a:pt x="10" y="0"/>
                  </a:cubicBezTo>
                  <a:cubicBezTo>
                    <a:pt x="9" y="1"/>
                    <a:pt x="8" y="2"/>
                    <a:pt x="7" y="2"/>
                  </a:cubicBezTo>
                  <a:cubicBezTo>
                    <a:pt x="6" y="3"/>
                    <a:pt x="5" y="4"/>
                    <a:pt x="4" y="5"/>
                  </a:cubicBezTo>
                  <a:cubicBezTo>
                    <a:pt x="3" y="5"/>
                    <a:pt x="2" y="6"/>
                    <a:pt x="1" y="7"/>
                  </a:cubicBezTo>
                  <a:cubicBezTo>
                    <a:pt x="0" y="7"/>
                    <a:pt x="0" y="8"/>
                    <a:pt x="0" y="9"/>
                  </a:cubicBezTo>
                  <a:cubicBezTo>
                    <a:pt x="1" y="10"/>
                    <a:pt x="1" y="11"/>
                    <a:pt x="2" y="12"/>
                  </a:cubicBezTo>
                  <a:cubicBezTo>
                    <a:pt x="2" y="12"/>
                    <a:pt x="3" y="12"/>
                    <a:pt x="3" y="12"/>
                  </a:cubicBezTo>
                  <a:cubicBezTo>
                    <a:pt x="4" y="13"/>
                    <a:pt x="6" y="14"/>
                    <a:pt x="7" y="13"/>
                  </a:cubicBezTo>
                  <a:cubicBezTo>
                    <a:pt x="8" y="12"/>
                    <a:pt x="9" y="11"/>
                    <a:pt x="10" y="11"/>
                  </a:cubicBezTo>
                  <a:cubicBezTo>
                    <a:pt x="10" y="10"/>
                    <a:pt x="10" y="10"/>
                    <a:pt x="11" y="11"/>
                  </a:cubicBezTo>
                  <a:cubicBezTo>
                    <a:pt x="11" y="11"/>
                    <a:pt x="11" y="12"/>
                    <a:pt x="11" y="13"/>
                  </a:cubicBezTo>
                  <a:cubicBezTo>
                    <a:pt x="11" y="14"/>
                    <a:pt x="12" y="16"/>
                    <a:pt x="12" y="18"/>
                  </a:cubicBezTo>
                  <a:cubicBezTo>
                    <a:pt x="12" y="19"/>
                    <a:pt x="11" y="19"/>
                    <a:pt x="10" y="19"/>
                  </a:cubicBezTo>
                  <a:cubicBezTo>
                    <a:pt x="9" y="20"/>
                    <a:pt x="8" y="20"/>
                    <a:pt x="8" y="20"/>
                  </a:cubicBezTo>
                  <a:cubicBezTo>
                    <a:pt x="5" y="22"/>
                    <a:pt x="4" y="24"/>
                    <a:pt x="3" y="27"/>
                  </a:cubicBezTo>
                  <a:cubicBezTo>
                    <a:pt x="3" y="29"/>
                    <a:pt x="3" y="31"/>
                    <a:pt x="4" y="32"/>
                  </a:cubicBezTo>
                  <a:cubicBezTo>
                    <a:pt x="5" y="34"/>
                    <a:pt x="7" y="35"/>
                    <a:pt x="9" y="35"/>
                  </a:cubicBezTo>
                  <a:cubicBezTo>
                    <a:pt x="9" y="35"/>
                    <a:pt x="10" y="35"/>
                    <a:pt x="9" y="35"/>
                  </a:cubicBezTo>
                  <a:cubicBezTo>
                    <a:pt x="9" y="38"/>
                    <a:pt x="9" y="40"/>
                    <a:pt x="9" y="42"/>
                  </a:cubicBezTo>
                  <a:cubicBezTo>
                    <a:pt x="9" y="43"/>
                    <a:pt x="9" y="44"/>
                    <a:pt x="9" y="46"/>
                  </a:cubicBezTo>
                  <a:cubicBezTo>
                    <a:pt x="10" y="47"/>
                    <a:pt x="11" y="48"/>
                    <a:pt x="12" y="47"/>
                  </a:cubicBezTo>
                  <a:cubicBezTo>
                    <a:pt x="13" y="47"/>
                    <a:pt x="13" y="47"/>
                    <a:pt x="14" y="46"/>
                  </a:cubicBezTo>
                  <a:cubicBezTo>
                    <a:pt x="16" y="44"/>
                    <a:pt x="16" y="41"/>
                    <a:pt x="17" y="38"/>
                  </a:cubicBezTo>
                  <a:cubicBezTo>
                    <a:pt x="17" y="37"/>
                    <a:pt x="18" y="36"/>
                    <a:pt x="18" y="35"/>
                  </a:cubicBezTo>
                  <a:cubicBezTo>
                    <a:pt x="18" y="34"/>
                    <a:pt x="19" y="32"/>
                    <a:pt x="19" y="31"/>
                  </a:cubicBezTo>
                  <a:cubicBezTo>
                    <a:pt x="19" y="30"/>
                    <a:pt x="19" y="27"/>
                    <a:pt x="19" y="27"/>
                  </a:cubicBezTo>
                  <a:cubicBezTo>
                    <a:pt x="19" y="26"/>
                    <a:pt x="20" y="25"/>
                    <a:pt x="20" y="23"/>
                  </a:cubicBezTo>
                  <a:cubicBezTo>
                    <a:pt x="20" y="23"/>
                    <a:pt x="20" y="22"/>
                    <a:pt x="20" y="22"/>
                  </a:cubicBezTo>
                  <a:close/>
                  <a:moveTo>
                    <a:pt x="10" y="28"/>
                  </a:moveTo>
                  <a:cubicBezTo>
                    <a:pt x="10" y="28"/>
                    <a:pt x="10" y="29"/>
                    <a:pt x="10" y="29"/>
                  </a:cubicBezTo>
                  <a:cubicBezTo>
                    <a:pt x="10" y="29"/>
                    <a:pt x="10" y="30"/>
                    <a:pt x="9" y="30"/>
                  </a:cubicBezTo>
                  <a:cubicBezTo>
                    <a:pt x="8" y="30"/>
                    <a:pt x="8" y="29"/>
                    <a:pt x="8" y="28"/>
                  </a:cubicBezTo>
                  <a:cubicBezTo>
                    <a:pt x="8" y="27"/>
                    <a:pt x="9" y="25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5"/>
                    <a:pt x="11" y="25"/>
                    <a:pt x="10" y="25"/>
                  </a:cubicBezTo>
                  <a:cubicBezTo>
                    <a:pt x="10" y="26"/>
                    <a:pt x="10" y="27"/>
                    <a:pt x="10" y="28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9" name="ïṩļidê">
              <a:extLst>
                <a:ext uri="{FF2B5EF4-FFF2-40B4-BE49-F238E27FC236}">
                  <a16:creationId xmlns:a16="http://schemas.microsoft.com/office/drawing/2014/main" id="{CB1EB223-3268-49E3-9009-8FB4F6B1C0A1}"/>
                </a:ext>
              </a:extLst>
            </p:cNvPr>
            <p:cNvSpPr/>
            <p:nvPr/>
          </p:nvSpPr>
          <p:spPr bwMode="auto">
            <a:xfrm>
              <a:off x="3038475" y="2620963"/>
              <a:ext cx="136525" cy="115888"/>
            </a:xfrm>
            <a:custGeom>
              <a:avLst/>
              <a:gdLst>
                <a:gd name="T0" fmla="*/ 36 w 38"/>
                <a:gd name="T1" fmla="*/ 22 h 32"/>
                <a:gd name="T2" fmla="*/ 34 w 38"/>
                <a:gd name="T3" fmla="*/ 22 h 32"/>
                <a:gd name="T4" fmla="*/ 32 w 38"/>
                <a:gd name="T5" fmla="*/ 22 h 32"/>
                <a:gd name="T6" fmla="*/ 28 w 38"/>
                <a:gd name="T7" fmla="*/ 22 h 32"/>
                <a:gd name="T8" fmla="*/ 27 w 38"/>
                <a:gd name="T9" fmla="*/ 21 h 32"/>
                <a:gd name="T10" fmla="*/ 28 w 38"/>
                <a:gd name="T11" fmla="*/ 21 h 32"/>
                <a:gd name="T12" fmla="*/ 32 w 38"/>
                <a:gd name="T13" fmla="*/ 16 h 32"/>
                <a:gd name="T14" fmla="*/ 35 w 38"/>
                <a:gd name="T15" fmla="*/ 11 h 32"/>
                <a:gd name="T16" fmla="*/ 35 w 38"/>
                <a:gd name="T17" fmla="*/ 8 h 32"/>
                <a:gd name="T18" fmla="*/ 35 w 38"/>
                <a:gd name="T19" fmla="*/ 7 h 32"/>
                <a:gd name="T20" fmla="*/ 34 w 38"/>
                <a:gd name="T21" fmla="*/ 3 h 32"/>
                <a:gd name="T22" fmla="*/ 29 w 38"/>
                <a:gd name="T23" fmla="*/ 1 h 32"/>
                <a:gd name="T24" fmla="*/ 22 w 38"/>
                <a:gd name="T25" fmla="*/ 2 h 32"/>
                <a:gd name="T26" fmla="*/ 16 w 38"/>
                <a:gd name="T27" fmla="*/ 5 h 32"/>
                <a:gd name="T28" fmla="*/ 14 w 38"/>
                <a:gd name="T29" fmla="*/ 7 h 32"/>
                <a:gd name="T30" fmla="*/ 17 w 38"/>
                <a:gd name="T31" fmla="*/ 12 h 32"/>
                <a:gd name="T32" fmla="*/ 22 w 38"/>
                <a:gd name="T33" fmla="*/ 13 h 32"/>
                <a:gd name="T34" fmla="*/ 26 w 38"/>
                <a:gd name="T35" fmla="*/ 11 h 32"/>
                <a:gd name="T36" fmla="*/ 28 w 38"/>
                <a:gd name="T37" fmla="*/ 11 h 32"/>
                <a:gd name="T38" fmla="*/ 25 w 38"/>
                <a:gd name="T39" fmla="*/ 16 h 32"/>
                <a:gd name="T40" fmla="*/ 20 w 38"/>
                <a:gd name="T41" fmla="*/ 20 h 32"/>
                <a:gd name="T42" fmla="*/ 15 w 38"/>
                <a:gd name="T43" fmla="*/ 21 h 32"/>
                <a:gd name="T44" fmla="*/ 12 w 38"/>
                <a:gd name="T45" fmla="*/ 21 h 32"/>
                <a:gd name="T46" fmla="*/ 5 w 38"/>
                <a:gd name="T47" fmla="*/ 22 h 32"/>
                <a:gd name="T48" fmla="*/ 2 w 38"/>
                <a:gd name="T49" fmla="*/ 24 h 32"/>
                <a:gd name="T50" fmla="*/ 1 w 38"/>
                <a:gd name="T51" fmla="*/ 25 h 32"/>
                <a:gd name="T52" fmla="*/ 3 w 38"/>
                <a:gd name="T53" fmla="*/ 31 h 32"/>
                <a:gd name="T54" fmla="*/ 6 w 38"/>
                <a:gd name="T55" fmla="*/ 31 h 32"/>
                <a:gd name="T56" fmla="*/ 12 w 38"/>
                <a:gd name="T57" fmla="*/ 31 h 32"/>
                <a:gd name="T58" fmla="*/ 29 w 38"/>
                <a:gd name="T59" fmla="*/ 30 h 32"/>
                <a:gd name="T60" fmla="*/ 31 w 38"/>
                <a:gd name="T61" fmla="*/ 31 h 32"/>
                <a:gd name="T62" fmla="*/ 33 w 38"/>
                <a:gd name="T63" fmla="*/ 32 h 32"/>
                <a:gd name="T64" fmla="*/ 36 w 38"/>
                <a:gd name="T65" fmla="*/ 30 h 32"/>
                <a:gd name="T66" fmla="*/ 37 w 38"/>
                <a:gd name="T67" fmla="*/ 27 h 32"/>
                <a:gd name="T68" fmla="*/ 36 w 38"/>
                <a:gd name="T69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8" h="32">
                  <a:moveTo>
                    <a:pt x="36" y="22"/>
                  </a:moveTo>
                  <a:cubicBezTo>
                    <a:pt x="36" y="21"/>
                    <a:pt x="35" y="21"/>
                    <a:pt x="34" y="22"/>
                  </a:cubicBezTo>
                  <a:cubicBezTo>
                    <a:pt x="33" y="22"/>
                    <a:pt x="33" y="22"/>
                    <a:pt x="32" y="22"/>
                  </a:cubicBezTo>
                  <a:cubicBezTo>
                    <a:pt x="31" y="22"/>
                    <a:pt x="29" y="22"/>
                    <a:pt x="28" y="22"/>
                  </a:cubicBezTo>
                  <a:cubicBezTo>
                    <a:pt x="28" y="22"/>
                    <a:pt x="27" y="22"/>
                    <a:pt x="27" y="21"/>
                  </a:cubicBezTo>
                  <a:cubicBezTo>
                    <a:pt x="27" y="21"/>
                    <a:pt x="27" y="21"/>
                    <a:pt x="28" y="21"/>
                  </a:cubicBezTo>
                  <a:cubicBezTo>
                    <a:pt x="29" y="19"/>
                    <a:pt x="31" y="17"/>
                    <a:pt x="32" y="16"/>
                  </a:cubicBezTo>
                  <a:cubicBezTo>
                    <a:pt x="33" y="14"/>
                    <a:pt x="34" y="11"/>
                    <a:pt x="35" y="11"/>
                  </a:cubicBezTo>
                  <a:cubicBezTo>
                    <a:pt x="35" y="10"/>
                    <a:pt x="36" y="9"/>
                    <a:pt x="35" y="8"/>
                  </a:cubicBezTo>
                  <a:cubicBezTo>
                    <a:pt x="35" y="8"/>
                    <a:pt x="35" y="7"/>
                    <a:pt x="35" y="7"/>
                  </a:cubicBezTo>
                  <a:cubicBezTo>
                    <a:pt x="35" y="6"/>
                    <a:pt x="35" y="4"/>
                    <a:pt x="34" y="3"/>
                  </a:cubicBezTo>
                  <a:cubicBezTo>
                    <a:pt x="33" y="2"/>
                    <a:pt x="31" y="1"/>
                    <a:pt x="29" y="1"/>
                  </a:cubicBezTo>
                  <a:cubicBezTo>
                    <a:pt x="27" y="0"/>
                    <a:pt x="24" y="1"/>
                    <a:pt x="22" y="2"/>
                  </a:cubicBezTo>
                  <a:cubicBezTo>
                    <a:pt x="20" y="3"/>
                    <a:pt x="18" y="4"/>
                    <a:pt x="16" y="5"/>
                  </a:cubicBezTo>
                  <a:cubicBezTo>
                    <a:pt x="15" y="5"/>
                    <a:pt x="14" y="7"/>
                    <a:pt x="14" y="7"/>
                  </a:cubicBezTo>
                  <a:cubicBezTo>
                    <a:pt x="15" y="9"/>
                    <a:pt x="15" y="11"/>
                    <a:pt x="17" y="12"/>
                  </a:cubicBezTo>
                  <a:cubicBezTo>
                    <a:pt x="18" y="13"/>
                    <a:pt x="20" y="13"/>
                    <a:pt x="22" y="13"/>
                  </a:cubicBezTo>
                  <a:cubicBezTo>
                    <a:pt x="23" y="12"/>
                    <a:pt x="24" y="12"/>
                    <a:pt x="26" y="11"/>
                  </a:cubicBezTo>
                  <a:cubicBezTo>
                    <a:pt x="26" y="11"/>
                    <a:pt x="27" y="11"/>
                    <a:pt x="28" y="11"/>
                  </a:cubicBezTo>
                  <a:cubicBezTo>
                    <a:pt x="28" y="12"/>
                    <a:pt x="25" y="14"/>
                    <a:pt x="25" y="16"/>
                  </a:cubicBezTo>
                  <a:cubicBezTo>
                    <a:pt x="23" y="17"/>
                    <a:pt x="22" y="18"/>
                    <a:pt x="20" y="20"/>
                  </a:cubicBezTo>
                  <a:cubicBezTo>
                    <a:pt x="19" y="21"/>
                    <a:pt x="17" y="21"/>
                    <a:pt x="15" y="21"/>
                  </a:cubicBezTo>
                  <a:cubicBezTo>
                    <a:pt x="14" y="21"/>
                    <a:pt x="13" y="21"/>
                    <a:pt x="12" y="21"/>
                  </a:cubicBezTo>
                  <a:cubicBezTo>
                    <a:pt x="9" y="22"/>
                    <a:pt x="7" y="22"/>
                    <a:pt x="5" y="22"/>
                  </a:cubicBezTo>
                  <a:cubicBezTo>
                    <a:pt x="4" y="23"/>
                    <a:pt x="3" y="23"/>
                    <a:pt x="2" y="24"/>
                  </a:cubicBezTo>
                  <a:cubicBezTo>
                    <a:pt x="2" y="24"/>
                    <a:pt x="2" y="25"/>
                    <a:pt x="1" y="25"/>
                  </a:cubicBezTo>
                  <a:cubicBezTo>
                    <a:pt x="0" y="27"/>
                    <a:pt x="1" y="30"/>
                    <a:pt x="3" y="31"/>
                  </a:cubicBezTo>
                  <a:cubicBezTo>
                    <a:pt x="4" y="31"/>
                    <a:pt x="5" y="31"/>
                    <a:pt x="6" y="31"/>
                  </a:cubicBezTo>
                  <a:cubicBezTo>
                    <a:pt x="8" y="31"/>
                    <a:pt x="11" y="31"/>
                    <a:pt x="12" y="31"/>
                  </a:cubicBezTo>
                  <a:cubicBezTo>
                    <a:pt x="14" y="30"/>
                    <a:pt x="25" y="30"/>
                    <a:pt x="29" y="30"/>
                  </a:cubicBezTo>
                  <a:cubicBezTo>
                    <a:pt x="29" y="30"/>
                    <a:pt x="30" y="30"/>
                    <a:pt x="31" y="31"/>
                  </a:cubicBezTo>
                  <a:cubicBezTo>
                    <a:pt x="32" y="31"/>
                    <a:pt x="32" y="32"/>
                    <a:pt x="33" y="32"/>
                  </a:cubicBezTo>
                  <a:cubicBezTo>
                    <a:pt x="34" y="32"/>
                    <a:pt x="35" y="32"/>
                    <a:pt x="36" y="30"/>
                  </a:cubicBezTo>
                  <a:cubicBezTo>
                    <a:pt x="37" y="29"/>
                    <a:pt x="37" y="28"/>
                    <a:pt x="37" y="27"/>
                  </a:cubicBezTo>
                  <a:cubicBezTo>
                    <a:pt x="38" y="25"/>
                    <a:pt x="37" y="24"/>
                    <a:pt x="36" y="22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0" name="îṧliḑe">
              <a:extLst>
                <a:ext uri="{FF2B5EF4-FFF2-40B4-BE49-F238E27FC236}">
                  <a16:creationId xmlns:a16="http://schemas.microsoft.com/office/drawing/2014/main" id="{78D8483C-51F5-41B6-B92D-284D1FA2DA29}"/>
                </a:ext>
              </a:extLst>
            </p:cNvPr>
            <p:cNvSpPr/>
            <p:nvPr/>
          </p:nvSpPr>
          <p:spPr bwMode="auto">
            <a:xfrm>
              <a:off x="3290888" y="2722563"/>
              <a:ext cx="187325" cy="198438"/>
            </a:xfrm>
            <a:custGeom>
              <a:avLst/>
              <a:gdLst>
                <a:gd name="T0" fmla="*/ 37 w 52"/>
                <a:gd name="T1" fmla="*/ 49 h 55"/>
                <a:gd name="T2" fmla="*/ 35 w 52"/>
                <a:gd name="T3" fmla="*/ 45 h 55"/>
                <a:gd name="T4" fmla="*/ 34 w 52"/>
                <a:gd name="T5" fmla="*/ 39 h 55"/>
                <a:gd name="T6" fmla="*/ 33 w 52"/>
                <a:gd name="T7" fmla="*/ 34 h 55"/>
                <a:gd name="T8" fmla="*/ 32 w 52"/>
                <a:gd name="T9" fmla="*/ 27 h 55"/>
                <a:gd name="T10" fmla="*/ 34 w 52"/>
                <a:gd name="T11" fmla="*/ 25 h 55"/>
                <a:gd name="T12" fmla="*/ 35 w 52"/>
                <a:gd name="T13" fmla="*/ 23 h 55"/>
                <a:gd name="T14" fmla="*/ 38 w 52"/>
                <a:gd name="T15" fmla="*/ 22 h 55"/>
                <a:gd name="T16" fmla="*/ 43 w 52"/>
                <a:gd name="T17" fmla="*/ 24 h 55"/>
                <a:gd name="T18" fmla="*/ 46 w 52"/>
                <a:gd name="T19" fmla="*/ 23 h 55"/>
                <a:gd name="T20" fmla="*/ 48 w 52"/>
                <a:gd name="T21" fmla="*/ 22 h 55"/>
                <a:gd name="T22" fmla="*/ 49 w 52"/>
                <a:gd name="T23" fmla="*/ 22 h 55"/>
                <a:gd name="T24" fmla="*/ 50 w 52"/>
                <a:gd name="T25" fmla="*/ 21 h 55"/>
                <a:gd name="T26" fmla="*/ 50 w 52"/>
                <a:gd name="T27" fmla="*/ 19 h 55"/>
                <a:gd name="T28" fmla="*/ 48 w 52"/>
                <a:gd name="T29" fmla="*/ 16 h 55"/>
                <a:gd name="T30" fmla="*/ 45 w 52"/>
                <a:gd name="T31" fmla="*/ 15 h 55"/>
                <a:gd name="T32" fmla="*/ 45 w 52"/>
                <a:gd name="T33" fmla="*/ 15 h 55"/>
                <a:gd name="T34" fmla="*/ 45 w 52"/>
                <a:gd name="T35" fmla="*/ 15 h 55"/>
                <a:gd name="T36" fmla="*/ 48 w 52"/>
                <a:gd name="T37" fmla="*/ 11 h 55"/>
                <a:gd name="T38" fmla="*/ 51 w 52"/>
                <a:gd name="T39" fmla="*/ 7 h 55"/>
                <a:gd name="T40" fmla="*/ 52 w 52"/>
                <a:gd name="T41" fmla="*/ 5 h 55"/>
                <a:gd name="T42" fmla="*/ 51 w 52"/>
                <a:gd name="T43" fmla="*/ 1 h 55"/>
                <a:gd name="T44" fmla="*/ 48 w 52"/>
                <a:gd name="T45" fmla="*/ 0 h 55"/>
                <a:gd name="T46" fmla="*/ 45 w 52"/>
                <a:gd name="T47" fmla="*/ 2 h 55"/>
                <a:gd name="T48" fmla="*/ 43 w 52"/>
                <a:gd name="T49" fmla="*/ 6 h 55"/>
                <a:gd name="T50" fmla="*/ 37 w 52"/>
                <a:gd name="T51" fmla="*/ 12 h 55"/>
                <a:gd name="T52" fmla="*/ 35 w 52"/>
                <a:gd name="T53" fmla="*/ 13 h 55"/>
                <a:gd name="T54" fmla="*/ 32 w 52"/>
                <a:gd name="T55" fmla="*/ 12 h 55"/>
                <a:gd name="T56" fmla="*/ 26 w 52"/>
                <a:gd name="T57" fmla="*/ 10 h 55"/>
                <a:gd name="T58" fmla="*/ 22 w 52"/>
                <a:gd name="T59" fmla="*/ 10 h 55"/>
                <a:gd name="T60" fmla="*/ 21 w 52"/>
                <a:gd name="T61" fmla="*/ 11 h 55"/>
                <a:gd name="T62" fmla="*/ 21 w 52"/>
                <a:gd name="T63" fmla="*/ 14 h 55"/>
                <a:gd name="T64" fmla="*/ 21 w 52"/>
                <a:gd name="T65" fmla="*/ 15 h 55"/>
                <a:gd name="T66" fmla="*/ 23 w 52"/>
                <a:gd name="T67" fmla="*/ 17 h 55"/>
                <a:gd name="T68" fmla="*/ 26 w 52"/>
                <a:gd name="T69" fmla="*/ 19 h 55"/>
                <a:gd name="T70" fmla="*/ 29 w 52"/>
                <a:gd name="T71" fmla="*/ 20 h 55"/>
                <a:gd name="T72" fmla="*/ 24 w 52"/>
                <a:gd name="T73" fmla="*/ 23 h 55"/>
                <a:gd name="T74" fmla="*/ 12 w 52"/>
                <a:gd name="T75" fmla="*/ 28 h 55"/>
                <a:gd name="T76" fmla="*/ 0 w 52"/>
                <a:gd name="T77" fmla="*/ 28 h 55"/>
                <a:gd name="T78" fmla="*/ 1 w 52"/>
                <a:gd name="T79" fmla="*/ 29 h 55"/>
                <a:gd name="T80" fmla="*/ 3 w 52"/>
                <a:gd name="T81" fmla="*/ 30 h 55"/>
                <a:gd name="T82" fmla="*/ 6 w 52"/>
                <a:gd name="T83" fmla="*/ 32 h 55"/>
                <a:gd name="T84" fmla="*/ 15 w 52"/>
                <a:gd name="T85" fmla="*/ 32 h 55"/>
                <a:gd name="T86" fmla="*/ 20 w 52"/>
                <a:gd name="T87" fmla="*/ 31 h 55"/>
                <a:gd name="T88" fmla="*/ 26 w 52"/>
                <a:gd name="T89" fmla="*/ 29 h 55"/>
                <a:gd name="T90" fmla="*/ 27 w 52"/>
                <a:gd name="T91" fmla="*/ 29 h 55"/>
                <a:gd name="T92" fmla="*/ 26 w 52"/>
                <a:gd name="T93" fmla="*/ 35 h 55"/>
                <a:gd name="T94" fmla="*/ 25 w 52"/>
                <a:gd name="T95" fmla="*/ 40 h 55"/>
                <a:gd name="T96" fmla="*/ 25 w 52"/>
                <a:gd name="T97" fmla="*/ 43 h 55"/>
                <a:gd name="T98" fmla="*/ 26 w 52"/>
                <a:gd name="T99" fmla="*/ 47 h 55"/>
                <a:gd name="T100" fmla="*/ 28 w 52"/>
                <a:gd name="T101" fmla="*/ 50 h 55"/>
                <a:gd name="T102" fmla="*/ 29 w 52"/>
                <a:gd name="T103" fmla="*/ 52 h 55"/>
                <a:gd name="T104" fmla="*/ 31 w 52"/>
                <a:gd name="T105" fmla="*/ 53 h 55"/>
                <a:gd name="T106" fmla="*/ 34 w 52"/>
                <a:gd name="T107" fmla="*/ 54 h 55"/>
                <a:gd name="T108" fmla="*/ 35 w 52"/>
                <a:gd name="T109" fmla="*/ 54 h 55"/>
                <a:gd name="T110" fmla="*/ 36 w 52"/>
                <a:gd name="T111" fmla="*/ 54 h 55"/>
                <a:gd name="T112" fmla="*/ 37 w 52"/>
                <a:gd name="T113" fmla="*/ 53 h 55"/>
                <a:gd name="T114" fmla="*/ 39 w 52"/>
                <a:gd name="T115" fmla="*/ 53 h 55"/>
                <a:gd name="T116" fmla="*/ 37 w 52"/>
                <a:gd name="T117" fmla="*/ 49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2" h="55">
                  <a:moveTo>
                    <a:pt x="37" y="49"/>
                  </a:moveTo>
                  <a:cubicBezTo>
                    <a:pt x="36" y="47"/>
                    <a:pt x="36" y="46"/>
                    <a:pt x="35" y="45"/>
                  </a:cubicBezTo>
                  <a:cubicBezTo>
                    <a:pt x="34" y="43"/>
                    <a:pt x="34" y="41"/>
                    <a:pt x="34" y="39"/>
                  </a:cubicBezTo>
                  <a:cubicBezTo>
                    <a:pt x="33" y="37"/>
                    <a:pt x="33" y="35"/>
                    <a:pt x="33" y="34"/>
                  </a:cubicBezTo>
                  <a:cubicBezTo>
                    <a:pt x="33" y="31"/>
                    <a:pt x="33" y="28"/>
                    <a:pt x="32" y="27"/>
                  </a:cubicBezTo>
                  <a:cubicBezTo>
                    <a:pt x="32" y="25"/>
                    <a:pt x="33" y="25"/>
                    <a:pt x="34" y="25"/>
                  </a:cubicBezTo>
                  <a:cubicBezTo>
                    <a:pt x="34" y="24"/>
                    <a:pt x="35" y="24"/>
                    <a:pt x="35" y="23"/>
                  </a:cubicBezTo>
                  <a:cubicBezTo>
                    <a:pt x="36" y="23"/>
                    <a:pt x="37" y="22"/>
                    <a:pt x="38" y="22"/>
                  </a:cubicBezTo>
                  <a:cubicBezTo>
                    <a:pt x="40" y="23"/>
                    <a:pt x="41" y="23"/>
                    <a:pt x="43" y="24"/>
                  </a:cubicBezTo>
                  <a:cubicBezTo>
                    <a:pt x="43" y="24"/>
                    <a:pt x="45" y="24"/>
                    <a:pt x="46" y="23"/>
                  </a:cubicBezTo>
                  <a:cubicBezTo>
                    <a:pt x="47" y="23"/>
                    <a:pt x="47" y="23"/>
                    <a:pt x="48" y="22"/>
                  </a:cubicBezTo>
                  <a:cubicBezTo>
                    <a:pt x="48" y="22"/>
                    <a:pt x="49" y="22"/>
                    <a:pt x="49" y="22"/>
                  </a:cubicBezTo>
                  <a:cubicBezTo>
                    <a:pt x="49" y="21"/>
                    <a:pt x="50" y="21"/>
                    <a:pt x="50" y="21"/>
                  </a:cubicBezTo>
                  <a:cubicBezTo>
                    <a:pt x="51" y="20"/>
                    <a:pt x="51" y="20"/>
                    <a:pt x="50" y="19"/>
                  </a:cubicBezTo>
                  <a:cubicBezTo>
                    <a:pt x="50" y="18"/>
                    <a:pt x="49" y="17"/>
                    <a:pt x="48" y="16"/>
                  </a:cubicBezTo>
                  <a:cubicBezTo>
                    <a:pt x="47" y="15"/>
                    <a:pt x="46" y="15"/>
                    <a:pt x="45" y="15"/>
                  </a:cubicBezTo>
                  <a:cubicBezTo>
                    <a:pt x="45" y="15"/>
                    <a:pt x="45" y="16"/>
                    <a:pt x="45" y="15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6" y="13"/>
                    <a:pt x="47" y="12"/>
                    <a:pt x="48" y="11"/>
                  </a:cubicBezTo>
                  <a:cubicBezTo>
                    <a:pt x="49" y="10"/>
                    <a:pt x="50" y="8"/>
                    <a:pt x="51" y="7"/>
                  </a:cubicBezTo>
                  <a:cubicBezTo>
                    <a:pt x="51" y="6"/>
                    <a:pt x="52" y="6"/>
                    <a:pt x="52" y="5"/>
                  </a:cubicBezTo>
                  <a:cubicBezTo>
                    <a:pt x="52" y="4"/>
                    <a:pt x="51" y="3"/>
                    <a:pt x="51" y="1"/>
                  </a:cubicBezTo>
                  <a:cubicBezTo>
                    <a:pt x="50" y="0"/>
                    <a:pt x="49" y="0"/>
                    <a:pt x="48" y="0"/>
                  </a:cubicBezTo>
                  <a:cubicBezTo>
                    <a:pt x="47" y="1"/>
                    <a:pt x="45" y="1"/>
                    <a:pt x="45" y="2"/>
                  </a:cubicBezTo>
                  <a:cubicBezTo>
                    <a:pt x="44" y="4"/>
                    <a:pt x="43" y="5"/>
                    <a:pt x="43" y="6"/>
                  </a:cubicBezTo>
                  <a:cubicBezTo>
                    <a:pt x="41" y="8"/>
                    <a:pt x="39" y="10"/>
                    <a:pt x="37" y="12"/>
                  </a:cubicBezTo>
                  <a:cubicBezTo>
                    <a:pt x="37" y="13"/>
                    <a:pt x="36" y="13"/>
                    <a:pt x="35" y="13"/>
                  </a:cubicBezTo>
                  <a:cubicBezTo>
                    <a:pt x="34" y="13"/>
                    <a:pt x="33" y="13"/>
                    <a:pt x="32" y="12"/>
                  </a:cubicBezTo>
                  <a:cubicBezTo>
                    <a:pt x="30" y="12"/>
                    <a:pt x="28" y="11"/>
                    <a:pt x="26" y="10"/>
                  </a:cubicBezTo>
                  <a:cubicBezTo>
                    <a:pt x="25" y="9"/>
                    <a:pt x="23" y="9"/>
                    <a:pt x="22" y="10"/>
                  </a:cubicBezTo>
                  <a:cubicBezTo>
                    <a:pt x="22" y="11"/>
                    <a:pt x="21" y="11"/>
                    <a:pt x="21" y="11"/>
                  </a:cubicBezTo>
                  <a:cubicBezTo>
                    <a:pt x="21" y="12"/>
                    <a:pt x="21" y="13"/>
                    <a:pt x="21" y="14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1" y="16"/>
                    <a:pt x="22" y="17"/>
                    <a:pt x="23" y="17"/>
                  </a:cubicBezTo>
                  <a:cubicBezTo>
                    <a:pt x="24" y="18"/>
                    <a:pt x="25" y="19"/>
                    <a:pt x="26" y="19"/>
                  </a:cubicBezTo>
                  <a:cubicBezTo>
                    <a:pt x="27" y="19"/>
                    <a:pt x="28" y="20"/>
                    <a:pt x="29" y="20"/>
                  </a:cubicBezTo>
                  <a:cubicBezTo>
                    <a:pt x="28" y="20"/>
                    <a:pt x="26" y="22"/>
                    <a:pt x="24" y="23"/>
                  </a:cubicBezTo>
                  <a:cubicBezTo>
                    <a:pt x="21" y="25"/>
                    <a:pt x="18" y="26"/>
                    <a:pt x="12" y="28"/>
                  </a:cubicBezTo>
                  <a:cubicBezTo>
                    <a:pt x="5" y="29"/>
                    <a:pt x="1" y="28"/>
                    <a:pt x="0" y="28"/>
                  </a:cubicBezTo>
                  <a:cubicBezTo>
                    <a:pt x="0" y="28"/>
                    <a:pt x="0" y="28"/>
                    <a:pt x="1" y="29"/>
                  </a:cubicBezTo>
                  <a:cubicBezTo>
                    <a:pt x="1" y="29"/>
                    <a:pt x="3" y="30"/>
                    <a:pt x="3" y="30"/>
                  </a:cubicBezTo>
                  <a:cubicBezTo>
                    <a:pt x="4" y="31"/>
                    <a:pt x="5" y="32"/>
                    <a:pt x="6" y="32"/>
                  </a:cubicBezTo>
                  <a:cubicBezTo>
                    <a:pt x="7" y="32"/>
                    <a:pt x="12" y="33"/>
                    <a:pt x="15" y="32"/>
                  </a:cubicBezTo>
                  <a:cubicBezTo>
                    <a:pt x="17" y="32"/>
                    <a:pt x="20" y="31"/>
                    <a:pt x="20" y="31"/>
                  </a:cubicBezTo>
                  <a:cubicBezTo>
                    <a:pt x="22" y="30"/>
                    <a:pt x="24" y="30"/>
                    <a:pt x="26" y="29"/>
                  </a:cubicBezTo>
                  <a:cubicBezTo>
                    <a:pt x="27" y="29"/>
                    <a:pt x="27" y="29"/>
                    <a:pt x="27" y="29"/>
                  </a:cubicBezTo>
                  <a:cubicBezTo>
                    <a:pt x="27" y="31"/>
                    <a:pt x="26" y="33"/>
                    <a:pt x="26" y="35"/>
                  </a:cubicBezTo>
                  <a:cubicBezTo>
                    <a:pt x="26" y="37"/>
                    <a:pt x="26" y="38"/>
                    <a:pt x="25" y="40"/>
                  </a:cubicBezTo>
                  <a:cubicBezTo>
                    <a:pt x="25" y="41"/>
                    <a:pt x="25" y="42"/>
                    <a:pt x="25" y="43"/>
                  </a:cubicBezTo>
                  <a:cubicBezTo>
                    <a:pt x="25" y="44"/>
                    <a:pt x="25" y="46"/>
                    <a:pt x="26" y="47"/>
                  </a:cubicBezTo>
                  <a:cubicBezTo>
                    <a:pt x="26" y="48"/>
                    <a:pt x="27" y="49"/>
                    <a:pt x="28" y="50"/>
                  </a:cubicBezTo>
                  <a:cubicBezTo>
                    <a:pt x="28" y="50"/>
                    <a:pt x="29" y="51"/>
                    <a:pt x="29" y="52"/>
                  </a:cubicBezTo>
                  <a:cubicBezTo>
                    <a:pt x="30" y="52"/>
                    <a:pt x="30" y="53"/>
                    <a:pt x="31" y="53"/>
                  </a:cubicBezTo>
                  <a:cubicBezTo>
                    <a:pt x="32" y="53"/>
                    <a:pt x="33" y="55"/>
                    <a:pt x="34" y="54"/>
                  </a:cubicBezTo>
                  <a:cubicBezTo>
                    <a:pt x="34" y="54"/>
                    <a:pt x="35" y="54"/>
                    <a:pt x="35" y="54"/>
                  </a:cubicBezTo>
                  <a:cubicBezTo>
                    <a:pt x="35" y="54"/>
                    <a:pt x="36" y="54"/>
                    <a:pt x="36" y="54"/>
                  </a:cubicBezTo>
                  <a:cubicBezTo>
                    <a:pt x="37" y="54"/>
                    <a:pt x="37" y="54"/>
                    <a:pt x="37" y="53"/>
                  </a:cubicBezTo>
                  <a:cubicBezTo>
                    <a:pt x="38" y="53"/>
                    <a:pt x="39" y="53"/>
                    <a:pt x="39" y="53"/>
                  </a:cubicBezTo>
                  <a:cubicBezTo>
                    <a:pt x="39" y="52"/>
                    <a:pt x="38" y="52"/>
                    <a:pt x="37" y="49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1" name="ïśḷïḓè">
              <a:extLst>
                <a:ext uri="{FF2B5EF4-FFF2-40B4-BE49-F238E27FC236}">
                  <a16:creationId xmlns:a16="http://schemas.microsoft.com/office/drawing/2014/main" id="{D0FAE020-E0E9-4A13-882F-6164298F229C}"/>
                </a:ext>
              </a:extLst>
            </p:cNvPr>
            <p:cNvSpPr/>
            <p:nvPr/>
          </p:nvSpPr>
          <p:spPr bwMode="auto">
            <a:xfrm>
              <a:off x="2035175" y="2493963"/>
              <a:ext cx="1865313" cy="1873250"/>
            </a:xfrm>
            <a:custGeom>
              <a:avLst/>
              <a:gdLst>
                <a:gd name="T0" fmla="*/ 258 w 517"/>
                <a:gd name="T1" fmla="*/ 0 h 517"/>
                <a:gd name="T2" fmla="*/ 0 w 517"/>
                <a:gd name="T3" fmla="*/ 258 h 517"/>
                <a:gd name="T4" fmla="*/ 258 w 517"/>
                <a:gd name="T5" fmla="*/ 517 h 517"/>
                <a:gd name="T6" fmla="*/ 517 w 517"/>
                <a:gd name="T7" fmla="*/ 258 h 517"/>
                <a:gd name="T8" fmla="*/ 258 w 517"/>
                <a:gd name="T9" fmla="*/ 0 h 517"/>
                <a:gd name="T10" fmla="*/ 258 w 517"/>
                <a:gd name="T11" fmla="*/ 511 h 517"/>
                <a:gd name="T12" fmla="*/ 5 w 517"/>
                <a:gd name="T13" fmla="*/ 258 h 517"/>
                <a:gd name="T14" fmla="*/ 258 w 517"/>
                <a:gd name="T15" fmla="*/ 6 h 517"/>
                <a:gd name="T16" fmla="*/ 511 w 517"/>
                <a:gd name="T17" fmla="*/ 258 h 517"/>
                <a:gd name="T18" fmla="*/ 258 w 517"/>
                <a:gd name="T19" fmla="*/ 511 h 5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7" h="517">
                  <a:moveTo>
                    <a:pt x="258" y="0"/>
                  </a:moveTo>
                  <a:cubicBezTo>
                    <a:pt x="115" y="0"/>
                    <a:pt x="0" y="116"/>
                    <a:pt x="0" y="258"/>
                  </a:cubicBezTo>
                  <a:cubicBezTo>
                    <a:pt x="0" y="401"/>
                    <a:pt x="115" y="517"/>
                    <a:pt x="258" y="517"/>
                  </a:cubicBezTo>
                  <a:cubicBezTo>
                    <a:pt x="401" y="517"/>
                    <a:pt x="517" y="401"/>
                    <a:pt x="517" y="258"/>
                  </a:cubicBezTo>
                  <a:cubicBezTo>
                    <a:pt x="517" y="116"/>
                    <a:pt x="401" y="0"/>
                    <a:pt x="258" y="0"/>
                  </a:cubicBezTo>
                  <a:close/>
                  <a:moveTo>
                    <a:pt x="258" y="511"/>
                  </a:moveTo>
                  <a:cubicBezTo>
                    <a:pt x="119" y="511"/>
                    <a:pt x="5" y="398"/>
                    <a:pt x="5" y="258"/>
                  </a:cubicBezTo>
                  <a:cubicBezTo>
                    <a:pt x="5" y="119"/>
                    <a:pt x="119" y="6"/>
                    <a:pt x="258" y="6"/>
                  </a:cubicBezTo>
                  <a:cubicBezTo>
                    <a:pt x="398" y="6"/>
                    <a:pt x="511" y="119"/>
                    <a:pt x="511" y="258"/>
                  </a:cubicBezTo>
                  <a:cubicBezTo>
                    <a:pt x="511" y="398"/>
                    <a:pt x="398" y="511"/>
                    <a:pt x="258" y="511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2" name="ísliďè">
              <a:extLst>
                <a:ext uri="{FF2B5EF4-FFF2-40B4-BE49-F238E27FC236}">
                  <a16:creationId xmlns:a16="http://schemas.microsoft.com/office/drawing/2014/main" id="{2C4C12CE-7C7F-4659-8EA0-5AA1523635DE}"/>
                </a:ext>
              </a:extLst>
            </p:cNvPr>
            <p:cNvSpPr/>
            <p:nvPr/>
          </p:nvSpPr>
          <p:spPr bwMode="auto">
            <a:xfrm>
              <a:off x="2332038" y="2790826"/>
              <a:ext cx="1273175" cy="1279525"/>
            </a:xfrm>
            <a:custGeom>
              <a:avLst/>
              <a:gdLst>
                <a:gd name="T0" fmla="*/ 176 w 353"/>
                <a:gd name="T1" fmla="*/ 0 h 353"/>
                <a:gd name="T2" fmla="*/ 0 w 353"/>
                <a:gd name="T3" fmla="*/ 176 h 353"/>
                <a:gd name="T4" fmla="*/ 176 w 353"/>
                <a:gd name="T5" fmla="*/ 353 h 353"/>
                <a:gd name="T6" fmla="*/ 353 w 353"/>
                <a:gd name="T7" fmla="*/ 176 h 353"/>
                <a:gd name="T8" fmla="*/ 176 w 353"/>
                <a:gd name="T9" fmla="*/ 0 h 353"/>
                <a:gd name="T10" fmla="*/ 176 w 353"/>
                <a:gd name="T11" fmla="*/ 347 h 353"/>
                <a:gd name="T12" fmla="*/ 6 w 353"/>
                <a:gd name="T13" fmla="*/ 176 h 353"/>
                <a:gd name="T14" fmla="*/ 176 w 353"/>
                <a:gd name="T15" fmla="*/ 6 h 353"/>
                <a:gd name="T16" fmla="*/ 347 w 353"/>
                <a:gd name="T17" fmla="*/ 176 h 353"/>
                <a:gd name="T18" fmla="*/ 176 w 353"/>
                <a:gd name="T19" fmla="*/ 347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3" h="353">
                  <a:moveTo>
                    <a:pt x="176" y="0"/>
                  </a:moveTo>
                  <a:cubicBezTo>
                    <a:pt x="79" y="0"/>
                    <a:pt x="0" y="79"/>
                    <a:pt x="0" y="176"/>
                  </a:cubicBezTo>
                  <a:cubicBezTo>
                    <a:pt x="0" y="274"/>
                    <a:pt x="79" y="353"/>
                    <a:pt x="176" y="353"/>
                  </a:cubicBezTo>
                  <a:cubicBezTo>
                    <a:pt x="274" y="353"/>
                    <a:pt x="353" y="274"/>
                    <a:pt x="353" y="176"/>
                  </a:cubicBezTo>
                  <a:cubicBezTo>
                    <a:pt x="353" y="79"/>
                    <a:pt x="274" y="0"/>
                    <a:pt x="176" y="0"/>
                  </a:cubicBezTo>
                  <a:close/>
                  <a:moveTo>
                    <a:pt x="176" y="347"/>
                  </a:moveTo>
                  <a:cubicBezTo>
                    <a:pt x="82" y="347"/>
                    <a:pt x="6" y="271"/>
                    <a:pt x="6" y="176"/>
                  </a:cubicBezTo>
                  <a:cubicBezTo>
                    <a:pt x="6" y="82"/>
                    <a:pt x="82" y="6"/>
                    <a:pt x="176" y="6"/>
                  </a:cubicBezTo>
                  <a:cubicBezTo>
                    <a:pt x="270" y="6"/>
                    <a:pt x="347" y="82"/>
                    <a:pt x="347" y="176"/>
                  </a:cubicBezTo>
                  <a:cubicBezTo>
                    <a:pt x="347" y="271"/>
                    <a:pt x="270" y="347"/>
                    <a:pt x="176" y="347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3" name="ïsḷíḍé">
              <a:extLst>
                <a:ext uri="{FF2B5EF4-FFF2-40B4-BE49-F238E27FC236}">
                  <a16:creationId xmlns:a16="http://schemas.microsoft.com/office/drawing/2014/main" id="{0A008D82-9A5C-4C7F-92E1-205C76002CEF}"/>
                </a:ext>
              </a:extLst>
            </p:cNvPr>
            <p:cNvSpPr/>
            <p:nvPr/>
          </p:nvSpPr>
          <p:spPr bwMode="auto">
            <a:xfrm>
              <a:off x="2706688" y="3098801"/>
              <a:ext cx="519113" cy="65088"/>
            </a:xfrm>
            <a:custGeom>
              <a:avLst/>
              <a:gdLst>
                <a:gd name="T0" fmla="*/ 0 w 144"/>
                <a:gd name="T1" fmla="*/ 4 h 18"/>
                <a:gd name="T2" fmla="*/ 72 w 144"/>
                <a:gd name="T3" fmla="*/ 18 h 18"/>
                <a:gd name="T4" fmla="*/ 144 w 144"/>
                <a:gd name="T5" fmla="*/ 4 h 18"/>
                <a:gd name="T6" fmla="*/ 144 w 144"/>
                <a:gd name="T7" fmla="*/ 0 h 18"/>
                <a:gd name="T8" fmla="*/ 72 w 144"/>
                <a:gd name="T9" fmla="*/ 14 h 18"/>
                <a:gd name="T10" fmla="*/ 0 w 144"/>
                <a:gd name="T11" fmla="*/ 0 h 18"/>
                <a:gd name="T12" fmla="*/ 0 w 144"/>
                <a:gd name="T13" fmla="*/ 4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4" h="18">
                  <a:moveTo>
                    <a:pt x="0" y="4"/>
                  </a:moveTo>
                  <a:cubicBezTo>
                    <a:pt x="32" y="4"/>
                    <a:pt x="59" y="4"/>
                    <a:pt x="72" y="18"/>
                  </a:cubicBezTo>
                  <a:cubicBezTo>
                    <a:pt x="86" y="4"/>
                    <a:pt x="112" y="4"/>
                    <a:pt x="144" y="4"/>
                  </a:cubicBezTo>
                  <a:cubicBezTo>
                    <a:pt x="144" y="0"/>
                    <a:pt x="144" y="0"/>
                    <a:pt x="144" y="0"/>
                  </a:cubicBezTo>
                  <a:cubicBezTo>
                    <a:pt x="112" y="0"/>
                    <a:pt x="86" y="0"/>
                    <a:pt x="72" y="14"/>
                  </a:cubicBezTo>
                  <a:cubicBezTo>
                    <a:pt x="59" y="0"/>
                    <a:pt x="32" y="0"/>
                    <a:pt x="0" y="0"/>
                  </a:cubicBezTo>
                  <a:lnTo>
                    <a:pt x="0" y="4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5" name="ïšlîḑê">
              <a:extLst>
                <a:ext uri="{FF2B5EF4-FFF2-40B4-BE49-F238E27FC236}">
                  <a16:creationId xmlns:a16="http://schemas.microsoft.com/office/drawing/2014/main" id="{8E54FE52-7C25-4436-8F28-FD1A9CD43B85}"/>
                </a:ext>
              </a:extLst>
            </p:cNvPr>
            <p:cNvSpPr/>
            <p:nvPr/>
          </p:nvSpPr>
          <p:spPr bwMode="auto">
            <a:xfrm>
              <a:off x="2706688" y="3146426"/>
              <a:ext cx="519113" cy="68263"/>
            </a:xfrm>
            <a:custGeom>
              <a:avLst/>
              <a:gdLst>
                <a:gd name="T0" fmla="*/ 0 w 144"/>
                <a:gd name="T1" fmla="*/ 0 h 19"/>
                <a:gd name="T2" fmla="*/ 72 w 144"/>
                <a:gd name="T3" fmla="*/ 14 h 19"/>
                <a:gd name="T4" fmla="*/ 144 w 144"/>
                <a:gd name="T5" fmla="*/ 0 h 19"/>
                <a:gd name="T6" fmla="*/ 144 w 144"/>
                <a:gd name="T7" fmla="*/ 6 h 19"/>
                <a:gd name="T8" fmla="*/ 72 w 144"/>
                <a:gd name="T9" fmla="*/ 19 h 19"/>
                <a:gd name="T10" fmla="*/ 0 w 144"/>
                <a:gd name="T11" fmla="*/ 6 h 19"/>
                <a:gd name="T12" fmla="*/ 0 w 144"/>
                <a:gd name="T13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4" h="19">
                  <a:moveTo>
                    <a:pt x="0" y="0"/>
                  </a:moveTo>
                  <a:cubicBezTo>
                    <a:pt x="32" y="0"/>
                    <a:pt x="59" y="0"/>
                    <a:pt x="72" y="14"/>
                  </a:cubicBezTo>
                  <a:cubicBezTo>
                    <a:pt x="86" y="0"/>
                    <a:pt x="112" y="0"/>
                    <a:pt x="144" y="0"/>
                  </a:cubicBezTo>
                  <a:cubicBezTo>
                    <a:pt x="144" y="6"/>
                    <a:pt x="144" y="6"/>
                    <a:pt x="144" y="6"/>
                  </a:cubicBezTo>
                  <a:cubicBezTo>
                    <a:pt x="112" y="6"/>
                    <a:pt x="86" y="5"/>
                    <a:pt x="72" y="19"/>
                  </a:cubicBezTo>
                  <a:cubicBezTo>
                    <a:pt x="59" y="5"/>
                    <a:pt x="32" y="6"/>
                    <a:pt x="0" y="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7" name="îṧḻîḓé">
              <a:extLst>
                <a:ext uri="{FF2B5EF4-FFF2-40B4-BE49-F238E27FC236}">
                  <a16:creationId xmlns:a16="http://schemas.microsoft.com/office/drawing/2014/main" id="{60871A67-9948-40EE-B00E-92FEBAB9C33F}"/>
                </a:ext>
              </a:extLst>
            </p:cNvPr>
            <p:cNvSpPr/>
            <p:nvPr/>
          </p:nvSpPr>
          <p:spPr bwMode="auto">
            <a:xfrm>
              <a:off x="2706688" y="3194051"/>
              <a:ext cx="519113" cy="76200"/>
            </a:xfrm>
            <a:custGeom>
              <a:avLst/>
              <a:gdLst>
                <a:gd name="T0" fmla="*/ 0 w 144"/>
                <a:gd name="T1" fmla="*/ 0 h 21"/>
                <a:gd name="T2" fmla="*/ 72 w 144"/>
                <a:gd name="T3" fmla="*/ 14 h 21"/>
                <a:gd name="T4" fmla="*/ 144 w 144"/>
                <a:gd name="T5" fmla="*/ 0 h 21"/>
                <a:gd name="T6" fmla="*/ 144 w 144"/>
                <a:gd name="T7" fmla="*/ 7 h 21"/>
                <a:gd name="T8" fmla="*/ 72 w 144"/>
                <a:gd name="T9" fmla="*/ 21 h 21"/>
                <a:gd name="T10" fmla="*/ 0 w 144"/>
                <a:gd name="T11" fmla="*/ 7 h 21"/>
                <a:gd name="T12" fmla="*/ 0 w 144"/>
                <a:gd name="T1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4" h="21">
                  <a:moveTo>
                    <a:pt x="0" y="0"/>
                  </a:moveTo>
                  <a:cubicBezTo>
                    <a:pt x="32" y="0"/>
                    <a:pt x="59" y="0"/>
                    <a:pt x="72" y="14"/>
                  </a:cubicBezTo>
                  <a:cubicBezTo>
                    <a:pt x="86" y="0"/>
                    <a:pt x="112" y="0"/>
                    <a:pt x="144" y="0"/>
                  </a:cubicBezTo>
                  <a:cubicBezTo>
                    <a:pt x="144" y="7"/>
                    <a:pt x="144" y="7"/>
                    <a:pt x="144" y="7"/>
                  </a:cubicBezTo>
                  <a:cubicBezTo>
                    <a:pt x="112" y="7"/>
                    <a:pt x="86" y="7"/>
                    <a:pt x="72" y="21"/>
                  </a:cubicBezTo>
                  <a:cubicBezTo>
                    <a:pt x="59" y="7"/>
                    <a:pt x="32" y="7"/>
                    <a:pt x="0" y="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9" name="iśļîḋê">
              <a:extLst>
                <a:ext uri="{FF2B5EF4-FFF2-40B4-BE49-F238E27FC236}">
                  <a16:creationId xmlns:a16="http://schemas.microsoft.com/office/drawing/2014/main" id="{0E5B1037-4321-4789-84B3-A4DE23D0003A}"/>
                </a:ext>
              </a:extLst>
            </p:cNvPr>
            <p:cNvSpPr/>
            <p:nvPr/>
          </p:nvSpPr>
          <p:spPr bwMode="auto">
            <a:xfrm>
              <a:off x="2706688" y="3236913"/>
              <a:ext cx="519113" cy="84138"/>
            </a:xfrm>
            <a:custGeom>
              <a:avLst/>
              <a:gdLst>
                <a:gd name="T0" fmla="*/ 0 w 144"/>
                <a:gd name="T1" fmla="*/ 1 h 23"/>
                <a:gd name="T2" fmla="*/ 72 w 144"/>
                <a:gd name="T3" fmla="*/ 14 h 23"/>
                <a:gd name="T4" fmla="*/ 144 w 144"/>
                <a:gd name="T5" fmla="*/ 1 h 23"/>
                <a:gd name="T6" fmla="*/ 144 w 144"/>
                <a:gd name="T7" fmla="*/ 9 h 23"/>
                <a:gd name="T8" fmla="*/ 72 w 144"/>
                <a:gd name="T9" fmla="*/ 23 h 23"/>
                <a:gd name="T10" fmla="*/ 0 w 144"/>
                <a:gd name="T11" fmla="*/ 9 h 23"/>
                <a:gd name="T12" fmla="*/ 0 w 144"/>
                <a:gd name="T13" fmla="*/ 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4" h="23">
                  <a:moveTo>
                    <a:pt x="0" y="1"/>
                  </a:moveTo>
                  <a:cubicBezTo>
                    <a:pt x="32" y="1"/>
                    <a:pt x="59" y="0"/>
                    <a:pt x="72" y="14"/>
                  </a:cubicBezTo>
                  <a:cubicBezTo>
                    <a:pt x="86" y="0"/>
                    <a:pt x="112" y="1"/>
                    <a:pt x="144" y="1"/>
                  </a:cubicBezTo>
                  <a:cubicBezTo>
                    <a:pt x="144" y="9"/>
                    <a:pt x="144" y="9"/>
                    <a:pt x="144" y="9"/>
                  </a:cubicBezTo>
                  <a:cubicBezTo>
                    <a:pt x="112" y="9"/>
                    <a:pt x="86" y="9"/>
                    <a:pt x="72" y="23"/>
                  </a:cubicBezTo>
                  <a:cubicBezTo>
                    <a:pt x="59" y="9"/>
                    <a:pt x="32" y="9"/>
                    <a:pt x="0" y="9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7729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文排版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732D65A4-43FB-4FF1-898F-C29DCB1992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7678" y="368300"/>
            <a:ext cx="1885510" cy="434293"/>
          </a:xfrm>
          <a:prstGeom prst="rect">
            <a:avLst/>
          </a:prstGeom>
        </p:spPr>
      </p:pic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CDFC62F6-2DFD-4084-AA3E-9A3FFEB2FD9A}"/>
              </a:ext>
            </a:extLst>
          </p:cNvPr>
          <p:cNvCxnSpPr/>
          <p:nvPr userDrawn="1"/>
        </p:nvCxnSpPr>
        <p:spPr>
          <a:xfrm>
            <a:off x="485775" y="858762"/>
            <a:ext cx="11220450" cy="0"/>
          </a:xfrm>
          <a:prstGeom prst="line">
            <a:avLst/>
          </a:prstGeom>
          <a:ln w="38100">
            <a:solidFill>
              <a:srgbClr val="9926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32272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75788F9-2C1B-4ED7-83D6-CE9345B889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797F6D-FA34-49FA-872F-778AAEB988F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灯片编号占位符 6">
            <a:extLst>
              <a:ext uri="{FF2B5EF4-FFF2-40B4-BE49-F238E27FC236}">
                <a16:creationId xmlns:a16="http://schemas.microsoft.com/office/drawing/2014/main" id="{4B76C6D9-580E-489C-9EA8-3883FABF2BFE}"/>
              </a:ext>
            </a:extLst>
          </p:cNvPr>
          <p:cNvSpPr txBox="1">
            <a:spLocks/>
          </p:cNvSpPr>
          <p:nvPr userDrawn="1"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5797F6D-FA34-49FA-872F-778AAEB988F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3111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71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440">
          <p15:clr>
            <a:srgbClr val="F26B43"/>
          </p15:clr>
        </p15:guide>
        <p15:guide id="4" pos="7240">
          <p15:clr>
            <a:srgbClr val="F26B43"/>
          </p15:clr>
        </p15:guide>
        <p15:guide id="5" orient="horz" pos="232">
          <p15:clr>
            <a:srgbClr val="F26B43"/>
          </p15:clr>
        </p15:guide>
        <p15:guide id="6" orient="horz" pos="40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7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0.w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oleObject" Target="../embeddings/oleObject7.bin"/><Relationship Id="rId4" Type="http://schemas.openxmlformats.org/officeDocument/2006/relationships/image" Target="../media/image18.w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7" Type="http://schemas.openxmlformats.org/officeDocument/2006/relationships/image" Target="../media/image32.wm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31.png"/><Relationship Id="rId4" Type="http://schemas.openxmlformats.org/officeDocument/2006/relationships/image" Target="../media/image30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33.wmf"/><Relationship Id="rId9" Type="http://schemas.openxmlformats.org/officeDocument/2006/relationships/image" Target="../media/image36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37.wmf"/><Relationship Id="rId9" Type="http://schemas.openxmlformats.org/officeDocument/2006/relationships/image" Target="../media/image40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13" Type="http://schemas.openxmlformats.org/officeDocument/2006/relationships/oleObject" Target="../embeddings/oleObject21.bin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12" Type="http://schemas.openxmlformats.org/officeDocument/2006/relationships/image" Target="../media/image45.wmf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wmf"/><Relationship Id="rId11" Type="http://schemas.openxmlformats.org/officeDocument/2006/relationships/oleObject" Target="../embeddings/oleObject20.bin"/><Relationship Id="rId5" Type="http://schemas.openxmlformats.org/officeDocument/2006/relationships/oleObject" Target="../embeddings/oleObject17.bin"/><Relationship Id="rId10" Type="http://schemas.openxmlformats.org/officeDocument/2006/relationships/image" Target="../media/image44.wmf"/><Relationship Id="rId4" Type="http://schemas.openxmlformats.org/officeDocument/2006/relationships/image" Target="../media/image41.wmf"/><Relationship Id="rId9" Type="http://schemas.openxmlformats.org/officeDocument/2006/relationships/oleObject" Target="../embeddings/oleObject19.bin"/><Relationship Id="rId14" Type="http://schemas.openxmlformats.org/officeDocument/2006/relationships/image" Target="../media/image46.w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47.w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w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48.wmf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w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73374AA3-77F8-4684-8EB9-8CEB2DCA3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1648" y="2778477"/>
            <a:ext cx="7198350" cy="705941"/>
          </a:xfrm>
          <a:prstGeom prst="rect">
            <a:avLst/>
          </a:prstGeom>
        </p:spPr>
        <p:txBody>
          <a:bodyPr/>
          <a:lstStyle/>
          <a:p>
            <a:r>
              <a:rPr lang="zh-CN" altLang="en-US" sz="5400" dirty="0"/>
              <a:t>离散数学</a:t>
            </a:r>
          </a:p>
        </p:txBody>
      </p:sp>
      <p:grpSp>
        <p:nvGrpSpPr>
          <p:cNvPr id="21" name="ab742894-b611-4118-8065-b69e992411d4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E1E1BD5E-876F-DCEE-3C7D-2ED5C9138BFA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326643" y="955675"/>
            <a:ext cx="1538714" cy="1545269"/>
            <a:chOff x="2035175" y="2493963"/>
            <a:chExt cx="1865313" cy="1873250"/>
          </a:xfrm>
        </p:grpSpPr>
        <p:sp>
          <p:nvSpPr>
            <p:cNvPr id="70" name="iśļîḋè">
              <a:extLst>
                <a:ext uri="{FF2B5EF4-FFF2-40B4-BE49-F238E27FC236}">
                  <a16:creationId xmlns:a16="http://schemas.microsoft.com/office/drawing/2014/main" id="{3B4776B5-BB4B-0FC2-C039-8390026A00FF}"/>
                </a:ext>
              </a:extLst>
            </p:cNvPr>
            <p:cNvSpPr/>
            <p:nvPr/>
          </p:nvSpPr>
          <p:spPr bwMode="auto">
            <a:xfrm>
              <a:off x="2927350" y="3657601"/>
              <a:ext cx="14288" cy="22225"/>
            </a:xfrm>
            <a:custGeom>
              <a:avLst/>
              <a:gdLst>
                <a:gd name="T0" fmla="*/ 2 w 4"/>
                <a:gd name="T1" fmla="*/ 0 h 6"/>
                <a:gd name="T2" fmla="*/ 0 w 4"/>
                <a:gd name="T3" fmla="*/ 3 h 6"/>
                <a:gd name="T4" fmla="*/ 2 w 4"/>
                <a:gd name="T5" fmla="*/ 6 h 6"/>
                <a:gd name="T6" fmla="*/ 4 w 4"/>
                <a:gd name="T7" fmla="*/ 5 h 6"/>
                <a:gd name="T8" fmla="*/ 4 w 4"/>
                <a:gd name="T9" fmla="*/ 4 h 6"/>
                <a:gd name="T10" fmla="*/ 2 w 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6">
                  <a:moveTo>
                    <a:pt x="2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5"/>
                    <a:pt x="1" y="6"/>
                    <a:pt x="2" y="6"/>
                  </a:cubicBezTo>
                  <a:cubicBezTo>
                    <a:pt x="3" y="6"/>
                    <a:pt x="4" y="5"/>
                    <a:pt x="4" y="5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2"/>
                    <a:pt x="4" y="0"/>
                    <a:pt x="2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1" name="iṣliḓê">
              <a:extLst>
                <a:ext uri="{FF2B5EF4-FFF2-40B4-BE49-F238E27FC236}">
                  <a16:creationId xmlns:a16="http://schemas.microsoft.com/office/drawing/2014/main" id="{B42DF907-DECD-263E-1B3A-0C655820F95C}"/>
                </a:ext>
              </a:extLst>
            </p:cNvPr>
            <p:cNvSpPr/>
            <p:nvPr/>
          </p:nvSpPr>
          <p:spPr bwMode="auto">
            <a:xfrm>
              <a:off x="2706688" y="3098801"/>
              <a:ext cx="519113" cy="703263"/>
            </a:xfrm>
            <a:custGeom>
              <a:avLst/>
              <a:gdLst>
                <a:gd name="T0" fmla="*/ 46 w 144"/>
                <a:gd name="T1" fmla="*/ 167 h 194"/>
                <a:gd name="T2" fmla="*/ 46 w 144"/>
                <a:gd name="T3" fmla="*/ 155 h 194"/>
                <a:gd name="T4" fmla="*/ 42 w 144"/>
                <a:gd name="T5" fmla="*/ 154 h 194"/>
                <a:gd name="T6" fmla="*/ 49 w 144"/>
                <a:gd name="T7" fmla="*/ 152 h 194"/>
                <a:gd name="T8" fmla="*/ 59 w 144"/>
                <a:gd name="T9" fmla="*/ 167 h 194"/>
                <a:gd name="T10" fmla="*/ 61 w 144"/>
                <a:gd name="T11" fmla="*/ 165 h 194"/>
                <a:gd name="T12" fmla="*/ 65 w 144"/>
                <a:gd name="T13" fmla="*/ 161 h 194"/>
                <a:gd name="T14" fmla="*/ 58 w 144"/>
                <a:gd name="T15" fmla="*/ 157 h 194"/>
                <a:gd name="T16" fmla="*/ 69 w 144"/>
                <a:gd name="T17" fmla="*/ 158 h 194"/>
                <a:gd name="T18" fmla="*/ 79 w 144"/>
                <a:gd name="T19" fmla="*/ 167 h 194"/>
                <a:gd name="T20" fmla="*/ 76 w 144"/>
                <a:gd name="T21" fmla="*/ 164 h 194"/>
                <a:gd name="T22" fmla="*/ 82 w 144"/>
                <a:gd name="T23" fmla="*/ 162 h 194"/>
                <a:gd name="T24" fmla="*/ 77 w 144"/>
                <a:gd name="T25" fmla="*/ 160 h 194"/>
                <a:gd name="T26" fmla="*/ 85 w 144"/>
                <a:gd name="T27" fmla="*/ 152 h 194"/>
                <a:gd name="T28" fmla="*/ 80 w 144"/>
                <a:gd name="T29" fmla="*/ 155 h 194"/>
                <a:gd name="T30" fmla="*/ 80 w 144"/>
                <a:gd name="T31" fmla="*/ 157 h 194"/>
                <a:gd name="T32" fmla="*/ 79 w 144"/>
                <a:gd name="T33" fmla="*/ 167 h 194"/>
                <a:gd name="T34" fmla="*/ 92 w 144"/>
                <a:gd name="T35" fmla="*/ 166 h 194"/>
                <a:gd name="T36" fmla="*/ 96 w 144"/>
                <a:gd name="T37" fmla="*/ 165 h 194"/>
                <a:gd name="T38" fmla="*/ 96 w 144"/>
                <a:gd name="T39" fmla="*/ 160 h 194"/>
                <a:gd name="T40" fmla="*/ 95 w 144"/>
                <a:gd name="T41" fmla="*/ 158 h 194"/>
                <a:gd name="T42" fmla="*/ 99 w 144"/>
                <a:gd name="T43" fmla="*/ 156 h 194"/>
                <a:gd name="T44" fmla="*/ 93 w 144"/>
                <a:gd name="T45" fmla="*/ 155 h 194"/>
                <a:gd name="T46" fmla="*/ 97 w 144"/>
                <a:gd name="T47" fmla="*/ 152 h 194"/>
                <a:gd name="T48" fmla="*/ 99 w 144"/>
                <a:gd name="T49" fmla="*/ 159 h 194"/>
                <a:gd name="T50" fmla="*/ 102 w 144"/>
                <a:gd name="T51" fmla="*/ 163 h 194"/>
                <a:gd name="T52" fmla="*/ 139 w 144"/>
                <a:gd name="T53" fmla="*/ 2 h 194"/>
                <a:gd name="T54" fmla="*/ 136 w 144"/>
                <a:gd name="T55" fmla="*/ 132 h 194"/>
                <a:gd name="T56" fmla="*/ 12 w 144"/>
                <a:gd name="T57" fmla="*/ 141 h 194"/>
                <a:gd name="T58" fmla="*/ 6 w 144"/>
                <a:gd name="T59" fmla="*/ 115 h 194"/>
                <a:gd name="T60" fmla="*/ 0 w 144"/>
                <a:gd name="T61" fmla="*/ 0 h 194"/>
                <a:gd name="T62" fmla="*/ 2 w 144"/>
                <a:gd name="T63" fmla="*/ 130 h 194"/>
                <a:gd name="T64" fmla="*/ 6 w 144"/>
                <a:gd name="T65" fmla="*/ 141 h 194"/>
                <a:gd name="T66" fmla="*/ 7 w 144"/>
                <a:gd name="T67" fmla="*/ 144 h 194"/>
                <a:gd name="T68" fmla="*/ 9 w 144"/>
                <a:gd name="T69" fmla="*/ 147 h 194"/>
                <a:gd name="T70" fmla="*/ 11 w 144"/>
                <a:gd name="T71" fmla="*/ 151 h 194"/>
                <a:gd name="T72" fmla="*/ 12 w 144"/>
                <a:gd name="T73" fmla="*/ 154 h 194"/>
                <a:gd name="T74" fmla="*/ 15 w 144"/>
                <a:gd name="T75" fmla="*/ 157 h 194"/>
                <a:gd name="T76" fmla="*/ 17 w 144"/>
                <a:gd name="T77" fmla="*/ 160 h 194"/>
                <a:gd name="T78" fmla="*/ 19 w 144"/>
                <a:gd name="T79" fmla="*/ 163 h 194"/>
                <a:gd name="T80" fmla="*/ 22 w 144"/>
                <a:gd name="T81" fmla="*/ 166 h 194"/>
                <a:gd name="T82" fmla="*/ 123 w 144"/>
                <a:gd name="T83" fmla="*/ 166 h 194"/>
                <a:gd name="T84" fmla="*/ 125 w 144"/>
                <a:gd name="T85" fmla="*/ 163 h 194"/>
                <a:gd name="T86" fmla="*/ 127 w 144"/>
                <a:gd name="T87" fmla="*/ 160 h 194"/>
                <a:gd name="T88" fmla="*/ 130 w 144"/>
                <a:gd name="T89" fmla="*/ 157 h 194"/>
                <a:gd name="T90" fmla="*/ 132 w 144"/>
                <a:gd name="T91" fmla="*/ 154 h 194"/>
                <a:gd name="T92" fmla="*/ 134 w 144"/>
                <a:gd name="T93" fmla="*/ 151 h 194"/>
                <a:gd name="T94" fmla="*/ 136 w 144"/>
                <a:gd name="T95" fmla="*/ 147 h 194"/>
                <a:gd name="T96" fmla="*/ 137 w 144"/>
                <a:gd name="T97" fmla="*/ 144 h 194"/>
                <a:gd name="T98" fmla="*/ 144 w 144"/>
                <a:gd name="T99" fmla="*/ 114 h 194"/>
                <a:gd name="T100" fmla="*/ 139 w 144"/>
                <a:gd name="T101" fmla="*/ 2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4" h="194">
                  <a:moveTo>
                    <a:pt x="49" y="167"/>
                  </a:moveTo>
                  <a:cubicBezTo>
                    <a:pt x="46" y="167"/>
                    <a:pt x="46" y="167"/>
                    <a:pt x="46" y="167"/>
                  </a:cubicBezTo>
                  <a:cubicBezTo>
                    <a:pt x="46" y="155"/>
                    <a:pt x="46" y="155"/>
                    <a:pt x="46" y="155"/>
                  </a:cubicBezTo>
                  <a:cubicBezTo>
                    <a:pt x="46" y="155"/>
                    <a:pt x="46" y="155"/>
                    <a:pt x="46" y="155"/>
                  </a:cubicBezTo>
                  <a:cubicBezTo>
                    <a:pt x="43" y="156"/>
                    <a:pt x="43" y="156"/>
                    <a:pt x="43" y="156"/>
                  </a:cubicBezTo>
                  <a:cubicBezTo>
                    <a:pt x="42" y="154"/>
                    <a:pt x="42" y="154"/>
                    <a:pt x="42" y="154"/>
                  </a:cubicBezTo>
                  <a:cubicBezTo>
                    <a:pt x="46" y="152"/>
                    <a:pt x="46" y="152"/>
                    <a:pt x="46" y="152"/>
                  </a:cubicBezTo>
                  <a:cubicBezTo>
                    <a:pt x="49" y="152"/>
                    <a:pt x="49" y="152"/>
                    <a:pt x="49" y="152"/>
                  </a:cubicBezTo>
                  <a:lnTo>
                    <a:pt x="49" y="167"/>
                  </a:lnTo>
                  <a:close/>
                  <a:moveTo>
                    <a:pt x="59" y="167"/>
                  </a:moveTo>
                  <a:cubicBezTo>
                    <a:pt x="59" y="165"/>
                    <a:pt x="59" y="165"/>
                    <a:pt x="59" y="165"/>
                  </a:cubicBezTo>
                  <a:cubicBezTo>
                    <a:pt x="60" y="165"/>
                    <a:pt x="60" y="165"/>
                    <a:pt x="61" y="165"/>
                  </a:cubicBezTo>
                  <a:cubicBezTo>
                    <a:pt x="63" y="165"/>
                    <a:pt x="65" y="163"/>
                    <a:pt x="65" y="161"/>
                  </a:cubicBezTo>
                  <a:cubicBezTo>
                    <a:pt x="65" y="161"/>
                    <a:pt x="65" y="161"/>
                    <a:pt x="65" y="161"/>
                  </a:cubicBezTo>
                  <a:cubicBezTo>
                    <a:pt x="65" y="161"/>
                    <a:pt x="64" y="162"/>
                    <a:pt x="62" y="162"/>
                  </a:cubicBezTo>
                  <a:cubicBezTo>
                    <a:pt x="60" y="162"/>
                    <a:pt x="58" y="160"/>
                    <a:pt x="58" y="157"/>
                  </a:cubicBezTo>
                  <a:cubicBezTo>
                    <a:pt x="58" y="155"/>
                    <a:pt x="60" y="152"/>
                    <a:pt x="63" y="152"/>
                  </a:cubicBezTo>
                  <a:cubicBezTo>
                    <a:pt x="67" y="152"/>
                    <a:pt x="69" y="155"/>
                    <a:pt x="69" y="158"/>
                  </a:cubicBezTo>
                  <a:cubicBezTo>
                    <a:pt x="69" y="163"/>
                    <a:pt x="66" y="167"/>
                    <a:pt x="59" y="167"/>
                  </a:cubicBezTo>
                  <a:close/>
                  <a:moveTo>
                    <a:pt x="79" y="167"/>
                  </a:moveTo>
                  <a:cubicBezTo>
                    <a:pt x="78" y="167"/>
                    <a:pt x="76" y="167"/>
                    <a:pt x="76" y="166"/>
                  </a:cubicBezTo>
                  <a:cubicBezTo>
                    <a:pt x="76" y="164"/>
                    <a:pt x="76" y="164"/>
                    <a:pt x="76" y="164"/>
                  </a:cubicBezTo>
                  <a:cubicBezTo>
                    <a:pt x="77" y="165"/>
                    <a:pt x="78" y="165"/>
                    <a:pt x="79" y="165"/>
                  </a:cubicBezTo>
                  <a:cubicBezTo>
                    <a:pt x="81" y="165"/>
                    <a:pt x="82" y="164"/>
                    <a:pt x="82" y="162"/>
                  </a:cubicBezTo>
                  <a:cubicBezTo>
                    <a:pt x="82" y="161"/>
                    <a:pt x="81" y="160"/>
                    <a:pt x="78" y="160"/>
                  </a:cubicBezTo>
                  <a:cubicBezTo>
                    <a:pt x="78" y="160"/>
                    <a:pt x="77" y="160"/>
                    <a:pt x="77" y="160"/>
                  </a:cubicBezTo>
                  <a:cubicBezTo>
                    <a:pt x="77" y="152"/>
                    <a:pt x="77" y="152"/>
                    <a:pt x="77" y="152"/>
                  </a:cubicBezTo>
                  <a:cubicBezTo>
                    <a:pt x="85" y="152"/>
                    <a:pt x="85" y="152"/>
                    <a:pt x="85" y="152"/>
                  </a:cubicBezTo>
                  <a:cubicBezTo>
                    <a:pt x="85" y="155"/>
                    <a:pt x="85" y="155"/>
                    <a:pt x="85" y="155"/>
                  </a:cubicBezTo>
                  <a:cubicBezTo>
                    <a:pt x="80" y="155"/>
                    <a:pt x="80" y="155"/>
                    <a:pt x="80" y="155"/>
                  </a:cubicBezTo>
                  <a:cubicBezTo>
                    <a:pt x="79" y="158"/>
                    <a:pt x="79" y="158"/>
                    <a:pt x="79" y="158"/>
                  </a:cubicBezTo>
                  <a:cubicBezTo>
                    <a:pt x="80" y="157"/>
                    <a:pt x="80" y="157"/>
                    <a:pt x="80" y="157"/>
                  </a:cubicBezTo>
                  <a:cubicBezTo>
                    <a:pt x="83" y="157"/>
                    <a:pt x="86" y="159"/>
                    <a:pt x="86" y="162"/>
                  </a:cubicBezTo>
                  <a:cubicBezTo>
                    <a:pt x="86" y="165"/>
                    <a:pt x="83" y="167"/>
                    <a:pt x="79" y="167"/>
                  </a:cubicBezTo>
                  <a:close/>
                  <a:moveTo>
                    <a:pt x="96" y="167"/>
                  </a:moveTo>
                  <a:cubicBezTo>
                    <a:pt x="95" y="167"/>
                    <a:pt x="93" y="167"/>
                    <a:pt x="92" y="166"/>
                  </a:cubicBezTo>
                  <a:cubicBezTo>
                    <a:pt x="93" y="164"/>
                    <a:pt x="93" y="164"/>
                    <a:pt x="93" y="164"/>
                  </a:cubicBezTo>
                  <a:cubicBezTo>
                    <a:pt x="94" y="164"/>
                    <a:pt x="95" y="165"/>
                    <a:pt x="96" y="165"/>
                  </a:cubicBezTo>
                  <a:cubicBezTo>
                    <a:pt x="98" y="165"/>
                    <a:pt x="99" y="164"/>
                    <a:pt x="99" y="163"/>
                  </a:cubicBezTo>
                  <a:cubicBezTo>
                    <a:pt x="99" y="161"/>
                    <a:pt x="97" y="160"/>
                    <a:pt x="96" y="160"/>
                  </a:cubicBezTo>
                  <a:cubicBezTo>
                    <a:pt x="95" y="160"/>
                    <a:pt x="95" y="160"/>
                    <a:pt x="95" y="160"/>
                  </a:cubicBezTo>
                  <a:cubicBezTo>
                    <a:pt x="95" y="158"/>
                    <a:pt x="95" y="158"/>
                    <a:pt x="95" y="158"/>
                  </a:cubicBezTo>
                  <a:cubicBezTo>
                    <a:pt x="96" y="158"/>
                    <a:pt x="96" y="158"/>
                    <a:pt x="96" y="158"/>
                  </a:cubicBezTo>
                  <a:cubicBezTo>
                    <a:pt x="97" y="158"/>
                    <a:pt x="99" y="158"/>
                    <a:pt x="99" y="156"/>
                  </a:cubicBezTo>
                  <a:cubicBezTo>
                    <a:pt x="99" y="155"/>
                    <a:pt x="98" y="154"/>
                    <a:pt x="96" y="154"/>
                  </a:cubicBezTo>
                  <a:cubicBezTo>
                    <a:pt x="95" y="154"/>
                    <a:pt x="94" y="155"/>
                    <a:pt x="93" y="155"/>
                  </a:cubicBezTo>
                  <a:cubicBezTo>
                    <a:pt x="93" y="153"/>
                    <a:pt x="93" y="153"/>
                    <a:pt x="93" y="153"/>
                  </a:cubicBezTo>
                  <a:cubicBezTo>
                    <a:pt x="94" y="153"/>
                    <a:pt x="95" y="152"/>
                    <a:pt x="97" y="152"/>
                  </a:cubicBezTo>
                  <a:cubicBezTo>
                    <a:pt x="100" y="152"/>
                    <a:pt x="102" y="154"/>
                    <a:pt x="102" y="156"/>
                  </a:cubicBezTo>
                  <a:cubicBezTo>
                    <a:pt x="102" y="157"/>
                    <a:pt x="101" y="158"/>
                    <a:pt x="99" y="159"/>
                  </a:cubicBezTo>
                  <a:cubicBezTo>
                    <a:pt x="99" y="159"/>
                    <a:pt x="99" y="159"/>
                    <a:pt x="99" y="159"/>
                  </a:cubicBezTo>
                  <a:cubicBezTo>
                    <a:pt x="101" y="159"/>
                    <a:pt x="102" y="161"/>
                    <a:pt x="102" y="163"/>
                  </a:cubicBezTo>
                  <a:cubicBezTo>
                    <a:pt x="102" y="165"/>
                    <a:pt x="100" y="167"/>
                    <a:pt x="96" y="167"/>
                  </a:cubicBezTo>
                  <a:close/>
                  <a:moveTo>
                    <a:pt x="139" y="2"/>
                  </a:moveTo>
                  <a:cubicBezTo>
                    <a:pt x="139" y="30"/>
                    <a:pt x="139" y="113"/>
                    <a:pt x="139" y="115"/>
                  </a:cubicBezTo>
                  <a:cubicBezTo>
                    <a:pt x="138" y="118"/>
                    <a:pt x="138" y="124"/>
                    <a:pt x="136" y="132"/>
                  </a:cubicBezTo>
                  <a:cubicBezTo>
                    <a:pt x="135" y="135"/>
                    <a:pt x="134" y="138"/>
                    <a:pt x="132" y="141"/>
                  </a:cubicBezTo>
                  <a:cubicBezTo>
                    <a:pt x="12" y="141"/>
                    <a:pt x="12" y="141"/>
                    <a:pt x="12" y="141"/>
                  </a:cubicBezTo>
                  <a:cubicBezTo>
                    <a:pt x="11" y="138"/>
                    <a:pt x="9" y="135"/>
                    <a:pt x="9" y="132"/>
                  </a:cubicBezTo>
                  <a:cubicBezTo>
                    <a:pt x="6" y="124"/>
                    <a:pt x="6" y="118"/>
                    <a:pt x="6" y="115"/>
                  </a:cubicBezTo>
                  <a:cubicBezTo>
                    <a:pt x="6" y="113"/>
                    <a:pt x="6" y="30"/>
                    <a:pt x="6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10"/>
                    <a:pt x="0" y="114"/>
                  </a:cubicBezTo>
                  <a:cubicBezTo>
                    <a:pt x="0" y="118"/>
                    <a:pt x="1" y="123"/>
                    <a:pt x="2" y="130"/>
                  </a:cubicBezTo>
                  <a:cubicBezTo>
                    <a:pt x="3" y="133"/>
                    <a:pt x="4" y="137"/>
                    <a:pt x="6" y="141"/>
                  </a:cubicBezTo>
                  <a:cubicBezTo>
                    <a:pt x="6" y="141"/>
                    <a:pt x="6" y="141"/>
                    <a:pt x="6" y="141"/>
                  </a:cubicBezTo>
                  <a:cubicBezTo>
                    <a:pt x="6" y="141"/>
                    <a:pt x="6" y="141"/>
                    <a:pt x="6" y="141"/>
                  </a:cubicBezTo>
                  <a:cubicBezTo>
                    <a:pt x="6" y="142"/>
                    <a:pt x="7" y="143"/>
                    <a:pt x="7" y="144"/>
                  </a:cubicBezTo>
                  <a:cubicBezTo>
                    <a:pt x="7" y="144"/>
                    <a:pt x="7" y="144"/>
                    <a:pt x="7" y="145"/>
                  </a:cubicBezTo>
                  <a:cubicBezTo>
                    <a:pt x="8" y="145"/>
                    <a:pt x="8" y="146"/>
                    <a:pt x="9" y="147"/>
                  </a:cubicBezTo>
                  <a:cubicBezTo>
                    <a:pt x="9" y="147"/>
                    <a:pt x="9" y="147"/>
                    <a:pt x="9" y="148"/>
                  </a:cubicBezTo>
                  <a:cubicBezTo>
                    <a:pt x="9" y="149"/>
                    <a:pt x="10" y="150"/>
                    <a:pt x="11" y="151"/>
                  </a:cubicBezTo>
                  <a:cubicBezTo>
                    <a:pt x="11" y="151"/>
                    <a:pt x="11" y="151"/>
                    <a:pt x="11" y="151"/>
                  </a:cubicBezTo>
                  <a:cubicBezTo>
                    <a:pt x="11" y="152"/>
                    <a:pt x="12" y="153"/>
                    <a:pt x="12" y="154"/>
                  </a:cubicBezTo>
                  <a:cubicBezTo>
                    <a:pt x="13" y="154"/>
                    <a:pt x="13" y="154"/>
                    <a:pt x="13" y="154"/>
                  </a:cubicBezTo>
                  <a:cubicBezTo>
                    <a:pt x="13" y="155"/>
                    <a:pt x="14" y="156"/>
                    <a:pt x="15" y="157"/>
                  </a:cubicBezTo>
                  <a:cubicBezTo>
                    <a:pt x="15" y="157"/>
                    <a:pt x="15" y="157"/>
                    <a:pt x="15" y="157"/>
                  </a:cubicBezTo>
                  <a:cubicBezTo>
                    <a:pt x="16" y="158"/>
                    <a:pt x="16" y="159"/>
                    <a:pt x="17" y="160"/>
                  </a:cubicBezTo>
                  <a:cubicBezTo>
                    <a:pt x="17" y="160"/>
                    <a:pt x="17" y="160"/>
                    <a:pt x="17" y="161"/>
                  </a:cubicBezTo>
                  <a:cubicBezTo>
                    <a:pt x="18" y="161"/>
                    <a:pt x="18" y="162"/>
                    <a:pt x="19" y="163"/>
                  </a:cubicBezTo>
                  <a:cubicBezTo>
                    <a:pt x="19" y="163"/>
                    <a:pt x="19" y="163"/>
                    <a:pt x="20" y="163"/>
                  </a:cubicBezTo>
                  <a:cubicBezTo>
                    <a:pt x="20" y="164"/>
                    <a:pt x="21" y="165"/>
                    <a:pt x="22" y="166"/>
                  </a:cubicBezTo>
                  <a:cubicBezTo>
                    <a:pt x="37" y="182"/>
                    <a:pt x="58" y="189"/>
                    <a:pt x="72" y="194"/>
                  </a:cubicBezTo>
                  <a:cubicBezTo>
                    <a:pt x="86" y="189"/>
                    <a:pt x="108" y="182"/>
                    <a:pt x="123" y="166"/>
                  </a:cubicBezTo>
                  <a:cubicBezTo>
                    <a:pt x="123" y="165"/>
                    <a:pt x="124" y="164"/>
                    <a:pt x="125" y="163"/>
                  </a:cubicBezTo>
                  <a:cubicBezTo>
                    <a:pt x="125" y="163"/>
                    <a:pt x="125" y="163"/>
                    <a:pt x="125" y="163"/>
                  </a:cubicBezTo>
                  <a:cubicBezTo>
                    <a:pt x="126" y="162"/>
                    <a:pt x="126" y="161"/>
                    <a:pt x="127" y="161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9"/>
                    <a:pt x="129" y="158"/>
                    <a:pt x="130" y="157"/>
                  </a:cubicBezTo>
                  <a:cubicBezTo>
                    <a:pt x="130" y="157"/>
                    <a:pt x="130" y="157"/>
                    <a:pt x="130" y="157"/>
                  </a:cubicBezTo>
                  <a:cubicBezTo>
                    <a:pt x="130" y="156"/>
                    <a:pt x="131" y="155"/>
                    <a:pt x="131" y="154"/>
                  </a:cubicBezTo>
                  <a:cubicBezTo>
                    <a:pt x="132" y="154"/>
                    <a:pt x="132" y="154"/>
                    <a:pt x="132" y="154"/>
                  </a:cubicBezTo>
                  <a:cubicBezTo>
                    <a:pt x="132" y="153"/>
                    <a:pt x="133" y="152"/>
                    <a:pt x="133" y="151"/>
                  </a:cubicBezTo>
                  <a:cubicBezTo>
                    <a:pt x="134" y="151"/>
                    <a:pt x="134" y="151"/>
                    <a:pt x="134" y="151"/>
                  </a:cubicBezTo>
                  <a:cubicBezTo>
                    <a:pt x="134" y="150"/>
                    <a:pt x="135" y="149"/>
                    <a:pt x="135" y="148"/>
                  </a:cubicBezTo>
                  <a:cubicBezTo>
                    <a:pt x="136" y="147"/>
                    <a:pt x="136" y="147"/>
                    <a:pt x="136" y="147"/>
                  </a:cubicBezTo>
                  <a:cubicBezTo>
                    <a:pt x="136" y="146"/>
                    <a:pt x="137" y="145"/>
                    <a:pt x="137" y="144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40" y="139"/>
                    <a:pt x="142" y="134"/>
                    <a:pt x="143" y="130"/>
                  </a:cubicBezTo>
                  <a:cubicBezTo>
                    <a:pt x="144" y="123"/>
                    <a:pt x="144" y="118"/>
                    <a:pt x="144" y="114"/>
                  </a:cubicBezTo>
                  <a:cubicBezTo>
                    <a:pt x="144" y="110"/>
                    <a:pt x="144" y="0"/>
                    <a:pt x="144" y="0"/>
                  </a:cubicBezTo>
                  <a:lnTo>
                    <a:pt x="139" y="2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2" name="íṡľiḍê">
              <a:extLst>
                <a:ext uri="{FF2B5EF4-FFF2-40B4-BE49-F238E27FC236}">
                  <a16:creationId xmlns:a16="http://schemas.microsoft.com/office/drawing/2014/main" id="{AF9AED17-A860-2124-6851-B91A2406345C}"/>
                </a:ext>
              </a:extLst>
            </p:cNvPr>
            <p:cNvSpPr/>
            <p:nvPr/>
          </p:nvSpPr>
          <p:spPr bwMode="auto">
            <a:xfrm>
              <a:off x="2395538" y="2917826"/>
              <a:ext cx="1141413" cy="1050925"/>
            </a:xfrm>
            <a:custGeom>
              <a:avLst/>
              <a:gdLst>
                <a:gd name="T0" fmla="*/ 300 w 316"/>
                <a:gd name="T1" fmla="*/ 173 h 290"/>
                <a:gd name="T2" fmla="*/ 294 w 316"/>
                <a:gd name="T3" fmla="*/ 163 h 290"/>
                <a:gd name="T4" fmla="*/ 299 w 316"/>
                <a:gd name="T5" fmla="*/ 78 h 290"/>
                <a:gd name="T6" fmla="*/ 285 w 316"/>
                <a:gd name="T7" fmla="*/ 84 h 290"/>
                <a:gd name="T8" fmla="*/ 248 w 316"/>
                <a:gd name="T9" fmla="*/ 17 h 290"/>
                <a:gd name="T10" fmla="*/ 233 w 316"/>
                <a:gd name="T11" fmla="*/ 15 h 290"/>
                <a:gd name="T12" fmla="*/ 233 w 316"/>
                <a:gd name="T13" fmla="*/ 33 h 290"/>
                <a:gd name="T14" fmla="*/ 242 w 316"/>
                <a:gd name="T15" fmla="*/ 45 h 290"/>
                <a:gd name="T16" fmla="*/ 278 w 316"/>
                <a:gd name="T17" fmla="*/ 88 h 290"/>
                <a:gd name="T18" fmla="*/ 276 w 316"/>
                <a:gd name="T19" fmla="*/ 93 h 290"/>
                <a:gd name="T20" fmla="*/ 286 w 316"/>
                <a:gd name="T21" fmla="*/ 156 h 290"/>
                <a:gd name="T22" fmla="*/ 278 w 316"/>
                <a:gd name="T23" fmla="*/ 170 h 290"/>
                <a:gd name="T24" fmla="*/ 269 w 316"/>
                <a:gd name="T25" fmla="*/ 179 h 290"/>
                <a:gd name="T26" fmla="*/ 254 w 316"/>
                <a:gd name="T27" fmla="*/ 230 h 290"/>
                <a:gd name="T28" fmla="*/ 246 w 316"/>
                <a:gd name="T29" fmla="*/ 219 h 290"/>
                <a:gd name="T30" fmla="*/ 169 w 316"/>
                <a:gd name="T31" fmla="*/ 262 h 290"/>
                <a:gd name="T32" fmla="*/ 147 w 316"/>
                <a:gd name="T33" fmla="*/ 262 h 290"/>
                <a:gd name="T34" fmla="*/ 70 w 316"/>
                <a:gd name="T35" fmla="*/ 219 h 290"/>
                <a:gd name="T36" fmla="*/ 62 w 316"/>
                <a:gd name="T37" fmla="*/ 230 h 290"/>
                <a:gd name="T38" fmla="*/ 48 w 316"/>
                <a:gd name="T39" fmla="*/ 179 h 290"/>
                <a:gd name="T40" fmla="*/ 38 w 316"/>
                <a:gd name="T41" fmla="*/ 170 h 290"/>
                <a:gd name="T42" fmla="*/ 30 w 316"/>
                <a:gd name="T43" fmla="*/ 156 h 290"/>
                <a:gd name="T44" fmla="*/ 41 w 316"/>
                <a:gd name="T45" fmla="*/ 93 h 290"/>
                <a:gd name="T46" fmla="*/ 38 w 316"/>
                <a:gd name="T47" fmla="*/ 88 h 290"/>
                <a:gd name="T48" fmla="*/ 75 w 316"/>
                <a:gd name="T49" fmla="*/ 45 h 290"/>
                <a:gd name="T50" fmla="*/ 84 w 316"/>
                <a:gd name="T51" fmla="*/ 33 h 290"/>
                <a:gd name="T52" fmla="*/ 83 w 316"/>
                <a:gd name="T53" fmla="*/ 15 h 290"/>
                <a:gd name="T54" fmla="*/ 68 w 316"/>
                <a:gd name="T55" fmla="*/ 17 h 290"/>
                <a:gd name="T56" fmla="*/ 31 w 316"/>
                <a:gd name="T57" fmla="*/ 84 h 290"/>
                <a:gd name="T58" fmla="*/ 17 w 316"/>
                <a:gd name="T59" fmla="*/ 78 h 290"/>
                <a:gd name="T60" fmla="*/ 23 w 316"/>
                <a:gd name="T61" fmla="*/ 163 h 290"/>
                <a:gd name="T62" fmla="*/ 16 w 316"/>
                <a:gd name="T63" fmla="*/ 173 h 290"/>
                <a:gd name="T64" fmla="*/ 14 w 316"/>
                <a:gd name="T65" fmla="*/ 182 h 290"/>
                <a:gd name="T66" fmla="*/ 93 w 316"/>
                <a:gd name="T67" fmla="*/ 253 h 290"/>
                <a:gd name="T68" fmla="*/ 72 w 316"/>
                <a:gd name="T69" fmla="*/ 258 h 290"/>
                <a:gd name="T70" fmla="*/ 134 w 316"/>
                <a:gd name="T71" fmla="*/ 265 h 290"/>
                <a:gd name="T72" fmla="*/ 138 w 316"/>
                <a:gd name="T73" fmla="*/ 272 h 290"/>
                <a:gd name="T74" fmla="*/ 131 w 316"/>
                <a:gd name="T75" fmla="*/ 290 h 290"/>
                <a:gd name="T76" fmla="*/ 158 w 316"/>
                <a:gd name="T77" fmla="*/ 272 h 290"/>
                <a:gd name="T78" fmla="*/ 186 w 316"/>
                <a:gd name="T79" fmla="*/ 290 h 290"/>
                <a:gd name="T80" fmla="*/ 178 w 316"/>
                <a:gd name="T81" fmla="*/ 272 h 290"/>
                <a:gd name="T82" fmla="*/ 182 w 316"/>
                <a:gd name="T83" fmla="*/ 265 h 290"/>
                <a:gd name="T84" fmla="*/ 244 w 316"/>
                <a:gd name="T85" fmla="*/ 258 h 290"/>
                <a:gd name="T86" fmla="*/ 223 w 316"/>
                <a:gd name="T87" fmla="*/ 253 h 290"/>
                <a:gd name="T88" fmla="*/ 302 w 316"/>
                <a:gd name="T89" fmla="*/ 182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16" h="290">
                  <a:moveTo>
                    <a:pt x="276" y="216"/>
                  </a:moveTo>
                  <a:cubicBezTo>
                    <a:pt x="282" y="191"/>
                    <a:pt x="289" y="190"/>
                    <a:pt x="300" y="173"/>
                  </a:cubicBezTo>
                  <a:cubicBezTo>
                    <a:pt x="310" y="157"/>
                    <a:pt x="316" y="126"/>
                    <a:pt x="305" y="115"/>
                  </a:cubicBezTo>
                  <a:cubicBezTo>
                    <a:pt x="304" y="138"/>
                    <a:pt x="296" y="143"/>
                    <a:pt x="294" y="163"/>
                  </a:cubicBezTo>
                  <a:cubicBezTo>
                    <a:pt x="292" y="147"/>
                    <a:pt x="292" y="137"/>
                    <a:pt x="295" y="126"/>
                  </a:cubicBezTo>
                  <a:cubicBezTo>
                    <a:pt x="298" y="117"/>
                    <a:pt x="302" y="95"/>
                    <a:pt x="299" y="78"/>
                  </a:cubicBezTo>
                  <a:cubicBezTo>
                    <a:pt x="297" y="66"/>
                    <a:pt x="291" y="61"/>
                    <a:pt x="284" y="58"/>
                  </a:cubicBezTo>
                  <a:cubicBezTo>
                    <a:pt x="288" y="72"/>
                    <a:pt x="285" y="84"/>
                    <a:pt x="285" y="84"/>
                  </a:cubicBezTo>
                  <a:cubicBezTo>
                    <a:pt x="285" y="84"/>
                    <a:pt x="277" y="75"/>
                    <a:pt x="274" y="52"/>
                  </a:cubicBezTo>
                  <a:cubicBezTo>
                    <a:pt x="271" y="29"/>
                    <a:pt x="256" y="18"/>
                    <a:pt x="248" y="17"/>
                  </a:cubicBezTo>
                  <a:cubicBezTo>
                    <a:pt x="255" y="29"/>
                    <a:pt x="255" y="33"/>
                    <a:pt x="257" y="44"/>
                  </a:cubicBezTo>
                  <a:cubicBezTo>
                    <a:pt x="250" y="40"/>
                    <a:pt x="245" y="26"/>
                    <a:pt x="233" y="15"/>
                  </a:cubicBezTo>
                  <a:cubicBezTo>
                    <a:pt x="216" y="0"/>
                    <a:pt x="203" y="0"/>
                    <a:pt x="195" y="7"/>
                  </a:cubicBezTo>
                  <a:cubicBezTo>
                    <a:pt x="218" y="16"/>
                    <a:pt x="214" y="18"/>
                    <a:pt x="233" y="33"/>
                  </a:cubicBezTo>
                  <a:cubicBezTo>
                    <a:pt x="251" y="45"/>
                    <a:pt x="259" y="46"/>
                    <a:pt x="264" y="62"/>
                  </a:cubicBezTo>
                  <a:cubicBezTo>
                    <a:pt x="256" y="54"/>
                    <a:pt x="251" y="49"/>
                    <a:pt x="242" y="45"/>
                  </a:cubicBezTo>
                  <a:cubicBezTo>
                    <a:pt x="239" y="50"/>
                    <a:pt x="243" y="60"/>
                    <a:pt x="257" y="71"/>
                  </a:cubicBezTo>
                  <a:cubicBezTo>
                    <a:pt x="267" y="82"/>
                    <a:pt x="270" y="77"/>
                    <a:pt x="278" y="88"/>
                  </a:cubicBezTo>
                  <a:cubicBezTo>
                    <a:pt x="285" y="96"/>
                    <a:pt x="291" y="105"/>
                    <a:pt x="289" y="124"/>
                  </a:cubicBezTo>
                  <a:cubicBezTo>
                    <a:pt x="283" y="110"/>
                    <a:pt x="279" y="108"/>
                    <a:pt x="276" y="93"/>
                  </a:cubicBezTo>
                  <a:cubicBezTo>
                    <a:pt x="272" y="98"/>
                    <a:pt x="270" y="106"/>
                    <a:pt x="271" y="116"/>
                  </a:cubicBezTo>
                  <a:cubicBezTo>
                    <a:pt x="275" y="136"/>
                    <a:pt x="283" y="136"/>
                    <a:pt x="286" y="156"/>
                  </a:cubicBezTo>
                  <a:cubicBezTo>
                    <a:pt x="288" y="168"/>
                    <a:pt x="288" y="183"/>
                    <a:pt x="278" y="194"/>
                  </a:cubicBezTo>
                  <a:cubicBezTo>
                    <a:pt x="276" y="184"/>
                    <a:pt x="277" y="179"/>
                    <a:pt x="278" y="170"/>
                  </a:cubicBezTo>
                  <a:cubicBezTo>
                    <a:pt x="280" y="161"/>
                    <a:pt x="279" y="154"/>
                    <a:pt x="276" y="145"/>
                  </a:cubicBezTo>
                  <a:cubicBezTo>
                    <a:pt x="269" y="151"/>
                    <a:pt x="267" y="165"/>
                    <a:pt x="269" y="179"/>
                  </a:cubicBezTo>
                  <a:cubicBezTo>
                    <a:pt x="270" y="193"/>
                    <a:pt x="280" y="203"/>
                    <a:pt x="265" y="223"/>
                  </a:cubicBezTo>
                  <a:cubicBezTo>
                    <a:pt x="258" y="229"/>
                    <a:pt x="254" y="231"/>
                    <a:pt x="254" y="230"/>
                  </a:cubicBezTo>
                  <a:cubicBezTo>
                    <a:pt x="262" y="221"/>
                    <a:pt x="273" y="198"/>
                    <a:pt x="265" y="187"/>
                  </a:cubicBezTo>
                  <a:cubicBezTo>
                    <a:pt x="262" y="200"/>
                    <a:pt x="254" y="207"/>
                    <a:pt x="246" y="219"/>
                  </a:cubicBezTo>
                  <a:cubicBezTo>
                    <a:pt x="235" y="235"/>
                    <a:pt x="245" y="240"/>
                    <a:pt x="210" y="253"/>
                  </a:cubicBezTo>
                  <a:cubicBezTo>
                    <a:pt x="199" y="257"/>
                    <a:pt x="185" y="258"/>
                    <a:pt x="169" y="262"/>
                  </a:cubicBezTo>
                  <a:cubicBezTo>
                    <a:pt x="165" y="263"/>
                    <a:pt x="161" y="264"/>
                    <a:pt x="158" y="265"/>
                  </a:cubicBezTo>
                  <a:cubicBezTo>
                    <a:pt x="155" y="264"/>
                    <a:pt x="151" y="263"/>
                    <a:pt x="147" y="262"/>
                  </a:cubicBezTo>
                  <a:cubicBezTo>
                    <a:pt x="132" y="258"/>
                    <a:pt x="117" y="257"/>
                    <a:pt x="107" y="253"/>
                  </a:cubicBezTo>
                  <a:cubicBezTo>
                    <a:pt x="72" y="240"/>
                    <a:pt x="81" y="235"/>
                    <a:pt x="70" y="219"/>
                  </a:cubicBezTo>
                  <a:cubicBezTo>
                    <a:pt x="62" y="207"/>
                    <a:pt x="54" y="200"/>
                    <a:pt x="51" y="187"/>
                  </a:cubicBezTo>
                  <a:cubicBezTo>
                    <a:pt x="43" y="198"/>
                    <a:pt x="54" y="221"/>
                    <a:pt x="62" y="230"/>
                  </a:cubicBezTo>
                  <a:cubicBezTo>
                    <a:pt x="62" y="231"/>
                    <a:pt x="58" y="229"/>
                    <a:pt x="51" y="223"/>
                  </a:cubicBezTo>
                  <a:cubicBezTo>
                    <a:pt x="36" y="203"/>
                    <a:pt x="46" y="193"/>
                    <a:pt x="48" y="179"/>
                  </a:cubicBezTo>
                  <a:cubicBezTo>
                    <a:pt x="49" y="165"/>
                    <a:pt x="47" y="151"/>
                    <a:pt x="40" y="145"/>
                  </a:cubicBezTo>
                  <a:cubicBezTo>
                    <a:pt x="38" y="154"/>
                    <a:pt x="36" y="161"/>
                    <a:pt x="38" y="170"/>
                  </a:cubicBezTo>
                  <a:cubicBezTo>
                    <a:pt x="40" y="179"/>
                    <a:pt x="41" y="184"/>
                    <a:pt x="39" y="194"/>
                  </a:cubicBezTo>
                  <a:cubicBezTo>
                    <a:pt x="28" y="183"/>
                    <a:pt x="29" y="168"/>
                    <a:pt x="30" y="156"/>
                  </a:cubicBezTo>
                  <a:cubicBezTo>
                    <a:pt x="33" y="136"/>
                    <a:pt x="41" y="136"/>
                    <a:pt x="45" y="116"/>
                  </a:cubicBezTo>
                  <a:cubicBezTo>
                    <a:pt x="47" y="106"/>
                    <a:pt x="44" y="98"/>
                    <a:pt x="41" y="93"/>
                  </a:cubicBezTo>
                  <a:cubicBezTo>
                    <a:pt x="37" y="108"/>
                    <a:pt x="33" y="110"/>
                    <a:pt x="28" y="124"/>
                  </a:cubicBezTo>
                  <a:cubicBezTo>
                    <a:pt x="25" y="105"/>
                    <a:pt x="32" y="96"/>
                    <a:pt x="38" y="88"/>
                  </a:cubicBezTo>
                  <a:cubicBezTo>
                    <a:pt x="47" y="77"/>
                    <a:pt x="49" y="82"/>
                    <a:pt x="60" y="71"/>
                  </a:cubicBezTo>
                  <a:cubicBezTo>
                    <a:pt x="73" y="60"/>
                    <a:pt x="77" y="50"/>
                    <a:pt x="75" y="45"/>
                  </a:cubicBezTo>
                  <a:cubicBezTo>
                    <a:pt x="65" y="49"/>
                    <a:pt x="60" y="54"/>
                    <a:pt x="53" y="62"/>
                  </a:cubicBezTo>
                  <a:cubicBezTo>
                    <a:pt x="57" y="46"/>
                    <a:pt x="66" y="45"/>
                    <a:pt x="84" y="33"/>
                  </a:cubicBezTo>
                  <a:cubicBezTo>
                    <a:pt x="102" y="18"/>
                    <a:pt x="98" y="16"/>
                    <a:pt x="121" y="7"/>
                  </a:cubicBezTo>
                  <a:cubicBezTo>
                    <a:pt x="113" y="0"/>
                    <a:pt x="100" y="0"/>
                    <a:pt x="83" y="15"/>
                  </a:cubicBezTo>
                  <a:cubicBezTo>
                    <a:pt x="72" y="26"/>
                    <a:pt x="66" y="40"/>
                    <a:pt x="59" y="44"/>
                  </a:cubicBezTo>
                  <a:cubicBezTo>
                    <a:pt x="62" y="33"/>
                    <a:pt x="61" y="29"/>
                    <a:pt x="68" y="17"/>
                  </a:cubicBezTo>
                  <a:cubicBezTo>
                    <a:pt x="61" y="18"/>
                    <a:pt x="45" y="29"/>
                    <a:pt x="42" y="52"/>
                  </a:cubicBezTo>
                  <a:cubicBezTo>
                    <a:pt x="39" y="75"/>
                    <a:pt x="31" y="84"/>
                    <a:pt x="31" y="84"/>
                  </a:cubicBezTo>
                  <a:cubicBezTo>
                    <a:pt x="31" y="84"/>
                    <a:pt x="29" y="72"/>
                    <a:pt x="32" y="58"/>
                  </a:cubicBezTo>
                  <a:cubicBezTo>
                    <a:pt x="25" y="61"/>
                    <a:pt x="19" y="66"/>
                    <a:pt x="17" y="78"/>
                  </a:cubicBezTo>
                  <a:cubicBezTo>
                    <a:pt x="14" y="95"/>
                    <a:pt x="18" y="117"/>
                    <a:pt x="21" y="126"/>
                  </a:cubicBezTo>
                  <a:cubicBezTo>
                    <a:pt x="25" y="137"/>
                    <a:pt x="24" y="147"/>
                    <a:pt x="23" y="163"/>
                  </a:cubicBezTo>
                  <a:cubicBezTo>
                    <a:pt x="20" y="143"/>
                    <a:pt x="12" y="138"/>
                    <a:pt x="11" y="115"/>
                  </a:cubicBezTo>
                  <a:cubicBezTo>
                    <a:pt x="0" y="126"/>
                    <a:pt x="6" y="157"/>
                    <a:pt x="16" y="173"/>
                  </a:cubicBezTo>
                  <a:cubicBezTo>
                    <a:pt x="27" y="190"/>
                    <a:pt x="34" y="191"/>
                    <a:pt x="41" y="216"/>
                  </a:cubicBezTo>
                  <a:cubicBezTo>
                    <a:pt x="30" y="201"/>
                    <a:pt x="22" y="199"/>
                    <a:pt x="14" y="182"/>
                  </a:cubicBezTo>
                  <a:cubicBezTo>
                    <a:pt x="8" y="190"/>
                    <a:pt x="13" y="206"/>
                    <a:pt x="30" y="219"/>
                  </a:cubicBezTo>
                  <a:cubicBezTo>
                    <a:pt x="44" y="233"/>
                    <a:pt x="67" y="232"/>
                    <a:pt x="93" y="253"/>
                  </a:cubicBezTo>
                  <a:cubicBezTo>
                    <a:pt x="72" y="241"/>
                    <a:pt x="50" y="241"/>
                    <a:pt x="38" y="234"/>
                  </a:cubicBezTo>
                  <a:cubicBezTo>
                    <a:pt x="36" y="243"/>
                    <a:pt x="50" y="252"/>
                    <a:pt x="72" y="258"/>
                  </a:cubicBezTo>
                  <a:cubicBezTo>
                    <a:pt x="81" y="260"/>
                    <a:pt x="95" y="260"/>
                    <a:pt x="103" y="260"/>
                  </a:cubicBezTo>
                  <a:cubicBezTo>
                    <a:pt x="117" y="261"/>
                    <a:pt x="125" y="264"/>
                    <a:pt x="134" y="265"/>
                  </a:cubicBezTo>
                  <a:cubicBezTo>
                    <a:pt x="138" y="266"/>
                    <a:pt x="142" y="267"/>
                    <a:pt x="147" y="268"/>
                  </a:cubicBezTo>
                  <a:cubicBezTo>
                    <a:pt x="143" y="270"/>
                    <a:pt x="140" y="271"/>
                    <a:pt x="138" y="272"/>
                  </a:cubicBezTo>
                  <a:cubicBezTo>
                    <a:pt x="132" y="276"/>
                    <a:pt x="132" y="276"/>
                    <a:pt x="119" y="285"/>
                  </a:cubicBezTo>
                  <a:cubicBezTo>
                    <a:pt x="131" y="290"/>
                    <a:pt x="131" y="290"/>
                    <a:pt x="131" y="290"/>
                  </a:cubicBezTo>
                  <a:cubicBezTo>
                    <a:pt x="131" y="290"/>
                    <a:pt x="137" y="282"/>
                    <a:pt x="150" y="276"/>
                  </a:cubicBezTo>
                  <a:cubicBezTo>
                    <a:pt x="152" y="275"/>
                    <a:pt x="155" y="273"/>
                    <a:pt x="158" y="272"/>
                  </a:cubicBezTo>
                  <a:cubicBezTo>
                    <a:pt x="161" y="273"/>
                    <a:pt x="164" y="275"/>
                    <a:pt x="167" y="276"/>
                  </a:cubicBezTo>
                  <a:cubicBezTo>
                    <a:pt x="179" y="282"/>
                    <a:pt x="186" y="290"/>
                    <a:pt x="186" y="290"/>
                  </a:cubicBezTo>
                  <a:cubicBezTo>
                    <a:pt x="198" y="285"/>
                    <a:pt x="198" y="285"/>
                    <a:pt x="198" y="285"/>
                  </a:cubicBezTo>
                  <a:cubicBezTo>
                    <a:pt x="184" y="276"/>
                    <a:pt x="185" y="276"/>
                    <a:pt x="178" y="272"/>
                  </a:cubicBezTo>
                  <a:cubicBezTo>
                    <a:pt x="176" y="271"/>
                    <a:pt x="173" y="270"/>
                    <a:pt x="169" y="268"/>
                  </a:cubicBezTo>
                  <a:cubicBezTo>
                    <a:pt x="174" y="267"/>
                    <a:pt x="178" y="266"/>
                    <a:pt x="182" y="265"/>
                  </a:cubicBezTo>
                  <a:cubicBezTo>
                    <a:pt x="192" y="264"/>
                    <a:pt x="199" y="261"/>
                    <a:pt x="214" y="260"/>
                  </a:cubicBezTo>
                  <a:cubicBezTo>
                    <a:pt x="221" y="260"/>
                    <a:pt x="235" y="260"/>
                    <a:pt x="244" y="258"/>
                  </a:cubicBezTo>
                  <a:cubicBezTo>
                    <a:pt x="267" y="252"/>
                    <a:pt x="280" y="243"/>
                    <a:pt x="278" y="234"/>
                  </a:cubicBezTo>
                  <a:cubicBezTo>
                    <a:pt x="266" y="241"/>
                    <a:pt x="244" y="241"/>
                    <a:pt x="223" y="253"/>
                  </a:cubicBezTo>
                  <a:cubicBezTo>
                    <a:pt x="249" y="232"/>
                    <a:pt x="272" y="233"/>
                    <a:pt x="286" y="219"/>
                  </a:cubicBezTo>
                  <a:cubicBezTo>
                    <a:pt x="303" y="206"/>
                    <a:pt x="309" y="190"/>
                    <a:pt x="302" y="182"/>
                  </a:cubicBezTo>
                  <a:cubicBezTo>
                    <a:pt x="294" y="199"/>
                    <a:pt x="286" y="201"/>
                    <a:pt x="276" y="216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3" name="íšlîde">
              <a:extLst>
                <a:ext uri="{FF2B5EF4-FFF2-40B4-BE49-F238E27FC236}">
                  <a16:creationId xmlns:a16="http://schemas.microsoft.com/office/drawing/2014/main" id="{B8B76548-BB8C-B9F9-A70D-07D979C6AC6E}"/>
                </a:ext>
              </a:extLst>
            </p:cNvPr>
            <p:cNvSpPr/>
            <p:nvPr/>
          </p:nvSpPr>
          <p:spPr bwMode="auto">
            <a:xfrm>
              <a:off x="2162175" y="3240088"/>
              <a:ext cx="104775" cy="80963"/>
            </a:xfrm>
            <a:custGeom>
              <a:avLst/>
              <a:gdLst>
                <a:gd name="T0" fmla="*/ 9 w 66"/>
                <a:gd name="T1" fmla="*/ 0 h 51"/>
                <a:gd name="T2" fmla="*/ 66 w 66"/>
                <a:gd name="T3" fmla="*/ 12 h 51"/>
                <a:gd name="T4" fmla="*/ 63 w 66"/>
                <a:gd name="T5" fmla="*/ 21 h 51"/>
                <a:gd name="T6" fmla="*/ 20 w 66"/>
                <a:gd name="T7" fmla="*/ 35 h 51"/>
                <a:gd name="T8" fmla="*/ 59 w 66"/>
                <a:gd name="T9" fmla="*/ 41 h 51"/>
                <a:gd name="T10" fmla="*/ 57 w 66"/>
                <a:gd name="T11" fmla="*/ 51 h 51"/>
                <a:gd name="T12" fmla="*/ 0 w 66"/>
                <a:gd name="T13" fmla="*/ 39 h 51"/>
                <a:gd name="T14" fmla="*/ 2 w 66"/>
                <a:gd name="T15" fmla="*/ 30 h 51"/>
                <a:gd name="T16" fmla="*/ 43 w 66"/>
                <a:gd name="T17" fmla="*/ 16 h 51"/>
                <a:gd name="T18" fmla="*/ 7 w 66"/>
                <a:gd name="T19" fmla="*/ 9 h 51"/>
                <a:gd name="T20" fmla="*/ 9 w 66"/>
                <a:gd name="T21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6" h="51">
                  <a:moveTo>
                    <a:pt x="9" y="0"/>
                  </a:moveTo>
                  <a:lnTo>
                    <a:pt x="66" y="12"/>
                  </a:lnTo>
                  <a:lnTo>
                    <a:pt x="63" y="21"/>
                  </a:lnTo>
                  <a:lnTo>
                    <a:pt x="20" y="35"/>
                  </a:lnTo>
                  <a:lnTo>
                    <a:pt x="59" y="41"/>
                  </a:lnTo>
                  <a:lnTo>
                    <a:pt x="57" y="51"/>
                  </a:lnTo>
                  <a:lnTo>
                    <a:pt x="0" y="39"/>
                  </a:lnTo>
                  <a:lnTo>
                    <a:pt x="2" y="30"/>
                  </a:lnTo>
                  <a:lnTo>
                    <a:pt x="43" y="16"/>
                  </a:lnTo>
                  <a:lnTo>
                    <a:pt x="7" y="9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4" name="îṡḷíḋé">
              <a:extLst>
                <a:ext uri="{FF2B5EF4-FFF2-40B4-BE49-F238E27FC236}">
                  <a16:creationId xmlns:a16="http://schemas.microsoft.com/office/drawing/2014/main" id="{520F35BA-C6BB-61BD-7E3C-5FE2F21D6B96}"/>
                </a:ext>
              </a:extLst>
            </p:cNvPr>
            <p:cNvSpPr/>
            <p:nvPr/>
          </p:nvSpPr>
          <p:spPr bwMode="auto">
            <a:xfrm>
              <a:off x="2154238" y="3316288"/>
              <a:ext cx="93663" cy="79375"/>
            </a:xfrm>
            <a:custGeom>
              <a:avLst/>
              <a:gdLst>
                <a:gd name="T0" fmla="*/ 0 w 59"/>
                <a:gd name="T1" fmla="*/ 50 h 50"/>
                <a:gd name="T2" fmla="*/ 0 w 59"/>
                <a:gd name="T3" fmla="*/ 39 h 50"/>
                <a:gd name="T4" fmla="*/ 14 w 59"/>
                <a:gd name="T5" fmla="*/ 34 h 50"/>
                <a:gd name="T6" fmla="*/ 16 w 59"/>
                <a:gd name="T7" fmla="*/ 16 h 50"/>
                <a:gd name="T8" fmla="*/ 2 w 59"/>
                <a:gd name="T9" fmla="*/ 12 h 50"/>
                <a:gd name="T10" fmla="*/ 5 w 59"/>
                <a:gd name="T11" fmla="*/ 0 h 50"/>
                <a:gd name="T12" fmla="*/ 59 w 59"/>
                <a:gd name="T13" fmla="*/ 25 h 50"/>
                <a:gd name="T14" fmla="*/ 59 w 59"/>
                <a:gd name="T15" fmla="*/ 34 h 50"/>
                <a:gd name="T16" fmla="*/ 0 w 59"/>
                <a:gd name="T17" fmla="*/ 50 h 50"/>
                <a:gd name="T18" fmla="*/ 23 w 59"/>
                <a:gd name="T19" fmla="*/ 32 h 50"/>
                <a:gd name="T20" fmla="*/ 46 w 59"/>
                <a:gd name="T21" fmla="*/ 28 h 50"/>
                <a:gd name="T22" fmla="*/ 25 w 59"/>
                <a:gd name="T23" fmla="*/ 21 h 50"/>
                <a:gd name="T24" fmla="*/ 23 w 59"/>
                <a:gd name="T25" fmla="*/ 32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" h="50">
                  <a:moveTo>
                    <a:pt x="0" y="50"/>
                  </a:moveTo>
                  <a:lnTo>
                    <a:pt x="0" y="39"/>
                  </a:lnTo>
                  <a:lnTo>
                    <a:pt x="14" y="34"/>
                  </a:lnTo>
                  <a:lnTo>
                    <a:pt x="16" y="16"/>
                  </a:lnTo>
                  <a:lnTo>
                    <a:pt x="2" y="12"/>
                  </a:lnTo>
                  <a:lnTo>
                    <a:pt x="5" y="0"/>
                  </a:lnTo>
                  <a:lnTo>
                    <a:pt x="59" y="25"/>
                  </a:lnTo>
                  <a:lnTo>
                    <a:pt x="59" y="34"/>
                  </a:lnTo>
                  <a:lnTo>
                    <a:pt x="0" y="50"/>
                  </a:lnTo>
                  <a:close/>
                  <a:moveTo>
                    <a:pt x="23" y="32"/>
                  </a:moveTo>
                  <a:lnTo>
                    <a:pt x="46" y="28"/>
                  </a:lnTo>
                  <a:lnTo>
                    <a:pt x="25" y="21"/>
                  </a:lnTo>
                  <a:lnTo>
                    <a:pt x="23" y="32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5" name="îsḻiḓe">
              <a:extLst>
                <a:ext uri="{FF2B5EF4-FFF2-40B4-BE49-F238E27FC236}">
                  <a16:creationId xmlns:a16="http://schemas.microsoft.com/office/drawing/2014/main" id="{3F87EB36-9B33-1A3D-52CA-93EB9FCA4246}"/>
                </a:ext>
              </a:extLst>
            </p:cNvPr>
            <p:cNvSpPr/>
            <p:nvPr/>
          </p:nvSpPr>
          <p:spPr bwMode="auto">
            <a:xfrm>
              <a:off x="2154238" y="3406776"/>
              <a:ext cx="90488" cy="65088"/>
            </a:xfrm>
            <a:custGeom>
              <a:avLst/>
              <a:gdLst>
                <a:gd name="T0" fmla="*/ 0 w 57"/>
                <a:gd name="T1" fmla="*/ 3 h 41"/>
                <a:gd name="T2" fmla="*/ 57 w 57"/>
                <a:gd name="T3" fmla="*/ 0 h 41"/>
                <a:gd name="T4" fmla="*/ 57 w 57"/>
                <a:gd name="T5" fmla="*/ 12 h 41"/>
                <a:gd name="T6" fmla="*/ 18 w 57"/>
                <a:gd name="T7" fmla="*/ 32 h 41"/>
                <a:gd name="T8" fmla="*/ 57 w 57"/>
                <a:gd name="T9" fmla="*/ 30 h 41"/>
                <a:gd name="T10" fmla="*/ 57 w 57"/>
                <a:gd name="T11" fmla="*/ 39 h 41"/>
                <a:gd name="T12" fmla="*/ 0 w 57"/>
                <a:gd name="T13" fmla="*/ 41 h 41"/>
                <a:gd name="T14" fmla="*/ 0 w 57"/>
                <a:gd name="T15" fmla="*/ 30 h 41"/>
                <a:gd name="T16" fmla="*/ 37 w 57"/>
                <a:gd name="T17" fmla="*/ 9 h 41"/>
                <a:gd name="T18" fmla="*/ 0 w 57"/>
                <a:gd name="T19" fmla="*/ 12 h 41"/>
                <a:gd name="T20" fmla="*/ 0 w 57"/>
                <a:gd name="T21" fmla="*/ 3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7" h="41">
                  <a:moveTo>
                    <a:pt x="0" y="3"/>
                  </a:moveTo>
                  <a:lnTo>
                    <a:pt x="57" y="0"/>
                  </a:lnTo>
                  <a:lnTo>
                    <a:pt x="57" y="12"/>
                  </a:lnTo>
                  <a:lnTo>
                    <a:pt x="18" y="32"/>
                  </a:lnTo>
                  <a:lnTo>
                    <a:pt x="57" y="30"/>
                  </a:lnTo>
                  <a:lnTo>
                    <a:pt x="57" y="39"/>
                  </a:lnTo>
                  <a:lnTo>
                    <a:pt x="0" y="41"/>
                  </a:lnTo>
                  <a:lnTo>
                    <a:pt x="0" y="30"/>
                  </a:lnTo>
                  <a:lnTo>
                    <a:pt x="37" y="9"/>
                  </a:lnTo>
                  <a:lnTo>
                    <a:pt x="0" y="12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6" name="î$ļïdè">
              <a:extLst>
                <a:ext uri="{FF2B5EF4-FFF2-40B4-BE49-F238E27FC236}">
                  <a16:creationId xmlns:a16="http://schemas.microsoft.com/office/drawing/2014/main" id="{E0BEA39A-317C-A033-A522-073CE1328D5E}"/>
                </a:ext>
              </a:extLst>
            </p:cNvPr>
            <p:cNvSpPr/>
            <p:nvPr/>
          </p:nvSpPr>
          <p:spPr bwMode="auto">
            <a:xfrm>
              <a:off x="2154238" y="3482976"/>
              <a:ext cx="98425" cy="50800"/>
            </a:xfrm>
            <a:custGeom>
              <a:avLst/>
              <a:gdLst>
                <a:gd name="T0" fmla="*/ 26 w 27"/>
                <a:gd name="T1" fmla="*/ 8 h 14"/>
                <a:gd name="T2" fmla="*/ 27 w 27"/>
                <a:gd name="T3" fmla="*/ 12 h 14"/>
                <a:gd name="T4" fmla="*/ 11 w 27"/>
                <a:gd name="T5" fmla="*/ 14 h 14"/>
                <a:gd name="T6" fmla="*/ 6 w 27"/>
                <a:gd name="T7" fmla="*/ 14 h 14"/>
                <a:gd name="T8" fmla="*/ 2 w 27"/>
                <a:gd name="T9" fmla="*/ 12 h 14"/>
                <a:gd name="T10" fmla="*/ 0 w 27"/>
                <a:gd name="T11" fmla="*/ 8 h 14"/>
                <a:gd name="T12" fmla="*/ 2 w 27"/>
                <a:gd name="T13" fmla="*/ 3 h 14"/>
                <a:gd name="T14" fmla="*/ 8 w 27"/>
                <a:gd name="T15" fmla="*/ 0 h 14"/>
                <a:gd name="T16" fmla="*/ 9 w 27"/>
                <a:gd name="T17" fmla="*/ 4 h 14"/>
                <a:gd name="T18" fmla="*/ 6 w 27"/>
                <a:gd name="T19" fmla="*/ 5 h 14"/>
                <a:gd name="T20" fmla="*/ 5 w 27"/>
                <a:gd name="T21" fmla="*/ 8 h 14"/>
                <a:gd name="T22" fmla="*/ 6 w 27"/>
                <a:gd name="T23" fmla="*/ 9 h 14"/>
                <a:gd name="T24" fmla="*/ 10 w 27"/>
                <a:gd name="T25" fmla="*/ 10 h 14"/>
                <a:gd name="T26" fmla="*/ 26 w 27"/>
                <a:gd name="T27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7" h="14">
                  <a:moveTo>
                    <a:pt x="26" y="8"/>
                  </a:moveTo>
                  <a:cubicBezTo>
                    <a:pt x="27" y="12"/>
                    <a:pt x="27" y="12"/>
                    <a:pt x="27" y="12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9" y="14"/>
                    <a:pt x="7" y="14"/>
                    <a:pt x="6" y="14"/>
                  </a:cubicBezTo>
                  <a:cubicBezTo>
                    <a:pt x="4" y="14"/>
                    <a:pt x="3" y="13"/>
                    <a:pt x="2" y="12"/>
                  </a:cubicBezTo>
                  <a:cubicBezTo>
                    <a:pt x="1" y="11"/>
                    <a:pt x="0" y="10"/>
                    <a:pt x="0" y="8"/>
                  </a:cubicBezTo>
                  <a:cubicBezTo>
                    <a:pt x="0" y="6"/>
                    <a:pt x="1" y="4"/>
                    <a:pt x="2" y="3"/>
                  </a:cubicBezTo>
                  <a:cubicBezTo>
                    <a:pt x="3" y="1"/>
                    <a:pt x="5" y="1"/>
                    <a:pt x="8" y="0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7" y="5"/>
                    <a:pt x="6" y="5"/>
                    <a:pt x="6" y="5"/>
                  </a:cubicBezTo>
                  <a:cubicBezTo>
                    <a:pt x="5" y="6"/>
                    <a:pt x="5" y="7"/>
                    <a:pt x="5" y="8"/>
                  </a:cubicBezTo>
                  <a:cubicBezTo>
                    <a:pt x="5" y="8"/>
                    <a:pt x="5" y="9"/>
                    <a:pt x="6" y="9"/>
                  </a:cubicBezTo>
                  <a:cubicBezTo>
                    <a:pt x="7" y="10"/>
                    <a:pt x="8" y="10"/>
                    <a:pt x="10" y="10"/>
                  </a:cubicBezTo>
                  <a:lnTo>
                    <a:pt x="26" y="8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7" name="îṧḷíḓê">
              <a:extLst>
                <a:ext uri="{FF2B5EF4-FFF2-40B4-BE49-F238E27FC236}">
                  <a16:creationId xmlns:a16="http://schemas.microsoft.com/office/drawing/2014/main" id="{9C8020A2-44B0-E8F2-83F0-ED19E866BBCC}"/>
                </a:ext>
              </a:extLst>
            </p:cNvPr>
            <p:cNvSpPr/>
            <p:nvPr/>
          </p:nvSpPr>
          <p:spPr bwMode="auto">
            <a:xfrm>
              <a:off x="2162175" y="3541713"/>
              <a:ext cx="93663" cy="31750"/>
            </a:xfrm>
            <a:custGeom>
              <a:avLst/>
              <a:gdLst>
                <a:gd name="T0" fmla="*/ 0 w 59"/>
                <a:gd name="T1" fmla="*/ 9 h 20"/>
                <a:gd name="T2" fmla="*/ 57 w 59"/>
                <a:gd name="T3" fmla="*/ 0 h 20"/>
                <a:gd name="T4" fmla="*/ 59 w 59"/>
                <a:gd name="T5" fmla="*/ 9 h 20"/>
                <a:gd name="T6" fmla="*/ 2 w 59"/>
                <a:gd name="T7" fmla="*/ 20 h 20"/>
                <a:gd name="T8" fmla="*/ 0 w 59"/>
                <a:gd name="T9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20">
                  <a:moveTo>
                    <a:pt x="0" y="9"/>
                  </a:moveTo>
                  <a:lnTo>
                    <a:pt x="57" y="0"/>
                  </a:lnTo>
                  <a:lnTo>
                    <a:pt x="59" y="9"/>
                  </a:lnTo>
                  <a:lnTo>
                    <a:pt x="2" y="20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8" name="íṩ1iḑê">
              <a:extLst>
                <a:ext uri="{FF2B5EF4-FFF2-40B4-BE49-F238E27FC236}">
                  <a16:creationId xmlns:a16="http://schemas.microsoft.com/office/drawing/2014/main" id="{878AA491-4081-B0E1-402A-508D1BA102B5}"/>
                </a:ext>
              </a:extLst>
            </p:cNvPr>
            <p:cNvSpPr/>
            <p:nvPr/>
          </p:nvSpPr>
          <p:spPr bwMode="auto">
            <a:xfrm>
              <a:off x="2168525" y="3570288"/>
              <a:ext cx="104775" cy="84138"/>
            </a:xfrm>
            <a:custGeom>
              <a:avLst/>
              <a:gdLst>
                <a:gd name="T0" fmla="*/ 0 w 66"/>
                <a:gd name="T1" fmla="*/ 14 h 53"/>
                <a:gd name="T2" fmla="*/ 57 w 66"/>
                <a:gd name="T3" fmla="*/ 0 h 53"/>
                <a:gd name="T4" fmla="*/ 59 w 66"/>
                <a:gd name="T5" fmla="*/ 9 h 53"/>
                <a:gd name="T6" fmla="*/ 25 w 66"/>
                <a:gd name="T7" fmla="*/ 39 h 53"/>
                <a:gd name="T8" fmla="*/ 64 w 66"/>
                <a:gd name="T9" fmla="*/ 30 h 53"/>
                <a:gd name="T10" fmla="*/ 66 w 66"/>
                <a:gd name="T11" fmla="*/ 39 h 53"/>
                <a:gd name="T12" fmla="*/ 9 w 66"/>
                <a:gd name="T13" fmla="*/ 53 h 53"/>
                <a:gd name="T14" fmla="*/ 7 w 66"/>
                <a:gd name="T15" fmla="*/ 41 h 53"/>
                <a:gd name="T16" fmla="*/ 39 w 66"/>
                <a:gd name="T17" fmla="*/ 14 h 53"/>
                <a:gd name="T18" fmla="*/ 3 w 66"/>
                <a:gd name="T19" fmla="*/ 23 h 53"/>
                <a:gd name="T20" fmla="*/ 0 w 66"/>
                <a:gd name="T21" fmla="*/ 14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6" h="53">
                  <a:moveTo>
                    <a:pt x="0" y="14"/>
                  </a:moveTo>
                  <a:lnTo>
                    <a:pt x="57" y="0"/>
                  </a:lnTo>
                  <a:lnTo>
                    <a:pt x="59" y="9"/>
                  </a:lnTo>
                  <a:lnTo>
                    <a:pt x="25" y="39"/>
                  </a:lnTo>
                  <a:lnTo>
                    <a:pt x="64" y="30"/>
                  </a:lnTo>
                  <a:lnTo>
                    <a:pt x="66" y="39"/>
                  </a:lnTo>
                  <a:lnTo>
                    <a:pt x="9" y="53"/>
                  </a:lnTo>
                  <a:lnTo>
                    <a:pt x="7" y="41"/>
                  </a:lnTo>
                  <a:lnTo>
                    <a:pt x="39" y="14"/>
                  </a:lnTo>
                  <a:lnTo>
                    <a:pt x="3" y="23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9" name="îṥlîdê">
              <a:extLst>
                <a:ext uri="{FF2B5EF4-FFF2-40B4-BE49-F238E27FC236}">
                  <a16:creationId xmlns:a16="http://schemas.microsoft.com/office/drawing/2014/main" id="{D12A04B6-DDC4-B84E-828B-40C62064A29F}"/>
                </a:ext>
              </a:extLst>
            </p:cNvPr>
            <p:cNvSpPr/>
            <p:nvPr/>
          </p:nvSpPr>
          <p:spPr bwMode="auto">
            <a:xfrm>
              <a:off x="2197100" y="3649663"/>
              <a:ext cx="95250" cy="87313"/>
            </a:xfrm>
            <a:custGeom>
              <a:avLst/>
              <a:gdLst>
                <a:gd name="T0" fmla="*/ 10 w 26"/>
                <a:gd name="T1" fmla="*/ 13 h 24"/>
                <a:gd name="T2" fmla="*/ 14 w 26"/>
                <a:gd name="T3" fmla="*/ 12 h 24"/>
                <a:gd name="T4" fmla="*/ 17 w 26"/>
                <a:gd name="T5" fmla="*/ 20 h 24"/>
                <a:gd name="T6" fmla="*/ 8 w 26"/>
                <a:gd name="T7" fmla="*/ 24 h 24"/>
                <a:gd name="T8" fmla="*/ 4 w 26"/>
                <a:gd name="T9" fmla="*/ 21 h 24"/>
                <a:gd name="T10" fmla="*/ 1 w 26"/>
                <a:gd name="T11" fmla="*/ 17 h 24"/>
                <a:gd name="T12" fmla="*/ 0 w 26"/>
                <a:gd name="T13" fmla="*/ 10 h 24"/>
                <a:gd name="T14" fmla="*/ 3 w 26"/>
                <a:gd name="T15" fmla="*/ 5 h 24"/>
                <a:gd name="T16" fmla="*/ 9 w 26"/>
                <a:gd name="T17" fmla="*/ 2 h 24"/>
                <a:gd name="T18" fmla="*/ 17 w 26"/>
                <a:gd name="T19" fmla="*/ 1 h 24"/>
                <a:gd name="T20" fmla="*/ 22 w 26"/>
                <a:gd name="T21" fmla="*/ 3 h 24"/>
                <a:gd name="T22" fmla="*/ 25 w 26"/>
                <a:gd name="T23" fmla="*/ 7 h 24"/>
                <a:gd name="T24" fmla="*/ 26 w 26"/>
                <a:gd name="T25" fmla="*/ 14 h 24"/>
                <a:gd name="T26" fmla="*/ 22 w 26"/>
                <a:gd name="T27" fmla="*/ 19 h 24"/>
                <a:gd name="T28" fmla="*/ 19 w 26"/>
                <a:gd name="T29" fmla="*/ 15 h 24"/>
                <a:gd name="T30" fmla="*/ 21 w 26"/>
                <a:gd name="T31" fmla="*/ 12 h 24"/>
                <a:gd name="T32" fmla="*/ 21 w 26"/>
                <a:gd name="T33" fmla="*/ 9 h 24"/>
                <a:gd name="T34" fmla="*/ 18 w 26"/>
                <a:gd name="T35" fmla="*/ 5 h 24"/>
                <a:gd name="T36" fmla="*/ 11 w 26"/>
                <a:gd name="T37" fmla="*/ 6 h 24"/>
                <a:gd name="T38" fmla="*/ 5 w 26"/>
                <a:gd name="T39" fmla="*/ 10 h 24"/>
                <a:gd name="T40" fmla="*/ 5 w 26"/>
                <a:gd name="T41" fmla="*/ 15 h 24"/>
                <a:gd name="T42" fmla="*/ 6 w 26"/>
                <a:gd name="T43" fmla="*/ 17 h 24"/>
                <a:gd name="T44" fmla="*/ 9 w 26"/>
                <a:gd name="T45" fmla="*/ 19 h 24"/>
                <a:gd name="T46" fmla="*/ 12 w 26"/>
                <a:gd name="T47" fmla="*/ 18 h 24"/>
                <a:gd name="T48" fmla="*/ 10 w 26"/>
                <a:gd name="T49" fmla="*/ 1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6" h="24">
                  <a:moveTo>
                    <a:pt x="10" y="13"/>
                  </a:moveTo>
                  <a:cubicBezTo>
                    <a:pt x="14" y="12"/>
                    <a:pt x="14" y="12"/>
                    <a:pt x="14" y="12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3"/>
                    <a:pt x="5" y="22"/>
                    <a:pt x="4" y="21"/>
                  </a:cubicBezTo>
                  <a:cubicBezTo>
                    <a:pt x="2" y="20"/>
                    <a:pt x="1" y="18"/>
                    <a:pt x="1" y="17"/>
                  </a:cubicBezTo>
                  <a:cubicBezTo>
                    <a:pt x="0" y="14"/>
                    <a:pt x="0" y="12"/>
                    <a:pt x="0" y="10"/>
                  </a:cubicBezTo>
                  <a:cubicBezTo>
                    <a:pt x="1" y="8"/>
                    <a:pt x="2" y="7"/>
                    <a:pt x="3" y="5"/>
                  </a:cubicBezTo>
                  <a:cubicBezTo>
                    <a:pt x="5" y="4"/>
                    <a:pt x="7" y="3"/>
                    <a:pt x="9" y="2"/>
                  </a:cubicBezTo>
                  <a:cubicBezTo>
                    <a:pt x="12" y="1"/>
                    <a:pt x="14" y="0"/>
                    <a:pt x="17" y="1"/>
                  </a:cubicBezTo>
                  <a:cubicBezTo>
                    <a:pt x="19" y="1"/>
                    <a:pt x="21" y="2"/>
                    <a:pt x="22" y="3"/>
                  </a:cubicBezTo>
                  <a:cubicBezTo>
                    <a:pt x="24" y="4"/>
                    <a:pt x="25" y="5"/>
                    <a:pt x="25" y="7"/>
                  </a:cubicBezTo>
                  <a:cubicBezTo>
                    <a:pt x="26" y="10"/>
                    <a:pt x="26" y="12"/>
                    <a:pt x="26" y="14"/>
                  </a:cubicBezTo>
                  <a:cubicBezTo>
                    <a:pt x="25" y="16"/>
                    <a:pt x="24" y="17"/>
                    <a:pt x="22" y="19"/>
                  </a:cubicBezTo>
                  <a:cubicBezTo>
                    <a:pt x="19" y="15"/>
                    <a:pt x="19" y="15"/>
                    <a:pt x="19" y="15"/>
                  </a:cubicBezTo>
                  <a:cubicBezTo>
                    <a:pt x="20" y="14"/>
                    <a:pt x="21" y="13"/>
                    <a:pt x="21" y="12"/>
                  </a:cubicBezTo>
                  <a:cubicBezTo>
                    <a:pt x="22" y="11"/>
                    <a:pt x="22" y="10"/>
                    <a:pt x="21" y="9"/>
                  </a:cubicBezTo>
                  <a:cubicBezTo>
                    <a:pt x="21" y="7"/>
                    <a:pt x="19" y="6"/>
                    <a:pt x="18" y="5"/>
                  </a:cubicBezTo>
                  <a:cubicBezTo>
                    <a:pt x="16" y="5"/>
                    <a:pt x="14" y="5"/>
                    <a:pt x="11" y="6"/>
                  </a:cubicBezTo>
                  <a:cubicBezTo>
                    <a:pt x="8" y="7"/>
                    <a:pt x="6" y="8"/>
                    <a:pt x="5" y="10"/>
                  </a:cubicBezTo>
                  <a:cubicBezTo>
                    <a:pt x="4" y="11"/>
                    <a:pt x="4" y="13"/>
                    <a:pt x="5" y="15"/>
                  </a:cubicBezTo>
                  <a:cubicBezTo>
                    <a:pt x="5" y="16"/>
                    <a:pt x="6" y="16"/>
                    <a:pt x="6" y="17"/>
                  </a:cubicBezTo>
                  <a:cubicBezTo>
                    <a:pt x="7" y="18"/>
                    <a:pt x="8" y="18"/>
                    <a:pt x="9" y="19"/>
                  </a:cubicBezTo>
                  <a:cubicBezTo>
                    <a:pt x="12" y="18"/>
                    <a:pt x="12" y="18"/>
                    <a:pt x="12" y="18"/>
                  </a:cubicBezTo>
                  <a:lnTo>
                    <a:pt x="10" y="13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0" name="îṧľîḑé">
              <a:extLst>
                <a:ext uri="{FF2B5EF4-FFF2-40B4-BE49-F238E27FC236}">
                  <a16:creationId xmlns:a16="http://schemas.microsoft.com/office/drawing/2014/main" id="{3588C69B-794C-4A9D-B27A-C1E9E0077C87}"/>
                </a:ext>
              </a:extLst>
            </p:cNvPr>
            <p:cNvSpPr/>
            <p:nvPr/>
          </p:nvSpPr>
          <p:spPr bwMode="auto">
            <a:xfrm>
              <a:off x="2244725" y="3744913"/>
              <a:ext cx="101600" cy="90488"/>
            </a:xfrm>
            <a:custGeom>
              <a:avLst/>
              <a:gdLst>
                <a:gd name="T0" fmla="*/ 20 w 28"/>
                <a:gd name="T1" fmla="*/ 0 h 25"/>
                <a:gd name="T2" fmla="*/ 22 w 28"/>
                <a:gd name="T3" fmla="*/ 4 h 25"/>
                <a:gd name="T4" fmla="*/ 10 w 28"/>
                <a:gd name="T5" fmla="*/ 11 h 25"/>
                <a:gd name="T6" fmla="*/ 6 w 28"/>
                <a:gd name="T7" fmla="*/ 13 h 25"/>
                <a:gd name="T8" fmla="*/ 4 w 28"/>
                <a:gd name="T9" fmla="*/ 15 h 25"/>
                <a:gd name="T10" fmla="*/ 5 w 28"/>
                <a:gd name="T11" fmla="*/ 18 h 25"/>
                <a:gd name="T12" fmla="*/ 7 w 28"/>
                <a:gd name="T13" fmla="*/ 20 h 25"/>
                <a:gd name="T14" fmla="*/ 10 w 28"/>
                <a:gd name="T15" fmla="*/ 20 h 25"/>
                <a:gd name="T16" fmla="*/ 13 w 28"/>
                <a:gd name="T17" fmla="*/ 19 h 25"/>
                <a:gd name="T18" fmla="*/ 26 w 28"/>
                <a:gd name="T19" fmla="*/ 12 h 25"/>
                <a:gd name="T20" fmla="*/ 28 w 28"/>
                <a:gd name="T21" fmla="*/ 16 h 25"/>
                <a:gd name="T22" fmla="*/ 16 w 28"/>
                <a:gd name="T23" fmla="*/ 22 h 25"/>
                <a:gd name="T24" fmla="*/ 10 w 28"/>
                <a:gd name="T25" fmla="*/ 25 h 25"/>
                <a:gd name="T26" fmla="*/ 7 w 28"/>
                <a:gd name="T27" fmla="*/ 25 h 25"/>
                <a:gd name="T28" fmla="*/ 4 w 28"/>
                <a:gd name="T29" fmla="*/ 24 h 25"/>
                <a:gd name="T30" fmla="*/ 1 w 28"/>
                <a:gd name="T31" fmla="*/ 21 h 25"/>
                <a:gd name="T32" fmla="*/ 0 w 28"/>
                <a:gd name="T33" fmla="*/ 16 h 25"/>
                <a:gd name="T34" fmla="*/ 0 w 28"/>
                <a:gd name="T35" fmla="*/ 13 h 25"/>
                <a:gd name="T36" fmla="*/ 2 w 28"/>
                <a:gd name="T37" fmla="*/ 10 h 25"/>
                <a:gd name="T38" fmla="*/ 8 w 28"/>
                <a:gd name="T39" fmla="*/ 7 h 25"/>
                <a:gd name="T40" fmla="*/ 20 w 28"/>
                <a:gd name="T41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" h="25">
                  <a:moveTo>
                    <a:pt x="20" y="0"/>
                  </a:moveTo>
                  <a:cubicBezTo>
                    <a:pt x="22" y="4"/>
                    <a:pt x="22" y="4"/>
                    <a:pt x="22" y="4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8" y="12"/>
                    <a:pt x="7" y="13"/>
                    <a:pt x="6" y="13"/>
                  </a:cubicBezTo>
                  <a:cubicBezTo>
                    <a:pt x="5" y="14"/>
                    <a:pt x="5" y="14"/>
                    <a:pt x="4" y="15"/>
                  </a:cubicBezTo>
                  <a:cubicBezTo>
                    <a:pt x="4" y="16"/>
                    <a:pt x="4" y="17"/>
                    <a:pt x="5" y="18"/>
                  </a:cubicBezTo>
                  <a:cubicBezTo>
                    <a:pt x="6" y="19"/>
                    <a:pt x="6" y="20"/>
                    <a:pt x="7" y="20"/>
                  </a:cubicBezTo>
                  <a:cubicBezTo>
                    <a:pt x="8" y="21"/>
                    <a:pt x="9" y="21"/>
                    <a:pt x="10" y="20"/>
                  </a:cubicBezTo>
                  <a:cubicBezTo>
                    <a:pt x="10" y="20"/>
                    <a:pt x="12" y="19"/>
                    <a:pt x="13" y="19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4" y="23"/>
                    <a:pt x="12" y="24"/>
                    <a:pt x="10" y="25"/>
                  </a:cubicBezTo>
                  <a:cubicBezTo>
                    <a:pt x="9" y="25"/>
                    <a:pt x="8" y="25"/>
                    <a:pt x="7" y="25"/>
                  </a:cubicBezTo>
                  <a:cubicBezTo>
                    <a:pt x="6" y="25"/>
                    <a:pt x="5" y="25"/>
                    <a:pt x="4" y="24"/>
                  </a:cubicBezTo>
                  <a:cubicBezTo>
                    <a:pt x="3" y="23"/>
                    <a:pt x="2" y="22"/>
                    <a:pt x="1" y="21"/>
                  </a:cubicBezTo>
                  <a:cubicBezTo>
                    <a:pt x="0" y="19"/>
                    <a:pt x="0" y="17"/>
                    <a:pt x="0" y="16"/>
                  </a:cubicBezTo>
                  <a:cubicBezTo>
                    <a:pt x="0" y="15"/>
                    <a:pt x="0" y="14"/>
                    <a:pt x="0" y="13"/>
                  </a:cubicBezTo>
                  <a:cubicBezTo>
                    <a:pt x="1" y="12"/>
                    <a:pt x="2" y="11"/>
                    <a:pt x="2" y="10"/>
                  </a:cubicBezTo>
                  <a:cubicBezTo>
                    <a:pt x="3" y="9"/>
                    <a:pt x="5" y="8"/>
                    <a:pt x="8" y="7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1" name="ï$ļíḑe">
              <a:extLst>
                <a:ext uri="{FF2B5EF4-FFF2-40B4-BE49-F238E27FC236}">
                  <a16:creationId xmlns:a16="http://schemas.microsoft.com/office/drawing/2014/main" id="{3B846306-3EF6-F1A0-B72E-27B513CC9AD0}"/>
                </a:ext>
              </a:extLst>
            </p:cNvPr>
            <p:cNvSpPr/>
            <p:nvPr/>
          </p:nvSpPr>
          <p:spPr bwMode="auto">
            <a:xfrm>
              <a:off x="2276475" y="3813176"/>
              <a:ext cx="112713" cy="101600"/>
            </a:xfrm>
            <a:custGeom>
              <a:avLst/>
              <a:gdLst>
                <a:gd name="T0" fmla="*/ 0 w 71"/>
                <a:gd name="T1" fmla="*/ 32 h 64"/>
                <a:gd name="T2" fmla="*/ 48 w 71"/>
                <a:gd name="T3" fmla="*/ 0 h 64"/>
                <a:gd name="T4" fmla="*/ 53 w 71"/>
                <a:gd name="T5" fmla="*/ 7 h 64"/>
                <a:gd name="T6" fmla="*/ 32 w 71"/>
                <a:gd name="T7" fmla="*/ 46 h 64"/>
                <a:gd name="T8" fmla="*/ 64 w 71"/>
                <a:gd name="T9" fmla="*/ 25 h 64"/>
                <a:gd name="T10" fmla="*/ 71 w 71"/>
                <a:gd name="T11" fmla="*/ 32 h 64"/>
                <a:gd name="T12" fmla="*/ 21 w 71"/>
                <a:gd name="T13" fmla="*/ 64 h 64"/>
                <a:gd name="T14" fmla="*/ 16 w 71"/>
                <a:gd name="T15" fmla="*/ 57 h 64"/>
                <a:gd name="T16" fmla="*/ 37 w 71"/>
                <a:gd name="T17" fmla="*/ 18 h 64"/>
                <a:gd name="T18" fmla="*/ 5 w 71"/>
                <a:gd name="T19" fmla="*/ 39 h 64"/>
                <a:gd name="T20" fmla="*/ 0 w 71"/>
                <a:gd name="T21" fmla="*/ 32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1" h="64">
                  <a:moveTo>
                    <a:pt x="0" y="32"/>
                  </a:moveTo>
                  <a:lnTo>
                    <a:pt x="48" y="0"/>
                  </a:lnTo>
                  <a:lnTo>
                    <a:pt x="53" y="7"/>
                  </a:lnTo>
                  <a:lnTo>
                    <a:pt x="32" y="46"/>
                  </a:lnTo>
                  <a:lnTo>
                    <a:pt x="64" y="25"/>
                  </a:lnTo>
                  <a:lnTo>
                    <a:pt x="71" y="32"/>
                  </a:lnTo>
                  <a:lnTo>
                    <a:pt x="21" y="64"/>
                  </a:lnTo>
                  <a:lnTo>
                    <a:pt x="16" y="57"/>
                  </a:lnTo>
                  <a:lnTo>
                    <a:pt x="37" y="18"/>
                  </a:lnTo>
                  <a:lnTo>
                    <a:pt x="5" y="39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2" name="iṩḷïde">
              <a:extLst>
                <a:ext uri="{FF2B5EF4-FFF2-40B4-BE49-F238E27FC236}">
                  <a16:creationId xmlns:a16="http://schemas.microsoft.com/office/drawing/2014/main" id="{2DDABF60-0BA2-8B8D-6B07-0BE8C84280D4}"/>
                </a:ext>
              </a:extLst>
            </p:cNvPr>
            <p:cNvSpPr/>
            <p:nvPr/>
          </p:nvSpPr>
          <p:spPr bwMode="auto">
            <a:xfrm>
              <a:off x="2324100" y="3875088"/>
              <a:ext cx="82550" cy="68263"/>
            </a:xfrm>
            <a:custGeom>
              <a:avLst/>
              <a:gdLst>
                <a:gd name="T0" fmla="*/ 0 w 52"/>
                <a:gd name="T1" fmla="*/ 36 h 43"/>
                <a:gd name="T2" fmla="*/ 45 w 52"/>
                <a:gd name="T3" fmla="*/ 0 h 43"/>
                <a:gd name="T4" fmla="*/ 52 w 52"/>
                <a:gd name="T5" fmla="*/ 7 h 43"/>
                <a:gd name="T6" fmla="*/ 7 w 52"/>
                <a:gd name="T7" fmla="*/ 43 h 43"/>
                <a:gd name="T8" fmla="*/ 0 w 52"/>
                <a:gd name="T9" fmla="*/ 3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43">
                  <a:moveTo>
                    <a:pt x="0" y="36"/>
                  </a:moveTo>
                  <a:lnTo>
                    <a:pt x="45" y="0"/>
                  </a:lnTo>
                  <a:lnTo>
                    <a:pt x="52" y="7"/>
                  </a:lnTo>
                  <a:lnTo>
                    <a:pt x="7" y="43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3" name="í$ḷïďê">
              <a:extLst>
                <a:ext uri="{FF2B5EF4-FFF2-40B4-BE49-F238E27FC236}">
                  <a16:creationId xmlns:a16="http://schemas.microsoft.com/office/drawing/2014/main" id="{817DB484-5D5C-A3C3-8097-0E3337CC020F}"/>
                </a:ext>
              </a:extLst>
            </p:cNvPr>
            <p:cNvSpPr/>
            <p:nvPr/>
          </p:nvSpPr>
          <p:spPr bwMode="auto">
            <a:xfrm>
              <a:off x="2360613" y="3889376"/>
              <a:ext cx="96838" cy="98425"/>
            </a:xfrm>
            <a:custGeom>
              <a:avLst/>
              <a:gdLst>
                <a:gd name="T0" fmla="*/ 0 w 61"/>
                <a:gd name="T1" fmla="*/ 52 h 62"/>
                <a:gd name="T2" fmla="*/ 29 w 61"/>
                <a:gd name="T3" fmla="*/ 0 h 62"/>
                <a:gd name="T4" fmla="*/ 38 w 61"/>
                <a:gd name="T5" fmla="*/ 9 h 62"/>
                <a:gd name="T6" fmla="*/ 13 w 61"/>
                <a:gd name="T7" fmla="*/ 48 h 62"/>
                <a:gd name="T8" fmla="*/ 54 w 61"/>
                <a:gd name="T9" fmla="*/ 27 h 62"/>
                <a:gd name="T10" fmla="*/ 61 w 61"/>
                <a:gd name="T11" fmla="*/ 34 h 62"/>
                <a:gd name="T12" fmla="*/ 7 w 61"/>
                <a:gd name="T13" fmla="*/ 62 h 62"/>
                <a:gd name="T14" fmla="*/ 0 w 61"/>
                <a:gd name="T15" fmla="*/ 5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1" h="62">
                  <a:moveTo>
                    <a:pt x="0" y="52"/>
                  </a:moveTo>
                  <a:lnTo>
                    <a:pt x="29" y="0"/>
                  </a:lnTo>
                  <a:lnTo>
                    <a:pt x="38" y="9"/>
                  </a:lnTo>
                  <a:lnTo>
                    <a:pt x="13" y="48"/>
                  </a:lnTo>
                  <a:lnTo>
                    <a:pt x="54" y="27"/>
                  </a:lnTo>
                  <a:lnTo>
                    <a:pt x="61" y="34"/>
                  </a:lnTo>
                  <a:lnTo>
                    <a:pt x="7" y="62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4" name="îśľïḑe">
              <a:extLst>
                <a:ext uri="{FF2B5EF4-FFF2-40B4-BE49-F238E27FC236}">
                  <a16:creationId xmlns:a16="http://schemas.microsoft.com/office/drawing/2014/main" id="{03503FD3-4079-7357-3F0C-5BB558D9D6C1}"/>
                </a:ext>
              </a:extLst>
            </p:cNvPr>
            <p:cNvSpPr/>
            <p:nvPr/>
          </p:nvSpPr>
          <p:spPr bwMode="auto">
            <a:xfrm>
              <a:off x="2400300" y="3946526"/>
              <a:ext cx="104775" cy="109538"/>
            </a:xfrm>
            <a:custGeom>
              <a:avLst/>
              <a:gdLst>
                <a:gd name="T0" fmla="*/ 0 w 66"/>
                <a:gd name="T1" fmla="*/ 44 h 69"/>
                <a:gd name="T2" fmla="*/ 38 w 66"/>
                <a:gd name="T3" fmla="*/ 0 h 69"/>
                <a:gd name="T4" fmla="*/ 66 w 66"/>
                <a:gd name="T5" fmla="*/ 26 h 69"/>
                <a:gd name="T6" fmla="*/ 59 w 66"/>
                <a:gd name="T7" fmla="*/ 32 h 69"/>
                <a:gd name="T8" fmla="*/ 38 w 66"/>
                <a:gd name="T9" fmla="*/ 14 h 69"/>
                <a:gd name="T10" fmla="*/ 29 w 66"/>
                <a:gd name="T11" fmla="*/ 26 h 69"/>
                <a:gd name="T12" fmla="*/ 47 w 66"/>
                <a:gd name="T13" fmla="*/ 42 h 69"/>
                <a:gd name="T14" fmla="*/ 43 w 66"/>
                <a:gd name="T15" fmla="*/ 48 h 69"/>
                <a:gd name="T16" fmla="*/ 22 w 66"/>
                <a:gd name="T17" fmla="*/ 32 h 69"/>
                <a:gd name="T18" fmla="*/ 13 w 66"/>
                <a:gd name="T19" fmla="*/ 44 h 69"/>
                <a:gd name="T20" fmla="*/ 34 w 66"/>
                <a:gd name="T21" fmla="*/ 62 h 69"/>
                <a:gd name="T22" fmla="*/ 27 w 66"/>
                <a:gd name="T23" fmla="*/ 69 h 69"/>
                <a:gd name="T24" fmla="*/ 0 w 66"/>
                <a:gd name="T25" fmla="*/ 44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6" h="69">
                  <a:moveTo>
                    <a:pt x="0" y="44"/>
                  </a:moveTo>
                  <a:lnTo>
                    <a:pt x="38" y="0"/>
                  </a:lnTo>
                  <a:lnTo>
                    <a:pt x="66" y="26"/>
                  </a:lnTo>
                  <a:lnTo>
                    <a:pt x="59" y="32"/>
                  </a:lnTo>
                  <a:lnTo>
                    <a:pt x="38" y="14"/>
                  </a:lnTo>
                  <a:lnTo>
                    <a:pt x="29" y="26"/>
                  </a:lnTo>
                  <a:lnTo>
                    <a:pt x="47" y="42"/>
                  </a:lnTo>
                  <a:lnTo>
                    <a:pt x="43" y="48"/>
                  </a:lnTo>
                  <a:lnTo>
                    <a:pt x="22" y="32"/>
                  </a:lnTo>
                  <a:lnTo>
                    <a:pt x="13" y="44"/>
                  </a:lnTo>
                  <a:lnTo>
                    <a:pt x="34" y="62"/>
                  </a:lnTo>
                  <a:lnTo>
                    <a:pt x="27" y="69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5" name="ïSlîḍè">
              <a:extLst>
                <a:ext uri="{FF2B5EF4-FFF2-40B4-BE49-F238E27FC236}">
                  <a16:creationId xmlns:a16="http://schemas.microsoft.com/office/drawing/2014/main" id="{797974A7-A584-C474-43E0-0D0867D8EDD2}"/>
                </a:ext>
              </a:extLst>
            </p:cNvPr>
            <p:cNvSpPr/>
            <p:nvPr/>
          </p:nvSpPr>
          <p:spPr bwMode="auto">
            <a:xfrm>
              <a:off x="2457450" y="3994151"/>
              <a:ext cx="96838" cy="115888"/>
            </a:xfrm>
            <a:custGeom>
              <a:avLst/>
              <a:gdLst>
                <a:gd name="T0" fmla="*/ 0 w 27"/>
                <a:gd name="T1" fmla="*/ 21 h 32"/>
                <a:gd name="T2" fmla="*/ 15 w 27"/>
                <a:gd name="T3" fmla="*/ 0 h 32"/>
                <a:gd name="T4" fmla="*/ 23 w 27"/>
                <a:gd name="T5" fmla="*/ 6 h 32"/>
                <a:gd name="T6" fmla="*/ 26 w 27"/>
                <a:gd name="T7" fmla="*/ 9 h 32"/>
                <a:gd name="T8" fmla="*/ 27 w 27"/>
                <a:gd name="T9" fmla="*/ 13 h 32"/>
                <a:gd name="T10" fmla="*/ 25 w 27"/>
                <a:gd name="T11" fmla="*/ 16 h 32"/>
                <a:gd name="T12" fmla="*/ 21 w 27"/>
                <a:gd name="T13" fmla="*/ 19 h 32"/>
                <a:gd name="T14" fmla="*/ 16 w 27"/>
                <a:gd name="T15" fmla="*/ 19 h 32"/>
                <a:gd name="T16" fmla="*/ 17 w 27"/>
                <a:gd name="T17" fmla="*/ 22 h 32"/>
                <a:gd name="T18" fmla="*/ 16 w 27"/>
                <a:gd name="T19" fmla="*/ 27 h 32"/>
                <a:gd name="T20" fmla="*/ 16 w 27"/>
                <a:gd name="T21" fmla="*/ 32 h 32"/>
                <a:gd name="T22" fmla="*/ 11 w 27"/>
                <a:gd name="T23" fmla="*/ 29 h 32"/>
                <a:gd name="T24" fmla="*/ 12 w 27"/>
                <a:gd name="T25" fmla="*/ 23 h 32"/>
                <a:gd name="T26" fmla="*/ 13 w 27"/>
                <a:gd name="T27" fmla="*/ 18 h 32"/>
                <a:gd name="T28" fmla="*/ 12 w 27"/>
                <a:gd name="T29" fmla="*/ 17 h 32"/>
                <a:gd name="T30" fmla="*/ 11 w 27"/>
                <a:gd name="T31" fmla="*/ 15 h 32"/>
                <a:gd name="T32" fmla="*/ 10 w 27"/>
                <a:gd name="T33" fmla="*/ 15 h 32"/>
                <a:gd name="T34" fmla="*/ 3 w 27"/>
                <a:gd name="T35" fmla="*/ 23 h 32"/>
                <a:gd name="T36" fmla="*/ 0 w 27"/>
                <a:gd name="T37" fmla="*/ 21 h 32"/>
                <a:gd name="T38" fmla="*/ 12 w 27"/>
                <a:gd name="T39" fmla="*/ 11 h 32"/>
                <a:gd name="T40" fmla="*/ 15 w 27"/>
                <a:gd name="T41" fmla="*/ 13 h 32"/>
                <a:gd name="T42" fmla="*/ 18 w 27"/>
                <a:gd name="T43" fmla="*/ 15 h 32"/>
                <a:gd name="T44" fmla="*/ 20 w 27"/>
                <a:gd name="T45" fmla="*/ 15 h 32"/>
                <a:gd name="T46" fmla="*/ 21 w 27"/>
                <a:gd name="T47" fmla="*/ 14 h 32"/>
                <a:gd name="T48" fmla="*/ 22 w 27"/>
                <a:gd name="T49" fmla="*/ 12 h 32"/>
                <a:gd name="T50" fmla="*/ 21 w 27"/>
                <a:gd name="T51" fmla="*/ 10 h 32"/>
                <a:gd name="T52" fmla="*/ 19 w 27"/>
                <a:gd name="T53" fmla="*/ 8 h 32"/>
                <a:gd name="T54" fmla="*/ 16 w 27"/>
                <a:gd name="T55" fmla="*/ 6 h 32"/>
                <a:gd name="T56" fmla="*/ 12 w 27"/>
                <a:gd name="T57" fmla="*/ 1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7" h="32">
                  <a:moveTo>
                    <a:pt x="0" y="21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4" y="7"/>
                    <a:pt x="26" y="8"/>
                    <a:pt x="26" y="9"/>
                  </a:cubicBezTo>
                  <a:cubicBezTo>
                    <a:pt x="27" y="10"/>
                    <a:pt x="27" y="11"/>
                    <a:pt x="27" y="13"/>
                  </a:cubicBezTo>
                  <a:cubicBezTo>
                    <a:pt x="27" y="14"/>
                    <a:pt x="26" y="15"/>
                    <a:pt x="25" y="16"/>
                  </a:cubicBezTo>
                  <a:cubicBezTo>
                    <a:pt x="24" y="18"/>
                    <a:pt x="23" y="19"/>
                    <a:pt x="21" y="19"/>
                  </a:cubicBezTo>
                  <a:cubicBezTo>
                    <a:pt x="20" y="20"/>
                    <a:pt x="18" y="20"/>
                    <a:pt x="16" y="19"/>
                  </a:cubicBezTo>
                  <a:cubicBezTo>
                    <a:pt x="17" y="20"/>
                    <a:pt x="17" y="21"/>
                    <a:pt x="17" y="22"/>
                  </a:cubicBezTo>
                  <a:cubicBezTo>
                    <a:pt x="17" y="23"/>
                    <a:pt x="17" y="24"/>
                    <a:pt x="16" y="27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1" y="29"/>
                    <a:pt x="11" y="29"/>
                    <a:pt x="11" y="29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0"/>
                    <a:pt x="13" y="19"/>
                    <a:pt x="13" y="18"/>
                  </a:cubicBezTo>
                  <a:cubicBezTo>
                    <a:pt x="13" y="18"/>
                    <a:pt x="12" y="17"/>
                    <a:pt x="12" y="17"/>
                  </a:cubicBezTo>
                  <a:cubicBezTo>
                    <a:pt x="12" y="16"/>
                    <a:pt x="11" y="16"/>
                    <a:pt x="11" y="15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3" y="23"/>
                    <a:pt x="3" y="23"/>
                    <a:pt x="3" y="23"/>
                  </a:cubicBezTo>
                  <a:lnTo>
                    <a:pt x="0" y="21"/>
                  </a:lnTo>
                  <a:close/>
                  <a:moveTo>
                    <a:pt x="12" y="11"/>
                  </a:moveTo>
                  <a:cubicBezTo>
                    <a:pt x="15" y="13"/>
                    <a:pt x="15" y="13"/>
                    <a:pt x="15" y="13"/>
                  </a:cubicBezTo>
                  <a:cubicBezTo>
                    <a:pt x="17" y="15"/>
                    <a:pt x="18" y="15"/>
                    <a:pt x="18" y="15"/>
                  </a:cubicBezTo>
                  <a:cubicBezTo>
                    <a:pt x="19" y="16"/>
                    <a:pt x="19" y="15"/>
                    <a:pt x="20" y="15"/>
                  </a:cubicBezTo>
                  <a:cubicBezTo>
                    <a:pt x="20" y="15"/>
                    <a:pt x="21" y="15"/>
                    <a:pt x="21" y="14"/>
                  </a:cubicBezTo>
                  <a:cubicBezTo>
                    <a:pt x="22" y="13"/>
                    <a:pt x="22" y="13"/>
                    <a:pt x="22" y="12"/>
                  </a:cubicBezTo>
                  <a:cubicBezTo>
                    <a:pt x="22" y="11"/>
                    <a:pt x="22" y="11"/>
                    <a:pt x="21" y="10"/>
                  </a:cubicBezTo>
                  <a:cubicBezTo>
                    <a:pt x="21" y="10"/>
                    <a:pt x="20" y="9"/>
                    <a:pt x="19" y="8"/>
                  </a:cubicBezTo>
                  <a:cubicBezTo>
                    <a:pt x="16" y="6"/>
                    <a:pt x="16" y="6"/>
                    <a:pt x="16" y="6"/>
                  </a:cubicBezTo>
                  <a:lnTo>
                    <a:pt x="12" y="11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6" name="işliḍé">
              <a:extLst>
                <a:ext uri="{FF2B5EF4-FFF2-40B4-BE49-F238E27FC236}">
                  <a16:creationId xmlns:a16="http://schemas.microsoft.com/office/drawing/2014/main" id="{E3330533-0DAD-703F-ABE1-7B3D4D11DD95}"/>
                </a:ext>
              </a:extLst>
            </p:cNvPr>
            <p:cNvSpPr/>
            <p:nvPr/>
          </p:nvSpPr>
          <p:spPr bwMode="auto">
            <a:xfrm>
              <a:off x="2533650" y="4044951"/>
              <a:ext cx="79375" cy="93663"/>
            </a:xfrm>
            <a:custGeom>
              <a:avLst/>
              <a:gdLst>
                <a:gd name="T0" fmla="*/ 1 w 22"/>
                <a:gd name="T1" fmla="*/ 13 h 26"/>
                <a:gd name="T2" fmla="*/ 5 w 22"/>
                <a:gd name="T3" fmla="*/ 14 h 26"/>
                <a:gd name="T4" fmla="*/ 5 w 22"/>
                <a:gd name="T5" fmla="*/ 18 h 26"/>
                <a:gd name="T6" fmla="*/ 7 w 22"/>
                <a:gd name="T7" fmla="*/ 21 h 26"/>
                <a:gd name="T8" fmla="*/ 10 w 22"/>
                <a:gd name="T9" fmla="*/ 22 h 26"/>
                <a:gd name="T10" fmla="*/ 12 w 22"/>
                <a:gd name="T11" fmla="*/ 20 h 26"/>
                <a:gd name="T12" fmla="*/ 13 w 22"/>
                <a:gd name="T13" fmla="*/ 19 h 26"/>
                <a:gd name="T14" fmla="*/ 12 w 22"/>
                <a:gd name="T15" fmla="*/ 17 h 26"/>
                <a:gd name="T16" fmla="*/ 9 w 22"/>
                <a:gd name="T17" fmla="*/ 14 h 26"/>
                <a:gd name="T18" fmla="*/ 6 w 22"/>
                <a:gd name="T19" fmla="*/ 9 h 26"/>
                <a:gd name="T20" fmla="*/ 7 w 22"/>
                <a:gd name="T21" fmla="*/ 4 h 26"/>
                <a:gd name="T22" fmla="*/ 10 w 22"/>
                <a:gd name="T23" fmla="*/ 1 h 26"/>
                <a:gd name="T24" fmla="*/ 14 w 22"/>
                <a:gd name="T25" fmla="*/ 0 h 26"/>
                <a:gd name="T26" fmla="*/ 18 w 22"/>
                <a:gd name="T27" fmla="*/ 2 h 26"/>
                <a:gd name="T28" fmla="*/ 22 w 22"/>
                <a:gd name="T29" fmla="*/ 7 h 26"/>
                <a:gd name="T30" fmla="*/ 21 w 22"/>
                <a:gd name="T31" fmla="*/ 13 h 26"/>
                <a:gd name="T32" fmla="*/ 17 w 22"/>
                <a:gd name="T33" fmla="*/ 11 h 26"/>
                <a:gd name="T34" fmla="*/ 18 w 22"/>
                <a:gd name="T35" fmla="*/ 8 h 26"/>
                <a:gd name="T36" fmla="*/ 16 w 22"/>
                <a:gd name="T37" fmla="*/ 5 h 26"/>
                <a:gd name="T38" fmla="*/ 13 w 22"/>
                <a:gd name="T39" fmla="*/ 5 h 26"/>
                <a:gd name="T40" fmla="*/ 11 w 22"/>
                <a:gd name="T41" fmla="*/ 6 h 26"/>
                <a:gd name="T42" fmla="*/ 11 w 22"/>
                <a:gd name="T43" fmla="*/ 7 h 26"/>
                <a:gd name="T44" fmla="*/ 13 w 22"/>
                <a:gd name="T45" fmla="*/ 11 h 26"/>
                <a:gd name="T46" fmla="*/ 17 w 22"/>
                <a:gd name="T47" fmla="*/ 15 h 26"/>
                <a:gd name="T48" fmla="*/ 17 w 22"/>
                <a:gd name="T49" fmla="*/ 18 h 26"/>
                <a:gd name="T50" fmla="*/ 16 w 22"/>
                <a:gd name="T51" fmla="*/ 22 h 26"/>
                <a:gd name="T52" fmla="*/ 13 w 22"/>
                <a:gd name="T53" fmla="*/ 25 h 26"/>
                <a:gd name="T54" fmla="*/ 9 w 22"/>
                <a:gd name="T55" fmla="*/ 26 h 26"/>
                <a:gd name="T56" fmla="*/ 4 w 22"/>
                <a:gd name="T57" fmla="*/ 25 h 26"/>
                <a:gd name="T58" fmla="*/ 0 w 22"/>
                <a:gd name="T59" fmla="*/ 20 h 26"/>
                <a:gd name="T60" fmla="*/ 1 w 22"/>
                <a:gd name="T61" fmla="*/ 13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2" h="26">
                  <a:moveTo>
                    <a:pt x="1" y="13"/>
                  </a:moveTo>
                  <a:cubicBezTo>
                    <a:pt x="5" y="14"/>
                    <a:pt x="5" y="14"/>
                    <a:pt x="5" y="14"/>
                  </a:cubicBezTo>
                  <a:cubicBezTo>
                    <a:pt x="5" y="16"/>
                    <a:pt x="4" y="17"/>
                    <a:pt x="5" y="18"/>
                  </a:cubicBezTo>
                  <a:cubicBezTo>
                    <a:pt x="5" y="19"/>
                    <a:pt x="6" y="20"/>
                    <a:pt x="7" y="21"/>
                  </a:cubicBezTo>
                  <a:cubicBezTo>
                    <a:pt x="8" y="22"/>
                    <a:pt x="9" y="22"/>
                    <a:pt x="10" y="22"/>
                  </a:cubicBezTo>
                  <a:cubicBezTo>
                    <a:pt x="11" y="21"/>
                    <a:pt x="12" y="21"/>
                    <a:pt x="12" y="20"/>
                  </a:cubicBezTo>
                  <a:cubicBezTo>
                    <a:pt x="13" y="20"/>
                    <a:pt x="13" y="19"/>
                    <a:pt x="13" y="19"/>
                  </a:cubicBezTo>
                  <a:cubicBezTo>
                    <a:pt x="13" y="18"/>
                    <a:pt x="12" y="17"/>
                    <a:pt x="12" y="17"/>
                  </a:cubicBezTo>
                  <a:cubicBezTo>
                    <a:pt x="12" y="16"/>
                    <a:pt x="11" y="15"/>
                    <a:pt x="9" y="14"/>
                  </a:cubicBezTo>
                  <a:cubicBezTo>
                    <a:pt x="8" y="12"/>
                    <a:pt x="7" y="11"/>
                    <a:pt x="6" y="9"/>
                  </a:cubicBezTo>
                  <a:cubicBezTo>
                    <a:pt x="6" y="7"/>
                    <a:pt x="6" y="6"/>
                    <a:pt x="7" y="4"/>
                  </a:cubicBezTo>
                  <a:cubicBezTo>
                    <a:pt x="8" y="3"/>
                    <a:pt x="9" y="2"/>
                    <a:pt x="10" y="1"/>
                  </a:cubicBezTo>
                  <a:cubicBezTo>
                    <a:pt x="11" y="1"/>
                    <a:pt x="12" y="0"/>
                    <a:pt x="14" y="0"/>
                  </a:cubicBezTo>
                  <a:cubicBezTo>
                    <a:pt x="15" y="1"/>
                    <a:pt x="16" y="1"/>
                    <a:pt x="18" y="2"/>
                  </a:cubicBezTo>
                  <a:cubicBezTo>
                    <a:pt x="20" y="3"/>
                    <a:pt x="22" y="5"/>
                    <a:pt x="22" y="7"/>
                  </a:cubicBezTo>
                  <a:cubicBezTo>
                    <a:pt x="22" y="9"/>
                    <a:pt x="22" y="11"/>
                    <a:pt x="21" y="13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8" y="9"/>
                    <a:pt x="18" y="8"/>
                    <a:pt x="18" y="8"/>
                  </a:cubicBezTo>
                  <a:cubicBezTo>
                    <a:pt x="17" y="7"/>
                    <a:pt x="17" y="6"/>
                    <a:pt x="16" y="5"/>
                  </a:cubicBezTo>
                  <a:cubicBezTo>
                    <a:pt x="14" y="5"/>
                    <a:pt x="13" y="5"/>
                    <a:pt x="13" y="5"/>
                  </a:cubicBezTo>
                  <a:cubicBezTo>
                    <a:pt x="12" y="5"/>
                    <a:pt x="11" y="5"/>
                    <a:pt x="11" y="6"/>
                  </a:cubicBezTo>
                  <a:cubicBezTo>
                    <a:pt x="11" y="6"/>
                    <a:pt x="11" y="7"/>
                    <a:pt x="11" y="7"/>
                  </a:cubicBezTo>
                  <a:cubicBezTo>
                    <a:pt x="11" y="8"/>
                    <a:pt x="12" y="9"/>
                    <a:pt x="13" y="11"/>
                  </a:cubicBezTo>
                  <a:cubicBezTo>
                    <a:pt x="15" y="13"/>
                    <a:pt x="16" y="14"/>
                    <a:pt x="17" y="15"/>
                  </a:cubicBezTo>
                  <a:cubicBezTo>
                    <a:pt x="17" y="16"/>
                    <a:pt x="17" y="17"/>
                    <a:pt x="17" y="18"/>
                  </a:cubicBezTo>
                  <a:cubicBezTo>
                    <a:pt x="17" y="20"/>
                    <a:pt x="17" y="21"/>
                    <a:pt x="16" y="22"/>
                  </a:cubicBezTo>
                  <a:cubicBezTo>
                    <a:pt x="15" y="24"/>
                    <a:pt x="14" y="25"/>
                    <a:pt x="13" y="25"/>
                  </a:cubicBezTo>
                  <a:cubicBezTo>
                    <a:pt x="12" y="26"/>
                    <a:pt x="10" y="26"/>
                    <a:pt x="9" y="26"/>
                  </a:cubicBezTo>
                  <a:cubicBezTo>
                    <a:pt x="8" y="26"/>
                    <a:pt x="6" y="26"/>
                    <a:pt x="4" y="25"/>
                  </a:cubicBezTo>
                  <a:cubicBezTo>
                    <a:pt x="2" y="23"/>
                    <a:pt x="1" y="22"/>
                    <a:pt x="0" y="20"/>
                  </a:cubicBezTo>
                  <a:cubicBezTo>
                    <a:pt x="0" y="17"/>
                    <a:pt x="0" y="15"/>
                    <a:pt x="1" y="13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7" name="ísḻïde">
              <a:extLst>
                <a:ext uri="{FF2B5EF4-FFF2-40B4-BE49-F238E27FC236}">
                  <a16:creationId xmlns:a16="http://schemas.microsoft.com/office/drawing/2014/main" id="{170C29F5-AA14-F70B-7285-A0F09F0694B5}"/>
                </a:ext>
              </a:extLst>
            </p:cNvPr>
            <p:cNvSpPr/>
            <p:nvPr/>
          </p:nvSpPr>
          <p:spPr bwMode="auto">
            <a:xfrm>
              <a:off x="2590800" y="4073526"/>
              <a:ext cx="58738" cy="90488"/>
            </a:xfrm>
            <a:custGeom>
              <a:avLst/>
              <a:gdLst>
                <a:gd name="T0" fmla="*/ 0 w 37"/>
                <a:gd name="T1" fmla="*/ 53 h 57"/>
                <a:gd name="T2" fmla="*/ 27 w 37"/>
                <a:gd name="T3" fmla="*/ 0 h 57"/>
                <a:gd name="T4" fmla="*/ 37 w 37"/>
                <a:gd name="T5" fmla="*/ 5 h 57"/>
                <a:gd name="T6" fmla="*/ 9 w 37"/>
                <a:gd name="T7" fmla="*/ 57 h 57"/>
                <a:gd name="T8" fmla="*/ 0 w 37"/>
                <a:gd name="T9" fmla="*/ 53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57">
                  <a:moveTo>
                    <a:pt x="0" y="53"/>
                  </a:moveTo>
                  <a:lnTo>
                    <a:pt x="27" y="0"/>
                  </a:lnTo>
                  <a:lnTo>
                    <a:pt x="37" y="5"/>
                  </a:lnTo>
                  <a:lnTo>
                    <a:pt x="9" y="57"/>
                  </a:lnTo>
                  <a:lnTo>
                    <a:pt x="0" y="53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8" name="iŝļiḋê">
              <a:extLst>
                <a:ext uri="{FF2B5EF4-FFF2-40B4-BE49-F238E27FC236}">
                  <a16:creationId xmlns:a16="http://schemas.microsoft.com/office/drawing/2014/main" id="{433573EA-2A51-AAF4-4F80-3326D88185F0}"/>
                </a:ext>
              </a:extLst>
            </p:cNvPr>
            <p:cNvSpPr/>
            <p:nvPr/>
          </p:nvSpPr>
          <p:spPr bwMode="auto">
            <a:xfrm>
              <a:off x="2638425" y="4084638"/>
              <a:ext cx="71438" cy="101600"/>
            </a:xfrm>
            <a:custGeom>
              <a:avLst/>
              <a:gdLst>
                <a:gd name="T0" fmla="*/ 0 w 45"/>
                <a:gd name="T1" fmla="*/ 60 h 64"/>
                <a:gd name="T2" fmla="*/ 20 w 45"/>
                <a:gd name="T3" fmla="*/ 14 h 64"/>
                <a:gd name="T4" fmla="*/ 7 w 45"/>
                <a:gd name="T5" fmla="*/ 9 h 64"/>
                <a:gd name="T6" fmla="*/ 9 w 45"/>
                <a:gd name="T7" fmla="*/ 0 h 64"/>
                <a:gd name="T8" fmla="*/ 45 w 45"/>
                <a:gd name="T9" fmla="*/ 16 h 64"/>
                <a:gd name="T10" fmla="*/ 43 w 45"/>
                <a:gd name="T11" fmla="*/ 25 h 64"/>
                <a:gd name="T12" fmla="*/ 29 w 45"/>
                <a:gd name="T13" fmla="*/ 18 h 64"/>
                <a:gd name="T14" fmla="*/ 9 w 45"/>
                <a:gd name="T15" fmla="*/ 64 h 64"/>
                <a:gd name="T16" fmla="*/ 0 w 45"/>
                <a:gd name="T17" fmla="*/ 6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5" h="64">
                  <a:moveTo>
                    <a:pt x="0" y="60"/>
                  </a:moveTo>
                  <a:lnTo>
                    <a:pt x="20" y="14"/>
                  </a:lnTo>
                  <a:lnTo>
                    <a:pt x="7" y="9"/>
                  </a:lnTo>
                  <a:lnTo>
                    <a:pt x="9" y="0"/>
                  </a:lnTo>
                  <a:lnTo>
                    <a:pt x="45" y="16"/>
                  </a:lnTo>
                  <a:lnTo>
                    <a:pt x="43" y="25"/>
                  </a:lnTo>
                  <a:lnTo>
                    <a:pt x="29" y="18"/>
                  </a:lnTo>
                  <a:lnTo>
                    <a:pt x="9" y="64"/>
                  </a:lnTo>
                  <a:lnTo>
                    <a:pt x="0" y="6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9" name="iṧḷîdè">
              <a:extLst>
                <a:ext uri="{FF2B5EF4-FFF2-40B4-BE49-F238E27FC236}">
                  <a16:creationId xmlns:a16="http://schemas.microsoft.com/office/drawing/2014/main" id="{BE364B71-660A-9C45-80A8-5F9BE516F3DF}"/>
                </a:ext>
              </a:extLst>
            </p:cNvPr>
            <p:cNvSpPr/>
            <p:nvPr/>
          </p:nvSpPr>
          <p:spPr bwMode="auto">
            <a:xfrm>
              <a:off x="2709863" y="4110038"/>
              <a:ext cx="68263" cy="101600"/>
            </a:xfrm>
            <a:custGeom>
              <a:avLst/>
              <a:gdLst>
                <a:gd name="T0" fmla="*/ 0 w 43"/>
                <a:gd name="T1" fmla="*/ 60 h 64"/>
                <a:gd name="T2" fmla="*/ 7 w 43"/>
                <a:gd name="T3" fmla="*/ 37 h 64"/>
                <a:gd name="T4" fmla="*/ 0 w 43"/>
                <a:gd name="T5" fmla="*/ 0 h 64"/>
                <a:gd name="T6" fmla="*/ 12 w 43"/>
                <a:gd name="T7" fmla="*/ 2 h 64"/>
                <a:gd name="T8" fmla="*/ 16 w 43"/>
                <a:gd name="T9" fmla="*/ 28 h 64"/>
                <a:gd name="T10" fmla="*/ 32 w 43"/>
                <a:gd name="T11" fmla="*/ 9 h 64"/>
                <a:gd name="T12" fmla="*/ 43 w 43"/>
                <a:gd name="T13" fmla="*/ 14 h 64"/>
                <a:gd name="T14" fmla="*/ 16 w 43"/>
                <a:gd name="T15" fmla="*/ 41 h 64"/>
                <a:gd name="T16" fmla="*/ 9 w 43"/>
                <a:gd name="T17" fmla="*/ 64 h 64"/>
                <a:gd name="T18" fmla="*/ 0 w 43"/>
                <a:gd name="T19" fmla="*/ 6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3" h="64">
                  <a:moveTo>
                    <a:pt x="0" y="60"/>
                  </a:moveTo>
                  <a:lnTo>
                    <a:pt x="7" y="37"/>
                  </a:lnTo>
                  <a:lnTo>
                    <a:pt x="0" y="0"/>
                  </a:lnTo>
                  <a:lnTo>
                    <a:pt x="12" y="2"/>
                  </a:lnTo>
                  <a:lnTo>
                    <a:pt x="16" y="28"/>
                  </a:lnTo>
                  <a:lnTo>
                    <a:pt x="32" y="9"/>
                  </a:lnTo>
                  <a:lnTo>
                    <a:pt x="43" y="14"/>
                  </a:lnTo>
                  <a:lnTo>
                    <a:pt x="16" y="41"/>
                  </a:lnTo>
                  <a:lnTo>
                    <a:pt x="9" y="64"/>
                  </a:lnTo>
                  <a:lnTo>
                    <a:pt x="0" y="6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0" name="isļíḍè">
              <a:extLst>
                <a:ext uri="{FF2B5EF4-FFF2-40B4-BE49-F238E27FC236}">
                  <a16:creationId xmlns:a16="http://schemas.microsoft.com/office/drawing/2014/main" id="{AC9D63BD-85AA-6053-378F-835659962103}"/>
                </a:ext>
              </a:extLst>
            </p:cNvPr>
            <p:cNvSpPr/>
            <p:nvPr/>
          </p:nvSpPr>
          <p:spPr bwMode="auto">
            <a:xfrm>
              <a:off x="2797175" y="4143376"/>
              <a:ext cx="79375" cy="96838"/>
            </a:xfrm>
            <a:custGeom>
              <a:avLst/>
              <a:gdLst>
                <a:gd name="T0" fmla="*/ 1 w 22"/>
                <a:gd name="T1" fmla="*/ 11 h 27"/>
                <a:gd name="T2" fmla="*/ 3 w 22"/>
                <a:gd name="T3" fmla="*/ 5 h 27"/>
                <a:gd name="T4" fmla="*/ 5 w 22"/>
                <a:gd name="T5" fmla="*/ 2 h 27"/>
                <a:gd name="T6" fmla="*/ 8 w 22"/>
                <a:gd name="T7" fmla="*/ 0 h 27"/>
                <a:gd name="T8" fmla="*/ 13 w 22"/>
                <a:gd name="T9" fmla="*/ 0 h 27"/>
                <a:gd name="T10" fmla="*/ 20 w 22"/>
                <a:gd name="T11" fmla="*/ 5 h 27"/>
                <a:gd name="T12" fmla="*/ 21 w 22"/>
                <a:gd name="T13" fmla="*/ 15 h 27"/>
                <a:gd name="T14" fmla="*/ 17 w 22"/>
                <a:gd name="T15" fmla="*/ 24 h 27"/>
                <a:gd name="T16" fmla="*/ 9 w 22"/>
                <a:gd name="T17" fmla="*/ 26 h 27"/>
                <a:gd name="T18" fmla="*/ 2 w 22"/>
                <a:gd name="T19" fmla="*/ 21 h 27"/>
                <a:gd name="T20" fmla="*/ 1 w 22"/>
                <a:gd name="T21" fmla="*/ 11 h 27"/>
                <a:gd name="T22" fmla="*/ 5 w 22"/>
                <a:gd name="T23" fmla="*/ 12 h 27"/>
                <a:gd name="T24" fmla="*/ 6 w 22"/>
                <a:gd name="T25" fmla="*/ 19 h 27"/>
                <a:gd name="T26" fmla="*/ 10 w 22"/>
                <a:gd name="T27" fmla="*/ 22 h 27"/>
                <a:gd name="T28" fmla="*/ 14 w 22"/>
                <a:gd name="T29" fmla="*/ 20 h 27"/>
                <a:gd name="T30" fmla="*/ 17 w 22"/>
                <a:gd name="T31" fmla="*/ 14 h 27"/>
                <a:gd name="T32" fmla="*/ 16 w 22"/>
                <a:gd name="T33" fmla="*/ 7 h 27"/>
                <a:gd name="T34" fmla="*/ 13 w 22"/>
                <a:gd name="T35" fmla="*/ 4 h 27"/>
                <a:gd name="T36" fmla="*/ 8 w 22"/>
                <a:gd name="T37" fmla="*/ 6 h 27"/>
                <a:gd name="T38" fmla="*/ 5 w 22"/>
                <a:gd name="T39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2" h="27">
                  <a:moveTo>
                    <a:pt x="1" y="11"/>
                  </a:moveTo>
                  <a:cubicBezTo>
                    <a:pt x="1" y="9"/>
                    <a:pt x="2" y="7"/>
                    <a:pt x="3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7" y="1"/>
                    <a:pt x="8" y="0"/>
                  </a:cubicBezTo>
                  <a:cubicBezTo>
                    <a:pt x="10" y="0"/>
                    <a:pt x="11" y="0"/>
                    <a:pt x="13" y="0"/>
                  </a:cubicBezTo>
                  <a:cubicBezTo>
                    <a:pt x="16" y="1"/>
                    <a:pt x="19" y="2"/>
                    <a:pt x="20" y="5"/>
                  </a:cubicBezTo>
                  <a:cubicBezTo>
                    <a:pt x="22" y="7"/>
                    <a:pt x="22" y="11"/>
                    <a:pt x="21" y="15"/>
                  </a:cubicBezTo>
                  <a:cubicBezTo>
                    <a:pt x="21" y="19"/>
                    <a:pt x="19" y="22"/>
                    <a:pt x="17" y="24"/>
                  </a:cubicBezTo>
                  <a:cubicBezTo>
                    <a:pt x="15" y="26"/>
                    <a:pt x="12" y="27"/>
                    <a:pt x="9" y="26"/>
                  </a:cubicBezTo>
                  <a:cubicBezTo>
                    <a:pt x="6" y="26"/>
                    <a:pt x="3" y="24"/>
                    <a:pt x="2" y="21"/>
                  </a:cubicBezTo>
                  <a:cubicBezTo>
                    <a:pt x="0" y="19"/>
                    <a:pt x="0" y="15"/>
                    <a:pt x="1" y="11"/>
                  </a:cubicBezTo>
                  <a:close/>
                  <a:moveTo>
                    <a:pt x="5" y="12"/>
                  </a:moveTo>
                  <a:cubicBezTo>
                    <a:pt x="5" y="15"/>
                    <a:pt x="5" y="17"/>
                    <a:pt x="6" y="19"/>
                  </a:cubicBezTo>
                  <a:cubicBezTo>
                    <a:pt x="7" y="21"/>
                    <a:pt x="8" y="21"/>
                    <a:pt x="10" y="22"/>
                  </a:cubicBezTo>
                  <a:cubicBezTo>
                    <a:pt x="11" y="22"/>
                    <a:pt x="13" y="22"/>
                    <a:pt x="14" y="20"/>
                  </a:cubicBezTo>
                  <a:cubicBezTo>
                    <a:pt x="16" y="19"/>
                    <a:pt x="16" y="17"/>
                    <a:pt x="17" y="14"/>
                  </a:cubicBezTo>
                  <a:cubicBezTo>
                    <a:pt x="17" y="11"/>
                    <a:pt x="17" y="9"/>
                    <a:pt x="16" y="7"/>
                  </a:cubicBezTo>
                  <a:cubicBezTo>
                    <a:pt x="16" y="6"/>
                    <a:pt x="14" y="5"/>
                    <a:pt x="13" y="4"/>
                  </a:cubicBezTo>
                  <a:cubicBezTo>
                    <a:pt x="11" y="4"/>
                    <a:pt x="9" y="5"/>
                    <a:pt x="8" y="6"/>
                  </a:cubicBezTo>
                  <a:cubicBezTo>
                    <a:pt x="7" y="7"/>
                    <a:pt x="6" y="9"/>
                    <a:pt x="5" y="12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1" name="ïṡ1íḓe">
              <a:extLst>
                <a:ext uri="{FF2B5EF4-FFF2-40B4-BE49-F238E27FC236}">
                  <a16:creationId xmlns:a16="http://schemas.microsoft.com/office/drawing/2014/main" id="{1F23651E-DC09-5148-A26D-CB41A9C90E80}"/>
                </a:ext>
              </a:extLst>
            </p:cNvPr>
            <p:cNvSpPr/>
            <p:nvPr/>
          </p:nvSpPr>
          <p:spPr bwMode="auto">
            <a:xfrm>
              <a:off x="2882900" y="4149726"/>
              <a:ext cx="61913" cy="95250"/>
            </a:xfrm>
            <a:custGeom>
              <a:avLst/>
              <a:gdLst>
                <a:gd name="T0" fmla="*/ 0 w 39"/>
                <a:gd name="T1" fmla="*/ 60 h 60"/>
                <a:gd name="T2" fmla="*/ 5 w 39"/>
                <a:gd name="T3" fmla="*/ 0 h 60"/>
                <a:gd name="T4" fmla="*/ 39 w 39"/>
                <a:gd name="T5" fmla="*/ 3 h 60"/>
                <a:gd name="T6" fmla="*/ 37 w 39"/>
                <a:gd name="T7" fmla="*/ 14 h 60"/>
                <a:gd name="T8" fmla="*/ 14 w 39"/>
                <a:gd name="T9" fmla="*/ 12 h 60"/>
                <a:gd name="T10" fmla="*/ 12 w 39"/>
                <a:gd name="T11" fmla="*/ 25 h 60"/>
                <a:gd name="T12" fmla="*/ 34 w 39"/>
                <a:gd name="T13" fmla="*/ 28 h 60"/>
                <a:gd name="T14" fmla="*/ 32 w 39"/>
                <a:gd name="T15" fmla="*/ 37 h 60"/>
                <a:gd name="T16" fmla="*/ 12 w 39"/>
                <a:gd name="T17" fmla="*/ 35 h 60"/>
                <a:gd name="T18" fmla="*/ 9 w 39"/>
                <a:gd name="T19" fmla="*/ 60 h 60"/>
                <a:gd name="T20" fmla="*/ 0 w 39"/>
                <a:gd name="T21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9" h="60">
                  <a:moveTo>
                    <a:pt x="0" y="60"/>
                  </a:moveTo>
                  <a:lnTo>
                    <a:pt x="5" y="0"/>
                  </a:lnTo>
                  <a:lnTo>
                    <a:pt x="39" y="3"/>
                  </a:lnTo>
                  <a:lnTo>
                    <a:pt x="37" y="14"/>
                  </a:lnTo>
                  <a:lnTo>
                    <a:pt x="14" y="12"/>
                  </a:lnTo>
                  <a:lnTo>
                    <a:pt x="12" y="25"/>
                  </a:lnTo>
                  <a:lnTo>
                    <a:pt x="34" y="28"/>
                  </a:lnTo>
                  <a:lnTo>
                    <a:pt x="32" y="37"/>
                  </a:lnTo>
                  <a:lnTo>
                    <a:pt x="12" y="35"/>
                  </a:lnTo>
                  <a:lnTo>
                    <a:pt x="9" y="60"/>
                  </a:lnTo>
                  <a:lnTo>
                    <a:pt x="0" y="6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2" name="isḷiḑê">
              <a:extLst>
                <a:ext uri="{FF2B5EF4-FFF2-40B4-BE49-F238E27FC236}">
                  <a16:creationId xmlns:a16="http://schemas.microsoft.com/office/drawing/2014/main" id="{F7198A8E-54A1-9597-8B5D-1503B08B050F}"/>
                </a:ext>
              </a:extLst>
            </p:cNvPr>
            <p:cNvSpPr/>
            <p:nvPr/>
          </p:nvSpPr>
          <p:spPr bwMode="auto">
            <a:xfrm>
              <a:off x="2981325" y="4149726"/>
              <a:ext cx="65088" cy="98425"/>
            </a:xfrm>
            <a:custGeom>
              <a:avLst/>
              <a:gdLst>
                <a:gd name="T0" fmla="*/ 0 w 18"/>
                <a:gd name="T1" fmla="*/ 19 h 27"/>
                <a:gd name="T2" fmla="*/ 5 w 18"/>
                <a:gd name="T3" fmla="*/ 18 h 27"/>
                <a:gd name="T4" fmla="*/ 6 w 18"/>
                <a:gd name="T5" fmla="*/ 22 h 27"/>
                <a:gd name="T6" fmla="*/ 10 w 18"/>
                <a:gd name="T7" fmla="*/ 23 h 27"/>
                <a:gd name="T8" fmla="*/ 13 w 18"/>
                <a:gd name="T9" fmla="*/ 21 h 27"/>
                <a:gd name="T10" fmla="*/ 14 w 18"/>
                <a:gd name="T11" fmla="*/ 19 h 27"/>
                <a:gd name="T12" fmla="*/ 13 w 18"/>
                <a:gd name="T13" fmla="*/ 17 h 27"/>
                <a:gd name="T14" fmla="*/ 11 w 18"/>
                <a:gd name="T15" fmla="*/ 16 h 27"/>
                <a:gd name="T16" fmla="*/ 8 w 18"/>
                <a:gd name="T17" fmla="*/ 15 h 27"/>
                <a:gd name="T18" fmla="*/ 3 w 18"/>
                <a:gd name="T19" fmla="*/ 13 h 27"/>
                <a:gd name="T20" fmla="*/ 0 w 18"/>
                <a:gd name="T21" fmla="*/ 8 h 27"/>
                <a:gd name="T22" fmla="*/ 1 w 18"/>
                <a:gd name="T23" fmla="*/ 5 h 27"/>
                <a:gd name="T24" fmla="*/ 4 w 18"/>
                <a:gd name="T25" fmla="*/ 2 h 27"/>
                <a:gd name="T26" fmla="*/ 8 w 18"/>
                <a:gd name="T27" fmla="*/ 1 h 27"/>
                <a:gd name="T28" fmla="*/ 14 w 18"/>
                <a:gd name="T29" fmla="*/ 2 h 27"/>
                <a:gd name="T30" fmla="*/ 17 w 18"/>
                <a:gd name="T31" fmla="*/ 8 h 27"/>
                <a:gd name="T32" fmla="*/ 12 w 18"/>
                <a:gd name="T33" fmla="*/ 8 h 27"/>
                <a:gd name="T34" fmla="*/ 11 w 18"/>
                <a:gd name="T35" fmla="*/ 6 h 27"/>
                <a:gd name="T36" fmla="*/ 8 w 18"/>
                <a:gd name="T37" fmla="*/ 5 h 27"/>
                <a:gd name="T38" fmla="*/ 5 w 18"/>
                <a:gd name="T39" fmla="*/ 6 h 27"/>
                <a:gd name="T40" fmla="*/ 5 w 18"/>
                <a:gd name="T41" fmla="*/ 8 h 27"/>
                <a:gd name="T42" fmla="*/ 5 w 18"/>
                <a:gd name="T43" fmla="*/ 9 h 27"/>
                <a:gd name="T44" fmla="*/ 10 w 18"/>
                <a:gd name="T45" fmla="*/ 11 h 27"/>
                <a:gd name="T46" fmla="*/ 14 w 18"/>
                <a:gd name="T47" fmla="*/ 12 h 27"/>
                <a:gd name="T48" fmla="*/ 17 w 18"/>
                <a:gd name="T49" fmla="*/ 15 h 27"/>
                <a:gd name="T50" fmla="*/ 18 w 18"/>
                <a:gd name="T51" fmla="*/ 19 h 27"/>
                <a:gd name="T52" fmla="*/ 17 w 18"/>
                <a:gd name="T53" fmla="*/ 23 h 27"/>
                <a:gd name="T54" fmla="*/ 14 w 18"/>
                <a:gd name="T55" fmla="*/ 26 h 27"/>
                <a:gd name="T56" fmla="*/ 10 w 18"/>
                <a:gd name="T57" fmla="*/ 27 h 27"/>
                <a:gd name="T58" fmla="*/ 3 w 18"/>
                <a:gd name="T59" fmla="*/ 25 h 27"/>
                <a:gd name="T60" fmla="*/ 0 w 18"/>
                <a:gd name="T61" fmla="*/ 19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8" h="27">
                  <a:moveTo>
                    <a:pt x="0" y="19"/>
                  </a:moveTo>
                  <a:cubicBezTo>
                    <a:pt x="5" y="18"/>
                    <a:pt x="5" y="18"/>
                    <a:pt x="5" y="18"/>
                  </a:cubicBezTo>
                  <a:cubicBezTo>
                    <a:pt x="5" y="20"/>
                    <a:pt x="6" y="21"/>
                    <a:pt x="6" y="22"/>
                  </a:cubicBezTo>
                  <a:cubicBezTo>
                    <a:pt x="7" y="22"/>
                    <a:pt x="8" y="23"/>
                    <a:pt x="10" y="23"/>
                  </a:cubicBezTo>
                  <a:cubicBezTo>
                    <a:pt x="11" y="23"/>
                    <a:pt x="12" y="22"/>
                    <a:pt x="13" y="21"/>
                  </a:cubicBezTo>
                  <a:cubicBezTo>
                    <a:pt x="13" y="21"/>
                    <a:pt x="14" y="20"/>
                    <a:pt x="14" y="19"/>
                  </a:cubicBezTo>
                  <a:cubicBezTo>
                    <a:pt x="14" y="18"/>
                    <a:pt x="13" y="18"/>
                    <a:pt x="13" y="17"/>
                  </a:cubicBezTo>
                  <a:cubicBezTo>
                    <a:pt x="13" y="17"/>
                    <a:pt x="12" y="17"/>
                    <a:pt x="11" y="16"/>
                  </a:cubicBezTo>
                  <a:cubicBezTo>
                    <a:pt x="11" y="16"/>
                    <a:pt x="10" y="16"/>
                    <a:pt x="8" y="15"/>
                  </a:cubicBezTo>
                  <a:cubicBezTo>
                    <a:pt x="5" y="15"/>
                    <a:pt x="4" y="14"/>
                    <a:pt x="3" y="13"/>
                  </a:cubicBezTo>
                  <a:cubicBezTo>
                    <a:pt x="1" y="12"/>
                    <a:pt x="1" y="10"/>
                    <a:pt x="0" y="8"/>
                  </a:cubicBezTo>
                  <a:cubicBezTo>
                    <a:pt x="0" y="7"/>
                    <a:pt x="1" y="6"/>
                    <a:pt x="1" y="5"/>
                  </a:cubicBezTo>
                  <a:cubicBezTo>
                    <a:pt x="2" y="3"/>
                    <a:pt x="3" y="2"/>
                    <a:pt x="4" y="2"/>
                  </a:cubicBezTo>
                  <a:cubicBezTo>
                    <a:pt x="5" y="1"/>
                    <a:pt x="6" y="1"/>
                    <a:pt x="8" y="1"/>
                  </a:cubicBezTo>
                  <a:cubicBezTo>
                    <a:pt x="11" y="0"/>
                    <a:pt x="13" y="1"/>
                    <a:pt x="14" y="2"/>
                  </a:cubicBezTo>
                  <a:cubicBezTo>
                    <a:pt x="16" y="4"/>
                    <a:pt x="17" y="6"/>
                    <a:pt x="17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2" y="7"/>
                    <a:pt x="12" y="6"/>
                    <a:pt x="11" y="6"/>
                  </a:cubicBezTo>
                  <a:cubicBezTo>
                    <a:pt x="10" y="5"/>
                    <a:pt x="9" y="5"/>
                    <a:pt x="8" y="5"/>
                  </a:cubicBezTo>
                  <a:cubicBezTo>
                    <a:pt x="7" y="5"/>
                    <a:pt x="6" y="5"/>
                    <a:pt x="5" y="6"/>
                  </a:cubicBezTo>
                  <a:cubicBezTo>
                    <a:pt x="5" y="6"/>
                    <a:pt x="5" y="7"/>
                    <a:pt x="5" y="8"/>
                  </a:cubicBezTo>
                  <a:cubicBezTo>
                    <a:pt x="5" y="8"/>
                    <a:pt x="5" y="9"/>
                    <a:pt x="5" y="9"/>
                  </a:cubicBezTo>
                  <a:cubicBezTo>
                    <a:pt x="6" y="10"/>
                    <a:pt x="7" y="10"/>
                    <a:pt x="10" y="11"/>
                  </a:cubicBezTo>
                  <a:cubicBezTo>
                    <a:pt x="12" y="11"/>
                    <a:pt x="13" y="12"/>
                    <a:pt x="14" y="12"/>
                  </a:cubicBezTo>
                  <a:cubicBezTo>
                    <a:pt x="15" y="13"/>
                    <a:pt x="16" y="14"/>
                    <a:pt x="17" y="15"/>
                  </a:cubicBezTo>
                  <a:cubicBezTo>
                    <a:pt x="18" y="16"/>
                    <a:pt x="18" y="17"/>
                    <a:pt x="18" y="19"/>
                  </a:cubicBezTo>
                  <a:cubicBezTo>
                    <a:pt x="18" y="20"/>
                    <a:pt x="18" y="21"/>
                    <a:pt x="17" y="23"/>
                  </a:cubicBezTo>
                  <a:cubicBezTo>
                    <a:pt x="17" y="24"/>
                    <a:pt x="16" y="25"/>
                    <a:pt x="14" y="26"/>
                  </a:cubicBezTo>
                  <a:cubicBezTo>
                    <a:pt x="13" y="26"/>
                    <a:pt x="12" y="27"/>
                    <a:pt x="10" y="27"/>
                  </a:cubicBezTo>
                  <a:cubicBezTo>
                    <a:pt x="7" y="27"/>
                    <a:pt x="5" y="27"/>
                    <a:pt x="3" y="25"/>
                  </a:cubicBezTo>
                  <a:cubicBezTo>
                    <a:pt x="2" y="24"/>
                    <a:pt x="1" y="22"/>
                    <a:pt x="0" y="19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3" name="ïṥlíḓê">
              <a:extLst>
                <a:ext uri="{FF2B5EF4-FFF2-40B4-BE49-F238E27FC236}">
                  <a16:creationId xmlns:a16="http://schemas.microsoft.com/office/drawing/2014/main" id="{1B6DDAFD-A95E-D227-878E-99FD6D583507}"/>
                </a:ext>
              </a:extLst>
            </p:cNvPr>
            <p:cNvSpPr/>
            <p:nvPr/>
          </p:nvSpPr>
          <p:spPr bwMode="auto">
            <a:xfrm>
              <a:off x="3052763" y="4143376"/>
              <a:ext cx="73025" cy="96838"/>
            </a:xfrm>
            <a:custGeom>
              <a:avLst/>
              <a:gdLst>
                <a:gd name="T0" fmla="*/ 16 w 20"/>
                <a:gd name="T1" fmla="*/ 16 h 27"/>
                <a:gd name="T2" fmla="*/ 20 w 20"/>
                <a:gd name="T3" fmla="*/ 17 h 27"/>
                <a:gd name="T4" fmla="*/ 18 w 20"/>
                <a:gd name="T5" fmla="*/ 24 h 27"/>
                <a:gd name="T6" fmla="*/ 13 w 20"/>
                <a:gd name="T7" fmla="*/ 26 h 27"/>
                <a:gd name="T8" fmla="*/ 5 w 20"/>
                <a:gd name="T9" fmla="*/ 24 h 27"/>
                <a:gd name="T10" fmla="*/ 1 w 20"/>
                <a:gd name="T11" fmla="*/ 15 h 27"/>
                <a:gd name="T12" fmla="*/ 2 w 20"/>
                <a:gd name="T13" fmla="*/ 5 h 27"/>
                <a:gd name="T14" fmla="*/ 9 w 20"/>
                <a:gd name="T15" fmla="*/ 0 h 27"/>
                <a:gd name="T16" fmla="*/ 16 w 20"/>
                <a:gd name="T17" fmla="*/ 2 h 27"/>
                <a:gd name="T18" fmla="*/ 19 w 20"/>
                <a:gd name="T19" fmla="*/ 6 h 27"/>
                <a:gd name="T20" fmla="*/ 14 w 20"/>
                <a:gd name="T21" fmla="*/ 8 h 27"/>
                <a:gd name="T22" fmla="*/ 12 w 20"/>
                <a:gd name="T23" fmla="*/ 5 h 27"/>
                <a:gd name="T24" fmla="*/ 9 w 20"/>
                <a:gd name="T25" fmla="*/ 5 h 27"/>
                <a:gd name="T26" fmla="*/ 6 w 20"/>
                <a:gd name="T27" fmla="*/ 7 h 27"/>
                <a:gd name="T28" fmla="*/ 5 w 20"/>
                <a:gd name="T29" fmla="*/ 14 h 27"/>
                <a:gd name="T30" fmla="*/ 8 w 20"/>
                <a:gd name="T31" fmla="*/ 21 h 27"/>
                <a:gd name="T32" fmla="*/ 12 w 20"/>
                <a:gd name="T33" fmla="*/ 22 h 27"/>
                <a:gd name="T34" fmla="*/ 15 w 20"/>
                <a:gd name="T35" fmla="*/ 20 h 27"/>
                <a:gd name="T36" fmla="*/ 16 w 20"/>
                <a:gd name="T37" fmla="*/ 16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0" h="27">
                  <a:moveTo>
                    <a:pt x="16" y="16"/>
                  </a:moveTo>
                  <a:cubicBezTo>
                    <a:pt x="20" y="17"/>
                    <a:pt x="20" y="17"/>
                    <a:pt x="20" y="17"/>
                  </a:cubicBezTo>
                  <a:cubicBezTo>
                    <a:pt x="20" y="20"/>
                    <a:pt x="19" y="22"/>
                    <a:pt x="18" y="24"/>
                  </a:cubicBezTo>
                  <a:cubicBezTo>
                    <a:pt x="17" y="25"/>
                    <a:pt x="15" y="26"/>
                    <a:pt x="13" y="26"/>
                  </a:cubicBezTo>
                  <a:cubicBezTo>
                    <a:pt x="10" y="27"/>
                    <a:pt x="7" y="26"/>
                    <a:pt x="5" y="24"/>
                  </a:cubicBezTo>
                  <a:cubicBezTo>
                    <a:pt x="3" y="22"/>
                    <a:pt x="2" y="19"/>
                    <a:pt x="1" y="15"/>
                  </a:cubicBezTo>
                  <a:cubicBezTo>
                    <a:pt x="0" y="11"/>
                    <a:pt x="1" y="8"/>
                    <a:pt x="2" y="5"/>
                  </a:cubicBezTo>
                  <a:cubicBezTo>
                    <a:pt x="4" y="2"/>
                    <a:pt x="6" y="1"/>
                    <a:pt x="9" y="0"/>
                  </a:cubicBezTo>
                  <a:cubicBezTo>
                    <a:pt x="11" y="0"/>
                    <a:pt x="14" y="0"/>
                    <a:pt x="16" y="2"/>
                  </a:cubicBezTo>
                  <a:cubicBezTo>
                    <a:pt x="17" y="3"/>
                    <a:pt x="18" y="4"/>
                    <a:pt x="19" y="6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7"/>
                    <a:pt x="13" y="6"/>
                    <a:pt x="12" y="5"/>
                  </a:cubicBezTo>
                  <a:cubicBezTo>
                    <a:pt x="11" y="5"/>
                    <a:pt x="10" y="5"/>
                    <a:pt x="9" y="5"/>
                  </a:cubicBezTo>
                  <a:cubicBezTo>
                    <a:pt x="8" y="5"/>
                    <a:pt x="6" y="6"/>
                    <a:pt x="6" y="7"/>
                  </a:cubicBezTo>
                  <a:cubicBezTo>
                    <a:pt x="5" y="9"/>
                    <a:pt x="5" y="11"/>
                    <a:pt x="5" y="14"/>
                  </a:cubicBezTo>
                  <a:cubicBezTo>
                    <a:pt x="6" y="17"/>
                    <a:pt x="7" y="19"/>
                    <a:pt x="8" y="21"/>
                  </a:cubicBezTo>
                  <a:cubicBezTo>
                    <a:pt x="9" y="22"/>
                    <a:pt x="10" y="22"/>
                    <a:pt x="12" y="22"/>
                  </a:cubicBezTo>
                  <a:cubicBezTo>
                    <a:pt x="13" y="22"/>
                    <a:pt x="14" y="21"/>
                    <a:pt x="15" y="20"/>
                  </a:cubicBezTo>
                  <a:cubicBezTo>
                    <a:pt x="15" y="19"/>
                    <a:pt x="16" y="18"/>
                    <a:pt x="16" y="16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4" name="îṧḷíḍé">
              <a:extLst>
                <a:ext uri="{FF2B5EF4-FFF2-40B4-BE49-F238E27FC236}">
                  <a16:creationId xmlns:a16="http://schemas.microsoft.com/office/drawing/2014/main" id="{493616DA-17EF-D05D-FD59-4064C7664BBF}"/>
                </a:ext>
              </a:extLst>
            </p:cNvPr>
            <p:cNvSpPr/>
            <p:nvPr/>
          </p:nvSpPr>
          <p:spPr bwMode="auto">
            <a:xfrm>
              <a:off x="3125788" y="4135438"/>
              <a:ext cx="34925" cy="90488"/>
            </a:xfrm>
            <a:custGeom>
              <a:avLst/>
              <a:gdLst>
                <a:gd name="T0" fmla="*/ 13 w 22"/>
                <a:gd name="T1" fmla="*/ 57 h 57"/>
                <a:gd name="T2" fmla="*/ 0 w 22"/>
                <a:gd name="T3" fmla="*/ 2 h 57"/>
                <a:gd name="T4" fmla="*/ 11 w 22"/>
                <a:gd name="T5" fmla="*/ 0 h 57"/>
                <a:gd name="T6" fmla="*/ 22 w 22"/>
                <a:gd name="T7" fmla="*/ 55 h 57"/>
                <a:gd name="T8" fmla="*/ 13 w 22"/>
                <a:gd name="T9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57">
                  <a:moveTo>
                    <a:pt x="13" y="57"/>
                  </a:moveTo>
                  <a:lnTo>
                    <a:pt x="0" y="2"/>
                  </a:lnTo>
                  <a:lnTo>
                    <a:pt x="11" y="0"/>
                  </a:lnTo>
                  <a:lnTo>
                    <a:pt x="22" y="55"/>
                  </a:lnTo>
                  <a:lnTo>
                    <a:pt x="13" y="57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5" name="îṩḻïďè">
              <a:extLst>
                <a:ext uri="{FF2B5EF4-FFF2-40B4-BE49-F238E27FC236}">
                  <a16:creationId xmlns:a16="http://schemas.microsoft.com/office/drawing/2014/main" id="{3A849376-543A-9254-E7E7-ADF2BC5FAA66}"/>
                </a:ext>
              </a:extLst>
            </p:cNvPr>
            <p:cNvSpPr/>
            <p:nvPr/>
          </p:nvSpPr>
          <p:spPr bwMode="auto">
            <a:xfrm>
              <a:off x="3154363" y="4113213"/>
              <a:ext cx="82550" cy="106363"/>
            </a:xfrm>
            <a:custGeom>
              <a:avLst/>
              <a:gdLst>
                <a:gd name="T0" fmla="*/ 18 w 52"/>
                <a:gd name="T1" fmla="*/ 67 h 67"/>
                <a:gd name="T2" fmla="*/ 0 w 52"/>
                <a:gd name="T3" fmla="*/ 12 h 67"/>
                <a:gd name="T4" fmla="*/ 34 w 52"/>
                <a:gd name="T5" fmla="*/ 0 h 67"/>
                <a:gd name="T6" fmla="*/ 38 w 52"/>
                <a:gd name="T7" fmla="*/ 10 h 67"/>
                <a:gd name="T8" fmla="*/ 11 w 52"/>
                <a:gd name="T9" fmla="*/ 19 h 67"/>
                <a:gd name="T10" fmla="*/ 16 w 52"/>
                <a:gd name="T11" fmla="*/ 30 h 67"/>
                <a:gd name="T12" fmla="*/ 38 w 52"/>
                <a:gd name="T13" fmla="*/ 23 h 67"/>
                <a:gd name="T14" fmla="*/ 43 w 52"/>
                <a:gd name="T15" fmla="*/ 32 h 67"/>
                <a:gd name="T16" fmla="*/ 18 w 52"/>
                <a:gd name="T17" fmla="*/ 39 h 67"/>
                <a:gd name="T18" fmla="*/ 22 w 52"/>
                <a:gd name="T19" fmla="*/ 55 h 67"/>
                <a:gd name="T20" fmla="*/ 50 w 52"/>
                <a:gd name="T21" fmla="*/ 46 h 67"/>
                <a:gd name="T22" fmla="*/ 52 w 52"/>
                <a:gd name="T23" fmla="*/ 55 h 67"/>
                <a:gd name="T24" fmla="*/ 18 w 52"/>
                <a:gd name="T25" fmla="*/ 6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2" h="67">
                  <a:moveTo>
                    <a:pt x="18" y="67"/>
                  </a:moveTo>
                  <a:lnTo>
                    <a:pt x="0" y="12"/>
                  </a:lnTo>
                  <a:lnTo>
                    <a:pt x="34" y="0"/>
                  </a:lnTo>
                  <a:lnTo>
                    <a:pt x="38" y="10"/>
                  </a:lnTo>
                  <a:lnTo>
                    <a:pt x="11" y="19"/>
                  </a:lnTo>
                  <a:lnTo>
                    <a:pt x="16" y="30"/>
                  </a:lnTo>
                  <a:lnTo>
                    <a:pt x="38" y="23"/>
                  </a:lnTo>
                  <a:lnTo>
                    <a:pt x="43" y="32"/>
                  </a:lnTo>
                  <a:lnTo>
                    <a:pt x="18" y="39"/>
                  </a:lnTo>
                  <a:lnTo>
                    <a:pt x="22" y="55"/>
                  </a:lnTo>
                  <a:lnTo>
                    <a:pt x="50" y="46"/>
                  </a:lnTo>
                  <a:lnTo>
                    <a:pt x="52" y="55"/>
                  </a:lnTo>
                  <a:lnTo>
                    <a:pt x="18" y="67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6" name="ïşļídé">
              <a:extLst>
                <a:ext uri="{FF2B5EF4-FFF2-40B4-BE49-F238E27FC236}">
                  <a16:creationId xmlns:a16="http://schemas.microsoft.com/office/drawing/2014/main" id="{FD12BF63-3FF2-41D3-A5F0-E18A730B9835}"/>
                </a:ext>
              </a:extLst>
            </p:cNvPr>
            <p:cNvSpPr/>
            <p:nvPr/>
          </p:nvSpPr>
          <p:spPr bwMode="auto">
            <a:xfrm>
              <a:off x="3219450" y="4084638"/>
              <a:ext cx="93663" cy="109538"/>
            </a:xfrm>
            <a:custGeom>
              <a:avLst/>
              <a:gdLst>
                <a:gd name="T0" fmla="*/ 22 w 59"/>
                <a:gd name="T1" fmla="*/ 69 h 69"/>
                <a:gd name="T2" fmla="*/ 0 w 59"/>
                <a:gd name="T3" fmla="*/ 16 h 69"/>
                <a:gd name="T4" fmla="*/ 9 w 59"/>
                <a:gd name="T5" fmla="*/ 12 h 69"/>
                <a:gd name="T6" fmla="*/ 43 w 59"/>
                <a:gd name="T7" fmla="*/ 39 h 69"/>
                <a:gd name="T8" fmla="*/ 27 w 59"/>
                <a:gd name="T9" fmla="*/ 5 h 69"/>
                <a:gd name="T10" fmla="*/ 36 w 59"/>
                <a:gd name="T11" fmla="*/ 0 h 69"/>
                <a:gd name="T12" fmla="*/ 59 w 59"/>
                <a:gd name="T13" fmla="*/ 55 h 69"/>
                <a:gd name="T14" fmla="*/ 50 w 59"/>
                <a:gd name="T15" fmla="*/ 57 h 69"/>
                <a:gd name="T16" fmla="*/ 16 w 59"/>
                <a:gd name="T17" fmla="*/ 30 h 69"/>
                <a:gd name="T18" fmla="*/ 31 w 59"/>
                <a:gd name="T19" fmla="*/ 66 h 69"/>
                <a:gd name="T20" fmla="*/ 22 w 59"/>
                <a:gd name="T21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69">
                  <a:moveTo>
                    <a:pt x="22" y="69"/>
                  </a:moveTo>
                  <a:lnTo>
                    <a:pt x="0" y="16"/>
                  </a:lnTo>
                  <a:lnTo>
                    <a:pt x="9" y="12"/>
                  </a:lnTo>
                  <a:lnTo>
                    <a:pt x="43" y="39"/>
                  </a:lnTo>
                  <a:lnTo>
                    <a:pt x="27" y="5"/>
                  </a:lnTo>
                  <a:lnTo>
                    <a:pt x="36" y="0"/>
                  </a:lnTo>
                  <a:lnTo>
                    <a:pt x="59" y="55"/>
                  </a:lnTo>
                  <a:lnTo>
                    <a:pt x="50" y="57"/>
                  </a:lnTo>
                  <a:lnTo>
                    <a:pt x="16" y="30"/>
                  </a:lnTo>
                  <a:lnTo>
                    <a:pt x="31" y="66"/>
                  </a:lnTo>
                  <a:lnTo>
                    <a:pt x="22" y="69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7" name="iṧḻíďe">
              <a:extLst>
                <a:ext uri="{FF2B5EF4-FFF2-40B4-BE49-F238E27FC236}">
                  <a16:creationId xmlns:a16="http://schemas.microsoft.com/office/drawing/2014/main" id="{240BC46E-3278-2745-67FD-1FF3CF9B17BC}"/>
                </a:ext>
              </a:extLst>
            </p:cNvPr>
            <p:cNvSpPr/>
            <p:nvPr/>
          </p:nvSpPr>
          <p:spPr bwMode="auto">
            <a:xfrm>
              <a:off x="3298825" y="4056063"/>
              <a:ext cx="82550" cy="93663"/>
            </a:xfrm>
            <a:custGeom>
              <a:avLst/>
              <a:gdLst>
                <a:gd name="T0" fmla="*/ 17 w 23"/>
                <a:gd name="T1" fmla="*/ 14 h 26"/>
                <a:gd name="T2" fmla="*/ 22 w 23"/>
                <a:gd name="T3" fmla="*/ 13 h 26"/>
                <a:gd name="T4" fmla="*/ 22 w 23"/>
                <a:gd name="T5" fmla="*/ 20 h 26"/>
                <a:gd name="T6" fmla="*/ 18 w 23"/>
                <a:gd name="T7" fmla="*/ 25 h 26"/>
                <a:gd name="T8" fmla="*/ 10 w 23"/>
                <a:gd name="T9" fmla="*/ 25 h 26"/>
                <a:gd name="T10" fmla="*/ 3 w 23"/>
                <a:gd name="T11" fmla="*/ 18 h 26"/>
                <a:gd name="T12" fmla="*/ 1 w 23"/>
                <a:gd name="T13" fmla="*/ 8 h 26"/>
                <a:gd name="T14" fmla="*/ 5 w 23"/>
                <a:gd name="T15" fmla="*/ 2 h 26"/>
                <a:gd name="T16" fmla="*/ 12 w 23"/>
                <a:gd name="T17" fmla="*/ 1 h 26"/>
                <a:gd name="T18" fmla="*/ 17 w 23"/>
                <a:gd name="T19" fmla="*/ 4 h 26"/>
                <a:gd name="T20" fmla="*/ 13 w 23"/>
                <a:gd name="T21" fmla="*/ 7 h 26"/>
                <a:gd name="T22" fmla="*/ 10 w 23"/>
                <a:gd name="T23" fmla="*/ 5 h 26"/>
                <a:gd name="T24" fmla="*/ 7 w 23"/>
                <a:gd name="T25" fmla="*/ 6 h 26"/>
                <a:gd name="T26" fmla="*/ 5 w 23"/>
                <a:gd name="T27" fmla="*/ 9 h 26"/>
                <a:gd name="T28" fmla="*/ 7 w 23"/>
                <a:gd name="T29" fmla="*/ 16 h 26"/>
                <a:gd name="T30" fmla="*/ 11 w 23"/>
                <a:gd name="T31" fmla="*/ 21 h 26"/>
                <a:gd name="T32" fmla="*/ 16 w 23"/>
                <a:gd name="T33" fmla="*/ 21 h 26"/>
                <a:gd name="T34" fmla="*/ 18 w 23"/>
                <a:gd name="T35" fmla="*/ 18 h 26"/>
                <a:gd name="T36" fmla="*/ 17 w 23"/>
                <a:gd name="T37" fmla="*/ 14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" h="26">
                  <a:moveTo>
                    <a:pt x="17" y="14"/>
                  </a:moveTo>
                  <a:cubicBezTo>
                    <a:pt x="22" y="13"/>
                    <a:pt x="22" y="13"/>
                    <a:pt x="22" y="13"/>
                  </a:cubicBezTo>
                  <a:cubicBezTo>
                    <a:pt x="23" y="16"/>
                    <a:pt x="23" y="18"/>
                    <a:pt x="22" y="20"/>
                  </a:cubicBezTo>
                  <a:cubicBezTo>
                    <a:pt x="21" y="22"/>
                    <a:pt x="20" y="24"/>
                    <a:pt x="18" y="25"/>
                  </a:cubicBezTo>
                  <a:cubicBezTo>
                    <a:pt x="15" y="26"/>
                    <a:pt x="13" y="26"/>
                    <a:pt x="10" y="25"/>
                  </a:cubicBezTo>
                  <a:cubicBezTo>
                    <a:pt x="7" y="24"/>
                    <a:pt x="5" y="22"/>
                    <a:pt x="3" y="18"/>
                  </a:cubicBezTo>
                  <a:cubicBezTo>
                    <a:pt x="1" y="15"/>
                    <a:pt x="0" y="11"/>
                    <a:pt x="1" y="8"/>
                  </a:cubicBezTo>
                  <a:cubicBezTo>
                    <a:pt x="1" y="5"/>
                    <a:pt x="3" y="3"/>
                    <a:pt x="5" y="2"/>
                  </a:cubicBezTo>
                  <a:cubicBezTo>
                    <a:pt x="8" y="0"/>
                    <a:pt x="10" y="0"/>
                    <a:pt x="12" y="1"/>
                  </a:cubicBezTo>
                  <a:cubicBezTo>
                    <a:pt x="14" y="1"/>
                    <a:pt x="15" y="2"/>
                    <a:pt x="17" y="4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2" y="6"/>
                    <a:pt x="11" y="5"/>
                    <a:pt x="10" y="5"/>
                  </a:cubicBezTo>
                  <a:cubicBezTo>
                    <a:pt x="9" y="5"/>
                    <a:pt x="8" y="5"/>
                    <a:pt x="7" y="6"/>
                  </a:cubicBezTo>
                  <a:cubicBezTo>
                    <a:pt x="6" y="6"/>
                    <a:pt x="5" y="8"/>
                    <a:pt x="5" y="9"/>
                  </a:cubicBezTo>
                  <a:cubicBezTo>
                    <a:pt x="5" y="11"/>
                    <a:pt x="5" y="13"/>
                    <a:pt x="7" y="16"/>
                  </a:cubicBezTo>
                  <a:cubicBezTo>
                    <a:pt x="8" y="19"/>
                    <a:pt x="10" y="20"/>
                    <a:pt x="11" y="21"/>
                  </a:cubicBezTo>
                  <a:cubicBezTo>
                    <a:pt x="13" y="22"/>
                    <a:pt x="14" y="22"/>
                    <a:pt x="16" y="21"/>
                  </a:cubicBezTo>
                  <a:cubicBezTo>
                    <a:pt x="17" y="20"/>
                    <a:pt x="17" y="20"/>
                    <a:pt x="18" y="18"/>
                  </a:cubicBezTo>
                  <a:cubicBezTo>
                    <a:pt x="18" y="17"/>
                    <a:pt x="18" y="16"/>
                    <a:pt x="17" y="14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8" name="ïSlïḓé">
              <a:extLst>
                <a:ext uri="{FF2B5EF4-FFF2-40B4-BE49-F238E27FC236}">
                  <a16:creationId xmlns:a16="http://schemas.microsoft.com/office/drawing/2014/main" id="{F7E26F36-4F8A-99AC-BED0-AA2CA7B9DD0A}"/>
                </a:ext>
              </a:extLst>
            </p:cNvPr>
            <p:cNvSpPr/>
            <p:nvPr/>
          </p:nvSpPr>
          <p:spPr bwMode="auto">
            <a:xfrm>
              <a:off x="3352800" y="4008438"/>
              <a:ext cx="104775" cy="109538"/>
            </a:xfrm>
            <a:custGeom>
              <a:avLst/>
              <a:gdLst>
                <a:gd name="T0" fmla="*/ 34 w 66"/>
                <a:gd name="T1" fmla="*/ 69 h 69"/>
                <a:gd name="T2" fmla="*/ 0 w 66"/>
                <a:gd name="T3" fmla="*/ 21 h 69"/>
                <a:gd name="T4" fmla="*/ 31 w 66"/>
                <a:gd name="T5" fmla="*/ 0 h 69"/>
                <a:gd name="T6" fmla="*/ 36 w 66"/>
                <a:gd name="T7" fmla="*/ 9 h 69"/>
                <a:gd name="T8" fmla="*/ 16 w 66"/>
                <a:gd name="T9" fmla="*/ 23 h 69"/>
                <a:gd name="T10" fmla="*/ 22 w 66"/>
                <a:gd name="T11" fmla="*/ 35 h 69"/>
                <a:gd name="T12" fmla="*/ 43 w 66"/>
                <a:gd name="T13" fmla="*/ 21 h 69"/>
                <a:gd name="T14" fmla="*/ 47 w 66"/>
                <a:gd name="T15" fmla="*/ 28 h 69"/>
                <a:gd name="T16" fmla="*/ 27 w 66"/>
                <a:gd name="T17" fmla="*/ 44 h 69"/>
                <a:gd name="T18" fmla="*/ 36 w 66"/>
                <a:gd name="T19" fmla="*/ 55 h 69"/>
                <a:gd name="T20" fmla="*/ 59 w 66"/>
                <a:gd name="T21" fmla="*/ 39 h 69"/>
                <a:gd name="T22" fmla="*/ 66 w 66"/>
                <a:gd name="T23" fmla="*/ 48 h 69"/>
                <a:gd name="T24" fmla="*/ 34 w 66"/>
                <a:gd name="T25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6" h="69">
                  <a:moveTo>
                    <a:pt x="34" y="69"/>
                  </a:moveTo>
                  <a:lnTo>
                    <a:pt x="0" y="21"/>
                  </a:lnTo>
                  <a:lnTo>
                    <a:pt x="31" y="0"/>
                  </a:lnTo>
                  <a:lnTo>
                    <a:pt x="36" y="9"/>
                  </a:lnTo>
                  <a:lnTo>
                    <a:pt x="16" y="23"/>
                  </a:lnTo>
                  <a:lnTo>
                    <a:pt x="22" y="35"/>
                  </a:lnTo>
                  <a:lnTo>
                    <a:pt x="43" y="21"/>
                  </a:lnTo>
                  <a:lnTo>
                    <a:pt x="47" y="28"/>
                  </a:lnTo>
                  <a:lnTo>
                    <a:pt x="27" y="44"/>
                  </a:lnTo>
                  <a:lnTo>
                    <a:pt x="36" y="55"/>
                  </a:lnTo>
                  <a:lnTo>
                    <a:pt x="59" y="39"/>
                  </a:lnTo>
                  <a:lnTo>
                    <a:pt x="66" y="48"/>
                  </a:lnTo>
                  <a:lnTo>
                    <a:pt x="34" y="69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9" name="išľîḑé">
              <a:extLst>
                <a:ext uri="{FF2B5EF4-FFF2-40B4-BE49-F238E27FC236}">
                  <a16:creationId xmlns:a16="http://schemas.microsoft.com/office/drawing/2014/main" id="{3B06242B-B414-F1AE-0827-8481D81930F3}"/>
                </a:ext>
              </a:extLst>
            </p:cNvPr>
            <p:cNvSpPr/>
            <p:nvPr/>
          </p:nvSpPr>
          <p:spPr bwMode="auto">
            <a:xfrm>
              <a:off x="3446463" y="3957638"/>
              <a:ext cx="93663" cy="87313"/>
            </a:xfrm>
            <a:custGeom>
              <a:avLst/>
              <a:gdLst>
                <a:gd name="T0" fmla="*/ 26 w 26"/>
                <a:gd name="T1" fmla="*/ 11 h 24"/>
                <a:gd name="T2" fmla="*/ 26 w 26"/>
                <a:gd name="T3" fmla="*/ 15 h 24"/>
                <a:gd name="T4" fmla="*/ 22 w 26"/>
                <a:gd name="T5" fmla="*/ 15 h 24"/>
                <a:gd name="T6" fmla="*/ 21 w 26"/>
                <a:gd name="T7" fmla="*/ 19 h 24"/>
                <a:gd name="T8" fmla="*/ 19 w 26"/>
                <a:gd name="T9" fmla="*/ 22 h 24"/>
                <a:gd name="T10" fmla="*/ 13 w 26"/>
                <a:gd name="T11" fmla="*/ 24 h 24"/>
                <a:gd name="T12" fmla="*/ 8 w 26"/>
                <a:gd name="T13" fmla="*/ 21 h 24"/>
                <a:gd name="T14" fmla="*/ 6 w 26"/>
                <a:gd name="T15" fmla="*/ 17 h 24"/>
                <a:gd name="T16" fmla="*/ 7 w 26"/>
                <a:gd name="T17" fmla="*/ 12 h 24"/>
                <a:gd name="T18" fmla="*/ 3 w 26"/>
                <a:gd name="T19" fmla="*/ 11 h 24"/>
                <a:gd name="T20" fmla="*/ 1 w 26"/>
                <a:gd name="T21" fmla="*/ 10 h 24"/>
                <a:gd name="T22" fmla="*/ 0 w 26"/>
                <a:gd name="T23" fmla="*/ 6 h 24"/>
                <a:gd name="T24" fmla="*/ 2 w 26"/>
                <a:gd name="T25" fmla="*/ 1 h 24"/>
                <a:gd name="T26" fmla="*/ 6 w 26"/>
                <a:gd name="T27" fmla="*/ 0 h 24"/>
                <a:gd name="T28" fmla="*/ 10 w 26"/>
                <a:gd name="T29" fmla="*/ 2 h 24"/>
                <a:gd name="T30" fmla="*/ 12 w 26"/>
                <a:gd name="T31" fmla="*/ 4 h 24"/>
                <a:gd name="T32" fmla="*/ 11 w 26"/>
                <a:gd name="T33" fmla="*/ 9 h 24"/>
                <a:gd name="T34" fmla="*/ 17 w 26"/>
                <a:gd name="T35" fmla="*/ 10 h 24"/>
                <a:gd name="T36" fmla="*/ 16 w 26"/>
                <a:gd name="T37" fmla="*/ 7 h 24"/>
                <a:gd name="T38" fmla="*/ 19 w 26"/>
                <a:gd name="T39" fmla="*/ 6 h 24"/>
                <a:gd name="T40" fmla="*/ 21 w 26"/>
                <a:gd name="T41" fmla="*/ 9 h 24"/>
                <a:gd name="T42" fmla="*/ 21 w 26"/>
                <a:gd name="T43" fmla="*/ 11 h 24"/>
                <a:gd name="T44" fmla="*/ 24 w 26"/>
                <a:gd name="T45" fmla="*/ 11 h 24"/>
                <a:gd name="T46" fmla="*/ 26 w 26"/>
                <a:gd name="T47" fmla="*/ 11 h 24"/>
                <a:gd name="T48" fmla="*/ 8 w 26"/>
                <a:gd name="T49" fmla="*/ 8 h 24"/>
                <a:gd name="T50" fmla="*/ 8 w 26"/>
                <a:gd name="T51" fmla="*/ 7 h 24"/>
                <a:gd name="T52" fmla="*/ 7 w 26"/>
                <a:gd name="T53" fmla="*/ 4 h 24"/>
                <a:gd name="T54" fmla="*/ 6 w 26"/>
                <a:gd name="T55" fmla="*/ 3 h 24"/>
                <a:gd name="T56" fmla="*/ 4 w 26"/>
                <a:gd name="T57" fmla="*/ 4 h 24"/>
                <a:gd name="T58" fmla="*/ 4 w 26"/>
                <a:gd name="T59" fmla="*/ 5 h 24"/>
                <a:gd name="T60" fmla="*/ 4 w 26"/>
                <a:gd name="T61" fmla="*/ 7 h 24"/>
                <a:gd name="T62" fmla="*/ 6 w 26"/>
                <a:gd name="T63" fmla="*/ 8 h 24"/>
                <a:gd name="T64" fmla="*/ 8 w 26"/>
                <a:gd name="T65" fmla="*/ 8 h 24"/>
                <a:gd name="T66" fmla="*/ 10 w 26"/>
                <a:gd name="T67" fmla="*/ 13 h 24"/>
                <a:gd name="T68" fmla="*/ 10 w 26"/>
                <a:gd name="T69" fmla="*/ 16 h 24"/>
                <a:gd name="T70" fmla="*/ 11 w 26"/>
                <a:gd name="T71" fmla="*/ 18 h 24"/>
                <a:gd name="T72" fmla="*/ 14 w 26"/>
                <a:gd name="T73" fmla="*/ 20 h 24"/>
                <a:gd name="T74" fmla="*/ 16 w 26"/>
                <a:gd name="T75" fmla="*/ 19 h 24"/>
                <a:gd name="T76" fmla="*/ 17 w 26"/>
                <a:gd name="T77" fmla="*/ 17 h 24"/>
                <a:gd name="T78" fmla="*/ 18 w 26"/>
                <a:gd name="T79" fmla="*/ 15 h 24"/>
                <a:gd name="T80" fmla="*/ 10 w 26"/>
                <a:gd name="T81" fmla="*/ 1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6" h="24">
                  <a:moveTo>
                    <a:pt x="26" y="11"/>
                  </a:moveTo>
                  <a:cubicBezTo>
                    <a:pt x="26" y="15"/>
                    <a:pt x="26" y="15"/>
                    <a:pt x="26" y="15"/>
                  </a:cubicBezTo>
                  <a:cubicBezTo>
                    <a:pt x="25" y="15"/>
                    <a:pt x="23" y="15"/>
                    <a:pt x="22" y="15"/>
                  </a:cubicBezTo>
                  <a:cubicBezTo>
                    <a:pt x="22" y="17"/>
                    <a:pt x="22" y="18"/>
                    <a:pt x="21" y="19"/>
                  </a:cubicBezTo>
                  <a:cubicBezTo>
                    <a:pt x="21" y="20"/>
                    <a:pt x="20" y="21"/>
                    <a:pt x="19" y="22"/>
                  </a:cubicBezTo>
                  <a:cubicBezTo>
                    <a:pt x="17" y="23"/>
                    <a:pt x="15" y="24"/>
                    <a:pt x="13" y="24"/>
                  </a:cubicBezTo>
                  <a:cubicBezTo>
                    <a:pt x="11" y="23"/>
                    <a:pt x="10" y="23"/>
                    <a:pt x="8" y="21"/>
                  </a:cubicBezTo>
                  <a:cubicBezTo>
                    <a:pt x="7" y="20"/>
                    <a:pt x="7" y="19"/>
                    <a:pt x="6" y="17"/>
                  </a:cubicBezTo>
                  <a:cubicBezTo>
                    <a:pt x="6" y="16"/>
                    <a:pt x="6" y="14"/>
                    <a:pt x="7" y="12"/>
                  </a:cubicBezTo>
                  <a:cubicBezTo>
                    <a:pt x="5" y="12"/>
                    <a:pt x="4" y="12"/>
                    <a:pt x="3" y="11"/>
                  </a:cubicBezTo>
                  <a:cubicBezTo>
                    <a:pt x="3" y="11"/>
                    <a:pt x="2" y="10"/>
                    <a:pt x="1" y="10"/>
                  </a:cubicBezTo>
                  <a:cubicBezTo>
                    <a:pt x="0" y="9"/>
                    <a:pt x="0" y="7"/>
                    <a:pt x="0" y="6"/>
                  </a:cubicBezTo>
                  <a:cubicBezTo>
                    <a:pt x="0" y="4"/>
                    <a:pt x="0" y="3"/>
                    <a:pt x="2" y="1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9" y="0"/>
                    <a:pt x="10" y="2"/>
                  </a:cubicBezTo>
                  <a:cubicBezTo>
                    <a:pt x="11" y="2"/>
                    <a:pt x="11" y="3"/>
                    <a:pt x="12" y="4"/>
                  </a:cubicBezTo>
                  <a:cubicBezTo>
                    <a:pt x="12" y="5"/>
                    <a:pt x="12" y="7"/>
                    <a:pt x="11" y="9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17" y="9"/>
                    <a:pt x="16" y="9"/>
                    <a:pt x="16" y="7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20" y="7"/>
                    <a:pt x="20" y="8"/>
                    <a:pt x="21" y="9"/>
                  </a:cubicBezTo>
                  <a:cubicBezTo>
                    <a:pt x="21" y="10"/>
                    <a:pt x="21" y="10"/>
                    <a:pt x="21" y="11"/>
                  </a:cubicBezTo>
                  <a:cubicBezTo>
                    <a:pt x="22" y="11"/>
                    <a:pt x="23" y="11"/>
                    <a:pt x="24" y="11"/>
                  </a:cubicBezTo>
                  <a:cubicBezTo>
                    <a:pt x="25" y="11"/>
                    <a:pt x="25" y="11"/>
                    <a:pt x="26" y="11"/>
                  </a:cubicBezTo>
                  <a:close/>
                  <a:moveTo>
                    <a:pt x="8" y="8"/>
                  </a:moveTo>
                  <a:cubicBezTo>
                    <a:pt x="8" y="7"/>
                    <a:pt x="8" y="7"/>
                    <a:pt x="8" y="7"/>
                  </a:cubicBezTo>
                  <a:cubicBezTo>
                    <a:pt x="8" y="5"/>
                    <a:pt x="8" y="5"/>
                    <a:pt x="7" y="4"/>
                  </a:cubicBezTo>
                  <a:cubicBezTo>
                    <a:pt x="7" y="4"/>
                    <a:pt x="7" y="3"/>
                    <a:pt x="6" y="3"/>
                  </a:cubicBezTo>
                  <a:cubicBezTo>
                    <a:pt x="5" y="3"/>
                    <a:pt x="5" y="3"/>
                    <a:pt x="4" y="4"/>
                  </a:cubicBezTo>
                  <a:cubicBezTo>
                    <a:pt x="4" y="4"/>
                    <a:pt x="4" y="5"/>
                    <a:pt x="4" y="5"/>
                  </a:cubicBezTo>
                  <a:cubicBezTo>
                    <a:pt x="4" y="6"/>
                    <a:pt x="4" y="6"/>
                    <a:pt x="4" y="7"/>
                  </a:cubicBezTo>
                  <a:cubicBezTo>
                    <a:pt x="4" y="7"/>
                    <a:pt x="5" y="8"/>
                    <a:pt x="6" y="8"/>
                  </a:cubicBezTo>
                  <a:lnTo>
                    <a:pt x="8" y="8"/>
                  </a:lnTo>
                  <a:close/>
                  <a:moveTo>
                    <a:pt x="10" y="13"/>
                  </a:moveTo>
                  <a:cubicBezTo>
                    <a:pt x="10" y="14"/>
                    <a:pt x="10" y="15"/>
                    <a:pt x="10" y="16"/>
                  </a:cubicBezTo>
                  <a:cubicBezTo>
                    <a:pt x="10" y="17"/>
                    <a:pt x="11" y="18"/>
                    <a:pt x="11" y="18"/>
                  </a:cubicBezTo>
                  <a:cubicBezTo>
                    <a:pt x="12" y="19"/>
                    <a:pt x="13" y="20"/>
                    <a:pt x="14" y="20"/>
                  </a:cubicBezTo>
                  <a:cubicBezTo>
                    <a:pt x="15" y="20"/>
                    <a:pt x="15" y="19"/>
                    <a:pt x="16" y="19"/>
                  </a:cubicBezTo>
                  <a:cubicBezTo>
                    <a:pt x="17" y="18"/>
                    <a:pt x="17" y="18"/>
                    <a:pt x="17" y="17"/>
                  </a:cubicBezTo>
                  <a:cubicBezTo>
                    <a:pt x="17" y="17"/>
                    <a:pt x="18" y="16"/>
                    <a:pt x="18" y="15"/>
                  </a:cubicBezTo>
                  <a:lnTo>
                    <a:pt x="10" y="13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0" name="îṥḻîďè">
              <a:extLst>
                <a:ext uri="{FF2B5EF4-FFF2-40B4-BE49-F238E27FC236}">
                  <a16:creationId xmlns:a16="http://schemas.microsoft.com/office/drawing/2014/main" id="{B005F17A-4F5E-2CD0-F744-72CC2A806C57}"/>
                </a:ext>
              </a:extLst>
            </p:cNvPr>
            <p:cNvSpPr/>
            <p:nvPr/>
          </p:nvSpPr>
          <p:spPr bwMode="auto">
            <a:xfrm>
              <a:off x="3503613" y="3867151"/>
              <a:ext cx="96838" cy="87313"/>
            </a:xfrm>
            <a:custGeom>
              <a:avLst/>
              <a:gdLst>
                <a:gd name="T0" fmla="*/ 55 w 61"/>
                <a:gd name="T1" fmla="*/ 55 h 55"/>
                <a:gd name="T2" fmla="*/ 16 w 61"/>
                <a:gd name="T3" fmla="*/ 25 h 55"/>
                <a:gd name="T4" fmla="*/ 7 w 61"/>
                <a:gd name="T5" fmla="*/ 37 h 55"/>
                <a:gd name="T6" fmla="*/ 0 w 61"/>
                <a:gd name="T7" fmla="*/ 30 h 55"/>
                <a:gd name="T8" fmla="*/ 25 w 61"/>
                <a:gd name="T9" fmla="*/ 0 h 55"/>
                <a:gd name="T10" fmla="*/ 32 w 61"/>
                <a:gd name="T11" fmla="*/ 5 h 55"/>
                <a:gd name="T12" fmla="*/ 23 w 61"/>
                <a:gd name="T13" fmla="*/ 16 h 55"/>
                <a:gd name="T14" fmla="*/ 61 w 61"/>
                <a:gd name="T15" fmla="*/ 48 h 55"/>
                <a:gd name="T16" fmla="*/ 55 w 61"/>
                <a:gd name="T17" fmla="*/ 5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" h="55">
                  <a:moveTo>
                    <a:pt x="55" y="55"/>
                  </a:moveTo>
                  <a:lnTo>
                    <a:pt x="16" y="25"/>
                  </a:lnTo>
                  <a:lnTo>
                    <a:pt x="7" y="37"/>
                  </a:lnTo>
                  <a:lnTo>
                    <a:pt x="0" y="30"/>
                  </a:lnTo>
                  <a:lnTo>
                    <a:pt x="25" y="0"/>
                  </a:lnTo>
                  <a:lnTo>
                    <a:pt x="32" y="5"/>
                  </a:lnTo>
                  <a:lnTo>
                    <a:pt x="23" y="16"/>
                  </a:lnTo>
                  <a:lnTo>
                    <a:pt x="61" y="48"/>
                  </a:lnTo>
                  <a:lnTo>
                    <a:pt x="55" y="55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1" name="i$líḋé">
              <a:extLst>
                <a:ext uri="{FF2B5EF4-FFF2-40B4-BE49-F238E27FC236}">
                  <a16:creationId xmlns:a16="http://schemas.microsoft.com/office/drawing/2014/main" id="{32AB2D29-DC53-1272-A6FA-9ABBE6D2A3F4}"/>
                </a:ext>
              </a:extLst>
            </p:cNvPr>
            <p:cNvSpPr/>
            <p:nvPr/>
          </p:nvSpPr>
          <p:spPr bwMode="auto">
            <a:xfrm>
              <a:off x="3546475" y="3813176"/>
              <a:ext cx="109538" cy="101600"/>
            </a:xfrm>
            <a:custGeom>
              <a:avLst/>
              <a:gdLst>
                <a:gd name="T0" fmla="*/ 48 w 69"/>
                <a:gd name="T1" fmla="*/ 64 h 64"/>
                <a:gd name="T2" fmla="*/ 0 w 69"/>
                <a:gd name="T3" fmla="*/ 30 h 64"/>
                <a:gd name="T4" fmla="*/ 21 w 69"/>
                <a:gd name="T5" fmla="*/ 0 h 64"/>
                <a:gd name="T6" fmla="*/ 30 w 69"/>
                <a:gd name="T7" fmla="*/ 5 h 64"/>
                <a:gd name="T8" fmla="*/ 14 w 69"/>
                <a:gd name="T9" fmla="*/ 27 h 64"/>
                <a:gd name="T10" fmla="*/ 25 w 69"/>
                <a:gd name="T11" fmla="*/ 34 h 64"/>
                <a:gd name="T12" fmla="*/ 39 w 69"/>
                <a:gd name="T13" fmla="*/ 14 h 64"/>
                <a:gd name="T14" fmla="*/ 46 w 69"/>
                <a:gd name="T15" fmla="*/ 21 h 64"/>
                <a:gd name="T16" fmla="*/ 32 w 69"/>
                <a:gd name="T17" fmla="*/ 41 h 64"/>
                <a:gd name="T18" fmla="*/ 46 w 69"/>
                <a:gd name="T19" fmla="*/ 50 h 64"/>
                <a:gd name="T20" fmla="*/ 62 w 69"/>
                <a:gd name="T21" fmla="*/ 25 h 64"/>
                <a:gd name="T22" fmla="*/ 69 w 69"/>
                <a:gd name="T23" fmla="*/ 32 h 64"/>
                <a:gd name="T24" fmla="*/ 48 w 69"/>
                <a:gd name="T25" fmla="*/ 6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9" h="64">
                  <a:moveTo>
                    <a:pt x="48" y="64"/>
                  </a:moveTo>
                  <a:lnTo>
                    <a:pt x="0" y="30"/>
                  </a:lnTo>
                  <a:lnTo>
                    <a:pt x="21" y="0"/>
                  </a:lnTo>
                  <a:lnTo>
                    <a:pt x="30" y="5"/>
                  </a:lnTo>
                  <a:lnTo>
                    <a:pt x="14" y="27"/>
                  </a:lnTo>
                  <a:lnTo>
                    <a:pt x="25" y="34"/>
                  </a:lnTo>
                  <a:lnTo>
                    <a:pt x="39" y="14"/>
                  </a:lnTo>
                  <a:lnTo>
                    <a:pt x="46" y="21"/>
                  </a:lnTo>
                  <a:lnTo>
                    <a:pt x="32" y="41"/>
                  </a:lnTo>
                  <a:lnTo>
                    <a:pt x="46" y="50"/>
                  </a:lnTo>
                  <a:lnTo>
                    <a:pt x="62" y="25"/>
                  </a:lnTo>
                  <a:lnTo>
                    <a:pt x="69" y="32"/>
                  </a:lnTo>
                  <a:lnTo>
                    <a:pt x="48" y="64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2" name="iṡľîḋê">
              <a:extLst>
                <a:ext uri="{FF2B5EF4-FFF2-40B4-BE49-F238E27FC236}">
                  <a16:creationId xmlns:a16="http://schemas.microsoft.com/office/drawing/2014/main" id="{A90684E4-7A21-C3BD-E7F4-C7A8002E3579}"/>
                </a:ext>
              </a:extLst>
            </p:cNvPr>
            <p:cNvSpPr/>
            <p:nvPr/>
          </p:nvSpPr>
          <p:spPr bwMode="auto">
            <a:xfrm>
              <a:off x="3594100" y="3754438"/>
              <a:ext cx="93663" cy="84138"/>
            </a:xfrm>
            <a:custGeom>
              <a:avLst/>
              <a:gdLst>
                <a:gd name="T0" fmla="*/ 19 w 26"/>
                <a:gd name="T1" fmla="*/ 9 h 23"/>
                <a:gd name="T2" fmla="*/ 22 w 26"/>
                <a:gd name="T3" fmla="*/ 6 h 23"/>
                <a:gd name="T4" fmla="*/ 26 w 26"/>
                <a:gd name="T5" fmla="*/ 12 h 23"/>
                <a:gd name="T6" fmla="*/ 25 w 26"/>
                <a:gd name="T7" fmla="*/ 18 h 23"/>
                <a:gd name="T8" fmla="*/ 19 w 26"/>
                <a:gd name="T9" fmla="*/ 22 h 23"/>
                <a:gd name="T10" fmla="*/ 9 w 26"/>
                <a:gd name="T11" fmla="*/ 20 h 23"/>
                <a:gd name="T12" fmla="*/ 1 w 26"/>
                <a:gd name="T13" fmla="*/ 13 h 23"/>
                <a:gd name="T14" fmla="*/ 2 w 26"/>
                <a:gd name="T15" fmla="*/ 5 h 23"/>
                <a:gd name="T16" fmla="*/ 7 w 26"/>
                <a:gd name="T17" fmla="*/ 0 h 23"/>
                <a:gd name="T18" fmla="*/ 13 w 26"/>
                <a:gd name="T19" fmla="*/ 1 h 23"/>
                <a:gd name="T20" fmla="*/ 12 w 26"/>
                <a:gd name="T21" fmla="*/ 5 h 23"/>
                <a:gd name="T22" fmla="*/ 8 w 26"/>
                <a:gd name="T23" fmla="*/ 5 h 23"/>
                <a:gd name="T24" fmla="*/ 6 w 26"/>
                <a:gd name="T25" fmla="*/ 7 h 23"/>
                <a:gd name="T26" fmla="*/ 6 w 26"/>
                <a:gd name="T27" fmla="*/ 11 h 23"/>
                <a:gd name="T28" fmla="*/ 11 w 26"/>
                <a:gd name="T29" fmla="*/ 16 h 23"/>
                <a:gd name="T30" fmla="*/ 17 w 26"/>
                <a:gd name="T31" fmla="*/ 18 h 23"/>
                <a:gd name="T32" fmla="*/ 21 w 26"/>
                <a:gd name="T33" fmla="*/ 16 h 23"/>
                <a:gd name="T34" fmla="*/ 21 w 26"/>
                <a:gd name="T35" fmla="*/ 12 h 23"/>
                <a:gd name="T36" fmla="*/ 19 w 26"/>
                <a:gd name="T37" fmla="*/ 9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6" h="23">
                  <a:moveTo>
                    <a:pt x="19" y="9"/>
                  </a:moveTo>
                  <a:cubicBezTo>
                    <a:pt x="22" y="6"/>
                    <a:pt x="22" y="6"/>
                    <a:pt x="22" y="6"/>
                  </a:cubicBezTo>
                  <a:cubicBezTo>
                    <a:pt x="24" y="8"/>
                    <a:pt x="25" y="10"/>
                    <a:pt x="26" y="12"/>
                  </a:cubicBezTo>
                  <a:cubicBezTo>
                    <a:pt x="26" y="14"/>
                    <a:pt x="26" y="16"/>
                    <a:pt x="25" y="18"/>
                  </a:cubicBezTo>
                  <a:cubicBezTo>
                    <a:pt x="24" y="20"/>
                    <a:pt x="21" y="22"/>
                    <a:pt x="19" y="22"/>
                  </a:cubicBezTo>
                  <a:cubicBezTo>
                    <a:pt x="16" y="23"/>
                    <a:pt x="12" y="22"/>
                    <a:pt x="9" y="20"/>
                  </a:cubicBezTo>
                  <a:cubicBezTo>
                    <a:pt x="5" y="18"/>
                    <a:pt x="3" y="16"/>
                    <a:pt x="1" y="13"/>
                  </a:cubicBezTo>
                  <a:cubicBezTo>
                    <a:pt x="0" y="10"/>
                    <a:pt x="0" y="7"/>
                    <a:pt x="2" y="5"/>
                  </a:cubicBezTo>
                  <a:cubicBezTo>
                    <a:pt x="3" y="2"/>
                    <a:pt x="5" y="1"/>
                    <a:pt x="7" y="0"/>
                  </a:cubicBezTo>
                  <a:cubicBezTo>
                    <a:pt x="9" y="0"/>
                    <a:pt x="11" y="0"/>
                    <a:pt x="13" y="1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0" y="5"/>
                    <a:pt x="9" y="5"/>
                    <a:pt x="8" y="5"/>
                  </a:cubicBezTo>
                  <a:cubicBezTo>
                    <a:pt x="7" y="5"/>
                    <a:pt x="6" y="6"/>
                    <a:pt x="6" y="7"/>
                  </a:cubicBezTo>
                  <a:cubicBezTo>
                    <a:pt x="5" y="8"/>
                    <a:pt x="5" y="10"/>
                    <a:pt x="6" y="11"/>
                  </a:cubicBezTo>
                  <a:cubicBezTo>
                    <a:pt x="6" y="13"/>
                    <a:pt x="8" y="15"/>
                    <a:pt x="11" y="16"/>
                  </a:cubicBezTo>
                  <a:cubicBezTo>
                    <a:pt x="13" y="17"/>
                    <a:pt x="16" y="18"/>
                    <a:pt x="17" y="18"/>
                  </a:cubicBezTo>
                  <a:cubicBezTo>
                    <a:pt x="19" y="18"/>
                    <a:pt x="20" y="17"/>
                    <a:pt x="21" y="16"/>
                  </a:cubicBezTo>
                  <a:cubicBezTo>
                    <a:pt x="22" y="15"/>
                    <a:pt x="22" y="13"/>
                    <a:pt x="21" y="12"/>
                  </a:cubicBezTo>
                  <a:cubicBezTo>
                    <a:pt x="21" y="11"/>
                    <a:pt x="20" y="10"/>
                    <a:pt x="19" y="9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3" name="ïśḷîḍè">
              <a:extLst>
                <a:ext uri="{FF2B5EF4-FFF2-40B4-BE49-F238E27FC236}">
                  <a16:creationId xmlns:a16="http://schemas.microsoft.com/office/drawing/2014/main" id="{2820993C-8A9E-120F-BB8D-0F6F8C67BD47}"/>
                </a:ext>
              </a:extLst>
            </p:cNvPr>
            <p:cNvSpPr/>
            <p:nvPr/>
          </p:nvSpPr>
          <p:spPr bwMode="auto">
            <a:xfrm>
              <a:off x="3622675" y="3679826"/>
              <a:ext cx="107950" cy="93663"/>
            </a:xfrm>
            <a:custGeom>
              <a:avLst/>
              <a:gdLst>
                <a:gd name="T0" fmla="*/ 52 w 68"/>
                <a:gd name="T1" fmla="*/ 59 h 59"/>
                <a:gd name="T2" fmla="*/ 0 w 68"/>
                <a:gd name="T3" fmla="*/ 36 h 59"/>
                <a:gd name="T4" fmla="*/ 2 w 68"/>
                <a:gd name="T5" fmla="*/ 27 h 59"/>
                <a:gd name="T6" fmla="*/ 23 w 68"/>
                <a:gd name="T7" fmla="*/ 36 h 59"/>
                <a:gd name="T8" fmla="*/ 32 w 68"/>
                <a:gd name="T9" fmla="*/ 18 h 59"/>
                <a:gd name="T10" fmla="*/ 9 w 68"/>
                <a:gd name="T11" fmla="*/ 9 h 59"/>
                <a:gd name="T12" fmla="*/ 14 w 68"/>
                <a:gd name="T13" fmla="*/ 0 h 59"/>
                <a:gd name="T14" fmla="*/ 68 w 68"/>
                <a:gd name="T15" fmla="*/ 22 h 59"/>
                <a:gd name="T16" fmla="*/ 64 w 68"/>
                <a:gd name="T17" fmla="*/ 32 h 59"/>
                <a:gd name="T18" fmla="*/ 41 w 68"/>
                <a:gd name="T19" fmla="*/ 20 h 59"/>
                <a:gd name="T20" fmla="*/ 32 w 68"/>
                <a:gd name="T21" fmla="*/ 38 h 59"/>
                <a:gd name="T22" fmla="*/ 57 w 68"/>
                <a:gd name="T23" fmla="*/ 50 h 59"/>
                <a:gd name="T24" fmla="*/ 52 w 68"/>
                <a:gd name="T25" fmla="*/ 5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8" h="59">
                  <a:moveTo>
                    <a:pt x="52" y="59"/>
                  </a:moveTo>
                  <a:lnTo>
                    <a:pt x="0" y="36"/>
                  </a:lnTo>
                  <a:lnTo>
                    <a:pt x="2" y="27"/>
                  </a:lnTo>
                  <a:lnTo>
                    <a:pt x="23" y="36"/>
                  </a:lnTo>
                  <a:lnTo>
                    <a:pt x="32" y="18"/>
                  </a:lnTo>
                  <a:lnTo>
                    <a:pt x="9" y="9"/>
                  </a:lnTo>
                  <a:lnTo>
                    <a:pt x="14" y="0"/>
                  </a:lnTo>
                  <a:lnTo>
                    <a:pt x="68" y="22"/>
                  </a:lnTo>
                  <a:lnTo>
                    <a:pt x="64" y="32"/>
                  </a:lnTo>
                  <a:lnTo>
                    <a:pt x="41" y="20"/>
                  </a:lnTo>
                  <a:lnTo>
                    <a:pt x="32" y="38"/>
                  </a:lnTo>
                  <a:lnTo>
                    <a:pt x="57" y="50"/>
                  </a:lnTo>
                  <a:lnTo>
                    <a:pt x="52" y="59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4" name="íṣļíḓe">
              <a:extLst>
                <a:ext uri="{FF2B5EF4-FFF2-40B4-BE49-F238E27FC236}">
                  <a16:creationId xmlns:a16="http://schemas.microsoft.com/office/drawing/2014/main" id="{1DB3D17D-1C60-6696-30FE-909BE59061EF}"/>
                </a:ext>
              </a:extLst>
            </p:cNvPr>
            <p:cNvSpPr/>
            <p:nvPr/>
          </p:nvSpPr>
          <p:spPr bwMode="auto">
            <a:xfrm>
              <a:off x="3648075" y="3606801"/>
              <a:ext cx="107950" cy="87313"/>
            </a:xfrm>
            <a:custGeom>
              <a:avLst/>
              <a:gdLst>
                <a:gd name="T0" fmla="*/ 57 w 68"/>
                <a:gd name="T1" fmla="*/ 55 h 55"/>
                <a:gd name="T2" fmla="*/ 0 w 68"/>
                <a:gd name="T3" fmla="*/ 36 h 55"/>
                <a:gd name="T4" fmla="*/ 2 w 68"/>
                <a:gd name="T5" fmla="*/ 27 h 55"/>
                <a:gd name="T6" fmla="*/ 45 w 68"/>
                <a:gd name="T7" fmla="*/ 20 h 55"/>
                <a:gd name="T8" fmla="*/ 9 w 68"/>
                <a:gd name="T9" fmla="*/ 9 h 55"/>
                <a:gd name="T10" fmla="*/ 11 w 68"/>
                <a:gd name="T11" fmla="*/ 0 h 55"/>
                <a:gd name="T12" fmla="*/ 68 w 68"/>
                <a:gd name="T13" fmla="*/ 16 h 55"/>
                <a:gd name="T14" fmla="*/ 64 w 68"/>
                <a:gd name="T15" fmla="*/ 25 h 55"/>
                <a:gd name="T16" fmla="*/ 23 w 68"/>
                <a:gd name="T17" fmla="*/ 34 h 55"/>
                <a:gd name="T18" fmla="*/ 59 w 68"/>
                <a:gd name="T19" fmla="*/ 46 h 55"/>
                <a:gd name="T20" fmla="*/ 57 w 68"/>
                <a:gd name="T21" fmla="*/ 5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8" h="55">
                  <a:moveTo>
                    <a:pt x="57" y="55"/>
                  </a:moveTo>
                  <a:lnTo>
                    <a:pt x="0" y="36"/>
                  </a:lnTo>
                  <a:lnTo>
                    <a:pt x="2" y="27"/>
                  </a:lnTo>
                  <a:lnTo>
                    <a:pt x="45" y="20"/>
                  </a:lnTo>
                  <a:lnTo>
                    <a:pt x="9" y="9"/>
                  </a:lnTo>
                  <a:lnTo>
                    <a:pt x="11" y="0"/>
                  </a:lnTo>
                  <a:lnTo>
                    <a:pt x="68" y="16"/>
                  </a:lnTo>
                  <a:lnTo>
                    <a:pt x="64" y="25"/>
                  </a:lnTo>
                  <a:lnTo>
                    <a:pt x="23" y="34"/>
                  </a:lnTo>
                  <a:lnTo>
                    <a:pt x="59" y="46"/>
                  </a:lnTo>
                  <a:lnTo>
                    <a:pt x="57" y="55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5" name="ïslïḓé">
              <a:extLst>
                <a:ext uri="{FF2B5EF4-FFF2-40B4-BE49-F238E27FC236}">
                  <a16:creationId xmlns:a16="http://schemas.microsoft.com/office/drawing/2014/main" id="{576F1EE3-2651-2B91-701F-68FA1B214D1B}"/>
                </a:ext>
              </a:extLst>
            </p:cNvPr>
            <p:cNvSpPr/>
            <p:nvPr/>
          </p:nvSpPr>
          <p:spPr bwMode="auto">
            <a:xfrm>
              <a:off x="3673475" y="3527426"/>
              <a:ext cx="96838" cy="79375"/>
            </a:xfrm>
            <a:custGeom>
              <a:avLst/>
              <a:gdLst>
                <a:gd name="T0" fmla="*/ 12 w 27"/>
                <a:gd name="T1" fmla="*/ 22 h 22"/>
                <a:gd name="T2" fmla="*/ 5 w 27"/>
                <a:gd name="T3" fmla="*/ 20 h 22"/>
                <a:gd name="T4" fmla="*/ 2 w 27"/>
                <a:gd name="T5" fmla="*/ 17 h 22"/>
                <a:gd name="T6" fmla="*/ 0 w 27"/>
                <a:gd name="T7" fmla="*/ 14 h 22"/>
                <a:gd name="T8" fmla="*/ 0 w 27"/>
                <a:gd name="T9" fmla="*/ 9 h 22"/>
                <a:gd name="T10" fmla="*/ 5 w 27"/>
                <a:gd name="T11" fmla="*/ 2 h 22"/>
                <a:gd name="T12" fmla="*/ 15 w 27"/>
                <a:gd name="T13" fmla="*/ 1 h 22"/>
                <a:gd name="T14" fmla="*/ 24 w 27"/>
                <a:gd name="T15" fmla="*/ 5 h 22"/>
                <a:gd name="T16" fmla="*/ 26 w 27"/>
                <a:gd name="T17" fmla="*/ 14 h 22"/>
                <a:gd name="T18" fmla="*/ 21 w 27"/>
                <a:gd name="T19" fmla="*/ 21 h 22"/>
                <a:gd name="T20" fmla="*/ 12 w 27"/>
                <a:gd name="T21" fmla="*/ 22 h 22"/>
                <a:gd name="T22" fmla="*/ 12 w 27"/>
                <a:gd name="T23" fmla="*/ 17 h 22"/>
                <a:gd name="T24" fmla="*/ 19 w 27"/>
                <a:gd name="T25" fmla="*/ 17 h 22"/>
                <a:gd name="T26" fmla="*/ 22 w 27"/>
                <a:gd name="T27" fmla="*/ 13 h 22"/>
                <a:gd name="T28" fmla="*/ 21 w 27"/>
                <a:gd name="T29" fmla="*/ 8 h 22"/>
                <a:gd name="T30" fmla="*/ 14 w 27"/>
                <a:gd name="T31" fmla="*/ 5 h 22"/>
                <a:gd name="T32" fmla="*/ 8 w 27"/>
                <a:gd name="T33" fmla="*/ 6 h 22"/>
                <a:gd name="T34" fmla="*/ 5 w 27"/>
                <a:gd name="T35" fmla="*/ 10 h 22"/>
                <a:gd name="T36" fmla="*/ 6 w 27"/>
                <a:gd name="T37" fmla="*/ 14 h 22"/>
                <a:gd name="T38" fmla="*/ 12 w 27"/>
                <a:gd name="T39" fmla="*/ 17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7" h="22">
                  <a:moveTo>
                    <a:pt x="12" y="22"/>
                  </a:moveTo>
                  <a:cubicBezTo>
                    <a:pt x="9" y="21"/>
                    <a:pt x="7" y="21"/>
                    <a:pt x="5" y="20"/>
                  </a:cubicBezTo>
                  <a:cubicBezTo>
                    <a:pt x="4" y="19"/>
                    <a:pt x="3" y="18"/>
                    <a:pt x="2" y="17"/>
                  </a:cubicBezTo>
                  <a:cubicBezTo>
                    <a:pt x="1" y="16"/>
                    <a:pt x="1" y="15"/>
                    <a:pt x="0" y="14"/>
                  </a:cubicBezTo>
                  <a:cubicBezTo>
                    <a:pt x="0" y="12"/>
                    <a:pt x="0" y="11"/>
                    <a:pt x="0" y="9"/>
                  </a:cubicBezTo>
                  <a:cubicBezTo>
                    <a:pt x="1" y="6"/>
                    <a:pt x="2" y="4"/>
                    <a:pt x="5" y="2"/>
                  </a:cubicBezTo>
                  <a:cubicBezTo>
                    <a:pt x="8" y="1"/>
                    <a:pt x="11" y="0"/>
                    <a:pt x="15" y="1"/>
                  </a:cubicBezTo>
                  <a:cubicBezTo>
                    <a:pt x="19" y="2"/>
                    <a:pt x="22" y="3"/>
                    <a:pt x="24" y="5"/>
                  </a:cubicBezTo>
                  <a:cubicBezTo>
                    <a:pt x="26" y="8"/>
                    <a:pt x="27" y="10"/>
                    <a:pt x="26" y="14"/>
                  </a:cubicBezTo>
                  <a:cubicBezTo>
                    <a:pt x="26" y="17"/>
                    <a:pt x="24" y="19"/>
                    <a:pt x="21" y="21"/>
                  </a:cubicBezTo>
                  <a:cubicBezTo>
                    <a:pt x="19" y="22"/>
                    <a:pt x="16" y="22"/>
                    <a:pt x="12" y="22"/>
                  </a:cubicBezTo>
                  <a:close/>
                  <a:moveTo>
                    <a:pt x="12" y="17"/>
                  </a:moveTo>
                  <a:cubicBezTo>
                    <a:pt x="15" y="18"/>
                    <a:pt x="17" y="18"/>
                    <a:pt x="19" y="17"/>
                  </a:cubicBezTo>
                  <a:cubicBezTo>
                    <a:pt x="21" y="16"/>
                    <a:pt x="22" y="15"/>
                    <a:pt x="22" y="13"/>
                  </a:cubicBezTo>
                  <a:cubicBezTo>
                    <a:pt x="22" y="11"/>
                    <a:pt x="22" y="10"/>
                    <a:pt x="21" y="8"/>
                  </a:cubicBezTo>
                  <a:cubicBezTo>
                    <a:pt x="19" y="7"/>
                    <a:pt x="17" y="6"/>
                    <a:pt x="14" y="5"/>
                  </a:cubicBezTo>
                  <a:cubicBezTo>
                    <a:pt x="11" y="5"/>
                    <a:pt x="9" y="5"/>
                    <a:pt x="8" y="6"/>
                  </a:cubicBezTo>
                  <a:cubicBezTo>
                    <a:pt x="6" y="7"/>
                    <a:pt x="5" y="8"/>
                    <a:pt x="5" y="10"/>
                  </a:cubicBezTo>
                  <a:cubicBezTo>
                    <a:pt x="4" y="12"/>
                    <a:pt x="5" y="13"/>
                    <a:pt x="6" y="14"/>
                  </a:cubicBezTo>
                  <a:cubicBezTo>
                    <a:pt x="7" y="16"/>
                    <a:pt x="9" y="17"/>
                    <a:pt x="12" y="17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6" name="ïṣḻîḋé">
              <a:extLst>
                <a:ext uri="{FF2B5EF4-FFF2-40B4-BE49-F238E27FC236}">
                  <a16:creationId xmlns:a16="http://schemas.microsoft.com/office/drawing/2014/main" id="{B491D6CB-B2B3-4814-0C68-23AEEF0C2A2B}"/>
                </a:ext>
              </a:extLst>
            </p:cNvPr>
            <p:cNvSpPr/>
            <p:nvPr/>
          </p:nvSpPr>
          <p:spPr bwMode="auto">
            <a:xfrm>
              <a:off x="3684588" y="3465513"/>
              <a:ext cx="93663" cy="53975"/>
            </a:xfrm>
            <a:custGeom>
              <a:avLst/>
              <a:gdLst>
                <a:gd name="T0" fmla="*/ 57 w 59"/>
                <a:gd name="T1" fmla="*/ 34 h 34"/>
                <a:gd name="T2" fmla="*/ 0 w 59"/>
                <a:gd name="T3" fmla="*/ 30 h 34"/>
                <a:gd name="T4" fmla="*/ 0 w 59"/>
                <a:gd name="T5" fmla="*/ 20 h 34"/>
                <a:gd name="T6" fmla="*/ 47 w 59"/>
                <a:gd name="T7" fmla="*/ 23 h 34"/>
                <a:gd name="T8" fmla="*/ 50 w 59"/>
                <a:gd name="T9" fmla="*/ 0 h 34"/>
                <a:gd name="T10" fmla="*/ 59 w 59"/>
                <a:gd name="T11" fmla="*/ 0 h 34"/>
                <a:gd name="T12" fmla="*/ 57 w 59"/>
                <a:gd name="T13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9" h="34">
                  <a:moveTo>
                    <a:pt x="57" y="34"/>
                  </a:moveTo>
                  <a:lnTo>
                    <a:pt x="0" y="30"/>
                  </a:lnTo>
                  <a:lnTo>
                    <a:pt x="0" y="20"/>
                  </a:lnTo>
                  <a:lnTo>
                    <a:pt x="47" y="23"/>
                  </a:lnTo>
                  <a:lnTo>
                    <a:pt x="50" y="0"/>
                  </a:lnTo>
                  <a:lnTo>
                    <a:pt x="59" y="0"/>
                  </a:lnTo>
                  <a:lnTo>
                    <a:pt x="57" y="34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7" name="ïṥḷîḓè">
              <a:extLst>
                <a:ext uri="{FF2B5EF4-FFF2-40B4-BE49-F238E27FC236}">
                  <a16:creationId xmlns:a16="http://schemas.microsoft.com/office/drawing/2014/main" id="{41064502-35CB-C7F7-AC58-780557783B77}"/>
                </a:ext>
              </a:extLst>
            </p:cNvPr>
            <p:cNvSpPr/>
            <p:nvPr/>
          </p:nvSpPr>
          <p:spPr bwMode="auto">
            <a:xfrm>
              <a:off x="3684588" y="3375026"/>
              <a:ext cx="96838" cy="76200"/>
            </a:xfrm>
            <a:custGeom>
              <a:avLst/>
              <a:gdLst>
                <a:gd name="T0" fmla="*/ 14 w 27"/>
                <a:gd name="T1" fmla="*/ 21 h 21"/>
                <a:gd name="T2" fmla="*/ 7 w 27"/>
                <a:gd name="T3" fmla="*/ 21 h 21"/>
                <a:gd name="T4" fmla="*/ 4 w 27"/>
                <a:gd name="T5" fmla="*/ 19 h 21"/>
                <a:gd name="T6" fmla="*/ 2 w 27"/>
                <a:gd name="T7" fmla="*/ 16 h 21"/>
                <a:gd name="T8" fmla="*/ 0 w 27"/>
                <a:gd name="T9" fmla="*/ 11 h 21"/>
                <a:gd name="T10" fmla="*/ 4 w 27"/>
                <a:gd name="T11" fmla="*/ 3 h 21"/>
                <a:gd name="T12" fmla="*/ 13 w 27"/>
                <a:gd name="T13" fmla="*/ 0 h 21"/>
                <a:gd name="T14" fmla="*/ 23 w 27"/>
                <a:gd name="T15" fmla="*/ 3 h 21"/>
                <a:gd name="T16" fmla="*/ 27 w 27"/>
                <a:gd name="T17" fmla="*/ 11 h 21"/>
                <a:gd name="T18" fmla="*/ 24 w 27"/>
                <a:gd name="T19" fmla="*/ 18 h 21"/>
                <a:gd name="T20" fmla="*/ 14 w 27"/>
                <a:gd name="T21" fmla="*/ 21 h 21"/>
                <a:gd name="T22" fmla="*/ 14 w 27"/>
                <a:gd name="T23" fmla="*/ 17 h 21"/>
                <a:gd name="T24" fmla="*/ 20 w 27"/>
                <a:gd name="T25" fmla="*/ 15 h 21"/>
                <a:gd name="T26" fmla="*/ 22 w 27"/>
                <a:gd name="T27" fmla="*/ 11 h 21"/>
                <a:gd name="T28" fmla="*/ 20 w 27"/>
                <a:gd name="T29" fmla="*/ 6 h 21"/>
                <a:gd name="T30" fmla="*/ 13 w 27"/>
                <a:gd name="T31" fmla="*/ 5 h 21"/>
                <a:gd name="T32" fmla="*/ 7 w 27"/>
                <a:gd name="T33" fmla="*/ 7 h 21"/>
                <a:gd name="T34" fmla="*/ 5 w 27"/>
                <a:gd name="T35" fmla="*/ 11 h 21"/>
                <a:gd name="T36" fmla="*/ 7 w 27"/>
                <a:gd name="T37" fmla="*/ 15 h 21"/>
                <a:gd name="T38" fmla="*/ 14 w 27"/>
                <a:gd name="T39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7" h="21">
                  <a:moveTo>
                    <a:pt x="14" y="21"/>
                  </a:moveTo>
                  <a:cubicBezTo>
                    <a:pt x="11" y="21"/>
                    <a:pt x="9" y="21"/>
                    <a:pt x="7" y="21"/>
                  </a:cubicBezTo>
                  <a:cubicBezTo>
                    <a:pt x="6" y="20"/>
                    <a:pt x="5" y="19"/>
                    <a:pt x="4" y="19"/>
                  </a:cubicBezTo>
                  <a:cubicBezTo>
                    <a:pt x="3" y="18"/>
                    <a:pt x="2" y="17"/>
                    <a:pt x="2" y="16"/>
                  </a:cubicBezTo>
                  <a:cubicBezTo>
                    <a:pt x="1" y="15"/>
                    <a:pt x="0" y="13"/>
                    <a:pt x="0" y="11"/>
                  </a:cubicBezTo>
                  <a:cubicBezTo>
                    <a:pt x="0" y="8"/>
                    <a:pt x="1" y="5"/>
                    <a:pt x="4" y="3"/>
                  </a:cubicBezTo>
                  <a:cubicBezTo>
                    <a:pt x="6" y="1"/>
                    <a:pt x="9" y="0"/>
                    <a:pt x="13" y="0"/>
                  </a:cubicBezTo>
                  <a:cubicBezTo>
                    <a:pt x="18" y="0"/>
                    <a:pt x="21" y="1"/>
                    <a:pt x="23" y="3"/>
                  </a:cubicBezTo>
                  <a:cubicBezTo>
                    <a:pt x="26" y="5"/>
                    <a:pt x="27" y="7"/>
                    <a:pt x="27" y="11"/>
                  </a:cubicBezTo>
                  <a:cubicBezTo>
                    <a:pt x="27" y="14"/>
                    <a:pt x="26" y="16"/>
                    <a:pt x="24" y="18"/>
                  </a:cubicBezTo>
                  <a:cubicBezTo>
                    <a:pt x="21" y="20"/>
                    <a:pt x="18" y="21"/>
                    <a:pt x="14" y="21"/>
                  </a:cubicBezTo>
                  <a:close/>
                  <a:moveTo>
                    <a:pt x="14" y="17"/>
                  </a:moveTo>
                  <a:cubicBezTo>
                    <a:pt x="17" y="17"/>
                    <a:pt x="19" y="16"/>
                    <a:pt x="20" y="15"/>
                  </a:cubicBezTo>
                  <a:cubicBezTo>
                    <a:pt x="22" y="14"/>
                    <a:pt x="22" y="12"/>
                    <a:pt x="22" y="11"/>
                  </a:cubicBezTo>
                  <a:cubicBezTo>
                    <a:pt x="22" y="9"/>
                    <a:pt x="22" y="8"/>
                    <a:pt x="20" y="6"/>
                  </a:cubicBezTo>
                  <a:cubicBezTo>
                    <a:pt x="19" y="5"/>
                    <a:pt x="16" y="5"/>
                    <a:pt x="13" y="5"/>
                  </a:cubicBezTo>
                  <a:cubicBezTo>
                    <a:pt x="10" y="5"/>
                    <a:pt x="8" y="6"/>
                    <a:pt x="7" y="7"/>
                  </a:cubicBezTo>
                  <a:cubicBezTo>
                    <a:pt x="5" y="8"/>
                    <a:pt x="5" y="9"/>
                    <a:pt x="5" y="11"/>
                  </a:cubicBezTo>
                  <a:cubicBezTo>
                    <a:pt x="5" y="13"/>
                    <a:pt x="6" y="14"/>
                    <a:pt x="7" y="15"/>
                  </a:cubicBezTo>
                  <a:cubicBezTo>
                    <a:pt x="9" y="16"/>
                    <a:pt x="11" y="17"/>
                    <a:pt x="14" y="17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8" name="iṥḷíďè">
              <a:extLst>
                <a:ext uri="{FF2B5EF4-FFF2-40B4-BE49-F238E27FC236}">
                  <a16:creationId xmlns:a16="http://schemas.microsoft.com/office/drawing/2014/main" id="{66C87D98-138C-E487-D523-9684282CA5B9}"/>
                </a:ext>
              </a:extLst>
            </p:cNvPr>
            <p:cNvSpPr/>
            <p:nvPr/>
          </p:nvSpPr>
          <p:spPr bwMode="auto">
            <a:xfrm>
              <a:off x="3676650" y="3287713"/>
              <a:ext cx="98425" cy="79375"/>
            </a:xfrm>
            <a:custGeom>
              <a:avLst/>
              <a:gdLst>
                <a:gd name="T0" fmla="*/ 17 w 27"/>
                <a:gd name="T1" fmla="*/ 10 h 22"/>
                <a:gd name="T2" fmla="*/ 13 w 27"/>
                <a:gd name="T3" fmla="*/ 11 h 22"/>
                <a:gd name="T4" fmla="*/ 12 w 27"/>
                <a:gd name="T5" fmla="*/ 1 h 22"/>
                <a:gd name="T6" fmla="*/ 22 w 27"/>
                <a:gd name="T7" fmla="*/ 0 h 22"/>
                <a:gd name="T8" fmla="*/ 25 w 27"/>
                <a:gd name="T9" fmla="*/ 4 h 22"/>
                <a:gd name="T10" fmla="*/ 27 w 27"/>
                <a:gd name="T11" fmla="*/ 9 h 22"/>
                <a:gd name="T12" fmla="*/ 26 w 27"/>
                <a:gd name="T13" fmla="*/ 15 h 22"/>
                <a:gd name="T14" fmla="*/ 22 w 27"/>
                <a:gd name="T15" fmla="*/ 19 h 22"/>
                <a:gd name="T16" fmla="*/ 15 w 27"/>
                <a:gd name="T17" fmla="*/ 21 h 22"/>
                <a:gd name="T18" fmla="*/ 8 w 27"/>
                <a:gd name="T19" fmla="*/ 21 h 22"/>
                <a:gd name="T20" fmla="*/ 3 w 27"/>
                <a:gd name="T21" fmla="*/ 17 h 22"/>
                <a:gd name="T22" fmla="*/ 1 w 27"/>
                <a:gd name="T23" fmla="*/ 12 h 22"/>
                <a:gd name="T24" fmla="*/ 2 w 27"/>
                <a:gd name="T25" fmla="*/ 6 h 22"/>
                <a:gd name="T26" fmla="*/ 7 w 27"/>
                <a:gd name="T27" fmla="*/ 2 h 22"/>
                <a:gd name="T28" fmla="*/ 8 w 27"/>
                <a:gd name="T29" fmla="*/ 7 h 22"/>
                <a:gd name="T30" fmla="*/ 6 w 27"/>
                <a:gd name="T31" fmla="*/ 9 h 22"/>
                <a:gd name="T32" fmla="*/ 5 w 27"/>
                <a:gd name="T33" fmla="*/ 12 h 22"/>
                <a:gd name="T34" fmla="*/ 8 w 27"/>
                <a:gd name="T35" fmla="*/ 16 h 22"/>
                <a:gd name="T36" fmla="*/ 14 w 27"/>
                <a:gd name="T37" fmla="*/ 17 h 22"/>
                <a:gd name="T38" fmla="*/ 21 w 27"/>
                <a:gd name="T39" fmla="*/ 14 h 22"/>
                <a:gd name="T40" fmla="*/ 22 w 27"/>
                <a:gd name="T41" fmla="*/ 10 h 22"/>
                <a:gd name="T42" fmla="*/ 21 w 27"/>
                <a:gd name="T43" fmla="*/ 7 h 22"/>
                <a:gd name="T44" fmla="*/ 20 w 27"/>
                <a:gd name="T45" fmla="*/ 5 h 22"/>
                <a:gd name="T46" fmla="*/ 16 w 27"/>
                <a:gd name="T47" fmla="*/ 5 h 22"/>
                <a:gd name="T48" fmla="*/ 17 w 27"/>
                <a:gd name="T49" fmla="*/ 1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7" h="22">
                  <a:moveTo>
                    <a:pt x="17" y="10"/>
                  </a:moveTo>
                  <a:cubicBezTo>
                    <a:pt x="13" y="11"/>
                    <a:pt x="13" y="11"/>
                    <a:pt x="13" y="11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3" y="1"/>
                    <a:pt x="24" y="2"/>
                    <a:pt x="25" y="4"/>
                  </a:cubicBezTo>
                  <a:cubicBezTo>
                    <a:pt x="26" y="5"/>
                    <a:pt x="27" y="7"/>
                    <a:pt x="27" y="9"/>
                  </a:cubicBezTo>
                  <a:cubicBezTo>
                    <a:pt x="27" y="11"/>
                    <a:pt x="27" y="13"/>
                    <a:pt x="26" y="15"/>
                  </a:cubicBezTo>
                  <a:cubicBezTo>
                    <a:pt x="25" y="17"/>
                    <a:pt x="24" y="18"/>
                    <a:pt x="22" y="19"/>
                  </a:cubicBezTo>
                  <a:cubicBezTo>
                    <a:pt x="20" y="20"/>
                    <a:pt x="18" y="21"/>
                    <a:pt x="15" y="21"/>
                  </a:cubicBezTo>
                  <a:cubicBezTo>
                    <a:pt x="12" y="22"/>
                    <a:pt x="10" y="22"/>
                    <a:pt x="8" y="21"/>
                  </a:cubicBezTo>
                  <a:cubicBezTo>
                    <a:pt x="6" y="20"/>
                    <a:pt x="4" y="19"/>
                    <a:pt x="3" y="17"/>
                  </a:cubicBezTo>
                  <a:cubicBezTo>
                    <a:pt x="2" y="16"/>
                    <a:pt x="1" y="15"/>
                    <a:pt x="1" y="12"/>
                  </a:cubicBezTo>
                  <a:cubicBezTo>
                    <a:pt x="0" y="10"/>
                    <a:pt x="1" y="8"/>
                    <a:pt x="2" y="6"/>
                  </a:cubicBezTo>
                  <a:cubicBezTo>
                    <a:pt x="3" y="4"/>
                    <a:pt x="5" y="3"/>
                    <a:pt x="7" y="2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7" y="7"/>
                    <a:pt x="6" y="8"/>
                    <a:pt x="6" y="9"/>
                  </a:cubicBezTo>
                  <a:cubicBezTo>
                    <a:pt x="5" y="10"/>
                    <a:pt x="5" y="11"/>
                    <a:pt x="5" y="12"/>
                  </a:cubicBezTo>
                  <a:cubicBezTo>
                    <a:pt x="5" y="14"/>
                    <a:pt x="6" y="15"/>
                    <a:pt x="8" y="16"/>
                  </a:cubicBezTo>
                  <a:cubicBezTo>
                    <a:pt x="9" y="17"/>
                    <a:pt x="12" y="17"/>
                    <a:pt x="14" y="17"/>
                  </a:cubicBezTo>
                  <a:cubicBezTo>
                    <a:pt x="17" y="17"/>
                    <a:pt x="19" y="16"/>
                    <a:pt x="21" y="14"/>
                  </a:cubicBezTo>
                  <a:cubicBezTo>
                    <a:pt x="22" y="13"/>
                    <a:pt x="23" y="11"/>
                    <a:pt x="22" y="10"/>
                  </a:cubicBezTo>
                  <a:cubicBezTo>
                    <a:pt x="22" y="9"/>
                    <a:pt x="22" y="8"/>
                    <a:pt x="21" y="7"/>
                  </a:cubicBezTo>
                  <a:cubicBezTo>
                    <a:pt x="21" y="6"/>
                    <a:pt x="20" y="5"/>
                    <a:pt x="20" y="5"/>
                  </a:cubicBezTo>
                  <a:cubicBezTo>
                    <a:pt x="16" y="5"/>
                    <a:pt x="16" y="5"/>
                    <a:pt x="16" y="5"/>
                  </a:cubicBezTo>
                  <a:lnTo>
                    <a:pt x="17" y="1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9" name="ïş1ídè">
              <a:extLst>
                <a:ext uri="{FF2B5EF4-FFF2-40B4-BE49-F238E27FC236}">
                  <a16:creationId xmlns:a16="http://schemas.microsoft.com/office/drawing/2014/main" id="{2829CD61-BFA0-C3B3-4B7E-5BB2A39DC58A}"/>
                </a:ext>
              </a:extLst>
            </p:cNvPr>
            <p:cNvSpPr/>
            <p:nvPr/>
          </p:nvSpPr>
          <p:spPr bwMode="auto">
            <a:xfrm>
              <a:off x="3659188" y="3225801"/>
              <a:ext cx="100013" cy="69850"/>
            </a:xfrm>
            <a:custGeom>
              <a:avLst/>
              <a:gdLst>
                <a:gd name="T0" fmla="*/ 63 w 63"/>
                <a:gd name="T1" fmla="*/ 14 h 44"/>
                <a:gd name="T2" fmla="*/ 38 w 63"/>
                <a:gd name="T3" fmla="*/ 18 h 44"/>
                <a:gd name="T4" fmla="*/ 11 w 63"/>
                <a:gd name="T5" fmla="*/ 44 h 44"/>
                <a:gd name="T6" fmla="*/ 7 w 63"/>
                <a:gd name="T7" fmla="*/ 32 h 44"/>
                <a:gd name="T8" fmla="*/ 27 w 63"/>
                <a:gd name="T9" fmla="*/ 16 h 44"/>
                <a:gd name="T10" fmla="*/ 2 w 63"/>
                <a:gd name="T11" fmla="*/ 9 h 44"/>
                <a:gd name="T12" fmla="*/ 0 w 63"/>
                <a:gd name="T13" fmla="*/ 0 h 44"/>
                <a:gd name="T14" fmla="*/ 36 w 63"/>
                <a:gd name="T15" fmla="*/ 9 h 44"/>
                <a:gd name="T16" fmla="*/ 61 w 63"/>
                <a:gd name="T17" fmla="*/ 2 h 44"/>
                <a:gd name="T18" fmla="*/ 63 w 63"/>
                <a:gd name="T19" fmla="*/ 1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3" h="44">
                  <a:moveTo>
                    <a:pt x="63" y="14"/>
                  </a:moveTo>
                  <a:lnTo>
                    <a:pt x="38" y="18"/>
                  </a:lnTo>
                  <a:lnTo>
                    <a:pt x="11" y="44"/>
                  </a:lnTo>
                  <a:lnTo>
                    <a:pt x="7" y="32"/>
                  </a:lnTo>
                  <a:lnTo>
                    <a:pt x="27" y="16"/>
                  </a:lnTo>
                  <a:lnTo>
                    <a:pt x="2" y="9"/>
                  </a:lnTo>
                  <a:lnTo>
                    <a:pt x="0" y="0"/>
                  </a:lnTo>
                  <a:lnTo>
                    <a:pt x="36" y="9"/>
                  </a:lnTo>
                  <a:lnTo>
                    <a:pt x="61" y="2"/>
                  </a:lnTo>
                  <a:lnTo>
                    <a:pt x="63" y="14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0" name="îŝļiḑe">
              <a:extLst>
                <a:ext uri="{FF2B5EF4-FFF2-40B4-BE49-F238E27FC236}">
                  <a16:creationId xmlns:a16="http://schemas.microsoft.com/office/drawing/2014/main" id="{625EE407-D0F0-A4D8-240C-456A6216A26C}"/>
                </a:ext>
              </a:extLst>
            </p:cNvPr>
            <p:cNvSpPr/>
            <p:nvPr/>
          </p:nvSpPr>
          <p:spPr bwMode="auto">
            <a:xfrm>
              <a:off x="2967038" y="3346451"/>
              <a:ext cx="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1" name="í$ļïḓé">
              <a:extLst>
                <a:ext uri="{FF2B5EF4-FFF2-40B4-BE49-F238E27FC236}">
                  <a16:creationId xmlns:a16="http://schemas.microsoft.com/office/drawing/2014/main" id="{CB7644ED-54BA-E53C-CE05-8158552C83DF}"/>
                </a:ext>
              </a:extLst>
            </p:cNvPr>
            <p:cNvSpPr/>
            <p:nvPr/>
          </p:nvSpPr>
          <p:spPr bwMode="auto">
            <a:xfrm>
              <a:off x="2967038" y="3346451"/>
              <a:ext cx="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2" name="i$1iďê">
              <a:extLst>
                <a:ext uri="{FF2B5EF4-FFF2-40B4-BE49-F238E27FC236}">
                  <a16:creationId xmlns:a16="http://schemas.microsoft.com/office/drawing/2014/main" id="{7A8213F7-6B62-4A7A-4A76-6E984FAB9D49}"/>
                </a:ext>
              </a:extLst>
            </p:cNvPr>
            <p:cNvSpPr/>
            <p:nvPr/>
          </p:nvSpPr>
          <p:spPr bwMode="auto">
            <a:xfrm>
              <a:off x="2768600" y="3592513"/>
              <a:ext cx="42863" cy="14288"/>
            </a:xfrm>
            <a:prstGeom prst="rect">
              <a:avLst/>
            </a:pr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3" name="îšḷiḍe">
              <a:extLst>
                <a:ext uri="{FF2B5EF4-FFF2-40B4-BE49-F238E27FC236}">
                  <a16:creationId xmlns:a16="http://schemas.microsoft.com/office/drawing/2014/main" id="{F868CE21-5E90-7A92-4C2F-6491270F91D8}"/>
                </a:ext>
              </a:extLst>
            </p:cNvPr>
            <p:cNvSpPr/>
            <p:nvPr/>
          </p:nvSpPr>
          <p:spPr bwMode="auto">
            <a:xfrm>
              <a:off x="3121025" y="3592513"/>
              <a:ext cx="44450" cy="14288"/>
            </a:xfrm>
            <a:prstGeom prst="rect">
              <a:avLst/>
            </a:pr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4" name="íṥlïdê">
              <a:extLst>
                <a:ext uri="{FF2B5EF4-FFF2-40B4-BE49-F238E27FC236}">
                  <a16:creationId xmlns:a16="http://schemas.microsoft.com/office/drawing/2014/main" id="{92C3E46F-D149-DBAF-2089-1E4ED880476A}"/>
                </a:ext>
              </a:extLst>
            </p:cNvPr>
            <p:cNvSpPr/>
            <p:nvPr/>
          </p:nvSpPr>
          <p:spPr bwMode="auto">
            <a:xfrm>
              <a:off x="2871788" y="3592513"/>
              <a:ext cx="44450" cy="14288"/>
            </a:xfrm>
            <a:prstGeom prst="rect">
              <a:avLst/>
            </a:pr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5" name="íśľîďé">
              <a:extLst>
                <a:ext uri="{FF2B5EF4-FFF2-40B4-BE49-F238E27FC236}">
                  <a16:creationId xmlns:a16="http://schemas.microsoft.com/office/drawing/2014/main" id="{2AEC2632-39A7-3349-9738-404C0263D74C}"/>
                </a:ext>
              </a:extLst>
            </p:cNvPr>
            <p:cNvSpPr/>
            <p:nvPr/>
          </p:nvSpPr>
          <p:spPr bwMode="auto">
            <a:xfrm>
              <a:off x="3021013" y="3592513"/>
              <a:ext cx="42863" cy="14288"/>
            </a:xfrm>
            <a:prstGeom prst="rect">
              <a:avLst/>
            </a:pr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6" name="iŝḻîdé">
              <a:extLst>
                <a:ext uri="{FF2B5EF4-FFF2-40B4-BE49-F238E27FC236}">
                  <a16:creationId xmlns:a16="http://schemas.microsoft.com/office/drawing/2014/main" id="{5C6B6E80-97C4-5247-33BD-5F9B0FE263BD}"/>
                </a:ext>
              </a:extLst>
            </p:cNvPr>
            <p:cNvSpPr/>
            <p:nvPr/>
          </p:nvSpPr>
          <p:spPr bwMode="auto">
            <a:xfrm>
              <a:off x="2768600" y="3482976"/>
              <a:ext cx="396875" cy="109538"/>
            </a:xfrm>
            <a:custGeom>
              <a:avLst/>
              <a:gdLst>
                <a:gd name="T0" fmla="*/ 250 w 250"/>
                <a:gd name="T1" fmla="*/ 0 h 69"/>
                <a:gd name="T2" fmla="*/ 225 w 250"/>
                <a:gd name="T3" fmla="*/ 0 h 69"/>
                <a:gd name="T4" fmla="*/ 225 w 250"/>
                <a:gd name="T5" fmla="*/ 5 h 69"/>
                <a:gd name="T6" fmla="*/ 222 w 250"/>
                <a:gd name="T7" fmla="*/ 5 h 69"/>
                <a:gd name="T8" fmla="*/ 222 w 250"/>
                <a:gd name="T9" fmla="*/ 0 h 69"/>
                <a:gd name="T10" fmla="*/ 186 w 250"/>
                <a:gd name="T11" fmla="*/ 0 h 69"/>
                <a:gd name="T12" fmla="*/ 186 w 250"/>
                <a:gd name="T13" fmla="*/ 5 h 69"/>
                <a:gd name="T14" fmla="*/ 184 w 250"/>
                <a:gd name="T15" fmla="*/ 5 h 69"/>
                <a:gd name="T16" fmla="*/ 184 w 250"/>
                <a:gd name="T17" fmla="*/ 0 h 69"/>
                <a:gd name="T18" fmla="*/ 161 w 250"/>
                <a:gd name="T19" fmla="*/ 0 h 69"/>
                <a:gd name="T20" fmla="*/ 161 w 250"/>
                <a:gd name="T21" fmla="*/ 5 h 69"/>
                <a:gd name="T22" fmla="*/ 159 w 250"/>
                <a:gd name="T23" fmla="*/ 5 h 69"/>
                <a:gd name="T24" fmla="*/ 159 w 250"/>
                <a:gd name="T25" fmla="*/ 0 h 69"/>
                <a:gd name="T26" fmla="*/ 93 w 250"/>
                <a:gd name="T27" fmla="*/ 0 h 69"/>
                <a:gd name="T28" fmla="*/ 93 w 250"/>
                <a:gd name="T29" fmla="*/ 5 h 69"/>
                <a:gd name="T30" fmla="*/ 90 w 250"/>
                <a:gd name="T31" fmla="*/ 5 h 69"/>
                <a:gd name="T32" fmla="*/ 90 w 250"/>
                <a:gd name="T33" fmla="*/ 0 h 69"/>
                <a:gd name="T34" fmla="*/ 65 w 250"/>
                <a:gd name="T35" fmla="*/ 0 h 69"/>
                <a:gd name="T36" fmla="*/ 65 w 250"/>
                <a:gd name="T37" fmla="*/ 5 h 69"/>
                <a:gd name="T38" fmla="*/ 65 w 250"/>
                <a:gd name="T39" fmla="*/ 5 h 69"/>
                <a:gd name="T40" fmla="*/ 65 w 250"/>
                <a:gd name="T41" fmla="*/ 0 h 69"/>
                <a:gd name="T42" fmla="*/ 27 w 250"/>
                <a:gd name="T43" fmla="*/ 0 h 69"/>
                <a:gd name="T44" fmla="*/ 27 w 250"/>
                <a:gd name="T45" fmla="*/ 5 h 69"/>
                <a:gd name="T46" fmla="*/ 25 w 250"/>
                <a:gd name="T47" fmla="*/ 5 h 69"/>
                <a:gd name="T48" fmla="*/ 25 w 250"/>
                <a:gd name="T49" fmla="*/ 0 h 69"/>
                <a:gd name="T50" fmla="*/ 2 w 250"/>
                <a:gd name="T51" fmla="*/ 0 h 69"/>
                <a:gd name="T52" fmla="*/ 2 w 250"/>
                <a:gd name="T53" fmla="*/ 5 h 69"/>
                <a:gd name="T54" fmla="*/ 0 w 250"/>
                <a:gd name="T55" fmla="*/ 5 h 69"/>
                <a:gd name="T56" fmla="*/ 0 w 250"/>
                <a:gd name="T57" fmla="*/ 69 h 69"/>
                <a:gd name="T58" fmla="*/ 27 w 250"/>
                <a:gd name="T59" fmla="*/ 69 h 69"/>
                <a:gd name="T60" fmla="*/ 27 w 250"/>
                <a:gd name="T61" fmla="*/ 12 h 69"/>
                <a:gd name="T62" fmla="*/ 65 w 250"/>
                <a:gd name="T63" fmla="*/ 12 h 69"/>
                <a:gd name="T64" fmla="*/ 65 w 250"/>
                <a:gd name="T65" fmla="*/ 69 h 69"/>
                <a:gd name="T66" fmla="*/ 93 w 250"/>
                <a:gd name="T67" fmla="*/ 69 h 69"/>
                <a:gd name="T68" fmla="*/ 93 w 250"/>
                <a:gd name="T69" fmla="*/ 12 h 69"/>
                <a:gd name="T70" fmla="*/ 159 w 250"/>
                <a:gd name="T71" fmla="*/ 12 h 69"/>
                <a:gd name="T72" fmla="*/ 159 w 250"/>
                <a:gd name="T73" fmla="*/ 69 h 69"/>
                <a:gd name="T74" fmla="*/ 186 w 250"/>
                <a:gd name="T75" fmla="*/ 69 h 69"/>
                <a:gd name="T76" fmla="*/ 186 w 250"/>
                <a:gd name="T77" fmla="*/ 12 h 69"/>
                <a:gd name="T78" fmla="*/ 222 w 250"/>
                <a:gd name="T79" fmla="*/ 12 h 69"/>
                <a:gd name="T80" fmla="*/ 222 w 250"/>
                <a:gd name="T81" fmla="*/ 69 h 69"/>
                <a:gd name="T82" fmla="*/ 250 w 250"/>
                <a:gd name="T83" fmla="*/ 69 h 69"/>
                <a:gd name="T84" fmla="*/ 250 w 250"/>
                <a:gd name="T85" fmla="*/ 5 h 69"/>
                <a:gd name="T86" fmla="*/ 250 w 250"/>
                <a:gd name="T87" fmla="*/ 5 h 69"/>
                <a:gd name="T88" fmla="*/ 250 w 250"/>
                <a:gd name="T89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50" h="69">
                  <a:moveTo>
                    <a:pt x="250" y="0"/>
                  </a:moveTo>
                  <a:lnTo>
                    <a:pt x="225" y="0"/>
                  </a:lnTo>
                  <a:lnTo>
                    <a:pt x="225" y="5"/>
                  </a:lnTo>
                  <a:lnTo>
                    <a:pt x="222" y="5"/>
                  </a:lnTo>
                  <a:lnTo>
                    <a:pt x="222" y="0"/>
                  </a:lnTo>
                  <a:lnTo>
                    <a:pt x="186" y="0"/>
                  </a:lnTo>
                  <a:lnTo>
                    <a:pt x="186" y="5"/>
                  </a:lnTo>
                  <a:lnTo>
                    <a:pt x="184" y="5"/>
                  </a:lnTo>
                  <a:lnTo>
                    <a:pt x="184" y="0"/>
                  </a:lnTo>
                  <a:lnTo>
                    <a:pt x="161" y="0"/>
                  </a:lnTo>
                  <a:lnTo>
                    <a:pt x="161" y="5"/>
                  </a:lnTo>
                  <a:lnTo>
                    <a:pt x="159" y="5"/>
                  </a:lnTo>
                  <a:lnTo>
                    <a:pt x="159" y="0"/>
                  </a:lnTo>
                  <a:lnTo>
                    <a:pt x="93" y="0"/>
                  </a:lnTo>
                  <a:lnTo>
                    <a:pt x="93" y="5"/>
                  </a:lnTo>
                  <a:lnTo>
                    <a:pt x="90" y="5"/>
                  </a:lnTo>
                  <a:lnTo>
                    <a:pt x="90" y="0"/>
                  </a:lnTo>
                  <a:lnTo>
                    <a:pt x="65" y="0"/>
                  </a:lnTo>
                  <a:lnTo>
                    <a:pt x="65" y="5"/>
                  </a:lnTo>
                  <a:lnTo>
                    <a:pt x="65" y="5"/>
                  </a:lnTo>
                  <a:lnTo>
                    <a:pt x="65" y="0"/>
                  </a:lnTo>
                  <a:lnTo>
                    <a:pt x="27" y="0"/>
                  </a:lnTo>
                  <a:lnTo>
                    <a:pt x="27" y="5"/>
                  </a:lnTo>
                  <a:lnTo>
                    <a:pt x="25" y="5"/>
                  </a:lnTo>
                  <a:lnTo>
                    <a:pt x="25" y="0"/>
                  </a:lnTo>
                  <a:lnTo>
                    <a:pt x="2" y="0"/>
                  </a:lnTo>
                  <a:lnTo>
                    <a:pt x="2" y="5"/>
                  </a:lnTo>
                  <a:lnTo>
                    <a:pt x="0" y="5"/>
                  </a:lnTo>
                  <a:lnTo>
                    <a:pt x="0" y="69"/>
                  </a:lnTo>
                  <a:lnTo>
                    <a:pt x="27" y="69"/>
                  </a:lnTo>
                  <a:lnTo>
                    <a:pt x="27" y="12"/>
                  </a:lnTo>
                  <a:lnTo>
                    <a:pt x="65" y="12"/>
                  </a:lnTo>
                  <a:lnTo>
                    <a:pt x="65" y="69"/>
                  </a:lnTo>
                  <a:lnTo>
                    <a:pt x="93" y="69"/>
                  </a:lnTo>
                  <a:lnTo>
                    <a:pt x="93" y="12"/>
                  </a:lnTo>
                  <a:lnTo>
                    <a:pt x="159" y="12"/>
                  </a:lnTo>
                  <a:lnTo>
                    <a:pt x="159" y="69"/>
                  </a:lnTo>
                  <a:lnTo>
                    <a:pt x="186" y="69"/>
                  </a:lnTo>
                  <a:lnTo>
                    <a:pt x="186" y="12"/>
                  </a:lnTo>
                  <a:lnTo>
                    <a:pt x="222" y="12"/>
                  </a:lnTo>
                  <a:lnTo>
                    <a:pt x="222" y="69"/>
                  </a:lnTo>
                  <a:lnTo>
                    <a:pt x="250" y="69"/>
                  </a:lnTo>
                  <a:lnTo>
                    <a:pt x="250" y="5"/>
                  </a:lnTo>
                  <a:lnTo>
                    <a:pt x="250" y="5"/>
                  </a:lnTo>
                  <a:lnTo>
                    <a:pt x="250" y="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7" name="ïsḷiḍé">
              <a:extLst>
                <a:ext uri="{FF2B5EF4-FFF2-40B4-BE49-F238E27FC236}">
                  <a16:creationId xmlns:a16="http://schemas.microsoft.com/office/drawing/2014/main" id="{48B1102B-347B-4D6D-A1BB-977FF3B5AD3C}"/>
                </a:ext>
              </a:extLst>
            </p:cNvPr>
            <p:cNvSpPr/>
            <p:nvPr/>
          </p:nvSpPr>
          <p:spPr bwMode="auto">
            <a:xfrm>
              <a:off x="2901950" y="3443288"/>
              <a:ext cx="3175" cy="0"/>
            </a:xfrm>
            <a:custGeom>
              <a:avLst/>
              <a:gdLst>
                <a:gd name="T0" fmla="*/ 1 w 1"/>
                <a:gd name="T1" fmla="*/ 1 w 1"/>
                <a:gd name="T2" fmla="*/ 1 w 1"/>
                <a:gd name="T3" fmla="*/ 1 w 1"/>
                <a:gd name="T4" fmla="*/ 1 w 1"/>
                <a:gd name="T5" fmla="*/ 1 w 1"/>
                <a:gd name="T6" fmla="*/ 1 w 1"/>
                <a:gd name="T7" fmla="*/ 1 w 1"/>
                <a:gd name="T8" fmla="*/ 0 w 1"/>
                <a:gd name="T9" fmla="*/ 0 w 1"/>
                <a:gd name="T10" fmla="*/ 0 w 1"/>
                <a:gd name="T11" fmla="*/ 0 w 1"/>
                <a:gd name="T12" fmla="*/ 1 w 1"/>
                <a:gd name="T1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  <a:cxn ang="0">
                  <a:pos x="T8" y="0"/>
                </a:cxn>
                <a:cxn ang="0">
                  <a:pos x="T9" y="0"/>
                </a:cxn>
                <a:cxn ang="0">
                  <a:pos x="T10" y="0"/>
                </a:cxn>
                <a:cxn ang="0">
                  <a:pos x="T11" y="0"/>
                </a:cxn>
                <a:cxn ang="0">
                  <a:pos x="T12" y="0"/>
                </a:cxn>
                <a:cxn ang="0">
                  <a:pos x="T1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8" name="íṧ1iďè">
              <a:extLst>
                <a:ext uri="{FF2B5EF4-FFF2-40B4-BE49-F238E27FC236}">
                  <a16:creationId xmlns:a16="http://schemas.microsoft.com/office/drawing/2014/main" id="{5F4027BD-02FA-A256-2D43-CA85B2963F57}"/>
                </a:ext>
              </a:extLst>
            </p:cNvPr>
            <p:cNvSpPr/>
            <p:nvPr/>
          </p:nvSpPr>
          <p:spPr bwMode="auto">
            <a:xfrm>
              <a:off x="2901950" y="3443288"/>
              <a:ext cx="0" cy="3175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1 h 1"/>
                <a:gd name="T4" fmla="*/ 0 h 1"/>
                <a:gd name="T5" fmla="*/ 0 h 1"/>
                <a:gd name="T6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9" name="îṩľíḓe">
              <a:extLst>
                <a:ext uri="{FF2B5EF4-FFF2-40B4-BE49-F238E27FC236}">
                  <a16:creationId xmlns:a16="http://schemas.microsoft.com/office/drawing/2014/main" id="{C75D6B14-2C81-115C-74B2-648D19C0CD68}"/>
                </a:ext>
              </a:extLst>
            </p:cNvPr>
            <p:cNvSpPr/>
            <p:nvPr/>
          </p:nvSpPr>
          <p:spPr bwMode="auto">
            <a:xfrm>
              <a:off x="2901950" y="3440113"/>
              <a:ext cx="3175" cy="0"/>
            </a:xfrm>
            <a:custGeom>
              <a:avLst/>
              <a:gdLst>
                <a:gd name="T0" fmla="*/ 1 w 1"/>
                <a:gd name="T1" fmla="*/ 1 w 1"/>
                <a:gd name="T2" fmla="*/ 1 w 1"/>
                <a:gd name="T3" fmla="*/ 1 w 1"/>
                <a:gd name="T4" fmla="*/ 1 w 1"/>
                <a:gd name="T5" fmla="*/ 1 w 1"/>
                <a:gd name="T6" fmla="*/ 1 w 1"/>
                <a:gd name="T7" fmla="*/ 1 w 1"/>
                <a:gd name="T8" fmla="*/ 1 w 1"/>
                <a:gd name="T9" fmla="*/ 1 w 1"/>
                <a:gd name="T10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  <a:cxn ang="0">
                  <a:pos x="T8" y="0"/>
                </a:cxn>
                <a:cxn ang="0">
                  <a:pos x="T9" y="0"/>
                </a:cxn>
                <a:cxn ang="0">
                  <a:pos x="T10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0" name="ïṡ1ïḑé">
              <a:extLst>
                <a:ext uri="{FF2B5EF4-FFF2-40B4-BE49-F238E27FC236}">
                  <a16:creationId xmlns:a16="http://schemas.microsoft.com/office/drawing/2014/main" id="{BB521E10-DA58-FCE6-2085-293368D2841D}"/>
                </a:ext>
              </a:extLst>
            </p:cNvPr>
            <p:cNvSpPr/>
            <p:nvPr/>
          </p:nvSpPr>
          <p:spPr bwMode="auto">
            <a:xfrm>
              <a:off x="2905125" y="3446463"/>
              <a:ext cx="3175" cy="0"/>
            </a:xfrm>
            <a:custGeom>
              <a:avLst/>
              <a:gdLst>
                <a:gd name="T0" fmla="*/ 1 w 1"/>
                <a:gd name="T1" fmla="*/ 0 w 1"/>
                <a:gd name="T2" fmla="*/ 0 w 1"/>
                <a:gd name="T3" fmla="*/ 0 w 1"/>
                <a:gd name="T4" fmla="*/ 1 w 1"/>
                <a:gd name="T5" fmla="*/ 1 w 1"/>
                <a:gd name="T6" fmla="*/ 1 w 1"/>
                <a:gd name="T7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1" name="iṡlíďe">
              <a:extLst>
                <a:ext uri="{FF2B5EF4-FFF2-40B4-BE49-F238E27FC236}">
                  <a16:creationId xmlns:a16="http://schemas.microsoft.com/office/drawing/2014/main" id="{D73D8C5C-56C4-EDED-779B-DD11A698FF57}"/>
                </a:ext>
              </a:extLst>
            </p:cNvPr>
            <p:cNvSpPr/>
            <p:nvPr/>
          </p:nvSpPr>
          <p:spPr bwMode="auto">
            <a:xfrm>
              <a:off x="2908300" y="3446463"/>
              <a:ext cx="3175" cy="4763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1 w 1"/>
                <a:gd name="T13" fmla="*/ 0 h 1"/>
                <a:gd name="T14" fmla="*/ 1 w 1"/>
                <a:gd name="T15" fmla="*/ 0 h 1"/>
                <a:gd name="T16" fmla="*/ 1 w 1"/>
                <a:gd name="T17" fmla="*/ 0 h 1"/>
                <a:gd name="T18" fmla="*/ 0 w 1"/>
                <a:gd name="T1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2" name="ïšḷiḍè">
              <a:extLst>
                <a:ext uri="{FF2B5EF4-FFF2-40B4-BE49-F238E27FC236}">
                  <a16:creationId xmlns:a16="http://schemas.microsoft.com/office/drawing/2014/main" id="{64BAEC53-ECD8-6E42-4B94-A271DC027260}"/>
                </a:ext>
              </a:extLst>
            </p:cNvPr>
            <p:cNvSpPr/>
            <p:nvPr/>
          </p:nvSpPr>
          <p:spPr bwMode="auto">
            <a:xfrm>
              <a:off x="2905125" y="3451226"/>
              <a:ext cx="0" cy="3175"/>
            </a:xfrm>
            <a:custGeom>
              <a:avLst/>
              <a:gdLst>
                <a:gd name="T0" fmla="*/ 0 h 1"/>
                <a:gd name="T1" fmla="*/ 0 h 1"/>
                <a:gd name="T2" fmla="*/ 0 h 1"/>
                <a:gd name="T3" fmla="*/ 1 h 1"/>
                <a:gd name="T4" fmla="*/ 1 h 1"/>
                <a:gd name="T5" fmla="*/ 1 h 1"/>
                <a:gd name="T6" fmla="*/ 0 h 1"/>
                <a:gd name="T7" fmla="*/ 0 h 1"/>
                <a:gd name="T8" fmla="*/ 0 h 1"/>
                <a:gd name="T9" fmla="*/ 0 h 1"/>
                <a:gd name="T10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  <a:cxn ang="0">
                  <a:pos x="0" y="T7"/>
                </a:cxn>
                <a:cxn ang="0">
                  <a:pos x="0" y="T8"/>
                </a:cxn>
                <a:cxn ang="0">
                  <a:pos x="0" y="T9"/>
                </a:cxn>
                <a:cxn ang="0">
                  <a:pos x="0" y="T10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3" name="í$1îḓè">
              <a:extLst>
                <a:ext uri="{FF2B5EF4-FFF2-40B4-BE49-F238E27FC236}">
                  <a16:creationId xmlns:a16="http://schemas.microsoft.com/office/drawing/2014/main" id="{F3DA2611-74B9-0123-1FCE-B741996E8F98}"/>
                </a:ext>
              </a:extLst>
            </p:cNvPr>
            <p:cNvSpPr/>
            <p:nvPr/>
          </p:nvSpPr>
          <p:spPr bwMode="auto">
            <a:xfrm>
              <a:off x="2857500" y="3446463"/>
              <a:ext cx="11113" cy="7938"/>
            </a:xfrm>
            <a:custGeom>
              <a:avLst/>
              <a:gdLst>
                <a:gd name="T0" fmla="*/ 2 w 3"/>
                <a:gd name="T1" fmla="*/ 1 h 2"/>
                <a:gd name="T2" fmla="*/ 1 w 3"/>
                <a:gd name="T3" fmla="*/ 1 h 2"/>
                <a:gd name="T4" fmla="*/ 1 w 3"/>
                <a:gd name="T5" fmla="*/ 1 h 2"/>
                <a:gd name="T6" fmla="*/ 1 w 3"/>
                <a:gd name="T7" fmla="*/ 1 h 2"/>
                <a:gd name="T8" fmla="*/ 1 w 3"/>
                <a:gd name="T9" fmla="*/ 1 h 2"/>
                <a:gd name="T10" fmla="*/ 1 w 3"/>
                <a:gd name="T11" fmla="*/ 0 h 2"/>
                <a:gd name="T12" fmla="*/ 1 w 3"/>
                <a:gd name="T13" fmla="*/ 0 h 2"/>
                <a:gd name="T14" fmla="*/ 1 w 3"/>
                <a:gd name="T15" fmla="*/ 0 h 2"/>
                <a:gd name="T16" fmla="*/ 1 w 3"/>
                <a:gd name="T17" fmla="*/ 0 h 2"/>
                <a:gd name="T18" fmla="*/ 1 w 3"/>
                <a:gd name="T19" fmla="*/ 0 h 2"/>
                <a:gd name="T20" fmla="*/ 1 w 3"/>
                <a:gd name="T21" fmla="*/ 0 h 2"/>
                <a:gd name="T22" fmla="*/ 1 w 3"/>
                <a:gd name="T23" fmla="*/ 0 h 2"/>
                <a:gd name="T24" fmla="*/ 1 w 3"/>
                <a:gd name="T25" fmla="*/ 0 h 2"/>
                <a:gd name="T26" fmla="*/ 1 w 3"/>
                <a:gd name="T27" fmla="*/ 0 h 2"/>
                <a:gd name="T28" fmla="*/ 0 w 3"/>
                <a:gd name="T29" fmla="*/ 0 h 2"/>
                <a:gd name="T30" fmla="*/ 0 w 3"/>
                <a:gd name="T31" fmla="*/ 0 h 2"/>
                <a:gd name="T32" fmla="*/ 0 w 3"/>
                <a:gd name="T33" fmla="*/ 0 h 2"/>
                <a:gd name="T34" fmla="*/ 0 w 3"/>
                <a:gd name="T35" fmla="*/ 0 h 2"/>
                <a:gd name="T36" fmla="*/ 0 w 3"/>
                <a:gd name="T37" fmla="*/ 0 h 2"/>
                <a:gd name="T38" fmla="*/ 1 w 3"/>
                <a:gd name="T39" fmla="*/ 1 h 2"/>
                <a:gd name="T40" fmla="*/ 1 w 3"/>
                <a:gd name="T41" fmla="*/ 1 h 2"/>
                <a:gd name="T42" fmla="*/ 1 w 3"/>
                <a:gd name="T43" fmla="*/ 1 h 2"/>
                <a:gd name="T44" fmla="*/ 1 w 3"/>
                <a:gd name="T45" fmla="*/ 2 h 2"/>
                <a:gd name="T46" fmla="*/ 1 w 3"/>
                <a:gd name="T47" fmla="*/ 1 h 2"/>
                <a:gd name="T48" fmla="*/ 2 w 3"/>
                <a:gd name="T49" fmla="*/ 1 h 2"/>
                <a:gd name="T50" fmla="*/ 2 w 3"/>
                <a:gd name="T51" fmla="*/ 1 h 2"/>
                <a:gd name="T52" fmla="*/ 2 w 3"/>
                <a:gd name="T53" fmla="*/ 1 h 2"/>
                <a:gd name="T54" fmla="*/ 3 w 3"/>
                <a:gd name="T55" fmla="*/ 1 h 2"/>
                <a:gd name="T56" fmla="*/ 3 w 3"/>
                <a:gd name="T57" fmla="*/ 1 h 2"/>
                <a:gd name="T58" fmla="*/ 2 w 3"/>
                <a:gd name="T59" fmla="*/ 1 h 2"/>
                <a:gd name="T60" fmla="*/ 2 w 3"/>
                <a:gd name="T61" fmla="*/ 1 h 2"/>
                <a:gd name="T62" fmla="*/ 2 w 3"/>
                <a:gd name="T63" fmla="*/ 1 h 2"/>
                <a:gd name="T64" fmla="*/ 2 w 3"/>
                <a:gd name="T65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" h="2">
                  <a:moveTo>
                    <a:pt x="2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2"/>
                    <a:pt x="1" y="2"/>
                  </a:cubicBezTo>
                  <a:cubicBezTo>
                    <a:pt x="1" y="2"/>
                    <a:pt x="1" y="1"/>
                    <a:pt x="1" y="1"/>
                  </a:cubicBezTo>
                  <a:cubicBezTo>
                    <a:pt x="1" y="1"/>
                    <a:pt x="2" y="1"/>
                    <a:pt x="2" y="1"/>
                  </a:cubicBezTo>
                  <a:cubicBezTo>
                    <a:pt x="2" y="2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4" name="î$ľidé">
              <a:extLst>
                <a:ext uri="{FF2B5EF4-FFF2-40B4-BE49-F238E27FC236}">
                  <a16:creationId xmlns:a16="http://schemas.microsoft.com/office/drawing/2014/main" id="{AFF2FC16-1EE3-912E-115A-CBF4847F6EE8}"/>
                </a:ext>
              </a:extLst>
            </p:cNvPr>
            <p:cNvSpPr/>
            <p:nvPr/>
          </p:nvSpPr>
          <p:spPr bwMode="auto">
            <a:xfrm>
              <a:off x="2908300" y="3451226"/>
              <a:ext cx="3175" cy="0"/>
            </a:xfrm>
            <a:custGeom>
              <a:avLst/>
              <a:gdLst>
                <a:gd name="T0" fmla="*/ 0 w 1"/>
                <a:gd name="T1" fmla="*/ 0 w 1"/>
                <a:gd name="T2" fmla="*/ 0 w 1"/>
                <a:gd name="T3" fmla="*/ 0 w 1"/>
                <a:gd name="T4" fmla="*/ 0 w 1"/>
                <a:gd name="T5" fmla="*/ 0 w 1"/>
                <a:gd name="T6" fmla="*/ 0 w 1"/>
                <a:gd name="T7" fmla="*/ 1 w 1"/>
                <a:gd name="T8" fmla="*/ 1 w 1"/>
                <a:gd name="T9" fmla="*/ 1 w 1"/>
                <a:gd name="T10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  <a:cxn ang="0">
                  <a:pos x="T8" y="0"/>
                </a:cxn>
                <a:cxn ang="0">
                  <a:pos x="T9" y="0"/>
                </a:cxn>
                <a:cxn ang="0">
                  <a:pos x="T10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5" name="išḻïďê">
              <a:extLst>
                <a:ext uri="{FF2B5EF4-FFF2-40B4-BE49-F238E27FC236}">
                  <a16:creationId xmlns:a16="http://schemas.microsoft.com/office/drawing/2014/main" id="{F3C3C0D2-9458-72B6-DF40-B19114EA4BC5}"/>
                </a:ext>
              </a:extLst>
            </p:cNvPr>
            <p:cNvSpPr/>
            <p:nvPr/>
          </p:nvSpPr>
          <p:spPr bwMode="auto">
            <a:xfrm>
              <a:off x="2822575" y="3440113"/>
              <a:ext cx="3175" cy="3175"/>
            </a:xfrm>
            <a:custGeom>
              <a:avLst/>
              <a:gdLst>
                <a:gd name="T0" fmla="*/ 0 w 1"/>
                <a:gd name="T1" fmla="*/ 1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1 w 1"/>
                <a:gd name="T9" fmla="*/ 0 h 1"/>
                <a:gd name="T10" fmla="*/ 1 w 1"/>
                <a:gd name="T11" fmla="*/ 0 h 1"/>
                <a:gd name="T12" fmla="*/ 1 w 1"/>
                <a:gd name="T13" fmla="*/ 0 h 1"/>
                <a:gd name="T14" fmla="*/ 1 w 1"/>
                <a:gd name="T15" fmla="*/ 0 h 1"/>
                <a:gd name="T16" fmla="*/ 1 w 1"/>
                <a:gd name="T17" fmla="*/ 0 h 1"/>
                <a:gd name="T18" fmla="*/ 0 w 1"/>
                <a:gd name="T19" fmla="*/ 0 h 1"/>
                <a:gd name="T20" fmla="*/ 0 w 1"/>
                <a:gd name="T21" fmla="*/ 0 h 1"/>
                <a:gd name="T22" fmla="*/ 0 w 1"/>
                <a:gd name="T23" fmla="*/ 1 h 1"/>
                <a:gd name="T24" fmla="*/ 0 w 1"/>
                <a:gd name="T2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6" name="îSļíďê">
              <a:extLst>
                <a:ext uri="{FF2B5EF4-FFF2-40B4-BE49-F238E27FC236}">
                  <a16:creationId xmlns:a16="http://schemas.microsoft.com/office/drawing/2014/main" id="{C163E0C3-9D95-AE80-9F07-8CC8441E16EE}"/>
                </a:ext>
              </a:extLst>
            </p:cNvPr>
            <p:cNvSpPr/>
            <p:nvPr/>
          </p:nvSpPr>
          <p:spPr bwMode="auto">
            <a:xfrm>
              <a:off x="2817813" y="3440113"/>
              <a:ext cx="7938" cy="11113"/>
            </a:xfrm>
            <a:custGeom>
              <a:avLst/>
              <a:gdLst>
                <a:gd name="T0" fmla="*/ 0 w 2"/>
                <a:gd name="T1" fmla="*/ 2 h 3"/>
                <a:gd name="T2" fmla="*/ 0 w 2"/>
                <a:gd name="T3" fmla="*/ 2 h 3"/>
                <a:gd name="T4" fmla="*/ 1 w 2"/>
                <a:gd name="T5" fmla="*/ 3 h 3"/>
                <a:gd name="T6" fmla="*/ 1 w 2"/>
                <a:gd name="T7" fmla="*/ 3 h 3"/>
                <a:gd name="T8" fmla="*/ 1 w 2"/>
                <a:gd name="T9" fmla="*/ 3 h 3"/>
                <a:gd name="T10" fmla="*/ 1 w 2"/>
                <a:gd name="T11" fmla="*/ 2 h 3"/>
                <a:gd name="T12" fmla="*/ 2 w 2"/>
                <a:gd name="T13" fmla="*/ 2 h 3"/>
                <a:gd name="T14" fmla="*/ 2 w 2"/>
                <a:gd name="T15" fmla="*/ 2 h 3"/>
                <a:gd name="T16" fmla="*/ 2 w 2"/>
                <a:gd name="T17" fmla="*/ 2 h 3"/>
                <a:gd name="T18" fmla="*/ 2 w 2"/>
                <a:gd name="T19" fmla="*/ 2 h 3"/>
                <a:gd name="T20" fmla="*/ 2 w 2"/>
                <a:gd name="T21" fmla="*/ 2 h 3"/>
                <a:gd name="T22" fmla="*/ 2 w 2"/>
                <a:gd name="T23" fmla="*/ 2 h 3"/>
                <a:gd name="T24" fmla="*/ 2 w 2"/>
                <a:gd name="T25" fmla="*/ 2 h 3"/>
                <a:gd name="T26" fmla="*/ 1 w 2"/>
                <a:gd name="T27" fmla="*/ 2 h 3"/>
                <a:gd name="T28" fmla="*/ 1 w 2"/>
                <a:gd name="T29" fmla="*/ 2 h 3"/>
                <a:gd name="T30" fmla="*/ 1 w 2"/>
                <a:gd name="T31" fmla="*/ 2 h 3"/>
                <a:gd name="T32" fmla="*/ 1 w 2"/>
                <a:gd name="T33" fmla="*/ 2 h 3"/>
                <a:gd name="T34" fmla="*/ 1 w 2"/>
                <a:gd name="T35" fmla="*/ 1 h 3"/>
                <a:gd name="T36" fmla="*/ 1 w 2"/>
                <a:gd name="T37" fmla="*/ 1 h 3"/>
                <a:gd name="T38" fmla="*/ 1 w 2"/>
                <a:gd name="T39" fmla="*/ 0 h 3"/>
                <a:gd name="T40" fmla="*/ 0 w 2"/>
                <a:gd name="T41" fmla="*/ 0 h 3"/>
                <a:gd name="T42" fmla="*/ 0 w 2"/>
                <a:gd name="T43" fmla="*/ 0 h 3"/>
                <a:gd name="T44" fmla="*/ 0 w 2"/>
                <a:gd name="T45" fmla="*/ 1 h 3"/>
                <a:gd name="T46" fmla="*/ 0 w 2"/>
                <a:gd name="T4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" h="3">
                  <a:moveTo>
                    <a:pt x="0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1" y="2"/>
                    <a:pt x="1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1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7" name="íṧḻiḋe">
              <a:extLst>
                <a:ext uri="{FF2B5EF4-FFF2-40B4-BE49-F238E27FC236}">
                  <a16:creationId xmlns:a16="http://schemas.microsoft.com/office/drawing/2014/main" id="{A7F76B94-C659-90E9-B5E8-A9F767EFBCA5}"/>
                </a:ext>
              </a:extLst>
            </p:cNvPr>
            <p:cNvSpPr/>
            <p:nvPr/>
          </p:nvSpPr>
          <p:spPr bwMode="auto">
            <a:xfrm>
              <a:off x="2822575" y="3443288"/>
              <a:ext cx="3175" cy="3175"/>
            </a:xfrm>
            <a:custGeom>
              <a:avLst/>
              <a:gdLst>
                <a:gd name="T0" fmla="*/ 1 w 1"/>
                <a:gd name="T1" fmla="*/ 0 h 1"/>
                <a:gd name="T2" fmla="*/ 1 w 1"/>
                <a:gd name="T3" fmla="*/ 0 h 1"/>
                <a:gd name="T4" fmla="*/ 0 w 1"/>
                <a:gd name="T5" fmla="*/ 0 h 1"/>
                <a:gd name="T6" fmla="*/ 1 w 1"/>
                <a:gd name="T7" fmla="*/ 1 h 1"/>
                <a:gd name="T8" fmla="*/ 1 w 1"/>
                <a:gd name="T9" fmla="*/ 1 h 1"/>
                <a:gd name="T10" fmla="*/ 1 w 1"/>
                <a:gd name="T11" fmla="*/ 1 h 1"/>
                <a:gd name="T12" fmla="*/ 1 w 1"/>
                <a:gd name="T13" fmla="*/ 1 h 1"/>
                <a:gd name="T14" fmla="*/ 1 w 1"/>
                <a:gd name="T15" fmla="*/ 1 h 1"/>
                <a:gd name="T16" fmla="*/ 1 w 1"/>
                <a:gd name="T17" fmla="*/ 0 h 1"/>
                <a:gd name="T18" fmla="*/ 1 w 1"/>
                <a:gd name="T19" fmla="*/ 0 h 1"/>
                <a:gd name="T20" fmla="*/ 1 w 1"/>
                <a:gd name="T21" fmla="*/ 0 h 1"/>
                <a:gd name="T22" fmla="*/ 1 w 1"/>
                <a:gd name="T2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8" name="îṡ1iďé">
              <a:extLst>
                <a:ext uri="{FF2B5EF4-FFF2-40B4-BE49-F238E27FC236}">
                  <a16:creationId xmlns:a16="http://schemas.microsoft.com/office/drawing/2014/main" id="{2F9E554B-29FC-4548-7ADE-14EC005890D6}"/>
                </a:ext>
              </a:extLst>
            </p:cNvPr>
            <p:cNvSpPr/>
            <p:nvPr/>
          </p:nvSpPr>
          <p:spPr bwMode="auto">
            <a:xfrm>
              <a:off x="2828925" y="3432176"/>
              <a:ext cx="7938" cy="14288"/>
            </a:xfrm>
            <a:custGeom>
              <a:avLst/>
              <a:gdLst>
                <a:gd name="T0" fmla="*/ 1 w 2"/>
                <a:gd name="T1" fmla="*/ 0 h 4"/>
                <a:gd name="T2" fmla="*/ 1 w 2"/>
                <a:gd name="T3" fmla="*/ 0 h 4"/>
                <a:gd name="T4" fmla="*/ 1 w 2"/>
                <a:gd name="T5" fmla="*/ 0 h 4"/>
                <a:gd name="T6" fmla="*/ 0 w 2"/>
                <a:gd name="T7" fmla="*/ 0 h 4"/>
                <a:gd name="T8" fmla="*/ 0 w 2"/>
                <a:gd name="T9" fmla="*/ 0 h 4"/>
                <a:gd name="T10" fmla="*/ 0 w 2"/>
                <a:gd name="T11" fmla="*/ 0 h 4"/>
                <a:gd name="T12" fmla="*/ 0 w 2"/>
                <a:gd name="T13" fmla="*/ 0 h 4"/>
                <a:gd name="T14" fmla="*/ 0 w 2"/>
                <a:gd name="T15" fmla="*/ 0 h 4"/>
                <a:gd name="T16" fmla="*/ 0 w 2"/>
                <a:gd name="T17" fmla="*/ 0 h 4"/>
                <a:gd name="T18" fmla="*/ 0 w 2"/>
                <a:gd name="T19" fmla="*/ 0 h 4"/>
                <a:gd name="T20" fmla="*/ 0 w 2"/>
                <a:gd name="T21" fmla="*/ 0 h 4"/>
                <a:gd name="T22" fmla="*/ 1 w 2"/>
                <a:gd name="T23" fmla="*/ 1 h 4"/>
                <a:gd name="T24" fmla="*/ 1 w 2"/>
                <a:gd name="T25" fmla="*/ 1 h 4"/>
                <a:gd name="T26" fmla="*/ 1 w 2"/>
                <a:gd name="T27" fmla="*/ 1 h 4"/>
                <a:gd name="T28" fmla="*/ 0 w 2"/>
                <a:gd name="T29" fmla="*/ 1 h 4"/>
                <a:gd name="T30" fmla="*/ 0 w 2"/>
                <a:gd name="T31" fmla="*/ 1 h 4"/>
                <a:gd name="T32" fmla="*/ 0 w 2"/>
                <a:gd name="T33" fmla="*/ 1 h 4"/>
                <a:gd name="T34" fmla="*/ 0 w 2"/>
                <a:gd name="T35" fmla="*/ 1 h 4"/>
                <a:gd name="T36" fmla="*/ 0 w 2"/>
                <a:gd name="T37" fmla="*/ 1 h 4"/>
                <a:gd name="T38" fmla="*/ 0 w 2"/>
                <a:gd name="T39" fmla="*/ 1 h 4"/>
                <a:gd name="T40" fmla="*/ 1 w 2"/>
                <a:gd name="T41" fmla="*/ 1 h 4"/>
                <a:gd name="T42" fmla="*/ 1 w 2"/>
                <a:gd name="T43" fmla="*/ 1 h 4"/>
                <a:gd name="T44" fmla="*/ 1 w 2"/>
                <a:gd name="T45" fmla="*/ 1 h 4"/>
                <a:gd name="T46" fmla="*/ 1 w 2"/>
                <a:gd name="T47" fmla="*/ 2 h 4"/>
                <a:gd name="T48" fmla="*/ 1 w 2"/>
                <a:gd name="T49" fmla="*/ 2 h 4"/>
                <a:gd name="T50" fmla="*/ 1 w 2"/>
                <a:gd name="T51" fmla="*/ 3 h 4"/>
                <a:gd name="T52" fmla="*/ 1 w 2"/>
                <a:gd name="T53" fmla="*/ 3 h 4"/>
                <a:gd name="T54" fmla="*/ 1 w 2"/>
                <a:gd name="T55" fmla="*/ 3 h 4"/>
                <a:gd name="T56" fmla="*/ 1 w 2"/>
                <a:gd name="T57" fmla="*/ 3 h 4"/>
                <a:gd name="T58" fmla="*/ 1 w 2"/>
                <a:gd name="T59" fmla="*/ 4 h 4"/>
                <a:gd name="T60" fmla="*/ 1 w 2"/>
                <a:gd name="T61" fmla="*/ 4 h 4"/>
                <a:gd name="T62" fmla="*/ 1 w 2"/>
                <a:gd name="T63" fmla="*/ 4 h 4"/>
                <a:gd name="T64" fmla="*/ 1 w 2"/>
                <a:gd name="T65" fmla="*/ 4 h 4"/>
                <a:gd name="T66" fmla="*/ 2 w 2"/>
                <a:gd name="T67" fmla="*/ 4 h 4"/>
                <a:gd name="T68" fmla="*/ 2 w 2"/>
                <a:gd name="T69" fmla="*/ 3 h 4"/>
                <a:gd name="T70" fmla="*/ 2 w 2"/>
                <a:gd name="T71" fmla="*/ 2 h 4"/>
                <a:gd name="T72" fmla="*/ 2 w 2"/>
                <a:gd name="T73" fmla="*/ 2 h 4"/>
                <a:gd name="T74" fmla="*/ 2 w 2"/>
                <a:gd name="T75" fmla="*/ 1 h 4"/>
                <a:gd name="T76" fmla="*/ 2 w 2"/>
                <a:gd name="T77" fmla="*/ 1 h 4"/>
                <a:gd name="T78" fmla="*/ 2 w 2"/>
                <a:gd name="T79" fmla="*/ 0 h 4"/>
                <a:gd name="T80" fmla="*/ 1 w 2"/>
                <a:gd name="T8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" h="4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" y="0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2" y="4"/>
                    <a:pt x="2" y="4"/>
                  </a:cubicBezTo>
                  <a:cubicBezTo>
                    <a:pt x="2" y="4"/>
                    <a:pt x="2" y="3"/>
                    <a:pt x="2" y="3"/>
                  </a:cubicBezTo>
                  <a:cubicBezTo>
                    <a:pt x="2" y="3"/>
                    <a:pt x="2" y="3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9" name="ï$ḷïdè">
              <a:extLst>
                <a:ext uri="{FF2B5EF4-FFF2-40B4-BE49-F238E27FC236}">
                  <a16:creationId xmlns:a16="http://schemas.microsoft.com/office/drawing/2014/main" id="{E99BDECA-1322-00A5-3927-C308E50AE1BB}"/>
                </a:ext>
              </a:extLst>
            </p:cNvPr>
            <p:cNvSpPr/>
            <p:nvPr/>
          </p:nvSpPr>
          <p:spPr bwMode="auto">
            <a:xfrm>
              <a:off x="2817813" y="3451226"/>
              <a:ext cx="7938" cy="3175"/>
            </a:xfrm>
            <a:custGeom>
              <a:avLst/>
              <a:gdLst>
                <a:gd name="T0" fmla="*/ 2 w 2"/>
                <a:gd name="T1" fmla="*/ 0 h 1"/>
                <a:gd name="T2" fmla="*/ 2 w 2"/>
                <a:gd name="T3" fmla="*/ 0 h 1"/>
                <a:gd name="T4" fmla="*/ 2 w 2"/>
                <a:gd name="T5" fmla="*/ 0 h 1"/>
                <a:gd name="T6" fmla="*/ 2 w 2"/>
                <a:gd name="T7" fmla="*/ 0 h 1"/>
                <a:gd name="T8" fmla="*/ 2 w 2"/>
                <a:gd name="T9" fmla="*/ 0 h 1"/>
                <a:gd name="T10" fmla="*/ 2 w 2"/>
                <a:gd name="T11" fmla="*/ 0 h 1"/>
                <a:gd name="T12" fmla="*/ 1 w 2"/>
                <a:gd name="T13" fmla="*/ 0 h 1"/>
                <a:gd name="T14" fmla="*/ 1 w 2"/>
                <a:gd name="T15" fmla="*/ 0 h 1"/>
                <a:gd name="T16" fmla="*/ 1 w 2"/>
                <a:gd name="T17" fmla="*/ 0 h 1"/>
                <a:gd name="T18" fmla="*/ 1 w 2"/>
                <a:gd name="T19" fmla="*/ 0 h 1"/>
                <a:gd name="T20" fmla="*/ 1 w 2"/>
                <a:gd name="T21" fmla="*/ 0 h 1"/>
                <a:gd name="T22" fmla="*/ 0 w 2"/>
                <a:gd name="T23" fmla="*/ 0 h 1"/>
                <a:gd name="T24" fmla="*/ 0 w 2"/>
                <a:gd name="T25" fmla="*/ 0 h 1"/>
                <a:gd name="T26" fmla="*/ 0 w 2"/>
                <a:gd name="T27" fmla="*/ 0 h 1"/>
                <a:gd name="T28" fmla="*/ 0 w 2"/>
                <a:gd name="T29" fmla="*/ 0 h 1"/>
                <a:gd name="T30" fmla="*/ 0 w 2"/>
                <a:gd name="T31" fmla="*/ 1 h 1"/>
                <a:gd name="T32" fmla="*/ 0 w 2"/>
                <a:gd name="T33" fmla="*/ 1 h 1"/>
                <a:gd name="T34" fmla="*/ 1 w 2"/>
                <a:gd name="T35" fmla="*/ 1 h 1"/>
                <a:gd name="T36" fmla="*/ 1 w 2"/>
                <a:gd name="T37" fmla="*/ 1 h 1"/>
                <a:gd name="T38" fmla="*/ 1 w 2"/>
                <a:gd name="T39" fmla="*/ 1 h 1"/>
                <a:gd name="T40" fmla="*/ 2 w 2"/>
                <a:gd name="T41" fmla="*/ 1 h 1"/>
                <a:gd name="T42" fmla="*/ 2 w 2"/>
                <a:gd name="T43" fmla="*/ 1 h 1"/>
                <a:gd name="T44" fmla="*/ 2 w 2"/>
                <a:gd name="T45" fmla="*/ 1 h 1"/>
                <a:gd name="T46" fmla="*/ 2 w 2"/>
                <a:gd name="T47" fmla="*/ 0 h 1"/>
                <a:gd name="T48" fmla="*/ 2 w 2"/>
                <a:gd name="T4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0" name="işlîḋê">
              <a:extLst>
                <a:ext uri="{FF2B5EF4-FFF2-40B4-BE49-F238E27FC236}">
                  <a16:creationId xmlns:a16="http://schemas.microsoft.com/office/drawing/2014/main" id="{1338D772-9EFF-3E3E-3680-88732232A877}"/>
                </a:ext>
              </a:extLst>
            </p:cNvPr>
            <p:cNvSpPr/>
            <p:nvPr/>
          </p:nvSpPr>
          <p:spPr bwMode="auto">
            <a:xfrm>
              <a:off x="2828925" y="3440113"/>
              <a:ext cx="3175" cy="3175"/>
            </a:xfrm>
            <a:custGeom>
              <a:avLst/>
              <a:gdLst>
                <a:gd name="T0" fmla="*/ 1 w 1"/>
                <a:gd name="T1" fmla="*/ 0 h 1"/>
                <a:gd name="T2" fmla="*/ 1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w 1"/>
                <a:gd name="T15" fmla="*/ 1 h 1"/>
                <a:gd name="T16" fmla="*/ 0 w 1"/>
                <a:gd name="T17" fmla="*/ 1 h 1"/>
                <a:gd name="T18" fmla="*/ 0 w 1"/>
                <a:gd name="T19" fmla="*/ 1 h 1"/>
                <a:gd name="T20" fmla="*/ 0 w 1"/>
                <a:gd name="T21" fmla="*/ 1 h 1"/>
                <a:gd name="T22" fmla="*/ 0 w 1"/>
                <a:gd name="T23" fmla="*/ 1 h 1"/>
                <a:gd name="T24" fmla="*/ 0 w 1"/>
                <a:gd name="T25" fmla="*/ 1 h 1"/>
                <a:gd name="T26" fmla="*/ 0 w 1"/>
                <a:gd name="T27" fmla="*/ 1 h 1"/>
                <a:gd name="T28" fmla="*/ 0 w 1"/>
                <a:gd name="T29" fmla="*/ 1 h 1"/>
                <a:gd name="T30" fmla="*/ 1 w 1"/>
                <a:gd name="T31" fmla="*/ 0 h 1"/>
                <a:gd name="T32" fmla="*/ 1 w 1"/>
                <a:gd name="T33" fmla="*/ 0 h 1"/>
                <a:gd name="T34" fmla="*/ 1 w 1"/>
                <a:gd name="T35" fmla="*/ 0 h 1"/>
                <a:gd name="T36" fmla="*/ 1 w 1"/>
                <a:gd name="T3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1" name="işḻïḑè">
              <a:extLst>
                <a:ext uri="{FF2B5EF4-FFF2-40B4-BE49-F238E27FC236}">
                  <a16:creationId xmlns:a16="http://schemas.microsoft.com/office/drawing/2014/main" id="{E880FFEA-1F5A-337C-C2C3-FFCC83B2B9FC}"/>
                </a:ext>
              </a:extLst>
            </p:cNvPr>
            <p:cNvSpPr/>
            <p:nvPr/>
          </p:nvSpPr>
          <p:spPr bwMode="auto">
            <a:xfrm>
              <a:off x="2825750" y="3451226"/>
              <a:ext cx="3175" cy="3175"/>
            </a:xfrm>
            <a:custGeom>
              <a:avLst/>
              <a:gdLst>
                <a:gd name="T0" fmla="*/ 1 w 1"/>
                <a:gd name="T1" fmla="*/ 0 h 1"/>
                <a:gd name="T2" fmla="*/ 1 w 1"/>
                <a:gd name="T3" fmla="*/ 0 h 1"/>
                <a:gd name="T4" fmla="*/ 1 w 1"/>
                <a:gd name="T5" fmla="*/ 0 h 1"/>
                <a:gd name="T6" fmla="*/ 1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w 1"/>
                <a:gd name="T15" fmla="*/ 0 h 1"/>
                <a:gd name="T16" fmla="*/ 0 w 1"/>
                <a:gd name="T17" fmla="*/ 0 h 1"/>
                <a:gd name="T18" fmla="*/ 1 w 1"/>
                <a:gd name="T19" fmla="*/ 0 h 1"/>
                <a:gd name="T20" fmla="*/ 1 w 1"/>
                <a:gd name="T21" fmla="*/ 0 h 1"/>
                <a:gd name="T22" fmla="*/ 1 w 1"/>
                <a:gd name="T23" fmla="*/ 0 h 1"/>
                <a:gd name="T24" fmla="*/ 1 w 1"/>
                <a:gd name="T25" fmla="*/ 1 h 1"/>
                <a:gd name="T26" fmla="*/ 1 w 1"/>
                <a:gd name="T27" fmla="*/ 0 h 1"/>
                <a:gd name="T28" fmla="*/ 1 w 1"/>
                <a:gd name="T29" fmla="*/ 0 h 1"/>
                <a:gd name="T30" fmla="*/ 1 w 1"/>
                <a:gd name="T31" fmla="*/ 0 h 1"/>
                <a:gd name="T32" fmla="*/ 1 w 1"/>
                <a:gd name="T3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1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2" name="ïslidê">
              <a:extLst>
                <a:ext uri="{FF2B5EF4-FFF2-40B4-BE49-F238E27FC236}">
                  <a16:creationId xmlns:a16="http://schemas.microsoft.com/office/drawing/2014/main" id="{B6F9A34C-8977-F257-5163-ECC8B9F65DA0}"/>
                </a:ext>
              </a:extLst>
            </p:cNvPr>
            <p:cNvSpPr/>
            <p:nvPr/>
          </p:nvSpPr>
          <p:spPr bwMode="auto">
            <a:xfrm>
              <a:off x="2828925" y="344646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3" name="íṣḻíḑê">
              <a:extLst>
                <a:ext uri="{FF2B5EF4-FFF2-40B4-BE49-F238E27FC236}">
                  <a16:creationId xmlns:a16="http://schemas.microsoft.com/office/drawing/2014/main" id="{FC1AE05E-7B18-C550-1E3A-57B8A1F74773}"/>
                </a:ext>
              </a:extLst>
            </p:cNvPr>
            <p:cNvSpPr/>
            <p:nvPr/>
          </p:nvSpPr>
          <p:spPr bwMode="auto">
            <a:xfrm>
              <a:off x="2905125" y="3446463"/>
              <a:ext cx="0" cy="4763"/>
            </a:xfrm>
            <a:custGeom>
              <a:avLst/>
              <a:gdLst>
                <a:gd name="T0" fmla="*/ 1 h 1"/>
                <a:gd name="T1" fmla="*/ 1 h 1"/>
                <a:gd name="T2" fmla="*/ 1 h 1"/>
                <a:gd name="T3" fmla="*/ 0 h 1"/>
                <a:gd name="T4" fmla="*/ 0 h 1"/>
                <a:gd name="T5" fmla="*/ 0 h 1"/>
                <a:gd name="T6" fmla="*/ 0 h 1"/>
                <a:gd name="T7" fmla="*/ 1 h 1"/>
                <a:gd name="T8" fmla="*/ 1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  <a:cxn ang="0">
                  <a:pos x="0" y="T7"/>
                </a:cxn>
                <a:cxn ang="0">
                  <a:pos x="0" y="T8"/>
                </a:cxn>
              </a:cxnLst>
              <a:rect l="0" t="0" r="r" b="b"/>
              <a:pathLst>
                <a:path h="1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4" name="ísḻídé">
              <a:extLst>
                <a:ext uri="{FF2B5EF4-FFF2-40B4-BE49-F238E27FC236}">
                  <a16:creationId xmlns:a16="http://schemas.microsoft.com/office/drawing/2014/main" id="{D89E3937-8FE8-28CC-C792-0D81C7C49DCE}"/>
                </a:ext>
              </a:extLst>
            </p:cNvPr>
            <p:cNvSpPr/>
            <p:nvPr/>
          </p:nvSpPr>
          <p:spPr bwMode="auto">
            <a:xfrm>
              <a:off x="3067050" y="3443288"/>
              <a:ext cx="3175" cy="0"/>
            </a:xfrm>
            <a:custGeom>
              <a:avLst/>
              <a:gdLst>
                <a:gd name="T0" fmla="*/ 1 w 1"/>
                <a:gd name="T1" fmla="*/ 1 w 1"/>
                <a:gd name="T2" fmla="*/ 1 w 1"/>
                <a:gd name="T3" fmla="*/ 0 w 1"/>
                <a:gd name="T4" fmla="*/ 0 w 1"/>
                <a:gd name="T5" fmla="*/ 1 w 1"/>
                <a:gd name="T6" fmla="*/ 1 w 1"/>
                <a:gd name="T7" fmla="*/ 1 w 1"/>
                <a:gd name="T8" fmla="*/ 1 w 1"/>
                <a:gd name="T9" fmla="*/ 1 w 1"/>
                <a:gd name="T10" fmla="*/ 1 w 1"/>
                <a:gd name="T11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  <a:cxn ang="0">
                  <a:pos x="T8" y="0"/>
                </a:cxn>
                <a:cxn ang="0">
                  <a:pos x="T9" y="0"/>
                </a:cxn>
                <a:cxn ang="0">
                  <a:pos x="T10" y="0"/>
                </a:cxn>
                <a:cxn ang="0">
                  <a:pos x="T11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5" name="iṧḻide">
              <a:extLst>
                <a:ext uri="{FF2B5EF4-FFF2-40B4-BE49-F238E27FC236}">
                  <a16:creationId xmlns:a16="http://schemas.microsoft.com/office/drawing/2014/main" id="{B7B5B3E2-B3C1-0C97-2EC2-A6C0A52226B4}"/>
                </a:ext>
              </a:extLst>
            </p:cNvPr>
            <p:cNvSpPr/>
            <p:nvPr/>
          </p:nvSpPr>
          <p:spPr bwMode="auto">
            <a:xfrm>
              <a:off x="3067050" y="3440113"/>
              <a:ext cx="7938" cy="3175"/>
            </a:xfrm>
            <a:custGeom>
              <a:avLst/>
              <a:gdLst>
                <a:gd name="T0" fmla="*/ 2 w 2"/>
                <a:gd name="T1" fmla="*/ 0 h 1"/>
                <a:gd name="T2" fmla="*/ 2 w 2"/>
                <a:gd name="T3" fmla="*/ 0 h 1"/>
                <a:gd name="T4" fmla="*/ 1 w 2"/>
                <a:gd name="T5" fmla="*/ 0 h 1"/>
                <a:gd name="T6" fmla="*/ 1 w 2"/>
                <a:gd name="T7" fmla="*/ 0 h 1"/>
                <a:gd name="T8" fmla="*/ 1 w 2"/>
                <a:gd name="T9" fmla="*/ 0 h 1"/>
                <a:gd name="T10" fmla="*/ 1 w 2"/>
                <a:gd name="T11" fmla="*/ 0 h 1"/>
                <a:gd name="T12" fmla="*/ 1 w 2"/>
                <a:gd name="T13" fmla="*/ 1 h 1"/>
                <a:gd name="T14" fmla="*/ 1 w 2"/>
                <a:gd name="T15" fmla="*/ 1 h 1"/>
                <a:gd name="T16" fmla="*/ 1 w 2"/>
                <a:gd name="T17" fmla="*/ 1 h 1"/>
                <a:gd name="T18" fmla="*/ 1 w 2"/>
                <a:gd name="T19" fmla="*/ 0 h 1"/>
                <a:gd name="T20" fmla="*/ 1 w 2"/>
                <a:gd name="T21" fmla="*/ 0 h 1"/>
                <a:gd name="T22" fmla="*/ 2 w 2"/>
                <a:gd name="T23" fmla="*/ 0 h 1"/>
                <a:gd name="T24" fmla="*/ 2 w 2"/>
                <a:gd name="T25" fmla="*/ 0 h 1"/>
                <a:gd name="T26" fmla="*/ 2 w 2"/>
                <a:gd name="T27" fmla="*/ 0 h 1"/>
                <a:gd name="T28" fmla="*/ 2 w 2"/>
                <a:gd name="T2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1" y="0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6" name="îṧļïďe">
              <a:extLst>
                <a:ext uri="{FF2B5EF4-FFF2-40B4-BE49-F238E27FC236}">
                  <a16:creationId xmlns:a16="http://schemas.microsoft.com/office/drawing/2014/main" id="{F785AF04-E33F-F906-8B1A-F5A2A3BF8A64}"/>
                </a:ext>
              </a:extLst>
            </p:cNvPr>
            <p:cNvSpPr/>
            <p:nvPr/>
          </p:nvSpPr>
          <p:spPr bwMode="auto">
            <a:xfrm>
              <a:off x="3067050" y="3451226"/>
              <a:ext cx="3175" cy="0"/>
            </a:xfrm>
            <a:custGeom>
              <a:avLst/>
              <a:gdLst>
                <a:gd name="T0" fmla="*/ 1 w 1"/>
                <a:gd name="T1" fmla="*/ 1 w 1"/>
                <a:gd name="T2" fmla="*/ 1 w 1"/>
                <a:gd name="T3" fmla="*/ 1 w 1"/>
                <a:gd name="T4" fmla="*/ 1 w 1"/>
                <a:gd name="T5" fmla="*/ 1 w 1"/>
                <a:gd name="T6" fmla="*/ 1 w 1"/>
                <a:gd name="T7" fmla="*/ 0 w 1"/>
                <a:gd name="T8" fmla="*/ 0 w 1"/>
                <a:gd name="T9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  <a:cxn ang="0">
                  <a:pos x="T8" y="0"/>
                </a:cxn>
                <a:cxn ang="0">
                  <a:pos x="T9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7" name="iṣḷîḋê">
              <a:extLst>
                <a:ext uri="{FF2B5EF4-FFF2-40B4-BE49-F238E27FC236}">
                  <a16:creationId xmlns:a16="http://schemas.microsoft.com/office/drawing/2014/main" id="{C29FDA12-C0AD-0202-34D0-2A12E0578B00}"/>
                </a:ext>
              </a:extLst>
            </p:cNvPr>
            <p:cNvSpPr/>
            <p:nvPr/>
          </p:nvSpPr>
          <p:spPr bwMode="auto">
            <a:xfrm>
              <a:off x="2911475" y="3446463"/>
              <a:ext cx="0" cy="4763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1 h 1"/>
                <a:gd name="T4" fmla="*/ 1 h 1"/>
                <a:gd name="T5" fmla="*/ 0 h 1"/>
                <a:gd name="T6" fmla="*/ 0 h 1"/>
                <a:gd name="T7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  <a:cxn ang="0">
                  <a:pos x="0" y="T7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8" name="íŝ1ïḍè">
              <a:extLst>
                <a:ext uri="{FF2B5EF4-FFF2-40B4-BE49-F238E27FC236}">
                  <a16:creationId xmlns:a16="http://schemas.microsoft.com/office/drawing/2014/main" id="{B7DA8230-DD2E-C089-FF82-BDACC3BBCA3E}"/>
                </a:ext>
              </a:extLst>
            </p:cNvPr>
            <p:cNvSpPr/>
            <p:nvPr/>
          </p:nvSpPr>
          <p:spPr bwMode="auto">
            <a:xfrm>
              <a:off x="3100388" y="3436938"/>
              <a:ext cx="3175" cy="3175"/>
            </a:xfrm>
            <a:custGeom>
              <a:avLst/>
              <a:gdLst>
                <a:gd name="T0" fmla="*/ 1 w 1"/>
                <a:gd name="T1" fmla="*/ 0 h 1"/>
                <a:gd name="T2" fmla="*/ 1 w 1"/>
                <a:gd name="T3" fmla="*/ 0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1 h 1"/>
                <a:gd name="T10" fmla="*/ 1 w 1"/>
                <a:gd name="T11" fmla="*/ 1 h 1"/>
                <a:gd name="T12" fmla="*/ 1 w 1"/>
                <a:gd name="T13" fmla="*/ 0 h 1"/>
                <a:gd name="T14" fmla="*/ 1 w 1"/>
                <a:gd name="T1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9" name="íŝlîḋe">
              <a:extLst>
                <a:ext uri="{FF2B5EF4-FFF2-40B4-BE49-F238E27FC236}">
                  <a16:creationId xmlns:a16="http://schemas.microsoft.com/office/drawing/2014/main" id="{6EA30E85-9A45-B723-4DD3-A9BA0582B6E4}"/>
                </a:ext>
              </a:extLst>
            </p:cNvPr>
            <p:cNvSpPr/>
            <p:nvPr/>
          </p:nvSpPr>
          <p:spPr bwMode="auto">
            <a:xfrm>
              <a:off x="2763838" y="3406776"/>
              <a:ext cx="407988" cy="73025"/>
            </a:xfrm>
            <a:custGeom>
              <a:avLst/>
              <a:gdLst>
                <a:gd name="T0" fmla="*/ 95 w 113"/>
                <a:gd name="T1" fmla="*/ 7 h 20"/>
                <a:gd name="T2" fmla="*/ 86 w 113"/>
                <a:gd name="T3" fmla="*/ 6 h 20"/>
                <a:gd name="T4" fmla="*/ 73 w 113"/>
                <a:gd name="T5" fmla="*/ 11 h 20"/>
                <a:gd name="T6" fmla="*/ 71 w 113"/>
                <a:gd name="T7" fmla="*/ 8 h 20"/>
                <a:gd name="T8" fmla="*/ 73 w 113"/>
                <a:gd name="T9" fmla="*/ 8 h 20"/>
                <a:gd name="T10" fmla="*/ 70 w 113"/>
                <a:gd name="T11" fmla="*/ 6 h 20"/>
                <a:gd name="T12" fmla="*/ 63 w 113"/>
                <a:gd name="T13" fmla="*/ 9 h 20"/>
                <a:gd name="T14" fmla="*/ 50 w 113"/>
                <a:gd name="T15" fmla="*/ 6 h 20"/>
                <a:gd name="T16" fmla="*/ 43 w 113"/>
                <a:gd name="T17" fmla="*/ 7 h 20"/>
                <a:gd name="T18" fmla="*/ 18 w 113"/>
                <a:gd name="T19" fmla="*/ 13 h 20"/>
                <a:gd name="T20" fmla="*/ 19 w 113"/>
                <a:gd name="T21" fmla="*/ 13 h 20"/>
                <a:gd name="T22" fmla="*/ 14 w 113"/>
                <a:gd name="T23" fmla="*/ 9 h 20"/>
                <a:gd name="T24" fmla="*/ 16 w 113"/>
                <a:gd name="T25" fmla="*/ 8 h 20"/>
                <a:gd name="T26" fmla="*/ 17 w 113"/>
                <a:gd name="T27" fmla="*/ 7 h 20"/>
                <a:gd name="T28" fmla="*/ 20 w 113"/>
                <a:gd name="T29" fmla="*/ 9 h 20"/>
                <a:gd name="T30" fmla="*/ 28 w 113"/>
                <a:gd name="T31" fmla="*/ 13 h 20"/>
                <a:gd name="T32" fmla="*/ 24 w 113"/>
                <a:gd name="T33" fmla="*/ 13 h 20"/>
                <a:gd name="T34" fmla="*/ 24 w 113"/>
                <a:gd name="T35" fmla="*/ 9 h 20"/>
                <a:gd name="T36" fmla="*/ 25 w 113"/>
                <a:gd name="T37" fmla="*/ 9 h 20"/>
                <a:gd name="T38" fmla="*/ 27 w 113"/>
                <a:gd name="T39" fmla="*/ 9 h 20"/>
                <a:gd name="T40" fmla="*/ 28 w 113"/>
                <a:gd name="T41" fmla="*/ 7 h 20"/>
                <a:gd name="T42" fmla="*/ 30 w 113"/>
                <a:gd name="T43" fmla="*/ 10 h 20"/>
                <a:gd name="T44" fmla="*/ 41 w 113"/>
                <a:gd name="T45" fmla="*/ 13 h 20"/>
                <a:gd name="T46" fmla="*/ 38 w 113"/>
                <a:gd name="T47" fmla="*/ 12 h 20"/>
                <a:gd name="T48" fmla="*/ 37 w 113"/>
                <a:gd name="T49" fmla="*/ 9 h 20"/>
                <a:gd name="T50" fmla="*/ 40 w 113"/>
                <a:gd name="T51" fmla="*/ 6 h 20"/>
                <a:gd name="T52" fmla="*/ 41 w 113"/>
                <a:gd name="T53" fmla="*/ 9 h 20"/>
                <a:gd name="T54" fmla="*/ 40 w 113"/>
                <a:gd name="T55" fmla="*/ 9 h 20"/>
                <a:gd name="T56" fmla="*/ 40 w 113"/>
                <a:gd name="T57" fmla="*/ 10 h 20"/>
                <a:gd name="T58" fmla="*/ 42 w 113"/>
                <a:gd name="T59" fmla="*/ 9 h 20"/>
                <a:gd name="T60" fmla="*/ 43 w 113"/>
                <a:gd name="T61" fmla="*/ 9 h 20"/>
                <a:gd name="T62" fmla="*/ 51 w 113"/>
                <a:gd name="T63" fmla="*/ 10 h 20"/>
                <a:gd name="T64" fmla="*/ 49 w 113"/>
                <a:gd name="T65" fmla="*/ 13 h 20"/>
                <a:gd name="T66" fmla="*/ 48 w 113"/>
                <a:gd name="T67" fmla="*/ 13 h 20"/>
                <a:gd name="T68" fmla="*/ 48 w 113"/>
                <a:gd name="T69" fmla="*/ 11 h 20"/>
                <a:gd name="T70" fmla="*/ 50 w 113"/>
                <a:gd name="T71" fmla="*/ 7 h 20"/>
                <a:gd name="T72" fmla="*/ 65 w 113"/>
                <a:gd name="T73" fmla="*/ 12 h 20"/>
                <a:gd name="T74" fmla="*/ 62 w 113"/>
                <a:gd name="T75" fmla="*/ 12 h 20"/>
                <a:gd name="T76" fmla="*/ 60 w 113"/>
                <a:gd name="T77" fmla="*/ 10 h 20"/>
                <a:gd name="T78" fmla="*/ 61 w 113"/>
                <a:gd name="T79" fmla="*/ 11 h 20"/>
                <a:gd name="T80" fmla="*/ 60 w 113"/>
                <a:gd name="T81" fmla="*/ 7 h 20"/>
                <a:gd name="T82" fmla="*/ 63 w 113"/>
                <a:gd name="T83" fmla="*/ 7 h 20"/>
                <a:gd name="T84" fmla="*/ 65 w 113"/>
                <a:gd name="T85" fmla="*/ 11 h 20"/>
                <a:gd name="T86" fmla="*/ 71 w 113"/>
                <a:gd name="T87" fmla="*/ 12 h 20"/>
                <a:gd name="T88" fmla="*/ 69 w 113"/>
                <a:gd name="T89" fmla="*/ 11 h 20"/>
                <a:gd name="T90" fmla="*/ 70 w 113"/>
                <a:gd name="T91" fmla="*/ 9 h 20"/>
                <a:gd name="T92" fmla="*/ 74 w 113"/>
                <a:gd name="T93" fmla="*/ 12 h 20"/>
                <a:gd name="T94" fmla="*/ 84 w 113"/>
                <a:gd name="T95" fmla="*/ 11 h 20"/>
                <a:gd name="T96" fmla="*/ 84 w 113"/>
                <a:gd name="T97" fmla="*/ 13 h 20"/>
                <a:gd name="T98" fmla="*/ 83 w 113"/>
                <a:gd name="T99" fmla="*/ 11 h 20"/>
                <a:gd name="T100" fmla="*/ 84 w 113"/>
                <a:gd name="T101" fmla="*/ 8 h 20"/>
                <a:gd name="T102" fmla="*/ 84 w 113"/>
                <a:gd name="T103" fmla="*/ 6 h 20"/>
                <a:gd name="T104" fmla="*/ 87 w 113"/>
                <a:gd name="T105" fmla="*/ 9 h 20"/>
                <a:gd name="T106" fmla="*/ 88 w 113"/>
                <a:gd name="T107" fmla="*/ 9 h 20"/>
                <a:gd name="T108" fmla="*/ 87 w 113"/>
                <a:gd name="T109" fmla="*/ 9 h 20"/>
                <a:gd name="T110" fmla="*/ 94 w 113"/>
                <a:gd name="T111" fmla="*/ 12 h 20"/>
                <a:gd name="T112" fmla="*/ 96 w 113"/>
                <a:gd name="T113" fmla="*/ 12 h 20"/>
                <a:gd name="T114" fmla="*/ 94 w 113"/>
                <a:gd name="T115" fmla="*/ 10 h 20"/>
                <a:gd name="T116" fmla="*/ 93 w 113"/>
                <a:gd name="T117" fmla="*/ 12 h 20"/>
                <a:gd name="T118" fmla="*/ 92 w 113"/>
                <a:gd name="T119" fmla="*/ 11 h 20"/>
                <a:gd name="T120" fmla="*/ 92 w 113"/>
                <a:gd name="T121" fmla="*/ 9 h 20"/>
                <a:gd name="T122" fmla="*/ 94 w 113"/>
                <a:gd name="T123" fmla="*/ 7 h 20"/>
                <a:gd name="T124" fmla="*/ 95 w 113"/>
                <a:gd name="T125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13" h="20">
                  <a:moveTo>
                    <a:pt x="110" y="4"/>
                  </a:moveTo>
                  <a:cubicBezTo>
                    <a:pt x="110" y="0"/>
                    <a:pt x="110" y="0"/>
                    <a:pt x="11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113" y="4"/>
                    <a:pt x="113" y="4"/>
                    <a:pt x="113" y="4"/>
                  </a:cubicBezTo>
                  <a:lnTo>
                    <a:pt x="110" y="4"/>
                  </a:lnTo>
                  <a:close/>
                  <a:moveTo>
                    <a:pt x="95" y="7"/>
                  </a:moveTo>
                  <a:cubicBezTo>
                    <a:pt x="95" y="7"/>
                    <a:pt x="95" y="7"/>
                    <a:pt x="96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6"/>
                    <a:pt x="96" y="6"/>
                    <a:pt x="96" y="6"/>
                  </a:cubicBezTo>
                  <a:cubicBezTo>
                    <a:pt x="96" y="6"/>
                    <a:pt x="96" y="6"/>
                    <a:pt x="96" y="6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lose/>
                  <a:moveTo>
                    <a:pt x="93" y="5"/>
                  </a:moveTo>
                  <a:cubicBezTo>
                    <a:pt x="93" y="5"/>
                    <a:pt x="93" y="5"/>
                    <a:pt x="93" y="5"/>
                  </a:cubicBezTo>
                  <a:cubicBezTo>
                    <a:pt x="93" y="5"/>
                    <a:pt x="93" y="5"/>
                    <a:pt x="93" y="5"/>
                  </a:cubicBezTo>
                  <a:cubicBezTo>
                    <a:pt x="93" y="5"/>
                    <a:pt x="93" y="5"/>
                    <a:pt x="93" y="5"/>
                  </a:cubicBezTo>
                  <a:cubicBezTo>
                    <a:pt x="93" y="5"/>
                    <a:pt x="93" y="5"/>
                    <a:pt x="93" y="5"/>
                  </a:cubicBezTo>
                  <a:cubicBezTo>
                    <a:pt x="93" y="5"/>
                    <a:pt x="94" y="5"/>
                    <a:pt x="94" y="6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6"/>
                    <a:pt x="93" y="6"/>
                    <a:pt x="93" y="6"/>
                  </a:cubicBezTo>
                  <a:cubicBezTo>
                    <a:pt x="93" y="6"/>
                    <a:pt x="93" y="6"/>
                    <a:pt x="93" y="6"/>
                  </a:cubicBezTo>
                  <a:cubicBezTo>
                    <a:pt x="93" y="6"/>
                    <a:pt x="93" y="6"/>
                    <a:pt x="93" y="6"/>
                  </a:cubicBezTo>
                  <a:cubicBezTo>
                    <a:pt x="93" y="6"/>
                    <a:pt x="93" y="6"/>
                    <a:pt x="93" y="6"/>
                  </a:cubicBezTo>
                  <a:cubicBezTo>
                    <a:pt x="93" y="5"/>
                    <a:pt x="93" y="5"/>
                    <a:pt x="93" y="5"/>
                  </a:cubicBezTo>
                  <a:cubicBezTo>
                    <a:pt x="93" y="5"/>
                    <a:pt x="93" y="5"/>
                    <a:pt x="93" y="5"/>
                  </a:cubicBezTo>
                  <a:cubicBezTo>
                    <a:pt x="93" y="5"/>
                    <a:pt x="93" y="5"/>
                    <a:pt x="93" y="5"/>
                  </a:cubicBezTo>
                  <a:close/>
                  <a:moveTo>
                    <a:pt x="86" y="7"/>
                  </a:moveTo>
                  <a:cubicBezTo>
                    <a:pt x="86" y="7"/>
                    <a:pt x="86" y="6"/>
                    <a:pt x="86" y="6"/>
                  </a:cubicBezTo>
                  <a:cubicBezTo>
                    <a:pt x="86" y="6"/>
                    <a:pt x="86" y="6"/>
                    <a:pt x="86" y="6"/>
                  </a:cubicBezTo>
                  <a:cubicBezTo>
                    <a:pt x="86" y="6"/>
                    <a:pt x="86" y="6"/>
                    <a:pt x="86" y="6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7" y="7"/>
                    <a:pt x="87" y="7"/>
                  </a:cubicBezTo>
                  <a:cubicBezTo>
                    <a:pt x="87" y="7"/>
                    <a:pt x="87" y="7"/>
                    <a:pt x="86" y="7"/>
                  </a:cubicBezTo>
                  <a:cubicBezTo>
                    <a:pt x="86" y="7"/>
                    <a:pt x="86" y="8"/>
                    <a:pt x="86" y="8"/>
                  </a:cubicBezTo>
                  <a:cubicBezTo>
                    <a:pt x="86" y="8"/>
                    <a:pt x="86" y="8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lose/>
                  <a:moveTo>
                    <a:pt x="74" y="10"/>
                  </a:moveTo>
                  <a:cubicBezTo>
                    <a:pt x="74" y="10"/>
                    <a:pt x="74" y="11"/>
                    <a:pt x="74" y="11"/>
                  </a:cubicBezTo>
                  <a:cubicBezTo>
                    <a:pt x="74" y="11"/>
                    <a:pt x="74" y="11"/>
                    <a:pt x="74" y="11"/>
                  </a:cubicBezTo>
                  <a:cubicBezTo>
                    <a:pt x="74" y="11"/>
                    <a:pt x="73" y="11"/>
                    <a:pt x="73" y="11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3" y="10"/>
                    <a:pt x="74" y="10"/>
                    <a:pt x="74" y="10"/>
                  </a:cubicBezTo>
                  <a:close/>
                  <a:moveTo>
                    <a:pt x="70" y="6"/>
                  </a:moveTo>
                  <a:cubicBezTo>
                    <a:pt x="70" y="6"/>
                    <a:pt x="70" y="6"/>
                    <a:pt x="70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7"/>
                    <a:pt x="71" y="7"/>
                  </a:cubicBezTo>
                  <a:cubicBezTo>
                    <a:pt x="71" y="7"/>
                    <a:pt x="71" y="7"/>
                    <a:pt x="71" y="7"/>
                  </a:cubicBezTo>
                  <a:cubicBezTo>
                    <a:pt x="71" y="7"/>
                    <a:pt x="71" y="7"/>
                    <a:pt x="71" y="7"/>
                  </a:cubicBezTo>
                  <a:cubicBezTo>
                    <a:pt x="71" y="7"/>
                    <a:pt x="71" y="7"/>
                    <a:pt x="71" y="7"/>
                  </a:cubicBezTo>
                  <a:cubicBezTo>
                    <a:pt x="72" y="7"/>
                    <a:pt x="72" y="7"/>
                    <a:pt x="72" y="7"/>
                  </a:cubicBezTo>
                  <a:cubicBezTo>
                    <a:pt x="72" y="7"/>
                    <a:pt x="72" y="7"/>
                    <a:pt x="72" y="7"/>
                  </a:cubicBezTo>
                  <a:cubicBezTo>
                    <a:pt x="72" y="7"/>
                    <a:pt x="72" y="7"/>
                    <a:pt x="72" y="7"/>
                  </a:cubicBezTo>
                  <a:cubicBezTo>
                    <a:pt x="72" y="7"/>
                    <a:pt x="72" y="7"/>
                    <a:pt x="71" y="7"/>
                  </a:cubicBezTo>
                  <a:cubicBezTo>
                    <a:pt x="71" y="7"/>
                    <a:pt x="71" y="7"/>
                    <a:pt x="71" y="7"/>
                  </a:cubicBezTo>
                  <a:cubicBezTo>
                    <a:pt x="71" y="7"/>
                    <a:pt x="71" y="8"/>
                    <a:pt x="71" y="8"/>
                  </a:cubicBezTo>
                  <a:cubicBezTo>
                    <a:pt x="71" y="8"/>
                    <a:pt x="71" y="8"/>
                    <a:pt x="71" y="8"/>
                  </a:cubicBezTo>
                  <a:cubicBezTo>
                    <a:pt x="71" y="8"/>
                    <a:pt x="71" y="8"/>
                    <a:pt x="71" y="8"/>
                  </a:cubicBezTo>
                  <a:cubicBezTo>
                    <a:pt x="71" y="8"/>
                    <a:pt x="72" y="8"/>
                    <a:pt x="72" y="8"/>
                  </a:cubicBezTo>
                  <a:cubicBezTo>
                    <a:pt x="72" y="8"/>
                    <a:pt x="72" y="8"/>
                    <a:pt x="72" y="8"/>
                  </a:cubicBezTo>
                  <a:cubicBezTo>
                    <a:pt x="72" y="8"/>
                    <a:pt x="72" y="8"/>
                    <a:pt x="72" y="7"/>
                  </a:cubicBezTo>
                  <a:cubicBezTo>
                    <a:pt x="72" y="7"/>
                    <a:pt x="72" y="7"/>
                    <a:pt x="72" y="7"/>
                  </a:cubicBezTo>
                  <a:cubicBezTo>
                    <a:pt x="72" y="7"/>
                    <a:pt x="72" y="7"/>
                    <a:pt x="72" y="7"/>
                  </a:cubicBezTo>
                  <a:cubicBezTo>
                    <a:pt x="72" y="6"/>
                    <a:pt x="72" y="6"/>
                    <a:pt x="72" y="6"/>
                  </a:cubicBezTo>
                  <a:cubicBezTo>
                    <a:pt x="72" y="6"/>
                    <a:pt x="72" y="6"/>
                    <a:pt x="72" y="6"/>
                  </a:cubicBezTo>
                  <a:cubicBezTo>
                    <a:pt x="72" y="6"/>
                    <a:pt x="72" y="6"/>
                    <a:pt x="71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6"/>
                    <a:pt x="72" y="6"/>
                  </a:cubicBezTo>
                  <a:cubicBezTo>
                    <a:pt x="72" y="6"/>
                    <a:pt x="72" y="6"/>
                    <a:pt x="72" y="6"/>
                  </a:cubicBezTo>
                  <a:cubicBezTo>
                    <a:pt x="72" y="6"/>
                    <a:pt x="72" y="6"/>
                    <a:pt x="72" y="6"/>
                  </a:cubicBezTo>
                  <a:cubicBezTo>
                    <a:pt x="72" y="6"/>
                    <a:pt x="72" y="5"/>
                    <a:pt x="72" y="5"/>
                  </a:cubicBezTo>
                  <a:cubicBezTo>
                    <a:pt x="72" y="6"/>
                    <a:pt x="73" y="6"/>
                    <a:pt x="73" y="6"/>
                  </a:cubicBezTo>
                  <a:cubicBezTo>
                    <a:pt x="73" y="6"/>
                    <a:pt x="73" y="6"/>
                    <a:pt x="73" y="6"/>
                  </a:cubicBezTo>
                  <a:cubicBezTo>
                    <a:pt x="73" y="6"/>
                    <a:pt x="73" y="6"/>
                    <a:pt x="73" y="6"/>
                  </a:cubicBezTo>
                  <a:cubicBezTo>
                    <a:pt x="73" y="6"/>
                    <a:pt x="73" y="6"/>
                    <a:pt x="73" y="7"/>
                  </a:cubicBezTo>
                  <a:cubicBezTo>
                    <a:pt x="73" y="7"/>
                    <a:pt x="73" y="7"/>
                    <a:pt x="73" y="7"/>
                  </a:cubicBezTo>
                  <a:cubicBezTo>
                    <a:pt x="73" y="7"/>
                    <a:pt x="73" y="7"/>
                    <a:pt x="73" y="7"/>
                  </a:cubicBezTo>
                  <a:cubicBezTo>
                    <a:pt x="73" y="7"/>
                    <a:pt x="73" y="7"/>
                    <a:pt x="73" y="8"/>
                  </a:cubicBezTo>
                  <a:cubicBezTo>
                    <a:pt x="73" y="8"/>
                    <a:pt x="73" y="8"/>
                    <a:pt x="73" y="8"/>
                  </a:cubicBezTo>
                  <a:cubicBezTo>
                    <a:pt x="73" y="8"/>
                    <a:pt x="73" y="8"/>
                    <a:pt x="73" y="8"/>
                  </a:cubicBezTo>
                  <a:cubicBezTo>
                    <a:pt x="73" y="8"/>
                    <a:pt x="72" y="8"/>
                    <a:pt x="72" y="9"/>
                  </a:cubicBezTo>
                  <a:cubicBezTo>
                    <a:pt x="72" y="9"/>
                    <a:pt x="72" y="9"/>
                    <a:pt x="72" y="9"/>
                  </a:cubicBezTo>
                  <a:cubicBezTo>
                    <a:pt x="72" y="9"/>
                    <a:pt x="72" y="9"/>
                    <a:pt x="72" y="9"/>
                  </a:cubicBezTo>
                  <a:cubicBezTo>
                    <a:pt x="72" y="8"/>
                    <a:pt x="72" y="8"/>
                    <a:pt x="72" y="9"/>
                  </a:cubicBezTo>
                  <a:cubicBezTo>
                    <a:pt x="72" y="9"/>
                    <a:pt x="72" y="9"/>
                    <a:pt x="72" y="9"/>
                  </a:cubicBezTo>
                  <a:cubicBezTo>
                    <a:pt x="72" y="9"/>
                    <a:pt x="71" y="9"/>
                    <a:pt x="71" y="9"/>
                  </a:cubicBezTo>
                  <a:cubicBezTo>
                    <a:pt x="71" y="9"/>
                    <a:pt x="71" y="9"/>
                    <a:pt x="71" y="9"/>
                  </a:cubicBezTo>
                  <a:cubicBezTo>
                    <a:pt x="71" y="9"/>
                    <a:pt x="71" y="9"/>
                    <a:pt x="71" y="9"/>
                  </a:cubicBezTo>
                  <a:cubicBezTo>
                    <a:pt x="71" y="9"/>
                    <a:pt x="71" y="9"/>
                    <a:pt x="71" y="9"/>
                  </a:cubicBezTo>
                  <a:cubicBezTo>
                    <a:pt x="71" y="9"/>
                    <a:pt x="70" y="9"/>
                    <a:pt x="70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0" y="9"/>
                    <a:pt x="70" y="9"/>
                    <a:pt x="70" y="8"/>
                  </a:cubicBezTo>
                  <a:cubicBezTo>
                    <a:pt x="70" y="8"/>
                    <a:pt x="70" y="8"/>
                    <a:pt x="70" y="8"/>
                  </a:cubicBezTo>
                  <a:cubicBezTo>
                    <a:pt x="70" y="8"/>
                    <a:pt x="70" y="8"/>
                    <a:pt x="70" y="8"/>
                  </a:cubicBezTo>
                  <a:cubicBezTo>
                    <a:pt x="70" y="8"/>
                    <a:pt x="70" y="8"/>
                    <a:pt x="70" y="8"/>
                  </a:cubicBezTo>
                  <a:cubicBezTo>
                    <a:pt x="70" y="8"/>
                    <a:pt x="70" y="8"/>
                    <a:pt x="70" y="8"/>
                  </a:cubicBezTo>
                  <a:cubicBezTo>
                    <a:pt x="70" y="8"/>
                    <a:pt x="70" y="7"/>
                    <a:pt x="70" y="7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7"/>
                    <a:pt x="70" y="7"/>
                    <a:pt x="70" y="6"/>
                  </a:cubicBezTo>
                  <a:cubicBezTo>
                    <a:pt x="70" y="6"/>
                    <a:pt x="70" y="6"/>
                    <a:pt x="70" y="6"/>
                  </a:cubicBezTo>
                  <a:close/>
                  <a:moveTo>
                    <a:pt x="63" y="5"/>
                  </a:moveTo>
                  <a:cubicBezTo>
                    <a:pt x="63" y="5"/>
                    <a:pt x="63" y="5"/>
                    <a:pt x="63" y="5"/>
                  </a:cubicBezTo>
                  <a:cubicBezTo>
                    <a:pt x="63" y="5"/>
                    <a:pt x="64" y="5"/>
                    <a:pt x="64" y="5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4" y="5"/>
                    <a:pt x="64" y="6"/>
                    <a:pt x="64" y="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6"/>
                    <a:pt x="64" y="6"/>
                    <a:pt x="63" y="6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63" y="6"/>
                    <a:pt x="63" y="5"/>
                    <a:pt x="63" y="5"/>
                  </a:cubicBezTo>
                  <a:cubicBezTo>
                    <a:pt x="63" y="5"/>
                    <a:pt x="63" y="5"/>
                    <a:pt x="63" y="5"/>
                  </a:cubicBezTo>
                  <a:close/>
                  <a:moveTo>
                    <a:pt x="64" y="9"/>
                  </a:moveTo>
                  <a:cubicBezTo>
                    <a:pt x="64" y="9"/>
                    <a:pt x="64" y="9"/>
                    <a:pt x="64" y="9"/>
                  </a:cubicBezTo>
                  <a:cubicBezTo>
                    <a:pt x="64" y="9"/>
                    <a:pt x="64" y="9"/>
                    <a:pt x="64" y="9"/>
                  </a:cubicBezTo>
                  <a:cubicBezTo>
                    <a:pt x="64" y="9"/>
                    <a:pt x="64" y="9"/>
                    <a:pt x="64" y="9"/>
                  </a:cubicBezTo>
                  <a:cubicBezTo>
                    <a:pt x="64" y="9"/>
                    <a:pt x="63" y="10"/>
                    <a:pt x="63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3" y="9"/>
                    <a:pt x="63" y="9"/>
                    <a:pt x="64" y="9"/>
                  </a:cubicBezTo>
                  <a:cubicBezTo>
                    <a:pt x="64" y="9"/>
                    <a:pt x="64" y="9"/>
                    <a:pt x="64" y="9"/>
                  </a:cubicBezTo>
                  <a:cubicBezTo>
                    <a:pt x="64" y="8"/>
                    <a:pt x="64" y="8"/>
                    <a:pt x="64" y="8"/>
                  </a:cubicBezTo>
                  <a:cubicBezTo>
                    <a:pt x="64" y="8"/>
                    <a:pt x="64" y="9"/>
                    <a:pt x="64" y="9"/>
                  </a:cubicBezTo>
                  <a:cubicBezTo>
                    <a:pt x="64" y="9"/>
                    <a:pt x="64" y="9"/>
                    <a:pt x="64" y="9"/>
                  </a:cubicBezTo>
                  <a:close/>
                  <a:moveTo>
                    <a:pt x="49" y="5"/>
                  </a:move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50" y="5"/>
                  </a:cubicBezTo>
                  <a:cubicBezTo>
                    <a:pt x="50" y="5"/>
                    <a:pt x="50" y="5"/>
                    <a:pt x="50" y="5"/>
                  </a:cubicBezTo>
                  <a:cubicBezTo>
                    <a:pt x="50" y="5"/>
                    <a:pt x="50" y="5"/>
                    <a:pt x="50" y="5"/>
                  </a:cubicBezTo>
                  <a:cubicBezTo>
                    <a:pt x="50" y="5"/>
                    <a:pt x="50" y="5"/>
                    <a:pt x="50" y="5"/>
                  </a:cubicBezTo>
                  <a:cubicBezTo>
                    <a:pt x="50" y="5"/>
                    <a:pt x="50" y="5"/>
                    <a:pt x="50" y="5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lose/>
                  <a:moveTo>
                    <a:pt x="43" y="7"/>
                  </a:moveTo>
                  <a:cubicBezTo>
                    <a:pt x="43" y="7"/>
                    <a:pt x="43" y="7"/>
                    <a:pt x="44" y="7"/>
                  </a:cubicBezTo>
                  <a:cubicBezTo>
                    <a:pt x="44" y="7"/>
                    <a:pt x="44" y="7"/>
                    <a:pt x="44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8"/>
                    <a:pt x="43" y="8"/>
                    <a:pt x="43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lose/>
                  <a:moveTo>
                    <a:pt x="20" y="9"/>
                  </a:moveTo>
                  <a:cubicBezTo>
                    <a:pt x="20" y="9"/>
                    <a:pt x="20" y="10"/>
                    <a:pt x="20" y="10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20" y="10"/>
                    <a:pt x="20" y="11"/>
                    <a:pt x="20" y="11"/>
                  </a:cubicBezTo>
                  <a:cubicBezTo>
                    <a:pt x="20" y="11"/>
                    <a:pt x="20" y="11"/>
                    <a:pt x="20" y="11"/>
                  </a:cubicBezTo>
                  <a:cubicBezTo>
                    <a:pt x="20" y="11"/>
                    <a:pt x="20" y="12"/>
                    <a:pt x="20" y="12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2"/>
                    <a:pt x="20" y="12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18" y="14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8" y="14"/>
                    <a:pt x="18" y="14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19" y="14"/>
                    <a:pt x="20" y="14"/>
                  </a:cubicBezTo>
                  <a:cubicBezTo>
                    <a:pt x="20" y="14"/>
                    <a:pt x="20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2"/>
                    <a:pt x="20" y="12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1"/>
                    <a:pt x="20" y="11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11"/>
                    <a:pt x="19" y="11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12"/>
                    <a:pt x="19" y="12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6" y="13"/>
                    <a:pt x="16" y="13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5" y="13"/>
                    <a:pt x="15" y="13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4" y="9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5" y="9"/>
                    <a:pt x="15" y="9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8"/>
                    <a:pt x="14" y="8"/>
                    <a:pt x="15" y="8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8"/>
                    <a:pt x="15" y="8"/>
                    <a:pt x="15" y="9"/>
                  </a:cubicBezTo>
                  <a:cubicBezTo>
                    <a:pt x="15" y="9"/>
                    <a:pt x="15" y="9"/>
                    <a:pt x="15" y="9"/>
                  </a:cubicBezTo>
                  <a:cubicBezTo>
                    <a:pt x="15" y="9"/>
                    <a:pt x="15" y="9"/>
                    <a:pt x="15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9"/>
                    <a:pt x="17" y="9"/>
                    <a:pt x="17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8"/>
                    <a:pt x="17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7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8"/>
                    <a:pt x="17" y="7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7"/>
                    <a:pt x="17" y="7"/>
                    <a:pt x="18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9" y="6"/>
                    <a:pt x="19" y="6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8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0" y="9"/>
                    <a:pt x="20" y="9"/>
                    <a:pt x="20" y="9"/>
                  </a:cubicBezTo>
                  <a:cubicBezTo>
                    <a:pt x="20" y="9"/>
                    <a:pt x="20" y="9"/>
                    <a:pt x="20" y="9"/>
                  </a:cubicBezTo>
                  <a:close/>
                  <a:moveTo>
                    <a:pt x="30" y="10"/>
                  </a:moveTo>
                  <a:cubicBezTo>
                    <a:pt x="29" y="10"/>
                    <a:pt x="29" y="10"/>
                    <a:pt x="29" y="10"/>
                  </a:cubicBezTo>
                  <a:cubicBezTo>
                    <a:pt x="29" y="10"/>
                    <a:pt x="29" y="10"/>
                    <a:pt x="29" y="10"/>
                  </a:cubicBezTo>
                  <a:cubicBezTo>
                    <a:pt x="29" y="10"/>
                    <a:pt x="29" y="10"/>
                    <a:pt x="29" y="10"/>
                  </a:cubicBezTo>
                  <a:cubicBezTo>
                    <a:pt x="29" y="10"/>
                    <a:pt x="29" y="10"/>
                    <a:pt x="29" y="10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8" y="10"/>
                    <a:pt x="28" y="11"/>
                    <a:pt x="28" y="11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9" y="11"/>
                    <a:pt x="29" y="11"/>
                    <a:pt x="29" y="11"/>
                  </a:cubicBezTo>
                  <a:cubicBezTo>
                    <a:pt x="29" y="11"/>
                    <a:pt x="29" y="11"/>
                    <a:pt x="29" y="11"/>
                  </a:cubicBezTo>
                  <a:cubicBezTo>
                    <a:pt x="29" y="11"/>
                    <a:pt x="30" y="11"/>
                    <a:pt x="29" y="11"/>
                  </a:cubicBezTo>
                  <a:cubicBezTo>
                    <a:pt x="29" y="11"/>
                    <a:pt x="29" y="11"/>
                    <a:pt x="29" y="11"/>
                  </a:cubicBezTo>
                  <a:cubicBezTo>
                    <a:pt x="29" y="12"/>
                    <a:pt x="29" y="12"/>
                    <a:pt x="29" y="12"/>
                  </a:cubicBezTo>
                  <a:cubicBezTo>
                    <a:pt x="29" y="12"/>
                    <a:pt x="29" y="12"/>
                    <a:pt x="29" y="12"/>
                  </a:cubicBezTo>
                  <a:cubicBezTo>
                    <a:pt x="29" y="13"/>
                    <a:pt x="29" y="13"/>
                    <a:pt x="29" y="13"/>
                  </a:cubicBezTo>
                  <a:cubicBezTo>
                    <a:pt x="29" y="13"/>
                    <a:pt x="29" y="13"/>
                    <a:pt x="29" y="13"/>
                  </a:cubicBezTo>
                  <a:cubicBezTo>
                    <a:pt x="29" y="13"/>
                    <a:pt x="29" y="13"/>
                    <a:pt x="29" y="13"/>
                  </a:cubicBezTo>
                  <a:cubicBezTo>
                    <a:pt x="29" y="13"/>
                    <a:pt x="29" y="13"/>
                    <a:pt x="28" y="13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3"/>
                    <a:pt x="27" y="13"/>
                    <a:pt x="27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2"/>
                    <a:pt x="26" y="12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5" y="12"/>
                    <a:pt x="25" y="12"/>
                    <a:pt x="25" y="12"/>
                  </a:cubicBezTo>
                  <a:cubicBezTo>
                    <a:pt x="25" y="12"/>
                    <a:pt x="25" y="12"/>
                    <a:pt x="25" y="12"/>
                  </a:cubicBezTo>
                  <a:cubicBezTo>
                    <a:pt x="25" y="12"/>
                    <a:pt x="25" y="12"/>
                    <a:pt x="25" y="12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4" y="12"/>
                    <a:pt x="25" y="12"/>
                    <a:pt x="25" y="12"/>
                  </a:cubicBezTo>
                  <a:cubicBezTo>
                    <a:pt x="25" y="12"/>
                    <a:pt x="25" y="12"/>
                    <a:pt x="25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5" y="11"/>
                    <a:pt x="24" y="11"/>
                    <a:pt x="24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24" y="11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5" y="10"/>
                    <a:pt x="25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4" y="9"/>
                    <a:pt x="24" y="9"/>
                    <a:pt x="24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5" y="8"/>
                    <a:pt x="25" y="8"/>
                    <a:pt x="25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8"/>
                    <a:pt x="26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6" y="8"/>
                    <a:pt x="26" y="8"/>
                    <a:pt x="25" y="8"/>
                  </a:cubicBezTo>
                  <a:cubicBezTo>
                    <a:pt x="25" y="8"/>
                    <a:pt x="25" y="9"/>
                    <a:pt x="25" y="9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25" y="9"/>
                    <a:pt x="26" y="9"/>
                    <a:pt x="26" y="9"/>
                  </a:cubicBezTo>
                  <a:cubicBezTo>
                    <a:pt x="26" y="9"/>
                    <a:pt x="26" y="9"/>
                    <a:pt x="26" y="9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6" y="10"/>
                    <a:pt x="25" y="10"/>
                  </a:cubicBezTo>
                  <a:cubicBezTo>
                    <a:pt x="25" y="10"/>
                    <a:pt x="25" y="10"/>
                    <a:pt x="25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5" y="11"/>
                    <a:pt x="25" y="11"/>
                    <a:pt x="26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6" y="11"/>
                    <a:pt x="26" y="11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7" y="10"/>
                    <a:pt x="27" y="10"/>
                  </a:cubicBezTo>
                  <a:cubicBezTo>
                    <a:pt x="27" y="10"/>
                    <a:pt x="27" y="10"/>
                    <a:pt x="27" y="10"/>
                  </a:cubicBezTo>
                  <a:cubicBezTo>
                    <a:pt x="27" y="10"/>
                    <a:pt x="27" y="10"/>
                    <a:pt x="27" y="10"/>
                  </a:cubicBezTo>
                  <a:cubicBezTo>
                    <a:pt x="27" y="10"/>
                    <a:pt x="27" y="9"/>
                    <a:pt x="27" y="9"/>
                  </a:cubicBezTo>
                  <a:cubicBezTo>
                    <a:pt x="27" y="9"/>
                    <a:pt x="27" y="9"/>
                    <a:pt x="27" y="9"/>
                  </a:cubicBezTo>
                  <a:cubicBezTo>
                    <a:pt x="27" y="9"/>
                    <a:pt x="27" y="9"/>
                    <a:pt x="27" y="9"/>
                  </a:cubicBezTo>
                  <a:cubicBezTo>
                    <a:pt x="27" y="9"/>
                    <a:pt x="27" y="9"/>
                    <a:pt x="27" y="9"/>
                  </a:cubicBezTo>
                  <a:cubicBezTo>
                    <a:pt x="26" y="9"/>
                    <a:pt x="26" y="9"/>
                    <a:pt x="26" y="9"/>
                  </a:cubicBezTo>
                  <a:cubicBezTo>
                    <a:pt x="26" y="9"/>
                    <a:pt x="26" y="9"/>
                    <a:pt x="26" y="9"/>
                  </a:cubicBezTo>
                  <a:cubicBezTo>
                    <a:pt x="26" y="9"/>
                    <a:pt x="26" y="9"/>
                    <a:pt x="26" y="9"/>
                  </a:cubicBezTo>
                  <a:cubicBezTo>
                    <a:pt x="26" y="9"/>
                    <a:pt x="26" y="9"/>
                    <a:pt x="26" y="8"/>
                  </a:cubicBezTo>
                  <a:cubicBezTo>
                    <a:pt x="26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8" y="8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8" y="8"/>
                    <a:pt x="28" y="8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28" y="6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8" y="8"/>
                    <a:pt x="29" y="8"/>
                    <a:pt x="29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29" y="8"/>
                    <a:pt x="29" y="9"/>
                    <a:pt x="29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28" y="9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30" y="9"/>
                    <a:pt x="30" y="10"/>
                    <a:pt x="30" y="10"/>
                  </a:cubicBezTo>
                  <a:cubicBezTo>
                    <a:pt x="30" y="10"/>
                    <a:pt x="30" y="10"/>
                    <a:pt x="30" y="10"/>
                  </a:cubicBezTo>
                  <a:close/>
                  <a:moveTo>
                    <a:pt x="44" y="13"/>
                  </a:moveTo>
                  <a:cubicBezTo>
                    <a:pt x="44" y="13"/>
                    <a:pt x="44" y="13"/>
                    <a:pt x="44" y="13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3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2" y="12"/>
                    <a:pt x="42" y="12"/>
                    <a:pt x="42" y="12"/>
                  </a:cubicBezTo>
                  <a:cubicBezTo>
                    <a:pt x="42" y="12"/>
                    <a:pt x="42" y="12"/>
                    <a:pt x="42" y="12"/>
                  </a:cubicBezTo>
                  <a:cubicBezTo>
                    <a:pt x="42" y="12"/>
                    <a:pt x="42" y="12"/>
                    <a:pt x="42" y="12"/>
                  </a:cubicBezTo>
                  <a:cubicBezTo>
                    <a:pt x="42" y="12"/>
                    <a:pt x="41" y="12"/>
                    <a:pt x="41" y="1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12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2"/>
                    <a:pt x="41" y="12"/>
                    <a:pt x="40" y="12"/>
                  </a:cubicBezTo>
                  <a:cubicBezTo>
                    <a:pt x="40" y="12"/>
                    <a:pt x="40" y="12"/>
                    <a:pt x="40" y="12"/>
                  </a:cubicBezTo>
                  <a:cubicBezTo>
                    <a:pt x="40" y="12"/>
                    <a:pt x="40" y="13"/>
                    <a:pt x="40" y="13"/>
                  </a:cubicBezTo>
                  <a:cubicBezTo>
                    <a:pt x="40" y="13"/>
                    <a:pt x="40" y="13"/>
                    <a:pt x="40" y="13"/>
                  </a:cubicBezTo>
                  <a:cubicBezTo>
                    <a:pt x="40" y="13"/>
                    <a:pt x="40" y="13"/>
                    <a:pt x="40" y="13"/>
                  </a:cubicBezTo>
                  <a:cubicBezTo>
                    <a:pt x="40" y="13"/>
                    <a:pt x="40" y="13"/>
                    <a:pt x="40" y="13"/>
                  </a:cubicBezTo>
                  <a:cubicBezTo>
                    <a:pt x="40" y="13"/>
                    <a:pt x="40" y="13"/>
                    <a:pt x="40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8" y="13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1"/>
                    <a:pt x="38" y="11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3"/>
                    <a:pt x="38" y="13"/>
                  </a:cubicBezTo>
                  <a:cubicBezTo>
                    <a:pt x="38" y="13"/>
                    <a:pt x="37" y="13"/>
                    <a:pt x="37" y="13"/>
                  </a:cubicBezTo>
                  <a:cubicBezTo>
                    <a:pt x="37" y="13"/>
                    <a:pt x="37" y="13"/>
                    <a:pt x="37" y="13"/>
                  </a:cubicBezTo>
                  <a:cubicBezTo>
                    <a:pt x="37" y="13"/>
                    <a:pt x="37" y="13"/>
                    <a:pt x="37" y="13"/>
                  </a:cubicBezTo>
                  <a:cubicBezTo>
                    <a:pt x="37" y="13"/>
                    <a:pt x="37" y="13"/>
                    <a:pt x="37" y="12"/>
                  </a:cubicBezTo>
                  <a:cubicBezTo>
                    <a:pt x="37" y="12"/>
                    <a:pt x="37" y="12"/>
                    <a:pt x="37" y="12"/>
                  </a:cubicBezTo>
                  <a:cubicBezTo>
                    <a:pt x="37" y="12"/>
                    <a:pt x="37" y="12"/>
                    <a:pt x="37" y="12"/>
                  </a:cubicBezTo>
                  <a:cubicBezTo>
                    <a:pt x="37" y="12"/>
                    <a:pt x="37" y="12"/>
                    <a:pt x="37" y="12"/>
                  </a:cubicBezTo>
                  <a:cubicBezTo>
                    <a:pt x="37" y="12"/>
                    <a:pt x="37" y="12"/>
                    <a:pt x="37" y="11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8" y="11"/>
                    <a:pt x="38" y="11"/>
                    <a:pt x="38" y="10"/>
                  </a:cubicBezTo>
                  <a:cubicBezTo>
                    <a:pt x="38" y="10"/>
                    <a:pt x="38" y="10"/>
                    <a:pt x="38" y="10"/>
                  </a:cubicBezTo>
                  <a:cubicBezTo>
                    <a:pt x="38" y="10"/>
                    <a:pt x="38" y="10"/>
                    <a:pt x="38" y="10"/>
                  </a:cubicBezTo>
                  <a:cubicBezTo>
                    <a:pt x="38" y="10"/>
                    <a:pt x="38" y="10"/>
                    <a:pt x="38" y="10"/>
                  </a:cubicBezTo>
                  <a:cubicBezTo>
                    <a:pt x="38" y="9"/>
                    <a:pt x="38" y="9"/>
                    <a:pt x="38" y="9"/>
                  </a:cubicBezTo>
                  <a:cubicBezTo>
                    <a:pt x="38" y="9"/>
                    <a:pt x="38" y="9"/>
                    <a:pt x="38" y="9"/>
                  </a:cubicBezTo>
                  <a:cubicBezTo>
                    <a:pt x="38" y="9"/>
                    <a:pt x="38" y="9"/>
                    <a:pt x="38" y="9"/>
                  </a:cubicBezTo>
                  <a:cubicBezTo>
                    <a:pt x="38" y="9"/>
                    <a:pt x="38" y="9"/>
                    <a:pt x="38" y="9"/>
                  </a:cubicBezTo>
                  <a:cubicBezTo>
                    <a:pt x="38" y="9"/>
                    <a:pt x="37" y="9"/>
                    <a:pt x="37" y="9"/>
                  </a:cubicBezTo>
                  <a:cubicBezTo>
                    <a:pt x="37" y="9"/>
                    <a:pt x="37" y="9"/>
                    <a:pt x="37" y="9"/>
                  </a:cubicBezTo>
                  <a:cubicBezTo>
                    <a:pt x="37" y="9"/>
                    <a:pt x="37" y="9"/>
                    <a:pt x="37" y="9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8"/>
                    <a:pt x="39" y="7"/>
                  </a:cubicBezTo>
                  <a:cubicBezTo>
                    <a:pt x="39" y="7"/>
                    <a:pt x="39" y="7"/>
                    <a:pt x="39" y="7"/>
                  </a:cubicBezTo>
                  <a:cubicBezTo>
                    <a:pt x="39" y="7"/>
                    <a:pt x="39" y="7"/>
                    <a:pt x="39" y="7"/>
                  </a:cubicBezTo>
                  <a:cubicBezTo>
                    <a:pt x="39" y="7"/>
                    <a:pt x="39" y="7"/>
                    <a:pt x="39" y="7"/>
                  </a:cubicBezTo>
                  <a:cubicBezTo>
                    <a:pt x="38" y="7"/>
                    <a:pt x="38" y="7"/>
                    <a:pt x="38" y="7"/>
                  </a:cubicBezTo>
                  <a:cubicBezTo>
                    <a:pt x="38" y="6"/>
                    <a:pt x="38" y="6"/>
                    <a:pt x="39" y="6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6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0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8"/>
                    <a:pt x="40" y="8"/>
                    <a:pt x="40" y="7"/>
                  </a:cubicBezTo>
                  <a:cubicBezTo>
                    <a:pt x="40" y="7"/>
                    <a:pt x="41" y="7"/>
                    <a:pt x="41" y="7"/>
                  </a:cubicBezTo>
                  <a:cubicBezTo>
                    <a:pt x="41" y="7"/>
                    <a:pt x="41" y="7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2" y="8"/>
                    <a:pt x="42" y="9"/>
                    <a:pt x="42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8"/>
                    <a:pt x="40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9"/>
                    <a:pt x="39" y="9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1"/>
                  </a:cubicBezTo>
                  <a:cubicBezTo>
                    <a:pt x="39" y="11"/>
                    <a:pt x="39" y="11"/>
                    <a:pt x="39" y="11"/>
                  </a:cubicBezTo>
                  <a:cubicBezTo>
                    <a:pt x="39" y="11"/>
                    <a:pt x="39" y="11"/>
                    <a:pt x="39" y="11"/>
                  </a:cubicBezTo>
                  <a:cubicBezTo>
                    <a:pt x="39" y="11"/>
                    <a:pt x="39" y="11"/>
                    <a:pt x="39" y="11"/>
                  </a:cubicBezTo>
                  <a:cubicBezTo>
                    <a:pt x="39" y="11"/>
                    <a:pt x="39" y="11"/>
                    <a:pt x="39" y="11"/>
                  </a:cubicBezTo>
                  <a:cubicBezTo>
                    <a:pt x="39" y="11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1" y="1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10"/>
                    <a:pt x="41" y="10"/>
                    <a:pt x="41" y="11"/>
                  </a:cubicBezTo>
                  <a:cubicBezTo>
                    <a:pt x="41" y="11"/>
                    <a:pt x="41" y="11"/>
                    <a:pt x="41" y="11"/>
                  </a:cubicBezTo>
                  <a:cubicBezTo>
                    <a:pt x="41" y="11"/>
                    <a:pt x="41" y="11"/>
                    <a:pt x="41" y="11"/>
                  </a:cubicBezTo>
                  <a:cubicBezTo>
                    <a:pt x="41" y="11"/>
                    <a:pt x="41" y="11"/>
                    <a:pt x="42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2" y="10"/>
                    <a:pt x="42" y="10"/>
                    <a:pt x="42" y="10"/>
                  </a:cubicBezTo>
                  <a:cubicBezTo>
                    <a:pt x="42" y="10"/>
                    <a:pt x="42" y="10"/>
                    <a:pt x="42" y="10"/>
                  </a:cubicBezTo>
                  <a:cubicBezTo>
                    <a:pt x="42" y="10"/>
                    <a:pt x="41" y="10"/>
                    <a:pt x="41" y="1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10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2" y="9"/>
                    <a:pt x="42" y="9"/>
                  </a:cubicBezTo>
                  <a:cubicBezTo>
                    <a:pt x="42" y="9"/>
                    <a:pt x="42" y="9"/>
                    <a:pt x="42" y="9"/>
                  </a:cubicBezTo>
                  <a:cubicBezTo>
                    <a:pt x="42" y="9"/>
                    <a:pt x="42" y="9"/>
                    <a:pt x="42" y="9"/>
                  </a:cubicBezTo>
                  <a:cubicBezTo>
                    <a:pt x="42" y="9"/>
                    <a:pt x="42" y="8"/>
                    <a:pt x="42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2" y="8"/>
                    <a:pt x="42" y="7"/>
                    <a:pt x="42" y="7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2" y="7"/>
                    <a:pt x="42" y="6"/>
                    <a:pt x="42" y="6"/>
                  </a:cubicBezTo>
                  <a:cubicBezTo>
                    <a:pt x="42" y="6"/>
                    <a:pt x="42" y="6"/>
                    <a:pt x="42" y="6"/>
                  </a:cubicBezTo>
                  <a:cubicBezTo>
                    <a:pt x="42" y="6"/>
                    <a:pt x="42" y="6"/>
                    <a:pt x="42" y="6"/>
                  </a:cubicBezTo>
                  <a:cubicBezTo>
                    <a:pt x="43" y="6"/>
                    <a:pt x="43" y="6"/>
                    <a:pt x="43" y="6"/>
                  </a:cubicBezTo>
                  <a:cubicBezTo>
                    <a:pt x="43" y="6"/>
                    <a:pt x="43" y="6"/>
                    <a:pt x="43" y="6"/>
                  </a:cubicBezTo>
                  <a:cubicBezTo>
                    <a:pt x="43" y="6"/>
                    <a:pt x="43" y="6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3" y="8"/>
                    <a:pt x="43" y="8"/>
                    <a:pt x="43" y="9"/>
                  </a:cubicBezTo>
                  <a:cubicBezTo>
                    <a:pt x="43" y="9"/>
                    <a:pt x="43" y="9"/>
                    <a:pt x="43" y="9"/>
                  </a:cubicBezTo>
                  <a:cubicBezTo>
                    <a:pt x="43" y="9"/>
                    <a:pt x="43" y="9"/>
                    <a:pt x="43" y="9"/>
                  </a:cubicBezTo>
                  <a:cubicBezTo>
                    <a:pt x="43" y="9"/>
                    <a:pt x="43" y="9"/>
                    <a:pt x="43" y="9"/>
                  </a:cubicBezTo>
                  <a:cubicBezTo>
                    <a:pt x="43" y="9"/>
                    <a:pt x="43" y="9"/>
                    <a:pt x="43" y="9"/>
                  </a:cubicBezTo>
                  <a:cubicBezTo>
                    <a:pt x="43" y="9"/>
                    <a:pt x="43" y="9"/>
                    <a:pt x="43" y="9"/>
                  </a:cubicBezTo>
                  <a:cubicBezTo>
                    <a:pt x="43" y="9"/>
                    <a:pt x="43" y="9"/>
                    <a:pt x="43" y="10"/>
                  </a:cubicBezTo>
                  <a:cubicBezTo>
                    <a:pt x="43" y="10"/>
                    <a:pt x="43" y="10"/>
                    <a:pt x="43" y="10"/>
                  </a:cubicBezTo>
                  <a:cubicBezTo>
                    <a:pt x="43" y="10"/>
                    <a:pt x="43" y="10"/>
                    <a:pt x="43" y="10"/>
                  </a:cubicBezTo>
                  <a:cubicBezTo>
                    <a:pt x="43" y="10"/>
                    <a:pt x="43" y="10"/>
                    <a:pt x="43" y="10"/>
                  </a:cubicBezTo>
                  <a:cubicBezTo>
                    <a:pt x="43" y="10"/>
                    <a:pt x="43" y="10"/>
                    <a:pt x="43" y="10"/>
                  </a:cubicBezTo>
                  <a:cubicBezTo>
                    <a:pt x="42" y="10"/>
                    <a:pt x="42" y="11"/>
                    <a:pt x="42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2" y="11"/>
                    <a:pt x="42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3"/>
                    <a:pt x="44" y="13"/>
                    <a:pt x="44" y="13"/>
                  </a:cubicBezTo>
                  <a:close/>
                  <a:moveTo>
                    <a:pt x="53" y="8"/>
                  </a:moveTo>
                  <a:cubicBezTo>
                    <a:pt x="52" y="9"/>
                    <a:pt x="52" y="9"/>
                    <a:pt x="52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2" y="9"/>
                    <a:pt x="52" y="10"/>
                    <a:pt x="51" y="10"/>
                  </a:cubicBezTo>
                  <a:cubicBezTo>
                    <a:pt x="51" y="10"/>
                    <a:pt x="51" y="10"/>
                    <a:pt x="51" y="10"/>
                  </a:cubicBezTo>
                  <a:cubicBezTo>
                    <a:pt x="51" y="10"/>
                    <a:pt x="51" y="10"/>
                    <a:pt x="51" y="10"/>
                  </a:cubicBezTo>
                  <a:cubicBezTo>
                    <a:pt x="51" y="10"/>
                    <a:pt x="51" y="10"/>
                    <a:pt x="51" y="11"/>
                  </a:cubicBezTo>
                  <a:cubicBezTo>
                    <a:pt x="51" y="11"/>
                    <a:pt x="51" y="11"/>
                    <a:pt x="51" y="11"/>
                  </a:cubicBezTo>
                  <a:cubicBezTo>
                    <a:pt x="51" y="11"/>
                    <a:pt x="51" y="11"/>
                    <a:pt x="51" y="11"/>
                  </a:cubicBezTo>
                  <a:cubicBezTo>
                    <a:pt x="51" y="11"/>
                    <a:pt x="51" y="11"/>
                    <a:pt x="51" y="11"/>
                  </a:cubicBezTo>
                  <a:cubicBezTo>
                    <a:pt x="51" y="12"/>
                    <a:pt x="51" y="12"/>
                    <a:pt x="51" y="12"/>
                  </a:cubicBezTo>
                  <a:cubicBezTo>
                    <a:pt x="51" y="12"/>
                    <a:pt x="51" y="12"/>
                    <a:pt x="51" y="12"/>
                  </a:cubicBezTo>
                  <a:cubicBezTo>
                    <a:pt x="51" y="12"/>
                    <a:pt x="51" y="12"/>
                    <a:pt x="51" y="12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3"/>
                    <a:pt x="51" y="14"/>
                    <a:pt x="51" y="14"/>
                  </a:cubicBezTo>
                  <a:cubicBezTo>
                    <a:pt x="51" y="14"/>
                    <a:pt x="51" y="14"/>
                    <a:pt x="50" y="14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50" y="14"/>
                    <a:pt x="50" y="14"/>
                    <a:pt x="49" y="13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49" y="13"/>
                    <a:pt x="50" y="13"/>
                    <a:pt x="50" y="13"/>
                  </a:cubicBezTo>
                  <a:cubicBezTo>
                    <a:pt x="50" y="13"/>
                    <a:pt x="50" y="13"/>
                    <a:pt x="50" y="13"/>
                  </a:cubicBezTo>
                  <a:cubicBezTo>
                    <a:pt x="50" y="13"/>
                    <a:pt x="50" y="13"/>
                    <a:pt x="50" y="13"/>
                  </a:cubicBezTo>
                  <a:cubicBezTo>
                    <a:pt x="50" y="13"/>
                    <a:pt x="50" y="13"/>
                    <a:pt x="50" y="13"/>
                  </a:cubicBezTo>
                  <a:cubicBezTo>
                    <a:pt x="50" y="13"/>
                    <a:pt x="50" y="13"/>
                    <a:pt x="50" y="13"/>
                  </a:cubicBezTo>
                  <a:cubicBezTo>
                    <a:pt x="50" y="13"/>
                    <a:pt x="50" y="13"/>
                    <a:pt x="50" y="13"/>
                  </a:cubicBezTo>
                  <a:cubicBezTo>
                    <a:pt x="50" y="13"/>
                    <a:pt x="50" y="13"/>
                    <a:pt x="50" y="12"/>
                  </a:cubicBezTo>
                  <a:cubicBezTo>
                    <a:pt x="50" y="12"/>
                    <a:pt x="50" y="12"/>
                    <a:pt x="50" y="12"/>
                  </a:cubicBezTo>
                  <a:cubicBezTo>
                    <a:pt x="50" y="12"/>
                    <a:pt x="50" y="12"/>
                    <a:pt x="50" y="12"/>
                  </a:cubicBezTo>
                  <a:cubicBezTo>
                    <a:pt x="50" y="12"/>
                    <a:pt x="50" y="12"/>
                    <a:pt x="50" y="12"/>
                  </a:cubicBezTo>
                  <a:cubicBezTo>
                    <a:pt x="50" y="12"/>
                    <a:pt x="50" y="11"/>
                    <a:pt x="50" y="11"/>
                  </a:cubicBezTo>
                  <a:cubicBezTo>
                    <a:pt x="50" y="11"/>
                    <a:pt x="50" y="11"/>
                    <a:pt x="50" y="11"/>
                  </a:cubicBezTo>
                  <a:cubicBezTo>
                    <a:pt x="50" y="11"/>
                    <a:pt x="50" y="11"/>
                    <a:pt x="50" y="11"/>
                  </a:cubicBezTo>
                  <a:cubicBezTo>
                    <a:pt x="50" y="11"/>
                    <a:pt x="50" y="11"/>
                    <a:pt x="50" y="11"/>
                  </a:cubicBezTo>
                  <a:cubicBezTo>
                    <a:pt x="50" y="11"/>
                    <a:pt x="50" y="11"/>
                    <a:pt x="50" y="11"/>
                  </a:cubicBezTo>
                  <a:cubicBezTo>
                    <a:pt x="50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8" y="12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9" y="11"/>
                  </a:cubicBezTo>
                  <a:cubicBezTo>
                    <a:pt x="49" y="11"/>
                    <a:pt x="49" y="11"/>
                    <a:pt x="49" y="11"/>
                  </a:cubicBezTo>
                  <a:cubicBezTo>
                    <a:pt x="49" y="11"/>
                    <a:pt x="49" y="11"/>
                    <a:pt x="49" y="11"/>
                  </a:cubicBezTo>
                  <a:cubicBezTo>
                    <a:pt x="49" y="11"/>
                    <a:pt x="49" y="11"/>
                    <a:pt x="49" y="11"/>
                  </a:cubicBezTo>
                  <a:cubicBezTo>
                    <a:pt x="49" y="11"/>
                    <a:pt x="49" y="11"/>
                    <a:pt x="49" y="11"/>
                  </a:cubicBezTo>
                  <a:cubicBezTo>
                    <a:pt x="49" y="11"/>
                    <a:pt x="49" y="11"/>
                    <a:pt x="50" y="10"/>
                  </a:cubicBezTo>
                  <a:cubicBezTo>
                    <a:pt x="50" y="10"/>
                    <a:pt x="50" y="10"/>
                    <a:pt x="49" y="10"/>
                  </a:cubicBezTo>
                  <a:cubicBezTo>
                    <a:pt x="49" y="10"/>
                    <a:pt x="49" y="10"/>
                    <a:pt x="49" y="10"/>
                  </a:cubicBezTo>
                  <a:cubicBezTo>
                    <a:pt x="49" y="10"/>
                    <a:pt x="49" y="10"/>
                    <a:pt x="49" y="10"/>
                  </a:cubicBezTo>
                  <a:cubicBezTo>
                    <a:pt x="49" y="10"/>
                    <a:pt x="49" y="10"/>
                    <a:pt x="49" y="10"/>
                  </a:cubicBezTo>
                  <a:cubicBezTo>
                    <a:pt x="49" y="10"/>
                    <a:pt x="49" y="10"/>
                    <a:pt x="49" y="11"/>
                  </a:cubicBezTo>
                  <a:cubicBezTo>
                    <a:pt x="48" y="11"/>
                    <a:pt x="48" y="11"/>
                    <a:pt x="48" y="11"/>
                  </a:cubicBezTo>
                  <a:cubicBezTo>
                    <a:pt x="48" y="11"/>
                    <a:pt x="48" y="11"/>
                    <a:pt x="48" y="11"/>
                  </a:cubicBezTo>
                  <a:cubicBezTo>
                    <a:pt x="48" y="11"/>
                    <a:pt x="48" y="11"/>
                    <a:pt x="48" y="11"/>
                  </a:cubicBezTo>
                  <a:cubicBezTo>
                    <a:pt x="48" y="11"/>
                    <a:pt x="48" y="11"/>
                    <a:pt x="48" y="11"/>
                  </a:cubicBezTo>
                  <a:cubicBezTo>
                    <a:pt x="48" y="11"/>
                    <a:pt x="48" y="10"/>
                    <a:pt x="48" y="10"/>
                  </a:cubicBezTo>
                  <a:cubicBezTo>
                    <a:pt x="48" y="10"/>
                    <a:pt x="48" y="10"/>
                    <a:pt x="48" y="10"/>
                  </a:cubicBezTo>
                  <a:cubicBezTo>
                    <a:pt x="48" y="10"/>
                    <a:pt x="48" y="10"/>
                    <a:pt x="48" y="10"/>
                  </a:cubicBezTo>
                  <a:cubicBezTo>
                    <a:pt x="48" y="10"/>
                    <a:pt x="48" y="10"/>
                    <a:pt x="48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8"/>
                    <a:pt x="48" y="8"/>
                    <a:pt x="48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7"/>
                    <a:pt x="48" y="7"/>
                    <a:pt x="49" y="7"/>
                  </a:cubicBezTo>
                  <a:cubicBezTo>
                    <a:pt x="49" y="7"/>
                    <a:pt x="49" y="7"/>
                    <a:pt x="49" y="7"/>
                  </a:cubicBezTo>
                  <a:cubicBezTo>
                    <a:pt x="49" y="7"/>
                    <a:pt x="49" y="7"/>
                    <a:pt x="49" y="7"/>
                  </a:cubicBezTo>
                  <a:cubicBezTo>
                    <a:pt x="49" y="7"/>
                    <a:pt x="49" y="7"/>
                    <a:pt x="49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51" y="7"/>
                    <a:pt x="51" y="7"/>
                    <a:pt x="51" y="8"/>
                  </a:cubicBezTo>
                  <a:cubicBezTo>
                    <a:pt x="51" y="8"/>
                    <a:pt x="51" y="8"/>
                    <a:pt x="51" y="8"/>
                  </a:cubicBezTo>
                  <a:cubicBezTo>
                    <a:pt x="51" y="8"/>
                    <a:pt x="51" y="8"/>
                    <a:pt x="51" y="8"/>
                  </a:cubicBezTo>
                  <a:cubicBezTo>
                    <a:pt x="51" y="8"/>
                    <a:pt x="51" y="9"/>
                    <a:pt x="51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1" y="9"/>
                    <a:pt x="51" y="9"/>
                    <a:pt x="52" y="9"/>
                  </a:cubicBezTo>
                  <a:cubicBezTo>
                    <a:pt x="52" y="9"/>
                    <a:pt x="52" y="8"/>
                    <a:pt x="52" y="8"/>
                  </a:cubicBezTo>
                  <a:cubicBezTo>
                    <a:pt x="52" y="8"/>
                    <a:pt x="52" y="8"/>
                    <a:pt x="52" y="8"/>
                  </a:cubicBezTo>
                  <a:cubicBezTo>
                    <a:pt x="52" y="8"/>
                    <a:pt x="52" y="8"/>
                    <a:pt x="52" y="8"/>
                  </a:cubicBezTo>
                  <a:cubicBezTo>
                    <a:pt x="52" y="8"/>
                    <a:pt x="52" y="8"/>
                    <a:pt x="52" y="8"/>
                  </a:cubicBezTo>
                  <a:cubicBezTo>
                    <a:pt x="52" y="8"/>
                    <a:pt x="53" y="8"/>
                    <a:pt x="53" y="8"/>
                  </a:cubicBezTo>
                  <a:cubicBezTo>
                    <a:pt x="53" y="8"/>
                    <a:pt x="53" y="8"/>
                    <a:pt x="53" y="8"/>
                  </a:cubicBezTo>
                  <a:close/>
                  <a:moveTo>
                    <a:pt x="65" y="12"/>
                  </a:moveTo>
                  <a:cubicBezTo>
                    <a:pt x="65" y="12"/>
                    <a:pt x="65" y="12"/>
                    <a:pt x="65" y="12"/>
                  </a:cubicBezTo>
                  <a:cubicBezTo>
                    <a:pt x="65" y="12"/>
                    <a:pt x="65" y="12"/>
                    <a:pt x="65" y="12"/>
                  </a:cubicBezTo>
                  <a:cubicBezTo>
                    <a:pt x="65" y="12"/>
                    <a:pt x="65" y="12"/>
                    <a:pt x="65" y="12"/>
                  </a:cubicBezTo>
                  <a:cubicBezTo>
                    <a:pt x="65" y="12"/>
                    <a:pt x="65" y="12"/>
                    <a:pt x="65" y="12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63" y="12"/>
                    <a:pt x="63" y="12"/>
                    <a:pt x="63" y="11"/>
                  </a:cubicBezTo>
                  <a:cubicBezTo>
                    <a:pt x="63" y="11"/>
                    <a:pt x="63" y="11"/>
                    <a:pt x="63" y="11"/>
                  </a:cubicBezTo>
                  <a:cubicBezTo>
                    <a:pt x="63" y="11"/>
                    <a:pt x="63" y="11"/>
                    <a:pt x="63" y="11"/>
                  </a:cubicBezTo>
                  <a:cubicBezTo>
                    <a:pt x="63" y="12"/>
                    <a:pt x="63" y="12"/>
                    <a:pt x="63" y="12"/>
                  </a:cubicBezTo>
                  <a:cubicBezTo>
                    <a:pt x="63" y="12"/>
                    <a:pt x="63" y="12"/>
                    <a:pt x="63" y="12"/>
                  </a:cubicBezTo>
                  <a:cubicBezTo>
                    <a:pt x="63" y="12"/>
                    <a:pt x="63" y="12"/>
                    <a:pt x="63" y="12"/>
                  </a:cubicBezTo>
                  <a:cubicBezTo>
                    <a:pt x="63" y="12"/>
                    <a:pt x="63" y="12"/>
                    <a:pt x="63" y="12"/>
                  </a:cubicBezTo>
                  <a:cubicBezTo>
                    <a:pt x="63" y="13"/>
                    <a:pt x="63" y="13"/>
                    <a:pt x="63" y="13"/>
                  </a:cubicBezTo>
                  <a:cubicBezTo>
                    <a:pt x="63" y="13"/>
                    <a:pt x="63" y="13"/>
                    <a:pt x="63" y="13"/>
                  </a:cubicBezTo>
                  <a:cubicBezTo>
                    <a:pt x="63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2"/>
                    <a:pt x="62" y="12"/>
                    <a:pt x="62" y="12"/>
                  </a:cubicBezTo>
                  <a:cubicBezTo>
                    <a:pt x="62" y="12"/>
                    <a:pt x="62" y="12"/>
                    <a:pt x="62" y="12"/>
                  </a:cubicBezTo>
                  <a:cubicBezTo>
                    <a:pt x="62" y="12"/>
                    <a:pt x="62" y="12"/>
                    <a:pt x="62" y="12"/>
                  </a:cubicBezTo>
                  <a:cubicBezTo>
                    <a:pt x="62" y="12"/>
                    <a:pt x="62" y="11"/>
                    <a:pt x="62" y="11"/>
                  </a:cubicBezTo>
                  <a:cubicBezTo>
                    <a:pt x="62" y="11"/>
                    <a:pt x="62" y="11"/>
                    <a:pt x="62" y="11"/>
                  </a:cubicBezTo>
                  <a:cubicBezTo>
                    <a:pt x="62" y="11"/>
                    <a:pt x="62" y="11"/>
                    <a:pt x="62" y="11"/>
                  </a:cubicBezTo>
                  <a:cubicBezTo>
                    <a:pt x="62" y="11"/>
                    <a:pt x="61" y="11"/>
                    <a:pt x="61" y="11"/>
                  </a:cubicBezTo>
                  <a:cubicBezTo>
                    <a:pt x="61" y="11"/>
                    <a:pt x="61" y="12"/>
                    <a:pt x="61" y="12"/>
                  </a:cubicBezTo>
                  <a:cubicBezTo>
                    <a:pt x="61" y="12"/>
                    <a:pt x="61" y="12"/>
                    <a:pt x="61" y="12"/>
                  </a:cubicBezTo>
                  <a:cubicBezTo>
                    <a:pt x="61" y="12"/>
                    <a:pt x="60" y="12"/>
                    <a:pt x="60" y="1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60" y="11"/>
                    <a:pt x="60" y="10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10"/>
                    <a:pt x="60" y="9"/>
                    <a:pt x="60" y="9"/>
                  </a:cubicBezTo>
                  <a:cubicBezTo>
                    <a:pt x="60" y="9"/>
                    <a:pt x="59" y="9"/>
                    <a:pt x="59" y="9"/>
                  </a:cubicBezTo>
                  <a:cubicBezTo>
                    <a:pt x="59" y="9"/>
                    <a:pt x="59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1" y="9"/>
                    <a:pt x="61" y="9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1" y="11"/>
                    <a:pt x="60" y="11"/>
                    <a:pt x="60" y="11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60" y="11"/>
                    <a:pt x="61" y="11"/>
                    <a:pt x="61" y="11"/>
                  </a:cubicBezTo>
                  <a:cubicBezTo>
                    <a:pt x="61" y="11"/>
                    <a:pt x="61" y="11"/>
                    <a:pt x="61" y="11"/>
                  </a:cubicBezTo>
                  <a:cubicBezTo>
                    <a:pt x="61" y="11"/>
                    <a:pt x="61" y="11"/>
                    <a:pt x="61" y="11"/>
                  </a:cubicBezTo>
                  <a:cubicBezTo>
                    <a:pt x="61" y="11"/>
                    <a:pt x="61" y="10"/>
                    <a:pt x="61" y="10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1" y="10"/>
                    <a:pt x="62" y="10"/>
                    <a:pt x="62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2" y="10"/>
                    <a:pt x="62" y="9"/>
                    <a:pt x="62" y="9"/>
                  </a:cubicBezTo>
                  <a:cubicBezTo>
                    <a:pt x="62" y="9"/>
                    <a:pt x="62" y="9"/>
                    <a:pt x="62" y="9"/>
                  </a:cubicBezTo>
                  <a:cubicBezTo>
                    <a:pt x="62" y="9"/>
                    <a:pt x="62" y="9"/>
                    <a:pt x="62" y="9"/>
                  </a:cubicBezTo>
                  <a:cubicBezTo>
                    <a:pt x="62" y="9"/>
                    <a:pt x="62" y="9"/>
                    <a:pt x="62" y="9"/>
                  </a:cubicBezTo>
                  <a:cubicBezTo>
                    <a:pt x="61" y="8"/>
                    <a:pt x="61" y="8"/>
                    <a:pt x="61" y="8"/>
                  </a:cubicBezTo>
                  <a:cubicBezTo>
                    <a:pt x="61" y="8"/>
                    <a:pt x="61" y="8"/>
                    <a:pt x="61" y="8"/>
                  </a:cubicBezTo>
                  <a:cubicBezTo>
                    <a:pt x="61" y="8"/>
                    <a:pt x="61" y="8"/>
                    <a:pt x="61" y="8"/>
                  </a:cubicBezTo>
                  <a:cubicBezTo>
                    <a:pt x="61" y="8"/>
                    <a:pt x="61" y="8"/>
                    <a:pt x="61" y="8"/>
                  </a:cubicBezTo>
                  <a:cubicBezTo>
                    <a:pt x="61" y="8"/>
                    <a:pt x="61" y="8"/>
                    <a:pt x="61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59" y="8"/>
                    <a:pt x="59" y="8"/>
                    <a:pt x="60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0" y="7"/>
                    <a:pt x="60" y="7"/>
                    <a:pt x="60" y="7"/>
                  </a:cubicBezTo>
                  <a:cubicBezTo>
                    <a:pt x="60" y="7"/>
                    <a:pt x="60" y="7"/>
                    <a:pt x="60" y="7"/>
                  </a:cubicBezTo>
                  <a:cubicBezTo>
                    <a:pt x="60" y="7"/>
                    <a:pt x="60" y="7"/>
                    <a:pt x="60" y="7"/>
                  </a:cubicBezTo>
                  <a:cubicBezTo>
                    <a:pt x="60" y="7"/>
                    <a:pt x="61" y="7"/>
                    <a:pt x="61" y="7"/>
                  </a:cubicBezTo>
                  <a:cubicBezTo>
                    <a:pt x="61" y="7"/>
                    <a:pt x="61" y="7"/>
                    <a:pt x="61" y="7"/>
                  </a:cubicBezTo>
                  <a:cubicBezTo>
                    <a:pt x="61" y="7"/>
                    <a:pt x="61" y="7"/>
                    <a:pt x="61" y="7"/>
                  </a:cubicBezTo>
                  <a:cubicBezTo>
                    <a:pt x="61" y="7"/>
                    <a:pt x="61" y="7"/>
                    <a:pt x="61" y="7"/>
                  </a:cubicBezTo>
                  <a:cubicBezTo>
                    <a:pt x="61" y="7"/>
                    <a:pt x="62" y="7"/>
                    <a:pt x="62" y="7"/>
                  </a:cubicBezTo>
                  <a:cubicBezTo>
                    <a:pt x="62" y="7"/>
                    <a:pt x="62" y="7"/>
                    <a:pt x="62" y="7"/>
                  </a:cubicBezTo>
                  <a:cubicBezTo>
                    <a:pt x="62" y="7"/>
                    <a:pt x="62" y="7"/>
                    <a:pt x="62" y="7"/>
                  </a:cubicBezTo>
                  <a:cubicBezTo>
                    <a:pt x="62" y="7"/>
                    <a:pt x="62" y="7"/>
                    <a:pt x="62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2" y="6"/>
                    <a:pt x="61" y="6"/>
                    <a:pt x="61" y="6"/>
                  </a:cubicBezTo>
                  <a:cubicBezTo>
                    <a:pt x="61" y="6"/>
                    <a:pt x="61" y="6"/>
                    <a:pt x="61" y="6"/>
                  </a:cubicBezTo>
                  <a:cubicBezTo>
                    <a:pt x="61" y="6"/>
                    <a:pt x="61" y="6"/>
                    <a:pt x="61" y="6"/>
                  </a:cubicBezTo>
                  <a:cubicBezTo>
                    <a:pt x="61" y="6"/>
                    <a:pt x="61" y="5"/>
                    <a:pt x="61" y="5"/>
                  </a:cubicBezTo>
                  <a:cubicBezTo>
                    <a:pt x="62" y="5"/>
                    <a:pt x="62" y="5"/>
                    <a:pt x="62" y="5"/>
                  </a:cubicBezTo>
                  <a:cubicBezTo>
                    <a:pt x="62" y="5"/>
                    <a:pt x="62" y="6"/>
                    <a:pt x="62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2" y="6"/>
                    <a:pt x="62" y="6"/>
                    <a:pt x="62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4" y="7"/>
                    <a:pt x="64" y="7"/>
                    <a:pt x="64" y="7"/>
                  </a:cubicBezTo>
                  <a:cubicBezTo>
                    <a:pt x="64" y="7"/>
                    <a:pt x="64" y="7"/>
                    <a:pt x="64" y="7"/>
                  </a:cubicBezTo>
                  <a:cubicBezTo>
                    <a:pt x="64" y="7"/>
                    <a:pt x="64" y="7"/>
                    <a:pt x="64" y="7"/>
                  </a:cubicBezTo>
                  <a:cubicBezTo>
                    <a:pt x="64" y="7"/>
                    <a:pt x="64" y="7"/>
                    <a:pt x="64" y="7"/>
                  </a:cubicBezTo>
                  <a:cubicBezTo>
                    <a:pt x="64" y="8"/>
                    <a:pt x="64" y="8"/>
                    <a:pt x="64" y="8"/>
                  </a:cubicBezTo>
                  <a:cubicBezTo>
                    <a:pt x="64" y="8"/>
                    <a:pt x="64" y="8"/>
                    <a:pt x="64" y="8"/>
                  </a:cubicBezTo>
                  <a:cubicBezTo>
                    <a:pt x="63" y="8"/>
                    <a:pt x="63" y="8"/>
                    <a:pt x="63" y="8"/>
                  </a:cubicBezTo>
                  <a:cubicBezTo>
                    <a:pt x="63" y="8"/>
                    <a:pt x="63" y="8"/>
                    <a:pt x="63" y="8"/>
                  </a:cubicBezTo>
                  <a:cubicBezTo>
                    <a:pt x="63" y="8"/>
                    <a:pt x="63" y="8"/>
                    <a:pt x="63" y="9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3" y="10"/>
                    <a:pt x="63" y="10"/>
                    <a:pt x="63" y="11"/>
                  </a:cubicBezTo>
                  <a:cubicBezTo>
                    <a:pt x="63" y="11"/>
                    <a:pt x="63" y="11"/>
                    <a:pt x="64" y="11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64" y="11"/>
                    <a:pt x="64" y="11"/>
                    <a:pt x="65" y="11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5" y="11"/>
                    <a:pt x="65" y="11"/>
                    <a:pt x="65" y="12"/>
                  </a:cubicBezTo>
                  <a:cubicBezTo>
                    <a:pt x="65" y="12"/>
                    <a:pt x="65" y="12"/>
                    <a:pt x="65" y="12"/>
                  </a:cubicBezTo>
                  <a:close/>
                  <a:moveTo>
                    <a:pt x="75" y="12"/>
                  </a:moveTo>
                  <a:cubicBezTo>
                    <a:pt x="75" y="12"/>
                    <a:pt x="75" y="12"/>
                    <a:pt x="75" y="13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4" y="13"/>
                    <a:pt x="74" y="13"/>
                    <a:pt x="74" y="13"/>
                  </a:cubicBezTo>
                  <a:cubicBezTo>
                    <a:pt x="74" y="13"/>
                    <a:pt x="74" y="13"/>
                    <a:pt x="74" y="13"/>
                  </a:cubicBezTo>
                  <a:cubicBezTo>
                    <a:pt x="74" y="13"/>
                    <a:pt x="74" y="13"/>
                    <a:pt x="74" y="13"/>
                  </a:cubicBezTo>
                  <a:cubicBezTo>
                    <a:pt x="74" y="13"/>
                    <a:pt x="73" y="13"/>
                    <a:pt x="73" y="13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3" y="12"/>
                    <a:pt x="73" y="12"/>
                    <a:pt x="72" y="12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0" y="12"/>
                    <a:pt x="70" y="12"/>
                    <a:pt x="70" y="13"/>
                  </a:cubicBezTo>
                  <a:cubicBezTo>
                    <a:pt x="70" y="13"/>
                    <a:pt x="69" y="13"/>
                    <a:pt x="69" y="13"/>
                  </a:cubicBezTo>
                  <a:cubicBezTo>
                    <a:pt x="69" y="13"/>
                    <a:pt x="69" y="13"/>
                    <a:pt x="69" y="13"/>
                  </a:cubicBezTo>
                  <a:cubicBezTo>
                    <a:pt x="69" y="13"/>
                    <a:pt x="69" y="13"/>
                    <a:pt x="69" y="13"/>
                  </a:cubicBezTo>
                  <a:cubicBezTo>
                    <a:pt x="69" y="13"/>
                    <a:pt x="69" y="13"/>
                    <a:pt x="69" y="13"/>
                  </a:cubicBezTo>
                  <a:cubicBezTo>
                    <a:pt x="69" y="13"/>
                    <a:pt x="68" y="13"/>
                    <a:pt x="68" y="13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70" y="11"/>
                    <a:pt x="70" y="11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1"/>
                    <a:pt x="70" y="11"/>
                    <a:pt x="70" y="11"/>
                  </a:cubicBezTo>
                  <a:cubicBezTo>
                    <a:pt x="70" y="11"/>
                    <a:pt x="70" y="11"/>
                    <a:pt x="70" y="11"/>
                  </a:cubicBezTo>
                  <a:cubicBezTo>
                    <a:pt x="70" y="11"/>
                    <a:pt x="70" y="10"/>
                    <a:pt x="70" y="10"/>
                  </a:cubicBezTo>
                  <a:cubicBezTo>
                    <a:pt x="70" y="10"/>
                    <a:pt x="70" y="10"/>
                    <a:pt x="70" y="10"/>
                  </a:cubicBezTo>
                  <a:cubicBezTo>
                    <a:pt x="70" y="10"/>
                    <a:pt x="70" y="10"/>
                    <a:pt x="70" y="10"/>
                  </a:cubicBezTo>
                  <a:cubicBezTo>
                    <a:pt x="70" y="10"/>
                    <a:pt x="70" y="10"/>
                    <a:pt x="70" y="10"/>
                  </a:cubicBezTo>
                  <a:cubicBezTo>
                    <a:pt x="70" y="10"/>
                    <a:pt x="69" y="10"/>
                    <a:pt x="69" y="10"/>
                  </a:cubicBezTo>
                  <a:cubicBezTo>
                    <a:pt x="69" y="10"/>
                    <a:pt x="69" y="10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0"/>
                    <a:pt x="68" y="10"/>
                    <a:pt x="68" y="10"/>
                  </a:cubicBezTo>
                  <a:cubicBezTo>
                    <a:pt x="68" y="10"/>
                    <a:pt x="68" y="10"/>
                    <a:pt x="68" y="10"/>
                  </a:cubicBezTo>
                  <a:cubicBezTo>
                    <a:pt x="68" y="10"/>
                    <a:pt x="68" y="10"/>
                    <a:pt x="68" y="10"/>
                  </a:cubicBezTo>
                  <a:cubicBezTo>
                    <a:pt x="68" y="10"/>
                    <a:pt x="68" y="10"/>
                    <a:pt x="68" y="10"/>
                  </a:cubicBezTo>
                  <a:cubicBezTo>
                    <a:pt x="68" y="10"/>
                    <a:pt x="68" y="10"/>
                    <a:pt x="69" y="10"/>
                  </a:cubicBezTo>
                  <a:cubicBezTo>
                    <a:pt x="69" y="10"/>
                    <a:pt x="69" y="10"/>
                    <a:pt x="69" y="10"/>
                  </a:cubicBezTo>
                  <a:cubicBezTo>
                    <a:pt x="69" y="10"/>
                    <a:pt x="69" y="9"/>
                    <a:pt x="69" y="9"/>
                  </a:cubicBezTo>
                  <a:cubicBezTo>
                    <a:pt x="69" y="9"/>
                    <a:pt x="69" y="9"/>
                    <a:pt x="70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0" y="9"/>
                    <a:pt x="71" y="9"/>
                    <a:pt x="71" y="9"/>
                  </a:cubicBezTo>
                  <a:cubicBezTo>
                    <a:pt x="71" y="9"/>
                    <a:pt x="71" y="9"/>
                    <a:pt x="71" y="9"/>
                  </a:cubicBezTo>
                  <a:cubicBezTo>
                    <a:pt x="71" y="9"/>
                    <a:pt x="71" y="9"/>
                    <a:pt x="71" y="9"/>
                  </a:cubicBezTo>
                  <a:cubicBezTo>
                    <a:pt x="71" y="9"/>
                    <a:pt x="71" y="9"/>
                    <a:pt x="71" y="9"/>
                  </a:cubicBezTo>
                  <a:cubicBezTo>
                    <a:pt x="71" y="9"/>
                    <a:pt x="72" y="9"/>
                    <a:pt x="72" y="9"/>
                  </a:cubicBezTo>
                  <a:cubicBezTo>
                    <a:pt x="72" y="9"/>
                    <a:pt x="72" y="9"/>
                    <a:pt x="72" y="9"/>
                  </a:cubicBezTo>
                  <a:cubicBezTo>
                    <a:pt x="72" y="9"/>
                    <a:pt x="72" y="9"/>
                    <a:pt x="72" y="9"/>
                  </a:cubicBezTo>
                  <a:cubicBezTo>
                    <a:pt x="72" y="9"/>
                    <a:pt x="72" y="9"/>
                    <a:pt x="73" y="9"/>
                  </a:cubicBezTo>
                  <a:cubicBezTo>
                    <a:pt x="73" y="9"/>
                    <a:pt x="73" y="9"/>
                    <a:pt x="73" y="9"/>
                  </a:cubicBezTo>
                  <a:cubicBezTo>
                    <a:pt x="73" y="9"/>
                    <a:pt x="73" y="9"/>
                    <a:pt x="73" y="9"/>
                  </a:cubicBezTo>
                  <a:cubicBezTo>
                    <a:pt x="73" y="9"/>
                    <a:pt x="73" y="9"/>
                    <a:pt x="73" y="9"/>
                  </a:cubicBezTo>
                  <a:cubicBezTo>
                    <a:pt x="73" y="9"/>
                    <a:pt x="73" y="9"/>
                    <a:pt x="73" y="9"/>
                  </a:cubicBezTo>
                  <a:cubicBezTo>
                    <a:pt x="73" y="9"/>
                    <a:pt x="73" y="9"/>
                    <a:pt x="73" y="9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2" y="10"/>
                    <a:pt x="72" y="10"/>
                    <a:pt x="72" y="10"/>
                  </a:cubicBezTo>
                  <a:cubicBezTo>
                    <a:pt x="72" y="10"/>
                    <a:pt x="72" y="10"/>
                    <a:pt x="72" y="11"/>
                  </a:cubicBezTo>
                  <a:cubicBezTo>
                    <a:pt x="72" y="11"/>
                    <a:pt x="72" y="11"/>
                    <a:pt x="72" y="11"/>
                  </a:cubicBezTo>
                  <a:cubicBezTo>
                    <a:pt x="72" y="11"/>
                    <a:pt x="72" y="11"/>
                    <a:pt x="72" y="11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3" y="12"/>
                    <a:pt x="73" y="12"/>
                    <a:pt x="74" y="12"/>
                  </a:cubicBezTo>
                  <a:cubicBezTo>
                    <a:pt x="74" y="12"/>
                    <a:pt x="74" y="12"/>
                    <a:pt x="74" y="12"/>
                  </a:cubicBezTo>
                  <a:cubicBezTo>
                    <a:pt x="74" y="12"/>
                    <a:pt x="74" y="12"/>
                    <a:pt x="74" y="12"/>
                  </a:cubicBezTo>
                  <a:cubicBezTo>
                    <a:pt x="74" y="12"/>
                    <a:pt x="74" y="12"/>
                    <a:pt x="75" y="12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5" y="12"/>
                    <a:pt x="75" y="12"/>
                    <a:pt x="75" y="12"/>
                  </a:cubicBezTo>
                  <a:close/>
                  <a:moveTo>
                    <a:pt x="87" y="10"/>
                  </a:move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1"/>
                  </a:cubicBezTo>
                  <a:cubicBezTo>
                    <a:pt x="86" y="11"/>
                    <a:pt x="85" y="11"/>
                    <a:pt x="85" y="11"/>
                  </a:cubicBezTo>
                  <a:cubicBezTo>
                    <a:pt x="85" y="11"/>
                    <a:pt x="85" y="11"/>
                    <a:pt x="85" y="11"/>
                  </a:cubicBezTo>
                  <a:cubicBezTo>
                    <a:pt x="85" y="11"/>
                    <a:pt x="85" y="11"/>
                    <a:pt x="85" y="11"/>
                  </a:cubicBezTo>
                  <a:cubicBezTo>
                    <a:pt x="85" y="11"/>
                    <a:pt x="84" y="11"/>
                    <a:pt x="84" y="11"/>
                  </a:cubicBezTo>
                  <a:cubicBezTo>
                    <a:pt x="84" y="11"/>
                    <a:pt x="84" y="11"/>
                    <a:pt x="84" y="11"/>
                  </a:cubicBezTo>
                  <a:cubicBezTo>
                    <a:pt x="84" y="11"/>
                    <a:pt x="84" y="11"/>
                    <a:pt x="84" y="11"/>
                  </a:cubicBezTo>
                  <a:cubicBezTo>
                    <a:pt x="84" y="11"/>
                    <a:pt x="84" y="11"/>
                    <a:pt x="84" y="11"/>
                  </a:cubicBezTo>
                  <a:cubicBezTo>
                    <a:pt x="84" y="11"/>
                    <a:pt x="84" y="11"/>
                    <a:pt x="84" y="11"/>
                  </a:cubicBezTo>
                  <a:cubicBezTo>
                    <a:pt x="84" y="11"/>
                    <a:pt x="85" y="11"/>
                    <a:pt x="85" y="11"/>
                  </a:cubicBezTo>
                  <a:cubicBezTo>
                    <a:pt x="85" y="11"/>
                    <a:pt x="85" y="11"/>
                    <a:pt x="85" y="11"/>
                  </a:cubicBezTo>
                  <a:cubicBezTo>
                    <a:pt x="85" y="11"/>
                    <a:pt x="86" y="11"/>
                    <a:pt x="86" y="11"/>
                  </a:cubicBezTo>
                  <a:cubicBezTo>
                    <a:pt x="86" y="11"/>
                    <a:pt x="86" y="11"/>
                    <a:pt x="86" y="11"/>
                  </a:cubicBezTo>
                  <a:cubicBezTo>
                    <a:pt x="86" y="11"/>
                    <a:pt x="86" y="11"/>
                    <a:pt x="86" y="11"/>
                  </a:cubicBezTo>
                  <a:cubicBezTo>
                    <a:pt x="86" y="11"/>
                    <a:pt x="86" y="11"/>
                    <a:pt x="86" y="11"/>
                  </a:cubicBezTo>
                  <a:cubicBezTo>
                    <a:pt x="86" y="11"/>
                    <a:pt x="86" y="11"/>
                    <a:pt x="86" y="11"/>
                  </a:cubicBezTo>
                  <a:cubicBezTo>
                    <a:pt x="86" y="11"/>
                    <a:pt x="86" y="11"/>
                    <a:pt x="86" y="12"/>
                  </a:cubicBezTo>
                  <a:cubicBezTo>
                    <a:pt x="86" y="12"/>
                    <a:pt x="86" y="12"/>
                    <a:pt x="86" y="12"/>
                  </a:cubicBezTo>
                  <a:cubicBezTo>
                    <a:pt x="86" y="12"/>
                    <a:pt x="86" y="12"/>
                    <a:pt x="86" y="12"/>
                  </a:cubicBezTo>
                  <a:cubicBezTo>
                    <a:pt x="86" y="12"/>
                    <a:pt x="86" y="12"/>
                    <a:pt x="86" y="12"/>
                  </a:cubicBezTo>
                  <a:cubicBezTo>
                    <a:pt x="86" y="12"/>
                    <a:pt x="86" y="12"/>
                    <a:pt x="86" y="12"/>
                  </a:cubicBezTo>
                  <a:cubicBezTo>
                    <a:pt x="86" y="12"/>
                    <a:pt x="86" y="13"/>
                    <a:pt x="86" y="13"/>
                  </a:cubicBezTo>
                  <a:cubicBezTo>
                    <a:pt x="86" y="13"/>
                    <a:pt x="86" y="13"/>
                    <a:pt x="85" y="13"/>
                  </a:cubicBezTo>
                  <a:cubicBezTo>
                    <a:pt x="85" y="13"/>
                    <a:pt x="85" y="13"/>
                    <a:pt x="85" y="13"/>
                  </a:cubicBezTo>
                  <a:cubicBezTo>
                    <a:pt x="85" y="13"/>
                    <a:pt x="85" y="13"/>
                    <a:pt x="85" y="13"/>
                  </a:cubicBezTo>
                  <a:cubicBezTo>
                    <a:pt x="85" y="13"/>
                    <a:pt x="85" y="13"/>
                    <a:pt x="85" y="13"/>
                  </a:cubicBezTo>
                  <a:cubicBezTo>
                    <a:pt x="85" y="13"/>
                    <a:pt x="84" y="13"/>
                    <a:pt x="84" y="13"/>
                  </a:cubicBezTo>
                  <a:cubicBezTo>
                    <a:pt x="84" y="13"/>
                    <a:pt x="84" y="13"/>
                    <a:pt x="84" y="13"/>
                  </a:cubicBezTo>
                  <a:cubicBezTo>
                    <a:pt x="84" y="13"/>
                    <a:pt x="84" y="13"/>
                    <a:pt x="84" y="13"/>
                  </a:cubicBezTo>
                  <a:cubicBezTo>
                    <a:pt x="84" y="13"/>
                    <a:pt x="84" y="13"/>
                    <a:pt x="84" y="13"/>
                  </a:cubicBezTo>
                  <a:cubicBezTo>
                    <a:pt x="84" y="13"/>
                    <a:pt x="84" y="13"/>
                    <a:pt x="84" y="12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4" y="12"/>
                    <a:pt x="84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2"/>
                  </a:cubicBezTo>
                  <a:cubicBezTo>
                    <a:pt x="82" y="12"/>
                    <a:pt x="82" y="12"/>
                    <a:pt x="82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1"/>
                    <a:pt x="83" y="11"/>
                    <a:pt x="83" y="11"/>
                  </a:cubicBezTo>
                  <a:cubicBezTo>
                    <a:pt x="83" y="11"/>
                    <a:pt x="83" y="11"/>
                    <a:pt x="83" y="11"/>
                  </a:cubicBezTo>
                  <a:cubicBezTo>
                    <a:pt x="83" y="11"/>
                    <a:pt x="83" y="11"/>
                    <a:pt x="83" y="11"/>
                  </a:cubicBezTo>
                  <a:cubicBezTo>
                    <a:pt x="83" y="11"/>
                    <a:pt x="83" y="11"/>
                    <a:pt x="83" y="11"/>
                  </a:cubicBezTo>
                  <a:cubicBezTo>
                    <a:pt x="83" y="11"/>
                    <a:pt x="83" y="11"/>
                    <a:pt x="83" y="11"/>
                  </a:cubicBezTo>
                  <a:cubicBezTo>
                    <a:pt x="83" y="11"/>
                    <a:pt x="83" y="11"/>
                    <a:pt x="83" y="11"/>
                  </a:cubicBezTo>
                  <a:cubicBezTo>
                    <a:pt x="83" y="11"/>
                    <a:pt x="84" y="11"/>
                    <a:pt x="84" y="11"/>
                  </a:cubicBezTo>
                  <a:cubicBezTo>
                    <a:pt x="84" y="11"/>
                    <a:pt x="84" y="11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3" y="10"/>
                  </a:cubicBezTo>
                  <a:cubicBezTo>
                    <a:pt x="83" y="10"/>
                    <a:pt x="83" y="10"/>
                    <a:pt x="83" y="10"/>
                  </a:cubicBezTo>
                  <a:cubicBezTo>
                    <a:pt x="83" y="10"/>
                    <a:pt x="83" y="10"/>
                    <a:pt x="83" y="10"/>
                  </a:cubicBezTo>
                  <a:cubicBezTo>
                    <a:pt x="83" y="10"/>
                    <a:pt x="83" y="10"/>
                    <a:pt x="83" y="10"/>
                  </a:cubicBezTo>
                  <a:cubicBezTo>
                    <a:pt x="83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9"/>
                    <a:pt x="84" y="9"/>
                    <a:pt x="84" y="9"/>
                  </a:cubicBezTo>
                  <a:cubicBezTo>
                    <a:pt x="84" y="9"/>
                    <a:pt x="84" y="9"/>
                    <a:pt x="84" y="9"/>
                  </a:cubicBezTo>
                  <a:cubicBezTo>
                    <a:pt x="84" y="9"/>
                    <a:pt x="83" y="9"/>
                    <a:pt x="83" y="9"/>
                  </a:cubicBezTo>
                  <a:cubicBezTo>
                    <a:pt x="83" y="9"/>
                    <a:pt x="83" y="9"/>
                    <a:pt x="83" y="9"/>
                  </a:cubicBezTo>
                  <a:cubicBezTo>
                    <a:pt x="83" y="9"/>
                    <a:pt x="83" y="9"/>
                    <a:pt x="83" y="9"/>
                  </a:cubicBezTo>
                  <a:cubicBezTo>
                    <a:pt x="83" y="9"/>
                    <a:pt x="83" y="9"/>
                    <a:pt x="83" y="9"/>
                  </a:cubicBezTo>
                  <a:cubicBezTo>
                    <a:pt x="83" y="9"/>
                    <a:pt x="83" y="9"/>
                    <a:pt x="84" y="9"/>
                  </a:cubicBezTo>
                  <a:cubicBezTo>
                    <a:pt x="84" y="9"/>
                    <a:pt x="84" y="9"/>
                    <a:pt x="84" y="9"/>
                  </a:cubicBezTo>
                  <a:cubicBezTo>
                    <a:pt x="84" y="9"/>
                    <a:pt x="84" y="9"/>
                    <a:pt x="84" y="9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5" y="8"/>
                    <a:pt x="85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3" y="8"/>
                    <a:pt x="83" y="8"/>
                  </a:cubicBezTo>
                  <a:cubicBezTo>
                    <a:pt x="83" y="8"/>
                    <a:pt x="83" y="8"/>
                    <a:pt x="83" y="8"/>
                  </a:cubicBezTo>
                  <a:cubicBezTo>
                    <a:pt x="83" y="8"/>
                    <a:pt x="83" y="8"/>
                    <a:pt x="83" y="8"/>
                  </a:cubicBezTo>
                  <a:cubicBezTo>
                    <a:pt x="83" y="8"/>
                    <a:pt x="83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7"/>
                    <a:pt x="84" y="7"/>
                    <a:pt x="84" y="7"/>
                  </a:cubicBezTo>
                  <a:cubicBezTo>
                    <a:pt x="84" y="7"/>
                    <a:pt x="84" y="7"/>
                    <a:pt x="84" y="7"/>
                  </a:cubicBezTo>
                  <a:cubicBezTo>
                    <a:pt x="84" y="7"/>
                    <a:pt x="84" y="7"/>
                    <a:pt x="84" y="7"/>
                  </a:cubicBezTo>
                  <a:cubicBezTo>
                    <a:pt x="84" y="7"/>
                    <a:pt x="84" y="7"/>
                    <a:pt x="84" y="6"/>
                  </a:cubicBezTo>
                  <a:cubicBezTo>
                    <a:pt x="84" y="6"/>
                    <a:pt x="84" y="6"/>
                    <a:pt x="84" y="6"/>
                  </a:cubicBezTo>
                  <a:cubicBezTo>
                    <a:pt x="84" y="6"/>
                    <a:pt x="84" y="6"/>
                    <a:pt x="84" y="6"/>
                  </a:cubicBezTo>
                  <a:cubicBezTo>
                    <a:pt x="84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7"/>
                    <a:pt x="85" y="7"/>
                    <a:pt x="85" y="7"/>
                  </a:cubicBezTo>
                  <a:cubicBezTo>
                    <a:pt x="85" y="7"/>
                    <a:pt x="85" y="7"/>
                    <a:pt x="85" y="7"/>
                  </a:cubicBezTo>
                  <a:cubicBezTo>
                    <a:pt x="85" y="7"/>
                    <a:pt x="85" y="7"/>
                    <a:pt x="85" y="7"/>
                  </a:cubicBezTo>
                  <a:cubicBezTo>
                    <a:pt x="85" y="7"/>
                    <a:pt x="85" y="7"/>
                    <a:pt x="85" y="7"/>
                  </a:cubicBezTo>
                  <a:cubicBezTo>
                    <a:pt x="85" y="7"/>
                    <a:pt x="85" y="7"/>
                    <a:pt x="85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7" y="8"/>
                    <a:pt x="87" y="8"/>
                    <a:pt x="87" y="8"/>
                  </a:cubicBezTo>
                  <a:cubicBezTo>
                    <a:pt x="87" y="8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6" y="9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6" y="9"/>
                    <a:pt x="86" y="9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lose/>
                  <a:moveTo>
                    <a:pt x="88" y="8"/>
                  </a:moveTo>
                  <a:cubicBezTo>
                    <a:pt x="88" y="8"/>
                    <a:pt x="88" y="8"/>
                    <a:pt x="88" y="8"/>
                  </a:cubicBezTo>
                  <a:cubicBezTo>
                    <a:pt x="88" y="8"/>
                    <a:pt x="88" y="8"/>
                    <a:pt x="88" y="8"/>
                  </a:cubicBezTo>
                  <a:cubicBezTo>
                    <a:pt x="88" y="8"/>
                    <a:pt x="88" y="8"/>
                    <a:pt x="88" y="8"/>
                  </a:cubicBezTo>
                  <a:cubicBezTo>
                    <a:pt x="88" y="9"/>
                    <a:pt x="88" y="9"/>
                    <a:pt x="88" y="9"/>
                  </a:cubicBezTo>
                  <a:cubicBezTo>
                    <a:pt x="88" y="9"/>
                    <a:pt x="88" y="9"/>
                    <a:pt x="88" y="9"/>
                  </a:cubicBezTo>
                  <a:cubicBezTo>
                    <a:pt x="88" y="9"/>
                    <a:pt x="88" y="9"/>
                    <a:pt x="88" y="9"/>
                  </a:cubicBezTo>
                  <a:cubicBezTo>
                    <a:pt x="88" y="9"/>
                    <a:pt x="88" y="10"/>
                    <a:pt x="88" y="10"/>
                  </a:cubicBezTo>
                  <a:cubicBezTo>
                    <a:pt x="88" y="10"/>
                    <a:pt x="88" y="10"/>
                    <a:pt x="88" y="10"/>
                  </a:cubicBezTo>
                  <a:cubicBezTo>
                    <a:pt x="88" y="10"/>
                    <a:pt x="88" y="10"/>
                    <a:pt x="88" y="10"/>
                  </a:cubicBezTo>
                  <a:cubicBezTo>
                    <a:pt x="88" y="10"/>
                    <a:pt x="88" y="10"/>
                    <a:pt x="88" y="10"/>
                  </a:cubicBezTo>
                  <a:cubicBezTo>
                    <a:pt x="88" y="11"/>
                    <a:pt x="88" y="11"/>
                    <a:pt x="88" y="11"/>
                  </a:cubicBezTo>
                  <a:cubicBezTo>
                    <a:pt x="88" y="11"/>
                    <a:pt x="88" y="11"/>
                    <a:pt x="88" y="11"/>
                  </a:cubicBezTo>
                  <a:cubicBezTo>
                    <a:pt x="88" y="11"/>
                    <a:pt x="88" y="11"/>
                    <a:pt x="88" y="11"/>
                  </a:cubicBezTo>
                  <a:cubicBezTo>
                    <a:pt x="88" y="11"/>
                    <a:pt x="88" y="11"/>
                    <a:pt x="88" y="11"/>
                  </a:cubicBezTo>
                  <a:cubicBezTo>
                    <a:pt x="88" y="12"/>
                    <a:pt x="88" y="12"/>
                    <a:pt x="88" y="12"/>
                  </a:cubicBezTo>
                  <a:cubicBezTo>
                    <a:pt x="88" y="12"/>
                    <a:pt x="88" y="12"/>
                    <a:pt x="88" y="12"/>
                  </a:cubicBezTo>
                  <a:cubicBezTo>
                    <a:pt x="88" y="12"/>
                    <a:pt x="87" y="12"/>
                    <a:pt x="87" y="12"/>
                  </a:cubicBez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7" y="12"/>
                    <a:pt x="87" y="12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7" y="11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8"/>
                    <a:pt x="87" y="8"/>
                    <a:pt x="87" y="8"/>
                  </a:cubicBezTo>
                  <a:cubicBezTo>
                    <a:pt x="87" y="8"/>
                    <a:pt x="87" y="8"/>
                    <a:pt x="87" y="8"/>
                  </a:cubicBezTo>
                  <a:cubicBezTo>
                    <a:pt x="87" y="8"/>
                    <a:pt x="87" y="8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6"/>
                    <a:pt x="87" y="6"/>
                  </a:cubicBezTo>
                  <a:cubicBezTo>
                    <a:pt x="87" y="6"/>
                    <a:pt x="87" y="6"/>
                    <a:pt x="87" y="6"/>
                  </a:cubicBezTo>
                  <a:cubicBezTo>
                    <a:pt x="87" y="6"/>
                    <a:pt x="87" y="6"/>
                    <a:pt x="87" y="6"/>
                  </a:cubicBezTo>
                  <a:cubicBezTo>
                    <a:pt x="88" y="6"/>
                    <a:pt x="88" y="6"/>
                    <a:pt x="88" y="6"/>
                  </a:cubicBezTo>
                  <a:cubicBezTo>
                    <a:pt x="88" y="6"/>
                    <a:pt x="88" y="6"/>
                    <a:pt x="88" y="6"/>
                  </a:cubicBezTo>
                  <a:cubicBezTo>
                    <a:pt x="88" y="7"/>
                    <a:pt x="88" y="7"/>
                    <a:pt x="88" y="7"/>
                  </a:cubicBezTo>
                  <a:cubicBezTo>
                    <a:pt x="88" y="8"/>
                    <a:pt x="88" y="8"/>
                    <a:pt x="88" y="8"/>
                  </a:cubicBezTo>
                  <a:close/>
                  <a:moveTo>
                    <a:pt x="94" y="12"/>
                  </a:moveTo>
                  <a:cubicBezTo>
                    <a:pt x="94" y="12"/>
                    <a:pt x="94" y="12"/>
                    <a:pt x="94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4" y="11"/>
                    <a:pt x="94" y="11"/>
                    <a:pt x="94" y="11"/>
                  </a:cubicBezTo>
                  <a:cubicBezTo>
                    <a:pt x="94" y="11"/>
                    <a:pt x="94" y="11"/>
                    <a:pt x="94" y="11"/>
                  </a:cubicBezTo>
                  <a:cubicBezTo>
                    <a:pt x="94" y="11"/>
                    <a:pt x="94" y="11"/>
                    <a:pt x="94" y="11"/>
                  </a:cubicBezTo>
                  <a:cubicBezTo>
                    <a:pt x="94" y="11"/>
                    <a:pt x="94" y="11"/>
                    <a:pt x="95" y="11"/>
                  </a:cubicBezTo>
                  <a:cubicBezTo>
                    <a:pt x="95" y="12"/>
                    <a:pt x="95" y="12"/>
                    <a:pt x="95" y="12"/>
                  </a:cubicBezTo>
                  <a:cubicBezTo>
                    <a:pt x="95" y="12"/>
                    <a:pt x="95" y="12"/>
                    <a:pt x="94" y="12"/>
                  </a:cubicBezTo>
                  <a:close/>
                  <a:moveTo>
                    <a:pt x="97" y="9"/>
                  </a:moveTo>
                  <a:cubicBezTo>
                    <a:pt x="97" y="9"/>
                    <a:pt x="97" y="9"/>
                    <a:pt x="97" y="9"/>
                  </a:cubicBezTo>
                  <a:cubicBezTo>
                    <a:pt x="97" y="9"/>
                    <a:pt x="96" y="9"/>
                    <a:pt x="96" y="9"/>
                  </a:cubicBezTo>
                  <a:cubicBezTo>
                    <a:pt x="96" y="9"/>
                    <a:pt x="96" y="10"/>
                    <a:pt x="96" y="10"/>
                  </a:cubicBezTo>
                  <a:cubicBezTo>
                    <a:pt x="96" y="10"/>
                    <a:pt x="96" y="10"/>
                    <a:pt x="96" y="10"/>
                  </a:cubicBezTo>
                  <a:cubicBezTo>
                    <a:pt x="96" y="10"/>
                    <a:pt x="96" y="11"/>
                    <a:pt x="96" y="11"/>
                  </a:cubicBezTo>
                  <a:cubicBezTo>
                    <a:pt x="96" y="11"/>
                    <a:pt x="96" y="11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6" y="12"/>
                    <a:pt x="96" y="13"/>
                  </a:cubicBezTo>
                  <a:cubicBezTo>
                    <a:pt x="96" y="13"/>
                    <a:pt x="96" y="13"/>
                    <a:pt x="96" y="13"/>
                  </a:cubicBezTo>
                  <a:cubicBezTo>
                    <a:pt x="96" y="13"/>
                    <a:pt x="96" y="13"/>
                    <a:pt x="96" y="13"/>
                  </a:cubicBezTo>
                  <a:cubicBezTo>
                    <a:pt x="96" y="13"/>
                    <a:pt x="96" y="13"/>
                    <a:pt x="96" y="13"/>
                  </a:cubicBezTo>
                  <a:cubicBezTo>
                    <a:pt x="96" y="13"/>
                    <a:pt x="96" y="13"/>
                    <a:pt x="96" y="14"/>
                  </a:cubicBezTo>
                  <a:cubicBezTo>
                    <a:pt x="96" y="14"/>
                    <a:pt x="96" y="14"/>
                    <a:pt x="96" y="14"/>
                  </a:cubicBezTo>
                  <a:cubicBezTo>
                    <a:pt x="96" y="14"/>
                    <a:pt x="96" y="14"/>
                    <a:pt x="96" y="14"/>
                  </a:cubicBezTo>
                  <a:cubicBezTo>
                    <a:pt x="96" y="14"/>
                    <a:pt x="96" y="14"/>
                    <a:pt x="96" y="14"/>
                  </a:cubicBezTo>
                  <a:cubicBezTo>
                    <a:pt x="96" y="13"/>
                    <a:pt x="96" y="13"/>
                    <a:pt x="96" y="13"/>
                  </a:cubicBezTo>
                  <a:cubicBezTo>
                    <a:pt x="96" y="13"/>
                    <a:pt x="96" y="13"/>
                    <a:pt x="96" y="13"/>
                  </a:cubicBezTo>
                  <a:cubicBezTo>
                    <a:pt x="96" y="13"/>
                    <a:pt x="96" y="13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6" y="11"/>
                    <a:pt x="96" y="11"/>
                  </a:cubicBezTo>
                  <a:cubicBezTo>
                    <a:pt x="96" y="11"/>
                    <a:pt x="96" y="11"/>
                    <a:pt x="96" y="11"/>
                  </a:cubicBezTo>
                  <a:cubicBezTo>
                    <a:pt x="96" y="11"/>
                    <a:pt x="96" y="11"/>
                    <a:pt x="96" y="11"/>
                  </a:cubicBezTo>
                  <a:cubicBezTo>
                    <a:pt x="96" y="11"/>
                    <a:pt x="96" y="11"/>
                    <a:pt x="96" y="10"/>
                  </a:cubicBezTo>
                  <a:cubicBezTo>
                    <a:pt x="96" y="10"/>
                    <a:pt x="96" y="10"/>
                    <a:pt x="96" y="10"/>
                  </a:cubicBezTo>
                  <a:cubicBezTo>
                    <a:pt x="96" y="10"/>
                    <a:pt x="96" y="10"/>
                    <a:pt x="96" y="10"/>
                  </a:cubicBezTo>
                  <a:cubicBezTo>
                    <a:pt x="96" y="10"/>
                    <a:pt x="96" y="10"/>
                    <a:pt x="96" y="10"/>
                  </a:cubicBezTo>
                  <a:cubicBezTo>
                    <a:pt x="96" y="10"/>
                    <a:pt x="96" y="9"/>
                    <a:pt x="96" y="9"/>
                  </a:cubicBezTo>
                  <a:cubicBezTo>
                    <a:pt x="96" y="9"/>
                    <a:pt x="96" y="9"/>
                    <a:pt x="96" y="9"/>
                  </a:cubicBezTo>
                  <a:cubicBezTo>
                    <a:pt x="96" y="9"/>
                    <a:pt x="96" y="9"/>
                    <a:pt x="95" y="9"/>
                  </a:cubicBezTo>
                  <a:cubicBezTo>
                    <a:pt x="95" y="10"/>
                    <a:pt x="95" y="10"/>
                    <a:pt x="95" y="10"/>
                  </a:cubicBezTo>
                  <a:cubicBezTo>
                    <a:pt x="95" y="10"/>
                    <a:pt x="95" y="10"/>
                    <a:pt x="95" y="10"/>
                  </a:cubicBezTo>
                  <a:cubicBezTo>
                    <a:pt x="95" y="11"/>
                    <a:pt x="95" y="11"/>
                    <a:pt x="95" y="11"/>
                  </a:cubicBezTo>
                  <a:cubicBezTo>
                    <a:pt x="95" y="11"/>
                    <a:pt x="95" y="11"/>
                    <a:pt x="95" y="11"/>
                  </a:cubicBezTo>
                  <a:cubicBezTo>
                    <a:pt x="95" y="11"/>
                    <a:pt x="95" y="11"/>
                    <a:pt x="95" y="11"/>
                  </a:cubicBezTo>
                  <a:cubicBezTo>
                    <a:pt x="95" y="11"/>
                    <a:pt x="95" y="11"/>
                    <a:pt x="95" y="11"/>
                  </a:cubicBezTo>
                  <a:cubicBezTo>
                    <a:pt x="95" y="11"/>
                    <a:pt x="95" y="11"/>
                    <a:pt x="95" y="10"/>
                  </a:cubicBezTo>
                  <a:cubicBezTo>
                    <a:pt x="95" y="10"/>
                    <a:pt x="95" y="10"/>
                    <a:pt x="95" y="10"/>
                  </a:cubicBezTo>
                  <a:cubicBezTo>
                    <a:pt x="95" y="10"/>
                    <a:pt x="95" y="10"/>
                    <a:pt x="95" y="10"/>
                  </a:cubicBezTo>
                  <a:cubicBezTo>
                    <a:pt x="95" y="9"/>
                    <a:pt x="95" y="9"/>
                    <a:pt x="95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3" y="10"/>
                  </a:cubicBezTo>
                  <a:cubicBezTo>
                    <a:pt x="93" y="10"/>
                    <a:pt x="93" y="10"/>
                    <a:pt x="93" y="10"/>
                  </a:cubicBezTo>
                  <a:cubicBezTo>
                    <a:pt x="93" y="10"/>
                    <a:pt x="93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5" y="10"/>
                    <a:pt x="95" y="10"/>
                    <a:pt x="95" y="10"/>
                  </a:cubicBezTo>
                  <a:cubicBezTo>
                    <a:pt x="95" y="11"/>
                    <a:pt x="94" y="11"/>
                    <a:pt x="94" y="11"/>
                  </a:cubicBezTo>
                  <a:cubicBezTo>
                    <a:pt x="94" y="11"/>
                    <a:pt x="94" y="11"/>
                    <a:pt x="94" y="11"/>
                  </a:cubicBezTo>
                  <a:cubicBezTo>
                    <a:pt x="94" y="11"/>
                    <a:pt x="94" y="11"/>
                    <a:pt x="94" y="11"/>
                  </a:cubicBezTo>
                  <a:cubicBezTo>
                    <a:pt x="94" y="11"/>
                    <a:pt x="94" y="11"/>
                    <a:pt x="94" y="11"/>
                  </a:cubicBezTo>
                  <a:cubicBezTo>
                    <a:pt x="93" y="11"/>
                    <a:pt x="93" y="11"/>
                    <a:pt x="93" y="11"/>
                  </a:cubicBezTo>
                  <a:cubicBezTo>
                    <a:pt x="93" y="11"/>
                    <a:pt x="93" y="11"/>
                    <a:pt x="93" y="11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3"/>
                    <a:pt x="93" y="13"/>
                  </a:cubicBezTo>
                  <a:cubicBezTo>
                    <a:pt x="93" y="13"/>
                    <a:pt x="93" y="13"/>
                    <a:pt x="93" y="13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2"/>
                    <a:pt x="93" y="11"/>
                  </a:cubicBezTo>
                  <a:cubicBezTo>
                    <a:pt x="93" y="11"/>
                    <a:pt x="93" y="11"/>
                    <a:pt x="93" y="11"/>
                  </a:cubicBezTo>
                  <a:cubicBezTo>
                    <a:pt x="93" y="11"/>
                    <a:pt x="92" y="11"/>
                    <a:pt x="92" y="11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1" y="12"/>
                  </a:cubicBezTo>
                  <a:cubicBezTo>
                    <a:pt x="91" y="12"/>
                    <a:pt x="91" y="12"/>
                    <a:pt x="91" y="12"/>
                  </a:cubicBezTo>
                  <a:cubicBezTo>
                    <a:pt x="91" y="12"/>
                    <a:pt x="91" y="12"/>
                    <a:pt x="91" y="12"/>
                  </a:cubicBezTo>
                  <a:cubicBezTo>
                    <a:pt x="91" y="12"/>
                    <a:pt x="91" y="12"/>
                    <a:pt x="91" y="12"/>
                  </a:cubicBezTo>
                  <a:cubicBezTo>
                    <a:pt x="91" y="12"/>
                    <a:pt x="91" y="11"/>
                    <a:pt x="91" y="11"/>
                  </a:cubicBezTo>
                  <a:cubicBezTo>
                    <a:pt x="91" y="11"/>
                    <a:pt x="91" y="11"/>
                    <a:pt x="91" y="11"/>
                  </a:cubicBezTo>
                  <a:cubicBezTo>
                    <a:pt x="91" y="11"/>
                    <a:pt x="91" y="11"/>
                    <a:pt x="92" y="11"/>
                  </a:cubicBezTo>
                  <a:cubicBezTo>
                    <a:pt x="92" y="11"/>
                    <a:pt x="92" y="11"/>
                    <a:pt x="93" y="11"/>
                  </a:cubicBezTo>
                  <a:cubicBezTo>
                    <a:pt x="93" y="11"/>
                    <a:pt x="93" y="11"/>
                    <a:pt x="93" y="10"/>
                  </a:cubicBezTo>
                  <a:cubicBezTo>
                    <a:pt x="93" y="10"/>
                    <a:pt x="93" y="10"/>
                    <a:pt x="93" y="10"/>
                  </a:cubicBezTo>
                  <a:cubicBezTo>
                    <a:pt x="93" y="10"/>
                    <a:pt x="93" y="10"/>
                    <a:pt x="93" y="10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2" y="10"/>
                    <a:pt x="92" y="10"/>
                    <a:pt x="91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1" y="10"/>
                    <a:pt x="91" y="10"/>
                    <a:pt x="92" y="10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3" y="10"/>
                    <a:pt x="93" y="10"/>
                    <a:pt x="93" y="9"/>
                  </a:cubicBezTo>
                  <a:cubicBezTo>
                    <a:pt x="93" y="9"/>
                    <a:pt x="93" y="9"/>
                    <a:pt x="93" y="9"/>
                  </a:cubicBezTo>
                  <a:cubicBezTo>
                    <a:pt x="93" y="9"/>
                    <a:pt x="93" y="9"/>
                    <a:pt x="93" y="9"/>
                  </a:cubicBezTo>
                  <a:cubicBezTo>
                    <a:pt x="93" y="9"/>
                    <a:pt x="93" y="9"/>
                    <a:pt x="93" y="9"/>
                  </a:cubicBezTo>
                  <a:cubicBezTo>
                    <a:pt x="93" y="9"/>
                    <a:pt x="93" y="9"/>
                    <a:pt x="93" y="9"/>
                  </a:cubicBezTo>
                  <a:cubicBezTo>
                    <a:pt x="93" y="9"/>
                    <a:pt x="93" y="9"/>
                    <a:pt x="93" y="9"/>
                  </a:cubicBezTo>
                  <a:cubicBezTo>
                    <a:pt x="93" y="9"/>
                    <a:pt x="93" y="9"/>
                    <a:pt x="93" y="9"/>
                  </a:cubicBezTo>
                  <a:cubicBezTo>
                    <a:pt x="93" y="9"/>
                    <a:pt x="93" y="9"/>
                    <a:pt x="92" y="9"/>
                  </a:cubicBezTo>
                  <a:cubicBezTo>
                    <a:pt x="92" y="9"/>
                    <a:pt x="92" y="9"/>
                    <a:pt x="92" y="9"/>
                  </a:cubicBezTo>
                  <a:cubicBezTo>
                    <a:pt x="92" y="9"/>
                    <a:pt x="92" y="9"/>
                    <a:pt x="92" y="9"/>
                  </a:cubicBezTo>
                  <a:cubicBezTo>
                    <a:pt x="92" y="9"/>
                    <a:pt x="92" y="9"/>
                    <a:pt x="92" y="9"/>
                  </a:cubicBezTo>
                  <a:cubicBezTo>
                    <a:pt x="92" y="9"/>
                    <a:pt x="92" y="9"/>
                    <a:pt x="92" y="9"/>
                  </a:cubicBezTo>
                  <a:cubicBezTo>
                    <a:pt x="92" y="9"/>
                    <a:pt x="92" y="8"/>
                    <a:pt x="92" y="8"/>
                  </a:cubicBezTo>
                  <a:cubicBezTo>
                    <a:pt x="93" y="8"/>
                    <a:pt x="93" y="8"/>
                    <a:pt x="93" y="8"/>
                  </a:cubicBezTo>
                  <a:cubicBezTo>
                    <a:pt x="93" y="8"/>
                    <a:pt x="93" y="8"/>
                    <a:pt x="92" y="8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7"/>
                    <a:pt x="92" y="7"/>
                    <a:pt x="92" y="7"/>
                  </a:cubicBezTo>
                  <a:cubicBezTo>
                    <a:pt x="92" y="7"/>
                    <a:pt x="92" y="7"/>
                    <a:pt x="92" y="7"/>
                  </a:cubicBezTo>
                  <a:cubicBezTo>
                    <a:pt x="92" y="7"/>
                    <a:pt x="92" y="7"/>
                    <a:pt x="92" y="7"/>
                  </a:cubicBezTo>
                  <a:cubicBezTo>
                    <a:pt x="92" y="7"/>
                    <a:pt x="92" y="7"/>
                    <a:pt x="92" y="7"/>
                  </a:cubicBezTo>
                  <a:cubicBezTo>
                    <a:pt x="92" y="7"/>
                    <a:pt x="92" y="7"/>
                    <a:pt x="92" y="7"/>
                  </a:cubicBezTo>
                  <a:cubicBezTo>
                    <a:pt x="92" y="7"/>
                    <a:pt x="92" y="7"/>
                    <a:pt x="93" y="7"/>
                  </a:cubicBezTo>
                  <a:cubicBezTo>
                    <a:pt x="93" y="7"/>
                    <a:pt x="93" y="7"/>
                    <a:pt x="93" y="7"/>
                  </a:cubicBezTo>
                  <a:cubicBezTo>
                    <a:pt x="93" y="7"/>
                    <a:pt x="93" y="7"/>
                    <a:pt x="93" y="7"/>
                  </a:cubicBezTo>
                  <a:cubicBezTo>
                    <a:pt x="93" y="7"/>
                    <a:pt x="93" y="7"/>
                    <a:pt x="93" y="7"/>
                  </a:cubicBezTo>
                  <a:cubicBezTo>
                    <a:pt x="93" y="7"/>
                    <a:pt x="93" y="7"/>
                    <a:pt x="93" y="7"/>
                  </a:cubicBezTo>
                  <a:cubicBezTo>
                    <a:pt x="93" y="7"/>
                    <a:pt x="93" y="7"/>
                    <a:pt x="93" y="7"/>
                  </a:cubicBezTo>
                  <a:cubicBezTo>
                    <a:pt x="93" y="7"/>
                    <a:pt x="93" y="7"/>
                    <a:pt x="94" y="7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4" y="7"/>
                    <a:pt x="94" y="6"/>
                  </a:cubicBezTo>
                  <a:cubicBezTo>
                    <a:pt x="94" y="6"/>
                    <a:pt x="94" y="6"/>
                    <a:pt x="95" y="6"/>
                  </a:cubicBezTo>
                  <a:cubicBezTo>
                    <a:pt x="95" y="6"/>
                    <a:pt x="95" y="6"/>
                    <a:pt x="95" y="6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4" y="7"/>
                    <a:pt x="94" y="7"/>
                    <a:pt x="94" y="8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4" y="8"/>
                    <a:pt x="95" y="8"/>
                    <a:pt x="95" y="8"/>
                  </a:cubicBezTo>
                  <a:cubicBezTo>
                    <a:pt x="95" y="8"/>
                    <a:pt x="95" y="8"/>
                    <a:pt x="95" y="9"/>
                  </a:cubicBezTo>
                  <a:cubicBezTo>
                    <a:pt x="95" y="9"/>
                    <a:pt x="94" y="9"/>
                    <a:pt x="94" y="9"/>
                  </a:cubicBezTo>
                  <a:cubicBezTo>
                    <a:pt x="94" y="9"/>
                    <a:pt x="94" y="9"/>
                    <a:pt x="94" y="9"/>
                  </a:cubicBezTo>
                  <a:cubicBezTo>
                    <a:pt x="94" y="9"/>
                    <a:pt x="94" y="9"/>
                    <a:pt x="94" y="9"/>
                  </a:cubicBezTo>
                  <a:cubicBezTo>
                    <a:pt x="94" y="9"/>
                    <a:pt x="95" y="9"/>
                    <a:pt x="95" y="9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5" y="8"/>
                    <a:pt x="95" y="9"/>
                    <a:pt x="95" y="9"/>
                  </a:cubicBezTo>
                  <a:cubicBezTo>
                    <a:pt x="95" y="9"/>
                    <a:pt x="96" y="9"/>
                    <a:pt x="96" y="9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9"/>
                    <a:pt x="97" y="9"/>
                    <a:pt x="97" y="9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0" name="iŝḻiďê">
              <a:extLst>
                <a:ext uri="{FF2B5EF4-FFF2-40B4-BE49-F238E27FC236}">
                  <a16:creationId xmlns:a16="http://schemas.microsoft.com/office/drawing/2014/main" id="{F4E2D8CC-4A7A-73F6-1D57-3F283EB70F58}"/>
                </a:ext>
              </a:extLst>
            </p:cNvPr>
            <p:cNvSpPr/>
            <p:nvPr/>
          </p:nvSpPr>
          <p:spPr bwMode="auto">
            <a:xfrm>
              <a:off x="3103563" y="344011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1" name="îṥḻiḍè">
              <a:extLst>
                <a:ext uri="{FF2B5EF4-FFF2-40B4-BE49-F238E27FC236}">
                  <a16:creationId xmlns:a16="http://schemas.microsoft.com/office/drawing/2014/main" id="{BC72794C-1A56-8DC0-2A5C-964C7EA6D13C}"/>
                </a:ext>
              </a:extLst>
            </p:cNvPr>
            <p:cNvSpPr/>
            <p:nvPr/>
          </p:nvSpPr>
          <p:spPr bwMode="auto">
            <a:xfrm>
              <a:off x="3021013" y="3443288"/>
              <a:ext cx="3175" cy="3175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1 h 1"/>
                <a:gd name="T10" fmla="*/ 0 w 1"/>
                <a:gd name="T11" fmla="*/ 1 h 1"/>
                <a:gd name="T12" fmla="*/ 0 w 1"/>
                <a:gd name="T13" fmla="*/ 1 h 1"/>
                <a:gd name="T14" fmla="*/ 0 w 1"/>
                <a:gd name="T15" fmla="*/ 1 h 1"/>
                <a:gd name="T16" fmla="*/ 0 w 1"/>
                <a:gd name="T17" fmla="*/ 1 h 1"/>
                <a:gd name="T18" fmla="*/ 1 w 1"/>
                <a:gd name="T19" fmla="*/ 1 h 1"/>
                <a:gd name="T20" fmla="*/ 1 w 1"/>
                <a:gd name="T21" fmla="*/ 1 h 1"/>
                <a:gd name="T22" fmla="*/ 1 w 1"/>
                <a:gd name="T23" fmla="*/ 0 h 1"/>
                <a:gd name="T24" fmla="*/ 1 w 1"/>
                <a:gd name="T25" fmla="*/ 0 h 1"/>
                <a:gd name="T26" fmla="*/ 1 w 1"/>
                <a:gd name="T2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2" name="íṩḷîḋe">
              <a:extLst>
                <a:ext uri="{FF2B5EF4-FFF2-40B4-BE49-F238E27FC236}">
                  <a16:creationId xmlns:a16="http://schemas.microsoft.com/office/drawing/2014/main" id="{F2E09BD2-F3F5-5033-547D-B76AA1CF45D1}"/>
                </a:ext>
              </a:extLst>
            </p:cNvPr>
            <p:cNvSpPr/>
            <p:nvPr/>
          </p:nvSpPr>
          <p:spPr bwMode="auto">
            <a:xfrm>
              <a:off x="2941638" y="3436938"/>
              <a:ext cx="3175" cy="6350"/>
            </a:xfrm>
            <a:custGeom>
              <a:avLst/>
              <a:gdLst>
                <a:gd name="T0" fmla="*/ 1 w 1"/>
                <a:gd name="T1" fmla="*/ 0 h 2"/>
                <a:gd name="T2" fmla="*/ 1 w 1"/>
                <a:gd name="T3" fmla="*/ 0 h 2"/>
                <a:gd name="T4" fmla="*/ 0 w 1"/>
                <a:gd name="T5" fmla="*/ 0 h 2"/>
                <a:gd name="T6" fmla="*/ 0 w 1"/>
                <a:gd name="T7" fmla="*/ 0 h 2"/>
                <a:gd name="T8" fmla="*/ 0 w 1"/>
                <a:gd name="T9" fmla="*/ 0 h 2"/>
                <a:gd name="T10" fmla="*/ 0 w 1"/>
                <a:gd name="T11" fmla="*/ 0 h 2"/>
                <a:gd name="T12" fmla="*/ 0 w 1"/>
                <a:gd name="T13" fmla="*/ 0 h 2"/>
                <a:gd name="T14" fmla="*/ 0 w 1"/>
                <a:gd name="T15" fmla="*/ 0 h 2"/>
                <a:gd name="T16" fmla="*/ 1 w 1"/>
                <a:gd name="T17" fmla="*/ 0 h 2"/>
                <a:gd name="T18" fmla="*/ 1 w 1"/>
                <a:gd name="T19" fmla="*/ 0 h 2"/>
                <a:gd name="T20" fmla="*/ 1 w 1"/>
                <a:gd name="T21" fmla="*/ 1 h 2"/>
                <a:gd name="T22" fmla="*/ 0 w 1"/>
                <a:gd name="T23" fmla="*/ 1 h 2"/>
                <a:gd name="T24" fmla="*/ 0 w 1"/>
                <a:gd name="T25" fmla="*/ 1 h 2"/>
                <a:gd name="T26" fmla="*/ 0 w 1"/>
                <a:gd name="T27" fmla="*/ 1 h 2"/>
                <a:gd name="T28" fmla="*/ 0 w 1"/>
                <a:gd name="T29" fmla="*/ 1 h 2"/>
                <a:gd name="T30" fmla="*/ 0 w 1"/>
                <a:gd name="T31" fmla="*/ 1 h 2"/>
                <a:gd name="T32" fmla="*/ 0 w 1"/>
                <a:gd name="T33" fmla="*/ 1 h 2"/>
                <a:gd name="T34" fmla="*/ 1 w 1"/>
                <a:gd name="T35" fmla="*/ 1 h 2"/>
                <a:gd name="T36" fmla="*/ 1 w 1"/>
                <a:gd name="T37" fmla="*/ 1 h 2"/>
                <a:gd name="T38" fmla="*/ 1 w 1"/>
                <a:gd name="T39" fmla="*/ 1 h 2"/>
                <a:gd name="T40" fmla="*/ 1 w 1"/>
                <a:gd name="T41" fmla="*/ 1 h 2"/>
                <a:gd name="T42" fmla="*/ 0 w 1"/>
                <a:gd name="T43" fmla="*/ 2 h 2"/>
                <a:gd name="T44" fmla="*/ 0 w 1"/>
                <a:gd name="T45" fmla="*/ 2 h 2"/>
                <a:gd name="T46" fmla="*/ 0 w 1"/>
                <a:gd name="T47" fmla="*/ 2 h 2"/>
                <a:gd name="T48" fmla="*/ 0 w 1"/>
                <a:gd name="T49" fmla="*/ 2 h 2"/>
                <a:gd name="T50" fmla="*/ 1 w 1"/>
                <a:gd name="T51" fmla="*/ 2 h 2"/>
                <a:gd name="T52" fmla="*/ 1 w 1"/>
                <a:gd name="T53" fmla="*/ 1 h 2"/>
                <a:gd name="T54" fmla="*/ 1 w 1"/>
                <a:gd name="T55" fmla="*/ 1 h 2"/>
                <a:gd name="T56" fmla="*/ 1 w 1"/>
                <a:gd name="T57" fmla="*/ 0 h 2"/>
                <a:gd name="T58" fmla="*/ 1 w 1"/>
                <a:gd name="T5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1"/>
                    <a:pt x="1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3" name="iṧḻiḋè">
              <a:extLst>
                <a:ext uri="{FF2B5EF4-FFF2-40B4-BE49-F238E27FC236}">
                  <a16:creationId xmlns:a16="http://schemas.microsoft.com/office/drawing/2014/main" id="{9A7ACAC5-BB6C-281A-2303-9504734227F9}"/>
                </a:ext>
              </a:extLst>
            </p:cNvPr>
            <p:cNvSpPr/>
            <p:nvPr/>
          </p:nvSpPr>
          <p:spPr bwMode="auto">
            <a:xfrm>
              <a:off x="3517900" y="2994026"/>
              <a:ext cx="138113" cy="115888"/>
            </a:xfrm>
            <a:custGeom>
              <a:avLst/>
              <a:gdLst>
                <a:gd name="T0" fmla="*/ 36 w 38"/>
                <a:gd name="T1" fmla="*/ 26 h 32"/>
                <a:gd name="T2" fmla="*/ 34 w 38"/>
                <a:gd name="T3" fmla="*/ 22 h 32"/>
                <a:gd name="T4" fmla="*/ 28 w 38"/>
                <a:gd name="T5" fmla="*/ 16 h 32"/>
                <a:gd name="T6" fmla="*/ 27 w 38"/>
                <a:gd name="T7" fmla="*/ 14 h 32"/>
                <a:gd name="T8" fmla="*/ 26 w 38"/>
                <a:gd name="T9" fmla="*/ 14 h 32"/>
                <a:gd name="T10" fmla="*/ 27 w 38"/>
                <a:gd name="T11" fmla="*/ 13 h 32"/>
                <a:gd name="T12" fmla="*/ 30 w 38"/>
                <a:gd name="T13" fmla="*/ 14 h 32"/>
                <a:gd name="T14" fmla="*/ 32 w 38"/>
                <a:gd name="T15" fmla="*/ 14 h 32"/>
                <a:gd name="T16" fmla="*/ 36 w 38"/>
                <a:gd name="T17" fmla="*/ 14 h 32"/>
                <a:gd name="T18" fmla="*/ 37 w 38"/>
                <a:gd name="T19" fmla="*/ 13 h 32"/>
                <a:gd name="T20" fmla="*/ 37 w 38"/>
                <a:gd name="T21" fmla="*/ 12 h 32"/>
                <a:gd name="T22" fmla="*/ 36 w 38"/>
                <a:gd name="T23" fmla="*/ 7 h 32"/>
                <a:gd name="T24" fmla="*/ 33 w 38"/>
                <a:gd name="T25" fmla="*/ 4 h 32"/>
                <a:gd name="T26" fmla="*/ 31 w 38"/>
                <a:gd name="T27" fmla="*/ 4 h 32"/>
                <a:gd name="T28" fmla="*/ 31 w 38"/>
                <a:gd name="T29" fmla="*/ 6 h 32"/>
                <a:gd name="T30" fmla="*/ 31 w 38"/>
                <a:gd name="T31" fmla="*/ 8 h 32"/>
                <a:gd name="T32" fmla="*/ 31 w 38"/>
                <a:gd name="T33" fmla="*/ 9 h 32"/>
                <a:gd name="T34" fmla="*/ 28 w 38"/>
                <a:gd name="T35" fmla="*/ 10 h 32"/>
                <a:gd name="T36" fmla="*/ 26 w 38"/>
                <a:gd name="T37" fmla="*/ 10 h 32"/>
                <a:gd name="T38" fmla="*/ 23 w 38"/>
                <a:gd name="T39" fmla="*/ 11 h 32"/>
                <a:gd name="T40" fmla="*/ 22 w 38"/>
                <a:gd name="T41" fmla="*/ 10 h 32"/>
                <a:gd name="T42" fmla="*/ 16 w 38"/>
                <a:gd name="T43" fmla="*/ 6 h 32"/>
                <a:gd name="T44" fmla="*/ 12 w 38"/>
                <a:gd name="T45" fmla="*/ 3 h 32"/>
                <a:gd name="T46" fmla="*/ 8 w 38"/>
                <a:gd name="T47" fmla="*/ 0 h 32"/>
                <a:gd name="T48" fmla="*/ 7 w 38"/>
                <a:gd name="T49" fmla="*/ 0 h 32"/>
                <a:gd name="T50" fmla="*/ 6 w 38"/>
                <a:gd name="T51" fmla="*/ 1 h 32"/>
                <a:gd name="T52" fmla="*/ 7 w 38"/>
                <a:gd name="T53" fmla="*/ 7 h 32"/>
                <a:gd name="T54" fmla="*/ 7 w 38"/>
                <a:gd name="T55" fmla="*/ 8 h 32"/>
                <a:gd name="T56" fmla="*/ 16 w 38"/>
                <a:gd name="T57" fmla="*/ 14 h 32"/>
                <a:gd name="T58" fmla="*/ 19 w 38"/>
                <a:gd name="T59" fmla="*/ 16 h 32"/>
                <a:gd name="T60" fmla="*/ 12 w 38"/>
                <a:gd name="T61" fmla="*/ 20 h 32"/>
                <a:gd name="T62" fmla="*/ 7 w 38"/>
                <a:gd name="T63" fmla="*/ 20 h 32"/>
                <a:gd name="T64" fmla="*/ 5 w 38"/>
                <a:gd name="T65" fmla="*/ 18 h 32"/>
                <a:gd name="T66" fmla="*/ 5 w 38"/>
                <a:gd name="T67" fmla="*/ 14 h 32"/>
                <a:gd name="T68" fmla="*/ 5 w 38"/>
                <a:gd name="T69" fmla="*/ 12 h 32"/>
                <a:gd name="T70" fmla="*/ 4 w 38"/>
                <a:gd name="T71" fmla="*/ 12 h 32"/>
                <a:gd name="T72" fmla="*/ 3 w 38"/>
                <a:gd name="T73" fmla="*/ 15 h 32"/>
                <a:gd name="T74" fmla="*/ 1 w 38"/>
                <a:gd name="T75" fmla="*/ 17 h 32"/>
                <a:gd name="T76" fmla="*/ 0 w 38"/>
                <a:gd name="T77" fmla="*/ 20 h 32"/>
                <a:gd name="T78" fmla="*/ 2 w 38"/>
                <a:gd name="T79" fmla="*/ 24 h 32"/>
                <a:gd name="T80" fmla="*/ 14 w 38"/>
                <a:gd name="T81" fmla="*/ 25 h 32"/>
                <a:gd name="T82" fmla="*/ 22 w 38"/>
                <a:gd name="T83" fmla="*/ 21 h 32"/>
                <a:gd name="T84" fmla="*/ 23 w 38"/>
                <a:gd name="T85" fmla="*/ 21 h 32"/>
                <a:gd name="T86" fmla="*/ 25 w 38"/>
                <a:gd name="T87" fmla="*/ 24 h 32"/>
                <a:gd name="T88" fmla="*/ 28 w 38"/>
                <a:gd name="T89" fmla="*/ 28 h 32"/>
                <a:gd name="T90" fmla="*/ 29 w 38"/>
                <a:gd name="T91" fmla="*/ 31 h 32"/>
                <a:gd name="T92" fmla="*/ 32 w 38"/>
                <a:gd name="T93" fmla="*/ 32 h 32"/>
                <a:gd name="T94" fmla="*/ 35 w 38"/>
                <a:gd name="T95" fmla="*/ 29 h 32"/>
                <a:gd name="T96" fmla="*/ 36 w 38"/>
                <a:gd name="T97" fmla="*/ 26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8" h="32">
                  <a:moveTo>
                    <a:pt x="36" y="26"/>
                  </a:moveTo>
                  <a:cubicBezTo>
                    <a:pt x="36" y="25"/>
                    <a:pt x="35" y="24"/>
                    <a:pt x="34" y="22"/>
                  </a:cubicBezTo>
                  <a:cubicBezTo>
                    <a:pt x="32" y="21"/>
                    <a:pt x="31" y="18"/>
                    <a:pt x="28" y="16"/>
                  </a:cubicBezTo>
                  <a:cubicBezTo>
                    <a:pt x="28" y="16"/>
                    <a:pt x="27" y="15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7" y="14"/>
                    <a:pt x="27" y="13"/>
                    <a:pt x="27" y="13"/>
                  </a:cubicBezTo>
                  <a:cubicBezTo>
                    <a:pt x="28" y="13"/>
                    <a:pt x="29" y="14"/>
                    <a:pt x="30" y="14"/>
                  </a:cubicBezTo>
                  <a:cubicBezTo>
                    <a:pt x="30" y="14"/>
                    <a:pt x="31" y="14"/>
                    <a:pt x="32" y="14"/>
                  </a:cubicBezTo>
                  <a:cubicBezTo>
                    <a:pt x="33" y="14"/>
                    <a:pt x="34" y="14"/>
                    <a:pt x="36" y="14"/>
                  </a:cubicBezTo>
                  <a:cubicBezTo>
                    <a:pt x="37" y="14"/>
                    <a:pt x="37" y="14"/>
                    <a:pt x="37" y="13"/>
                  </a:cubicBezTo>
                  <a:cubicBezTo>
                    <a:pt x="37" y="13"/>
                    <a:pt x="37" y="12"/>
                    <a:pt x="37" y="12"/>
                  </a:cubicBezTo>
                  <a:cubicBezTo>
                    <a:pt x="38" y="11"/>
                    <a:pt x="38" y="8"/>
                    <a:pt x="36" y="7"/>
                  </a:cubicBezTo>
                  <a:cubicBezTo>
                    <a:pt x="35" y="6"/>
                    <a:pt x="34" y="5"/>
                    <a:pt x="33" y="4"/>
                  </a:cubicBezTo>
                  <a:cubicBezTo>
                    <a:pt x="33" y="4"/>
                    <a:pt x="32" y="4"/>
                    <a:pt x="31" y="4"/>
                  </a:cubicBezTo>
                  <a:cubicBezTo>
                    <a:pt x="31" y="5"/>
                    <a:pt x="31" y="5"/>
                    <a:pt x="31" y="6"/>
                  </a:cubicBezTo>
                  <a:cubicBezTo>
                    <a:pt x="30" y="7"/>
                    <a:pt x="30" y="8"/>
                    <a:pt x="31" y="8"/>
                  </a:cubicBezTo>
                  <a:cubicBezTo>
                    <a:pt x="31" y="9"/>
                    <a:pt x="31" y="9"/>
                    <a:pt x="31" y="9"/>
                  </a:cubicBezTo>
                  <a:cubicBezTo>
                    <a:pt x="30" y="9"/>
                    <a:pt x="29" y="10"/>
                    <a:pt x="28" y="10"/>
                  </a:cubicBezTo>
                  <a:cubicBezTo>
                    <a:pt x="27" y="10"/>
                    <a:pt x="26" y="10"/>
                    <a:pt x="26" y="10"/>
                  </a:cubicBezTo>
                  <a:cubicBezTo>
                    <a:pt x="25" y="10"/>
                    <a:pt x="24" y="10"/>
                    <a:pt x="23" y="11"/>
                  </a:cubicBezTo>
                  <a:cubicBezTo>
                    <a:pt x="23" y="11"/>
                    <a:pt x="23" y="11"/>
                    <a:pt x="22" y="10"/>
                  </a:cubicBezTo>
                  <a:cubicBezTo>
                    <a:pt x="20" y="9"/>
                    <a:pt x="18" y="7"/>
                    <a:pt x="16" y="6"/>
                  </a:cubicBezTo>
                  <a:cubicBezTo>
                    <a:pt x="15" y="5"/>
                    <a:pt x="13" y="4"/>
                    <a:pt x="12" y="3"/>
                  </a:cubicBezTo>
                  <a:cubicBezTo>
                    <a:pt x="10" y="2"/>
                    <a:pt x="9" y="1"/>
                    <a:pt x="8" y="0"/>
                  </a:cubicBezTo>
                  <a:cubicBezTo>
                    <a:pt x="8" y="0"/>
                    <a:pt x="7" y="0"/>
                    <a:pt x="7" y="0"/>
                  </a:cubicBezTo>
                  <a:cubicBezTo>
                    <a:pt x="7" y="1"/>
                    <a:pt x="7" y="1"/>
                    <a:pt x="6" y="1"/>
                  </a:cubicBezTo>
                  <a:cubicBezTo>
                    <a:pt x="5" y="3"/>
                    <a:pt x="5" y="5"/>
                    <a:pt x="7" y="7"/>
                  </a:cubicBezTo>
                  <a:cubicBezTo>
                    <a:pt x="7" y="7"/>
                    <a:pt x="7" y="7"/>
                    <a:pt x="7" y="8"/>
                  </a:cubicBezTo>
                  <a:cubicBezTo>
                    <a:pt x="10" y="10"/>
                    <a:pt x="14" y="12"/>
                    <a:pt x="16" y="14"/>
                  </a:cubicBezTo>
                  <a:cubicBezTo>
                    <a:pt x="17" y="15"/>
                    <a:pt x="18" y="16"/>
                    <a:pt x="19" y="16"/>
                  </a:cubicBezTo>
                  <a:cubicBezTo>
                    <a:pt x="20" y="18"/>
                    <a:pt x="15" y="20"/>
                    <a:pt x="12" y="20"/>
                  </a:cubicBezTo>
                  <a:cubicBezTo>
                    <a:pt x="10" y="21"/>
                    <a:pt x="7" y="20"/>
                    <a:pt x="7" y="20"/>
                  </a:cubicBezTo>
                  <a:cubicBezTo>
                    <a:pt x="6" y="20"/>
                    <a:pt x="5" y="20"/>
                    <a:pt x="5" y="18"/>
                  </a:cubicBezTo>
                  <a:cubicBezTo>
                    <a:pt x="4" y="16"/>
                    <a:pt x="5" y="14"/>
                    <a:pt x="5" y="14"/>
                  </a:cubicBezTo>
                  <a:cubicBezTo>
                    <a:pt x="5" y="13"/>
                    <a:pt x="5" y="12"/>
                    <a:pt x="5" y="12"/>
                  </a:cubicBezTo>
                  <a:cubicBezTo>
                    <a:pt x="5" y="12"/>
                    <a:pt x="5" y="12"/>
                    <a:pt x="4" y="12"/>
                  </a:cubicBezTo>
                  <a:cubicBezTo>
                    <a:pt x="4" y="12"/>
                    <a:pt x="3" y="14"/>
                    <a:pt x="3" y="15"/>
                  </a:cubicBezTo>
                  <a:cubicBezTo>
                    <a:pt x="2" y="17"/>
                    <a:pt x="1" y="16"/>
                    <a:pt x="1" y="17"/>
                  </a:cubicBezTo>
                  <a:cubicBezTo>
                    <a:pt x="0" y="18"/>
                    <a:pt x="0" y="19"/>
                    <a:pt x="0" y="20"/>
                  </a:cubicBezTo>
                  <a:cubicBezTo>
                    <a:pt x="0" y="21"/>
                    <a:pt x="1" y="23"/>
                    <a:pt x="2" y="24"/>
                  </a:cubicBezTo>
                  <a:cubicBezTo>
                    <a:pt x="4" y="25"/>
                    <a:pt x="9" y="26"/>
                    <a:pt x="14" y="25"/>
                  </a:cubicBezTo>
                  <a:cubicBezTo>
                    <a:pt x="17" y="24"/>
                    <a:pt x="21" y="22"/>
                    <a:pt x="22" y="21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24" y="22"/>
                    <a:pt x="25" y="23"/>
                    <a:pt x="25" y="24"/>
                  </a:cubicBezTo>
                  <a:cubicBezTo>
                    <a:pt x="26" y="25"/>
                    <a:pt x="28" y="26"/>
                    <a:pt x="28" y="28"/>
                  </a:cubicBezTo>
                  <a:cubicBezTo>
                    <a:pt x="28" y="29"/>
                    <a:pt x="29" y="30"/>
                    <a:pt x="29" y="31"/>
                  </a:cubicBezTo>
                  <a:cubicBezTo>
                    <a:pt x="30" y="32"/>
                    <a:pt x="30" y="32"/>
                    <a:pt x="32" y="32"/>
                  </a:cubicBezTo>
                  <a:cubicBezTo>
                    <a:pt x="34" y="32"/>
                    <a:pt x="35" y="30"/>
                    <a:pt x="35" y="29"/>
                  </a:cubicBezTo>
                  <a:cubicBezTo>
                    <a:pt x="36" y="28"/>
                    <a:pt x="36" y="27"/>
                    <a:pt x="36" y="26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4" name="î$ľíḓè">
              <a:extLst>
                <a:ext uri="{FF2B5EF4-FFF2-40B4-BE49-F238E27FC236}">
                  <a16:creationId xmlns:a16="http://schemas.microsoft.com/office/drawing/2014/main" id="{5D7E9699-3D6B-FC72-0738-4584D44365BD}"/>
                </a:ext>
              </a:extLst>
            </p:cNvPr>
            <p:cNvSpPr/>
            <p:nvPr/>
          </p:nvSpPr>
          <p:spPr bwMode="auto">
            <a:xfrm>
              <a:off x="3636963" y="2936876"/>
              <a:ext cx="115888" cy="90488"/>
            </a:xfrm>
            <a:custGeom>
              <a:avLst/>
              <a:gdLst>
                <a:gd name="T0" fmla="*/ 0 w 32"/>
                <a:gd name="T1" fmla="*/ 7 h 25"/>
                <a:gd name="T2" fmla="*/ 1 w 32"/>
                <a:gd name="T3" fmla="*/ 8 h 25"/>
                <a:gd name="T4" fmla="*/ 2 w 32"/>
                <a:gd name="T5" fmla="*/ 11 h 25"/>
                <a:gd name="T6" fmla="*/ 4 w 32"/>
                <a:gd name="T7" fmla="*/ 12 h 25"/>
                <a:gd name="T8" fmla="*/ 6 w 32"/>
                <a:gd name="T9" fmla="*/ 11 h 25"/>
                <a:gd name="T10" fmla="*/ 7 w 32"/>
                <a:gd name="T11" fmla="*/ 9 h 25"/>
                <a:gd name="T12" fmla="*/ 11 w 32"/>
                <a:gd name="T13" fmla="*/ 8 h 25"/>
                <a:gd name="T14" fmla="*/ 12 w 32"/>
                <a:gd name="T15" fmla="*/ 8 h 25"/>
                <a:gd name="T16" fmla="*/ 11 w 32"/>
                <a:gd name="T17" fmla="*/ 8 h 25"/>
                <a:gd name="T18" fmla="*/ 11 w 32"/>
                <a:gd name="T19" fmla="*/ 13 h 25"/>
                <a:gd name="T20" fmla="*/ 10 w 32"/>
                <a:gd name="T21" fmla="*/ 14 h 25"/>
                <a:gd name="T22" fmla="*/ 8 w 32"/>
                <a:gd name="T23" fmla="*/ 13 h 25"/>
                <a:gd name="T24" fmla="*/ 6 w 32"/>
                <a:gd name="T25" fmla="*/ 13 h 25"/>
                <a:gd name="T26" fmla="*/ 4 w 32"/>
                <a:gd name="T27" fmla="*/ 14 h 25"/>
                <a:gd name="T28" fmla="*/ 6 w 32"/>
                <a:gd name="T29" fmla="*/ 15 h 25"/>
                <a:gd name="T30" fmla="*/ 22 w 32"/>
                <a:gd name="T31" fmla="*/ 22 h 25"/>
                <a:gd name="T32" fmla="*/ 24 w 32"/>
                <a:gd name="T33" fmla="*/ 23 h 25"/>
                <a:gd name="T34" fmla="*/ 25 w 32"/>
                <a:gd name="T35" fmla="*/ 23 h 25"/>
                <a:gd name="T36" fmla="*/ 26 w 32"/>
                <a:gd name="T37" fmla="*/ 24 h 25"/>
                <a:gd name="T38" fmla="*/ 28 w 32"/>
                <a:gd name="T39" fmla="*/ 25 h 25"/>
                <a:gd name="T40" fmla="*/ 30 w 32"/>
                <a:gd name="T41" fmla="*/ 24 h 25"/>
                <a:gd name="T42" fmla="*/ 31 w 32"/>
                <a:gd name="T43" fmla="*/ 23 h 25"/>
                <a:gd name="T44" fmla="*/ 32 w 32"/>
                <a:gd name="T45" fmla="*/ 22 h 25"/>
                <a:gd name="T46" fmla="*/ 32 w 32"/>
                <a:gd name="T47" fmla="*/ 19 h 25"/>
                <a:gd name="T48" fmla="*/ 31 w 32"/>
                <a:gd name="T49" fmla="*/ 17 h 25"/>
                <a:gd name="T50" fmla="*/ 29 w 32"/>
                <a:gd name="T51" fmla="*/ 16 h 25"/>
                <a:gd name="T52" fmla="*/ 28 w 32"/>
                <a:gd name="T53" fmla="*/ 15 h 25"/>
                <a:gd name="T54" fmla="*/ 28 w 32"/>
                <a:gd name="T55" fmla="*/ 15 h 25"/>
                <a:gd name="T56" fmla="*/ 28 w 32"/>
                <a:gd name="T57" fmla="*/ 16 h 25"/>
                <a:gd name="T58" fmla="*/ 27 w 32"/>
                <a:gd name="T59" fmla="*/ 17 h 25"/>
                <a:gd name="T60" fmla="*/ 24 w 32"/>
                <a:gd name="T61" fmla="*/ 17 h 25"/>
                <a:gd name="T62" fmla="*/ 14 w 32"/>
                <a:gd name="T63" fmla="*/ 15 h 25"/>
                <a:gd name="T64" fmla="*/ 16 w 32"/>
                <a:gd name="T65" fmla="*/ 14 h 25"/>
                <a:gd name="T66" fmla="*/ 20 w 32"/>
                <a:gd name="T67" fmla="*/ 11 h 25"/>
                <a:gd name="T68" fmla="*/ 21 w 32"/>
                <a:gd name="T69" fmla="*/ 8 h 25"/>
                <a:gd name="T70" fmla="*/ 20 w 32"/>
                <a:gd name="T71" fmla="*/ 7 h 25"/>
                <a:gd name="T72" fmla="*/ 19 w 32"/>
                <a:gd name="T73" fmla="*/ 7 h 25"/>
                <a:gd name="T74" fmla="*/ 16 w 32"/>
                <a:gd name="T75" fmla="*/ 7 h 25"/>
                <a:gd name="T76" fmla="*/ 11 w 32"/>
                <a:gd name="T77" fmla="*/ 7 h 25"/>
                <a:gd name="T78" fmla="*/ 11 w 32"/>
                <a:gd name="T79" fmla="*/ 7 h 25"/>
                <a:gd name="T80" fmla="*/ 11 w 32"/>
                <a:gd name="T81" fmla="*/ 6 h 25"/>
                <a:gd name="T82" fmla="*/ 13 w 32"/>
                <a:gd name="T83" fmla="*/ 4 h 25"/>
                <a:gd name="T84" fmla="*/ 13 w 32"/>
                <a:gd name="T85" fmla="*/ 1 h 25"/>
                <a:gd name="T86" fmla="*/ 9 w 32"/>
                <a:gd name="T87" fmla="*/ 0 h 25"/>
                <a:gd name="T88" fmla="*/ 4 w 32"/>
                <a:gd name="T89" fmla="*/ 2 h 25"/>
                <a:gd name="T90" fmla="*/ 2 w 32"/>
                <a:gd name="T91" fmla="*/ 4 h 25"/>
                <a:gd name="T92" fmla="*/ 0 w 32"/>
                <a:gd name="T93" fmla="*/ 7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2" h="25">
                  <a:moveTo>
                    <a:pt x="0" y="7"/>
                  </a:moveTo>
                  <a:cubicBezTo>
                    <a:pt x="0" y="8"/>
                    <a:pt x="1" y="8"/>
                    <a:pt x="1" y="8"/>
                  </a:cubicBezTo>
                  <a:cubicBezTo>
                    <a:pt x="1" y="10"/>
                    <a:pt x="1" y="11"/>
                    <a:pt x="2" y="11"/>
                  </a:cubicBezTo>
                  <a:cubicBezTo>
                    <a:pt x="2" y="12"/>
                    <a:pt x="3" y="12"/>
                    <a:pt x="4" y="12"/>
                  </a:cubicBezTo>
                  <a:cubicBezTo>
                    <a:pt x="4" y="11"/>
                    <a:pt x="5" y="11"/>
                    <a:pt x="6" y="11"/>
                  </a:cubicBezTo>
                  <a:cubicBezTo>
                    <a:pt x="6" y="10"/>
                    <a:pt x="7" y="10"/>
                    <a:pt x="7" y="9"/>
                  </a:cubicBezTo>
                  <a:cubicBezTo>
                    <a:pt x="8" y="8"/>
                    <a:pt x="10" y="8"/>
                    <a:pt x="11" y="8"/>
                  </a:cubicBezTo>
                  <a:cubicBezTo>
                    <a:pt x="11" y="8"/>
                    <a:pt x="11" y="8"/>
                    <a:pt x="12" y="8"/>
                  </a:cubicBezTo>
                  <a:cubicBezTo>
                    <a:pt x="12" y="8"/>
                    <a:pt x="12" y="8"/>
                    <a:pt x="11" y="8"/>
                  </a:cubicBezTo>
                  <a:cubicBezTo>
                    <a:pt x="11" y="10"/>
                    <a:pt x="11" y="11"/>
                    <a:pt x="11" y="13"/>
                  </a:cubicBezTo>
                  <a:cubicBezTo>
                    <a:pt x="11" y="14"/>
                    <a:pt x="10" y="14"/>
                    <a:pt x="10" y="14"/>
                  </a:cubicBezTo>
                  <a:cubicBezTo>
                    <a:pt x="10" y="14"/>
                    <a:pt x="8" y="13"/>
                    <a:pt x="8" y="13"/>
                  </a:cubicBezTo>
                  <a:cubicBezTo>
                    <a:pt x="7" y="13"/>
                    <a:pt x="6" y="13"/>
                    <a:pt x="6" y="13"/>
                  </a:cubicBezTo>
                  <a:cubicBezTo>
                    <a:pt x="6" y="14"/>
                    <a:pt x="4" y="14"/>
                    <a:pt x="4" y="14"/>
                  </a:cubicBezTo>
                  <a:cubicBezTo>
                    <a:pt x="4" y="15"/>
                    <a:pt x="6" y="15"/>
                    <a:pt x="6" y="15"/>
                  </a:cubicBezTo>
                  <a:cubicBezTo>
                    <a:pt x="6" y="15"/>
                    <a:pt x="20" y="21"/>
                    <a:pt x="22" y="22"/>
                  </a:cubicBezTo>
                  <a:cubicBezTo>
                    <a:pt x="23" y="22"/>
                    <a:pt x="24" y="23"/>
                    <a:pt x="24" y="23"/>
                  </a:cubicBezTo>
                  <a:cubicBezTo>
                    <a:pt x="24" y="23"/>
                    <a:pt x="25" y="23"/>
                    <a:pt x="25" y="23"/>
                  </a:cubicBezTo>
                  <a:cubicBezTo>
                    <a:pt x="25" y="24"/>
                    <a:pt x="26" y="24"/>
                    <a:pt x="26" y="24"/>
                  </a:cubicBezTo>
                  <a:cubicBezTo>
                    <a:pt x="27" y="24"/>
                    <a:pt x="28" y="25"/>
                    <a:pt x="28" y="25"/>
                  </a:cubicBezTo>
                  <a:cubicBezTo>
                    <a:pt x="29" y="24"/>
                    <a:pt x="30" y="24"/>
                    <a:pt x="30" y="24"/>
                  </a:cubicBezTo>
                  <a:cubicBezTo>
                    <a:pt x="30" y="24"/>
                    <a:pt x="31" y="23"/>
                    <a:pt x="31" y="23"/>
                  </a:cubicBezTo>
                  <a:cubicBezTo>
                    <a:pt x="31" y="23"/>
                    <a:pt x="32" y="22"/>
                    <a:pt x="32" y="22"/>
                  </a:cubicBezTo>
                  <a:cubicBezTo>
                    <a:pt x="32" y="21"/>
                    <a:pt x="32" y="20"/>
                    <a:pt x="32" y="19"/>
                  </a:cubicBezTo>
                  <a:cubicBezTo>
                    <a:pt x="32" y="19"/>
                    <a:pt x="32" y="18"/>
                    <a:pt x="31" y="17"/>
                  </a:cubicBezTo>
                  <a:cubicBezTo>
                    <a:pt x="30" y="17"/>
                    <a:pt x="30" y="16"/>
                    <a:pt x="29" y="16"/>
                  </a:cubicBezTo>
                  <a:cubicBezTo>
                    <a:pt x="29" y="16"/>
                    <a:pt x="28" y="15"/>
                    <a:pt x="28" y="15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7"/>
                    <a:pt x="28" y="17"/>
                    <a:pt x="27" y="17"/>
                  </a:cubicBezTo>
                  <a:cubicBezTo>
                    <a:pt x="26" y="17"/>
                    <a:pt x="25" y="17"/>
                    <a:pt x="24" y="17"/>
                  </a:cubicBezTo>
                  <a:cubicBezTo>
                    <a:pt x="22" y="17"/>
                    <a:pt x="15" y="15"/>
                    <a:pt x="14" y="15"/>
                  </a:cubicBezTo>
                  <a:cubicBezTo>
                    <a:pt x="14" y="15"/>
                    <a:pt x="16" y="14"/>
                    <a:pt x="16" y="14"/>
                  </a:cubicBezTo>
                  <a:cubicBezTo>
                    <a:pt x="18" y="13"/>
                    <a:pt x="20" y="12"/>
                    <a:pt x="20" y="11"/>
                  </a:cubicBezTo>
                  <a:cubicBezTo>
                    <a:pt x="21" y="10"/>
                    <a:pt x="21" y="9"/>
                    <a:pt x="21" y="8"/>
                  </a:cubicBezTo>
                  <a:cubicBezTo>
                    <a:pt x="21" y="8"/>
                    <a:pt x="20" y="8"/>
                    <a:pt x="20" y="7"/>
                  </a:cubicBezTo>
                  <a:cubicBezTo>
                    <a:pt x="20" y="7"/>
                    <a:pt x="19" y="7"/>
                    <a:pt x="19" y="7"/>
                  </a:cubicBezTo>
                  <a:cubicBezTo>
                    <a:pt x="18" y="6"/>
                    <a:pt x="17" y="6"/>
                    <a:pt x="16" y="7"/>
                  </a:cubicBezTo>
                  <a:cubicBezTo>
                    <a:pt x="14" y="7"/>
                    <a:pt x="13" y="7"/>
                    <a:pt x="11" y="7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12" y="5"/>
                    <a:pt x="13" y="4"/>
                    <a:pt x="13" y="4"/>
                  </a:cubicBezTo>
                  <a:cubicBezTo>
                    <a:pt x="14" y="3"/>
                    <a:pt x="14" y="2"/>
                    <a:pt x="13" y="1"/>
                  </a:cubicBezTo>
                  <a:cubicBezTo>
                    <a:pt x="12" y="1"/>
                    <a:pt x="11" y="0"/>
                    <a:pt x="9" y="0"/>
                  </a:cubicBezTo>
                  <a:cubicBezTo>
                    <a:pt x="7" y="1"/>
                    <a:pt x="6" y="1"/>
                    <a:pt x="4" y="2"/>
                  </a:cubicBezTo>
                  <a:cubicBezTo>
                    <a:pt x="3" y="3"/>
                    <a:pt x="3" y="3"/>
                    <a:pt x="2" y="4"/>
                  </a:cubicBezTo>
                  <a:cubicBezTo>
                    <a:pt x="1" y="5"/>
                    <a:pt x="0" y="6"/>
                    <a:pt x="0" y="7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5" name="ïsľíďe">
              <a:extLst>
                <a:ext uri="{FF2B5EF4-FFF2-40B4-BE49-F238E27FC236}">
                  <a16:creationId xmlns:a16="http://schemas.microsoft.com/office/drawing/2014/main" id="{C4B81C1C-0532-C6A3-9942-997F89B23F17}"/>
                </a:ext>
              </a:extLst>
            </p:cNvPr>
            <p:cNvSpPr/>
            <p:nvPr/>
          </p:nvSpPr>
          <p:spPr bwMode="auto">
            <a:xfrm>
              <a:off x="3616325" y="2971801"/>
              <a:ext cx="96838" cy="106363"/>
            </a:xfrm>
            <a:custGeom>
              <a:avLst/>
              <a:gdLst>
                <a:gd name="T0" fmla="*/ 26 w 27"/>
                <a:gd name="T1" fmla="*/ 26 h 29"/>
                <a:gd name="T2" fmla="*/ 27 w 27"/>
                <a:gd name="T3" fmla="*/ 21 h 29"/>
                <a:gd name="T4" fmla="*/ 22 w 27"/>
                <a:gd name="T5" fmla="*/ 14 h 29"/>
                <a:gd name="T6" fmla="*/ 16 w 27"/>
                <a:gd name="T7" fmla="*/ 9 h 29"/>
                <a:gd name="T8" fmla="*/ 7 w 27"/>
                <a:gd name="T9" fmla="*/ 3 h 29"/>
                <a:gd name="T10" fmla="*/ 0 w 27"/>
                <a:gd name="T11" fmla="*/ 0 h 29"/>
                <a:gd name="T12" fmla="*/ 0 w 27"/>
                <a:gd name="T13" fmla="*/ 1 h 29"/>
                <a:gd name="T14" fmla="*/ 2 w 27"/>
                <a:gd name="T15" fmla="*/ 3 h 29"/>
                <a:gd name="T16" fmla="*/ 5 w 27"/>
                <a:gd name="T17" fmla="*/ 6 h 29"/>
                <a:gd name="T18" fmla="*/ 9 w 27"/>
                <a:gd name="T19" fmla="*/ 8 h 29"/>
                <a:gd name="T20" fmla="*/ 17 w 27"/>
                <a:gd name="T21" fmla="*/ 12 h 29"/>
                <a:gd name="T22" fmla="*/ 24 w 27"/>
                <a:gd name="T23" fmla="*/ 20 h 29"/>
                <a:gd name="T24" fmla="*/ 24 w 27"/>
                <a:gd name="T25" fmla="*/ 23 h 29"/>
                <a:gd name="T26" fmla="*/ 20 w 27"/>
                <a:gd name="T27" fmla="*/ 24 h 29"/>
                <a:gd name="T28" fmla="*/ 16 w 27"/>
                <a:gd name="T29" fmla="*/ 22 h 29"/>
                <a:gd name="T30" fmla="*/ 11 w 27"/>
                <a:gd name="T31" fmla="*/ 20 h 29"/>
                <a:gd name="T32" fmla="*/ 10 w 27"/>
                <a:gd name="T33" fmla="*/ 20 h 29"/>
                <a:gd name="T34" fmla="*/ 10 w 27"/>
                <a:gd name="T35" fmla="*/ 20 h 29"/>
                <a:gd name="T36" fmla="*/ 10 w 27"/>
                <a:gd name="T37" fmla="*/ 20 h 29"/>
                <a:gd name="T38" fmla="*/ 11 w 27"/>
                <a:gd name="T39" fmla="*/ 21 h 29"/>
                <a:gd name="T40" fmla="*/ 12 w 27"/>
                <a:gd name="T41" fmla="*/ 23 h 29"/>
                <a:gd name="T42" fmla="*/ 19 w 27"/>
                <a:gd name="T43" fmla="*/ 28 h 29"/>
                <a:gd name="T44" fmla="*/ 24 w 27"/>
                <a:gd name="T45" fmla="*/ 28 h 29"/>
                <a:gd name="T46" fmla="*/ 26 w 27"/>
                <a:gd name="T47" fmla="*/ 26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7" h="29">
                  <a:moveTo>
                    <a:pt x="26" y="26"/>
                  </a:moveTo>
                  <a:cubicBezTo>
                    <a:pt x="27" y="24"/>
                    <a:pt x="27" y="23"/>
                    <a:pt x="27" y="21"/>
                  </a:cubicBezTo>
                  <a:cubicBezTo>
                    <a:pt x="26" y="19"/>
                    <a:pt x="24" y="16"/>
                    <a:pt x="22" y="14"/>
                  </a:cubicBezTo>
                  <a:cubicBezTo>
                    <a:pt x="20" y="12"/>
                    <a:pt x="20" y="11"/>
                    <a:pt x="16" y="9"/>
                  </a:cubicBezTo>
                  <a:cubicBezTo>
                    <a:pt x="12" y="6"/>
                    <a:pt x="8" y="4"/>
                    <a:pt x="7" y="3"/>
                  </a:cubicBezTo>
                  <a:cubicBezTo>
                    <a:pt x="5" y="3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"/>
                    <a:pt x="2" y="3"/>
                    <a:pt x="2" y="3"/>
                  </a:cubicBezTo>
                  <a:cubicBezTo>
                    <a:pt x="3" y="4"/>
                    <a:pt x="4" y="6"/>
                    <a:pt x="5" y="6"/>
                  </a:cubicBezTo>
                  <a:cubicBezTo>
                    <a:pt x="7" y="7"/>
                    <a:pt x="8" y="8"/>
                    <a:pt x="9" y="8"/>
                  </a:cubicBezTo>
                  <a:cubicBezTo>
                    <a:pt x="12" y="9"/>
                    <a:pt x="16" y="12"/>
                    <a:pt x="17" y="12"/>
                  </a:cubicBezTo>
                  <a:cubicBezTo>
                    <a:pt x="20" y="15"/>
                    <a:pt x="23" y="18"/>
                    <a:pt x="24" y="20"/>
                  </a:cubicBezTo>
                  <a:cubicBezTo>
                    <a:pt x="25" y="21"/>
                    <a:pt x="25" y="22"/>
                    <a:pt x="24" y="23"/>
                  </a:cubicBezTo>
                  <a:cubicBezTo>
                    <a:pt x="23" y="24"/>
                    <a:pt x="21" y="24"/>
                    <a:pt x="20" y="24"/>
                  </a:cubicBezTo>
                  <a:cubicBezTo>
                    <a:pt x="19" y="23"/>
                    <a:pt x="17" y="23"/>
                    <a:pt x="16" y="22"/>
                  </a:cubicBezTo>
                  <a:cubicBezTo>
                    <a:pt x="14" y="21"/>
                    <a:pt x="11" y="20"/>
                    <a:pt x="11" y="20"/>
                  </a:cubicBezTo>
                  <a:cubicBezTo>
                    <a:pt x="11" y="20"/>
                    <a:pt x="11" y="20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0" y="20"/>
                    <a:pt x="11" y="21"/>
                  </a:cubicBezTo>
                  <a:cubicBezTo>
                    <a:pt x="11" y="21"/>
                    <a:pt x="12" y="23"/>
                    <a:pt x="12" y="23"/>
                  </a:cubicBezTo>
                  <a:cubicBezTo>
                    <a:pt x="13" y="24"/>
                    <a:pt x="15" y="27"/>
                    <a:pt x="19" y="28"/>
                  </a:cubicBezTo>
                  <a:cubicBezTo>
                    <a:pt x="21" y="28"/>
                    <a:pt x="22" y="29"/>
                    <a:pt x="24" y="28"/>
                  </a:cubicBezTo>
                  <a:cubicBezTo>
                    <a:pt x="25" y="27"/>
                    <a:pt x="26" y="27"/>
                    <a:pt x="26" y="26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6" name="íšḷïdé">
              <a:extLst>
                <a:ext uri="{FF2B5EF4-FFF2-40B4-BE49-F238E27FC236}">
                  <a16:creationId xmlns:a16="http://schemas.microsoft.com/office/drawing/2014/main" id="{6FF4AAFA-35BD-5C29-0A35-5A7291B273E1}"/>
                </a:ext>
              </a:extLst>
            </p:cNvPr>
            <p:cNvSpPr/>
            <p:nvPr/>
          </p:nvSpPr>
          <p:spPr bwMode="auto">
            <a:xfrm>
              <a:off x="3651250" y="3044826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7" name="ïslîḍê">
              <a:extLst>
                <a:ext uri="{FF2B5EF4-FFF2-40B4-BE49-F238E27FC236}">
                  <a16:creationId xmlns:a16="http://schemas.microsoft.com/office/drawing/2014/main" id="{0A5B9A3B-659D-C997-57D2-EDCCB3D8632A}"/>
                </a:ext>
              </a:extLst>
            </p:cNvPr>
            <p:cNvSpPr/>
            <p:nvPr/>
          </p:nvSpPr>
          <p:spPr bwMode="auto">
            <a:xfrm>
              <a:off x="3651250" y="3044826"/>
              <a:ext cx="4763" cy="0"/>
            </a:xfrm>
            <a:custGeom>
              <a:avLst/>
              <a:gdLst>
                <a:gd name="T0" fmla="*/ 0 w 1"/>
                <a:gd name="T1" fmla="*/ 0 w 1"/>
                <a:gd name="T2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8" name="îŝľíḍè">
              <a:extLst>
                <a:ext uri="{FF2B5EF4-FFF2-40B4-BE49-F238E27FC236}">
                  <a16:creationId xmlns:a16="http://schemas.microsoft.com/office/drawing/2014/main" id="{51972F81-9B84-D8A0-10D9-90F4B70D7A0C}"/>
                </a:ext>
              </a:extLst>
            </p:cNvPr>
            <p:cNvSpPr/>
            <p:nvPr/>
          </p:nvSpPr>
          <p:spPr bwMode="auto">
            <a:xfrm>
              <a:off x="3560763" y="2951163"/>
              <a:ext cx="44450" cy="36513"/>
            </a:xfrm>
            <a:custGeom>
              <a:avLst/>
              <a:gdLst>
                <a:gd name="T0" fmla="*/ 3 w 12"/>
                <a:gd name="T1" fmla="*/ 9 h 10"/>
                <a:gd name="T2" fmla="*/ 6 w 12"/>
                <a:gd name="T3" fmla="*/ 8 h 10"/>
                <a:gd name="T4" fmla="*/ 11 w 12"/>
                <a:gd name="T5" fmla="*/ 5 h 10"/>
                <a:gd name="T6" fmla="*/ 12 w 12"/>
                <a:gd name="T7" fmla="*/ 4 h 10"/>
                <a:gd name="T8" fmla="*/ 12 w 12"/>
                <a:gd name="T9" fmla="*/ 3 h 10"/>
                <a:gd name="T10" fmla="*/ 11 w 12"/>
                <a:gd name="T11" fmla="*/ 1 h 10"/>
                <a:gd name="T12" fmla="*/ 10 w 12"/>
                <a:gd name="T13" fmla="*/ 1 h 10"/>
                <a:gd name="T14" fmla="*/ 8 w 12"/>
                <a:gd name="T15" fmla="*/ 1 h 10"/>
                <a:gd name="T16" fmla="*/ 2 w 12"/>
                <a:gd name="T17" fmla="*/ 3 h 10"/>
                <a:gd name="T18" fmla="*/ 0 w 12"/>
                <a:gd name="T19" fmla="*/ 7 h 10"/>
                <a:gd name="T20" fmla="*/ 1 w 12"/>
                <a:gd name="T21" fmla="*/ 8 h 10"/>
                <a:gd name="T22" fmla="*/ 3 w 12"/>
                <a:gd name="T23" fmla="*/ 9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" h="10">
                  <a:moveTo>
                    <a:pt x="3" y="9"/>
                  </a:moveTo>
                  <a:cubicBezTo>
                    <a:pt x="4" y="9"/>
                    <a:pt x="5" y="8"/>
                    <a:pt x="6" y="8"/>
                  </a:cubicBezTo>
                  <a:cubicBezTo>
                    <a:pt x="8" y="7"/>
                    <a:pt x="9" y="6"/>
                    <a:pt x="11" y="5"/>
                  </a:cubicBezTo>
                  <a:cubicBezTo>
                    <a:pt x="12" y="5"/>
                    <a:pt x="12" y="4"/>
                    <a:pt x="12" y="4"/>
                  </a:cubicBezTo>
                  <a:cubicBezTo>
                    <a:pt x="12" y="4"/>
                    <a:pt x="12" y="3"/>
                    <a:pt x="12" y="3"/>
                  </a:cubicBezTo>
                  <a:cubicBezTo>
                    <a:pt x="12" y="3"/>
                    <a:pt x="11" y="2"/>
                    <a:pt x="11" y="1"/>
                  </a:cubicBezTo>
                  <a:cubicBezTo>
                    <a:pt x="11" y="1"/>
                    <a:pt x="11" y="1"/>
                    <a:pt x="10" y="1"/>
                  </a:cubicBezTo>
                  <a:cubicBezTo>
                    <a:pt x="9" y="0"/>
                    <a:pt x="8" y="0"/>
                    <a:pt x="8" y="1"/>
                  </a:cubicBezTo>
                  <a:cubicBezTo>
                    <a:pt x="6" y="1"/>
                    <a:pt x="4" y="2"/>
                    <a:pt x="2" y="3"/>
                  </a:cubicBezTo>
                  <a:cubicBezTo>
                    <a:pt x="0" y="3"/>
                    <a:pt x="0" y="5"/>
                    <a:pt x="0" y="7"/>
                  </a:cubicBezTo>
                  <a:cubicBezTo>
                    <a:pt x="1" y="7"/>
                    <a:pt x="1" y="8"/>
                    <a:pt x="1" y="8"/>
                  </a:cubicBezTo>
                  <a:cubicBezTo>
                    <a:pt x="2" y="9"/>
                    <a:pt x="2" y="10"/>
                    <a:pt x="3" y="9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9" name="íşľîḑé">
              <a:extLst>
                <a:ext uri="{FF2B5EF4-FFF2-40B4-BE49-F238E27FC236}">
                  <a16:creationId xmlns:a16="http://schemas.microsoft.com/office/drawing/2014/main" id="{6433D098-631C-7239-1F92-D6E56ED392DE}"/>
                </a:ext>
              </a:extLst>
            </p:cNvPr>
            <p:cNvSpPr/>
            <p:nvPr/>
          </p:nvSpPr>
          <p:spPr bwMode="auto">
            <a:xfrm>
              <a:off x="2205038" y="2925763"/>
              <a:ext cx="220663" cy="198438"/>
            </a:xfrm>
            <a:custGeom>
              <a:avLst/>
              <a:gdLst>
                <a:gd name="T0" fmla="*/ 23 w 61"/>
                <a:gd name="T1" fmla="*/ 15 h 55"/>
                <a:gd name="T2" fmla="*/ 21 w 61"/>
                <a:gd name="T3" fmla="*/ 20 h 55"/>
                <a:gd name="T4" fmla="*/ 17 w 61"/>
                <a:gd name="T5" fmla="*/ 12 h 55"/>
                <a:gd name="T6" fmla="*/ 19 w 61"/>
                <a:gd name="T7" fmla="*/ 8 h 55"/>
                <a:gd name="T8" fmla="*/ 17 w 61"/>
                <a:gd name="T9" fmla="*/ 2 h 55"/>
                <a:gd name="T10" fmla="*/ 14 w 61"/>
                <a:gd name="T11" fmla="*/ 2 h 55"/>
                <a:gd name="T12" fmla="*/ 12 w 61"/>
                <a:gd name="T13" fmla="*/ 5 h 55"/>
                <a:gd name="T14" fmla="*/ 8 w 61"/>
                <a:gd name="T15" fmla="*/ 3 h 55"/>
                <a:gd name="T16" fmla="*/ 2 w 61"/>
                <a:gd name="T17" fmla="*/ 10 h 55"/>
                <a:gd name="T18" fmla="*/ 9 w 61"/>
                <a:gd name="T19" fmla="*/ 15 h 55"/>
                <a:gd name="T20" fmla="*/ 10 w 61"/>
                <a:gd name="T21" fmla="*/ 18 h 55"/>
                <a:gd name="T22" fmla="*/ 10 w 61"/>
                <a:gd name="T23" fmla="*/ 24 h 55"/>
                <a:gd name="T24" fmla="*/ 16 w 61"/>
                <a:gd name="T25" fmla="*/ 25 h 55"/>
                <a:gd name="T26" fmla="*/ 21 w 61"/>
                <a:gd name="T27" fmla="*/ 35 h 55"/>
                <a:gd name="T28" fmla="*/ 20 w 61"/>
                <a:gd name="T29" fmla="*/ 37 h 55"/>
                <a:gd name="T30" fmla="*/ 25 w 61"/>
                <a:gd name="T31" fmla="*/ 46 h 55"/>
                <a:gd name="T32" fmla="*/ 39 w 61"/>
                <a:gd name="T33" fmla="*/ 54 h 55"/>
                <a:gd name="T34" fmla="*/ 43 w 61"/>
                <a:gd name="T35" fmla="*/ 54 h 55"/>
                <a:gd name="T36" fmla="*/ 45 w 61"/>
                <a:gd name="T37" fmla="*/ 52 h 55"/>
                <a:gd name="T38" fmla="*/ 41 w 61"/>
                <a:gd name="T39" fmla="*/ 47 h 55"/>
                <a:gd name="T40" fmla="*/ 31 w 61"/>
                <a:gd name="T41" fmla="*/ 42 h 55"/>
                <a:gd name="T42" fmla="*/ 27 w 61"/>
                <a:gd name="T43" fmla="*/ 37 h 55"/>
                <a:gd name="T44" fmla="*/ 27 w 61"/>
                <a:gd name="T45" fmla="*/ 33 h 55"/>
                <a:gd name="T46" fmla="*/ 26 w 61"/>
                <a:gd name="T47" fmla="*/ 25 h 55"/>
                <a:gd name="T48" fmla="*/ 26 w 61"/>
                <a:gd name="T49" fmla="*/ 25 h 55"/>
                <a:gd name="T50" fmla="*/ 26 w 61"/>
                <a:gd name="T51" fmla="*/ 22 h 55"/>
                <a:gd name="T52" fmla="*/ 32 w 61"/>
                <a:gd name="T53" fmla="*/ 6 h 55"/>
                <a:gd name="T54" fmla="*/ 44 w 61"/>
                <a:gd name="T55" fmla="*/ 10 h 55"/>
                <a:gd name="T56" fmla="*/ 52 w 61"/>
                <a:gd name="T57" fmla="*/ 20 h 55"/>
                <a:gd name="T58" fmla="*/ 54 w 61"/>
                <a:gd name="T59" fmla="*/ 27 h 55"/>
                <a:gd name="T60" fmla="*/ 49 w 61"/>
                <a:gd name="T61" fmla="*/ 31 h 55"/>
                <a:gd name="T62" fmla="*/ 46 w 61"/>
                <a:gd name="T63" fmla="*/ 27 h 55"/>
                <a:gd name="T64" fmla="*/ 42 w 61"/>
                <a:gd name="T65" fmla="*/ 25 h 55"/>
                <a:gd name="T66" fmla="*/ 41 w 61"/>
                <a:gd name="T67" fmla="*/ 28 h 55"/>
                <a:gd name="T68" fmla="*/ 40 w 61"/>
                <a:gd name="T69" fmla="*/ 28 h 55"/>
                <a:gd name="T70" fmla="*/ 38 w 61"/>
                <a:gd name="T71" fmla="*/ 20 h 55"/>
                <a:gd name="T72" fmla="*/ 34 w 61"/>
                <a:gd name="T73" fmla="*/ 19 h 55"/>
                <a:gd name="T74" fmla="*/ 28 w 61"/>
                <a:gd name="T75" fmla="*/ 16 h 55"/>
                <a:gd name="T76" fmla="*/ 28 w 61"/>
                <a:gd name="T77" fmla="*/ 19 h 55"/>
                <a:gd name="T78" fmla="*/ 30 w 61"/>
                <a:gd name="T79" fmla="*/ 24 h 55"/>
                <a:gd name="T80" fmla="*/ 28 w 61"/>
                <a:gd name="T81" fmla="*/ 24 h 55"/>
                <a:gd name="T82" fmla="*/ 26 w 61"/>
                <a:gd name="T83" fmla="*/ 25 h 55"/>
                <a:gd name="T84" fmla="*/ 26 w 61"/>
                <a:gd name="T85" fmla="*/ 25 h 55"/>
                <a:gd name="T86" fmla="*/ 29 w 61"/>
                <a:gd name="T87" fmla="*/ 28 h 55"/>
                <a:gd name="T88" fmla="*/ 32 w 61"/>
                <a:gd name="T89" fmla="*/ 29 h 55"/>
                <a:gd name="T90" fmla="*/ 36 w 61"/>
                <a:gd name="T91" fmla="*/ 36 h 55"/>
                <a:gd name="T92" fmla="*/ 38 w 61"/>
                <a:gd name="T93" fmla="*/ 34 h 55"/>
                <a:gd name="T94" fmla="*/ 40 w 61"/>
                <a:gd name="T95" fmla="*/ 39 h 55"/>
                <a:gd name="T96" fmla="*/ 42 w 61"/>
                <a:gd name="T97" fmla="*/ 40 h 55"/>
                <a:gd name="T98" fmla="*/ 44 w 61"/>
                <a:gd name="T99" fmla="*/ 38 h 55"/>
                <a:gd name="T100" fmla="*/ 47 w 61"/>
                <a:gd name="T101" fmla="*/ 33 h 55"/>
                <a:gd name="T102" fmla="*/ 58 w 61"/>
                <a:gd name="T103" fmla="*/ 41 h 55"/>
                <a:gd name="T104" fmla="*/ 61 w 61"/>
                <a:gd name="T105" fmla="*/ 42 h 55"/>
                <a:gd name="T106" fmla="*/ 60 w 61"/>
                <a:gd name="T107" fmla="*/ 40 h 55"/>
                <a:gd name="T108" fmla="*/ 52 w 61"/>
                <a:gd name="T109" fmla="*/ 34 h 55"/>
                <a:gd name="T110" fmla="*/ 50 w 61"/>
                <a:gd name="T111" fmla="*/ 31 h 55"/>
                <a:gd name="T112" fmla="*/ 53 w 61"/>
                <a:gd name="T113" fmla="*/ 31 h 55"/>
                <a:gd name="T114" fmla="*/ 54 w 61"/>
                <a:gd name="T115" fmla="*/ 32 h 55"/>
                <a:gd name="T116" fmla="*/ 58 w 61"/>
                <a:gd name="T117" fmla="*/ 31 h 55"/>
                <a:gd name="T118" fmla="*/ 59 w 61"/>
                <a:gd name="T119" fmla="*/ 22 h 55"/>
                <a:gd name="T120" fmla="*/ 52 w 61"/>
                <a:gd name="T121" fmla="*/ 12 h 55"/>
                <a:gd name="T122" fmla="*/ 45 w 61"/>
                <a:gd name="T123" fmla="*/ 5 h 55"/>
                <a:gd name="T124" fmla="*/ 37 w 61"/>
                <a:gd name="T125" fmla="*/ 1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1" h="55">
                  <a:moveTo>
                    <a:pt x="30" y="3"/>
                  </a:moveTo>
                  <a:cubicBezTo>
                    <a:pt x="26" y="6"/>
                    <a:pt x="24" y="10"/>
                    <a:pt x="23" y="15"/>
                  </a:cubicBezTo>
                  <a:cubicBezTo>
                    <a:pt x="23" y="16"/>
                    <a:pt x="22" y="18"/>
                    <a:pt x="22" y="19"/>
                  </a:cubicBezTo>
                  <a:cubicBezTo>
                    <a:pt x="22" y="20"/>
                    <a:pt x="21" y="20"/>
                    <a:pt x="21" y="20"/>
                  </a:cubicBezTo>
                  <a:cubicBezTo>
                    <a:pt x="21" y="19"/>
                    <a:pt x="20" y="19"/>
                    <a:pt x="20" y="18"/>
                  </a:cubicBezTo>
                  <a:cubicBezTo>
                    <a:pt x="18" y="17"/>
                    <a:pt x="18" y="15"/>
                    <a:pt x="17" y="12"/>
                  </a:cubicBezTo>
                  <a:cubicBezTo>
                    <a:pt x="17" y="12"/>
                    <a:pt x="17" y="11"/>
                    <a:pt x="18" y="10"/>
                  </a:cubicBezTo>
                  <a:cubicBezTo>
                    <a:pt x="18" y="9"/>
                    <a:pt x="18" y="8"/>
                    <a:pt x="19" y="8"/>
                  </a:cubicBezTo>
                  <a:cubicBezTo>
                    <a:pt x="19" y="6"/>
                    <a:pt x="19" y="5"/>
                    <a:pt x="19" y="4"/>
                  </a:cubicBezTo>
                  <a:cubicBezTo>
                    <a:pt x="18" y="3"/>
                    <a:pt x="18" y="3"/>
                    <a:pt x="17" y="2"/>
                  </a:cubicBezTo>
                  <a:cubicBezTo>
                    <a:pt x="17" y="2"/>
                    <a:pt x="16" y="2"/>
                    <a:pt x="15" y="2"/>
                  </a:cubicBezTo>
                  <a:cubicBezTo>
                    <a:pt x="15" y="2"/>
                    <a:pt x="14" y="2"/>
                    <a:pt x="14" y="2"/>
                  </a:cubicBezTo>
                  <a:cubicBezTo>
                    <a:pt x="13" y="3"/>
                    <a:pt x="13" y="3"/>
                    <a:pt x="13" y="4"/>
                  </a:cubicBezTo>
                  <a:cubicBezTo>
                    <a:pt x="13" y="4"/>
                    <a:pt x="12" y="5"/>
                    <a:pt x="12" y="5"/>
                  </a:cubicBezTo>
                  <a:cubicBezTo>
                    <a:pt x="12" y="6"/>
                    <a:pt x="11" y="5"/>
                    <a:pt x="11" y="4"/>
                  </a:cubicBezTo>
                  <a:cubicBezTo>
                    <a:pt x="10" y="3"/>
                    <a:pt x="9" y="3"/>
                    <a:pt x="8" y="3"/>
                  </a:cubicBezTo>
                  <a:cubicBezTo>
                    <a:pt x="5" y="3"/>
                    <a:pt x="3" y="3"/>
                    <a:pt x="1" y="6"/>
                  </a:cubicBezTo>
                  <a:cubicBezTo>
                    <a:pt x="0" y="7"/>
                    <a:pt x="1" y="9"/>
                    <a:pt x="2" y="10"/>
                  </a:cubicBezTo>
                  <a:cubicBezTo>
                    <a:pt x="4" y="10"/>
                    <a:pt x="4" y="10"/>
                    <a:pt x="5" y="11"/>
                  </a:cubicBezTo>
                  <a:cubicBezTo>
                    <a:pt x="6" y="12"/>
                    <a:pt x="8" y="13"/>
                    <a:pt x="9" y="15"/>
                  </a:cubicBezTo>
                  <a:cubicBezTo>
                    <a:pt x="9" y="15"/>
                    <a:pt x="10" y="16"/>
                    <a:pt x="10" y="17"/>
                  </a:cubicBezTo>
                  <a:cubicBezTo>
                    <a:pt x="10" y="17"/>
                    <a:pt x="10" y="17"/>
                    <a:pt x="10" y="18"/>
                  </a:cubicBezTo>
                  <a:cubicBezTo>
                    <a:pt x="10" y="19"/>
                    <a:pt x="10" y="20"/>
                    <a:pt x="9" y="21"/>
                  </a:cubicBezTo>
                  <a:cubicBezTo>
                    <a:pt x="9" y="22"/>
                    <a:pt x="9" y="23"/>
                    <a:pt x="10" y="24"/>
                  </a:cubicBezTo>
                  <a:cubicBezTo>
                    <a:pt x="11" y="25"/>
                    <a:pt x="14" y="26"/>
                    <a:pt x="15" y="25"/>
                  </a:cubicBezTo>
                  <a:cubicBezTo>
                    <a:pt x="16" y="24"/>
                    <a:pt x="16" y="24"/>
                    <a:pt x="16" y="25"/>
                  </a:cubicBezTo>
                  <a:cubicBezTo>
                    <a:pt x="17" y="26"/>
                    <a:pt x="18" y="28"/>
                    <a:pt x="19" y="30"/>
                  </a:cubicBezTo>
                  <a:cubicBezTo>
                    <a:pt x="20" y="31"/>
                    <a:pt x="20" y="33"/>
                    <a:pt x="21" y="35"/>
                  </a:cubicBezTo>
                  <a:cubicBezTo>
                    <a:pt x="21" y="35"/>
                    <a:pt x="21" y="36"/>
                    <a:pt x="21" y="36"/>
                  </a:cubicBezTo>
                  <a:cubicBezTo>
                    <a:pt x="20" y="36"/>
                    <a:pt x="20" y="37"/>
                    <a:pt x="20" y="37"/>
                  </a:cubicBezTo>
                  <a:cubicBezTo>
                    <a:pt x="20" y="39"/>
                    <a:pt x="21" y="41"/>
                    <a:pt x="22" y="43"/>
                  </a:cubicBezTo>
                  <a:cubicBezTo>
                    <a:pt x="23" y="44"/>
                    <a:pt x="24" y="46"/>
                    <a:pt x="25" y="46"/>
                  </a:cubicBezTo>
                  <a:cubicBezTo>
                    <a:pt x="28" y="48"/>
                    <a:pt x="30" y="49"/>
                    <a:pt x="32" y="51"/>
                  </a:cubicBezTo>
                  <a:cubicBezTo>
                    <a:pt x="34" y="52"/>
                    <a:pt x="37" y="53"/>
                    <a:pt x="39" y="54"/>
                  </a:cubicBezTo>
                  <a:cubicBezTo>
                    <a:pt x="39" y="54"/>
                    <a:pt x="39" y="55"/>
                    <a:pt x="40" y="54"/>
                  </a:cubicBezTo>
                  <a:cubicBezTo>
                    <a:pt x="41" y="54"/>
                    <a:pt x="42" y="54"/>
                    <a:pt x="43" y="54"/>
                  </a:cubicBezTo>
                  <a:cubicBezTo>
                    <a:pt x="44" y="54"/>
                    <a:pt x="44" y="54"/>
                    <a:pt x="44" y="54"/>
                  </a:cubicBezTo>
                  <a:cubicBezTo>
                    <a:pt x="44" y="53"/>
                    <a:pt x="45" y="52"/>
                    <a:pt x="45" y="52"/>
                  </a:cubicBezTo>
                  <a:cubicBezTo>
                    <a:pt x="46" y="51"/>
                    <a:pt x="46" y="50"/>
                    <a:pt x="46" y="50"/>
                  </a:cubicBezTo>
                  <a:cubicBezTo>
                    <a:pt x="44" y="49"/>
                    <a:pt x="43" y="47"/>
                    <a:pt x="41" y="47"/>
                  </a:cubicBezTo>
                  <a:cubicBezTo>
                    <a:pt x="40" y="47"/>
                    <a:pt x="39" y="46"/>
                    <a:pt x="38" y="46"/>
                  </a:cubicBezTo>
                  <a:cubicBezTo>
                    <a:pt x="35" y="45"/>
                    <a:pt x="33" y="43"/>
                    <a:pt x="31" y="42"/>
                  </a:cubicBezTo>
                  <a:cubicBezTo>
                    <a:pt x="29" y="41"/>
                    <a:pt x="28" y="40"/>
                    <a:pt x="27" y="40"/>
                  </a:cubicBezTo>
                  <a:cubicBezTo>
                    <a:pt x="26" y="39"/>
                    <a:pt x="26" y="38"/>
                    <a:pt x="27" y="37"/>
                  </a:cubicBezTo>
                  <a:cubicBezTo>
                    <a:pt x="27" y="37"/>
                    <a:pt x="27" y="37"/>
                    <a:pt x="27" y="36"/>
                  </a:cubicBezTo>
                  <a:cubicBezTo>
                    <a:pt x="28" y="35"/>
                    <a:pt x="28" y="34"/>
                    <a:pt x="27" y="33"/>
                  </a:cubicBezTo>
                  <a:cubicBezTo>
                    <a:pt x="27" y="32"/>
                    <a:pt x="27" y="30"/>
                    <a:pt x="27" y="29"/>
                  </a:cubicBezTo>
                  <a:cubicBezTo>
                    <a:pt x="26" y="27"/>
                    <a:pt x="26" y="26"/>
                    <a:pt x="26" y="25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26" y="25"/>
                    <a:pt x="26" y="24"/>
                    <a:pt x="26" y="23"/>
                  </a:cubicBezTo>
                  <a:cubicBezTo>
                    <a:pt x="26" y="23"/>
                    <a:pt x="26" y="22"/>
                    <a:pt x="26" y="22"/>
                  </a:cubicBezTo>
                  <a:cubicBezTo>
                    <a:pt x="26" y="20"/>
                    <a:pt x="26" y="18"/>
                    <a:pt x="27" y="17"/>
                  </a:cubicBezTo>
                  <a:cubicBezTo>
                    <a:pt x="27" y="13"/>
                    <a:pt x="29" y="9"/>
                    <a:pt x="32" y="6"/>
                  </a:cubicBezTo>
                  <a:cubicBezTo>
                    <a:pt x="35" y="4"/>
                    <a:pt x="37" y="4"/>
                    <a:pt x="40" y="6"/>
                  </a:cubicBezTo>
                  <a:cubicBezTo>
                    <a:pt x="41" y="7"/>
                    <a:pt x="43" y="9"/>
                    <a:pt x="44" y="10"/>
                  </a:cubicBezTo>
                  <a:cubicBezTo>
                    <a:pt x="45" y="10"/>
                    <a:pt x="45" y="11"/>
                    <a:pt x="46" y="12"/>
                  </a:cubicBezTo>
                  <a:cubicBezTo>
                    <a:pt x="48" y="15"/>
                    <a:pt x="50" y="17"/>
                    <a:pt x="52" y="20"/>
                  </a:cubicBezTo>
                  <a:cubicBezTo>
                    <a:pt x="53" y="21"/>
                    <a:pt x="54" y="23"/>
                    <a:pt x="54" y="25"/>
                  </a:cubicBezTo>
                  <a:cubicBezTo>
                    <a:pt x="55" y="26"/>
                    <a:pt x="55" y="26"/>
                    <a:pt x="54" y="27"/>
                  </a:cubicBezTo>
                  <a:cubicBezTo>
                    <a:pt x="53" y="29"/>
                    <a:pt x="51" y="30"/>
                    <a:pt x="50" y="31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8" y="30"/>
                    <a:pt x="47" y="29"/>
                    <a:pt x="47" y="28"/>
                  </a:cubicBezTo>
                  <a:cubicBezTo>
                    <a:pt x="46" y="28"/>
                    <a:pt x="46" y="27"/>
                    <a:pt x="46" y="27"/>
                  </a:cubicBezTo>
                  <a:cubicBezTo>
                    <a:pt x="46" y="26"/>
                    <a:pt x="45" y="26"/>
                    <a:pt x="45" y="26"/>
                  </a:cubicBezTo>
                  <a:cubicBezTo>
                    <a:pt x="44" y="25"/>
                    <a:pt x="43" y="25"/>
                    <a:pt x="42" y="25"/>
                  </a:cubicBezTo>
                  <a:cubicBezTo>
                    <a:pt x="42" y="25"/>
                    <a:pt x="40" y="26"/>
                    <a:pt x="41" y="27"/>
                  </a:cubicBezTo>
                  <a:cubicBezTo>
                    <a:pt x="41" y="27"/>
                    <a:pt x="41" y="28"/>
                    <a:pt x="41" y="28"/>
                  </a:cubicBezTo>
                  <a:cubicBezTo>
                    <a:pt x="41" y="28"/>
                    <a:pt x="41" y="29"/>
                    <a:pt x="41" y="29"/>
                  </a:cubicBezTo>
                  <a:cubicBezTo>
                    <a:pt x="41" y="29"/>
                    <a:pt x="40" y="29"/>
                    <a:pt x="40" y="28"/>
                  </a:cubicBezTo>
                  <a:cubicBezTo>
                    <a:pt x="40" y="26"/>
                    <a:pt x="39" y="24"/>
                    <a:pt x="39" y="22"/>
                  </a:cubicBezTo>
                  <a:cubicBezTo>
                    <a:pt x="39" y="21"/>
                    <a:pt x="39" y="21"/>
                    <a:pt x="38" y="20"/>
                  </a:cubicBezTo>
                  <a:cubicBezTo>
                    <a:pt x="37" y="19"/>
                    <a:pt x="36" y="19"/>
                    <a:pt x="35" y="20"/>
                  </a:cubicBezTo>
                  <a:cubicBezTo>
                    <a:pt x="35" y="20"/>
                    <a:pt x="34" y="20"/>
                    <a:pt x="34" y="19"/>
                  </a:cubicBezTo>
                  <a:cubicBezTo>
                    <a:pt x="34" y="18"/>
                    <a:pt x="33" y="17"/>
                    <a:pt x="32" y="16"/>
                  </a:cubicBezTo>
                  <a:cubicBezTo>
                    <a:pt x="31" y="15"/>
                    <a:pt x="29" y="15"/>
                    <a:pt x="28" y="16"/>
                  </a:cubicBezTo>
                  <a:cubicBezTo>
                    <a:pt x="27" y="16"/>
                    <a:pt x="27" y="16"/>
                    <a:pt x="27" y="17"/>
                  </a:cubicBezTo>
                  <a:cubicBezTo>
                    <a:pt x="27" y="17"/>
                    <a:pt x="28" y="18"/>
                    <a:pt x="28" y="19"/>
                  </a:cubicBezTo>
                  <a:cubicBezTo>
                    <a:pt x="29" y="20"/>
                    <a:pt x="30" y="21"/>
                    <a:pt x="30" y="22"/>
                  </a:cubicBezTo>
                  <a:cubicBezTo>
                    <a:pt x="30" y="23"/>
                    <a:pt x="30" y="24"/>
                    <a:pt x="30" y="24"/>
                  </a:cubicBezTo>
                  <a:cubicBezTo>
                    <a:pt x="29" y="24"/>
                    <a:pt x="29" y="24"/>
                    <a:pt x="28" y="24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7" y="23"/>
                    <a:pt x="27" y="24"/>
                    <a:pt x="27" y="24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27" y="26"/>
                    <a:pt x="27" y="27"/>
                    <a:pt x="27" y="28"/>
                  </a:cubicBezTo>
                  <a:cubicBezTo>
                    <a:pt x="28" y="28"/>
                    <a:pt x="28" y="28"/>
                    <a:pt x="29" y="28"/>
                  </a:cubicBezTo>
                  <a:cubicBezTo>
                    <a:pt x="29" y="29"/>
                    <a:pt x="30" y="29"/>
                    <a:pt x="31" y="28"/>
                  </a:cubicBezTo>
                  <a:cubicBezTo>
                    <a:pt x="31" y="28"/>
                    <a:pt x="32" y="29"/>
                    <a:pt x="32" y="29"/>
                  </a:cubicBezTo>
                  <a:cubicBezTo>
                    <a:pt x="33" y="31"/>
                    <a:pt x="33" y="33"/>
                    <a:pt x="34" y="35"/>
                  </a:cubicBezTo>
                  <a:cubicBezTo>
                    <a:pt x="34" y="35"/>
                    <a:pt x="35" y="36"/>
                    <a:pt x="36" y="36"/>
                  </a:cubicBezTo>
                  <a:cubicBezTo>
                    <a:pt x="37" y="35"/>
                    <a:pt x="37" y="35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9" y="34"/>
                    <a:pt x="39" y="35"/>
                  </a:cubicBezTo>
                  <a:cubicBezTo>
                    <a:pt x="39" y="36"/>
                    <a:pt x="40" y="38"/>
                    <a:pt x="40" y="39"/>
                  </a:cubicBezTo>
                  <a:cubicBezTo>
                    <a:pt x="41" y="39"/>
                    <a:pt x="41" y="40"/>
                    <a:pt x="41" y="40"/>
                  </a:cubicBezTo>
                  <a:cubicBezTo>
                    <a:pt x="41" y="40"/>
                    <a:pt x="42" y="40"/>
                    <a:pt x="42" y="40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4" y="39"/>
                    <a:pt x="44" y="38"/>
                    <a:pt x="44" y="38"/>
                  </a:cubicBezTo>
                  <a:cubicBezTo>
                    <a:pt x="45" y="36"/>
                    <a:pt x="45" y="35"/>
                    <a:pt x="45" y="34"/>
                  </a:cubicBezTo>
                  <a:cubicBezTo>
                    <a:pt x="46" y="33"/>
                    <a:pt x="46" y="33"/>
                    <a:pt x="47" y="33"/>
                  </a:cubicBezTo>
                  <a:cubicBezTo>
                    <a:pt x="48" y="34"/>
                    <a:pt x="49" y="35"/>
                    <a:pt x="50" y="36"/>
                  </a:cubicBezTo>
                  <a:cubicBezTo>
                    <a:pt x="53" y="38"/>
                    <a:pt x="56" y="39"/>
                    <a:pt x="58" y="41"/>
                  </a:cubicBezTo>
                  <a:cubicBezTo>
                    <a:pt x="59" y="41"/>
                    <a:pt x="60" y="42"/>
                    <a:pt x="60" y="42"/>
                  </a:cubicBezTo>
                  <a:cubicBezTo>
                    <a:pt x="60" y="42"/>
                    <a:pt x="61" y="42"/>
                    <a:pt x="61" y="42"/>
                  </a:cubicBezTo>
                  <a:cubicBezTo>
                    <a:pt x="61" y="42"/>
                    <a:pt x="61" y="41"/>
                    <a:pt x="61" y="41"/>
                  </a:cubicBezTo>
                  <a:cubicBezTo>
                    <a:pt x="61" y="41"/>
                    <a:pt x="60" y="40"/>
                    <a:pt x="60" y="40"/>
                  </a:cubicBezTo>
                  <a:cubicBezTo>
                    <a:pt x="59" y="39"/>
                    <a:pt x="54" y="36"/>
                    <a:pt x="53" y="35"/>
                  </a:cubicBezTo>
                  <a:cubicBezTo>
                    <a:pt x="53" y="35"/>
                    <a:pt x="53" y="34"/>
                    <a:pt x="52" y="34"/>
                  </a:cubicBezTo>
                  <a:cubicBezTo>
                    <a:pt x="52" y="33"/>
                    <a:pt x="51" y="33"/>
                    <a:pt x="50" y="32"/>
                  </a:cubicBezTo>
                  <a:cubicBezTo>
                    <a:pt x="50" y="32"/>
                    <a:pt x="50" y="32"/>
                    <a:pt x="50" y="31"/>
                  </a:cubicBezTo>
                  <a:cubicBezTo>
                    <a:pt x="51" y="31"/>
                    <a:pt x="51" y="31"/>
                    <a:pt x="52" y="31"/>
                  </a:cubicBezTo>
                  <a:cubicBezTo>
                    <a:pt x="52" y="31"/>
                    <a:pt x="52" y="30"/>
                    <a:pt x="53" y="31"/>
                  </a:cubicBezTo>
                  <a:cubicBezTo>
                    <a:pt x="53" y="31"/>
                    <a:pt x="53" y="31"/>
                    <a:pt x="53" y="31"/>
                  </a:cubicBezTo>
                  <a:cubicBezTo>
                    <a:pt x="53" y="31"/>
                    <a:pt x="54" y="31"/>
                    <a:pt x="54" y="32"/>
                  </a:cubicBezTo>
                  <a:cubicBezTo>
                    <a:pt x="53" y="32"/>
                    <a:pt x="54" y="32"/>
                    <a:pt x="54" y="32"/>
                  </a:cubicBezTo>
                  <a:cubicBezTo>
                    <a:pt x="56" y="32"/>
                    <a:pt x="57" y="32"/>
                    <a:pt x="58" y="31"/>
                  </a:cubicBezTo>
                  <a:cubicBezTo>
                    <a:pt x="59" y="30"/>
                    <a:pt x="60" y="28"/>
                    <a:pt x="60" y="27"/>
                  </a:cubicBezTo>
                  <a:cubicBezTo>
                    <a:pt x="59" y="25"/>
                    <a:pt x="59" y="24"/>
                    <a:pt x="59" y="22"/>
                  </a:cubicBezTo>
                  <a:cubicBezTo>
                    <a:pt x="58" y="21"/>
                    <a:pt x="57" y="20"/>
                    <a:pt x="56" y="18"/>
                  </a:cubicBezTo>
                  <a:cubicBezTo>
                    <a:pt x="55" y="16"/>
                    <a:pt x="53" y="14"/>
                    <a:pt x="52" y="12"/>
                  </a:cubicBezTo>
                  <a:cubicBezTo>
                    <a:pt x="51" y="11"/>
                    <a:pt x="50" y="10"/>
                    <a:pt x="49" y="8"/>
                  </a:cubicBezTo>
                  <a:cubicBezTo>
                    <a:pt x="47" y="7"/>
                    <a:pt x="46" y="6"/>
                    <a:pt x="45" y="5"/>
                  </a:cubicBezTo>
                  <a:cubicBezTo>
                    <a:pt x="44" y="4"/>
                    <a:pt x="43" y="4"/>
                    <a:pt x="43" y="3"/>
                  </a:cubicBezTo>
                  <a:cubicBezTo>
                    <a:pt x="41" y="2"/>
                    <a:pt x="39" y="1"/>
                    <a:pt x="37" y="1"/>
                  </a:cubicBezTo>
                  <a:cubicBezTo>
                    <a:pt x="34" y="0"/>
                    <a:pt x="32" y="1"/>
                    <a:pt x="30" y="3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0" name="íSḷîḍè">
              <a:extLst>
                <a:ext uri="{FF2B5EF4-FFF2-40B4-BE49-F238E27FC236}">
                  <a16:creationId xmlns:a16="http://schemas.microsoft.com/office/drawing/2014/main" id="{D48F2334-DF91-B37B-66C4-34A12B768FC9}"/>
                </a:ext>
              </a:extLst>
            </p:cNvPr>
            <p:cNvSpPr/>
            <p:nvPr/>
          </p:nvSpPr>
          <p:spPr bwMode="auto">
            <a:xfrm>
              <a:off x="2443163" y="2686051"/>
              <a:ext cx="158750" cy="206375"/>
            </a:xfrm>
            <a:custGeom>
              <a:avLst/>
              <a:gdLst>
                <a:gd name="T0" fmla="*/ 25 w 44"/>
                <a:gd name="T1" fmla="*/ 1 h 57"/>
                <a:gd name="T2" fmla="*/ 20 w 44"/>
                <a:gd name="T3" fmla="*/ 7 h 57"/>
                <a:gd name="T4" fmla="*/ 7 w 44"/>
                <a:gd name="T5" fmla="*/ 27 h 57"/>
                <a:gd name="T6" fmla="*/ 2 w 44"/>
                <a:gd name="T7" fmla="*/ 36 h 57"/>
                <a:gd name="T8" fmla="*/ 1 w 44"/>
                <a:gd name="T9" fmla="*/ 41 h 57"/>
                <a:gd name="T10" fmla="*/ 5 w 44"/>
                <a:gd name="T11" fmla="*/ 42 h 57"/>
                <a:gd name="T12" fmla="*/ 12 w 44"/>
                <a:gd name="T13" fmla="*/ 28 h 57"/>
                <a:gd name="T14" fmla="*/ 16 w 44"/>
                <a:gd name="T15" fmla="*/ 21 h 57"/>
                <a:gd name="T16" fmla="*/ 17 w 44"/>
                <a:gd name="T17" fmla="*/ 22 h 57"/>
                <a:gd name="T18" fmla="*/ 17 w 44"/>
                <a:gd name="T19" fmla="*/ 40 h 57"/>
                <a:gd name="T20" fmla="*/ 22 w 44"/>
                <a:gd name="T21" fmla="*/ 43 h 57"/>
                <a:gd name="T22" fmla="*/ 22 w 44"/>
                <a:gd name="T23" fmla="*/ 39 h 57"/>
                <a:gd name="T24" fmla="*/ 22 w 44"/>
                <a:gd name="T25" fmla="*/ 37 h 57"/>
                <a:gd name="T26" fmla="*/ 21 w 44"/>
                <a:gd name="T27" fmla="*/ 33 h 57"/>
                <a:gd name="T28" fmla="*/ 26 w 44"/>
                <a:gd name="T29" fmla="*/ 23 h 57"/>
                <a:gd name="T30" fmla="*/ 27 w 44"/>
                <a:gd name="T31" fmla="*/ 23 h 57"/>
                <a:gd name="T32" fmla="*/ 23 w 44"/>
                <a:gd name="T33" fmla="*/ 35 h 57"/>
                <a:gd name="T34" fmla="*/ 26 w 44"/>
                <a:gd name="T35" fmla="*/ 40 h 57"/>
                <a:gd name="T36" fmla="*/ 27 w 44"/>
                <a:gd name="T37" fmla="*/ 40 h 57"/>
                <a:gd name="T38" fmla="*/ 30 w 44"/>
                <a:gd name="T39" fmla="*/ 45 h 57"/>
                <a:gd name="T40" fmla="*/ 25 w 44"/>
                <a:gd name="T41" fmla="*/ 51 h 57"/>
                <a:gd name="T42" fmla="*/ 24 w 44"/>
                <a:gd name="T43" fmla="*/ 54 h 57"/>
                <a:gd name="T44" fmla="*/ 28 w 44"/>
                <a:gd name="T45" fmla="*/ 57 h 57"/>
                <a:gd name="T46" fmla="*/ 31 w 44"/>
                <a:gd name="T47" fmla="*/ 51 h 57"/>
                <a:gd name="T48" fmla="*/ 33 w 44"/>
                <a:gd name="T49" fmla="*/ 51 h 57"/>
                <a:gd name="T50" fmla="*/ 35 w 44"/>
                <a:gd name="T51" fmla="*/ 54 h 57"/>
                <a:gd name="T52" fmla="*/ 38 w 44"/>
                <a:gd name="T53" fmla="*/ 53 h 57"/>
                <a:gd name="T54" fmla="*/ 39 w 44"/>
                <a:gd name="T55" fmla="*/ 52 h 57"/>
                <a:gd name="T56" fmla="*/ 39 w 44"/>
                <a:gd name="T57" fmla="*/ 49 h 57"/>
                <a:gd name="T58" fmla="*/ 36 w 44"/>
                <a:gd name="T59" fmla="*/ 44 h 57"/>
                <a:gd name="T60" fmla="*/ 40 w 44"/>
                <a:gd name="T61" fmla="*/ 40 h 57"/>
                <a:gd name="T62" fmla="*/ 40 w 44"/>
                <a:gd name="T63" fmla="*/ 44 h 57"/>
                <a:gd name="T64" fmla="*/ 40 w 44"/>
                <a:gd name="T65" fmla="*/ 44 h 57"/>
                <a:gd name="T66" fmla="*/ 42 w 44"/>
                <a:gd name="T67" fmla="*/ 42 h 57"/>
                <a:gd name="T68" fmla="*/ 40 w 44"/>
                <a:gd name="T69" fmla="*/ 35 h 57"/>
                <a:gd name="T70" fmla="*/ 33 w 44"/>
                <a:gd name="T71" fmla="*/ 40 h 57"/>
                <a:gd name="T72" fmla="*/ 30 w 44"/>
                <a:gd name="T73" fmla="*/ 36 h 57"/>
                <a:gd name="T74" fmla="*/ 32 w 44"/>
                <a:gd name="T75" fmla="*/ 32 h 57"/>
                <a:gd name="T76" fmla="*/ 29 w 44"/>
                <a:gd name="T77" fmla="*/ 27 h 57"/>
                <a:gd name="T78" fmla="*/ 28 w 44"/>
                <a:gd name="T79" fmla="*/ 21 h 57"/>
                <a:gd name="T80" fmla="*/ 23 w 44"/>
                <a:gd name="T81" fmla="*/ 20 h 57"/>
                <a:gd name="T82" fmla="*/ 19 w 44"/>
                <a:gd name="T83" fmla="*/ 28 h 57"/>
                <a:gd name="T84" fmla="*/ 18 w 44"/>
                <a:gd name="T85" fmla="*/ 33 h 57"/>
                <a:gd name="T86" fmla="*/ 17 w 44"/>
                <a:gd name="T87" fmla="*/ 33 h 57"/>
                <a:gd name="T88" fmla="*/ 17 w 44"/>
                <a:gd name="T89" fmla="*/ 27 h 57"/>
                <a:gd name="T90" fmla="*/ 20 w 44"/>
                <a:gd name="T91" fmla="*/ 18 h 57"/>
                <a:gd name="T92" fmla="*/ 26 w 44"/>
                <a:gd name="T93" fmla="*/ 11 h 57"/>
                <a:gd name="T94" fmla="*/ 32 w 44"/>
                <a:gd name="T95" fmla="*/ 6 h 57"/>
                <a:gd name="T96" fmla="*/ 30 w 44"/>
                <a:gd name="T97" fmla="*/ 1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4" h="57">
                  <a:moveTo>
                    <a:pt x="30" y="1"/>
                  </a:moveTo>
                  <a:cubicBezTo>
                    <a:pt x="29" y="0"/>
                    <a:pt x="27" y="0"/>
                    <a:pt x="25" y="1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23" y="4"/>
                    <a:pt x="22" y="6"/>
                    <a:pt x="20" y="7"/>
                  </a:cubicBezTo>
                  <a:cubicBezTo>
                    <a:pt x="19" y="9"/>
                    <a:pt x="18" y="11"/>
                    <a:pt x="16" y="13"/>
                  </a:cubicBezTo>
                  <a:cubicBezTo>
                    <a:pt x="15" y="14"/>
                    <a:pt x="8" y="26"/>
                    <a:pt x="7" y="27"/>
                  </a:cubicBezTo>
                  <a:cubicBezTo>
                    <a:pt x="6" y="29"/>
                    <a:pt x="5" y="30"/>
                    <a:pt x="4" y="32"/>
                  </a:cubicBezTo>
                  <a:cubicBezTo>
                    <a:pt x="4" y="33"/>
                    <a:pt x="3" y="35"/>
                    <a:pt x="2" y="36"/>
                  </a:cubicBezTo>
                  <a:cubicBezTo>
                    <a:pt x="1" y="37"/>
                    <a:pt x="1" y="39"/>
                    <a:pt x="0" y="40"/>
                  </a:cubicBezTo>
                  <a:cubicBezTo>
                    <a:pt x="0" y="41"/>
                    <a:pt x="0" y="41"/>
                    <a:pt x="1" y="41"/>
                  </a:cubicBezTo>
                  <a:cubicBezTo>
                    <a:pt x="1" y="42"/>
                    <a:pt x="2" y="43"/>
                    <a:pt x="3" y="43"/>
                  </a:cubicBezTo>
                  <a:cubicBezTo>
                    <a:pt x="4" y="43"/>
                    <a:pt x="5" y="43"/>
                    <a:pt x="5" y="42"/>
                  </a:cubicBezTo>
                  <a:cubicBezTo>
                    <a:pt x="6" y="40"/>
                    <a:pt x="7" y="38"/>
                    <a:pt x="8" y="36"/>
                  </a:cubicBezTo>
                  <a:cubicBezTo>
                    <a:pt x="10" y="33"/>
                    <a:pt x="10" y="31"/>
                    <a:pt x="12" y="28"/>
                  </a:cubicBezTo>
                  <a:cubicBezTo>
                    <a:pt x="12" y="28"/>
                    <a:pt x="12" y="27"/>
                    <a:pt x="13" y="27"/>
                  </a:cubicBezTo>
                  <a:cubicBezTo>
                    <a:pt x="14" y="25"/>
                    <a:pt x="15" y="23"/>
                    <a:pt x="16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1"/>
                    <a:pt x="17" y="22"/>
                    <a:pt x="17" y="22"/>
                  </a:cubicBezTo>
                  <a:cubicBezTo>
                    <a:pt x="16" y="26"/>
                    <a:pt x="15" y="30"/>
                    <a:pt x="15" y="34"/>
                  </a:cubicBezTo>
                  <a:cubicBezTo>
                    <a:pt x="15" y="36"/>
                    <a:pt x="16" y="38"/>
                    <a:pt x="17" y="40"/>
                  </a:cubicBezTo>
                  <a:cubicBezTo>
                    <a:pt x="18" y="41"/>
                    <a:pt x="18" y="43"/>
                    <a:pt x="20" y="43"/>
                  </a:cubicBezTo>
                  <a:cubicBezTo>
                    <a:pt x="20" y="44"/>
                    <a:pt x="21" y="44"/>
                    <a:pt x="22" y="43"/>
                  </a:cubicBezTo>
                  <a:cubicBezTo>
                    <a:pt x="22" y="43"/>
                    <a:pt x="22" y="43"/>
                    <a:pt x="22" y="42"/>
                  </a:cubicBezTo>
                  <a:cubicBezTo>
                    <a:pt x="22" y="41"/>
                    <a:pt x="22" y="40"/>
                    <a:pt x="22" y="39"/>
                  </a:cubicBezTo>
                  <a:cubicBezTo>
                    <a:pt x="22" y="39"/>
                    <a:pt x="22" y="39"/>
                    <a:pt x="22" y="38"/>
                  </a:cubicBezTo>
                  <a:cubicBezTo>
                    <a:pt x="22" y="38"/>
                    <a:pt x="22" y="37"/>
                    <a:pt x="22" y="37"/>
                  </a:cubicBezTo>
                  <a:cubicBezTo>
                    <a:pt x="22" y="36"/>
                    <a:pt x="22" y="36"/>
                    <a:pt x="22" y="35"/>
                  </a:cubicBezTo>
                  <a:cubicBezTo>
                    <a:pt x="22" y="35"/>
                    <a:pt x="21" y="34"/>
                    <a:pt x="21" y="33"/>
                  </a:cubicBezTo>
                  <a:cubicBezTo>
                    <a:pt x="22" y="31"/>
                    <a:pt x="22" y="28"/>
                    <a:pt x="24" y="26"/>
                  </a:cubicBezTo>
                  <a:cubicBezTo>
                    <a:pt x="24" y="25"/>
                    <a:pt x="25" y="23"/>
                    <a:pt x="26" y="23"/>
                  </a:cubicBezTo>
                  <a:cubicBezTo>
                    <a:pt x="26" y="22"/>
                    <a:pt x="27" y="22"/>
                    <a:pt x="27" y="22"/>
                  </a:cubicBezTo>
                  <a:cubicBezTo>
                    <a:pt x="27" y="22"/>
                    <a:pt x="27" y="23"/>
                    <a:pt x="27" y="23"/>
                  </a:cubicBezTo>
                  <a:cubicBezTo>
                    <a:pt x="27" y="26"/>
                    <a:pt x="26" y="28"/>
                    <a:pt x="25" y="30"/>
                  </a:cubicBezTo>
                  <a:cubicBezTo>
                    <a:pt x="25" y="32"/>
                    <a:pt x="24" y="33"/>
                    <a:pt x="23" y="35"/>
                  </a:cubicBezTo>
                  <a:cubicBezTo>
                    <a:pt x="22" y="37"/>
                    <a:pt x="23" y="38"/>
                    <a:pt x="24" y="40"/>
                  </a:cubicBezTo>
                  <a:cubicBezTo>
                    <a:pt x="24" y="41"/>
                    <a:pt x="26" y="41"/>
                    <a:pt x="26" y="40"/>
                  </a:cubicBezTo>
                  <a:cubicBezTo>
                    <a:pt x="26" y="40"/>
                    <a:pt x="26" y="40"/>
                    <a:pt x="27" y="40"/>
                  </a:cubicBezTo>
                  <a:cubicBezTo>
                    <a:pt x="27" y="39"/>
                    <a:pt x="27" y="39"/>
                    <a:pt x="27" y="40"/>
                  </a:cubicBezTo>
                  <a:cubicBezTo>
                    <a:pt x="28" y="41"/>
                    <a:pt x="29" y="43"/>
                    <a:pt x="30" y="44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9" y="47"/>
                    <a:pt x="28" y="49"/>
                    <a:pt x="27" y="51"/>
                  </a:cubicBezTo>
                  <a:cubicBezTo>
                    <a:pt x="27" y="51"/>
                    <a:pt x="26" y="52"/>
                    <a:pt x="25" y="51"/>
                  </a:cubicBezTo>
                  <a:cubicBezTo>
                    <a:pt x="25" y="51"/>
                    <a:pt x="25" y="51"/>
                    <a:pt x="25" y="51"/>
                  </a:cubicBezTo>
                  <a:cubicBezTo>
                    <a:pt x="24" y="52"/>
                    <a:pt x="24" y="53"/>
                    <a:pt x="24" y="54"/>
                  </a:cubicBezTo>
                  <a:cubicBezTo>
                    <a:pt x="25" y="54"/>
                    <a:pt x="25" y="54"/>
                    <a:pt x="25" y="55"/>
                  </a:cubicBezTo>
                  <a:cubicBezTo>
                    <a:pt x="25" y="56"/>
                    <a:pt x="26" y="57"/>
                    <a:pt x="28" y="57"/>
                  </a:cubicBezTo>
                  <a:cubicBezTo>
                    <a:pt x="29" y="57"/>
                    <a:pt x="29" y="57"/>
                    <a:pt x="30" y="55"/>
                  </a:cubicBezTo>
                  <a:cubicBezTo>
                    <a:pt x="31" y="54"/>
                    <a:pt x="31" y="52"/>
                    <a:pt x="31" y="51"/>
                  </a:cubicBezTo>
                  <a:cubicBezTo>
                    <a:pt x="32" y="51"/>
                    <a:pt x="32" y="50"/>
                    <a:pt x="32" y="50"/>
                  </a:cubicBezTo>
                  <a:cubicBezTo>
                    <a:pt x="32" y="50"/>
                    <a:pt x="33" y="51"/>
                    <a:pt x="33" y="51"/>
                  </a:cubicBezTo>
                  <a:cubicBezTo>
                    <a:pt x="33" y="52"/>
                    <a:pt x="34" y="53"/>
                    <a:pt x="35" y="53"/>
                  </a:cubicBezTo>
                  <a:cubicBezTo>
                    <a:pt x="35" y="53"/>
                    <a:pt x="35" y="54"/>
                    <a:pt x="35" y="54"/>
                  </a:cubicBezTo>
                  <a:cubicBezTo>
                    <a:pt x="36" y="54"/>
                    <a:pt x="37" y="54"/>
                    <a:pt x="37" y="54"/>
                  </a:cubicBezTo>
                  <a:cubicBezTo>
                    <a:pt x="38" y="54"/>
                    <a:pt x="38" y="54"/>
                    <a:pt x="38" y="53"/>
                  </a:cubicBezTo>
                  <a:cubicBezTo>
                    <a:pt x="38" y="53"/>
                    <a:pt x="39" y="53"/>
                    <a:pt x="39" y="53"/>
                  </a:cubicBezTo>
                  <a:cubicBezTo>
                    <a:pt x="39" y="53"/>
                    <a:pt x="39" y="52"/>
                    <a:pt x="39" y="52"/>
                  </a:cubicBezTo>
                  <a:cubicBezTo>
                    <a:pt x="39" y="51"/>
                    <a:pt x="39" y="51"/>
                    <a:pt x="39" y="50"/>
                  </a:cubicBezTo>
                  <a:cubicBezTo>
                    <a:pt x="40" y="50"/>
                    <a:pt x="39" y="49"/>
                    <a:pt x="39" y="49"/>
                  </a:cubicBezTo>
                  <a:cubicBezTo>
                    <a:pt x="38" y="48"/>
                    <a:pt x="37" y="47"/>
                    <a:pt x="36" y="45"/>
                  </a:cubicBezTo>
                  <a:cubicBezTo>
                    <a:pt x="35" y="45"/>
                    <a:pt x="35" y="44"/>
                    <a:pt x="36" y="44"/>
                  </a:cubicBezTo>
                  <a:cubicBezTo>
                    <a:pt x="37" y="42"/>
                    <a:pt x="38" y="41"/>
                    <a:pt x="39" y="41"/>
                  </a:cubicBezTo>
                  <a:cubicBezTo>
                    <a:pt x="40" y="40"/>
                    <a:pt x="40" y="40"/>
                    <a:pt x="40" y="40"/>
                  </a:cubicBezTo>
                  <a:cubicBezTo>
                    <a:pt x="41" y="40"/>
                    <a:pt x="41" y="41"/>
                    <a:pt x="41" y="42"/>
                  </a:cubicBezTo>
                  <a:cubicBezTo>
                    <a:pt x="40" y="42"/>
                    <a:pt x="40" y="44"/>
                    <a:pt x="40" y="44"/>
                  </a:cubicBezTo>
                  <a:cubicBezTo>
                    <a:pt x="40" y="44"/>
                    <a:pt x="40" y="44"/>
                    <a:pt x="40" y="44"/>
                  </a:cubicBezTo>
                  <a:cubicBezTo>
                    <a:pt x="40" y="44"/>
                    <a:pt x="40" y="44"/>
                    <a:pt x="40" y="44"/>
                  </a:cubicBezTo>
                  <a:cubicBezTo>
                    <a:pt x="40" y="44"/>
                    <a:pt x="41" y="43"/>
                    <a:pt x="41" y="43"/>
                  </a:cubicBezTo>
                  <a:cubicBezTo>
                    <a:pt x="41" y="43"/>
                    <a:pt x="42" y="43"/>
                    <a:pt x="42" y="42"/>
                  </a:cubicBezTo>
                  <a:cubicBezTo>
                    <a:pt x="43" y="41"/>
                    <a:pt x="44" y="40"/>
                    <a:pt x="44" y="38"/>
                  </a:cubicBezTo>
                  <a:cubicBezTo>
                    <a:pt x="44" y="36"/>
                    <a:pt x="42" y="35"/>
                    <a:pt x="40" y="35"/>
                  </a:cubicBezTo>
                  <a:cubicBezTo>
                    <a:pt x="39" y="35"/>
                    <a:pt x="37" y="36"/>
                    <a:pt x="36" y="37"/>
                  </a:cubicBezTo>
                  <a:cubicBezTo>
                    <a:pt x="35" y="38"/>
                    <a:pt x="34" y="39"/>
                    <a:pt x="33" y="40"/>
                  </a:cubicBezTo>
                  <a:cubicBezTo>
                    <a:pt x="33" y="41"/>
                    <a:pt x="32" y="41"/>
                    <a:pt x="32" y="40"/>
                  </a:cubicBezTo>
                  <a:cubicBezTo>
                    <a:pt x="32" y="39"/>
                    <a:pt x="31" y="37"/>
                    <a:pt x="30" y="36"/>
                  </a:cubicBezTo>
                  <a:cubicBezTo>
                    <a:pt x="30" y="36"/>
                    <a:pt x="30" y="35"/>
                    <a:pt x="31" y="35"/>
                  </a:cubicBezTo>
                  <a:cubicBezTo>
                    <a:pt x="31" y="34"/>
                    <a:pt x="32" y="33"/>
                    <a:pt x="32" y="32"/>
                  </a:cubicBezTo>
                  <a:cubicBezTo>
                    <a:pt x="31" y="31"/>
                    <a:pt x="31" y="30"/>
                    <a:pt x="30" y="29"/>
                  </a:cubicBezTo>
                  <a:cubicBezTo>
                    <a:pt x="29" y="29"/>
                    <a:pt x="29" y="28"/>
                    <a:pt x="29" y="27"/>
                  </a:cubicBezTo>
                  <a:cubicBezTo>
                    <a:pt x="29" y="26"/>
                    <a:pt x="29" y="25"/>
                    <a:pt x="29" y="24"/>
                  </a:cubicBezTo>
                  <a:cubicBezTo>
                    <a:pt x="28" y="23"/>
                    <a:pt x="28" y="22"/>
                    <a:pt x="28" y="21"/>
                  </a:cubicBezTo>
                  <a:cubicBezTo>
                    <a:pt x="28" y="20"/>
                    <a:pt x="27" y="19"/>
                    <a:pt x="26" y="19"/>
                  </a:cubicBezTo>
                  <a:cubicBezTo>
                    <a:pt x="25" y="20"/>
                    <a:pt x="24" y="20"/>
                    <a:pt x="23" y="20"/>
                  </a:cubicBezTo>
                  <a:cubicBezTo>
                    <a:pt x="22" y="21"/>
                    <a:pt x="21" y="23"/>
                    <a:pt x="21" y="24"/>
                  </a:cubicBezTo>
                  <a:cubicBezTo>
                    <a:pt x="20" y="25"/>
                    <a:pt x="20" y="27"/>
                    <a:pt x="19" y="28"/>
                  </a:cubicBezTo>
                  <a:cubicBezTo>
                    <a:pt x="19" y="29"/>
                    <a:pt x="18" y="29"/>
                    <a:pt x="18" y="30"/>
                  </a:cubicBezTo>
                  <a:cubicBezTo>
                    <a:pt x="18" y="31"/>
                    <a:pt x="18" y="32"/>
                    <a:pt x="18" y="33"/>
                  </a:cubicBezTo>
                  <a:cubicBezTo>
                    <a:pt x="18" y="33"/>
                    <a:pt x="18" y="33"/>
                    <a:pt x="17" y="33"/>
                  </a:cubicBezTo>
                  <a:cubicBezTo>
                    <a:pt x="17" y="33"/>
                    <a:pt x="17" y="33"/>
                    <a:pt x="17" y="33"/>
                  </a:cubicBezTo>
                  <a:cubicBezTo>
                    <a:pt x="17" y="32"/>
                    <a:pt x="17" y="31"/>
                    <a:pt x="17" y="31"/>
                  </a:cubicBezTo>
                  <a:cubicBezTo>
                    <a:pt x="17" y="29"/>
                    <a:pt x="17" y="28"/>
                    <a:pt x="17" y="27"/>
                  </a:cubicBezTo>
                  <a:cubicBezTo>
                    <a:pt x="17" y="25"/>
                    <a:pt x="17" y="23"/>
                    <a:pt x="18" y="21"/>
                  </a:cubicBezTo>
                  <a:cubicBezTo>
                    <a:pt x="18" y="20"/>
                    <a:pt x="19" y="19"/>
                    <a:pt x="20" y="18"/>
                  </a:cubicBezTo>
                  <a:cubicBezTo>
                    <a:pt x="21" y="17"/>
                    <a:pt x="21" y="16"/>
                    <a:pt x="22" y="15"/>
                  </a:cubicBezTo>
                  <a:cubicBezTo>
                    <a:pt x="23" y="14"/>
                    <a:pt x="25" y="12"/>
                    <a:pt x="26" y="11"/>
                  </a:cubicBezTo>
                  <a:cubicBezTo>
                    <a:pt x="27" y="10"/>
                    <a:pt x="28" y="9"/>
                    <a:pt x="29" y="8"/>
                  </a:cubicBezTo>
                  <a:cubicBezTo>
                    <a:pt x="30" y="7"/>
                    <a:pt x="31" y="7"/>
                    <a:pt x="32" y="6"/>
                  </a:cubicBezTo>
                  <a:cubicBezTo>
                    <a:pt x="32" y="5"/>
                    <a:pt x="32" y="5"/>
                    <a:pt x="32" y="4"/>
                  </a:cubicBezTo>
                  <a:cubicBezTo>
                    <a:pt x="32" y="3"/>
                    <a:pt x="31" y="2"/>
                    <a:pt x="30" y="1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1" name="ïşļîḍè">
              <a:extLst>
                <a:ext uri="{FF2B5EF4-FFF2-40B4-BE49-F238E27FC236}">
                  <a16:creationId xmlns:a16="http://schemas.microsoft.com/office/drawing/2014/main" id="{3E35E65F-DBEA-8841-627B-D4E90DE785E3}"/>
                </a:ext>
              </a:extLst>
            </p:cNvPr>
            <p:cNvSpPr/>
            <p:nvPr/>
          </p:nvSpPr>
          <p:spPr bwMode="auto">
            <a:xfrm>
              <a:off x="2451100" y="2693988"/>
              <a:ext cx="49213" cy="50800"/>
            </a:xfrm>
            <a:custGeom>
              <a:avLst/>
              <a:gdLst>
                <a:gd name="T0" fmla="*/ 4 w 14"/>
                <a:gd name="T1" fmla="*/ 8 h 14"/>
                <a:gd name="T2" fmla="*/ 5 w 14"/>
                <a:gd name="T3" fmla="*/ 9 h 14"/>
                <a:gd name="T4" fmla="*/ 6 w 14"/>
                <a:gd name="T5" fmla="*/ 10 h 14"/>
                <a:gd name="T6" fmla="*/ 6 w 14"/>
                <a:gd name="T7" fmla="*/ 12 h 14"/>
                <a:gd name="T8" fmla="*/ 6 w 14"/>
                <a:gd name="T9" fmla="*/ 14 h 14"/>
                <a:gd name="T10" fmla="*/ 7 w 14"/>
                <a:gd name="T11" fmla="*/ 12 h 14"/>
                <a:gd name="T12" fmla="*/ 9 w 14"/>
                <a:gd name="T13" fmla="*/ 10 h 14"/>
                <a:gd name="T14" fmla="*/ 12 w 14"/>
                <a:gd name="T15" fmla="*/ 8 h 14"/>
                <a:gd name="T16" fmla="*/ 13 w 14"/>
                <a:gd name="T17" fmla="*/ 5 h 14"/>
                <a:gd name="T18" fmla="*/ 10 w 14"/>
                <a:gd name="T19" fmla="*/ 1 h 14"/>
                <a:gd name="T20" fmla="*/ 7 w 14"/>
                <a:gd name="T21" fmla="*/ 0 h 14"/>
                <a:gd name="T22" fmla="*/ 3 w 14"/>
                <a:gd name="T23" fmla="*/ 0 h 14"/>
                <a:gd name="T24" fmla="*/ 1 w 14"/>
                <a:gd name="T25" fmla="*/ 2 h 14"/>
                <a:gd name="T26" fmla="*/ 1 w 14"/>
                <a:gd name="T27" fmla="*/ 4 h 14"/>
                <a:gd name="T28" fmla="*/ 3 w 14"/>
                <a:gd name="T29" fmla="*/ 8 h 14"/>
                <a:gd name="T30" fmla="*/ 4 w 14"/>
                <a:gd name="T31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4" h="14">
                  <a:moveTo>
                    <a:pt x="4" y="8"/>
                  </a:moveTo>
                  <a:cubicBezTo>
                    <a:pt x="4" y="9"/>
                    <a:pt x="5" y="9"/>
                    <a:pt x="5" y="9"/>
                  </a:cubicBezTo>
                  <a:cubicBezTo>
                    <a:pt x="6" y="9"/>
                    <a:pt x="6" y="9"/>
                    <a:pt x="6" y="10"/>
                  </a:cubicBezTo>
                  <a:cubicBezTo>
                    <a:pt x="6" y="10"/>
                    <a:pt x="6" y="11"/>
                    <a:pt x="6" y="12"/>
                  </a:cubicBezTo>
                  <a:cubicBezTo>
                    <a:pt x="6" y="12"/>
                    <a:pt x="6" y="14"/>
                    <a:pt x="6" y="14"/>
                  </a:cubicBezTo>
                  <a:cubicBezTo>
                    <a:pt x="6" y="14"/>
                    <a:pt x="7" y="12"/>
                    <a:pt x="7" y="12"/>
                  </a:cubicBezTo>
                  <a:cubicBezTo>
                    <a:pt x="7" y="11"/>
                    <a:pt x="8" y="10"/>
                    <a:pt x="9" y="10"/>
                  </a:cubicBezTo>
                  <a:cubicBezTo>
                    <a:pt x="10" y="10"/>
                    <a:pt x="11" y="9"/>
                    <a:pt x="12" y="8"/>
                  </a:cubicBezTo>
                  <a:cubicBezTo>
                    <a:pt x="13" y="7"/>
                    <a:pt x="14" y="6"/>
                    <a:pt x="13" y="5"/>
                  </a:cubicBezTo>
                  <a:cubicBezTo>
                    <a:pt x="13" y="3"/>
                    <a:pt x="12" y="1"/>
                    <a:pt x="10" y="1"/>
                  </a:cubicBezTo>
                  <a:cubicBezTo>
                    <a:pt x="9" y="0"/>
                    <a:pt x="8" y="0"/>
                    <a:pt x="7" y="0"/>
                  </a:cubicBezTo>
                  <a:cubicBezTo>
                    <a:pt x="6" y="0"/>
                    <a:pt x="4" y="0"/>
                    <a:pt x="3" y="0"/>
                  </a:cubicBezTo>
                  <a:cubicBezTo>
                    <a:pt x="2" y="1"/>
                    <a:pt x="2" y="1"/>
                    <a:pt x="1" y="2"/>
                  </a:cubicBezTo>
                  <a:cubicBezTo>
                    <a:pt x="1" y="2"/>
                    <a:pt x="1" y="3"/>
                    <a:pt x="1" y="4"/>
                  </a:cubicBezTo>
                  <a:cubicBezTo>
                    <a:pt x="0" y="5"/>
                    <a:pt x="1" y="8"/>
                    <a:pt x="3" y="8"/>
                  </a:cubicBezTo>
                  <a:cubicBezTo>
                    <a:pt x="3" y="8"/>
                    <a:pt x="4" y="8"/>
                    <a:pt x="4" y="8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2" name="ísḷiḋe">
              <a:extLst>
                <a:ext uri="{FF2B5EF4-FFF2-40B4-BE49-F238E27FC236}">
                  <a16:creationId xmlns:a16="http://schemas.microsoft.com/office/drawing/2014/main" id="{7E184D40-DB29-F839-0160-E97AF86850C1}"/>
                </a:ext>
              </a:extLst>
            </p:cNvPr>
            <p:cNvSpPr/>
            <p:nvPr/>
          </p:nvSpPr>
          <p:spPr bwMode="auto">
            <a:xfrm>
              <a:off x="2768600" y="2555876"/>
              <a:ext cx="119063" cy="231775"/>
            </a:xfrm>
            <a:custGeom>
              <a:avLst/>
              <a:gdLst>
                <a:gd name="T0" fmla="*/ 22 w 33"/>
                <a:gd name="T1" fmla="*/ 29 h 64"/>
                <a:gd name="T2" fmla="*/ 24 w 33"/>
                <a:gd name="T3" fmla="*/ 24 h 64"/>
                <a:gd name="T4" fmla="*/ 27 w 33"/>
                <a:gd name="T5" fmla="*/ 11 h 64"/>
                <a:gd name="T6" fmla="*/ 25 w 33"/>
                <a:gd name="T7" fmla="*/ 4 h 64"/>
                <a:gd name="T8" fmla="*/ 17 w 33"/>
                <a:gd name="T9" fmla="*/ 0 h 64"/>
                <a:gd name="T10" fmla="*/ 15 w 33"/>
                <a:gd name="T11" fmla="*/ 1 h 64"/>
                <a:gd name="T12" fmla="*/ 6 w 33"/>
                <a:gd name="T13" fmla="*/ 7 h 64"/>
                <a:gd name="T14" fmla="*/ 3 w 33"/>
                <a:gd name="T15" fmla="*/ 13 h 64"/>
                <a:gd name="T16" fmla="*/ 6 w 33"/>
                <a:gd name="T17" fmla="*/ 15 h 64"/>
                <a:gd name="T18" fmla="*/ 10 w 33"/>
                <a:gd name="T19" fmla="*/ 14 h 64"/>
                <a:gd name="T20" fmla="*/ 18 w 33"/>
                <a:gd name="T21" fmla="*/ 6 h 64"/>
                <a:gd name="T22" fmla="*/ 22 w 33"/>
                <a:gd name="T23" fmla="*/ 10 h 64"/>
                <a:gd name="T24" fmla="*/ 21 w 33"/>
                <a:gd name="T25" fmla="*/ 18 h 64"/>
                <a:gd name="T26" fmla="*/ 18 w 33"/>
                <a:gd name="T27" fmla="*/ 26 h 64"/>
                <a:gd name="T28" fmla="*/ 16 w 33"/>
                <a:gd name="T29" fmla="*/ 25 h 64"/>
                <a:gd name="T30" fmla="*/ 19 w 33"/>
                <a:gd name="T31" fmla="*/ 19 h 64"/>
                <a:gd name="T32" fmla="*/ 20 w 33"/>
                <a:gd name="T33" fmla="*/ 15 h 64"/>
                <a:gd name="T34" fmla="*/ 15 w 33"/>
                <a:gd name="T35" fmla="*/ 14 h 64"/>
                <a:gd name="T36" fmla="*/ 11 w 33"/>
                <a:gd name="T37" fmla="*/ 14 h 64"/>
                <a:gd name="T38" fmla="*/ 10 w 33"/>
                <a:gd name="T39" fmla="*/ 17 h 64"/>
                <a:gd name="T40" fmla="*/ 9 w 33"/>
                <a:gd name="T41" fmla="*/ 19 h 64"/>
                <a:gd name="T42" fmla="*/ 8 w 33"/>
                <a:gd name="T43" fmla="*/ 24 h 64"/>
                <a:gd name="T44" fmla="*/ 7 w 33"/>
                <a:gd name="T45" fmla="*/ 23 h 64"/>
                <a:gd name="T46" fmla="*/ 0 w 33"/>
                <a:gd name="T47" fmla="*/ 24 h 64"/>
                <a:gd name="T48" fmla="*/ 2 w 33"/>
                <a:gd name="T49" fmla="*/ 32 h 64"/>
                <a:gd name="T50" fmla="*/ 8 w 33"/>
                <a:gd name="T51" fmla="*/ 35 h 64"/>
                <a:gd name="T52" fmla="*/ 11 w 33"/>
                <a:gd name="T53" fmla="*/ 37 h 64"/>
                <a:gd name="T54" fmla="*/ 12 w 33"/>
                <a:gd name="T55" fmla="*/ 40 h 64"/>
                <a:gd name="T56" fmla="*/ 8 w 33"/>
                <a:gd name="T57" fmla="*/ 48 h 64"/>
                <a:gd name="T58" fmla="*/ 12 w 33"/>
                <a:gd name="T59" fmla="*/ 50 h 64"/>
                <a:gd name="T60" fmla="*/ 13 w 33"/>
                <a:gd name="T61" fmla="*/ 53 h 64"/>
                <a:gd name="T62" fmla="*/ 9 w 33"/>
                <a:gd name="T63" fmla="*/ 56 h 64"/>
                <a:gd name="T64" fmla="*/ 8 w 33"/>
                <a:gd name="T65" fmla="*/ 61 h 64"/>
                <a:gd name="T66" fmla="*/ 10 w 33"/>
                <a:gd name="T67" fmla="*/ 64 h 64"/>
                <a:gd name="T68" fmla="*/ 16 w 33"/>
                <a:gd name="T69" fmla="*/ 61 h 64"/>
                <a:gd name="T70" fmla="*/ 25 w 33"/>
                <a:gd name="T71" fmla="*/ 58 h 64"/>
                <a:gd name="T72" fmla="*/ 29 w 33"/>
                <a:gd name="T73" fmla="*/ 58 h 64"/>
                <a:gd name="T74" fmla="*/ 31 w 33"/>
                <a:gd name="T75" fmla="*/ 57 h 64"/>
                <a:gd name="T76" fmla="*/ 32 w 33"/>
                <a:gd name="T77" fmla="*/ 52 h 64"/>
                <a:gd name="T78" fmla="*/ 29 w 33"/>
                <a:gd name="T79" fmla="*/ 50 h 64"/>
                <a:gd name="T80" fmla="*/ 20 w 33"/>
                <a:gd name="T81" fmla="*/ 52 h 64"/>
                <a:gd name="T82" fmla="*/ 19 w 33"/>
                <a:gd name="T83" fmla="*/ 50 h 64"/>
                <a:gd name="T84" fmla="*/ 23 w 33"/>
                <a:gd name="T85" fmla="*/ 43 h 64"/>
                <a:gd name="T86" fmla="*/ 24 w 33"/>
                <a:gd name="T87" fmla="*/ 37 h 64"/>
                <a:gd name="T88" fmla="*/ 20 w 33"/>
                <a:gd name="T89" fmla="*/ 37 h 64"/>
                <a:gd name="T90" fmla="*/ 16 w 33"/>
                <a:gd name="T91" fmla="*/ 38 h 64"/>
                <a:gd name="T92" fmla="*/ 19 w 33"/>
                <a:gd name="T93" fmla="*/ 32 h 64"/>
                <a:gd name="T94" fmla="*/ 10 w 33"/>
                <a:gd name="T95" fmla="*/ 29 h 64"/>
                <a:gd name="T96" fmla="*/ 10 w 33"/>
                <a:gd name="T97" fmla="*/ 29 h 64"/>
                <a:gd name="T98" fmla="*/ 8 w 33"/>
                <a:gd name="T99" fmla="*/ 25 h 64"/>
                <a:gd name="T100" fmla="*/ 8 w 33"/>
                <a:gd name="T101" fmla="*/ 25 h 64"/>
                <a:gd name="T102" fmla="*/ 11 w 33"/>
                <a:gd name="T103" fmla="*/ 27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3" h="64">
                  <a:moveTo>
                    <a:pt x="19" y="32"/>
                  </a:moveTo>
                  <a:cubicBezTo>
                    <a:pt x="20" y="32"/>
                    <a:pt x="21" y="31"/>
                    <a:pt x="22" y="29"/>
                  </a:cubicBezTo>
                  <a:cubicBezTo>
                    <a:pt x="22" y="29"/>
                    <a:pt x="22" y="28"/>
                    <a:pt x="22" y="28"/>
                  </a:cubicBezTo>
                  <a:cubicBezTo>
                    <a:pt x="23" y="27"/>
                    <a:pt x="23" y="25"/>
                    <a:pt x="24" y="24"/>
                  </a:cubicBezTo>
                  <a:cubicBezTo>
                    <a:pt x="24" y="23"/>
                    <a:pt x="25" y="22"/>
                    <a:pt x="25" y="20"/>
                  </a:cubicBezTo>
                  <a:cubicBezTo>
                    <a:pt x="26" y="17"/>
                    <a:pt x="27" y="14"/>
                    <a:pt x="27" y="11"/>
                  </a:cubicBezTo>
                  <a:cubicBezTo>
                    <a:pt x="27" y="10"/>
                    <a:pt x="27" y="8"/>
                    <a:pt x="27" y="7"/>
                  </a:cubicBezTo>
                  <a:cubicBezTo>
                    <a:pt x="26" y="6"/>
                    <a:pt x="26" y="5"/>
                    <a:pt x="25" y="4"/>
                  </a:cubicBezTo>
                  <a:cubicBezTo>
                    <a:pt x="24" y="2"/>
                    <a:pt x="23" y="1"/>
                    <a:pt x="21" y="0"/>
                  </a:cubicBezTo>
                  <a:cubicBezTo>
                    <a:pt x="20" y="0"/>
                    <a:pt x="18" y="0"/>
                    <a:pt x="17" y="0"/>
                  </a:cubicBezTo>
                  <a:cubicBezTo>
                    <a:pt x="17" y="0"/>
                    <a:pt x="16" y="0"/>
                    <a:pt x="16" y="0"/>
                  </a:cubicBezTo>
                  <a:cubicBezTo>
                    <a:pt x="16" y="0"/>
                    <a:pt x="15" y="0"/>
                    <a:pt x="15" y="1"/>
                  </a:cubicBezTo>
                  <a:cubicBezTo>
                    <a:pt x="14" y="1"/>
                    <a:pt x="13" y="1"/>
                    <a:pt x="12" y="1"/>
                  </a:cubicBezTo>
                  <a:cubicBezTo>
                    <a:pt x="10" y="3"/>
                    <a:pt x="8" y="5"/>
                    <a:pt x="6" y="7"/>
                  </a:cubicBezTo>
                  <a:cubicBezTo>
                    <a:pt x="5" y="8"/>
                    <a:pt x="5" y="9"/>
                    <a:pt x="4" y="11"/>
                  </a:cubicBezTo>
                  <a:cubicBezTo>
                    <a:pt x="4" y="12"/>
                    <a:pt x="3" y="12"/>
                    <a:pt x="3" y="13"/>
                  </a:cubicBezTo>
                  <a:cubicBezTo>
                    <a:pt x="3" y="14"/>
                    <a:pt x="3" y="15"/>
                    <a:pt x="4" y="15"/>
                  </a:cubicBezTo>
                  <a:cubicBezTo>
                    <a:pt x="4" y="15"/>
                    <a:pt x="5" y="15"/>
                    <a:pt x="6" y="15"/>
                  </a:cubicBezTo>
                  <a:cubicBezTo>
                    <a:pt x="7" y="15"/>
                    <a:pt x="8" y="15"/>
                    <a:pt x="8" y="15"/>
                  </a:cubicBezTo>
                  <a:cubicBezTo>
                    <a:pt x="9" y="15"/>
                    <a:pt x="9" y="15"/>
                    <a:pt x="10" y="14"/>
                  </a:cubicBezTo>
                  <a:cubicBezTo>
                    <a:pt x="11" y="13"/>
                    <a:pt x="11" y="12"/>
                    <a:pt x="12" y="11"/>
                  </a:cubicBezTo>
                  <a:cubicBezTo>
                    <a:pt x="14" y="9"/>
                    <a:pt x="16" y="7"/>
                    <a:pt x="18" y="6"/>
                  </a:cubicBezTo>
                  <a:cubicBezTo>
                    <a:pt x="19" y="6"/>
                    <a:pt x="20" y="6"/>
                    <a:pt x="20" y="6"/>
                  </a:cubicBezTo>
                  <a:cubicBezTo>
                    <a:pt x="21" y="7"/>
                    <a:pt x="22" y="8"/>
                    <a:pt x="22" y="10"/>
                  </a:cubicBezTo>
                  <a:cubicBezTo>
                    <a:pt x="22" y="11"/>
                    <a:pt x="22" y="12"/>
                    <a:pt x="22" y="13"/>
                  </a:cubicBezTo>
                  <a:cubicBezTo>
                    <a:pt x="22" y="15"/>
                    <a:pt x="22" y="17"/>
                    <a:pt x="21" y="18"/>
                  </a:cubicBezTo>
                  <a:cubicBezTo>
                    <a:pt x="21" y="20"/>
                    <a:pt x="20" y="22"/>
                    <a:pt x="20" y="24"/>
                  </a:cubicBezTo>
                  <a:cubicBezTo>
                    <a:pt x="20" y="25"/>
                    <a:pt x="19" y="26"/>
                    <a:pt x="18" y="26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6" y="26"/>
                    <a:pt x="16" y="26"/>
                    <a:pt x="16" y="25"/>
                  </a:cubicBezTo>
                  <a:cubicBezTo>
                    <a:pt x="16" y="24"/>
                    <a:pt x="16" y="23"/>
                    <a:pt x="16" y="22"/>
                  </a:cubicBezTo>
                  <a:cubicBezTo>
                    <a:pt x="17" y="21"/>
                    <a:pt x="18" y="20"/>
                    <a:pt x="19" y="19"/>
                  </a:cubicBezTo>
                  <a:cubicBezTo>
                    <a:pt x="19" y="19"/>
                    <a:pt x="19" y="18"/>
                    <a:pt x="19" y="18"/>
                  </a:cubicBezTo>
                  <a:cubicBezTo>
                    <a:pt x="20" y="17"/>
                    <a:pt x="20" y="16"/>
                    <a:pt x="20" y="15"/>
                  </a:cubicBezTo>
                  <a:cubicBezTo>
                    <a:pt x="20" y="15"/>
                    <a:pt x="20" y="15"/>
                    <a:pt x="19" y="15"/>
                  </a:cubicBezTo>
                  <a:cubicBezTo>
                    <a:pt x="18" y="14"/>
                    <a:pt x="17" y="13"/>
                    <a:pt x="15" y="14"/>
                  </a:cubicBezTo>
                  <a:cubicBezTo>
                    <a:pt x="15" y="14"/>
                    <a:pt x="14" y="14"/>
                    <a:pt x="14" y="14"/>
                  </a:cubicBezTo>
                  <a:cubicBezTo>
                    <a:pt x="13" y="13"/>
                    <a:pt x="11" y="13"/>
                    <a:pt x="11" y="14"/>
                  </a:cubicBezTo>
                  <a:cubicBezTo>
                    <a:pt x="10" y="15"/>
                    <a:pt x="10" y="15"/>
                    <a:pt x="10" y="16"/>
                  </a:cubicBezTo>
                  <a:cubicBezTo>
                    <a:pt x="10" y="16"/>
                    <a:pt x="10" y="17"/>
                    <a:pt x="10" y="17"/>
                  </a:cubicBezTo>
                  <a:cubicBezTo>
                    <a:pt x="10" y="17"/>
                    <a:pt x="10" y="18"/>
                    <a:pt x="10" y="18"/>
                  </a:cubicBezTo>
                  <a:cubicBezTo>
                    <a:pt x="10" y="18"/>
                    <a:pt x="9" y="19"/>
                    <a:pt x="9" y="19"/>
                  </a:cubicBezTo>
                  <a:cubicBezTo>
                    <a:pt x="8" y="20"/>
                    <a:pt x="8" y="22"/>
                    <a:pt x="8" y="23"/>
                  </a:cubicBezTo>
                  <a:cubicBezTo>
                    <a:pt x="8" y="23"/>
                    <a:pt x="8" y="24"/>
                    <a:pt x="8" y="24"/>
                  </a:cubicBezTo>
                  <a:cubicBezTo>
                    <a:pt x="8" y="24"/>
                    <a:pt x="7" y="24"/>
                    <a:pt x="7" y="24"/>
                  </a:cubicBezTo>
                  <a:cubicBezTo>
                    <a:pt x="7" y="24"/>
                    <a:pt x="7" y="23"/>
                    <a:pt x="7" y="23"/>
                  </a:cubicBezTo>
                  <a:cubicBezTo>
                    <a:pt x="6" y="22"/>
                    <a:pt x="5" y="21"/>
                    <a:pt x="3" y="21"/>
                  </a:cubicBezTo>
                  <a:cubicBezTo>
                    <a:pt x="2" y="21"/>
                    <a:pt x="0" y="22"/>
                    <a:pt x="0" y="24"/>
                  </a:cubicBezTo>
                  <a:cubicBezTo>
                    <a:pt x="0" y="26"/>
                    <a:pt x="1" y="28"/>
                    <a:pt x="1" y="29"/>
                  </a:cubicBezTo>
                  <a:cubicBezTo>
                    <a:pt x="2" y="30"/>
                    <a:pt x="2" y="31"/>
                    <a:pt x="2" y="32"/>
                  </a:cubicBezTo>
                  <a:cubicBezTo>
                    <a:pt x="3" y="34"/>
                    <a:pt x="4" y="35"/>
                    <a:pt x="6" y="35"/>
                  </a:cubicBezTo>
                  <a:cubicBezTo>
                    <a:pt x="7" y="35"/>
                    <a:pt x="7" y="35"/>
                    <a:pt x="8" y="35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9" y="37"/>
                    <a:pt x="10" y="37"/>
                    <a:pt x="11" y="37"/>
                  </a:cubicBezTo>
                  <a:cubicBezTo>
                    <a:pt x="12" y="37"/>
                    <a:pt x="12" y="37"/>
                    <a:pt x="12" y="38"/>
                  </a:cubicBezTo>
                  <a:cubicBezTo>
                    <a:pt x="12" y="39"/>
                    <a:pt x="12" y="39"/>
                    <a:pt x="12" y="40"/>
                  </a:cubicBezTo>
                  <a:cubicBezTo>
                    <a:pt x="12" y="42"/>
                    <a:pt x="12" y="43"/>
                    <a:pt x="11" y="44"/>
                  </a:cubicBezTo>
                  <a:cubicBezTo>
                    <a:pt x="10" y="45"/>
                    <a:pt x="9" y="47"/>
                    <a:pt x="8" y="48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9" y="50"/>
                    <a:pt x="11" y="50"/>
                    <a:pt x="12" y="50"/>
                  </a:cubicBezTo>
                  <a:cubicBezTo>
                    <a:pt x="13" y="50"/>
                    <a:pt x="13" y="50"/>
                    <a:pt x="13" y="51"/>
                  </a:cubicBezTo>
                  <a:cubicBezTo>
                    <a:pt x="13" y="51"/>
                    <a:pt x="13" y="52"/>
                    <a:pt x="13" y="53"/>
                  </a:cubicBezTo>
                  <a:cubicBezTo>
                    <a:pt x="13" y="54"/>
                    <a:pt x="13" y="54"/>
                    <a:pt x="12" y="54"/>
                  </a:cubicBezTo>
                  <a:cubicBezTo>
                    <a:pt x="11" y="55"/>
                    <a:pt x="10" y="55"/>
                    <a:pt x="9" y="56"/>
                  </a:cubicBezTo>
                  <a:cubicBezTo>
                    <a:pt x="9" y="57"/>
                    <a:pt x="9" y="57"/>
                    <a:pt x="8" y="57"/>
                  </a:cubicBezTo>
                  <a:cubicBezTo>
                    <a:pt x="7" y="59"/>
                    <a:pt x="7" y="60"/>
                    <a:pt x="8" y="61"/>
                  </a:cubicBezTo>
                  <a:cubicBezTo>
                    <a:pt x="8" y="62"/>
                    <a:pt x="8" y="62"/>
                    <a:pt x="9" y="62"/>
                  </a:cubicBezTo>
                  <a:cubicBezTo>
                    <a:pt x="9" y="63"/>
                    <a:pt x="10" y="64"/>
                    <a:pt x="10" y="64"/>
                  </a:cubicBezTo>
                  <a:cubicBezTo>
                    <a:pt x="11" y="63"/>
                    <a:pt x="12" y="63"/>
                    <a:pt x="13" y="63"/>
                  </a:cubicBezTo>
                  <a:cubicBezTo>
                    <a:pt x="14" y="62"/>
                    <a:pt x="15" y="61"/>
                    <a:pt x="16" y="61"/>
                  </a:cubicBezTo>
                  <a:cubicBezTo>
                    <a:pt x="17" y="60"/>
                    <a:pt x="18" y="60"/>
                    <a:pt x="19" y="59"/>
                  </a:cubicBezTo>
                  <a:cubicBezTo>
                    <a:pt x="21" y="58"/>
                    <a:pt x="23" y="58"/>
                    <a:pt x="25" y="58"/>
                  </a:cubicBezTo>
                  <a:cubicBezTo>
                    <a:pt x="26" y="58"/>
                    <a:pt x="27" y="58"/>
                    <a:pt x="28" y="58"/>
                  </a:cubicBezTo>
                  <a:cubicBezTo>
                    <a:pt x="28" y="58"/>
                    <a:pt x="28" y="58"/>
                    <a:pt x="29" y="58"/>
                  </a:cubicBezTo>
                  <a:cubicBezTo>
                    <a:pt x="29" y="58"/>
                    <a:pt x="30" y="58"/>
                    <a:pt x="30" y="57"/>
                  </a:cubicBezTo>
                  <a:cubicBezTo>
                    <a:pt x="31" y="57"/>
                    <a:pt x="31" y="57"/>
                    <a:pt x="31" y="57"/>
                  </a:cubicBezTo>
                  <a:cubicBezTo>
                    <a:pt x="31" y="56"/>
                    <a:pt x="32" y="55"/>
                    <a:pt x="32" y="55"/>
                  </a:cubicBezTo>
                  <a:cubicBezTo>
                    <a:pt x="32" y="54"/>
                    <a:pt x="32" y="53"/>
                    <a:pt x="32" y="52"/>
                  </a:cubicBezTo>
                  <a:cubicBezTo>
                    <a:pt x="33" y="51"/>
                    <a:pt x="32" y="51"/>
                    <a:pt x="32" y="50"/>
                  </a:cubicBezTo>
                  <a:cubicBezTo>
                    <a:pt x="31" y="50"/>
                    <a:pt x="30" y="50"/>
                    <a:pt x="29" y="50"/>
                  </a:cubicBezTo>
                  <a:cubicBezTo>
                    <a:pt x="28" y="50"/>
                    <a:pt x="27" y="50"/>
                    <a:pt x="26" y="50"/>
                  </a:cubicBezTo>
                  <a:cubicBezTo>
                    <a:pt x="24" y="50"/>
                    <a:pt x="22" y="51"/>
                    <a:pt x="20" y="52"/>
                  </a:cubicBezTo>
                  <a:cubicBezTo>
                    <a:pt x="20" y="52"/>
                    <a:pt x="20" y="51"/>
                    <a:pt x="19" y="51"/>
                  </a:cubicBezTo>
                  <a:cubicBezTo>
                    <a:pt x="19" y="51"/>
                    <a:pt x="19" y="50"/>
                    <a:pt x="19" y="50"/>
                  </a:cubicBezTo>
                  <a:cubicBezTo>
                    <a:pt x="18" y="48"/>
                    <a:pt x="18" y="47"/>
                    <a:pt x="19" y="46"/>
                  </a:cubicBezTo>
                  <a:cubicBezTo>
                    <a:pt x="20" y="45"/>
                    <a:pt x="21" y="44"/>
                    <a:pt x="23" y="43"/>
                  </a:cubicBezTo>
                  <a:cubicBezTo>
                    <a:pt x="24" y="42"/>
                    <a:pt x="25" y="39"/>
                    <a:pt x="24" y="38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6"/>
                    <a:pt x="23" y="36"/>
                    <a:pt x="22" y="36"/>
                  </a:cubicBezTo>
                  <a:cubicBezTo>
                    <a:pt x="21" y="36"/>
                    <a:pt x="20" y="37"/>
                    <a:pt x="20" y="37"/>
                  </a:cubicBezTo>
                  <a:cubicBezTo>
                    <a:pt x="19" y="37"/>
                    <a:pt x="18" y="38"/>
                    <a:pt x="17" y="38"/>
                  </a:cubicBezTo>
                  <a:cubicBezTo>
                    <a:pt x="17" y="39"/>
                    <a:pt x="17" y="39"/>
                    <a:pt x="16" y="38"/>
                  </a:cubicBezTo>
                  <a:cubicBezTo>
                    <a:pt x="16" y="37"/>
                    <a:pt x="16" y="36"/>
                    <a:pt x="16" y="36"/>
                  </a:cubicBezTo>
                  <a:cubicBezTo>
                    <a:pt x="16" y="34"/>
                    <a:pt x="17" y="33"/>
                    <a:pt x="19" y="32"/>
                  </a:cubicBezTo>
                  <a:close/>
                  <a:moveTo>
                    <a:pt x="11" y="27"/>
                  </a:moveTo>
                  <a:cubicBezTo>
                    <a:pt x="11" y="28"/>
                    <a:pt x="10" y="29"/>
                    <a:pt x="10" y="29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0"/>
                    <a:pt x="10" y="29"/>
                    <a:pt x="10" y="29"/>
                  </a:cubicBezTo>
                  <a:cubicBezTo>
                    <a:pt x="9" y="28"/>
                    <a:pt x="9" y="27"/>
                    <a:pt x="8" y="25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9" y="26"/>
                    <a:pt x="10" y="26"/>
                    <a:pt x="11" y="26"/>
                  </a:cubicBezTo>
                  <a:cubicBezTo>
                    <a:pt x="11" y="26"/>
                    <a:pt x="11" y="27"/>
                    <a:pt x="11" y="27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3" name="išḷîḓe">
              <a:extLst>
                <a:ext uri="{FF2B5EF4-FFF2-40B4-BE49-F238E27FC236}">
                  <a16:creationId xmlns:a16="http://schemas.microsoft.com/office/drawing/2014/main" id="{BFF5C089-E738-4EEC-3921-840A5ED40CF7}"/>
                </a:ext>
              </a:extLst>
            </p:cNvPr>
            <p:cNvSpPr/>
            <p:nvPr/>
          </p:nvSpPr>
          <p:spPr bwMode="auto">
            <a:xfrm>
              <a:off x="2709863" y="2620963"/>
              <a:ext cx="73025" cy="174625"/>
            </a:xfrm>
            <a:custGeom>
              <a:avLst/>
              <a:gdLst>
                <a:gd name="T0" fmla="*/ 20 w 20"/>
                <a:gd name="T1" fmla="*/ 22 h 48"/>
                <a:gd name="T2" fmla="*/ 20 w 20"/>
                <a:gd name="T3" fmla="*/ 21 h 48"/>
                <a:gd name="T4" fmla="*/ 19 w 20"/>
                <a:gd name="T5" fmla="*/ 22 h 48"/>
                <a:gd name="T6" fmla="*/ 18 w 20"/>
                <a:gd name="T7" fmla="*/ 29 h 48"/>
                <a:gd name="T8" fmla="*/ 16 w 20"/>
                <a:gd name="T9" fmla="*/ 34 h 48"/>
                <a:gd name="T10" fmla="*/ 14 w 20"/>
                <a:gd name="T11" fmla="*/ 39 h 48"/>
                <a:gd name="T12" fmla="*/ 14 w 20"/>
                <a:gd name="T13" fmla="*/ 39 h 48"/>
                <a:gd name="T14" fmla="*/ 13 w 20"/>
                <a:gd name="T15" fmla="*/ 39 h 48"/>
                <a:gd name="T16" fmla="*/ 14 w 20"/>
                <a:gd name="T17" fmla="*/ 37 h 48"/>
                <a:gd name="T18" fmla="*/ 14 w 20"/>
                <a:gd name="T19" fmla="*/ 33 h 48"/>
                <a:gd name="T20" fmla="*/ 15 w 20"/>
                <a:gd name="T21" fmla="*/ 27 h 48"/>
                <a:gd name="T22" fmla="*/ 16 w 20"/>
                <a:gd name="T23" fmla="*/ 22 h 48"/>
                <a:gd name="T24" fmla="*/ 15 w 20"/>
                <a:gd name="T25" fmla="*/ 19 h 48"/>
                <a:gd name="T26" fmla="*/ 14 w 20"/>
                <a:gd name="T27" fmla="*/ 18 h 48"/>
                <a:gd name="T28" fmla="*/ 14 w 20"/>
                <a:gd name="T29" fmla="*/ 14 h 48"/>
                <a:gd name="T30" fmla="*/ 14 w 20"/>
                <a:gd name="T31" fmla="*/ 9 h 48"/>
                <a:gd name="T32" fmla="*/ 15 w 20"/>
                <a:gd name="T33" fmla="*/ 6 h 48"/>
                <a:gd name="T34" fmla="*/ 15 w 20"/>
                <a:gd name="T35" fmla="*/ 2 h 48"/>
                <a:gd name="T36" fmla="*/ 13 w 20"/>
                <a:gd name="T37" fmla="*/ 0 h 48"/>
                <a:gd name="T38" fmla="*/ 10 w 20"/>
                <a:gd name="T39" fmla="*/ 0 h 48"/>
                <a:gd name="T40" fmla="*/ 7 w 20"/>
                <a:gd name="T41" fmla="*/ 2 h 48"/>
                <a:gd name="T42" fmla="*/ 4 w 20"/>
                <a:gd name="T43" fmla="*/ 5 h 48"/>
                <a:gd name="T44" fmla="*/ 1 w 20"/>
                <a:gd name="T45" fmla="*/ 7 h 48"/>
                <a:gd name="T46" fmla="*/ 0 w 20"/>
                <a:gd name="T47" fmla="*/ 9 h 48"/>
                <a:gd name="T48" fmla="*/ 2 w 20"/>
                <a:gd name="T49" fmla="*/ 12 h 48"/>
                <a:gd name="T50" fmla="*/ 3 w 20"/>
                <a:gd name="T51" fmla="*/ 12 h 48"/>
                <a:gd name="T52" fmla="*/ 7 w 20"/>
                <a:gd name="T53" fmla="*/ 13 h 48"/>
                <a:gd name="T54" fmla="*/ 10 w 20"/>
                <a:gd name="T55" fmla="*/ 11 h 48"/>
                <a:gd name="T56" fmla="*/ 11 w 20"/>
                <a:gd name="T57" fmla="*/ 11 h 48"/>
                <a:gd name="T58" fmla="*/ 11 w 20"/>
                <a:gd name="T59" fmla="*/ 13 h 48"/>
                <a:gd name="T60" fmla="*/ 12 w 20"/>
                <a:gd name="T61" fmla="*/ 18 h 48"/>
                <a:gd name="T62" fmla="*/ 10 w 20"/>
                <a:gd name="T63" fmla="*/ 19 h 48"/>
                <a:gd name="T64" fmla="*/ 8 w 20"/>
                <a:gd name="T65" fmla="*/ 20 h 48"/>
                <a:gd name="T66" fmla="*/ 3 w 20"/>
                <a:gd name="T67" fmla="*/ 27 h 48"/>
                <a:gd name="T68" fmla="*/ 4 w 20"/>
                <a:gd name="T69" fmla="*/ 32 h 48"/>
                <a:gd name="T70" fmla="*/ 9 w 20"/>
                <a:gd name="T71" fmla="*/ 35 h 48"/>
                <a:gd name="T72" fmla="*/ 9 w 20"/>
                <a:gd name="T73" fmla="*/ 35 h 48"/>
                <a:gd name="T74" fmla="*/ 9 w 20"/>
                <a:gd name="T75" fmla="*/ 42 h 48"/>
                <a:gd name="T76" fmla="*/ 9 w 20"/>
                <a:gd name="T77" fmla="*/ 46 h 48"/>
                <a:gd name="T78" fmla="*/ 12 w 20"/>
                <a:gd name="T79" fmla="*/ 47 h 48"/>
                <a:gd name="T80" fmla="*/ 14 w 20"/>
                <a:gd name="T81" fmla="*/ 46 h 48"/>
                <a:gd name="T82" fmla="*/ 17 w 20"/>
                <a:gd name="T83" fmla="*/ 38 h 48"/>
                <a:gd name="T84" fmla="*/ 18 w 20"/>
                <a:gd name="T85" fmla="*/ 35 h 48"/>
                <a:gd name="T86" fmla="*/ 19 w 20"/>
                <a:gd name="T87" fmla="*/ 31 h 48"/>
                <a:gd name="T88" fmla="*/ 19 w 20"/>
                <a:gd name="T89" fmla="*/ 27 h 48"/>
                <a:gd name="T90" fmla="*/ 20 w 20"/>
                <a:gd name="T91" fmla="*/ 23 h 48"/>
                <a:gd name="T92" fmla="*/ 20 w 20"/>
                <a:gd name="T93" fmla="*/ 22 h 48"/>
                <a:gd name="T94" fmla="*/ 10 w 20"/>
                <a:gd name="T95" fmla="*/ 28 h 48"/>
                <a:gd name="T96" fmla="*/ 10 w 20"/>
                <a:gd name="T97" fmla="*/ 29 h 48"/>
                <a:gd name="T98" fmla="*/ 9 w 20"/>
                <a:gd name="T99" fmla="*/ 30 h 48"/>
                <a:gd name="T100" fmla="*/ 8 w 20"/>
                <a:gd name="T101" fmla="*/ 28 h 48"/>
                <a:gd name="T102" fmla="*/ 10 w 20"/>
                <a:gd name="T103" fmla="*/ 24 h 48"/>
                <a:gd name="T104" fmla="*/ 10 w 20"/>
                <a:gd name="T105" fmla="*/ 24 h 48"/>
                <a:gd name="T106" fmla="*/ 10 w 20"/>
                <a:gd name="T107" fmla="*/ 25 h 48"/>
                <a:gd name="T108" fmla="*/ 10 w 20"/>
                <a:gd name="T109" fmla="*/ 2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" h="48">
                  <a:moveTo>
                    <a:pt x="20" y="22"/>
                  </a:moveTo>
                  <a:cubicBezTo>
                    <a:pt x="20" y="22"/>
                    <a:pt x="20" y="21"/>
                    <a:pt x="20" y="21"/>
                  </a:cubicBezTo>
                  <a:cubicBezTo>
                    <a:pt x="19" y="21"/>
                    <a:pt x="19" y="22"/>
                    <a:pt x="19" y="22"/>
                  </a:cubicBezTo>
                  <a:cubicBezTo>
                    <a:pt x="19" y="24"/>
                    <a:pt x="18" y="26"/>
                    <a:pt x="18" y="29"/>
                  </a:cubicBezTo>
                  <a:cubicBezTo>
                    <a:pt x="17" y="30"/>
                    <a:pt x="17" y="32"/>
                    <a:pt x="16" y="34"/>
                  </a:cubicBezTo>
                  <a:cubicBezTo>
                    <a:pt x="16" y="36"/>
                    <a:pt x="15" y="37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8"/>
                    <a:pt x="14" y="38"/>
                    <a:pt x="14" y="37"/>
                  </a:cubicBezTo>
                  <a:cubicBezTo>
                    <a:pt x="14" y="36"/>
                    <a:pt x="14" y="35"/>
                    <a:pt x="14" y="33"/>
                  </a:cubicBezTo>
                  <a:cubicBezTo>
                    <a:pt x="15" y="31"/>
                    <a:pt x="15" y="29"/>
                    <a:pt x="15" y="27"/>
                  </a:cubicBezTo>
                  <a:cubicBezTo>
                    <a:pt x="16" y="25"/>
                    <a:pt x="16" y="23"/>
                    <a:pt x="16" y="22"/>
                  </a:cubicBezTo>
                  <a:cubicBezTo>
                    <a:pt x="16" y="21"/>
                    <a:pt x="15" y="20"/>
                    <a:pt x="15" y="19"/>
                  </a:cubicBezTo>
                  <a:cubicBezTo>
                    <a:pt x="14" y="19"/>
                    <a:pt x="14" y="18"/>
                    <a:pt x="14" y="18"/>
                  </a:cubicBezTo>
                  <a:cubicBezTo>
                    <a:pt x="14" y="17"/>
                    <a:pt x="14" y="15"/>
                    <a:pt x="14" y="14"/>
                  </a:cubicBezTo>
                  <a:cubicBezTo>
                    <a:pt x="13" y="12"/>
                    <a:pt x="13" y="10"/>
                    <a:pt x="14" y="9"/>
                  </a:cubicBezTo>
                  <a:cubicBezTo>
                    <a:pt x="14" y="8"/>
                    <a:pt x="14" y="7"/>
                    <a:pt x="15" y="6"/>
                  </a:cubicBezTo>
                  <a:cubicBezTo>
                    <a:pt x="16" y="5"/>
                    <a:pt x="16" y="3"/>
                    <a:pt x="15" y="2"/>
                  </a:cubicBezTo>
                  <a:cubicBezTo>
                    <a:pt x="15" y="1"/>
                    <a:pt x="14" y="0"/>
                    <a:pt x="13" y="0"/>
                  </a:cubicBezTo>
                  <a:cubicBezTo>
                    <a:pt x="12" y="0"/>
                    <a:pt x="11" y="0"/>
                    <a:pt x="10" y="0"/>
                  </a:cubicBezTo>
                  <a:cubicBezTo>
                    <a:pt x="9" y="1"/>
                    <a:pt x="8" y="2"/>
                    <a:pt x="7" y="2"/>
                  </a:cubicBezTo>
                  <a:cubicBezTo>
                    <a:pt x="6" y="3"/>
                    <a:pt x="5" y="4"/>
                    <a:pt x="4" y="5"/>
                  </a:cubicBezTo>
                  <a:cubicBezTo>
                    <a:pt x="3" y="5"/>
                    <a:pt x="2" y="6"/>
                    <a:pt x="1" y="7"/>
                  </a:cubicBezTo>
                  <a:cubicBezTo>
                    <a:pt x="0" y="7"/>
                    <a:pt x="0" y="8"/>
                    <a:pt x="0" y="9"/>
                  </a:cubicBezTo>
                  <a:cubicBezTo>
                    <a:pt x="1" y="10"/>
                    <a:pt x="1" y="11"/>
                    <a:pt x="2" y="12"/>
                  </a:cubicBezTo>
                  <a:cubicBezTo>
                    <a:pt x="2" y="12"/>
                    <a:pt x="3" y="12"/>
                    <a:pt x="3" y="12"/>
                  </a:cubicBezTo>
                  <a:cubicBezTo>
                    <a:pt x="4" y="13"/>
                    <a:pt x="6" y="14"/>
                    <a:pt x="7" y="13"/>
                  </a:cubicBezTo>
                  <a:cubicBezTo>
                    <a:pt x="8" y="12"/>
                    <a:pt x="9" y="11"/>
                    <a:pt x="10" y="11"/>
                  </a:cubicBezTo>
                  <a:cubicBezTo>
                    <a:pt x="10" y="10"/>
                    <a:pt x="10" y="10"/>
                    <a:pt x="11" y="11"/>
                  </a:cubicBezTo>
                  <a:cubicBezTo>
                    <a:pt x="11" y="11"/>
                    <a:pt x="11" y="12"/>
                    <a:pt x="11" y="13"/>
                  </a:cubicBezTo>
                  <a:cubicBezTo>
                    <a:pt x="11" y="14"/>
                    <a:pt x="12" y="16"/>
                    <a:pt x="12" y="18"/>
                  </a:cubicBezTo>
                  <a:cubicBezTo>
                    <a:pt x="12" y="19"/>
                    <a:pt x="11" y="19"/>
                    <a:pt x="10" y="19"/>
                  </a:cubicBezTo>
                  <a:cubicBezTo>
                    <a:pt x="9" y="20"/>
                    <a:pt x="8" y="20"/>
                    <a:pt x="8" y="20"/>
                  </a:cubicBezTo>
                  <a:cubicBezTo>
                    <a:pt x="5" y="22"/>
                    <a:pt x="4" y="24"/>
                    <a:pt x="3" y="27"/>
                  </a:cubicBezTo>
                  <a:cubicBezTo>
                    <a:pt x="3" y="29"/>
                    <a:pt x="3" y="31"/>
                    <a:pt x="4" y="32"/>
                  </a:cubicBezTo>
                  <a:cubicBezTo>
                    <a:pt x="5" y="34"/>
                    <a:pt x="7" y="35"/>
                    <a:pt x="9" y="35"/>
                  </a:cubicBezTo>
                  <a:cubicBezTo>
                    <a:pt x="9" y="35"/>
                    <a:pt x="10" y="35"/>
                    <a:pt x="9" y="35"/>
                  </a:cubicBezTo>
                  <a:cubicBezTo>
                    <a:pt x="9" y="38"/>
                    <a:pt x="9" y="40"/>
                    <a:pt x="9" y="42"/>
                  </a:cubicBezTo>
                  <a:cubicBezTo>
                    <a:pt x="9" y="43"/>
                    <a:pt x="9" y="44"/>
                    <a:pt x="9" y="46"/>
                  </a:cubicBezTo>
                  <a:cubicBezTo>
                    <a:pt x="10" y="47"/>
                    <a:pt x="11" y="48"/>
                    <a:pt x="12" y="47"/>
                  </a:cubicBezTo>
                  <a:cubicBezTo>
                    <a:pt x="13" y="47"/>
                    <a:pt x="13" y="47"/>
                    <a:pt x="14" y="46"/>
                  </a:cubicBezTo>
                  <a:cubicBezTo>
                    <a:pt x="16" y="44"/>
                    <a:pt x="16" y="41"/>
                    <a:pt x="17" y="38"/>
                  </a:cubicBezTo>
                  <a:cubicBezTo>
                    <a:pt x="17" y="37"/>
                    <a:pt x="18" y="36"/>
                    <a:pt x="18" y="35"/>
                  </a:cubicBezTo>
                  <a:cubicBezTo>
                    <a:pt x="18" y="34"/>
                    <a:pt x="19" y="32"/>
                    <a:pt x="19" y="31"/>
                  </a:cubicBezTo>
                  <a:cubicBezTo>
                    <a:pt x="19" y="30"/>
                    <a:pt x="19" y="27"/>
                    <a:pt x="19" y="27"/>
                  </a:cubicBezTo>
                  <a:cubicBezTo>
                    <a:pt x="19" y="26"/>
                    <a:pt x="20" y="25"/>
                    <a:pt x="20" y="23"/>
                  </a:cubicBezTo>
                  <a:cubicBezTo>
                    <a:pt x="20" y="23"/>
                    <a:pt x="20" y="22"/>
                    <a:pt x="20" y="22"/>
                  </a:cubicBezTo>
                  <a:close/>
                  <a:moveTo>
                    <a:pt x="10" y="28"/>
                  </a:moveTo>
                  <a:cubicBezTo>
                    <a:pt x="10" y="28"/>
                    <a:pt x="10" y="29"/>
                    <a:pt x="10" y="29"/>
                  </a:cubicBezTo>
                  <a:cubicBezTo>
                    <a:pt x="10" y="29"/>
                    <a:pt x="10" y="30"/>
                    <a:pt x="9" y="30"/>
                  </a:cubicBezTo>
                  <a:cubicBezTo>
                    <a:pt x="8" y="30"/>
                    <a:pt x="8" y="29"/>
                    <a:pt x="8" y="28"/>
                  </a:cubicBezTo>
                  <a:cubicBezTo>
                    <a:pt x="8" y="27"/>
                    <a:pt x="9" y="25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5"/>
                    <a:pt x="11" y="25"/>
                    <a:pt x="10" y="25"/>
                  </a:cubicBezTo>
                  <a:cubicBezTo>
                    <a:pt x="10" y="26"/>
                    <a:pt x="10" y="27"/>
                    <a:pt x="10" y="28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4" name="ïṩļidê">
              <a:extLst>
                <a:ext uri="{FF2B5EF4-FFF2-40B4-BE49-F238E27FC236}">
                  <a16:creationId xmlns:a16="http://schemas.microsoft.com/office/drawing/2014/main" id="{D3B4BE40-9947-3E4C-6AE9-97713FC0E01B}"/>
                </a:ext>
              </a:extLst>
            </p:cNvPr>
            <p:cNvSpPr/>
            <p:nvPr/>
          </p:nvSpPr>
          <p:spPr bwMode="auto">
            <a:xfrm>
              <a:off x="3038475" y="2620963"/>
              <a:ext cx="136525" cy="115888"/>
            </a:xfrm>
            <a:custGeom>
              <a:avLst/>
              <a:gdLst>
                <a:gd name="T0" fmla="*/ 36 w 38"/>
                <a:gd name="T1" fmla="*/ 22 h 32"/>
                <a:gd name="T2" fmla="*/ 34 w 38"/>
                <a:gd name="T3" fmla="*/ 22 h 32"/>
                <a:gd name="T4" fmla="*/ 32 w 38"/>
                <a:gd name="T5" fmla="*/ 22 h 32"/>
                <a:gd name="T6" fmla="*/ 28 w 38"/>
                <a:gd name="T7" fmla="*/ 22 h 32"/>
                <a:gd name="T8" fmla="*/ 27 w 38"/>
                <a:gd name="T9" fmla="*/ 21 h 32"/>
                <a:gd name="T10" fmla="*/ 28 w 38"/>
                <a:gd name="T11" fmla="*/ 21 h 32"/>
                <a:gd name="T12" fmla="*/ 32 w 38"/>
                <a:gd name="T13" fmla="*/ 16 h 32"/>
                <a:gd name="T14" fmla="*/ 35 w 38"/>
                <a:gd name="T15" fmla="*/ 11 h 32"/>
                <a:gd name="T16" fmla="*/ 35 w 38"/>
                <a:gd name="T17" fmla="*/ 8 h 32"/>
                <a:gd name="T18" fmla="*/ 35 w 38"/>
                <a:gd name="T19" fmla="*/ 7 h 32"/>
                <a:gd name="T20" fmla="*/ 34 w 38"/>
                <a:gd name="T21" fmla="*/ 3 h 32"/>
                <a:gd name="T22" fmla="*/ 29 w 38"/>
                <a:gd name="T23" fmla="*/ 1 h 32"/>
                <a:gd name="T24" fmla="*/ 22 w 38"/>
                <a:gd name="T25" fmla="*/ 2 h 32"/>
                <a:gd name="T26" fmla="*/ 16 w 38"/>
                <a:gd name="T27" fmla="*/ 5 h 32"/>
                <a:gd name="T28" fmla="*/ 14 w 38"/>
                <a:gd name="T29" fmla="*/ 7 h 32"/>
                <a:gd name="T30" fmla="*/ 17 w 38"/>
                <a:gd name="T31" fmla="*/ 12 h 32"/>
                <a:gd name="T32" fmla="*/ 22 w 38"/>
                <a:gd name="T33" fmla="*/ 13 h 32"/>
                <a:gd name="T34" fmla="*/ 26 w 38"/>
                <a:gd name="T35" fmla="*/ 11 h 32"/>
                <a:gd name="T36" fmla="*/ 28 w 38"/>
                <a:gd name="T37" fmla="*/ 11 h 32"/>
                <a:gd name="T38" fmla="*/ 25 w 38"/>
                <a:gd name="T39" fmla="*/ 16 h 32"/>
                <a:gd name="T40" fmla="*/ 20 w 38"/>
                <a:gd name="T41" fmla="*/ 20 h 32"/>
                <a:gd name="T42" fmla="*/ 15 w 38"/>
                <a:gd name="T43" fmla="*/ 21 h 32"/>
                <a:gd name="T44" fmla="*/ 12 w 38"/>
                <a:gd name="T45" fmla="*/ 21 h 32"/>
                <a:gd name="T46" fmla="*/ 5 w 38"/>
                <a:gd name="T47" fmla="*/ 22 h 32"/>
                <a:gd name="T48" fmla="*/ 2 w 38"/>
                <a:gd name="T49" fmla="*/ 24 h 32"/>
                <a:gd name="T50" fmla="*/ 1 w 38"/>
                <a:gd name="T51" fmla="*/ 25 h 32"/>
                <a:gd name="T52" fmla="*/ 3 w 38"/>
                <a:gd name="T53" fmla="*/ 31 h 32"/>
                <a:gd name="T54" fmla="*/ 6 w 38"/>
                <a:gd name="T55" fmla="*/ 31 h 32"/>
                <a:gd name="T56" fmla="*/ 12 w 38"/>
                <a:gd name="T57" fmla="*/ 31 h 32"/>
                <a:gd name="T58" fmla="*/ 29 w 38"/>
                <a:gd name="T59" fmla="*/ 30 h 32"/>
                <a:gd name="T60" fmla="*/ 31 w 38"/>
                <a:gd name="T61" fmla="*/ 31 h 32"/>
                <a:gd name="T62" fmla="*/ 33 w 38"/>
                <a:gd name="T63" fmla="*/ 32 h 32"/>
                <a:gd name="T64" fmla="*/ 36 w 38"/>
                <a:gd name="T65" fmla="*/ 30 h 32"/>
                <a:gd name="T66" fmla="*/ 37 w 38"/>
                <a:gd name="T67" fmla="*/ 27 h 32"/>
                <a:gd name="T68" fmla="*/ 36 w 38"/>
                <a:gd name="T69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8" h="32">
                  <a:moveTo>
                    <a:pt x="36" y="22"/>
                  </a:moveTo>
                  <a:cubicBezTo>
                    <a:pt x="36" y="21"/>
                    <a:pt x="35" y="21"/>
                    <a:pt x="34" y="22"/>
                  </a:cubicBezTo>
                  <a:cubicBezTo>
                    <a:pt x="33" y="22"/>
                    <a:pt x="33" y="22"/>
                    <a:pt x="32" y="22"/>
                  </a:cubicBezTo>
                  <a:cubicBezTo>
                    <a:pt x="31" y="22"/>
                    <a:pt x="29" y="22"/>
                    <a:pt x="28" y="22"/>
                  </a:cubicBezTo>
                  <a:cubicBezTo>
                    <a:pt x="28" y="22"/>
                    <a:pt x="27" y="22"/>
                    <a:pt x="27" y="21"/>
                  </a:cubicBezTo>
                  <a:cubicBezTo>
                    <a:pt x="27" y="21"/>
                    <a:pt x="27" y="21"/>
                    <a:pt x="28" y="21"/>
                  </a:cubicBezTo>
                  <a:cubicBezTo>
                    <a:pt x="29" y="19"/>
                    <a:pt x="31" y="17"/>
                    <a:pt x="32" y="16"/>
                  </a:cubicBezTo>
                  <a:cubicBezTo>
                    <a:pt x="33" y="14"/>
                    <a:pt x="34" y="11"/>
                    <a:pt x="35" y="11"/>
                  </a:cubicBezTo>
                  <a:cubicBezTo>
                    <a:pt x="35" y="10"/>
                    <a:pt x="36" y="9"/>
                    <a:pt x="35" y="8"/>
                  </a:cubicBezTo>
                  <a:cubicBezTo>
                    <a:pt x="35" y="8"/>
                    <a:pt x="35" y="7"/>
                    <a:pt x="35" y="7"/>
                  </a:cubicBezTo>
                  <a:cubicBezTo>
                    <a:pt x="35" y="6"/>
                    <a:pt x="35" y="4"/>
                    <a:pt x="34" y="3"/>
                  </a:cubicBezTo>
                  <a:cubicBezTo>
                    <a:pt x="33" y="2"/>
                    <a:pt x="31" y="1"/>
                    <a:pt x="29" y="1"/>
                  </a:cubicBezTo>
                  <a:cubicBezTo>
                    <a:pt x="27" y="0"/>
                    <a:pt x="24" y="1"/>
                    <a:pt x="22" y="2"/>
                  </a:cubicBezTo>
                  <a:cubicBezTo>
                    <a:pt x="20" y="3"/>
                    <a:pt x="18" y="4"/>
                    <a:pt x="16" y="5"/>
                  </a:cubicBezTo>
                  <a:cubicBezTo>
                    <a:pt x="15" y="5"/>
                    <a:pt x="14" y="7"/>
                    <a:pt x="14" y="7"/>
                  </a:cubicBezTo>
                  <a:cubicBezTo>
                    <a:pt x="15" y="9"/>
                    <a:pt x="15" y="11"/>
                    <a:pt x="17" y="12"/>
                  </a:cubicBezTo>
                  <a:cubicBezTo>
                    <a:pt x="18" y="13"/>
                    <a:pt x="20" y="13"/>
                    <a:pt x="22" y="13"/>
                  </a:cubicBezTo>
                  <a:cubicBezTo>
                    <a:pt x="23" y="12"/>
                    <a:pt x="24" y="12"/>
                    <a:pt x="26" y="11"/>
                  </a:cubicBezTo>
                  <a:cubicBezTo>
                    <a:pt x="26" y="11"/>
                    <a:pt x="27" y="11"/>
                    <a:pt x="28" y="11"/>
                  </a:cubicBezTo>
                  <a:cubicBezTo>
                    <a:pt x="28" y="12"/>
                    <a:pt x="25" y="14"/>
                    <a:pt x="25" y="16"/>
                  </a:cubicBezTo>
                  <a:cubicBezTo>
                    <a:pt x="23" y="17"/>
                    <a:pt x="22" y="18"/>
                    <a:pt x="20" y="20"/>
                  </a:cubicBezTo>
                  <a:cubicBezTo>
                    <a:pt x="19" y="21"/>
                    <a:pt x="17" y="21"/>
                    <a:pt x="15" y="21"/>
                  </a:cubicBezTo>
                  <a:cubicBezTo>
                    <a:pt x="14" y="21"/>
                    <a:pt x="13" y="21"/>
                    <a:pt x="12" y="21"/>
                  </a:cubicBezTo>
                  <a:cubicBezTo>
                    <a:pt x="9" y="22"/>
                    <a:pt x="7" y="22"/>
                    <a:pt x="5" y="22"/>
                  </a:cubicBezTo>
                  <a:cubicBezTo>
                    <a:pt x="4" y="23"/>
                    <a:pt x="3" y="23"/>
                    <a:pt x="2" y="24"/>
                  </a:cubicBezTo>
                  <a:cubicBezTo>
                    <a:pt x="2" y="24"/>
                    <a:pt x="2" y="25"/>
                    <a:pt x="1" y="25"/>
                  </a:cubicBezTo>
                  <a:cubicBezTo>
                    <a:pt x="0" y="27"/>
                    <a:pt x="1" y="30"/>
                    <a:pt x="3" y="31"/>
                  </a:cubicBezTo>
                  <a:cubicBezTo>
                    <a:pt x="4" y="31"/>
                    <a:pt x="5" y="31"/>
                    <a:pt x="6" y="31"/>
                  </a:cubicBezTo>
                  <a:cubicBezTo>
                    <a:pt x="8" y="31"/>
                    <a:pt x="11" y="31"/>
                    <a:pt x="12" y="31"/>
                  </a:cubicBezTo>
                  <a:cubicBezTo>
                    <a:pt x="14" y="30"/>
                    <a:pt x="25" y="30"/>
                    <a:pt x="29" y="30"/>
                  </a:cubicBezTo>
                  <a:cubicBezTo>
                    <a:pt x="29" y="30"/>
                    <a:pt x="30" y="30"/>
                    <a:pt x="31" y="31"/>
                  </a:cubicBezTo>
                  <a:cubicBezTo>
                    <a:pt x="32" y="31"/>
                    <a:pt x="32" y="32"/>
                    <a:pt x="33" y="32"/>
                  </a:cubicBezTo>
                  <a:cubicBezTo>
                    <a:pt x="34" y="32"/>
                    <a:pt x="35" y="32"/>
                    <a:pt x="36" y="30"/>
                  </a:cubicBezTo>
                  <a:cubicBezTo>
                    <a:pt x="37" y="29"/>
                    <a:pt x="37" y="28"/>
                    <a:pt x="37" y="27"/>
                  </a:cubicBezTo>
                  <a:cubicBezTo>
                    <a:pt x="38" y="25"/>
                    <a:pt x="37" y="24"/>
                    <a:pt x="36" y="22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5" name="îṧliḑe">
              <a:extLst>
                <a:ext uri="{FF2B5EF4-FFF2-40B4-BE49-F238E27FC236}">
                  <a16:creationId xmlns:a16="http://schemas.microsoft.com/office/drawing/2014/main" id="{C1BA431E-9376-EDFF-B8EA-EDB369A6990E}"/>
                </a:ext>
              </a:extLst>
            </p:cNvPr>
            <p:cNvSpPr/>
            <p:nvPr/>
          </p:nvSpPr>
          <p:spPr bwMode="auto">
            <a:xfrm>
              <a:off x="3290888" y="2722563"/>
              <a:ext cx="187325" cy="198438"/>
            </a:xfrm>
            <a:custGeom>
              <a:avLst/>
              <a:gdLst>
                <a:gd name="T0" fmla="*/ 37 w 52"/>
                <a:gd name="T1" fmla="*/ 49 h 55"/>
                <a:gd name="T2" fmla="*/ 35 w 52"/>
                <a:gd name="T3" fmla="*/ 45 h 55"/>
                <a:gd name="T4" fmla="*/ 34 w 52"/>
                <a:gd name="T5" fmla="*/ 39 h 55"/>
                <a:gd name="T6" fmla="*/ 33 w 52"/>
                <a:gd name="T7" fmla="*/ 34 h 55"/>
                <a:gd name="T8" fmla="*/ 32 w 52"/>
                <a:gd name="T9" fmla="*/ 27 h 55"/>
                <a:gd name="T10" fmla="*/ 34 w 52"/>
                <a:gd name="T11" fmla="*/ 25 h 55"/>
                <a:gd name="T12" fmla="*/ 35 w 52"/>
                <a:gd name="T13" fmla="*/ 23 h 55"/>
                <a:gd name="T14" fmla="*/ 38 w 52"/>
                <a:gd name="T15" fmla="*/ 22 h 55"/>
                <a:gd name="T16" fmla="*/ 43 w 52"/>
                <a:gd name="T17" fmla="*/ 24 h 55"/>
                <a:gd name="T18" fmla="*/ 46 w 52"/>
                <a:gd name="T19" fmla="*/ 23 h 55"/>
                <a:gd name="T20" fmla="*/ 48 w 52"/>
                <a:gd name="T21" fmla="*/ 22 h 55"/>
                <a:gd name="T22" fmla="*/ 49 w 52"/>
                <a:gd name="T23" fmla="*/ 22 h 55"/>
                <a:gd name="T24" fmla="*/ 50 w 52"/>
                <a:gd name="T25" fmla="*/ 21 h 55"/>
                <a:gd name="T26" fmla="*/ 50 w 52"/>
                <a:gd name="T27" fmla="*/ 19 h 55"/>
                <a:gd name="T28" fmla="*/ 48 w 52"/>
                <a:gd name="T29" fmla="*/ 16 h 55"/>
                <a:gd name="T30" fmla="*/ 45 w 52"/>
                <a:gd name="T31" fmla="*/ 15 h 55"/>
                <a:gd name="T32" fmla="*/ 45 w 52"/>
                <a:gd name="T33" fmla="*/ 15 h 55"/>
                <a:gd name="T34" fmla="*/ 45 w 52"/>
                <a:gd name="T35" fmla="*/ 15 h 55"/>
                <a:gd name="T36" fmla="*/ 48 w 52"/>
                <a:gd name="T37" fmla="*/ 11 h 55"/>
                <a:gd name="T38" fmla="*/ 51 w 52"/>
                <a:gd name="T39" fmla="*/ 7 h 55"/>
                <a:gd name="T40" fmla="*/ 52 w 52"/>
                <a:gd name="T41" fmla="*/ 5 h 55"/>
                <a:gd name="T42" fmla="*/ 51 w 52"/>
                <a:gd name="T43" fmla="*/ 1 h 55"/>
                <a:gd name="T44" fmla="*/ 48 w 52"/>
                <a:gd name="T45" fmla="*/ 0 h 55"/>
                <a:gd name="T46" fmla="*/ 45 w 52"/>
                <a:gd name="T47" fmla="*/ 2 h 55"/>
                <a:gd name="T48" fmla="*/ 43 w 52"/>
                <a:gd name="T49" fmla="*/ 6 h 55"/>
                <a:gd name="T50" fmla="*/ 37 w 52"/>
                <a:gd name="T51" fmla="*/ 12 h 55"/>
                <a:gd name="T52" fmla="*/ 35 w 52"/>
                <a:gd name="T53" fmla="*/ 13 h 55"/>
                <a:gd name="T54" fmla="*/ 32 w 52"/>
                <a:gd name="T55" fmla="*/ 12 h 55"/>
                <a:gd name="T56" fmla="*/ 26 w 52"/>
                <a:gd name="T57" fmla="*/ 10 h 55"/>
                <a:gd name="T58" fmla="*/ 22 w 52"/>
                <a:gd name="T59" fmla="*/ 10 h 55"/>
                <a:gd name="T60" fmla="*/ 21 w 52"/>
                <a:gd name="T61" fmla="*/ 11 h 55"/>
                <a:gd name="T62" fmla="*/ 21 w 52"/>
                <a:gd name="T63" fmla="*/ 14 h 55"/>
                <a:gd name="T64" fmla="*/ 21 w 52"/>
                <a:gd name="T65" fmla="*/ 15 h 55"/>
                <a:gd name="T66" fmla="*/ 23 w 52"/>
                <a:gd name="T67" fmla="*/ 17 h 55"/>
                <a:gd name="T68" fmla="*/ 26 w 52"/>
                <a:gd name="T69" fmla="*/ 19 h 55"/>
                <a:gd name="T70" fmla="*/ 29 w 52"/>
                <a:gd name="T71" fmla="*/ 20 h 55"/>
                <a:gd name="T72" fmla="*/ 24 w 52"/>
                <a:gd name="T73" fmla="*/ 23 h 55"/>
                <a:gd name="T74" fmla="*/ 12 w 52"/>
                <a:gd name="T75" fmla="*/ 28 h 55"/>
                <a:gd name="T76" fmla="*/ 0 w 52"/>
                <a:gd name="T77" fmla="*/ 28 h 55"/>
                <a:gd name="T78" fmla="*/ 1 w 52"/>
                <a:gd name="T79" fmla="*/ 29 h 55"/>
                <a:gd name="T80" fmla="*/ 3 w 52"/>
                <a:gd name="T81" fmla="*/ 30 h 55"/>
                <a:gd name="T82" fmla="*/ 6 w 52"/>
                <a:gd name="T83" fmla="*/ 32 h 55"/>
                <a:gd name="T84" fmla="*/ 15 w 52"/>
                <a:gd name="T85" fmla="*/ 32 h 55"/>
                <a:gd name="T86" fmla="*/ 20 w 52"/>
                <a:gd name="T87" fmla="*/ 31 h 55"/>
                <a:gd name="T88" fmla="*/ 26 w 52"/>
                <a:gd name="T89" fmla="*/ 29 h 55"/>
                <a:gd name="T90" fmla="*/ 27 w 52"/>
                <a:gd name="T91" fmla="*/ 29 h 55"/>
                <a:gd name="T92" fmla="*/ 26 w 52"/>
                <a:gd name="T93" fmla="*/ 35 h 55"/>
                <a:gd name="T94" fmla="*/ 25 w 52"/>
                <a:gd name="T95" fmla="*/ 40 h 55"/>
                <a:gd name="T96" fmla="*/ 25 w 52"/>
                <a:gd name="T97" fmla="*/ 43 h 55"/>
                <a:gd name="T98" fmla="*/ 26 w 52"/>
                <a:gd name="T99" fmla="*/ 47 h 55"/>
                <a:gd name="T100" fmla="*/ 28 w 52"/>
                <a:gd name="T101" fmla="*/ 50 h 55"/>
                <a:gd name="T102" fmla="*/ 29 w 52"/>
                <a:gd name="T103" fmla="*/ 52 h 55"/>
                <a:gd name="T104" fmla="*/ 31 w 52"/>
                <a:gd name="T105" fmla="*/ 53 h 55"/>
                <a:gd name="T106" fmla="*/ 34 w 52"/>
                <a:gd name="T107" fmla="*/ 54 h 55"/>
                <a:gd name="T108" fmla="*/ 35 w 52"/>
                <a:gd name="T109" fmla="*/ 54 h 55"/>
                <a:gd name="T110" fmla="*/ 36 w 52"/>
                <a:gd name="T111" fmla="*/ 54 h 55"/>
                <a:gd name="T112" fmla="*/ 37 w 52"/>
                <a:gd name="T113" fmla="*/ 53 h 55"/>
                <a:gd name="T114" fmla="*/ 39 w 52"/>
                <a:gd name="T115" fmla="*/ 53 h 55"/>
                <a:gd name="T116" fmla="*/ 37 w 52"/>
                <a:gd name="T117" fmla="*/ 49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2" h="55">
                  <a:moveTo>
                    <a:pt x="37" y="49"/>
                  </a:moveTo>
                  <a:cubicBezTo>
                    <a:pt x="36" y="47"/>
                    <a:pt x="36" y="46"/>
                    <a:pt x="35" y="45"/>
                  </a:cubicBezTo>
                  <a:cubicBezTo>
                    <a:pt x="34" y="43"/>
                    <a:pt x="34" y="41"/>
                    <a:pt x="34" y="39"/>
                  </a:cubicBezTo>
                  <a:cubicBezTo>
                    <a:pt x="33" y="37"/>
                    <a:pt x="33" y="35"/>
                    <a:pt x="33" y="34"/>
                  </a:cubicBezTo>
                  <a:cubicBezTo>
                    <a:pt x="33" y="31"/>
                    <a:pt x="33" y="28"/>
                    <a:pt x="32" y="27"/>
                  </a:cubicBezTo>
                  <a:cubicBezTo>
                    <a:pt x="32" y="25"/>
                    <a:pt x="33" y="25"/>
                    <a:pt x="34" y="25"/>
                  </a:cubicBezTo>
                  <a:cubicBezTo>
                    <a:pt x="34" y="24"/>
                    <a:pt x="35" y="24"/>
                    <a:pt x="35" y="23"/>
                  </a:cubicBezTo>
                  <a:cubicBezTo>
                    <a:pt x="36" y="23"/>
                    <a:pt x="37" y="22"/>
                    <a:pt x="38" y="22"/>
                  </a:cubicBezTo>
                  <a:cubicBezTo>
                    <a:pt x="40" y="23"/>
                    <a:pt x="41" y="23"/>
                    <a:pt x="43" y="24"/>
                  </a:cubicBezTo>
                  <a:cubicBezTo>
                    <a:pt x="43" y="24"/>
                    <a:pt x="45" y="24"/>
                    <a:pt x="46" y="23"/>
                  </a:cubicBezTo>
                  <a:cubicBezTo>
                    <a:pt x="47" y="23"/>
                    <a:pt x="47" y="23"/>
                    <a:pt x="48" y="22"/>
                  </a:cubicBezTo>
                  <a:cubicBezTo>
                    <a:pt x="48" y="22"/>
                    <a:pt x="49" y="22"/>
                    <a:pt x="49" y="22"/>
                  </a:cubicBezTo>
                  <a:cubicBezTo>
                    <a:pt x="49" y="21"/>
                    <a:pt x="50" y="21"/>
                    <a:pt x="50" y="21"/>
                  </a:cubicBezTo>
                  <a:cubicBezTo>
                    <a:pt x="51" y="20"/>
                    <a:pt x="51" y="20"/>
                    <a:pt x="50" y="19"/>
                  </a:cubicBezTo>
                  <a:cubicBezTo>
                    <a:pt x="50" y="18"/>
                    <a:pt x="49" y="17"/>
                    <a:pt x="48" y="16"/>
                  </a:cubicBezTo>
                  <a:cubicBezTo>
                    <a:pt x="47" y="15"/>
                    <a:pt x="46" y="15"/>
                    <a:pt x="45" y="15"/>
                  </a:cubicBezTo>
                  <a:cubicBezTo>
                    <a:pt x="45" y="15"/>
                    <a:pt x="45" y="16"/>
                    <a:pt x="45" y="15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6" y="13"/>
                    <a:pt x="47" y="12"/>
                    <a:pt x="48" y="11"/>
                  </a:cubicBezTo>
                  <a:cubicBezTo>
                    <a:pt x="49" y="10"/>
                    <a:pt x="50" y="8"/>
                    <a:pt x="51" y="7"/>
                  </a:cubicBezTo>
                  <a:cubicBezTo>
                    <a:pt x="51" y="6"/>
                    <a:pt x="52" y="6"/>
                    <a:pt x="52" y="5"/>
                  </a:cubicBezTo>
                  <a:cubicBezTo>
                    <a:pt x="52" y="4"/>
                    <a:pt x="51" y="3"/>
                    <a:pt x="51" y="1"/>
                  </a:cubicBezTo>
                  <a:cubicBezTo>
                    <a:pt x="50" y="0"/>
                    <a:pt x="49" y="0"/>
                    <a:pt x="48" y="0"/>
                  </a:cubicBezTo>
                  <a:cubicBezTo>
                    <a:pt x="47" y="1"/>
                    <a:pt x="45" y="1"/>
                    <a:pt x="45" y="2"/>
                  </a:cubicBezTo>
                  <a:cubicBezTo>
                    <a:pt x="44" y="4"/>
                    <a:pt x="43" y="5"/>
                    <a:pt x="43" y="6"/>
                  </a:cubicBezTo>
                  <a:cubicBezTo>
                    <a:pt x="41" y="8"/>
                    <a:pt x="39" y="10"/>
                    <a:pt x="37" y="12"/>
                  </a:cubicBezTo>
                  <a:cubicBezTo>
                    <a:pt x="37" y="13"/>
                    <a:pt x="36" y="13"/>
                    <a:pt x="35" y="13"/>
                  </a:cubicBezTo>
                  <a:cubicBezTo>
                    <a:pt x="34" y="13"/>
                    <a:pt x="33" y="13"/>
                    <a:pt x="32" y="12"/>
                  </a:cubicBezTo>
                  <a:cubicBezTo>
                    <a:pt x="30" y="12"/>
                    <a:pt x="28" y="11"/>
                    <a:pt x="26" y="10"/>
                  </a:cubicBezTo>
                  <a:cubicBezTo>
                    <a:pt x="25" y="9"/>
                    <a:pt x="23" y="9"/>
                    <a:pt x="22" y="10"/>
                  </a:cubicBezTo>
                  <a:cubicBezTo>
                    <a:pt x="22" y="11"/>
                    <a:pt x="21" y="11"/>
                    <a:pt x="21" y="11"/>
                  </a:cubicBezTo>
                  <a:cubicBezTo>
                    <a:pt x="21" y="12"/>
                    <a:pt x="21" y="13"/>
                    <a:pt x="21" y="14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1" y="16"/>
                    <a:pt x="22" y="17"/>
                    <a:pt x="23" y="17"/>
                  </a:cubicBezTo>
                  <a:cubicBezTo>
                    <a:pt x="24" y="18"/>
                    <a:pt x="25" y="19"/>
                    <a:pt x="26" y="19"/>
                  </a:cubicBezTo>
                  <a:cubicBezTo>
                    <a:pt x="27" y="19"/>
                    <a:pt x="28" y="20"/>
                    <a:pt x="29" y="20"/>
                  </a:cubicBezTo>
                  <a:cubicBezTo>
                    <a:pt x="28" y="20"/>
                    <a:pt x="26" y="22"/>
                    <a:pt x="24" y="23"/>
                  </a:cubicBezTo>
                  <a:cubicBezTo>
                    <a:pt x="21" y="25"/>
                    <a:pt x="18" y="26"/>
                    <a:pt x="12" y="28"/>
                  </a:cubicBezTo>
                  <a:cubicBezTo>
                    <a:pt x="5" y="29"/>
                    <a:pt x="1" y="28"/>
                    <a:pt x="0" y="28"/>
                  </a:cubicBezTo>
                  <a:cubicBezTo>
                    <a:pt x="0" y="28"/>
                    <a:pt x="0" y="28"/>
                    <a:pt x="1" y="29"/>
                  </a:cubicBezTo>
                  <a:cubicBezTo>
                    <a:pt x="1" y="29"/>
                    <a:pt x="3" y="30"/>
                    <a:pt x="3" y="30"/>
                  </a:cubicBezTo>
                  <a:cubicBezTo>
                    <a:pt x="4" y="31"/>
                    <a:pt x="5" y="32"/>
                    <a:pt x="6" y="32"/>
                  </a:cubicBezTo>
                  <a:cubicBezTo>
                    <a:pt x="7" y="32"/>
                    <a:pt x="12" y="33"/>
                    <a:pt x="15" y="32"/>
                  </a:cubicBezTo>
                  <a:cubicBezTo>
                    <a:pt x="17" y="32"/>
                    <a:pt x="20" y="31"/>
                    <a:pt x="20" y="31"/>
                  </a:cubicBezTo>
                  <a:cubicBezTo>
                    <a:pt x="22" y="30"/>
                    <a:pt x="24" y="30"/>
                    <a:pt x="26" y="29"/>
                  </a:cubicBezTo>
                  <a:cubicBezTo>
                    <a:pt x="27" y="29"/>
                    <a:pt x="27" y="29"/>
                    <a:pt x="27" y="29"/>
                  </a:cubicBezTo>
                  <a:cubicBezTo>
                    <a:pt x="27" y="31"/>
                    <a:pt x="26" y="33"/>
                    <a:pt x="26" y="35"/>
                  </a:cubicBezTo>
                  <a:cubicBezTo>
                    <a:pt x="26" y="37"/>
                    <a:pt x="26" y="38"/>
                    <a:pt x="25" y="40"/>
                  </a:cubicBezTo>
                  <a:cubicBezTo>
                    <a:pt x="25" y="41"/>
                    <a:pt x="25" y="42"/>
                    <a:pt x="25" y="43"/>
                  </a:cubicBezTo>
                  <a:cubicBezTo>
                    <a:pt x="25" y="44"/>
                    <a:pt x="25" y="46"/>
                    <a:pt x="26" y="47"/>
                  </a:cubicBezTo>
                  <a:cubicBezTo>
                    <a:pt x="26" y="48"/>
                    <a:pt x="27" y="49"/>
                    <a:pt x="28" y="50"/>
                  </a:cubicBezTo>
                  <a:cubicBezTo>
                    <a:pt x="28" y="50"/>
                    <a:pt x="29" y="51"/>
                    <a:pt x="29" y="52"/>
                  </a:cubicBezTo>
                  <a:cubicBezTo>
                    <a:pt x="30" y="52"/>
                    <a:pt x="30" y="53"/>
                    <a:pt x="31" y="53"/>
                  </a:cubicBezTo>
                  <a:cubicBezTo>
                    <a:pt x="32" y="53"/>
                    <a:pt x="33" y="55"/>
                    <a:pt x="34" y="54"/>
                  </a:cubicBezTo>
                  <a:cubicBezTo>
                    <a:pt x="34" y="54"/>
                    <a:pt x="35" y="54"/>
                    <a:pt x="35" y="54"/>
                  </a:cubicBezTo>
                  <a:cubicBezTo>
                    <a:pt x="35" y="54"/>
                    <a:pt x="36" y="54"/>
                    <a:pt x="36" y="54"/>
                  </a:cubicBezTo>
                  <a:cubicBezTo>
                    <a:pt x="37" y="54"/>
                    <a:pt x="37" y="54"/>
                    <a:pt x="37" y="53"/>
                  </a:cubicBezTo>
                  <a:cubicBezTo>
                    <a:pt x="38" y="53"/>
                    <a:pt x="39" y="53"/>
                    <a:pt x="39" y="53"/>
                  </a:cubicBezTo>
                  <a:cubicBezTo>
                    <a:pt x="39" y="52"/>
                    <a:pt x="38" y="52"/>
                    <a:pt x="37" y="49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6" name="ïśḷïḓè">
              <a:extLst>
                <a:ext uri="{FF2B5EF4-FFF2-40B4-BE49-F238E27FC236}">
                  <a16:creationId xmlns:a16="http://schemas.microsoft.com/office/drawing/2014/main" id="{FAC55141-4FF0-8318-2CD6-CF1EDA5F6973}"/>
                </a:ext>
              </a:extLst>
            </p:cNvPr>
            <p:cNvSpPr/>
            <p:nvPr/>
          </p:nvSpPr>
          <p:spPr bwMode="auto">
            <a:xfrm>
              <a:off x="2035175" y="2493963"/>
              <a:ext cx="1865313" cy="1873250"/>
            </a:xfrm>
            <a:custGeom>
              <a:avLst/>
              <a:gdLst>
                <a:gd name="T0" fmla="*/ 258 w 517"/>
                <a:gd name="T1" fmla="*/ 0 h 517"/>
                <a:gd name="T2" fmla="*/ 0 w 517"/>
                <a:gd name="T3" fmla="*/ 258 h 517"/>
                <a:gd name="T4" fmla="*/ 258 w 517"/>
                <a:gd name="T5" fmla="*/ 517 h 517"/>
                <a:gd name="T6" fmla="*/ 517 w 517"/>
                <a:gd name="T7" fmla="*/ 258 h 517"/>
                <a:gd name="T8" fmla="*/ 258 w 517"/>
                <a:gd name="T9" fmla="*/ 0 h 517"/>
                <a:gd name="T10" fmla="*/ 258 w 517"/>
                <a:gd name="T11" fmla="*/ 511 h 517"/>
                <a:gd name="T12" fmla="*/ 5 w 517"/>
                <a:gd name="T13" fmla="*/ 258 h 517"/>
                <a:gd name="T14" fmla="*/ 258 w 517"/>
                <a:gd name="T15" fmla="*/ 6 h 517"/>
                <a:gd name="T16" fmla="*/ 511 w 517"/>
                <a:gd name="T17" fmla="*/ 258 h 517"/>
                <a:gd name="T18" fmla="*/ 258 w 517"/>
                <a:gd name="T19" fmla="*/ 511 h 5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7" h="517">
                  <a:moveTo>
                    <a:pt x="258" y="0"/>
                  </a:moveTo>
                  <a:cubicBezTo>
                    <a:pt x="115" y="0"/>
                    <a:pt x="0" y="116"/>
                    <a:pt x="0" y="258"/>
                  </a:cubicBezTo>
                  <a:cubicBezTo>
                    <a:pt x="0" y="401"/>
                    <a:pt x="115" y="517"/>
                    <a:pt x="258" y="517"/>
                  </a:cubicBezTo>
                  <a:cubicBezTo>
                    <a:pt x="401" y="517"/>
                    <a:pt x="517" y="401"/>
                    <a:pt x="517" y="258"/>
                  </a:cubicBezTo>
                  <a:cubicBezTo>
                    <a:pt x="517" y="116"/>
                    <a:pt x="401" y="0"/>
                    <a:pt x="258" y="0"/>
                  </a:cubicBezTo>
                  <a:close/>
                  <a:moveTo>
                    <a:pt x="258" y="511"/>
                  </a:moveTo>
                  <a:cubicBezTo>
                    <a:pt x="119" y="511"/>
                    <a:pt x="5" y="398"/>
                    <a:pt x="5" y="258"/>
                  </a:cubicBezTo>
                  <a:cubicBezTo>
                    <a:pt x="5" y="119"/>
                    <a:pt x="119" y="6"/>
                    <a:pt x="258" y="6"/>
                  </a:cubicBezTo>
                  <a:cubicBezTo>
                    <a:pt x="398" y="6"/>
                    <a:pt x="511" y="119"/>
                    <a:pt x="511" y="258"/>
                  </a:cubicBezTo>
                  <a:cubicBezTo>
                    <a:pt x="511" y="398"/>
                    <a:pt x="398" y="511"/>
                    <a:pt x="258" y="511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7" name="ísliďè">
              <a:extLst>
                <a:ext uri="{FF2B5EF4-FFF2-40B4-BE49-F238E27FC236}">
                  <a16:creationId xmlns:a16="http://schemas.microsoft.com/office/drawing/2014/main" id="{F7A14C12-E6F1-98DE-0AFF-3CC2A97B1FD7}"/>
                </a:ext>
              </a:extLst>
            </p:cNvPr>
            <p:cNvSpPr/>
            <p:nvPr/>
          </p:nvSpPr>
          <p:spPr bwMode="auto">
            <a:xfrm>
              <a:off x="2332038" y="2790826"/>
              <a:ext cx="1273175" cy="1279525"/>
            </a:xfrm>
            <a:custGeom>
              <a:avLst/>
              <a:gdLst>
                <a:gd name="T0" fmla="*/ 176 w 353"/>
                <a:gd name="T1" fmla="*/ 0 h 353"/>
                <a:gd name="T2" fmla="*/ 0 w 353"/>
                <a:gd name="T3" fmla="*/ 176 h 353"/>
                <a:gd name="T4" fmla="*/ 176 w 353"/>
                <a:gd name="T5" fmla="*/ 353 h 353"/>
                <a:gd name="T6" fmla="*/ 353 w 353"/>
                <a:gd name="T7" fmla="*/ 176 h 353"/>
                <a:gd name="T8" fmla="*/ 176 w 353"/>
                <a:gd name="T9" fmla="*/ 0 h 353"/>
                <a:gd name="T10" fmla="*/ 176 w 353"/>
                <a:gd name="T11" fmla="*/ 347 h 353"/>
                <a:gd name="T12" fmla="*/ 6 w 353"/>
                <a:gd name="T13" fmla="*/ 176 h 353"/>
                <a:gd name="T14" fmla="*/ 176 w 353"/>
                <a:gd name="T15" fmla="*/ 6 h 353"/>
                <a:gd name="T16" fmla="*/ 347 w 353"/>
                <a:gd name="T17" fmla="*/ 176 h 353"/>
                <a:gd name="T18" fmla="*/ 176 w 353"/>
                <a:gd name="T19" fmla="*/ 347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3" h="353">
                  <a:moveTo>
                    <a:pt x="176" y="0"/>
                  </a:moveTo>
                  <a:cubicBezTo>
                    <a:pt x="79" y="0"/>
                    <a:pt x="0" y="79"/>
                    <a:pt x="0" y="176"/>
                  </a:cubicBezTo>
                  <a:cubicBezTo>
                    <a:pt x="0" y="274"/>
                    <a:pt x="79" y="353"/>
                    <a:pt x="176" y="353"/>
                  </a:cubicBezTo>
                  <a:cubicBezTo>
                    <a:pt x="274" y="353"/>
                    <a:pt x="353" y="274"/>
                    <a:pt x="353" y="176"/>
                  </a:cubicBezTo>
                  <a:cubicBezTo>
                    <a:pt x="353" y="79"/>
                    <a:pt x="274" y="0"/>
                    <a:pt x="176" y="0"/>
                  </a:cubicBezTo>
                  <a:close/>
                  <a:moveTo>
                    <a:pt x="176" y="347"/>
                  </a:moveTo>
                  <a:cubicBezTo>
                    <a:pt x="82" y="347"/>
                    <a:pt x="6" y="271"/>
                    <a:pt x="6" y="176"/>
                  </a:cubicBezTo>
                  <a:cubicBezTo>
                    <a:pt x="6" y="82"/>
                    <a:pt x="82" y="6"/>
                    <a:pt x="176" y="6"/>
                  </a:cubicBezTo>
                  <a:cubicBezTo>
                    <a:pt x="270" y="6"/>
                    <a:pt x="347" y="82"/>
                    <a:pt x="347" y="176"/>
                  </a:cubicBezTo>
                  <a:cubicBezTo>
                    <a:pt x="347" y="271"/>
                    <a:pt x="270" y="347"/>
                    <a:pt x="176" y="347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8" name="ïsḷíḍé">
              <a:extLst>
                <a:ext uri="{FF2B5EF4-FFF2-40B4-BE49-F238E27FC236}">
                  <a16:creationId xmlns:a16="http://schemas.microsoft.com/office/drawing/2014/main" id="{62621E6E-DDFE-9F21-3C2F-2FEC965A5B37}"/>
                </a:ext>
              </a:extLst>
            </p:cNvPr>
            <p:cNvSpPr/>
            <p:nvPr/>
          </p:nvSpPr>
          <p:spPr bwMode="auto">
            <a:xfrm>
              <a:off x="2706688" y="3098801"/>
              <a:ext cx="519113" cy="65088"/>
            </a:xfrm>
            <a:custGeom>
              <a:avLst/>
              <a:gdLst>
                <a:gd name="T0" fmla="*/ 0 w 144"/>
                <a:gd name="T1" fmla="*/ 4 h 18"/>
                <a:gd name="T2" fmla="*/ 72 w 144"/>
                <a:gd name="T3" fmla="*/ 18 h 18"/>
                <a:gd name="T4" fmla="*/ 144 w 144"/>
                <a:gd name="T5" fmla="*/ 4 h 18"/>
                <a:gd name="T6" fmla="*/ 144 w 144"/>
                <a:gd name="T7" fmla="*/ 0 h 18"/>
                <a:gd name="T8" fmla="*/ 72 w 144"/>
                <a:gd name="T9" fmla="*/ 14 h 18"/>
                <a:gd name="T10" fmla="*/ 0 w 144"/>
                <a:gd name="T11" fmla="*/ 0 h 18"/>
                <a:gd name="T12" fmla="*/ 0 w 144"/>
                <a:gd name="T13" fmla="*/ 4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4" h="18">
                  <a:moveTo>
                    <a:pt x="0" y="4"/>
                  </a:moveTo>
                  <a:cubicBezTo>
                    <a:pt x="32" y="4"/>
                    <a:pt x="59" y="4"/>
                    <a:pt x="72" y="18"/>
                  </a:cubicBezTo>
                  <a:cubicBezTo>
                    <a:pt x="86" y="4"/>
                    <a:pt x="112" y="4"/>
                    <a:pt x="144" y="4"/>
                  </a:cubicBezTo>
                  <a:cubicBezTo>
                    <a:pt x="144" y="0"/>
                    <a:pt x="144" y="0"/>
                    <a:pt x="144" y="0"/>
                  </a:cubicBezTo>
                  <a:cubicBezTo>
                    <a:pt x="112" y="0"/>
                    <a:pt x="86" y="0"/>
                    <a:pt x="72" y="14"/>
                  </a:cubicBezTo>
                  <a:cubicBezTo>
                    <a:pt x="59" y="0"/>
                    <a:pt x="32" y="0"/>
                    <a:pt x="0" y="0"/>
                  </a:cubicBezTo>
                  <a:lnTo>
                    <a:pt x="0" y="4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9" name="ïšlîḑê">
              <a:extLst>
                <a:ext uri="{FF2B5EF4-FFF2-40B4-BE49-F238E27FC236}">
                  <a16:creationId xmlns:a16="http://schemas.microsoft.com/office/drawing/2014/main" id="{8B277695-7A9D-408F-9405-D4C864F0658A}"/>
                </a:ext>
              </a:extLst>
            </p:cNvPr>
            <p:cNvSpPr/>
            <p:nvPr/>
          </p:nvSpPr>
          <p:spPr bwMode="auto">
            <a:xfrm>
              <a:off x="2706688" y="3146426"/>
              <a:ext cx="519113" cy="68263"/>
            </a:xfrm>
            <a:custGeom>
              <a:avLst/>
              <a:gdLst>
                <a:gd name="T0" fmla="*/ 0 w 144"/>
                <a:gd name="T1" fmla="*/ 0 h 19"/>
                <a:gd name="T2" fmla="*/ 72 w 144"/>
                <a:gd name="T3" fmla="*/ 14 h 19"/>
                <a:gd name="T4" fmla="*/ 144 w 144"/>
                <a:gd name="T5" fmla="*/ 0 h 19"/>
                <a:gd name="T6" fmla="*/ 144 w 144"/>
                <a:gd name="T7" fmla="*/ 6 h 19"/>
                <a:gd name="T8" fmla="*/ 72 w 144"/>
                <a:gd name="T9" fmla="*/ 19 h 19"/>
                <a:gd name="T10" fmla="*/ 0 w 144"/>
                <a:gd name="T11" fmla="*/ 6 h 19"/>
                <a:gd name="T12" fmla="*/ 0 w 144"/>
                <a:gd name="T13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4" h="19">
                  <a:moveTo>
                    <a:pt x="0" y="0"/>
                  </a:moveTo>
                  <a:cubicBezTo>
                    <a:pt x="32" y="0"/>
                    <a:pt x="59" y="0"/>
                    <a:pt x="72" y="14"/>
                  </a:cubicBezTo>
                  <a:cubicBezTo>
                    <a:pt x="86" y="0"/>
                    <a:pt x="112" y="0"/>
                    <a:pt x="144" y="0"/>
                  </a:cubicBezTo>
                  <a:cubicBezTo>
                    <a:pt x="144" y="6"/>
                    <a:pt x="144" y="6"/>
                    <a:pt x="144" y="6"/>
                  </a:cubicBezTo>
                  <a:cubicBezTo>
                    <a:pt x="112" y="6"/>
                    <a:pt x="86" y="5"/>
                    <a:pt x="72" y="19"/>
                  </a:cubicBezTo>
                  <a:cubicBezTo>
                    <a:pt x="59" y="5"/>
                    <a:pt x="32" y="6"/>
                    <a:pt x="0" y="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60" name="îṧḻîḓé">
              <a:extLst>
                <a:ext uri="{FF2B5EF4-FFF2-40B4-BE49-F238E27FC236}">
                  <a16:creationId xmlns:a16="http://schemas.microsoft.com/office/drawing/2014/main" id="{4649DC98-072C-C099-AEFA-7D4D2FC044DC}"/>
                </a:ext>
              </a:extLst>
            </p:cNvPr>
            <p:cNvSpPr/>
            <p:nvPr/>
          </p:nvSpPr>
          <p:spPr bwMode="auto">
            <a:xfrm>
              <a:off x="2706688" y="3194051"/>
              <a:ext cx="519113" cy="76200"/>
            </a:xfrm>
            <a:custGeom>
              <a:avLst/>
              <a:gdLst>
                <a:gd name="T0" fmla="*/ 0 w 144"/>
                <a:gd name="T1" fmla="*/ 0 h 21"/>
                <a:gd name="T2" fmla="*/ 72 w 144"/>
                <a:gd name="T3" fmla="*/ 14 h 21"/>
                <a:gd name="T4" fmla="*/ 144 w 144"/>
                <a:gd name="T5" fmla="*/ 0 h 21"/>
                <a:gd name="T6" fmla="*/ 144 w 144"/>
                <a:gd name="T7" fmla="*/ 7 h 21"/>
                <a:gd name="T8" fmla="*/ 72 w 144"/>
                <a:gd name="T9" fmla="*/ 21 h 21"/>
                <a:gd name="T10" fmla="*/ 0 w 144"/>
                <a:gd name="T11" fmla="*/ 7 h 21"/>
                <a:gd name="T12" fmla="*/ 0 w 144"/>
                <a:gd name="T1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4" h="21">
                  <a:moveTo>
                    <a:pt x="0" y="0"/>
                  </a:moveTo>
                  <a:cubicBezTo>
                    <a:pt x="32" y="0"/>
                    <a:pt x="59" y="0"/>
                    <a:pt x="72" y="14"/>
                  </a:cubicBezTo>
                  <a:cubicBezTo>
                    <a:pt x="86" y="0"/>
                    <a:pt x="112" y="0"/>
                    <a:pt x="144" y="0"/>
                  </a:cubicBezTo>
                  <a:cubicBezTo>
                    <a:pt x="144" y="7"/>
                    <a:pt x="144" y="7"/>
                    <a:pt x="144" y="7"/>
                  </a:cubicBezTo>
                  <a:cubicBezTo>
                    <a:pt x="112" y="7"/>
                    <a:pt x="86" y="7"/>
                    <a:pt x="72" y="21"/>
                  </a:cubicBezTo>
                  <a:cubicBezTo>
                    <a:pt x="59" y="7"/>
                    <a:pt x="32" y="7"/>
                    <a:pt x="0" y="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61" name="iśļîḋê">
              <a:extLst>
                <a:ext uri="{FF2B5EF4-FFF2-40B4-BE49-F238E27FC236}">
                  <a16:creationId xmlns:a16="http://schemas.microsoft.com/office/drawing/2014/main" id="{FEC0BED0-5E03-86ED-8D1D-716D21C8F065}"/>
                </a:ext>
              </a:extLst>
            </p:cNvPr>
            <p:cNvSpPr/>
            <p:nvPr/>
          </p:nvSpPr>
          <p:spPr bwMode="auto">
            <a:xfrm>
              <a:off x="2706688" y="3236913"/>
              <a:ext cx="519113" cy="84138"/>
            </a:xfrm>
            <a:custGeom>
              <a:avLst/>
              <a:gdLst>
                <a:gd name="T0" fmla="*/ 0 w 144"/>
                <a:gd name="T1" fmla="*/ 1 h 23"/>
                <a:gd name="T2" fmla="*/ 72 w 144"/>
                <a:gd name="T3" fmla="*/ 14 h 23"/>
                <a:gd name="T4" fmla="*/ 144 w 144"/>
                <a:gd name="T5" fmla="*/ 1 h 23"/>
                <a:gd name="T6" fmla="*/ 144 w 144"/>
                <a:gd name="T7" fmla="*/ 9 h 23"/>
                <a:gd name="T8" fmla="*/ 72 w 144"/>
                <a:gd name="T9" fmla="*/ 23 h 23"/>
                <a:gd name="T10" fmla="*/ 0 w 144"/>
                <a:gd name="T11" fmla="*/ 9 h 23"/>
                <a:gd name="T12" fmla="*/ 0 w 144"/>
                <a:gd name="T13" fmla="*/ 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4" h="23">
                  <a:moveTo>
                    <a:pt x="0" y="1"/>
                  </a:moveTo>
                  <a:cubicBezTo>
                    <a:pt x="32" y="1"/>
                    <a:pt x="59" y="0"/>
                    <a:pt x="72" y="14"/>
                  </a:cubicBezTo>
                  <a:cubicBezTo>
                    <a:pt x="86" y="0"/>
                    <a:pt x="112" y="1"/>
                    <a:pt x="144" y="1"/>
                  </a:cubicBezTo>
                  <a:cubicBezTo>
                    <a:pt x="144" y="9"/>
                    <a:pt x="144" y="9"/>
                    <a:pt x="144" y="9"/>
                  </a:cubicBezTo>
                  <a:cubicBezTo>
                    <a:pt x="112" y="9"/>
                    <a:pt x="86" y="9"/>
                    <a:pt x="72" y="23"/>
                  </a:cubicBezTo>
                  <a:cubicBezTo>
                    <a:pt x="59" y="9"/>
                    <a:pt x="32" y="9"/>
                    <a:pt x="0" y="9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sp>
        <p:nvSpPr>
          <p:cNvPr id="163" name="标题 5">
            <a:extLst>
              <a:ext uri="{FF2B5EF4-FFF2-40B4-BE49-F238E27FC236}">
                <a16:creationId xmlns:a16="http://schemas.microsoft.com/office/drawing/2014/main" id="{2CE6E157-70B1-4848-AAFD-A9B317C8FA93}"/>
              </a:ext>
            </a:extLst>
          </p:cNvPr>
          <p:cNvSpPr txBox="1">
            <a:spLocks/>
          </p:cNvSpPr>
          <p:nvPr/>
        </p:nvSpPr>
        <p:spPr>
          <a:xfrm>
            <a:off x="2714048" y="4170858"/>
            <a:ext cx="7198350" cy="705941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4000" b="1" kern="1200" spc="600" dirty="0">
                <a:solidFill>
                  <a:schemeClr val="bg1"/>
                </a:solidFill>
                <a:latin typeface="+mj-ea"/>
                <a:ea typeface="+mj-ea"/>
                <a:cs typeface="+mn-ea"/>
              </a:defRPr>
            </a:lvl1pPr>
          </a:lstStyle>
          <a:p>
            <a:r>
              <a:rPr lang="zh-CN" altLang="en-US" sz="4400" dirty="0"/>
              <a:t>第</a:t>
            </a:r>
            <a:r>
              <a:rPr lang="en-US" altLang="zh-CN" sz="4400" dirty="0"/>
              <a:t>5</a:t>
            </a:r>
            <a:r>
              <a:rPr lang="zh-CN" altLang="en-US" sz="4400" dirty="0"/>
              <a:t>章 图的基本概念</a:t>
            </a:r>
          </a:p>
        </p:txBody>
      </p:sp>
    </p:spTree>
    <p:extLst>
      <p:ext uri="{BB962C8B-B14F-4D97-AF65-F5344CB8AC3E}">
        <p14:creationId xmlns:p14="http://schemas.microsoft.com/office/powerpoint/2010/main" val="2876387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3573608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主要内容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9F5F86-353D-43F5-9081-61104C40579F}"/>
              </a:ext>
            </a:extLst>
          </p:cNvPr>
          <p:cNvSpPr txBox="1">
            <a:spLocks noChangeArrowheads="1"/>
          </p:cNvSpPr>
          <p:nvPr/>
        </p:nvSpPr>
        <p:spPr>
          <a:xfrm>
            <a:off x="541578" y="1255570"/>
            <a:ext cx="8229600" cy="285923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>
              <a:lnSpc>
                <a:spcPct val="14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29292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5.1 </a:t>
            </a:r>
            <a:r>
              <a:rPr lang="zh-CN" altLang="en-US" b="1" dirty="0">
                <a:solidFill>
                  <a:srgbClr val="29292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无向图及有向图</a:t>
            </a:r>
          </a:p>
          <a:p>
            <a:pPr marL="0">
              <a:lnSpc>
                <a:spcPct val="14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29292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5.2 </a:t>
            </a:r>
            <a:r>
              <a:rPr lang="zh-CN" altLang="en-US" b="1" dirty="0">
                <a:solidFill>
                  <a:srgbClr val="29292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通路、回路和图的连通性</a:t>
            </a:r>
          </a:p>
          <a:p>
            <a:pPr marL="0">
              <a:lnSpc>
                <a:spcPct val="14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29292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5.3 </a:t>
            </a:r>
            <a:r>
              <a:rPr lang="zh-CN" altLang="en-US" b="1" dirty="0">
                <a:solidFill>
                  <a:srgbClr val="29292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图的矩阵表示</a:t>
            </a:r>
          </a:p>
          <a:p>
            <a:pPr marL="0">
              <a:lnSpc>
                <a:spcPct val="14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bg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5.4 </a:t>
            </a:r>
            <a:r>
              <a:rPr lang="zh-CN" altLang="en-US" b="1" dirty="0">
                <a:solidFill>
                  <a:schemeClr val="bg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最短路径、关键路径和着色</a:t>
            </a:r>
            <a:endParaRPr lang="en-US" altLang="zh-CN" b="1" dirty="0">
              <a:solidFill>
                <a:schemeClr val="bg1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73820A-AC10-45EE-893D-A6E9BB1A87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190" y="4619475"/>
            <a:ext cx="8229600" cy="2040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5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zh-CN" altLang="en-US" sz="2800" dirty="0">
                <a:solidFill>
                  <a:srgbClr val="29292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预备知识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2677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2800" dirty="0">
                <a:solidFill>
                  <a:srgbClr val="29292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多重集合——元素可以重复出现的集合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2677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2800" dirty="0">
                <a:solidFill>
                  <a:srgbClr val="29292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无序集——</a:t>
            </a:r>
            <a:r>
              <a:rPr kumimoji="0" lang="en-US" altLang="zh-CN" sz="26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A</a:t>
            </a:r>
            <a:r>
              <a:rPr kumimoji="0" lang="en-US" altLang="zh-CN" sz="26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</a:t>
            </a:r>
            <a:r>
              <a:rPr kumimoji="0" lang="en-US" altLang="zh-CN" sz="26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B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={(</a:t>
            </a:r>
            <a:r>
              <a:rPr kumimoji="0" lang="en-US" altLang="zh-CN" sz="26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x</a:t>
            </a:r>
            <a:r>
              <a:rPr kumimoji="0" lang="en-US" altLang="zh-CN" sz="26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,</a:t>
            </a:r>
            <a:r>
              <a:rPr kumimoji="0" lang="en-US" altLang="zh-CN" sz="26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y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) | </a:t>
            </a:r>
            <a:r>
              <a:rPr kumimoji="0" lang="en-US" altLang="zh-CN" sz="26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x</a:t>
            </a:r>
            <a:r>
              <a:rPr kumimoji="0" lang="en-US" altLang="zh-CN" sz="26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</a:t>
            </a:r>
            <a:r>
              <a:rPr kumimoji="0" lang="en-US" altLang="zh-CN" sz="26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A</a:t>
            </a:r>
            <a:r>
              <a:rPr kumimoji="0" lang="en-US" altLang="zh-CN" sz="26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</a:t>
            </a:r>
            <a:r>
              <a:rPr kumimoji="0" lang="en-US" altLang="zh-CN" sz="26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y</a:t>
            </a:r>
            <a:r>
              <a:rPr kumimoji="0" lang="en-US" altLang="zh-CN" sz="26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</a:t>
            </a:r>
            <a:r>
              <a:rPr kumimoji="0" lang="en-US" altLang="zh-CN" sz="26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B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64951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5.1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无向图及有向图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C2BBD46-3928-43BD-B43F-D1F059818F8F}"/>
              </a:ext>
            </a:extLst>
          </p:cNvPr>
          <p:cNvSpPr txBox="1"/>
          <p:nvPr/>
        </p:nvSpPr>
        <p:spPr>
          <a:xfrm>
            <a:off x="399945" y="949038"/>
            <a:ext cx="20198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无向图与有向图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1B74481-DE97-4AE1-A1E3-FDE23FD48C7D}"/>
              </a:ext>
            </a:extLst>
          </p:cNvPr>
          <p:cNvSpPr txBox="1"/>
          <p:nvPr/>
        </p:nvSpPr>
        <p:spPr>
          <a:xfrm>
            <a:off x="2854684" y="949038"/>
            <a:ext cx="15446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顶点的度数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6E5651E-7463-4C77-BC6E-765DEF771361}"/>
              </a:ext>
            </a:extLst>
          </p:cNvPr>
          <p:cNvSpPr txBox="1"/>
          <p:nvPr/>
        </p:nvSpPr>
        <p:spPr>
          <a:xfrm>
            <a:off x="4650790" y="949038"/>
            <a:ext cx="11162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握手定理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081BCDF-16D0-4BE3-9564-71DD486B60B7}"/>
              </a:ext>
            </a:extLst>
          </p:cNvPr>
          <p:cNvSpPr txBox="1"/>
          <p:nvPr/>
        </p:nvSpPr>
        <p:spPr>
          <a:xfrm>
            <a:off x="6248494" y="949038"/>
            <a:ext cx="10069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简单图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5F580BA-851B-4B5E-8B11-FF0955550C85}"/>
              </a:ext>
            </a:extLst>
          </p:cNvPr>
          <p:cNvSpPr txBox="1"/>
          <p:nvPr/>
        </p:nvSpPr>
        <p:spPr>
          <a:xfrm>
            <a:off x="7615690" y="949038"/>
            <a:ext cx="9580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完全图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109A2D4-E9E0-4A07-AAD0-FF1B7B3C01ED}"/>
              </a:ext>
            </a:extLst>
          </p:cNvPr>
          <p:cNvSpPr txBox="1"/>
          <p:nvPr/>
        </p:nvSpPr>
        <p:spPr>
          <a:xfrm>
            <a:off x="9008092" y="949038"/>
            <a:ext cx="7596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子图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C28B4E1-F22E-4D95-A01D-C175CB1A3A9A}"/>
              </a:ext>
            </a:extLst>
          </p:cNvPr>
          <p:cNvSpPr txBox="1"/>
          <p:nvPr/>
        </p:nvSpPr>
        <p:spPr>
          <a:xfrm>
            <a:off x="10113046" y="949038"/>
            <a:ext cx="10069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补图</a:t>
            </a: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863AFE07-FDE5-4F52-88CF-1581BCCE79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641" y="1660376"/>
            <a:ext cx="10036475" cy="151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9pPr>
          </a:lstStyle>
          <a:p>
            <a:pPr marL="457200" indent="-457200" eaLnBrk="1" hangingPunct="1">
              <a:buFont typeface="Wingdings" panose="05000000000000000000" pitchFamily="2" charset="2"/>
              <a:buNone/>
            </a:pP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.1  无向图</a:t>
            </a:r>
            <a:r>
              <a:rPr lang="en-US" altLang="zh-CN" i="1" kern="0" dirty="0">
                <a:solidFill>
                  <a:srgbClr val="992677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i="1" kern="0" dirty="0">
                <a:latin typeface="Times New Roman" panose="02020603050405020304" pitchFamily="18" charset="0"/>
              </a:rPr>
              <a:t> </a:t>
            </a:r>
            <a:r>
              <a:rPr lang="en-US" altLang="zh-CN" kern="0" dirty="0">
                <a:latin typeface="Times New Roman" panose="02020603050405020304" pitchFamily="18" charset="0"/>
              </a:rPr>
              <a:t>= &lt;</a:t>
            </a:r>
            <a:r>
              <a:rPr lang="en-US" altLang="zh-CN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kern="0" dirty="0" err="1">
                <a:latin typeface="Times New Roman" panose="02020603050405020304" pitchFamily="18" charset="0"/>
              </a:rPr>
              <a:t>,</a:t>
            </a:r>
            <a:r>
              <a:rPr lang="en-US" altLang="zh-CN" i="1" kern="0" dirty="0" err="1">
                <a:latin typeface="Times New Roman" panose="02020603050405020304" pitchFamily="18" charset="0"/>
              </a:rPr>
              <a:t>E</a:t>
            </a:r>
            <a:r>
              <a:rPr lang="en-US" altLang="zh-CN" kern="0" dirty="0">
                <a:latin typeface="Times New Roman" panose="02020603050405020304" pitchFamily="18" charset="0"/>
              </a:rPr>
              <a:t>&gt;, 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其中</a:t>
            </a:r>
          </a:p>
          <a:p>
            <a:pPr marL="457200" indent="-457200" eaLnBrk="1" hangingPunct="1">
              <a:buFont typeface="Wingdings" panose="05000000000000000000" pitchFamily="2" charset="2"/>
              <a:buNone/>
            </a:pPr>
            <a:r>
              <a:rPr lang="zh-CN" altLang="en-US" kern="0" dirty="0">
                <a:latin typeface="Times New Roman" panose="02020603050405020304" pitchFamily="18" charset="0"/>
              </a:rPr>
              <a:t>(1) </a:t>
            </a:r>
            <a:r>
              <a:rPr lang="en-US" altLang="zh-CN" i="1" kern="0" dirty="0">
                <a:latin typeface="Times New Roman" panose="02020603050405020304" pitchFamily="18" charset="0"/>
              </a:rPr>
              <a:t>V </a:t>
            </a: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zh-CN" kern="0" dirty="0">
                <a:latin typeface="Times New Roman" panose="02020603050405020304" pitchFamily="18" charset="0"/>
              </a:rPr>
              <a:t> </a:t>
            </a: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为顶点集，其元素称为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顶点</a:t>
            </a:r>
            <a:r>
              <a:rPr lang="zh-CN" altLang="en-US" kern="0" dirty="0">
                <a:latin typeface="Times New Roman" panose="02020603050405020304" pitchFamily="18" charset="0"/>
              </a:rPr>
              <a:t>.</a:t>
            </a:r>
            <a:endParaRPr lang="zh-CN" altLang="en-US" kern="0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457200" indent="-457200" eaLnBrk="1" hangingPunct="1">
              <a:buFont typeface="Wingdings" panose="05000000000000000000" pitchFamily="2" charset="2"/>
              <a:buNone/>
            </a:pPr>
            <a:r>
              <a:rPr lang="zh-CN" altLang="en-US" kern="0" dirty="0">
                <a:latin typeface="Times New Roman" panose="02020603050405020304" pitchFamily="18" charset="0"/>
              </a:rPr>
              <a:t>(2) </a:t>
            </a:r>
            <a:r>
              <a:rPr lang="en-US" altLang="zh-CN" i="1" kern="0" dirty="0">
                <a:latin typeface="Times New Roman" panose="02020603050405020304" pitchFamily="18" charset="0"/>
              </a:rPr>
              <a:t>E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为无序集</a:t>
            </a:r>
            <a:r>
              <a:rPr lang="en-US" altLang="zh-CN" i="1" kern="0" dirty="0" err="1">
                <a:solidFill>
                  <a:srgbClr val="992677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kern="0" dirty="0" err="1">
                <a:solidFill>
                  <a:srgbClr val="992677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</a:t>
            </a:r>
            <a:r>
              <a:rPr lang="en-US" altLang="zh-CN" i="1" kern="0" dirty="0" err="1">
                <a:solidFill>
                  <a:srgbClr val="992677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i="1" kern="0" dirty="0">
                <a:solidFill>
                  <a:srgbClr val="992677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的多重集，其元素称为无向边，简称</a:t>
            </a:r>
            <a:r>
              <a:rPr lang="zh-CN" altLang="en-US" kern="0" dirty="0">
                <a:solidFill>
                  <a:srgbClr val="992677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边</a:t>
            </a:r>
            <a:r>
              <a:rPr lang="zh-CN" altLang="en-US" kern="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kern="0" dirty="0">
                <a:latin typeface="Times New Roman" panose="02020603050405020304" pitchFamily="18" charset="0"/>
              </a:rPr>
              <a:t>.</a:t>
            </a:r>
            <a:endParaRPr lang="zh-CN" altLang="en-US" kern="0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457200" indent="-457200" eaLnBrk="1" hangingPunct="1">
              <a:spcBef>
                <a:spcPct val="55000"/>
              </a:spcBef>
              <a:buFont typeface="Wingdings" panose="05000000000000000000" pitchFamily="2" charset="2"/>
              <a:buNone/>
            </a:pPr>
            <a:endParaRPr lang="zh-CN" altLang="en-US" kern="0" dirty="0">
              <a:latin typeface="Times New Roman" panose="02020603050405020304" pitchFamily="18" charset="0"/>
            </a:endParaRPr>
          </a:p>
          <a:p>
            <a:pPr marL="457200" indent="-457200" eaLnBrk="1" hangingPunct="1">
              <a:spcBef>
                <a:spcPct val="55000"/>
              </a:spcBef>
              <a:buFont typeface="Wingdings" panose="05000000000000000000" pitchFamily="2" charset="2"/>
              <a:buNone/>
            </a:pPr>
            <a:endParaRPr lang="zh-CN" altLang="en-US" kern="0" dirty="0">
              <a:latin typeface="Times New Roman" panose="02020603050405020304" pitchFamily="18" charset="0"/>
            </a:endParaRPr>
          </a:p>
        </p:txBody>
      </p:sp>
      <p:pic>
        <p:nvPicPr>
          <p:cNvPr id="28" name="Picture 4" descr="14-1">
            <a:extLst>
              <a:ext uri="{FF2B5EF4-FFF2-40B4-BE49-F238E27FC236}">
                <a16:creationId xmlns:a16="http://schemas.microsoft.com/office/drawing/2014/main" id="{A19A9251-6A24-4E65-B413-C8C6E607C6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9554" y="3439335"/>
            <a:ext cx="3088018" cy="30255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Rectangle 3">
            <a:extLst>
              <a:ext uri="{FF2B5EF4-FFF2-40B4-BE49-F238E27FC236}">
                <a16:creationId xmlns:a16="http://schemas.microsoft.com/office/drawing/2014/main" id="{B19D00F4-C6B8-456A-AE14-8ECD77220B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067" y="3508885"/>
            <a:ext cx="4464050" cy="296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9pPr>
          </a:lstStyle>
          <a:p>
            <a:pPr marL="457200" indent="-457200" eaLnBrk="1" hangingPunct="1">
              <a:spcBef>
                <a:spcPct val="55000"/>
              </a:spcBef>
              <a:buFont typeface="Wingdings" panose="05000000000000000000" pitchFamily="2" charset="2"/>
              <a:buNone/>
              <a:defRPr/>
            </a:pP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例：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 </a:t>
            </a:r>
          </a:p>
          <a:p>
            <a:pPr marL="457200" indent="-457200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V 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= {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v</a:t>
            </a:r>
            <a:r>
              <a:rPr lang="en-US" altLang="zh-CN" kern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1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, 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v</a:t>
            </a:r>
            <a:r>
              <a:rPr lang="en-US" altLang="zh-CN" kern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2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, …,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v</a:t>
            </a:r>
            <a:r>
              <a:rPr lang="en-US" altLang="zh-CN" kern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5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}, </a:t>
            </a:r>
            <a:endParaRPr lang="en-US" altLang="zh-CN" i="1" kern="0" dirty="0">
              <a:solidFill>
                <a:srgbClr val="000000"/>
              </a:solidFill>
              <a:latin typeface="Times New Roman" panose="02020603050405020304" pitchFamily="18" charset="0"/>
              <a:ea typeface="宋体"/>
            </a:endParaRPr>
          </a:p>
          <a:p>
            <a:pPr marL="457200" indent="-457200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E 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= {(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v</a:t>
            </a:r>
            <a:r>
              <a:rPr lang="en-US" altLang="zh-CN" kern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1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,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v</a:t>
            </a:r>
            <a:r>
              <a:rPr lang="en-US" altLang="zh-CN" kern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1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), (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v</a:t>
            </a:r>
            <a:r>
              <a:rPr lang="en-US" altLang="zh-CN" kern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1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,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v</a:t>
            </a:r>
            <a:r>
              <a:rPr lang="en-US" altLang="zh-CN" kern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2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), (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v</a:t>
            </a:r>
            <a:r>
              <a:rPr lang="en-US" altLang="zh-CN" kern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2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,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v</a:t>
            </a:r>
            <a:r>
              <a:rPr lang="en-US" altLang="zh-CN" kern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3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), (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v</a:t>
            </a:r>
            <a:r>
              <a:rPr lang="en-US" altLang="zh-CN" kern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2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,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v</a:t>
            </a:r>
            <a:r>
              <a:rPr lang="en-US" altLang="zh-CN" kern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3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), </a:t>
            </a:r>
          </a:p>
          <a:p>
            <a:pPr marL="457200" indent="-457200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         (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v</a:t>
            </a:r>
            <a:r>
              <a:rPr lang="en-US" altLang="zh-CN" kern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2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,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v</a:t>
            </a:r>
            <a:r>
              <a:rPr lang="en-US" altLang="zh-CN" kern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5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), (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v</a:t>
            </a:r>
            <a:r>
              <a:rPr lang="en-US" altLang="zh-CN" kern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1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,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v</a:t>
            </a:r>
            <a:r>
              <a:rPr lang="en-US" altLang="zh-CN" kern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5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), (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v</a:t>
            </a:r>
            <a:r>
              <a:rPr lang="en-US" altLang="zh-CN" kern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4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,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v</a:t>
            </a:r>
            <a:r>
              <a:rPr lang="en-US" altLang="zh-CN" kern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5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)} </a:t>
            </a:r>
          </a:p>
          <a:p>
            <a:pPr marL="457200" indent="-457200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 </a:t>
            </a:r>
            <a:r>
              <a:rPr lang="en-US" altLang="zh-CN" i="1" kern="0" dirty="0">
                <a:latin typeface="Times New Roman" panose="02020603050405020304" pitchFamily="18" charset="0"/>
                <a:ea typeface="黑体" panose="02010609060101010101" pitchFamily="49" charset="-122"/>
              </a:rPr>
              <a:t>G</a:t>
            </a:r>
            <a:r>
              <a:rPr lang="en-US" altLang="zh-CN" i="1" kern="0" dirty="0">
                <a:solidFill>
                  <a:srgbClr val="0000FF"/>
                </a:solidFill>
                <a:latin typeface="Times New Roman" panose="02020603050405020304" pitchFamily="18" charset="0"/>
                <a:ea typeface="宋体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= &lt;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V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,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E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&gt;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为一无向图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C503E53-8332-4150-8831-19CCC0F5FE2C}"/>
              </a:ext>
            </a:extLst>
          </p:cNvPr>
          <p:cNvSpPr txBox="1"/>
          <p:nvPr/>
        </p:nvSpPr>
        <p:spPr>
          <a:xfrm>
            <a:off x="11152964" y="949038"/>
            <a:ext cx="7745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同构</a:t>
            </a:r>
          </a:p>
        </p:txBody>
      </p:sp>
    </p:spTree>
    <p:extLst>
      <p:ext uri="{BB962C8B-B14F-4D97-AF65-F5344CB8AC3E}">
        <p14:creationId xmlns:p14="http://schemas.microsoft.com/office/powerpoint/2010/main" val="4219981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build="p"/>
      <p:bldP spid="2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5.1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无向图及有向图</a:t>
            </a:r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55D7F6C6-4E12-4570-A0B3-24AB92BA53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522352"/>
            <a:ext cx="10327106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9pPr>
          </a:lstStyle>
          <a:p>
            <a:pPr marL="457200" indent="-457200" eaLnBrk="1" hangingPunct="1">
              <a:lnSpc>
                <a:spcPct val="14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.2  有向图 </a:t>
            </a:r>
            <a:r>
              <a:rPr lang="en-US" altLang="zh-CN" i="1" kern="0" dirty="0">
                <a:solidFill>
                  <a:srgbClr val="992677"/>
                </a:solidFill>
                <a:latin typeface="Times New Roman" panose="02020603050405020304" pitchFamily="18" charset="0"/>
              </a:rPr>
              <a:t>D </a:t>
            </a:r>
            <a:r>
              <a:rPr lang="en-US" altLang="zh-CN" kern="0" dirty="0">
                <a:latin typeface="Times New Roman" panose="02020603050405020304" pitchFamily="18" charset="0"/>
              </a:rPr>
              <a:t>= &lt;</a:t>
            </a:r>
            <a:r>
              <a:rPr lang="en-US" altLang="zh-CN" i="1" kern="0" dirty="0">
                <a:latin typeface="Times New Roman" panose="02020603050405020304" pitchFamily="18" charset="0"/>
              </a:rPr>
              <a:t>V</a:t>
            </a:r>
            <a:r>
              <a:rPr lang="en-US" altLang="zh-CN" kern="0" dirty="0">
                <a:latin typeface="Times New Roman" panose="02020603050405020304" pitchFamily="18" charset="0"/>
              </a:rPr>
              <a:t>, </a:t>
            </a:r>
            <a:r>
              <a:rPr lang="en-US" altLang="zh-CN" i="1" kern="0" dirty="0">
                <a:latin typeface="Times New Roman" panose="02020603050405020304" pitchFamily="18" charset="0"/>
              </a:rPr>
              <a:t>E</a:t>
            </a:r>
            <a:r>
              <a:rPr lang="en-US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&gt;, 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只需注意</a:t>
            </a:r>
            <a:r>
              <a:rPr lang="en-US" altLang="zh-CN" i="1" kern="0" dirty="0">
                <a:latin typeface="Times New Roman" panose="02020603050405020304" pitchFamily="18" charset="0"/>
              </a:rPr>
              <a:t>E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lang="en-US" altLang="zh-CN" i="1" kern="0" dirty="0" err="1">
                <a:solidFill>
                  <a:srgbClr val="992677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kern="0" dirty="0" err="1">
                <a:solidFill>
                  <a:srgbClr val="992677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i="1" kern="0" dirty="0" err="1">
                <a:solidFill>
                  <a:srgbClr val="992677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i="1" kern="0" dirty="0">
                <a:solidFill>
                  <a:srgbClr val="992677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的多重子集</a:t>
            </a:r>
          </a:p>
          <a:p>
            <a:pPr marL="457200" indent="-457200" eaLnBrk="1" hangingPunct="1">
              <a:lnSpc>
                <a:spcPct val="14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下图表示的是一个有向图，试写出它的</a:t>
            </a:r>
            <a:r>
              <a:rPr lang="en-US" altLang="zh-CN" i="1" kern="0" dirty="0">
                <a:latin typeface="Times New Roman" panose="02020603050405020304" pitchFamily="18" charset="0"/>
              </a:rPr>
              <a:t>V 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和 </a:t>
            </a:r>
            <a:r>
              <a:rPr lang="en-US" altLang="zh-CN" i="1" kern="0" dirty="0">
                <a:latin typeface="Times New Roman" panose="02020603050405020304" pitchFamily="18" charset="0"/>
              </a:rPr>
              <a:t>E .</a:t>
            </a:r>
          </a:p>
          <a:p>
            <a:pPr marL="457200" indent="-457200" eaLnBrk="1" hangingPunct="1">
              <a:lnSpc>
                <a:spcPct val="14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en-US" altLang="zh-CN" i="1" kern="0" dirty="0">
              <a:latin typeface="Times New Roman" panose="02020603050405020304" pitchFamily="18" charset="0"/>
            </a:endParaRPr>
          </a:p>
        </p:txBody>
      </p:sp>
      <p:pic>
        <p:nvPicPr>
          <p:cNvPr id="25" name="Picture 4" descr="14-2">
            <a:extLst>
              <a:ext uri="{FF2B5EF4-FFF2-40B4-BE49-F238E27FC236}">
                <a16:creationId xmlns:a16="http://schemas.microsoft.com/office/drawing/2014/main" id="{9B0445DF-C7EE-49EC-AF0D-AD0AAE509B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2567" y="2950234"/>
            <a:ext cx="2772289" cy="2833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Rectangle 3">
            <a:extLst>
              <a:ext uri="{FF2B5EF4-FFF2-40B4-BE49-F238E27FC236}">
                <a16:creationId xmlns:a16="http://schemas.microsoft.com/office/drawing/2014/main" id="{BB45FFAD-959A-47EE-B7D1-FCDFF4D06D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949" y="2944242"/>
            <a:ext cx="10417235" cy="2317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9pPr>
          </a:lstStyle>
          <a:p>
            <a:pPr marL="457200" indent="-457200" eaLnBrk="1" hangingPunct="1">
              <a:spcBef>
                <a:spcPct val="55000"/>
              </a:spcBef>
              <a:buFont typeface="Wingdings" panose="05000000000000000000" pitchFamily="2" charset="2"/>
              <a:buNone/>
              <a:defRPr/>
            </a:pP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 </a:t>
            </a:r>
          </a:p>
          <a:p>
            <a:pPr marL="457200" indent="-457200" eaLnBrk="1" hangingPunct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V 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= {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v</a:t>
            </a:r>
            <a:r>
              <a:rPr lang="en-US" altLang="zh-CN" kern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1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, 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v</a:t>
            </a:r>
            <a:r>
              <a:rPr lang="en-US" altLang="zh-CN" kern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2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, 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v</a:t>
            </a:r>
            <a:r>
              <a:rPr lang="en-US" altLang="zh-CN" i="1" kern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3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, 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v</a:t>
            </a:r>
            <a:r>
              <a:rPr lang="en-US" altLang="zh-CN" kern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4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}, </a:t>
            </a:r>
            <a:endParaRPr lang="en-US" altLang="zh-CN" i="1" kern="0" dirty="0">
              <a:solidFill>
                <a:srgbClr val="000000"/>
              </a:solidFill>
              <a:latin typeface="Times New Roman" panose="02020603050405020304" pitchFamily="18" charset="0"/>
              <a:ea typeface="宋体"/>
            </a:endParaRPr>
          </a:p>
          <a:p>
            <a:pPr marL="457200" indent="-457200" eaLnBrk="1" hangingPunct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E 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= {&lt;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a</a:t>
            </a:r>
            <a:r>
              <a:rPr lang="en-US" altLang="zh-CN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,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a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&gt;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, &lt;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a</a:t>
            </a:r>
            <a:r>
              <a:rPr lang="en-US" altLang="zh-CN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,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b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&gt;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,&lt;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a</a:t>
            </a:r>
            <a:r>
              <a:rPr lang="en-US" altLang="zh-CN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,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b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&gt;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,&lt;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a</a:t>
            </a:r>
            <a:r>
              <a:rPr lang="en-US" altLang="zh-CN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,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d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&gt;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, </a:t>
            </a:r>
          </a:p>
          <a:p>
            <a:pPr marL="457200" indent="-457200" eaLnBrk="1" hangingPunct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 &lt;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c</a:t>
            </a:r>
            <a:r>
              <a:rPr lang="en-US" altLang="zh-CN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,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b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&gt;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, &lt;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c</a:t>
            </a:r>
            <a:r>
              <a:rPr lang="en-US" altLang="zh-CN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,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d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&gt;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, &lt;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d</a:t>
            </a:r>
            <a:r>
              <a:rPr lang="en-US" altLang="zh-CN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,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c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&gt;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 } </a:t>
            </a:r>
          </a:p>
          <a:p>
            <a:pPr marL="457200" indent="-457200" eaLnBrk="1" hangingPunct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   = {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e</a:t>
            </a:r>
            <a:r>
              <a:rPr lang="en-US" altLang="zh-CN" kern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1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, 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e</a:t>
            </a:r>
            <a:r>
              <a:rPr lang="en-US" altLang="zh-CN" kern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2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, 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e</a:t>
            </a:r>
            <a:r>
              <a:rPr lang="en-US" altLang="zh-CN" kern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3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, 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e</a:t>
            </a:r>
            <a:r>
              <a:rPr lang="en-US" altLang="zh-CN" kern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4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, 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e</a:t>
            </a:r>
            <a:r>
              <a:rPr lang="en-US" altLang="zh-CN" kern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5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, 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e</a:t>
            </a:r>
            <a:r>
              <a:rPr lang="en-US" altLang="zh-CN" kern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6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, 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e</a:t>
            </a:r>
            <a:r>
              <a:rPr lang="en-US" altLang="zh-CN" kern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7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 }</a:t>
            </a:r>
          </a:p>
          <a:p>
            <a:pPr marL="457200" indent="-45720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             </a:t>
            </a:r>
          </a:p>
          <a:p>
            <a:pPr marL="457200" indent="-457200" eaLnBrk="1" hangingPunct="1">
              <a:lnSpc>
                <a:spcPct val="90000"/>
              </a:lnSpc>
              <a:spcBef>
                <a:spcPts val="1200"/>
              </a:spcBef>
              <a:buFont typeface="Wingdings" panose="05000000000000000000" pitchFamily="2" charset="2"/>
              <a:buNone/>
              <a:defRPr/>
            </a:pP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注意：图的数学定义与图形表示，在同构（待叙）的意义下是一一对应的.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EA5B600-FE10-4BA9-94AD-4B8F81D04B84}"/>
              </a:ext>
            </a:extLst>
          </p:cNvPr>
          <p:cNvSpPr txBox="1"/>
          <p:nvPr/>
        </p:nvSpPr>
        <p:spPr>
          <a:xfrm>
            <a:off x="399945" y="949038"/>
            <a:ext cx="20198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无向图与有向图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3E95C32-85C6-4AB4-AF19-60ADCF15CEFA}"/>
              </a:ext>
            </a:extLst>
          </p:cNvPr>
          <p:cNvSpPr txBox="1"/>
          <p:nvPr/>
        </p:nvSpPr>
        <p:spPr>
          <a:xfrm>
            <a:off x="2854684" y="949038"/>
            <a:ext cx="15446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顶点的度数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97E4B3E-6302-4B32-AB88-ACDC520C5CDE}"/>
              </a:ext>
            </a:extLst>
          </p:cNvPr>
          <p:cNvSpPr txBox="1"/>
          <p:nvPr/>
        </p:nvSpPr>
        <p:spPr>
          <a:xfrm>
            <a:off x="4650790" y="949038"/>
            <a:ext cx="11162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握手定理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975B8D0-D541-4D8D-B7DA-282C550D7FBA}"/>
              </a:ext>
            </a:extLst>
          </p:cNvPr>
          <p:cNvSpPr txBox="1"/>
          <p:nvPr/>
        </p:nvSpPr>
        <p:spPr>
          <a:xfrm>
            <a:off x="6248494" y="949038"/>
            <a:ext cx="10069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简单图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1363363-0C2E-4F2F-B0DF-D0BEE6B258A0}"/>
              </a:ext>
            </a:extLst>
          </p:cNvPr>
          <p:cNvSpPr txBox="1"/>
          <p:nvPr/>
        </p:nvSpPr>
        <p:spPr>
          <a:xfrm>
            <a:off x="7615690" y="949038"/>
            <a:ext cx="9580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完全图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BE3A4E7-BE5D-47F2-9E03-889EED4BD8A0}"/>
              </a:ext>
            </a:extLst>
          </p:cNvPr>
          <p:cNvSpPr txBox="1"/>
          <p:nvPr/>
        </p:nvSpPr>
        <p:spPr>
          <a:xfrm>
            <a:off x="9008092" y="949038"/>
            <a:ext cx="7596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子图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3A43FF3-29AF-4236-A8C8-FB37040C824E}"/>
              </a:ext>
            </a:extLst>
          </p:cNvPr>
          <p:cNvSpPr txBox="1"/>
          <p:nvPr/>
        </p:nvSpPr>
        <p:spPr>
          <a:xfrm>
            <a:off x="10113046" y="949038"/>
            <a:ext cx="10069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补图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2985821-1DE4-4240-AD2F-CDC1D43218F5}"/>
              </a:ext>
            </a:extLst>
          </p:cNvPr>
          <p:cNvSpPr txBox="1"/>
          <p:nvPr/>
        </p:nvSpPr>
        <p:spPr>
          <a:xfrm>
            <a:off x="11152964" y="949038"/>
            <a:ext cx="7745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同构</a:t>
            </a:r>
          </a:p>
        </p:txBody>
      </p:sp>
    </p:spTree>
    <p:extLst>
      <p:ext uri="{BB962C8B-B14F-4D97-AF65-F5344CB8AC3E}">
        <p14:creationId xmlns:p14="http://schemas.microsoft.com/office/powerpoint/2010/main" val="2841399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build="p"/>
      <p:bldP spid="2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5.1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无向图及有向图</a:t>
            </a:r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970481A5-9914-4DB7-BE6A-F737ACA7D5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002" y="1650341"/>
            <a:ext cx="11209427" cy="3798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通常用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G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表示无向图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D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表示有向图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也常用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G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泛指无向图和有向图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  <a:p>
            <a:pPr algn="just" eaLnBrk="1" hangingPunct="1">
              <a:lnSpc>
                <a:spcPct val="150000"/>
              </a:lnSpc>
              <a:buNone/>
            </a:pPr>
            <a:r>
              <a:rPr lang="en-US" altLang="zh-CN" sz="2400" b="1" i="1" kern="0" dirty="0">
                <a:latin typeface="Times New Roman" panose="02020603050405020304" pitchFamily="18" charset="0"/>
              </a:rPr>
              <a:t>V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G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), 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E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G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), 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V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D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), 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E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D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): 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G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D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的顶点集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边集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b="1" i="1" kern="0" dirty="0">
                <a:solidFill>
                  <a:srgbClr val="992677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 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阶图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lang="en-US" altLang="zh-CN" sz="2400" b="1" i="1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个顶点的图</a:t>
            </a:r>
          </a:p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零图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E 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= </a:t>
            </a:r>
            <a:r>
              <a:rPr lang="en-US" altLang="zh-CN" sz="2400" b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endParaRPr lang="en-US" altLang="zh-CN" sz="2400" b="1" kern="0" dirty="0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150000"/>
              </a:lnSpc>
              <a:buNone/>
            </a:pP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平凡图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: 1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阶零图</a:t>
            </a:r>
          </a:p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空图</a:t>
            </a:r>
            <a:r>
              <a:rPr lang="en-US" altLang="zh-CN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V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=</a:t>
            </a:r>
            <a:r>
              <a:rPr lang="en-US" altLang="zh-CN" sz="2400" b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CFF17D0-374A-4B28-A40D-1D21BE47D0EF}"/>
              </a:ext>
            </a:extLst>
          </p:cNvPr>
          <p:cNvSpPr txBox="1"/>
          <p:nvPr/>
        </p:nvSpPr>
        <p:spPr>
          <a:xfrm>
            <a:off x="399945" y="949038"/>
            <a:ext cx="20198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无向图与有向图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D86BB5B-C1D8-4DC2-8563-5FBCA48CC661}"/>
              </a:ext>
            </a:extLst>
          </p:cNvPr>
          <p:cNvSpPr txBox="1"/>
          <p:nvPr/>
        </p:nvSpPr>
        <p:spPr>
          <a:xfrm>
            <a:off x="2854684" y="949038"/>
            <a:ext cx="15446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顶点的度数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E298D9C-761B-4561-BC28-DEB7337EEAB4}"/>
              </a:ext>
            </a:extLst>
          </p:cNvPr>
          <p:cNvSpPr txBox="1"/>
          <p:nvPr/>
        </p:nvSpPr>
        <p:spPr>
          <a:xfrm>
            <a:off x="4650790" y="949038"/>
            <a:ext cx="11162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握手定理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E8AE5F2-DA5E-401D-907A-C6E3891573CC}"/>
              </a:ext>
            </a:extLst>
          </p:cNvPr>
          <p:cNvSpPr txBox="1"/>
          <p:nvPr/>
        </p:nvSpPr>
        <p:spPr>
          <a:xfrm>
            <a:off x="6248494" y="949038"/>
            <a:ext cx="10069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简单图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F2A3BB3-999B-43ED-B176-56FA21F9E785}"/>
              </a:ext>
            </a:extLst>
          </p:cNvPr>
          <p:cNvSpPr txBox="1"/>
          <p:nvPr/>
        </p:nvSpPr>
        <p:spPr>
          <a:xfrm>
            <a:off x="7615690" y="949038"/>
            <a:ext cx="9580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完全图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4185551-C203-4458-968F-E0855B9059A3}"/>
              </a:ext>
            </a:extLst>
          </p:cNvPr>
          <p:cNvSpPr txBox="1"/>
          <p:nvPr/>
        </p:nvSpPr>
        <p:spPr>
          <a:xfrm>
            <a:off x="9008092" y="949038"/>
            <a:ext cx="7596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子图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8202CF2-03B8-4312-9112-4696809EC13E}"/>
              </a:ext>
            </a:extLst>
          </p:cNvPr>
          <p:cNvSpPr txBox="1"/>
          <p:nvPr/>
        </p:nvSpPr>
        <p:spPr>
          <a:xfrm>
            <a:off x="10113046" y="949038"/>
            <a:ext cx="10069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补图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376A594-DF08-4218-A43A-612959129526}"/>
              </a:ext>
            </a:extLst>
          </p:cNvPr>
          <p:cNvSpPr txBox="1"/>
          <p:nvPr/>
        </p:nvSpPr>
        <p:spPr>
          <a:xfrm>
            <a:off x="11152964" y="949038"/>
            <a:ext cx="7745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同构</a:t>
            </a:r>
          </a:p>
        </p:txBody>
      </p:sp>
    </p:spTree>
    <p:extLst>
      <p:ext uri="{BB962C8B-B14F-4D97-AF65-F5344CB8AC3E}">
        <p14:creationId xmlns:p14="http://schemas.microsoft.com/office/powerpoint/2010/main" val="3268645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5.1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无向图及有向图</a:t>
            </a:r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C215D2D0-D223-4883-BDD6-5F56175802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475" y="1285336"/>
            <a:ext cx="8229600" cy="1042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顶点和边的关联与相邻</a:t>
            </a:r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04FDBD58-8176-4619-9A78-26DCE4C090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828" y="2195512"/>
            <a:ext cx="11620172" cy="22585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just" defTabSz="914400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5.3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992677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e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=(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u,v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)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是无向图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G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=&lt;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V,E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&gt;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的一条边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称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u,v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e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端点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e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u</a:t>
            </a:r>
            <a:r>
              <a:rPr kumimoji="0" lang="en-US" altLang="zh-CN" sz="24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(</a:t>
            </a:r>
            <a:r>
              <a:rPr kumimoji="0" lang="en-US" altLang="zh-CN" sz="24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v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)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关联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. 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u</a:t>
            </a:r>
            <a:r>
              <a:rPr kumimoji="0" lang="en-US" altLang="zh-CN" sz="24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Symbol" panose="05050102010706020507" pitchFamily="18" charset="2"/>
              </a:rPr>
              <a:t></a:t>
            </a:r>
            <a:r>
              <a:rPr kumimoji="0" lang="en-US" altLang="zh-CN" sz="24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v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则称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e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u</a:t>
            </a:r>
            <a:r>
              <a:rPr kumimoji="0" lang="en-US" altLang="zh-CN" sz="24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(</a:t>
            </a:r>
            <a:r>
              <a:rPr kumimoji="0" lang="en-US" altLang="zh-CN" sz="24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v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)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关联次数为</a:t>
            </a:r>
            <a:r>
              <a:rPr lang="en-US" altLang="zh-CN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u=v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则称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e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环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此时称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e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u</a:t>
            </a:r>
            <a:r>
              <a:rPr kumimoji="0" lang="en-US" altLang="zh-CN" sz="24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关联次数为</a:t>
            </a:r>
            <a:r>
              <a:rPr lang="en-US" altLang="zh-CN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; 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w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不是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e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端点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则称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e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w</a:t>
            </a:r>
            <a:r>
              <a:rPr kumimoji="0" lang="en-US" altLang="zh-CN" sz="24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关联次数为</a:t>
            </a:r>
            <a:r>
              <a:rPr lang="en-US" altLang="zh-CN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无边关联的顶点称作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孤立点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.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EE8C406-1F75-423E-B7B3-FC595944A667}"/>
              </a:ext>
            </a:extLst>
          </p:cNvPr>
          <p:cNvSpPr txBox="1"/>
          <p:nvPr/>
        </p:nvSpPr>
        <p:spPr>
          <a:xfrm>
            <a:off x="399945" y="949038"/>
            <a:ext cx="20198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无向图与有向图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70118CD-4E35-4F8D-B46E-70E2E8B5EB9F}"/>
              </a:ext>
            </a:extLst>
          </p:cNvPr>
          <p:cNvSpPr txBox="1"/>
          <p:nvPr/>
        </p:nvSpPr>
        <p:spPr>
          <a:xfrm>
            <a:off x="2854684" y="949038"/>
            <a:ext cx="15446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顶点的度数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2023044-B4AA-4265-B234-A2F7B539F640}"/>
              </a:ext>
            </a:extLst>
          </p:cNvPr>
          <p:cNvSpPr txBox="1"/>
          <p:nvPr/>
        </p:nvSpPr>
        <p:spPr>
          <a:xfrm>
            <a:off x="4650790" y="949038"/>
            <a:ext cx="11162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握手定理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514FD19-DE8E-492B-AEBB-195596548EB9}"/>
              </a:ext>
            </a:extLst>
          </p:cNvPr>
          <p:cNvSpPr txBox="1"/>
          <p:nvPr/>
        </p:nvSpPr>
        <p:spPr>
          <a:xfrm>
            <a:off x="6248494" y="949038"/>
            <a:ext cx="10069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简单图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3C150F1-A723-4157-9E53-E2BD6833B12F}"/>
              </a:ext>
            </a:extLst>
          </p:cNvPr>
          <p:cNvSpPr txBox="1"/>
          <p:nvPr/>
        </p:nvSpPr>
        <p:spPr>
          <a:xfrm>
            <a:off x="7615690" y="949038"/>
            <a:ext cx="9580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完全图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497EF17-1767-4ED4-81B9-11993DBB9CC6}"/>
              </a:ext>
            </a:extLst>
          </p:cNvPr>
          <p:cNvSpPr txBox="1"/>
          <p:nvPr/>
        </p:nvSpPr>
        <p:spPr>
          <a:xfrm>
            <a:off x="9008092" y="949038"/>
            <a:ext cx="7596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子图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6B65B71-ACE1-4CF5-BC2D-A9E4215F1F69}"/>
              </a:ext>
            </a:extLst>
          </p:cNvPr>
          <p:cNvSpPr txBox="1"/>
          <p:nvPr/>
        </p:nvSpPr>
        <p:spPr>
          <a:xfrm>
            <a:off x="10113046" y="949038"/>
            <a:ext cx="10069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补图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EFA3179-FA51-4E66-9037-96043B527C2B}"/>
              </a:ext>
            </a:extLst>
          </p:cNvPr>
          <p:cNvSpPr txBox="1"/>
          <p:nvPr/>
        </p:nvSpPr>
        <p:spPr>
          <a:xfrm>
            <a:off x="11152964" y="949038"/>
            <a:ext cx="7745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同构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D98C65C0-D633-4EF1-B90C-3B115CBD7A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828" y="4521851"/>
            <a:ext cx="11620172" cy="2047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just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5.4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en-US" altLang="zh-CN" sz="2400" b="1" kern="0" dirty="0">
              <a:solidFill>
                <a:srgbClr val="992677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无向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图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G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=&lt;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V,E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&gt;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u,v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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V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,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e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e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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E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u,v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)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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E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,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则称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u,v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相邻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; </a:t>
            </a:r>
          </a:p>
          <a:p>
            <a:pPr lvl="0" algn="just" eaLnBrk="1" hangingPunct="1">
              <a:lnSpc>
                <a:spcPct val="125000"/>
              </a:lnSpc>
              <a:spcBef>
                <a:spcPct val="0"/>
              </a:spcBef>
              <a:buClr>
                <a:srgbClr val="00007D"/>
              </a:buClr>
              <a:buNone/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e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e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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至少有一个公共端点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则称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e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e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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相邻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.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e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=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Symbol" panose="05050102010706020507" pitchFamily="18" charset="2"/>
              </a:rPr>
              <a:t>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u,v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Symbol" panose="05050102010706020507" pitchFamily="18" charset="2"/>
              </a:rPr>
              <a:t>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有向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图的一条边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又称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u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e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始点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v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e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终点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u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邻接到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v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v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邻接于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u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.</a:t>
            </a: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Clr>
                <a:srgbClr val="00007D"/>
              </a:buClr>
              <a:buNone/>
              <a:defRPr/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lang="en-US" altLang="zh-CN" sz="2400" b="1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e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的终点，是</a:t>
            </a:r>
            <a:r>
              <a:rPr lang="en-US" altLang="zh-CN" sz="2400" b="1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e</a:t>
            </a:r>
            <a:r>
              <a:rPr lang="en-US" altLang="zh-CN" sz="24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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的始点，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则称</a:t>
            </a:r>
            <a:r>
              <a:rPr lang="en-US" altLang="zh-CN" sz="2400" b="1" i="1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e</a:t>
            </a:r>
            <a:r>
              <a:rPr lang="en-US" altLang="zh-CN" sz="2400" b="1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,</a:t>
            </a:r>
            <a:r>
              <a:rPr lang="en-US" altLang="zh-CN" sz="2400" b="1" i="1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e</a:t>
            </a:r>
            <a:r>
              <a:rPr lang="en-US" altLang="zh-CN" sz="24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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相邻</a:t>
            </a:r>
            <a:r>
              <a:rPr lang="en-US" altLang="zh-CN" sz="24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.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6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5.1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无向图及有向图</a:t>
            </a:r>
          </a:p>
        </p:txBody>
      </p:sp>
      <p:sp>
        <p:nvSpPr>
          <p:cNvPr id="25" name="Rectangle 3">
            <a:extLst>
              <a:ext uri="{FF2B5EF4-FFF2-40B4-BE49-F238E27FC236}">
                <a16:creationId xmlns:a16="http://schemas.microsoft.com/office/drawing/2014/main" id="{663D7848-9E83-487B-BC75-A49F99BD5B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650" y="1535834"/>
            <a:ext cx="8229600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9pPr>
          </a:lstStyle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en-US" altLang="zh-CN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endParaRPr lang="zh-CN" altLang="en-US" kern="0" dirty="0">
              <a:solidFill>
                <a:srgbClr val="992677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609600" indent="-609600" eaLnBrk="1" hangingPunct="1">
              <a:buNone/>
            </a:pPr>
            <a:r>
              <a:rPr lang="zh-CN" altLang="en-US" kern="0" dirty="0">
                <a:latin typeface="Times New Roman" panose="02020603050405020304" pitchFamily="18" charset="0"/>
              </a:rPr>
              <a:t>  (1) 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lang="en-US" altLang="zh-CN" i="1" kern="0" dirty="0">
                <a:latin typeface="Times New Roman" panose="02020603050405020304" pitchFamily="18" charset="0"/>
              </a:rPr>
              <a:t>G </a:t>
            </a:r>
            <a:r>
              <a:rPr lang="en-US" altLang="zh-CN" kern="0" dirty="0">
                <a:latin typeface="Times New Roman" panose="02020603050405020304" pitchFamily="18" charset="0"/>
              </a:rPr>
              <a:t>= &lt;</a:t>
            </a:r>
            <a:r>
              <a:rPr lang="en-US" altLang="zh-CN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kern="0" dirty="0" err="1">
                <a:latin typeface="Times New Roman" panose="02020603050405020304" pitchFamily="18" charset="0"/>
              </a:rPr>
              <a:t>,</a:t>
            </a:r>
            <a:r>
              <a:rPr lang="en-US" altLang="zh-CN" i="1" kern="0" dirty="0" err="1">
                <a:latin typeface="Times New Roman" panose="02020603050405020304" pitchFamily="18" charset="0"/>
              </a:rPr>
              <a:t>E</a:t>
            </a:r>
            <a:r>
              <a:rPr lang="en-US" altLang="zh-CN" kern="0" dirty="0">
                <a:latin typeface="Times New Roman" panose="02020603050405020304" pitchFamily="18" charset="0"/>
              </a:rPr>
              <a:t>&gt;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为无向图,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 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v</a:t>
            </a:r>
            <a:r>
              <a:rPr lang="en-US" altLang="zh-CN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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V</a:t>
            </a:r>
            <a:r>
              <a:rPr lang="en-US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0D39BA5C-BD5B-4114-9CFE-F59106AD2D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503" y="2566628"/>
            <a:ext cx="7614638" cy="2807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   v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的度数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度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)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d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(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v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):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v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作为边的端点次数之和 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   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悬挂顶点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: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度数为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的顶点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   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悬挂边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: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与悬挂顶点关联的边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  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G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的最大度</a:t>
            </a:r>
            <a:r>
              <a:rPr lang="zh-CN" altLang="en-US" sz="2400" b="1" i="1" kern="0" dirty="0">
                <a:solidFill>
                  <a:srgbClr val="992677"/>
                </a:solidFill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</a:t>
            </a:r>
            <a:r>
              <a:rPr lang="en-US" altLang="zh-CN" sz="2400" b="1" i="1" kern="0" dirty="0">
                <a:solidFill>
                  <a:srgbClr val="992677"/>
                </a:solidFill>
                <a:latin typeface="Times New Roman" panose="02020603050405020304" pitchFamily="18" charset="0"/>
                <a:ea typeface="宋体"/>
              </a:rPr>
              <a:t>(G)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= max{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d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v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)|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v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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V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}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   </a:t>
            </a:r>
            <a:r>
              <a:rPr lang="en-US" altLang="zh-CN" sz="2400" b="1" i="1" kern="0" dirty="0">
                <a:solidFill>
                  <a:srgbClr val="992677"/>
                </a:solidFill>
                <a:latin typeface="Times New Roman" panose="02020603050405020304" pitchFamily="18" charset="0"/>
                <a:ea typeface="宋体"/>
              </a:rPr>
              <a:t>G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的最小度</a:t>
            </a:r>
            <a:r>
              <a:rPr lang="zh-CN" altLang="en-US" sz="2400" b="1" i="1" kern="0" dirty="0">
                <a:solidFill>
                  <a:srgbClr val="992677"/>
                </a:solidFill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</a:t>
            </a:r>
            <a:r>
              <a:rPr lang="en-US" altLang="zh-CN" sz="2400" b="1" i="1" kern="0" dirty="0">
                <a:solidFill>
                  <a:srgbClr val="992677"/>
                </a:solidFill>
                <a:latin typeface="Times New Roman" panose="02020603050405020304" pitchFamily="18" charset="0"/>
                <a:ea typeface="宋体"/>
              </a:rPr>
              <a:t>(G)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= min{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d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v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)|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v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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V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}</a:t>
            </a:r>
          </a:p>
        </p:txBody>
      </p:sp>
      <p:pic>
        <p:nvPicPr>
          <p:cNvPr id="33" name="Picture 4" descr="14-1">
            <a:extLst>
              <a:ext uri="{FF2B5EF4-FFF2-40B4-BE49-F238E27FC236}">
                <a16:creationId xmlns:a16="http://schemas.microsoft.com/office/drawing/2014/main" id="{AA1E18CB-5A73-4523-8CD4-5DA259865E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8987" y="2820659"/>
            <a:ext cx="2798372" cy="2534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" name="Rectangle 3">
            <a:extLst>
              <a:ext uri="{FF2B5EF4-FFF2-40B4-BE49-F238E27FC236}">
                <a16:creationId xmlns:a16="http://schemas.microsoft.com/office/drawing/2014/main" id="{96C2C6E6-73D9-4AD5-B901-81612ACDCF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105" y="5447850"/>
            <a:ext cx="10116298" cy="123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 algn="just" eaLnBrk="1" hangingPunct="1">
              <a:spcBef>
                <a:spcPct val="50000"/>
              </a:spcBef>
              <a:buClr>
                <a:srgbClr val="00007D"/>
              </a:buClr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d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v</a:t>
            </a:r>
            <a:r>
              <a:rPr kumimoji="0" lang="en-US" altLang="zh-CN" sz="2400" b="1" i="0" u="none" strike="noStrike" kern="0" cap="none" spc="0" normalizeH="0" baseline="-2500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5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) = 3</a:t>
            </a:r>
            <a:r>
              <a:rPr lang="en-US" altLang="zh-CN" sz="2400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d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v</a:t>
            </a:r>
            <a:r>
              <a:rPr kumimoji="0" lang="en-US" altLang="zh-CN" sz="2400" b="1" i="0" u="none" strike="noStrike" kern="0" cap="none" spc="0" normalizeH="0" baseline="-2500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2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) = 4</a:t>
            </a:r>
            <a:r>
              <a:rPr lang="en-US" altLang="zh-CN" sz="2400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d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v</a:t>
            </a:r>
            <a:r>
              <a:rPr kumimoji="0" lang="en-US" altLang="zh-CN" sz="2400" b="1" i="0" u="none" strike="noStrike" kern="0" cap="none" spc="0" normalizeH="0" baseline="-2500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1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) = 4</a:t>
            </a:r>
            <a:r>
              <a:rPr lang="en-US" altLang="zh-CN" sz="2400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 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G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) = 4</a:t>
            </a:r>
            <a:r>
              <a:rPr lang="en-US" altLang="zh-CN" sz="2400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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G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) = 1</a:t>
            </a:r>
            <a:r>
              <a:rPr lang="en-US" altLang="zh-CN" sz="2400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    </a:t>
            </a:r>
            <a:r>
              <a:rPr kumimoji="0" lang="en-US" altLang="zh-CN" sz="2800" b="1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v</a:t>
            </a:r>
            <a:r>
              <a:rPr kumimoji="0" lang="en-US" altLang="zh-CN" sz="2800" b="1" i="0" u="none" strike="noStrike" kern="0" cap="none" spc="0" normalizeH="0" baseline="-2500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4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是悬挂顶点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kumimoji="0" lang="en-US" altLang="zh-CN" sz="2800" b="1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e</a:t>
            </a:r>
            <a:r>
              <a:rPr kumimoji="0" lang="en-US" altLang="zh-CN" sz="2800" b="1" i="0" u="none" strike="noStrike" kern="0" cap="none" spc="0" normalizeH="0" baseline="-2500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7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是悬挂边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kumimoji="0" lang="en-US" altLang="zh-CN" sz="2800" b="1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e</a:t>
            </a:r>
            <a:r>
              <a:rPr kumimoji="0" lang="en-US" altLang="zh-CN" sz="2800" b="1" i="0" u="none" strike="noStrike" kern="0" cap="none" spc="0" normalizeH="0" baseline="-2500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1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是环 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84F4245-8ACE-4894-B2C0-4293ECDA44EA}"/>
              </a:ext>
            </a:extLst>
          </p:cNvPr>
          <p:cNvSpPr txBox="1"/>
          <p:nvPr/>
        </p:nvSpPr>
        <p:spPr>
          <a:xfrm>
            <a:off x="399945" y="949038"/>
            <a:ext cx="20198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无向图与有向图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958EF0D-E6F3-4061-BF56-63BA048ED06A}"/>
              </a:ext>
            </a:extLst>
          </p:cNvPr>
          <p:cNvSpPr txBox="1"/>
          <p:nvPr/>
        </p:nvSpPr>
        <p:spPr>
          <a:xfrm>
            <a:off x="2854684" y="949038"/>
            <a:ext cx="15446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顶点的度数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6030EB5-FE1A-4E9C-9A70-3DA80F73083A}"/>
              </a:ext>
            </a:extLst>
          </p:cNvPr>
          <p:cNvSpPr txBox="1"/>
          <p:nvPr/>
        </p:nvSpPr>
        <p:spPr>
          <a:xfrm>
            <a:off x="4650790" y="949038"/>
            <a:ext cx="11162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握手定理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5D4B948-83EC-4DA2-8FE6-5336FF5EEF0D}"/>
              </a:ext>
            </a:extLst>
          </p:cNvPr>
          <p:cNvSpPr txBox="1"/>
          <p:nvPr/>
        </p:nvSpPr>
        <p:spPr>
          <a:xfrm>
            <a:off x="6248494" y="949038"/>
            <a:ext cx="10069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简单图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2094ECD-F5D2-455B-A9F4-0A7B0E01DEA2}"/>
              </a:ext>
            </a:extLst>
          </p:cNvPr>
          <p:cNvSpPr txBox="1"/>
          <p:nvPr/>
        </p:nvSpPr>
        <p:spPr>
          <a:xfrm>
            <a:off x="7615690" y="949038"/>
            <a:ext cx="9580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完全图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B1DB5FD-220C-45C5-822F-943E148D24E0}"/>
              </a:ext>
            </a:extLst>
          </p:cNvPr>
          <p:cNvSpPr txBox="1"/>
          <p:nvPr/>
        </p:nvSpPr>
        <p:spPr>
          <a:xfrm>
            <a:off x="9008092" y="949038"/>
            <a:ext cx="7596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子图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E956F4B-DC41-48AB-B85B-C460B99765E9}"/>
              </a:ext>
            </a:extLst>
          </p:cNvPr>
          <p:cNvSpPr txBox="1"/>
          <p:nvPr/>
        </p:nvSpPr>
        <p:spPr>
          <a:xfrm>
            <a:off x="10113046" y="949038"/>
            <a:ext cx="10069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补图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C629C8B-F3B6-433F-95C2-D3A09745081B}"/>
              </a:ext>
            </a:extLst>
          </p:cNvPr>
          <p:cNvSpPr txBox="1"/>
          <p:nvPr/>
        </p:nvSpPr>
        <p:spPr>
          <a:xfrm>
            <a:off x="11152964" y="949038"/>
            <a:ext cx="7745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同构</a:t>
            </a:r>
          </a:p>
        </p:txBody>
      </p:sp>
    </p:spTree>
    <p:extLst>
      <p:ext uri="{BB962C8B-B14F-4D97-AF65-F5344CB8AC3E}">
        <p14:creationId xmlns:p14="http://schemas.microsoft.com/office/powerpoint/2010/main" val="8523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5.1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无向图及有向图</a:t>
            </a:r>
          </a:p>
        </p:txBody>
      </p:sp>
      <p:sp>
        <p:nvSpPr>
          <p:cNvPr id="23" name="Rectangle 1027">
            <a:extLst>
              <a:ext uri="{FF2B5EF4-FFF2-40B4-BE49-F238E27FC236}">
                <a16:creationId xmlns:a16="http://schemas.microsoft.com/office/drawing/2014/main" id="{DD07ECA3-B494-4E1C-81D8-6A5D9E0B63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179" y="1466822"/>
            <a:ext cx="6496978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 eaLnBrk="1" hangingPunct="1"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D 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= &lt;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kern="0" dirty="0" err="1">
                <a:latin typeface="Times New Roman" panose="02020603050405020304" pitchFamily="18" charset="0"/>
              </a:rPr>
              <a:t>,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E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&gt;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为有向图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kern="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endParaRPr lang="en-US" altLang="zh-CN" sz="2400" b="1" kern="0" dirty="0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 b="1" i="1" kern="0" dirty="0">
                <a:solidFill>
                  <a:srgbClr val="FF3300"/>
                </a:solidFill>
                <a:latin typeface="Times New Roman" panose="02020603050405020304" pitchFamily="18" charset="0"/>
              </a:rPr>
              <a:t>   </a:t>
            </a:r>
            <a:r>
              <a:rPr lang="en-US" altLang="zh-CN" sz="2600" b="1" i="1" kern="0" dirty="0">
                <a:solidFill>
                  <a:srgbClr val="992677"/>
                </a:solidFill>
                <a:latin typeface="Times New Roman" panose="02020603050405020304" pitchFamily="18" charset="0"/>
              </a:rPr>
              <a:t>v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的出度</a:t>
            </a:r>
            <a:r>
              <a:rPr lang="en-US" altLang="zh-CN" sz="2600" b="1" i="1" kern="0" dirty="0">
                <a:solidFill>
                  <a:srgbClr val="992677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600" b="1" kern="0" baseline="30000" dirty="0">
                <a:solidFill>
                  <a:srgbClr val="992677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2600" b="1" kern="0" dirty="0">
                <a:solidFill>
                  <a:srgbClr val="992677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600" b="1" i="1" kern="0" dirty="0">
                <a:solidFill>
                  <a:srgbClr val="992677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600" b="1" kern="0" dirty="0">
                <a:solidFill>
                  <a:srgbClr val="992677"/>
                </a:solidFill>
                <a:latin typeface="Times New Roman" panose="02020603050405020304" pitchFamily="18" charset="0"/>
              </a:rPr>
              <a:t>):  </a:t>
            </a:r>
            <a:r>
              <a:rPr lang="en-US" altLang="zh-CN" sz="2800" b="1" i="1" kern="0" dirty="0">
                <a:latin typeface="Times New Roman" panose="02020603050405020304" pitchFamily="18" charset="0"/>
              </a:rPr>
              <a:t>v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作为边的始点次数之和</a:t>
            </a:r>
          </a:p>
          <a:p>
            <a:pPr algn="just" eaLnBrk="1" hangingPunct="1">
              <a:lnSpc>
                <a:spcPts val="3100"/>
              </a:lnSpc>
              <a:buNone/>
            </a:pPr>
            <a:r>
              <a:rPr lang="zh-CN" altLang="en-US" sz="2800" b="1" i="1" kern="0" dirty="0">
                <a:latin typeface="Times New Roman" panose="02020603050405020304" pitchFamily="18" charset="0"/>
              </a:rPr>
              <a:t>   </a:t>
            </a:r>
            <a:r>
              <a:rPr lang="en-US" altLang="zh-CN" sz="2600" b="1" i="1" kern="0" dirty="0">
                <a:solidFill>
                  <a:srgbClr val="992677"/>
                </a:solidFill>
                <a:latin typeface="Times New Roman" panose="02020603050405020304" pitchFamily="18" charset="0"/>
              </a:rPr>
              <a:t>v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的入度</a:t>
            </a:r>
            <a:r>
              <a:rPr lang="en-US" altLang="zh-CN" sz="2600" b="1" i="1" kern="0" dirty="0">
                <a:solidFill>
                  <a:srgbClr val="992677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600" b="1" i="1" kern="0" baseline="30000" dirty="0">
                <a:solidFill>
                  <a:srgbClr val="992677"/>
                </a:solidFill>
                <a:latin typeface="Times New Roman" panose="02020603050405020304" pitchFamily="18" charset="0"/>
              </a:rPr>
              <a:t>-</a:t>
            </a:r>
            <a:r>
              <a:rPr lang="en-US" altLang="zh-CN" sz="2600" b="1" kern="0" baseline="30000" dirty="0">
                <a:solidFill>
                  <a:srgbClr val="992677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600" b="1" i="1" kern="0" dirty="0">
                <a:solidFill>
                  <a:srgbClr val="992677"/>
                </a:solidFill>
                <a:latin typeface="Times New Roman" panose="02020603050405020304" pitchFamily="18" charset="0"/>
              </a:rPr>
              <a:t>(v):  </a:t>
            </a:r>
            <a:r>
              <a:rPr lang="en-US" altLang="zh-CN" sz="2800" b="1" i="1" kern="0" dirty="0">
                <a:latin typeface="Times New Roman" panose="02020603050405020304" pitchFamily="18" charset="0"/>
              </a:rPr>
              <a:t>v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作为边的终点次数之和</a:t>
            </a:r>
          </a:p>
          <a:p>
            <a:pPr algn="just" eaLnBrk="1" hangingPunct="1">
              <a:lnSpc>
                <a:spcPts val="3100"/>
              </a:lnSpc>
              <a:buNone/>
            </a:pPr>
            <a:r>
              <a:rPr lang="zh-CN" altLang="en-US" sz="2800" b="1" i="1" kern="0" dirty="0">
                <a:latin typeface="Times New Roman" panose="02020603050405020304" pitchFamily="18" charset="0"/>
              </a:rPr>
              <a:t>   </a:t>
            </a:r>
            <a:r>
              <a:rPr lang="en-US" altLang="zh-CN" sz="2600" b="1" i="1" kern="0" dirty="0">
                <a:solidFill>
                  <a:srgbClr val="992677"/>
                </a:solidFill>
                <a:latin typeface="Times New Roman" panose="02020603050405020304" pitchFamily="18" charset="0"/>
              </a:rPr>
              <a:t>v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的度数</a:t>
            </a:r>
            <a:r>
              <a:rPr lang="en-US" altLang="zh-CN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度</a:t>
            </a:r>
            <a:r>
              <a:rPr lang="en-US" altLang="zh-CN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en-US" altLang="zh-CN" sz="2600" b="1" i="1" kern="0" dirty="0">
                <a:solidFill>
                  <a:srgbClr val="992677"/>
                </a:solidFill>
                <a:latin typeface="Times New Roman" panose="02020603050405020304" pitchFamily="18" charset="0"/>
              </a:rPr>
              <a:t>d(v): </a:t>
            </a:r>
            <a:r>
              <a:rPr lang="en-US" altLang="zh-CN" sz="2800" b="1" i="1" kern="0" dirty="0">
                <a:latin typeface="Times New Roman" panose="02020603050405020304" pitchFamily="18" charset="0"/>
              </a:rPr>
              <a:t>v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作为边的端点次数之和</a:t>
            </a:r>
          </a:p>
          <a:p>
            <a:pPr algn="just" eaLnBrk="1" hangingPunct="1"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zh-CN" altLang="en-US" sz="2400" b="1" i="1" kern="0" dirty="0">
                <a:latin typeface="Times New Roman" panose="02020603050405020304" pitchFamily="18" charset="0"/>
              </a:rPr>
              <a:t>                              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d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v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)= 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d</a:t>
            </a:r>
            <a:r>
              <a:rPr lang="en-US" altLang="zh-CN" sz="2400" b="1" kern="0" baseline="30000" dirty="0">
                <a:latin typeface="Times New Roman" panose="02020603050405020304" pitchFamily="18" charset="0"/>
              </a:rPr>
              <a:t>+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v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)+ 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d</a:t>
            </a:r>
            <a:r>
              <a:rPr lang="en-US" altLang="zh-CN" sz="2400" b="1" i="1" kern="0" baseline="30000" dirty="0">
                <a:latin typeface="Times New Roman" panose="02020603050405020304" pitchFamily="18" charset="0"/>
              </a:rPr>
              <a:t>-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v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)</a:t>
            </a:r>
          </a:p>
          <a:p>
            <a:pPr algn="just" eaLnBrk="1" hangingPunct="1"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 b="1" i="1" kern="0" dirty="0">
                <a:solidFill>
                  <a:srgbClr val="FF3300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400" b="1" i="1" kern="0" dirty="0">
                <a:solidFill>
                  <a:srgbClr val="992677"/>
                </a:solidFill>
                <a:latin typeface="Times New Roman" panose="02020603050405020304" pitchFamily="18" charset="0"/>
              </a:rPr>
              <a:t>D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的最大出度</a:t>
            </a:r>
            <a:r>
              <a:rPr lang="zh-CN" altLang="en-US" sz="2400" b="1" i="1" kern="0" dirty="0">
                <a:solidFill>
                  <a:srgbClr val="992677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altLang="zh-CN" sz="2400" b="1" i="1" kern="0" dirty="0">
                <a:solidFill>
                  <a:srgbClr val="992677"/>
                </a:solidFill>
                <a:latin typeface="Times New Roman" panose="02020603050405020304" pitchFamily="18" charset="0"/>
              </a:rPr>
              <a:t>+(D) 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=max{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d</a:t>
            </a:r>
            <a:r>
              <a:rPr lang="en-US" altLang="zh-CN" sz="2400" b="1" i="1" kern="0" baseline="30000" dirty="0">
                <a:latin typeface="Times New Roman" panose="02020603050405020304" pitchFamily="18" charset="0"/>
              </a:rPr>
              <a:t>+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v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)|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kern="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 kern="0" dirty="0" err="1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400" b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}</a:t>
            </a:r>
          </a:p>
          <a:p>
            <a:pPr algn="just" eaLnBrk="1" hangingPunct="1"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 b="1" kern="0" dirty="0">
                <a:solidFill>
                  <a:srgbClr val="FF33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  </a:t>
            </a:r>
            <a:r>
              <a:rPr lang="en-US" altLang="zh-CN" sz="2800" b="1" kern="0" dirty="0">
                <a:solidFill>
                  <a:srgbClr val="FF33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最小出度</a:t>
            </a:r>
            <a:r>
              <a:rPr lang="zh-CN" altLang="en-US" sz="2400" b="1" i="1" kern="0" dirty="0">
                <a:solidFill>
                  <a:srgbClr val="992677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lang="en-US" altLang="zh-CN" sz="2400" b="1" i="1" kern="0" dirty="0">
                <a:solidFill>
                  <a:srgbClr val="992677"/>
                </a:solidFill>
                <a:latin typeface="Times New Roman" panose="02020603050405020304" pitchFamily="18" charset="0"/>
              </a:rPr>
              <a:t>+(D)  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=min{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d</a:t>
            </a:r>
            <a:r>
              <a:rPr lang="en-US" altLang="zh-CN" sz="2400" b="1" i="1" kern="0" baseline="30000" dirty="0">
                <a:latin typeface="Times New Roman" panose="02020603050405020304" pitchFamily="18" charset="0"/>
              </a:rPr>
              <a:t>+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v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)|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kern="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 kern="0" dirty="0" err="1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400" b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}</a:t>
            </a:r>
            <a:endParaRPr lang="en-US" altLang="zh-CN" sz="2400" b="1" kern="0" dirty="0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 b="1" kern="0" dirty="0">
                <a:solidFill>
                  <a:srgbClr val="FF3300"/>
                </a:solidFill>
                <a:latin typeface="Times New Roman" panose="02020603050405020304" pitchFamily="18" charset="0"/>
              </a:rPr>
              <a:t>         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最大入度</a:t>
            </a:r>
            <a:r>
              <a:rPr lang="zh-CN" altLang="en-US" sz="2400" b="1" i="1" kern="0" dirty="0">
                <a:solidFill>
                  <a:srgbClr val="992677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</a:t>
            </a:r>
            <a:r>
              <a:rPr lang="en-US" altLang="zh-CN" sz="2400" b="1" i="1" kern="0" dirty="0">
                <a:solidFill>
                  <a:srgbClr val="992677"/>
                </a:solidFill>
                <a:latin typeface="Times New Roman" panose="02020603050405020304" pitchFamily="18" charset="0"/>
              </a:rPr>
              <a:t>(D) 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=max{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d</a:t>
            </a:r>
            <a:r>
              <a:rPr lang="en-US" altLang="zh-CN" sz="2400" b="1" i="1" kern="0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v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)|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kern="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 kern="0" dirty="0" err="1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400" b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}</a:t>
            </a:r>
          </a:p>
          <a:p>
            <a:pPr algn="just" eaLnBrk="1" hangingPunct="1"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zh-CN" altLang="en-US" sz="2800" b="1" kern="0" dirty="0">
                <a:solidFill>
                  <a:srgbClr val="FF3300"/>
                </a:solidFill>
                <a:latin typeface="Times New Roman" panose="02020603050405020304" pitchFamily="18" charset="0"/>
              </a:rPr>
              <a:t>         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最小入度</a:t>
            </a:r>
            <a:r>
              <a:rPr lang="zh-CN" altLang="en-US" sz="2400" b="1" i="1" kern="0" dirty="0">
                <a:solidFill>
                  <a:srgbClr val="992677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</a:t>
            </a:r>
            <a:r>
              <a:rPr lang="en-US" altLang="zh-CN" sz="2400" b="1" i="1" kern="0" dirty="0">
                <a:solidFill>
                  <a:srgbClr val="992677"/>
                </a:solidFill>
                <a:latin typeface="Times New Roman" panose="02020603050405020304" pitchFamily="18" charset="0"/>
              </a:rPr>
              <a:t>(D) 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=min{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d</a:t>
            </a:r>
            <a:r>
              <a:rPr lang="en-US" altLang="zh-CN" sz="2400" b="1" i="1" kern="0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v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)|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kern="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 kern="0" dirty="0" err="1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400" b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}</a:t>
            </a:r>
            <a:endParaRPr lang="en-US" altLang="zh-CN" sz="2400" b="1" kern="0" dirty="0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 b="1" kern="0" dirty="0">
                <a:solidFill>
                  <a:srgbClr val="FF3300"/>
                </a:solidFill>
                <a:latin typeface="Times New Roman" panose="02020603050405020304" pitchFamily="18" charset="0"/>
              </a:rPr>
              <a:t>         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最大度</a:t>
            </a:r>
            <a:r>
              <a:rPr lang="zh-CN" altLang="en-US" sz="2400" b="1" i="1" kern="0" dirty="0">
                <a:solidFill>
                  <a:srgbClr val="992677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altLang="zh-CN" sz="2400" b="1" i="1" kern="0" dirty="0">
                <a:solidFill>
                  <a:srgbClr val="992677"/>
                </a:solidFill>
                <a:latin typeface="Times New Roman" panose="02020603050405020304" pitchFamily="18" charset="0"/>
              </a:rPr>
              <a:t>(D) 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=max{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d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v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)|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kern="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 kern="0" dirty="0" err="1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400" b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}</a:t>
            </a:r>
          </a:p>
          <a:p>
            <a:pPr algn="just" eaLnBrk="1" hangingPunct="1">
              <a:lnSpc>
                <a:spcPts val="3100"/>
              </a:lnSpc>
              <a:buFont typeface="Wingdings" panose="05000000000000000000" pitchFamily="2" charset="2"/>
              <a:buNone/>
            </a:pPr>
            <a:r>
              <a:rPr lang="en-US" altLang="zh-CN" sz="2800" b="1" kern="0" dirty="0">
                <a:solidFill>
                  <a:srgbClr val="FF33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 </a:t>
            </a:r>
            <a:r>
              <a:rPr lang="en-US" altLang="zh-CN" sz="2800" b="1" kern="0" dirty="0">
                <a:solidFill>
                  <a:srgbClr val="FF3300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最小度</a:t>
            </a:r>
            <a:r>
              <a:rPr lang="zh-CN" altLang="en-US" sz="2400" b="1" i="1" kern="0" dirty="0">
                <a:solidFill>
                  <a:srgbClr val="992677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lang="en-US" altLang="zh-CN" sz="2400" b="1" i="1" kern="0" dirty="0">
                <a:solidFill>
                  <a:srgbClr val="992677"/>
                </a:solidFill>
                <a:latin typeface="Times New Roman" panose="02020603050405020304" pitchFamily="18" charset="0"/>
              </a:rPr>
              <a:t>(D) 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=min{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d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v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)|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kern="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 kern="0" dirty="0" err="1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400" b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}</a:t>
            </a:r>
            <a:endParaRPr lang="en-US" altLang="zh-CN" sz="2400" b="1" kern="0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US" altLang="zh-CN" sz="2800" b="1" kern="0" dirty="0">
              <a:solidFill>
                <a:srgbClr val="FF33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4" name="Picture 1028" descr="14-2">
            <a:extLst>
              <a:ext uri="{FF2B5EF4-FFF2-40B4-BE49-F238E27FC236}">
                <a16:creationId xmlns:a16="http://schemas.microsoft.com/office/drawing/2014/main" id="{0BE3937E-7DB3-4C80-9BCA-718DB02931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0696" y="1803963"/>
            <a:ext cx="2184025" cy="2151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Rectangle 1027">
            <a:extLst>
              <a:ext uri="{FF2B5EF4-FFF2-40B4-BE49-F238E27FC236}">
                <a16:creationId xmlns:a16="http://schemas.microsoft.com/office/drawing/2014/main" id="{A24B403D-862D-4CA0-83DB-5D9554B61C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7485" y="4383567"/>
            <a:ext cx="4711311" cy="2077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just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  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d</a:t>
            </a:r>
            <a:r>
              <a:rPr kumimoji="0" lang="en-US" altLang="zh-CN" sz="2400" b="1" i="0" u="none" strike="noStrike" kern="0" cap="none" spc="0" normalizeH="0" baseline="3000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+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)=4,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d</a:t>
            </a:r>
            <a:r>
              <a:rPr kumimoji="0" lang="en-US" altLang="zh-CN" sz="2400" b="1" i="1" u="none" strike="noStrike" kern="0" cap="none" spc="0" normalizeH="0" baseline="3000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-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)=1,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d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)=5,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       d</a:t>
            </a:r>
            <a:r>
              <a:rPr kumimoji="0" lang="en-US" altLang="zh-CN" sz="2400" b="1" i="0" u="none" strike="noStrike" kern="0" cap="none" spc="0" normalizeH="0" baseline="3000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+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)=0,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d</a:t>
            </a:r>
            <a:r>
              <a:rPr kumimoji="0" lang="en-US" altLang="zh-CN" sz="2400" b="1" i="1" u="none" strike="noStrike" kern="0" cap="none" spc="0" normalizeH="0" baseline="3000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-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)=3,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d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)=3,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       </a:t>
            </a:r>
            <a:r>
              <a:rPr kumimoji="0" lang="en-US" altLang="zh-CN" sz="2400" b="1" i="0" u="none" strike="noStrike" kern="0" cap="none" spc="0" normalizeH="0" baseline="3000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+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D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)=4,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</a:t>
            </a:r>
            <a:r>
              <a:rPr kumimoji="0" lang="en-US" altLang="zh-CN" sz="2400" b="1" i="0" u="none" strike="noStrike" kern="0" cap="none" spc="0" normalizeH="0" baseline="3000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+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D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)=0,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</a:t>
            </a:r>
            <a:r>
              <a:rPr kumimoji="0" lang="en-US" altLang="zh-CN" sz="2400" b="1" i="0" u="none" strike="noStrike" kern="0" cap="none" spc="0" normalizeH="0" baseline="3000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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D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)=3, 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       </a:t>
            </a:r>
            <a:r>
              <a:rPr kumimoji="0" lang="en-US" altLang="zh-CN" sz="2400" b="1" i="0" u="none" strike="noStrike" kern="0" cap="none" spc="0" normalizeH="0" baseline="3000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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D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)=1,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 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D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)=5,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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D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)=3. 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27BDA3F-E8BB-46B2-BAF5-E2A03684225C}"/>
              </a:ext>
            </a:extLst>
          </p:cNvPr>
          <p:cNvSpPr txBox="1"/>
          <p:nvPr/>
        </p:nvSpPr>
        <p:spPr>
          <a:xfrm>
            <a:off x="399945" y="949038"/>
            <a:ext cx="20198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无向图与有向图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ABB05DF-B025-4208-95A0-AC7CFBF1CACF}"/>
              </a:ext>
            </a:extLst>
          </p:cNvPr>
          <p:cNvSpPr txBox="1"/>
          <p:nvPr/>
        </p:nvSpPr>
        <p:spPr>
          <a:xfrm>
            <a:off x="2854684" y="949038"/>
            <a:ext cx="15446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顶点的度数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954F96B-789F-4C60-A06B-F88C20B2CBDC}"/>
              </a:ext>
            </a:extLst>
          </p:cNvPr>
          <p:cNvSpPr txBox="1"/>
          <p:nvPr/>
        </p:nvSpPr>
        <p:spPr>
          <a:xfrm>
            <a:off x="4650790" y="949038"/>
            <a:ext cx="11162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握手定理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4C78C0C-9870-4EF5-8548-677AB589B5FA}"/>
              </a:ext>
            </a:extLst>
          </p:cNvPr>
          <p:cNvSpPr txBox="1"/>
          <p:nvPr/>
        </p:nvSpPr>
        <p:spPr>
          <a:xfrm>
            <a:off x="6248494" y="949038"/>
            <a:ext cx="10069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简单图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6F8F562-20DC-4B9C-AC4C-06C1BC698F90}"/>
              </a:ext>
            </a:extLst>
          </p:cNvPr>
          <p:cNvSpPr txBox="1"/>
          <p:nvPr/>
        </p:nvSpPr>
        <p:spPr>
          <a:xfrm>
            <a:off x="7615690" y="949038"/>
            <a:ext cx="9580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完全图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B30E55C-2A61-419E-B7D4-32B5E3298B70}"/>
              </a:ext>
            </a:extLst>
          </p:cNvPr>
          <p:cNvSpPr txBox="1"/>
          <p:nvPr/>
        </p:nvSpPr>
        <p:spPr>
          <a:xfrm>
            <a:off x="9008092" y="949038"/>
            <a:ext cx="7596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子图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C962210-302A-4C94-9665-D091ED181DED}"/>
              </a:ext>
            </a:extLst>
          </p:cNvPr>
          <p:cNvSpPr txBox="1"/>
          <p:nvPr/>
        </p:nvSpPr>
        <p:spPr>
          <a:xfrm>
            <a:off x="10113046" y="949038"/>
            <a:ext cx="10069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补图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7C160CDE-6380-4D2A-9BF8-8ED2776A83EA}"/>
              </a:ext>
            </a:extLst>
          </p:cNvPr>
          <p:cNvSpPr txBox="1"/>
          <p:nvPr/>
        </p:nvSpPr>
        <p:spPr>
          <a:xfrm>
            <a:off x="11152964" y="949038"/>
            <a:ext cx="7745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同构</a:t>
            </a:r>
          </a:p>
        </p:txBody>
      </p:sp>
    </p:spTree>
    <p:extLst>
      <p:ext uri="{BB962C8B-B14F-4D97-AF65-F5344CB8AC3E}">
        <p14:creationId xmlns:p14="http://schemas.microsoft.com/office/powerpoint/2010/main" val="2962746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5.1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无向图及有向图</a:t>
            </a:r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51C5757C-6B7B-4895-BCA8-56D0CDE8EC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672" y="2249422"/>
            <a:ext cx="10596219" cy="935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9pPr>
          </a:lstStyle>
          <a:p>
            <a:pPr marL="457200" marR="0" lvl="0" indent="-457200" algn="l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V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={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v</a:t>
            </a:r>
            <a:r>
              <a:rPr kumimoji="0" lang="en-US" altLang="zh-CN" sz="2400" b="1" i="0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1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v</a:t>
            </a:r>
            <a:r>
              <a:rPr kumimoji="0" lang="en-US" altLang="zh-CN" sz="2400" b="1" i="0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2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, …,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v</a:t>
            </a:r>
            <a:r>
              <a:rPr kumimoji="0" lang="en-US" altLang="zh-CN" sz="2400" b="1" i="1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n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}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为无向图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G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的顶点集，称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d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v</a:t>
            </a:r>
            <a:r>
              <a:rPr kumimoji="0" lang="en-US" altLang="zh-CN" sz="2400" b="1" i="0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1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),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d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v</a:t>
            </a:r>
            <a:r>
              <a:rPr kumimoji="0" lang="en-US" altLang="zh-CN" sz="2400" b="1" i="0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2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), …,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d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v</a:t>
            </a:r>
            <a:r>
              <a:rPr kumimoji="0" lang="en-US" altLang="zh-CN" sz="2400" b="1" i="1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n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)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G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度数序列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992677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0" algn="just" eaLnBrk="1" hangingPunct="1">
              <a:lnSpc>
                <a:spcPct val="130000"/>
              </a:lnSpc>
              <a:spcBef>
                <a:spcPts val="0"/>
              </a:spcBef>
              <a:buClr>
                <a:srgbClr val="00007D"/>
              </a:buClr>
              <a:buSzPct val="75000"/>
              <a:buNone/>
            </a:pP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如右图度数列</a:t>
            </a:r>
            <a:r>
              <a:rPr lang="en-US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:4,4,2,1,3</a:t>
            </a:r>
          </a:p>
          <a:p>
            <a:pPr marL="457200" marR="0" lvl="0" indent="-457200" algn="l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1AD8B4FE-24E9-493D-BD20-6BCE7518C6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672" y="3382210"/>
            <a:ext cx="8229600" cy="172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9pPr>
          </a:lstStyle>
          <a:p>
            <a:pPr marL="457200" indent="-457200" ea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V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={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v</a:t>
            </a:r>
            <a:r>
              <a:rPr lang="en-US" altLang="zh-CN" kern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1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, 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v</a:t>
            </a:r>
            <a:r>
              <a:rPr lang="en-US" altLang="zh-CN" kern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2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, …, 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v</a:t>
            </a:r>
            <a:r>
              <a:rPr lang="en-US" altLang="zh-CN" i="1" kern="0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n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}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为有向图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D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的顶点集，</a:t>
            </a:r>
          </a:p>
          <a:p>
            <a:pPr marL="457200" indent="-457200" ea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zh-CN" altLang="en-US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      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D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度数序列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：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d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(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v</a:t>
            </a:r>
            <a:r>
              <a:rPr lang="en-US" altLang="zh-CN" kern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1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), 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d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(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v</a:t>
            </a:r>
            <a:r>
              <a:rPr lang="en-US" altLang="zh-CN" kern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2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), …, 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d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(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v</a:t>
            </a:r>
            <a:r>
              <a:rPr lang="en-US" altLang="zh-CN" i="1" kern="0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n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)</a:t>
            </a:r>
            <a:endParaRPr lang="en-US" altLang="zh-CN" i="1" kern="0" dirty="0">
              <a:solidFill>
                <a:srgbClr val="000000"/>
              </a:solidFill>
              <a:latin typeface="Times New Roman" panose="02020603050405020304" pitchFamily="18" charset="0"/>
              <a:ea typeface="宋体"/>
            </a:endParaRPr>
          </a:p>
          <a:p>
            <a:pPr marL="457200" indent="-457200" ea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      D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出度序列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：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d</a:t>
            </a:r>
            <a:r>
              <a:rPr lang="en-US" altLang="zh-CN" kern="0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+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(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v</a:t>
            </a:r>
            <a:r>
              <a:rPr lang="en-US" altLang="zh-CN" kern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1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), 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d</a:t>
            </a:r>
            <a:r>
              <a:rPr lang="en-US" altLang="zh-CN" kern="0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+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(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v</a:t>
            </a:r>
            <a:r>
              <a:rPr lang="en-US" altLang="zh-CN" kern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2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), …, 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d</a:t>
            </a:r>
            <a:r>
              <a:rPr lang="en-US" altLang="zh-CN" kern="0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+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(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v</a:t>
            </a:r>
            <a:r>
              <a:rPr lang="en-US" altLang="zh-CN" i="1" kern="0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n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)</a:t>
            </a:r>
            <a:endParaRPr lang="en-US" altLang="zh-CN" i="1" kern="0" dirty="0">
              <a:solidFill>
                <a:srgbClr val="000000"/>
              </a:solidFill>
              <a:latin typeface="Times New Roman" panose="02020603050405020304" pitchFamily="18" charset="0"/>
              <a:ea typeface="宋体"/>
            </a:endParaRPr>
          </a:p>
          <a:p>
            <a:pPr marL="457200" indent="-457200" ea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      D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入度序列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：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d</a:t>
            </a:r>
            <a:r>
              <a:rPr lang="en-US" altLang="zh-CN" kern="0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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(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v</a:t>
            </a:r>
            <a:r>
              <a:rPr lang="en-US" altLang="zh-CN" kern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1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), 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d</a:t>
            </a:r>
            <a:r>
              <a:rPr lang="en-US" altLang="zh-CN" kern="0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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(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v</a:t>
            </a:r>
            <a:r>
              <a:rPr lang="en-US" altLang="zh-CN" kern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2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), …, 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d</a:t>
            </a:r>
            <a:r>
              <a:rPr lang="en-US" altLang="zh-CN" kern="0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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(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v</a:t>
            </a:r>
            <a:r>
              <a:rPr lang="en-US" altLang="zh-CN" i="1" kern="0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n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)  </a:t>
            </a:r>
          </a:p>
          <a:p>
            <a:pPr marL="457200" indent="-457200" ea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endParaRPr lang="en-US" altLang="zh-CN" kern="0" dirty="0">
              <a:solidFill>
                <a:srgbClr val="000000"/>
              </a:solidFill>
              <a:latin typeface="Times New Roman" panose="02020603050405020304" pitchFamily="18" charset="0"/>
              <a:ea typeface="宋体"/>
            </a:endParaRPr>
          </a:p>
        </p:txBody>
      </p:sp>
      <p:pic>
        <p:nvPicPr>
          <p:cNvPr id="26" name="Picture 5" descr="14-1">
            <a:extLst>
              <a:ext uri="{FF2B5EF4-FFF2-40B4-BE49-F238E27FC236}">
                <a16:creationId xmlns:a16="http://schemas.microsoft.com/office/drawing/2014/main" id="{D835ACCD-2E9A-4315-8B02-1A83803E44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0987" y="2885952"/>
            <a:ext cx="1974858" cy="19804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1D82E8DC-B116-4E87-91FD-27E8A3062883}"/>
              </a:ext>
            </a:extLst>
          </p:cNvPr>
          <p:cNvGrpSpPr/>
          <p:nvPr/>
        </p:nvGrpSpPr>
        <p:grpSpPr>
          <a:xfrm>
            <a:off x="990131" y="5117505"/>
            <a:ext cx="10078515" cy="1592830"/>
            <a:chOff x="990131" y="5117505"/>
            <a:chExt cx="10078515" cy="1592830"/>
          </a:xfrm>
        </p:grpSpPr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38B284FC-8175-487E-A8BE-B340184EF878}"/>
                </a:ext>
              </a:extLst>
            </p:cNvPr>
            <p:cNvSpPr txBox="1"/>
            <p:nvPr/>
          </p:nvSpPr>
          <p:spPr>
            <a:xfrm>
              <a:off x="990131" y="5715918"/>
              <a:ext cx="8301353" cy="9048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marR="0" lvl="0" indent="-342900" algn="just" defTabSz="914400" rtl="0" eaLnBrk="1" fontAlgn="base" latinLnBrk="0" hangingPunct="1">
                <a:lnSpc>
                  <a:spcPct val="80000"/>
                </a:lnSpc>
                <a:spcBef>
                  <a:spcPct val="60000"/>
                </a:spcBef>
                <a:spcAft>
                  <a:spcPct val="0"/>
                </a:spcAft>
                <a:buClr>
                  <a:srgbClr val="00007D"/>
                </a:buClr>
                <a:buSzPct val="75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如右图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marL="342900" marR="0" lvl="0" indent="-342900" algn="just" defTabSz="914400" rtl="0" eaLnBrk="1" fontAlgn="base" latinLnBrk="0" hangingPunct="1">
                <a:lnSpc>
                  <a:spcPct val="80000"/>
                </a:lnSpc>
                <a:spcBef>
                  <a:spcPct val="60000"/>
                </a:spcBef>
                <a:spcAft>
                  <a:spcPct val="0"/>
                </a:spcAft>
                <a:buClr>
                  <a:srgbClr val="00007D"/>
                </a:buClr>
                <a:buSzPct val="75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度数列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:5,3,3,3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；出度列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:4,0,2,1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；入度列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:1,3,1,2</a:t>
              </a:r>
            </a:p>
          </p:txBody>
        </p:sp>
        <p:pic>
          <p:nvPicPr>
            <p:cNvPr id="29" name="Picture 4" descr="14-2">
              <a:extLst>
                <a:ext uri="{FF2B5EF4-FFF2-40B4-BE49-F238E27FC236}">
                  <a16:creationId xmlns:a16="http://schemas.microsoft.com/office/drawing/2014/main" id="{993A4F55-BB63-4AB1-8504-F00B06DAF7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34269" y="5117505"/>
              <a:ext cx="1634377" cy="15928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1E4B90A0-950F-4486-A478-B1DFBE8D4F21}"/>
              </a:ext>
            </a:extLst>
          </p:cNvPr>
          <p:cNvSpPr txBox="1"/>
          <p:nvPr/>
        </p:nvSpPr>
        <p:spPr>
          <a:xfrm>
            <a:off x="535367" y="1561544"/>
            <a:ext cx="60969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图的度数序列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ACDB6C9-4755-4F1C-A97A-A83FBC197E97}"/>
              </a:ext>
            </a:extLst>
          </p:cNvPr>
          <p:cNvSpPr txBox="1"/>
          <p:nvPr/>
        </p:nvSpPr>
        <p:spPr>
          <a:xfrm>
            <a:off x="399945" y="949038"/>
            <a:ext cx="20198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无向图与有向图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FFE98C4-3866-43B2-834F-4CD05C50C7B7}"/>
              </a:ext>
            </a:extLst>
          </p:cNvPr>
          <p:cNvSpPr txBox="1"/>
          <p:nvPr/>
        </p:nvSpPr>
        <p:spPr>
          <a:xfrm>
            <a:off x="2854684" y="949038"/>
            <a:ext cx="15446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顶点的度数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B7257AF-012B-4C4E-9A68-C555ADAABE47}"/>
              </a:ext>
            </a:extLst>
          </p:cNvPr>
          <p:cNvSpPr txBox="1"/>
          <p:nvPr/>
        </p:nvSpPr>
        <p:spPr>
          <a:xfrm>
            <a:off x="4650790" y="949038"/>
            <a:ext cx="12188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握手定理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52041AD-2996-43A8-B82D-A947FE907A89}"/>
              </a:ext>
            </a:extLst>
          </p:cNvPr>
          <p:cNvSpPr txBox="1"/>
          <p:nvPr/>
        </p:nvSpPr>
        <p:spPr>
          <a:xfrm>
            <a:off x="6248494" y="949038"/>
            <a:ext cx="10069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简单图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E24D2C0-1B41-4784-A1D6-B3C7F9313407}"/>
              </a:ext>
            </a:extLst>
          </p:cNvPr>
          <p:cNvSpPr txBox="1"/>
          <p:nvPr/>
        </p:nvSpPr>
        <p:spPr>
          <a:xfrm>
            <a:off x="7615690" y="949038"/>
            <a:ext cx="9580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完全图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2A9E33B-49BA-4263-8EB9-D4EA55BAF9A3}"/>
              </a:ext>
            </a:extLst>
          </p:cNvPr>
          <p:cNvSpPr txBox="1"/>
          <p:nvPr/>
        </p:nvSpPr>
        <p:spPr>
          <a:xfrm>
            <a:off x="9008092" y="949038"/>
            <a:ext cx="7596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子图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9B0C16A-3452-4939-933E-3CD83DB18C75}"/>
              </a:ext>
            </a:extLst>
          </p:cNvPr>
          <p:cNvSpPr txBox="1"/>
          <p:nvPr/>
        </p:nvSpPr>
        <p:spPr>
          <a:xfrm>
            <a:off x="10113046" y="949038"/>
            <a:ext cx="10069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补图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4527F05-5B24-4356-9C93-CB939436BBCD}"/>
              </a:ext>
            </a:extLst>
          </p:cNvPr>
          <p:cNvSpPr txBox="1"/>
          <p:nvPr/>
        </p:nvSpPr>
        <p:spPr>
          <a:xfrm>
            <a:off x="11152964" y="949038"/>
            <a:ext cx="7745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同构</a:t>
            </a:r>
          </a:p>
        </p:txBody>
      </p:sp>
    </p:spTree>
    <p:extLst>
      <p:ext uri="{BB962C8B-B14F-4D97-AF65-F5344CB8AC3E}">
        <p14:creationId xmlns:p14="http://schemas.microsoft.com/office/powerpoint/2010/main" val="1173255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5.1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无向图及有向图</a:t>
            </a:r>
          </a:p>
        </p:txBody>
      </p:sp>
      <p:graphicFrame>
        <p:nvGraphicFramePr>
          <p:cNvPr id="12" name="Object 3">
            <a:extLst>
              <a:ext uri="{FF2B5EF4-FFF2-40B4-BE49-F238E27FC236}">
                <a16:creationId xmlns:a16="http://schemas.microsoft.com/office/drawing/2014/main" id="{579E9144-3BEC-409A-B38E-7701B0C5D6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7844412"/>
              </p:ext>
            </p:extLst>
          </p:nvPr>
        </p:nvGraphicFramePr>
        <p:xfrm>
          <a:off x="2054465" y="1980272"/>
          <a:ext cx="1628775" cy="7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903661" imgH="432739" progId="Equation.3">
                  <p:embed/>
                </p:oleObj>
              </mc:Choice>
              <mc:Fallback>
                <p:oleObj r:id="rId3" imgW="903661" imgH="432739" progId="Equation.3">
                  <p:embed/>
                  <p:pic>
                    <p:nvPicPr>
                      <p:cNvPr id="12" name="Object 3">
                        <a:extLst>
                          <a:ext uri="{FF2B5EF4-FFF2-40B4-BE49-F238E27FC236}">
                            <a16:creationId xmlns:a16="http://schemas.microsoft.com/office/drawing/2014/main" id="{579E9144-3BEC-409A-B38E-7701B0C5D6E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4465" y="1980272"/>
                        <a:ext cx="1628775" cy="776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4">
            <a:extLst>
              <a:ext uri="{FF2B5EF4-FFF2-40B4-BE49-F238E27FC236}">
                <a16:creationId xmlns:a16="http://schemas.microsoft.com/office/drawing/2014/main" id="{82461040-0098-444D-B46D-BA892D4CA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390" y="1559475"/>
            <a:ext cx="116429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tabLst>
                <a:tab pos="495300" algn="l"/>
              </a:tabLs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–"/>
              <a:tabLst>
                <a:tab pos="495300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•"/>
              <a:tabLst>
                <a:tab pos="495300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tabLst>
                <a:tab pos="495300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tabLst>
                <a:tab pos="495300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tabLst>
                <a:tab pos="495300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tabLst>
                <a:tab pos="495300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tabLst>
                <a:tab pos="495300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tabLst>
                <a:tab pos="495300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定理</a:t>
            </a:r>
            <a:r>
              <a:rPr lang="en-US" altLang="zh-CN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.1（握手定理） 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</a:rPr>
              <a:t>=&lt;</a:t>
            </a:r>
            <a:r>
              <a:rPr lang="en-US" altLang="zh-CN" i="1" dirty="0" err="1">
                <a:latin typeface="Times New Roman" panose="02020603050405020304" pitchFamily="18" charset="0"/>
                <a:ea typeface="华文中宋" panose="02010600040101010101" pitchFamily="2" charset="-122"/>
              </a:rPr>
              <a:t>V</a:t>
            </a:r>
            <a:r>
              <a:rPr lang="en-US" altLang="zh-CN" dirty="0" err="1">
                <a:latin typeface="Times New Roman" panose="02020603050405020304" pitchFamily="18" charset="0"/>
                <a:ea typeface="华文中宋" panose="02010600040101010101" pitchFamily="2" charset="-122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  <a:ea typeface="华文中宋" panose="02010600040101010101" pitchFamily="2" charset="-122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</a:rPr>
              <a:t>&gt;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为任意无向图或有向图，</a:t>
            </a:r>
            <a:r>
              <a:rPr lang="en-US" altLang="zh-CN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V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</a:rPr>
              <a:t>={</a:t>
            </a:r>
            <a:r>
              <a:rPr lang="en-US" altLang="zh-CN" i="1" dirty="0" err="1">
                <a:latin typeface="Times New Roman" panose="02020603050405020304" pitchFamily="18" charset="0"/>
                <a:ea typeface="华文中宋" panose="02010600040101010101" pitchFamily="2" charset="-122"/>
              </a:rPr>
              <a:t>v</a:t>
            </a:r>
            <a:r>
              <a:rPr lang="en-US" altLang="zh-CN" baseline="-30000" dirty="0" err="1"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lang="en-US" altLang="zh-CN" dirty="0" err="1">
                <a:latin typeface="Times New Roman" panose="02020603050405020304" pitchFamily="18" charset="0"/>
                <a:ea typeface="华文中宋" panose="02010600040101010101" pitchFamily="2" charset="-122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  <a:ea typeface="华文中宋" panose="02010600040101010101" pitchFamily="2" charset="-122"/>
              </a:rPr>
              <a:t>v</a:t>
            </a:r>
            <a:r>
              <a:rPr lang="en-US" altLang="zh-CN" baseline="-30000" dirty="0" err="1">
                <a:latin typeface="Times New Roman" panose="02020603050405020304" pitchFamily="18" charset="0"/>
                <a:ea typeface="华文中宋" panose="02010600040101010101" pitchFamily="2" charset="-122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</a:rPr>
              <a:t>,</a:t>
            </a:r>
            <a:r>
              <a:rPr lang="en-US" altLang="zh-CN" dirty="0">
                <a:ea typeface="华文中宋" panose="02010600040101010101" pitchFamily="2" charset="-122"/>
              </a:rPr>
              <a:t>…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  <a:ea typeface="华文中宋" panose="02010600040101010101" pitchFamily="2" charset="-122"/>
              </a:rPr>
              <a:t>v</a:t>
            </a:r>
            <a:r>
              <a:rPr lang="en-US" altLang="zh-CN" i="1" baseline="-30000" dirty="0" err="1">
                <a:latin typeface="Times New Roman" panose="02020603050405020304" pitchFamily="18" charset="0"/>
                <a:ea typeface="华文中宋" panose="02010600040101010101" pitchFamily="2" charset="-12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</a:rPr>
              <a:t>}, |</a:t>
            </a:r>
            <a:r>
              <a:rPr lang="en-US" altLang="zh-CN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</a:rPr>
              <a:t>|=</a:t>
            </a:r>
            <a:r>
              <a:rPr lang="en-US" altLang="zh-CN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m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</a:rPr>
              <a:t>,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则</a:t>
            </a:r>
            <a:endParaRPr lang="zh-CN" altLang="en-US" dirty="0">
              <a:ea typeface="华文中宋" panose="02010600040101010101" pitchFamily="2" charset="-122"/>
            </a:endParaRPr>
          </a:p>
        </p:txBody>
      </p:sp>
      <p:sp>
        <p:nvSpPr>
          <p:cNvPr id="23" name="Rectangle 5">
            <a:extLst>
              <a:ext uri="{FF2B5EF4-FFF2-40B4-BE49-F238E27FC236}">
                <a16:creationId xmlns:a16="http://schemas.microsoft.com/office/drawing/2014/main" id="{8A16CBC6-E786-44C1-B28C-9DFF214504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364" y="2718722"/>
            <a:ext cx="11569648" cy="112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indent="5715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br>
              <a:rPr lang="zh-CN" altLang="en-US" sz="1000" b="0" dirty="0">
                <a:latin typeface="Times New Roman" panose="02020603050405020304" pitchFamily="18" charset="0"/>
              </a:rPr>
            </a:b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证</a:t>
            </a:r>
            <a:r>
              <a:rPr lang="zh-CN" altLang="en-US" dirty="0">
                <a:latin typeface="Times New Roman" panose="02020603050405020304" pitchFamily="18" charset="0"/>
              </a:rPr>
              <a:t> 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中每条边 (包括环) 均有两个端点，所以在计算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中各顶点度数之和时，每条边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均提供2度，</a:t>
            </a:r>
            <a:r>
              <a:rPr lang="en-US" altLang="zh-CN" i="1" dirty="0">
                <a:latin typeface="Times New Roman" panose="02020603050405020304" pitchFamily="18" charset="0"/>
              </a:rPr>
              <a:t>m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条边共提供 </a:t>
            </a:r>
            <a:r>
              <a:rPr lang="zh-CN" altLang="en-US" dirty="0">
                <a:latin typeface="Times New Roman" panose="02020603050405020304" pitchFamily="18" charset="0"/>
              </a:rPr>
              <a:t>2</a:t>
            </a:r>
            <a:r>
              <a:rPr lang="en-US" altLang="zh-CN" i="1" dirty="0">
                <a:latin typeface="Times New Roman" panose="02020603050405020304" pitchFamily="18" charset="0"/>
              </a:rPr>
              <a:t>m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度.</a:t>
            </a:r>
          </a:p>
        </p:txBody>
      </p:sp>
      <p:sp>
        <p:nvSpPr>
          <p:cNvPr id="24" name="Rectangle 6">
            <a:extLst>
              <a:ext uri="{FF2B5EF4-FFF2-40B4-BE49-F238E27FC236}">
                <a16:creationId xmlns:a16="http://schemas.microsoft.com/office/drawing/2014/main" id="{B53BE44C-B215-4207-8329-63DCA30B6F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828" y="5452715"/>
            <a:ext cx="4209807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br>
              <a:rPr lang="zh-CN" altLang="en-US" sz="1000" b="0" dirty="0">
                <a:latin typeface="Times New Roman" panose="02020603050405020304" pitchFamily="18" charset="0"/>
              </a:rPr>
            </a:b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本定理的证明类似于定理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.1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B290EB3F-14E9-4ED2-B168-FA13CDE2DD41}"/>
              </a:ext>
            </a:extLst>
          </p:cNvPr>
          <p:cNvGrpSpPr/>
          <p:nvPr/>
        </p:nvGrpSpPr>
        <p:grpSpPr>
          <a:xfrm>
            <a:off x="565390" y="4134891"/>
            <a:ext cx="8706230" cy="1400722"/>
            <a:chOff x="565390" y="4134891"/>
            <a:chExt cx="8706230" cy="1400722"/>
          </a:xfrm>
        </p:grpSpPr>
        <p:graphicFrame>
          <p:nvGraphicFramePr>
            <p:cNvPr id="20" name="Object 4">
              <a:extLst>
                <a:ext uri="{FF2B5EF4-FFF2-40B4-BE49-F238E27FC236}">
                  <a16:creationId xmlns:a16="http://schemas.microsoft.com/office/drawing/2014/main" id="{109B2437-0C05-4C9F-B41C-4F366BD36B8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73940150"/>
                </p:ext>
              </p:extLst>
            </p:nvPr>
          </p:nvGraphicFramePr>
          <p:xfrm>
            <a:off x="1860550" y="4664075"/>
            <a:ext cx="5891213" cy="8715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2881649" imgH="431613" progId="Equation.3">
                    <p:embed/>
                  </p:oleObj>
                </mc:Choice>
                <mc:Fallback>
                  <p:oleObj r:id="rId5" imgW="2881649" imgH="431613" progId="Equation.3">
                    <p:embed/>
                    <p:pic>
                      <p:nvPicPr>
                        <p:cNvPr id="20" name="Object 4">
                          <a:extLst>
                            <a:ext uri="{FF2B5EF4-FFF2-40B4-BE49-F238E27FC236}">
                              <a16:creationId xmlns:a16="http://schemas.microsoft.com/office/drawing/2014/main" id="{109B2437-0C05-4C9F-B41C-4F366BD36B8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60550" y="4664075"/>
                          <a:ext cx="5891213" cy="8715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" name="Rectangle 8">
              <a:extLst>
                <a:ext uri="{FF2B5EF4-FFF2-40B4-BE49-F238E27FC236}">
                  <a16:creationId xmlns:a16="http://schemas.microsoft.com/office/drawing/2014/main" id="{773002A8-8FEB-452A-B47B-2D41E54DF5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390" y="4134891"/>
              <a:ext cx="870623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dirty="0">
                  <a:solidFill>
                    <a:srgbClr val="992677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定理</a:t>
              </a:r>
              <a:r>
                <a:rPr lang="en-US" altLang="zh-CN" dirty="0">
                  <a:solidFill>
                    <a:srgbClr val="992677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5</a:t>
              </a:r>
              <a:r>
                <a:rPr lang="zh-CN" altLang="en-US" dirty="0">
                  <a:solidFill>
                    <a:srgbClr val="992677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.2  </a:t>
              </a:r>
              <a:r>
                <a:rPr lang="zh-CN" altLang="en-US" dirty="0">
                  <a:latin typeface="黑体" panose="02010609060101010101" pitchFamily="49" charset="-122"/>
                  <a:ea typeface="黑体" panose="02010609060101010101" pitchFamily="49" charset="-122"/>
                </a:rPr>
                <a:t>设</a:t>
              </a:r>
              <a:r>
                <a:rPr lang="en-US" altLang="zh-CN" i="1" dirty="0">
                  <a:latin typeface="Times New Roman" panose="02020603050405020304" pitchFamily="18" charset="0"/>
                </a:rPr>
                <a:t>D</a:t>
              </a:r>
              <a:r>
                <a:rPr lang="en-US" altLang="zh-CN" dirty="0">
                  <a:latin typeface="Times New Roman" panose="02020603050405020304" pitchFamily="18" charset="0"/>
                </a:rPr>
                <a:t>=&lt;</a:t>
              </a:r>
              <a:r>
                <a:rPr lang="en-US" altLang="zh-CN" i="1" dirty="0" err="1">
                  <a:latin typeface="Times New Roman" panose="02020603050405020304" pitchFamily="18" charset="0"/>
                </a:rPr>
                <a:t>V</a:t>
              </a:r>
              <a:r>
                <a:rPr lang="en-US" altLang="zh-CN" dirty="0" err="1">
                  <a:latin typeface="Times New Roman" panose="02020603050405020304" pitchFamily="18" charset="0"/>
                </a:rPr>
                <a:t>,</a:t>
              </a:r>
              <a:r>
                <a:rPr lang="en-US" altLang="zh-CN" i="1" dirty="0" err="1">
                  <a:latin typeface="Times New Roman" panose="02020603050405020304" pitchFamily="18" charset="0"/>
                </a:rPr>
                <a:t>E</a:t>
              </a:r>
              <a:r>
                <a:rPr lang="en-US" altLang="zh-CN" dirty="0">
                  <a:latin typeface="Times New Roman" panose="02020603050405020304" pitchFamily="18" charset="0"/>
                </a:rPr>
                <a:t>&gt;</a:t>
              </a:r>
              <a:r>
                <a:rPr lang="zh-CN" altLang="en-US" dirty="0">
                  <a:latin typeface="黑体" panose="02010609060101010101" pitchFamily="49" charset="-122"/>
                  <a:ea typeface="黑体" panose="02010609060101010101" pitchFamily="49" charset="-122"/>
                </a:rPr>
                <a:t>为任意有向图，</a:t>
              </a:r>
              <a:r>
                <a:rPr lang="en-US" altLang="zh-CN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dirty="0">
                  <a:latin typeface="Times New Roman" panose="02020603050405020304" pitchFamily="18" charset="0"/>
                </a:rPr>
                <a:t>={</a:t>
              </a:r>
              <a:r>
                <a:rPr lang="en-US" altLang="zh-CN" i="1" dirty="0" err="1">
                  <a:latin typeface="Times New Roman" panose="02020603050405020304" pitchFamily="18" charset="0"/>
                </a:rPr>
                <a:t>v</a:t>
              </a:r>
              <a:r>
                <a:rPr lang="en-US" altLang="zh-CN" baseline="-25000" dirty="0" err="1">
                  <a:latin typeface="Times New Roman" panose="02020603050405020304" pitchFamily="18" charset="0"/>
                </a:rPr>
                <a:t>1</a:t>
              </a:r>
              <a:r>
                <a:rPr lang="en-US" altLang="zh-CN" dirty="0" err="1">
                  <a:latin typeface="Times New Roman" panose="02020603050405020304" pitchFamily="18" charset="0"/>
                </a:rPr>
                <a:t>,</a:t>
              </a:r>
              <a:r>
                <a:rPr lang="en-US" altLang="zh-CN" i="1" dirty="0" err="1">
                  <a:latin typeface="Times New Roman" panose="02020603050405020304" pitchFamily="18" charset="0"/>
                </a:rPr>
                <a:t>v</a:t>
              </a:r>
              <a:r>
                <a:rPr lang="en-US" altLang="zh-CN" baseline="-25000" dirty="0" err="1">
                  <a:latin typeface="Times New Roman" panose="02020603050405020304" pitchFamily="18" charset="0"/>
                </a:rPr>
                <a:t>2</a:t>
              </a:r>
              <a:r>
                <a:rPr lang="en-US" altLang="zh-CN" dirty="0">
                  <a:latin typeface="Times New Roman" panose="02020603050405020304" pitchFamily="18" charset="0"/>
                </a:rPr>
                <a:t>,…,</a:t>
              </a:r>
              <a:r>
                <a:rPr lang="en-US" altLang="zh-CN" i="1" dirty="0" err="1">
                  <a:latin typeface="Times New Roman" panose="02020603050405020304" pitchFamily="18" charset="0"/>
                </a:rPr>
                <a:t>v</a:t>
              </a:r>
              <a:r>
                <a:rPr lang="en-US" altLang="zh-CN" i="1" baseline="-25000" dirty="0" err="1">
                  <a:latin typeface="Times New Roman" panose="02020603050405020304" pitchFamily="18" charset="0"/>
                </a:rPr>
                <a:t>n</a:t>
              </a:r>
              <a:r>
                <a:rPr lang="en-US" altLang="zh-CN" dirty="0">
                  <a:latin typeface="Times New Roman" panose="02020603050405020304" pitchFamily="18" charset="0"/>
                </a:rPr>
                <a:t>}, |</a:t>
              </a:r>
              <a:r>
                <a:rPr lang="en-US" altLang="zh-CN" i="1" dirty="0">
                  <a:latin typeface="Times New Roman" panose="02020603050405020304" pitchFamily="18" charset="0"/>
                </a:rPr>
                <a:t>E</a:t>
              </a:r>
              <a:r>
                <a:rPr lang="en-US" altLang="zh-CN" dirty="0">
                  <a:latin typeface="Times New Roman" panose="02020603050405020304" pitchFamily="18" charset="0"/>
                </a:rPr>
                <a:t>|=</a:t>
              </a:r>
              <a:r>
                <a:rPr lang="en-US" altLang="zh-CN" i="1" dirty="0">
                  <a:latin typeface="Times New Roman" panose="02020603050405020304" pitchFamily="18" charset="0"/>
                </a:rPr>
                <a:t>m</a:t>
              </a:r>
              <a:r>
                <a:rPr lang="en-US" altLang="zh-CN" dirty="0">
                  <a:latin typeface="Times New Roman" panose="02020603050405020304" pitchFamily="18" charset="0"/>
                </a:rPr>
                <a:t>, </a:t>
              </a:r>
              <a:r>
                <a:rPr lang="zh-CN" altLang="en-US" dirty="0">
                  <a:latin typeface="黑体" panose="02010609060101010101" pitchFamily="49" charset="-122"/>
                  <a:ea typeface="黑体" panose="02010609060101010101" pitchFamily="49" charset="-122"/>
                </a:rPr>
                <a:t>则</a:t>
              </a:r>
            </a:p>
          </p:txBody>
        </p:sp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A35173F7-3195-45A2-ACDB-E1F2343BAAA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537335" y="4701787"/>
              <a:ext cx="2946175" cy="794990"/>
            </a:xfrm>
            <a:prstGeom prst="rect">
              <a:avLst/>
            </a:prstGeom>
          </p:spPr>
        </p:pic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FF859D23-7FEB-4721-9235-40FA2DE6E3A9}"/>
              </a:ext>
            </a:extLst>
          </p:cNvPr>
          <p:cNvSpPr txBox="1"/>
          <p:nvPr/>
        </p:nvSpPr>
        <p:spPr>
          <a:xfrm>
            <a:off x="399945" y="949038"/>
            <a:ext cx="20198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无向图与有向图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70C26DF-8A0E-433C-98A5-D1282C5533DC}"/>
              </a:ext>
            </a:extLst>
          </p:cNvPr>
          <p:cNvSpPr txBox="1"/>
          <p:nvPr/>
        </p:nvSpPr>
        <p:spPr>
          <a:xfrm>
            <a:off x="2854684" y="949038"/>
            <a:ext cx="15446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顶点的度数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09F77B9-18D0-4287-9F90-354587D4F6D0}"/>
              </a:ext>
            </a:extLst>
          </p:cNvPr>
          <p:cNvSpPr txBox="1"/>
          <p:nvPr/>
        </p:nvSpPr>
        <p:spPr>
          <a:xfrm>
            <a:off x="4650790" y="949038"/>
            <a:ext cx="12188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握手定理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2E648E72-98DD-410D-96A0-93C427275286}"/>
              </a:ext>
            </a:extLst>
          </p:cNvPr>
          <p:cNvSpPr txBox="1"/>
          <p:nvPr/>
        </p:nvSpPr>
        <p:spPr>
          <a:xfrm>
            <a:off x="6248494" y="949038"/>
            <a:ext cx="10069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简单图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158255F-2110-4205-90EB-51EC81C61E4A}"/>
              </a:ext>
            </a:extLst>
          </p:cNvPr>
          <p:cNvSpPr txBox="1"/>
          <p:nvPr/>
        </p:nvSpPr>
        <p:spPr>
          <a:xfrm>
            <a:off x="7615690" y="949038"/>
            <a:ext cx="9580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完全图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9DD0F66-84A2-40CE-859C-41071AD48F38}"/>
              </a:ext>
            </a:extLst>
          </p:cNvPr>
          <p:cNvSpPr txBox="1"/>
          <p:nvPr/>
        </p:nvSpPr>
        <p:spPr>
          <a:xfrm>
            <a:off x="9008092" y="949038"/>
            <a:ext cx="7596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子图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B9721F18-AA07-4452-9EBA-A4DC8A349B3A}"/>
              </a:ext>
            </a:extLst>
          </p:cNvPr>
          <p:cNvSpPr txBox="1"/>
          <p:nvPr/>
        </p:nvSpPr>
        <p:spPr>
          <a:xfrm>
            <a:off x="10113046" y="949038"/>
            <a:ext cx="10069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补图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8F786BA-160A-460C-81CB-65046EC714DC}"/>
              </a:ext>
            </a:extLst>
          </p:cNvPr>
          <p:cNvSpPr txBox="1"/>
          <p:nvPr/>
        </p:nvSpPr>
        <p:spPr>
          <a:xfrm>
            <a:off x="11152964" y="949038"/>
            <a:ext cx="7745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同构</a:t>
            </a:r>
          </a:p>
        </p:txBody>
      </p:sp>
    </p:spTree>
    <p:extLst>
      <p:ext uri="{BB962C8B-B14F-4D97-AF65-F5344CB8AC3E}">
        <p14:creationId xmlns:p14="http://schemas.microsoft.com/office/powerpoint/2010/main" val="1168343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5.1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无向图及有向图</a:t>
            </a:r>
          </a:p>
        </p:txBody>
      </p:sp>
      <p:sp>
        <p:nvSpPr>
          <p:cNvPr id="30" name="Rectangle 3">
            <a:extLst>
              <a:ext uri="{FF2B5EF4-FFF2-40B4-BE49-F238E27FC236}">
                <a16:creationId xmlns:a16="http://schemas.microsoft.com/office/drawing/2014/main" id="{CFED7991-28BA-425F-8522-C5917D57DC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949" y="1784688"/>
            <a:ext cx="11315372" cy="417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kern="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推论  任何图 (无向或有向) 中，奇度顶点的个数是偶数.</a:t>
            </a:r>
          </a:p>
          <a:p>
            <a:pPr eaLnBrk="1" hangingPunct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kern="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证</a:t>
            </a:r>
            <a:r>
              <a:rPr lang="zh-CN" altLang="en-US" kern="0" dirty="0">
                <a:solidFill>
                  <a:schemeClr val="bg1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kern="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lang="en-US" altLang="zh-CN" i="1" kern="0" dirty="0">
                <a:solidFill>
                  <a:schemeClr val="bg1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kern="0" dirty="0">
                <a:solidFill>
                  <a:schemeClr val="bg1"/>
                </a:solidFill>
                <a:latin typeface="Times New Roman" panose="02020603050405020304" pitchFamily="18" charset="0"/>
              </a:rPr>
              <a:t>=&lt;</a:t>
            </a:r>
            <a:r>
              <a:rPr lang="en-US" altLang="zh-CN" i="1" kern="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kern="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i="1" kern="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kern="0" dirty="0">
                <a:solidFill>
                  <a:schemeClr val="bg1"/>
                </a:solidFill>
                <a:latin typeface="Times New Roman" panose="02020603050405020304" pitchFamily="18" charset="0"/>
              </a:rPr>
              <a:t>&gt;</a:t>
            </a:r>
            <a:r>
              <a:rPr lang="zh-CN" altLang="en-US" kern="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为任意图，令</a:t>
            </a:r>
          </a:p>
          <a:p>
            <a:pPr eaLnBrk="1" hangingPunct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kern="0" dirty="0">
                <a:solidFill>
                  <a:schemeClr val="bg1"/>
                </a:solidFill>
                <a:latin typeface="Times New Roman" panose="02020603050405020304" pitchFamily="18" charset="0"/>
              </a:rPr>
              <a:t>          </a:t>
            </a:r>
            <a:r>
              <a:rPr lang="en-US" altLang="zh-CN" i="1" kern="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kern="0" baseline="-2500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kern="0" dirty="0">
                <a:solidFill>
                  <a:schemeClr val="bg1"/>
                </a:solidFill>
                <a:latin typeface="Times New Roman" panose="02020603050405020304" pitchFamily="18" charset="0"/>
              </a:rPr>
              <a:t>={</a:t>
            </a:r>
            <a:r>
              <a:rPr lang="en-US" altLang="zh-CN" i="1" kern="0" dirty="0">
                <a:solidFill>
                  <a:schemeClr val="bg1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kern="0" dirty="0">
                <a:solidFill>
                  <a:schemeClr val="bg1"/>
                </a:solidFill>
                <a:latin typeface="Times New Roman" panose="02020603050405020304" pitchFamily="18" charset="0"/>
              </a:rPr>
              <a:t> | </a:t>
            </a:r>
            <a:r>
              <a:rPr lang="en-US" altLang="zh-CN" i="1" kern="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kern="0" dirty="0" err="1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i="1" kern="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kern="0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i="1" kern="0" dirty="0">
                <a:solidFill>
                  <a:schemeClr val="bg1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kern="0" dirty="0">
                <a:solidFill>
                  <a:schemeClr val="bg1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kern="0" dirty="0">
                <a:solidFill>
                  <a:schemeClr val="bg1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kern="0" dirty="0">
                <a:solidFill>
                  <a:schemeClr val="bg1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kern="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为奇数</a:t>
            </a:r>
            <a:r>
              <a:rPr lang="zh-CN" altLang="en-US" kern="0" dirty="0">
                <a:solidFill>
                  <a:schemeClr val="bg1"/>
                </a:solidFill>
                <a:latin typeface="Times New Roman" panose="02020603050405020304" pitchFamily="18" charset="0"/>
              </a:rPr>
              <a:t>}</a:t>
            </a:r>
          </a:p>
          <a:p>
            <a:pPr eaLnBrk="1" hangingPunct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kern="0" dirty="0">
                <a:solidFill>
                  <a:schemeClr val="bg1"/>
                </a:solidFill>
                <a:latin typeface="Times New Roman" panose="02020603050405020304" pitchFamily="18" charset="0"/>
              </a:rPr>
              <a:t>          </a:t>
            </a:r>
            <a:r>
              <a:rPr lang="en-US" altLang="zh-CN" i="1" kern="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kern="0" baseline="-2500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kern="0" dirty="0">
                <a:solidFill>
                  <a:schemeClr val="bg1"/>
                </a:solidFill>
                <a:latin typeface="Times New Roman" panose="02020603050405020304" pitchFamily="18" charset="0"/>
              </a:rPr>
              <a:t>={</a:t>
            </a:r>
            <a:r>
              <a:rPr lang="en-US" altLang="zh-CN" i="1" kern="0" dirty="0">
                <a:solidFill>
                  <a:schemeClr val="bg1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kern="0" dirty="0">
                <a:solidFill>
                  <a:schemeClr val="bg1"/>
                </a:solidFill>
                <a:latin typeface="Times New Roman" panose="02020603050405020304" pitchFamily="18" charset="0"/>
              </a:rPr>
              <a:t> | </a:t>
            </a:r>
            <a:r>
              <a:rPr lang="en-US" altLang="zh-CN" i="1" kern="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kern="0" dirty="0" err="1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i="1" kern="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kern="0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i="1" kern="0" dirty="0">
                <a:solidFill>
                  <a:schemeClr val="bg1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kern="0" dirty="0">
                <a:solidFill>
                  <a:schemeClr val="bg1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kern="0" dirty="0">
                <a:solidFill>
                  <a:schemeClr val="bg1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kern="0" dirty="0">
                <a:solidFill>
                  <a:schemeClr val="bg1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kern="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为偶数</a:t>
            </a:r>
            <a:r>
              <a:rPr lang="zh-CN" altLang="en-US" kern="0" dirty="0">
                <a:solidFill>
                  <a:schemeClr val="bg1"/>
                </a:solidFill>
                <a:latin typeface="Times New Roman" panose="02020603050405020304" pitchFamily="18" charset="0"/>
              </a:rPr>
              <a:t>}  </a:t>
            </a:r>
          </a:p>
          <a:p>
            <a:pPr eaLnBrk="1" hangingPunct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kern="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  <a:r>
              <a:rPr lang="en-US" altLang="zh-CN" i="1" kern="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kern="0" baseline="-2500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kern="0" dirty="0" err="1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i="1" kern="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kern="0" baseline="-2500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kern="0" dirty="0">
                <a:solidFill>
                  <a:schemeClr val="bg1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i="1" kern="0" dirty="0">
                <a:solidFill>
                  <a:schemeClr val="bg1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kern="0" dirty="0">
                <a:solidFill>
                  <a:schemeClr val="bg1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i="1" kern="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kern="0" baseline="-2500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kern="0" dirty="0" err="1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en-US" altLang="zh-CN" i="1" kern="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kern="0" baseline="-2500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kern="0" dirty="0">
                <a:solidFill>
                  <a:schemeClr val="bg1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kern="0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kern="0" dirty="0">
                <a:solidFill>
                  <a:schemeClr val="bg1"/>
                </a:solidFill>
                <a:latin typeface="Times New Roman" panose="02020603050405020304" pitchFamily="18" charset="0"/>
              </a:rPr>
              <a:t>，</a:t>
            </a:r>
            <a:r>
              <a:rPr lang="zh-CN" altLang="en-US" kern="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由握手定理可知</a:t>
            </a:r>
          </a:p>
          <a:p>
            <a:pPr eaLnBrk="1" hangingPunct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zh-CN" altLang="en-US" kern="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zh-CN" altLang="en-US" kern="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由于</a:t>
            </a:r>
            <a:r>
              <a:rPr lang="zh-CN" altLang="en-US" kern="0" dirty="0">
                <a:latin typeface="Times New Roman" panose="02020603050405020304" pitchFamily="18" charset="0"/>
              </a:rPr>
              <a:t>2</a:t>
            </a:r>
            <a:r>
              <a:rPr lang="en-US" altLang="zh-CN" i="1" kern="0" dirty="0">
                <a:latin typeface="Times New Roman" panose="02020603050405020304" pitchFamily="18" charset="0"/>
              </a:rPr>
              <a:t>m</a:t>
            </a:r>
            <a:r>
              <a:rPr lang="en-US" altLang="zh-CN" kern="0" dirty="0">
                <a:latin typeface="Times New Roman" panose="02020603050405020304" pitchFamily="18" charset="0"/>
              </a:rPr>
              <a:t>,             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均为偶数，所以      为偶数，但因为</a:t>
            </a:r>
            <a:r>
              <a:rPr lang="en-US" altLang="zh-CN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kern="0" baseline="-25000" dirty="0" err="1">
                <a:latin typeface="Times New Roman" panose="02020603050405020304" pitchFamily="18" charset="0"/>
              </a:rPr>
              <a:t>1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中顶点度数为奇数，所以 </a:t>
            </a:r>
            <a:endParaRPr lang="en-US" altLang="zh-CN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kern="0" dirty="0">
                <a:latin typeface="Times New Roman" panose="02020603050405020304" pitchFamily="18" charset="0"/>
              </a:rPr>
              <a:t>|</a:t>
            </a:r>
            <a:r>
              <a:rPr lang="en-US" altLang="zh-CN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kern="0" baseline="-25000" dirty="0" err="1">
                <a:latin typeface="Times New Roman" panose="02020603050405020304" pitchFamily="18" charset="0"/>
              </a:rPr>
              <a:t>1</a:t>
            </a:r>
            <a:r>
              <a:rPr lang="en-US" altLang="zh-CN" kern="0" dirty="0">
                <a:latin typeface="Times New Roman" panose="02020603050405020304" pitchFamily="18" charset="0"/>
              </a:rPr>
              <a:t>| 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必为偶数. </a:t>
            </a:r>
          </a:p>
        </p:txBody>
      </p:sp>
      <p:graphicFrame>
        <p:nvGraphicFramePr>
          <p:cNvPr id="31" name="Object 5">
            <a:extLst>
              <a:ext uri="{FF2B5EF4-FFF2-40B4-BE49-F238E27FC236}">
                <a16:creationId xmlns:a16="http://schemas.microsoft.com/office/drawing/2014/main" id="{75BDD7BE-752F-4128-9C71-29AFC89573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2513244"/>
              </p:ext>
            </p:extLst>
          </p:nvPr>
        </p:nvGraphicFramePr>
        <p:xfrm>
          <a:off x="2623568" y="4254240"/>
          <a:ext cx="3883025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096410" imgH="368460" progId="Equation.3">
                  <p:embed/>
                </p:oleObj>
              </mc:Choice>
              <mc:Fallback>
                <p:oleObj r:id="rId3" imgW="2096410" imgH="368460" progId="Equation.3">
                  <p:embed/>
                  <p:pic>
                    <p:nvPicPr>
                      <p:cNvPr id="31" name="Object 5">
                        <a:extLst>
                          <a:ext uri="{FF2B5EF4-FFF2-40B4-BE49-F238E27FC236}">
                            <a16:creationId xmlns:a16="http://schemas.microsoft.com/office/drawing/2014/main" id="{75BDD7BE-752F-4128-9C71-29AFC89573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3568" y="4254240"/>
                        <a:ext cx="3883025" cy="68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6">
            <a:extLst>
              <a:ext uri="{FF2B5EF4-FFF2-40B4-BE49-F238E27FC236}">
                <a16:creationId xmlns:a16="http://schemas.microsoft.com/office/drawing/2014/main" id="{5705CC9B-E5B4-46B6-A9DB-7C24E8C5C7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9179971"/>
              </p:ext>
            </p:extLst>
          </p:nvPr>
        </p:nvGraphicFramePr>
        <p:xfrm>
          <a:off x="1753828" y="5170948"/>
          <a:ext cx="931862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522060" imgH="369262" progId="Equation.3">
                  <p:embed/>
                </p:oleObj>
              </mc:Choice>
              <mc:Fallback>
                <p:oleObj r:id="rId5" imgW="522060" imgH="369262" progId="Equation.3">
                  <p:embed/>
                  <p:pic>
                    <p:nvPicPr>
                      <p:cNvPr id="32" name="Object 6">
                        <a:extLst>
                          <a:ext uri="{FF2B5EF4-FFF2-40B4-BE49-F238E27FC236}">
                            <a16:creationId xmlns:a16="http://schemas.microsoft.com/office/drawing/2014/main" id="{5705CC9B-E5B4-46B6-A9DB-7C24E8C5C7F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3828" y="5170948"/>
                        <a:ext cx="931862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7">
            <a:extLst>
              <a:ext uri="{FF2B5EF4-FFF2-40B4-BE49-F238E27FC236}">
                <a16:creationId xmlns:a16="http://schemas.microsoft.com/office/drawing/2014/main" id="{70FF49B4-A725-430B-87F6-7EABC8297B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6992114"/>
              </p:ext>
            </p:extLst>
          </p:nvPr>
        </p:nvGraphicFramePr>
        <p:xfrm>
          <a:off x="4851040" y="5207879"/>
          <a:ext cx="892175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522060" imgH="369262" progId="Equation.3">
                  <p:embed/>
                </p:oleObj>
              </mc:Choice>
              <mc:Fallback>
                <p:oleObj r:id="rId7" imgW="522060" imgH="369262" progId="Equation.3">
                  <p:embed/>
                  <p:pic>
                    <p:nvPicPr>
                      <p:cNvPr id="33" name="Object 7">
                        <a:extLst>
                          <a:ext uri="{FF2B5EF4-FFF2-40B4-BE49-F238E27FC236}">
                            <a16:creationId xmlns:a16="http://schemas.microsoft.com/office/drawing/2014/main" id="{70FF49B4-A725-430B-87F6-7EABC8297B9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1040" y="5207879"/>
                        <a:ext cx="892175" cy="63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16">
            <a:extLst>
              <a:ext uri="{FF2B5EF4-FFF2-40B4-BE49-F238E27FC236}">
                <a16:creationId xmlns:a16="http://schemas.microsoft.com/office/drawing/2014/main" id="{3B559860-88A7-4579-BAE9-0ADAEACE9BA6}"/>
              </a:ext>
            </a:extLst>
          </p:cNvPr>
          <p:cNvSpPr txBox="1"/>
          <p:nvPr/>
        </p:nvSpPr>
        <p:spPr>
          <a:xfrm>
            <a:off x="399945" y="949038"/>
            <a:ext cx="20198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无向图与有向图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4A5DFE7-8B79-467C-8084-972EDEBF05BD}"/>
              </a:ext>
            </a:extLst>
          </p:cNvPr>
          <p:cNvSpPr txBox="1"/>
          <p:nvPr/>
        </p:nvSpPr>
        <p:spPr>
          <a:xfrm>
            <a:off x="2854684" y="949038"/>
            <a:ext cx="15446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顶点的度数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C7C92BC-8F67-4FB8-AF2A-F8C3F6CA995C}"/>
              </a:ext>
            </a:extLst>
          </p:cNvPr>
          <p:cNvSpPr txBox="1"/>
          <p:nvPr/>
        </p:nvSpPr>
        <p:spPr>
          <a:xfrm>
            <a:off x="4650790" y="949038"/>
            <a:ext cx="12188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握手定理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CE34CF5-8F9A-4C53-BBBB-20B27141DEF8}"/>
              </a:ext>
            </a:extLst>
          </p:cNvPr>
          <p:cNvSpPr txBox="1"/>
          <p:nvPr/>
        </p:nvSpPr>
        <p:spPr>
          <a:xfrm>
            <a:off x="6248494" y="949038"/>
            <a:ext cx="10069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简单图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B896EE3-8A73-479F-944F-84A721722FCB}"/>
              </a:ext>
            </a:extLst>
          </p:cNvPr>
          <p:cNvSpPr txBox="1"/>
          <p:nvPr/>
        </p:nvSpPr>
        <p:spPr>
          <a:xfrm>
            <a:off x="7615690" y="949038"/>
            <a:ext cx="9580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完全图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25BF6FF-111B-4CDF-BCC2-C86C191281A6}"/>
              </a:ext>
            </a:extLst>
          </p:cNvPr>
          <p:cNvSpPr txBox="1"/>
          <p:nvPr/>
        </p:nvSpPr>
        <p:spPr>
          <a:xfrm>
            <a:off x="9008092" y="949038"/>
            <a:ext cx="7596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子图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855BB64-383D-4BC7-A63C-F526A467ECA5}"/>
              </a:ext>
            </a:extLst>
          </p:cNvPr>
          <p:cNvSpPr txBox="1"/>
          <p:nvPr/>
        </p:nvSpPr>
        <p:spPr>
          <a:xfrm>
            <a:off x="10113046" y="949038"/>
            <a:ext cx="10069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补图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3077E57-59DC-435E-A0BA-E2486B37C555}"/>
              </a:ext>
            </a:extLst>
          </p:cNvPr>
          <p:cNvSpPr txBox="1"/>
          <p:nvPr/>
        </p:nvSpPr>
        <p:spPr>
          <a:xfrm>
            <a:off x="11152964" y="949038"/>
            <a:ext cx="7745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同构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E6349FA5-CEBA-4761-8371-67707FE8B2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949" y="1784688"/>
            <a:ext cx="11315372" cy="24645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推论</a:t>
            </a:r>
            <a:r>
              <a:rPr lang="zh-CN" altLang="en-US" kern="0" dirty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 任何图 (无向或有向) 中，</a:t>
            </a:r>
            <a:r>
              <a:rPr lang="zh-CN" altLang="en-US" kern="0" dirty="0"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奇度顶点的个数是偶数.</a:t>
            </a:r>
          </a:p>
          <a:p>
            <a:pPr eaLnBrk="1" hangingPunct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证</a:t>
            </a:r>
            <a:r>
              <a:rPr lang="zh-CN" altLang="en-US" kern="0" dirty="0">
                <a:latin typeface="Times New Roman" panose="02020603050405020304" pitchFamily="18" charset="0"/>
              </a:rPr>
              <a:t>  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lang="en-US" altLang="zh-CN" i="1" kern="0" dirty="0">
                <a:latin typeface="Times New Roman" panose="02020603050405020304" pitchFamily="18" charset="0"/>
              </a:rPr>
              <a:t>G</a:t>
            </a:r>
            <a:r>
              <a:rPr lang="en-US" altLang="zh-CN" kern="0" dirty="0">
                <a:latin typeface="Times New Roman" panose="02020603050405020304" pitchFamily="18" charset="0"/>
              </a:rPr>
              <a:t>=&lt;</a:t>
            </a:r>
            <a:r>
              <a:rPr lang="en-US" altLang="zh-CN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kern="0" dirty="0" err="1">
                <a:latin typeface="Times New Roman" panose="02020603050405020304" pitchFamily="18" charset="0"/>
              </a:rPr>
              <a:t>,</a:t>
            </a:r>
            <a:r>
              <a:rPr lang="en-US" altLang="zh-CN" i="1" kern="0" dirty="0" err="1">
                <a:latin typeface="Times New Roman" panose="02020603050405020304" pitchFamily="18" charset="0"/>
              </a:rPr>
              <a:t>E</a:t>
            </a:r>
            <a:r>
              <a:rPr lang="en-US" altLang="zh-CN" kern="0" dirty="0">
                <a:latin typeface="Times New Roman" panose="02020603050405020304" pitchFamily="18" charset="0"/>
              </a:rPr>
              <a:t>&gt;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为任意图，令</a:t>
            </a:r>
          </a:p>
          <a:p>
            <a:pPr eaLnBrk="1" hangingPunct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kern="0" dirty="0">
                <a:latin typeface="Times New Roman" panose="02020603050405020304" pitchFamily="18" charset="0"/>
              </a:rPr>
              <a:t>          </a:t>
            </a:r>
            <a:r>
              <a:rPr lang="en-US" altLang="zh-CN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kern="0" baseline="-25000" dirty="0" err="1">
                <a:latin typeface="Times New Roman" panose="02020603050405020304" pitchFamily="18" charset="0"/>
              </a:rPr>
              <a:t>1</a:t>
            </a:r>
            <a:r>
              <a:rPr lang="en-US" altLang="zh-CN" kern="0" dirty="0">
                <a:latin typeface="Times New Roman" panose="02020603050405020304" pitchFamily="18" charset="0"/>
              </a:rPr>
              <a:t>={</a:t>
            </a:r>
            <a:r>
              <a:rPr lang="en-US" altLang="zh-CN" i="1" kern="0" dirty="0">
                <a:latin typeface="Times New Roman" panose="02020603050405020304" pitchFamily="18" charset="0"/>
              </a:rPr>
              <a:t>v</a:t>
            </a:r>
            <a:r>
              <a:rPr lang="en-US" altLang="zh-CN" kern="0" dirty="0">
                <a:latin typeface="Times New Roman" panose="02020603050405020304" pitchFamily="18" charset="0"/>
              </a:rPr>
              <a:t> | </a:t>
            </a:r>
            <a:r>
              <a:rPr lang="en-US" altLang="zh-CN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kern="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i="1" kern="0" dirty="0">
                <a:latin typeface="Times New Roman" panose="02020603050405020304" pitchFamily="18" charset="0"/>
              </a:rPr>
              <a:t>d</a:t>
            </a:r>
            <a:r>
              <a:rPr lang="en-US" altLang="zh-CN" kern="0" dirty="0">
                <a:latin typeface="Times New Roman" panose="02020603050405020304" pitchFamily="18" charset="0"/>
              </a:rPr>
              <a:t>(</a:t>
            </a:r>
            <a:r>
              <a:rPr lang="en-US" altLang="zh-CN" i="1" kern="0" dirty="0">
                <a:latin typeface="Times New Roman" panose="02020603050405020304" pitchFamily="18" charset="0"/>
              </a:rPr>
              <a:t>v</a:t>
            </a:r>
            <a:r>
              <a:rPr lang="en-US" altLang="zh-CN" kern="0" dirty="0">
                <a:latin typeface="Times New Roman" panose="02020603050405020304" pitchFamily="18" charset="0"/>
              </a:rPr>
              <a:t>)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为奇数</a:t>
            </a:r>
            <a:r>
              <a:rPr lang="zh-CN" altLang="en-US" kern="0" dirty="0">
                <a:latin typeface="Times New Roman" panose="02020603050405020304" pitchFamily="18" charset="0"/>
              </a:rPr>
              <a:t>}</a:t>
            </a:r>
          </a:p>
          <a:p>
            <a:pPr eaLnBrk="1" hangingPunct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kern="0" dirty="0">
                <a:latin typeface="Times New Roman" panose="02020603050405020304" pitchFamily="18" charset="0"/>
              </a:rPr>
              <a:t>          </a:t>
            </a:r>
            <a:r>
              <a:rPr lang="en-US" altLang="zh-CN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kern="0" baseline="-25000" dirty="0" err="1">
                <a:latin typeface="Times New Roman" panose="02020603050405020304" pitchFamily="18" charset="0"/>
              </a:rPr>
              <a:t>2</a:t>
            </a:r>
            <a:r>
              <a:rPr lang="en-US" altLang="zh-CN" kern="0" dirty="0">
                <a:latin typeface="Times New Roman" panose="02020603050405020304" pitchFamily="18" charset="0"/>
              </a:rPr>
              <a:t>={</a:t>
            </a:r>
            <a:r>
              <a:rPr lang="en-US" altLang="zh-CN" i="1" kern="0" dirty="0">
                <a:latin typeface="Times New Roman" panose="02020603050405020304" pitchFamily="18" charset="0"/>
              </a:rPr>
              <a:t>v</a:t>
            </a:r>
            <a:r>
              <a:rPr lang="en-US" altLang="zh-CN" kern="0" dirty="0">
                <a:latin typeface="Times New Roman" panose="02020603050405020304" pitchFamily="18" charset="0"/>
              </a:rPr>
              <a:t> | </a:t>
            </a:r>
            <a:r>
              <a:rPr lang="en-US" altLang="zh-CN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kern="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i="1" kern="0" dirty="0">
                <a:latin typeface="Times New Roman" panose="02020603050405020304" pitchFamily="18" charset="0"/>
              </a:rPr>
              <a:t>d</a:t>
            </a:r>
            <a:r>
              <a:rPr lang="en-US" altLang="zh-CN" kern="0" dirty="0">
                <a:latin typeface="Times New Roman" panose="02020603050405020304" pitchFamily="18" charset="0"/>
              </a:rPr>
              <a:t>(</a:t>
            </a:r>
            <a:r>
              <a:rPr lang="en-US" altLang="zh-CN" i="1" kern="0" dirty="0">
                <a:latin typeface="Times New Roman" panose="02020603050405020304" pitchFamily="18" charset="0"/>
              </a:rPr>
              <a:t>v</a:t>
            </a:r>
            <a:r>
              <a:rPr lang="en-US" altLang="zh-CN" kern="0" dirty="0">
                <a:latin typeface="Times New Roman" panose="02020603050405020304" pitchFamily="18" charset="0"/>
              </a:rPr>
              <a:t>)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为偶数</a:t>
            </a:r>
            <a:r>
              <a:rPr lang="zh-CN" altLang="en-US" kern="0" dirty="0">
                <a:latin typeface="Times New Roman" panose="02020603050405020304" pitchFamily="18" charset="0"/>
              </a:rPr>
              <a:t>}  </a:t>
            </a:r>
          </a:p>
          <a:p>
            <a:pPr eaLnBrk="1" hangingPunct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  <a:r>
              <a:rPr lang="en-US" altLang="zh-CN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kern="0" baseline="-25000" dirty="0" err="1">
                <a:latin typeface="Times New Roman" panose="02020603050405020304" pitchFamily="18" charset="0"/>
              </a:rPr>
              <a:t>1</a:t>
            </a:r>
            <a:r>
              <a:rPr lang="en-US" altLang="zh-CN" kern="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kern="0" baseline="-25000" dirty="0" err="1">
                <a:latin typeface="Times New Roman" panose="02020603050405020304" pitchFamily="18" charset="0"/>
              </a:rPr>
              <a:t>2</a:t>
            </a:r>
            <a:r>
              <a:rPr lang="en-US" altLang="zh-CN" kern="0" dirty="0">
                <a:latin typeface="Times New Roman" panose="02020603050405020304" pitchFamily="18" charset="0"/>
              </a:rPr>
              <a:t>=</a:t>
            </a:r>
            <a:r>
              <a:rPr lang="en-US" altLang="zh-CN" i="1" kern="0" dirty="0">
                <a:latin typeface="Times New Roman" panose="02020603050405020304" pitchFamily="18" charset="0"/>
              </a:rPr>
              <a:t>V</a:t>
            </a:r>
            <a:r>
              <a:rPr lang="en-US" altLang="zh-CN" kern="0" dirty="0">
                <a:latin typeface="Times New Roman" panose="02020603050405020304" pitchFamily="18" charset="0"/>
              </a:rPr>
              <a:t>, </a:t>
            </a:r>
            <a:r>
              <a:rPr lang="en-US" altLang="zh-CN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kern="0" baseline="-25000" dirty="0" err="1">
                <a:latin typeface="Times New Roman" panose="02020603050405020304" pitchFamily="18" charset="0"/>
              </a:rPr>
              <a:t>1</a:t>
            </a:r>
            <a:r>
              <a:rPr lang="en-US" altLang="zh-CN" kern="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en-US" altLang="zh-CN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kern="0" baseline="-25000" dirty="0" err="1">
                <a:latin typeface="Times New Roman" panose="02020603050405020304" pitchFamily="18" charset="0"/>
              </a:rPr>
              <a:t>2</a:t>
            </a:r>
            <a:r>
              <a:rPr lang="en-US" altLang="zh-CN" kern="0" dirty="0">
                <a:latin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kern="0" dirty="0">
                <a:latin typeface="Times New Roman" panose="02020603050405020304" pitchFamily="18" charset="0"/>
              </a:rPr>
              <a:t>，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由握手定理可知</a:t>
            </a:r>
          </a:p>
          <a:p>
            <a:pPr eaLnBrk="1" hangingPunct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zh-CN" altLang="en-US" kern="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2057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5.1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无向图及有向图</a:t>
            </a:r>
          </a:p>
        </p:txBody>
      </p:sp>
      <p:sp>
        <p:nvSpPr>
          <p:cNvPr id="37" name="Rectangle 1026">
            <a:extLst>
              <a:ext uri="{FF2B5EF4-FFF2-40B4-BE49-F238E27FC236}">
                <a16:creationId xmlns:a16="http://schemas.microsoft.com/office/drawing/2014/main" id="{6525F117-3100-4067-82AF-47232135C554}"/>
              </a:ext>
            </a:extLst>
          </p:cNvPr>
          <p:cNvSpPr txBox="1">
            <a:spLocks noChangeArrowheads="1"/>
          </p:cNvSpPr>
          <p:nvPr/>
        </p:nvSpPr>
        <p:spPr>
          <a:xfrm>
            <a:off x="559438" y="1632609"/>
            <a:ext cx="8229600" cy="54124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握手定理的应用</a:t>
            </a:r>
          </a:p>
        </p:txBody>
      </p:sp>
      <p:sp>
        <p:nvSpPr>
          <p:cNvPr id="38" name="Rectangle 1027">
            <a:extLst>
              <a:ext uri="{FF2B5EF4-FFF2-40B4-BE49-F238E27FC236}">
                <a16:creationId xmlns:a16="http://schemas.microsoft.com/office/drawing/2014/main" id="{D42D2A02-44A1-4B6C-8001-7B7BD2382724}"/>
              </a:ext>
            </a:extLst>
          </p:cNvPr>
          <p:cNvSpPr txBox="1">
            <a:spLocks noChangeArrowheads="1"/>
          </p:cNvSpPr>
          <p:nvPr/>
        </p:nvSpPr>
        <p:spPr>
          <a:xfrm>
            <a:off x="539751" y="2275991"/>
            <a:ext cx="7993063" cy="41910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(3,3,3,4), (2,3,4,6,8)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能成为图的度数列吗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?</a:t>
            </a:r>
          </a:p>
        </p:txBody>
      </p:sp>
      <p:sp>
        <p:nvSpPr>
          <p:cNvPr id="39" name="Text Box 1028">
            <a:extLst>
              <a:ext uri="{FF2B5EF4-FFF2-40B4-BE49-F238E27FC236}">
                <a16:creationId xmlns:a16="http://schemas.microsoft.com/office/drawing/2014/main" id="{7F508944-040D-40A6-A0C8-B78E47DEC7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816" y="2765989"/>
            <a:ext cx="838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解 不可能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它们都有奇数个奇度顶点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40" name="Text Box 1029">
            <a:extLst>
              <a:ext uri="{FF2B5EF4-FFF2-40B4-BE49-F238E27FC236}">
                <a16:creationId xmlns:a16="http://schemas.microsoft.com/office/drawing/2014/main" id="{79BFE4C7-C48C-4759-BEA7-35F0C0B56B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245" y="3871128"/>
            <a:ext cx="11192173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已知图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G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有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条边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 4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个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度顶点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其余顶点的度数均小于等于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2,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问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G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至少有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多少个顶点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? </a:t>
            </a:r>
          </a:p>
        </p:txBody>
      </p:sp>
      <p:sp>
        <p:nvSpPr>
          <p:cNvPr id="41" name="Text Box 1030">
            <a:extLst>
              <a:ext uri="{FF2B5EF4-FFF2-40B4-BE49-F238E27FC236}">
                <a16:creationId xmlns:a16="http://schemas.microsoft.com/office/drawing/2014/main" id="{8A533167-9277-455D-8D12-07C7A0F88B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763" y="4954641"/>
            <a:ext cx="10666596" cy="14834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解 设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G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有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n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个顶点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由握手定理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zh-CN" sz="2800" b="1" dirty="0">
                <a:latin typeface="Times New Roman" panose="02020603050405020304" pitchFamily="18" charset="0"/>
              </a:rPr>
              <a:t>                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210 = </a:t>
            </a:r>
            <a:r>
              <a:rPr lang="en-US" altLang="zh-CN" sz="2400" b="1" dirty="0">
                <a:latin typeface="Times New Roman" panose="02020603050405020304" pitchFamily="18" charset="0"/>
              </a:rPr>
              <a:t>4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3+</a:t>
            </a:r>
            <a:r>
              <a:rPr lang="zh-CN" altLang="en-US" sz="2400" b="1" dirty="0"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其余顶点的度数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≤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4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3+</a:t>
            </a:r>
            <a:r>
              <a:rPr kumimoji="1" lang="en-US" altLang="zh-CN" sz="2400" b="1" dirty="0">
                <a:highlight>
                  <a:srgbClr val="FFFF00"/>
                </a:highlight>
                <a:latin typeface="Times New Roman" panose="02020603050405020304" pitchFamily="18" charset="0"/>
                <a:sym typeface="Symbol" panose="05050102010706020507" pitchFamily="18" charset="2"/>
              </a:rPr>
              <a:t>2(</a:t>
            </a:r>
            <a:r>
              <a:rPr kumimoji="1" lang="en-US" altLang="zh-CN" sz="2400" b="1" i="1" dirty="0">
                <a:highlight>
                  <a:srgbClr val="FFFF00"/>
                </a:highlight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kumimoji="1" lang="en-US" altLang="zh-CN" sz="2400" b="1" dirty="0">
                <a:highlight>
                  <a:srgbClr val="FFFF00"/>
                </a:highlight>
                <a:latin typeface="Times New Roman" panose="02020603050405020304" pitchFamily="18" charset="0"/>
                <a:sym typeface="Symbol" panose="05050102010706020507" pitchFamily="18" charset="2"/>
              </a:rPr>
              <a:t>-4)</a:t>
            </a:r>
          </a:p>
          <a:p>
            <a:pPr eaLnBrk="1" hangingPunct="1">
              <a:spcBef>
                <a:spcPct val="20000"/>
              </a:spcBef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解得        </a:t>
            </a:r>
            <a:r>
              <a:rPr kumimoji="1" lang="en-US" altLang="zh-CN" sz="24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kumimoji="1" lang="en-US" altLang="zh-CN" sz="24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8</a:t>
            </a:r>
            <a:endParaRPr kumimoji="1" lang="en-US" altLang="zh-CN" sz="24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9C6A0B9-2478-4AC7-9355-61D556F82898}"/>
              </a:ext>
            </a:extLst>
          </p:cNvPr>
          <p:cNvSpPr txBox="1"/>
          <p:nvPr/>
        </p:nvSpPr>
        <p:spPr>
          <a:xfrm>
            <a:off x="399945" y="949038"/>
            <a:ext cx="20198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无向图与有向图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35C3D1C-C126-4C83-86AD-515660EFF17A}"/>
              </a:ext>
            </a:extLst>
          </p:cNvPr>
          <p:cNvSpPr txBox="1"/>
          <p:nvPr/>
        </p:nvSpPr>
        <p:spPr>
          <a:xfrm>
            <a:off x="2854684" y="949038"/>
            <a:ext cx="15446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顶点的度数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05CE97E-2D86-4783-8100-BABE3C90F74C}"/>
              </a:ext>
            </a:extLst>
          </p:cNvPr>
          <p:cNvSpPr txBox="1"/>
          <p:nvPr/>
        </p:nvSpPr>
        <p:spPr>
          <a:xfrm>
            <a:off x="4650790" y="949038"/>
            <a:ext cx="12188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握手定理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67CD987-3211-42F2-96C4-340B0D01B988}"/>
              </a:ext>
            </a:extLst>
          </p:cNvPr>
          <p:cNvSpPr txBox="1"/>
          <p:nvPr/>
        </p:nvSpPr>
        <p:spPr>
          <a:xfrm>
            <a:off x="6248494" y="949038"/>
            <a:ext cx="10069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简单图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DC1B0FA-0C87-4F94-B04A-8562C1088198}"/>
              </a:ext>
            </a:extLst>
          </p:cNvPr>
          <p:cNvSpPr txBox="1"/>
          <p:nvPr/>
        </p:nvSpPr>
        <p:spPr>
          <a:xfrm>
            <a:off x="7615690" y="949038"/>
            <a:ext cx="9580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完全图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A6070D7-17D0-40AF-84B6-198973586E8B}"/>
              </a:ext>
            </a:extLst>
          </p:cNvPr>
          <p:cNvSpPr txBox="1"/>
          <p:nvPr/>
        </p:nvSpPr>
        <p:spPr>
          <a:xfrm>
            <a:off x="9008092" y="949038"/>
            <a:ext cx="7596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子图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E57D56F-7484-435D-A837-F619D0A7AE11}"/>
              </a:ext>
            </a:extLst>
          </p:cNvPr>
          <p:cNvSpPr txBox="1"/>
          <p:nvPr/>
        </p:nvSpPr>
        <p:spPr>
          <a:xfrm>
            <a:off x="10113046" y="949038"/>
            <a:ext cx="10069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补图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BF7366E-179B-4A2E-A621-6F93280C9B68}"/>
              </a:ext>
            </a:extLst>
          </p:cNvPr>
          <p:cNvSpPr txBox="1"/>
          <p:nvPr/>
        </p:nvSpPr>
        <p:spPr>
          <a:xfrm>
            <a:off x="11152964" y="949038"/>
            <a:ext cx="7745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同构</a:t>
            </a:r>
          </a:p>
        </p:txBody>
      </p:sp>
    </p:spTree>
    <p:extLst>
      <p:ext uri="{BB962C8B-B14F-4D97-AF65-F5344CB8AC3E}">
        <p14:creationId xmlns:p14="http://schemas.microsoft.com/office/powerpoint/2010/main" val="2372345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utoUpdateAnimBg="0"/>
      <p:bldP spid="40" grpId="0" autoUpdateAnimBg="0"/>
      <p:bldP spid="41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5.1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无向图及有向图</a:t>
            </a:r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49409988-818D-44F7-8CE2-B284CC3A02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199" y="1524000"/>
            <a:ext cx="11087838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5.6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en-US" altLang="zh-CN" sz="2400" b="1" kern="0" dirty="0">
              <a:solidFill>
                <a:srgbClr val="992677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(1)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在无向图中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如果有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条或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条以上的边关联同一对顶点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则称这些边为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平行边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平行边的条数称为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重数</a:t>
            </a:r>
            <a:r>
              <a:rPr lang="en-US" altLang="zh-CN" sz="2800" b="1" kern="0" dirty="0">
                <a:latin typeface="宋体" panose="02010600030101010101" pitchFamily="2" charset="-122"/>
              </a:rPr>
              <a:t>.</a:t>
            </a:r>
          </a:p>
          <a:p>
            <a:pPr algn="just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(2)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在有向图中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如果有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条或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条以上的边具有相同的始点和终点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则称这些边为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有向平行边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简称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平行边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平行边的条数称为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重数</a:t>
            </a:r>
            <a:r>
              <a:rPr lang="en-US" altLang="zh-CN" sz="2800" b="1" kern="0" dirty="0">
                <a:latin typeface="宋体" panose="02010600030101010101" pitchFamily="2" charset="-122"/>
              </a:rPr>
              <a:t>.</a:t>
            </a:r>
          </a:p>
          <a:p>
            <a:pPr algn="just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(3)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含平行边的图称为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多重图</a:t>
            </a:r>
            <a:r>
              <a:rPr lang="en-US" altLang="zh-CN" sz="2800" b="1" kern="0" dirty="0">
                <a:latin typeface="宋体" panose="02010600030101010101" pitchFamily="2" charset="-122"/>
              </a:rPr>
              <a:t>.</a:t>
            </a:r>
          </a:p>
          <a:p>
            <a:pPr algn="just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(4)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既无平行边也无环的图称为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简单图</a:t>
            </a:r>
            <a:r>
              <a:rPr lang="en-US" altLang="zh-CN" sz="2800" b="1" kern="0" dirty="0">
                <a:latin typeface="宋体" panose="02010600030101010101" pitchFamily="2" charset="-122"/>
              </a:rPr>
              <a:t>.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800" b="1" kern="0" dirty="0">
              <a:latin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注意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简单图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是极其重要的概念 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3D09ED1-5532-422C-B7C1-BFEF6EC207AE}"/>
              </a:ext>
            </a:extLst>
          </p:cNvPr>
          <p:cNvSpPr txBox="1"/>
          <p:nvPr/>
        </p:nvSpPr>
        <p:spPr>
          <a:xfrm>
            <a:off x="399945" y="949038"/>
            <a:ext cx="20198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无向图与有向图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C54EB23-D341-4F36-8715-61C101878793}"/>
              </a:ext>
            </a:extLst>
          </p:cNvPr>
          <p:cNvSpPr txBox="1"/>
          <p:nvPr/>
        </p:nvSpPr>
        <p:spPr>
          <a:xfrm>
            <a:off x="2854684" y="949038"/>
            <a:ext cx="15446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顶点的度数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51BEA9A-8660-4ACD-9A1A-3C7FC130714C}"/>
              </a:ext>
            </a:extLst>
          </p:cNvPr>
          <p:cNvSpPr txBox="1"/>
          <p:nvPr/>
        </p:nvSpPr>
        <p:spPr>
          <a:xfrm>
            <a:off x="4650790" y="949038"/>
            <a:ext cx="12188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握手定理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8D2B8AE2-F921-4C61-8E44-72E58C0F208C}"/>
              </a:ext>
            </a:extLst>
          </p:cNvPr>
          <p:cNvSpPr txBox="1"/>
          <p:nvPr/>
        </p:nvSpPr>
        <p:spPr>
          <a:xfrm>
            <a:off x="6248494" y="949038"/>
            <a:ext cx="10069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简单图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4482343-FA2D-43D9-9DAD-F673DDB651AD}"/>
              </a:ext>
            </a:extLst>
          </p:cNvPr>
          <p:cNvSpPr txBox="1"/>
          <p:nvPr/>
        </p:nvSpPr>
        <p:spPr>
          <a:xfrm>
            <a:off x="7615690" y="949038"/>
            <a:ext cx="9580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完全图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84BB5E39-2D58-46BF-917A-C0A14DA60ADE}"/>
              </a:ext>
            </a:extLst>
          </p:cNvPr>
          <p:cNvSpPr txBox="1"/>
          <p:nvPr/>
        </p:nvSpPr>
        <p:spPr>
          <a:xfrm>
            <a:off x="9008092" y="949038"/>
            <a:ext cx="7596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子图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E4AC510-54D2-4CBD-A487-5D1D4A8AAC03}"/>
              </a:ext>
            </a:extLst>
          </p:cNvPr>
          <p:cNvSpPr txBox="1"/>
          <p:nvPr/>
        </p:nvSpPr>
        <p:spPr>
          <a:xfrm>
            <a:off x="10113046" y="949038"/>
            <a:ext cx="10069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补图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A10C99A1-C1F1-4FB5-B24E-FCD895292B50}"/>
              </a:ext>
            </a:extLst>
          </p:cNvPr>
          <p:cNvSpPr txBox="1"/>
          <p:nvPr/>
        </p:nvSpPr>
        <p:spPr>
          <a:xfrm>
            <a:off x="11152964" y="949038"/>
            <a:ext cx="7745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同构</a:t>
            </a:r>
          </a:p>
        </p:txBody>
      </p:sp>
    </p:spTree>
    <p:extLst>
      <p:ext uri="{BB962C8B-B14F-4D97-AF65-F5344CB8AC3E}">
        <p14:creationId xmlns:p14="http://schemas.microsoft.com/office/powerpoint/2010/main" val="924947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5.1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无向图及有向图</a:t>
            </a:r>
          </a:p>
        </p:txBody>
      </p:sp>
      <p:pic>
        <p:nvPicPr>
          <p:cNvPr id="12" name="Picture 1028" descr="14-1">
            <a:extLst>
              <a:ext uri="{FF2B5EF4-FFF2-40B4-BE49-F238E27FC236}">
                <a16:creationId xmlns:a16="http://schemas.microsoft.com/office/drawing/2014/main" id="{F09A5FCF-5F22-4068-B661-A4AD4B4E1F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5455" y="2166667"/>
            <a:ext cx="2582863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 Box 1030">
            <a:extLst>
              <a:ext uri="{FF2B5EF4-FFF2-40B4-BE49-F238E27FC236}">
                <a16:creationId xmlns:a16="http://schemas.microsoft.com/office/drawing/2014/main" id="{3874970B-362E-471F-B3D3-910C378569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7517" y="4909867"/>
            <a:ext cx="2895600" cy="966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zh-CN" sz="2800" b="1" i="1" dirty="0">
                <a:latin typeface="Times New Roman" panose="02020603050405020304" pitchFamily="18" charset="0"/>
              </a:rPr>
              <a:t>    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是平行边</a:t>
            </a:r>
          </a:p>
          <a:p>
            <a:pPr eaLnBrk="1" hangingPunct="1">
              <a:spcBef>
                <a:spcPct val="20000"/>
              </a:spcBef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重数为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2" name="Picture 1029" descr="14-2">
            <a:extLst>
              <a:ext uri="{FF2B5EF4-FFF2-40B4-BE49-F238E27FC236}">
                <a16:creationId xmlns:a16="http://schemas.microsoft.com/office/drawing/2014/main" id="{D18F9AA3-91CA-453C-829B-95225DCDCA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5354" y="2020018"/>
            <a:ext cx="2667000" cy="2627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Text Box 1031">
            <a:extLst>
              <a:ext uri="{FF2B5EF4-FFF2-40B4-BE49-F238E27FC236}">
                <a16:creationId xmlns:a16="http://schemas.microsoft.com/office/drawing/2014/main" id="{6BF7E64D-9CCD-45D3-8F7F-5CC50D1C8B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2610" y="5090428"/>
            <a:ext cx="3962400" cy="14834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zh-CN" sz="2800" b="1" i="1" dirty="0" err="1">
                <a:latin typeface="Times New Roman" panose="02020603050405020304" pitchFamily="18" charset="0"/>
              </a:rPr>
              <a:t>e</a:t>
            </a:r>
            <a:r>
              <a:rPr lang="en-US" altLang="zh-CN" sz="2800" b="1" baseline="-25000" dirty="0" err="1">
                <a:latin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e</a:t>
            </a:r>
            <a:r>
              <a:rPr lang="en-US" altLang="zh-CN" sz="2800" b="1" baseline="-25000" dirty="0" err="1">
                <a:latin typeface="Times New Roman" panose="02020603050405020304" pitchFamily="18" charset="0"/>
              </a:rPr>
              <a:t>3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         2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zh-CN" sz="2800" b="1" i="1" dirty="0">
                <a:latin typeface="Times New Roman" panose="02020603050405020304" pitchFamily="18" charset="0"/>
              </a:rPr>
              <a:t>    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不是平行边</a:t>
            </a:r>
          </a:p>
          <a:p>
            <a:pPr eaLnBrk="1" hangingPunct="1">
              <a:spcBef>
                <a:spcPct val="20000"/>
              </a:spcBef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不是简单图</a:t>
            </a:r>
          </a:p>
        </p:txBody>
      </p:sp>
      <p:sp>
        <p:nvSpPr>
          <p:cNvPr id="24" name="Rectangle 1026">
            <a:extLst>
              <a:ext uri="{FF2B5EF4-FFF2-40B4-BE49-F238E27FC236}">
                <a16:creationId xmlns:a16="http://schemas.microsoft.com/office/drawing/2014/main" id="{6760E8F6-3A34-47E7-8ABB-F8A7178816BB}"/>
              </a:ext>
            </a:extLst>
          </p:cNvPr>
          <p:cNvSpPr txBox="1">
            <a:spLocks noChangeArrowheads="1"/>
          </p:cNvSpPr>
          <p:nvPr/>
        </p:nvSpPr>
        <p:spPr>
          <a:xfrm>
            <a:off x="629729" y="1457864"/>
            <a:ext cx="8229600" cy="9906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Text Box 1030">
            <a:extLst>
              <a:ext uri="{FF2B5EF4-FFF2-40B4-BE49-F238E27FC236}">
                <a16:creationId xmlns:a16="http://schemas.microsoft.com/office/drawing/2014/main" id="{DB451DEB-FC9B-4084-8F86-849E34B0BC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5444" y="4900897"/>
            <a:ext cx="2895600" cy="14096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zh-CN" sz="2800" b="1" i="1" dirty="0" err="1">
                <a:latin typeface="Times New Roman" panose="02020603050405020304" pitchFamily="18" charset="0"/>
              </a:rPr>
              <a:t>e</a:t>
            </a:r>
            <a:r>
              <a:rPr lang="en-US" altLang="zh-CN" sz="2800" b="1" baseline="-25000" dirty="0" err="1">
                <a:latin typeface="Times New Roman" panose="02020603050405020304" pitchFamily="18" charset="0"/>
              </a:rPr>
              <a:t>5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e</a:t>
            </a:r>
            <a:r>
              <a:rPr lang="en-US" altLang="zh-CN" sz="2800" b="1" baseline="-25000" dirty="0" err="1">
                <a:latin typeface="Times New Roman" panose="02020603050405020304" pitchFamily="18" charset="0"/>
              </a:rPr>
              <a:t>6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 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2</a:t>
            </a:r>
          </a:p>
          <a:p>
            <a:pPr eaLnBrk="1" hangingPunct="1">
              <a:spcBef>
                <a:spcPct val="20000"/>
              </a:spcBef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不是简单图</a:t>
            </a:r>
          </a:p>
        </p:txBody>
      </p:sp>
      <p:sp>
        <p:nvSpPr>
          <p:cNvPr id="25" name="Text Box 1031">
            <a:extLst>
              <a:ext uri="{FF2B5EF4-FFF2-40B4-BE49-F238E27FC236}">
                <a16:creationId xmlns:a16="http://schemas.microsoft.com/office/drawing/2014/main" id="{A05A5E8F-A9F1-4E36-A280-2BB76A7642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6754" y="5068019"/>
            <a:ext cx="3962400" cy="148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zh-CN" sz="2800" b="1" i="1" dirty="0">
                <a:latin typeface="Times New Roman" panose="02020603050405020304" pitchFamily="18" charset="0"/>
              </a:rPr>
              <a:t>    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是平行边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重数为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zh-CN" sz="2800" b="1" i="1" dirty="0" err="1">
                <a:latin typeface="Times New Roman" panose="02020603050405020304" pitchFamily="18" charset="0"/>
              </a:rPr>
              <a:t>e</a:t>
            </a:r>
            <a:r>
              <a:rPr lang="en-US" altLang="zh-CN" sz="2800" b="1" baseline="-25000" dirty="0" err="1">
                <a:latin typeface="Times New Roman" panose="02020603050405020304" pitchFamily="18" charset="0"/>
              </a:rPr>
              <a:t>6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e</a:t>
            </a:r>
            <a:r>
              <a:rPr lang="en-US" altLang="zh-CN" sz="2800" b="1" baseline="-25000" dirty="0" err="1">
                <a:latin typeface="Times New Roman" panose="02020603050405020304" pitchFamily="18" charset="0"/>
              </a:rPr>
              <a:t>7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  <a:p>
            <a:pPr eaLnBrk="1" hangingPunct="1">
              <a:spcBef>
                <a:spcPct val="20000"/>
              </a:spcBef>
            </a:pP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5ED5FA5-88EB-474D-8FE7-3E9493CE8590}"/>
              </a:ext>
            </a:extLst>
          </p:cNvPr>
          <p:cNvSpPr txBox="1"/>
          <p:nvPr/>
        </p:nvSpPr>
        <p:spPr>
          <a:xfrm>
            <a:off x="399945" y="949038"/>
            <a:ext cx="20198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无向图与有向图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2817CB8-BA8A-4B32-B2D3-ADAF07ECC2F3}"/>
              </a:ext>
            </a:extLst>
          </p:cNvPr>
          <p:cNvSpPr txBox="1"/>
          <p:nvPr/>
        </p:nvSpPr>
        <p:spPr>
          <a:xfrm>
            <a:off x="2854684" y="949038"/>
            <a:ext cx="15446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顶点的度数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F5E8B83-E4F3-4848-8F78-C06839698657}"/>
              </a:ext>
            </a:extLst>
          </p:cNvPr>
          <p:cNvSpPr txBox="1"/>
          <p:nvPr/>
        </p:nvSpPr>
        <p:spPr>
          <a:xfrm>
            <a:off x="4650790" y="949038"/>
            <a:ext cx="12188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握手定理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FFEE757-15EA-459C-BB71-BD4E8B299957}"/>
              </a:ext>
            </a:extLst>
          </p:cNvPr>
          <p:cNvSpPr txBox="1"/>
          <p:nvPr/>
        </p:nvSpPr>
        <p:spPr>
          <a:xfrm>
            <a:off x="6248494" y="949038"/>
            <a:ext cx="10069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简单图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3986DE9-4C9F-4549-BE7A-0C773B3D0713}"/>
              </a:ext>
            </a:extLst>
          </p:cNvPr>
          <p:cNvSpPr txBox="1"/>
          <p:nvPr/>
        </p:nvSpPr>
        <p:spPr>
          <a:xfrm>
            <a:off x="7615690" y="949038"/>
            <a:ext cx="9580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完全图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621CE0C6-ACD9-4CF0-AFD2-1880F5A2465E}"/>
              </a:ext>
            </a:extLst>
          </p:cNvPr>
          <p:cNvSpPr txBox="1"/>
          <p:nvPr/>
        </p:nvSpPr>
        <p:spPr>
          <a:xfrm>
            <a:off x="9008092" y="949038"/>
            <a:ext cx="7596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子图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604A72F-013D-472C-8449-E8A3B4F4F951}"/>
              </a:ext>
            </a:extLst>
          </p:cNvPr>
          <p:cNvSpPr txBox="1"/>
          <p:nvPr/>
        </p:nvSpPr>
        <p:spPr>
          <a:xfrm>
            <a:off x="10113046" y="949038"/>
            <a:ext cx="10069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补图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EA4BA6C9-93C2-45A8-B29C-47D6F2307751}"/>
              </a:ext>
            </a:extLst>
          </p:cNvPr>
          <p:cNvSpPr txBox="1"/>
          <p:nvPr/>
        </p:nvSpPr>
        <p:spPr>
          <a:xfrm>
            <a:off x="11152964" y="949038"/>
            <a:ext cx="7745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同构</a:t>
            </a:r>
          </a:p>
        </p:txBody>
      </p:sp>
    </p:spTree>
    <p:extLst>
      <p:ext uri="{BB962C8B-B14F-4D97-AF65-F5344CB8AC3E}">
        <p14:creationId xmlns:p14="http://schemas.microsoft.com/office/powerpoint/2010/main" val="1099595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3" grpId="0"/>
      <p:bldP spid="20" grpId="0"/>
      <p:bldP spid="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5.1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无向图及有向图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69AF2244-D256-462D-AF87-ADB131AE9219}"/>
              </a:ext>
            </a:extLst>
          </p:cNvPr>
          <p:cNvGrpSpPr/>
          <p:nvPr/>
        </p:nvGrpSpPr>
        <p:grpSpPr>
          <a:xfrm>
            <a:off x="457199" y="1500188"/>
            <a:ext cx="10877909" cy="2157412"/>
            <a:chOff x="457199" y="1500188"/>
            <a:chExt cx="10877909" cy="2157412"/>
          </a:xfrm>
        </p:grpSpPr>
        <p:sp>
          <p:nvSpPr>
            <p:cNvPr id="12" name="Rectangle 3">
              <a:extLst>
                <a:ext uri="{FF2B5EF4-FFF2-40B4-BE49-F238E27FC236}">
                  <a16:creationId xmlns:a16="http://schemas.microsoft.com/office/drawing/2014/main" id="{AF05350C-3DCE-4010-8370-78D403B878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199" y="1500188"/>
              <a:ext cx="10877909" cy="2157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algn="just" eaLnBrk="1" hangingPunct="1">
                <a:buFont typeface="Wingdings" panose="05000000000000000000" pitchFamily="2" charset="2"/>
                <a:buNone/>
              </a:pPr>
              <a:r>
                <a:rPr lang="en-US" altLang="zh-CN" sz="2400" b="1" i="1" kern="0" dirty="0">
                  <a:solidFill>
                    <a:srgbClr val="992677"/>
                  </a:solidFill>
                  <a:latin typeface="Times New Roman" panose="02020603050405020304" pitchFamily="18" charset="0"/>
                </a:rPr>
                <a:t>n</a:t>
              </a:r>
              <a:r>
                <a:rPr lang="zh-CN" altLang="en-US" sz="2400" b="1" kern="0" dirty="0">
                  <a:solidFill>
                    <a:srgbClr val="992677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阶无向完全图</a:t>
              </a:r>
              <a:r>
                <a:rPr lang="en-US" altLang="zh-CN" sz="2400" b="1" i="1" kern="0" dirty="0" err="1">
                  <a:solidFill>
                    <a:srgbClr val="992677"/>
                  </a:solidFill>
                  <a:latin typeface="Times New Roman" panose="02020603050405020304" pitchFamily="18" charset="0"/>
                </a:rPr>
                <a:t>K</a:t>
              </a:r>
              <a:r>
                <a:rPr lang="en-US" altLang="zh-CN" sz="2400" b="1" i="1" kern="0" baseline="-30000" dirty="0" err="1">
                  <a:solidFill>
                    <a:srgbClr val="992677"/>
                  </a:solidFill>
                  <a:latin typeface="Times New Roman" panose="02020603050405020304" pitchFamily="18" charset="0"/>
                </a:rPr>
                <a:t>n</a:t>
              </a:r>
              <a:r>
                <a:rPr lang="en-US" altLang="zh-CN" sz="2400" b="1" kern="0" dirty="0">
                  <a:latin typeface="黑体" panose="02010609060101010101" pitchFamily="49" charset="-122"/>
                  <a:ea typeface="黑体" panose="02010609060101010101" pitchFamily="49" charset="-122"/>
                </a:rPr>
                <a:t>:</a:t>
              </a:r>
              <a:r>
                <a:rPr lang="en-US" altLang="zh-CN" sz="2800" b="1" kern="0" dirty="0">
                  <a:latin typeface="Times New Roman" panose="02020603050405020304" pitchFamily="18" charset="0"/>
                </a:rPr>
                <a:t> </a:t>
              </a:r>
              <a:r>
                <a:rPr lang="zh-CN" altLang="en-US" sz="2400" b="1" kern="0" dirty="0">
                  <a:latin typeface="黑体" panose="02010609060101010101" pitchFamily="49" charset="-122"/>
                  <a:ea typeface="黑体" panose="02010609060101010101" pitchFamily="49" charset="-122"/>
                </a:rPr>
                <a:t>每个顶点都与其余顶点相邻的</a:t>
              </a:r>
              <a:r>
                <a:rPr lang="en-US" altLang="zh-CN" sz="2800" b="1" i="1" kern="0" dirty="0">
                  <a:latin typeface="Times New Roman" panose="02020603050405020304" pitchFamily="18" charset="0"/>
                </a:rPr>
                <a:t>n</a:t>
              </a:r>
              <a:r>
                <a:rPr lang="zh-CN" altLang="en-US" sz="2400" b="1" kern="0" dirty="0">
                  <a:latin typeface="黑体" panose="02010609060101010101" pitchFamily="49" charset="-122"/>
                  <a:ea typeface="黑体" panose="02010609060101010101" pitchFamily="49" charset="-122"/>
                </a:rPr>
                <a:t>阶无向简单图</a:t>
              </a:r>
              <a:r>
                <a:rPr lang="en-US" altLang="zh-CN" sz="2400" b="1" kern="0" dirty="0">
                  <a:latin typeface="黑体" panose="02010609060101010101" pitchFamily="49" charset="-122"/>
                  <a:ea typeface="黑体" panose="02010609060101010101" pitchFamily="49" charset="-122"/>
                </a:rPr>
                <a:t>.</a:t>
              </a:r>
            </a:p>
            <a:p>
              <a:pPr algn="just" eaLnBrk="1" hangingPunct="1">
                <a:buFont typeface="Wingdings" panose="05000000000000000000" pitchFamily="2" charset="2"/>
                <a:buNone/>
              </a:pPr>
              <a:r>
                <a:rPr lang="zh-CN" altLang="en-US" sz="2400" b="1" kern="0" dirty="0">
                  <a:latin typeface="黑体" panose="02010609060101010101" pitchFamily="49" charset="-122"/>
                  <a:ea typeface="黑体" panose="02010609060101010101" pitchFamily="49" charset="-122"/>
                </a:rPr>
                <a:t>简单性质</a:t>
              </a:r>
              <a:r>
                <a:rPr lang="en-US" altLang="zh-CN" sz="2400" b="1" kern="0" dirty="0">
                  <a:latin typeface="黑体" panose="02010609060101010101" pitchFamily="49" charset="-122"/>
                  <a:ea typeface="黑体" panose="02010609060101010101" pitchFamily="49" charset="-122"/>
                </a:rPr>
                <a:t>: </a:t>
              </a:r>
              <a:r>
                <a:rPr lang="zh-CN" altLang="en-US" sz="2400" b="1" kern="0" dirty="0">
                  <a:latin typeface="黑体" panose="02010609060101010101" pitchFamily="49" charset="-122"/>
                  <a:ea typeface="黑体" panose="02010609060101010101" pitchFamily="49" charset="-122"/>
                </a:rPr>
                <a:t>边数</a:t>
              </a:r>
              <a:r>
                <a:rPr lang="en-US" altLang="zh-CN" sz="2800" b="1" i="1" kern="0" dirty="0">
                  <a:latin typeface="Times New Roman" panose="02020603050405020304" pitchFamily="18" charset="0"/>
                </a:rPr>
                <a:t>m </a:t>
              </a:r>
              <a:r>
                <a:rPr lang="en-US" altLang="zh-CN" sz="2800" b="1" kern="0" dirty="0">
                  <a:latin typeface="Times New Roman" panose="02020603050405020304" pitchFamily="18" charset="0"/>
                </a:rPr>
                <a:t>= </a:t>
              </a:r>
              <a:r>
                <a:rPr lang="en-US" altLang="zh-CN" sz="2800" b="1" i="1" kern="0" dirty="0">
                  <a:latin typeface="Times New Roman" panose="02020603050405020304" pitchFamily="18" charset="0"/>
                </a:rPr>
                <a:t>n</a:t>
              </a:r>
              <a:r>
                <a:rPr lang="en-US" altLang="zh-CN" sz="2800" b="1" kern="0" dirty="0">
                  <a:latin typeface="Times New Roman" panose="02020603050405020304" pitchFamily="18" charset="0"/>
                </a:rPr>
                <a:t>(</a:t>
              </a:r>
              <a:r>
                <a:rPr lang="en-US" altLang="zh-CN" sz="2800" b="1" i="1" kern="0" dirty="0">
                  <a:latin typeface="Times New Roman" panose="02020603050405020304" pitchFamily="18" charset="0"/>
                </a:rPr>
                <a:t>n</a:t>
              </a:r>
              <a:r>
                <a:rPr lang="en-US" altLang="zh-CN" sz="2800" b="1" kern="0" dirty="0">
                  <a:latin typeface="Times New Roman" panose="02020603050405020304" pitchFamily="18" charset="0"/>
                </a:rPr>
                <a:t>-1)/2, </a:t>
              </a:r>
              <a:r>
                <a:rPr lang="en-US" altLang="zh-CN" sz="2800" b="1" i="1" kern="0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 </a:t>
              </a:r>
              <a:r>
                <a:rPr lang="en-US" altLang="zh-CN" sz="2800" b="1" kern="0" dirty="0">
                  <a:latin typeface="Times New Roman" panose="02020603050405020304" pitchFamily="18" charset="0"/>
                </a:rPr>
                <a:t>= </a:t>
              </a:r>
              <a:r>
                <a:rPr lang="en-US" altLang="zh-CN" sz="2800" b="1" i="1" kern="0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 </a:t>
              </a:r>
              <a:r>
                <a:rPr lang="en-US" altLang="zh-CN" sz="2800" b="1" kern="0" dirty="0">
                  <a:latin typeface="Times New Roman" panose="02020603050405020304" pitchFamily="18" charset="0"/>
                </a:rPr>
                <a:t>= </a:t>
              </a:r>
              <a:r>
                <a:rPr lang="en-US" altLang="zh-CN" sz="2800" b="1" i="1" kern="0" dirty="0">
                  <a:latin typeface="Times New Roman" panose="02020603050405020304" pitchFamily="18" charset="0"/>
                </a:rPr>
                <a:t>n</a:t>
              </a:r>
              <a:r>
                <a:rPr lang="en-US" altLang="zh-CN" sz="2800" b="1" kern="0" dirty="0">
                  <a:latin typeface="Times New Roman" panose="02020603050405020304" pitchFamily="18" charset="0"/>
                </a:rPr>
                <a:t>-1</a:t>
              </a:r>
            </a:p>
          </p:txBody>
        </p:sp>
        <p:sp>
          <p:nvSpPr>
            <p:cNvPr id="17" name="Text Box 6">
              <a:extLst>
                <a:ext uri="{FF2B5EF4-FFF2-40B4-BE49-F238E27FC236}">
                  <a16:creationId xmlns:a16="http://schemas.microsoft.com/office/drawing/2014/main" id="{00991D6E-2B9D-4887-B08F-7448C89ED9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81265" y="3055638"/>
              <a:ext cx="1428750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1" i="1">
                  <a:latin typeface="Times New Roman" panose="02020603050405020304" pitchFamily="18" charset="0"/>
                </a:rPr>
                <a:t>      </a:t>
              </a:r>
              <a:r>
                <a:rPr lang="en-US" altLang="zh-CN" sz="2000" b="1" i="1">
                  <a:latin typeface="Times New Roman" panose="02020603050405020304" pitchFamily="18" charset="0"/>
                </a:rPr>
                <a:t>K</a:t>
              </a:r>
              <a:r>
                <a:rPr lang="en-US" altLang="zh-CN" sz="2000" b="1" baseline="-25000">
                  <a:latin typeface="Times New Roman" panose="02020603050405020304" pitchFamily="18" charset="0"/>
                </a:rPr>
                <a:t>5</a:t>
              </a:r>
              <a:endParaRPr lang="en-US" altLang="zh-CN" sz="2000" b="1">
                <a:latin typeface="Times New Roman" panose="02020603050405020304" pitchFamily="18" charset="0"/>
              </a:endParaRPr>
            </a:p>
          </p:txBody>
        </p:sp>
        <p:pic>
          <p:nvPicPr>
            <p:cNvPr id="23" name="Picture 10" descr="14-5">
              <a:extLst>
                <a:ext uri="{FF2B5EF4-FFF2-40B4-BE49-F238E27FC236}">
                  <a16:creationId xmlns:a16="http://schemas.microsoft.com/office/drawing/2014/main" id="{5A7892FC-7A57-4AE7-AA4F-59AC35232C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724" r="75266"/>
            <a:stretch>
              <a:fillRect/>
            </a:stretch>
          </p:blipFill>
          <p:spPr bwMode="auto">
            <a:xfrm>
              <a:off x="9700315" y="1758650"/>
              <a:ext cx="1298575" cy="13096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443700BA-0E78-4CC4-9BD6-9BA661B681AA}"/>
              </a:ext>
            </a:extLst>
          </p:cNvPr>
          <p:cNvGrpSpPr/>
          <p:nvPr/>
        </p:nvGrpSpPr>
        <p:grpSpPr>
          <a:xfrm>
            <a:off x="457199" y="1500188"/>
            <a:ext cx="11362766" cy="4786312"/>
            <a:chOff x="457199" y="1500188"/>
            <a:chExt cx="11362766" cy="4786312"/>
          </a:xfrm>
        </p:grpSpPr>
        <p:sp>
          <p:nvSpPr>
            <p:cNvPr id="30" name="Rectangle 3">
              <a:extLst>
                <a:ext uri="{FF2B5EF4-FFF2-40B4-BE49-F238E27FC236}">
                  <a16:creationId xmlns:a16="http://schemas.microsoft.com/office/drawing/2014/main" id="{544C1286-5657-4E48-B239-0FDBEA3A75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199" y="1500188"/>
              <a:ext cx="10877909" cy="4786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algn="just" eaLnBrk="1" hangingPunct="1">
                <a:buFont typeface="Wingdings" panose="05000000000000000000" pitchFamily="2" charset="2"/>
                <a:buNone/>
              </a:pPr>
              <a:endParaRPr lang="en-US" altLang="zh-CN" sz="2800" b="1" i="1" kern="0" dirty="0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  <a:p>
              <a:pPr algn="just" eaLnBrk="1" hangingPunct="1">
                <a:buFont typeface="Wingdings" panose="05000000000000000000" pitchFamily="2" charset="2"/>
                <a:buNone/>
              </a:pPr>
              <a:endParaRPr lang="en-US" altLang="zh-CN" sz="2800" b="1" i="1" kern="0" dirty="0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  <a:p>
              <a:pPr algn="just" eaLnBrk="1" hangingPunct="1">
                <a:buFont typeface="Wingdings" panose="05000000000000000000" pitchFamily="2" charset="2"/>
                <a:buNone/>
              </a:pPr>
              <a:endParaRPr lang="en-US" altLang="zh-CN" sz="2800" b="1" i="1" kern="0" dirty="0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  <a:p>
              <a:pPr algn="just" eaLnBrk="1" hangingPunct="1">
                <a:buFont typeface="Wingdings" panose="05000000000000000000" pitchFamily="2" charset="2"/>
                <a:buNone/>
              </a:pPr>
              <a:endParaRPr lang="en-US" altLang="zh-CN" sz="2800" b="1" i="1" kern="0" dirty="0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  <a:p>
              <a:pPr algn="just" eaLnBrk="1" hangingPunct="1">
                <a:buFont typeface="Wingdings" panose="05000000000000000000" pitchFamily="2" charset="2"/>
                <a:buNone/>
              </a:pPr>
              <a:r>
                <a:rPr lang="en-US" altLang="zh-CN" sz="2400" b="1" i="1" kern="0" dirty="0">
                  <a:solidFill>
                    <a:srgbClr val="992677"/>
                  </a:solidFill>
                  <a:latin typeface="Times New Roman" panose="02020603050405020304" pitchFamily="18" charset="0"/>
                </a:rPr>
                <a:t>n</a:t>
              </a:r>
              <a:r>
                <a:rPr lang="zh-CN" altLang="en-US" sz="2400" b="1" kern="0" dirty="0">
                  <a:solidFill>
                    <a:srgbClr val="992677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阶有向完全图</a:t>
              </a:r>
              <a:r>
                <a:rPr lang="en-US" altLang="zh-CN" sz="2400" b="1" kern="0" dirty="0">
                  <a:latin typeface="黑体" panose="02010609060101010101" pitchFamily="49" charset="-122"/>
                  <a:ea typeface="黑体" panose="02010609060101010101" pitchFamily="49" charset="-122"/>
                </a:rPr>
                <a:t>: </a:t>
              </a:r>
              <a:r>
                <a:rPr lang="zh-CN" altLang="en-US" sz="2400" b="1" kern="0" dirty="0">
                  <a:latin typeface="黑体" panose="02010609060101010101" pitchFamily="49" charset="-122"/>
                  <a:ea typeface="黑体" panose="02010609060101010101" pitchFamily="49" charset="-122"/>
                </a:rPr>
                <a:t>每对顶点之间均有两条方向相反的有向边的</a:t>
              </a:r>
              <a:r>
                <a:rPr lang="en-US" altLang="zh-CN" sz="2800" b="1" i="1" kern="0" dirty="0">
                  <a:latin typeface="Times New Roman" panose="02020603050405020304" pitchFamily="18" charset="0"/>
                </a:rPr>
                <a:t>n</a:t>
              </a:r>
              <a:r>
                <a:rPr lang="zh-CN" altLang="en-US" sz="2400" b="1" kern="0" dirty="0">
                  <a:latin typeface="黑体" panose="02010609060101010101" pitchFamily="49" charset="-122"/>
                  <a:ea typeface="黑体" panose="02010609060101010101" pitchFamily="49" charset="-122"/>
                </a:rPr>
                <a:t>阶有向简单图</a:t>
              </a:r>
              <a:r>
                <a:rPr lang="en-US" altLang="zh-CN" sz="2400" b="1" kern="0" dirty="0">
                  <a:latin typeface="黑体" panose="02010609060101010101" pitchFamily="49" charset="-122"/>
                  <a:ea typeface="黑体" panose="02010609060101010101" pitchFamily="49" charset="-122"/>
                </a:rPr>
                <a:t>.</a:t>
              </a:r>
            </a:p>
            <a:p>
              <a:pPr algn="just" eaLnBrk="1" hangingPunct="1">
                <a:buFont typeface="Wingdings" panose="05000000000000000000" pitchFamily="2" charset="2"/>
                <a:buNone/>
              </a:pPr>
              <a:r>
                <a:rPr lang="zh-CN" altLang="en-US" sz="2400" b="1" kern="0" dirty="0">
                  <a:latin typeface="黑体" panose="02010609060101010101" pitchFamily="49" charset="-122"/>
                  <a:ea typeface="黑体" panose="02010609060101010101" pitchFamily="49" charset="-122"/>
                </a:rPr>
                <a:t>简单性质</a:t>
              </a:r>
              <a:r>
                <a:rPr lang="en-US" altLang="zh-CN" sz="2400" b="1" kern="0" dirty="0">
                  <a:latin typeface="黑体" panose="02010609060101010101" pitchFamily="49" charset="-122"/>
                  <a:ea typeface="黑体" panose="02010609060101010101" pitchFamily="49" charset="-122"/>
                </a:rPr>
                <a:t>: </a:t>
              </a:r>
              <a:r>
                <a:rPr lang="zh-CN" altLang="en-US" sz="2400" b="1" kern="0" dirty="0">
                  <a:latin typeface="黑体" panose="02010609060101010101" pitchFamily="49" charset="-122"/>
                  <a:ea typeface="黑体" panose="02010609060101010101" pitchFamily="49" charset="-122"/>
                </a:rPr>
                <a:t>边数</a:t>
              </a:r>
              <a:r>
                <a:rPr lang="en-US" altLang="zh-CN" sz="2800" b="1" i="1" kern="0" dirty="0">
                  <a:latin typeface="Times New Roman" panose="02020603050405020304" pitchFamily="18" charset="0"/>
                </a:rPr>
                <a:t>m</a:t>
              </a:r>
              <a:r>
                <a:rPr lang="en-US" altLang="zh-CN" sz="2800" b="1" kern="0" dirty="0">
                  <a:latin typeface="Times New Roman" panose="02020603050405020304" pitchFamily="18" charset="0"/>
                </a:rPr>
                <a:t>=</a:t>
              </a:r>
              <a:r>
                <a:rPr lang="en-US" altLang="zh-CN" sz="2800" b="1" i="1" kern="0" dirty="0">
                  <a:latin typeface="Times New Roman" panose="02020603050405020304" pitchFamily="18" charset="0"/>
                </a:rPr>
                <a:t>n</a:t>
              </a:r>
              <a:r>
                <a:rPr lang="en-US" altLang="zh-CN" sz="2800" b="1" kern="0" dirty="0">
                  <a:latin typeface="Times New Roman" panose="02020603050405020304" pitchFamily="18" charset="0"/>
                </a:rPr>
                <a:t>(</a:t>
              </a:r>
              <a:r>
                <a:rPr lang="en-US" altLang="zh-CN" sz="2800" b="1" i="1" kern="0" dirty="0">
                  <a:latin typeface="Times New Roman" panose="02020603050405020304" pitchFamily="18" charset="0"/>
                </a:rPr>
                <a:t>n</a:t>
              </a:r>
              <a:r>
                <a:rPr lang="en-US" altLang="zh-CN" sz="2800" b="1" kern="0" dirty="0">
                  <a:latin typeface="Times New Roman" panose="02020603050405020304" pitchFamily="18" charset="0"/>
                </a:rPr>
                <a:t>-1), </a:t>
              </a:r>
              <a:r>
                <a:rPr lang="en-US" altLang="zh-CN" sz="2800" b="1" i="1" kern="0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 </a:t>
              </a:r>
              <a:r>
                <a:rPr lang="en-US" altLang="zh-CN" sz="2800" b="1" kern="0" dirty="0">
                  <a:latin typeface="Times New Roman" panose="02020603050405020304" pitchFamily="18" charset="0"/>
                </a:rPr>
                <a:t>= </a:t>
              </a:r>
              <a:r>
                <a:rPr lang="en-US" altLang="zh-CN" sz="2800" b="1" i="1" kern="0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 </a:t>
              </a:r>
              <a:r>
                <a:rPr lang="en-US" altLang="zh-CN" sz="2800" b="1" kern="0" dirty="0">
                  <a:latin typeface="Times New Roman" panose="02020603050405020304" pitchFamily="18" charset="0"/>
                </a:rPr>
                <a:t>= 2(</a:t>
              </a:r>
              <a:r>
                <a:rPr lang="en-US" altLang="zh-CN" sz="2800" b="1" i="1" kern="0" dirty="0">
                  <a:latin typeface="Times New Roman" panose="02020603050405020304" pitchFamily="18" charset="0"/>
                </a:rPr>
                <a:t>n</a:t>
              </a:r>
              <a:r>
                <a:rPr lang="en-US" altLang="zh-CN" sz="2800" b="1" kern="0" dirty="0">
                  <a:latin typeface="Times New Roman" panose="02020603050405020304" pitchFamily="18" charset="0"/>
                </a:rPr>
                <a:t>-1), </a:t>
              </a:r>
            </a:p>
            <a:p>
              <a:pPr algn="just" eaLnBrk="1" hangingPunct="1">
                <a:buFont typeface="Wingdings" panose="05000000000000000000" pitchFamily="2" charset="2"/>
                <a:buNone/>
              </a:pPr>
              <a:r>
                <a:rPr lang="en-US" altLang="zh-CN" sz="2800" b="1" i="1" kern="0" dirty="0">
                  <a:latin typeface="Times New Roman" panose="02020603050405020304" pitchFamily="18" charset="0"/>
                  <a:sym typeface="Symbol" panose="05050102010706020507" pitchFamily="18" charset="2"/>
                </a:rPr>
                <a:t>                   </a:t>
              </a:r>
              <a:r>
                <a:rPr lang="en-US" altLang="zh-CN" sz="2800" b="1" i="1" kern="0" baseline="300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+ </a:t>
              </a:r>
              <a:r>
                <a:rPr lang="en-US" altLang="zh-CN" sz="2800" b="1" kern="0" dirty="0">
                  <a:latin typeface="Times New Roman" panose="02020603050405020304" pitchFamily="18" charset="0"/>
                </a:rPr>
                <a:t>= </a:t>
              </a:r>
              <a:r>
                <a:rPr lang="en-US" altLang="zh-CN" sz="2800" b="1" i="1" kern="0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</a:t>
              </a:r>
              <a:r>
                <a:rPr lang="en-US" altLang="zh-CN" sz="2800" b="1" i="1" kern="0" baseline="300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+ </a:t>
              </a:r>
              <a:r>
                <a:rPr lang="en-US" altLang="zh-CN" sz="2800" b="1" kern="0" dirty="0">
                  <a:latin typeface="Times New Roman" panose="02020603050405020304" pitchFamily="18" charset="0"/>
                </a:rPr>
                <a:t>= </a:t>
              </a:r>
              <a:r>
                <a:rPr lang="en-US" altLang="zh-CN" sz="2800" b="1" i="1" kern="0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</a:t>
              </a:r>
              <a:r>
                <a:rPr lang="en-US" altLang="zh-CN" sz="2800" b="1" i="1" kern="0" baseline="300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- </a:t>
              </a:r>
              <a:r>
                <a:rPr lang="en-US" altLang="zh-CN" sz="2800" b="1" kern="0" dirty="0">
                  <a:latin typeface="Times New Roman" panose="02020603050405020304" pitchFamily="18" charset="0"/>
                </a:rPr>
                <a:t>= </a:t>
              </a:r>
              <a:r>
                <a:rPr lang="en-US" altLang="zh-CN" sz="2800" b="1" i="1" kern="0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</a:t>
              </a:r>
              <a:r>
                <a:rPr lang="en-US" altLang="zh-CN" sz="2800" b="1" i="1" kern="0" baseline="300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- </a:t>
              </a:r>
              <a:r>
                <a:rPr lang="en-US" altLang="zh-CN" sz="2800" b="1" kern="0" dirty="0">
                  <a:latin typeface="Times New Roman" panose="02020603050405020304" pitchFamily="18" charset="0"/>
                </a:rPr>
                <a:t>= </a:t>
              </a:r>
              <a:r>
                <a:rPr lang="en-US" altLang="zh-CN" sz="2800" b="1" i="1" kern="0" dirty="0">
                  <a:latin typeface="Times New Roman" panose="02020603050405020304" pitchFamily="18" charset="0"/>
                </a:rPr>
                <a:t>n</a:t>
              </a:r>
              <a:r>
                <a:rPr lang="en-US" altLang="zh-CN" sz="2800" b="1" kern="0" dirty="0">
                  <a:latin typeface="Times New Roman" panose="02020603050405020304" pitchFamily="18" charset="0"/>
                </a:rPr>
                <a:t>-1</a:t>
              </a:r>
            </a:p>
          </p:txBody>
        </p:sp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E9E07326-87FF-402E-8A18-6D82E786BFB2}"/>
                </a:ext>
              </a:extLst>
            </p:cNvPr>
            <p:cNvGrpSpPr/>
            <p:nvPr/>
          </p:nvGrpSpPr>
          <p:grpSpPr>
            <a:xfrm>
              <a:off x="9700315" y="4206575"/>
              <a:ext cx="2119650" cy="1636773"/>
              <a:chOff x="9700315" y="4206575"/>
              <a:chExt cx="2119650" cy="1636773"/>
            </a:xfrm>
          </p:grpSpPr>
          <p:sp>
            <p:nvSpPr>
              <p:cNvPr id="32" name="Text Box 7">
                <a:extLst>
                  <a:ext uri="{FF2B5EF4-FFF2-40B4-BE49-F238E27FC236}">
                    <a16:creationId xmlns:a16="http://schemas.microsoft.com/office/drawing/2014/main" id="{8C729687-9260-4406-8868-971BE8AB7D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700315" y="5443238"/>
                <a:ext cx="211965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3</a:t>
                </a:r>
                <a:r>
                  <a:rPr lang="zh-CN" altLang="en-US" sz="20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阶有向完全图</a:t>
                </a:r>
                <a:endParaRPr lang="en-US" altLang="zh-CN" sz="20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pic>
            <p:nvPicPr>
              <p:cNvPr id="33" name="Picture 10" descr="14-5">
                <a:extLst>
                  <a:ext uri="{FF2B5EF4-FFF2-40B4-BE49-F238E27FC236}">
                    <a16:creationId xmlns:a16="http://schemas.microsoft.com/office/drawing/2014/main" id="{8D892A04-9986-46FB-8C5D-6B51C7AC456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7643" t="13966" r="36549"/>
              <a:stretch>
                <a:fillRect/>
              </a:stretch>
            </p:blipFill>
            <p:spPr bwMode="auto">
              <a:xfrm>
                <a:off x="9700315" y="4206575"/>
                <a:ext cx="1147762" cy="10937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sp>
        <p:nvSpPr>
          <p:cNvPr id="34" name="文本框 33">
            <a:extLst>
              <a:ext uri="{FF2B5EF4-FFF2-40B4-BE49-F238E27FC236}">
                <a16:creationId xmlns:a16="http://schemas.microsoft.com/office/drawing/2014/main" id="{77F9FC13-33AB-467D-B809-F619E1358D0C}"/>
              </a:ext>
            </a:extLst>
          </p:cNvPr>
          <p:cNvSpPr txBox="1"/>
          <p:nvPr/>
        </p:nvSpPr>
        <p:spPr>
          <a:xfrm>
            <a:off x="399945" y="949038"/>
            <a:ext cx="20198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无向图与有向图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45B3A83B-7D87-4EDE-A5F9-BC1E26E43173}"/>
              </a:ext>
            </a:extLst>
          </p:cNvPr>
          <p:cNvSpPr txBox="1"/>
          <p:nvPr/>
        </p:nvSpPr>
        <p:spPr>
          <a:xfrm>
            <a:off x="2854684" y="949038"/>
            <a:ext cx="15446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顶点的度数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5AD4698E-5E26-4BD0-A21D-DBCC4CCF757D}"/>
              </a:ext>
            </a:extLst>
          </p:cNvPr>
          <p:cNvSpPr txBox="1"/>
          <p:nvPr/>
        </p:nvSpPr>
        <p:spPr>
          <a:xfrm>
            <a:off x="4650790" y="949038"/>
            <a:ext cx="12188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握手定理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5A52CA24-181D-4EC3-B163-AB5B804583AC}"/>
              </a:ext>
            </a:extLst>
          </p:cNvPr>
          <p:cNvSpPr txBox="1"/>
          <p:nvPr/>
        </p:nvSpPr>
        <p:spPr>
          <a:xfrm>
            <a:off x="6248494" y="949038"/>
            <a:ext cx="10069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简单图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283F8EFD-2335-4A09-B3BD-2A6BC6DA7990}"/>
              </a:ext>
            </a:extLst>
          </p:cNvPr>
          <p:cNvSpPr txBox="1"/>
          <p:nvPr/>
        </p:nvSpPr>
        <p:spPr>
          <a:xfrm>
            <a:off x="7615690" y="949038"/>
            <a:ext cx="9580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完全图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95A80B84-3C0E-41B2-975D-94AF71EDF89C}"/>
              </a:ext>
            </a:extLst>
          </p:cNvPr>
          <p:cNvSpPr txBox="1"/>
          <p:nvPr/>
        </p:nvSpPr>
        <p:spPr>
          <a:xfrm>
            <a:off x="9008092" y="949038"/>
            <a:ext cx="7596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子图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4A249397-AF59-4A42-86C0-2B1F31E749BE}"/>
              </a:ext>
            </a:extLst>
          </p:cNvPr>
          <p:cNvSpPr txBox="1"/>
          <p:nvPr/>
        </p:nvSpPr>
        <p:spPr>
          <a:xfrm>
            <a:off x="10113046" y="949038"/>
            <a:ext cx="10069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补图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BD2734FC-EBC1-4956-B96B-BFC542ED619C}"/>
              </a:ext>
            </a:extLst>
          </p:cNvPr>
          <p:cNvSpPr txBox="1"/>
          <p:nvPr/>
        </p:nvSpPr>
        <p:spPr>
          <a:xfrm>
            <a:off x="11152964" y="949038"/>
            <a:ext cx="7745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同构</a:t>
            </a:r>
          </a:p>
        </p:txBody>
      </p:sp>
    </p:spTree>
    <p:extLst>
      <p:ext uri="{BB962C8B-B14F-4D97-AF65-F5344CB8AC3E}">
        <p14:creationId xmlns:p14="http://schemas.microsoft.com/office/powerpoint/2010/main" val="1568254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5.1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无向图及有向图</a:t>
            </a:r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478E307A-8512-4501-AE4E-9553F05879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204" y="1440612"/>
            <a:ext cx="11211853" cy="1154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5.8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 设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G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=&lt;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kern="0" dirty="0" err="1">
                <a:latin typeface="Times New Roman" panose="02020603050405020304" pitchFamily="18" charset="0"/>
              </a:rPr>
              <a:t>,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E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&gt;, 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G </a:t>
            </a:r>
            <a:r>
              <a:rPr lang="en-US" altLang="zh-CN" sz="2400" b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=&lt;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V </a:t>
            </a:r>
            <a:r>
              <a:rPr lang="en-US" altLang="zh-CN" sz="2400" b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,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E </a:t>
            </a:r>
            <a:r>
              <a:rPr lang="en-US" altLang="zh-CN" sz="2400" b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&gt;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是两个图</a:t>
            </a:r>
          </a:p>
          <a:p>
            <a:pPr algn="just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b="1" kern="0" dirty="0">
                <a:latin typeface="Times New Roman" panose="02020603050405020304" pitchFamily="18" charset="0"/>
              </a:rPr>
              <a:t>(1)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V </a:t>
            </a:r>
            <a:r>
              <a:rPr lang="en-US" altLang="zh-CN" sz="2400" b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</a:t>
            </a:r>
            <a:r>
              <a:rPr lang="en-US" altLang="zh-CN" sz="2400" b="1" i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且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E </a:t>
            </a:r>
            <a:r>
              <a:rPr lang="en-US" altLang="zh-CN" sz="2400" b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</a:t>
            </a:r>
            <a:r>
              <a:rPr lang="en-US" altLang="zh-CN" sz="2400" b="1" i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，则称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G </a:t>
            </a:r>
            <a:r>
              <a:rPr lang="en-US" altLang="zh-CN" sz="2400" b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G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子图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G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G </a:t>
            </a:r>
            <a:r>
              <a:rPr lang="en-US" altLang="zh-CN" sz="2400" b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母图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记作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G </a:t>
            </a:r>
            <a:r>
              <a:rPr lang="en-US" altLang="zh-CN" sz="2400" b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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G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FAFE11C-E8B9-464B-A0CC-FFD70F7719B5}"/>
              </a:ext>
            </a:extLst>
          </p:cNvPr>
          <p:cNvSpPr txBox="1"/>
          <p:nvPr/>
        </p:nvSpPr>
        <p:spPr>
          <a:xfrm>
            <a:off x="399945" y="949038"/>
            <a:ext cx="20198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无向图与有向图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16F46DA-A79A-4ADB-8928-A2EC8F1B4225}"/>
              </a:ext>
            </a:extLst>
          </p:cNvPr>
          <p:cNvSpPr txBox="1"/>
          <p:nvPr/>
        </p:nvSpPr>
        <p:spPr>
          <a:xfrm>
            <a:off x="2854684" y="949038"/>
            <a:ext cx="15446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顶点的度数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596A8DB-3A3E-4247-A3F9-5306131CA47B}"/>
              </a:ext>
            </a:extLst>
          </p:cNvPr>
          <p:cNvSpPr txBox="1"/>
          <p:nvPr/>
        </p:nvSpPr>
        <p:spPr>
          <a:xfrm>
            <a:off x="4650790" y="949038"/>
            <a:ext cx="12188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握手定理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4A07BB8-2172-4FD5-B5B8-B58EB152EB7E}"/>
              </a:ext>
            </a:extLst>
          </p:cNvPr>
          <p:cNvSpPr txBox="1"/>
          <p:nvPr/>
        </p:nvSpPr>
        <p:spPr>
          <a:xfrm>
            <a:off x="6248494" y="949038"/>
            <a:ext cx="10069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简单图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022F59E-8B43-4D49-9ED9-CCEE276F5901}"/>
              </a:ext>
            </a:extLst>
          </p:cNvPr>
          <p:cNvSpPr txBox="1"/>
          <p:nvPr/>
        </p:nvSpPr>
        <p:spPr>
          <a:xfrm>
            <a:off x="7615690" y="949038"/>
            <a:ext cx="9580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完全图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9C05E44-9FAF-4BDE-BB95-64A28510B41F}"/>
              </a:ext>
            </a:extLst>
          </p:cNvPr>
          <p:cNvSpPr txBox="1"/>
          <p:nvPr/>
        </p:nvSpPr>
        <p:spPr>
          <a:xfrm>
            <a:off x="9008092" y="949038"/>
            <a:ext cx="7596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子图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3825DE5-2B24-4C22-9DBF-D8C489CB9BF7}"/>
              </a:ext>
            </a:extLst>
          </p:cNvPr>
          <p:cNvSpPr txBox="1"/>
          <p:nvPr/>
        </p:nvSpPr>
        <p:spPr>
          <a:xfrm>
            <a:off x="10113046" y="949038"/>
            <a:ext cx="10069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补图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3FD19BF-FA99-4675-90AA-9FC76C1271C1}"/>
              </a:ext>
            </a:extLst>
          </p:cNvPr>
          <p:cNvSpPr txBox="1"/>
          <p:nvPr/>
        </p:nvSpPr>
        <p:spPr>
          <a:xfrm>
            <a:off x="11152964" y="949038"/>
            <a:ext cx="7745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同构</a:t>
            </a:r>
          </a:p>
        </p:txBody>
      </p:sp>
      <p:sp>
        <p:nvSpPr>
          <p:cNvPr id="26" name="Rectangle 3">
            <a:extLst>
              <a:ext uri="{FF2B5EF4-FFF2-40B4-BE49-F238E27FC236}">
                <a16:creationId xmlns:a16="http://schemas.microsoft.com/office/drawing/2014/main" id="{C1048158-F73B-4302-BC6E-7E8A848E33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204" y="2556726"/>
            <a:ext cx="11211853" cy="731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400" b="1" kern="0" dirty="0">
                <a:latin typeface="Times New Roman" panose="02020603050405020304" pitchFamily="18" charset="0"/>
              </a:rPr>
              <a:t>(2)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G </a:t>
            </a:r>
            <a:r>
              <a:rPr lang="en-US" altLang="zh-CN" sz="2400" b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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G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且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V </a:t>
            </a:r>
            <a:r>
              <a:rPr lang="en-US" altLang="zh-CN" sz="2400" b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=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V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，则称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G </a:t>
            </a:r>
            <a:r>
              <a:rPr lang="en-US" altLang="zh-CN" sz="2400" b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G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生成子图</a:t>
            </a: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39AF4E86-F04A-4F42-A71A-2215723B08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204" y="3128227"/>
            <a:ext cx="11211853" cy="6840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400" b="1" kern="0" dirty="0">
                <a:latin typeface="Times New Roman" panose="02020603050405020304" pitchFamily="18" charset="0"/>
              </a:rPr>
              <a:t>(3)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V </a:t>
            </a:r>
            <a:r>
              <a:rPr lang="en-US" altLang="zh-CN" sz="2400" b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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V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或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E </a:t>
            </a:r>
            <a:r>
              <a:rPr lang="en-US" altLang="zh-CN" sz="2400" b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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E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，称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G </a:t>
            </a:r>
            <a:r>
              <a:rPr lang="en-US" altLang="zh-CN" sz="2400" b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G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真子图</a:t>
            </a:r>
          </a:p>
        </p:txBody>
      </p:sp>
      <p:sp>
        <p:nvSpPr>
          <p:cNvPr id="28" name="Rectangle 3">
            <a:extLst>
              <a:ext uri="{FF2B5EF4-FFF2-40B4-BE49-F238E27FC236}">
                <a16:creationId xmlns:a16="http://schemas.microsoft.com/office/drawing/2014/main" id="{795AF0E7-8173-425B-86BE-AA924B04D3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204" y="3753514"/>
            <a:ext cx="11211853" cy="1423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b="1" kern="0" dirty="0">
                <a:latin typeface="Times New Roman" panose="02020603050405020304" pitchFamily="18" charset="0"/>
              </a:rPr>
              <a:t>(4)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V </a:t>
            </a:r>
            <a:r>
              <a:rPr lang="en-US" altLang="zh-CN" sz="2400" b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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V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且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V </a:t>
            </a:r>
            <a:r>
              <a:rPr lang="en-US" altLang="zh-CN" sz="2400" b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,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以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V </a:t>
            </a:r>
            <a:r>
              <a:rPr lang="en-US" altLang="zh-CN" sz="2400" b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为顶点集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以两端点都在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V </a:t>
            </a:r>
            <a:r>
              <a:rPr lang="en-US" altLang="zh-CN" sz="2400" b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中的所有边为边集的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G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的子图称作</a:t>
            </a:r>
            <a:r>
              <a:rPr lang="en-US" altLang="zh-CN" sz="2400" b="1" i="1" kern="0" dirty="0">
                <a:solidFill>
                  <a:srgbClr val="992677"/>
                </a:solidFill>
                <a:latin typeface="Times New Roman" panose="02020603050405020304" pitchFamily="18" charset="0"/>
              </a:rPr>
              <a:t>V </a:t>
            </a:r>
            <a:r>
              <a:rPr lang="en-US" altLang="zh-CN" sz="2400" b="1" kern="0" dirty="0">
                <a:solidFill>
                  <a:srgbClr val="992677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的导出子图</a:t>
            </a:r>
            <a:r>
              <a:rPr lang="zh-CN" altLang="en-US" sz="2800" b="1" kern="0" dirty="0">
                <a:latin typeface="Times New Roman" panose="02020603050405020304" pitchFamily="18" charset="0"/>
              </a:rPr>
              <a:t>，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记作 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G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[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V </a:t>
            </a:r>
            <a:r>
              <a:rPr lang="en-US" altLang="zh-CN" sz="2400" b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]</a:t>
            </a:r>
          </a:p>
        </p:txBody>
      </p:sp>
      <p:sp>
        <p:nvSpPr>
          <p:cNvPr id="29" name="Rectangle 3">
            <a:extLst>
              <a:ext uri="{FF2B5EF4-FFF2-40B4-BE49-F238E27FC236}">
                <a16:creationId xmlns:a16="http://schemas.microsoft.com/office/drawing/2014/main" id="{FDB3F628-38EC-4BF2-AC36-BD5B73E80D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204" y="5024250"/>
            <a:ext cx="11211853" cy="1060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400" b="1" kern="0" dirty="0">
                <a:latin typeface="Times New Roman" panose="02020603050405020304" pitchFamily="18" charset="0"/>
              </a:rPr>
              <a:t>(5)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E </a:t>
            </a:r>
            <a:r>
              <a:rPr lang="en-US" altLang="zh-CN" sz="2400" b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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E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且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E </a:t>
            </a:r>
            <a:r>
              <a:rPr lang="en-US" altLang="zh-CN" sz="2400" b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,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以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E </a:t>
            </a:r>
            <a:r>
              <a:rPr lang="en-US" altLang="zh-CN" sz="2400" b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为边集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以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E </a:t>
            </a:r>
            <a:r>
              <a:rPr lang="en-US" altLang="zh-CN" sz="2400" b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中边关联的所有顶点为顶点集的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G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的子图称作</a:t>
            </a:r>
            <a:r>
              <a:rPr lang="en-US" altLang="zh-CN" sz="2400" b="1" i="1" kern="0" dirty="0">
                <a:solidFill>
                  <a:srgbClr val="992677"/>
                </a:solidFill>
                <a:latin typeface="Times New Roman" panose="02020603050405020304" pitchFamily="18" charset="0"/>
              </a:rPr>
              <a:t>E </a:t>
            </a:r>
            <a:r>
              <a:rPr lang="en-US" altLang="zh-CN" sz="2400" b="1" kern="0" dirty="0">
                <a:solidFill>
                  <a:srgbClr val="992677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的导出子图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记作 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G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[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E </a:t>
            </a:r>
            <a:r>
              <a:rPr lang="en-US" altLang="zh-CN" sz="2400" b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]</a:t>
            </a:r>
            <a:r>
              <a:rPr lang="en-US" altLang="zh-CN" sz="2800" b="1" kern="0" dirty="0">
                <a:latin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51777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6" grpId="0"/>
      <p:bldP spid="27" grpId="0"/>
      <p:bldP spid="28" grpId="0"/>
      <p:bldP spid="2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5.1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无向图及有向图</a:t>
            </a:r>
          </a:p>
        </p:txBody>
      </p:sp>
      <p:sp>
        <p:nvSpPr>
          <p:cNvPr id="22" name="内容占位符 2">
            <a:extLst>
              <a:ext uri="{FF2B5EF4-FFF2-40B4-BE49-F238E27FC236}">
                <a16:creationId xmlns:a16="http://schemas.microsoft.com/office/drawing/2014/main" id="{0903842F-A49C-4D4C-A90A-51FF0FEB80FC}"/>
              </a:ext>
            </a:extLst>
          </p:cNvPr>
          <p:cNvSpPr txBox="1">
            <a:spLocks/>
          </p:cNvSpPr>
          <p:nvPr/>
        </p:nvSpPr>
        <p:spPr>
          <a:xfrm>
            <a:off x="767751" y="1928812"/>
            <a:ext cx="8229600" cy="4929188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zh-CN"/>
              <a:t>    </a:t>
            </a:r>
            <a:endParaRPr lang="zh-CN" altLang="en-US"/>
          </a:p>
        </p:txBody>
      </p:sp>
      <p:pic>
        <p:nvPicPr>
          <p:cNvPr id="23" name="图片 5" descr="7T3">
            <a:extLst>
              <a:ext uri="{FF2B5EF4-FFF2-40B4-BE49-F238E27FC236}">
                <a16:creationId xmlns:a16="http://schemas.microsoft.com/office/drawing/2014/main" id="{9B991CE6-05D3-4379-AC4E-B0EA14B113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42" r="22331" b="53836"/>
          <a:stretch>
            <a:fillRect/>
          </a:stretch>
        </p:blipFill>
        <p:spPr bwMode="auto">
          <a:xfrm>
            <a:off x="2500620" y="2196588"/>
            <a:ext cx="6429375" cy="2119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TextBox 6">
            <a:extLst>
              <a:ext uri="{FF2B5EF4-FFF2-40B4-BE49-F238E27FC236}">
                <a16:creationId xmlns:a16="http://schemas.microsoft.com/office/drawing/2014/main" id="{08A3029C-BE3C-456D-8DB4-E3BED47473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432" y="4211126"/>
            <a:ext cx="52863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CN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7">
            <a:extLst>
              <a:ext uri="{FF2B5EF4-FFF2-40B4-BE49-F238E27FC236}">
                <a16:creationId xmlns:a16="http://schemas.microsoft.com/office/drawing/2014/main" id="{EB98D53D-78C0-4D9F-916F-68B5B59277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9295" y="6316151"/>
            <a:ext cx="52863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8">
            <a:extLst>
              <a:ext uri="{FF2B5EF4-FFF2-40B4-BE49-F238E27FC236}">
                <a16:creationId xmlns:a16="http://schemas.microsoft.com/office/drawing/2014/main" id="{28ECE358-64F2-48C9-8E3D-C3CB54B1D6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8057" y="4173026"/>
            <a:ext cx="14287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[{</a:t>
            </a:r>
            <a:r>
              <a:rPr lang="en-US" altLang="zh-CN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}]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9">
            <a:extLst>
              <a:ext uri="{FF2B5EF4-FFF2-40B4-BE49-F238E27FC236}">
                <a16:creationId xmlns:a16="http://schemas.microsoft.com/office/drawing/2014/main" id="{3AC75267-F420-4804-9BDE-0617DE2E87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6932" y="4139688"/>
            <a:ext cx="20002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[{</a:t>
            </a:r>
            <a:r>
              <a:rPr lang="en-US" altLang="zh-CN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0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0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0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}]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CF6AC4D4-538C-439E-A0EB-7F946A991C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932" y="6282813"/>
            <a:ext cx="14287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[{</a:t>
            </a:r>
            <a:r>
              <a:rPr lang="en-US" altLang="zh-CN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0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0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}]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9" name="Picture 12" descr="D:\离散数学(范素珍)\tp\7T3a.tif">
            <a:extLst>
              <a:ext uri="{FF2B5EF4-FFF2-40B4-BE49-F238E27FC236}">
                <a16:creationId xmlns:a16="http://schemas.microsoft.com/office/drawing/2014/main" id="{1E001B6E-375B-4E4A-96CB-781348BFC7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33" t="53543" r="24486" b="11026"/>
          <a:stretch>
            <a:fillRect/>
          </a:stretch>
        </p:blipFill>
        <p:spPr bwMode="auto">
          <a:xfrm>
            <a:off x="2243445" y="4673088"/>
            <a:ext cx="668655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TextBox 10">
            <a:extLst>
              <a:ext uri="{FF2B5EF4-FFF2-40B4-BE49-F238E27FC236}">
                <a16:creationId xmlns:a16="http://schemas.microsoft.com/office/drawing/2014/main" id="{D5DC6BD9-1BF2-4202-85DD-6A60F6C7B7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1245" y="6282813"/>
            <a:ext cx="14287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[{</a:t>
            </a:r>
            <a:r>
              <a:rPr lang="en-US" altLang="zh-CN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}]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标题 1">
            <a:extLst>
              <a:ext uri="{FF2B5EF4-FFF2-40B4-BE49-F238E27FC236}">
                <a16:creationId xmlns:a16="http://schemas.microsoft.com/office/drawing/2014/main" id="{656DBA2B-006A-4438-96B4-D47238541639}"/>
              </a:ext>
            </a:extLst>
          </p:cNvPr>
          <p:cNvSpPr txBox="1">
            <a:spLocks/>
          </p:cNvSpPr>
          <p:nvPr/>
        </p:nvSpPr>
        <p:spPr>
          <a:xfrm>
            <a:off x="558021" y="1518249"/>
            <a:ext cx="8229600" cy="104298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导出子图实例</a:t>
            </a:r>
            <a:endParaRPr lang="zh-CN" altLang="en-US" sz="2400" b="1" dirty="0">
              <a:solidFill>
                <a:srgbClr val="992677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E3C793A-83F8-44A9-9F68-D57089CED226}"/>
              </a:ext>
            </a:extLst>
          </p:cNvPr>
          <p:cNvSpPr txBox="1"/>
          <p:nvPr/>
        </p:nvSpPr>
        <p:spPr>
          <a:xfrm>
            <a:off x="399945" y="949038"/>
            <a:ext cx="20198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无向图与有向图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A404A15-0CED-4CA1-84EB-E27CC84B7FD0}"/>
              </a:ext>
            </a:extLst>
          </p:cNvPr>
          <p:cNvSpPr txBox="1"/>
          <p:nvPr/>
        </p:nvSpPr>
        <p:spPr>
          <a:xfrm>
            <a:off x="2854684" y="949038"/>
            <a:ext cx="15446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顶点的度数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81D91C24-1209-4A3A-B361-085932765A9B}"/>
              </a:ext>
            </a:extLst>
          </p:cNvPr>
          <p:cNvSpPr txBox="1"/>
          <p:nvPr/>
        </p:nvSpPr>
        <p:spPr>
          <a:xfrm>
            <a:off x="4650790" y="949038"/>
            <a:ext cx="12188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握手定理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C96392B7-4CDE-4023-83DA-E16F1B99BCDC}"/>
              </a:ext>
            </a:extLst>
          </p:cNvPr>
          <p:cNvSpPr txBox="1"/>
          <p:nvPr/>
        </p:nvSpPr>
        <p:spPr>
          <a:xfrm>
            <a:off x="6248494" y="949038"/>
            <a:ext cx="10069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简单图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E3DA5541-0233-4ACC-974B-392CD22C1823}"/>
              </a:ext>
            </a:extLst>
          </p:cNvPr>
          <p:cNvSpPr txBox="1"/>
          <p:nvPr/>
        </p:nvSpPr>
        <p:spPr>
          <a:xfrm>
            <a:off x="7615690" y="949038"/>
            <a:ext cx="9580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完全图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7C77FDF4-03AD-48D4-805F-4C0F13691BA9}"/>
              </a:ext>
            </a:extLst>
          </p:cNvPr>
          <p:cNvSpPr txBox="1"/>
          <p:nvPr/>
        </p:nvSpPr>
        <p:spPr>
          <a:xfrm>
            <a:off x="9008092" y="949038"/>
            <a:ext cx="7596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子图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9C3419B5-F8AD-4788-BDFC-7901423EA6A9}"/>
              </a:ext>
            </a:extLst>
          </p:cNvPr>
          <p:cNvSpPr txBox="1"/>
          <p:nvPr/>
        </p:nvSpPr>
        <p:spPr>
          <a:xfrm>
            <a:off x="10113046" y="949038"/>
            <a:ext cx="10069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补图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70CEEAAD-38B8-40BF-9AE0-39FC9A55BAD1}"/>
              </a:ext>
            </a:extLst>
          </p:cNvPr>
          <p:cNvSpPr txBox="1"/>
          <p:nvPr/>
        </p:nvSpPr>
        <p:spPr>
          <a:xfrm>
            <a:off x="11152964" y="949038"/>
            <a:ext cx="7745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同构</a:t>
            </a:r>
          </a:p>
        </p:txBody>
      </p:sp>
    </p:spTree>
    <p:extLst>
      <p:ext uri="{BB962C8B-B14F-4D97-AF65-F5344CB8AC3E}">
        <p14:creationId xmlns:p14="http://schemas.microsoft.com/office/powerpoint/2010/main" val="723503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5.1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无向图及有向图</a:t>
            </a:r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D1EF4CF5-9F9C-4C82-8850-031DA4C0EE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722" y="2465292"/>
            <a:ext cx="8429625" cy="113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已知阶数，下面由边数确定度数列：</a:t>
            </a:r>
            <a:endParaRPr lang="en-US" altLang="zh-CN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    0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条边</a:t>
            </a: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</a:rPr>
              <a:t>0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度</a:t>
            </a:r>
            <a:r>
              <a:rPr lang="zh-CN" altLang="en-US" dirty="0">
                <a:latin typeface="Times New Roman" panose="02020603050405020304" pitchFamily="18" charset="0"/>
              </a:rPr>
              <a:t>）：</a:t>
            </a:r>
            <a:r>
              <a:rPr lang="en-US" altLang="zh-CN" dirty="0">
                <a:solidFill>
                  <a:srgbClr val="00B050"/>
                </a:solidFill>
                <a:latin typeface="Times New Roman" panose="02020603050405020304" pitchFamily="18" charset="0"/>
              </a:rPr>
              <a:t>0,0,0,0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2" name="Rectangle 2">
            <a:extLst>
              <a:ext uri="{FF2B5EF4-FFF2-40B4-BE49-F238E27FC236}">
                <a16:creationId xmlns:a16="http://schemas.microsoft.com/office/drawing/2014/main" id="{7045B7FD-9E07-47D2-BB28-C844857A69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547" y="3542963"/>
            <a:ext cx="8429625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    1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条边</a:t>
            </a: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度</a:t>
            </a:r>
            <a:r>
              <a:rPr lang="zh-CN" altLang="en-US" dirty="0">
                <a:latin typeface="Times New Roman" panose="02020603050405020304" pitchFamily="18" charset="0"/>
              </a:rPr>
              <a:t>）：</a:t>
            </a:r>
            <a:r>
              <a:rPr lang="en-US" altLang="zh-CN" dirty="0">
                <a:solidFill>
                  <a:srgbClr val="00B050"/>
                </a:solidFill>
                <a:latin typeface="Times New Roman" panose="02020603050405020304" pitchFamily="18" charset="0"/>
              </a:rPr>
              <a:t>1,1,0,0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3" name="Rectangle 2">
            <a:extLst>
              <a:ext uri="{FF2B5EF4-FFF2-40B4-BE49-F238E27FC236}">
                <a16:creationId xmlns:a16="http://schemas.microsoft.com/office/drawing/2014/main" id="{17D88FE0-BB1F-44FC-9A72-2D40714389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235" y="4066596"/>
            <a:ext cx="84296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条边</a:t>
            </a: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</a:rPr>
              <a:t>4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度</a:t>
            </a:r>
            <a:r>
              <a:rPr lang="zh-CN" altLang="en-US" dirty="0">
                <a:latin typeface="Times New Roman" panose="02020603050405020304" pitchFamily="18" charset="0"/>
              </a:rPr>
              <a:t>）：</a:t>
            </a:r>
            <a:r>
              <a:rPr lang="en-US" altLang="zh-CN" dirty="0">
                <a:solidFill>
                  <a:srgbClr val="992677"/>
                </a:solidFill>
                <a:latin typeface="Times New Roman" panose="02020603050405020304" pitchFamily="18" charset="0"/>
              </a:rPr>
              <a:t>3,1,0,0 (×); 2,2,0,0 (×); </a:t>
            </a:r>
            <a:r>
              <a:rPr lang="en-US" altLang="zh-CN" dirty="0">
                <a:solidFill>
                  <a:srgbClr val="00B050"/>
                </a:solidFill>
                <a:latin typeface="Times New Roman" panose="02020603050405020304" pitchFamily="18" charset="0"/>
              </a:rPr>
              <a:t>2,1,1,0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B050"/>
                </a:solidFill>
                <a:latin typeface="Times New Roman" panose="02020603050405020304" pitchFamily="18" charset="0"/>
              </a:rPr>
              <a:t>√</a:t>
            </a:r>
            <a:r>
              <a:rPr lang="en-US" altLang="zh-CN" dirty="0">
                <a:latin typeface="Times New Roman" panose="02020603050405020304" pitchFamily="18" charset="0"/>
              </a:rPr>
              <a:t>); </a:t>
            </a:r>
            <a:r>
              <a:rPr lang="en-US" altLang="zh-CN" dirty="0">
                <a:solidFill>
                  <a:srgbClr val="00B050"/>
                </a:solidFill>
                <a:latin typeface="Times New Roman" panose="02020603050405020304" pitchFamily="18" charset="0"/>
              </a:rPr>
              <a:t>1,1,1,1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B050"/>
                </a:solidFill>
                <a:latin typeface="Times New Roman" panose="02020603050405020304" pitchFamily="18" charset="0"/>
              </a:rPr>
              <a:t>√</a:t>
            </a:r>
            <a:r>
              <a:rPr lang="en-US" altLang="zh-CN" dirty="0">
                <a:latin typeface="Times New Roman" panose="02020603050405020304" pitchFamily="18" charset="0"/>
              </a:rPr>
              <a:t>)   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4" name="Rectangle 2">
            <a:extLst>
              <a:ext uri="{FF2B5EF4-FFF2-40B4-BE49-F238E27FC236}">
                <a16:creationId xmlns:a16="http://schemas.microsoft.com/office/drawing/2014/main" id="{9B0C0647-44CF-446C-89CA-09416C639E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235" y="4590230"/>
            <a:ext cx="10547380" cy="576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3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条边</a:t>
            </a: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</a:rPr>
              <a:t>6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度</a:t>
            </a:r>
            <a:r>
              <a:rPr lang="zh-CN" altLang="en-US" dirty="0">
                <a:latin typeface="Times New Roman" panose="02020603050405020304" pitchFamily="18" charset="0"/>
              </a:rPr>
              <a:t>）：</a:t>
            </a:r>
            <a:r>
              <a:rPr lang="en-US" altLang="zh-CN" dirty="0">
                <a:solidFill>
                  <a:srgbClr val="992677"/>
                </a:solidFill>
                <a:latin typeface="Times New Roman" panose="02020603050405020304" pitchFamily="18" charset="0"/>
              </a:rPr>
              <a:t>3,3,0,0 (×); 3,2,1,0 (×); </a:t>
            </a:r>
            <a:r>
              <a:rPr lang="en-US" altLang="zh-CN" dirty="0">
                <a:solidFill>
                  <a:srgbClr val="00B050"/>
                </a:solidFill>
                <a:latin typeface="Times New Roman" panose="02020603050405020304" pitchFamily="18" charset="0"/>
              </a:rPr>
              <a:t>3,1,1,1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B050"/>
                </a:solidFill>
                <a:latin typeface="Times New Roman" panose="02020603050405020304" pitchFamily="18" charset="0"/>
              </a:rPr>
              <a:t>√</a:t>
            </a:r>
            <a:r>
              <a:rPr lang="en-US" altLang="zh-CN" dirty="0">
                <a:latin typeface="Times New Roman" panose="02020603050405020304" pitchFamily="18" charset="0"/>
              </a:rPr>
              <a:t>); </a:t>
            </a:r>
            <a:r>
              <a:rPr lang="en-US" altLang="zh-CN" dirty="0">
                <a:solidFill>
                  <a:srgbClr val="00B050"/>
                </a:solidFill>
                <a:latin typeface="Times New Roman" panose="02020603050405020304" pitchFamily="18" charset="0"/>
              </a:rPr>
              <a:t>2,2,2,0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B050"/>
                </a:solidFill>
                <a:latin typeface="Times New Roman" panose="02020603050405020304" pitchFamily="18" charset="0"/>
              </a:rPr>
              <a:t>√</a:t>
            </a:r>
            <a:r>
              <a:rPr lang="en-US" altLang="zh-CN" dirty="0">
                <a:latin typeface="Times New Roman" panose="02020603050405020304" pitchFamily="18" charset="0"/>
              </a:rPr>
              <a:t>); </a:t>
            </a:r>
            <a:r>
              <a:rPr lang="en-US" altLang="zh-CN" dirty="0">
                <a:solidFill>
                  <a:srgbClr val="00B050"/>
                </a:solidFill>
                <a:latin typeface="Times New Roman" panose="02020603050405020304" pitchFamily="18" charset="0"/>
              </a:rPr>
              <a:t>2,2,1,1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B050"/>
                </a:solidFill>
                <a:latin typeface="Times New Roman" panose="02020603050405020304" pitchFamily="18" charset="0"/>
              </a:rPr>
              <a:t>√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5" name="Rectangle 2">
            <a:extLst>
              <a:ext uri="{FF2B5EF4-FFF2-40B4-BE49-F238E27FC236}">
                <a16:creationId xmlns:a16="http://schemas.microsoft.com/office/drawing/2014/main" id="{8BF5EF5D-F694-4F8D-81C7-F93EA83E4E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235" y="5113849"/>
            <a:ext cx="84296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4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条边</a:t>
            </a: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</a:rPr>
              <a:t>8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度</a:t>
            </a:r>
            <a:r>
              <a:rPr lang="zh-CN" altLang="en-US" dirty="0">
                <a:latin typeface="Times New Roman" panose="02020603050405020304" pitchFamily="18" charset="0"/>
              </a:rPr>
              <a:t>）：</a:t>
            </a:r>
            <a:r>
              <a:rPr lang="en-US" altLang="zh-CN" dirty="0">
                <a:solidFill>
                  <a:srgbClr val="992677"/>
                </a:solidFill>
                <a:latin typeface="Times New Roman" panose="02020603050405020304" pitchFamily="18" charset="0"/>
              </a:rPr>
              <a:t>3,3,2,0 (×); </a:t>
            </a:r>
            <a:r>
              <a:rPr lang="en-US" altLang="zh-CN" dirty="0">
                <a:solidFill>
                  <a:srgbClr val="00B050"/>
                </a:solidFill>
                <a:latin typeface="Times New Roman" panose="02020603050405020304" pitchFamily="18" charset="0"/>
              </a:rPr>
              <a:t>3,2,2,1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B050"/>
                </a:solidFill>
                <a:latin typeface="Times New Roman" panose="02020603050405020304" pitchFamily="18" charset="0"/>
              </a:rPr>
              <a:t>√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solidFill>
                  <a:srgbClr val="00B050"/>
                </a:solidFill>
                <a:latin typeface="Times New Roman" panose="02020603050405020304" pitchFamily="18" charset="0"/>
              </a:rPr>
              <a:t> ;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B050"/>
                </a:solidFill>
                <a:latin typeface="Times New Roman" panose="02020603050405020304" pitchFamily="18" charset="0"/>
              </a:rPr>
              <a:t>2,2,2,2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B050"/>
                </a:solidFill>
                <a:latin typeface="Times New Roman" panose="02020603050405020304" pitchFamily="18" charset="0"/>
              </a:rPr>
              <a:t>√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6" name="Rectangle 2">
            <a:extLst>
              <a:ext uri="{FF2B5EF4-FFF2-40B4-BE49-F238E27FC236}">
                <a16:creationId xmlns:a16="http://schemas.microsoft.com/office/drawing/2014/main" id="{93DFC779-1C43-4BAE-942F-74471E49A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235" y="5637483"/>
            <a:ext cx="84296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5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条边</a:t>
            </a: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</a:rPr>
              <a:t>10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度</a:t>
            </a:r>
            <a:r>
              <a:rPr lang="zh-CN" altLang="en-US" dirty="0">
                <a:latin typeface="Times New Roman" panose="02020603050405020304" pitchFamily="18" charset="0"/>
              </a:rPr>
              <a:t>）：</a:t>
            </a:r>
            <a:r>
              <a:rPr lang="en-US" altLang="zh-CN" dirty="0">
                <a:solidFill>
                  <a:srgbClr val="992677"/>
                </a:solidFill>
                <a:latin typeface="Times New Roman" panose="02020603050405020304" pitchFamily="18" charset="0"/>
              </a:rPr>
              <a:t>3,3,3,1 (×); </a:t>
            </a:r>
            <a:r>
              <a:rPr lang="en-US" altLang="zh-CN" dirty="0">
                <a:solidFill>
                  <a:srgbClr val="00B050"/>
                </a:solidFill>
                <a:latin typeface="Times New Roman" panose="02020603050405020304" pitchFamily="18" charset="0"/>
              </a:rPr>
              <a:t>3,3,2,2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B050"/>
                </a:solidFill>
                <a:latin typeface="Times New Roman" panose="02020603050405020304" pitchFamily="18" charset="0"/>
              </a:rPr>
              <a:t>√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7" name="Rectangle 2">
            <a:extLst>
              <a:ext uri="{FF2B5EF4-FFF2-40B4-BE49-F238E27FC236}">
                <a16:creationId xmlns:a16="http://schemas.microsoft.com/office/drawing/2014/main" id="{9066E480-3F8A-4D80-8175-F3B97FB31B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235" y="6161117"/>
            <a:ext cx="84296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6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条边</a:t>
            </a: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</a:rPr>
              <a:t>12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度</a:t>
            </a:r>
            <a:r>
              <a:rPr lang="zh-CN" altLang="en-US" dirty="0">
                <a:latin typeface="Times New Roman" panose="02020603050405020304" pitchFamily="18" charset="0"/>
              </a:rPr>
              <a:t>）：</a:t>
            </a:r>
            <a:r>
              <a:rPr lang="en-US" altLang="zh-CN" dirty="0">
                <a:solidFill>
                  <a:srgbClr val="00B050"/>
                </a:solidFill>
                <a:latin typeface="Times New Roman" panose="02020603050405020304" pitchFamily="18" charset="0"/>
              </a:rPr>
              <a:t>3,3,3,3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B050"/>
                </a:solidFill>
                <a:latin typeface="Times New Roman" panose="02020603050405020304" pitchFamily="18" charset="0"/>
              </a:rPr>
              <a:t>√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8" name="Rectangle 3">
            <a:extLst>
              <a:ext uri="{FF2B5EF4-FFF2-40B4-BE49-F238E27FC236}">
                <a16:creationId xmlns:a16="http://schemas.microsoft.com/office/drawing/2014/main" id="{89DCB716-0715-4C21-B56E-BB7B539C34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924" y="2126408"/>
            <a:ext cx="10136038" cy="6685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 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K</a:t>
            </a:r>
            <a:r>
              <a:rPr kumimoji="0" lang="en-US" altLang="zh-CN" sz="2400" b="1" i="0" u="none" strike="noStrike" kern="0" cap="none" spc="0" normalizeH="0" baseline="-3000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4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的所有非同构的生成子图 </a:t>
            </a:r>
          </a:p>
        </p:txBody>
      </p:sp>
      <p:sp>
        <p:nvSpPr>
          <p:cNvPr id="39" name="Rectangle 2">
            <a:extLst>
              <a:ext uri="{FF2B5EF4-FFF2-40B4-BE49-F238E27FC236}">
                <a16:creationId xmlns:a16="http://schemas.microsoft.com/office/drawing/2014/main" id="{988AA007-6F51-447B-85F7-C9C3C47C8F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464" y="1475118"/>
            <a:ext cx="8229600" cy="47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生成子图实例</a:t>
            </a:r>
            <a:endParaRPr lang="en-US" altLang="zh-CN" sz="2400" b="1" kern="0" dirty="0">
              <a:solidFill>
                <a:srgbClr val="992677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2A5E8B0-6443-4526-B498-DCDCDC12A50C}"/>
              </a:ext>
            </a:extLst>
          </p:cNvPr>
          <p:cNvSpPr txBox="1"/>
          <p:nvPr/>
        </p:nvSpPr>
        <p:spPr>
          <a:xfrm>
            <a:off x="399945" y="949038"/>
            <a:ext cx="20198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无向图与有向图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1186867-24B9-4E50-A5CF-7CEB87B1DEAA}"/>
              </a:ext>
            </a:extLst>
          </p:cNvPr>
          <p:cNvSpPr txBox="1"/>
          <p:nvPr/>
        </p:nvSpPr>
        <p:spPr>
          <a:xfrm>
            <a:off x="2854684" y="949038"/>
            <a:ext cx="15446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顶点的度数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3A0B805-65B6-4AF1-9266-74855A95A301}"/>
              </a:ext>
            </a:extLst>
          </p:cNvPr>
          <p:cNvSpPr txBox="1"/>
          <p:nvPr/>
        </p:nvSpPr>
        <p:spPr>
          <a:xfrm>
            <a:off x="4650790" y="949038"/>
            <a:ext cx="12188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握手定理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6F553DF-8994-4B06-86A6-F4C50D73191B}"/>
              </a:ext>
            </a:extLst>
          </p:cNvPr>
          <p:cNvSpPr txBox="1"/>
          <p:nvPr/>
        </p:nvSpPr>
        <p:spPr>
          <a:xfrm>
            <a:off x="6248494" y="949038"/>
            <a:ext cx="10069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简单图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2C2BA3A-84AD-42F1-ACF2-75B7F49792D8}"/>
              </a:ext>
            </a:extLst>
          </p:cNvPr>
          <p:cNvSpPr txBox="1"/>
          <p:nvPr/>
        </p:nvSpPr>
        <p:spPr>
          <a:xfrm>
            <a:off x="7615690" y="949038"/>
            <a:ext cx="9580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完全图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213B4E7-5771-41E0-A940-3C6EE1E5C5D6}"/>
              </a:ext>
            </a:extLst>
          </p:cNvPr>
          <p:cNvSpPr txBox="1"/>
          <p:nvPr/>
        </p:nvSpPr>
        <p:spPr>
          <a:xfrm>
            <a:off x="9008092" y="949038"/>
            <a:ext cx="7596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子图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0DC6044-E84E-4D54-AAE5-7EFD667CBFC7}"/>
              </a:ext>
            </a:extLst>
          </p:cNvPr>
          <p:cNvSpPr txBox="1"/>
          <p:nvPr/>
        </p:nvSpPr>
        <p:spPr>
          <a:xfrm>
            <a:off x="10113046" y="949038"/>
            <a:ext cx="10069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补图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B1D43DD-5E70-41AE-95DE-E76785AEE70E}"/>
              </a:ext>
            </a:extLst>
          </p:cNvPr>
          <p:cNvSpPr txBox="1"/>
          <p:nvPr/>
        </p:nvSpPr>
        <p:spPr>
          <a:xfrm>
            <a:off x="11152964" y="949038"/>
            <a:ext cx="7745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同构</a:t>
            </a:r>
          </a:p>
        </p:txBody>
      </p:sp>
    </p:spTree>
    <p:extLst>
      <p:ext uri="{BB962C8B-B14F-4D97-AF65-F5344CB8AC3E}">
        <p14:creationId xmlns:p14="http://schemas.microsoft.com/office/powerpoint/2010/main" val="3916480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2" grpId="0"/>
      <p:bldP spid="33" grpId="0"/>
      <p:bldP spid="34" grpId="0"/>
      <p:bldP spid="35" grpId="0"/>
      <p:bldP spid="36" grpId="0"/>
      <p:bldP spid="3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5.1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无向图及有向图</a:t>
            </a:r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7B4519A7-93E5-4174-AED7-B4CDDF09D8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550" y="1764103"/>
            <a:ext cx="8229600" cy="3282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 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K</a:t>
            </a:r>
            <a:r>
              <a:rPr kumimoji="0" lang="en-US" altLang="zh-CN" sz="2400" b="1" i="0" u="none" strike="noStrike" kern="0" cap="none" spc="0" normalizeH="0" baseline="-3000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4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的所有非同构的生成子图 </a:t>
            </a:r>
          </a:p>
        </p:txBody>
      </p:sp>
      <p:pic>
        <p:nvPicPr>
          <p:cNvPr id="21" name="Picture 9" descr="14-6">
            <a:extLst>
              <a:ext uri="{FF2B5EF4-FFF2-40B4-BE49-F238E27FC236}">
                <a16:creationId xmlns:a16="http://schemas.microsoft.com/office/drawing/2014/main" id="{3A430EF9-E676-4417-84E5-F863C65116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333" y="2530656"/>
            <a:ext cx="8280400" cy="38084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22621733-8E93-47A7-8FE2-94B484C92973}"/>
              </a:ext>
            </a:extLst>
          </p:cNvPr>
          <p:cNvSpPr txBox="1"/>
          <p:nvPr/>
        </p:nvSpPr>
        <p:spPr>
          <a:xfrm>
            <a:off x="399945" y="949038"/>
            <a:ext cx="20198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无向图与有向图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7555959-4D9D-4322-BD88-F5DE854B380E}"/>
              </a:ext>
            </a:extLst>
          </p:cNvPr>
          <p:cNvSpPr txBox="1"/>
          <p:nvPr/>
        </p:nvSpPr>
        <p:spPr>
          <a:xfrm>
            <a:off x="2854684" y="949038"/>
            <a:ext cx="15446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顶点的度数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4E34A65-92B9-42CD-A7E1-7AF5085A0738}"/>
              </a:ext>
            </a:extLst>
          </p:cNvPr>
          <p:cNvSpPr txBox="1"/>
          <p:nvPr/>
        </p:nvSpPr>
        <p:spPr>
          <a:xfrm>
            <a:off x="4650790" y="949038"/>
            <a:ext cx="12188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握手定理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EF13003-E1E0-4DC6-B287-50C0C7E58DBA}"/>
              </a:ext>
            </a:extLst>
          </p:cNvPr>
          <p:cNvSpPr txBox="1"/>
          <p:nvPr/>
        </p:nvSpPr>
        <p:spPr>
          <a:xfrm>
            <a:off x="6248494" y="949038"/>
            <a:ext cx="10069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简单图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A8042E2-2355-4AE9-885D-83AAB0229915}"/>
              </a:ext>
            </a:extLst>
          </p:cNvPr>
          <p:cNvSpPr txBox="1"/>
          <p:nvPr/>
        </p:nvSpPr>
        <p:spPr>
          <a:xfrm>
            <a:off x="7615690" y="949038"/>
            <a:ext cx="9580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完全图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E8F3F88-D089-48C9-811C-1ADCC60EE5B6}"/>
              </a:ext>
            </a:extLst>
          </p:cNvPr>
          <p:cNvSpPr txBox="1"/>
          <p:nvPr/>
        </p:nvSpPr>
        <p:spPr>
          <a:xfrm>
            <a:off x="9008092" y="949038"/>
            <a:ext cx="7596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子图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F44701A-E846-4E14-BA0B-F0E1B4815164}"/>
              </a:ext>
            </a:extLst>
          </p:cNvPr>
          <p:cNvSpPr txBox="1"/>
          <p:nvPr/>
        </p:nvSpPr>
        <p:spPr>
          <a:xfrm>
            <a:off x="10113046" y="949038"/>
            <a:ext cx="10069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补图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2C42DB3-5E0A-4E89-8365-F2A203A1A83C}"/>
              </a:ext>
            </a:extLst>
          </p:cNvPr>
          <p:cNvSpPr txBox="1"/>
          <p:nvPr/>
        </p:nvSpPr>
        <p:spPr>
          <a:xfrm>
            <a:off x="11152964" y="949038"/>
            <a:ext cx="7745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同构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18ACAC2-BDCA-4131-A727-4C9FB3BC44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8126" y="3953153"/>
            <a:ext cx="3265629" cy="2359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100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5.1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无向图及有向图</a:t>
            </a:r>
          </a:p>
        </p:txBody>
      </p:sp>
      <p:sp>
        <p:nvSpPr>
          <p:cNvPr id="22" name="内容占位符 2">
            <a:extLst>
              <a:ext uri="{FF2B5EF4-FFF2-40B4-BE49-F238E27FC236}">
                <a16:creationId xmlns:a16="http://schemas.microsoft.com/office/drawing/2014/main" id="{0903842F-A49C-4D4C-A90A-51FF0FEB80FC}"/>
              </a:ext>
            </a:extLst>
          </p:cNvPr>
          <p:cNvSpPr txBox="1">
            <a:spLocks/>
          </p:cNvSpPr>
          <p:nvPr/>
        </p:nvSpPr>
        <p:spPr>
          <a:xfrm>
            <a:off x="767751" y="1928812"/>
            <a:ext cx="8229600" cy="4929188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zh-CN"/>
              <a:t>    </a:t>
            </a:r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616B736-5C1B-4FF9-AB60-2599E1CC8987}"/>
              </a:ext>
            </a:extLst>
          </p:cNvPr>
          <p:cNvGrpSpPr/>
          <p:nvPr/>
        </p:nvGrpSpPr>
        <p:grpSpPr>
          <a:xfrm>
            <a:off x="679959" y="1421262"/>
            <a:ext cx="11181362" cy="2447925"/>
            <a:chOff x="679959" y="1421262"/>
            <a:chExt cx="11181362" cy="2447925"/>
          </a:xfrm>
        </p:grpSpPr>
        <p:sp>
          <p:nvSpPr>
            <p:cNvPr id="34" name="Rectangle 3">
              <a:extLst>
                <a:ext uri="{FF2B5EF4-FFF2-40B4-BE49-F238E27FC236}">
                  <a16:creationId xmlns:a16="http://schemas.microsoft.com/office/drawing/2014/main" id="{2CD17FF5-D3AE-475D-956F-36679FC802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9959" y="1421262"/>
              <a:ext cx="11181362" cy="2447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9B3F1"/>
                </a:buClr>
                <a:buFont typeface="Wingdings" panose="05000000000000000000" pitchFamily="2" charset="2"/>
                <a:buChar char="•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–"/>
                <a:defRPr sz="2200">
                  <a:solidFill>
                    <a:schemeClr val="tx1"/>
                  </a:solidFill>
                  <a:latin typeface="+mn-lt"/>
                  <a:ea typeface="华文中宋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+mn-lt"/>
                  <a:ea typeface="华文中宋" pitchFamily="2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–"/>
                <a:defRPr sz="2200">
                  <a:solidFill>
                    <a:schemeClr val="tx1"/>
                  </a:solidFill>
                  <a:latin typeface="+mn-lt"/>
                  <a:ea typeface="华文中宋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200">
                  <a:solidFill>
                    <a:schemeClr val="tx1"/>
                  </a:solidFill>
                  <a:latin typeface="+mn-lt"/>
                  <a:ea typeface="华文中宋" pitchFamily="2" charset="-122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»"/>
                <a:defRPr sz="2200">
                  <a:solidFill>
                    <a:schemeClr val="tx1"/>
                  </a:solidFill>
                  <a:latin typeface="+mn-lt"/>
                  <a:ea typeface="华文中宋" pitchFamily="2" charset="-122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»"/>
                <a:defRPr sz="2200">
                  <a:solidFill>
                    <a:schemeClr val="tx1"/>
                  </a:solidFill>
                  <a:latin typeface="+mn-lt"/>
                  <a:ea typeface="华文中宋" pitchFamily="2" charset="-122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»"/>
                <a:defRPr sz="2200">
                  <a:solidFill>
                    <a:schemeClr val="tx1"/>
                  </a:solidFill>
                  <a:latin typeface="+mn-lt"/>
                  <a:ea typeface="华文中宋" pitchFamily="2" charset="-122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»"/>
                <a:defRPr sz="2200">
                  <a:solidFill>
                    <a:schemeClr val="tx1"/>
                  </a:solidFill>
                  <a:latin typeface="+mn-lt"/>
                  <a:ea typeface="华文中宋" pitchFamily="2" charset="-122"/>
                </a:defRPr>
              </a:lvl9pPr>
            </a:lstStyle>
            <a:p>
              <a:pPr marL="0" indent="0" eaLnBrk="1" hangingPunct="1">
                <a:lnSpc>
                  <a:spcPct val="120000"/>
                </a:lnSpc>
                <a:buFont typeface="Wingdings" panose="05000000000000000000" pitchFamily="2" charset="2"/>
                <a:buNone/>
              </a:pPr>
              <a:r>
                <a:rPr lang="zh-CN" altLang="zh-CN" kern="0" dirty="0">
                  <a:solidFill>
                    <a:srgbClr val="992677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定义</a:t>
              </a:r>
              <a:r>
                <a:rPr lang="en-US" altLang="zh-CN" kern="0" dirty="0">
                  <a:solidFill>
                    <a:srgbClr val="992677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5</a:t>
              </a:r>
              <a:r>
                <a:rPr lang="zh-CN" altLang="zh-CN" kern="0" dirty="0">
                  <a:solidFill>
                    <a:srgbClr val="992677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.9  </a:t>
              </a:r>
              <a:endParaRPr lang="en-US" altLang="zh-CN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marL="0" indent="0" eaLnBrk="1" hangingPunct="1">
                <a:lnSpc>
                  <a:spcPct val="150000"/>
                </a:lnSpc>
                <a:buFont typeface="Wingdings" panose="05000000000000000000" pitchFamily="2" charset="2"/>
                <a:buNone/>
              </a:pPr>
              <a:r>
                <a:rPr lang="zh-CN" altLang="zh-CN" kern="0" dirty="0">
                  <a:latin typeface="黑体" panose="02010609060101010101" pitchFamily="49" charset="-122"/>
                  <a:ea typeface="黑体" panose="02010609060101010101" pitchFamily="49" charset="-122"/>
                </a:rPr>
                <a:t>设</a:t>
              </a:r>
              <a:r>
                <a:rPr lang="zh-CN" altLang="zh-CN" i="1" kern="0" dirty="0">
                  <a:latin typeface="Times New Roman" panose="02020603050405020304" pitchFamily="18" charset="0"/>
                </a:rPr>
                <a:t>G</a:t>
              </a:r>
              <a:r>
                <a:rPr lang="zh-CN" altLang="zh-CN" kern="0" dirty="0">
                  <a:latin typeface="Times New Roman" panose="02020603050405020304" pitchFamily="18" charset="0"/>
                </a:rPr>
                <a:t>=&lt;</a:t>
              </a:r>
              <a:r>
                <a:rPr lang="zh-CN" altLang="zh-CN" i="1" kern="0" dirty="0">
                  <a:latin typeface="Times New Roman" panose="02020603050405020304" pitchFamily="18" charset="0"/>
                </a:rPr>
                <a:t>V</a:t>
              </a:r>
              <a:r>
                <a:rPr lang="zh-CN" altLang="zh-CN" kern="0" dirty="0">
                  <a:latin typeface="Times New Roman" panose="02020603050405020304" pitchFamily="18" charset="0"/>
                </a:rPr>
                <a:t>,</a:t>
              </a:r>
              <a:r>
                <a:rPr lang="zh-CN" altLang="zh-CN" i="1" kern="0" dirty="0">
                  <a:latin typeface="Times New Roman" panose="02020603050405020304" pitchFamily="18" charset="0"/>
                </a:rPr>
                <a:t>E</a:t>
              </a:r>
              <a:r>
                <a:rPr lang="zh-CN" altLang="zh-CN" kern="0" dirty="0">
                  <a:latin typeface="Times New Roman" panose="02020603050405020304" pitchFamily="18" charset="0"/>
                </a:rPr>
                <a:t>&gt;</a:t>
              </a:r>
              <a:r>
                <a:rPr lang="zh-CN" altLang="zh-CN" kern="0" dirty="0">
                  <a:latin typeface="黑体" panose="02010609060101010101" pitchFamily="49" charset="-122"/>
                  <a:ea typeface="黑体" panose="02010609060101010101" pitchFamily="49" charset="-122"/>
                </a:rPr>
                <a:t>为</a:t>
              </a:r>
              <a:r>
                <a:rPr lang="zh-CN" altLang="zh-CN" i="1" kern="0" dirty="0">
                  <a:latin typeface="Times New Roman" panose="02020603050405020304" pitchFamily="18" charset="0"/>
                </a:rPr>
                <a:t>n</a:t>
              </a:r>
              <a:r>
                <a:rPr lang="zh-CN" altLang="zh-CN" kern="0" dirty="0">
                  <a:latin typeface="黑体" panose="02010609060101010101" pitchFamily="49" charset="-122"/>
                  <a:ea typeface="黑体" panose="02010609060101010101" pitchFamily="49" charset="-122"/>
                </a:rPr>
                <a:t>阶无向简单图，以</a:t>
              </a:r>
              <a:r>
                <a:rPr lang="zh-CN" altLang="zh-CN" i="1" kern="0" dirty="0">
                  <a:latin typeface="Times New Roman" panose="02020603050405020304" pitchFamily="18" charset="0"/>
                </a:rPr>
                <a:t>V</a:t>
              </a:r>
              <a:r>
                <a:rPr lang="zh-CN" altLang="zh-CN" kern="0" dirty="0">
                  <a:latin typeface="黑体" panose="02010609060101010101" pitchFamily="49" charset="-122"/>
                  <a:ea typeface="黑体" panose="02010609060101010101" pitchFamily="49" charset="-122"/>
                </a:rPr>
                <a:t>为顶点集，以所有使</a:t>
              </a:r>
              <a:r>
                <a:rPr lang="zh-CN" altLang="zh-CN" i="1" kern="0" dirty="0">
                  <a:latin typeface="Times New Roman" panose="02020603050405020304" pitchFamily="18" charset="0"/>
                </a:rPr>
                <a:t>G</a:t>
              </a:r>
              <a:r>
                <a:rPr lang="zh-CN" altLang="zh-CN" kern="0" dirty="0">
                  <a:latin typeface="黑体" panose="02010609060101010101" pitchFamily="49" charset="-122"/>
                  <a:ea typeface="黑体" panose="02010609060101010101" pitchFamily="49" charset="-122"/>
                </a:rPr>
                <a:t>成为完全图</a:t>
              </a:r>
              <a:r>
                <a:rPr lang="zh-CN" altLang="zh-CN" i="1" kern="0" dirty="0">
                  <a:latin typeface="Times New Roman" panose="02020603050405020304" pitchFamily="18" charset="0"/>
                </a:rPr>
                <a:t>K</a:t>
              </a:r>
              <a:r>
                <a:rPr lang="zh-CN" altLang="zh-CN" i="1" kern="0" baseline="-25000" dirty="0">
                  <a:latin typeface="Times New Roman" panose="02020603050405020304" pitchFamily="18" charset="0"/>
                </a:rPr>
                <a:t>n</a:t>
              </a:r>
              <a:r>
                <a:rPr lang="zh-CN" altLang="zh-CN" kern="0" dirty="0">
                  <a:latin typeface="黑体" panose="02010609060101010101" pitchFamily="49" charset="-122"/>
                  <a:ea typeface="黑体" panose="02010609060101010101" pitchFamily="49" charset="-122"/>
                </a:rPr>
                <a:t>的添加边组成的集合为边集的图，称为</a:t>
              </a:r>
              <a:r>
                <a:rPr lang="zh-CN" altLang="zh-CN" i="1" kern="0" dirty="0">
                  <a:latin typeface="Times New Roman" panose="02020603050405020304" pitchFamily="18" charset="0"/>
                </a:rPr>
                <a:t>G</a:t>
              </a:r>
              <a:r>
                <a:rPr lang="zh-CN" altLang="zh-CN" kern="0" dirty="0">
                  <a:latin typeface="黑体" panose="02010609060101010101" pitchFamily="49" charset="-122"/>
                  <a:ea typeface="黑体" panose="02010609060101010101" pitchFamily="49" charset="-122"/>
                </a:rPr>
                <a:t>的</a:t>
              </a:r>
              <a:r>
                <a:rPr lang="zh-CN" altLang="zh-CN" kern="0" dirty="0">
                  <a:solidFill>
                    <a:srgbClr val="992677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补图</a:t>
              </a:r>
              <a:r>
                <a:rPr lang="zh-CN" altLang="zh-CN" kern="0" dirty="0">
                  <a:latin typeface="黑体" panose="02010609060101010101" pitchFamily="49" charset="-122"/>
                  <a:ea typeface="黑体" panose="02010609060101010101" pitchFamily="49" charset="-122"/>
                </a:rPr>
                <a:t>，记作</a:t>
              </a:r>
              <a:r>
                <a:rPr lang="zh-CN" altLang="zh-CN" kern="0" dirty="0">
                  <a:latin typeface="Times New Roman" panose="02020603050405020304" pitchFamily="18" charset="0"/>
                </a:rPr>
                <a:t>     .</a:t>
              </a:r>
            </a:p>
            <a:p>
              <a:pPr marL="0" indent="0" eaLnBrk="1" hangingPunct="1">
                <a:lnSpc>
                  <a:spcPct val="120000"/>
                </a:lnSpc>
                <a:buFont typeface="Wingdings" panose="05000000000000000000" pitchFamily="2" charset="2"/>
                <a:buNone/>
              </a:pPr>
              <a:r>
                <a:rPr lang="zh-CN" altLang="zh-CN" kern="0" dirty="0">
                  <a:latin typeface="黑体" panose="02010609060101010101" pitchFamily="49" charset="-122"/>
                  <a:ea typeface="黑体" panose="02010609060101010101" pitchFamily="49" charset="-122"/>
                </a:rPr>
                <a:t>若</a:t>
              </a:r>
              <a:r>
                <a:rPr lang="zh-CN" altLang="zh-CN" i="1" kern="0" dirty="0">
                  <a:latin typeface="Times New Roman" panose="02020603050405020304" pitchFamily="18" charset="0"/>
                </a:rPr>
                <a:t>G</a:t>
              </a:r>
              <a:r>
                <a:rPr lang="en-US" altLang="zh-CN" i="1" kern="0" dirty="0">
                  <a:latin typeface="Times New Roman" panose="02020603050405020304" pitchFamily="18" charset="0"/>
                </a:rPr>
                <a:t> </a:t>
              </a:r>
              <a:r>
                <a:rPr lang="zh-CN" altLang="zh-CN" kern="0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      </a:t>
              </a:r>
              <a:r>
                <a:rPr lang="zh-CN" altLang="en-US" kern="0" dirty="0">
                  <a:latin typeface="Times New Roman" panose="02020603050405020304" pitchFamily="18" charset="0"/>
                  <a:sym typeface="Symbol" panose="05050102010706020507" pitchFamily="18" charset="2"/>
                </a:rPr>
                <a:t>（</a:t>
              </a:r>
              <a:r>
                <a:rPr lang="zh-CN" altLang="en-US" kern="0" dirty="0">
                  <a:latin typeface="黑体" panose="02010609060101010101" pitchFamily="49" charset="-122"/>
                  <a:ea typeface="黑体" panose="02010609060101010101" pitchFamily="49" charset="-122"/>
                  <a:sym typeface="Symbol" panose="05050102010706020507" pitchFamily="18" charset="2"/>
                </a:rPr>
                <a:t>二者同构</a:t>
              </a:r>
              <a:r>
                <a:rPr lang="zh-CN" altLang="en-US" kern="0" dirty="0">
                  <a:latin typeface="Times New Roman" panose="02020603050405020304" pitchFamily="18" charset="0"/>
                  <a:sym typeface="Symbol" panose="05050102010706020507" pitchFamily="18" charset="2"/>
                </a:rPr>
                <a:t>）</a:t>
              </a:r>
              <a:r>
                <a:rPr lang="zh-CN" altLang="zh-CN" kern="0" dirty="0">
                  <a:latin typeface="黑体" panose="02010609060101010101" pitchFamily="49" charset="-122"/>
                  <a:ea typeface="黑体" panose="02010609060101010101" pitchFamily="49" charset="-122"/>
                </a:rPr>
                <a:t>, 则称</a:t>
              </a:r>
              <a:r>
                <a:rPr lang="zh-CN" altLang="zh-CN" i="1" kern="0" dirty="0">
                  <a:latin typeface="Times New Roman" panose="02020603050405020304" pitchFamily="18" charset="0"/>
                </a:rPr>
                <a:t>G</a:t>
              </a:r>
              <a:r>
                <a:rPr lang="zh-CN" altLang="zh-CN" kern="0" dirty="0">
                  <a:latin typeface="黑体" panose="02010609060101010101" pitchFamily="49" charset="-122"/>
                  <a:ea typeface="黑体" panose="02010609060101010101" pitchFamily="49" charset="-122"/>
                </a:rPr>
                <a:t>是</a:t>
              </a:r>
              <a:r>
                <a:rPr lang="zh-CN" altLang="zh-CN" kern="0" dirty="0">
                  <a:solidFill>
                    <a:srgbClr val="992677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自补图</a:t>
              </a:r>
              <a:r>
                <a:rPr lang="zh-CN" altLang="zh-CN" kern="0" dirty="0">
                  <a:latin typeface="Times New Roman" panose="02020603050405020304" pitchFamily="18" charset="0"/>
                </a:rPr>
                <a:t>. </a:t>
              </a:r>
            </a:p>
            <a:p>
              <a:pPr marL="0" indent="0" eaLnBrk="1" hangingPunct="1">
                <a:lnSpc>
                  <a:spcPct val="120000"/>
                </a:lnSpc>
                <a:buFont typeface="Wingdings" panose="05000000000000000000" pitchFamily="2" charset="2"/>
                <a:buNone/>
              </a:pPr>
              <a:endParaRPr lang="en-US" altLang="zh-CN" kern="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marL="0" indent="0" eaLnBrk="1" hangingPunct="1">
                <a:lnSpc>
                  <a:spcPct val="120000"/>
                </a:lnSpc>
                <a:buFont typeface="Wingdings" panose="05000000000000000000" pitchFamily="2" charset="2"/>
                <a:buNone/>
              </a:pPr>
              <a:r>
                <a:rPr lang="zh-CN" altLang="zh-CN" kern="0" dirty="0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</a:p>
          </p:txBody>
        </p:sp>
        <p:graphicFrame>
          <p:nvGraphicFramePr>
            <p:cNvPr id="35" name="Object 5">
              <a:extLst>
                <a:ext uri="{FF2B5EF4-FFF2-40B4-BE49-F238E27FC236}">
                  <a16:creationId xmlns:a16="http://schemas.microsoft.com/office/drawing/2014/main" id="{ED6BC4EC-0770-4E7B-96B8-6E565911436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08895159"/>
                </p:ext>
              </p:extLst>
            </p:nvPr>
          </p:nvGraphicFramePr>
          <p:xfrm>
            <a:off x="6869485" y="2585477"/>
            <a:ext cx="466725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153869" imgH="205159" progId="Equation.3">
                    <p:embed/>
                  </p:oleObj>
                </mc:Choice>
                <mc:Fallback>
                  <p:oleObj r:id="rId3" imgW="153869" imgH="205159" progId="Equation.3">
                    <p:embed/>
                    <p:pic>
                      <p:nvPicPr>
                        <p:cNvPr id="35" name="Object 5">
                          <a:extLst>
                            <a:ext uri="{FF2B5EF4-FFF2-40B4-BE49-F238E27FC236}">
                              <a16:creationId xmlns:a16="http://schemas.microsoft.com/office/drawing/2014/main" id="{ED6BC4EC-0770-4E7B-96B8-6E565911436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69485" y="2585477"/>
                          <a:ext cx="466725" cy="431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" name="Object 7">
              <a:extLst>
                <a:ext uri="{FF2B5EF4-FFF2-40B4-BE49-F238E27FC236}">
                  <a16:creationId xmlns:a16="http://schemas.microsoft.com/office/drawing/2014/main" id="{ACE2EF28-1410-4E8A-80C0-27E7582B9CE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3600432"/>
                </p:ext>
              </p:extLst>
            </p:nvPr>
          </p:nvGraphicFramePr>
          <p:xfrm>
            <a:off x="1525724" y="3144288"/>
            <a:ext cx="511662" cy="4302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153869" imgH="205159" progId="Equation.3">
                    <p:embed/>
                  </p:oleObj>
                </mc:Choice>
                <mc:Fallback>
                  <p:oleObj r:id="rId5" imgW="153869" imgH="205159" progId="Equation.3">
                    <p:embed/>
                    <p:pic>
                      <p:nvPicPr>
                        <p:cNvPr id="36" name="Object 7">
                          <a:extLst>
                            <a:ext uri="{FF2B5EF4-FFF2-40B4-BE49-F238E27FC236}">
                              <a16:creationId xmlns:a16="http://schemas.microsoft.com/office/drawing/2014/main" id="{ACE2EF28-1410-4E8A-80C0-27E7582B9CE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25724" y="3144288"/>
                          <a:ext cx="511662" cy="4302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AACE8E94-320E-4EBA-9246-F892D6C8BB9A}"/>
              </a:ext>
            </a:extLst>
          </p:cNvPr>
          <p:cNvSpPr txBox="1"/>
          <p:nvPr/>
        </p:nvSpPr>
        <p:spPr>
          <a:xfrm>
            <a:off x="399945" y="949038"/>
            <a:ext cx="20198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无向图与有向图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BB20D63-EFE1-4DEB-907D-AB030D4191F7}"/>
              </a:ext>
            </a:extLst>
          </p:cNvPr>
          <p:cNvSpPr txBox="1"/>
          <p:nvPr/>
        </p:nvSpPr>
        <p:spPr>
          <a:xfrm>
            <a:off x="2854684" y="949038"/>
            <a:ext cx="15446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顶点的度数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7937E2D-A48A-454C-B5C6-510970234CB2}"/>
              </a:ext>
            </a:extLst>
          </p:cNvPr>
          <p:cNvSpPr txBox="1"/>
          <p:nvPr/>
        </p:nvSpPr>
        <p:spPr>
          <a:xfrm>
            <a:off x="4650790" y="949038"/>
            <a:ext cx="12188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握手定理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DE07317-63CA-4B04-A112-4D5C427C847D}"/>
              </a:ext>
            </a:extLst>
          </p:cNvPr>
          <p:cNvSpPr txBox="1"/>
          <p:nvPr/>
        </p:nvSpPr>
        <p:spPr>
          <a:xfrm>
            <a:off x="6248494" y="949038"/>
            <a:ext cx="10069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简单图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F707E23-802A-4495-A9F9-D4F08E776D6A}"/>
              </a:ext>
            </a:extLst>
          </p:cNvPr>
          <p:cNvSpPr txBox="1"/>
          <p:nvPr/>
        </p:nvSpPr>
        <p:spPr>
          <a:xfrm>
            <a:off x="7615690" y="949038"/>
            <a:ext cx="9580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完全图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6C2E777-413D-49EB-A05B-4CF9B0BB5656}"/>
              </a:ext>
            </a:extLst>
          </p:cNvPr>
          <p:cNvSpPr txBox="1"/>
          <p:nvPr/>
        </p:nvSpPr>
        <p:spPr>
          <a:xfrm>
            <a:off x="9008092" y="949038"/>
            <a:ext cx="7596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子图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9827B7D-D123-48A5-A93B-37CC35B9BC4F}"/>
              </a:ext>
            </a:extLst>
          </p:cNvPr>
          <p:cNvSpPr txBox="1"/>
          <p:nvPr/>
        </p:nvSpPr>
        <p:spPr>
          <a:xfrm>
            <a:off x="10113046" y="949038"/>
            <a:ext cx="10069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补图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0CD1098-8C2D-48AD-AEC2-CB7CB007C385}"/>
              </a:ext>
            </a:extLst>
          </p:cNvPr>
          <p:cNvSpPr txBox="1"/>
          <p:nvPr/>
        </p:nvSpPr>
        <p:spPr>
          <a:xfrm>
            <a:off x="11152964" y="949038"/>
            <a:ext cx="7745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同构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83D30C8-9535-47CE-A878-61BAA1C2C6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5122" y="4118252"/>
            <a:ext cx="8020890" cy="2046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145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5.1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无向图及有向图</a:t>
            </a: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C2D0D109-B23E-493F-832B-B3D1AABA44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134" y="2230437"/>
            <a:ext cx="11502219" cy="3488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G</a:t>
            </a:r>
            <a:r>
              <a:rPr lang="en-US" altLang="zh-CN" sz="2400" b="1" kern="0" baseline="-30000" dirty="0" err="1">
                <a:latin typeface="Times New Roman" panose="02020603050405020304" pitchFamily="18" charset="0"/>
              </a:rPr>
              <a:t>1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=&lt;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kern="0" baseline="-30000" dirty="0" err="1">
                <a:latin typeface="Times New Roman" panose="02020603050405020304" pitchFamily="18" charset="0"/>
              </a:rPr>
              <a:t>1</a:t>
            </a:r>
            <a:r>
              <a:rPr lang="en-US" altLang="zh-CN" sz="2400" b="1" kern="0" dirty="0" err="1">
                <a:latin typeface="Times New Roman" panose="02020603050405020304" pitchFamily="18" charset="0"/>
              </a:rPr>
              <a:t>,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E</a:t>
            </a:r>
            <a:r>
              <a:rPr lang="en-US" altLang="zh-CN" sz="2400" b="1" kern="0" baseline="-30000" dirty="0" err="1">
                <a:latin typeface="Times New Roman" panose="02020603050405020304" pitchFamily="18" charset="0"/>
              </a:rPr>
              <a:t>1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&gt;, 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G</a:t>
            </a:r>
            <a:r>
              <a:rPr lang="en-US" altLang="zh-CN" sz="2400" b="1" kern="0" baseline="-30000" dirty="0" err="1">
                <a:latin typeface="Times New Roman" panose="02020603050405020304" pitchFamily="18" charset="0"/>
              </a:rPr>
              <a:t>2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=&lt;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kern="0" baseline="-30000" dirty="0" err="1">
                <a:latin typeface="Times New Roman" panose="02020603050405020304" pitchFamily="18" charset="0"/>
              </a:rPr>
              <a:t>2</a:t>
            </a:r>
            <a:r>
              <a:rPr lang="en-US" altLang="zh-CN" sz="2400" b="1" kern="0" dirty="0" err="1">
                <a:latin typeface="Times New Roman" panose="02020603050405020304" pitchFamily="18" charset="0"/>
              </a:rPr>
              <a:t>,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E</a:t>
            </a:r>
            <a:r>
              <a:rPr lang="en-US" altLang="zh-CN" sz="2400" b="1" kern="0" baseline="-30000" dirty="0" err="1">
                <a:latin typeface="Times New Roman" panose="02020603050405020304" pitchFamily="18" charset="0"/>
              </a:rPr>
              <a:t>2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&gt;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为两个无向图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有向图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),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若存在双射函数 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f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: 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kern="0" baseline="-30000" dirty="0" err="1">
                <a:latin typeface="Times New Roman" panose="02020603050405020304" pitchFamily="18" charset="0"/>
              </a:rPr>
              <a:t>1</a:t>
            </a:r>
            <a:r>
              <a:rPr lang="en-US" altLang="zh-CN" sz="2400" b="1" kern="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kern="0" baseline="-30000" dirty="0" err="1">
                <a:latin typeface="Times New Roman" panose="02020603050405020304" pitchFamily="18" charset="0"/>
              </a:rPr>
              <a:t>2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使</a:t>
            </a:r>
            <a:endParaRPr lang="en-US" altLang="zh-CN" sz="24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得对于任意的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v</a:t>
            </a:r>
            <a:r>
              <a:rPr lang="en-US" altLang="zh-CN" sz="2400" b="1" i="1" kern="0" baseline="-30000" dirty="0">
                <a:latin typeface="Times New Roman" panose="02020603050405020304" pitchFamily="18" charset="0"/>
              </a:rPr>
              <a:t>i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i="1" kern="0" baseline="-30000" dirty="0" err="1">
                <a:latin typeface="Times New Roman" panose="02020603050405020304" pitchFamily="18" charset="0"/>
              </a:rPr>
              <a:t>j</a:t>
            </a:r>
            <a:r>
              <a:rPr lang="en-US" altLang="zh-CN" sz="2400" b="1" kern="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kern="0" baseline="-30000" dirty="0" err="1">
                <a:latin typeface="Times New Roman" panose="02020603050405020304" pitchFamily="18" charset="0"/>
              </a:rPr>
              <a:t>1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, 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400" b="1" kern="0" dirty="0">
                <a:latin typeface="Times New Roman" panose="02020603050405020304" pitchFamily="18" charset="0"/>
              </a:rPr>
              <a:t>             (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i="1" kern="0" baseline="-30000" dirty="0" err="1">
                <a:latin typeface="Times New Roman" panose="02020603050405020304" pitchFamily="18" charset="0"/>
              </a:rPr>
              <a:t>i</a:t>
            </a:r>
            <a:r>
              <a:rPr lang="en-US" altLang="zh-CN" sz="2400" b="1" kern="0" dirty="0" err="1">
                <a:latin typeface="Times New Roman" panose="02020603050405020304" pitchFamily="18" charset="0"/>
              </a:rPr>
              <a:t>,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i="1" kern="0" baseline="-30000" dirty="0" err="1">
                <a:latin typeface="Times New Roman" panose="02020603050405020304" pitchFamily="18" charset="0"/>
              </a:rPr>
              <a:t>j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)</a:t>
            </a:r>
            <a:r>
              <a:rPr lang="en-US" altLang="zh-CN" sz="2400" b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E</a:t>
            </a:r>
            <a:r>
              <a:rPr lang="en-US" altLang="zh-CN" sz="2400" b="1" kern="0" baseline="-30000" dirty="0" err="1">
                <a:latin typeface="Times New Roman" panose="02020603050405020304" pitchFamily="18" charset="0"/>
              </a:rPr>
              <a:t>1</a:t>
            </a:r>
            <a:r>
              <a:rPr lang="zh-CN" altLang="en-US" sz="2400" b="1" kern="0" dirty="0">
                <a:latin typeface="Times New Roman" panose="02020603050405020304" pitchFamily="18" charset="0"/>
              </a:rPr>
              <a:t>（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&lt;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i="1" kern="0" baseline="-30000" dirty="0" err="1">
                <a:latin typeface="Times New Roman" panose="02020603050405020304" pitchFamily="18" charset="0"/>
              </a:rPr>
              <a:t>i</a:t>
            </a:r>
            <a:r>
              <a:rPr lang="en-US" altLang="zh-CN" sz="2400" b="1" kern="0" dirty="0" err="1">
                <a:latin typeface="Times New Roman" panose="02020603050405020304" pitchFamily="18" charset="0"/>
              </a:rPr>
              <a:t>,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i="1" kern="0" baseline="-30000" dirty="0" err="1">
                <a:latin typeface="Times New Roman" panose="02020603050405020304" pitchFamily="18" charset="0"/>
              </a:rPr>
              <a:t>j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&gt;</a:t>
            </a:r>
            <a:r>
              <a:rPr lang="en-US" altLang="zh-CN" sz="2400" b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E</a:t>
            </a:r>
            <a:r>
              <a:rPr lang="en-US" altLang="zh-CN" sz="2400" b="1" kern="0" baseline="-30000" dirty="0" err="1">
                <a:latin typeface="Times New Roman" panose="02020603050405020304" pitchFamily="18" charset="0"/>
              </a:rPr>
              <a:t>1</a:t>
            </a:r>
            <a:r>
              <a:rPr lang="zh-CN" altLang="en-US" sz="2400" b="1" kern="0" dirty="0">
                <a:latin typeface="Times New Roman" panose="02020603050405020304" pitchFamily="18" charset="0"/>
              </a:rPr>
              <a:t>）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当且仅当 </a:t>
            </a:r>
            <a:r>
              <a:rPr lang="zh-CN" altLang="en-US" sz="2400" b="1" kern="0" dirty="0">
                <a:latin typeface="Times New Roman" panose="02020603050405020304" pitchFamily="18" charset="0"/>
              </a:rPr>
              <a:t>  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400" b="1" kern="0" dirty="0">
                <a:latin typeface="Times New Roman" panose="02020603050405020304" pitchFamily="18" charset="0"/>
              </a:rPr>
              <a:t>                        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f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v</a:t>
            </a:r>
            <a:r>
              <a:rPr lang="en-US" altLang="zh-CN" sz="2400" b="1" i="1" kern="0" baseline="-30000" dirty="0">
                <a:latin typeface="Times New Roman" panose="02020603050405020304" pitchFamily="18" charset="0"/>
              </a:rPr>
              <a:t>i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), 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f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i="1" kern="0" baseline="-30000" dirty="0" err="1">
                <a:latin typeface="Times New Roman" panose="02020603050405020304" pitchFamily="18" charset="0"/>
              </a:rPr>
              <a:t>j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))</a:t>
            </a:r>
            <a:r>
              <a:rPr lang="en-US" altLang="zh-CN" sz="2400" b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E</a:t>
            </a:r>
            <a:r>
              <a:rPr lang="en-US" altLang="zh-CN" sz="2400" b="1" kern="0" baseline="-30000" dirty="0" err="1">
                <a:latin typeface="Times New Roman" panose="02020603050405020304" pitchFamily="18" charset="0"/>
              </a:rPr>
              <a:t>2</a:t>
            </a:r>
            <a:r>
              <a:rPr lang="zh-CN" altLang="en-US" sz="2400" b="1" kern="0" dirty="0">
                <a:latin typeface="Times New Roman" panose="02020603050405020304" pitchFamily="18" charset="0"/>
              </a:rPr>
              <a:t>（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&lt;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f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v</a:t>
            </a:r>
            <a:r>
              <a:rPr lang="en-US" altLang="zh-CN" sz="2400" b="1" i="1" kern="0" baseline="-30000" dirty="0">
                <a:latin typeface="Times New Roman" panose="02020603050405020304" pitchFamily="18" charset="0"/>
              </a:rPr>
              <a:t>i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), 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f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i="1" kern="0" baseline="-30000" dirty="0" err="1">
                <a:latin typeface="Times New Roman" panose="02020603050405020304" pitchFamily="18" charset="0"/>
              </a:rPr>
              <a:t>j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)&gt;</a:t>
            </a:r>
            <a:r>
              <a:rPr lang="en-US" altLang="zh-CN" sz="2400" b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E</a:t>
            </a:r>
            <a:r>
              <a:rPr lang="en-US" altLang="zh-CN" sz="2400" b="1" kern="0" baseline="-30000" dirty="0" err="1">
                <a:latin typeface="Times New Roman" panose="02020603050405020304" pitchFamily="18" charset="0"/>
              </a:rPr>
              <a:t>2</a:t>
            </a:r>
            <a:r>
              <a:rPr lang="zh-CN" altLang="en-US" sz="2400" b="1" kern="0" dirty="0">
                <a:latin typeface="Times New Roman" panose="02020603050405020304" pitchFamily="18" charset="0"/>
              </a:rPr>
              <a:t>）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并且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i="1" kern="0" baseline="-30000" dirty="0" err="1">
                <a:latin typeface="Times New Roman" panose="02020603050405020304" pitchFamily="18" charset="0"/>
              </a:rPr>
              <a:t>i</a:t>
            </a:r>
            <a:r>
              <a:rPr lang="en-US" altLang="zh-CN" sz="2400" b="1" kern="0" dirty="0" err="1">
                <a:latin typeface="Times New Roman" panose="02020603050405020304" pitchFamily="18" charset="0"/>
              </a:rPr>
              <a:t>,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i="1" kern="0" baseline="-30000" dirty="0" err="1">
                <a:latin typeface="Times New Roman" panose="02020603050405020304" pitchFamily="18" charset="0"/>
              </a:rPr>
              <a:t>j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)</a:t>
            </a:r>
            <a:r>
              <a:rPr lang="zh-CN" altLang="en-US" sz="2400" b="1" kern="0" dirty="0">
                <a:latin typeface="Times New Roman" panose="02020603050405020304" pitchFamily="18" charset="0"/>
              </a:rPr>
              <a:t>（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&lt;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i="1" kern="0" baseline="-30000" dirty="0" err="1">
                <a:latin typeface="Times New Roman" panose="02020603050405020304" pitchFamily="18" charset="0"/>
              </a:rPr>
              <a:t>i</a:t>
            </a:r>
            <a:r>
              <a:rPr lang="en-US" altLang="zh-CN" sz="2400" b="1" kern="0" dirty="0" err="1">
                <a:latin typeface="Times New Roman" panose="02020603050405020304" pitchFamily="18" charset="0"/>
              </a:rPr>
              <a:t>,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i="1" kern="0" baseline="-30000" dirty="0" err="1">
                <a:latin typeface="Times New Roman" panose="02020603050405020304" pitchFamily="18" charset="0"/>
              </a:rPr>
              <a:t>j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&gt;</a:t>
            </a:r>
            <a:r>
              <a:rPr lang="zh-CN" altLang="en-US" sz="2400" b="1" kern="0" dirty="0">
                <a:latin typeface="Times New Roman" panose="02020603050405020304" pitchFamily="18" charset="0"/>
              </a:rPr>
              <a:t>）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zh-CN" altLang="en-US" sz="2400" b="1" kern="0" dirty="0">
                <a:latin typeface="Times New Roman" panose="02020603050405020304" pitchFamily="18" charset="0"/>
              </a:rPr>
              <a:t> 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f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v</a:t>
            </a:r>
            <a:r>
              <a:rPr lang="en-US" altLang="zh-CN" sz="2400" b="1" i="1" kern="0" baseline="-30000" dirty="0">
                <a:latin typeface="Times New Roman" panose="02020603050405020304" pitchFamily="18" charset="0"/>
              </a:rPr>
              <a:t>i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), 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f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i="1" kern="0" baseline="-30000" dirty="0" err="1">
                <a:latin typeface="Times New Roman" panose="02020603050405020304" pitchFamily="18" charset="0"/>
              </a:rPr>
              <a:t>j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))</a:t>
            </a:r>
            <a:r>
              <a:rPr lang="zh-CN" altLang="en-US" sz="2400" b="1" kern="0" dirty="0">
                <a:latin typeface="Times New Roman" panose="02020603050405020304" pitchFamily="18" charset="0"/>
              </a:rPr>
              <a:t>（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&lt;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f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v</a:t>
            </a:r>
            <a:r>
              <a:rPr lang="en-US" altLang="zh-CN" sz="2400" b="1" i="1" kern="0" baseline="-30000" dirty="0">
                <a:latin typeface="Times New Roman" panose="02020603050405020304" pitchFamily="18" charset="0"/>
              </a:rPr>
              <a:t>i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), 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f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i="1" kern="0" baseline="-30000" dirty="0" err="1">
                <a:latin typeface="Times New Roman" panose="02020603050405020304" pitchFamily="18" charset="0"/>
              </a:rPr>
              <a:t>j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)&gt;</a:t>
            </a:r>
            <a:r>
              <a:rPr lang="zh-CN" altLang="en-US" sz="2400" b="1" kern="0" dirty="0">
                <a:latin typeface="Times New Roman" panose="02020603050405020304" pitchFamily="18" charset="0"/>
              </a:rPr>
              <a:t>）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的重数相同，则称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G</a:t>
            </a:r>
            <a:r>
              <a:rPr lang="en-US" altLang="zh-CN" sz="2400" b="1" kern="0" baseline="-30000" dirty="0" err="1">
                <a:latin typeface="Times New Roman" panose="02020603050405020304" pitchFamily="18" charset="0"/>
              </a:rPr>
              <a:t>1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G</a:t>
            </a:r>
            <a:r>
              <a:rPr lang="en-US" altLang="zh-CN" sz="2400" b="1" kern="0" baseline="-30000" dirty="0" err="1">
                <a:latin typeface="Times New Roman" panose="02020603050405020304" pitchFamily="18" charset="0"/>
              </a:rPr>
              <a:t>2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同构</a:t>
            </a:r>
            <a:endParaRPr lang="en-US" altLang="zh-CN" sz="2400" b="1" kern="0" dirty="0">
              <a:solidFill>
                <a:srgbClr val="992677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的，记作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G</a:t>
            </a:r>
            <a:r>
              <a:rPr lang="en-US" altLang="zh-CN" sz="2400" b="1" kern="0" baseline="-30000" dirty="0" err="1">
                <a:latin typeface="Times New Roman" panose="02020603050405020304" pitchFamily="18" charset="0"/>
              </a:rPr>
              <a:t>1</a:t>
            </a:r>
            <a:r>
              <a:rPr lang="en-US" altLang="zh-CN" sz="2400" b="1" kern="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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G</a:t>
            </a:r>
            <a:r>
              <a:rPr lang="en-US" altLang="zh-CN" sz="2400" b="1" kern="0" baseline="-30000" dirty="0" err="1">
                <a:latin typeface="Times New Roman" panose="02020603050405020304" pitchFamily="18" charset="0"/>
              </a:rPr>
              <a:t>2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. 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0E10492-D942-4DE7-8D44-5E84FAAA7705}"/>
              </a:ext>
            </a:extLst>
          </p:cNvPr>
          <p:cNvSpPr txBox="1"/>
          <p:nvPr/>
        </p:nvSpPr>
        <p:spPr>
          <a:xfrm>
            <a:off x="399945" y="949038"/>
            <a:ext cx="20198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无向图与有向图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32F2FB1-A361-4417-96AE-AD95AB80BF3E}"/>
              </a:ext>
            </a:extLst>
          </p:cNvPr>
          <p:cNvSpPr txBox="1"/>
          <p:nvPr/>
        </p:nvSpPr>
        <p:spPr>
          <a:xfrm>
            <a:off x="2854684" y="949038"/>
            <a:ext cx="15446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顶点的度数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1D5C3B7-C644-4F64-9773-71CA3C60EFCA}"/>
              </a:ext>
            </a:extLst>
          </p:cNvPr>
          <p:cNvSpPr txBox="1"/>
          <p:nvPr/>
        </p:nvSpPr>
        <p:spPr>
          <a:xfrm>
            <a:off x="4650790" y="949038"/>
            <a:ext cx="12188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握手定理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70C7C92-3419-4685-8197-185E5EDC6864}"/>
              </a:ext>
            </a:extLst>
          </p:cNvPr>
          <p:cNvSpPr txBox="1"/>
          <p:nvPr/>
        </p:nvSpPr>
        <p:spPr>
          <a:xfrm>
            <a:off x="6248494" y="949038"/>
            <a:ext cx="10069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简单图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B8582DF-3B42-4154-B035-1086F3894634}"/>
              </a:ext>
            </a:extLst>
          </p:cNvPr>
          <p:cNvSpPr txBox="1"/>
          <p:nvPr/>
        </p:nvSpPr>
        <p:spPr>
          <a:xfrm>
            <a:off x="7615690" y="949038"/>
            <a:ext cx="9580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完全图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C788C89-1842-4A1B-94AE-63D5C93D12DB}"/>
              </a:ext>
            </a:extLst>
          </p:cNvPr>
          <p:cNvSpPr txBox="1"/>
          <p:nvPr/>
        </p:nvSpPr>
        <p:spPr>
          <a:xfrm>
            <a:off x="9008092" y="949038"/>
            <a:ext cx="7596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子图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7595315-12BA-4881-B452-7D1B7C96DED9}"/>
              </a:ext>
            </a:extLst>
          </p:cNvPr>
          <p:cNvSpPr txBox="1"/>
          <p:nvPr/>
        </p:nvSpPr>
        <p:spPr>
          <a:xfrm>
            <a:off x="10113046" y="949038"/>
            <a:ext cx="10069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补图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CBC790D-C79C-4255-870A-669E7061702D}"/>
              </a:ext>
            </a:extLst>
          </p:cNvPr>
          <p:cNvSpPr txBox="1"/>
          <p:nvPr/>
        </p:nvSpPr>
        <p:spPr>
          <a:xfrm>
            <a:off x="11152964" y="949038"/>
            <a:ext cx="7745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同构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297349E2-C1B7-4575-B5C1-B5A734CE768B}"/>
              </a:ext>
            </a:extLst>
          </p:cNvPr>
          <p:cNvSpPr txBox="1"/>
          <p:nvPr/>
        </p:nvSpPr>
        <p:spPr>
          <a:xfrm>
            <a:off x="714375" y="1792051"/>
            <a:ext cx="60948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zh-CN" altLang="en-US" sz="18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5.10</a:t>
            </a:r>
            <a:endParaRPr lang="zh-CN" altLang="en-US" sz="2400" b="1" kern="0" dirty="0">
              <a:solidFill>
                <a:srgbClr val="992677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62302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5.1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无向图及有向图</a:t>
            </a:r>
          </a:p>
        </p:txBody>
      </p:sp>
      <p:sp>
        <p:nvSpPr>
          <p:cNvPr id="28" name="标题 1">
            <a:extLst>
              <a:ext uri="{FF2B5EF4-FFF2-40B4-BE49-F238E27FC236}">
                <a16:creationId xmlns:a16="http://schemas.microsoft.com/office/drawing/2014/main" id="{035047B6-C491-4D3F-9BD1-B46CEFA06768}"/>
              </a:ext>
            </a:extLst>
          </p:cNvPr>
          <p:cNvSpPr txBox="1">
            <a:spLocks/>
          </p:cNvSpPr>
          <p:nvPr/>
        </p:nvSpPr>
        <p:spPr>
          <a:xfrm>
            <a:off x="603849" y="1518249"/>
            <a:ext cx="8229600" cy="7572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同构实例</a:t>
            </a:r>
          </a:p>
        </p:txBody>
      </p:sp>
      <p:sp>
        <p:nvSpPr>
          <p:cNvPr id="29" name="内容占位符 2">
            <a:extLst>
              <a:ext uri="{FF2B5EF4-FFF2-40B4-BE49-F238E27FC236}">
                <a16:creationId xmlns:a16="http://schemas.microsoft.com/office/drawing/2014/main" id="{764F7E8F-7B3C-4BC4-8081-A146E41D68AC}"/>
              </a:ext>
            </a:extLst>
          </p:cNvPr>
          <p:cNvSpPr txBox="1">
            <a:spLocks/>
          </p:cNvSpPr>
          <p:nvPr/>
        </p:nvSpPr>
        <p:spPr>
          <a:xfrm>
            <a:off x="646712" y="2275487"/>
            <a:ext cx="8229600" cy="5000625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zh-CN"/>
              <a:t>  </a:t>
            </a:r>
            <a:endParaRPr lang="zh-CN" altLang="en-US"/>
          </a:p>
        </p:txBody>
      </p:sp>
      <p:pic>
        <p:nvPicPr>
          <p:cNvPr id="30" name="图片 8" descr="7T5">
            <a:extLst>
              <a:ext uri="{FF2B5EF4-FFF2-40B4-BE49-F238E27FC236}">
                <a16:creationId xmlns:a16="http://schemas.microsoft.com/office/drawing/2014/main" id="{AB0D7E1F-2D0A-438E-9CFF-F7AE090E83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05" t="50682" r="59116" b="9386"/>
          <a:stretch>
            <a:fillRect/>
          </a:stretch>
        </p:blipFill>
        <p:spPr bwMode="auto">
          <a:xfrm>
            <a:off x="4770139" y="4794760"/>
            <a:ext cx="2214562" cy="185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TextBox 6">
            <a:extLst>
              <a:ext uri="{FF2B5EF4-FFF2-40B4-BE49-F238E27FC236}">
                <a16:creationId xmlns:a16="http://schemas.microsoft.com/office/drawing/2014/main" id="{458F2D61-1EFF-4082-AA8B-8A2D5B53B9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206" y="2118504"/>
            <a:ext cx="53578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证明下述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对图是同构的</a:t>
            </a:r>
          </a:p>
        </p:txBody>
      </p:sp>
      <p:pic>
        <p:nvPicPr>
          <p:cNvPr id="33" name="图片 8" descr="7T5">
            <a:extLst>
              <a:ext uri="{FF2B5EF4-FFF2-40B4-BE49-F238E27FC236}">
                <a16:creationId xmlns:a16="http://schemas.microsoft.com/office/drawing/2014/main" id="{00773A3D-6611-47EF-94D5-484FADF0A7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60" r="56499" b="55666"/>
          <a:stretch>
            <a:fillRect/>
          </a:stretch>
        </p:blipFill>
        <p:spPr bwMode="auto">
          <a:xfrm>
            <a:off x="1501264" y="2634651"/>
            <a:ext cx="2428875" cy="206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" name="图片 8" descr="7T5">
            <a:extLst>
              <a:ext uri="{FF2B5EF4-FFF2-40B4-BE49-F238E27FC236}">
                <a16:creationId xmlns:a16="http://schemas.microsoft.com/office/drawing/2014/main" id="{5D071310-CB37-429E-BF5B-3AFC7389B4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856" r="19212" b="58942"/>
          <a:stretch>
            <a:fillRect/>
          </a:stretch>
        </p:blipFill>
        <p:spPr bwMode="auto">
          <a:xfrm>
            <a:off x="4930264" y="2696564"/>
            <a:ext cx="2286000" cy="190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" name="图片 9" descr="7T5">
            <a:extLst>
              <a:ext uri="{FF2B5EF4-FFF2-40B4-BE49-F238E27FC236}">
                <a16:creationId xmlns:a16="http://schemas.microsoft.com/office/drawing/2014/main" id="{E66376DB-BA54-486B-920B-60F889B9E3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194" r="40144" b="60478"/>
          <a:stretch>
            <a:fillRect/>
          </a:stretch>
        </p:blipFill>
        <p:spPr bwMode="auto">
          <a:xfrm>
            <a:off x="1572701" y="4553939"/>
            <a:ext cx="1928813" cy="183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25361A9C-0E2E-4925-9724-FA0C24B24823}"/>
              </a:ext>
            </a:extLst>
          </p:cNvPr>
          <p:cNvSpPr txBox="1"/>
          <p:nvPr/>
        </p:nvSpPr>
        <p:spPr>
          <a:xfrm>
            <a:off x="7067187" y="3459995"/>
            <a:ext cx="16799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彼得森图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5ECE047-3138-4A0F-916B-F01F3F97A9A5}"/>
              </a:ext>
            </a:extLst>
          </p:cNvPr>
          <p:cNvSpPr txBox="1"/>
          <p:nvPr/>
        </p:nvSpPr>
        <p:spPr>
          <a:xfrm>
            <a:off x="399945" y="949038"/>
            <a:ext cx="20198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无向图与有向图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C522B97-1969-452A-8755-E632DEFE5778}"/>
              </a:ext>
            </a:extLst>
          </p:cNvPr>
          <p:cNvSpPr txBox="1"/>
          <p:nvPr/>
        </p:nvSpPr>
        <p:spPr>
          <a:xfrm>
            <a:off x="2854684" y="949038"/>
            <a:ext cx="15446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顶点的度数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8BBAA63-C655-4E99-A780-C72C16875110}"/>
              </a:ext>
            </a:extLst>
          </p:cNvPr>
          <p:cNvSpPr txBox="1"/>
          <p:nvPr/>
        </p:nvSpPr>
        <p:spPr>
          <a:xfrm>
            <a:off x="4650790" y="949038"/>
            <a:ext cx="12188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握手定理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B9D523B-76AB-4787-B9D1-E577E1158FE6}"/>
              </a:ext>
            </a:extLst>
          </p:cNvPr>
          <p:cNvSpPr txBox="1"/>
          <p:nvPr/>
        </p:nvSpPr>
        <p:spPr>
          <a:xfrm>
            <a:off x="6248494" y="949038"/>
            <a:ext cx="10069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简单图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71B106D-1F0F-4966-B516-E35A9AB044A2}"/>
              </a:ext>
            </a:extLst>
          </p:cNvPr>
          <p:cNvSpPr txBox="1"/>
          <p:nvPr/>
        </p:nvSpPr>
        <p:spPr>
          <a:xfrm>
            <a:off x="7615690" y="949038"/>
            <a:ext cx="9580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完全图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78310FF-D204-4124-AF79-5274C3556946}"/>
              </a:ext>
            </a:extLst>
          </p:cNvPr>
          <p:cNvSpPr txBox="1"/>
          <p:nvPr/>
        </p:nvSpPr>
        <p:spPr>
          <a:xfrm>
            <a:off x="9008092" y="949038"/>
            <a:ext cx="7596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子图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B444F67-9F87-4A44-87F9-21F085E177F5}"/>
              </a:ext>
            </a:extLst>
          </p:cNvPr>
          <p:cNvSpPr txBox="1"/>
          <p:nvPr/>
        </p:nvSpPr>
        <p:spPr>
          <a:xfrm>
            <a:off x="10113046" y="949038"/>
            <a:ext cx="10069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补图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B314685-25A3-463F-9243-429F2CDB30E2}"/>
              </a:ext>
            </a:extLst>
          </p:cNvPr>
          <p:cNvSpPr txBox="1"/>
          <p:nvPr/>
        </p:nvSpPr>
        <p:spPr>
          <a:xfrm>
            <a:off x="11152964" y="949038"/>
            <a:ext cx="7745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同构</a:t>
            </a:r>
          </a:p>
        </p:txBody>
      </p:sp>
    </p:spTree>
    <p:extLst>
      <p:ext uri="{BB962C8B-B14F-4D97-AF65-F5344CB8AC3E}">
        <p14:creationId xmlns:p14="http://schemas.microsoft.com/office/powerpoint/2010/main" val="3648438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5.1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无向图及有向图</a:t>
            </a:r>
          </a:p>
        </p:txBody>
      </p:sp>
      <p:sp>
        <p:nvSpPr>
          <p:cNvPr id="28" name="标题 1">
            <a:extLst>
              <a:ext uri="{FF2B5EF4-FFF2-40B4-BE49-F238E27FC236}">
                <a16:creationId xmlns:a16="http://schemas.microsoft.com/office/drawing/2014/main" id="{035047B6-C491-4D3F-9BD1-B46CEFA06768}"/>
              </a:ext>
            </a:extLst>
          </p:cNvPr>
          <p:cNvSpPr txBox="1">
            <a:spLocks/>
          </p:cNvSpPr>
          <p:nvPr/>
        </p:nvSpPr>
        <p:spPr>
          <a:xfrm>
            <a:off x="552090" y="1483741"/>
            <a:ext cx="8229600" cy="7572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同构实例</a:t>
            </a:r>
          </a:p>
        </p:txBody>
      </p:sp>
      <p:sp>
        <p:nvSpPr>
          <p:cNvPr id="29" name="内容占位符 2">
            <a:extLst>
              <a:ext uri="{FF2B5EF4-FFF2-40B4-BE49-F238E27FC236}">
                <a16:creationId xmlns:a16="http://schemas.microsoft.com/office/drawing/2014/main" id="{764F7E8F-7B3C-4BC4-8081-A146E41D68AC}"/>
              </a:ext>
            </a:extLst>
          </p:cNvPr>
          <p:cNvSpPr txBox="1">
            <a:spLocks/>
          </p:cNvSpPr>
          <p:nvPr/>
        </p:nvSpPr>
        <p:spPr>
          <a:xfrm>
            <a:off x="646712" y="2275487"/>
            <a:ext cx="8229600" cy="5000625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zh-CN"/>
              <a:t>  </a:t>
            </a:r>
            <a:endParaRPr lang="zh-CN" altLang="en-US"/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8B10DB2E-E17A-4364-AF71-2AE470E3A0F3}"/>
              </a:ext>
            </a:extLst>
          </p:cNvPr>
          <p:cNvSpPr txBox="1">
            <a:spLocks noChangeArrowheads="1"/>
          </p:cNvSpPr>
          <p:nvPr/>
        </p:nvSpPr>
        <p:spPr>
          <a:xfrm>
            <a:off x="611188" y="2103225"/>
            <a:ext cx="8054964" cy="480692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试画出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阶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条边的所有非同构的无向简单图</a:t>
            </a:r>
          </a:p>
          <a:p>
            <a:pPr>
              <a:buFont typeface="Wingdings" panose="05000000000000000000" pitchFamily="2" charset="2"/>
              <a:buNone/>
            </a:pPr>
            <a:endParaRPr lang="zh-CN" altLang="en-US" b="1" dirty="0"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zh-CN" altLang="en-US" b="1" dirty="0"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zh-CN" altLang="en-US" b="1" dirty="0"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b="1" dirty="0">
              <a:latin typeface="Times New Roman" panose="02020603050405020304" pitchFamily="18" charset="0"/>
            </a:endParaRPr>
          </a:p>
        </p:txBody>
      </p:sp>
      <p:pic>
        <p:nvPicPr>
          <p:cNvPr id="21" name="Picture 10" descr="14-3(1)">
            <a:extLst>
              <a:ext uri="{FF2B5EF4-FFF2-40B4-BE49-F238E27FC236}">
                <a16:creationId xmlns:a16="http://schemas.microsoft.com/office/drawing/2014/main" id="{0987986C-BB2B-429B-9755-86CA260FE1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7004" y="5019259"/>
            <a:ext cx="3201184" cy="17203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 Box 11">
            <a:extLst>
              <a:ext uri="{FF2B5EF4-FFF2-40B4-BE49-F238E27FC236}">
                <a16:creationId xmlns:a16="http://schemas.microsoft.com/office/drawing/2014/main" id="{56A1E409-0F24-40D2-8925-BDD8DA1EC3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8710" y="5165782"/>
            <a:ext cx="25908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度数列不同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不同构</a:t>
            </a:r>
          </a:p>
        </p:txBody>
      </p:sp>
      <p:pic>
        <p:nvPicPr>
          <p:cNvPr id="23" name="Picture 12" descr="14-11">
            <a:extLst>
              <a:ext uri="{FF2B5EF4-FFF2-40B4-BE49-F238E27FC236}">
                <a16:creationId xmlns:a16="http://schemas.microsoft.com/office/drawing/2014/main" id="{F92A4B5C-E607-46DC-BDFD-90C6BF6E47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0" y="2836650"/>
            <a:ext cx="4906963" cy="112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Rectangle 3">
            <a:extLst>
              <a:ext uri="{FF2B5EF4-FFF2-40B4-BE49-F238E27FC236}">
                <a16:creationId xmlns:a16="http://schemas.microsoft.com/office/drawing/2014/main" id="{960E7D37-46C2-48D5-AF11-B10E2CA21160}"/>
              </a:ext>
            </a:extLst>
          </p:cNvPr>
          <p:cNvSpPr txBox="1">
            <a:spLocks noChangeArrowheads="1"/>
          </p:cNvSpPr>
          <p:nvPr/>
        </p:nvSpPr>
        <p:spPr>
          <a:xfrm>
            <a:off x="611188" y="4285989"/>
            <a:ext cx="8054964" cy="875949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3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判断下述每一对图是否同构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   </a:t>
            </a:r>
            <a:r>
              <a:rPr lang="en-US" altLang="zh-CN" sz="2400" b="1" dirty="0">
                <a:latin typeface="Times New Roman" panose="02020603050405020304" pitchFamily="18" charset="0"/>
              </a:rPr>
              <a:t>(1)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b="1" dirty="0">
              <a:latin typeface="Times New Roman" panose="02020603050405020304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E93B00D-B2CC-485A-B789-69E3AD5A1C4D}"/>
              </a:ext>
            </a:extLst>
          </p:cNvPr>
          <p:cNvSpPr txBox="1"/>
          <p:nvPr/>
        </p:nvSpPr>
        <p:spPr>
          <a:xfrm>
            <a:off x="399945" y="949038"/>
            <a:ext cx="20198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无向图与有向图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7038B5C-EA5E-4759-A8C8-6B3757D65B86}"/>
              </a:ext>
            </a:extLst>
          </p:cNvPr>
          <p:cNvSpPr txBox="1"/>
          <p:nvPr/>
        </p:nvSpPr>
        <p:spPr>
          <a:xfrm>
            <a:off x="2854684" y="949038"/>
            <a:ext cx="15446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顶点的度数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138DABE-843E-4DE7-B80D-F83F4967E3E9}"/>
              </a:ext>
            </a:extLst>
          </p:cNvPr>
          <p:cNvSpPr txBox="1"/>
          <p:nvPr/>
        </p:nvSpPr>
        <p:spPr>
          <a:xfrm>
            <a:off x="4650790" y="949038"/>
            <a:ext cx="12188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握手定理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ABCC3EA-C16E-4DD6-8923-D0ACE40E8C86}"/>
              </a:ext>
            </a:extLst>
          </p:cNvPr>
          <p:cNvSpPr txBox="1"/>
          <p:nvPr/>
        </p:nvSpPr>
        <p:spPr>
          <a:xfrm>
            <a:off x="6248494" y="949038"/>
            <a:ext cx="10069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简单图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6A4132A-233B-473F-B819-30EB1B75CFC8}"/>
              </a:ext>
            </a:extLst>
          </p:cNvPr>
          <p:cNvSpPr txBox="1"/>
          <p:nvPr/>
        </p:nvSpPr>
        <p:spPr>
          <a:xfrm>
            <a:off x="7615690" y="949038"/>
            <a:ext cx="9580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完全图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7A53D13E-A36C-4EA2-BA72-35308E22B214}"/>
              </a:ext>
            </a:extLst>
          </p:cNvPr>
          <p:cNvSpPr txBox="1"/>
          <p:nvPr/>
        </p:nvSpPr>
        <p:spPr>
          <a:xfrm>
            <a:off x="9008092" y="949038"/>
            <a:ext cx="7596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子图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A26F34C-7E25-49B5-BC74-C25D4FA33DD8}"/>
              </a:ext>
            </a:extLst>
          </p:cNvPr>
          <p:cNvSpPr txBox="1"/>
          <p:nvPr/>
        </p:nvSpPr>
        <p:spPr>
          <a:xfrm>
            <a:off x="10113046" y="949038"/>
            <a:ext cx="10069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补图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C478F50F-A6FA-47C7-ACEC-859909B49AE0}"/>
              </a:ext>
            </a:extLst>
          </p:cNvPr>
          <p:cNvSpPr txBox="1"/>
          <p:nvPr/>
        </p:nvSpPr>
        <p:spPr>
          <a:xfrm>
            <a:off x="11152964" y="949038"/>
            <a:ext cx="7745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同构</a:t>
            </a:r>
          </a:p>
        </p:txBody>
      </p:sp>
    </p:spTree>
    <p:extLst>
      <p:ext uri="{BB962C8B-B14F-4D97-AF65-F5344CB8AC3E}">
        <p14:creationId xmlns:p14="http://schemas.microsoft.com/office/powerpoint/2010/main" val="943885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1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5.1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无向图及有向图</a:t>
            </a:r>
          </a:p>
        </p:txBody>
      </p:sp>
      <p:sp>
        <p:nvSpPr>
          <p:cNvPr id="29" name="Rectangle 1027">
            <a:extLst>
              <a:ext uri="{FF2B5EF4-FFF2-40B4-BE49-F238E27FC236}">
                <a16:creationId xmlns:a16="http://schemas.microsoft.com/office/drawing/2014/main" id="{6934ADD9-ADA2-4FEC-A53F-43048C2FA7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652" y="2395538"/>
            <a:ext cx="8002588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kern="0" dirty="0">
                <a:latin typeface="Times New Roman" panose="02020603050405020304" pitchFamily="18" charset="0"/>
              </a:rPr>
              <a:t>(2)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800" b="1" kern="0" dirty="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800" b="1" kern="0" dirty="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800" b="1" kern="0" dirty="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kern="0" dirty="0">
                <a:latin typeface="Times New Roman" panose="02020603050405020304" pitchFamily="18" charset="0"/>
              </a:rPr>
              <a:t>(3)</a:t>
            </a:r>
          </a:p>
        </p:txBody>
      </p:sp>
      <p:sp>
        <p:nvSpPr>
          <p:cNvPr id="30" name="Text Box 1029">
            <a:extLst>
              <a:ext uri="{FF2B5EF4-FFF2-40B4-BE49-F238E27FC236}">
                <a16:creationId xmlns:a16="http://schemas.microsoft.com/office/drawing/2014/main" id="{10E66697-0510-444B-8BB0-B17AC9DB03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8427" y="3025775"/>
            <a:ext cx="296703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不同构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入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出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度列不同</a:t>
            </a:r>
          </a:p>
        </p:txBody>
      </p:sp>
      <p:sp>
        <p:nvSpPr>
          <p:cNvPr id="31" name="Text Box 1032">
            <a:extLst>
              <a:ext uri="{FF2B5EF4-FFF2-40B4-BE49-F238E27FC236}">
                <a16:creationId xmlns:a16="http://schemas.microsoft.com/office/drawing/2014/main" id="{255F4CB4-F1A2-4B29-A64C-CB57606A17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9214" y="4625975"/>
            <a:ext cx="3641215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不同构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左边没有三角形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右边有三角形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</a:p>
          <a:p>
            <a:pPr marR="0" lvl="0" indent="0" eaLnBrk="1" fontAlgn="base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注意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度数列相同</a:t>
            </a:r>
            <a:endParaRPr lang="en-US" altLang="zh-CN" sz="2400" b="1" kern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2" name="Picture 12" descr="14-3">
            <a:extLst>
              <a:ext uri="{FF2B5EF4-FFF2-40B4-BE49-F238E27FC236}">
                <a16:creationId xmlns:a16="http://schemas.microsoft.com/office/drawing/2014/main" id="{01BA40C1-5A5D-4712-9A8E-45471BC1C9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262" t="6982" b="9222"/>
          <a:stretch>
            <a:fillRect/>
          </a:stretch>
        </p:blipFill>
        <p:spPr bwMode="auto">
          <a:xfrm>
            <a:off x="1321190" y="2395538"/>
            <a:ext cx="4135437" cy="187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3" name="Group 19">
            <a:extLst>
              <a:ext uri="{FF2B5EF4-FFF2-40B4-BE49-F238E27FC236}">
                <a16:creationId xmlns:a16="http://schemas.microsoft.com/office/drawing/2014/main" id="{D0020B47-B842-47DC-B19F-330ACC36BA8F}"/>
              </a:ext>
            </a:extLst>
          </p:cNvPr>
          <p:cNvGrpSpPr>
            <a:grpSpLocks/>
          </p:cNvGrpSpPr>
          <p:nvPr/>
        </p:nvGrpSpPr>
        <p:grpSpPr bwMode="auto">
          <a:xfrm>
            <a:off x="1351352" y="4627564"/>
            <a:ext cx="4105275" cy="2112238"/>
            <a:chOff x="1247" y="2432"/>
            <a:chExt cx="2994" cy="1376"/>
          </a:xfrm>
        </p:grpSpPr>
        <p:pic>
          <p:nvPicPr>
            <p:cNvPr id="34" name="Picture 13" descr="14-4">
              <a:extLst>
                <a:ext uri="{FF2B5EF4-FFF2-40B4-BE49-F238E27FC236}">
                  <a16:creationId xmlns:a16="http://schemas.microsoft.com/office/drawing/2014/main" id="{48FE5A39-93BA-4D92-9301-9C9462845FD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6958"/>
            <a:stretch>
              <a:fillRect/>
            </a:stretch>
          </p:blipFill>
          <p:spPr bwMode="auto">
            <a:xfrm>
              <a:off x="1247" y="2432"/>
              <a:ext cx="2994" cy="1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" name="Text Box 18">
              <a:extLst>
                <a:ext uri="{FF2B5EF4-FFF2-40B4-BE49-F238E27FC236}">
                  <a16:creationId xmlns:a16="http://schemas.microsoft.com/office/drawing/2014/main" id="{DC1A22C1-B983-4EBF-9434-9CA4D39452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9" y="3567"/>
              <a:ext cx="2586" cy="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   </a:t>
              </a: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(a)                                     (b)</a:t>
              </a: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      </a:t>
              </a:r>
            </a:p>
          </p:txBody>
        </p:sp>
      </p:grpSp>
      <p:sp>
        <p:nvSpPr>
          <p:cNvPr id="36" name="标题 1">
            <a:extLst>
              <a:ext uri="{FF2B5EF4-FFF2-40B4-BE49-F238E27FC236}">
                <a16:creationId xmlns:a16="http://schemas.microsoft.com/office/drawing/2014/main" id="{1C6A5583-0B4C-42DB-A334-08EEE6517D83}"/>
              </a:ext>
            </a:extLst>
          </p:cNvPr>
          <p:cNvSpPr txBox="1">
            <a:spLocks/>
          </p:cNvSpPr>
          <p:nvPr/>
        </p:nvSpPr>
        <p:spPr>
          <a:xfrm>
            <a:off x="552090" y="1483741"/>
            <a:ext cx="8229600" cy="7572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同构实例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D66E53A-AE96-4CEC-93E0-3D036CE4BF1C}"/>
              </a:ext>
            </a:extLst>
          </p:cNvPr>
          <p:cNvSpPr txBox="1"/>
          <p:nvPr/>
        </p:nvSpPr>
        <p:spPr>
          <a:xfrm>
            <a:off x="399945" y="949038"/>
            <a:ext cx="20198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无向图与有向图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7E813E5-D63F-479D-8704-C1BCAD15BA70}"/>
              </a:ext>
            </a:extLst>
          </p:cNvPr>
          <p:cNvSpPr txBox="1"/>
          <p:nvPr/>
        </p:nvSpPr>
        <p:spPr>
          <a:xfrm>
            <a:off x="2854684" y="949038"/>
            <a:ext cx="15446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顶点的度数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F81C559-ECBF-4363-88A4-702FCD12B41C}"/>
              </a:ext>
            </a:extLst>
          </p:cNvPr>
          <p:cNvSpPr txBox="1"/>
          <p:nvPr/>
        </p:nvSpPr>
        <p:spPr>
          <a:xfrm>
            <a:off x="4650790" y="949038"/>
            <a:ext cx="12188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握手定理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D5E8B8A-05C1-424C-B778-5E668300B5BD}"/>
              </a:ext>
            </a:extLst>
          </p:cNvPr>
          <p:cNvSpPr txBox="1"/>
          <p:nvPr/>
        </p:nvSpPr>
        <p:spPr>
          <a:xfrm>
            <a:off x="6248494" y="949038"/>
            <a:ext cx="10069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简单图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19C28B3-BD5D-4DE0-B4FF-B447E623BAD7}"/>
              </a:ext>
            </a:extLst>
          </p:cNvPr>
          <p:cNvSpPr txBox="1"/>
          <p:nvPr/>
        </p:nvSpPr>
        <p:spPr>
          <a:xfrm>
            <a:off x="7615690" y="949038"/>
            <a:ext cx="9580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完全图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1944D88-B93B-4832-AFEC-C5A3EE5F7F57}"/>
              </a:ext>
            </a:extLst>
          </p:cNvPr>
          <p:cNvSpPr txBox="1"/>
          <p:nvPr/>
        </p:nvSpPr>
        <p:spPr>
          <a:xfrm>
            <a:off x="9008092" y="949038"/>
            <a:ext cx="7596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子图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63635B1-FB68-4664-B91E-7D08E1C79F48}"/>
              </a:ext>
            </a:extLst>
          </p:cNvPr>
          <p:cNvSpPr txBox="1"/>
          <p:nvPr/>
        </p:nvSpPr>
        <p:spPr>
          <a:xfrm>
            <a:off x="10113046" y="949038"/>
            <a:ext cx="10069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补图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FD103AA-F21C-4F37-AA0A-F74D58D15D33}"/>
              </a:ext>
            </a:extLst>
          </p:cNvPr>
          <p:cNvSpPr txBox="1"/>
          <p:nvPr/>
        </p:nvSpPr>
        <p:spPr>
          <a:xfrm>
            <a:off x="11152964" y="949038"/>
            <a:ext cx="7745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同构</a:t>
            </a:r>
          </a:p>
        </p:txBody>
      </p:sp>
    </p:spTree>
    <p:extLst>
      <p:ext uri="{BB962C8B-B14F-4D97-AF65-F5344CB8AC3E}">
        <p14:creationId xmlns:p14="http://schemas.microsoft.com/office/powerpoint/2010/main" val="2063910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5.1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无向图及有向图</a:t>
            </a:r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D322FF96-6ED3-4651-80DE-7BC6C51A4A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596" y="1622575"/>
            <a:ext cx="11171208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7D"/>
              </a:buClr>
              <a:buSzPct val="75000"/>
              <a:defRPr/>
            </a:pP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几点说明：</a:t>
            </a:r>
          </a:p>
          <a:p>
            <a:pPr marL="342900" indent="-342900" algn="just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itchFamily="2" charset="2"/>
              <a:buNone/>
              <a:defRPr/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图之间的同构关系具有自反性、对称性和传递性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  <a:p>
            <a:pPr marL="342900" indent="-342900" algn="just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itchFamily="2" charset="2"/>
              <a:buNone/>
              <a:defRPr/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以下是两图同构的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必要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条件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但不是充分条件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  <a:p>
            <a:pPr marL="342900" indent="-342900" algn="just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itchFamily="2" charset="2"/>
              <a:buNone/>
              <a:defRPr/>
            </a:pP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①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边数相同，顶点数相同</a:t>
            </a:r>
          </a:p>
          <a:p>
            <a:pPr marL="342900" indent="-342900" algn="just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itchFamily="2" charset="2"/>
              <a:buNone/>
              <a:defRPr/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② 度数列相同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不计度数的顺序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</a:p>
          <a:p>
            <a:pPr marL="342900" indent="-342900" algn="just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itchFamily="2" charset="2"/>
              <a:buNone/>
              <a:defRPr/>
            </a:pP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③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对应顶点的关联集及邻域的元素个数相同，等等</a:t>
            </a:r>
          </a:p>
          <a:p>
            <a:pPr marL="342900" indent="-342900" algn="just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itchFamily="2" charset="2"/>
              <a:buNone/>
              <a:defRPr/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若破坏必要条件，则两图不同构</a:t>
            </a:r>
          </a:p>
          <a:p>
            <a:pPr marL="342900" indent="-342900" algn="just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itchFamily="2" charset="2"/>
              <a:buNone/>
              <a:defRPr/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至今没有找到判断两个图同构的多项式时间算法 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BCC977B-582A-49AE-BF6D-24C2C779FA56}"/>
              </a:ext>
            </a:extLst>
          </p:cNvPr>
          <p:cNvSpPr txBox="1"/>
          <p:nvPr/>
        </p:nvSpPr>
        <p:spPr>
          <a:xfrm>
            <a:off x="399945" y="949038"/>
            <a:ext cx="20198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无向图与有向图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B9399AF-87B5-462A-A801-FBC3D410927B}"/>
              </a:ext>
            </a:extLst>
          </p:cNvPr>
          <p:cNvSpPr txBox="1"/>
          <p:nvPr/>
        </p:nvSpPr>
        <p:spPr>
          <a:xfrm>
            <a:off x="2854684" y="949038"/>
            <a:ext cx="15446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顶点的度数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A25E1AA-7EB6-4BA9-BB4C-9A5FF93414A9}"/>
              </a:ext>
            </a:extLst>
          </p:cNvPr>
          <p:cNvSpPr txBox="1"/>
          <p:nvPr/>
        </p:nvSpPr>
        <p:spPr>
          <a:xfrm>
            <a:off x="4650790" y="949038"/>
            <a:ext cx="12188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握手定理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A15DF77-5763-4903-AA06-7AC52BBED5A2}"/>
              </a:ext>
            </a:extLst>
          </p:cNvPr>
          <p:cNvSpPr txBox="1"/>
          <p:nvPr/>
        </p:nvSpPr>
        <p:spPr>
          <a:xfrm>
            <a:off x="6248494" y="949038"/>
            <a:ext cx="10069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简单图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B5932BF-C06B-4420-8FE1-5AD6556309F0}"/>
              </a:ext>
            </a:extLst>
          </p:cNvPr>
          <p:cNvSpPr txBox="1"/>
          <p:nvPr/>
        </p:nvSpPr>
        <p:spPr>
          <a:xfrm>
            <a:off x="7615690" y="949038"/>
            <a:ext cx="9580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完全图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D19DEFB-3684-45D7-898F-D150D3E5FA70}"/>
              </a:ext>
            </a:extLst>
          </p:cNvPr>
          <p:cNvSpPr txBox="1"/>
          <p:nvPr/>
        </p:nvSpPr>
        <p:spPr>
          <a:xfrm>
            <a:off x="9008092" y="949038"/>
            <a:ext cx="7596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子图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DDE0A79-89F6-4524-9D2A-153A683E2EAA}"/>
              </a:ext>
            </a:extLst>
          </p:cNvPr>
          <p:cNvSpPr txBox="1"/>
          <p:nvPr/>
        </p:nvSpPr>
        <p:spPr>
          <a:xfrm>
            <a:off x="10113046" y="949038"/>
            <a:ext cx="10069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补图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19568B1-810E-472B-8298-7AC2A113058B}"/>
              </a:ext>
            </a:extLst>
          </p:cNvPr>
          <p:cNvSpPr txBox="1"/>
          <p:nvPr/>
        </p:nvSpPr>
        <p:spPr>
          <a:xfrm>
            <a:off x="11152964" y="949038"/>
            <a:ext cx="7745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同构</a:t>
            </a:r>
          </a:p>
        </p:txBody>
      </p:sp>
    </p:spTree>
    <p:extLst>
      <p:ext uri="{BB962C8B-B14F-4D97-AF65-F5344CB8AC3E}">
        <p14:creationId xmlns:p14="http://schemas.microsoft.com/office/powerpoint/2010/main" val="2346176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4" y="309648"/>
            <a:ext cx="7777443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5.2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通路、回路和图的连通性</a:t>
            </a:r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36A26841-D485-4377-BE52-67DE9B8FDD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929" y="1567913"/>
            <a:ext cx="11441951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9pPr>
          </a:lstStyle>
          <a:p>
            <a:pPr marL="457200" indent="-457200" eaLnBrk="1" hangingPunct="1">
              <a:buFont typeface="Wingdings" panose="05000000000000000000" pitchFamily="2" charset="2"/>
              <a:buNone/>
            </a:pP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.11  </a:t>
            </a:r>
            <a:endParaRPr lang="en-US" altLang="zh-CN" kern="0" dirty="0">
              <a:solidFill>
                <a:srgbClr val="992677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 eaLnBrk="1" hangingPunct="1">
              <a:buFont typeface="Wingdings" panose="05000000000000000000" pitchFamily="2" charset="2"/>
              <a:buNone/>
            </a:pP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给定图</a:t>
            </a:r>
            <a:r>
              <a:rPr lang="en-US" altLang="zh-CN" i="1" kern="0" dirty="0">
                <a:latin typeface="Times New Roman" panose="02020603050405020304" pitchFamily="18" charset="0"/>
              </a:rPr>
              <a:t>G</a:t>
            </a:r>
            <a:r>
              <a:rPr lang="en-US" altLang="zh-CN" kern="0" dirty="0">
                <a:latin typeface="Times New Roman" panose="02020603050405020304" pitchFamily="18" charset="0"/>
              </a:rPr>
              <a:t>=&lt;</a:t>
            </a:r>
            <a:r>
              <a:rPr lang="en-US" altLang="zh-CN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kern="0" dirty="0" err="1">
                <a:latin typeface="Times New Roman" panose="02020603050405020304" pitchFamily="18" charset="0"/>
              </a:rPr>
              <a:t>,</a:t>
            </a:r>
            <a:r>
              <a:rPr lang="en-US" altLang="zh-CN" i="1" kern="0" dirty="0" err="1">
                <a:latin typeface="Times New Roman" panose="02020603050405020304" pitchFamily="18" charset="0"/>
              </a:rPr>
              <a:t>E</a:t>
            </a:r>
            <a:r>
              <a:rPr lang="en-US" altLang="zh-CN" kern="0" dirty="0">
                <a:latin typeface="Times New Roman" panose="02020603050405020304" pitchFamily="18" charset="0"/>
              </a:rPr>
              <a:t>&gt;（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无向或有向的），</a:t>
            </a:r>
            <a:r>
              <a:rPr lang="en-US" altLang="zh-CN" i="1" kern="0" dirty="0">
                <a:latin typeface="Times New Roman" panose="02020603050405020304" pitchFamily="18" charset="0"/>
              </a:rPr>
              <a:t>G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顶点与边的交替序列 </a:t>
            </a:r>
            <a:endParaRPr lang="en-US" altLang="zh-CN" kern="0" dirty="0">
              <a:solidFill>
                <a:srgbClr val="992677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 eaLnBrk="1" hangingPunct="1">
              <a:buFont typeface="Wingdings" panose="05000000000000000000" pitchFamily="2" charset="2"/>
              <a:buNone/>
            </a:pPr>
            <a:r>
              <a:rPr lang="zh-CN" altLang="en-US" i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                 </a:t>
            </a:r>
            <a:r>
              <a:rPr lang="zh-CN" altLang="en-US" i="1" kern="0" dirty="0">
                <a:latin typeface="Times New Roman" panose="02020603050405020304" pitchFamily="18" charset="0"/>
              </a:rPr>
              <a:t> </a:t>
            </a:r>
            <a:r>
              <a:rPr lang="zh-CN" altLang="en-US" kern="0" dirty="0">
                <a:latin typeface="Times New Roman" panose="02020603050405020304" pitchFamily="18" charset="0"/>
              </a:rPr>
              <a:t>= </a:t>
            </a:r>
            <a:r>
              <a:rPr lang="en-US" altLang="zh-CN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kern="0" baseline="-25000" dirty="0" err="1">
                <a:latin typeface="Times New Roman" panose="02020603050405020304" pitchFamily="18" charset="0"/>
              </a:rPr>
              <a:t>0</a:t>
            </a:r>
            <a:r>
              <a:rPr lang="en-US" altLang="zh-CN" i="1" kern="0" dirty="0" err="1">
                <a:latin typeface="Times New Roman" panose="02020603050405020304" pitchFamily="18" charset="0"/>
              </a:rPr>
              <a:t>e</a:t>
            </a:r>
            <a:r>
              <a:rPr lang="en-US" altLang="zh-CN" kern="0" baseline="-25000" dirty="0" err="1">
                <a:latin typeface="Times New Roman" panose="02020603050405020304" pitchFamily="18" charset="0"/>
              </a:rPr>
              <a:t>1</a:t>
            </a:r>
            <a:r>
              <a:rPr lang="en-US" altLang="zh-CN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kern="0" baseline="-25000" dirty="0" err="1">
                <a:latin typeface="Times New Roman" panose="02020603050405020304" pitchFamily="18" charset="0"/>
              </a:rPr>
              <a:t>1</a:t>
            </a:r>
            <a:r>
              <a:rPr lang="en-US" altLang="zh-CN" i="1" kern="0" dirty="0" err="1">
                <a:latin typeface="Times New Roman" panose="02020603050405020304" pitchFamily="18" charset="0"/>
              </a:rPr>
              <a:t>e</a:t>
            </a:r>
            <a:r>
              <a:rPr lang="en-US" altLang="zh-CN" kern="0" baseline="-25000" dirty="0" err="1">
                <a:latin typeface="Times New Roman" panose="02020603050405020304" pitchFamily="18" charset="0"/>
              </a:rPr>
              <a:t>2</a:t>
            </a:r>
            <a:r>
              <a:rPr lang="en-US" altLang="zh-CN" kern="0" dirty="0">
                <a:latin typeface="Times New Roman" panose="02020603050405020304" pitchFamily="18" charset="0"/>
              </a:rPr>
              <a:t>…</a:t>
            </a:r>
            <a:r>
              <a:rPr lang="en-US" altLang="zh-CN" i="1" kern="0" dirty="0" err="1">
                <a:latin typeface="Times New Roman" panose="02020603050405020304" pitchFamily="18" charset="0"/>
              </a:rPr>
              <a:t>e</a:t>
            </a:r>
            <a:r>
              <a:rPr lang="en-US" altLang="zh-CN" i="1" kern="0" baseline="-25000" dirty="0" err="1">
                <a:latin typeface="Times New Roman" panose="02020603050405020304" pitchFamily="18" charset="0"/>
              </a:rPr>
              <a:t>l</a:t>
            </a:r>
            <a:r>
              <a:rPr lang="en-US" altLang="zh-CN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i="1" kern="0" baseline="-25000" dirty="0" err="1">
                <a:latin typeface="Times New Roman" panose="02020603050405020304" pitchFamily="18" charset="0"/>
              </a:rPr>
              <a:t>l</a:t>
            </a:r>
            <a:r>
              <a:rPr lang="en-US" altLang="zh-CN" kern="0" dirty="0" err="1">
                <a:latin typeface="Times New Roman" panose="02020603050405020304" pitchFamily="18" charset="0"/>
              </a:rPr>
              <a:t>，</a:t>
            </a:r>
            <a:r>
              <a:rPr lang="en-US" altLang="zh-CN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i="1" kern="0" baseline="-25000" dirty="0" err="1">
                <a:latin typeface="Times New Roman" panose="02020603050405020304" pitchFamily="18" charset="0"/>
              </a:rPr>
              <a:t>i</a:t>
            </a:r>
            <a:r>
              <a:rPr lang="en-US" altLang="zh-CN" kern="0" baseline="-250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kern="0" baseline="-25000" dirty="0" err="1">
                <a:latin typeface="Times New Roman" panose="02020603050405020304" pitchFamily="18" charset="0"/>
              </a:rPr>
              <a:t>1</a:t>
            </a:r>
            <a:r>
              <a:rPr lang="en-US" altLang="zh-CN" kern="0" dirty="0">
                <a:latin typeface="Times New Roman" panose="02020603050405020304" pitchFamily="18" charset="0"/>
              </a:rPr>
              <a:t>, </a:t>
            </a:r>
            <a:r>
              <a:rPr lang="en-US" altLang="zh-CN" i="1" kern="0" dirty="0">
                <a:latin typeface="Times New Roman" panose="02020603050405020304" pitchFamily="18" charset="0"/>
              </a:rPr>
              <a:t>v</a:t>
            </a:r>
            <a:r>
              <a:rPr lang="en-US" altLang="zh-CN" i="1" kern="0" baseline="-25000" dirty="0">
                <a:latin typeface="Times New Roman" panose="02020603050405020304" pitchFamily="18" charset="0"/>
              </a:rPr>
              <a:t>i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lang="zh-CN" altLang="en-US" kern="0" dirty="0">
                <a:latin typeface="Times New Roman" panose="02020603050405020304" pitchFamily="18" charset="0"/>
              </a:rPr>
              <a:t> </a:t>
            </a:r>
            <a:r>
              <a:rPr lang="en-US" altLang="zh-CN" i="1" kern="0" dirty="0" err="1">
                <a:latin typeface="Times New Roman" panose="02020603050405020304" pitchFamily="18" charset="0"/>
              </a:rPr>
              <a:t>e</a:t>
            </a:r>
            <a:r>
              <a:rPr lang="en-US" altLang="zh-CN" i="1" kern="0" baseline="-25000" dirty="0" err="1">
                <a:latin typeface="Times New Roman" panose="02020603050405020304" pitchFamily="18" charset="0"/>
              </a:rPr>
              <a:t>i</a:t>
            </a:r>
            <a:r>
              <a:rPr lang="en-US" altLang="zh-CN" i="1" kern="0" baseline="-25000" dirty="0">
                <a:latin typeface="Times New Roman" panose="02020603050405020304" pitchFamily="18" charset="0"/>
              </a:rPr>
              <a:t>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的端点.</a:t>
            </a: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430862D7-825F-454E-A413-90B667ACD3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027" y="3277133"/>
            <a:ext cx="10479657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9pPr>
          </a:lstStyle>
          <a:p>
            <a:pPr marL="457200" indent="-457200" eaLnBrk="1" hangingPunct="1">
              <a:buNone/>
              <a:defRPr/>
            </a:pP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(1) 通路与回路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：</a:t>
            </a:r>
            <a:r>
              <a:rPr lang="zh-CN" altLang="en-US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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通路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；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若 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v</a:t>
            </a:r>
            <a:r>
              <a:rPr lang="en-US" altLang="zh-CN" kern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0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=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v</a:t>
            </a:r>
            <a:r>
              <a:rPr lang="en-US" altLang="zh-CN" i="1" kern="0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l</a:t>
            </a:r>
            <a:r>
              <a:rPr lang="en-US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zh-CN" altLang="en-US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 </a:t>
            </a:r>
            <a:r>
              <a:rPr lang="en-US" altLang="zh-CN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为回路， </a:t>
            </a:r>
            <a:r>
              <a:rPr lang="en-US" altLang="zh-CN" i="1" kern="0" dirty="0">
                <a:solidFill>
                  <a:srgbClr val="992677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为回路长度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.</a:t>
            </a:r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CEDE815A-8298-4819-B013-38D349499B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638" y="4017968"/>
            <a:ext cx="11441951" cy="811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9pPr>
          </a:lstStyle>
          <a:p>
            <a:pPr marL="457200" indent="-457200" eaLnBrk="1" hangingPunct="1">
              <a:buFont typeface="Wingdings" panose="05000000000000000000" pitchFamily="2" charset="2"/>
              <a:buNone/>
              <a:defRPr/>
            </a:pP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(2) 简单通路与回路：所有边各异，</a:t>
            </a:r>
            <a:r>
              <a:rPr lang="zh-CN" altLang="en-US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 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为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简单通路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，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又若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v</a:t>
            </a:r>
            <a:r>
              <a:rPr lang="en-US" altLang="zh-CN" kern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0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=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v</a:t>
            </a:r>
            <a:r>
              <a:rPr lang="en-US" altLang="zh-CN" i="1" kern="0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l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，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 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为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简单回路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.</a:t>
            </a:r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73E2003A-C097-4AA4-AC32-50D8CEEB75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774" y="4757216"/>
            <a:ext cx="11441951" cy="1303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9pPr>
          </a:lstStyle>
          <a:p>
            <a:pPr marL="457200" indent="-457200" eaLnBrk="1" hangingPunct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(3) 初级通路(路径)与初级回路(圈)：</a:t>
            </a:r>
            <a:r>
              <a:rPr lang="zh-CN" altLang="en-US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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中所有顶点各异，则称</a:t>
            </a:r>
            <a:r>
              <a:rPr lang="zh-CN" altLang="en-US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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初级通路(路径)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， </a:t>
            </a:r>
            <a:endParaRPr lang="en-US" altLang="zh-CN" kern="0" dirty="0">
              <a:solidFill>
                <a:srgbClr val="000000"/>
              </a:solidFill>
              <a:latin typeface="Times New Roman" panose="02020603050405020304" pitchFamily="18" charset="0"/>
              <a:ea typeface="宋体"/>
            </a:endParaRPr>
          </a:p>
          <a:p>
            <a:pPr marL="457200" indent="-457200" eaLnBrk="1" hangingPunct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       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又若除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v</a:t>
            </a:r>
            <a:r>
              <a:rPr lang="en-US" altLang="zh-CN" kern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0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=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v</a:t>
            </a:r>
            <a:r>
              <a:rPr lang="en-US" altLang="zh-CN" i="1" kern="0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l</a:t>
            </a:r>
            <a:r>
              <a:rPr lang="en-US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所有的顶点各不相同且所有的边各异，则称</a:t>
            </a:r>
            <a:r>
              <a:rPr lang="zh-CN" altLang="en-US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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初级回路(圈) 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.</a:t>
            </a:r>
          </a:p>
        </p:txBody>
      </p:sp>
      <p:sp>
        <p:nvSpPr>
          <p:cNvPr id="25" name="Rectangle 3">
            <a:extLst>
              <a:ext uri="{FF2B5EF4-FFF2-40B4-BE49-F238E27FC236}">
                <a16:creationId xmlns:a16="http://schemas.microsoft.com/office/drawing/2014/main" id="{7308A34A-95B5-4B27-AE41-45F0AB2EF0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604" y="5988588"/>
            <a:ext cx="11441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9pPr>
          </a:lstStyle>
          <a:p>
            <a:pPr marL="457200" indent="-457200" eaLnBrk="1" hangingPunct="1">
              <a:buFont typeface="Wingdings" panose="05000000000000000000" pitchFamily="2" charset="2"/>
              <a:buNone/>
              <a:defRPr/>
            </a:pP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(4) 复杂通路与回路：有边重复出现</a:t>
            </a:r>
            <a:r>
              <a:rPr lang="en-US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en-US" kern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BFA99B4-30E0-4B2B-9156-589F383828F0}"/>
              </a:ext>
            </a:extLst>
          </p:cNvPr>
          <p:cNvSpPr txBox="1"/>
          <p:nvPr/>
        </p:nvSpPr>
        <p:spPr>
          <a:xfrm>
            <a:off x="568035" y="949038"/>
            <a:ext cx="20198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通路与回路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32E24E3-86AE-4F79-882C-87AE708B3ADB}"/>
              </a:ext>
            </a:extLst>
          </p:cNvPr>
          <p:cNvSpPr txBox="1"/>
          <p:nvPr/>
        </p:nvSpPr>
        <p:spPr>
          <a:xfrm>
            <a:off x="3677789" y="949038"/>
            <a:ext cx="20363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无向图的连通性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51AA650-5F9D-4617-9DC9-DABD5BA1A888}"/>
              </a:ext>
            </a:extLst>
          </p:cNvPr>
          <p:cNvSpPr txBox="1"/>
          <p:nvPr/>
        </p:nvSpPr>
        <p:spPr>
          <a:xfrm>
            <a:off x="10895689" y="949038"/>
            <a:ext cx="820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割集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9551A9E-ED30-45A3-8C51-0457BABA9482}"/>
              </a:ext>
            </a:extLst>
          </p:cNvPr>
          <p:cNvSpPr txBox="1"/>
          <p:nvPr/>
        </p:nvSpPr>
        <p:spPr>
          <a:xfrm>
            <a:off x="7598594" y="953516"/>
            <a:ext cx="20198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有向图的连通性</a:t>
            </a:r>
          </a:p>
        </p:txBody>
      </p:sp>
    </p:spTree>
    <p:extLst>
      <p:ext uri="{BB962C8B-B14F-4D97-AF65-F5344CB8AC3E}">
        <p14:creationId xmlns:p14="http://schemas.microsoft.com/office/powerpoint/2010/main" val="2460957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/>
      <p:bldP spid="22" grpId="0"/>
      <p:bldP spid="23" grpId="0"/>
      <p:bldP spid="24" grpId="0"/>
      <p:bldP spid="2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标题 1">
            <a:extLst>
              <a:ext uri="{FF2B5EF4-FFF2-40B4-BE49-F238E27FC236}">
                <a16:creationId xmlns:a16="http://schemas.microsoft.com/office/drawing/2014/main" id="{90ECBB84-1768-4596-937F-437ECE8B98D0}"/>
              </a:ext>
            </a:extLst>
          </p:cNvPr>
          <p:cNvSpPr txBox="1">
            <a:spLocks/>
          </p:cNvSpPr>
          <p:nvPr/>
        </p:nvSpPr>
        <p:spPr>
          <a:xfrm>
            <a:off x="577968" y="1466489"/>
            <a:ext cx="8229600" cy="54346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通路与回路实例</a:t>
            </a:r>
          </a:p>
        </p:txBody>
      </p:sp>
      <p:pic>
        <p:nvPicPr>
          <p:cNvPr id="31" name="Picture 2" descr="7T7">
            <a:extLst>
              <a:ext uri="{FF2B5EF4-FFF2-40B4-BE49-F238E27FC236}">
                <a16:creationId xmlns:a16="http://schemas.microsoft.com/office/drawing/2014/main" id="{333C8AB1-B956-4C9F-97D3-66EC22BBCA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22" r="5933" b="77422"/>
          <a:stretch>
            <a:fillRect/>
          </a:stretch>
        </p:blipFill>
        <p:spPr bwMode="auto">
          <a:xfrm>
            <a:off x="1781947" y="1613470"/>
            <a:ext cx="8497888" cy="158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" name="Picture 2" descr="7T7">
            <a:extLst>
              <a:ext uri="{FF2B5EF4-FFF2-40B4-BE49-F238E27FC236}">
                <a16:creationId xmlns:a16="http://schemas.microsoft.com/office/drawing/2014/main" id="{C6F4E258-4F52-43BA-829C-C779E45BF9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15" t="68889" r="30537" b="5875"/>
          <a:stretch>
            <a:fillRect/>
          </a:stretch>
        </p:blipFill>
        <p:spPr bwMode="auto">
          <a:xfrm>
            <a:off x="1935278" y="5021473"/>
            <a:ext cx="6894512" cy="177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" name="Picture 2" descr="7T7">
            <a:extLst>
              <a:ext uri="{FF2B5EF4-FFF2-40B4-BE49-F238E27FC236}">
                <a16:creationId xmlns:a16="http://schemas.microsoft.com/office/drawing/2014/main" id="{0D89D99B-EF46-498F-AF9C-5AD0BE051A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15" t="29044" r="10783" b="39256"/>
          <a:stretch>
            <a:fillRect/>
          </a:stretch>
        </p:blipFill>
        <p:spPr bwMode="auto">
          <a:xfrm>
            <a:off x="1633863" y="3053332"/>
            <a:ext cx="7527925" cy="199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标题 449">
            <a:extLst>
              <a:ext uri="{FF2B5EF4-FFF2-40B4-BE49-F238E27FC236}">
                <a16:creationId xmlns:a16="http://schemas.microsoft.com/office/drawing/2014/main" id="{BA990717-71D9-4970-B9A5-13EBAE1FDCD9}"/>
              </a:ext>
            </a:extLst>
          </p:cNvPr>
          <p:cNvSpPr txBox="1">
            <a:spLocks/>
          </p:cNvSpPr>
          <p:nvPr/>
        </p:nvSpPr>
        <p:spPr>
          <a:xfrm>
            <a:off x="485774" y="309648"/>
            <a:ext cx="7777443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5.2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通路、回路和图的连通性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0391B26-D717-4169-BA5E-7D3FEE76A4D9}"/>
              </a:ext>
            </a:extLst>
          </p:cNvPr>
          <p:cNvSpPr txBox="1"/>
          <p:nvPr/>
        </p:nvSpPr>
        <p:spPr>
          <a:xfrm>
            <a:off x="568035" y="949038"/>
            <a:ext cx="20198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通路与回路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0245030-F92C-4A27-929F-289A42F43D6C}"/>
              </a:ext>
            </a:extLst>
          </p:cNvPr>
          <p:cNvSpPr txBox="1"/>
          <p:nvPr/>
        </p:nvSpPr>
        <p:spPr>
          <a:xfrm>
            <a:off x="3677789" y="949038"/>
            <a:ext cx="20363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无向图的连通性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F81AB3D-1D2C-4188-B1D6-2F9A46081455}"/>
              </a:ext>
            </a:extLst>
          </p:cNvPr>
          <p:cNvSpPr txBox="1"/>
          <p:nvPr/>
        </p:nvSpPr>
        <p:spPr>
          <a:xfrm>
            <a:off x="10895689" y="949038"/>
            <a:ext cx="820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割集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59063E9-FE2D-4BE0-8F70-F0A2DBA28CF9}"/>
              </a:ext>
            </a:extLst>
          </p:cNvPr>
          <p:cNvSpPr txBox="1"/>
          <p:nvPr/>
        </p:nvSpPr>
        <p:spPr>
          <a:xfrm>
            <a:off x="7598594" y="953516"/>
            <a:ext cx="20198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有向图的连通性</a:t>
            </a:r>
          </a:p>
        </p:txBody>
      </p:sp>
    </p:spTree>
    <p:extLst>
      <p:ext uri="{BB962C8B-B14F-4D97-AF65-F5344CB8AC3E}">
        <p14:creationId xmlns:p14="http://schemas.microsoft.com/office/powerpoint/2010/main" val="3141248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3">
            <a:extLst>
              <a:ext uri="{FF2B5EF4-FFF2-40B4-BE49-F238E27FC236}">
                <a16:creationId xmlns:a16="http://schemas.microsoft.com/office/drawing/2014/main" id="{EE5338D6-2058-4BCE-BCFE-9D1AD75300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342" y="1628954"/>
            <a:ext cx="11153955" cy="47382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几点说明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  <a:p>
            <a:pPr algn="just" eaLnBrk="1" hangingPunct="1">
              <a:lnSpc>
                <a:spcPct val="150000"/>
              </a:lnSpc>
              <a:buClr>
                <a:srgbClr val="992677"/>
              </a:buClr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表示方法</a:t>
            </a:r>
          </a:p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b="1" kern="0" dirty="0">
                <a:latin typeface="Times New Roman" panose="02020603050405020304" pitchFamily="18" charset="0"/>
              </a:rPr>
              <a:t>    ①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用顶点和边的交替序列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),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如</a:t>
            </a:r>
            <a:r>
              <a:rPr lang="zh-CN" altLang="en-US" sz="2400" b="1" i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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=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kern="0" baseline="-30000" dirty="0" err="1">
                <a:latin typeface="Times New Roman" panose="02020603050405020304" pitchFamily="18" charset="0"/>
              </a:rPr>
              <a:t>0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e</a:t>
            </a:r>
            <a:r>
              <a:rPr lang="en-US" altLang="zh-CN" sz="2400" b="1" kern="0" baseline="-30000" dirty="0" err="1">
                <a:latin typeface="Times New Roman" panose="02020603050405020304" pitchFamily="18" charset="0"/>
              </a:rPr>
              <a:t>1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kern="0" baseline="-30000" dirty="0" err="1">
                <a:latin typeface="Times New Roman" panose="02020603050405020304" pitchFamily="18" charset="0"/>
              </a:rPr>
              <a:t>1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e</a:t>
            </a:r>
            <a:r>
              <a:rPr lang="en-US" altLang="zh-CN" sz="2400" b="1" kern="0" baseline="-30000" dirty="0" err="1">
                <a:latin typeface="Times New Roman" panose="02020603050405020304" pitchFamily="18" charset="0"/>
              </a:rPr>
              <a:t>2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…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e</a:t>
            </a:r>
            <a:r>
              <a:rPr lang="en-US" altLang="zh-CN" sz="2400" b="1" i="1" kern="0" baseline="-30000" dirty="0" err="1">
                <a:latin typeface="Times New Roman" panose="02020603050405020304" pitchFamily="18" charset="0"/>
              </a:rPr>
              <a:t>l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i="1" kern="0" baseline="-30000" dirty="0" err="1">
                <a:latin typeface="Times New Roman" panose="02020603050405020304" pitchFamily="18" charset="0"/>
              </a:rPr>
              <a:t>l</a:t>
            </a:r>
            <a:endParaRPr lang="en-US" altLang="zh-CN" sz="2400" b="1" kern="0" dirty="0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b="1" kern="0" dirty="0">
                <a:latin typeface="Times New Roman" panose="02020603050405020304" pitchFamily="18" charset="0"/>
              </a:rPr>
              <a:t>    ②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用边的序列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如</a:t>
            </a:r>
            <a:r>
              <a:rPr lang="zh-CN" altLang="en-US" sz="2400" b="1" i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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=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e</a:t>
            </a:r>
            <a:r>
              <a:rPr lang="en-US" altLang="zh-CN" sz="2400" b="1" kern="0" baseline="-30000" dirty="0" err="1">
                <a:latin typeface="Times New Roman" panose="02020603050405020304" pitchFamily="18" charset="0"/>
              </a:rPr>
              <a:t>1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e</a:t>
            </a:r>
            <a:r>
              <a:rPr lang="en-US" altLang="zh-CN" sz="2400" b="1" kern="0" baseline="-30000" dirty="0" err="1">
                <a:latin typeface="Times New Roman" panose="02020603050405020304" pitchFamily="18" charset="0"/>
              </a:rPr>
              <a:t>2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…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e</a:t>
            </a:r>
            <a:r>
              <a:rPr lang="en-US" altLang="zh-CN" sz="2400" b="1" i="1" kern="0" baseline="-30000" dirty="0" err="1">
                <a:latin typeface="Times New Roman" panose="02020603050405020304" pitchFamily="18" charset="0"/>
              </a:rPr>
              <a:t>l</a:t>
            </a:r>
            <a:endParaRPr lang="en-US" altLang="zh-CN" sz="2400" b="1" kern="0" dirty="0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b="1" kern="0" dirty="0">
                <a:latin typeface="Times New Roman" panose="02020603050405020304" pitchFamily="18" charset="0"/>
              </a:rPr>
              <a:t>    ③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简单图中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用顶点的序列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如</a:t>
            </a:r>
            <a:r>
              <a:rPr lang="zh-CN" altLang="en-US" sz="2400" b="1" i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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=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kern="0" baseline="-30000" dirty="0" err="1">
                <a:latin typeface="Times New Roman" panose="02020603050405020304" pitchFamily="18" charset="0"/>
              </a:rPr>
              <a:t>0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kern="0" baseline="-30000" dirty="0" err="1">
                <a:latin typeface="Times New Roman" panose="02020603050405020304" pitchFamily="18" charset="0"/>
              </a:rPr>
              <a:t>1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…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i="1" kern="0" baseline="-30000" dirty="0" err="1">
                <a:latin typeface="Times New Roman" panose="02020603050405020304" pitchFamily="18" charset="0"/>
              </a:rPr>
              <a:t>l</a:t>
            </a:r>
            <a:endParaRPr lang="en-US" altLang="zh-CN" sz="2400" b="1" kern="0" dirty="0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400" b="1" kern="0" dirty="0">
                <a:latin typeface="Times New Roman" panose="02020603050405020304" pitchFamily="18" charset="0"/>
              </a:rPr>
              <a:t>    ④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非简单图中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可用混合表示法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如</a:t>
            </a:r>
            <a:r>
              <a:rPr lang="zh-CN" altLang="en-US" sz="2400" b="1" i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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=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kern="0" baseline="-30000" dirty="0" err="1">
                <a:latin typeface="Times New Roman" panose="02020603050405020304" pitchFamily="18" charset="0"/>
              </a:rPr>
              <a:t>0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kern="0" baseline="-30000" dirty="0" err="1">
                <a:latin typeface="Times New Roman" panose="02020603050405020304" pitchFamily="18" charset="0"/>
              </a:rPr>
              <a:t>1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e</a:t>
            </a:r>
            <a:r>
              <a:rPr lang="en-US" altLang="zh-CN" sz="2400" b="1" kern="0" baseline="-25000" dirty="0" err="1">
                <a:latin typeface="Times New Roman" panose="02020603050405020304" pitchFamily="18" charset="0"/>
              </a:rPr>
              <a:t>2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kern="0" baseline="-25000" dirty="0" err="1">
                <a:latin typeface="Times New Roman" panose="02020603050405020304" pitchFamily="18" charset="0"/>
              </a:rPr>
              <a:t>2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e</a:t>
            </a:r>
            <a:r>
              <a:rPr lang="en-US" altLang="zh-CN" sz="2400" b="1" kern="0" baseline="-25000" dirty="0" err="1">
                <a:latin typeface="Times New Roman" panose="02020603050405020304" pitchFamily="18" charset="0"/>
              </a:rPr>
              <a:t>5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kern="0" baseline="-25000" dirty="0" err="1">
                <a:latin typeface="Times New Roman" panose="02020603050405020304" pitchFamily="18" charset="0"/>
              </a:rPr>
              <a:t>3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kern="0" baseline="-25000" dirty="0" err="1">
                <a:latin typeface="Times New Roman" panose="02020603050405020304" pitchFamily="18" charset="0"/>
              </a:rPr>
              <a:t>4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kern="0" baseline="-25000" dirty="0" err="1">
                <a:latin typeface="Times New Roman" panose="02020603050405020304" pitchFamily="18" charset="0"/>
              </a:rPr>
              <a:t>5</a:t>
            </a:r>
            <a:endParaRPr lang="en-US" altLang="zh-CN" sz="2400" b="1" kern="0" baseline="-250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Clr>
                <a:srgbClr val="992677"/>
              </a:buClr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环是长度为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的圈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两条平行边构成长度为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的圈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  <a:p>
            <a:pPr eaLnBrk="1" hangingPunct="1">
              <a:lnSpc>
                <a:spcPct val="150000"/>
              </a:lnSpc>
              <a:buClr>
                <a:srgbClr val="992677"/>
              </a:buClr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在无向简单图中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所有圈的长度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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3;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在有向简单图中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所有圈的长度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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</a:p>
          <a:p>
            <a:pPr marL="0" indent="0" eaLnBrk="1" hangingPunct="1">
              <a:lnSpc>
                <a:spcPct val="150000"/>
              </a:lnSpc>
              <a:buClr>
                <a:srgbClr val="992677"/>
              </a:buClr>
              <a:buNone/>
            </a:pPr>
            <a:endParaRPr lang="en-US" altLang="zh-CN" sz="24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标题 449">
            <a:extLst>
              <a:ext uri="{FF2B5EF4-FFF2-40B4-BE49-F238E27FC236}">
                <a16:creationId xmlns:a16="http://schemas.microsoft.com/office/drawing/2014/main" id="{BF4BF5FC-9939-47DF-B18D-E2272E9453D8}"/>
              </a:ext>
            </a:extLst>
          </p:cNvPr>
          <p:cNvSpPr txBox="1">
            <a:spLocks/>
          </p:cNvSpPr>
          <p:nvPr/>
        </p:nvSpPr>
        <p:spPr>
          <a:xfrm>
            <a:off x="485774" y="309648"/>
            <a:ext cx="7777443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5.2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通路、回路和图的连通性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311EC88-D23B-433B-8D89-886A02A99CD8}"/>
              </a:ext>
            </a:extLst>
          </p:cNvPr>
          <p:cNvSpPr txBox="1"/>
          <p:nvPr/>
        </p:nvSpPr>
        <p:spPr>
          <a:xfrm>
            <a:off x="568035" y="949038"/>
            <a:ext cx="20198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通路与回路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17ABDF-919C-4C68-BE4D-6D3C19CF5662}"/>
              </a:ext>
            </a:extLst>
          </p:cNvPr>
          <p:cNvSpPr txBox="1"/>
          <p:nvPr/>
        </p:nvSpPr>
        <p:spPr>
          <a:xfrm>
            <a:off x="3677789" y="949038"/>
            <a:ext cx="20363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无向图的连通性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C6C85E6-FF16-45B2-B3E9-C6F27C0AFF95}"/>
              </a:ext>
            </a:extLst>
          </p:cNvPr>
          <p:cNvSpPr txBox="1"/>
          <p:nvPr/>
        </p:nvSpPr>
        <p:spPr>
          <a:xfrm>
            <a:off x="10895689" y="949038"/>
            <a:ext cx="820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割集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F67B481-8B0B-4143-AD3B-07C8D53152EB}"/>
              </a:ext>
            </a:extLst>
          </p:cNvPr>
          <p:cNvSpPr txBox="1"/>
          <p:nvPr/>
        </p:nvSpPr>
        <p:spPr>
          <a:xfrm>
            <a:off x="7598594" y="953516"/>
            <a:ext cx="20198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有向图的连通性</a:t>
            </a:r>
          </a:p>
        </p:txBody>
      </p:sp>
    </p:spTree>
    <p:extLst>
      <p:ext uri="{BB962C8B-B14F-4D97-AF65-F5344CB8AC3E}">
        <p14:creationId xmlns:p14="http://schemas.microsoft.com/office/powerpoint/2010/main" val="232795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3">
            <a:extLst>
              <a:ext uri="{FF2B5EF4-FFF2-40B4-BE49-F238E27FC236}">
                <a16:creationId xmlns:a16="http://schemas.microsoft.com/office/drawing/2014/main" id="{705BFA85-5EE6-41F9-A46E-26363748E8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341" y="1661116"/>
            <a:ext cx="11288354" cy="1191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定理5</a:t>
            </a:r>
            <a:r>
              <a:rPr lang="en-US" altLang="zh-CN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.3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r>
              <a:rPr lang="en-US" altLang="zh-CN" i="1" kern="0" dirty="0">
                <a:latin typeface="Times New Roman" panose="02020603050405020304" pitchFamily="18" charset="0"/>
              </a:rPr>
              <a:t>n 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阶图</a:t>
            </a:r>
            <a:r>
              <a:rPr lang="en-US" altLang="zh-CN" i="1" kern="0" dirty="0">
                <a:latin typeface="Times New Roman" panose="02020603050405020304" pitchFamily="18" charset="0"/>
              </a:rPr>
              <a:t>G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中，若从顶点</a:t>
            </a:r>
            <a:r>
              <a:rPr lang="en-US" altLang="zh-CN" i="1" kern="0" dirty="0">
                <a:latin typeface="Times New Roman" panose="02020603050405020304" pitchFamily="18" charset="0"/>
              </a:rPr>
              <a:t>v</a:t>
            </a:r>
            <a:r>
              <a:rPr lang="en-US" altLang="zh-CN" i="1" kern="0" baseline="-25000" dirty="0">
                <a:latin typeface="Times New Roman" panose="02020603050405020304" pitchFamily="18" charset="0"/>
              </a:rPr>
              <a:t>i 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到</a:t>
            </a:r>
            <a:r>
              <a:rPr lang="en-US" altLang="zh-CN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i="1" kern="0" baseline="-25000" dirty="0" err="1">
                <a:latin typeface="Times New Roman" panose="02020603050405020304" pitchFamily="18" charset="0"/>
              </a:rPr>
              <a:t>j</a:t>
            </a:r>
            <a:r>
              <a:rPr lang="en-US" altLang="zh-CN" kern="0" dirty="0" err="1">
                <a:latin typeface="Times New Roman" panose="02020603050405020304" pitchFamily="18" charset="0"/>
              </a:rPr>
              <a:t>（</a:t>
            </a:r>
            <a:r>
              <a:rPr lang="en-US" altLang="zh-CN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i="1" kern="0" baseline="-25000" dirty="0" err="1">
                <a:latin typeface="Times New Roman" panose="02020603050405020304" pitchFamily="18" charset="0"/>
              </a:rPr>
              <a:t>i</a:t>
            </a:r>
            <a:r>
              <a:rPr lang="en-US" altLang="zh-CN" kern="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zh-CN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i="1" kern="0" baseline="-25000" dirty="0" err="1">
                <a:latin typeface="Times New Roman" panose="02020603050405020304" pitchFamily="18" charset="0"/>
              </a:rPr>
              <a:t>j</a:t>
            </a:r>
            <a:r>
              <a:rPr lang="en-US" altLang="zh-CN" kern="0" dirty="0">
                <a:latin typeface="Times New Roman" panose="02020603050405020304" pitchFamily="18" charset="0"/>
              </a:rPr>
              <a:t>）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存在通路，则从</a:t>
            </a:r>
            <a:r>
              <a:rPr lang="en-US" altLang="zh-CN" i="1" kern="0" dirty="0">
                <a:latin typeface="Times New Roman" panose="02020603050405020304" pitchFamily="18" charset="0"/>
              </a:rPr>
              <a:t>v</a:t>
            </a:r>
            <a:r>
              <a:rPr lang="en-US" altLang="zh-CN" i="1" kern="0" baseline="-25000" dirty="0">
                <a:latin typeface="Times New Roman" panose="02020603050405020304" pitchFamily="18" charset="0"/>
              </a:rPr>
              <a:t>i 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到</a:t>
            </a:r>
            <a:r>
              <a:rPr lang="zh-CN" altLang="en-US" kern="0" dirty="0">
                <a:latin typeface="Times New Roman" panose="02020603050405020304" pitchFamily="18" charset="0"/>
              </a:rPr>
              <a:t> </a:t>
            </a:r>
            <a:r>
              <a:rPr lang="en-US" altLang="zh-CN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i="1" kern="0" baseline="-25000" dirty="0" err="1">
                <a:latin typeface="Times New Roman" panose="02020603050405020304" pitchFamily="18" charset="0"/>
              </a:rPr>
              <a:t>j</a:t>
            </a:r>
            <a:r>
              <a:rPr lang="en-US" altLang="zh-CN" i="1" kern="0" baseline="-25000" dirty="0">
                <a:latin typeface="Times New Roman" panose="02020603050405020304" pitchFamily="18" charset="0"/>
              </a:rPr>
              <a:t> 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存在长度小</a:t>
            </a:r>
            <a:endParaRPr lang="en-US" altLang="zh-CN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         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于或等于</a:t>
            </a:r>
            <a:r>
              <a:rPr lang="en-US" altLang="zh-CN" i="1" kern="0" dirty="0" err="1">
                <a:latin typeface="Times New Roman" panose="02020603050405020304" pitchFamily="18" charset="0"/>
              </a:rPr>
              <a:t>n</a:t>
            </a:r>
            <a:r>
              <a:rPr lang="en-US" altLang="zh-CN" kern="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kern="0" dirty="0" err="1">
                <a:latin typeface="Times New Roman" panose="02020603050405020304" pitchFamily="18" charset="0"/>
              </a:rPr>
              <a:t>1</a:t>
            </a:r>
            <a:r>
              <a:rPr lang="en-US" altLang="zh-CN" kern="0" dirty="0">
                <a:latin typeface="Times New Roman" panose="02020603050405020304" pitchFamily="18" charset="0"/>
              </a:rPr>
              <a:t> 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的通路.</a:t>
            </a: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8A46D5A7-018D-4B29-9517-73C51152D7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340" y="2966612"/>
            <a:ext cx="11558647" cy="1372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9pPr>
          </a:lstStyle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推论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  在 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n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阶图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G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中，若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从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顶点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v</a:t>
            </a:r>
            <a:r>
              <a:rPr lang="en-US" altLang="zh-CN" i="1" kern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i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到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 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v</a:t>
            </a:r>
            <a:r>
              <a:rPr lang="en-US" altLang="zh-CN" i="1" kern="0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j</a:t>
            </a:r>
            <a:r>
              <a:rPr lang="en-US" altLang="zh-CN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（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v</a:t>
            </a:r>
            <a:r>
              <a:rPr lang="en-US" altLang="zh-CN" i="1" kern="0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i</a:t>
            </a:r>
            <a:r>
              <a:rPr lang="en-US" altLang="zh-CN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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v</a:t>
            </a:r>
            <a:r>
              <a:rPr lang="en-US" altLang="zh-CN" i="1" kern="0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j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）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存在通路，则从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v</a:t>
            </a:r>
            <a:r>
              <a:rPr lang="en-US" altLang="zh-CN" i="1" kern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i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到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v</a:t>
            </a:r>
            <a:r>
              <a:rPr lang="en-US" altLang="zh-CN" i="1" kern="0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j</a:t>
            </a:r>
            <a:r>
              <a:rPr lang="en-US" altLang="zh-CN" i="1" kern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存在长度小于</a:t>
            </a:r>
            <a:endParaRPr lang="en-US" altLang="zh-CN" kern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en-US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或等于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n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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1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的初级通路（路径）.</a:t>
            </a:r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0A957F27-633F-4A05-8A99-CD7B1A03BC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340" y="4160131"/>
            <a:ext cx="10991580" cy="569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定理</a:t>
            </a:r>
            <a:r>
              <a:rPr lang="en-US" altLang="zh-CN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en-US" altLang="zh-CN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在一个</a:t>
            </a:r>
            <a:r>
              <a:rPr lang="en-US" altLang="zh-CN" i="1" kern="0" dirty="0">
                <a:latin typeface="Times New Roman" panose="02020603050405020304" pitchFamily="18" charset="0"/>
              </a:rPr>
              <a:t>n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阶图</a:t>
            </a:r>
            <a:r>
              <a:rPr lang="en-US" altLang="zh-CN" i="1" kern="0" dirty="0">
                <a:latin typeface="Times New Roman" panose="02020603050405020304" pitchFamily="18" charset="0"/>
              </a:rPr>
              <a:t>G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中，若存在 </a:t>
            </a:r>
            <a:r>
              <a:rPr lang="en-US" altLang="zh-CN" i="1" kern="0" dirty="0">
                <a:latin typeface="Times New Roman" panose="02020603050405020304" pitchFamily="18" charset="0"/>
              </a:rPr>
              <a:t>v</a:t>
            </a:r>
            <a:r>
              <a:rPr lang="en-US" altLang="zh-CN" i="1" kern="0" baseline="-25000" dirty="0">
                <a:latin typeface="Times New Roman" panose="02020603050405020304" pitchFamily="18" charset="0"/>
              </a:rPr>
              <a:t>i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到自身的回路，则一定存在</a:t>
            </a:r>
            <a:r>
              <a:rPr lang="en-US" altLang="zh-CN" i="1" kern="0" dirty="0">
                <a:latin typeface="Times New Roman" panose="02020603050405020304" pitchFamily="18" charset="0"/>
              </a:rPr>
              <a:t>v</a:t>
            </a:r>
            <a:r>
              <a:rPr lang="en-US" altLang="zh-CN" i="1" kern="0" baseline="-25000" dirty="0">
                <a:latin typeface="Times New Roman" panose="02020603050405020304" pitchFamily="18" charset="0"/>
              </a:rPr>
              <a:t>i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到自身长度</a:t>
            </a:r>
            <a:endParaRPr lang="en-US" altLang="zh-CN" kern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小于或等于 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i="1" kern="0" dirty="0">
                <a:latin typeface="Times New Roman" panose="02020603050405020304" pitchFamily="18" charset="0"/>
              </a:rPr>
              <a:t>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的回路.</a:t>
            </a: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9DB89C51-1904-497D-9367-02004E07C9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696" y="5318026"/>
            <a:ext cx="10991580" cy="6773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9pPr>
          </a:lstStyle>
          <a:p>
            <a:pPr eaLnBrk="1" hangingPunct="1">
              <a:spcBef>
                <a:spcPct val="55000"/>
              </a:spcBef>
              <a:buFont typeface="Wingdings" panose="05000000000000000000" pitchFamily="2" charset="2"/>
              <a:buNone/>
              <a:defRPr/>
            </a:pP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推论</a:t>
            </a:r>
            <a:r>
              <a:rPr lang="zh-CN" alt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 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在一个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n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阶图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G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中，若存在 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v</a:t>
            </a:r>
            <a:r>
              <a:rPr lang="en-US" altLang="zh-CN" i="1" kern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i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到自身的简单回路，则一定存在长度小于或 </a:t>
            </a:r>
            <a:endParaRPr lang="en-US" altLang="zh-CN" kern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en-US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等于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n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的初级回路.</a:t>
            </a:r>
          </a:p>
        </p:txBody>
      </p:sp>
      <p:sp>
        <p:nvSpPr>
          <p:cNvPr id="11" name="标题 449">
            <a:extLst>
              <a:ext uri="{FF2B5EF4-FFF2-40B4-BE49-F238E27FC236}">
                <a16:creationId xmlns:a16="http://schemas.microsoft.com/office/drawing/2014/main" id="{B280D67F-DFA4-4CEB-95B1-212AE0F05EAD}"/>
              </a:ext>
            </a:extLst>
          </p:cNvPr>
          <p:cNvSpPr txBox="1">
            <a:spLocks/>
          </p:cNvSpPr>
          <p:nvPr/>
        </p:nvSpPr>
        <p:spPr>
          <a:xfrm>
            <a:off x="485774" y="309648"/>
            <a:ext cx="7777443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5.2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通路、回路和图的连通性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6E6A115-856B-4323-9263-6877536794CB}"/>
              </a:ext>
            </a:extLst>
          </p:cNvPr>
          <p:cNvSpPr txBox="1"/>
          <p:nvPr/>
        </p:nvSpPr>
        <p:spPr>
          <a:xfrm>
            <a:off x="568035" y="949038"/>
            <a:ext cx="20198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通路与回路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4B65D34-A89A-463E-8D14-3CFDADAADD14}"/>
              </a:ext>
            </a:extLst>
          </p:cNvPr>
          <p:cNvSpPr txBox="1"/>
          <p:nvPr/>
        </p:nvSpPr>
        <p:spPr>
          <a:xfrm>
            <a:off x="3677789" y="949038"/>
            <a:ext cx="20363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无向图的连通性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1239FD2-FBA7-4BEE-A3CB-EF722F18D36C}"/>
              </a:ext>
            </a:extLst>
          </p:cNvPr>
          <p:cNvSpPr txBox="1"/>
          <p:nvPr/>
        </p:nvSpPr>
        <p:spPr>
          <a:xfrm>
            <a:off x="10895689" y="949038"/>
            <a:ext cx="820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割集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05B0CCD-16A9-4EC4-A6D2-D70D069E7D18}"/>
              </a:ext>
            </a:extLst>
          </p:cNvPr>
          <p:cNvSpPr txBox="1"/>
          <p:nvPr/>
        </p:nvSpPr>
        <p:spPr>
          <a:xfrm>
            <a:off x="7598594" y="953516"/>
            <a:ext cx="20198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有向图的连通性</a:t>
            </a:r>
          </a:p>
        </p:txBody>
      </p:sp>
    </p:spTree>
    <p:extLst>
      <p:ext uri="{BB962C8B-B14F-4D97-AF65-F5344CB8AC3E}">
        <p14:creationId xmlns:p14="http://schemas.microsoft.com/office/powerpoint/2010/main" val="1212516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  <p:bldP spid="17" grpId="0"/>
      <p:bldP spid="21" grpId="0" build="p"/>
      <p:bldP spid="2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449">
            <a:extLst>
              <a:ext uri="{FF2B5EF4-FFF2-40B4-BE49-F238E27FC236}">
                <a16:creationId xmlns:a16="http://schemas.microsoft.com/office/drawing/2014/main" id="{666F72FF-7B5A-40D6-B405-233EE4B7099C}"/>
              </a:ext>
            </a:extLst>
          </p:cNvPr>
          <p:cNvSpPr txBox="1">
            <a:spLocks/>
          </p:cNvSpPr>
          <p:nvPr/>
        </p:nvSpPr>
        <p:spPr>
          <a:xfrm>
            <a:off x="485774" y="309648"/>
            <a:ext cx="7777443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5.2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通路、回路和图的连通性</a:t>
            </a:r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BC26BD49-5B53-4C47-8065-2BE1CF43D5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780" y="3109628"/>
            <a:ext cx="11551024" cy="2874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5.13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设无向图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G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endParaRPr lang="en-US" altLang="zh-CN" sz="2400" b="1" kern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连通图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: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任意两点都连通的图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平凡图是连通图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  <a:p>
            <a:pPr algn="just" eaLnBrk="1" hangingPunct="1">
              <a:lnSpc>
                <a:spcPct val="120000"/>
              </a:lnSpc>
              <a:buClr>
                <a:srgbClr val="00007D"/>
              </a:buClr>
              <a:buNone/>
            </a:pP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连通分支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: </a:t>
            </a:r>
            <a:r>
              <a:rPr lang="en-US" altLang="zh-CN" sz="2400" b="1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V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关于连通关系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R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的等价类的导出子图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V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/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={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V</a:t>
            </a:r>
            <a:r>
              <a:rPr kumimoji="0" lang="en-US" altLang="zh-CN" sz="2400" b="1" i="0" u="none" strike="noStrike" kern="0" cap="none" spc="0" normalizeH="0" baseline="-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1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V</a:t>
            </a:r>
            <a:r>
              <a:rPr kumimoji="0" lang="en-US" altLang="zh-CN" sz="2400" b="1" i="0" u="none" strike="noStrike" kern="0" cap="none" spc="0" normalizeH="0" baseline="-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2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,…,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V</a:t>
            </a:r>
            <a:r>
              <a:rPr kumimoji="0" lang="en-US" altLang="zh-CN" sz="2400" b="1" i="1" u="none" strike="noStrike" kern="0" cap="none" spc="0" normalizeH="0" baseline="-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k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},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G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[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V</a:t>
            </a:r>
            <a:r>
              <a:rPr kumimoji="0" lang="en-US" altLang="zh-CN" sz="2400" b="1" i="0" u="none" strike="noStrike" kern="0" cap="none" spc="0" normalizeH="0" baseline="-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1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],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G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[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V</a:t>
            </a:r>
            <a:r>
              <a:rPr kumimoji="0" lang="en-US" altLang="zh-CN" sz="2400" b="1" i="0" u="none" strike="noStrike" kern="0" cap="none" spc="0" normalizeH="0" baseline="-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2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], …,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G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[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V</a:t>
            </a:r>
            <a:r>
              <a:rPr kumimoji="0" lang="en-US" altLang="zh-CN" sz="2400" b="1" i="1" u="none" strike="noStrike" kern="0" cap="none" spc="0" normalizeH="0" baseline="-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k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]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G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的连通分支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其个数记作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p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G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) =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k.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G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是连通图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Symbol" panose="05050102010706020507" pitchFamily="18" charset="2"/>
              </a:rPr>
              <a:t>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p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G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) = 1</a:t>
            </a:r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65D7274C-4223-486F-9A3A-7B5BC2038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581150"/>
            <a:ext cx="10981426" cy="1610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5.12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设无向图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G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= &lt;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V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E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&gt;,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u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与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连通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: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u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v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之间有通路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规定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u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与自身总连通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8BA382A-0742-4AD5-9042-371C1D1490F0}"/>
              </a:ext>
            </a:extLst>
          </p:cNvPr>
          <p:cNvGrpSpPr/>
          <p:nvPr/>
        </p:nvGrpSpPr>
        <p:grpSpPr>
          <a:xfrm>
            <a:off x="5214938" y="5732665"/>
            <a:ext cx="3071812" cy="1292225"/>
            <a:chOff x="5214938" y="5510777"/>
            <a:chExt cx="3071812" cy="1292225"/>
          </a:xfrm>
        </p:grpSpPr>
        <p:sp>
          <p:nvSpPr>
            <p:cNvPr id="16" name="TextBox 24">
              <a:extLst>
                <a:ext uri="{FF2B5EF4-FFF2-40B4-BE49-F238E27FC236}">
                  <a16:creationId xmlns:a16="http://schemas.microsoft.com/office/drawing/2014/main" id="{78C51D0D-A41C-472A-8303-223FCFBA19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4938" y="5510777"/>
              <a:ext cx="3071812" cy="1292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例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17" name="组合 25">
              <a:extLst>
                <a:ext uri="{FF2B5EF4-FFF2-40B4-BE49-F238E27FC236}">
                  <a16:creationId xmlns:a16="http://schemas.microsoft.com/office/drawing/2014/main" id="{84BECE61-39AB-458D-856D-A852B9F3FAF8}"/>
                </a:ext>
              </a:extLst>
            </p:cNvPr>
            <p:cNvGrpSpPr/>
            <p:nvPr/>
          </p:nvGrpSpPr>
          <p:grpSpPr>
            <a:xfrm>
              <a:off x="5857884" y="5867979"/>
              <a:ext cx="2143140" cy="714380"/>
              <a:chOff x="5929322" y="5429264"/>
              <a:chExt cx="2143140" cy="714380"/>
            </a:xfrm>
            <a:solidFill>
              <a:srgbClr val="D6F4FE"/>
            </a:solidFill>
          </p:grpSpPr>
          <p:sp>
            <p:nvSpPr>
              <p:cNvPr id="18" name="椭圆 17">
                <a:extLst>
                  <a:ext uri="{FF2B5EF4-FFF2-40B4-BE49-F238E27FC236}">
                    <a16:creationId xmlns:a16="http://schemas.microsoft.com/office/drawing/2014/main" id="{3F7EDF1D-FD83-480D-9F62-461AA3435215}"/>
                  </a:ext>
                </a:extLst>
              </p:cNvPr>
              <p:cNvSpPr/>
              <p:nvPr/>
            </p:nvSpPr>
            <p:spPr>
              <a:xfrm>
                <a:off x="5929322" y="5429264"/>
                <a:ext cx="71438" cy="71438"/>
              </a:xfrm>
              <a:prstGeom prst="ellipse">
                <a:avLst/>
              </a:prstGeom>
              <a:grpFill/>
              <a:ln w="25400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宋体"/>
                  <a:cs typeface="+mn-cs"/>
                </a:endParaRPr>
              </a:p>
            </p:txBody>
          </p:sp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CDB38669-2383-4E4D-B05D-130352366CF4}"/>
                  </a:ext>
                </a:extLst>
              </p:cNvPr>
              <p:cNvSpPr/>
              <p:nvPr/>
            </p:nvSpPr>
            <p:spPr>
              <a:xfrm>
                <a:off x="5929322" y="6072206"/>
                <a:ext cx="71438" cy="71438"/>
              </a:xfrm>
              <a:prstGeom prst="ellipse">
                <a:avLst/>
              </a:prstGeom>
              <a:grpFill/>
              <a:ln w="25400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宋体"/>
                  <a:cs typeface="+mn-cs"/>
                </a:endParaRPr>
              </a:p>
            </p:txBody>
          </p:sp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D2FC07D9-64C9-4813-BB16-AE72B2CC7812}"/>
                  </a:ext>
                </a:extLst>
              </p:cNvPr>
              <p:cNvSpPr/>
              <p:nvPr/>
            </p:nvSpPr>
            <p:spPr>
              <a:xfrm>
                <a:off x="6643702" y="5429264"/>
                <a:ext cx="71438" cy="71438"/>
              </a:xfrm>
              <a:prstGeom prst="ellipse">
                <a:avLst/>
              </a:prstGeom>
              <a:grpFill/>
              <a:ln w="25400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宋体"/>
                  <a:cs typeface="+mn-cs"/>
                </a:endParaRPr>
              </a:p>
            </p:txBody>
          </p:sp>
          <p:sp>
            <p:nvSpPr>
              <p:cNvPr id="26" name="椭圆 25">
                <a:extLst>
                  <a:ext uri="{FF2B5EF4-FFF2-40B4-BE49-F238E27FC236}">
                    <a16:creationId xmlns:a16="http://schemas.microsoft.com/office/drawing/2014/main" id="{1CF93141-1827-4A3E-9724-536B69EFAC26}"/>
                  </a:ext>
                </a:extLst>
              </p:cNvPr>
              <p:cNvSpPr/>
              <p:nvPr/>
            </p:nvSpPr>
            <p:spPr>
              <a:xfrm>
                <a:off x="6643702" y="6072206"/>
                <a:ext cx="71438" cy="71438"/>
              </a:xfrm>
              <a:prstGeom prst="ellipse">
                <a:avLst/>
              </a:prstGeom>
              <a:grpFill/>
              <a:ln w="25400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宋体"/>
                  <a:cs typeface="+mn-cs"/>
                </a:endParaRPr>
              </a:p>
            </p:txBody>
          </p:sp>
          <p:sp>
            <p:nvSpPr>
              <p:cNvPr id="27" name="椭圆 26">
                <a:extLst>
                  <a:ext uri="{FF2B5EF4-FFF2-40B4-BE49-F238E27FC236}">
                    <a16:creationId xmlns:a16="http://schemas.microsoft.com/office/drawing/2014/main" id="{26942AB9-E1C5-41E7-AD2B-8F5038C3B223}"/>
                  </a:ext>
                </a:extLst>
              </p:cNvPr>
              <p:cNvSpPr/>
              <p:nvPr/>
            </p:nvSpPr>
            <p:spPr>
              <a:xfrm>
                <a:off x="7358082" y="5429264"/>
                <a:ext cx="71438" cy="71438"/>
              </a:xfrm>
              <a:prstGeom prst="ellipse">
                <a:avLst/>
              </a:prstGeom>
              <a:grpFill/>
              <a:ln w="25400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宋体"/>
                  <a:cs typeface="+mn-cs"/>
                </a:endParaRPr>
              </a:p>
            </p:txBody>
          </p:sp>
          <p:sp>
            <p:nvSpPr>
              <p:cNvPr id="28" name="椭圆 27">
                <a:extLst>
                  <a:ext uri="{FF2B5EF4-FFF2-40B4-BE49-F238E27FC236}">
                    <a16:creationId xmlns:a16="http://schemas.microsoft.com/office/drawing/2014/main" id="{3D4F6067-C81A-49CF-ACE4-B45E1351D05D}"/>
                  </a:ext>
                </a:extLst>
              </p:cNvPr>
              <p:cNvSpPr/>
              <p:nvPr/>
            </p:nvSpPr>
            <p:spPr>
              <a:xfrm>
                <a:off x="7358082" y="6072206"/>
                <a:ext cx="71438" cy="71438"/>
              </a:xfrm>
              <a:prstGeom prst="ellipse">
                <a:avLst/>
              </a:prstGeom>
              <a:grpFill/>
              <a:ln w="25400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宋体"/>
                  <a:cs typeface="+mn-cs"/>
                </a:endParaRPr>
              </a:p>
            </p:txBody>
          </p: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6A7B9461-13FC-47DE-A7E2-35C26CBA72BB}"/>
                  </a:ext>
                </a:extLst>
              </p:cNvPr>
              <p:cNvCxnSpPr/>
              <p:nvPr/>
            </p:nvCxnSpPr>
            <p:spPr>
              <a:xfrm rot="16200000" flipH="1">
                <a:off x="5643570" y="5775992"/>
                <a:ext cx="581966" cy="10462"/>
              </a:xfrm>
              <a:prstGeom prst="line">
                <a:avLst/>
              </a:prstGeom>
              <a:grpFill/>
              <a:ln w="1905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C1E79322-7CEF-49F1-9906-3141480E559D}"/>
                  </a:ext>
                </a:extLst>
              </p:cNvPr>
              <p:cNvCxnSpPr/>
              <p:nvPr/>
            </p:nvCxnSpPr>
            <p:spPr>
              <a:xfrm rot="16200000" flipH="1">
                <a:off x="6311769" y="5107794"/>
                <a:ext cx="10462" cy="653404"/>
              </a:xfrm>
              <a:prstGeom prst="line">
                <a:avLst/>
              </a:prstGeom>
              <a:grpFill/>
              <a:ln w="1905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08D02295-2144-4F53-8E94-7D8D1C89CF94}"/>
                  </a:ext>
                </a:extLst>
              </p:cNvPr>
              <p:cNvCxnSpPr>
                <a:endCxn id="20" idx="7"/>
              </p:cNvCxnSpPr>
              <p:nvPr/>
            </p:nvCxnSpPr>
            <p:spPr>
              <a:xfrm rot="10800000" flipV="1">
                <a:off x="5990298" y="5500702"/>
                <a:ext cx="653404" cy="581966"/>
              </a:xfrm>
              <a:prstGeom prst="line">
                <a:avLst/>
              </a:prstGeom>
              <a:grpFill/>
              <a:ln w="1905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6FC16CA2-F1F5-4F84-9B53-3E83DDDFE157}"/>
                  </a:ext>
                </a:extLst>
              </p:cNvPr>
              <p:cNvCxnSpPr/>
              <p:nvPr/>
            </p:nvCxnSpPr>
            <p:spPr>
              <a:xfrm>
                <a:off x="7429520" y="5464983"/>
                <a:ext cx="571504" cy="250033"/>
              </a:xfrm>
              <a:prstGeom prst="line">
                <a:avLst/>
              </a:prstGeom>
              <a:grpFill/>
              <a:ln w="1905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6D131792-CF8E-40AD-82FB-8B0D873425D8}"/>
                  </a:ext>
                </a:extLst>
              </p:cNvPr>
              <p:cNvCxnSpPr/>
              <p:nvPr/>
            </p:nvCxnSpPr>
            <p:spPr>
              <a:xfrm rot="10800000" flipV="1">
                <a:off x="7419058" y="5786454"/>
                <a:ext cx="581966" cy="296214"/>
              </a:xfrm>
              <a:prstGeom prst="line">
                <a:avLst/>
              </a:prstGeom>
              <a:grpFill/>
              <a:ln w="19050" cap="flat" cmpd="sng" algn="ctr">
                <a:solidFill>
                  <a:srgbClr val="000000"/>
                </a:solidFill>
                <a:prstDash val="solid"/>
              </a:ln>
              <a:effectLst/>
            </p:spPr>
          </p:cxnSp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CF121222-A9A6-4CEF-961D-D197C0345B40}"/>
                  </a:ext>
                </a:extLst>
              </p:cNvPr>
              <p:cNvSpPr/>
              <p:nvPr/>
            </p:nvSpPr>
            <p:spPr>
              <a:xfrm>
                <a:off x="8001024" y="5715016"/>
                <a:ext cx="71438" cy="71438"/>
              </a:xfrm>
              <a:prstGeom prst="ellipse">
                <a:avLst/>
              </a:prstGeom>
              <a:grpFill/>
              <a:ln w="25400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宋体"/>
                  <a:cs typeface="+mn-cs"/>
                </a:endParaRPr>
              </a:p>
            </p:txBody>
          </p:sp>
        </p:grpSp>
      </p:grpSp>
      <p:sp>
        <p:nvSpPr>
          <p:cNvPr id="35" name="文本框 34">
            <a:extLst>
              <a:ext uri="{FF2B5EF4-FFF2-40B4-BE49-F238E27FC236}">
                <a16:creationId xmlns:a16="http://schemas.microsoft.com/office/drawing/2014/main" id="{FD0B1B1D-DB04-4EE7-A6B2-9ECC6D74BC69}"/>
              </a:ext>
            </a:extLst>
          </p:cNvPr>
          <p:cNvSpPr txBox="1"/>
          <p:nvPr/>
        </p:nvSpPr>
        <p:spPr>
          <a:xfrm>
            <a:off x="568035" y="949038"/>
            <a:ext cx="20198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通路与回路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4199568C-A672-4302-A87C-EBFDBB0412FC}"/>
              </a:ext>
            </a:extLst>
          </p:cNvPr>
          <p:cNvSpPr txBox="1"/>
          <p:nvPr/>
        </p:nvSpPr>
        <p:spPr>
          <a:xfrm>
            <a:off x="3677789" y="949038"/>
            <a:ext cx="20363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无向图的连通性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32B6F0D-895A-4AE4-B16C-52DA6A14A994}"/>
              </a:ext>
            </a:extLst>
          </p:cNvPr>
          <p:cNvSpPr txBox="1"/>
          <p:nvPr/>
        </p:nvSpPr>
        <p:spPr>
          <a:xfrm>
            <a:off x="10895689" y="949038"/>
            <a:ext cx="820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割集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572C33D3-616F-4152-A5CE-1E03B1073BCB}"/>
              </a:ext>
            </a:extLst>
          </p:cNvPr>
          <p:cNvSpPr txBox="1"/>
          <p:nvPr/>
        </p:nvSpPr>
        <p:spPr>
          <a:xfrm>
            <a:off x="7598594" y="953516"/>
            <a:ext cx="20198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有向图的连通性</a:t>
            </a:r>
          </a:p>
        </p:txBody>
      </p:sp>
    </p:spTree>
    <p:extLst>
      <p:ext uri="{BB962C8B-B14F-4D97-AF65-F5344CB8AC3E}">
        <p14:creationId xmlns:p14="http://schemas.microsoft.com/office/powerpoint/2010/main" val="522100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">
            <a:extLst>
              <a:ext uri="{FF2B5EF4-FFF2-40B4-BE49-F238E27FC236}">
                <a16:creationId xmlns:a16="http://schemas.microsoft.com/office/drawing/2014/main" id="{D0CED230-7E77-479D-920F-48C99B9226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428750"/>
            <a:ext cx="6858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定义</a:t>
            </a:r>
            <a:r>
              <a:rPr lang="en-US" altLang="zh-CN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5.14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设有向图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400" b="1" dirty="0">
                <a:latin typeface="Times New Roman" panose="02020603050405020304" pitchFamily="18" charset="0"/>
              </a:rPr>
              <a:t>=&lt;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E</a:t>
            </a:r>
            <a:r>
              <a:rPr lang="en-US" altLang="zh-CN" sz="2400" b="1" dirty="0">
                <a:latin typeface="Times New Roman" panose="02020603050405020304" pitchFamily="18" charset="0"/>
              </a:rPr>
              <a:t>&gt;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800" b="1" i="1" dirty="0">
                <a:solidFill>
                  <a:srgbClr val="992677"/>
                </a:solidFill>
                <a:latin typeface="Times New Roman" panose="02020603050405020304" pitchFamily="18" charset="0"/>
              </a:rPr>
              <a:t>u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可达</a:t>
            </a:r>
            <a:r>
              <a:rPr lang="en-US" altLang="zh-CN" sz="2800" b="1" i="1" dirty="0">
                <a:solidFill>
                  <a:srgbClr val="992677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800" b="1" dirty="0">
                <a:latin typeface="Times New Roman" panose="02020603050405020304" pitchFamily="18" charset="0"/>
              </a:rPr>
              <a:t>: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u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到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v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有通路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规定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u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到自身总是可达的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可达具有自反性和传递性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zh-CN" altLang="en-US" sz="2800" b="1" i="1" dirty="0">
              <a:latin typeface="Times New Roman" panose="02020603050405020304" pitchFamily="18" charset="0"/>
            </a:endParaRPr>
          </a:p>
          <a:p>
            <a:pPr algn="just" eaLnBrk="1" hangingPunct="1">
              <a:buNone/>
            </a:pPr>
            <a:r>
              <a:rPr lang="en-US" altLang="zh-CN" sz="2400" b="1" i="1" dirty="0">
                <a:solidFill>
                  <a:srgbClr val="992677"/>
                </a:solidFill>
                <a:latin typeface="Times New Roman" panose="02020603050405020304" pitchFamily="18" charset="0"/>
              </a:rPr>
              <a:t>D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弱连通</a:t>
            </a:r>
            <a:r>
              <a:rPr lang="en-US" altLang="zh-CN" sz="2400" b="1" dirty="0">
                <a:latin typeface="Times New Roman" panose="02020603050405020304" pitchFamily="18" charset="0"/>
              </a:rPr>
              <a:t>: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基图为无向连通图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400" b="1" i="1" dirty="0">
                <a:solidFill>
                  <a:srgbClr val="992677"/>
                </a:solidFill>
                <a:latin typeface="Times New Roman" panose="02020603050405020304" pitchFamily="18" charset="0"/>
              </a:rPr>
              <a:t>D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单向连通</a:t>
            </a:r>
            <a:r>
              <a:rPr lang="en-US" altLang="zh-CN" sz="2400" b="1" dirty="0">
                <a:latin typeface="Times New Roman" panose="02020603050405020304" pitchFamily="18" charset="0"/>
              </a:rPr>
              <a:t>: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u</a:t>
            </a:r>
            <a:r>
              <a:rPr lang="en-US" altLang="zh-CN" sz="24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V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u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可达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或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v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可达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u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400" b="1" i="1" dirty="0">
                <a:solidFill>
                  <a:srgbClr val="992677"/>
                </a:solidFill>
                <a:latin typeface="Times New Roman" panose="02020603050405020304" pitchFamily="18" charset="0"/>
              </a:rPr>
              <a:t>D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强连通</a:t>
            </a:r>
            <a:r>
              <a:rPr lang="en-US" altLang="zh-CN" sz="2400" b="1" dirty="0">
                <a:latin typeface="Times New Roman" panose="02020603050405020304" pitchFamily="18" charset="0"/>
              </a:rPr>
              <a:t>: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u</a:t>
            </a:r>
            <a:r>
              <a:rPr lang="en-US" altLang="zh-CN" sz="24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V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u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与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v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相互可达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 b="1" dirty="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强连通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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单向连通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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弱连通 </a:t>
            </a:r>
          </a:p>
        </p:txBody>
      </p:sp>
      <p:sp>
        <p:nvSpPr>
          <p:cNvPr id="22" name="标题 449">
            <a:extLst>
              <a:ext uri="{FF2B5EF4-FFF2-40B4-BE49-F238E27FC236}">
                <a16:creationId xmlns:a16="http://schemas.microsoft.com/office/drawing/2014/main" id="{666F72FF-7B5A-40D6-B405-233EE4B7099C}"/>
              </a:ext>
            </a:extLst>
          </p:cNvPr>
          <p:cNvSpPr txBox="1">
            <a:spLocks/>
          </p:cNvSpPr>
          <p:nvPr/>
        </p:nvSpPr>
        <p:spPr>
          <a:xfrm>
            <a:off x="485774" y="309648"/>
            <a:ext cx="7777443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5.2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通路、回路和图的连通性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DF4C82D-11E3-4733-96B6-57FE135DD78F}"/>
              </a:ext>
            </a:extLst>
          </p:cNvPr>
          <p:cNvSpPr txBox="1"/>
          <p:nvPr/>
        </p:nvSpPr>
        <p:spPr>
          <a:xfrm>
            <a:off x="568035" y="949038"/>
            <a:ext cx="20198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通路与回路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B37F3C5-2D44-408F-81FA-41CD4496B12E}"/>
              </a:ext>
            </a:extLst>
          </p:cNvPr>
          <p:cNvSpPr txBox="1"/>
          <p:nvPr/>
        </p:nvSpPr>
        <p:spPr>
          <a:xfrm>
            <a:off x="3677789" y="949038"/>
            <a:ext cx="20363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无向图的连通性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350A7D0-4415-4381-9745-702343563EBD}"/>
              </a:ext>
            </a:extLst>
          </p:cNvPr>
          <p:cNvSpPr txBox="1"/>
          <p:nvPr/>
        </p:nvSpPr>
        <p:spPr>
          <a:xfrm>
            <a:off x="10895689" y="949038"/>
            <a:ext cx="8204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割集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C760524-E4CD-4C70-A8BC-CD30932A0728}"/>
              </a:ext>
            </a:extLst>
          </p:cNvPr>
          <p:cNvSpPr txBox="1"/>
          <p:nvPr/>
        </p:nvSpPr>
        <p:spPr>
          <a:xfrm>
            <a:off x="7598594" y="953516"/>
            <a:ext cx="20198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有向图的连通性</a:t>
            </a:r>
          </a:p>
        </p:txBody>
      </p:sp>
      <p:sp>
        <p:nvSpPr>
          <p:cNvPr id="30" name="Text Box 8">
            <a:extLst>
              <a:ext uri="{FF2B5EF4-FFF2-40B4-BE49-F238E27FC236}">
                <a16:creationId xmlns:a16="http://schemas.microsoft.com/office/drawing/2014/main" id="{EBCBE618-0CDB-4C0D-B104-E1BBF3772B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8447" y="1857375"/>
            <a:ext cx="648444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8" name="Text Box 5">
            <a:extLst>
              <a:ext uri="{FF2B5EF4-FFF2-40B4-BE49-F238E27FC236}">
                <a16:creationId xmlns:a16="http://schemas.microsoft.com/office/drawing/2014/main" id="{04427A39-262F-46A3-A0F4-E9CD8BEE7E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09216" y="1822072"/>
            <a:ext cx="1397302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强连通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单向连通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弱连通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9" name="Text Box 6">
            <a:extLst>
              <a:ext uri="{FF2B5EF4-FFF2-40B4-BE49-F238E27FC236}">
                <a16:creationId xmlns:a16="http://schemas.microsoft.com/office/drawing/2014/main" id="{1B020FCF-CBA8-4CEC-9AF0-037410001A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384" y="3786367"/>
            <a:ext cx="1574808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ct val="50000"/>
              </a:spcBef>
              <a:buClrTx/>
              <a:buSzTx/>
              <a:buFontTx/>
              <a:buNone/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/>
              <a:t>单向连通</a:t>
            </a:r>
            <a:endParaRPr lang="en-US" altLang="zh-CN" dirty="0"/>
          </a:p>
          <a:p>
            <a:r>
              <a:rPr lang="zh-CN" altLang="en-US" dirty="0"/>
              <a:t>弱连通</a:t>
            </a:r>
            <a:endParaRPr lang="en-US" altLang="zh-CN" dirty="0"/>
          </a:p>
        </p:txBody>
      </p:sp>
      <p:sp>
        <p:nvSpPr>
          <p:cNvPr id="50" name="Text Box 7">
            <a:extLst>
              <a:ext uri="{FF2B5EF4-FFF2-40B4-BE49-F238E27FC236}">
                <a16:creationId xmlns:a16="http://schemas.microsoft.com/office/drawing/2014/main" id="{58C0EA01-B7C1-4845-8748-7738F4F221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02492" y="5708504"/>
            <a:ext cx="112555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弱连通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7583B068-609F-47BF-856E-A0CA09A4390E}"/>
              </a:ext>
            </a:extLst>
          </p:cNvPr>
          <p:cNvGrpSpPr/>
          <p:nvPr/>
        </p:nvGrpSpPr>
        <p:grpSpPr>
          <a:xfrm>
            <a:off x="8831075" y="1890945"/>
            <a:ext cx="1543331" cy="4702720"/>
            <a:chOff x="8831075" y="1890945"/>
            <a:chExt cx="1543331" cy="4702720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37CE1E00-C634-4458-A76F-29E285F9E7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31075" y="1890945"/>
              <a:ext cx="1502990" cy="1168262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5F9D10C7-200B-4ABA-8D8B-9A53CBD62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842283" y="3738840"/>
              <a:ext cx="1503925" cy="1075204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EC7B7657-2835-4ED0-AF60-E8854058B20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884583" y="5466232"/>
              <a:ext cx="1489823" cy="112743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94520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48" grpId="0"/>
      <p:bldP spid="49" grpId="0"/>
      <p:bldP spid="50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3">
            <a:extLst>
              <a:ext uri="{FF2B5EF4-FFF2-40B4-BE49-F238E27FC236}">
                <a16:creationId xmlns:a16="http://schemas.microsoft.com/office/drawing/2014/main" id="{D7B843CF-2564-4597-9965-D8BF998D3B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49" y="1773238"/>
            <a:ext cx="11381957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记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 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G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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v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: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从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G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中删除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v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及关联的边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     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G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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V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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: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从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G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中删除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V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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中所有的顶点及关联的边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     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G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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e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 :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从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G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中删除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e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     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G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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E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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: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从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G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中删除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E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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中所有边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5.15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设无向图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G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=&lt;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V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E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&gt;,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V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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V,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p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G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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V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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)&gt;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p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G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)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且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sym typeface="Symbol" panose="05050102010706020507" pitchFamily="18" charset="2"/>
              </a:rPr>
              <a:t>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V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Times New Roman" panose="02020603050405020304" pitchFamily="18" charset="0"/>
                <a:sym typeface="Symbol" panose="05050102010706020507" pitchFamily="18" charset="2"/>
              </a:rPr>
              <a:t>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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V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p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G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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V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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)=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p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G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),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则称   </a:t>
            </a:r>
            <a:endParaRPr lang="en-US" altLang="zh-CN" sz="2400" b="1" kern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V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sym typeface="Symbol" panose="05050102010706020507" pitchFamily="18" charset="2"/>
              </a:rPr>
              <a:t>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G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点割集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.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{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v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}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为点割集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则称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v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割点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</a:rPr>
              <a:t>.</a:t>
            </a:r>
          </a:p>
        </p:txBody>
      </p:sp>
      <p:sp>
        <p:nvSpPr>
          <p:cNvPr id="11" name="标题 449">
            <a:extLst>
              <a:ext uri="{FF2B5EF4-FFF2-40B4-BE49-F238E27FC236}">
                <a16:creationId xmlns:a16="http://schemas.microsoft.com/office/drawing/2014/main" id="{2CF574B5-0948-4CA5-B2E2-E4D1528772C9}"/>
              </a:ext>
            </a:extLst>
          </p:cNvPr>
          <p:cNvSpPr txBox="1">
            <a:spLocks/>
          </p:cNvSpPr>
          <p:nvPr/>
        </p:nvSpPr>
        <p:spPr>
          <a:xfrm>
            <a:off x="485774" y="309648"/>
            <a:ext cx="7777443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5.2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通路、回路和图的连通性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2C89D3A-75BA-49E6-B922-7C2E78D766EE}"/>
              </a:ext>
            </a:extLst>
          </p:cNvPr>
          <p:cNvSpPr txBox="1"/>
          <p:nvPr/>
        </p:nvSpPr>
        <p:spPr>
          <a:xfrm>
            <a:off x="568035" y="949038"/>
            <a:ext cx="20198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通路与回路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8F5E0A3-FF5A-47E9-9EA4-DB120D8FD918}"/>
              </a:ext>
            </a:extLst>
          </p:cNvPr>
          <p:cNvSpPr txBox="1"/>
          <p:nvPr/>
        </p:nvSpPr>
        <p:spPr>
          <a:xfrm>
            <a:off x="5378846" y="949038"/>
            <a:ext cx="20363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无向图的连通性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30D3846-6651-47F6-90AC-AEFF73B826BE}"/>
              </a:ext>
            </a:extLst>
          </p:cNvPr>
          <p:cNvSpPr txBox="1"/>
          <p:nvPr/>
        </p:nvSpPr>
        <p:spPr>
          <a:xfrm>
            <a:off x="10895689" y="949038"/>
            <a:ext cx="8204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割集</a:t>
            </a:r>
          </a:p>
        </p:txBody>
      </p:sp>
    </p:spTree>
    <p:extLst>
      <p:ext uri="{BB962C8B-B14F-4D97-AF65-F5344CB8AC3E}">
        <p14:creationId xmlns:p14="http://schemas.microsoft.com/office/powerpoint/2010/main" val="1696280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DC2BBD46-3928-43BD-B43F-D1F059818F8F}"/>
              </a:ext>
            </a:extLst>
          </p:cNvPr>
          <p:cNvSpPr txBox="1"/>
          <p:nvPr/>
        </p:nvSpPr>
        <p:spPr>
          <a:xfrm>
            <a:off x="568035" y="949038"/>
            <a:ext cx="20198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通路与回路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1B74481-DE97-4AE1-A1E3-FDE23FD48C7D}"/>
              </a:ext>
            </a:extLst>
          </p:cNvPr>
          <p:cNvSpPr txBox="1"/>
          <p:nvPr/>
        </p:nvSpPr>
        <p:spPr>
          <a:xfrm>
            <a:off x="5378846" y="949038"/>
            <a:ext cx="20363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无向图的连通性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081BCDF-16D0-4BE3-9564-71DD486B60B7}"/>
              </a:ext>
            </a:extLst>
          </p:cNvPr>
          <p:cNvSpPr txBox="1"/>
          <p:nvPr/>
        </p:nvSpPr>
        <p:spPr>
          <a:xfrm>
            <a:off x="10895689" y="949038"/>
            <a:ext cx="8204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割集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971F836D-90D7-4303-BA25-30402AFFA082}"/>
              </a:ext>
            </a:extLst>
          </p:cNvPr>
          <p:cNvSpPr txBox="1">
            <a:spLocks noChangeArrowheads="1"/>
          </p:cNvSpPr>
          <p:nvPr/>
        </p:nvSpPr>
        <p:spPr>
          <a:xfrm>
            <a:off x="474452" y="1535502"/>
            <a:ext cx="8229600" cy="12954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点割集实例</a:t>
            </a:r>
            <a:endParaRPr lang="en-US" altLang="zh-CN" sz="2800" b="1" dirty="0">
              <a:solidFill>
                <a:srgbClr val="992677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6B7248C3-F1A8-4B0C-80E1-E20677BF2887}"/>
              </a:ext>
            </a:extLst>
          </p:cNvPr>
          <p:cNvSpPr txBox="1">
            <a:spLocks noChangeArrowheads="1"/>
          </p:cNvSpPr>
          <p:nvPr/>
        </p:nvSpPr>
        <p:spPr>
          <a:xfrm>
            <a:off x="523929" y="2447620"/>
            <a:ext cx="8229600" cy="4074204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zh-CN" altLang="en-US" sz="2400" b="1" dirty="0">
                <a:latin typeface="Times New Roman" panose="02020603050405020304" pitchFamily="18" charset="0"/>
              </a:rPr>
              <a:t>  </a:t>
            </a:r>
            <a:r>
              <a:rPr lang="en-US" altLang="zh-CN" sz="2400" b="1" dirty="0">
                <a:latin typeface="Times New Roman" panose="02020603050405020304" pitchFamily="18" charset="0"/>
              </a:rPr>
              <a:t>{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30000" dirty="0" err="1">
                <a:latin typeface="Times New Roman" panose="02020603050405020304" pitchFamily="18" charset="0"/>
              </a:rPr>
              <a:t>1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30000" dirty="0" err="1">
                <a:latin typeface="Times New Roman" panose="02020603050405020304" pitchFamily="18" charset="0"/>
              </a:rPr>
              <a:t>4</a:t>
            </a:r>
            <a:r>
              <a:rPr lang="en-US" altLang="zh-CN" sz="2400" b="1" dirty="0">
                <a:latin typeface="Times New Roman" panose="02020603050405020304" pitchFamily="18" charset="0"/>
              </a:rPr>
              <a:t>}, {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30000" dirty="0" err="1">
                <a:latin typeface="Times New Roman" panose="02020603050405020304" pitchFamily="18" charset="0"/>
              </a:rPr>
              <a:t>6</a:t>
            </a:r>
            <a:r>
              <a:rPr lang="en-US" altLang="zh-CN" sz="2400" b="1" dirty="0">
                <a:latin typeface="Times New Roman" panose="02020603050405020304" pitchFamily="18" charset="0"/>
              </a:rPr>
              <a:t>}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是点割集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30000" dirty="0" err="1">
                <a:latin typeface="Times New Roman" panose="02020603050405020304" pitchFamily="18" charset="0"/>
              </a:rPr>
              <a:t>6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是割点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 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    {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30000" dirty="0" err="1">
                <a:latin typeface="Times New Roman" panose="02020603050405020304" pitchFamily="18" charset="0"/>
              </a:rPr>
              <a:t>2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30000" dirty="0" err="1">
                <a:latin typeface="Times New Roman" panose="02020603050405020304" pitchFamily="18" charset="0"/>
              </a:rPr>
              <a:t>5</a:t>
            </a:r>
            <a:r>
              <a:rPr lang="en-US" altLang="zh-CN" sz="2400" b="1" dirty="0">
                <a:latin typeface="Times New Roman" panose="02020603050405020304" pitchFamily="18" charset="0"/>
              </a:rPr>
              <a:t>}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不是点割集 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4" name="Picture 6" descr="14-7">
            <a:extLst>
              <a:ext uri="{FF2B5EF4-FFF2-40B4-BE49-F238E27FC236}">
                <a16:creationId xmlns:a16="http://schemas.microsoft.com/office/drawing/2014/main" id="{6653C6EA-8D5C-4EBB-AE5D-BC65768232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701"/>
          <a:stretch>
            <a:fillRect/>
          </a:stretch>
        </p:blipFill>
        <p:spPr bwMode="auto">
          <a:xfrm>
            <a:off x="3349295" y="3865584"/>
            <a:ext cx="4371347" cy="2120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标题 449">
            <a:extLst>
              <a:ext uri="{FF2B5EF4-FFF2-40B4-BE49-F238E27FC236}">
                <a16:creationId xmlns:a16="http://schemas.microsoft.com/office/drawing/2014/main" id="{86521776-DAE4-4AEA-A6F0-202EE6CDE42A}"/>
              </a:ext>
            </a:extLst>
          </p:cNvPr>
          <p:cNvSpPr txBox="1">
            <a:spLocks/>
          </p:cNvSpPr>
          <p:nvPr/>
        </p:nvSpPr>
        <p:spPr>
          <a:xfrm>
            <a:off x="485774" y="309648"/>
            <a:ext cx="7777443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5.2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通路、回路和图的连通性</a:t>
            </a:r>
          </a:p>
        </p:txBody>
      </p:sp>
    </p:spTree>
    <p:extLst>
      <p:ext uri="{BB962C8B-B14F-4D97-AF65-F5344CB8AC3E}">
        <p14:creationId xmlns:p14="http://schemas.microsoft.com/office/powerpoint/2010/main" val="310578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3">
            <a:extLst>
              <a:ext uri="{FF2B5EF4-FFF2-40B4-BE49-F238E27FC236}">
                <a16:creationId xmlns:a16="http://schemas.microsoft.com/office/drawing/2014/main" id="{6474BA87-135A-4C0F-ABDE-958721C880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700213"/>
            <a:ext cx="11034472" cy="4535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设无向图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G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=&lt;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V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E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&gt;,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E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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E,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p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G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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E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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)&gt;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p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G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)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且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Symbol" panose="05050102010706020507" pitchFamily="18" charset="2"/>
              </a:rPr>
              <a:t>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E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Times New Roman" panose="02020603050405020304" pitchFamily="18" charset="0"/>
                <a:sym typeface="Symbol" panose="05050102010706020507" pitchFamily="18" charset="2"/>
              </a:rPr>
              <a:t>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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E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p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G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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E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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)=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p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G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),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则称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en-US" altLang="zh-CN" sz="24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        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E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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G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边割集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{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e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}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为边割集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则称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e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割边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或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桥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.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在右图中，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{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e</a:t>
            </a:r>
            <a:r>
              <a:rPr kumimoji="0" lang="en-US" altLang="zh-CN" sz="2400" b="1" i="0" u="none" strike="noStrike" kern="0" cap="none" spc="0" normalizeH="0" baseline="-3000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1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e</a:t>
            </a:r>
            <a:r>
              <a:rPr kumimoji="0" lang="en-US" altLang="zh-CN" sz="2400" b="1" i="0" u="none" strike="noStrike" kern="0" cap="none" spc="0" normalizeH="0" baseline="-3000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2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}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，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{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e</a:t>
            </a:r>
            <a:r>
              <a:rPr kumimoji="0" lang="en-US" altLang="zh-CN" sz="2400" b="1" i="0" u="none" strike="noStrike" kern="0" cap="none" spc="0" normalizeH="0" baseline="-3000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1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e</a:t>
            </a:r>
            <a:r>
              <a:rPr kumimoji="0" lang="en-US" altLang="zh-CN" sz="2400" b="1" i="0" u="none" strike="noStrike" kern="0" cap="none" spc="0" normalizeH="0" baseline="-3000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3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e</a:t>
            </a:r>
            <a:r>
              <a:rPr kumimoji="0" lang="en-US" altLang="zh-CN" sz="2400" b="1" i="0" u="none" strike="noStrike" kern="0" cap="none" spc="0" normalizeH="0" baseline="-3000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5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e</a:t>
            </a:r>
            <a:r>
              <a:rPr kumimoji="0" lang="en-US" altLang="zh-CN" sz="2400" b="1" i="0" u="none" strike="noStrike" kern="0" cap="none" spc="0" normalizeH="0" baseline="-3000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6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}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，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{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e</a:t>
            </a:r>
            <a:r>
              <a:rPr kumimoji="0" lang="en-US" altLang="zh-CN" sz="2400" b="1" i="0" u="none" strike="noStrike" kern="0" cap="none" spc="0" normalizeH="0" baseline="-3000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8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}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等是边割集，</a:t>
            </a:r>
            <a:r>
              <a:rPr lang="en-US" altLang="zh-CN" sz="2400" b="1" kern="0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e8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是桥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，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{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e</a:t>
            </a:r>
            <a:r>
              <a:rPr kumimoji="0" lang="en-US" altLang="zh-CN" sz="2400" b="1" i="0" u="none" strike="noStrike" kern="0" cap="none" spc="0" normalizeH="0" baseline="-3000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7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e</a:t>
            </a:r>
            <a:r>
              <a:rPr kumimoji="0" lang="en-US" altLang="zh-CN" sz="2400" b="1" i="0" u="none" strike="noStrike" kern="0" cap="none" spc="0" normalizeH="0" baseline="-3000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9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e</a:t>
            </a:r>
            <a:r>
              <a:rPr kumimoji="0" lang="en-US" altLang="zh-CN" sz="2400" b="1" i="0" u="none" strike="noStrike" kern="0" cap="none" spc="0" normalizeH="0" baseline="-3000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5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e</a:t>
            </a:r>
            <a:r>
              <a:rPr kumimoji="0" lang="en-US" altLang="zh-CN" sz="2400" b="1" i="0" u="none" strike="noStrike" kern="0" cap="none" spc="0" normalizeH="0" baseline="-3000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6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}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不是边割集</a:t>
            </a:r>
            <a:endParaRPr lang="en-US" altLang="zh-CN" sz="2400" b="1" kern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说明：</a:t>
            </a:r>
            <a:endParaRPr lang="en-US" altLang="zh-CN" sz="2400" b="1" kern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K</a:t>
            </a:r>
            <a:r>
              <a:rPr kumimoji="0" lang="en-US" altLang="zh-CN" sz="2400" b="1" i="1" u="none" strike="noStrike" kern="0" cap="none" spc="0" normalizeH="0" baseline="-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n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无点割集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n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阶零图既无点割集，也无边割集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G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连通，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E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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为边割集，则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p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G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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E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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)=2</a:t>
            </a:r>
          </a:p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G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连通，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V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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为点割集，则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p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G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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V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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)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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2 </a:t>
            </a:r>
          </a:p>
        </p:txBody>
      </p:sp>
      <p:pic>
        <p:nvPicPr>
          <p:cNvPr id="18" name="Picture 6" descr="14-7">
            <a:extLst>
              <a:ext uri="{FF2B5EF4-FFF2-40B4-BE49-F238E27FC236}">
                <a16:creationId xmlns:a16="http://schemas.microsoft.com/office/drawing/2014/main" id="{32BA10E6-FF5B-4263-BA84-A4F21A1708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701"/>
          <a:stretch>
            <a:fillRect/>
          </a:stretch>
        </p:blipFill>
        <p:spPr bwMode="auto">
          <a:xfrm>
            <a:off x="6946509" y="4115750"/>
            <a:ext cx="4371347" cy="2120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标题 449">
            <a:extLst>
              <a:ext uri="{FF2B5EF4-FFF2-40B4-BE49-F238E27FC236}">
                <a16:creationId xmlns:a16="http://schemas.microsoft.com/office/drawing/2014/main" id="{FDA2AB75-52CC-450B-9454-7EE273443CB4}"/>
              </a:ext>
            </a:extLst>
          </p:cNvPr>
          <p:cNvSpPr txBox="1">
            <a:spLocks/>
          </p:cNvSpPr>
          <p:nvPr/>
        </p:nvSpPr>
        <p:spPr>
          <a:xfrm>
            <a:off x="485774" y="309648"/>
            <a:ext cx="7777443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5.2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通路、回路和图的连通性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1686567-3DF2-4248-8BF8-7E65A44E24AF}"/>
              </a:ext>
            </a:extLst>
          </p:cNvPr>
          <p:cNvSpPr txBox="1"/>
          <p:nvPr/>
        </p:nvSpPr>
        <p:spPr>
          <a:xfrm>
            <a:off x="568035" y="949038"/>
            <a:ext cx="20198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通路与回路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CFC101-79FB-438D-98E3-89296405B299}"/>
              </a:ext>
            </a:extLst>
          </p:cNvPr>
          <p:cNvSpPr txBox="1"/>
          <p:nvPr/>
        </p:nvSpPr>
        <p:spPr>
          <a:xfrm>
            <a:off x="5378846" y="949038"/>
            <a:ext cx="20363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无向图的连通性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E544D4D-473E-4F37-BED8-91C866AB800A}"/>
              </a:ext>
            </a:extLst>
          </p:cNvPr>
          <p:cNvSpPr txBox="1"/>
          <p:nvPr/>
        </p:nvSpPr>
        <p:spPr>
          <a:xfrm>
            <a:off x="10895689" y="949038"/>
            <a:ext cx="8204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割集</a:t>
            </a:r>
          </a:p>
        </p:txBody>
      </p:sp>
    </p:spTree>
    <p:extLst>
      <p:ext uri="{BB962C8B-B14F-4D97-AF65-F5344CB8AC3E}">
        <p14:creationId xmlns:p14="http://schemas.microsoft.com/office/powerpoint/2010/main" val="3132886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5.3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图的矩阵表示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C2BBD46-3928-43BD-B43F-D1F059818F8F}"/>
              </a:ext>
            </a:extLst>
          </p:cNvPr>
          <p:cNvSpPr txBox="1"/>
          <p:nvPr/>
        </p:nvSpPr>
        <p:spPr>
          <a:xfrm>
            <a:off x="568034" y="949038"/>
            <a:ext cx="22959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无向图的关联矩阵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C28B4E1-F22E-4D95-A01D-C175CB1A3A9A}"/>
              </a:ext>
            </a:extLst>
          </p:cNvPr>
          <p:cNvSpPr txBox="1"/>
          <p:nvPr/>
        </p:nvSpPr>
        <p:spPr>
          <a:xfrm>
            <a:off x="6659596" y="949038"/>
            <a:ext cx="21278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有向图的邻接矩阵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351F7A5-7BB4-4402-8AA5-93DCEE8352D1}"/>
              </a:ext>
            </a:extLst>
          </p:cNvPr>
          <p:cNvSpPr txBox="1"/>
          <p:nvPr/>
        </p:nvSpPr>
        <p:spPr>
          <a:xfrm>
            <a:off x="3748305" y="949038"/>
            <a:ext cx="21492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有向图的关联矩阵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EE6BEA1-FE76-44CB-835F-BBCEEB0B9E3A}"/>
              </a:ext>
            </a:extLst>
          </p:cNvPr>
          <p:cNvSpPr txBox="1"/>
          <p:nvPr/>
        </p:nvSpPr>
        <p:spPr>
          <a:xfrm>
            <a:off x="9632829" y="920286"/>
            <a:ext cx="21278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有向图的可达矩阵</a:t>
            </a:r>
          </a:p>
        </p:txBody>
      </p:sp>
      <p:sp>
        <p:nvSpPr>
          <p:cNvPr id="16" name="Text Box 6">
            <a:extLst>
              <a:ext uri="{FF2B5EF4-FFF2-40B4-BE49-F238E27FC236}">
                <a16:creationId xmlns:a16="http://schemas.microsoft.com/office/drawing/2014/main" id="{E9FDF2E8-A920-4307-AA30-6FDD76D4E6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399" y="1600200"/>
            <a:ext cx="11034623" cy="936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设无向图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G </a:t>
            </a:r>
            <a:r>
              <a:rPr lang="en-US" altLang="zh-CN" sz="2400" b="1" dirty="0">
                <a:latin typeface="Times New Roman" panose="02020603050405020304" pitchFamily="18" charset="0"/>
              </a:rPr>
              <a:t>= &lt;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400" b="1" dirty="0">
                <a:latin typeface="Times New Roman" panose="02020603050405020304" pitchFamily="18" charset="0"/>
              </a:rPr>
              <a:t>&gt;,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V </a:t>
            </a:r>
            <a:r>
              <a:rPr lang="en-US" altLang="zh-CN" sz="2400" b="1" dirty="0">
                <a:latin typeface="Times New Roman" panose="02020603050405020304" pitchFamily="18" charset="0"/>
              </a:rPr>
              <a:t>= {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30000" dirty="0" err="1">
                <a:latin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30000" dirty="0" err="1">
                <a:latin typeface="Times New Roman" panose="02020603050405020304" pitchFamily="18" charset="0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</a:rPr>
              <a:t>, …,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i="1" baseline="-30000" dirty="0" err="1"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</a:rPr>
              <a:t>},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E </a:t>
            </a:r>
            <a:r>
              <a:rPr lang="en-US" altLang="zh-CN" sz="2400" b="1" dirty="0">
                <a:latin typeface="Times New Roman" panose="02020603050405020304" pitchFamily="18" charset="0"/>
              </a:rPr>
              <a:t>= {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e</a:t>
            </a:r>
            <a:r>
              <a:rPr lang="en-US" altLang="zh-CN" sz="2400" b="1" baseline="-30000" dirty="0" err="1">
                <a:latin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e</a:t>
            </a:r>
            <a:r>
              <a:rPr lang="en-US" altLang="zh-CN" sz="2400" b="1" baseline="-30000" dirty="0" err="1">
                <a:latin typeface="Times New Roman" panose="02020603050405020304" pitchFamily="18" charset="0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</a:rPr>
              <a:t>, …,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e</a:t>
            </a:r>
            <a:r>
              <a:rPr lang="en-US" altLang="zh-CN" sz="2400" b="1" i="1" baseline="-30000" dirty="0" err="1">
                <a:latin typeface="Times New Roman" panose="02020603050405020304" pitchFamily="18" charset="0"/>
              </a:rPr>
              <a:t>m</a:t>
            </a:r>
            <a:r>
              <a:rPr lang="en-US" altLang="zh-CN" sz="2400" b="1" dirty="0">
                <a:latin typeface="Times New Roman" panose="02020603050405020304" pitchFamily="18" charset="0"/>
              </a:rPr>
              <a:t>},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令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m</a:t>
            </a:r>
            <a:r>
              <a:rPr lang="en-US" altLang="zh-CN" sz="2400" b="1" i="1" baseline="-30000" dirty="0" err="1">
                <a:latin typeface="Times New Roman" panose="02020603050405020304" pitchFamily="18" charset="0"/>
              </a:rPr>
              <a:t>ij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400" b="1" i="1" baseline="-30000" dirty="0">
                <a:latin typeface="Times New Roman" panose="02020603050405020304" pitchFamily="18" charset="0"/>
              </a:rPr>
              <a:t>i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e</a:t>
            </a:r>
            <a:r>
              <a:rPr lang="en-US" altLang="zh-CN" sz="2400" b="1" i="1" baseline="-30000" dirty="0" err="1">
                <a:latin typeface="Times New Roman" panose="02020603050405020304" pitchFamily="18" charset="0"/>
              </a:rPr>
              <a:t>j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的关联次数，称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m</a:t>
            </a:r>
            <a:r>
              <a:rPr lang="en-US" altLang="zh-CN" sz="2400" b="1" i="1" baseline="-30000" dirty="0" err="1">
                <a:latin typeface="Times New Roman" panose="02020603050405020304" pitchFamily="18" charset="0"/>
              </a:rPr>
              <a:t>ij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en-US" altLang="zh-CN" sz="2400" b="1" i="1" baseline="-30000" dirty="0" err="1">
                <a:latin typeface="Times New Roman" panose="02020603050405020304" pitchFamily="18" charset="0"/>
              </a:rPr>
              <a:t>n</a:t>
            </a:r>
            <a:r>
              <a:rPr lang="en-US" altLang="zh-CN" sz="2400" b="1" baseline="-300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b="1" i="1" baseline="-30000" dirty="0" err="1">
                <a:latin typeface="Times New Roman" panose="02020603050405020304" pitchFamily="18" charset="0"/>
              </a:rPr>
              <a:t>m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en-US" altLang="zh-CN" sz="2400" b="1" i="1" dirty="0">
                <a:solidFill>
                  <a:srgbClr val="992677"/>
                </a:solidFill>
                <a:latin typeface="Times New Roman" panose="02020603050405020304" pitchFamily="18" charset="0"/>
              </a:rPr>
              <a:t>G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的关联矩阵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，记为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M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G</a:t>
            </a:r>
            <a:r>
              <a:rPr lang="en-US" altLang="zh-CN" sz="2400" b="1" dirty="0">
                <a:latin typeface="Times New Roman" panose="02020603050405020304" pitchFamily="18" charset="0"/>
              </a:rPr>
              <a:t>). 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162594A-268D-42CD-B951-0619462AD0D6}"/>
              </a:ext>
            </a:extLst>
          </p:cNvPr>
          <p:cNvGrpSpPr/>
          <p:nvPr/>
        </p:nvGrpSpPr>
        <p:grpSpPr>
          <a:xfrm>
            <a:off x="614630" y="3054889"/>
            <a:ext cx="4224790" cy="3939713"/>
            <a:chOff x="614630" y="3054889"/>
            <a:chExt cx="4224790" cy="3939713"/>
          </a:xfrm>
        </p:grpSpPr>
        <p:sp>
          <p:nvSpPr>
            <p:cNvPr id="17" name="Rectangle 7">
              <a:extLst>
                <a:ext uri="{FF2B5EF4-FFF2-40B4-BE49-F238E27FC236}">
                  <a16:creationId xmlns:a16="http://schemas.microsoft.com/office/drawing/2014/main" id="{824050C3-D822-46E0-82F4-A3C5FAAF16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4630" y="3054889"/>
              <a:ext cx="4224790" cy="21236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例</a:t>
              </a:r>
              <a:endPara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endPara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CN" sz="2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M</a:t>
              </a:r>
              <a:r>
                <a:rPr lang="en-US" altLang="zh-CN" sz="2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r>
                <a:rPr lang="en-US" altLang="zh-CN" sz="2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 =</a:t>
              </a:r>
            </a:p>
            <a:p>
              <a:endPara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CN" sz="2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en-US" altLang="zh-CN" sz="2200" b="1" dirty="0"/>
            </a:p>
          </p:txBody>
        </p:sp>
        <p:graphicFrame>
          <p:nvGraphicFramePr>
            <p:cNvPr id="18" name="Object 11">
              <a:extLst>
                <a:ext uri="{FF2B5EF4-FFF2-40B4-BE49-F238E27FC236}">
                  <a16:creationId xmlns:a16="http://schemas.microsoft.com/office/drawing/2014/main" id="{8E35A8BE-E311-4E36-BFDE-119589C8942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90480845"/>
                </p:ext>
              </p:extLst>
            </p:nvPr>
          </p:nvGraphicFramePr>
          <p:xfrm>
            <a:off x="2085076" y="3207379"/>
            <a:ext cx="1820297" cy="16806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990600" imgH="914400" progId="Equation.DSMT4">
                    <p:embed/>
                  </p:oleObj>
                </mc:Choice>
                <mc:Fallback>
                  <p:oleObj r:id="rId3" imgW="990600" imgH="914400" progId="Equation.DSMT4">
                    <p:embed/>
                    <p:pic>
                      <p:nvPicPr>
                        <p:cNvPr id="18" name="Object 11">
                          <a:extLst>
                            <a:ext uri="{FF2B5EF4-FFF2-40B4-BE49-F238E27FC236}">
                              <a16:creationId xmlns:a16="http://schemas.microsoft.com/office/drawing/2014/main" id="{8E35A8BE-E311-4E36-BFDE-119589C8942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85076" y="3207379"/>
                          <a:ext cx="1820297" cy="1680676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20" name="图片 14" descr="7T10">
              <a:extLst>
                <a:ext uri="{FF2B5EF4-FFF2-40B4-BE49-F238E27FC236}">
                  <a16:creationId xmlns:a16="http://schemas.microsoft.com/office/drawing/2014/main" id="{BE5C3642-D566-44DF-987F-7A956E62C0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1617" y="4860746"/>
              <a:ext cx="3382579" cy="21338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134D47FA-0BE5-4092-B64E-7D2964ADC7A2}"/>
              </a:ext>
            </a:extLst>
          </p:cNvPr>
          <p:cNvGrpSpPr/>
          <p:nvPr/>
        </p:nvGrpSpPr>
        <p:grpSpPr>
          <a:xfrm>
            <a:off x="5490355" y="3218292"/>
            <a:ext cx="5758670" cy="2969783"/>
            <a:chOff x="5490355" y="3218292"/>
            <a:chExt cx="5758670" cy="2969783"/>
          </a:xfrm>
        </p:grpSpPr>
        <p:graphicFrame>
          <p:nvGraphicFramePr>
            <p:cNvPr id="21" name="Object 5">
              <a:extLst>
                <a:ext uri="{FF2B5EF4-FFF2-40B4-BE49-F238E27FC236}">
                  <a16:creationId xmlns:a16="http://schemas.microsoft.com/office/drawing/2014/main" id="{AF63934A-14A0-4EB1-ACDB-E5AD60BC54E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08066293"/>
                </p:ext>
              </p:extLst>
            </p:nvPr>
          </p:nvGraphicFramePr>
          <p:xfrm>
            <a:off x="6405563" y="3819525"/>
            <a:ext cx="4843462" cy="2368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387520" imgH="1168200" progId="Equation.3">
                    <p:embed/>
                  </p:oleObj>
                </mc:Choice>
                <mc:Fallback>
                  <p:oleObj name="Equation" r:id="rId6" imgW="2387520" imgH="1168200" progId="Equation.3">
                    <p:embed/>
                    <p:pic>
                      <p:nvPicPr>
                        <p:cNvPr id="21" name="Object 5">
                          <a:extLst>
                            <a:ext uri="{FF2B5EF4-FFF2-40B4-BE49-F238E27FC236}">
                              <a16:creationId xmlns:a16="http://schemas.microsoft.com/office/drawing/2014/main" id="{AF63934A-14A0-4EB1-ACDB-E5AD60BC54E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05563" y="3819525"/>
                          <a:ext cx="4843462" cy="236855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" name="Text Box 6">
              <a:extLst>
                <a:ext uri="{FF2B5EF4-FFF2-40B4-BE49-F238E27FC236}">
                  <a16:creationId xmlns:a16="http://schemas.microsoft.com/office/drawing/2014/main" id="{459B535B-0254-4639-B284-53E601BF45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90355" y="3218292"/>
              <a:ext cx="545333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None/>
              </a:pPr>
              <a:r>
                <a:rPr lang="zh-CN" altLang="en-US" sz="2400" b="1" dirty="0">
                  <a:solidFill>
                    <a:srgbClr val="992677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性质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  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(1) 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每一列恰好有两个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1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或一个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95386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5.3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图的矩阵表示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C2BBD46-3928-43BD-B43F-D1F059818F8F}"/>
              </a:ext>
            </a:extLst>
          </p:cNvPr>
          <p:cNvSpPr txBox="1"/>
          <p:nvPr/>
        </p:nvSpPr>
        <p:spPr>
          <a:xfrm>
            <a:off x="568034" y="949038"/>
            <a:ext cx="22959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无向图的关联矩阵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C28B4E1-F22E-4D95-A01D-C175CB1A3A9A}"/>
              </a:ext>
            </a:extLst>
          </p:cNvPr>
          <p:cNvSpPr txBox="1"/>
          <p:nvPr/>
        </p:nvSpPr>
        <p:spPr>
          <a:xfrm>
            <a:off x="6659596" y="949038"/>
            <a:ext cx="21278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有向图的邻接矩阵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351F7A5-7BB4-4402-8AA5-93DCEE8352D1}"/>
              </a:ext>
            </a:extLst>
          </p:cNvPr>
          <p:cNvSpPr txBox="1"/>
          <p:nvPr/>
        </p:nvSpPr>
        <p:spPr>
          <a:xfrm>
            <a:off x="3605843" y="949038"/>
            <a:ext cx="227449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有向图的关联矩阵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EE6BEA1-FE76-44CB-835F-BBCEEB0B9E3A}"/>
              </a:ext>
            </a:extLst>
          </p:cNvPr>
          <p:cNvSpPr txBox="1"/>
          <p:nvPr/>
        </p:nvSpPr>
        <p:spPr>
          <a:xfrm>
            <a:off x="9632829" y="920286"/>
            <a:ext cx="21278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有向图的可达矩阵</a:t>
            </a:r>
          </a:p>
        </p:txBody>
      </p:sp>
      <p:graphicFrame>
        <p:nvGraphicFramePr>
          <p:cNvPr id="22" name="Object 5">
            <a:extLst>
              <a:ext uri="{FF2B5EF4-FFF2-40B4-BE49-F238E27FC236}">
                <a16:creationId xmlns:a16="http://schemas.microsoft.com/office/drawing/2014/main" id="{915E5A69-9991-4E9C-A157-5D2A0D1782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3332716"/>
              </p:ext>
            </p:extLst>
          </p:nvPr>
        </p:nvGraphicFramePr>
        <p:xfrm>
          <a:off x="1608682" y="2125938"/>
          <a:ext cx="3170357" cy="13951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76160" imgH="736560" progId="Equation.3">
                  <p:embed/>
                </p:oleObj>
              </mc:Choice>
              <mc:Fallback>
                <p:oleObj name="Equation" r:id="rId3" imgW="1676160" imgH="736560" progId="Equation.3">
                  <p:embed/>
                  <p:pic>
                    <p:nvPicPr>
                      <p:cNvPr id="22" name="Object 5">
                        <a:extLst>
                          <a:ext uri="{FF2B5EF4-FFF2-40B4-BE49-F238E27FC236}">
                            <a16:creationId xmlns:a16="http://schemas.microsoft.com/office/drawing/2014/main" id="{915E5A69-9991-4E9C-A157-5D2A0D1782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8682" y="2125938"/>
                        <a:ext cx="3170357" cy="139515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6">
            <a:extLst>
              <a:ext uri="{FF2B5EF4-FFF2-40B4-BE49-F238E27FC236}">
                <a16:creationId xmlns:a16="http://schemas.microsoft.com/office/drawing/2014/main" id="{DB596CC4-9AC7-43D0-9E2F-6FDF8CC28F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290" y="1538467"/>
            <a:ext cx="10767203" cy="24437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设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无环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有向图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D </a:t>
            </a:r>
            <a:r>
              <a:rPr lang="en-US" altLang="zh-CN" sz="2400" b="1" dirty="0">
                <a:latin typeface="Times New Roman" panose="02020603050405020304" pitchFamily="18" charset="0"/>
              </a:rPr>
              <a:t>= &lt;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E</a:t>
            </a:r>
            <a:r>
              <a:rPr lang="en-US" altLang="zh-CN" sz="2400" b="1" dirty="0">
                <a:latin typeface="Times New Roman" panose="02020603050405020304" pitchFamily="18" charset="0"/>
              </a:rPr>
              <a:t>&gt;,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V </a:t>
            </a:r>
            <a:r>
              <a:rPr lang="en-US" altLang="zh-CN" sz="2400" b="1" dirty="0">
                <a:latin typeface="Times New Roman" panose="02020603050405020304" pitchFamily="18" charset="0"/>
              </a:rPr>
              <a:t>= {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800" b="1" baseline="-30000" dirty="0" err="1"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800" b="1" baseline="-30000" dirty="0" err="1"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</a:rPr>
              <a:t>, …, 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800" b="1" i="1" baseline="-30000" dirty="0" err="1"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</a:rPr>
              <a:t>},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E </a:t>
            </a:r>
            <a:r>
              <a:rPr lang="en-US" altLang="zh-CN" sz="2800" b="1" dirty="0">
                <a:latin typeface="Times New Roman" panose="02020603050405020304" pitchFamily="18" charset="0"/>
              </a:rPr>
              <a:t>= {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e</a:t>
            </a:r>
            <a:r>
              <a:rPr lang="en-US" altLang="zh-CN" sz="2400" b="1" baseline="-30000" dirty="0" err="1">
                <a:latin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e</a:t>
            </a:r>
            <a:r>
              <a:rPr lang="en-US" altLang="zh-CN" sz="2400" b="1" baseline="-30000" dirty="0" err="1">
                <a:latin typeface="Times New Roman" panose="02020603050405020304" pitchFamily="18" charset="0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</a:rPr>
              <a:t>, …,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e</a:t>
            </a:r>
            <a:r>
              <a:rPr lang="en-US" altLang="zh-CN" sz="2400" b="1" i="1" baseline="-30000" dirty="0" err="1">
                <a:latin typeface="Times New Roman" panose="02020603050405020304" pitchFamily="18" charset="0"/>
              </a:rPr>
              <a:t>m</a:t>
            </a:r>
            <a:r>
              <a:rPr lang="en-US" altLang="zh-CN" sz="2800" b="1" dirty="0">
                <a:latin typeface="Times New Roman" panose="02020603050405020304" pitchFamily="18" charset="0"/>
              </a:rPr>
              <a:t>}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令</a:t>
            </a:r>
          </a:p>
          <a:p>
            <a:pPr algn="just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endParaRPr lang="zh-CN" altLang="en-US" sz="2800" b="1" dirty="0">
              <a:latin typeface="Times New Roman" panose="02020603050405020304" pitchFamily="18" charset="0"/>
            </a:endParaRPr>
          </a:p>
          <a:p>
            <a:pPr algn="just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则称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m</a:t>
            </a:r>
            <a:r>
              <a:rPr lang="en-US" altLang="zh-CN" sz="2400" b="1" i="1" baseline="-30000" dirty="0" err="1">
                <a:latin typeface="Times New Roman" panose="02020603050405020304" pitchFamily="18" charset="0"/>
              </a:rPr>
              <a:t>ij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en-US" altLang="zh-CN" sz="2800" b="1" i="1" baseline="-30000" dirty="0" err="1">
                <a:latin typeface="Times New Roman" panose="02020603050405020304" pitchFamily="18" charset="0"/>
              </a:rPr>
              <a:t>n</a:t>
            </a:r>
            <a:r>
              <a:rPr lang="en-US" altLang="zh-CN" sz="2800" b="1" baseline="-300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b="1" i="1" baseline="-30000" dirty="0" err="1">
                <a:latin typeface="Times New Roman" panose="02020603050405020304" pitchFamily="18" charset="0"/>
              </a:rPr>
              <a:t>m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en-US" altLang="zh-CN" sz="2400" b="1" i="1" dirty="0">
                <a:solidFill>
                  <a:srgbClr val="992677"/>
                </a:solidFill>
                <a:latin typeface="Times New Roman" panose="02020603050405020304" pitchFamily="18" charset="0"/>
              </a:rPr>
              <a:t>D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的关联矩阵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，记为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M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800" b="1" dirty="0">
                <a:latin typeface="Times New Roman" panose="02020603050405020304" pitchFamily="18" charset="0"/>
              </a:rPr>
              <a:t>).</a:t>
            </a:r>
            <a:endParaRPr lang="en-US" altLang="zh-CN" dirty="0"/>
          </a:p>
        </p:txBody>
      </p:sp>
      <p:graphicFrame>
        <p:nvGraphicFramePr>
          <p:cNvPr id="27" name="Object 3">
            <a:extLst>
              <a:ext uri="{FF2B5EF4-FFF2-40B4-BE49-F238E27FC236}">
                <a16:creationId xmlns:a16="http://schemas.microsoft.com/office/drawing/2014/main" id="{FF644BA8-5A81-4697-A3BD-B84F868501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3052894"/>
              </p:ext>
            </p:extLst>
          </p:nvPr>
        </p:nvGraphicFramePr>
        <p:xfrm>
          <a:off x="1055387" y="4540580"/>
          <a:ext cx="7693025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4227265" imgH="1002865" progId="Equation.3">
                  <p:embed/>
                </p:oleObj>
              </mc:Choice>
              <mc:Fallback>
                <p:oleObj r:id="rId5" imgW="4227265" imgH="1002865" progId="Equation.3">
                  <p:embed/>
                  <p:pic>
                    <p:nvPicPr>
                      <p:cNvPr id="27" name="Object 3">
                        <a:extLst>
                          <a:ext uri="{FF2B5EF4-FFF2-40B4-BE49-F238E27FC236}">
                            <a16:creationId xmlns:a16="http://schemas.microsoft.com/office/drawing/2014/main" id="{FF644BA8-5A81-4697-A3BD-B84F868501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5387" y="4540580"/>
                        <a:ext cx="7693025" cy="182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tangle 6">
            <a:extLst>
              <a:ext uri="{FF2B5EF4-FFF2-40B4-BE49-F238E27FC236}">
                <a16:creationId xmlns:a16="http://schemas.microsoft.com/office/drawing/2014/main" id="{CDC2F9F6-C9E5-48EC-B7B4-8615004EDF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884" y="6243967"/>
            <a:ext cx="3359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None/>
            </a:pPr>
            <a:r>
              <a:rPr lang="zh-CN" altLang="en-US" sz="23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(4) 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平行边对应的列相同</a:t>
            </a:r>
          </a:p>
        </p:txBody>
      </p:sp>
      <p:sp>
        <p:nvSpPr>
          <p:cNvPr id="29" name="Rectangle 7">
            <a:extLst>
              <a:ext uri="{FF2B5EF4-FFF2-40B4-BE49-F238E27FC236}">
                <a16:creationId xmlns:a16="http://schemas.microsoft.com/office/drawing/2014/main" id="{78CD8464-CB05-4559-9D0C-CB62B8C0DB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709" y="4180217"/>
            <a:ext cx="796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性质</a:t>
            </a:r>
          </a:p>
        </p:txBody>
      </p:sp>
      <p:sp>
        <p:nvSpPr>
          <p:cNvPr id="33" name="Rectangle 7">
            <a:extLst>
              <a:ext uri="{FF2B5EF4-FFF2-40B4-BE49-F238E27FC236}">
                <a16:creationId xmlns:a16="http://schemas.microsoft.com/office/drawing/2014/main" id="{0064F640-8191-4613-ACCE-AFBACB806C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59212" y="2351559"/>
            <a:ext cx="4095391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endParaRPr lang="en-US" altLang="zh-CN" sz="2400" b="1" i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400" b="1" i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en-US" altLang="zh-CN" sz="20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0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=</a:t>
            </a:r>
          </a:p>
          <a:p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4" name="Object 2">
            <a:extLst>
              <a:ext uri="{FF2B5EF4-FFF2-40B4-BE49-F238E27FC236}">
                <a16:creationId xmlns:a16="http://schemas.microsoft.com/office/drawing/2014/main" id="{8E97BFF4-285E-4492-B8F7-BDD89604C8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2015850"/>
              </p:ext>
            </p:extLst>
          </p:nvPr>
        </p:nvGraphicFramePr>
        <p:xfrm>
          <a:off x="9202212" y="2585765"/>
          <a:ext cx="2566162" cy="15894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473200" imgH="914400" progId="Equation.DSMT4">
                  <p:embed/>
                </p:oleObj>
              </mc:Choice>
              <mc:Fallback>
                <p:oleObj r:id="rId7" imgW="1473200" imgH="914400" progId="Equation.DSMT4">
                  <p:embed/>
                  <p:pic>
                    <p:nvPicPr>
                      <p:cNvPr id="34" name="Object 2">
                        <a:extLst>
                          <a:ext uri="{FF2B5EF4-FFF2-40B4-BE49-F238E27FC236}">
                            <a16:creationId xmlns:a16="http://schemas.microsoft.com/office/drawing/2014/main" id="{8E97BFF4-285E-4492-B8F7-BDD89604C8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02212" y="2585765"/>
                        <a:ext cx="2566162" cy="158941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5" name="图片 24" descr="7T11">
            <a:extLst>
              <a:ext uri="{FF2B5EF4-FFF2-40B4-BE49-F238E27FC236}">
                <a16:creationId xmlns:a16="http://schemas.microsoft.com/office/drawing/2014/main" id="{C45AADD7-6365-4D24-BC39-9FBABA653A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8262" y="4266836"/>
            <a:ext cx="3233738" cy="2357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93744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5.3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图的矩阵表示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C2BBD46-3928-43BD-B43F-D1F059818F8F}"/>
              </a:ext>
            </a:extLst>
          </p:cNvPr>
          <p:cNvSpPr txBox="1"/>
          <p:nvPr/>
        </p:nvSpPr>
        <p:spPr>
          <a:xfrm>
            <a:off x="568034" y="949038"/>
            <a:ext cx="22959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无向图的关联矩阵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C28B4E1-F22E-4D95-A01D-C175CB1A3A9A}"/>
              </a:ext>
            </a:extLst>
          </p:cNvPr>
          <p:cNvSpPr txBox="1"/>
          <p:nvPr/>
        </p:nvSpPr>
        <p:spPr>
          <a:xfrm>
            <a:off x="6564702" y="949038"/>
            <a:ext cx="23291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有向图的邻接矩阵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351F7A5-7BB4-4402-8AA5-93DCEE8352D1}"/>
              </a:ext>
            </a:extLst>
          </p:cNvPr>
          <p:cNvSpPr txBox="1"/>
          <p:nvPr/>
        </p:nvSpPr>
        <p:spPr>
          <a:xfrm>
            <a:off x="3605843" y="949038"/>
            <a:ext cx="227449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有向图的关联矩阵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EE6BEA1-FE76-44CB-835F-BBCEEB0B9E3A}"/>
              </a:ext>
            </a:extLst>
          </p:cNvPr>
          <p:cNvSpPr txBox="1"/>
          <p:nvPr/>
        </p:nvSpPr>
        <p:spPr>
          <a:xfrm>
            <a:off x="9632829" y="920286"/>
            <a:ext cx="21278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有向图的可达矩阵</a:t>
            </a:r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258829AF-0CC3-40F1-BAB0-4CAF31B942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759" y="1423361"/>
            <a:ext cx="11218296" cy="4191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9pPr>
          </a:lstStyle>
          <a:p>
            <a:pPr marL="457200" marR="0" lvl="0" indent="-457200" algn="l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992677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设有向图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D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= &lt;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V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E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&gt;,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V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= {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v</a:t>
            </a:r>
            <a:r>
              <a:rPr kumimoji="0" lang="en-US" altLang="zh-CN" sz="2400" b="1" i="0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1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v</a:t>
            </a:r>
            <a:r>
              <a:rPr kumimoji="0" lang="en-US" altLang="zh-CN" sz="2400" b="1" i="0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2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, …,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v</a:t>
            </a:r>
            <a:r>
              <a:rPr kumimoji="0" lang="en-US" altLang="zh-CN" sz="2400" b="1" i="1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n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},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E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= {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e</a:t>
            </a:r>
            <a:r>
              <a:rPr kumimoji="0" lang="en-US" altLang="zh-CN" sz="2400" b="1" i="0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1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e</a:t>
            </a:r>
            <a:r>
              <a:rPr kumimoji="0" lang="en-US" altLang="zh-CN" sz="2400" b="1" i="0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2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, …,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e</a:t>
            </a:r>
            <a:r>
              <a:rPr kumimoji="0" lang="en-US" altLang="zh-CN" sz="2400" b="1" i="1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m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},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令     为顶点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v</a:t>
            </a:r>
            <a:r>
              <a:rPr kumimoji="0" lang="en-US" altLang="zh-CN" sz="24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i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邻接到</a:t>
            </a:r>
            <a:endParaRPr lang="en-US" altLang="zh-CN" kern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顶点 </a:t>
            </a:r>
            <a:r>
              <a:rPr lang="en-US" altLang="zh-CN" kern="0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</a:t>
            </a:r>
            <a:r>
              <a:rPr kumimoji="0" lang="en-US" altLang="zh-CN" sz="2400" b="1" i="1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j</a:t>
            </a:r>
            <a:r>
              <a:rPr kumimoji="0" lang="en-US" altLang="zh-CN" sz="24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边的条数，称为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D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邻接矩阵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，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记作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D</a:t>
            </a:r>
            <a:r>
              <a:rPr lang="en-US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)，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或简记为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. 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性质</a:t>
            </a:r>
          </a:p>
          <a:p>
            <a:pPr marL="457200" marR="0" lvl="0" indent="-4572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 </a:t>
            </a:r>
          </a:p>
        </p:txBody>
      </p:sp>
      <p:graphicFrame>
        <p:nvGraphicFramePr>
          <p:cNvPr id="21" name="Object 5">
            <a:extLst>
              <a:ext uri="{FF2B5EF4-FFF2-40B4-BE49-F238E27FC236}">
                <a16:creationId xmlns:a16="http://schemas.microsoft.com/office/drawing/2014/main" id="{F80BF8D2-56AF-426E-A3E5-7B84DCB4EC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201960"/>
              </p:ext>
            </p:extLst>
          </p:nvPr>
        </p:nvGraphicFramePr>
        <p:xfrm>
          <a:off x="1465263" y="3702050"/>
          <a:ext cx="5314950" cy="2579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794000" imgH="1308100" progId="Equation.3">
                  <p:embed/>
                </p:oleObj>
              </mc:Choice>
              <mc:Fallback>
                <p:oleObj name="公式" r:id="rId3" imgW="2794000" imgH="1308100" progId="Equation.3">
                  <p:embed/>
                  <p:pic>
                    <p:nvPicPr>
                      <p:cNvPr id="21" name="Object 5">
                        <a:extLst>
                          <a:ext uri="{FF2B5EF4-FFF2-40B4-BE49-F238E27FC236}">
                            <a16:creationId xmlns:a16="http://schemas.microsoft.com/office/drawing/2014/main" id="{F80BF8D2-56AF-426E-A3E5-7B84DCB4EC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5263" y="3702050"/>
                        <a:ext cx="5314950" cy="2579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6">
            <a:extLst>
              <a:ext uri="{FF2B5EF4-FFF2-40B4-BE49-F238E27FC236}">
                <a16:creationId xmlns:a16="http://schemas.microsoft.com/office/drawing/2014/main" id="{14ED3AD4-97A9-4827-BEC3-79A7B962FD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2954942"/>
              </p:ext>
            </p:extLst>
          </p:nvPr>
        </p:nvGraphicFramePr>
        <p:xfrm>
          <a:off x="8705068" y="1874088"/>
          <a:ext cx="576263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41195" imgH="253890" progId="Equation.3">
                  <p:embed/>
                </p:oleObj>
              </mc:Choice>
              <mc:Fallback>
                <p:oleObj name="公式" r:id="rId5" imgW="241195" imgH="253890" progId="Equation.3">
                  <p:embed/>
                  <p:pic>
                    <p:nvPicPr>
                      <p:cNvPr id="24" name="Object 6">
                        <a:extLst>
                          <a:ext uri="{FF2B5EF4-FFF2-40B4-BE49-F238E27FC236}">
                            <a16:creationId xmlns:a16="http://schemas.microsoft.com/office/drawing/2014/main" id="{14ED3AD4-97A9-4827-BEC3-79A7B962FD8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05068" y="1874088"/>
                        <a:ext cx="576263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>
            <a:extLst>
              <a:ext uri="{FF2B5EF4-FFF2-40B4-BE49-F238E27FC236}">
                <a16:creationId xmlns:a16="http://schemas.microsoft.com/office/drawing/2014/main" id="{97D34E32-7912-400A-808E-A228907F4F9E}"/>
              </a:ext>
            </a:extLst>
          </p:cNvPr>
          <p:cNvGrpSpPr/>
          <p:nvPr/>
        </p:nvGrpSpPr>
        <p:grpSpPr>
          <a:xfrm>
            <a:off x="7453222" y="3045120"/>
            <a:ext cx="3329797" cy="3915375"/>
            <a:chOff x="7453222" y="3045120"/>
            <a:chExt cx="3329797" cy="3915375"/>
          </a:xfrm>
        </p:grpSpPr>
        <p:sp>
          <p:nvSpPr>
            <p:cNvPr id="25" name="标题 1">
              <a:extLst>
                <a:ext uri="{FF2B5EF4-FFF2-40B4-BE49-F238E27FC236}">
                  <a16:creationId xmlns:a16="http://schemas.microsoft.com/office/drawing/2014/main" id="{0B913F6C-24AF-4FDE-B2E2-EBC4F4588F14}"/>
                </a:ext>
              </a:extLst>
            </p:cNvPr>
            <p:cNvSpPr txBox="1">
              <a:spLocks/>
            </p:cNvSpPr>
            <p:nvPr/>
          </p:nvSpPr>
          <p:spPr>
            <a:xfrm>
              <a:off x="7453222" y="3045120"/>
              <a:ext cx="802258" cy="396820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例</a:t>
              </a:r>
            </a:p>
          </p:txBody>
        </p:sp>
        <p:graphicFrame>
          <p:nvGraphicFramePr>
            <p:cNvPr id="26" name="Object 0">
              <a:extLst>
                <a:ext uri="{FF2B5EF4-FFF2-40B4-BE49-F238E27FC236}">
                  <a16:creationId xmlns:a16="http://schemas.microsoft.com/office/drawing/2014/main" id="{C55046A5-C562-426E-B357-E82EDB5321C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20177540"/>
                </p:ext>
              </p:extLst>
            </p:nvPr>
          </p:nvGraphicFramePr>
          <p:xfrm>
            <a:off x="8396697" y="5347054"/>
            <a:ext cx="2386322" cy="16134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371600" imgH="927000" progId="Equation.3">
                    <p:embed/>
                  </p:oleObj>
                </mc:Choice>
                <mc:Fallback>
                  <p:oleObj name="Equation" r:id="rId7" imgW="1371600" imgH="927000" progId="Equation.3">
                    <p:embed/>
                    <p:pic>
                      <p:nvPicPr>
                        <p:cNvPr id="26" name="Object 0">
                          <a:extLst>
                            <a:ext uri="{FF2B5EF4-FFF2-40B4-BE49-F238E27FC236}">
                              <a16:creationId xmlns:a16="http://schemas.microsoft.com/office/drawing/2014/main" id="{C55046A5-C562-426E-B357-E82EDB5321C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96697" y="5347054"/>
                          <a:ext cx="2386322" cy="1613441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30" name="Picture 9" descr="14-10">
              <a:extLst>
                <a:ext uri="{FF2B5EF4-FFF2-40B4-BE49-F238E27FC236}">
                  <a16:creationId xmlns:a16="http://schemas.microsoft.com/office/drawing/2014/main" id="{D109CD90-8F12-49BC-B49F-90EB6F0094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669" t="6734"/>
            <a:stretch>
              <a:fillRect/>
            </a:stretch>
          </p:blipFill>
          <p:spPr bwMode="auto">
            <a:xfrm>
              <a:off x="8409162" y="3153468"/>
              <a:ext cx="2258259" cy="2056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900067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5.3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图的矩阵表示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C2BBD46-3928-43BD-B43F-D1F059818F8F}"/>
              </a:ext>
            </a:extLst>
          </p:cNvPr>
          <p:cNvSpPr txBox="1"/>
          <p:nvPr/>
        </p:nvSpPr>
        <p:spPr>
          <a:xfrm>
            <a:off x="568034" y="949038"/>
            <a:ext cx="22959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无向图的关联矩阵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C28B4E1-F22E-4D95-A01D-C175CB1A3A9A}"/>
              </a:ext>
            </a:extLst>
          </p:cNvPr>
          <p:cNvSpPr txBox="1"/>
          <p:nvPr/>
        </p:nvSpPr>
        <p:spPr>
          <a:xfrm>
            <a:off x="6564702" y="949038"/>
            <a:ext cx="23291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有向图的邻接矩阵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351F7A5-7BB4-4402-8AA5-93DCEE8352D1}"/>
              </a:ext>
            </a:extLst>
          </p:cNvPr>
          <p:cNvSpPr txBox="1"/>
          <p:nvPr/>
        </p:nvSpPr>
        <p:spPr>
          <a:xfrm>
            <a:off x="3605843" y="949038"/>
            <a:ext cx="227449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有向图的关联矩阵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EE6BEA1-FE76-44CB-835F-BBCEEB0B9E3A}"/>
              </a:ext>
            </a:extLst>
          </p:cNvPr>
          <p:cNvSpPr txBox="1"/>
          <p:nvPr/>
        </p:nvSpPr>
        <p:spPr>
          <a:xfrm>
            <a:off x="9632829" y="920286"/>
            <a:ext cx="21278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有向图的可达矩阵</a:t>
            </a:r>
          </a:p>
        </p:txBody>
      </p:sp>
      <p:sp>
        <p:nvSpPr>
          <p:cNvPr id="33" name="Rectangle 2">
            <a:extLst>
              <a:ext uri="{FF2B5EF4-FFF2-40B4-BE49-F238E27FC236}">
                <a16:creationId xmlns:a16="http://schemas.microsoft.com/office/drawing/2014/main" id="{4D76739D-D603-4E0E-8471-EDACDAA2BF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243" y="4958797"/>
            <a:ext cx="10135380" cy="4597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None/>
            </a:pPr>
            <a:r>
              <a:rPr lang="zh-CN" altLang="en-US" sz="220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推论 </a:t>
            </a:r>
            <a:r>
              <a:rPr lang="zh-CN" altLang="en-US" sz="2200" dirty="0">
                <a:solidFill>
                  <a:srgbClr val="A50021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2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lang="en-US" altLang="zh-CN" sz="22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200" i="1" baseline="-30000" dirty="0">
                <a:solidFill>
                  <a:srgbClr val="000000"/>
                </a:solidFill>
                <a:latin typeface="Times New Roman" panose="02020603050405020304" pitchFamily="18" charset="0"/>
              </a:rPr>
              <a:t>l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220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2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220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200" baseline="30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+…+</a:t>
            </a:r>
            <a:r>
              <a:rPr lang="en-US" altLang="zh-CN" sz="220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200" i="1" baseline="30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l</a:t>
            </a:r>
            <a:r>
              <a:rPr lang="en-US" altLang="zh-CN" sz="22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20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l</a:t>
            </a:r>
            <a:r>
              <a:rPr lang="en-US" altLang="zh-CN" sz="2200" dirty="0" err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sz="22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），</a:t>
            </a:r>
            <a:r>
              <a:rPr lang="zh-CN" altLang="en-US" sz="22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则 </a:t>
            </a:r>
            <a:r>
              <a:rPr lang="en-US" altLang="zh-CN" sz="2200" i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200" i="1" baseline="-300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l</a:t>
            </a:r>
            <a:r>
              <a:rPr lang="zh-CN" altLang="en-US" sz="22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中元素</a:t>
            </a:r>
          </a:p>
        </p:txBody>
      </p:sp>
      <p:sp>
        <p:nvSpPr>
          <p:cNvPr id="34" name="Rectangle 3">
            <a:extLst>
              <a:ext uri="{FF2B5EF4-FFF2-40B4-BE49-F238E27FC236}">
                <a16:creationId xmlns:a16="http://schemas.microsoft.com/office/drawing/2014/main" id="{9C875E89-2228-45C3-9299-B3C54892B8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2132" y="3625254"/>
            <a:ext cx="712946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None/>
            </a:pPr>
            <a:r>
              <a:rPr lang="zh-CN" altLang="en-US" sz="22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en-US" altLang="zh-CN" sz="2200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D</a:t>
            </a:r>
            <a:r>
              <a:rPr lang="zh-CN" altLang="en-US" sz="22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中长度为 </a:t>
            </a:r>
            <a:r>
              <a:rPr lang="en-US" altLang="zh-CN" sz="2200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l</a:t>
            </a:r>
            <a:r>
              <a:rPr lang="en-US" altLang="zh-CN" sz="22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2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的通路总数，</a:t>
            </a:r>
          </a:p>
        </p:txBody>
      </p:sp>
      <p:graphicFrame>
        <p:nvGraphicFramePr>
          <p:cNvPr id="35" name="Object 5">
            <a:extLst>
              <a:ext uri="{FF2B5EF4-FFF2-40B4-BE49-F238E27FC236}">
                <a16:creationId xmlns:a16="http://schemas.microsoft.com/office/drawing/2014/main" id="{53293A96-3D3C-49E8-9D62-A465856A4C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764271"/>
              </p:ext>
            </p:extLst>
          </p:nvPr>
        </p:nvGraphicFramePr>
        <p:xfrm>
          <a:off x="2023964" y="2393258"/>
          <a:ext cx="503238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42987" imgH="255776" progId="Equation.3">
                  <p:embed/>
                </p:oleObj>
              </mc:Choice>
              <mc:Fallback>
                <p:oleObj r:id="rId3" imgW="242987" imgH="255776" progId="Equation.3">
                  <p:embed/>
                  <p:pic>
                    <p:nvPicPr>
                      <p:cNvPr id="35" name="Object 5">
                        <a:extLst>
                          <a:ext uri="{FF2B5EF4-FFF2-40B4-BE49-F238E27FC236}">
                            <a16:creationId xmlns:a16="http://schemas.microsoft.com/office/drawing/2014/main" id="{53293A96-3D3C-49E8-9D62-A465856A4C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3964" y="2393258"/>
                        <a:ext cx="503238" cy="538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6">
            <a:extLst>
              <a:ext uri="{FF2B5EF4-FFF2-40B4-BE49-F238E27FC236}">
                <a16:creationId xmlns:a16="http://schemas.microsoft.com/office/drawing/2014/main" id="{C4A1E0FF-5F6E-4DFE-87EC-B0CA526F3E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5709920"/>
              </p:ext>
            </p:extLst>
          </p:nvPr>
        </p:nvGraphicFramePr>
        <p:xfrm>
          <a:off x="1995657" y="2909673"/>
          <a:ext cx="533400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43094" imgH="243094" progId="Equation.3">
                  <p:embed/>
                </p:oleObj>
              </mc:Choice>
              <mc:Fallback>
                <p:oleObj r:id="rId5" imgW="243094" imgH="243094" progId="Equation.3">
                  <p:embed/>
                  <p:pic>
                    <p:nvPicPr>
                      <p:cNvPr id="36" name="Object 6">
                        <a:extLst>
                          <a:ext uri="{FF2B5EF4-FFF2-40B4-BE49-F238E27FC236}">
                            <a16:creationId xmlns:a16="http://schemas.microsoft.com/office/drawing/2014/main" id="{C4A1E0FF-5F6E-4DFE-87EC-B0CA526F3E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5657" y="2909673"/>
                        <a:ext cx="533400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7">
            <a:extLst>
              <a:ext uri="{FF2B5EF4-FFF2-40B4-BE49-F238E27FC236}">
                <a16:creationId xmlns:a16="http://schemas.microsoft.com/office/drawing/2014/main" id="{CBA5FF7D-A937-4233-981A-733C524A09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1119780"/>
              </p:ext>
            </p:extLst>
          </p:nvPr>
        </p:nvGraphicFramePr>
        <p:xfrm>
          <a:off x="1959144" y="3427198"/>
          <a:ext cx="1044575" cy="795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611192" imgH="458394" progId="Equation.3">
                  <p:embed/>
                </p:oleObj>
              </mc:Choice>
              <mc:Fallback>
                <p:oleObj r:id="rId7" imgW="611192" imgH="458394" progId="Equation.3">
                  <p:embed/>
                  <p:pic>
                    <p:nvPicPr>
                      <p:cNvPr id="37" name="Object 7">
                        <a:extLst>
                          <a:ext uri="{FF2B5EF4-FFF2-40B4-BE49-F238E27FC236}">
                            <a16:creationId xmlns:a16="http://schemas.microsoft.com/office/drawing/2014/main" id="{CBA5FF7D-A937-4233-981A-733C524A09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9144" y="3427198"/>
                        <a:ext cx="1044575" cy="795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8">
            <a:extLst>
              <a:ext uri="{FF2B5EF4-FFF2-40B4-BE49-F238E27FC236}">
                <a16:creationId xmlns:a16="http://schemas.microsoft.com/office/drawing/2014/main" id="{A461E0C7-F12F-4A09-82C8-591EA1E675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8654852"/>
              </p:ext>
            </p:extLst>
          </p:nvPr>
        </p:nvGraphicFramePr>
        <p:xfrm>
          <a:off x="1946444" y="4082836"/>
          <a:ext cx="841375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433871" imgH="433871" progId="Equation.3">
                  <p:embed/>
                </p:oleObj>
              </mc:Choice>
              <mc:Fallback>
                <p:oleObj r:id="rId9" imgW="433871" imgH="433871" progId="Equation.3">
                  <p:embed/>
                  <p:pic>
                    <p:nvPicPr>
                      <p:cNvPr id="38" name="Object 8">
                        <a:extLst>
                          <a:ext uri="{FF2B5EF4-FFF2-40B4-BE49-F238E27FC236}">
                            <a16:creationId xmlns:a16="http://schemas.microsoft.com/office/drawing/2014/main" id="{A461E0C7-F12F-4A09-82C8-591EA1E675A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6444" y="4082836"/>
                        <a:ext cx="841375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9">
            <a:extLst>
              <a:ext uri="{FF2B5EF4-FFF2-40B4-BE49-F238E27FC236}">
                <a16:creationId xmlns:a16="http://schemas.microsoft.com/office/drawing/2014/main" id="{DF251875-C576-4F7F-BFF2-54CE1769F6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8838326"/>
              </p:ext>
            </p:extLst>
          </p:nvPr>
        </p:nvGraphicFramePr>
        <p:xfrm>
          <a:off x="1359206" y="5408763"/>
          <a:ext cx="975085" cy="705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622030" imgH="444307" progId="Equation.3">
                  <p:embed/>
                </p:oleObj>
              </mc:Choice>
              <mc:Fallback>
                <p:oleObj name="公式" r:id="rId11" imgW="622030" imgH="444307" progId="Equation.3">
                  <p:embed/>
                  <p:pic>
                    <p:nvPicPr>
                      <p:cNvPr id="39" name="Object 9">
                        <a:extLst>
                          <a:ext uri="{FF2B5EF4-FFF2-40B4-BE49-F238E27FC236}">
                            <a16:creationId xmlns:a16="http://schemas.microsoft.com/office/drawing/2014/main" id="{DF251875-C576-4F7F-BFF2-54CE1769F62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9206" y="5408763"/>
                        <a:ext cx="975085" cy="705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10">
            <a:extLst>
              <a:ext uri="{FF2B5EF4-FFF2-40B4-BE49-F238E27FC236}">
                <a16:creationId xmlns:a16="http://schemas.microsoft.com/office/drawing/2014/main" id="{DEFD0279-E854-44B9-91AE-34B0C9DC1E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8602539"/>
              </p:ext>
            </p:extLst>
          </p:nvPr>
        </p:nvGraphicFramePr>
        <p:xfrm>
          <a:off x="1432940" y="6031300"/>
          <a:ext cx="731809" cy="7318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433871" imgH="433871" progId="Equation.3">
                  <p:embed/>
                </p:oleObj>
              </mc:Choice>
              <mc:Fallback>
                <p:oleObj r:id="rId13" imgW="433871" imgH="433871" progId="Equation.3">
                  <p:embed/>
                  <p:pic>
                    <p:nvPicPr>
                      <p:cNvPr id="40" name="Object 10">
                        <a:extLst>
                          <a:ext uri="{FF2B5EF4-FFF2-40B4-BE49-F238E27FC236}">
                            <a16:creationId xmlns:a16="http://schemas.microsoft.com/office/drawing/2014/main" id="{DEFD0279-E854-44B9-91AE-34B0C9DC1E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2940" y="6031300"/>
                        <a:ext cx="731809" cy="7318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10">
            <a:extLst>
              <a:ext uri="{FF2B5EF4-FFF2-40B4-BE49-F238E27FC236}">
                <a16:creationId xmlns:a16="http://schemas.microsoft.com/office/drawing/2014/main" id="{E5C17A1B-4369-4D4A-8E25-1A42800B7B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267" y="1471155"/>
            <a:ext cx="11508309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indent="1588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None/>
            </a:pPr>
            <a:r>
              <a:rPr lang="zh-CN" altLang="en-US" sz="220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定理</a:t>
            </a:r>
            <a:r>
              <a:rPr lang="en-US" altLang="zh-CN" sz="220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220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en-US" altLang="zh-CN" sz="220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220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2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2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2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为有向图 </a:t>
            </a:r>
            <a:r>
              <a:rPr lang="en-US" altLang="zh-CN" sz="22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D </a:t>
            </a:r>
            <a:r>
              <a:rPr lang="zh-CN" altLang="en-US" sz="22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的邻接矩阵，</a:t>
            </a:r>
            <a:r>
              <a:rPr lang="en-US" altLang="zh-CN" sz="22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={</a:t>
            </a:r>
            <a:r>
              <a:rPr lang="en-US" altLang="zh-CN" sz="220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200" baseline="-30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20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200" baseline="-30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, …, </a:t>
            </a:r>
            <a:r>
              <a:rPr lang="en-US" altLang="zh-CN" sz="220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200" i="1" baseline="-30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}</a:t>
            </a:r>
            <a:r>
              <a:rPr lang="zh-CN" altLang="en-US" sz="22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为顶点集，则 </a:t>
            </a:r>
            <a:r>
              <a:rPr lang="en-US" altLang="zh-CN" sz="22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 </a:t>
            </a:r>
            <a:r>
              <a:rPr lang="zh-CN" altLang="en-US" sz="22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2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l </a:t>
            </a:r>
            <a:r>
              <a:rPr lang="zh-CN" altLang="en-US" sz="22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次幂 </a:t>
            </a:r>
            <a:endParaRPr lang="en-US" altLang="zh-CN" sz="220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None/>
            </a:pPr>
            <a:r>
              <a:rPr lang="en-US" altLang="zh-CN" sz="22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 </a:t>
            </a:r>
            <a:r>
              <a:rPr lang="en-US" altLang="zh-CN" sz="220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200" i="1" baseline="30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l</a:t>
            </a:r>
            <a:r>
              <a:rPr lang="en-US" altLang="zh-CN" sz="22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200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l</a:t>
            </a:r>
            <a:r>
              <a:rPr lang="en-US" altLang="zh-CN" sz="2200" dirty="0" err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sz="22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）</a:t>
            </a:r>
            <a:r>
              <a:rPr lang="zh-CN" altLang="en-US" sz="22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中元素</a:t>
            </a:r>
          </a:p>
        </p:txBody>
      </p:sp>
      <p:sp>
        <p:nvSpPr>
          <p:cNvPr id="42" name="Rectangle 11">
            <a:extLst>
              <a:ext uri="{FF2B5EF4-FFF2-40B4-BE49-F238E27FC236}">
                <a16:creationId xmlns:a16="http://schemas.microsoft.com/office/drawing/2014/main" id="{20231DCF-684D-43AA-BD41-B893B9AE93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1919" y="2453294"/>
            <a:ext cx="484299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None/>
            </a:pPr>
            <a:r>
              <a:rPr lang="zh-CN" altLang="en-US" sz="22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en-US" altLang="zh-CN" sz="2200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D</a:t>
            </a:r>
            <a:r>
              <a:rPr lang="zh-CN" altLang="en-US" sz="22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</a:t>
            </a:r>
            <a:r>
              <a:rPr lang="en-US" altLang="zh-CN" sz="2200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v</a:t>
            </a:r>
            <a:r>
              <a:rPr lang="en-US" altLang="zh-CN" sz="2200" i="1" baseline="-30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i </a:t>
            </a:r>
            <a:r>
              <a:rPr lang="zh-CN" altLang="en-US" sz="22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到</a:t>
            </a:r>
            <a:r>
              <a:rPr lang="en-US" altLang="zh-CN" sz="2200" i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v</a:t>
            </a:r>
            <a:r>
              <a:rPr lang="en-US" altLang="zh-CN" sz="2200" i="1" baseline="-30000" dirty="0" err="1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j</a:t>
            </a:r>
            <a:r>
              <a:rPr lang="zh-CN" altLang="en-US" sz="22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长度为 </a:t>
            </a:r>
            <a:r>
              <a:rPr lang="en-US" altLang="zh-CN" sz="2200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l</a:t>
            </a:r>
            <a:r>
              <a:rPr lang="en-US" altLang="zh-CN" sz="22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2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的通路数，其中</a:t>
            </a:r>
          </a:p>
        </p:txBody>
      </p:sp>
      <p:sp>
        <p:nvSpPr>
          <p:cNvPr id="43" name="Rectangle 12">
            <a:extLst>
              <a:ext uri="{FF2B5EF4-FFF2-40B4-BE49-F238E27FC236}">
                <a16:creationId xmlns:a16="http://schemas.microsoft.com/office/drawing/2014/main" id="{F6C2E6DE-7724-424E-9181-EDB8909A9A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1919" y="2979980"/>
            <a:ext cx="43396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None/>
            </a:pPr>
            <a:r>
              <a:rPr lang="zh-CN" altLang="en-US" sz="22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en-US" altLang="zh-CN" sz="2200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v</a:t>
            </a:r>
            <a:r>
              <a:rPr lang="en-US" altLang="zh-CN" sz="2200" i="1" baseline="-30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i</a:t>
            </a:r>
            <a:r>
              <a:rPr lang="zh-CN" altLang="en-US" sz="22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到自身长度为 </a:t>
            </a:r>
            <a:r>
              <a:rPr lang="en-US" altLang="zh-CN" sz="2200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l </a:t>
            </a:r>
            <a:r>
              <a:rPr lang="zh-CN" altLang="en-US" sz="220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</a:t>
            </a:r>
            <a:r>
              <a:rPr lang="zh-CN" altLang="en-US" sz="220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回路数</a:t>
            </a:r>
            <a:r>
              <a:rPr lang="zh-CN" altLang="en-US" sz="220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，</a:t>
            </a:r>
            <a:r>
              <a:rPr lang="zh-CN" altLang="en-US" sz="22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而</a:t>
            </a:r>
          </a:p>
        </p:txBody>
      </p:sp>
      <p:sp>
        <p:nvSpPr>
          <p:cNvPr id="44" name="Rectangle 13">
            <a:extLst>
              <a:ext uri="{FF2B5EF4-FFF2-40B4-BE49-F238E27FC236}">
                <a16:creationId xmlns:a16="http://schemas.microsoft.com/office/drawing/2014/main" id="{AB50A924-0BCD-45A3-AA95-3ABE174279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8590" y="6150819"/>
            <a:ext cx="4368504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None/>
            </a:pPr>
            <a:r>
              <a:rPr lang="zh-CN" altLang="en-US" sz="22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en-US" altLang="zh-CN" sz="22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D</a:t>
            </a:r>
            <a:r>
              <a:rPr lang="zh-CN" altLang="en-US" sz="22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中长度小于或等于 </a:t>
            </a:r>
            <a:r>
              <a:rPr lang="en-US" altLang="zh-CN" sz="22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l </a:t>
            </a:r>
            <a:r>
              <a:rPr lang="zh-CN" altLang="en-US" sz="22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的回路数</a:t>
            </a:r>
            <a:endParaRPr lang="zh-CN" altLang="en-US" sz="22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" name="Rectangle 14">
            <a:extLst>
              <a:ext uri="{FF2B5EF4-FFF2-40B4-BE49-F238E27FC236}">
                <a16:creationId xmlns:a16="http://schemas.microsoft.com/office/drawing/2014/main" id="{DEA57A6D-CF93-47C0-AE55-D4044DBE0C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0316" y="5576145"/>
            <a:ext cx="4511171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None/>
            </a:pPr>
            <a:r>
              <a:rPr lang="zh-CN" altLang="en-US" sz="22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en-US" altLang="zh-CN" sz="22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D</a:t>
            </a:r>
            <a:r>
              <a:rPr lang="zh-CN" altLang="en-US" sz="22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中长度小于或等于 </a:t>
            </a:r>
            <a:r>
              <a:rPr lang="en-US" altLang="zh-CN" sz="22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l </a:t>
            </a:r>
            <a:r>
              <a:rPr lang="zh-CN" altLang="en-US" sz="22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的通路数 </a:t>
            </a:r>
          </a:p>
        </p:txBody>
      </p:sp>
      <p:sp>
        <p:nvSpPr>
          <p:cNvPr id="46" name="Rectangle 16">
            <a:extLst>
              <a:ext uri="{FF2B5EF4-FFF2-40B4-BE49-F238E27FC236}">
                <a16:creationId xmlns:a16="http://schemas.microsoft.com/office/drawing/2014/main" id="{6F4E2359-263E-43F5-ACEF-682D4FB3BB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4357" y="4260636"/>
            <a:ext cx="45720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None/>
            </a:pP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en-US" altLang="zh-CN" sz="2200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 </a:t>
            </a:r>
            <a:r>
              <a:rPr lang="zh-CN" altLang="en-US" sz="22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中长度为 </a:t>
            </a:r>
            <a:r>
              <a:rPr lang="en-US" altLang="zh-CN" sz="2200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l</a:t>
            </a:r>
            <a:r>
              <a:rPr lang="en-US" altLang="zh-CN" sz="2200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2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的回路总数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r>
              <a:rPr lang="zh-CN" altLang="en-US" sz="2200" b="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86282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  <p:bldP spid="41" grpId="0"/>
      <p:bldP spid="42" grpId="0"/>
      <p:bldP spid="43" grpId="0"/>
      <p:bldP spid="44" grpId="0"/>
      <p:bldP spid="45" grpId="0"/>
      <p:bldP spid="4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5.3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图的矩阵表示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C2BBD46-3928-43BD-B43F-D1F059818F8F}"/>
              </a:ext>
            </a:extLst>
          </p:cNvPr>
          <p:cNvSpPr txBox="1"/>
          <p:nvPr/>
        </p:nvSpPr>
        <p:spPr>
          <a:xfrm>
            <a:off x="568034" y="949038"/>
            <a:ext cx="22959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无向图的关联矩阵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C28B4E1-F22E-4D95-A01D-C175CB1A3A9A}"/>
              </a:ext>
            </a:extLst>
          </p:cNvPr>
          <p:cNvSpPr txBox="1"/>
          <p:nvPr/>
        </p:nvSpPr>
        <p:spPr>
          <a:xfrm>
            <a:off x="6564702" y="949038"/>
            <a:ext cx="23291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有向图的邻接矩阵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351F7A5-7BB4-4402-8AA5-93DCEE8352D1}"/>
              </a:ext>
            </a:extLst>
          </p:cNvPr>
          <p:cNvSpPr txBox="1"/>
          <p:nvPr/>
        </p:nvSpPr>
        <p:spPr>
          <a:xfrm>
            <a:off x="3605843" y="949038"/>
            <a:ext cx="227449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有向图的关联矩阵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EE6BEA1-FE76-44CB-835F-BBCEEB0B9E3A}"/>
              </a:ext>
            </a:extLst>
          </p:cNvPr>
          <p:cNvSpPr txBox="1"/>
          <p:nvPr/>
        </p:nvSpPr>
        <p:spPr>
          <a:xfrm>
            <a:off x="9632829" y="920286"/>
            <a:ext cx="21278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有向图的可达矩阵</a:t>
            </a:r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C7514A53-93CE-4FFF-AED6-41EA13FEE0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213" y="1589494"/>
            <a:ext cx="10702896" cy="15515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例  有向图</a:t>
            </a:r>
            <a:r>
              <a:rPr lang="en-US" altLang="zh-CN" sz="2200" i="1" dirty="0">
                <a:latin typeface="Times New Roman" panose="02020603050405020304" pitchFamily="18" charset="0"/>
              </a:rPr>
              <a:t>D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如图所示，求</a:t>
            </a:r>
            <a:r>
              <a:rPr lang="zh-CN" altLang="en-US" sz="2200" dirty="0">
                <a:latin typeface="Times New Roman" panose="02020603050405020304" pitchFamily="18" charset="0"/>
              </a:rPr>
              <a:t> </a:t>
            </a:r>
            <a:r>
              <a:rPr lang="en-US" altLang="zh-CN" sz="2200" i="1" dirty="0">
                <a:latin typeface="Times New Roman" panose="02020603050405020304" pitchFamily="18" charset="0"/>
              </a:rPr>
              <a:t>A</a:t>
            </a:r>
            <a:r>
              <a:rPr lang="en-US" altLang="zh-CN" sz="2200" dirty="0">
                <a:latin typeface="Times New Roman" panose="02020603050405020304" pitchFamily="18" charset="0"/>
              </a:rPr>
              <a:t>, </a:t>
            </a:r>
            <a:r>
              <a:rPr lang="en-US" altLang="zh-CN" sz="2200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200" baseline="30000" dirty="0" err="1">
                <a:latin typeface="Times New Roman" panose="02020603050405020304" pitchFamily="18" charset="0"/>
              </a:rPr>
              <a:t>2</a:t>
            </a:r>
            <a:r>
              <a:rPr lang="en-US" altLang="zh-CN" sz="2200" dirty="0">
                <a:latin typeface="Times New Roman" panose="02020603050405020304" pitchFamily="18" charset="0"/>
              </a:rPr>
              <a:t>, </a:t>
            </a:r>
            <a:r>
              <a:rPr lang="en-US" altLang="zh-CN" sz="2200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200" baseline="30000" dirty="0" err="1">
                <a:latin typeface="Times New Roman" panose="02020603050405020304" pitchFamily="18" charset="0"/>
              </a:rPr>
              <a:t>3</a:t>
            </a:r>
            <a:r>
              <a:rPr lang="en-US" altLang="zh-CN" sz="2200" dirty="0">
                <a:latin typeface="Times New Roman" panose="02020603050405020304" pitchFamily="18" charset="0"/>
              </a:rPr>
              <a:t>, </a:t>
            </a:r>
            <a:r>
              <a:rPr lang="en-US" altLang="zh-CN" sz="2200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200" baseline="30000" dirty="0" err="1">
                <a:latin typeface="Times New Roman" panose="02020603050405020304" pitchFamily="18" charset="0"/>
              </a:rPr>
              <a:t>4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并回答诸问题：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200" dirty="0">
                <a:latin typeface="Times New Roman" panose="02020603050405020304" pitchFamily="18" charset="0"/>
              </a:rPr>
              <a:t>(1) </a:t>
            </a:r>
            <a:r>
              <a:rPr lang="en-US" altLang="zh-CN" sz="2200" i="1" dirty="0">
                <a:latin typeface="Times New Roman" panose="02020603050405020304" pitchFamily="18" charset="0"/>
              </a:rPr>
              <a:t>D 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中长度为</a:t>
            </a:r>
            <a:r>
              <a:rPr lang="zh-CN" altLang="en-US" sz="2200" dirty="0">
                <a:latin typeface="Times New Roman" panose="02020603050405020304" pitchFamily="18" charset="0"/>
              </a:rPr>
              <a:t>1, 2, 3, 4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的通路各有多少条？其中回路分别为多少条？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200" dirty="0">
                <a:latin typeface="Times New Roman" panose="02020603050405020304" pitchFamily="18" charset="0"/>
              </a:rPr>
              <a:t>(2) </a:t>
            </a:r>
            <a:r>
              <a:rPr lang="en-US" altLang="zh-CN" sz="2200" i="1" dirty="0">
                <a:latin typeface="Times New Roman" panose="02020603050405020304" pitchFamily="18" charset="0"/>
              </a:rPr>
              <a:t>D 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中长度小于或等于4的通路为多少条？其中有多少条回路？</a:t>
            </a:r>
          </a:p>
        </p:txBody>
      </p:sp>
      <p:pic>
        <p:nvPicPr>
          <p:cNvPr id="23" name="Picture 3" descr="14-10">
            <a:extLst>
              <a:ext uri="{FF2B5EF4-FFF2-40B4-BE49-F238E27FC236}">
                <a16:creationId xmlns:a16="http://schemas.microsoft.com/office/drawing/2014/main" id="{A9725FA2-58D3-42AF-ABC4-A836B873C4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7038" y="3391827"/>
            <a:ext cx="3513903" cy="2861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78625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5.3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图的矩阵表示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C2BBD46-3928-43BD-B43F-D1F059818F8F}"/>
              </a:ext>
            </a:extLst>
          </p:cNvPr>
          <p:cNvSpPr txBox="1"/>
          <p:nvPr/>
        </p:nvSpPr>
        <p:spPr>
          <a:xfrm>
            <a:off x="568034" y="949038"/>
            <a:ext cx="22959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无向图的关联矩阵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C28B4E1-F22E-4D95-A01D-C175CB1A3A9A}"/>
              </a:ext>
            </a:extLst>
          </p:cNvPr>
          <p:cNvSpPr txBox="1"/>
          <p:nvPr/>
        </p:nvSpPr>
        <p:spPr>
          <a:xfrm>
            <a:off x="6564702" y="949038"/>
            <a:ext cx="23291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有向图的邻接矩阵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351F7A5-7BB4-4402-8AA5-93DCEE8352D1}"/>
              </a:ext>
            </a:extLst>
          </p:cNvPr>
          <p:cNvSpPr txBox="1"/>
          <p:nvPr/>
        </p:nvSpPr>
        <p:spPr>
          <a:xfrm>
            <a:off x="3605843" y="949038"/>
            <a:ext cx="227449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有向图的关联矩阵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EE6BEA1-FE76-44CB-835F-BBCEEB0B9E3A}"/>
              </a:ext>
            </a:extLst>
          </p:cNvPr>
          <p:cNvSpPr txBox="1"/>
          <p:nvPr/>
        </p:nvSpPr>
        <p:spPr>
          <a:xfrm>
            <a:off x="9632829" y="920286"/>
            <a:ext cx="21278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有向图的可达矩阵</a:t>
            </a:r>
          </a:p>
        </p:txBody>
      </p:sp>
      <p:graphicFrame>
        <p:nvGraphicFramePr>
          <p:cNvPr id="14" name="Object 4">
            <a:extLst>
              <a:ext uri="{FF2B5EF4-FFF2-40B4-BE49-F238E27FC236}">
                <a16:creationId xmlns:a16="http://schemas.microsoft.com/office/drawing/2014/main" id="{B8EB1739-7B58-4AC5-B282-53A5B0FCAD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5729322"/>
              </p:ext>
            </p:extLst>
          </p:nvPr>
        </p:nvGraphicFramePr>
        <p:xfrm>
          <a:off x="1553323" y="1591328"/>
          <a:ext cx="4640443" cy="3145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730500" imgH="1854200" progId="Equation.3">
                  <p:embed/>
                </p:oleObj>
              </mc:Choice>
              <mc:Fallback>
                <p:oleObj r:id="rId3" imgW="2730500" imgH="1854200" progId="Equation.3">
                  <p:embed/>
                  <p:pic>
                    <p:nvPicPr>
                      <p:cNvPr id="14" name="Object 4">
                        <a:extLst>
                          <a:ext uri="{FF2B5EF4-FFF2-40B4-BE49-F238E27FC236}">
                            <a16:creationId xmlns:a16="http://schemas.microsoft.com/office/drawing/2014/main" id="{B8EB1739-7B58-4AC5-B282-53A5B0FCAD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3323" y="1591328"/>
                        <a:ext cx="4640443" cy="31456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4">
            <a:extLst>
              <a:ext uri="{FF2B5EF4-FFF2-40B4-BE49-F238E27FC236}">
                <a16:creationId xmlns:a16="http://schemas.microsoft.com/office/drawing/2014/main" id="{4E2AC135-F255-4335-AF41-6C9B6FD2AA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760" y="4948422"/>
            <a:ext cx="9285738" cy="1678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200" dirty="0">
                <a:latin typeface="Times New Roman" panose="02020603050405020304" pitchFamily="18" charset="0"/>
              </a:rPr>
              <a:t>(1) </a:t>
            </a:r>
            <a:r>
              <a:rPr lang="en-US" altLang="zh-CN" sz="2200" i="1" dirty="0">
                <a:latin typeface="Times New Roman" panose="02020603050405020304" pitchFamily="18" charset="0"/>
              </a:rPr>
              <a:t>D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中长度为</a:t>
            </a:r>
            <a:r>
              <a:rPr lang="zh-CN" altLang="en-US" sz="2200" dirty="0">
                <a:latin typeface="Times New Roman" panose="02020603050405020304" pitchFamily="18" charset="0"/>
              </a:rPr>
              <a:t>1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的通路为8条，其中有1条是回路.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None/>
            </a:pPr>
            <a:r>
              <a:rPr lang="zh-CN" altLang="en-US" sz="2200" dirty="0">
                <a:latin typeface="Times New Roman" panose="02020603050405020304" pitchFamily="18" charset="0"/>
              </a:rPr>
              <a:t>      </a:t>
            </a:r>
            <a:r>
              <a:rPr lang="en-US" altLang="zh-CN" sz="2200" i="1" dirty="0">
                <a:latin typeface="Times New Roman" panose="02020603050405020304" pitchFamily="18" charset="0"/>
              </a:rPr>
              <a:t>D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中长度为2的通路为11条，其中有3条是回路.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None/>
            </a:pPr>
            <a:r>
              <a:rPr lang="zh-CN" altLang="en-US" sz="2200" i="1" dirty="0">
                <a:latin typeface="Times New Roman" panose="02020603050405020304" pitchFamily="18" charset="0"/>
              </a:rPr>
              <a:t>      </a:t>
            </a:r>
            <a:r>
              <a:rPr lang="en-US" altLang="zh-CN" sz="2200" i="1" dirty="0">
                <a:latin typeface="Times New Roman" panose="02020603050405020304" pitchFamily="18" charset="0"/>
              </a:rPr>
              <a:t>D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中长度为3和4的通路分别为14和17条，回路分别为1与3条.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200" dirty="0">
                <a:latin typeface="Times New Roman" panose="02020603050405020304" pitchFamily="18" charset="0"/>
              </a:rPr>
              <a:t>(2) </a:t>
            </a:r>
            <a:r>
              <a:rPr lang="en-US" altLang="zh-CN" sz="2200" i="1" dirty="0">
                <a:latin typeface="Times New Roman" panose="02020603050405020304" pitchFamily="18" charset="0"/>
              </a:rPr>
              <a:t>D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中长度小于等于4的通路为50条，其中有8条是回路.</a:t>
            </a:r>
          </a:p>
        </p:txBody>
      </p:sp>
      <p:pic>
        <p:nvPicPr>
          <p:cNvPr id="16" name="Picture 3" descr="14-10">
            <a:extLst>
              <a:ext uri="{FF2B5EF4-FFF2-40B4-BE49-F238E27FC236}">
                <a16:creationId xmlns:a16="http://schemas.microsoft.com/office/drawing/2014/main" id="{566364B1-0B77-450C-9657-C362B2F868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6072" y="1632268"/>
            <a:ext cx="2859807" cy="23284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59341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5.3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图的矩阵表示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C2BBD46-3928-43BD-B43F-D1F059818F8F}"/>
              </a:ext>
            </a:extLst>
          </p:cNvPr>
          <p:cNvSpPr txBox="1"/>
          <p:nvPr/>
        </p:nvSpPr>
        <p:spPr>
          <a:xfrm>
            <a:off x="568034" y="949038"/>
            <a:ext cx="22959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无向图的关联矩阵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C28B4E1-F22E-4D95-A01D-C175CB1A3A9A}"/>
              </a:ext>
            </a:extLst>
          </p:cNvPr>
          <p:cNvSpPr txBox="1"/>
          <p:nvPr/>
        </p:nvSpPr>
        <p:spPr>
          <a:xfrm>
            <a:off x="6564702" y="949038"/>
            <a:ext cx="23291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有向图的邻接矩阵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351F7A5-7BB4-4402-8AA5-93DCEE8352D1}"/>
              </a:ext>
            </a:extLst>
          </p:cNvPr>
          <p:cNvSpPr txBox="1"/>
          <p:nvPr/>
        </p:nvSpPr>
        <p:spPr>
          <a:xfrm>
            <a:off x="3605843" y="949038"/>
            <a:ext cx="227449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有向图的关联矩阵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EE6BEA1-FE76-44CB-835F-BBCEEB0B9E3A}"/>
              </a:ext>
            </a:extLst>
          </p:cNvPr>
          <p:cNvSpPr txBox="1"/>
          <p:nvPr/>
        </p:nvSpPr>
        <p:spPr>
          <a:xfrm>
            <a:off x="9471805" y="920286"/>
            <a:ext cx="22543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有向图的可达矩阵</a:t>
            </a:r>
          </a:p>
        </p:txBody>
      </p:sp>
      <p:graphicFrame>
        <p:nvGraphicFramePr>
          <p:cNvPr id="17" name="Object 3">
            <a:extLst>
              <a:ext uri="{FF2B5EF4-FFF2-40B4-BE49-F238E27FC236}">
                <a16:creationId xmlns:a16="http://schemas.microsoft.com/office/drawing/2014/main" id="{9310D783-A647-4616-AEF7-B132984F88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5561600"/>
              </p:ext>
            </p:extLst>
          </p:nvPr>
        </p:nvGraphicFramePr>
        <p:xfrm>
          <a:off x="2065068" y="1892660"/>
          <a:ext cx="2532811" cy="9259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295400" imgH="469900" progId="Equation.3">
                  <p:embed/>
                </p:oleObj>
              </mc:Choice>
              <mc:Fallback>
                <p:oleObj name="公式" r:id="rId3" imgW="1295400" imgH="469900" progId="Equation.3">
                  <p:embed/>
                  <p:pic>
                    <p:nvPicPr>
                      <p:cNvPr id="17" name="Object 3">
                        <a:extLst>
                          <a:ext uri="{FF2B5EF4-FFF2-40B4-BE49-F238E27FC236}">
                            <a16:creationId xmlns:a16="http://schemas.microsoft.com/office/drawing/2014/main" id="{9310D783-A647-4616-AEF7-B132984F88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5068" y="1892660"/>
                        <a:ext cx="2532811" cy="9259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4">
            <a:extLst>
              <a:ext uri="{FF2B5EF4-FFF2-40B4-BE49-F238E27FC236}">
                <a16:creationId xmlns:a16="http://schemas.microsoft.com/office/drawing/2014/main" id="{719E7F1D-164A-47B7-A613-50C1C516D3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0062701"/>
              </p:ext>
            </p:extLst>
          </p:nvPr>
        </p:nvGraphicFramePr>
        <p:xfrm>
          <a:off x="4954229" y="4933069"/>
          <a:ext cx="2222949" cy="17317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171451" imgH="916787" progId="Equation.3">
                  <p:embed/>
                </p:oleObj>
              </mc:Choice>
              <mc:Fallback>
                <p:oleObj r:id="rId5" imgW="1171451" imgH="916787" progId="Equation.3">
                  <p:embed/>
                  <p:pic>
                    <p:nvPicPr>
                      <p:cNvPr id="18" name="Object 4">
                        <a:extLst>
                          <a:ext uri="{FF2B5EF4-FFF2-40B4-BE49-F238E27FC236}">
                            <a16:creationId xmlns:a16="http://schemas.microsoft.com/office/drawing/2014/main" id="{719E7F1D-164A-47B7-A613-50C1C516D3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4229" y="4933069"/>
                        <a:ext cx="2222949" cy="17317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4">
            <a:extLst>
              <a:ext uri="{FF2B5EF4-FFF2-40B4-BE49-F238E27FC236}">
                <a16:creationId xmlns:a16="http://schemas.microsoft.com/office/drawing/2014/main" id="{E3EE5BC8-07DE-4F7B-B7DA-21C88F4521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461968"/>
            <a:ext cx="83518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276225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D </a:t>
            </a:r>
            <a:r>
              <a:rPr lang="en-US" altLang="zh-CN" dirty="0">
                <a:latin typeface="Times New Roman" panose="02020603050405020304" pitchFamily="18" charset="0"/>
              </a:rPr>
              <a:t>= &lt;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&gt;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为有向图</a:t>
            </a:r>
            <a:r>
              <a:rPr lang="zh-CN" altLang="en-US" dirty="0">
                <a:latin typeface="Times New Roman" panose="02020603050405020304" pitchFamily="18" charset="0"/>
              </a:rPr>
              <a:t>. 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={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baseline="-30000" dirty="0" err="1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baseline="-30000" dirty="0" err="1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 …, 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i="1" baseline="-30000" dirty="0" err="1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},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令</a:t>
            </a:r>
            <a:r>
              <a:rPr lang="zh-CN" altLang="en-US" b="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 </a:t>
            </a:r>
            <a:endParaRPr lang="zh-CN" altLang="en-US" b="0" dirty="0"/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F8649A2E-0F73-455D-BBED-AF55E4F2C2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828805"/>
            <a:ext cx="7939087" cy="22659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称</a:t>
            </a:r>
            <a:r>
              <a:rPr lang="zh-CN" altLang="en-US" dirty="0">
                <a:latin typeface="Times New Roman" panose="02020603050405020304" pitchFamily="18" charset="0"/>
              </a:rPr>
              <a:t> (</a:t>
            </a:r>
            <a:r>
              <a:rPr lang="en-US" altLang="zh-CN" i="1" dirty="0" err="1">
                <a:latin typeface="Times New Roman" panose="02020603050405020304" pitchFamily="18" charset="0"/>
              </a:rPr>
              <a:t>p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ij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n</a:t>
            </a:r>
            <a:r>
              <a:rPr lang="en-US" altLang="zh-CN" baseline="-250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n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为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的可达矩阵，记作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)，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简记为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en-US" altLang="zh-CN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由于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i="1" baseline="-250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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i="1" baseline="-250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，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所以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主对角线上的元素全为1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由定义不难看出,  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D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强连通当且仅当 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为全1矩阵.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右图所示有向图 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D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的可达矩阵为</a:t>
            </a:r>
          </a:p>
        </p:txBody>
      </p:sp>
      <p:pic>
        <p:nvPicPr>
          <p:cNvPr id="22" name="Picture 7" descr="14-10">
            <a:extLst>
              <a:ext uri="{FF2B5EF4-FFF2-40B4-BE49-F238E27FC236}">
                <a16:creationId xmlns:a16="http://schemas.microsoft.com/office/drawing/2014/main" id="{C0EA73E6-A7CA-40E9-9B8F-245BD20350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1297" y="2823683"/>
            <a:ext cx="2808288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54445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第五章 基本要求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5CB4718-0CE6-46C6-9302-080D44D81E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341438"/>
            <a:ext cx="11405648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992677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握手定理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推论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，及其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应用</a:t>
            </a:r>
          </a:p>
          <a:p>
            <a:pPr eaLnBrk="1" hangingPunct="1">
              <a:lnSpc>
                <a:spcPct val="150000"/>
              </a:lnSpc>
              <a:buClr>
                <a:srgbClr val="992677"/>
              </a:buClr>
              <a:buFont typeface="Wingdings" panose="05000000000000000000" pitchFamily="2" charset="2"/>
              <a:buChar char="l"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简单图、完全图、子图、</a:t>
            </a:r>
            <a:r>
              <a:rPr lang="zh-CN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补图、图同构的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概念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性质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，及其</a:t>
            </a: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应用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992677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通路与回路的定义、分类及表示法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992677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无向图连通性、连通度有关的诸多概念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992677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割集：点割集、边割集、割点、割边的判断</a:t>
            </a:r>
            <a:endParaRPr kumimoji="0" lang="zh-CN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992677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用邻接矩阵及其幂求有向图中通路与回路数的方法，会求可达矩阵 </a:t>
            </a:r>
          </a:p>
        </p:txBody>
      </p:sp>
    </p:spTree>
    <p:extLst>
      <p:ext uri="{BB962C8B-B14F-4D97-AF65-F5344CB8AC3E}">
        <p14:creationId xmlns:p14="http://schemas.microsoft.com/office/powerpoint/2010/main" val="1644200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习题</a:t>
            </a:r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</a:t>
            </a:r>
            <a:endParaRPr lang="zh-CN" altLang="en-US" sz="3800" dirty="0">
              <a:latin typeface="华文中宋" panose="02010600040101010101" pitchFamily="2" charset="-122"/>
              <a:ea typeface="华文中宋" panose="02010600040101010101" pitchFamily="2" charset="-122"/>
              <a:cs typeface="+mn-ea"/>
              <a:sym typeface="+mn-lt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9CFE40E-0309-4810-8FC7-5B838CF59A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2" y="1148204"/>
            <a:ext cx="11306745" cy="919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1．9阶无向图</a:t>
            </a:r>
            <a:r>
              <a:rPr lang="en-US" altLang="zh-CN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中，每个顶点的度数不是5就是6. 证明</a:t>
            </a:r>
            <a:r>
              <a:rPr lang="en-US" altLang="zh-CN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中至少有5个6度顶点或至少有6个5度顶点. 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26953B8-D8FA-48E6-A3E5-9F466B509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444" y="2463830"/>
            <a:ext cx="11237733" cy="34478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证   关键是利用握手定理的推论. </a:t>
            </a:r>
          </a:p>
          <a:p>
            <a:pPr eaLnBrk="1" hangingPunct="1">
              <a:lnSpc>
                <a:spcPct val="120000"/>
              </a:lnSpc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方法一：穷举法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中有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zh-CN" altLang="en-US" dirty="0">
                <a:latin typeface="Times New Roman" panose="02020603050405020304" pitchFamily="18" charset="0"/>
              </a:rPr>
              <a:t>个5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度顶点，则必有</a:t>
            </a:r>
            <a:r>
              <a:rPr lang="zh-CN" altLang="en-US" dirty="0">
                <a:latin typeface="Times New Roman" panose="02020603050405020304" pitchFamily="18" charset="0"/>
              </a:rPr>
              <a:t>(9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个6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度顶点，由握手定理推论可知，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9</a:t>
            </a:r>
            <a:r>
              <a:rPr lang="en-US" altLang="zh-CN" i="1" dirty="0" err="1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只有5种可能：(0,9), (2,7), (4,5), (6,3), (8,1）它们都满足要求. </a:t>
            </a:r>
          </a:p>
          <a:p>
            <a:pPr eaLnBrk="1" hangingPunct="1">
              <a:lnSpc>
                <a:spcPct val="120000"/>
              </a:lnSpc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方法二：反证法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否则，由握手定理推论可知，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“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至多有4个5度顶点并且至多有4个6度顶点”，这与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是 9 阶图矛盾. </a:t>
            </a:r>
          </a:p>
        </p:txBody>
      </p:sp>
    </p:spTree>
    <p:extLst>
      <p:ext uri="{BB962C8B-B14F-4D97-AF65-F5344CB8AC3E}">
        <p14:creationId xmlns:p14="http://schemas.microsoft.com/office/powerpoint/2010/main" val="2841941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习题</a:t>
            </a:r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2</a:t>
            </a:r>
            <a:endParaRPr lang="zh-CN" altLang="en-US" sz="3800" dirty="0">
              <a:latin typeface="华文中宋" panose="02010600040101010101" pitchFamily="2" charset="-122"/>
              <a:ea typeface="华文中宋" panose="02010600040101010101" pitchFamily="2" charset="-122"/>
              <a:cs typeface="+mn-ea"/>
              <a:sym typeface="+mn-lt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55E1732-A834-429E-BADB-DF43A9CABF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361563"/>
            <a:ext cx="11183548" cy="4931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2．数组2, 2, 2, 2, 3, 3能简单图化吗？若能，画出尽可能多的非同构的图来. </a:t>
            </a:r>
          </a:p>
        </p:txBody>
      </p:sp>
      <p:pic>
        <p:nvPicPr>
          <p:cNvPr id="7" name="Picture 4" descr="14-11">
            <a:extLst>
              <a:ext uri="{FF2B5EF4-FFF2-40B4-BE49-F238E27FC236}">
                <a16:creationId xmlns:a16="http://schemas.microsoft.com/office/drawing/2014/main" id="{4C016DB2-9158-44D5-BB30-4423CC02B3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64"/>
          <a:stretch>
            <a:fillRect/>
          </a:stretch>
        </p:blipFill>
        <p:spPr bwMode="auto">
          <a:xfrm>
            <a:off x="1983023" y="3500438"/>
            <a:ext cx="7345362" cy="2370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5">
            <a:extLst>
              <a:ext uri="{FF2B5EF4-FFF2-40B4-BE49-F238E27FC236}">
                <a16:creationId xmlns:a16="http://schemas.microsoft.com/office/drawing/2014/main" id="{E243FB7E-9E98-4D33-98F9-83C8644383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276475"/>
            <a:ext cx="10918555" cy="936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只要能画出6 阶无向简单图，就说明它可简单图化. 下图的4个图都以此数列为度数列，请证明它们彼此不同构，都是</a:t>
            </a:r>
            <a:r>
              <a:rPr lang="en-US" altLang="zh-CN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6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的子图.</a:t>
            </a:r>
          </a:p>
        </p:txBody>
      </p:sp>
    </p:spTree>
    <p:extLst>
      <p:ext uri="{BB962C8B-B14F-4D97-AF65-F5344CB8AC3E}">
        <p14:creationId xmlns:p14="http://schemas.microsoft.com/office/powerpoint/2010/main" val="1426612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练习</a:t>
            </a:r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3</a:t>
            </a:r>
            <a:endParaRPr lang="zh-CN" altLang="en-US" sz="3800" dirty="0">
              <a:latin typeface="华文中宋" panose="02010600040101010101" pitchFamily="2" charset="-122"/>
              <a:ea typeface="华文中宋" panose="02010600040101010101" pitchFamily="2" charset="-122"/>
              <a:cs typeface="+mn-ea"/>
              <a:sym typeface="+mn-lt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8330F6B9-2E26-4DEF-9E0C-F8C8125974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721238"/>
            <a:ext cx="8826350" cy="467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200" kern="0" dirty="0">
                <a:latin typeface="Times New Roman" panose="02020603050405020304" pitchFamily="18" charset="0"/>
              </a:rPr>
              <a:t>(1) </a:t>
            </a:r>
            <a:r>
              <a:rPr lang="en-US" altLang="zh-CN" sz="2200" i="1" kern="0" dirty="0">
                <a:latin typeface="Times New Roman" panose="02020603050405020304" pitchFamily="18" charset="0"/>
              </a:rPr>
              <a:t>D</a:t>
            </a:r>
            <a:r>
              <a:rPr lang="zh-CN" altLang="en-US" sz="2200" kern="0" dirty="0">
                <a:latin typeface="黑体" panose="02010609060101010101" pitchFamily="49" charset="-122"/>
                <a:ea typeface="黑体" panose="02010609060101010101" pitchFamily="49" charset="-122"/>
              </a:rPr>
              <a:t>中有几种非同构的圈？</a:t>
            </a:r>
            <a:endParaRPr lang="zh-CN" altLang="en-US" sz="2200" i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200" kern="0" dirty="0">
                <a:latin typeface="Times New Roman" panose="02020603050405020304" pitchFamily="18" charset="0"/>
              </a:rPr>
              <a:t>(2)</a:t>
            </a:r>
            <a:r>
              <a:rPr lang="zh-CN" altLang="en-US" sz="2200" i="1" kern="0" dirty="0">
                <a:latin typeface="Times New Roman" panose="02020603050405020304" pitchFamily="18" charset="0"/>
              </a:rPr>
              <a:t> </a:t>
            </a:r>
            <a:r>
              <a:rPr lang="en-US" altLang="zh-CN" sz="2200" i="1" kern="0" dirty="0">
                <a:latin typeface="Times New Roman" panose="02020603050405020304" pitchFamily="18" charset="0"/>
              </a:rPr>
              <a:t>D</a:t>
            </a:r>
            <a:r>
              <a:rPr lang="zh-CN" altLang="en-US" sz="2200" kern="0" dirty="0">
                <a:latin typeface="黑体" panose="02010609060101010101" pitchFamily="49" charset="-122"/>
                <a:ea typeface="黑体" panose="02010609060101010101" pitchFamily="49" charset="-122"/>
              </a:rPr>
              <a:t>中有几种非圈非同构的简单回路？</a:t>
            </a:r>
          </a:p>
          <a:p>
            <a:pPr eaLnBrk="1" hangingPunct="1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2200" kern="0" dirty="0">
                <a:latin typeface="Times New Roman" panose="02020603050405020304" pitchFamily="18" charset="0"/>
              </a:rPr>
              <a:t>(3) </a:t>
            </a:r>
            <a:r>
              <a:rPr lang="en-US" altLang="zh-CN" sz="2200" i="1" kern="0" dirty="0">
                <a:latin typeface="Times New Roman" panose="02020603050405020304" pitchFamily="18" charset="0"/>
              </a:rPr>
              <a:t>D</a:t>
            </a:r>
            <a:r>
              <a:rPr lang="zh-CN" altLang="en-US" sz="2200" kern="0" dirty="0">
                <a:latin typeface="黑体" panose="02010609060101010101" pitchFamily="49" charset="-122"/>
                <a:ea typeface="黑体" panose="02010609060101010101" pitchFamily="49" charset="-122"/>
              </a:rPr>
              <a:t>是哪类连通图?</a:t>
            </a:r>
          </a:p>
          <a:p>
            <a:pPr eaLnBrk="1" hangingPunct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200" kern="0" dirty="0">
                <a:latin typeface="Times New Roman" panose="02020603050405020304" pitchFamily="18" charset="0"/>
              </a:rPr>
              <a:t>(4)</a:t>
            </a:r>
            <a:r>
              <a:rPr lang="zh-CN" altLang="en-US" sz="2200" i="1" kern="0" dirty="0">
                <a:latin typeface="Times New Roman" panose="02020603050405020304" pitchFamily="18" charset="0"/>
              </a:rPr>
              <a:t> </a:t>
            </a:r>
            <a:r>
              <a:rPr lang="en-US" altLang="zh-CN" sz="2200" i="1" kern="0" dirty="0">
                <a:latin typeface="Times New Roman" panose="02020603050405020304" pitchFamily="18" charset="0"/>
              </a:rPr>
              <a:t>D</a:t>
            </a:r>
            <a:r>
              <a:rPr lang="zh-CN" altLang="en-US" sz="2200" kern="0" dirty="0">
                <a:latin typeface="黑体" panose="02010609060101010101" pitchFamily="49" charset="-122"/>
                <a:ea typeface="黑体" panose="02010609060101010101" pitchFamily="49" charset="-122"/>
              </a:rPr>
              <a:t>中</a:t>
            </a:r>
            <a:r>
              <a:rPr lang="en-US" altLang="zh-CN" sz="2200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sz="2200" kern="0" baseline="-25000" dirty="0" err="1">
                <a:latin typeface="Times New Roman" panose="02020603050405020304" pitchFamily="18" charset="0"/>
              </a:rPr>
              <a:t>1</a:t>
            </a:r>
            <a:r>
              <a:rPr lang="zh-CN" altLang="en-US" sz="2200" kern="0" dirty="0">
                <a:latin typeface="黑体" panose="02010609060101010101" pitchFamily="49" charset="-122"/>
                <a:ea typeface="黑体" panose="02010609060101010101" pitchFamily="49" charset="-122"/>
              </a:rPr>
              <a:t>到</a:t>
            </a:r>
            <a:r>
              <a:rPr lang="en-US" altLang="zh-CN" sz="2200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sz="2200" kern="0" baseline="-25000" dirty="0" err="1">
                <a:latin typeface="Times New Roman" panose="02020603050405020304" pitchFamily="18" charset="0"/>
              </a:rPr>
              <a:t>4</a:t>
            </a:r>
            <a:r>
              <a:rPr lang="zh-CN" altLang="en-US" sz="2200" kern="0" dirty="0">
                <a:latin typeface="黑体" panose="02010609060101010101" pitchFamily="49" charset="-122"/>
                <a:ea typeface="黑体" panose="02010609060101010101" pitchFamily="49" charset="-122"/>
              </a:rPr>
              <a:t>长度为1,2,3,4的通路各多少条？其中几条是非初级的简单通路？</a:t>
            </a:r>
          </a:p>
          <a:p>
            <a:pPr eaLnBrk="1" hangingPunct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200" kern="0" dirty="0">
                <a:latin typeface="Times New Roman" panose="02020603050405020304" pitchFamily="18" charset="0"/>
              </a:rPr>
              <a:t>(5) </a:t>
            </a:r>
            <a:r>
              <a:rPr lang="en-US" altLang="zh-CN" sz="2200" i="1" kern="0" dirty="0">
                <a:latin typeface="Times New Roman" panose="02020603050405020304" pitchFamily="18" charset="0"/>
              </a:rPr>
              <a:t>D</a:t>
            </a:r>
            <a:r>
              <a:rPr lang="zh-CN" altLang="en-US" sz="2200" kern="0" dirty="0">
                <a:latin typeface="黑体" panose="02010609060101010101" pitchFamily="49" charset="-122"/>
                <a:ea typeface="黑体" panose="02010609060101010101" pitchFamily="49" charset="-122"/>
              </a:rPr>
              <a:t>中</a:t>
            </a:r>
            <a:r>
              <a:rPr lang="en-US" altLang="zh-CN" sz="2200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sz="2200" kern="0" baseline="-25000" dirty="0" err="1">
                <a:latin typeface="Times New Roman" panose="02020603050405020304" pitchFamily="18" charset="0"/>
              </a:rPr>
              <a:t>1</a:t>
            </a:r>
            <a:r>
              <a:rPr lang="zh-CN" altLang="en-US" sz="2200" kern="0" dirty="0">
                <a:latin typeface="黑体" panose="02010609060101010101" pitchFamily="49" charset="-122"/>
                <a:ea typeface="黑体" panose="02010609060101010101" pitchFamily="49" charset="-122"/>
              </a:rPr>
              <a:t>到</a:t>
            </a:r>
            <a:r>
              <a:rPr lang="en-US" altLang="zh-CN" sz="2200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sz="2200" kern="0" baseline="-25000" dirty="0" err="1">
                <a:latin typeface="Times New Roman" panose="02020603050405020304" pitchFamily="18" charset="0"/>
              </a:rPr>
              <a:t>1</a:t>
            </a:r>
            <a:r>
              <a:rPr lang="zh-CN" altLang="en-US" sz="2200" kern="0" dirty="0">
                <a:latin typeface="黑体" panose="02010609060101010101" pitchFamily="49" charset="-122"/>
                <a:ea typeface="黑体" panose="02010609060101010101" pitchFamily="49" charset="-122"/>
              </a:rPr>
              <a:t>长度为1,2,3,4的回路各多少条？讨论它们的类型.</a:t>
            </a:r>
          </a:p>
          <a:p>
            <a:pPr eaLnBrk="1" hangingPunct="1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2200" kern="0" dirty="0">
                <a:latin typeface="Times New Roman" panose="02020603050405020304" pitchFamily="18" charset="0"/>
              </a:rPr>
              <a:t>(6) </a:t>
            </a:r>
            <a:r>
              <a:rPr lang="en-US" altLang="zh-CN" sz="2200" i="1" kern="0" dirty="0">
                <a:latin typeface="Times New Roman" panose="02020603050405020304" pitchFamily="18" charset="0"/>
              </a:rPr>
              <a:t>D</a:t>
            </a:r>
            <a:r>
              <a:rPr lang="zh-CN" altLang="en-US" sz="2200" kern="0" dirty="0">
                <a:latin typeface="黑体" panose="02010609060101010101" pitchFamily="49" charset="-122"/>
                <a:ea typeface="黑体" panose="02010609060101010101" pitchFamily="49" charset="-122"/>
              </a:rPr>
              <a:t>中长度为4的通路（不含回路）有多少条？</a:t>
            </a:r>
          </a:p>
          <a:p>
            <a:pPr eaLnBrk="1" hangingPunct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200" kern="0" dirty="0">
                <a:latin typeface="Times New Roman" panose="02020603050405020304" pitchFamily="18" charset="0"/>
              </a:rPr>
              <a:t>(7) </a:t>
            </a:r>
            <a:r>
              <a:rPr lang="en-US" altLang="zh-CN" sz="2200" i="1" kern="0" dirty="0">
                <a:latin typeface="Times New Roman" panose="02020603050405020304" pitchFamily="18" charset="0"/>
              </a:rPr>
              <a:t>D</a:t>
            </a:r>
            <a:r>
              <a:rPr lang="zh-CN" altLang="en-US" sz="2200" kern="0" dirty="0">
                <a:latin typeface="黑体" panose="02010609060101010101" pitchFamily="49" charset="-122"/>
                <a:ea typeface="黑体" panose="02010609060101010101" pitchFamily="49" charset="-122"/>
              </a:rPr>
              <a:t>中长度为4的回路有多少条？</a:t>
            </a:r>
          </a:p>
          <a:p>
            <a:pPr eaLnBrk="1" hangingPunct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200" kern="0" dirty="0">
                <a:latin typeface="Times New Roman" panose="02020603050405020304" pitchFamily="18" charset="0"/>
              </a:rPr>
              <a:t>(8) </a:t>
            </a:r>
            <a:r>
              <a:rPr lang="en-US" altLang="zh-CN" sz="2200" i="1" kern="0" dirty="0">
                <a:latin typeface="Times New Roman" panose="02020603050405020304" pitchFamily="18" charset="0"/>
              </a:rPr>
              <a:t>D</a:t>
            </a:r>
            <a:r>
              <a:rPr lang="zh-CN" altLang="en-US" sz="2200" kern="0" dirty="0">
                <a:latin typeface="黑体" panose="02010609060101010101" pitchFamily="49" charset="-122"/>
                <a:ea typeface="黑体" panose="02010609060101010101" pitchFamily="49" charset="-122"/>
              </a:rPr>
              <a:t>中长度</a:t>
            </a:r>
            <a:r>
              <a:rPr lang="zh-CN" altLang="en-US" sz="2200" kern="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</a:t>
            </a:r>
            <a:r>
              <a:rPr lang="zh-CN" altLang="en-US" sz="2200" kern="0" dirty="0">
                <a:latin typeface="黑体" panose="02010609060101010101" pitchFamily="49" charset="-122"/>
                <a:ea typeface="黑体" panose="02010609060101010101" pitchFamily="49" charset="-122"/>
              </a:rPr>
              <a:t>4的通路有多少条？其中有几条是回路？</a:t>
            </a:r>
          </a:p>
          <a:p>
            <a:pPr eaLnBrk="1" hangingPunct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200" kern="0" dirty="0">
                <a:latin typeface="Times New Roman" panose="02020603050405020304" pitchFamily="18" charset="0"/>
              </a:rPr>
              <a:t>(9) </a:t>
            </a:r>
            <a:r>
              <a:rPr lang="zh-CN" altLang="en-US" sz="2200" kern="0" dirty="0">
                <a:latin typeface="黑体" panose="02010609060101010101" pitchFamily="49" charset="-122"/>
                <a:ea typeface="黑体" panose="02010609060101010101" pitchFamily="49" charset="-122"/>
              </a:rPr>
              <a:t>写出</a:t>
            </a:r>
            <a:r>
              <a:rPr lang="en-US" altLang="zh-CN" sz="2200" i="1" kern="0" dirty="0">
                <a:latin typeface="Times New Roman" panose="02020603050405020304" pitchFamily="18" charset="0"/>
              </a:rPr>
              <a:t>D</a:t>
            </a:r>
            <a:r>
              <a:rPr lang="zh-CN" altLang="en-US" sz="2200" kern="0" dirty="0">
                <a:latin typeface="黑体" panose="02010609060101010101" pitchFamily="49" charset="-122"/>
                <a:ea typeface="黑体" panose="02010609060101010101" pitchFamily="49" charset="-122"/>
              </a:rPr>
              <a:t>的可达矩阵. </a:t>
            </a:r>
          </a:p>
        </p:txBody>
      </p:sp>
      <p:pic>
        <p:nvPicPr>
          <p:cNvPr id="9" name="Picture 3" descr="14-13">
            <a:extLst>
              <a:ext uri="{FF2B5EF4-FFF2-40B4-BE49-F238E27FC236}">
                <a16:creationId xmlns:a16="http://schemas.microsoft.com/office/drawing/2014/main" id="{63AAA44F-C5E8-44E7-9A2A-136521629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17" t="3828"/>
          <a:stretch>
            <a:fillRect/>
          </a:stretch>
        </p:blipFill>
        <p:spPr bwMode="auto">
          <a:xfrm>
            <a:off x="9240838" y="970504"/>
            <a:ext cx="2467989" cy="2167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4">
            <a:extLst>
              <a:ext uri="{FF2B5EF4-FFF2-40B4-BE49-F238E27FC236}">
                <a16:creationId xmlns:a16="http://schemas.microsoft.com/office/drawing/2014/main" id="{54417C22-1259-4197-A223-EF78406AA2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125538"/>
            <a:ext cx="684053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3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．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有向图</a:t>
            </a:r>
            <a:r>
              <a:rPr kumimoji="0" lang="en-US" altLang="zh-CN" sz="2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D</a:t>
            </a:r>
            <a:r>
              <a:rPr lang="zh-CN" altLang="en-US" sz="2200" kern="0" dirty="0">
                <a:latin typeface="黑体" panose="02010609060101010101" pitchFamily="49" charset="-122"/>
                <a:ea typeface="黑体" panose="02010609060101010101" pitchFamily="49" charset="-122"/>
              </a:rPr>
              <a:t>如图所示，回答下列诸问：</a:t>
            </a:r>
          </a:p>
        </p:txBody>
      </p:sp>
    </p:spTree>
    <p:extLst>
      <p:ext uri="{BB962C8B-B14F-4D97-AF65-F5344CB8AC3E}">
        <p14:creationId xmlns:p14="http://schemas.microsoft.com/office/powerpoint/2010/main" val="975400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解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DCB72BFE-F666-48EF-88F2-F65F23B28A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981075"/>
            <a:ext cx="11280864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(1)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D</a:t>
            </a:r>
            <a:r>
              <a:rPr lang="zh-CN" altLang="en-US" sz="2200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中有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200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种非同构的圈，长度分别为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</a:rPr>
              <a:t>1,2,3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，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请画出它们的图形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.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(2)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D</a:t>
            </a:r>
            <a:r>
              <a:rPr lang="zh-CN" altLang="en-US" sz="2200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中有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200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种非圈的非同构的简单回路，长度分别为 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</a:rPr>
              <a:t>4,5,6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. </a:t>
            </a:r>
            <a:r>
              <a:rPr lang="zh-CN" altLang="en-US" sz="2200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请画出它们的图形来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.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(3)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D</a:t>
            </a:r>
            <a:r>
              <a:rPr lang="zh-CN" altLang="en-US" sz="2200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是强连通的（为什么？）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zh-CN" altLang="en-US" sz="2200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为解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</a:rPr>
              <a:t>(4)—(8)</a:t>
            </a:r>
            <a:r>
              <a:rPr lang="zh-CN" altLang="en-US" sz="2200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，只需先求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D</a:t>
            </a:r>
            <a:r>
              <a:rPr lang="zh-CN" altLang="en-US" sz="2200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的邻接矩阵的前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2200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次幂.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 </a:t>
            </a:r>
          </a:p>
        </p:txBody>
      </p:sp>
      <p:graphicFrame>
        <p:nvGraphicFramePr>
          <p:cNvPr id="14" name="Object 5">
            <a:extLst>
              <a:ext uri="{FF2B5EF4-FFF2-40B4-BE49-F238E27FC236}">
                <a16:creationId xmlns:a16="http://schemas.microsoft.com/office/drawing/2014/main" id="{7694C6A1-8C57-46A6-9123-AFC564D896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8743289"/>
              </p:ext>
            </p:extLst>
          </p:nvPr>
        </p:nvGraphicFramePr>
        <p:xfrm>
          <a:off x="1773238" y="3573463"/>
          <a:ext cx="6190983" cy="301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781300" imgH="1854200" progId="Equation.3">
                  <p:embed/>
                </p:oleObj>
              </mc:Choice>
              <mc:Fallback>
                <p:oleObj r:id="rId3" imgW="2781300" imgH="1854200" progId="Equation.3">
                  <p:embed/>
                  <p:pic>
                    <p:nvPicPr>
                      <p:cNvPr id="14" name="Object 5">
                        <a:extLst>
                          <a:ext uri="{FF2B5EF4-FFF2-40B4-BE49-F238E27FC236}">
                            <a16:creationId xmlns:a16="http://schemas.microsoft.com/office/drawing/2014/main" id="{7694C6A1-8C57-46A6-9123-AFC564D896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3238" y="3573463"/>
                        <a:ext cx="6190983" cy="301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97312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解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325BF23-DA7C-4107-9BC5-E15A4A4582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196975"/>
            <a:ext cx="11511592" cy="10066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600" dirty="0">
                <a:latin typeface="Times New Roman" panose="02020603050405020304" pitchFamily="18" charset="0"/>
              </a:rPr>
              <a:t>(4) </a:t>
            </a:r>
            <a:r>
              <a:rPr lang="en-US" altLang="zh-CN" sz="2600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600" baseline="-25000" dirty="0" err="1">
                <a:latin typeface="Times New Roman" panose="02020603050405020304" pitchFamily="18" charset="0"/>
              </a:rPr>
              <a:t>1</a:t>
            </a:r>
            <a:r>
              <a:rPr lang="zh-CN" altLang="en-US" sz="2200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到</a:t>
            </a:r>
            <a:r>
              <a:rPr lang="en-US" altLang="zh-CN" sz="2600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600" baseline="-25000" dirty="0" err="1">
                <a:latin typeface="Times New Roman" panose="02020603050405020304" pitchFamily="18" charset="0"/>
              </a:rPr>
              <a:t>4</a:t>
            </a:r>
            <a:r>
              <a:rPr lang="zh-CN" altLang="en-US" sz="2200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长度为</a:t>
            </a:r>
            <a:r>
              <a:rPr lang="zh-CN" altLang="en-US" sz="2200" dirty="0">
                <a:latin typeface="Times New Roman" panose="02020603050405020304" pitchFamily="18" charset="0"/>
              </a:rPr>
              <a:t>1,2,3,4</a:t>
            </a:r>
            <a:r>
              <a:rPr lang="zh-CN" altLang="en-US" sz="2200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的通路数分别为</a:t>
            </a:r>
            <a:r>
              <a:rPr lang="zh-CN" altLang="en-US" sz="2200" dirty="0">
                <a:latin typeface="Times New Roman" panose="02020603050405020304" pitchFamily="18" charset="0"/>
              </a:rPr>
              <a:t>0,0,2,2</a:t>
            </a:r>
            <a:r>
              <a:rPr lang="zh-CN" altLang="en-US" sz="2200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.其中只有长度为</a:t>
            </a:r>
            <a:r>
              <a:rPr lang="zh-CN" altLang="en-US" sz="2200" dirty="0">
                <a:latin typeface="Times New Roman" panose="02020603050405020304" pitchFamily="18" charset="0"/>
              </a:rPr>
              <a:t>4</a:t>
            </a:r>
            <a:r>
              <a:rPr lang="zh-CN" altLang="en-US" sz="2200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的两条是非初级的简单通路（定义意义下），见下图所示</a:t>
            </a:r>
            <a:r>
              <a:rPr lang="zh-CN" altLang="en-US" sz="2600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</a:p>
        </p:txBody>
      </p:sp>
      <p:pic>
        <p:nvPicPr>
          <p:cNvPr id="7" name="Picture 3" descr="14-14">
            <a:extLst>
              <a:ext uri="{FF2B5EF4-FFF2-40B4-BE49-F238E27FC236}">
                <a16:creationId xmlns:a16="http://schemas.microsoft.com/office/drawing/2014/main" id="{2F2C9E2C-4849-4969-87DD-209700A1F1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92"/>
          <a:stretch>
            <a:fillRect/>
          </a:stretch>
        </p:blipFill>
        <p:spPr bwMode="auto">
          <a:xfrm>
            <a:off x="1853632" y="3060011"/>
            <a:ext cx="6840537" cy="249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83051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解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0148FBD4-BFAD-46F6-99BE-F63D8E2386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196975"/>
            <a:ext cx="11323996" cy="4478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200" kern="0" dirty="0">
                <a:latin typeface="黑体" panose="02010609060101010101" pitchFamily="49" charset="-122"/>
                <a:ea typeface="黑体" panose="02010609060101010101" pitchFamily="49" charset="-122"/>
              </a:rPr>
              <a:t>(5) </a:t>
            </a:r>
            <a:r>
              <a:rPr lang="en-US" altLang="zh-CN" sz="2200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sz="2200" kern="0" baseline="-25000" dirty="0" err="1">
                <a:latin typeface="Times New Roman" panose="02020603050405020304" pitchFamily="18" charset="0"/>
              </a:rPr>
              <a:t>1</a:t>
            </a:r>
            <a:r>
              <a:rPr lang="zh-CN" altLang="en-US" sz="2200" kern="0" dirty="0">
                <a:latin typeface="黑体" panose="02010609060101010101" pitchFamily="49" charset="-122"/>
                <a:ea typeface="黑体" panose="02010609060101010101" pitchFamily="49" charset="-122"/>
              </a:rPr>
              <a:t>到</a:t>
            </a:r>
            <a:r>
              <a:rPr lang="en-US" altLang="zh-CN" sz="2200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sz="2200" kern="0" baseline="-25000" dirty="0" err="1">
                <a:latin typeface="Times New Roman" panose="02020603050405020304" pitchFamily="18" charset="0"/>
              </a:rPr>
              <a:t>1</a:t>
            </a:r>
            <a:r>
              <a:rPr lang="zh-CN" altLang="en-US" sz="2200" kern="0" dirty="0">
                <a:latin typeface="黑体" panose="02010609060101010101" pitchFamily="49" charset="-122"/>
                <a:ea typeface="黑体" panose="02010609060101010101" pitchFamily="49" charset="-122"/>
              </a:rPr>
              <a:t>长度为1,2,3,4的回路数分别为1,1,3,5. 其中长度为1的是初级的(环)；长度为2的是复杂的；长度为3的中有1条是复杂的，2条是初级的；长度为4的有1条是复杂的，有4条是非初级的简单回路. 请在图中行遍以上各回路.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200" kern="0" dirty="0">
                <a:latin typeface="黑体" panose="02010609060101010101" pitchFamily="49" charset="-122"/>
                <a:ea typeface="黑体" panose="02010609060101010101" pitchFamily="49" charset="-122"/>
              </a:rPr>
              <a:t>(6) 长度为4的通路(不含回路)为33条.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200" kern="0" dirty="0">
                <a:latin typeface="黑体" panose="02010609060101010101" pitchFamily="49" charset="-122"/>
                <a:ea typeface="黑体" panose="02010609060101010101" pitchFamily="49" charset="-122"/>
              </a:rPr>
              <a:t>(7) 长度为4的回路为11条. 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200" kern="0" dirty="0">
                <a:latin typeface="黑体" panose="02010609060101010101" pitchFamily="49" charset="-122"/>
                <a:ea typeface="黑体" panose="02010609060101010101" pitchFamily="49" charset="-122"/>
              </a:rPr>
              <a:t>(8) 长度</a:t>
            </a:r>
            <a:r>
              <a:rPr lang="zh-CN" altLang="en-US" sz="2200" kern="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</a:t>
            </a:r>
            <a:r>
              <a:rPr lang="zh-CN" altLang="en-US" sz="2200" kern="0" dirty="0">
                <a:latin typeface="黑体" panose="02010609060101010101" pitchFamily="49" charset="-122"/>
                <a:ea typeface="黑体" panose="02010609060101010101" pitchFamily="49" charset="-122"/>
              </a:rPr>
              <a:t>4的通路88条，其中22条为回路. 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200" kern="0" dirty="0">
                <a:latin typeface="黑体" panose="02010609060101010101" pitchFamily="49" charset="-122"/>
                <a:ea typeface="黑体" panose="02010609060101010101" pitchFamily="49" charset="-122"/>
              </a:rPr>
              <a:t>(9) 4</a:t>
            </a:r>
            <a:r>
              <a:rPr lang="zh-CN" altLang="en-US" sz="2200" kern="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</a:t>
            </a:r>
            <a:r>
              <a:rPr lang="zh-CN" altLang="en-US" sz="2200" kern="0" dirty="0">
                <a:latin typeface="黑体" panose="02010609060101010101" pitchFamily="49" charset="-122"/>
                <a:ea typeface="黑体" panose="02010609060101010101" pitchFamily="49" charset="-122"/>
              </a:rPr>
              <a:t>4的全1矩阵. </a:t>
            </a:r>
          </a:p>
        </p:txBody>
      </p:sp>
    </p:spTree>
    <p:extLst>
      <p:ext uri="{BB962C8B-B14F-4D97-AF65-F5344CB8AC3E}">
        <p14:creationId xmlns:p14="http://schemas.microsoft.com/office/powerpoint/2010/main" val="1327649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ab742894-b611-4118-8065-b69e992411d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ab742894-b611-4118-8065-b69e992411d4"/>
</p:tagLst>
</file>

<file path=ppt/theme/theme1.xml><?xml version="1.0" encoding="utf-8"?>
<a:theme xmlns:a="http://schemas.openxmlformats.org/drawingml/2006/main" name="南京理工大学通用模板">
  <a:themeElements>
    <a:clrScheme name="紫罗兰色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 Light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accent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120000"/>
          </a:lnSpc>
          <a:defRPr sz="1600" dirty="0" smtClean="0">
            <a:solidFill>
              <a:schemeClr val="tx1">
                <a:lumMod val="65000"/>
                <a:lumOff val="35000"/>
              </a:schemeClr>
            </a:solidFill>
            <a:latin typeface="微软雅黑 Light" panose="020B0502040204020203" pitchFamily="34" charset="-122"/>
            <a:ea typeface="微软雅黑 Light" panose="020B0502040204020203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27289</TotalTime>
  <Words>5737</Words>
  <Application>Microsoft Office PowerPoint</Application>
  <PresentationFormat>宽屏</PresentationFormat>
  <Paragraphs>700</Paragraphs>
  <Slides>48</Slides>
  <Notes>48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48</vt:i4>
      </vt:variant>
    </vt:vector>
  </HeadingPairs>
  <TitlesOfParts>
    <vt:vector size="61" baseType="lpstr">
      <vt:lpstr>等线</vt:lpstr>
      <vt:lpstr>黑体</vt:lpstr>
      <vt:lpstr>华文中宋</vt:lpstr>
      <vt:lpstr>宋体</vt:lpstr>
      <vt:lpstr>微软雅黑 Light</vt:lpstr>
      <vt:lpstr>Arial</vt:lpstr>
      <vt:lpstr>Times New Roman</vt:lpstr>
      <vt:lpstr>Wingdings</vt:lpstr>
      <vt:lpstr>南京理工大学通用模板</vt:lpstr>
      <vt:lpstr>Equation.3</vt:lpstr>
      <vt:lpstr>Equation.DSMT4</vt:lpstr>
      <vt:lpstr>Equation</vt:lpstr>
      <vt:lpstr>公式</vt:lpstr>
      <vt:lpstr>离散数学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基于双目视觉的加油机器人 油箱盖识别与定位技术研究</dc:title>
  <dc:creator>Hongwei Fu</dc:creator>
  <cp:lastModifiedBy>744311194@qq.com</cp:lastModifiedBy>
  <cp:revision>315</cp:revision>
  <dcterms:created xsi:type="dcterms:W3CDTF">2024-03-07T10:43:13Z</dcterms:created>
  <dcterms:modified xsi:type="dcterms:W3CDTF">2026-04-02T13:20:48Z</dcterms:modified>
</cp:coreProperties>
</file>