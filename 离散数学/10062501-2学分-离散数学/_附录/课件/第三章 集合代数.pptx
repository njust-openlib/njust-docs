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1"/>
  </p:notesMasterIdLst>
  <p:handoutMasterIdLst>
    <p:handoutMasterId r:id="rId32"/>
  </p:handoutMasterIdLst>
  <p:sldIdLst>
    <p:sldId id="415" r:id="rId2"/>
    <p:sldId id="375" r:id="rId3"/>
    <p:sldId id="425" r:id="rId4"/>
    <p:sldId id="432" r:id="rId5"/>
    <p:sldId id="433" r:id="rId6"/>
    <p:sldId id="434" r:id="rId7"/>
    <p:sldId id="436" r:id="rId8"/>
    <p:sldId id="435" r:id="rId9"/>
    <p:sldId id="437" r:id="rId10"/>
    <p:sldId id="457" r:id="rId11"/>
    <p:sldId id="458" r:id="rId12"/>
    <p:sldId id="459" r:id="rId13"/>
    <p:sldId id="449" r:id="rId14"/>
    <p:sldId id="442" r:id="rId15"/>
    <p:sldId id="443" r:id="rId16"/>
    <p:sldId id="460" r:id="rId17"/>
    <p:sldId id="444" r:id="rId18"/>
    <p:sldId id="445" r:id="rId19"/>
    <p:sldId id="446" r:id="rId20"/>
    <p:sldId id="447" r:id="rId21"/>
    <p:sldId id="440" r:id="rId22"/>
    <p:sldId id="438" r:id="rId23"/>
    <p:sldId id="451" r:id="rId24"/>
    <p:sldId id="441" r:id="rId25"/>
    <p:sldId id="452" r:id="rId26"/>
    <p:sldId id="454" r:id="rId27"/>
    <p:sldId id="455" r:id="rId28"/>
    <p:sldId id="456" r:id="rId29"/>
    <p:sldId id="448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2CFA091-6670-456D-A6A6-A6FF1EDF3BE4}">
          <p14:sldIdLst>
            <p14:sldId id="415"/>
            <p14:sldId id="375"/>
          </p14:sldIdLst>
        </p14:section>
        <p14:section name="3.1 集合的基本概念" id="{3FC60026-EDEF-44B6-B042-8BC13362AE50}">
          <p14:sldIdLst>
            <p14:sldId id="425"/>
            <p14:sldId id="432"/>
            <p14:sldId id="433"/>
            <p14:sldId id="434"/>
            <p14:sldId id="436"/>
          </p14:sldIdLst>
        </p14:section>
        <p14:section name="3.2 集合的运算" id="{1F8A7BCC-F183-4247-B68E-54136C1F25D8}">
          <p14:sldIdLst>
            <p14:sldId id="435"/>
            <p14:sldId id="437"/>
            <p14:sldId id="457"/>
            <p14:sldId id="458"/>
            <p14:sldId id="459"/>
            <p14:sldId id="449"/>
            <p14:sldId id="442"/>
            <p14:sldId id="443"/>
            <p14:sldId id="460"/>
            <p14:sldId id="444"/>
            <p14:sldId id="445"/>
            <p14:sldId id="446"/>
            <p14:sldId id="447"/>
          </p14:sldIdLst>
        </p14:section>
        <p14:section name="3.3 集合中元素的计数" id="{3E0FF30E-5FA6-419D-B7B4-9BBE82B18823}">
          <p14:sldIdLst>
            <p14:sldId id="440"/>
            <p14:sldId id="438"/>
            <p14:sldId id="451"/>
            <p14:sldId id="441"/>
            <p14:sldId id="452"/>
            <p14:sldId id="454"/>
            <p14:sldId id="455"/>
            <p14:sldId id="456"/>
            <p14:sldId id="44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2677"/>
    <a:srgbClr val="AD51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6151" autoAdjust="0"/>
  </p:normalViewPr>
  <p:slideViewPr>
    <p:cSldViewPr snapToGrid="0">
      <p:cViewPr varScale="1">
        <p:scale>
          <a:sx n="92" d="100"/>
          <a:sy n="92" d="100"/>
        </p:scale>
        <p:origin x="740" y="56"/>
      </p:cViewPr>
      <p:guideLst/>
    </p:cSldViewPr>
  </p:slideViewPr>
  <p:outlineViewPr>
    <p:cViewPr>
      <p:scale>
        <a:sx n="33" d="100"/>
        <a:sy n="33" d="100"/>
      </p:scale>
      <p:origin x="0" y="-28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744311194@qq.com" userId="e2a28223f2085f4b" providerId="LiveId" clId="{93EAE7B5-FDEE-48D0-B65C-03455E3B8632}"/>
    <pc:docChg chg="addSection modSection">
      <pc:chgData name="744311194@qq.com" userId="e2a28223f2085f4b" providerId="LiveId" clId="{93EAE7B5-FDEE-48D0-B65C-03455E3B8632}" dt="2026-03-16T11:42:45.966" v="5" actId="17846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676A4C9-C1DC-465A-944B-7C50805B0B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439A52E-7501-44B8-A3A7-1516D6D265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30BC2-F86A-42C0-8A80-84DBB0255044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6BD8F0-9D4E-47EE-86F0-A40EAEF9C2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A70BE2-7855-41A8-B606-2F9DF3FA0A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FB91C-8383-4E9F-96C0-D9618EADB2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4424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7446B-2894-449C-92CD-CB8A7EEE00B4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C4DD7C-FBF0-44C0-A1F7-EB98AA47B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547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4E569D-EDD6-4BC5-AFEC-DD57613D91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2640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780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004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129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544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503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249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0598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454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93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3209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15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1308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5059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593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8018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1000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0718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0200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8682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1903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2358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8728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3416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160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111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771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 79">
            <a:extLst>
              <a:ext uri="{FF2B5EF4-FFF2-40B4-BE49-F238E27FC236}">
                <a16:creationId xmlns:a16="http://schemas.microsoft.com/office/drawing/2014/main" id="{B69D3C12-69C4-4A3C-8A16-E380AFBB70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D66FF192-87A1-4842-AED9-B944F1200217}"/>
              </a:ext>
            </a:extLst>
          </p:cNvPr>
          <p:cNvSpPr/>
          <p:nvPr userDrawn="1"/>
        </p:nvSpPr>
        <p:spPr>
          <a:xfrm>
            <a:off x="0" y="1736723"/>
            <a:ext cx="12192000" cy="3384552"/>
          </a:xfrm>
          <a:custGeom>
            <a:avLst/>
            <a:gdLst>
              <a:gd name="connsiteX0" fmla="*/ 0 w 12192000"/>
              <a:gd name="connsiteY0" fmla="*/ 0 h 3384552"/>
              <a:gd name="connsiteX1" fmla="*/ 5221304 w 12192000"/>
              <a:gd name="connsiteY1" fmla="*/ 0 h 3384552"/>
              <a:gd name="connsiteX2" fmla="*/ 5237005 w 12192000"/>
              <a:gd name="connsiteY2" fmla="*/ 155754 h 3384552"/>
              <a:gd name="connsiteX3" fmla="*/ 6096000 w 12192000"/>
              <a:gd name="connsiteY3" fmla="*/ 855855 h 3384552"/>
              <a:gd name="connsiteX4" fmla="*/ 6954996 w 12192000"/>
              <a:gd name="connsiteY4" fmla="*/ 155754 h 3384552"/>
              <a:gd name="connsiteX5" fmla="*/ 6970697 w 12192000"/>
              <a:gd name="connsiteY5" fmla="*/ 0 h 3384552"/>
              <a:gd name="connsiteX6" fmla="*/ 12192000 w 12192000"/>
              <a:gd name="connsiteY6" fmla="*/ 0 h 3384552"/>
              <a:gd name="connsiteX7" fmla="*/ 12192000 w 12192000"/>
              <a:gd name="connsiteY7" fmla="*/ 3384552 h 3384552"/>
              <a:gd name="connsiteX8" fmla="*/ 0 w 12192000"/>
              <a:gd name="connsiteY8" fmla="*/ 3384552 h 3384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384552">
                <a:moveTo>
                  <a:pt x="0" y="0"/>
                </a:moveTo>
                <a:lnTo>
                  <a:pt x="5221304" y="0"/>
                </a:lnTo>
                <a:lnTo>
                  <a:pt x="5237005" y="155754"/>
                </a:lnTo>
                <a:cubicBezTo>
                  <a:pt x="5318764" y="555301"/>
                  <a:pt x="5672283" y="855855"/>
                  <a:pt x="6096000" y="855855"/>
                </a:cubicBezTo>
                <a:cubicBezTo>
                  <a:pt x="6519717" y="855855"/>
                  <a:pt x="6873236" y="555301"/>
                  <a:pt x="6954996" y="155754"/>
                </a:cubicBezTo>
                <a:lnTo>
                  <a:pt x="6970697" y="0"/>
                </a:lnTo>
                <a:lnTo>
                  <a:pt x="12192000" y="0"/>
                </a:lnTo>
                <a:lnTo>
                  <a:pt x="12192000" y="3384552"/>
                </a:lnTo>
                <a:lnTo>
                  <a:pt x="0" y="3384552"/>
                </a:lnTo>
                <a:close/>
              </a:path>
            </a:pathLst>
          </a:custGeom>
          <a:solidFill>
            <a:srgbClr val="9926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 useBgFill="1">
        <p:nvSpPr>
          <p:cNvPr id="104" name="矩形 103">
            <a:extLst>
              <a:ext uri="{FF2B5EF4-FFF2-40B4-BE49-F238E27FC236}">
                <a16:creationId xmlns:a16="http://schemas.microsoft.com/office/drawing/2014/main" id="{25E46E35-8EC9-4AC4-909B-B1F3BC63089E}"/>
              </a:ext>
            </a:extLst>
          </p:cNvPr>
          <p:cNvSpPr/>
          <p:nvPr userDrawn="1"/>
        </p:nvSpPr>
        <p:spPr>
          <a:xfrm>
            <a:off x="423387" y="1736724"/>
            <a:ext cx="164788" cy="33845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 useBgFill="1">
        <p:nvSpPr>
          <p:cNvPr id="106" name="矩形 105">
            <a:extLst>
              <a:ext uri="{FF2B5EF4-FFF2-40B4-BE49-F238E27FC236}">
                <a16:creationId xmlns:a16="http://schemas.microsoft.com/office/drawing/2014/main" id="{D87BC45E-E4CF-4749-91B0-AB004E8258BC}"/>
              </a:ext>
            </a:extLst>
          </p:cNvPr>
          <p:cNvSpPr/>
          <p:nvPr userDrawn="1"/>
        </p:nvSpPr>
        <p:spPr>
          <a:xfrm>
            <a:off x="11649241" y="1736724"/>
            <a:ext cx="164788" cy="33845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F6385A17-6A4B-4926-AD6D-2A09F5402B58}"/>
              </a:ext>
            </a:extLst>
          </p:cNvPr>
          <p:cNvSpPr/>
          <p:nvPr userDrawn="1"/>
        </p:nvSpPr>
        <p:spPr>
          <a:xfrm>
            <a:off x="11649241" y="1736724"/>
            <a:ext cx="164788" cy="3384552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ABC598F6-7EB1-4C8F-9F87-5CA9A5CECDC1}"/>
              </a:ext>
            </a:extLst>
          </p:cNvPr>
          <p:cNvSpPr/>
          <p:nvPr userDrawn="1"/>
        </p:nvSpPr>
        <p:spPr>
          <a:xfrm>
            <a:off x="423387" y="1736724"/>
            <a:ext cx="164788" cy="3384552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14" name="标题 112">
            <a:extLst>
              <a:ext uri="{FF2B5EF4-FFF2-40B4-BE49-F238E27FC236}">
                <a16:creationId xmlns:a16="http://schemas.microsoft.com/office/drawing/2014/main" id="{FA5E98B8-A581-470E-A5D3-7587EC891C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1094" y="2795268"/>
            <a:ext cx="10335228" cy="663712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defRPr lang="zh-CN" altLang="en-US" sz="4000" b="1" kern="1200" spc="600" dirty="0">
                <a:solidFill>
                  <a:schemeClr val="bg1"/>
                </a:solidFill>
                <a:latin typeface="+mj-ea"/>
                <a:ea typeface="+mj-ea"/>
                <a:cs typeface="+mn-ea"/>
              </a:defRPr>
            </a:lvl1pPr>
          </a:lstStyle>
          <a:p>
            <a:pPr algn="ctr"/>
            <a:r>
              <a:rPr lang="zh-CN" altLang="en-US" sz="4000" b="1" spc="600" dirty="0">
                <a:solidFill>
                  <a:schemeClr val="bg1"/>
                </a:solidFill>
                <a:cs typeface="+mn-ea"/>
                <a:sym typeface="+mn-lt"/>
              </a:rPr>
              <a:t>南京理工大学通用模板</a:t>
            </a:r>
          </a:p>
        </p:txBody>
      </p:sp>
      <p:grpSp>
        <p:nvGrpSpPr>
          <p:cNvPr id="12" name="ab742894-b611-4118-8065-b69e992411d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526AE39-2E3F-40FB-8FE9-81FA86968FA7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5326643" y="955675"/>
            <a:ext cx="1538714" cy="1545269"/>
            <a:chOff x="2035175" y="2493963"/>
            <a:chExt cx="1865313" cy="1873250"/>
          </a:xfrm>
        </p:grpSpPr>
        <p:sp>
          <p:nvSpPr>
            <p:cNvPr id="13" name="iśļîḋè">
              <a:extLst>
                <a:ext uri="{FF2B5EF4-FFF2-40B4-BE49-F238E27FC236}">
                  <a16:creationId xmlns:a16="http://schemas.microsoft.com/office/drawing/2014/main" id="{E319FA1B-0C38-4F2B-912C-F12A100B6C5A}"/>
                </a:ext>
              </a:extLst>
            </p:cNvPr>
            <p:cNvSpPr/>
            <p:nvPr/>
          </p:nvSpPr>
          <p:spPr bwMode="auto">
            <a:xfrm>
              <a:off x="2927350" y="3657601"/>
              <a:ext cx="14288" cy="22225"/>
            </a:xfrm>
            <a:custGeom>
              <a:avLst/>
              <a:gdLst>
                <a:gd name="T0" fmla="*/ 2 w 4"/>
                <a:gd name="T1" fmla="*/ 0 h 6"/>
                <a:gd name="T2" fmla="*/ 0 w 4"/>
                <a:gd name="T3" fmla="*/ 3 h 6"/>
                <a:gd name="T4" fmla="*/ 2 w 4"/>
                <a:gd name="T5" fmla="*/ 6 h 6"/>
                <a:gd name="T6" fmla="*/ 4 w 4"/>
                <a:gd name="T7" fmla="*/ 5 h 6"/>
                <a:gd name="T8" fmla="*/ 4 w 4"/>
                <a:gd name="T9" fmla="*/ 4 h 6"/>
                <a:gd name="T10" fmla="*/ 2 w 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3" y="6"/>
                    <a:pt x="4" y="5"/>
                    <a:pt x="4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2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" name="iṣliḓê">
              <a:extLst>
                <a:ext uri="{FF2B5EF4-FFF2-40B4-BE49-F238E27FC236}">
                  <a16:creationId xmlns:a16="http://schemas.microsoft.com/office/drawing/2014/main" id="{DE80505B-DFEF-450A-8CDF-C6F5A71E4535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703263"/>
            </a:xfrm>
            <a:custGeom>
              <a:avLst/>
              <a:gdLst>
                <a:gd name="T0" fmla="*/ 46 w 144"/>
                <a:gd name="T1" fmla="*/ 167 h 194"/>
                <a:gd name="T2" fmla="*/ 46 w 144"/>
                <a:gd name="T3" fmla="*/ 155 h 194"/>
                <a:gd name="T4" fmla="*/ 42 w 144"/>
                <a:gd name="T5" fmla="*/ 154 h 194"/>
                <a:gd name="T6" fmla="*/ 49 w 144"/>
                <a:gd name="T7" fmla="*/ 152 h 194"/>
                <a:gd name="T8" fmla="*/ 59 w 144"/>
                <a:gd name="T9" fmla="*/ 167 h 194"/>
                <a:gd name="T10" fmla="*/ 61 w 144"/>
                <a:gd name="T11" fmla="*/ 165 h 194"/>
                <a:gd name="T12" fmla="*/ 65 w 144"/>
                <a:gd name="T13" fmla="*/ 161 h 194"/>
                <a:gd name="T14" fmla="*/ 58 w 144"/>
                <a:gd name="T15" fmla="*/ 157 h 194"/>
                <a:gd name="T16" fmla="*/ 69 w 144"/>
                <a:gd name="T17" fmla="*/ 158 h 194"/>
                <a:gd name="T18" fmla="*/ 79 w 144"/>
                <a:gd name="T19" fmla="*/ 167 h 194"/>
                <a:gd name="T20" fmla="*/ 76 w 144"/>
                <a:gd name="T21" fmla="*/ 164 h 194"/>
                <a:gd name="T22" fmla="*/ 82 w 144"/>
                <a:gd name="T23" fmla="*/ 162 h 194"/>
                <a:gd name="T24" fmla="*/ 77 w 144"/>
                <a:gd name="T25" fmla="*/ 160 h 194"/>
                <a:gd name="T26" fmla="*/ 85 w 144"/>
                <a:gd name="T27" fmla="*/ 152 h 194"/>
                <a:gd name="T28" fmla="*/ 80 w 144"/>
                <a:gd name="T29" fmla="*/ 155 h 194"/>
                <a:gd name="T30" fmla="*/ 80 w 144"/>
                <a:gd name="T31" fmla="*/ 157 h 194"/>
                <a:gd name="T32" fmla="*/ 79 w 144"/>
                <a:gd name="T33" fmla="*/ 167 h 194"/>
                <a:gd name="T34" fmla="*/ 92 w 144"/>
                <a:gd name="T35" fmla="*/ 166 h 194"/>
                <a:gd name="T36" fmla="*/ 96 w 144"/>
                <a:gd name="T37" fmla="*/ 165 h 194"/>
                <a:gd name="T38" fmla="*/ 96 w 144"/>
                <a:gd name="T39" fmla="*/ 160 h 194"/>
                <a:gd name="T40" fmla="*/ 95 w 144"/>
                <a:gd name="T41" fmla="*/ 158 h 194"/>
                <a:gd name="T42" fmla="*/ 99 w 144"/>
                <a:gd name="T43" fmla="*/ 156 h 194"/>
                <a:gd name="T44" fmla="*/ 93 w 144"/>
                <a:gd name="T45" fmla="*/ 155 h 194"/>
                <a:gd name="T46" fmla="*/ 97 w 144"/>
                <a:gd name="T47" fmla="*/ 152 h 194"/>
                <a:gd name="T48" fmla="*/ 99 w 144"/>
                <a:gd name="T49" fmla="*/ 159 h 194"/>
                <a:gd name="T50" fmla="*/ 102 w 144"/>
                <a:gd name="T51" fmla="*/ 163 h 194"/>
                <a:gd name="T52" fmla="*/ 139 w 144"/>
                <a:gd name="T53" fmla="*/ 2 h 194"/>
                <a:gd name="T54" fmla="*/ 136 w 144"/>
                <a:gd name="T55" fmla="*/ 132 h 194"/>
                <a:gd name="T56" fmla="*/ 12 w 144"/>
                <a:gd name="T57" fmla="*/ 141 h 194"/>
                <a:gd name="T58" fmla="*/ 6 w 144"/>
                <a:gd name="T59" fmla="*/ 115 h 194"/>
                <a:gd name="T60" fmla="*/ 0 w 144"/>
                <a:gd name="T61" fmla="*/ 0 h 194"/>
                <a:gd name="T62" fmla="*/ 2 w 144"/>
                <a:gd name="T63" fmla="*/ 130 h 194"/>
                <a:gd name="T64" fmla="*/ 6 w 144"/>
                <a:gd name="T65" fmla="*/ 141 h 194"/>
                <a:gd name="T66" fmla="*/ 7 w 144"/>
                <a:gd name="T67" fmla="*/ 144 h 194"/>
                <a:gd name="T68" fmla="*/ 9 w 144"/>
                <a:gd name="T69" fmla="*/ 147 h 194"/>
                <a:gd name="T70" fmla="*/ 11 w 144"/>
                <a:gd name="T71" fmla="*/ 151 h 194"/>
                <a:gd name="T72" fmla="*/ 12 w 144"/>
                <a:gd name="T73" fmla="*/ 154 h 194"/>
                <a:gd name="T74" fmla="*/ 15 w 144"/>
                <a:gd name="T75" fmla="*/ 157 h 194"/>
                <a:gd name="T76" fmla="*/ 17 w 144"/>
                <a:gd name="T77" fmla="*/ 160 h 194"/>
                <a:gd name="T78" fmla="*/ 19 w 144"/>
                <a:gd name="T79" fmla="*/ 163 h 194"/>
                <a:gd name="T80" fmla="*/ 22 w 144"/>
                <a:gd name="T81" fmla="*/ 166 h 194"/>
                <a:gd name="T82" fmla="*/ 123 w 144"/>
                <a:gd name="T83" fmla="*/ 166 h 194"/>
                <a:gd name="T84" fmla="*/ 125 w 144"/>
                <a:gd name="T85" fmla="*/ 163 h 194"/>
                <a:gd name="T86" fmla="*/ 127 w 144"/>
                <a:gd name="T87" fmla="*/ 160 h 194"/>
                <a:gd name="T88" fmla="*/ 130 w 144"/>
                <a:gd name="T89" fmla="*/ 157 h 194"/>
                <a:gd name="T90" fmla="*/ 132 w 144"/>
                <a:gd name="T91" fmla="*/ 154 h 194"/>
                <a:gd name="T92" fmla="*/ 134 w 144"/>
                <a:gd name="T93" fmla="*/ 151 h 194"/>
                <a:gd name="T94" fmla="*/ 136 w 144"/>
                <a:gd name="T95" fmla="*/ 147 h 194"/>
                <a:gd name="T96" fmla="*/ 137 w 144"/>
                <a:gd name="T97" fmla="*/ 144 h 194"/>
                <a:gd name="T98" fmla="*/ 144 w 144"/>
                <a:gd name="T99" fmla="*/ 114 h 194"/>
                <a:gd name="T100" fmla="*/ 139 w 144"/>
                <a:gd name="T101" fmla="*/ 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4" h="194">
                  <a:moveTo>
                    <a:pt x="49" y="167"/>
                  </a:moveTo>
                  <a:cubicBezTo>
                    <a:pt x="46" y="167"/>
                    <a:pt x="46" y="167"/>
                    <a:pt x="46" y="167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3" y="156"/>
                    <a:pt x="43" y="156"/>
                    <a:pt x="43" y="156"/>
                  </a:cubicBezTo>
                  <a:cubicBezTo>
                    <a:pt x="42" y="154"/>
                    <a:pt x="42" y="154"/>
                    <a:pt x="42" y="154"/>
                  </a:cubicBezTo>
                  <a:cubicBezTo>
                    <a:pt x="46" y="152"/>
                    <a:pt x="46" y="152"/>
                    <a:pt x="46" y="152"/>
                  </a:cubicBezTo>
                  <a:cubicBezTo>
                    <a:pt x="49" y="152"/>
                    <a:pt x="49" y="152"/>
                    <a:pt x="49" y="152"/>
                  </a:cubicBezTo>
                  <a:lnTo>
                    <a:pt x="49" y="167"/>
                  </a:lnTo>
                  <a:close/>
                  <a:moveTo>
                    <a:pt x="59" y="167"/>
                  </a:moveTo>
                  <a:cubicBezTo>
                    <a:pt x="59" y="165"/>
                    <a:pt x="59" y="165"/>
                    <a:pt x="59" y="165"/>
                  </a:cubicBezTo>
                  <a:cubicBezTo>
                    <a:pt x="60" y="165"/>
                    <a:pt x="60" y="165"/>
                    <a:pt x="61" y="165"/>
                  </a:cubicBezTo>
                  <a:cubicBezTo>
                    <a:pt x="63" y="165"/>
                    <a:pt x="65" y="163"/>
                    <a:pt x="65" y="161"/>
                  </a:cubicBezTo>
                  <a:cubicBezTo>
                    <a:pt x="65" y="161"/>
                    <a:pt x="65" y="161"/>
                    <a:pt x="65" y="161"/>
                  </a:cubicBezTo>
                  <a:cubicBezTo>
                    <a:pt x="65" y="161"/>
                    <a:pt x="64" y="162"/>
                    <a:pt x="62" y="162"/>
                  </a:cubicBezTo>
                  <a:cubicBezTo>
                    <a:pt x="60" y="162"/>
                    <a:pt x="58" y="160"/>
                    <a:pt x="58" y="157"/>
                  </a:cubicBezTo>
                  <a:cubicBezTo>
                    <a:pt x="58" y="155"/>
                    <a:pt x="60" y="152"/>
                    <a:pt x="63" y="152"/>
                  </a:cubicBezTo>
                  <a:cubicBezTo>
                    <a:pt x="67" y="152"/>
                    <a:pt x="69" y="155"/>
                    <a:pt x="69" y="158"/>
                  </a:cubicBezTo>
                  <a:cubicBezTo>
                    <a:pt x="69" y="163"/>
                    <a:pt x="66" y="167"/>
                    <a:pt x="59" y="167"/>
                  </a:cubicBezTo>
                  <a:close/>
                  <a:moveTo>
                    <a:pt x="79" y="167"/>
                  </a:moveTo>
                  <a:cubicBezTo>
                    <a:pt x="78" y="167"/>
                    <a:pt x="76" y="167"/>
                    <a:pt x="76" y="166"/>
                  </a:cubicBezTo>
                  <a:cubicBezTo>
                    <a:pt x="76" y="164"/>
                    <a:pt x="76" y="164"/>
                    <a:pt x="76" y="164"/>
                  </a:cubicBezTo>
                  <a:cubicBezTo>
                    <a:pt x="77" y="165"/>
                    <a:pt x="78" y="165"/>
                    <a:pt x="79" y="165"/>
                  </a:cubicBezTo>
                  <a:cubicBezTo>
                    <a:pt x="81" y="165"/>
                    <a:pt x="82" y="164"/>
                    <a:pt x="82" y="162"/>
                  </a:cubicBezTo>
                  <a:cubicBezTo>
                    <a:pt x="82" y="161"/>
                    <a:pt x="81" y="160"/>
                    <a:pt x="78" y="160"/>
                  </a:cubicBezTo>
                  <a:cubicBezTo>
                    <a:pt x="78" y="160"/>
                    <a:pt x="77" y="160"/>
                    <a:pt x="77" y="160"/>
                  </a:cubicBezTo>
                  <a:cubicBezTo>
                    <a:pt x="77" y="152"/>
                    <a:pt x="77" y="152"/>
                    <a:pt x="77" y="152"/>
                  </a:cubicBezTo>
                  <a:cubicBezTo>
                    <a:pt x="85" y="152"/>
                    <a:pt x="85" y="152"/>
                    <a:pt x="85" y="152"/>
                  </a:cubicBezTo>
                  <a:cubicBezTo>
                    <a:pt x="85" y="155"/>
                    <a:pt x="85" y="155"/>
                    <a:pt x="85" y="155"/>
                  </a:cubicBezTo>
                  <a:cubicBezTo>
                    <a:pt x="80" y="155"/>
                    <a:pt x="80" y="155"/>
                    <a:pt x="80" y="155"/>
                  </a:cubicBezTo>
                  <a:cubicBezTo>
                    <a:pt x="79" y="158"/>
                    <a:pt x="79" y="158"/>
                    <a:pt x="79" y="158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3" y="157"/>
                    <a:pt x="86" y="159"/>
                    <a:pt x="86" y="162"/>
                  </a:cubicBezTo>
                  <a:cubicBezTo>
                    <a:pt x="86" y="165"/>
                    <a:pt x="83" y="167"/>
                    <a:pt x="79" y="167"/>
                  </a:cubicBezTo>
                  <a:close/>
                  <a:moveTo>
                    <a:pt x="96" y="167"/>
                  </a:moveTo>
                  <a:cubicBezTo>
                    <a:pt x="95" y="167"/>
                    <a:pt x="93" y="167"/>
                    <a:pt x="92" y="166"/>
                  </a:cubicBezTo>
                  <a:cubicBezTo>
                    <a:pt x="93" y="164"/>
                    <a:pt x="93" y="164"/>
                    <a:pt x="93" y="164"/>
                  </a:cubicBezTo>
                  <a:cubicBezTo>
                    <a:pt x="94" y="164"/>
                    <a:pt x="95" y="165"/>
                    <a:pt x="96" y="165"/>
                  </a:cubicBezTo>
                  <a:cubicBezTo>
                    <a:pt x="98" y="165"/>
                    <a:pt x="99" y="164"/>
                    <a:pt x="99" y="163"/>
                  </a:cubicBezTo>
                  <a:cubicBezTo>
                    <a:pt x="99" y="161"/>
                    <a:pt x="97" y="160"/>
                    <a:pt x="96" y="160"/>
                  </a:cubicBezTo>
                  <a:cubicBezTo>
                    <a:pt x="95" y="160"/>
                    <a:pt x="95" y="160"/>
                    <a:pt x="95" y="160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6" y="158"/>
                    <a:pt x="96" y="158"/>
                    <a:pt x="96" y="158"/>
                  </a:cubicBezTo>
                  <a:cubicBezTo>
                    <a:pt x="97" y="158"/>
                    <a:pt x="99" y="158"/>
                    <a:pt x="99" y="156"/>
                  </a:cubicBezTo>
                  <a:cubicBezTo>
                    <a:pt x="99" y="155"/>
                    <a:pt x="98" y="154"/>
                    <a:pt x="96" y="154"/>
                  </a:cubicBezTo>
                  <a:cubicBezTo>
                    <a:pt x="95" y="154"/>
                    <a:pt x="94" y="155"/>
                    <a:pt x="93" y="155"/>
                  </a:cubicBezTo>
                  <a:cubicBezTo>
                    <a:pt x="93" y="153"/>
                    <a:pt x="93" y="153"/>
                    <a:pt x="93" y="153"/>
                  </a:cubicBezTo>
                  <a:cubicBezTo>
                    <a:pt x="94" y="153"/>
                    <a:pt x="95" y="152"/>
                    <a:pt x="97" y="152"/>
                  </a:cubicBezTo>
                  <a:cubicBezTo>
                    <a:pt x="100" y="152"/>
                    <a:pt x="102" y="154"/>
                    <a:pt x="102" y="156"/>
                  </a:cubicBezTo>
                  <a:cubicBezTo>
                    <a:pt x="102" y="157"/>
                    <a:pt x="101" y="158"/>
                    <a:pt x="99" y="159"/>
                  </a:cubicBezTo>
                  <a:cubicBezTo>
                    <a:pt x="99" y="159"/>
                    <a:pt x="99" y="159"/>
                    <a:pt x="99" y="159"/>
                  </a:cubicBezTo>
                  <a:cubicBezTo>
                    <a:pt x="101" y="159"/>
                    <a:pt x="102" y="161"/>
                    <a:pt x="102" y="163"/>
                  </a:cubicBezTo>
                  <a:cubicBezTo>
                    <a:pt x="102" y="165"/>
                    <a:pt x="100" y="167"/>
                    <a:pt x="96" y="167"/>
                  </a:cubicBezTo>
                  <a:close/>
                  <a:moveTo>
                    <a:pt x="139" y="2"/>
                  </a:moveTo>
                  <a:cubicBezTo>
                    <a:pt x="139" y="30"/>
                    <a:pt x="139" y="113"/>
                    <a:pt x="139" y="115"/>
                  </a:cubicBezTo>
                  <a:cubicBezTo>
                    <a:pt x="138" y="118"/>
                    <a:pt x="138" y="124"/>
                    <a:pt x="136" y="132"/>
                  </a:cubicBezTo>
                  <a:cubicBezTo>
                    <a:pt x="135" y="135"/>
                    <a:pt x="134" y="138"/>
                    <a:pt x="132" y="141"/>
                  </a:cubicBezTo>
                  <a:cubicBezTo>
                    <a:pt x="12" y="141"/>
                    <a:pt x="12" y="141"/>
                    <a:pt x="12" y="141"/>
                  </a:cubicBezTo>
                  <a:cubicBezTo>
                    <a:pt x="11" y="138"/>
                    <a:pt x="9" y="135"/>
                    <a:pt x="9" y="132"/>
                  </a:cubicBezTo>
                  <a:cubicBezTo>
                    <a:pt x="6" y="124"/>
                    <a:pt x="6" y="118"/>
                    <a:pt x="6" y="115"/>
                  </a:cubicBezTo>
                  <a:cubicBezTo>
                    <a:pt x="6" y="113"/>
                    <a:pt x="6" y="30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10"/>
                    <a:pt x="0" y="114"/>
                  </a:cubicBezTo>
                  <a:cubicBezTo>
                    <a:pt x="0" y="118"/>
                    <a:pt x="1" y="123"/>
                    <a:pt x="2" y="130"/>
                  </a:cubicBezTo>
                  <a:cubicBezTo>
                    <a:pt x="3" y="133"/>
                    <a:pt x="4" y="137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2"/>
                    <a:pt x="7" y="143"/>
                    <a:pt x="7" y="144"/>
                  </a:cubicBezTo>
                  <a:cubicBezTo>
                    <a:pt x="7" y="144"/>
                    <a:pt x="7" y="144"/>
                    <a:pt x="7" y="145"/>
                  </a:cubicBezTo>
                  <a:cubicBezTo>
                    <a:pt x="8" y="145"/>
                    <a:pt x="8" y="146"/>
                    <a:pt x="9" y="147"/>
                  </a:cubicBezTo>
                  <a:cubicBezTo>
                    <a:pt x="9" y="147"/>
                    <a:pt x="9" y="147"/>
                    <a:pt x="9" y="148"/>
                  </a:cubicBezTo>
                  <a:cubicBezTo>
                    <a:pt x="9" y="149"/>
                    <a:pt x="10" y="150"/>
                    <a:pt x="11" y="151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11" y="152"/>
                    <a:pt x="12" y="153"/>
                    <a:pt x="12" y="154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13" y="155"/>
                    <a:pt x="14" y="156"/>
                    <a:pt x="15" y="157"/>
                  </a:cubicBezTo>
                  <a:cubicBezTo>
                    <a:pt x="15" y="157"/>
                    <a:pt x="15" y="157"/>
                    <a:pt x="15" y="157"/>
                  </a:cubicBezTo>
                  <a:cubicBezTo>
                    <a:pt x="16" y="158"/>
                    <a:pt x="16" y="159"/>
                    <a:pt x="17" y="160"/>
                  </a:cubicBezTo>
                  <a:cubicBezTo>
                    <a:pt x="17" y="160"/>
                    <a:pt x="17" y="160"/>
                    <a:pt x="17" y="161"/>
                  </a:cubicBezTo>
                  <a:cubicBezTo>
                    <a:pt x="18" y="161"/>
                    <a:pt x="18" y="162"/>
                    <a:pt x="19" y="163"/>
                  </a:cubicBezTo>
                  <a:cubicBezTo>
                    <a:pt x="19" y="163"/>
                    <a:pt x="19" y="163"/>
                    <a:pt x="20" y="163"/>
                  </a:cubicBezTo>
                  <a:cubicBezTo>
                    <a:pt x="20" y="164"/>
                    <a:pt x="21" y="165"/>
                    <a:pt x="22" y="166"/>
                  </a:cubicBezTo>
                  <a:cubicBezTo>
                    <a:pt x="37" y="182"/>
                    <a:pt x="58" y="189"/>
                    <a:pt x="72" y="194"/>
                  </a:cubicBezTo>
                  <a:cubicBezTo>
                    <a:pt x="86" y="189"/>
                    <a:pt x="108" y="182"/>
                    <a:pt x="123" y="166"/>
                  </a:cubicBezTo>
                  <a:cubicBezTo>
                    <a:pt x="123" y="165"/>
                    <a:pt x="124" y="164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6" y="162"/>
                    <a:pt x="126" y="161"/>
                    <a:pt x="127" y="161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9"/>
                    <a:pt x="129" y="158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0" y="156"/>
                    <a:pt x="131" y="155"/>
                    <a:pt x="131" y="154"/>
                  </a:cubicBezTo>
                  <a:cubicBezTo>
                    <a:pt x="132" y="154"/>
                    <a:pt x="132" y="154"/>
                    <a:pt x="132" y="154"/>
                  </a:cubicBezTo>
                  <a:cubicBezTo>
                    <a:pt x="132" y="153"/>
                    <a:pt x="133" y="152"/>
                    <a:pt x="133" y="151"/>
                  </a:cubicBezTo>
                  <a:cubicBezTo>
                    <a:pt x="134" y="151"/>
                    <a:pt x="134" y="151"/>
                    <a:pt x="134" y="151"/>
                  </a:cubicBezTo>
                  <a:cubicBezTo>
                    <a:pt x="134" y="150"/>
                    <a:pt x="135" y="149"/>
                    <a:pt x="135" y="148"/>
                  </a:cubicBezTo>
                  <a:cubicBezTo>
                    <a:pt x="136" y="147"/>
                    <a:pt x="136" y="147"/>
                    <a:pt x="136" y="147"/>
                  </a:cubicBezTo>
                  <a:cubicBezTo>
                    <a:pt x="136" y="146"/>
                    <a:pt x="137" y="145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40" y="139"/>
                    <a:pt x="142" y="134"/>
                    <a:pt x="143" y="130"/>
                  </a:cubicBezTo>
                  <a:cubicBezTo>
                    <a:pt x="144" y="123"/>
                    <a:pt x="144" y="118"/>
                    <a:pt x="144" y="114"/>
                  </a:cubicBezTo>
                  <a:cubicBezTo>
                    <a:pt x="144" y="110"/>
                    <a:pt x="144" y="0"/>
                    <a:pt x="144" y="0"/>
                  </a:cubicBezTo>
                  <a:lnTo>
                    <a:pt x="139" y="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" name="íṡľiḍê">
              <a:extLst>
                <a:ext uri="{FF2B5EF4-FFF2-40B4-BE49-F238E27FC236}">
                  <a16:creationId xmlns:a16="http://schemas.microsoft.com/office/drawing/2014/main" id="{C20C8E40-C556-48DD-B051-8D0895E54928}"/>
                </a:ext>
              </a:extLst>
            </p:cNvPr>
            <p:cNvSpPr/>
            <p:nvPr/>
          </p:nvSpPr>
          <p:spPr bwMode="auto">
            <a:xfrm>
              <a:off x="2395538" y="2917826"/>
              <a:ext cx="1141413" cy="1050925"/>
            </a:xfrm>
            <a:custGeom>
              <a:avLst/>
              <a:gdLst>
                <a:gd name="T0" fmla="*/ 300 w 316"/>
                <a:gd name="T1" fmla="*/ 173 h 290"/>
                <a:gd name="T2" fmla="*/ 294 w 316"/>
                <a:gd name="T3" fmla="*/ 163 h 290"/>
                <a:gd name="T4" fmla="*/ 299 w 316"/>
                <a:gd name="T5" fmla="*/ 78 h 290"/>
                <a:gd name="T6" fmla="*/ 285 w 316"/>
                <a:gd name="T7" fmla="*/ 84 h 290"/>
                <a:gd name="T8" fmla="*/ 248 w 316"/>
                <a:gd name="T9" fmla="*/ 17 h 290"/>
                <a:gd name="T10" fmla="*/ 233 w 316"/>
                <a:gd name="T11" fmla="*/ 15 h 290"/>
                <a:gd name="T12" fmla="*/ 233 w 316"/>
                <a:gd name="T13" fmla="*/ 33 h 290"/>
                <a:gd name="T14" fmla="*/ 242 w 316"/>
                <a:gd name="T15" fmla="*/ 45 h 290"/>
                <a:gd name="T16" fmla="*/ 278 w 316"/>
                <a:gd name="T17" fmla="*/ 88 h 290"/>
                <a:gd name="T18" fmla="*/ 276 w 316"/>
                <a:gd name="T19" fmla="*/ 93 h 290"/>
                <a:gd name="T20" fmla="*/ 286 w 316"/>
                <a:gd name="T21" fmla="*/ 156 h 290"/>
                <a:gd name="T22" fmla="*/ 278 w 316"/>
                <a:gd name="T23" fmla="*/ 170 h 290"/>
                <a:gd name="T24" fmla="*/ 269 w 316"/>
                <a:gd name="T25" fmla="*/ 179 h 290"/>
                <a:gd name="T26" fmla="*/ 254 w 316"/>
                <a:gd name="T27" fmla="*/ 230 h 290"/>
                <a:gd name="T28" fmla="*/ 246 w 316"/>
                <a:gd name="T29" fmla="*/ 219 h 290"/>
                <a:gd name="T30" fmla="*/ 169 w 316"/>
                <a:gd name="T31" fmla="*/ 262 h 290"/>
                <a:gd name="T32" fmla="*/ 147 w 316"/>
                <a:gd name="T33" fmla="*/ 262 h 290"/>
                <a:gd name="T34" fmla="*/ 70 w 316"/>
                <a:gd name="T35" fmla="*/ 219 h 290"/>
                <a:gd name="T36" fmla="*/ 62 w 316"/>
                <a:gd name="T37" fmla="*/ 230 h 290"/>
                <a:gd name="T38" fmla="*/ 48 w 316"/>
                <a:gd name="T39" fmla="*/ 179 h 290"/>
                <a:gd name="T40" fmla="*/ 38 w 316"/>
                <a:gd name="T41" fmla="*/ 170 h 290"/>
                <a:gd name="T42" fmla="*/ 30 w 316"/>
                <a:gd name="T43" fmla="*/ 156 h 290"/>
                <a:gd name="T44" fmla="*/ 41 w 316"/>
                <a:gd name="T45" fmla="*/ 93 h 290"/>
                <a:gd name="T46" fmla="*/ 38 w 316"/>
                <a:gd name="T47" fmla="*/ 88 h 290"/>
                <a:gd name="T48" fmla="*/ 75 w 316"/>
                <a:gd name="T49" fmla="*/ 45 h 290"/>
                <a:gd name="T50" fmla="*/ 84 w 316"/>
                <a:gd name="T51" fmla="*/ 33 h 290"/>
                <a:gd name="T52" fmla="*/ 83 w 316"/>
                <a:gd name="T53" fmla="*/ 15 h 290"/>
                <a:gd name="T54" fmla="*/ 68 w 316"/>
                <a:gd name="T55" fmla="*/ 17 h 290"/>
                <a:gd name="T56" fmla="*/ 31 w 316"/>
                <a:gd name="T57" fmla="*/ 84 h 290"/>
                <a:gd name="T58" fmla="*/ 17 w 316"/>
                <a:gd name="T59" fmla="*/ 78 h 290"/>
                <a:gd name="T60" fmla="*/ 23 w 316"/>
                <a:gd name="T61" fmla="*/ 163 h 290"/>
                <a:gd name="T62" fmla="*/ 16 w 316"/>
                <a:gd name="T63" fmla="*/ 173 h 290"/>
                <a:gd name="T64" fmla="*/ 14 w 316"/>
                <a:gd name="T65" fmla="*/ 182 h 290"/>
                <a:gd name="T66" fmla="*/ 93 w 316"/>
                <a:gd name="T67" fmla="*/ 253 h 290"/>
                <a:gd name="T68" fmla="*/ 72 w 316"/>
                <a:gd name="T69" fmla="*/ 258 h 290"/>
                <a:gd name="T70" fmla="*/ 134 w 316"/>
                <a:gd name="T71" fmla="*/ 265 h 290"/>
                <a:gd name="T72" fmla="*/ 138 w 316"/>
                <a:gd name="T73" fmla="*/ 272 h 290"/>
                <a:gd name="T74" fmla="*/ 131 w 316"/>
                <a:gd name="T75" fmla="*/ 290 h 290"/>
                <a:gd name="T76" fmla="*/ 158 w 316"/>
                <a:gd name="T77" fmla="*/ 272 h 290"/>
                <a:gd name="T78" fmla="*/ 186 w 316"/>
                <a:gd name="T79" fmla="*/ 290 h 290"/>
                <a:gd name="T80" fmla="*/ 178 w 316"/>
                <a:gd name="T81" fmla="*/ 272 h 290"/>
                <a:gd name="T82" fmla="*/ 182 w 316"/>
                <a:gd name="T83" fmla="*/ 265 h 290"/>
                <a:gd name="T84" fmla="*/ 244 w 316"/>
                <a:gd name="T85" fmla="*/ 258 h 290"/>
                <a:gd name="T86" fmla="*/ 223 w 316"/>
                <a:gd name="T87" fmla="*/ 253 h 290"/>
                <a:gd name="T88" fmla="*/ 302 w 316"/>
                <a:gd name="T89" fmla="*/ 182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6" h="290">
                  <a:moveTo>
                    <a:pt x="276" y="216"/>
                  </a:moveTo>
                  <a:cubicBezTo>
                    <a:pt x="282" y="191"/>
                    <a:pt x="289" y="190"/>
                    <a:pt x="300" y="173"/>
                  </a:cubicBezTo>
                  <a:cubicBezTo>
                    <a:pt x="310" y="157"/>
                    <a:pt x="316" y="126"/>
                    <a:pt x="305" y="115"/>
                  </a:cubicBezTo>
                  <a:cubicBezTo>
                    <a:pt x="304" y="138"/>
                    <a:pt x="296" y="143"/>
                    <a:pt x="294" y="163"/>
                  </a:cubicBezTo>
                  <a:cubicBezTo>
                    <a:pt x="292" y="147"/>
                    <a:pt x="292" y="137"/>
                    <a:pt x="295" y="126"/>
                  </a:cubicBezTo>
                  <a:cubicBezTo>
                    <a:pt x="298" y="117"/>
                    <a:pt x="302" y="95"/>
                    <a:pt x="299" y="78"/>
                  </a:cubicBezTo>
                  <a:cubicBezTo>
                    <a:pt x="297" y="66"/>
                    <a:pt x="291" y="61"/>
                    <a:pt x="284" y="58"/>
                  </a:cubicBezTo>
                  <a:cubicBezTo>
                    <a:pt x="288" y="72"/>
                    <a:pt x="285" y="84"/>
                    <a:pt x="285" y="84"/>
                  </a:cubicBezTo>
                  <a:cubicBezTo>
                    <a:pt x="285" y="84"/>
                    <a:pt x="277" y="75"/>
                    <a:pt x="274" y="52"/>
                  </a:cubicBezTo>
                  <a:cubicBezTo>
                    <a:pt x="271" y="29"/>
                    <a:pt x="256" y="18"/>
                    <a:pt x="248" y="17"/>
                  </a:cubicBezTo>
                  <a:cubicBezTo>
                    <a:pt x="255" y="29"/>
                    <a:pt x="255" y="33"/>
                    <a:pt x="257" y="44"/>
                  </a:cubicBezTo>
                  <a:cubicBezTo>
                    <a:pt x="250" y="40"/>
                    <a:pt x="245" y="26"/>
                    <a:pt x="233" y="15"/>
                  </a:cubicBezTo>
                  <a:cubicBezTo>
                    <a:pt x="216" y="0"/>
                    <a:pt x="203" y="0"/>
                    <a:pt x="195" y="7"/>
                  </a:cubicBezTo>
                  <a:cubicBezTo>
                    <a:pt x="218" y="16"/>
                    <a:pt x="214" y="18"/>
                    <a:pt x="233" y="33"/>
                  </a:cubicBezTo>
                  <a:cubicBezTo>
                    <a:pt x="251" y="45"/>
                    <a:pt x="259" y="46"/>
                    <a:pt x="264" y="62"/>
                  </a:cubicBezTo>
                  <a:cubicBezTo>
                    <a:pt x="256" y="54"/>
                    <a:pt x="251" y="49"/>
                    <a:pt x="242" y="45"/>
                  </a:cubicBezTo>
                  <a:cubicBezTo>
                    <a:pt x="239" y="50"/>
                    <a:pt x="243" y="60"/>
                    <a:pt x="257" y="71"/>
                  </a:cubicBezTo>
                  <a:cubicBezTo>
                    <a:pt x="267" y="82"/>
                    <a:pt x="270" y="77"/>
                    <a:pt x="278" y="88"/>
                  </a:cubicBezTo>
                  <a:cubicBezTo>
                    <a:pt x="285" y="96"/>
                    <a:pt x="291" y="105"/>
                    <a:pt x="289" y="124"/>
                  </a:cubicBezTo>
                  <a:cubicBezTo>
                    <a:pt x="283" y="110"/>
                    <a:pt x="279" y="108"/>
                    <a:pt x="276" y="93"/>
                  </a:cubicBezTo>
                  <a:cubicBezTo>
                    <a:pt x="272" y="98"/>
                    <a:pt x="270" y="106"/>
                    <a:pt x="271" y="116"/>
                  </a:cubicBezTo>
                  <a:cubicBezTo>
                    <a:pt x="275" y="136"/>
                    <a:pt x="283" y="136"/>
                    <a:pt x="286" y="156"/>
                  </a:cubicBezTo>
                  <a:cubicBezTo>
                    <a:pt x="288" y="168"/>
                    <a:pt x="288" y="183"/>
                    <a:pt x="278" y="194"/>
                  </a:cubicBezTo>
                  <a:cubicBezTo>
                    <a:pt x="276" y="184"/>
                    <a:pt x="277" y="179"/>
                    <a:pt x="278" y="170"/>
                  </a:cubicBezTo>
                  <a:cubicBezTo>
                    <a:pt x="280" y="161"/>
                    <a:pt x="279" y="154"/>
                    <a:pt x="276" y="145"/>
                  </a:cubicBezTo>
                  <a:cubicBezTo>
                    <a:pt x="269" y="151"/>
                    <a:pt x="267" y="165"/>
                    <a:pt x="269" y="179"/>
                  </a:cubicBezTo>
                  <a:cubicBezTo>
                    <a:pt x="270" y="193"/>
                    <a:pt x="280" y="203"/>
                    <a:pt x="265" y="223"/>
                  </a:cubicBezTo>
                  <a:cubicBezTo>
                    <a:pt x="258" y="229"/>
                    <a:pt x="254" y="231"/>
                    <a:pt x="254" y="230"/>
                  </a:cubicBezTo>
                  <a:cubicBezTo>
                    <a:pt x="262" y="221"/>
                    <a:pt x="273" y="198"/>
                    <a:pt x="265" y="187"/>
                  </a:cubicBezTo>
                  <a:cubicBezTo>
                    <a:pt x="262" y="200"/>
                    <a:pt x="254" y="207"/>
                    <a:pt x="246" y="219"/>
                  </a:cubicBezTo>
                  <a:cubicBezTo>
                    <a:pt x="235" y="235"/>
                    <a:pt x="245" y="240"/>
                    <a:pt x="210" y="253"/>
                  </a:cubicBezTo>
                  <a:cubicBezTo>
                    <a:pt x="199" y="257"/>
                    <a:pt x="185" y="258"/>
                    <a:pt x="169" y="262"/>
                  </a:cubicBezTo>
                  <a:cubicBezTo>
                    <a:pt x="165" y="263"/>
                    <a:pt x="161" y="264"/>
                    <a:pt x="158" y="265"/>
                  </a:cubicBezTo>
                  <a:cubicBezTo>
                    <a:pt x="155" y="264"/>
                    <a:pt x="151" y="263"/>
                    <a:pt x="147" y="262"/>
                  </a:cubicBezTo>
                  <a:cubicBezTo>
                    <a:pt x="132" y="258"/>
                    <a:pt x="117" y="257"/>
                    <a:pt x="107" y="253"/>
                  </a:cubicBezTo>
                  <a:cubicBezTo>
                    <a:pt x="72" y="240"/>
                    <a:pt x="81" y="235"/>
                    <a:pt x="70" y="219"/>
                  </a:cubicBezTo>
                  <a:cubicBezTo>
                    <a:pt x="62" y="207"/>
                    <a:pt x="54" y="200"/>
                    <a:pt x="51" y="187"/>
                  </a:cubicBezTo>
                  <a:cubicBezTo>
                    <a:pt x="43" y="198"/>
                    <a:pt x="54" y="221"/>
                    <a:pt x="62" y="230"/>
                  </a:cubicBezTo>
                  <a:cubicBezTo>
                    <a:pt x="62" y="231"/>
                    <a:pt x="58" y="229"/>
                    <a:pt x="51" y="223"/>
                  </a:cubicBezTo>
                  <a:cubicBezTo>
                    <a:pt x="36" y="203"/>
                    <a:pt x="46" y="193"/>
                    <a:pt x="48" y="179"/>
                  </a:cubicBezTo>
                  <a:cubicBezTo>
                    <a:pt x="49" y="165"/>
                    <a:pt x="47" y="151"/>
                    <a:pt x="40" y="145"/>
                  </a:cubicBezTo>
                  <a:cubicBezTo>
                    <a:pt x="38" y="154"/>
                    <a:pt x="36" y="161"/>
                    <a:pt x="38" y="170"/>
                  </a:cubicBezTo>
                  <a:cubicBezTo>
                    <a:pt x="40" y="179"/>
                    <a:pt x="41" y="184"/>
                    <a:pt x="39" y="194"/>
                  </a:cubicBezTo>
                  <a:cubicBezTo>
                    <a:pt x="28" y="183"/>
                    <a:pt x="29" y="168"/>
                    <a:pt x="30" y="156"/>
                  </a:cubicBezTo>
                  <a:cubicBezTo>
                    <a:pt x="33" y="136"/>
                    <a:pt x="41" y="136"/>
                    <a:pt x="45" y="116"/>
                  </a:cubicBezTo>
                  <a:cubicBezTo>
                    <a:pt x="47" y="106"/>
                    <a:pt x="44" y="98"/>
                    <a:pt x="41" y="93"/>
                  </a:cubicBezTo>
                  <a:cubicBezTo>
                    <a:pt x="37" y="108"/>
                    <a:pt x="33" y="110"/>
                    <a:pt x="28" y="124"/>
                  </a:cubicBezTo>
                  <a:cubicBezTo>
                    <a:pt x="25" y="105"/>
                    <a:pt x="32" y="96"/>
                    <a:pt x="38" y="88"/>
                  </a:cubicBezTo>
                  <a:cubicBezTo>
                    <a:pt x="47" y="77"/>
                    <a:pt x="49" y="82"/>
                    <a:pt x="60" y="71"/>
                  </a:cubicBezTo>
                  <a:cubicBezTo>
                    <a:pt x="73" y="60"/>
                    <a:pt x="77" y="50"/>
                    <a:pt x="75" y="45"/>
                  </a:cubicBezTo>
                  <a:cubicBezTo>
                    <a:pt x="65" y="49"/>
                    <a:pt x="60" y="54"/>
                    <a:pt x="53" y="62"/>
                  </a:cubicBezTo>
                  <a:cubicBezTo>
                    <a:pt x="57" y="46"/>
                    <a:pt x="66" y="45"/>
                    <a:pt x="84" y="33"/>
                  </a:cubicBezTo>
                  <a:cubicBezTo>
                    <a:pt x="102" y="18"/>
                    <a:pt x="98" y="16"/>
                    <a:pt x="121" y="7"/>
                  </a:cubicBezTo>
                  <a:cubicBezTo>
                    <a:pt x="113" y="0"/>
                    <a:pt x="100" y="0"/>
                    <a:pt x="83" y="15"/>
                  </a:cubicBezTo>
                  <a:cubicBezTo>
                    <a:pt x="72" y="26"/>
                    <a:pt x="66" y="40"/>
                    <a:pt x="59" y="44"/>
                  </a:cubicBezTo>
                  <a:cubicBezTo>
                    <a:pt x="62" y="33"/>
                    <a:pt x="61" y="29"/>
                    <a:pt x="68" y="17"/>
                  </a:cubicBezTo>
                  <a:cubicBezTo>
                    <a:pt x="61" y="18"/>
                    <a:pt x="45" y="29"/>
                    <a:pt x="42" y="52"/>
                  </a:cubicBezTo>
                  <a:cubicBezTo>
                    <a:pt x="39" y="75"/>
                    <a:pt x="31" y="84"/>
                    <a:pt x="31" y="84"/>
                  </a:cubicBezTo>
                  <a:cubicBezTo>
                    <a:pt x="31" y="84"/>
                    <a:pt x="29" y="72"/>
                    <a:pt x="32" y="58"/>
                  </a:cubicBezTo>
                  <a:cubicBezTo>
                    <a:pt x="25" y="61"/>
                    <a:pt x="19" y="66"/>
                    <a:pt x="17" y="78"/>
                  </a:cubicBezTo>
                  <a:cubicBezTo>
                    <a:pt x="14" y="95"/>
                    <a:pt x="18" y="117"/>
                    <a:pt x="21" y="126"/>
                  </a:cubicBezTo>
                  <a:cubicBezTo>
                    <a:pt x="25" y="137"/>
                    <a:pt x="24" y="147"/>
                    <a:pt x="23" y="163"/>
                  </a:cubicBezTo>
                  <a:cubicBezTo>
                    <a:pt x="20" y="143"/>
                    <a:pt x="12" y="138"/>
                    <a:pt x="11" y="115"/>
                  </a:cubicBezTo>
                  <a:cubicBezTo>
                    <a:pt x="0" y="126"/>
                    <a:pt x="6" y="157"/>
                    <a:pt x="16" y="173"/>
                  </a:cubicBezTo>
                  <a:cubicBezTo>
                    <a:pt x="27" y="190"/>
                    <a:pt x="34" y="191"/>
                    <a:pt x="41" y="216"/>
                  </a:cubicBezTo>
                  <a:cubicBezTo>
                    <a:pt x="30" y="201"/>
                    <a:pt x="22" y="199"/>
                    <a:pt x="14" y="182"/>
                  </a:cubicBezTo>
                  <a:cubicBezTo>
                    <a:pt x="8" y="190"/>
                    <a:pt x="13" y="206"/>
                    <a:pt x="30" y="219"/>
                  </a:cubicBezTo>
                  <a:cubicBezTo>
                    <a:pt x="44" y="233"/>
                    <a:pt x="67" y="232"/>
                    <a:pt x="93" y="253"/>
                  </a:cubicBezTo>
                  <a:cubicBezTo>
                    <a:pt x="72" y="241"/>
                    <a:pt x="50" y="241"/>
                    <a:pt x="38" y="234"/>
                  </a:cubicBezTo>
                  <a:cubicBezTo>
                    <a:pt x="36" y="243"/>
                    <a:pt x="50" y="252"/>
                    <a:pt x="72" y="258"/>
                  </a:cubicBezTo>
                  <a:cubicBezTo>
                    <a:pt x="81" y="260"/>
                    <a:pt x="95" y="260"/>
                    <a:pt x="103" y="260"/>
                  </a:cubicBezTo>
                  <a:cubicBezTo>
                    <a:pt x="117" y="261"/>
                    <a:pt x="125" y="264"/>
                    <a:pt x="134" y="265"/>
                  </a:cubicBezTo>
                  <a:cubicBezTo>
                    <a:pt x="138" y="266"/>
                    <a:pt x="142" y="267"/>
                    <a:pt x="147" y="268"/>
                  </a:cubicBezTo>
                  <a:cubicBezTo>
                    <a:pt x="143" y="270"/>
                    <a:pt x="140" y="271"/>
                    <a:pt x="138" y="272"/>
                  </a:cubicBezTo>
                  <a:cubicBezTo>
                    <a:pt x="132" y="276"/>
                    <a:pt x="132" y="276"/>
                    <a:pt x="119" y="285"/>
                  </a:cubicBezTo>
                  <a:cubicBezTo>
                    <a:pt x="131" y="290"/>
                    <a:pt x="131" y="290"/>
                    <a:pt x="131" y="290"/>
                  </a:cubicBezTo>
                  <a:cubicBezTo>
                    <a:pt x="131" y="290"/>
                    <a:pt x="137" y="282"/>
                    <a:pt x="150" y="276"/>
                  </a:cubicBezTo>
                  <a:cubicBezTo>
                    <a:pt x="152" y="275"/>
                    <a:pt x="155" y="273"/>
                    <a:pt x="158" y="272"/>
                  </a:cubicBezTo>
                  <a:cubicBezTo>
                    <a:pt x="161" y="273"/>
                    <a:pt x="164" y="275"/>
                    <a:pt x="167" y="276"/>
                  </a:cubicBezTo>
                  <a:cubicBezTo>
                    <a:pt x="179" y="282"/>
                    <a:pt x="186" y="290"/>
                    <a:pt x="186" y="290"/>
                  </a:cubicBezTo>
                  <a:cubicBezTo>
                    <a:pt x="198" y="285"/>
                    <a:pt x="198" y="285"/>
                    <a:pt x="198" y="285"/>
                  </a:cubicBezTo>
                  <a:cubicBezTo>
                    <a:pt x="184" y="276"/>
                    <a:pt x="185" y="276"/>
                    <a:pt x="178" y="272"/>
                  </a:cubicBezTo>
                  <a:cubicBezTo>
                    <a:pt x="176" y="271"/>
                    <a:pt x="173" y="270"/>
                    <a:pt x="169" y="268"/>
                  </a:cubicBezTo>
                  <a:cubicBezTo>
                    <a:pt x="174" y="267"/>
                    <a:pt x="178" y="266"/>
                    <a:pt x="182" y="265"/>
                  </a:cubicBezTo>
                  <a:cubicBezTo>
                    <a:pt x="192" y="264"/>
                    <a:pt x="199" y="261"/>
                    <a:pt x="214" y="260"/>
                  </a:cubicBezTo>
                  <a:cubicBezTo>
                    <a:pt x="221" y="260"/>
                    <a:pt x="235" y="260"/>
                    <a:pt x="244" y="258"/>
                  </a:cubicBezTo>
                  <a:cubicBezTo>
                    <a:pt x="267" y="252"/>
                    <a:pt x="280" y="243"/>
                    <a:pt x="278" y="234"/>
                  </a:cubicBezTo>
                  <a:cubicBezTo>
                    <a:pt x="266" y="241"/>
                    <a:pt x="244" y="241"/>
                    <a:pt x="223" y="253"/>
                  </a:cubicBezTo>
                  <a:cubicBezTo>
                    <a:pt x="249" y="232"/>
                    <a:pt x="272" y="233"/>
                    <a:pt x="286" y="219"/>
                  </a:cubicBezTo>
                  <a:cubicBezTo>
                    <a:pt x="303" y="206"/>
                    <a:pt x="309" y="190"/>
                    <a:pt x="302" y="182"/>
                  </a:cubicBezTo>
                  <a:cubicBezTo>
                    <a:pt x="294" y="199"/>
                    <a:pt x="286" y="201"/>
                    <a:pt x="276" y="2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" name="íšlîde">
              <a:extLst>
                <a:ext uri="{FF2B5EF4-FFF2-40B4-BE49-F238E27FC236}">
                  <a16:creationId xmlns:a16="http://schemas.microsoft.com/office/drawing/2014/main" id="{F86CB2C8-4A5E-4335-8F23-920FECFA35A3}"/>
                </a:ext>
              </a:extLst>
            </p:cNvPr>
            <p:cNvSpPr/>
            <p:nvPr/>
          </p:nvSpPr>
          <p:spPr bwMode="auto">
            <a:xfrm>
              <a:off x="2162175" y="3240088"/>
              <a:ext cx="104775" cy="80963"/>
            </a:xfrm>
            <a:custGeom>
              <a:avLst/>
              <a:gdLst>
                <a:gd name="T0" fmla="*/ 9 w 66"/>
                <a:gd name="T1" fmla="*/ 0 h 51"/>
                <a:gd name="T2" fmla="*/ 66 w 66"/>
                <a:gd name="T3" fmla="*/ 12 h 51"/>
                <a:gd name="T4" fmla="*/ 63 w 66"/>
                <a:gd name="T5" fmla="*/ 21 h 51"/>
                <a:gd name="T6" fmla="*/ 20 w 66"/>
                <a:gd name="T7" fmla="*/ 35 h 51"/>
                <a:gd name="T8" fmla="*/ 59 w 66"/>
                <a:gd name="T9" fmla="*/ 41 h 51"/>
                <a:gd name="T10" fmla="*/ 57 w 66"/>
                <a:gd name="T11" fmla="*/ 51 h 51"/>
                <a:gd name="T12" fmla="*/ 0 w 66"/>
                <a:gd name="T13" fmla="*/ 39 h 51"/>
                <a:gd name="T14" fmla="*/ 2 w 66"/>
                <a:gd name="T15" fmla="*/ 30 h 51"/>
                <a:gd name="T16" fmla="*/ 43 w 66"/>
                <a:gd name="T17" fmla="*/ 16 h 51"/>
                <a:gd name="T18" fmla="*/ 7 w 66"/>
                <a:gd name="T19" fmla="*/ 9 h 51"/>
                <a:gd name="T20" fmla="*/ 9 w 66"/>
                <a:gd name="T2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1">
                  <a:moveTo>
                    <a:pt x="9" y="0"/>
                  </a:moveTo>
                  <a:lnTo>
                    <a:pt x="66" y="12"/>
                  </a:lnTo>
                  <a:lnTo>
                    <a:pt x="63" y="21"/>
                  </a:lnTo>
                  <a:lnTo>
                    <a:pt x="20" y="35"/>
                  </a:lnTo>
                  <a:lnTo>
                    <a:pt x="59" y="41"/>
                  </a:lnTo>
                  <a:lnTo>
                    <a:pt x="57" y="51"/>
                  </a:lnTo>
                  <a:lnTo>
                    <a:pt x="0" y="39"/>
                  </a:lnTo>
                  <a:lnTo>
                    <a:pt x="2" y="30"/>
                  </a:lnTo>
                  <a:lnTo>
                    <a:pt x="43" y="16"/>
                  </a:lnTo>
                  <a:lnTo>
                    <a:pt x="7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" name="îṡḷíḋé">
              <a:extLst>
                <a:ext uri="{FF2B5EF4-FFF2-40B4-BE49-F238E27FC236}">
                  <a16:creationId xmlns:a16="http://schemas.microsoft.com/office/drawing/2014/main" id="{3B3DDF79-0981-40C2-8430-556067EB1B2B}"/>
                </a:ext>
              </a:extLst>
            </p:cNvPr>
            <p:cNvSpPr/>
            <p:nvPr/>
          </p:nvSpPr>
          <p:spPr bwMode="auto">
            <a:xfrm>
              <a:off x="2154238" y="3316288"/>
              <a:ext cx="93663" cy="79375"/>
            </a:xfrm>
            <a:custGeom>
              <a:avLst/>
              <a:gdLst>
                <a:gd name="T0" fmla="*/ 0 w 59"/>
                <a:gd name="T1" fmla="*/ 50 h 50"/>
                <a:gd name="T2" fmla="*/ 0 w 59"/>
                <a:gd name="T3" fmla="*/ 39 h 50"/>
                <a:gd name="T4" fmla="*/ 14 w 59"/>
                <a:gd name="T5" fmla="*/ 34 h 50"/>
                <a:gd name="T6" fmla="*/ 16 w 59"/>
                <a:gd name="T7" fmla="*/ 16 h 50"/>
                <a:gd name="T8" fmla="*/ 2 w 59"/>
                <a:gd name="T9" fmla="*/ 12 h 50"/>
                <a:gd name="T10" fmla="*/ 5 w 59"/>
                <a:gd name="T11" fmla="*/ 0 h 50"/>
                <a:gd name="T12" fmla="*/ 59 w 59"/>
                <a:gd name="T13" fmla="*/ 25 h 50"/>
                <a:gd name="T14" fmla="*/ 59 w 59"/>
                <a:gd name="T15" fmla="*/ 34 h 50"/>
                <a:gd name="T16" fmla="*/ 0 w 59"/>
                <a:gd name="T17" fmla="*/ 50 h 50"/>
                <a:gd name="T18" fmla="*/ 23 w 59"/>
                <a:gd name="T19" fmla="*/ 32 h 50"/>
                <a:gd name="T20" fmla="*/ 46 w 59"/>
                <a:gd name="T21" fmla="*/ 28 h 50"/>
                <a:gd name="T22" fmla="*/ 25 w 59"/>
                <a:gd name="T23" fmla="*/ 21 h 50"/>
                <a:gd name="T24" fmla="*/ 23 w 59"/>
                <a:gd name="T25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50">
                  <a:moveTo>
                    <a:pt x="0" y="50"/>
                  </a:moveTo>
                  <a:lnTo>
                    <a:pt x="0" y="39"/>
                  </a:lnTo>
                  <a:lnTo>
                    <a:pt x="14" y="34"/>
                  </a:lnTo>
                  <a:lnTo>
                    <a:pt x="16" y="16"/>
                  </a:lnTo>
                  <a:lnTo>
                    <a:pt x="2" y="12"/>
                  </a:lnTo>
                  <a:lnTo>
                    <a:pt x="5" y="0"/>
                  </a:lnTo>
                  <a:lnTo>
                    <a:pt x="59" y="25"/>
                  </a:lnTo>
                  <a:lnTo>
                    <a:pt x="59" y="34"/>
                  </a:lnTo>
                  <a:lnTo>
                    <a:pt x="0" y="50"/>
                  </a:lnTo>
                  <a:close/>
                  <a:moveTo>
                    <a:pt x="23" y="32"/>
                  </a:moveTo>
                  <a:lnTo>
                    <a:pt x="46" y="28"/>
                  </a:lnTo>
                  <a:lnTo>
                    <a:pt x="25" y="21"/>
                  </a:lnTo>
                  <a:lnTo>
                    <a:pt x="23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" name="îsḻiḓe">
              <a:extLst>
                <a:ext uri="{FF2B5EF4-FFF2-40B4-BE49-F238E27FC236}">
                  <a16:creationId xmlns:a16="http://schemas.microsoft.com/office/drawing/2014/main" id="{15EC583D-F454-48BD-ACC1-7AD76D7542C9}"/>
                </a:ext>
              </a:extLst>
            </p:cNvPr>
            <p:cNvSpPr/>
            <p:nvPr/>
          </p:nvSpPr>
          <p:spPr bwMode="auto">
            <a:xfrm>
              <a:off x="2154238" y="3406776"/>
              <a:ext cx="90488" cy="65088"/>
            </a:xfrm>
            <a:custGeom>
              <a:avLst/>
              <a:gdLst>
                <a:gd name="T0" fmla="*/ 0 w 57"/>
                <a:gd name="T1" fmla="*/ 3 h 41"/>
                <a:gd name="T2" fmla="*/ 57 w 57"/>
                <a:gd name="T3" fmla="*/ 0 h 41"/>
                <a:gd name="T4" fmla="*/ 57 w 57"/>
                <a:gd name="T5" fmla="*/ 12 h 41"/>
                <a:gd name="T6" fmla="*/ 18 w 57"/>
                <a:gd name="T7" fmla="*/ 32 h 41"/>
                <a:gd name="T8" fmla="*/ 57 w 57"/>
                <a:gd name="T9" fmla="*/ 30 h 41"/>
                <a:gd name="T10" fmla="*/ 57 w 57"/>
                <a:gd name="T11" fmla="*/ 39 h 41"/>
                <a:gd name="T12" fmla="*/ 0 w 57"/>
                <a:gd name="T13" fmla="*/ 41 h 41"/>
                <a:gd name="T14" fmla="*/ 0 w 57"/>
                <a:gd name="T15" fmla="*/ 30 h 41"/>
                <a:gd name="T16" fmla="*/ 37 w 57"/>
                <a:gd name="T17" fmla="*/ 9 h 41"/>
                <a:gd name="T18" fmla="*/ 0 w 57"/>
                <a:gd name="T19" fmla="*/ 12 h 41"/>
                <a:gd name="T20" fmla="*/ 0 w 57"/>
                <a:gd name="T21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41">
                  <a:moveTo>
                    <a:pt x="0" y="3"/>
                  </a:moveTo>
                  <a:lnTo>
                    <a:pt x="57" y="0"/>
                  </a:lnTo>
                  <a:lnTo>
                    <a:pt x="57" y="12"/>
                  </a:lnTo>
                  <a:lnTo>
                    <a:pt x="18" y="32"/>
                  </a:lnTo>
                  <a:lnTo>
                    <a:pt x="57" y="30"/>
                  </a:lnTo>
                  <a:lnTo>
                    <a:pt x="57" y="39"/>
                  </a:lnTo>
                  <a:lnTo>
                    <a:pt x="0" y="41"/>
                  </a:lnTo>
                  <a:lnTo>
                    <a:pt x="0" y="30"/>
                  </a:lnTo>
                  <a:lnTo>
                    <a:pt x="37" y="9"/>
                  </a:lnTo>
                  <a:lnTo>
                    <a:pt x="0" y="1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î$ļïdè">
              <a:extLst>
                <a:ext uri="{FF2B5EF4-FFF2-40B4-BE49-F238E27FC236}">
                  <a16:creationId xmlns:a16="http://schemas.microsoft.com/office/drawing/2014/main" id="{C5F3B41E-58B0-4D77-9C1A-19EAEB79FC87}"/>
                </a:ext>
              </a:extLst>
            </p:cNvPr>
            <p:cNvSpPr/>
            <p:nvPr/>
          </p:nvSpPr>
          <p:spPr bwMode="auto">
            <a:xfrm>
              <a:off x="2154238" y="3482976"/>
              <a:ext cx="98425" cy="50800"/>
            </a:xfrm>
            <a:custGeom>
              <a:avLst/>
              <a:gdLst>
                <a:gd name="T0" fmla="*/ 26 w 27"/>
                <a:gd name="T1" fmla="*/ 8 h 14"/>
                <a:gd name="T2" fmla="*/ 27 w 27"/>
                <a:gd name="T3" fmla="*/ 12 h 14"/>
                <a:gd name="T4" fmla="*/ 11 w 27"/>
                <a:gd name="T5" fmla="*/ 14 h 14"/>
                <a:gd name="T6" fmla="*/ 6 w 27"/>
                <a:gd name="T7" fmla="*/ 14 h 14"/>
                <a:gd name="T8" fmla="*/ 2 w 27"/>
                <a:gd name="T9" fmla="*/ 12 h 14"/>
                <a:gd name="T10" fmla="*/ 0 w 27"/>
                <a:gd name="T11" fmla="*/ 8 h 14"/>
                <a:gd name="T12" fmla="*/ 2 w 27"/>
                <a:gd name="T13" fmla="*/ 3 h 14"/>
                <a:gd name="T14" fmla="*/ 8 w 27"/>
                <a:gd name="T15" fmla="*/ 0 h 14"/>
                <a:gd name="T16" fmla="*/ 9 w 27"/>
                <a:gd name="T17" fmla="*/ 4 h 14"/>
                <a:gd name="T18" fmla="*/ 6 w 27"/>
                <a:gd name="T19" fmla="*/ 5 h 14"/>
                <a:gd name="T20" fmla="*/ 5 w 27"/>
                <a:gd name="T21" fmla="*/ 8 h 14"/>
                <a:gd name="T22" fmla="*/ 6 w 27"/>
                <a:gd name="T23" fmla="*/ 9 h 14"/>
                <a:gd name="T24" fmla="*/ 10 w 27"/>
                <a:gd name="T25" fmla="*/ 10 h 14"/>
                <a:gd name="T26" fmla="*/ 26 w 27"/>
                <a:gd name="T27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14">
                  <a:moveTo>
                    <a:pt x="26" y="8"/>
                  </a:moveTo>
                  <a:cubicBezTo>
                    <a:pt x="27" y="12"/>
                    <a:pt x="27" y="12"/>
                    <a:pt x="27" y="12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4"/>
                    <a:pt x="7" y="14"/>
                    <a:pt x="6" y="14"/>
                  </a:cubicBezTo>
                  <a:cubicBezTo>
                    <a:pt x="4" y="14"/>
                    <a:pt x="3" y="13"/>
                    <a:pt x="2" y="12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3" y="1"/>
                    <a:pt x="5" y="1"/>
                    <a:pt x="8" y="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5"/>
                    <a:pt x="6" y="5"/>
                    <a:pt x="6" y="5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6" y="9"/>
                  </a:cubicBezTo>
                  <a:cubicBezTo>
                    <a:pt x="7" y="10"/>
                    <a:pt x="8" y="10"/>
                    <a:pt x="10" y="10"/>
                  </a:cubicBezTo>
                  <a:lnTo>
                    <a:pt x="26" y="8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îṧḷíḓê">
              <a:extLst>
                <a:ext uri="{FF2B5EF4-FFF2-40B4-BE49-F238E27FC236}">
                  <a16:creationId xmlns:a16="http://schemas.microsoft.com/office/drawing/2014/main" id="{8660D663-638B-4454-ADEC-E599B04271E0}"/>
                </a:ext>
              </a:extLst>
            </p:cNvPr>
            <p:cNvSpPr/>
            <p:nvPr/>
          </p:nvSpPr>
          <p:spPr bwMode="auto">
            <a:xfrm>
              <a:off x="2162175" y="3541713"/>
              <a:ext cx="93663" cy="31750"/>
            </a:xfrm>
            <a:custGeom>
              <a:avLst/>
              <a:gdLst>
                <a:gd name="T0" fmla="*/ 0 w 59"/>
                <a:gd name="T1" fmla="*/ 9 h 20"/>
                <a:gd name="T2" fmla="*/ 57 w 59"/>
                <a:gd name="T3" fmla="*/ 0 h 20"/>
                <a:gd name="T4" fmla="*/ 59 w 59"/>
                <a:gd name="T5" fmla="*/ 9 h 20"/>
                <a:gd name="T6" fmla="*/ 2 w 59"/>
                <a:gd name="T7" fmla="*/ 20 h 20"/>
                <a:gd name="T8" fmla="*/ 0 w 59"/>
                <a:gd name="T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0">
                  <a:moveTo>
                    <a:pt x="0" y="9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" y="2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1" name="íṩ1iḑê">
              <a:extLst>
                <a:ext uri="{FF2B5EF4-FFF2-40B4-BE49-F238E27FC236}">
                  <a16:creationId xmlns:a16="http://schemas.microsoft.com/office/drawing/2014/main" id="{C4F58A77-602E-42E6-B434-E28BA349C900}"/>
                </a:ext>
              </a:extLst>
            </p:cNvPr>
            <p:cNvSpPr/>
            <p:nvPr/>
          </p:nvSpPr>
          <p:spPr bwMode="auto">
            <a:xfrm>
              <a:off x="2168525" y="3570288"/>
              <a:ext cx="104775" cy="84138"/>
            </a:xfrm>
            <a:custGeom>
              <a:avLst/>
              <a:gdLst>
                <a:gd name="T0" fmla="*/ 0 w 66"/>
                <a:gd name="T1" fmla="*/ 14 h 53"/>
                <a:gd name="T2" fmla="*/ 57 w 66"/>
                <a:gd name="T3" fmla="*/ 0 h 53"/>
                <a:gd name="T4" fmla="*/ 59 w 66"/>
                <a:gd name="T5" fmla="*/ 9 h 53"/>
                <a:gd name="T6" fmla="*/ 25 w 66"/>
                <a:gd name="T7" fmla="*/ 39 h 53"/>
                <a:gd name="T8" fmla="*/ 64 w 66"/>
                <a:gd name="T9" fmla="*/ 30 h 53"/>
                <a:gd name="T10" fmla="*/ 66 w 66"/>
                <a:gd name="T11" fmla="*/ 39 h 53"/>
                <a:gd name="T12" fmla="*/ 9 w 66"/>
                <a:gd name="T13" fmla="*/ 53 h 53"/>
                <a:gd name="T14" fmla="*/ 7 w 66"/>
                <a:gd name="T15" fmla="*/ 41 h 53"/>
                <a:gd name="T16" fmla="*/ 39 w 66"/>
                <a:gd name="T17" fmla="*/ 14 h 53"/>
                <a:gd name="T18" fmla="*/ 3 w 66"/>
                <a:gd name="T19" fmla="*/ 23 h 53"/>
                <a:gd name="T20" fmla="*/ 0 w 66"/>
                <a:gd name="T21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3">
                  <a:moveTo>
                    <a:pt x="0" y="14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5" y="39"/>
                  </a:lnTo>
                  <a:lnTo>
                    <a:pt x="64" y="30"/>
                  </a:lnTo>
                  <a:lnTo>
                    <a:pt x="66" y="39"/>
                  </a:lnTo>
                  <a:lnTo>
                    <a:pt x="9" y="53"/>
                  </a:lnTo>
                  <a:lnTo>
                    <a:pt x="7" y="41"/>
                  </a:lnTo>
                  <a:lnTo>
                    <a:pt x="39" y="14"/>
                  </a:lnTo>
                  <a:lnTo>
                    <a:pt x="3" y="23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2" name="îṥlîdê">
              <a:extLst>
                <a:ext uri="{FF2B5EF4-FFF2-40B4-BE49-F238E27FC236}">
                  <a16:creationId xmlns:a16="http://schemas.microsoft.com/office/drawing/2014/main" id="{FD136A19-7EE5-4B90-924F-86F8D9CB6273}"/>
                </a:ext>
              </a:extLst>
            </p:cNvPr>
            <p:cNvSpPr/>
            <p:nvPr/>
          </p:nvSpPr>
          <p:spPr bwMode="auto">
            <a:xfrm>
              <a:off x="2197100" y="3649663"/>
              <a:ext cx="95250" cy="87313"/>
            </a:xfrm>
            <a:custGeom>
              <a:avLst/>
              <a:gdLst>
                <a:gd name="T0" fmla="*/ 10 w 26"/>
                <a:gd name="T1" fmla="*/ 13 h 24"/>
                <a:gd name="T2" fmla="*/ 14 w 26"/>
                <a:gd name="T3" fmla="*/ 12 h 24"/>
                <a:gd name="T4" fmla="*/ 17 w 26"/>
                <a:gd name="T5" fmla="*/ 20 h 24"/>
                <a:gd name="T6" fmla="*/ 8 w 26"/>
                <a:gd name="T7" fmla="*/ 24 h 24"/>
                <a:gd name="T8" fmla="*/ 4 w 26"/>
                <a:gd name="T9" fmla="*/ 21 h 24"/>
                <a:gd name="T10" fmla="*/ 1 w 26"/>
                <a:gd name="T11" fmla="*/ 17 h 24"/>
                <a:gd name="T12" fmla="*/ 0 w 26"/>
                <a:gd name="T13" fmla="*/ 10 h 24"/>
                <a:gd name="T14" fmla="*/ 3 w 26"/>
                <a:gd name="T15" fmla="*/ 5 h 24"/>
                <a:gd name="T16" fmla="*/ 9 w 26"/>
                <a:gd name="T17" fmla="*/ 2 h 24"/>
                <a:gd name="T18" fmla="*/ 17 w 26"/>
                <a:gd name="T19" fmla="*/ 1 h 24"/>
                <a:gd name="T20" fmla="*/ 22 w 26"/>
                <a:gd name="T21" fmla="*/ 3 h 24"/>
                <a:gd name="T22" fmla="*/ 25 w 26"/>
                <a:gd name="T23" fmla="*/ 7 h 24"/>
                <a:gd name="T24" fmla="*/ 26 w 26"/>
                <a:gd name="T25" fmla="*/ 14 h 24"/>
                <a:gd name="T26" fmla="*/ 22 w 26"/>
                <a:gd name="T27" fmla="*/ 19 h 24"/>
                <a:gd name="T28" fmla="*/ 19 w 26"/>
                <a:gd name="T29" fmla="*/ 15 h 24"/>
                <a:gd name="T30" fmla="*/ 21 w 26"/>
                <a:gd name="T31" fmla="*/ 12 h 24"/>
                <a:gd name="T32" fmla="*/ 21 w 26"/>
                <a:gd name="T33" fmla="*/ 9 h 24"/>
                <a:gd name="T34" fmla="*/ 18 w 26"/>
                <a:gd name="T35" fmla="*/ 5 h 24"/>
                <a:gd name="T36" fmla="*/ 11 w 26"/>
                <a:gd name="T37" fmla="*/ 6 h 24"/>
                <a:gd name="T38" fmla="*/ 5 w 26"/>
                <a:gd name="T39" fmla="*/ 10 h 24"/>
                <a:gd name="T40" fmla="*/ 5 w 26"/>
                <a:gd name="T41" fmla="*/ 15 h 24"/>
                <a:gd name="T42" fmla="*/ 6 w 26"/>
                <a:gd name="T43" fmla="*/ 17 h 24"/>
                <a:gd name="T44" fmla="*/ 9 w 26"/>
                <a:gd name="T45" fmla="*/ 19 h 24"/>
                <a:gd name="T46" fmla="*/ 12 w 26"/>
                <a:gd name="T47" fmla="*/ 18 h 24"/>
                <a:gd name="T48" fmla="*/ 10 w 26"/>
                <a:gd name="T49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" h="24">
                  <a:moveTo>
                    <a:pt x="10" y="13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3"/>
                    <a:pt x="5" y="22"/>
                    <a:pt x="4" y="21"/>
                  </a:cubicBezTo>
                  <a:cubicBezTo>
                    <a:pt x="2" y="20"/>
                    <a:pt x="1" y="18"/>
                    <a:pt x="1" y="17"/>
                  </a:cubicBezTo>
                  <a:cubicBezTo>
                    <a:pt x="0" y="14"/>
                    <a:pt x="0" y="12"/>
                    <a:pt x="0" y="10"/>
                  </a:cubicBezTo>
                  <a:cubicBezTo>
                    <a:pt x="1" y="8"/>
                    <a:pt x="2" y="7"/>
                    <a:pt x="3" y="5"/>
                  </a:cubicBezTo>
                  <a:cubicBezTo>
                    <a:pt x="5" y="4"/>
                    <a:pt x="7" y="3"/>
                    <a:pt x="9" y="2"/>
                  </a:cubicBezTo>
                  <a:cubicBezTo>
                    <a:pt x="12" y="1"/>
                    <a:pt x="14" y="0"/>
                    <a:pt x="17" y="1"/>
                  </a:cubicBezTo>
                  <a:cubicBezTo>
                    <a:pt x="19" y="1"/>
                    <a:pt x="21" y="2"/>
                    <a:pt x="22" y="3"/>
                  </a:cubicBezTo>
                  <a:cubicBezTo>
                    <a:pt x="24" y="4"/>
                    <a:pt x="25" y="5"/>
                    <a:pt x="25" y="7"/>
                  </a:cubicBezTo>
                  <a:cubicBezTo>
                    <a:pt x="26" y="10"/>
                    <a:pt x="26" y="12"/>
                    <a:pt x="26" y="14"/>
                  </a:cubicBezTo>
                  <a:cubicBezTo>
                    <a:pt x="25" y="16"/>
                    <a:pt x="24" y="17"/>
                    <a:pt x="22" y="19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20" y="14"/>
                    <a:pt x="21" y="13"/>
                    <a:pt x="21" y="12"/>
                  </a:cubicBezTo>
                  <a:cubicBezTo>
                    <a:pt x="22" y="11"/>
                    <a:pt x="22" y="10"/>
                    <a:pt x="21" y="9"/>
                  </a:cubicBezTo>
                  <a:cubicBezTo>
                    <a:pt x="21" y="7"/>
                    <a:pt x="19" y="6"/>
                    <a:pt x="18" y="5"/>
                  </a:cubicBezTo>
                  <a:cubicBezTo>
                    <a:pt x="16" y="5"/>
                    <a:pt x="14" y="5"/>
                    <a:pt x="11" y="6"/>
                  </a:cubicBezTo>
                  <a:cubicBezTo>
                    <a:pt x="8" y="7"/>
                    <a:pt x="6" y="8"/>
                    <a:pt x="5" y="10"/>
                  </a:cubicBezTo>
                  <a:cubicBezTo>
                    <a:pt x="4" y="11"/>
                    <a:pt x="4" y="13"/>
                    <a:pt x="5" y="15"/>
                  </a:cubicBezTo>
                  <a:cubicBezTo>
                    <a:pt x="5" y="16"/>
                    <a:pt x="6" y="16"/>
                    <a:pt x="6" y="17"/>
                  </a:cubicBezTo>
                  <a:cubicBezTo>
                    <a:pt x="7" y="18"/>
                    <a:pt x="8" y="18"/>
                    <a:pt x="9" y="19"/>
                  </a:cubicBezTo>
                  <a:cubicBezTo>
                    <a:pt x="12" y="18"/>
                    <a:pt x="12" y="18"/>
                    <a:pt x="12" y="18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3" name="îṧľîḑé">
              <a:extLst>
                <a:ext uri="{FF2B5EF4-FFF2-40B4-BE49-F238E27FC236}">
                  <a16:creationId xmlns:a16="http://schemas.microsoft.com/office/drawing/2014/main" id="{A30F0F74-58BE-4D89-9B58-BD559FD9308D}"/>
                </a:ext>
              </a:extLst>
            </p:cNvPr>
            <p:cNvSpPr/>
            <p:nvPr/>
          </p:nvSpPr>
          <p:spPr bwMode="auto">
            <a:xfrm>
              <a:off x="2244725" y="3744913"/>
              <a:ext cx="101600" cy="90488"/>
            </a:xfrm>
            <a:custGeom>
              <a:avLst/>
              <a:gdLst>
                <a:gd name="T0" fmla="*/ 20 w 28"/>
                <a:gd name="T1" fmla="*/ 0 h 25"/>
                <a:gd name="T2" fmla="*/ 22 w 28"/>
                <a:gd name="T3" fmla="*/ 4 h 25"/>
                <a:gd name="T4" fmla="*/ 10 w 28"/>
                <a:gd name="T5" fmla="*/ 11 h 25"/>
                <a:gd name="T6" fmla="*/ 6 w 28"/>
                <a:gd name="T7" fmla="*/ 13 h 25"/>
                <a:gd name="T8" fmla="*/ 4 w 28"/>
                <a:gd name="T9" fmla="*/ 15 h 25"/>
                <a:gd name="T10" fmla="*/ 5 w 28"/>
                <a:gd name="T11" fmla="*/ 18 h 25"/>
                <a:gd name="T12" fmla="*/ 7 w 28"/>
                <a:gd name="T13" fmla="*/ 20 h 25"/>
                <a:gd name="T14" fmla="*/ 10 w 28"/>
                <a:gd name="T15" fmla="*/ 20 h 25"/>
                <a:gd name="T16" fmla="*/ 13 w 28"/>
                <a:gd name="T17" fmla="*/ 19 h 25"/>
                <a:gd name="T18" fmla="*/ 26 w 28"/>
                <a:gd name="T19" fmla="*/ 12 h 25"/>
                <a:gd name="T20" fmla="*/ 28 w 28"/>
                <a:gd name="T21" fmla="*/ 16 h 25"/>
                <a:gd name="T22" fmla="*/ 16 w 28"/>
                <a:gd name="T23" fmla="*/ 22 h 25"/>
                <a:gd name="T24" fmla="*/ 10 w 28"/>
                <a:gd name="T25" fmla="*/ 25 h 25"/>
                <a:gd name="T26" fmla="*/ 7 w 28"/>
                <a:gd name="T27" fmla="*/ 25 h 25"/>
                <a:gd name="T28" fmla="*/ 4 w 28"/>
                <a:gd name="T29" fmla="*/ 24 h 25"/>
                <a:gd name="T30" fmla="*/ 1 w 28"/>
                <a:gd name="T31" fmla="*/ 21 h 25"/>
                <a:gd name="T32" fmla="*/ 0 w 28"/>
                <a:gd name="T33" fmla="*/ 16 h 25"/>
                <a:gd name="T34" fmla="*/ 0 w 28"/>
                <a:gd name="T35" fmla="*/ 13 h 25"/>
                <a:gd name="T36" fmla="*/ 2 w 28"/>
                <a:gd name="T37" fmla="*/ 10 h 25"/>
                <a:gd name="T38" fmla="*/ 8 w 28"/>
                <a:gd name="T39" fmla="*/ 7 h 25"/>
                <a:gd name="T40" fmla="*/ 20 w 28"/>
                <a:gd name="T4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5">
                  <a:moveTo>
                    <a:pt x="20" y="0"/>
                  </a:moveTo>
                  <a:cubicBezTo>
                    <a:pt x="22" y="4"/>
                    <a:pt x="22" y="4"/>
                    <a:pt x="22" y="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8" y="12"/>
                    <a:pt x="7" y="13"/>
                    <a:pt x="6" y="13"/>
                  </a:cubicBezTo>
                  <a:cubicBezTo>
                    <a:pt x="5" y="14"/>
                    <a:pt x="5" y="14"/>
                    <a:pt x="4" y="15"/>
                  </a:cubicBezTo>
                  <a:cubicBezTo>
                    <a:pt x="4" y="16"/>
                    <a:pt x="4" y="17"/>
                    <a:pt x="5" y="18"/>
                  </a:cubicBezTo>
                  <a:cubicBezTo>
                    <a:pt x="6" y="19"/>
                    <a:pt x="6" y="20"/>
                    <a:pt x="7" y="20"/>
                  </a:cubicBezTo>
                  <a:cubicBezTo>
                    <a:pt x="8" y="21"/>
                    <a:pt x="9" y="21"/>
                    <a:pt x="10" y="20"/>
                  </a:cubicBezTo>
                  <a:cubicBezTo>
                    <a:pt x="10" y="20"/>
                    <a:pt x="12" y="19"/>
                    <a:pt x="13" y="19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23"/>
                    <a:pt x="12" y="24"/>
                    <a:pt x="10" y="25"/>
                  </a:cubicBezTo>
                  <a:cubicBezTo>
                    <a:pt x="9" y="25"/>
                    <a:pt x="8" y="25"/>
                    <a:pt x="7" y="25"/>
                  </a:cubicBezTo>
                  <a:cubicBezTo>
                    <a:pt x="6" y="25"/>
                    <a:pt x="5" y="25"/>
                    <a:pt x="4" y="24"/>
                  </a:cubicBezTo>
                  <a:cubicBezTo>
                    <a:pt x="3" y="23"/>
                    <a:pt x="2" y="22"/>
                    <a:pt x="1" y="21"/>
                  </a:cubicBezTo>
                  <a:cubicBezTo>
                    <a:pt x="0" y="19"/>
                    <a:pt x="0" y="17"/>
                    <a:pt x="0" y="16"/>
                  </a:cubicBezTo>
                  <a:cubicBezTo>
                    <a:pt x="0" y="15"/>
                    <a:pt x="0" y="14"/>
                    <a:pt x="0" y="13"/>
                  </a:cubicBezTo>
                  <a:cubicBezTo>
                    <a:pt x="1" y="12"/>
                    <a:pt x="2" y="11"/>
                    <a:pt x="2" y="10"/>
                  </a:cubicBezTo>
                  <a:cubicBezTo>
                    <a:pt x="3" y="9"/>
                    <a:pt x="5" y="8"/>
                    <a:pt x="8" y="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4" name="ï$ļíḑe">
              <a:extLst>
                <a:ext uri="{FF2B5EF4-FFF2-40B4-BE49-F238E27FC236}">
                  <a16:creationId xmlns:a16="http://schemas.microsoft.com/office/drawing/2014/main" id="{6935024F-262A-4687-B02D-6D00B549D838}"/>
                </a:ext>
              </a:extLst>
            </p:cNvPr>
            <p:cNvSpPr/>
            <p:nvPr/>
          </p:nvSpPr>
          <p:spPr bwMode="auto">
            <a:xfrm>
              <a:off x="2276475" y="3813176"/>
              <a:ext cx="112713" cy="101600"/>
            </a:xfrm>
            <a:custGeom>
              <a:avLst/>
              <a:gdLst>
                <a:gd name="T0" fmla="*/ 0 w 71"/>
                <a:gd name="T1" fmla="*/ 32 h 64"/>
                <a:gd name="T2" fmla="*/ 48 w 71"/>
                <a:gd name="T3" fmla="*/ 0 h 64"/>
                <a:gd name="T4" fmla="*/ 53 w 71"/>
                <a:gd name="T5" fmla="*/ 7 h 64"/>
                <a:gd name="T6" fmla="*/ 32 w 71"/>
                <a:gd name="T7" fmla="*/ 46 h 64"/>
                <a:gd name="T8" fmla="*/ 64 w 71"/>
                <a:gd name="T9" fmla="*/ 25 h 64"/>
                <a:gd name="T10" fmla="*/ 71 w 71"/>
                <a:gd name="T11" fmla="*/ 32 h 64"/>
                <a:gd name="T12" fmla="*/ 21 w 71"/>
                <a:gd name="T13" fmla="*/ 64 h 64"/>
                <a:gd name="T14" fmla="*/ 16 w 71"/>
                <a:gd name="T15" fmla="*/ 57 h 64"/>
                <a:gd name="T16" fmla="*/ 37 w 71"/>
                <a:gd name="T17" fmla="*/ 18 h 64"/>
                <a:gd name="T18" fmla="*/ 5 w 71"/>
                <a:gd name="T19" fmla="*/ 39 h 64"/>
                <a:gd name="T20" fmla="*/ 0 w 71"/>
                <a:gd name="T21" fmla="*/ 3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1" h="64">
                  <a:moveTo>
                    <a:pt x="0" y="32"/>
                  </a:moveTo>
                  <a:lnTo>
                    <a:pt x="48" y="0"/>
                  </a:lnTo>
                  <a:lnTo>
                    <a:pt x="53" y="7"/>
                  </a:lnTo>
                  <a:lnTo>
                    <a:pt x="32" y="46"/>
                  </a:lnTo>
                  <a:lnTo>
                    <a:pt x="64" y="25"/>
                  </a:lnTo>
                  <a:lnTo>
                    <a:pt x="71" y="32"/>
                  </a:lnTo>
                  <a:lnTo>
                    <a:pt x="21" y="64"/>
                  </a:lnTo>
                  <a:lnTo>
                    <a:pt x="16" y="57"/>
                  </a:lnTo>
                  <a:lnTo>
                    <a:pt x="37" y="18"/>
                  </a:lnTo>
                  <a:lnTo>
                    <a:pt x="5" y="39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5" name="iṩḷïde">
              <a:extLst>
                <a:ext uri="{FF2B5EF4-FFF2-40B4-BE49-F238E27FC236}">
                  <a16:creationId xmlns:a16="http://schemas.microsoft.com/office/drawing/2014/main" id="{346C9603-64BA-4063-9B4B-223EF14DB1AC}"/>
                </a:ext>
              </a:extLst>
            </p:cNvPr>
            <p:cNvSpPr/>
            <p:nvPr/>
          </p:nvSpPr>
          <p:spPr bwMode="auto">
            <a:xfrm>
              <a:off x="2324100" y="3875088"/>
              <a:ext cx="82550" cy="68263"/>
            </a:xfrm>
            <a:custGeom>
              <a:avLst/>
              <a:gdLst>
                <a:gd name="T0" fmla="*/ 0 w 52"/>
                <a:gd name="T1" fmla="*/ 36 h 43"/>
                <a:gd name="T2" fmla="*/ 45 w 52"/>
                <a:gd name="T3" fmla="*/ 0 h 43"/>
                <a:gd name="T4" fmla="*/ 52 w 52"/>
                <a:gd name="T5" fmla="*/ 7 h 43"/>
                <a:gd name="T6" fmla="*/ 7 w 52"/>
                <a:gd name="T7" fmla="*/ 43 h 43"/>
                <a:gd name="T8" fmla="*/ 0 w 52"/>
                <a:gd name="T9" fmla="*/ 3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3">
                  <a:moveTo>
                    <a:pt x="0" y="36"/>
                  </a:moveTo>
                  <a:lnTo>
                    <a:pt x="45" y="0"/>
                  </a:lnTo>
                  <a:lnTo>
                    <a:pt x="52" y="7"/>
                  </a:lnTo>
                  <a:lnTo>
                    <a:pt x="7" y="43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6" name="í$ḷïďê">
              <a:extLst>
                <a:ext uri="{FF2B5EF4-FFF2-40B4-BE49-F238E27FC236}">
                  <a16:creationId xmlns:a16="http://schemas.microsoft.com/office/drawing/2014/main" id="{BD46C2D7-4619-4C8B-890B-3F1204738D68}"/>
                </a:ext>
              </a:extLst>
            </p:cNvPr>
            <p:cNvSpPr/>
            <p:nvPr/>
          </p:nvSpPr>
          <p:spPr bwMode="auto">
            <a:xfrm>
              <a:off x="2360613" y="3889376"/>
              <a:ext cx="96838" cy="98425"/>
            </a:xfrm>
            <a:custGeom>
              <a:avLst/>
              <a:gdLst>
                <a:gd name="T0" fmla="*/ 0 w 61"/>
                <a:gd name="T1" fmla="*/ 52 h 62"/>
                <a:gd name="T2" fmla="*/ 29 w 61"/>
                <a:gd name="T3" fmla="*/ 0 h 62"/>
                <a:gd name="T4" fmla="*/ 38 w 61"/>
                <a:gd name="T5" fmla="*/ 9 h 62"/>
                <a:gd name="T6" fmla="*/ 13 w 61"/>
                <a:gd name="T7" fmla="*/ 48 h 62"/>
                <a:gd name="T8" fmla="*/ 54 w 61"/>
                <a:gd name="T9" fmla="*/ 27 h 62"/>
                <a:gd name="T10" fmla="*/ 61 w 61"/>
                <a:gd name="T11" fmla="*/ 34 h 62"/>
                <a:gd name="T12" fmla="*/ 7 w 61"/>
                <a:gd name="T13" fmla="*/ 62 h 62"/>
                <a:gd name="T14" fmla="*/ 0 w 61"/>
                <a:gd name="T15" fmla="*/ 5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2">
                  <a:moveTo>
                    <a:pt x="0" y="52"/>
                  </a:moveTo>
                  <a:lnTo>
                    <a:pt x="29" y="0"/>
                  </a:lnTo>
                  <a:lnTo>
                    <a:pt x="38" y="9"/>
                  </a:lnTo>
                  <a:lnTo>
                    <a:pt x="13" y="48"/>
                  </a:lnTo>
                  <a:lnTo>
                    <a:pt x="54" y="27"/>
                  </a:lnTo>
                  <a:lnTo>
                    <a:pt x="61" y="34"/>
                  </a:lnTo>
                  <a:lnTo>
                    <a:pt x="7" y="6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îśľïḑe">
              <a:extLst>
                <a:ext uri="{FF2B5EF4-FFF2-40B4-BE49-F238E27FC236}">
                  <a16:creationId xmlns:a16="http://schemas.microsoft.com/office/drawing/2014/main" id="{10C2247F-0370-4422-95E6-1554E47E1CA5}"/>
                </a:ext>
              </a:extLst>
            </p:cNvPr>
            <p:cNvSpPr/>
            <p:nvPr/>
          </p:nvSpPr>
          <p:spPr bwMode="auto">
            <a:xfrm>
              <a:off x="2400300" y="3946526"/>
              <a:ext cx="104775" cy="109538"/>
            </a:xfrm>
            <a:custGeom>
              <a:avLst/>
              <a:gdLst>
                <a:gd name="T0" fmla="*/ 0 w 66"/>
                <a:gd name="T1" fmla="*/ 44 h 69"/>
                <a:gd name="T2" fmla="*/ 38 w 66"/>
                <a:gd name="T3" fmla="*/ 0 h 69"/>
                <a:gd name="T4" fmla="*/ 66 w 66"/>
                <a:gd name="T5" fmla="*/ 26 h 69"/>
                <a:gd name="T6" fmla="*/ 59 w 66"/>
                <a:gd name="T7" fmla="*/ 32 h 69"/>
                <a:gd name="T8" fmla="*/ 38 w 66"/>
                <a:gd name="T9" fmla="*/ 14 h 69"/>
                <a:gd name="T10" fmla="*/ 29 w 66"/>
                <a:gd name="T11" fmla="*/ 26 h 69"/>
                <a:gd name="T12" fmla="*/ 47 w 66"/>
                <a:gd name="T13" fmla="*/ 42 h 69"/>
                <a:gd name="T14" fmla="*/ 43 w 66"/>
                <a:gd name="T15" fmla="*/ 48 h 69"/>
                <a:gd name="T16" fmla="*/ 22 w 66"/>
                <a:gd name="T17" fmla="*/ 32 h 69"/>
                <a:gd name="T18" fmla="*/ 13 w 66"/>
                <a:gd name="T19" fmla="*/ 44 h 69"/>
                <a:gd name="T20" fmla="*/ 34 w 66"/>
                <a:gd name="T21" fmla="*/ 62 h 69"/>
                <a:gd name="T22" fmla="*/ 27 w 66"/>
                <a:gd name="T23" fmla="*/ 69 h 69"/>
                <a:gd name="T24" fmla="*/ 0 w 66"/>
                <a:gd name="T25" fmla="*/ 4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0" y="44"/>
                  </a:moveTo>
                  <a:lnTo>
                    <a:pt x="38" y="0"/>
                  </a:lnTo>
                  <a:lnTo>
                    <a:pt x="66" y="26"/>
                  </a:lnTo>
                  <a:lnTo>
                    <a:pt x="59" y="32"/>
                  </a:lnTo>
                  <a:lnTo>
                    <a:pt x="38" y="14"/>
                  </a:lnTo>
                  <a:lnTo>
                    <a:pt x="29" y="26"/>
                  </a:lnTo>
                  <a:lnTo>
                    <a:pt x="47" y="42"/>
                  </a:lnTo>
                  <a:lnTo>
                    <a:pt x="43" y="48"/>
                  </a:lnTo>
                  <a:lnTo>
                    <a:pt x="22" y="32"/>
                  </a:lnTo>
                  <a:lnTo>
                    <a:pt x="13" y="44"/>
                  </a:lnTo>
                  <a:lnTo>
                    <a:pt x="34" y="62"/>
                  </a:lnTo>
                  <a:lnTo>
                    <a:pt x="27" y="69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8" name="ïSlîḍè">
              <a:extLst>
                <a:ext uri="{FF2B5EF4-FFF2-40B4-BE49-F238E27FC236}">
                  <a16:creationId xmlns:a16="http://schemas.microsoft.com/office/drawing/2014/main" id="{D0B379BE-B15A-4713-B8D9-B3226AB3C063}"/>
                </a:ext>
              </a:extLst>
            </p:cNvPr>
            <p:cNvSpPr/>
            <p:nvPr/>
          </p:nvSpPr>
          <p:spPr bwMode="auto">
            <a:xfrm>
              <a:off x="2457450" y="3994151"/>
              <a:ext cx="96838" cy="115888"/>
            </a:xfrm>
            <a:custGeom>
              <a:avLst/>
              <a:gdLst>
                <a:gd name="T0" fmla="*/ 0 w 27"/>
                <a:gd name="T1" fmla="*/ 21 h 32"/>
                <a:gd name="T2" fmla="*/ 15 w 27"/>
                <a:gd name="T3" fmla="*/ 0 h 32"/>
                <a:gd name="T4" fmla="*/ 23 w 27"/>
                <a:gd name="T5" fmla="*/ 6 h 32"/>
                <a:gd name="T6" fmla="*/ 26 w 27"/>
                <a:gd name="T7" fmla="*/ 9 h 32"/>
                <a:gd name="T8" fmla="*/ 27 w 27"/>
                <a:gd name="T9" fmla="*/ 13 h 32"/>
                <a:gd name="T10" fmla="*/ 25 w 27"/>
                <a:gd name="T11" fmla="*/ 16 h 32"/>
                <a:gd name="T12" fmla="*/ 21 w 27"/>
                <a:gd name="T13" fmla="*/ 19 h 32"/>
                <a:gd name="T14" fmla="*/ 16 w 27"/>
                <a:gd name="T15" fmla="*/ 19 h 32"/>
                <a:gd name="T16" fmla="*/ 17 w 27"/>
                <a:gd name="T17" fmla="*/ 22 h 32"/>
                <a:gd name="T18" fmla="*/ 16 w 27"/>
                <a:gd name="T19" fmla="*/ 27 h 32"/>
                <a:gd name="T20" fmla="*/ 16 w 27"/>
                <a:gd name="T21" fmla="*/ 32 h 32"/>
                <a:gd name="T22" fmla="*/ 11 w 27"/>
                <a:gd name="T23" fmla="*/ 29 h 32"/>
                <a:gd name="T24" fmla="*/ 12 w 27"/>
                <a:gd name="T25" fmla="*/ 23 h 32"/>
                <a:gd name="T26" fmla="*/ 13 w 27"/>
                <a:gd name="T27" fmla="*/ 18 h 32"/>
                <a:gd name="T28" fmla="*/ 12 w 27"/>
                <a:gd name="T29" fmla="*/ 17 h 32"/>
                <a:gd name="T30" fmla="*/ 11 w 27"/>
                <a:gd name="T31" fmla="*/ 15 h 32"/>
                <a:gd name="T32" fmla="*/ 10 w 27"/>
                <a:gd name="T33" fmla="*/ 15 h 32"/>
                <a:gd name="T34" fmla="*/ 3 w 27"/>
                <a:gd name="T35" fmla="*/ 23 h 32"/>
                <a:gd name="T36" fmla="*/ 0 w 27"/>
                <a:gd name="T37" fmla="*/ 21 h 32"/>
                <a:gd name="T38" fmla="*/ 12 w 27"/>
                <a:gd name="T39" fmla="*/ 11 h 32"/>
                <a:gd name="T40" fmla="*/ 15 w 27"/>
                <a:gd name="T41" fmla="*/ 13 h 32"/>
                <a:gd name="T42" fmla="*/ 18 w 27"/>
                <a:gd name="T43" fmla="*/ 15 h 32"/>
                <a:gd name="T44" fmla="*/ 20 w 27"/>
                <a:gd name="T45" fmla="*/ 15 h 32"/>
                <a:gd name="T46" fmla="*/ 21 w 27"/>
                <a:gd name="T47" fmla="*/ 14 h 32"/>
                <a:gd name="T48" fmla="*/ 22 w 27"/>
                <a:gd name="T49" fmla="*/ 12 h 32"/>
                <a:gd name="T50" fmla="*/ 21 w 27"/>
                <a:gd name="T51" fmla="*/ 10 h 32"/>
                <a:gd name="T52" fmla="*/ 19 w 27"/>
                <a:gd name="T53" fmla="*/ 8 h 32"/>
                <a:gd name="T54" fmla="*/ 16 w 27"/>
                <a:gd name="T55" fmla="*/ 6 h 32"/>
                <a:gd name="T56" fmla="*/ 12 w 27"/>
                <a:gd name="T57" fmla="*/ 1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" h="32">
                  <a:moveTo>
                    <a:pt x="0" y="21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7"/>
                    <a:pt x="26" y="8"/>
                    <a:pt x="26" y="9"/>
                  </a:cubicBezTo>
                  <a:cubicBezTo>
                    <a:pt x="27" y="10"/>
                    <a:pt x="27" y="11"/>
                    <a:pt x="27" y="13"/>
                  </a:cubicBezTo>
                  <a:cubicBezTo>
                    <a:pt x="27" y="14"/>
                    <a:pt x="26" y="15"/>
                    <a:pt x="25" y="16"/>
                  </a:cubicBezTo>
                  <a:cubicBezTo>
                    <a:pt x="24" y="18"/>
                    <a:pt x="23" y="19"/>
                    <a:pt x="21" y="19"/>
                  </a:cubicBezTo>
                  <a:cubicBezTo>
                    <a:pt x="20" y="20"/>
                    <a:pt x="18" y="20"/>
                    <a:pt x="16" y="19"/>
                  </a:cubicBezTo>
                  <a:cubicBezTo>
                    <a:pt x="17" y="20"/>
                    <a:pt x="17" y="21"/>
                    <a:pt x="17" y="22"/>
                  </a:cubicBezTo>
                  <a:cubicBezTo>
                    <a:pt x="17" y="23"/>
                    <a:pt x="17" y="24"/>
                    <a:pt x="16" y="27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0"/>
                    <a:pt x="13" y="19"/>
                    <a:pt x="13" y="18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6"/>
                    <a:pt x="11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3" y="23"/>
                    <a:pt x="3" y="23"/>
                    <a:pt x="3" y="23"/>
                  </a:cubicBezTo>
                  <a:lnTo>
                    <a:pt x="0" y="21"/>
                  </a:lnTo>
                  <a:close/>
                  <a:moveTo>
                    <a:pt x="12" y="11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7" y="15"/>
                    <a:pt x="18" y="15"/>
                    <a:pt x="18" y="15"/>
                  </a:cubicBezTo>
                  <a:cubicBezTo>
                    <a:pt x="19" y="16"/>
                    <a:pt x="19" y="15"/>
                    <a:pt x="20" y="15"/>
                  </a:cubicBezTo>
                  <a:cubicBezTo>
                    <a:pt x="20" y="15"/>
                    <a:pt x="21" y="15"/>
                    <a:pt x="21" y="14"/>
                  </a:cubicBezTo>
                  <a:cubicBezTo>
                    <a:pt x="22" y="13"/>
                    <a:pt x="22" y="13"/>
                    <a:pt x="22" y="12"/>
                  </a:cubicBezTo>
                  <a:cubicBezTo>
                    <a:pt x="22" y="11"/>
                    <a:pt x="22" y="11"/>
                    <a:pt x="21" y="10"/>
                  </a:cubicBezTo>
                  <a:cubicBezTo>
                    <a:pt x="21" y="10"/>
                    <a:pt x="20" y="9"/>
                    <a:pt x="19" y="8"/>
                  </a:cubicBezTo>
                  <a:cubicBezTo>
                    <a:pt x="16" y="6"/>
                    <a:pt x="16" y="6"/>
                    <a:pt x="16" y="6"/>
                  </a:cubicBezTo>
                  <a:lnTo>
                    <a:pt x="12" y="1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9" name="işliḍé">
              <a:extLst>
                <a:ext uri="{FF2B5EF4-FFF2-40B4-BE49-F238E27FC236}">
                  <a16:creationId xmlns:a16="http://schemas.microsoft.com/office/drawing/2014/main" id="{8C4FE83E-416D-48A6-BBCF-6B960E38CB85}"/>
                </a:ext>
              </a:extLst>
            </p:cNvPr>
            <p:cNvSpPr/>
            <p:nvPr/>
          </p:nvSpPr>
          <p:spPr bwMode="auto">
            <a:xfrm>
              <a:off x="2533650" y="4044951"/>
              <a:ext cx="79375" cy="93663"/>
            </a:xfrm>
            <a:custGeom>
              <a:avLst/>
              <a:gdLst>
                <a:gd name="T0" fmla="*/ 1 w 22"/>
                <a:gd name="T1" fmla="*/ 13 h 26"/>
                <a:gd name="T2" fmla="*/ 5 w 22"/>
                <a:gd name="T3" fmla="*/ 14 h 26"/>
                <a:gd name="T4" fmla="*/ 5 w 22"/>
                <a:gd name="T5" fmla="*/ 18 h 26"/>
                <a:gd name="T6" fmla="*/ 7 w 22"/>
                <a:gd name="T7" fmla="*/ 21 h 26"/>
                <a:gd name="T8" fmla="*/ 10 w 22"/>
                <a:gd name="T9" fmla="*/ 22 h 26"/>
                <a:gd name="T10" fmla="*/ 12 w 22"/>
                <a:gd name="T11" fmla="*/ 20 h 26"/>
                <a:gd name="T12" fmla="*/ 13 w 22"/>
                <a:gd name="T13" fmla="*/ 19 h 26"/>
                <a:gd name="T14" fmla="*/ 12 w 22"/>
                <a:gd name="T15" fmla="*/ 17 h 26"/>
                <a:gd name="T16" fmla="*/ 9 w 22"/>
                <a:gd name="T17" fmla="*/ 14 h 26"/>
                <a:gd name="T18" fmla="*/ 6 w 22"/>
                <a:gd name="T19" fmla="*/ 9 h 26"/>
                <a:gd name="T20" fmla="*/ 7 w 22"/>
                <a:gd name="T21" fmla="*/ 4 h 26"/>
                <a:gd name="T22" fmla="*/ 10 w 22"/>
                <a:gd name="T23" fmla="*/ 1 h 26"/>
                <a:gd name="T24" fmla="*/ 14 w 22"/>
                <a:gd name="T25" fmla="*/ 0 h 26"/>
                <a:gd name="T26" fmla="*/ 18 w 22"/>
                <a:gd name="T27" fmla="*/ 2 h 26"/>
                <a:gd name="T28" fmla="*/ 22 w 22"/>
                <a:gd name="T29" fmla="*/ 7 h 26"/>
                <a:gd name="T30" fmla="*/ 21 w 22"/>
                <a:gd name="T31" fmla="*/ 13 h 26"/>
                <a:gd name="T32" fmla="*/ 17 w 22"/>
                <a:gd name="T33" fmla="*/ 11 h 26"/>
                <a:gd name="T34" fmla="*/ 18 w 22"/>
                <a:gd name="T35" fmla="*/ 8 h 26"/>
                <a:gd name="T36" fmla="*/ 16 w 22"/>
                <a:gd name="T37" fmla="*/ 5 h 26"/>
                <a:gd name="T38" fmla="*/ 13 w 22"/>
                <a:gd name="T39" fmla="*/ 5 h 26"/>
                <a:gd name="T40" fmla="*/ 11 w 22"/>
                <a:gd name="T41" fmla="*/ 6 h 26"/>
                <a:gd name="T42" fmla="*/ 11 w 22"/>
                <a:gd name="T43" fmla="*/ 7 h 26"/>
                <a:gd name="T44" fmla="*/ 13 w 22"/>
                <a:gd name="T45" fmla="*/ 11 h 26"/>
                <a:gd name="T46" fmla="*/ 17 w 22"/>
                <a:gd name="T47" fmla="*/ 15 h 26"/>
                <a:gd name="T48" fmla="*/ 17 w 22"/>
                <a:gd name="T49" fmla="*/ 18 h 26"/>
                <a:gd name="T50" fmla="*/ 16 w 22"/>
                <a:gd name="T51" fmla="*/ 22 h 26"/>
                <a:gd name="T52" fmla="*/ 13 w 22"/>
                <a:gd name="T53" fmla="*/ 25 h 26"/>
                <a:gd name="T54" fmla="*/ 9 w 22"/>
                <a:gd name="T55" fmla="*/ 26 h 26"/>
                <a:gd name="T56" fmla="*/ 4 w 22"/>
                <a:gd name="T57" fmla="*/ 25 h 26"/>
                <a:gd name="T58" fmla="*/ 0 w 22"/>
                <a:gd name="T59" fmla="*/ 20 h 26"/>
                <a:gd name="T60" fmla="*/ 1 w 22"/>
                <a:gd name="T6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" h="26">
                  <a:moveTo>
                    <a:pt x="1" y="13"/>
                  </a:moveTo>
                  <a:cubicBezTo>
                    <a:pt x="5" y="14"/>
                    <a:pt x="5" y="14"/>
                    <a:pt x="5" y="14"/>
                  </a:cubicBezTo>
                  <a:cubicBezTo>
                    <a:pt x="5" y="16"/>
                    <a:pt x="4" y="17"/>
                    <a:pt x="5" y="18"/>
                  </a:cubicBezTo>
                  <a:cubicBezTo>
                    <a:pt x="5" y="19"/>
                    <a:pt x="6" y="20"/>
                    <a:pt x="7" y="21"/>
                  </a:cubicBezTo>
                  <a:cubicBezTo>
                    <a:pt x="8" y="22"/>
                    <a:pt x="9" y="22"/>
                    <a:pt x="10" y="22"/>
                  </a:cubicBezTo>
                  <a:cubicBezTo>
                    <a:pt x="11" y="21"/>
                    <a:pt x="12" y="21"/>
                    <a:pt x="12" y="20"/>
                  </a:cubicBezTo>
                  <a:cubicBezTo>
                    <a:pt x="13" y="20"/>
                    <a:pt x="13" y="19"/>
                    <a:pt x="13" y="19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5"/>
                    <a:pt x="9" y="14"/>
                  </a:cubicBezTo>
                  <a:cubicBezTo>
                    <a:pt x="8" y="12"/>
                    <a:pt x="7" y="11"/>
                    <a:pt x="6" y="9"/>
                  </a:cubicBezTo>
                  <a:cubicBezTo>
                    <a:pt x="6" y="7"/>
                    <a:pt x="6" y="6"/>
                    <a:pt x="7" y="4"/>
                  </a:cubicBezTo>
                  <a:cubicBezTo>
                    <a:pt x="8" y="3"/>
                    <a:pt x="9" y="2"/>
                    <a:pt x="10" y="1"/>
                  </a:cubicBezTo>
                  <a:cubicBezTo>
                    <a:pt x="11" y="1"/>
                    <a:pt x="12" y="0"/>
                    <a:pt x="14" y="0"/>
                  </a:cubicBezTo>
                  <a:cubicBezTo>
                    <a:pt x="15" y="1"/>
                    <a:pt x="16" y="1"/>
                    <a:pt x="18" y="2"/>
                  </a:cubicBezTo>
                  <a:cubicBezTo>
                    <a:pt x="20" y="3"/>
                    <a:pt x="22" y="5"/>
                    <a:pt x="22" y="7"/>
                  </a:cubicBezTo>
                  <a:cubicBezTo>
                    <a:pt x="22" y="9"/>
                    <a:pt x="22" y="11"/>
                    <a:pt x="21" y="13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9"/>
                    <a:pt x="18" y="8"/>
                    <a:pt x="18" y="8"/>
                  </a:cubicBezTo>
                  <a:cubicBezTo>
                    <a:pt x="17" y="7"/>
                    <a:pt x="17" y="6"/>
                    <a:pt x="16" y="5"/>
                  </a:cubicBezTo>
                  <a:cubicBezTo>
                    <a:pt x="14" y="5"/>
                    <a:pt x="13" y="5"/>
                    <a:pt x="13" y="5"/>
                  </a:cubicBezTo>
                  <a:cubicBezTo>
                    <a:pt x="12" y="5"/>
                    <a:pt x="11" y="5"/>
                    <a:pt x="11" y="6"/>
                  </a:cubicBezTo>
                  <a:cubicBezTo>
                    <a:pt x="11" y="6"/>
                    <a:pt x="11" y="7"/>
                    <a:pt x="11" y="7"/>
                  </a:cubicBezTo>
                  <a:cubicBezTo>
                    <a:pt x="11" y="8"/>
                    <a:pt x="12" y="9"/>
                    <a:pt x="13" y="11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7" y="16"/>
                    <a:pt x="17" y="17"/>
                    <a:pt x="17" y="18"/>
                  </a:cubicBezTo>
                  <a:cubicBezTo>
                    <a:pt x="17" y="20"/>
                    <a:pt x="17" y="21"/>
                    <a:pt x="16" y="22"/>
                  </a:cubicBezTo>
                  <a:cubicBezTo>
                    <a:pt x="15" y="24"/>
                    <a:pt x="14" y="25"/>
                    <a:pt x="13" y="25"/>
                  </a:cubicBezTo>
                  <a:cubicBezTo>
                    <a:pt x="12" y="26"/>
                    <a:pt x="10" y="26"/>
                    <a:pt x="9" y="26"/>
                  </a:cubicBezTo>
                  <a:cubicBezTo>
                    <a:pt x="8" y="26"/>
                    <a:pt x="6" y="26"/>
                    <a:pt x="4" y="25"/>
                  </a:cubicBezTo>
                  <a:cubicBezTo>
                    <a:pt x="2" y="23"/>
                    <a:pt x="1" y="22"/>
                    <a:pt x="0" y="20"/>
                  </a:cubicBezTo>
                  <a:cubicBezTo>
                    <a:pt x="0" y="17"/>
                    <a:pt x="0" y="15"/>
                    <a:pt x="1" y="1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0" name="ísḻïde">
              <a:extLst>
                <a:ext uri="{FF2B5EF4-FFF2-40B4-BE49-F238E27FC236}">
                  <a16:creationId xmlns:a16="http://schemas.microsoft.com/office/drawing/2014/main" id="{2734F4EE-C3A2-4E41-845D-400A6F2812C3}"/>
                </a:ext>
              </a:extLst>
            </p:cNvPr>
            <p:cNvSpPr/>
            <p:nvPr/>
          </p:nvSpPr>
          <p:spPr bwMode="auto">
            <a:xfrm>
              <a:off x="2590800" y="4073526"/>
              <a:ext cx="58738" cy="90488"/>
            </a:xfrm>
            <a:custGeom>
              <a:avLst/>
              <a:gdLst>
                <a:gd name="T0" fmla="*/ 0 w 37"/>
                <a:gd name="T1" fmla="*/ 53 h 57"/>
                <a:gd name="T2" fmla="*/ 27 w 37"/>
                <a:gd name="T3" fmla="*/ 0 h 57"/>
                <a:gd name="T4" fmla="*/ 37 w 37"/>
                <a:gd name="T5" fmla="*/ 5 h 57"/>
                <a:gd name="T6" fmla="*/ 9 w 37"/>
                <a:gd name="T7" fmla="*/ 57 h 57"/>
                <a:gd name="T8" fmla="*/ 0 w 37"/>
                <a:gd name="T9" fmla="*/ 5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7">
                  <a:moveTo>
                    <a:pt x="0" y="53"/>
                  </a:moveTo>
                  <a:lnTo>
                    <a:pt x="27" y="0"/>
                  </a:lnTo>
                  <a:lnTo>
                    <a:pt x="37" y="5"/>
                  </a:lnTo>
                  <a:lnTo>
                    <a:pt x="9" y="57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1" name="iŝļiḋê">
              <a:extLst>
                <a:ext uri="{FF2B5EF4-FFF2-40B4-BE49-F238E27FC236}">
                  <a16:creationId xmlns:a16="http://schemas.microsoft.com/office/drawing/2014/main" id="{6264C823-B6B6-46A8-A230-B1FE3CB54C72}"/>
                </a:ext>
              </a:extLst>
            </p:cNvPr>
            <p:cNvSpPr/>
            <p:nvPr/>
          </p:nvSpPr>
          <p:spPr bwMode="auto">
            <a:xfrm>
              <a:off x="2638425" y="4084638"/>
              <a:ext cx="71438" cy="101600"/>
            </a:xfrm>
            <a:custGeom>
              <a:avLst/>
              <a:gdLst>
                <a:gd name="T0" fmla="*/ 0 w 45"/>
                <a:gd name="T1" fmla="*/ 60 h 64"/>
                <a:gd name="T2" fmla="*/ 20 w 45"/>
                <a:gd name="T3" fmla="*/ 14 h 64"/>
                <a:gd name="T4" fmla="*/ 7 w 45"/>
                <a:gd name="T5" fmla="*/ 9 h 64"/>
                <a:gd name="T6" fmla="*/ 9 w 45"/>
                <a:gd name="T7" fmla="*/ 0 h 64"/>
                <a:gd name="T8" fmla="*/ 45 w 45"/>
                <a:gd name="T9" fmla="*/ 16 h 64"/>
                <a:gd name="T10" fmla="*/ 43 w 45"/>
                <a:gd name="T11" fmla="*/ 25 h 64"/>
                <a:gd name="T12" fmla="*/ 29 w 45"/>
                <a:gd name="T13" fmla="*/ 18 h 64"/>
                <a:gd name="T14" fmla="*/ 9 w 45"/>
                <a:gd name="T15" fmla="*/ 64 h 64"/>
                <a:gd name="T16" fmla="*/ 0 w 45"/>
                <a:gd name="T17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64">
                  <a:moveTo>
                    <a:pt x="0" y="60"/>
                  </a:moveTo>
                  <a:lnTo>
                    <a:pt x="20" y="14"/>
                  </a:lnTo>
                  <a:lnTo>
                    <a:pt x="7" y="9"/>
                  </a:lnTo>
                  <a:lnTo>
                    <a:pt x="9" y="0"/>
                  </a:lnTo>
                  <a:lnTo>
                    <a:pt x="45" y="16"/>
                  </a:lnTo>
                  <a:lnTo>
                    <a:pt x="43" y="25"/>
                  </a:lnTo>
                  <a:lnTo>
                    <a:pt x="29" y="18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2" name="iṧḷîdè">
              <a:extLst>
                <a:ext uri="{FF2B5EF4-FFF2-40B4-BE49-F238E27FC236}">
                  <a16:creationId xmlns:a16="http://schemas.microsoft.com/office/drawing/2014/main" id="{2F4ED27C-54FA-434A-ACA1-57534125683E}"/>
                </a:ext>
              </a:extLst>
            </p:cNvPr>
            <p:cNvSpPr/>
            <p:nvPr/>
          </p:nvSpPr>
          <p:spPr bwMode="auto">
            <a:xfrm>
              <a:off x="2709863" y="4110038"/>
              <a:ext cx="68263" cy="101600"/>
            </a:xfrm>
            <a:custGeom>
              <a:avLst/>
              <a:gdLst>
                <a:gd name="T0" fmla="*/ 0 w 43"/>
                <a:gd name="T1" fmla="*/ 60 h 64"/>
                <a:gd name="T2" fmla="*/ 7 w 43"/>
                <a:gd name="T3" fmla="*/ 37 h 64"/>
                <a:gd name="T4" fmla="*/ 0 w 43"/>
                <a:gd name="T5" fmla="*/ 0 h 64"/>
                <a:gd name="T6" fmla="*/ 12 w 43"/>
                <a:gd name="T7" fmla="*/ 2 h 64"/>
                <a:gd name="T8" fmla="*/ 16 w 43"/>
                <a:gd name="T9" fmla="*/ 28 h 64"/>
                <a:gd name="T10" fmla="*/ 32 w 43"/>
                <a:gd name="T11" fmla="*/ 9 h 64"/>
                <a:gd name="T12" fmla="*/ 43 w 43"/>
                <a:gd name="T13" fmla="*/ 14 h 64"/>
                <a:gd name="T14" fmla="*/ 16 w 43"/>
                <a:gd name="T15" fmla="*/ 41 h 64"/>
                <a:gd name="T16" fmla="*/ 9 w 43"/>
                <a:gd name="T17" fmla="*/ 64 h 64"/>
                <a:gd name="T18" fmla="*/ 0 w 43"/>
                <a:gd name="T19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64">
                  <a:moveTo>
                    <a:pt x="0" y="60"/>
                  </a:moveTo>
                  <a:lnTo>
                    <a:pt x="7" y="37"/>
                  </a:lnTo>
                  <a:lnTo>
                    <a:pt x="0" y="0"/>
                  </a:lnTo>
                  <a:lnTo>
                    <a:pt x="12" y="2"/>
                  </a:lnTo>
                  <a:lnTo>
                    <a:pt x="16" y="28"/>
                  </a:lnTo>
                  <a:lnTo>
                    <a:pt x="32" y="9"/>
                  </a:lnTo>
                  <a:lnTo>
                    <a:pt x="43" y="14"/>
                  </a:lnTo>
                  <a:lnTo>
                    <a:pt x="16" y="41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3" name="isļíḍè">
              <a:extLst>
                <a:ext uri="{FF2B5EF4-FFF2-40B4-BE49-F238E27FC236}">
                  <a16:creationId xmlns:a16="http://schemas.microsoft.com/office/drawing/2014/main" id="{EFE13A69-5E04-4822-8628-83BABE47595F}"/>
                </a:ext>
              </a:extLst>
            </p:cNvPr>
            <p:cNvSpPr/>
            <p:nvPr/>
          </p:nvSpPr>
          <p:spPr bwMode="auto">
            <a:xfrm>
              <a:off x="2797175" y="4143376"/>
              <a:ext cx="79375" cy="96838"/>
            </a:xfrm>
            <a:custGeom>
              <a:avLst/>
              <a:gdLst>
                <a:gd name="T0" fmla="*/ 1 w 22"/>
                <a:gd name="T1" fmla="*/ 11 h 27"/>
                <a:gd name="T2" fmla="*/ 3 w 22"/>
                <a:gd name="T3" fmla="*/ 5 h 27"/>
                <a:gd name="T4" fmla="*/ 5 w 22"/>
                <a:gd name="T5" fmla="*/ 2 h 27"/>
                <a:gd name="T6" fmla="*/ 8 w 22"/>
                <a:gd name="T7" fmla="*/ 0 h 27"/>
                <a:gd name="T8" fmla="*/ 13 w 22"/>
                <a:gd name="T9" fmla="*/ 0 h 27"/>
                <a:gd name="T10" fmla="*/ 20 w 22"/>
                <a:gd name="T11" fmla="*/ 5 h 27"/>
                <a:gd name="T12" fmla="*/ 21 w 22"/>
                <a:gd name="T13" fmla="*/ 15 h 27"/>
                <a:gd name="T14" fmla="*/ 17 w 22"/>
                <a:gd name="T15" fmla="*/ 24 h 27"/>
                <a:gd name="T16" fmla="*/ 9 w 22"/>
                <a:gd name="T17" fmla="*/ 26 h 27"/>
                <a:gd name="T18" fmla="*/ 2 w 22"/>
                <a:gd name="T19" fmla="*/ 21 h 27"/>
                <a:gd name="T20" fmla="*/ 1 w 22"/>
                <a:gd name="T21" fmla="*/ 11 h 27"/>
                <a:gd name="T22" fmla="*/ 5 w 22"/>
                <a:gd name="T23" fmla="*/ 12 h 27"/>
                <a:gd name="T24" fmla="*/ 6 w 22"/>
                <a:gd name="T25" fmla="*/ 19 h 27"/>
                <a:gd name="T26" fmla="*/ 10 w 22"/>
                <a:gd name="T27" fmla="*/ 22 h 27"/>
                <a:gd name="T28" fmla="*/ 14 w 22"/>
                <a:gd name="T29" fmla="*/ 20 h 27"/>
                <a:gd name="T30" fmla="*/ 17 w 22"/>
                <a:gd name="T31" fmla="*/ 14 h 27"/>
                <a:gd name="T32" fmla="*/ 16 w 22"/>
                <a:gd name="T33" fmla="*/ 7 h 27"/>
                <a:gd name="T34" fmla="*/ 13 w 22"/>
                <a:gd name="T35" fmla="*/ 4 h 27"/>
                <a:gd name="T36" fmla="*/ 8 w 22"/>
                <a:gd name="T37" fmla="*/ 6 h 27"/>
                <a:gd name="T38" fmla="*/ 5 w 22"/>
                <a:gd name="T3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7">
                  <a:moveTo>
                    <a:pt x="1" y="11"/>
                  </a:moveTo>
                  <a:cubicBezTo>
                    <a:pt x="1" y="9"/>
                    <a:pt x="2" y="7"/>
                    <a:pt x="3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7" y="1"/>
                    <a:pt x="8" y="0"/>
                  </a:cubicBezTo>
                  <a:cubicBezTo>
                    <a:pt x="10" y="0"/>
                    <a:pt x="11" y="0"/>
                    <a:pt x="13" y="0"/>
                  </a:cubicBezTo>
                  <a:cubicBezTo>
                    <a:pt x="16" y="1"/>
                    <a:pt x="19" y="2"/>
                    <a:pt x="20" y="5"/>
                  </a:cubicBezTo>
                  <a:cubicBezTo>
                    <a:pt x="22" y="7"/>
                    <a:pt x="22" y="11"/>
                    <a:pt x="21" y="15"/>
                  </a:cubicBezTo>
                  <a:cubicBezTo>
                    <a:pt x="21" y="19"/>
                    <a:pt x="19" y="22"/>
                    <a:pt x="17" y="24"/>
                  </a:cubicBezTo>
                  <a:cubicBezTo>
                    <a:pt x="15" y="26"/>
                    <a:pt x="12" y="27"/>
                    <a:pt x="9" y="26"/>
                  </a:cubicBezTo>
                  <a:cubicBezTo>
                    <a:pt x="6" y="26"/>
                    <a:pt x="3" y="24"/>
                    <a:pt x="2" y="21"/>
                  </a:cubicBezTo>
                  <a:cubicBezTo>
                    <a:pt x="0" y="19"/>
                    <a:pt x="0" y="15"/>
                    <a:pt x="1" y="11"/>
                  </a:cubicBezTo>
                  <a:close/>
                  <a:moveTo>
                    <a:pt x="5" y="12"/>
                  </a:moveTo>
                  <a:cubicBezTo>
                    <a:pt x="5" y="15"/>
                    <a:pt x="5" y="17"/>
                    <a:pt x="6" y="19"/>
                  </a:cubicBezTo>
                  <a:cubicBezTo>
                    <a:pt x="7" y="21"/>
                    <a:pt x="8" y="21"/>
                    <a:pt x="10" y="22"/>
                  </a:cubicBezTo>
                  <a:cubicBezTo>
                    <a:pt x="11" y="22"/>
                    <a:pt x="13" y="22"/>
                    <a:pt x="14" y="20"/>
                  </a:cubicBezTo>
                  <a:cubicBezTo>
                    <a:pt x="16" y="19"/>
                    <a:pt x="16" y="17"/>
                    <a:pt x="17" y="14"/>
                  </a:cubicBezTo>
                  <a:cubicBezTo>
                    <a:pt x="17" y="11"/>
                    <a:pt x="17" y="9"/>
                    <a:pt x="16" y="7"/>
                  </a:cubicBezTo>
                  <a:cubicBezTo>
                    <a:pt x="16" y="6"/>
                    <a:pt x="14" y="5"/>
                    <a:pt x="13" y="4"/>
                  </a:cubicBezTo>
                  <a:cubicBezTo>
                    <a:pt x="11" y="4"/>
                    <a:pt x="9" y="5"/>
                    <a:pt x="8" y="6"/>
                  </a:cubicBezTo>
                  <a:cubicBezTo>
                    <a:pt x="7" y="7"/>
                    <a:pt x="6" y="9"/>
                    <a:pt x="5" y="1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4" name="ïṡ1íḓe">
              <a:extLst>
                <a:ext uri="{FF2B5EF4-FFF2-40B4-BE49-F238E27FC236}">
                  <a16:creationId xmlns:a16="http://schemas.microsoft.com/office/drawing/2014/main" id="{A9324D63-B67E-44D7-AE8B-74BA73907C20}"/>
                </a:ext>
              </a:extLst>
            </p:cNvPr>
            <p:cNvSpPr/>
            <p:nvPr/>
          </p:nvSpPr>
          <p:spPr bwMode="auto">
            <a:xfrm>
              <a:off x="2882900" y="4149726"/>
              <a:ext cx="61913" cy="95250"/>
            </a:xfrm>
            <a:custGeom>
              <a:avLst/>
              <a:gdLst>
                <a:gd name="T0" fmla="*/ 0 w 39"/>
                <a:gd name="T1" fmla="*/ 60 h 60"/>
                <a:gd name="T2" fmla="*/ 5 w 39"/>
                <a:gd name="T3" fmla="*/ 0 h 60"/>
                <a:gd name="T4" fmla="*/ 39 w 39"/>
                <a:gd name="T5" fmla="*/ 3 h 60"/>
                <a:gd name="T6" fmla="*/ 37 w 39"/>
                <a:gd name="T7" fmla="*/ 14 h 60"/>
                <a:gd name="T8" fmla="*/ 14 w 39"/>
                <a:gd name="T9" fmla="*/ 12 h 60"/>
                <a:gd name="T10" fmla="*/ 12 w 39"/>
                <a:gd name="T11" fmla="*/ 25 h 60"/>
                <a:gd name="T12" fmla="*/ 34 w 39"/>
                <a:gd name="T13" fmla="*/ 28 h 60"/>
                <a:gd name="T14" fmla="*/ 32 w 39"/>
                <a:gd name="T15" fmla="*/ 37 h 60"/>
                <a:gd name="T16" fmla="*/ 12 w 39"/>
                <a:gd name="T17" fmla="*/ 35 h 60"/>
                <a:gd name="T18" fmla="*/ 9 w 39"/>
                <a:gd name="T19" fmla="*/ 60 h 60"/>
                <a:gd name="T20" fmla="*/ 0 w 39"/>
                <a:gd name="T2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60">
                  <a:moveTo>
                    <a:pt x="0" y="60"/>
                  </a:moveTo>
                  <a:lnTo>
                    <a:pt x="5" y="0"/>
                  </a:lnTo>
                  <a:lnTo>
                    <a:pt x="39" y="3"/>
                  </a:lnTo>
                  <a:lnTo>
                    <a:pt x="37" y="14"/>
                  </a:lnTo>
                  <a:lnTo>
                    <a:pt x="14" y="12"/>
                  </a:lnTo>
                  <a:lnTo>
                    <a:pt x="12" y="25"/>
                  </a:lnTo>
                  <a:lnTo>
                    <a:pt x="34" y="28"/>
                  </a:lnTo>
                  <a:lnTo>
                    <a:pt x="32" y="37"/>
                  </a:lnTo>
                  <a:lnTo>
                    <a:pt x="12" y="35"/>
                  </a:lnTo>
                  <a:lnTo>
                    <a:pt x="9" y="6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5" name="isḷiḑê">
              <a:extLst>
                <a:ext uri="{FF2B5EF4-FFF2-40B4-BE49-F238E27FC236}">
                  <a16:creationId xmlns:a16="http://schemas.microsoft.com/office/drawing/2014/main" id="{98CDD5EA-5A89-4A80-82C6-47F4FFDD6421}"/>
                </a:ext>
              </a:extLst>
            </p:cNvPr>
            <p:cNvSpPr/>
            <p:nvPr/>
          </p:nvSpPr>
          <p:spPr bwMode="auto">
            <a:xfrm>
              <a:off x="2981325" y="4149726"/>
              <a:ext cx="65088" cy="98425"/>
            </a:xfrm>
            <a:custGeom>
              <a:avLst/>
              <a:gdLst>
                <a:gd name="T0" fmla="*/ 0 w 18"/>
                <a:gd name="T1" fmla="*/ 19 h 27"/>
                <a:gd name="T2" fmla="*/ 5 w 18"/>
                <a:gd name="T3" fmla="*/ 18 h 27"/>
                <a:gd name="T4" fmla="*/ 6 w 18"/>
                <a:gd name="T5" fmla="*/ 22 h 27"/>
                <a:gd name="T6" fmla="*/ 10 w 18"/>
                <a:gd name="T7" fmla="*/ 23 h 27"/>
                <a:gd name="T8" fmla="*/ 13 w 18"/>
                <a:gd name="T9" fmla="*/ 21 h 27"/>
                <a:gd name="T10" fmla="*/ 14 w 18"/>
                <a:gd name="T11" fmla="*/ 19 h 27"/>
                <a:gd name="T12" fmla="*/ 13 w 18"/>
                <a:gd name="T13" fmla="*/ 17 h 27"/>
                <a:gd name="T14" fmla="*/ 11 w 18"/>
                <a:gd name="T15" fmla="*/ 16 h 27"/>
                <a:gd name="T16" fmla="*/ 8 w 18"/>
                <a:gd name="T17" fmla="*/ 15 h 27"/>
                <a:gd name="T18" fmla="*/ 3 w 18"/>
                <a:gd name="T19" fmla="*/ 13 h 27"/>
                <a:gd name="T20" fmla="*/ 0 w 18"/>
                <a:gd name="T21" fmla="*/ 8 h 27"/>
                <a:gd name="T22" fmla="*/ 1 w 18"/>
                <a:gd name="T23" fmla="*/ 5 h 27"/>
                <a:gd name="T24" fmla="*/ 4 w 18"/>
                <a:gd name="T25" fmla="*/ 2 h 27"/>
                <a:gd name="T26" fmla="*/ 8 w 18"/>
                <a:gd name="T27" fmla="*/ 1 h 27"/>
                <a:gd name="T28" fmla="*/ 14 w 18"/>
                <a:gd name="T29" fmla="*/ 2 h 27"/>
                <a:gd name="T30" fmla="*/ 17 w 18"/>
                <a:gd name="T31" fmla="*/ 8 h 27"/>
                <a:gd name="T32" fmla="*/ 12 w 18"/>
                <a:gd name="T33" fmla="*/ 8 h 27"/>
                <a:gd name="T34" fmla="*/ 11 w 18"/>
                <a:gd name="T35" fmla="*/ 6 h 27"/>
                <a:gd name="T36" fmla="*/ 8 w 18"/>
                <a:gd name="T37" fmla="*/ 5 h 27"/>
                <a:gd name="T38" fmla="*/ 5 w 18"/>
                <a:gd name="T39" fmla="*/ 6 h 27"/>
                <a:gd name="T40" fmla="*/ 5 w 18"/>
                <a:gd name="T41" fmla="*/ 8 h 27"/>
                <a:gd name="T42" fmla="*/ 5 w 18"/>
                <a:gd name="T43" fmla="*/ 9 h 27"/>
                <a:gd name="T44" fmla="*/ 10 w 18"/>
                <a:gd name="T45" fmla="*/ 11 h 27"/>
                <a:gd name="T46" fmla="*/ 14 w 18"/>
                <a:gd name="T47" fmla="*/ 12 h 27"/>
                <a:gd name="T48" fmla="*/ 17 w 18"/>
                <a:gd name="T49" fmla="*/ 15 h 27"/>
                <a:gd name="T50" fmla="*/ 18 w 18"/>
                <a:gd name="T51" fmla="*/ 19 h 27"/>
                <a:gd name="T52" fmla="*/ 17 w 18"/>
                <a:gd name="T53" fmla="*/ 23 h 27"/>
                <a:gd name="T54" fmla="*/ 14 w 18"/>
                <a:gd name="T55" fmla="*/ 26 h 27"/>
                <a:gd name="T56" fmla="*/ 10 w 18"/>
                <a:gd name="T57" fmla="*/ 27 h 27"/>
                <a:gd name="T58" fmla="*/ 3 w 18"/>
                <a:gd name="T59" fmla="*/ 25 h 27"/>
                <a:gd name="T60" fmla="*/ 0 w 18"/>
                <a:gd name="T61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8" h="27">
                  <a:moveTo>
                    <a:pt x="0" y="19"/>
                  </a:moveTo>
                  <a:cubicBezTo>
                    <a:pt x="5" y="18"/>
                    <a:pt x="5" y="18"/>
                    <a:pt x="5" y="18"/>
                  </a:cubicBezTo>
                  <a:cubicBezTo>
                    <a:pt x="5" y="20"/>
                    <a:pt x="6" y="21"/>
                    <a:pt x="6" y="22"/>
                  </a:cubicBezTo>
                  <a:cubicBezTo>
                    <a:pt x="7" y="22"/>
                    <a:pt x="8" y="23"/>
                    <a:pt x="10" y="23"/>
                  </a:cubicBezTo>
                  <a:cubicBezTo>
                    <a:pt x="11" y="23"/>
                    <a:pt x="12" y="22"/>
                    <a:pt x="13" y="21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8"/>
                    <a:pt x="13" y="18"/>
                    <a:pt x="13" y="17"/>
                  </a:cubicBezTo>
                  <a:cubicBezTo>
                    <a:pt x="13" y="17"/>
                    <a:pt x="12" y="17"/>
                    <a:pt x="11" y="16"/>
                  </a:cubicBezTo>
                  <a:cubicBezTo>
                    <a:pt x="11" y="16"/>
                    <a:pt x="10" y="16"/>
                    <a:pt x="8" y="15"/>
                  </a:cubicBezTo>
                  <a:cubicBezTo>
                    <a:pt x="5" y="15"/>
                    <a:pt x="4" y="14"/>
                    <a:pt x="3" y="13"/>
                  </a:cubicBezTo>
                  <a:cubicBezTo>
                    <a:pt x="1" y="12"/>
                    <a:pt x="1" y="10"/>
                    <a:pt x="0" y="8"/>
                  </a:cubicBezTo>
                  <a:cubicBezTo>
                    <a:pt x="0" y="7"/>
                    <a:pt x="1" y="6"/>
                    <a:pt x="1" y="5"/>
                  </a:cubicBezTo>
                  <a:cubicBezTo>
                    <a:pt x="2" y="3"/>
                    <a:pt x="3" y="2"/>
                    <a:pt x="4" y="2"/>
                  </a:cubicBezTo>
                  <a:cubicBezTo>
                    <a:pt x="5" y="1"/>
                    <a:pt x="6" y="1"/>
                    <a:pt x="8" y="1"/>
                  </a:cubicBezTo>
                  <a:cubicBezTo>
                    <a:pt x="11" y="0"/>
                    <a:pt x="13" y="1"/>
                    <a:pt x="14" y="2"/>
                  </a:cubicBezTo>
                  <a:cubicBezTo>
                    <a:pt x="16" y="4"/>
                    <a:pt x="17" y="6"/>
                    <a:pt x="17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7"/>
                    <a:pt x="12" y="6"/>
                    <a:pt x="11" y="6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5"/>
                    <a:pt x="5" y="6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6" y="10"/>
                    <a:pt x="7" y="10"/>
                    <a:pt x="10" y="11"/>
                  </a:cubicBezTo>
                  <a:cubicBezTo>
                    <a:pt x="12" y="11"/>
                    <a:pt x="13" y="12"/>
                    <a:pt x="14" y="12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8" y="16"/>
                    <a:pt x="18" y="17"/>
                    <a:pt x="18" y="19"/>
                  </a:cubicBezTo>
                  <a:cubicBezTo>
                    <a:pt x="18" y="20"/>
                    <a:pt x="18" y="21"/>
                    <a:pt x="17" y="23"/>
                  </a:cubicBezTo>
                  <a:cubicBezTo>
                    <a:pt x="17" y="24"/>
                    <a:pt x="16" y="25"/>
                    <a:pt x="14" y="26"/>
                  </a:cubicBezTo>
                  <a:cubicBezTo>
                    <a:pt x="13" y="26"/>
                    <a:pt x="12" y="27"/>
                    <a:pt x="10" y="27"/>
                  </a:cubicBezTo>
                  <a:cubicBezTo>
                    <a:pt x="7" y="27"/>
                    <a:pt x="5" y="27"/>
                    <a:pt x="3" y="25"/>
                  </a:cubicBezTo>
                  <a:cubicBezTo>
                    <a:pt x="2" y="24"/>
                    <a:pt x="1" y="22"/>
                    <a:pt x="0" y="1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6" name="ïṥlíḓê">
              <a:extLst>
                <a:ext uri="{FF2B5EF4-FFF2-40B4-BE49-F238E27FC236}">
                  <a16:creationId xmlns:a16="http://schemas.microsoft.com/office/drawing/2014/main" id="{C4D79308-07D4-4619-AD52-15E2DB368814}"/>
                </a:ext>
              </a:extLst>
            </p:cNvPr>
            <p:cNvSpPr/>
            <p:nvPr/>
          </p:nvSpPr>
          <p:spPr bwMode="auto">
            <a:xfrm>
              <a:off x="3052763" y="4143376"/>
              <a:ext cx="73025" cy="96838"/>
            </a:xfrm>
            <a:custGeom>
              <a:avLst/>
              <a:gdLst>
                <a:gd name="T0" fmla="*/ 16 w 20"/>
                <a:gd name="T1" fmla="*/ 16 h 27"/>
                <a:gd name="T2" fmla="*/ 20 w 20"/>
                <a:gd name="T3" fmla="*/ 17 h 27"/>
                <a:gd name="T4" fmla="*/ 18 w 20"/>
                <a:gd name="T5" fmla="*/ 24 h 27"/>
                <a:gd name="T6" fmla="*/ 13 w 20"/>
                <a:gd name="T7" fmla="*/ 26 h 27"/>
                <a:gd name="T8" fmla="*/ 5 w 20"/>
                <a:gd name="T9" fmla="*/ 24 h 27"/>
                <a:gd name="T10" fmla="*/ 1 w 20"/>
                <a:gd name="T11" fmla="*/ 15 h 27"/>
                <a:gd name="T12" fmla="*/ 2 w 20"/>
                <a:gd name="T13" fmla="*/ 5 h 27"/>
                <a:gd name="T14" fmla="*/ 9 w 20"/>
                <a:gd name="T15" fmla="*/ 0 h 27"/>
                <a:gd name="T16" fmla="*/ 16 w 20"/>
                <a:gd name="T17" fmla="*/ 2 h 27"/>
                <a:gd name="T18" fmla="*/ 19 w 20"/>
                <a:gd name="T19" fmla="*/ 6 h 27"/>
                <a:gd name="T20" fmla="*/ 14 w 20"/>
                <a:gd name="T21" fmla="*/ 8 h 27"/>
                <a:gd name="T22" fmla="*/ 12 w 20"/>
                <a:gd name="T23" fmla="*/ 5 h 27"/>
                <a:gd name="T24" fmla="*/ 9 w 20"/>
                <a:gd name="T25" fmla="*/ 5 h 27"/>
                <a:gd name="T26" fmla="*/ 6 w 20"/>
                <a:gd name="T27" fmla="*/ 7 h 27"/>
                <a:gd name="T28" fmla="*/ 5 w 20"/>
                <a:gd name="T29" fmla="*/ 14 h 27"/>
                <a:gd name="T30" fmla="*/ 8 w 20"/>
                <a:gd name="T31" fmla="*/ 21 h 27"/>
                <a:gd name="T32" fmla="*/ 12 w 20"/>
                <a:gd name="T33" fmla="*/ 22 h 27"/>
                <a:gd name="T34" fmla="*/ 15 w 20"/>
                <a:gd name="T35" fmla="*/ 20 h 27"/>
                <a:gd name="T36" fmla="*/ 16 w 20"/>
                <a:gd name="T37" fmla="*/ 1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27">
                  <a:moveTo>
                    <a:pt x="16" y="16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20"/>
                    <a:pt x="19" y="22"/>
                    <a:pt x="18" y="24"/>
                  </a:cubicBezTo>
                  <a:cubicBezTo>
                    <a:pt x="17" y="25"/>
                    <a:pt x="15" y="26"/>
                    <a:pt x="13" y="26"/>
                  </a:cubicBezTo>
                  <a:cubicBezTo>
                    <a:pt x="10" y="27"/>
                    <a:pt x="7" y="26"/>
                    <a:pt x="5" y="24"/>
                  </a:cubicBezTo>
                  <a:cubicBezTo>
                    <a:pt x="3" y="22"/>
                    <a:pt x="2" y="19"/>
                    <a:pt x="1" y="15"/>
                  </a:cubicBezTo>
                  <a:cubicBezTo>
                    <a:pt x="0" y="11"/>
                    <a:pt x="1" y="8"/>
                    <a:pt x="2" y="5"/>
                  </a:cubicBezTo>
                  <a:cubicBezTo>
                    <a:pt x="4" y="2"/>
                    <a:pt x="6" y="1"/>
                    <a:pt x="9" y="0"/>
                  </a:cubicBezTo>
                  <a:cubicBezTo>
                    <a:pt x="11" y="0"/>
                    <a:pt x="14" y="0"/>
                    <a:pt x="16" y="2"/>
                  </a:cubicBezTo>
                  <a:cubicBezTo>
                    <a:pt x="17" y="3"/>
                    <a:pt x="18" y="4"/>
                    <a:pt x="19" y="6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7"/>
                    <a:pt x="13" y="6"/>
                    <a:pt x="12" y="5"/>
                  </a:cubicBezTo>
                  <a:cubicBezTo>
                    <a:pt x="11" y="5"/>
                    <a:pt x="10" y="5"/>
                    <a:pt x="9" y="5"/>
                  </a:cubicBezTo>
                  <a:cubicBezTo>
                    <a:pt x="8" y="5"/>
                    <a:pt x="6" y="6"/>
                    <a:pt x="6" y="7"/>
                  </a:cubicBezTo>
                  <a:cubicBezTo>
                    <a:pt x="5" y="9"/>
                    <a:pt x="5" y="11"/>
                    <a:pt x="5" y="14"/>
                  </a:cubicBezTo>
                  <a:cubicBezTo>
                    <a:pt x="6" y="17"/>
                    <a:pt x="7" y="19"/>
                    <a:pt x="8" y="21"/>
                  </a:cubicBezTo>
                  <a:cubicBezTo>
                    <a:pt x="9" y="22"/>
                    <a:pt x="10" y="22"/>
                    <a:pt x="12" y="22"/>
                  </a:cubicBezTo>
                  <a:cubicBezTo>
                    <a:pt x="13" y="22"/>
                    <a:pt x="14" y="21"/>
                    <a:pt x="15" y="20"/>
                  </a:cubicBezTo>
                  <a:cubicBezTo>
                    <a:pt x="15" y="19"/>
                    <a:pt x="16" y="18"/>
                    <a:pt x="16" y="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7" name="îṧḷíḍé">
              <a:extLst>
                <a:ext uri="{FF2B5EF4-FFF2-40B4-BE49-F238E27FC236}">
                  <a16:creationId xmlns:a16="http://schemas.microsoft.com/office/drawing/2014/main" id="{3CD0E4FF-8ACD-4ADC-8A90-F400193F5867}"/>
                </a:ext>
              </a:extLst>
            </p:cNvPr>
            <p:cNvSpPr/>
            <p:nvPr/>
          </p:nvSpPr>
          <p:spPr bwMode="auto">
            <a:xfrm>
              <a:off x="3125788" y="4135438"/>
              <a:ext cx="34925" cy="90488"/>
            </a:xfrm>
            <a:custGeom>
              <a:avLst/>
              <a:gdLst>
                <a:gd name="T0" fmla="*/ 13 w 22"/>
                <a:gd name="T1" fmla="*/ 57 h 57"/>
                <a:gd name="T2" fmla="*/ 0 w 22"/>
                <a:gd name="T3" fmla="*/ 2 h 57"/>
                <a:gd name="T4" fmla="*/ 11 w 22"/>
                <a:gd name="T5" fmla="*/ 0 h 57"/>
                <a:gd name="T6" fmla="*/ 22 w 22"/>
                <a:gd name="T7" fmla="*/ 55 h 57"/>
                <a:gd name="T8" fmla="*/ 13 w 22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57">
                  <a:moveTo>
                    <a:pt x="13" y="57"/>
                  </a:moveTo>
                  <a:lnTo>
                    <a:pt x="0" y="2"/>
                  </a:lnTo>
                  <a:lnTo>
                    <a:pt x="11" y="0"/>
                  </a:lnTo>
                  <a:lnTo>
                    <a:pt x="22" y="55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8" name="îṩḻïďè">
              <a:extLst>
                <a:ext uri="{FF2B5EF4-FFF2-40B4-BE49-F238E27FC236}">
                  <a16:creationId xmlns:a16="http://schemas.microsoft.com/office/drawing/2014/main" id="{2239A582-C160-4F8A-9171-28ED5B53FF01}"/>
                </a:ext>
              </a:extLst>
            </p:cNvPr>
            <p:cNvSpPr/>
            <p:nvPr/>
          </p:nvSpPr>
          <p:spPr bwMode="auto">
            <a:xfrm>
              <a:off x="3154363" y="4113213"/>
              <a:ext cx="82550" cy="106363"/>
            </a:xfrm>
            <a:custGeom>
              <a:avLst/>
              <a:gdLst>
                <a:gd name="T0" fmla="*/ 18 w 52"/>
                <a:gd name="T1" fmla="*/ 67 h 67"/>
                <a:gd name="T2" fmla="*/ 0 w 52"/>
                <a:gd name="T3" fmla="*/ 12 h 67"/>
                <a:gd name="T4" fmla="*/ 34 w 52"/>
                <a:gd name="T5" fmla="*/ 0 h 67"/>
                <a:gd name="T6" fmla="*/ 38 w 52"/>
                <a:gd name="T7" fmla="*/ 10 h 67"/>
                <a:gd name="T8" fmla="*/ 11 w 52"/>
                <a:gd name="T9" fmla="*/ 19 h 67"/>
                <a:gd name="T10" fmla="*/ 16 w 52"/>
                <a:gd name="T11" fmla="*/ 30 h 67"/>
                <a:gd name="T12" fmla="*/ 38 w 52"/>
                <a:gd name="T13" fmla="*/ 23 h 67"/>
                <a:gd name="T14" fmla="*/ 43 w 52"/>
                <a:gd name="T15" fmla="*/ 32 h 67"/>
                <a:gd name="T16" fmla="*/ 18 w 52"/>
                <a:gd name="T17" fmla="*/ 39 h 67"/>
                <a:gd name="T18" fmla="*/ 22 w 52"/>
                <a:gd name="T19" fmla="*/ 55 h 67"/>
                <a:gd name="T20" fmla="*/ 50 w 52"/>
                <a:gd name="T21" fmla="*/ 46 h 67"/>
                <a:gd name="T22" fmla="*/ 52 w 52"/>
                <a:gd name="T23" fmla="*/ 55 h 67"/>
                <a:gd name="T24" fmla="*/ 18 w 52"/>
                <a:gd name="T2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" h="67">
                  <a:moveTo>
                    <a:pt x="18" y="67"/>
                  </a:moveTo>
                  <a:lnTo>
                    <a:pt x="0" y="12"/>
                  </a:lnTo>
                  <a:lnTo>
                    <a:pt x="34" y="0"/>
                  </a:lnTo>
                  <a:lnTo>
                    <a:pt x="38" y="10"/>
                  </a:lnTo>
                  <a:lnTo>
                    <a:pt x="11" y="19"/>
                  </a:lnTo>
                  <a:lnTo>
                    <a:pt x="16" y="30"/>
                  </a:lnTo>
                  <a:lnTo>
                    <a:pt x="38" y="23"/>
                  </a:lnTo>
                  <a:lnTo>
                    <a:pt x="43" y="32"/>
                  </a:lnTo>
                  <a:lnTo>
                    <a:pt x="18" y="39"/>
                  </a:lnTo>
                  <a:lnTo>
                    <a:pt x="22" y="55"/>
                  </a:lnTo>
                  <a:lnTo>
                    <a:pt x="50" y="46"/>
                  </a:lnTo>
                  <a:lnTo>
                    <a:pt x="52" y="55"/>
                  </a:lnTo>
                  <a:lnTo>
                    <a:pt x="18" y="6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9" name="ïşļídé">
              <a:extLst>
                <a:ext uri="{FF2B5EF4-FFF2-40B4-BE49-F238E27FC236}">
                  <a16:creationId xmlns:a16="http://schemas.microsoft.com/office/drawing/2014/main" id="{F9E1A4AC-4845-4AC7-ABB5-B3608AC39082}"/>
                </a:ext>
              </a:extLst>
            </p:cNvPr>
            <p:cNvSpPr/>
            <p:nvPr/>
          </p:nvSpPr>
          <p:spPr bwMode="auto">
            <a:xfrm>
              <a:off x="3219450" y="4084638"/>
              <a:ext cx="93663" cy="109538"/>
            </a:xfrm>
            <a:custGeom>
              <a:avLst/>
              <a:gdLst>
                <a:gd name="T0" fmla="*/ 22 w 59"/>
                <a:gd name="T1" fmla="*/ 69 h 69"/>
                <a:gd name="T2" fmla="*/ 0 w 59"/>
                <a:gd name="T3" fmla="*/ 16 h 69"/>
                <a:gd name="T4" fmla="*/ 9 w 59"/>
                <a:gd name="T5" fmla="*/ 12 h 69"/>
                <a:gd name="T6" fmla="*/ 43 w 59"/>
                <a:gd name="T7" fmla="*/ 39 h 69"/>
                <a:gd name="T8" fmla="*/ 27 w 59"/>
                <a:gd name="T9" fmla="*/ 5 h 69"/>
                <a:gd name="T10" fmla="*/ 36 w 59"/>
                <a:gd name="T11" fmla="*/ 0 h 69"/>
                <a:gd name="T12" fmla="*/ 59 w 59"/>
                <a:gd name="T13" fmla="*/ 55 h 69"/>
                <a:gd name="T14" fmla="*/ 50 w 59"/>
                <a:gd name="T15" fmla="*/ 57 h 69"/>
                <a:gd name="T16" fmla="*/ 16 w 59"/>
                <a:gd name="T17" fmla="*/ 30 h 69"/>
                <a:gd name="T18" fmla="*/ 31 w 59"/>
                <a:gd name="T19" fmla="*/ 66 h 69"/>
                <a:gd name="T20" fmla="*/ 22 w 59"/>
                <a:gd name="T21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69">
                  <a:moveTo>
                    <a:pt x="22" y="69"/>
                  </a:moveTo>
                  <a:lnTo>
                    <a:pt x="0" y="16"/>
                  </a:lnTo>
                  <a:lnTo>
                    <a:pt x="9" y="12"/>
                  </a:lnTo>
                  <a:lnTo>
                    <a:pt x="43" y="39"/>
                  </a:lnTo>
                  <a:lnTo>
                    <a:pt x="27" y="5"/>
                  </a:lnTo>
                  <a:lnTo>
                    <a:pt x="36" y="0"/>
                  </a:lnTo>
                  <a:lnTo>
                    <a:pt x="59" y="55"/>
                  </a:lnTo>
                  <a:lnTo>
                    <a:pt x="50" y="57"/>
                  </a:lnTo>
                  <a:lnTo>
                    <a:pt x="16" y="30"/>
                  </a:lnTo>
                  <a:lnTo>
                    <a:pt x="31" y="66"/>
                  </a:lnTo>
                  <a:lnTo>
                    <a:pt x="22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0" name="iṧḻíďe">
              <a:extLst>
                <a:ext uri="{FF2B5EF4-FFF2-40B4-BE49-F238E27FC236}">
                  <a16:creationId xmlns:a16="http://schemas.microsoft.com/office/drawing/2014/main" id="{E16CEF24-85BF-4C1F-BDFE-30D782A5318E}"/>
                </a:ext>
              </a:extLst>
            </p:cNvPr>
            <p:cNvSpPr/>
            <p:nvPr/>
          </p:nvSpPr>
          <p:spPr bwMode="auto">
            <a:xfrm>
              <a:off x="3298825" y="4056063"/>
              <a:ext cx="82550" cy="93663"/>
            </a:xfrm>
            <a:custGeom>
              <a:avLst/>
              <a:gdLst>
                <a:gd name="T0" fmla="*/ 17 w 23"/>
                <a:gd name="T1" fmla="*/ 14 h 26"/>
                <a:gd name="T2" fmla="*/ 22 w 23"/>
                <a:gd name="T3" fmla="*/ 13 h 26"/>
                <a:gd name="T4" fmla="*/ 22 w 23"/>
                <a:gd name="T5" fmla="*/ 20 h 26"/>
                <a:gd name="T6" fmla="*/ 18 w 23"/>
                <a:gd name="T7" fmla="*/ 25 h 26"/>
                <a:gd name="T8" fmla="*/ 10 w 23"/>
                <a:gd name="T9" fmla="*/ 25 h 26"/>
                <a:gd name="T10" fmla="*/ 3 w 23"/>
                <a:gd name="T11" fmla="*/ 18 h 26"/>
                <a:gd name="T12" fmla="*/ 1 w 23"/>
                <a:gd name="T13" fmla="*/ 8 h 26"/>
                <a:gd name="T14" fmla="*/ 5 w 23"/>
                <a:gd name="T15" fmla="*/ 2 h 26"/>
                <a:gd name="T16" fmla="*/ 12 w 23"/>
                <a:gd name="T17" fmla="*/ 1 h 26"/>
                <a:gd name="T18" fmla="*/ 17 w 23"/>
                <a:gd name="T19" fmla="*/ 4 h 26"/>
                <a:gd name="T20" fmla="*/ 13 w 23"/>
                <a:gd name="T21" fmla="*/ 7 h 26"/>
                <a:gd name="T22" fmla="*/ 10 w 23"/>
                <a:gd name="T23" fmla="*/ 5 h 26"/>
                <a:gd name="T24" fmla="*/ 7 w 23"/>
                <a:gd name="T25" fmla="*/ 6 h 26"/>
                <a:gd name="T26" fmla="*/ 5 w 23"/>
                <a:gd name="T27" fmla="*/ 9 h 26"/>
                <a:gd name="T28" fmla="*/ 7 w 23"/>
                <a:gd name="T29" fmla="*/ 16 h 26"/>
                <a:gd name="T30" fmla="*/ 11 w 23"/>
                <a:gd name="T31" fmla="*/ 21 h 26"/>
                <a:gd name="T32" fmla="*/ 16 w 23"/>
                <a:gd name="T33" fmla="*/ 21 h 26"/>
                <a:gd name="T34" fmla="*/ 18 w 23"/>
                <a:gd name="T35" fmla="*/ 18 h 26"/>
                <a:gd name="T36" fmla="*/ 17 w 23"/>
                <a:gd name="T37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" h="26">
                  <a:moveTo>
                    <a:pt x="17" y="14"/>
                  </a:moveTo>
                  <a:cubicBezTo>
                    <a:pt x="22" y="13"/>
                    <a:pt x="22" y="13"/>
                    <a:pt x="22" y="13"/>
                  </a:cubicBezTo>
                  <a:cubicBezTo>
                    <a:pt x="23" y="16"/>
                    <a:pt x="23" y="18"/>
                    <a:pt x="22" y="20"/>
                  </a:cubicBezTo>
                  <a:cubicBezTo>
                    <a:pt x="21" y="22"/>
                    <a:pt x="20" y="24"/>
                    <a:pt x="18" y="25"/>
                  </a:cubicBezTo>
                  <a:cubicBezTo>
                    <a:pt x="15" y="26"/>
                    <a:pt x="13" y="26"/>
                    <a:pt x="10" y="25"/>
                  </a:cubicBezTo>
                  <a:cubicBezTo>
                    <a:pt x="7" y="24"/>
                    <a:pt x="5" y="22"/>
                    <a:pt x="3" y="18"/>
                  </a:cubicBezTo>
                  <a:cubicBezTo>
                    <a:pt x="1" y="15"/>
                    <a:pt x="0" y="11"/>
                    <a:pt x="1" y="8"/>
                  </a:cubicBezTo>
                  <a:cubicBezTo>
                    <a:pt x="1" y="5"/>
                    <a:pt x="3" y="3"/>
                    <a:pt x="5" y="2"/>
                  </a:cubicBezTo>
                  <a:cubicBezTo>
                    <a:pt x="8" y="0"/>
                    <a:pt x="10" y="0"/>
                    <a:pt x="12" y="1"/>
                  </a:cubicBezTo>
                  <a:cubicBezTo>
                    <a:pt x="14" y="1"/>
                    <a:pt x="15" y="2"/>
                    <a:pt x="17" y="4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2" y="6"/>
                    <a:pt x="11" y="5"/>
                    <a:pt x="10" y="5"/>
                  </a:cubicBezTo>
                  <a:cubicBezTo>
                    <a:pt x="9" y="5"/>
                    <a:pt x="8" y="5"/>
                    <a:pt x="7" y="6"/>
                  </a:cubicBezTo>
                  <a:cubicBezTo>
                    <a:pt x="6" y="6"/>
                    <a:pt x="5" y="8"/>
                    <a:pt x="5" y="9"/>
                  </a:cubicBezTo>
                  <a:cubicBezTo>
                    <a:pt x="5" y="11"/>
                    <a:pt x="5" y="13"/>
                    <a:pt x="7" y="16"/>
                  </a:cubicBezTo>
                  <a:cubicBezTo>
                    <a:pt x="8" y="19"/>
                    <a:pt x="10" y="20"/>
                    <a:pt x="11" y="21"/>
                  </a:cubicBezTo>
                  <a:cubicBezTo>
                    <a:pt x="13" y="22"/>
                    <a:pt x="14" y="22"/>
                    <a:pt x="16" y="21"/>
                  </a:cubicBezTo>
                  <a:cubicBezTo>
                    <a:pt x="17" y="20"/>
                    <a:pt x="17" y="20"/>
                    <a:pt x="18" y="18"/>
                  </a:cubicBezTo>
                  <a:cubicBezTo>
                    <a:pt x="18" y="17"/>
                    <a:pt x="18" y="16"/>
                    <a:pt x="17" y="14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1" name="ïSlïḓé">
              <a:extLst>
                <a:ext uri="{FF2B5EF4-FFF2-40B4-BE49-F238E27FC236}">
                  <a16:creationId xmlns:a16="http://schemas.microsoft.com/office/drawing/2014/main" id="{E5A1E6C7-56F5-4158-ACE3-D66BC5887352}"/>
                </a:ext>
              </a:extLst>
            </p:cNvPr>
            <p:cNvSpPr/>
            <p:nvPr/>
          </p:nvSpPr>
          <p:spPr bwMode="auto">
            <a:xfrm>
              <a:off x="3352800" y="4008438"/>
              <a:ext cx="104775" cy="109538"/>
            </a:xfrm>
            <a:custGeom>
              <a:avLst/>
              <a:gdLst>
                <a:gd name="T0" fmla="*/ 34 w 66"/>
                <a:gd name="T1" fmla="*/ 69 h 69"/>
                <a:gd name="T2" fmla="*/ 0 w 66"/>
                <a:gd name="T3" fmla="*/ 21 h 69"/>
                <a:gd name="T4" fmla="*/ 31 w 66"/>
                <a:gd name="T5" fmla="*/ 0 h 69"/>
                <a:gd name="T6" fmla="*/ 36 w 66"/>
                <a:gd name="T7" fmla="*/ 9 h 69"/>
                <a:gd name="T8" fmla="*/ 16 w 66"/>
                <a:gd name="T9" fmla="*/ 23 h 69"/>
                <a:gd name="T10" fmla="*/ 22 w 66"/>
                <a:gd name="T11" fmla="*/ 35 h 69"/>
                <a:gd name="T12" fmla="*/ 43 w 66"/>
                <a:gd name="T13" fmla="*/ 21 h 69"/>
                <a:gd name="T14" fmla="*/ 47 w 66"/>
                <a:gd name="T15" fmla="*/ 28 h 69"/>
                <a:gd name="T16" fmla="*/ 27 w 66"/>
                <a:gd name="T17" fmla="*/ 44 h 69"/>
                <a:gd name="T18" fmla="*/ 36 w 66"/>
                <a:gd name="T19" fmla="*/ 55 h 69"/>
                <a:gd name="T20" fmla="*/ 59 w 66"/>
                <a:gd name="T21" fmla="*/ 39 h 69"/>
                <a:gd name="T22" fmla="*/ 66 w 66"/>
                <a:gd name="T23" fmla="*/ 48 h 69"/>
                <a:gd name="T24" fmla="*/ 34 w 66"/>
                <a:gd name="T2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34" y="69"/>
                  </a:moveTo>
                  <a:lnTo>
                    <a:pt x="0" y="21"/>
                  </a:lnTo>
                  <a:lnTo>
                    <a:pt x="31" y="0"/>
                  </a:lnTo>
                  <a:lnTo>
                    <a:pt x="36" y="9"/>
                  </a:lnTo>
                  <a:lnTo>
                    <a:pt x="16" y="23"/>
                  </a:lnTo>
                  <a:lnTo>
                    <a:pt x="22" y="35"/>
                  </a:lnTo>
                  <a:lnTo>
                    <a:pt x="43" y="21"/>
                  </a:lnTo>
                  <a:lnTo>
                    <a:pt x="47" y="28"/>
                  </a:lnTo>
                  <a:lnTo>
                    <a:pt x="27" y="44"/>
                  </a:lnTo>
                  <a:lnTo>
                    <a:pt x="36" y="55"/>
                  </a:lnTo>
                  <a:lnTo>
                    <a:pt x="59" y="39"/>
                  </a:lnTo>
                  <a:lnTo>
                    <a:pt x="66" y="48"/>
                  </a:lnTo>
                  <a:lnTo>
                    <a:pt x="34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2" name="išľîḑé">
              <a:extLst>
                <a:ext uri="{FF2B5EF4-FFF2-40B4-BE49-F238E27FC236}">
                  <a16:creationId xmlns:a16="http://schemas.microsoft.com/office/drawing/2014/main" id="{4CC0C176-791F-4AAA-A774-C8766B49EDCC}"/>
                </a:ext>
              </a:extLst>
            </p:cNvPr>
            <p:cNvSpPr/>
            <p:nvPr/>
          </p:nvSpPr>
          <p:spPr bwMode="auto">
            <a:xfrm>
              <a:off x="3446463" y="3957638"/>
              <a:ext cx="93663" cy="87313"/>
            </a:xfrm>
            <a:custGeom>
              <a:avLst/>
              <a:gdLst>
                <a:gd name="T0" fmla="*/ 26 w 26"/>
                <a:gd name="T1" fmla="*/ 11 h 24"/>
                <a:gd name="T2" fmla="*/ 26 w 26"/>
                <a:gd name="T3" fmla="*/ 15 h 24"/>
                <a:gd name="T4" fmla="*/ 22 w 26"/>
                <a:gd name="T5" fmla="*/ 15 h 24"/>
                <a:gd name="T6" fmla="*/ 21 w 26"/>
                <a:gd name="T7" fmla="*/ 19 h 24"/>
                <a:gd name="T8" fmla="*/ 19 w 26"/>
                <a:gd name="T9" fmla="*/ 22 h 24"/>
                <a:gd name="T10" fmla="*/ 13 w 26"/>
                <a:gd name="T11" fmla="*/ 24 h 24"/>
                <a:gd name="T12" fmla="*/ 8 w 26"/>
                <a:gd name="T13" fmla="*/ 21 h 24"/>
                <a:gd name="T14" fmla="*/ 6 w 26"/>
                <a:gd name="T15" fmla="*/ 17 h 24"/>
                <a:gd name="T16" fmla="*/ 7 w 26"/>
                <a:gd name="T17" fmla="*/ 12 h 24"/>
                <a:gd name="T18" fmla="*/ 3 w 26"/>
                <a:gd name="T19" fmla="*/ 11 h 24"/>
                <a:gd name="T20" fmla="*/ 1 w 26"/>
                <a:gd name="T21" fmla="*/ 10 h 24"/>
                <a:gd name="T22" fmla="*/ 0 w 26"/>
                <a:gd name="T23" fmla="*/ 6 h 24"/>
                <a:gd name="T24" fmla="*/ 2 w 26"/>
                <a:gd name="T25" fmla="*/ 1 h 24"/>
                <a:gd name="T26" fmla="*/ 6 w 26"/>
                <a:gd name="T27" fmla="*/ 0 h 24"/>
                <a:gd name="T28" fmla="*/ 10 w 26"/>
                <a:gd name="T29" fmla="*/ 2 h 24"/>
                <a:gd name="T30" fmla="*/ 12 w 26"/>
                <a:gd name="T31" fmla="*/ 4 h 24"/>
                <a:gd name="T32" fmla="*/ 11 w 26"/>
                <a:gd name="T33" fmla="*/ 9 h 24"/>
                <a:gd name="T34" fmla="*/ 17 w 26"/>
                <a:gd name="T35" fmla="*/ 10 h 24"/>
                <a:gd name="T36" fmla="*/ 16 w 26"/>
                <a:gd name="T37" fmla="*/ 7 h 24"/>
                <a:gd name="T38" fmla="*/ 19 w 26"/>
                <a:gd name="T39" fmla="*/ 6 h 24"/>
                <a:gd name="T40" fmla="*/ 21 w 26"/>
                <a:gd name="T41" fmla="*/ 9 h 24"/>
                <a:gd name="T42" fmla="*/ 21 w 26"/>
                <a:gd name="T43" fmla="*/ 11 h 24"/>
                <a:gd name="T44" fmla="*/ 24 w 26"/>
                <a:gd name="T45" fmla="*/ 11 h 24"/>
                <a:gd name="T46" fmla="*/ 26 w 26"/>
                <a:gd name="T47" fmla="*/ 11 h 24"/>
                <a:gd name="T48" fmla="*/ 8 w 26"/>
                <a:gd name="T49" fmla="*/ 8 h 24"/>
                <a:gd name="T50" fmla="*/ 8 w 26"/>
                <a:gd name="T51" fmla="*/ 7 h 24"/>
                <a:gd name="T52" fmla="*/ 7 w 26"/>
                <a:gd name="T53" fmla="*/ 4 h 24"/>
                <a:gd name="T54" fmla="*/ 6 w 26"/>
                <a:gd name="T55" fmla="*/ 3 h 24"/>
                <a:gd name="T56" fmla="*/ 4 w 26"/>
                <a:gd name="T57" fmla="*/ 4 h 24"/>
                <a:gd name="T58" fmla="*/ 4 w 26"/>
                <a:gd name="T59" fmla="*/ 5 h 24"/>
                <a:gd name="T60" fmla="*/ 4 w 26"/>
                <a:gd name="T61" fmla="*/ 7 h 24"/>
                <a:gd name="T62" fmla="*/ 6 w 26"/>
                <a:gd name="T63" fmla="*/ 8 h 24"/>
                <a:gd name="T64" fmla="*/ 8 w 26"/>
                <a:gd name="T65" fmla="*/ 8 h 24"/>
                <a:gd name="T66" fmla="*/ 10 w 26"/>
                <a:gd name="T67" fmla="*/ 13 h 24"/>
                <a:gd name="T68" fmla="*/ 10 w 26"/>
                <a:gd name="T69" fmla="*/ 16 h 24"/>
                <a:gd name="T70" fmla="*/ 11 w 26"/>
                <a:gd name="T71" fmla="*/ 18 h 24"/>
                <a:gd name="T72" fmla="*/ 14 w 26"/>
                <a:gd name="T73" fmla="*/ 20 h 24"/>
                <a:gd name="T74" fmla="*/ 16 w 26"/>
                <a:gd name="T75" fmla="*/ 19 h 24"/>
                <a:gd name="T76" fmla="*/ 17 w 26"/>
                <a:gd name="T77" fmla="*/ 17 h 24"/>
                <a:gd name="T78" fmla="*/ 18 w 26"/>
                <a:gd name="T79" fmla="*/ 15 h 24"/>
                <a:gd name="T80" fmla="*/ 10 w 26"/>
                <a:gd name="T81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5"/>
                    <a:pt x="26" y="15"/>
                    <a:pt x="26" y="15"/>
                  </a:cubicBezTo>
                  <a:cubicBezTo>
                    <a:pt x="25" y="15"/>
                    <a:pt x="23" y="15"/>
                    <a:pt x="22" y="15"/>
                  </a:cubicBezTo>
                  <a:cubicBezTo>
                    <a:pt x="22" y="17"/>
                    <a:pt x="22" y="18"/>
                    <a:pt x="21" y="19"/>
                  </a:cubicBezTo>
                  <a:cubicBezTo>
                    <a:pt x="21" y="20"/>
                    <a:pt x="20" y="21"/>
                    <a:pt x="19" y="22"/>
                  </a:cubicBezTo>
                  <a:cubicBezTo>
                    <a:pt x="17" y="23"/>
                    <a:pt x="15" y="24"/>
                    <a:pt x="13" y="24"/>
                  </a:cubicBezTo>
                  <a:cubicBezTo>
                    <a:pt x="11" y="23"/>
                    <a:pt x="10" y="23"/>
                    <a:pt x="8" y="21"/>
                  </a:cubicBezTo>
                  <a:cubicBezTo>
                    <a:pt x="7" y="20"/>
                    <a:pt x="7" y="19"/>
                    <a:pt x="6" y="17"/>
                  </a:cubicBezTo>
                  <a:cubicBezTo>
                    <a:pt x="6" y="16"/>
                    <a:pt x="6" y="14"/>
                    <a:pt x="7" y="12"/>
                  </a:cubicBezTo>
                  <a:cubicBezTo>
                    <a:pt x="5" y="12"/>
                    <a:pt x="4" y="12"/>
                    <a:pt x="3" y="11"/>
                  </a:cubicBezTo>
                  <a:cubicBezTo>
                    <a:pt x="3" y="11"/>
                    <a:pt x="2" y="10"/>
                    <a:pt x="1" y="10"/>
                  </a:cubicBezTo>
                  <a:cubicBezTo>
                    <a:pt x="0" y="9"/>
                    <a:pt x="0" y="7"/>
                    <a:pt x="0" y="6"/>
                  </a:cubicBezTo>
                  <a:cubicBezTo>
                    <a:pt x="0" y="4"/>
                    <a:pt x="0" y="3"/>
                    <a:pt x="2" y="1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9" y="0"/>
                    <a:pt x="10" y="2"/>
                  </a:cubicBezTo>
                  <a:cubicBezTo>
                    <a:pt x="11" y="2"/>
                    <a:pt x="11" y="3"/>
                    <a:pt x="12" y="4"/>
                  </a:cubicBezTo>
                  <a:cubicBezTo>
                    <a:pt x="12" y="5"/>
                    <a:pt x="12" y="7"/>
                    <a:pt x="11" y="9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9"/>
                    <a:pt x="16" y="9"/>
                    <a:pt x="16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7"/>
                    <a:pt x="20" y="8"/>
                    <a:pt x="21" y="9"/>
                  </a:cubicBezTo>
                  <a:cubicBezTo>
                    <a:pt x="21" y="10"/>
                    <a:pt x="21" y="10"/>
                    <a:pt x="21" y="11"/>
                  </a:cubicBezTo>
                  <a:cubicBezTo>
                    <a:pt x="22" y="11"/>
                    <a:pt x="23" y="11"/>
                    <a:pt x="24" y="11"/>
                  </a:cubicBezTo>
                  <a:cubicBezTo>
                    <a:pt x="25" y="11"/>
                    <a:pt x="25" y="11"/>
                    <a:pt x="26" y="11"/>
                  </a:cubicBezTo>
                  <a:close/>
                  <a:moveTo>
                    <a:pt x="8" y="8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8" y="5"/>
                    <a:pt x="8" y="5"/>
                    <a:pt x="7" y="4"/>
                  </a:cubicBezTo>
                  <a:cubicBezTo>
                    <a:pt x="7" y="4"/>
                    <a:pt x="7" y="3"/>
                    <a:pt x="6" y="3"/>
                  </a:cubicBezTo>
                  <a:cubicBezTo>
                    <a:pt x="5" y="3"/>
                    <a:pt x="5" y="3"/>
                    <a:pt x="4" y="4"/>
                  </a:cubicBezTo>
                  <a:cubicBezTo>
                    <a:pt x="4" y="4"/>
                    <a:pt x="4" y="5"/>
                    <a:pt x="4" y="5"/>
                  </a:cubicBezTo>
                  <a:cubicBezTo>
                    <a:pt x="4" y="6"/>
                    <a:pt x="4" y="6"/>
                    <a:pt x="4" y="7"/>
                  </a:cubicBezTo>
                  <a:cubicBezTo>
                    <a:pt x="4" y="7"/>
                    <a:pt x="5" y="8"/>
                    <a:pt x="6" y="8"/>
                  </a:cubicBezTo>
                  <a:lnTo>
                    <a:pt x="8" y="8"/>
                  </a:lnTo>
                  <a:close/>
                  <a:moveTo>
                    <a:pt x="10" y="13"/>
                  </a:moveTo>
                  <a:cubicBezTo>
                    <a:pt x="10" y="14"/>
                    <a:pt x="10" y="15"/>
                    <a:pt x="10" y="16"/>
                  </a:cubicBezTo>
                  <a:cubicBezTo>
                    <a:pt x="10" y="17"/>
                    <a:pt x="11" y="18"/>
                    <a:pt x="11" y="18"/>
                  </a:cubicBezTo>
                  <a:cubicBezTo>
                    <a:pt x="12" y="19"/>
                    <a:pt x="13" y="20"/>
                    <a:pt x="14" y="20"/>
                  </a:cubicBezTo>
                  <a:cubicBezTo>
                    <a:pt x="15" y="20"/>
                    <a:pt x="15" y="19"/>
                    <a:pt x="16" y="19"/>
                  </a:cubicBezTo>
                  <a:cubicBezTo>
                    <a:pt x="17" y="18"/>
                    <a:pt x="17" y="18"/>
                    <a:pt x="17" y="17"/>
                  </a:cubicBezTo>
                  <a:cubicBezTo>
                    <a:pt x="17" y="17"/>
                    <a:pt x="18" y="16"/>
                    <a:pt x="18" y="15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3" name="îṥḻîďè">
              <a:extLst>
                <a:ext uri="{FF2B5EF4-FFF2-40B4-BE49-F238E27FC236}">
                  <a16:creationId xmlns:a16="http://schemas.microsoft.com/office/drawing/2014/main" id="{B151BD1B-C67D-4E09-B86B-2EAF8414BA0A}"/>
                </a:ext>
              </a:extLst>
            </p:cNvPr>
            <p:cNvSpPr/>
            <p:nvPr/>
          </p:nvSpPr>
          <p:spPr bwMode="auto">
            <a:xfrm>
              <a:off x="3503613" y="3867151"/>
              <a:ext cx="96838" cy="87313"/>
            </a:xfrm>
            <a:custGeom>
              <a:avLst/>
              <a:gdLst>
                <a:gd name="T0" fmla="*/ 55 w 61"/>
                <a:gd name="T1" fmla="*/ 55 h 55"/>
                <a:gd name="T2" fmla="*/ 16 w 61"/>
                <a:gd name="T3" fmla="*/ 25 h 55"/>
                <a:gd name="T4" fmla="*/ 7 w 61"/>
                <a:gd name="T5" fmla="*/ 37 h 55"/>
                <a:gd name="T6" fmla="*/ 0 w 61"/>
                <a:gd name="T7" fmla="*/ 30 h 55"/>
                <a:gd name="T8" fmla="*/ 25 w 61"/>
                <a:gd name="T9" fmla="*/ 0 h 55"/>
                <a:gd name="T10" fmla="*/ 32 w 61"/>
                <a:gd name="T11" fmla="*/ 5 h 55"/>
                <a:gd name="T12" fmla="*/ 23 w 61"/>
                <a:gd name="T13" fmla="*/ 16 h 55"/>
                <a:gd name="T14" fmla="*/ 61 w 61"/>
                <a:gd name="T15" fmla="*/ 48 h 55"/>
                <a:gd name="T16" fmla="*/ 55 w 61"/>
                <a:gd name="T17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5">
                  <a:moveTo>
                    <a:pt x="55" y="55"/>
                  </a:moveTo>
                  <a:lnTo>
                    <a:pt x="16" y="25"/>
                  </a:lnTo>
                  <a:lnTo>
                    <a:pt x="7" y="37"/>
                  </a:lnTo>
                  <a:lnTo>
                    <a:pt x="0" y="30"/>
                  </a:lnTo>
                  <a:lnTo>
                    <a:pt x="25" y="0"/>
                  </a:lnTo>
                  <a:lnTo>
                    <a:pt x="32" y="5"/>
                  </a:lnTo>
                  <a:lnTo>
                    <a:pt x="23" y="16"/>
                  </a:lnTo>
                  <a:lnTo>
                    <a:pt x="61" y="48"/>
                  </a:lnTo>
                  <a:lnTo>
                    <a:pt x="55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4" name="i$líḋé">
              <a:extLst>
                <a:ext uri="{FF2B5EF4-FFF2-40B4-BE49-F238E27FC236}">
                  <a16:creationId xmlns:a16="http://schemas.microsoft.com/office/drawing/2014/main" id="{2D3B3C12-275E-43C0-A5C8-A633229C41EC}"/>
                </a:ext>
              </a:extLst>
            </p:cNvPr>
            <p:cNvSpPr/>
            <p:nvPr/>
          </p:nvSpPr>
          <p:spPr bwMode="auto">
            <a:xfrm>
              <a:off x="3546475" y="3813176"/>
              <a:ext cx="109538" cy="101600"/>
            </a:xfrm>
            <a:custGeom>
              <a:avLst/>
              <a:gdLst>
                <a:gd name="T0" fmla="*/ 48 w 69"/>
                <a:gd name="T1" fmla="*/ 64 h 64"/>
                <a:gd name="T2" fmla="*/ 0 w 69"/>
                <a:gd name="T3" fmla="*/ 30 h 64"/>
                <a:gd name="T4" fmla="*/ 21 w 69"/>
                <a:gd name="T5" fmla="*/ 0 h 64"/>
                <a:gd name="T6" fmla="*/ 30 w 69"/>
                <a:gd name="T7" fmla="*/ 5 h 64"/>
                <a:gd name="T8" fmla="*/ 14 w 69"/>
                <a:gd name="T9" fmla="*/ 27 h 64"/>
                <a:gd name="T10" fmla="*/ 25 w 69"/>
                <a:gd name="T11" fmla="*/ 34 h 64"/>
                <a:gd name="T12" fmla="*/ 39 w 69"/>
                <a:gd name="T13" fmla="*/ 14 h 64"/>
                <a:gd name="T14" fmla="*/ 46 w 69"/>
                <a:gd name="T15" fmla="*/ 21 h 64"/>
                <a:gd name="T16" fmla="*/ 32 w 69"/>
                <a:gd name="T17" fmla="*/ 41 h 64"/>
                <a:gd name="T18" fmla="*/ 46 w 69"/>
                <a:gd name="T19" fmla="*/ 50 h 64"/>
                <a:gd name="T20" fmla="*/ 62 w 69"/>
                <a:gd name="T21" fmla="*/ 25 h 64"/>
                <a:gd name="T22" fmla="*/ 69 w 69"/>
                <a:gd name="T23" fmla="*/ 32 h 64"/>
                <a:gd name="T24" fmla="*/ 48 w 69"/>
                <a:gd name="T25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64">
                  <a:moveTo>
                    <a:pt x="48" y="64"/>
                  </a:moveTo>
                  <a:lnTo>
                    <a:pt x="0" y="30"/>
                  </a:lnTo>
                  <a:lnTo>
                    <a:pt x="21" y="0"/>
                  </a:lnTo>
                  <a:lnTo>
                    <a:pt x="30" y="5"/>
                  </a:lnTo>
                  <a:lnTo>
                    <a:pt x="14" y="27"/>
                  </a:lnTo>
                  <a:lnTo>
                    <a:pt x="25" y="34"/>
                  </a:lnTo>
                  <a:lnTo>
                    <a:pt x="39" y="14"/>
                  </a:lnTo>
                  <a:lnTo>
                    <a:pt x="46" y="21"/>
                  </a:lnTo>
                  <a:lnTo>
                    <a:pt x="32" y="41"/>
                  </a:lnTo>
                  <a:lnTo>
                    <a:pt x="46" y="50"/>
                  </a:lnTo>
                  <a:lnTo>
                    <a:pt x="62" y="25"/>
                  </a:lnTo>
                  <a:lnTo>
                    <a:pt x="69" y="32"/>
                  </a:lnTo>
                  <a:lnTo>
                    <a:pt x="48" y="6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5" name="iṡľîḋê">
              <a:extLst>
                <a:ext uri="{FF2B5EF4-FFF2-40B4-BE49-F238E27FC236}">
                  <a16:creationId xmlns:a16="http://schemas.microsoft.com/office/drawing/2014/main" id="{FB9F5C41-17F3-4C0A-88AB-97565D7D7635}"/>
                </a:ext>
              </a:extLst>
            </p:cNvPr>
            <p:cNvSpPr/>
            <p:nvPr/>
          </p:nvSpPr>
          <p:spPr bwMode="auto">
            <a:xfrm>
              <a:off x="3594100" y="3754438"/>
              <a:ext cx="93663" cy="84138"/>
            </a:xfrm>
            <a:custGeom>
              <a:avLst/>
              <a:gdLst>
                <a:gd name="T0" fmla="*/ 19 w 26"/>
                <a:gd name="T1" fmla="*/ 9 h 23"/>
                <a:gd name="T2" fmla="*/ 22 w 26"/>
                <a:gd name="T3" fmla="*/ 6 h 23"/>
                <a:gd name="T4" fmla="*/ 26 w 26"/>
                <a:gd name="T5" fmla="*/ 12 h 23"/>
                <a:gd name="T6" fmla="*/ 25 w 26"/>
                <a:gd name="T7" fmla="*/ 18 h 23"/>
                <a:gd name="T8" fmla="*/ 19 w 26"/>
                <a:gd name="T9" fmla="*/ 22 h 23"/>
                <a:gd name="T10" fmla="*/ 9 w 26"/>
                <a:gd name="T11" fmla="*/ 20 h 23"/>
                <a:gd name="T12" fmla="*/ 1 w 26"/>
                <a:gd name="T13" fmla="*/ 13 h 23"/>
                <a:gd name="T14" fmla="*/ 2 w 26"/>
                <a:gd name="T15" fmla="*/ 5 h 23"/>
                <a:gd name="T16" fmla="*/ 7 w 26"/>
                <a:gd name="T17" fmla="*/ 0 h 23"/>
                <a:gd name="T18" fmla="*/ 13 w 26"/>
                <a:gd name="T19" fmla="*/ 1 h 23"/>
                <a:gd name="T20" fmla="*/ 12 w 26"/>
                <a:gd name="T21" fmla="*/ 5 h 23"/>
                <a:gd name="T22" fmla="*/ 8 w 26"/>
                <a:gd name="T23" fmla="*/ 5 h 23"/>
                <a:gd name="T24" fmla="*/ 6 w 26"/>
                <a:gd name="T25" fmla="*/ 7 h 23"/>
                <a:gd name="T26" fmla="*/ 6 w 26"/>
                <a:gd name="T27" fmla="*/ 11 h 23"/>
                <a:gd name="T28" fmla="*/ 11 w 26"/>
                <a:gd name="T29" fmla="*/ 16 h 23"/>
                <a:gd name="T30" fmla="*/ 17 w 26"/>
                <a:gd name="T31" fmla="*/ 18 h 23"/>
                <a:gd name="T32" fmla="*/ 21 w 26"/>
                <a:gd name="T33" fmla="*/ 16 h 23"/>
                <a:gd name="T34" fmla="*/ 21 w 26"/>
                <a:gd name="T35" fmla="*/ 12 h 23"/>
                <a:gd name="T36" fmla="*/ 19 w 26"/>
                <a:gd name="T37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23">
                  <a:moveTo>
                    <a:pt x="19" y="9"/>
                  </a:moveTo>
                  <a:cubicBezTo>
                    <a:pt x="22" y="6"/>
                    <a:pt x="22" y="6"/>
                    <a:pt x="22" y="6"/>
                  </a:cubicBezTo>
                  <a:cubicBezTo>
                    <a:pt x="24" y="8"/>
                    <a:pt x="25" y="10"/>
                    <a:pt x="26" y="12"/>
                  </a:cubicBezTo>
                  <a:cubicBezTo>
                    <a:pt x="26" y="14"/>
                    <a:pt x="26" y="16"/>
                    <a:pt x="25" y="18"/>
                  </a:cubicBezTo>
                  <a:cubicBezTo>
                    <a:pt x="24" y="20"/>
                    <a:pt x="21" y="22"/>
                    <a:pt x="19" y="22"/>
                  </a:cubicBezTo>
                  <a:cubicBezTo>
                    <a:pt x="16" y="23"/>
                    <a:pt x="12" y="22"/>
                    <a:pt x="9" y="20"/>
                  </a:cubicBezTo>
                  <a:cubicBezTo>
                    <a:pt x="5" y="18"/>
                    <a:pt x="3" y="16"/>
                    <a:pt x="1" y="13"/>
                  </a:cubicBezTo>
                  <a:cubicBezTo>
                    <a:pt x="0" y="10"/>
                    <a:pt x="0" y="7"/>
                    <a:pt x="2" y="5"/>
                  </a:cubicBezTo>
                  <a:cubicBezTo>
                    <a:pt x="3" y="2"/>
                    <a:pt x="5" y="1"/>
                    <a:pt x="7" y="0"/>
                  </a:cubicBezTo>
                  <a:cubicBezTo>
                    <a:pt x="9" y="0"/>
                    <a:pt x="11" y="0"/>
                    <a:pt x="13" y="1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5" y="8"/>
                    <a:pt x="5" y="10"/>
                    <a:pt x="6" y="11"/>
                  </a:cubicBezTo>
                  <a:cubicBezTo>
                    <a:pt x="6" y="13"/>
                    <a:pt x="8" y="15"/>
                    <a:pt x="11" y="16"/>
                  </a:cubicBezTo>
                  <a:cubicBezTo>
                    <a:pt x="13" y="17"/>
                    <a:pt x="16" y="18"/>
                    <a:pt x="17" y="18"/>
                  </a:cubicBezTo>
                  <a:cubicBezTo>
                    <a:pt x="19" y="18"/>
                    <a:pt x="20" y="17"/>
                    <a:pt x="21" y="16"/>
                  </a:cubicBezTo>
                  <a:cubicBezTo>
                    <a:pt x="22" y="15"/>
                    <a:pt x="22" y="13"/>
                    <a:pt x="21" y="12"/>
                  </a:cubicBezTo>
                  <a:cubicBezTo>
                    <a:pt x="21" y="11"/>
                    <a:pt x="20" y="10"/>
                    <a:pt x="19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6" name="ïśḷîḍè">
              <a:extLst>
                <a:ext uri="{FF2B5EF4-FFF2-40B4-BE49-F238E27FC236}">
                  <a16:creationId xmlns:a16="http://schemas.microsoft.com/office/drawing/2014/main" id="{8736062F-8ED9-4E47-8C83-E31E42F7AB43}"/>
                </a:ext>
              </a:extLst>
            </p:cNvPr>
            <p:cNvSpPr/>
            <p:nvPr/>
          </p:nvSpPr>
          <p:spPr bwMode="auto">
            <a:xfrm>
              <a:off x="3622675" y="3679826"/>
              <a:ext cx="107950" cy="93663"/>
            </a:xfrm>
            <a:custGeom>
              <a:avLst/>
              <a:gdLst>
                <a:gd name="T0" fmla="*/ 52 w 68"/>
                <a:gd name="T1" fmla="*/ 59 h 59"/>
                <a:gd name="T2" fmla="*/ 0 w 68"/>
                <a:gd name="T3" fmla="*/ 36 h 59"/>
                <a:gd name="T4" fmla="*/ 2 w 68"/>
                <a:gd name="T5" fmla="*/ 27 h 59"/>
                <a:gd name="T6" fmla="*/ 23 w 68"/>
                <a:gd name="T7" fmla="*/ 36 h 59"/>
                <a:gd name="T8" fmla="*/ 32 w 68"/>
                <a:gd name="T9" fmla="*/ 18 h 59"/>
                <a:gd name="T10" fmla="*/ 9 w 68"/>
                <a:gd name="T11" fmla="*/ 9 h 59"/>
                <a:gd name="T12" fmla="*/ 14 w 68"/>
                <a:gd name="T13" fmla="*/ 0 h 59"/>
                <a:gd name="T14" fmla="*/ 68 w 68"/>
                <a:gd name="T15" fmla="*/ 22 h 59"/>
                <a:gd name="T16" fmla="*/ 64 w 68"/>
                <a:gd name="T17" fmla="*/ 32 h 59"/>
                <a:gd name="T18" fmla="*/ 41 w 68"/>
                <a:gd name="T19" fmla="*/ 20 h 59"/>
                <a:gd name="T20" fmla="*/ 32 w 68"/>
                <a:gd name="T21" fmla="*/ 38 h 59"/>
                <a:gd name="T22" fmla="*/ 57 w 68"/>
                <a:gd name="T23" fmla="*/ 50 h 59"/>
                <a:gd name="T24" fmla="*/ 52 w 68"/>
                <a:gd name="T2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59">
                  <a:moveTo>
                    <a:pt x="52" y="59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23" y="36"/>
                  </a:lnTo>
                  <a:lnTo>
                    <a:pt x="32" y="18"/>
                  </a:lnTo>
                  <a:lnTo>
                    <a:pt x="9" y="9"/>
                  </a:lnTo>
                  <a:lnTo>
                    <a:pt x="14" y="0"/>
                  </a:lnTo>
                  <a:lnTo>
                    <a:pt x="68" y="22"/>
                  </a:lnTo>
                  <a:lnTo>
                    <a:pt x="64" y="32"/>
                  </a:lnTo>
                  <a:lnTo>
                    <a:pt x="41" y="20"/>
                  </a:lnTo>
                  <a:lnTo>
                    <a:pt x="32" y="38"/>
                  </a:lnTo>
                  <a:lnTo>
                    <a:pt x="57" y="50"/>
                  </a:lnTo>
                  <a:lnTo>
                    <a:pt x="52" y="5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7" name="íṣļíḓe">
              <a:extLst>
                <a:ext uri="{FF2B5EF4-FFF2-40B4-BE49-F238E27FC236}">
                  <a16:creationId xmlns:a16="http://schemas.microsoft.com/office/drawing/2014/main" id="{B42652D7-331D-4417-B73B-609D37FACE55}"/>
                </a:ext>
              </a:extLst>
            </p:cNvPr>
            <p:cNvSpPr/>
            <p:nvPr/>
          </p:nvSpPr>
          <p:spPr bwMode="auto">
            <a:xfrm>
              <a:off x="3648075" y="3606801"/>
              <a:ext cx="107950" cy="87313"/>
            </a:xfrm>
            <a:custGeom>
              <a:avLst/>
              <a:gdLst>
                <a:gd name="T0" fmla="*/ 57 w 68"/>
                <a:gd name="T1" fmla="*/ 55 h 55"/>
                <a:gd name="T2" fmla="*/ 0 w 68"/>
                <a:gd name="T3" fmla="*/ 36 h 55"/>
                <a:gd name="T4" fmla="*/ 2 w 68"/>
                <a:gd name="T5" fmla="*/ 27 h 55"/>
                <a:gd name="T6" fmla="*/ 45 w 68"/>
                <a:gd name="T7" fmla="*/ 20 h 55"/>
                <a:gd name="T8" fmla="*/ 9 w 68"/>
                <a:gd name="T9" fmla="*/ 9 h 55"/>
                <a:gd name="T10" fmla="*/ 11 w 68"/>
                <a:gd name="T11" fmla="*/ 0 h 55"/>
                <a:gd name="T12" fmla="*/ 68 w 68"/>
                <a:gd name="T13" fmla="*/ 16 h 55"/>
                <a:gd name="T14" fmla="*/ 64 w 68"/>
                <a:gd name="T15" fmla="*/ 25 h 55"/>
                <a:gd name="T16" fmla="*/ 23 w 68"/>
                <a:gd name="T17" fmla="*/ 34 h 55"/>
                <a:gd name="T18" fmla="*/ 59 w 68"/>
                <a:gd name="T19" fmla="*/ 46 h 55"/>
                <a:gd name="T20" fmla="*/ 57 w 68"/>
                <a:gd name="T21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" h="55">
                  <a:moveTo>
                    <a:pt x="57" y="55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45" y="20"/>
                  </a:lnTo>
                  <a:lnTo>
                    <a:pt x="9" y="9"/>
                  </a:lnTo>
                  <a:lnTo>
                    <a:pt x="11" y="0"/>
                  </a:lnTo>
                  <a:lnTo>
                    <a:pt x="68" y="16"/>
                  </a:lnTo>
                  <a:lnTo>
                    <a:pt x="64" y="25"/>
                  </a:lnTo>
                  <a:lnTo>
                    <a:pt x="23" y="34"/>
                  </a:lnTo>
                  <a:lnTo>
                    <a:pt x="59" y="46"/>
                  </a:lnTo>
                  <a:lnTo>
                    <a:pt x="57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8" name="ïslïḓé">
              <a:extLst>
                <a:ext uri="{FF2B5EF4-FFF2-40B4-BE49-F238E27FC236}">
                  <a16:creationId xmlns:a16="http://schemas.microsoft.com/office/drawing/2014/main" id="{6C03B68B-1B98-4918-8B5C-6515C7D2FD60}"/>
                </a:ext>
              </a:extLst>
            </p:cNvPr>
            <p:cNvSpPr/>
            <p:nvPr/>
          </p:nvSpPr>
          <p:spPr bwMode="auto">
            <a:xfrm>
              <a:off x="3673475" y="3527426"/>
              <a:ext cx="96838" cy="79375"/>
            </a:xfrm>
            <a:custGeom>
              <a:avLst/>
              <a:gdLst>
                <a:gd name="T0" fmla="*/ 12 w 27"/>
                <a:gd name="T1" fmla="*/ 22 h 22"/>
                <a:gd name="T2" fmla="*/ 5 w 27"/>
                <a:gd name="T3" fmla="*/ 20 h 22"/>
                <a:gd name="T4" fmla="*/ 2 w 27"/>
                <a:gd name="T5" fmla="*/ 17 h 22"/>
                <a:gd name="T6" fmla="*/ 0 w 27"/>
                <a:gd name="T7" fmla="*/ 14 h 22"/>
                <a:gd name="T8" fmla="*/ 0 w 27"/>
                <a:gd name="T9" fmla="*/ 9 h 22"/>
                <a:gd name="T10" fmla="*/ 5 w 27"/>
                <a:gd name="T11" fmla="*/ 2 h 22"/>
                <a:gd name="T12" fmla="*/ 15 w 27"/>
                <a:gd name="T13" fmla="*/ 1 h 22"/>
                <a:gd name="T14" fmla="*/ 24 w 27"/>
                <a:gd name="T15" fmla="*/ 5 h 22"/>
                <a:gd name="T16" fmla="*/ 26 w 27"/>
                <a:gd name="T17" fmla="*/ 14 h 22"/>
                <a:gd name="T18" fmla="*/ 21 w 27"/>
                <a:gd name="T19" fmla="*/ 21 h 22"/>
                <a:gd name="T20" fmla="*/ 12 w 27"/>
                <a:gd name="T21" fmla="*/ 22 h 22"/>
                <a:gd name="T22" fmla="*/ 12 w 27"/>
                <a:gd name="T23" fmla="*/ 17 h 22"/>
                <a:gd name="T24" fmla="*/ 19 w 27"/>
                <a:gd name="T25" fmla="*/ 17 h 22"/>
                <a:gd name="T26" fmla="*/ 22 w 27"/>
                <a:gd name="T27" fmla="*/ 13 h 22"/>
                <a:gd name="T28" fmla="*/ 21 w 27"/>
                <a:gd name="T29" fmla="*/ 8 h 22"/>
                <a:gd name="T30" fmla="*/ 14 w 27"/>
                <a:gd name="T31" fmla="*/ 5 h 22"/>
                <a:gd name="T32" fmla="*/ 8 w 27"/>
                <a:gd name="T33" fmla="*/ 6 h 22"/>
                <a:gd name="T34" fmla="*/ 5 w 27"/>
                <a:gd name="T35" fmla="*/ 10 h 22"/>
                <a:gd name="T36" fmla="*/ 6 w 27"/>
                <a:gd name="T37" fmla="*/ 14 h 22"/>
                <a:gd name="T38" fmla="*/ 12 w 27"/>
                <a:gd name="T39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2">
                  <a:moveTo>
                    <a:pt x="12" y="22"/>
                  </a:moveTo>
                  <a:cubicBezTo>
                    <a:pt x="9" y="21"/>
                    <a:pt x="7" y="21"/>
                    <a:pt x="5" y="20"/>
                  </a:cubicBezTo>
                  <a:cubicBezTo>
                    <a:pt x="4" y="19"/>
                    <a:pt x="3" y="18"/>
                    <a:pt x="2" y="17"/>
                  </a:cubicBezTo>
                  <a:cubicBezTo>
                    <a:pt x="1" y="16"/>
                    <a:pt x="1" y="15"/>
                    <a:pt x="0" y="14"/>
                  </a:cubicBezTo>
                  <a:cubicBezTo>
                    <a:pt x="0" y="12"/>
                    <a:pt x="0" y="11"/>
                    <a:pt x="0" y="9"/>
                  </a:cubicBezTo>
                  <a:cubicBezTo>
                    <a:pt x="1" y="6"/>
                    <a:pt x="2" y="4"/>
                    <a:pt x="5" y="2"/>
                  </a:cubicBezTo>
                  <a:cubicBezTo>
                    <a:pt x="8" y="1"/>
                    <a:pt x="11" y="0"/>
                    <a:pt x="15" y="1"/>
                  </a:cubicBezTo>
                  <a:cubicBezTo>
                    <a:pt x="19" y="2"/>
                    <a:pt x="22" y="3"/>
                    <a:pt x="24" y="5"/>
                  </a:cubicBezTo>
                  <a:cubicBezTo>
                    <a:pt x="26" y="8"/>
                    <a:pt x="27" y="10"/>
                    <a:pt x="26" y="14"/>
                  </a:cubicBezTo>
                  <a:cubicBezTo>
                    <a:pt x="26" y="17"/>
                    <a:pt x="24" y="19"/>
                    <a:pt x="21" y="21"/>
                  </a:cubicBezTo>
                  <a:cubicBezTo>
                    <a:pt x="19" y="22"/>
                    <a:pt x="16" y="22"/>
                    <a:pt x="12" y="22"/>
                  </a:cubicBezTo>
                  <a:close/>
                  <a:moveTo>
                    <a:pt x="12" y="17"/>
                  </a:moveTo>
                  <a:cubicBezTo>
                    <a:pt x="15" y="18"/>
                    <a:pt x="17" y="18"/>
                    <a:pt x="19" y="17"/>
                  </a:cubicBezTo>
                  <a:cubicBezTo>
                    <a:pt x="21" y="16"/>
                    <a:pt x="22" y="15"/>
                    <a:pt x="22" y="13"/>
                  </a:cubicBezTo>
                  <a:cubicBezTo>
                    <a:pt x="22" y="11"/>
                    <a:pt x="22" y="10"/>
                    <a:pt x="21" y="8"/>
                  </a:cubicBezTo>
                  <a:cubicBezTo>
                    <a:pt x="19" y="7"/>
                    <a:pt x="17" y="6"/>
                    <a:pt x="14" y="5"/>
                  </a:cubicBezTo>
                  <a:cubicBezTo>
                    <a:pt x="11" y="5"/>
                    <a:pt x="9" y="5"/>
                    <a:pt x="8" y="6"/>
                  </a:cubicBezTo>
                  <a:cubicBezTo>
                    <a:pt x="6" y="7"/>
                    <a:pt x="5" y="8"/>
                    <a:pt x="5" y="10"/>
                  </a:cubicBezTo>
                  <a:cubicBezTo>
                    <a:pt x="4" y="12"/>
                    <a:pt x="5" y="13"/>
                    <a:pt x="6" y="14"/>
                  </a:cubicBezTo>
                  <a:cubicBezTo>
                    <a:pt x="7" y="16"/>
                    <a:pt x="9" y="17"/>
                    <a:pt x="12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9" name="ïṣḻîḋé">
              <a:extLst>
                <a:ext uri="{FF2B5EF4-FFF2-40B4-BE49-F238E27FC236}">
                  <a16:creationId xmlns:a16="http://schemas.microsoft.com/office/drawing/2014/main" id="{72C420A4-1005-42BD-B7EB-24F9D62D1176}"/>
                </a:ext>
              </a:extLst>
            </p:cNvPr>
            <p:cNvSpPr/>
            <p:nvPr/>
          </p:nvSpPr>
          <p:spPr bwMode="auto">
            <a:xfrm>
              <a:off x="3684588" y="3465513"/>
              <a:ext cx="93663" cy="53975"/>
            </a:xfrm>
            <a:custGeom>
              <a:avLst/>
              <a:gdLst>
                <a:gd name="T0" fmla="*/ 57 w 59"/>
                <a:gd name="T1" fmla="*/ 34 h 34"/>
                <a:gd name="T2" fmla="*/ 0 w 59"/>
                <a:gd name="T3" fmla="*/ 30 h 34"/>
                <a:gd name="T4" fmla="*/ 0 w 59"/>
                <a:gd name="T5" fmla="*/ 20 h 34"/>
                <a:gd name="T6" fmla="*/ 47 w 59"/>
                <a:gd name="T7" fmla="*/ 23 h 34"/>
                <a:gd name="T8" fmla="*/ 50 w 59"/>
                <a:gd name="T9" fmla="*/ 0 h 34"/>
                <a:gd name="T10" fmla="*/ 59 w 59"/>
                <a:gd name="T11" fmla="*/ 0 h 34"/>
                <a:gd name="T12" fmla="*/ 57 w 59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34">
                  <a:moveTo>
                    <a:pt x="57" y="34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47" y="23"/>
                  </a:lnTo>
                  <a:lnTo>
                    <a:pt x="50" y="0"/>
                  </a:lnTo>
                  <a:lnTo>
                    <a:pt x="59" y="0"/>
                  </a:lnTo>
                  <a:lnTo>
                    <a:pt x="57" y="3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0" name="ïṥḷîḓè">
              <a:extLst>
                <a:ext uri="{FF2B5EF4-FFF2-40B4-BE49-F238E27FC236}">
                  <a16:creationId xmlns:a16="http://schemas.microsoft.com/office/drawing/2014/main" id="{C49A975A-0601-4D0E-B007-975850AD38F5}"/>
                </a:ext>
              </a:extLst>
            </p:cNvPr>
            <p:cNvSpPr/>
            <p:nvPr/>
          </p:nvSpPr>
          <p:spPr bwMode="auto">
            <a:xfrm>
              <a:off x="3684588" y="3375026"/>
              <a:ext cx="96838" cy="76200"/>
            </a:xfrm>
            <a:custGeom>
              <a:avLst/>
              <a:gdLst>
                <a:gd name="T0" fmla="*/ 14 w 27"/>
                <a:gd name="T1" fmla="*/ 21 h 21"/>
                <a:gd name="T2" fmla="*/ 7 w 27"/>
                <a:gd name="T3" fmla="*/ 21 h 21"/>
                <a:gd name="T4" fmla="*/ 4 w 27"/>
                <a:gd name="T5" fmla="*/ 19 h 21"/>
                <a:gd name="T6" fmla="*/ 2 w 27"/>
                <a:gd name="T7" fmla="*/ 16 h 21"/>
                <a:gd name="T8" fmla="*/ 0 w 27"/>
                <a:gd name="T9" fmla="*/ 11 h 21"/>
                <a:gd name="T10" fmla="*/ 4 w 27"/>
                <a:gd name="T11" fmla="*/ 3 h 21"/>
                <a:gd name="T12" fmla="*/ 13 w 27"/>
                <a:gd name="T13" fmla="*/ 0 h 21"/>
                <a:gd name="T14" fmla="*/ 23 w 27"/>
                <a:gd name="T15" fmla="*/ 3 h 21"/>
                <a:gd name="T16" fmla="*/ 27 w 27"/>
                <a:gd name="T17" fmla="*/ 11 h 21"/>
                <a:gd name="T18" fmla="*/ 24 w 27"/>
                <a:gd name="T19" fmla="*/ 18 h 21"/>
                <a:gd name="T20" fmla="*/ 14 w 27"/>
                <a:gd name="T21" fmla="*/ 21 h 21"/>
                <a:gd name="T22" fmla="*/ 14 w 27"/>
                <a:gd name="T23" fmla="*/ 17 h 21"/>
                <a:gd name="T24" fmla="*/ 20 w 27"/>
                <a:gd name="T25" fmla="*/ 15 h 21"/>
                <a:gd name="T26" fmla="*/ 22 w 27"/>
                <a:gd name="T27" fmla="*/ 11 h 21"/>
                <a:gd name="T28" fmla="*/ 20 w 27"/>
                <a:gd name="T29" fmla="*/ 6 h 21"/>
                <a:gd name="T30" fmla="*/ 13 w 27"/>
                <a:gd name="T31" fmla="*/ 5 h 21"/>
                <a:gd name="T32" fmla="*/ 7 w 27"/>
                <a:gd name="T33" fmla="*/ 7 h 21"/>
                <a:gd name="T34" fmla="*/ 5 w 27"/>
                <a:gd name="T35" fmla="*/ 11 h 21"/>
                <a:gd name="T36" fmla="*/ 7 w 27"/>
                <a:gd name="T37" fmla="*/ 15 h 21"/>
                <a:gd name="T38" fmla="*/ 14 w 27"/>
                <a:gd name="T3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1">
                  <a:moveTo>
                    <a:pt x="14" y="21"/>
                  </a:moveTo>
                  <a:cubicBezTo>
                    <a:pt x="11" y="21"/>
                    <a:pt x="9" y="21"/>
                    <a:pt x="7" y="21"/>
                  </a:cubicBezTo>
                  <a:cubicBezTo>
                    <a:pt x="6" y="20"/>
                    <a:pt x="5" y="19"/>
                    <a:pt x="4" y="19"/>
                  </a:cubicBezTo>
                  <a:cubicBezTo>
                    <a:pt x="3" y="18"/>
                    <a:pt x="2" y="17"/>
                    <a:pt x="2" y="16"/>
                  </a:cubicBezTo>
                  <a:cubicBezTo>
                    <a:pt x="1" y="15"/>
                    <a:pt x="0" y="13"/>
                    <a:pt x="0" y="11"/>
                  </a:cubicBezTo>
                  <a:cubicBezTo>
                    <a:pt x="0" y="8"/>
                    <a:pt x="1" y="5"/>
                    <a:pt x="4" y="3"/>
                  </a:cubicBezTo>
                  <a:cubicBezTo>
                    <a:pt x="6" y="1"/>
                    <a:pt x="9" y="0"/>
                    <a:pt x="13" y="0"/>
                  </a:cubicBezTo>
                  <a:cubicBezTo>
                    <a:pt x="18" y="0"/>
                    <a:pt x="21" y="1"/>
                    <a:pt x="23" y="3"/>
                  </a:cubicBezTo>
                  <a:cubicBezTo>
                    <a:pt x="26" y="5"/>
                    <a:pt x="27" y="7"/>
                    <a:pt x="27" y="11"/>
                  </a:cubicBezTo>
                  <a:cubicBezTo>
                    <a:pt x="27" y="14"/>
                    <a:pt x="26" y="16"/>
                    <a:pt x="24" y="18"/>
                  </a:cubicBezTo>
                  <a:cubicBezTo>
                    <a:pt x="21" y="20"/>
                    <a:pt x="18" y="21"/>
                    <a:pt x="14" y="21"/>
                  </a:cubicBezTo>
                  <a:close/>
                  <a:moveTo>
                    <a:pt x="14" y="17"/>
                  </a:moveTo>
                  <a:cubicBezTo>
                    <a:pt x="17" y="17"/>
                    <a:pt x="19" y="16"/>
                    <a:pt x="20" y="15"/>
                  </a:cubicBezTo>
                  <a:cubicBezTo>
                    <a:pt x="22" y="14"/>
                    <a:pt x="22" y="12"/>
                    <a:pt x="22" y="11"/>
                  </a:cubicBezTo>
                  <a:cubicBezTo>
                    <a:pt x="22" y="9"/>
                    <a:pt x="22" y="8"/>
                    <a:pt x="20" y="6"/>
                  </a:cubicBezTo>
                  <a:cubicBezTo>
                    <a:pt x="19" y="5"/>
                    <a:pt x="16" y="5"/>
                    <a:pt x="13" y="5"/>
                  </a:cubicBezTo>
                  <a:cubicBezTo>
                    <a:pt x="10" y="5"/>
                    <a:pt x="8" y="6"/>
                    <a:pt x="7" y="7"/>
                  </a:cubicBezTo>
                  <a:cubicBezTo>
                    <a:pt x="5" y="8"/>
                    <a:pt x="5" y="9"/>
                    <a:pt x="5" y="11"/>
                  </a:cubicBezTo>
                  <a:cubicBezTo>
                    <a:pt x="5" y="13"/>
                    <a:pt x="6" y="14"/>
                    <a:pt x="7" y="15"/>
                  </a:cubicBezTo>
                  <a:cubicBezTo>
                    <a:pt x="9" y="16"/>
                    <a:pt x="11" y="17"/>
                    <a:pt x="14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1" name="iṥḷíďè">
              <a:extLst>
                <a:ext uri="{FF2B5EF4-FFF2-40B4-BE49-F238E27FC236}">
                  <a16:creationId xmlns:a16="http://schemas.microsoft.com/office/drawing/2014/main" id="{0F1BB791-2CD7-434B-A26F-9D2FFB665FA5}"/>
                </a:ext>
              </a:extLst>
            </p:cNvPr>
            <p:cNvSpPr/>
            <p:nvPr/>
          </p:nvSpPr>
          <p:spPr bwMode="auto">
            <a:xfrm>
              <a:off x="3676650" y="3287713"/>
              <a:ext cx="98425" cy="79375"/>
            </a:xfrm>
            <a:custGeom>
              <a:avLst/>
              <a:gdLst>
                <a:gd name="T0" fmla="*/ 17 w 27"/>
                <a:gd name="T1" fmla="*/ 10 h 22"/>
                <a:gd name="T2" fmla="*/ 13 w 27"/>
                <a:gd name="T3" fmla="*/ 11 h 22"/>
                <a:gd name="T4" fmla="*/ 12 w 27"/>
                <a:gd name="T5" fmla="*/ 1 h 22"/>
                <a:gd name="T6" fmla="*/ 22 w 27"/>
                <a:gd name="T7" fmla="*/ 0 h 22"/>
                <a:gd name="T8" fmla="*/ 25 w 27"/>
                <a:gd name="T9" fmla="*/ 4 h 22"/>
                <a:gd name="T10" fmla="*/ 27 w 27"/>
                <a:gd name="T11" fmla="*/ 9 h 22"/>
                <a:gd name="T12" fmla="*/ 26 w 27"/>
                <a:gd name="T13" fmla="*/ 15 h 22"/>
                <a:gd name="T14" fmla="*/ 22 w 27"/>
                <a:gd name="T15" fmla="*/ 19 h 22"/>
                <a:gd name="T16" fmla="*/ 15 w 27"/>
                <a:gd name="T17" fmla="*/ 21 h 22"/>
                <a:gd name="T18" fmla="*/ 8 w 27"/>
                <a:gd name="T19" fmla="*/ 21 h 22"/>
                <a:gd name="T20" fmla="*/ 3 w 27"/>
                <a:gd name="T21" fmla="*/ 17 h 22"/>
                <a:gd name="T22" fmla="*/ 1 w 27"/>
                <a:gd name="T23" fmla="*/ 12 h 22"/>
                <a:gd name="T24" fmla="*/ 2 w 27"/>
                <a:gd name="T25" fmla="*/ 6 h 22"/>
                <a:gd name="T26" fmla="*/ 7 w 27"/>
                <a:gd name="T27" fmla="*/ 2 h 22"/>
                <a:gd name="T28" fmla="*/ 8 w 27"/>
                <a:gd name="T29" fmla="*/ 7 h 22"/>
                <a:gd name="T30" fmla="*/ 6 w 27"/>
                <a:gd name="T31" fmla="*/ 9 h 22"/>
                <a:gd name="T32" fmla="*/ 5 w 27"/>
                <a:gd name="T33" fmla="*/ 12 h 22"/>
                <a:gd name="T34" fmla="*/ 8 w 27"/>
                <a:gd name="T35" fmla="*/ 16 h 22"/>
                <a:gd name="T36" fmla="*/ 14 w 27"/>
                <a:gd name="T37" fmla="*/ 17 h 22"/>
                <a:gd name="T38" fmla="*/ 21 w 27"/>
                <a:gd name="T39" fmla="*/ 14 h 22"/>
                <a:gd name="T40" fmla="*/ 22 w 27"/>
                <a:gd name="T41" fmla="*/ 10 h 22"/>
                <a:gd name="T42" fmla="*/ 21 w 27"/>
                <a:gd name="T43" fmla="*/ 7 h 22"/>
                <a:gd name="T44" fmla="*/ 20 w 27"/>
                <a:gd name="T45" fmla="*/ 5 h 22"/>
                <a:gd name="T46" fmla="*/ 16 w 27"/>
                <a:gd name="T47" fmla="*/ 5 h 22"/>
                <a:gd name="T48" fmla="*/ 17 w 27"/>
                <a:gd name="T49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" h="22">
                  <a:moveTo>
                    <a:pt x="17" y="10"/>
                  </a:moveTo>
                  <a:cubicBezTo>
                    <a:pt x="13" y="11"/>
                    <a:pt x="13" y="11"/>
                    <a:pt x="13" y="1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1"/>
                    <a:pt x="24" y="2"/>
                    <a:pt x="25" y="4"/>
                  </a:cubicBezTo>
                  <a:cubicBezTo>
                    <a:pt x="26" y="5"/>
                    <a:pt x="27" y="7"/>
                    <a:pt x="27" y="9"/>
                  </a:cubicBezTo>
                  <a:cubicBezTo>
                    <a:pt x="27" y="11"/>
                    <a:pt x="27" y="13"/>
                    <a:pt x="26" y="15"/>
                  </a:cubicBezTo>
                  <a:cubicBezTo>
                    <a:pt x="25" y="17"/>
                    <a:pt x="24" y="18"/>
                    <a:pt x="22" y="19"/>
                  </a:cubicBezTo>
                  <a:cubicBezTo>
                    <a:pt x="20" y="20"/>
                    <a:pt x="18" y="21"/>
                    <a:pt x="15" y="21"/>
                  </a:cubicBezTo>
                  <a:cubicBezTo>
                    <a:pt x="12" y="22"/>
                    <a:pt x="10" y="22"/>
                    <a:pt x="8" y="21"/>
                  </a:cubicBezTo>
                  <a:cubicBezTo>
                    <a:pt x="6" y="20"/>
                    <a:pt x="4" y="19"/>
                    <a:pt x="3" y="17"/>
                  </a:cubicBezTo>
                  <a:cubicBezTo>
                    <a:pt x="2" y="16"/>
                    <a:pt x="1" y="15"/>
                    <a:pt x="1" y="12"/>
                  </a:cubicBezTo>
                  <a:cubicBezTo>
                    <a:pt x="0" y="10"/>
                    <a:pt x="1" y="8"/>
                    <a:pt x="2" y="6"/>
                  </a:cubicBezTo>
                  <a:cubicBezTo>
                    <a:pt x="3" y="4"/>
                    <a:pt x="5" y="3"/>
                    <a:pt x="7" y="2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7"/>
                    <a:pt x="6" y="8"/>
                    <a:pt x="6" y="9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4"/>
                    <a:pt x="6" y="15"/>
                    <a:pt x="8" y="16"/>
                  </a:cubicBezTo>
                  <a:cubicBezTo>
                    <a:pt x="9" y="17"/>
                    <a:pt x="12" y="17"/>
                    <a:pt x="14" y="17"/>
                  </a:cubicBezTo>
                  <a:cubicBezTo>
                    <a:pt x="17" y="17"/>
                    <a:pt x="19" y="16"/>
                    <a:pt x="21" y="14"/>
                  </a:cubicBezTo>
                  <a:cubicBezTo>
                    <a:pt x="22" y="13"/>
                    <a:pt x="23" y="11"/>
                    <a:pt x="22" y="10"/>
                  </a:cubicBezTo>
                  <a:cubicBezTo>
                    <a:pt x="22" y="9"/>
                    <a:pt x="22" y="8"/>
                    <a:pt x="21" y="7"/>
                  </a:cubicBezTo>
                  <a:cubicBezTo>
                    <a:pt x="21" y="6"/>
                    <a:pt x="20" y="5"/>
                    <a:pt x="20" y="5"/>
                  </a:cubicBezTo>
                  <a:cubicBezTo>
                    <a:pt x="16" y="5"/>
                    <a:pt x="16" y="5"/>
                    <a:pt x="16" y="5"/>
                  </a:cubicBezTo>
                  <a:lnTo>
                    <a:pt x="17" y="1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2" name="ïş1ídè">
              <a:extLst>
                <a:ext uri="{FF2B5EF4-FFF2-40B4-BE49-F238E27FC236}">
                  <a16:creationId xmlns:a16="http://schemas.microsoft.com/office/drawing/2014/main" id="{48B83BF4-5AD5-49C1-8B23-483DF141A4AB}"/>
                </a:ext>
              </a:extLst>
            </p:cNvPr>
            <p:cNvSpPr/>
            <p:nvPr/>
          </p:nvSpPr>
          <p:spPr bwMode="auto">
            <a:xfrm>
              <a:off x="3659188" y="3225801"/>
              <a:ext cx="100013" cy="69850"/>
            </a:xfrm>
            <a:custGeom>
              <a:avLst/>
              <a:gdLst>
                <a:gd name="T0" fmla="*/ 63 w 63"/>
                <a:gd name="T1" fmla="*/ 14 h 44"/>
                <a:gd name="T2" fmla="*/ 38 w 63"/>
                <a:gd name="T3" fmla="*/ 18 h 44"/>
                <a:gd name="T4" fmla="*/ 11 w 63"/>
                <a:gd name="T5" fmla="*/ 44 h 44"/>
                <a:gd name="T6" fmla="*/ 7 w 63"/>
                <a:gd name="T7" fmla="*/ 32 h 44"/>
                <a:gd name="T8" fmla="*/ 27 w 63"/>
                <a:gd name="T9" fmla="*/ 16 h 44"/>
                <a:gd name="T10" fmla="*/ 2 w 63"/>
                <a:gd name="T11" fmla="*/ 9 h 44"/>
                <a:gd name="T12" fmla="*/ 0 w 63"/>
                <a:gd name="T13" fmla="*/ 0 h 44"/>
                <a:gd name="T14" fmla="*/ 36 w 63"/>
                <a:gd name="T15" fmla="*/ 9 h 44"/>
                <a:gd name="T16" fmla="*/ 61 w 63"/>
                <a:gd name="T17" fmla="*/ 2 h 44"/>
                <a:gd name="T18" fmla="*/ 63 w 63"/>
                <a:gd name="T19" fmla="*/ 1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44">
                  <a:moveTo>
                    <a:pt x="63" y="14"/>
                  </a:moveTo>
                  <a:lnTo>
                    <a:pt x="38" y="18"/>
                  </a:lnTo>
                  <a:lnTo>
                    <a:pt x="11" y="44"/>
                  </a:lnTo>
                  <a:lnTo>
                    <a:pt x="7" y="32"/>
                  </a:lnTo>
                  <a:lnTo>
                    <a:pt x="27" y="16"/>
                  </a:lnTo>
                  <a:lnTo>
                    <a:pt x="2" y="9"/>
                  </a:lnTo>
                  <a:lnTo>
                    <a:pt x="0" y="0"/>
                  </a:lnTo>
                  <a:lnTo>
                    <a:pt x="36" y="9"/>
                  </a:lnTo>
                  <a:lnTo>
                    <a:pt x="61" y="2"/>
                  </a:lnTo>
                  <a:lnTo>
                    <a:pt x="63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3" name="îŝļiḑe">
              <a:extLst>
                <a:ext uri="{FF2B5EF4-FFF2-40B4-BE49-F238E27FC236}">
                  <a16:creationId xmlns:a16="http://schemas.microsoft.com/office/drawing/2014/main" id="{7E5E3951-36BA-4D12-B1D5-8DCAF37AB3C4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4" name="í$ļïḓé">
              <a:extLst>
                <a:ext uri="{FF2B5EF4-FFF2-40B4-BE49-F238E27FC236}">
                  <a16:creationId xmlns:a16="http://schemas.microsoft.com/office/drawing/2014/main" id="{0BD07E8F-B8EA-4F79-B49A-F822350EE240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5" name="i$1iďê">
              <a:extLst>
                <a:ext uri="{FF2B5EF4-FFF2-40B4-BE49-F238E27FC236}">
                  <a16:creationId xmlns:a16="http://schemas.microsoft.com/office/drawing/2014/main" id="{FECC6020-AB3A-4030-8F98-F466C809E309}"/>
                </a:ext>
              </a:extLst>
            </p:cNvPr>
            <p:cNvSpPr/>
            <p:nvPr/>
          </p:nvSpPr>
          <p:spPr bwMode="auto">
            <a:xfrm>
              <a:off x="2768600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6" name="îšḷiḍe">
              <a:extLst>
                <a:ext uri="{FF2B5EF4-FFF2-40B4-BE49-F238E27FC236}">
                  <a16:creationId xmlns:a16="http://schemas.microsoft.com/office/drawing/2014/main" id="{8D194721-99D8-4023-B41A-9D6FBB0FEC61}"/>
                </a:ext>
              </a:extLst>
            </p:cNvPr>
            <p:cNvSpPr/>
            <p:nvPr/>
          </p:nvSpPr>
          <p:spPr bwMode="auto">
            <a:xfrm>
              <a:off x="3121025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7" name="íṥlïdê">
              <a:extLst>
                <a:ext uri="{FF2B5EF4-FFF2-40B4-BE49-F238E27FC236}">
                  <a16:creationId xmlns:a16="http://schemas.microsoft.com/office/drawing/2014/main" id="{759E86FF-B267-4212-9D1A-F4FCB768A31D}"/>
                </a:ext>
              </a:extLst>
            </p:cNvPr>
            <p:cNvSpPr/>
            <p:nvPr/>
          </p:nvSpPr>
          <p:spPr bwMode="auto">
            <a:xfrm>
              <a:off x="2871788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8" name="íśľîďé">
              <a:extLst>
                <a:ext uri="{FF2B5EF4-FFF2-40B4-BE49-F238E27FC236}">
                  <a16:creationId xmlns:a16="http://schemas.microsoft.com/office/drawing/2014/main" id="{19BB9352-C274-4197-BE2C-B4377239425B}"/>
                </a:ext>
              </a:extLst>
            </p:cNvPr>
            <p:cNvSpPr/>
            <p:nvPr/>
          </p:nvSpPr>
          <p:spPr bwMode="auto">
            <a:xfrm>
              <a:off x="3021013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9" name="iŝḻîdé">
              <a:extLst>
                <a:ext uri="{FF2B5EF4-FFF2-40B4-BE49-F238E27FC236}">
                  <a16:creationId xmlns:a16="http://schemas.microsoft.com/office/drawing/2014/main" id="{49F4EDB6-A957-429D-848C-6DD59080B28C}"/>
                </a:ext>
              </a:extLst>
            </p:cNvPr>
            <p:cNvSpPr/>
            <p:nvPr/>
          </p:nvSpPr>
          <p:spPr bwMode="auto">
            <a:xfrm>
              <a:off x="2768600" y="3482976"/>
              <a:ext cx="396875" cy="109538"/>
            </a:xfrm>
            <a:custGeom>
              <a:avLst/>
              <a:gdLst>
                <a:gd name="T0" fmla="*/ 250 w 250"/>
                <a:gd name="T1" fmla="*/ 0 h 69"/>
                <a:gd name="T2" fmla="*/ 225 w 250"/>
                <a:gd name="T3" fmla="*/ 0 h 69"/>
                <a:gd name="T4" fmla="*/ 225 w 250"/>
                <a:gd name="T5" fmla="*/ 5 h 69"/>
                <a:gd name="T6" fmla="*/ 222 w 250"/>
                <a:gd name="T7" fmla="*/ 5 h 69"/>
                <a:gd name="T8" fmla="*/ 222 w 250"/>
                <a:gd name="T9" fmla="*/ 0 h 69"/>
                <a:gd name="T10" fmla="*/ 186 w 250"/>
                <a:gd name="T11" fmla="*/ 0 h 69"/>
                <a:gd name="T12" fmla="*/ 186 w 250"/>
                <a:gd name="T13" fmla="*/ 5 h 69"/>
                <a:gd name="T14" fmla="*/ 184 w 250"/>
                <a:gd name="T15" fmla="*/ 5 h 69"/>
                <a:gd name="T16" fmla="*/ 184 w 250"/>
                <a:gd name="T17" fmla="*/ 0 h 69"/>
                <a:gd name="T18" fmla="*/ 161 w 250"/>
                <a:gd name="T19" fmla="*/ 0 h 69"/>
                <a:gd name="T20" fmla="*/ 161 w 250"/>
                <a:gd name="T21" fmla="*/ 5 h 69"/>
                <a:gd name="T22" fmla="*/ 159 w 250"/>
                <a:gd name="T23" fmla="*/ 5 h 69"/>
                <a:gd name="T24" fmla="*/ 159 w 250"/>
                <a:gd name="T25" fmla="*/ 0 h 69"/>
                <a:gd name="T26" fmla="*/ 93 w 250"/>
                <a:gd name="T27" fmla="*/ 0 h 69"/>
                <a:gd name="T28" fmla="*/ 93 w 250"/>
                <a:gd name="T29" fmla="*/ 5 h 69"/>
                <a:gd name="T30" fmla="*/ 90 w 250"/>
                <a:gd name="T31" fmla="*/ 5 h 69"/>
                <a:gd name="T32" fmla="*/ 90 w 250"/>
                <a:gd name="T33" fmla="*/ 0 h 69"/>
                <a:gd name="T34" fmla="*/ 65 w 250"/>
                <a:gd name="T35" fmla="*/ 0 h 69"/>
                <a:gd name="T36" fmla="*/ 65 w 250"/>
                <a:gd name="T37" fmla="*/ 5 h 69"/>
                <a:gd name="T38" fmla="*/ 65 w 250"/>
                <a:gd name="T39" fmla="*/ 5 h 69"/>
                <a:gd name="T40" fmla="*/ 65 w 250"/>
                <a:gd name="T41" fmla="*/ 0 h 69"/>
                <a:gd name="T42" fmla="*/ 27 w 250"/>
                <a:gd name="T43" fmla="*/ 0 h 69"/>
                <a:gd name="T44" fmla="*/ 27 w 250"/>
                <a:gd name="T45" fmla="*/ 5 h 69"/>
                <a:gd name="T46" fmla="*/ 25 w 250"/>
                <a:gd name="T47" fmla="*/ 5 h 69"/>
                <a:gd name="T48" fmla="*/ 25 w 250"/>
                <a:gd name="T49" fmla="*/ 0 h 69"/>
                <a:gd name="T50" fmla="*/ 2 w 250"/>
                <a:gd name="T51" fmla="*/ 0 h 69"/>
                <a:gd name="T52" fmla="*/ 2 w 250"/>
                <a:gd name="T53" fmla="*/ 5 h 69"/>
                <a:gd name="T54" fmla="*/ 0 w 250"/>
                <a:gd name="T55" fmla="*/ 5 h 69"/>
                <a:gd name="T56" fmla="*/ 0 w 250"/>
                <a:gd name="T57" fmla="*/ 69 h 69"/>
                <a:gd name="T58" fmla="*/ 27 w 250"/>
                <a:gd name="T59" fmla="*/ 69 h 69"/>
                <a:gd name="T60" fmla="*/ 27 w 250"/>
                <a:gd name="T61" fmla="*/ 12 h 69"/>
                <a:gd name="T62" fmla="*/ 65 w 250"/>
                <a:gd name="T63" fmla="*/ 12 h 69"/>
                <a:gd name="T64" fmla="*/ 65 w 250"/>
                <a:gd name="T65" fmla="*/ 69 h 69"/>
                <a:gd name="T66" fmla="*/ 93 w 250"/>
                <a:gd name="T67" fmla="*/ 69 h 69"/>
                <a:gd name="T68" fmla="*/ 93 w 250"/>
                <a:gd name="T69" fmla="*/ 12 h 69"/>
                <a:gd name="T70" fmla="*/ 159 w 250"/>
                <a:gd name="T71" fmla="*/ 12 h 69"/>
                <a:gd name="T72" fmla="*/ 159 w 250"/>
                <a:gd name="T73" fmla="*/ 69 h 69"/>
                <a:gd name="T74" fmla="*/ 186 w 250"/>
                <a:gd name="T75" fmla="*/ 69 h 69"/>
                <a:gd name="T76" fmla="*/ 186 w 250"/>
                <a:gd name="T77" fmla="*/ 12 h 69"/>
                <a:gd name="T78" fmla="*/ 222 w 250"/>
                <a:gd name="T79" fmla="*/ 12 h 69"/>
                <a:gd name="T80" fmla="*/ 222 w 250"/>
                <a:gd name="T81" fmla="*/ 69 h 69"/>
                <a:gd name="T82" fmla="*/ 250 w 250"/>
                <a:gd name="T83" fmla="*/ 69 h 69"/>
                <a:gd name="T84" fmla="*/ 250 w 250"/>
                <a:gd name="T85" fmla="*/ 5 h 69"/>
                <a:gd name="T86" fmla="*/ 250 w 250"/>
                <a:gd name="T87" fmla="*/ 5 h 69"/>
                <a:gd name="T88" fmla="*/ 250 w 250"/>
                <a:gd name="T8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0" h="69">
                  <a:moveTo>
                    <a:pt x="250" y="0"/>
                  </a:moveTo>
                  <a:lnTo>
                    <a:pt x="225" y="0"/>
                  </a:lnTo>
                  <a:lnTo>
                    <a:pt x="225" y="5"/>
                  </a:lnTo>
                  <a:lnTo>
                    <a:pt x="222" y="5"/>
                  </a:lnTo>
                  <a:lnTo>
                    <a:pt x="222" y="0"/>
                  </a:lnTo>
                  <a:lnTo>
                    <a:pt x="186" y="0"/>
                  </a:lnTo>
                  <a:lnTo>
                    <a:pt x="186" y="5"/>
                  </a:lnTo>
                  <a:lnTo>
                    <a:pt x="184" y="5"/>
                  </a:lnTo>
                  <a:lnTo>
                    <a:pt x="184" y="0"/>
                  </a:lnTo>
                  <a:lnTo>
                    <a:pt x="161" y="0"/>
                  </a:lnTo>
                  <a:lnTo>
                    <a:pt x="161" y="5"/>
                  </a:lnTo>
                  <a:lnTo>
                    <a:pt x="159" y="5"/>
                  </a:lnTo>
                  <a:lnTo>
                    <a:pt x="159" y="0"/>
                  </a:lnTo>
                  <a:lnTo>
                    <a:pt x="93" y="0"/>
                  </a:lnTo>
                  <a:lnTo>
                    <a:pt x="93" y="5"/>
                  </a:lnTo>
                  <a:lnTo>
                    <a:pt x="90" y="5"/>
                  </a:lnTo>
                  <a:lnTo>
                    <a:pt x="90" y="0"/>
                  </a:lnTo>
                  <a:lnTo>
                    <a:pt x="65" y="0"/>
                  </a:lnTo>
                  <a:lnTo>
                    <a:pt x="65" y="5"/>
                  </a:lnTo>
                  <a:lnTo>
                    <a:pt x="65" y="5"/>
                  </a:lnTo>
                  <a:lnTo>
                    <a:pt x="65" y="0"/>
                  </a:lnTo>
                  <a:lnTo>
                    <a:pt x="27" y="0"/>
                  </a:lnTo>
                  <a:lnTo>
                    <a:pt x="27" y="5"/>
                  </a:lnTo>
                  <a:lnTo>
                    <a:pt x="25" y="5"/>
                  </a:lnTo>
                  <a:lnTo>
                    <a:pt x="25" y="0"/>
                  </a:lnTo>
                  <a:lnTo>
                    <a:pt x="2" y="0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69"/>
                  </a:lnTo>
                  <a:lnTo>
                    <a:pt x="27" y="69"/>
                  </a:lnTo>
                  <a:lnTo>
                    <a:pt x="27" y="12"/>
                  </a:lnTo>
                  <a:lnTo>
                    <a:pt x="65" y="12"/>
                  </a:lnTo>
                  <a:lnTo>
                    <a:pt x="65" y="69"/>
                  </a:lnTo>
                  <a:lnTo>
                    <a:pt x="93" y="69"/>
                  </a:lnTo>
                  <a:lnTo>
                    <a:pt x="93" y="12"/>
                  </a:lnTo>
                  <a:lnTo>
                    <a:pt x="159" y="12"/>
                  </a:lnTo>
                  <a:lnTo>
                    <a:pt x="159" y="69"/>
                  </a:lnTo>
                  <a:lnTo>
                    <a:pt x="186" y="69"/>
                  </a:lnTo>
                  <a:lnTo>
                    <a:pt x="186" y="12"/>
                  </a:lnTo>
                  <a:lnTo>
                    <a:pt x="222" y="12"/>
                  </a:lnTo>
                  <a:lnTo>
                    <a:pt x="222" y="69"/>
                  </a:lnTo>
                  <a:lnTo>
                    <a:pt x="250" y="69"/>
                  </a:lnTo>
                  <a:lnTo>
                    <a:pt x="250" y="5"/>
                  </a:lnTo>
                  <a:lnTo>
                    <a:pt x="250" y="5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0" name="ïsḷiḍé">
              <a:extLst>
                <a:ext uri="{FF2B5EF4-FFF2-40B4-BE49-F238E27FC236}">
                  <a16:creationId xmlns:a16="http://schemas.microsoft.com/office/drawing/2014/main" id="{DD4C49D8-B857-45EF-A5FF-A5F188B45A19}"/>
                </a:ext>
              </a:extLst>
            </p:cNvPr>
            <p:cNvSpPr/>
            <p:nvPr/>
          </p:nvSpPr>
          <p:spPr bwMode="auto">
            <a:xfrm>
              <a:off x="29019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0 w 1"/>
                <a:gd name="T9" fmla="*/ 0 w 1"/>
                <a:gd name="T10" fmla="*/ 0 w 1"/>
                <a:gd name="T11" fmla="*/ 0 w 1"/>
                <a:gd name="T12" fmla="*/ 1 w 1"/>
                <a:gd name="T1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1" name="íṧ1iďè">
              <a:extLst>
                <a:ext uri="{FF2B5EF4-FFF2-40B4-BE49-F238E27FC236}">
                  <a16:creationId xmlns:a16="http://schemas.microsoft.com/office/drawing/2014/main" id="{05572607-00FA-465E-BB4A-8D950F05E24B}"/>
                </a:ext>
              </a:extLst>
            </p:cNvPr>
            <p:cNvSpPr/>
            <p:nvPr/>
          </p:nvSpPr>
          <p:spPr bwMode="auto">
            <a:xfrm>
              <a:off x="2901950" y="3443288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0 h 1"/>
                <a:gd name="T5" fmla="*/ 0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2" name="îṩľíḓe">
              <a:extLst>
                <a:ext uri="{FF2B5EF4-FFF2-40B4-BE49-F238E27FC236}">
                  <a16:creationId xmlns:a16="http://schemas.microsoft.com/office/drawing/2014/main" id="{73F97950-F65B-44CE-8526-0ABA350DC161}"/>
                </a:ext>
              </a:extLst>
            </p:cNvPr>
            <p:cNvSpPr/>
            <p:nvPr/>
          </p:nvSpPr>
          <p:spPr bwMode="auto">
            <a:xfrm>
              <a:off x="2901950" y="3440113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3" name="ïṡ1ïḑé">
              <a:extLst>
                <a:ext uri="{FF2B5EF4-FFF2-40B4-BE49-F238E27FC236}">
                  <a16:creationId xmlns:a16="http://schemas.microsoft.com/office/drawing/2014/main" id="{620F7DEE-055C-4437-9C79-5A0B17B05BEC}"/>
                </a:ext>
              </a:extLst>
            </p:cNvPr>
            <p:cNvSpPr/>
            <p:nvPr/>
          </p:nvSpPr>
          <p:spPr bwMode="auto">
            <a:xfrm>
              <a:off x="2905125" y="3446463"/>
              <a:ext cx="3175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0 w 1"/>
                <a:gd name="T4" fmla="*/ 1 w 1"/>
                <a:gd name="T5" fmla="*/ 1 w 1"/>
                <a:gd name="T6" fmla="*/ 1 w 1"/>
                <a:gd name="T7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4" name="iṡlíďe">
              <a:extLst>
                <a:ext uri="{FF2B5EF4-FFF2-40B4-BE49-F238E27FC236}">
                  <a16:creationId xmlns:a16="http://schemas.microsoft.com/office/drawing/2014/main" id="{209CD8D5-C519-4D16-B813-42F322757C2E}"/>
                </a:ext>
              </a:extLst>
            </p:cNvPr>
            <p:cNvSpPr/>
            <p:nvPr/>
          </p:nvSpPr>
          <p:spPr bwMode="auto">
            <a:xfrm>
              <a:off x="2908300" y="3446463"/>
              <a:ext cx="3175" cy="476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5" name="ïšḷiḍè">
              <a:extLst>
                <a:ext uri="{FF2B5EF4-FFF2-40B4-BE49-F238E27FC236}">
                  <a16:creationId xmlns:a16="http://schemas.microsoft.com/office/drawing/2014/main" id="{86C4D568-D623-4128-8CD4-518A40978BE0}"/>
                </a:ext>
              </a:extLst>
            </p:cNvPr>
            <p:cNvSpPr/>
            <p:nvPr/>
          </p:nvSpPr>
          <p:spPr bwMode="auto">
            <a:xfrm>
              <a:off x="2905125" y="3451226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1 h 1"/>
                <a:gd name="T5" fmla="*/ 1 h 1"/>
                <a:gd name="T6" fmla="*/ 0 h 1"/>
                <a:gd name="T7" fmla="*/ 0 h 1"/>
                <a:gd name="T8" fmla="*/ 0 h 1"/>
                <a:gd name="T9" fmla="*/ 0 h 1"/>
                <a:gd name="T10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6" name="í$1îḓè">
              <a:extLst>
                <a:ext uri="{FF2B5EF4-FFF2-40B4-BE49-F238E27FC236}">
                  <a16:creationId xmlns:a16="http://schemas.microsoft.com/office/drawing/2014/main" id="{A748391C-61C8-47D3-BD94-B8D19822BB01}"/>
                </a:ext>
              </a:extLst>
            </p:cNvPr>
            <p:cNvSpPr/>
            <p:nvPr/>
          </p:nvSpPr>
          <p:spPr bwMode="auto">
            <a:xfrm>
              <a:off x="2857500" y="3446463"/>
              <a:ext cx="11113" cy="7938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1 h 2"/>
                <a:gd name="T4" fmla="*/ 1 w 3"/>
                <a:gd name="T5" fmla="*/ 1 h 2"/>
                <a:gd name="T6" fmla="*/ 1 w 3"/>
                <a:gd name="T7" fmla="*/ 1 h 2"/>
                <a:gd name="T8" fmla="*/ 1 w 3"/>
                <a:gd name="T9" fmla="*/ 1 h 2"/>
                <a:gd name="T10" fmla="*/ 1 w 3"/>
                <a:gd name="T11" fmla="*/ 0 h 2"/>
                <a:gd name="T12" fmla="*/ 1 w 3"/>
                <a:gd name="T13" fmla="*/ 0 h 2"/>
                <a:gd name="T14" fmla="*/ 1 w 3"/>
                <a:gd name="T15" fmla="*/ 0 h 2"/>
                <a:gd name="T16" fmla="*/ 1 w 3"/>
                <a:gd name="T17" fmla="*/ 0 h 2"/>
                <a:gd name="T18" fmla="*/ 1 w 3"/>
                <a:gd name="T19" fmla="*/ 0 h 2"/>
                <a:gd name="T20" fmla="*/ 1 w 3"/>
                <a:gd name="T21" fmla="*/ 0 h 2"/>
                <a:gd name="T22" fmla="*/ 1 w 3"/>
                <a:gd name="T23" fmla="*/ 0 h 2"/>
                <a:gd name="T24" fmla="*/ 1 w 3"/>
                <a:gd name="T25" fmla="*/ 0 h 2"/>
                <a:gd name="T26" fmla="*/ 1 w 3"/>
                <a:gd name="T27" fmla="*/ 0 h 2"/>
                <a:gd name="T28" fmla="*/ 0 w 3"/>
                <a:gd name="T29" fmla="*/ 0 h 2"/>
                <a:gd name="T30" fmla="*/ 0 w 3"/>
                <a:gd name="T31" fmla="*/ 0 h 2"/>
                <a:gd name="T32" fmla="*/ 0 w 3"/>
                <a:gd name="T33" fmla="*/ 0 h 2"/>
                <a:gd name="T34" fmla="*/ 0 w 3"/>
                <a:gd name="T35" fmla="*/ 0 h 2"/>
                <a:gd name="T36" fmla="*/ 0 w 3"/>
                <a:gd name="T37" fmla="*/ 0 h 2"/>
                <a:gd name="T38" fmla="*/ 1 w 3"/>
                <a:gd name="T39" fmla="*/ 1 h 2"/>
                <a:gd name="T40" fmla="*/ 1 w 3"/>
                <a:gd name="T41" fmla="*/ 1 h 2"/>
                <a:gd name="T42" fmla="*/ 1 w 3"/>
                <a:gd name="T43" fmla="*/ 1 h 2"/>
                <a:gd name="T44" fmla="*/ 1 w 3"/>
                <a:gd name="T45" fmla="*/ 2 h 2"/>
                <a:gd name="T46" fmla="*/ 1 w 3"/>
                <a:gd name="T47" fmla="*/ 1 h 2"/>
                <a:gd name="T48" fmla="*/ 2 w 3"/>
                <a:gd name="T49" fmla="*/ 1 h 2"/>
                <a:gd name="T50" fmla="*/ 2 w 3"/>
                <a:gd name="T51" fmla="*/ 1 h 2"/>
                <a:gd name="T52" fmla="*/ 2 w 3"/>
                <a:gd name="T53" fmla="*/ 1 h 2"/>
                <a:gd name="T54" fmla="*/ 3 w 3"/>
                <a:gd name="T55" fmla="*/ 1 h 2"/>
                <a:gd name="T56" fmla="*/ 3 w 3"/>
                <a:gd name="T57" fmla="*/ 1 h 2"/>
                <a:gd name="T58" fmla="*/ 2 w 3"/>
                <a:gd name="T59" fmla="*/ 1 h 2"/>
                <a:gd name="T60" fmla="*/ 2 w 3"/>
                <a:gd name="T61" fmla="*/ 1 h 2"/>
                <a:gd name="T62" fmla="*/ 2 w 3"/>
                <a:gd name="T63" fmla="*/ 1 h 2"/>
                <a:gd name="T64" fmla="*/ 2 w 3"/>
                <a:gd name="T6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7" name="î$ľidé">
              <a:extLst>
                <a:ext uri="{FF2B5EF4-FFF2-40B4-BE49-F238E27FC236}">
                  <a16:creationId xmlns:a16="http://schemas.microsoft.com/office/drawing/2014/main" id="{1D6EE668-B625-479D-AD75-8A4B4B5EE70F}"/>
                </a:ext>
              </a:extLst>
            </p:cNvPr>
            <p:cNvSpPr/>
            <p:nvPr/>
          </p:nvSpPr>
          <p:spPr bwMode="auto">
            <a:xfrm>
              <a:off x="2908300" y="3451226"/>
              <a:ext cx="3175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0 w 1"/>
                <a:gd name="T6" fmla="*/ 0 w 1"/>
                <a:gd name="T7" fmla="*/ 1 w 1"/>
                <a:gd name="T8" fmla="*/ 1 w 1"/>
                <a:gd name="T9" fmla="*/ 1 w 1"/>
                <a:gd name="T10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8" name="išḻïďê">
              <a:extLst>
                <a:ext uri="{FF2B5EF4-FFF2-40B4-BE49-F238E27FC236}">
                  <a16:creationId xmlns:a16="http://schemas.microsoft.com/office/drawing/2014/main" id="{61FA7743-226A-48B6-A9FC-0DBD091E240F}"/>
                </a:ext>
              </a:extLst>
            </p:cNvPr>
            <p:cNvSpPr/>
            <p:nvPr/>
          </p:nvSpPr>
          <p:spPr bwMode="auto">
            <a:xfrm>
              <a:off x="2822575" y="3440113"/>
              <a:ext cx="3175" cy="3175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1 h 1"/>
                <a:gd name="T24" fmla="*/ 0 w 1"/>
                <a:gd name="T2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9" name="îSļíďê">
              <a:extLst>
                <a:ext uri="{FF2B5EF4-FFF2-40B4-BE49-F238E27FC236}">
                  <a16:creationId xmlns:a16="http://schemas.microsoft.com/office/drawing/2014/main" id="{379B63A7-CC83-4479-AFF6-C64C041A0341}"/>
                </a:ext>
              </a:extLst>
            </p:cNvPr>
            <p:cNvSpPr/>
            <p:nvPr/>
          </p:nvSpPr>
          <p:spPr bwMode="auto">
            <a:xfrm>
              <a:off x="2817813" y="3440113"/>
              <a:ext cx="7938" cy="11113"/>
            </a:xfrm>
            <a:custGeom>
              <a:avLst/>
              <a:gdLst>
                <a:gd name="T0" fmla="*/ 0 w 2"/>
                <a:gd name="T1" fmla="*/ 2 h 3"/>
                <a:gd name="T2" fmla="*/ 0 w 2"/>
                <a:gd name="T3" fmla="*/ 2 h 3"/>
                <a:gd name="T4" fmla="*/ 1 w 2"/>
                <a:gd name="T5" fmla="*/ 3 h 3"/>
                <a:gd name="T6" fmla="*/ 1 w 2"/>
                <a:gd name="T7" fmla="*/ 3 h 3"/>
                <a:gd name="T8" fmla="*/ 1 w 2"/>
                <a:gd name="T9" fmla="*/ 3 h 3"/>
                <a:gd name="T10" fmla="*/ 1 w 2"/>
                <a:gd name="T11" fmla="*/ 2 h 3"/>
                <a:gd name="T12" fmla="*/ 2 w 2"/>
                <a:gd name="T13" fmla="*/ 2 h 3"/>
                <a:gd name="T14" fmla="*/ 2 w 2"/>
                <a:gd name="T15" fmla="*/ 2 h 3"/>
                <a:gd name="T16" fmla="*/ 2 w 2"/>
                <a:gd name="T17" fmla="*/ 2 h 3"/>
                <a:gd name="T18" fmla="*/ 2 w 2"/>
                <a:gd name="T19" fmla="*/ 2 h 3"/>
                <a:gd name="T20" fmla="*/ 2 w 2"/>
                <a:gd name="T21" fmla="*/ 2 h 3"/>
                <a:gd name="T22" fmla="*/ 2 w 2"/>
                <a:gd name="T23" fmla="*/ 2 h 3"/>
                <a:gd name="T24" fmla="*/ 2 w 2"/>
                <a:gd name="T25" fmla="*/ 2 h 3"/>
                <a:gd name="T26" fmla="*/ 1 w 2"/>
                <a:gd name="T27" fmla="*/ 2 h 3"/>
                <a:gd name="T28" fmla="*/ 1 w 2"/>
                <a:gd name="T29" fmla="*/ 2 h 3"/>
                <a:gd name="T30" fmla="*/ 1 w 2"/>
                <a:gd name="T31" fmla="*/ 2 h 3"/>
                <a:gd name="T32" fmla="*/ 1 w 2"/>
                <a:gd name="T33" fmla="*/ 2 h 3"/>
                <a:gd name="T34" fmla="*/ 1 w 2"/>
                <a:gd name="T35" fmla="*/ 1 h 3"/>
                <a:gd name="T36" fmla="*/ 1 w 2"/>
                <a:gd name="T37" fmla="*/ 1 h 3"/>
                <a:gd name="T38" fmla="*/ 1 w 2"/>
                <a:gd name="T39" fmla="*/ 0 h 3"/>
                <a:gd name="T40" fmla="*/ 0 w 2"/>
                <a:gd name="T41" fmla="*/ 0 h 3"/>
                <a:gd name="T42" fmla="*/ 0 w 2"/>
                <a:gd name="T43" fmla="*/ 0 h 3"/>
                <a:gd name="T44" fmla="*/ 0 w 2"/>
                <a:gd name="T45" fmla="*/ 1 h 3"/>
                <a:gd name="T46" fmla="*/ 0 w 2"/>
                <a:gd name="T4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" h="3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0" name="íṧḻiḋe">
              <a:extLst>
                <a:ext uri="{FF2B5EF4-FFF2-40B4-BE49-F238E27FC236}">
                  <a16:creationId xmlns:a16="http://schemas.microsoft.com/office/drawing/2014/main" id="{AD0B9A7B-F4F7-4286-AB2C-3BFB9F050BF0}"/>
                </a:ext>
              </a:extLst>
            </p:cNvPr>
            <p:cNvSpPr/>
            <p:nvPr/>
          </p:nvSpPr>
          <p:spPr bwMode="auto">
            <a:xfrm>
              <a:off x="2822575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1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1" name="îṡ1iďé">
              <a:extLst>
                <a:ext uri="{FF2B5EF4-FFF2-40B4-BE49-F238E27FC236}">
                  <a16:creationId xmlns:a16="http://schemas.microsoft.com/office/drawing/2014/main" id="{988627DB-6011-4D06-BA37-769B520D0C23}"/>
                </a:ext>
              </a:extLst>
            </p:cNvPr>
            <p:cNvSpPr/>
            <p:nvPr/>
          </p:nvSpPr>
          <p:spPr bwMode="auto">
            <a:xfrm>
              <a:off x="2828925" y="3432176"/>
              <a:ext cx="7938" cy="14288"/>
            </a:xfrm>
            <a:custGeom>
              <a:avLst/>
              <a:gdLst>
                <a:gd name="T0" fmla="*/ 1 w 2"/>
                <a:gd name="T1" fmla="*/ 0 h 4"/>
                <a:gd name="T2" fmla="*/ 1 w 2"/>
                <a:gd name="T3" fmla="*/ 0 h 4"/>
                <a:gd name="T4" fmla="*/ 1 w 2"/>
                <a:gd name="T5" fmla="*/ 0 h 4"/>
                <a:gd name="T6" fmla="*/ 0 w 2"/>
                <a:gd name="T7" fmla="*/ 0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0 w 2"/>
                <a:gd name="T17" fmla="*/ 0 h 4"/>
                <a:gd name="T18" fmla="*/ 0 w 2"/>
                <a:gd name="T19" fmla="*/ 0 h 4"/>
                <a:gd name="T20" fmla="*/ 0 w 2"/>
                <a:gd name="T21" fmla="*/ 0 h 4"/>
                <a:gd name="T22" fmla="*/ 1 w 2"/>
                <a:gd name="T23" fmla="*/ 1 h 4"/>
                <a:gd name="T24" fmla="*/ 1 w 2"/>
                <a:gd name="T25" fmla="*/ 1 h 4"/>
                <a:gd name="T26" fmla="*/ 1 w 2"/>
                <a:gd name="T27" fmla="*/ 1 h 4"/>
                <a:gd name="T28" fmla="*/ 0 w 2"/>
                <a:gd name="T29" fmla="*/ 1 h 4"/>
                <a:gd name="T30" fmla="*/ 0 w 2"/>
                <a:gd name="T31" fmla="*/ 1 h 4"/>
                <a:gd name="T32" fmla="*/ 0 w 2"/>
                <a:gd name="T33" fmla="*/ 1 h 4"/>
                <a:gd name="T34" fmla="*/ 0 w 2"/>
                <a:gd name="T35" fmla="*/ 1 h 4"/>
                <a:gd name="T36" fmla="*/ 0 w 2"/>
                <a:gd name="T37" fmla="*/ 1 h 4"/>
                <a:gd name="T38" fmla="*/ 0 w 2"/>
                <a:gd name="T39" fmla="*/ 1 h 4"/>
                <a:gd name="T40" fmla="*/ 1 w 2"/>
                <a:gd name="T41" fmla="*/ 1 h 4"/>
                <a:gd name="T42" fmla="*/ 1 w 2"/>
                <a:gd name="T43" fmla="*/ 1 h 4"/>
                <a:gd name="T44" fmla="*/ 1 w 2"/>
                <a:gd name="T45" fmla="*/ 1 h 4"/>
                <a:gd name="T46" fmla="*/ 1 w 2"/>
                <a:gd name="T47" fmla="*/ 2 h 4"/>
                <a:gd name="T48" fmla="*/ 1 w 2"/>
                <a:gd name="T49" fmla="*/ 2 h 4"/>
                <a:gd name="T50" fmla="*/ 1 w 2"/>
                <a:gd name="T51" fmla="*/ 3 h 4"/>
                <a:gd name="T52" fmla="*/ 1 w 2"/>
                <a:gd name="T53" fmla="*/ 3 h 4"/>
                <a:gd name="T54" fmla="*/ 1 w 2"/>
                <a:gd name="T55" fmla="*/ 3 h 4"/>
                <a:gd name="T56" fmla="*/ 1 w 2"/>
                <a:gd name="T57" fmla="*/ 3 h 4"/>
                <a:gd name="T58" fmla="*/ 1 w 2"/>
                <a:gd name="T59" fmla="*/ 4 h 4"/>
                <a:gd name="T60" fmla="*/ 1 w 2"/>
                <a:gd name="T61" fmla="*/ 4 h 4"/>
                <a:gd name="T62" fmla="*/ 1 w 2"/>
                <a:gd name="T63" fmla="*/ 4 h 4"/>
                <a:gd name="T64" fmla="*/ 1 w 2"/>
                <a:gd name="T65" fmla="*/ 4 h 4"/>
                <a:gd name="T66" fmla="*/ 2 w 2"/>
                <a:gd name="T67" fmla="*/ 4 h 4"/>
                <a:gd name="T68" fmla="*/ 2 w 2"/>
                <a:gd name="T69" fmla="*/ 3 h 4"/>
                <a:gd name="T70" fmla="*/ 2 w 2"/>
                <a:gd name="T71" fmla="*/ 2 h 4"/>
                <a:gd name="T72" fmla="*/ 2 w 2"/>
                <a:gd name="T73" fmla="*/ 2 h 4"/>
                <a:gd name="T74" fmla="*/ 2 w 2"/>
                <a:gd name="T75" fmla="*/ 1 h 4"/>
                <a:gd name="T76" fmla="*/ 2 w 2"/>
                <a:gd name="T77" fmla="*/ 1 h 4"/>
                <a:gd name="T78" fmla="*/ 2 w 2"/>
                <a:gd name="T79" fmla="*/ 0 h 4"/>
                <a:gd name="T80" fmla="*/ 1 w 2"/>
                <a:gd name="T8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2" y="4"/>
                    <a:pt x="2" y="4"/>
                  </a:cubicBezTo>
                  <a:cubicBezTo>
                    <a:pt x="2" y="4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2" name="ï$ḷïdè">
              <a:extLst>
                <a:ext uri="{FF2B5EF4-FFF2-40B4-BE49-F238E27FC236}">
                  <a16:creationId xmlns:a16="http://schemas.microsoft.com/office/drawing/2014/main" id="{B38589FE-DA96-4EB9-816B-A381CB0BA409}"/>
                </a:ext>
              </a:extLst>
            </p:cNvPr>
            <p:cNvSpPr/>
            <p:nvPr/>
          </p:nvSpPr>
          <p:spPr bwMode="auto">
            <a:xfrm>
              <a:off x="2817813" y="3451226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2 w 2"/>
                <a:gd name="T5" fmla="*/ 0 h 1"/>
                <a:gd name="T6" fmla="*/ 2 w 2"/>
                <a:gd name="T7" fmla="*/ 0 h 1"/>
                <a:gd name="T8" fmla="*/ 2 w 2"/>
                <a:gd name="T9" fmla="*/ 0 h 1"/>
                <a:gd name="T10" fmla="*/ 2 w 2"/>
                <a:gd name="T11" fmla="*/ 0 h 1"/>
                <a:gd name="T12" fmla="*/ 1 w 2"/>
                <a:gd name="T13" fmla="*/ 0 h 1"/>
                <a:gd name="T14" fmla="*/ 1 w 2"/>
                <a:gd name="T15" fmla="*/ 0 h 1"/>
                <a:gd name="T16" fmla="*/ 1 w 2"/>
                <a:gd name="T17" fmla="*/ 0 h 1"/>
                <a:gd name="T18" fmla="*/ 1 w 2"/>
                <a:gd name="T19" fmla="*/ 0 h 1"/>
                <a:gd name="T20" fmla="*/ 1 w 2"/>
                <a:gd name="T21" fmla="*/ 0 h 1"/>
                <a:gd name="T22" fmla="*/ 0 w 2"/>
                <a:gd name="T23" fmla="*/ 0 h 1"/>
                <a:gd name="T24" fmla="*/ 0 w 2"/>
                <a:gd name="T25" fmla="*/ 0 h 1"/>
                <a:gd name="T26" fmla="*/ 0 w 2"/>
                <a:gd name="T27" fmla="*/ 0 h 1"/>
                <a:gd name="T28" fmla="*/ 0 w 2"/>
                <a:gd name="T29" fmla="*/ 0 h 1"/>
                <a:gd name="T30" fmla="*/ 0 w 2"/>
                <a:gd name="T31" fmla="*/ 1 h 1"/>
                <a:gd name="T32" fmla="*/ 0 w 2"/>
                <a:gd name="T33" fmla="*/ 1 h 1"/>
                <a:gd name="T34" fmla="*/ 1 w 2"/>
                <a:gd name="T35" fmla="*/ 1 h 1"/>
                <a:gd name="T36" fmla="*/ 1 w 2"/>
                <a:gd name="T37" fmla="*/ 1 h 1"/>
                <a:gd name="T38" fmla="*/ 1 w 2"/>
                <a:gd name="T39" fmla="*/ 1 h 1"/>
                <a:gd name="T40" fmla="*/ 2 w 2"/>
                <a:gd name="T41" fmla="*/ 1 h 1"/>
                <a:gd name="T42" fmla="*/ 2 w 2"/>
                <a:gd name="T43" fmla="*/ 1 h 1"/>
                <a:gd name="T44" fmla="*/ 2 w 2"/>
                <a:gd name="T45" fmla="*/ 1 h 1"/>
                <a:gd name="T46" fmla="*/ 2 w 2"/>
                <a:gd name="T47" fmla="*/ 0 h 1"/>
                <a:gd name="T48" fmla="*/ 2 w 2"/>
                <a:gd name="T4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3" name="işlîḋê">
              <a:extLst>
                <a:ext uri="{FF2B5EF4-FFF2-40B4-BE49-F238E27FC236}">
                  <a16:creationId xmlns:a16="http://schemas.microsoft.com/office/drawing/2014/main" id="{878804B2-A9D2-4E01-9E58-D70093452395}"/>
                </a:ext>
              </a:extLst>
            </p:cNvPr>
            <p:cNvSpPr/>
            <p:nvPr/>
          </p:nvSpPr>
          <p:spPr bwMode="auto">
            <a:xfrm>
              <a:off x="2828925" y="344011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1 h 1"/>
                <a:gd name="T16" fmla="*/ 0 w 1"/>
                <a:gd name="T17" fmla="*/ 1 h 1"/>
                <a:gd name="T18" fmla="*/ 0 w 1"/>
                <a:gd name="T19" fmla="*/ 1 h 1"/>
                <a:gd name="T20" fmla="*/ 0 w 1"/>
                <a:gd name="T21" fmla="*/ 1 h 1"/>
                <a:gd name="T22" fmla="*/ 0 w 1"/>
                <a:gd name="T23" fmla="*/ 1 h 1"/>
                <a:gd name="T24" fmla="*/ 0 w 1"/>
                <a:gd name="T25" fmla="*/ 1 h 1"/>
                <a:gd name="T26" fmla="*/ 0 w 1"/>
                <a:gd name="T27" fmla="*/ 1 h 1"/>
                <a:gd name="T28" fmla="*/ 0 w 1"/>
                <a:gd name="T29" fmla="*/ 1 h 1"/>
                <a:gd name="T30" fmla="*/ 1 w 1"/>
                <a:gd name="T31" fmla="*/ 0 h 1"/>
                <a:gd name="T32" fmla="*/ 1 w 1"/>
                <a:gd name="T33" fmla="*/ 0 h 1"/>
                <a:gd name="T34" fmla="*/ 1 w 1"/>
                <a:gd name="T35" fmla="*/ 0 h 1"/>
                <a:gd name="T36" fmla="*/ 1 w 1"/>
                <a:gd name="T3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4" name="işḻïḑè">
              <a:extLst>
                <a:ext uri="{FF2B5EF4-FFF2-40B4-BE49-F238E27FC236}">
                  <a16:creationId xmlns:a16="http://schemas.microsoft.com/office/drawing/2014/main" id="{F847D0F7-919C-4C25-9B95-81CB0FCAAF40}"/>
                </a:ext>
              </a:extLst>
            </p:cNvPr>
            <p:cNvSpPr/>
            <p:nvPr/>
          </p:nvSpPr>
          <p:spPr bwMode="auto">
            <a:xfrm>
              <a:off x="2825750" y="3451226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  <a:gd name="T24" fmla="*/ 1 w 1"/>
                <a:gd name="T25" fmla="*/ 1 h 1"/>
                <a:gd name="T26" fmla="*/ 1 w 1"/>
                <a:gd name="T27" fmla="*/ 0 h 1"/>
                <a:gd name="T28" fmla="*/ 1 w 1"/>
                <a:gd name="T29" fmla="*/ 0 h 1"/>
                <a:gd name="T30" fmla="*/ 1 w 1"/>
                <a:gd name="T31" fmla="*/ 0 h 1"/>
                <a:gd name="T32" fmla="*/ 1 w 1"/>
                <a:gd name="T3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5" name="ïslidê">
              <a:extLst>
                <a:ext uri="{FF2B5EF4-FFF2-40B4-BE49-F238E27FC236}">
                  <a16:creationId xmlns:a16="http://schemas.microsoft.com/office/drawing/2014/main" id="{503638E4-956F-413B-8897-CDD99FD4CC94}"/>
                </a:ext>
              </a:extLst>
            </p:cNvPr>
            <p:cNvSpPr/>
            <p:nvPr/>
          </p:nvSpPr>
          <p:spPr bwMode="auto">
            <a:xfrm>
              <a:off x="2828925" y="34464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6" name="íṣḻíḑê">
              <a:extLst>
                <a:ext uri="{FF2B5EF4-FFF2-40B4-BE49-F238E27FC236}">
                  <a16:creationId xmlns:a16="http://schemas.microsoft.com/office/drawing/2014/main" id="{19CF597C-244F-424C-9FE6-DC0D499125CC}"/>
                </a:ext>
              </a:extLst>
            </p:cNvPr>
            <p:cNvSpPr/>
            <p:nvPr/>
          </p:nvSpPr>
          <p:spPr bwMode="auto">
            <a:xfrm>
              <a:off x="2905125" y="3446463"/>
              <a:ext cx="0" cy="4763"/>
            </a:xfrm>
            <a:custGeom>
              <a:avLst/>
              <a:gdLst>
                <a:gd name="T0" fmla="*/ 1 h 1"/>
                <a:gd name="T1" fmla="*/ 1 h 1"/>
                <a:gd name="T2" fmla="*/ 1 h 1"/>
                <a:gd name="T3" fmla="*/ 0 h 1"/>
                <a:gd name="T4" fmla="*/ 0 h 1"/>
                <a:gd name="T5" fmla="*/ 0 h 1"/>
                <a:gd name="T6" fmla="*/ 0 h 1"/>
                <a:gd name="T7" fmla="*/ 1 h 1"/>
                <a:gd name="T8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7" name="ísḻídé">
              <a:extLst>
                <a:ext uri="{FF2B5EF4-FFF2-40B4-BE49-F238E27FC236}">
                  <a16:creationId xmlns:a16="http://schemas.microsoft.com/office/drawing/2014/main" id="{3531395D-DC56-4B48-A95A-C6F235EB63C3}"/>
                </a:ext>
              </a:extLst>
            </p:cNvPr>
            <p:cNvSpPr/>
            <p:nvPr/>
          </p:nvSpPr>
          <p:spPr bwMode="auto">
            <a:xfrm>
              <a:off x="30670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0 w 1"/>
                <a:gd name="T4" fmla="*/ 0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  <a:gd name="T11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8" name="iṧḻide">
              <a:extLst>
                <a:ext uri="{FF2B5EF4-FFF2-40B4-BE49-F238E27FC236}">
                  <a16:creationId xmlns:a16="http://schemas.microsoft.com/office/drawing/2014/main" id="{D6FFC8CF-B749-4860-8C57-8044FF6CB902}"/>
                </a:ext>
              </a:extLst>
            </p:cNvPr>
            <p:cNvSpPr/>
            <p:nvPr/>
          </p:nvSpPr>
          <p:spPr bwMode="auto">
            <a:xfrm>
              <a:off x="3067050" y="3440113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1 w 2"/>
                <a:gd name="T5" fmla="*/ 0 h 1"/>
                <a:gd name="T6" fmla="*/ 1 w 2"/>
                <a:gd name="T7" fmla="*/ 0 h 1"/>
                <a:gd name="T8" fmla="*/ 1 w 2"/>
                <a:gd name="T9" fmla="*/ 0 h 1"/>
                <a:gd name="T10" fmla="*/ 1 w 2"/>
                <a:gd name="T11" fmla="*/ 0 h 1"/>
                <a:gd name="T12" fmla="*/ 1 w 2"/>
                <a:gd name="T13" fmla="*/ 1 h 1"/>
                <a:gd name="T14" fmla="*/ 1 w 2"/>
                <a:gd name="T15" fmla="*/ 1 h 1"/>
                <a:gd name="T16" fmla="*/ 1 w 2"/>
                <a:gd name="T17" fmla="*/ 1 h 1"/>
                <a:gd name="T18" fmla="*/ 1 w 2"/>
                <a:gd name="T19" fmla="*/ 0 h 1"/>
                <a:gd name="T20" fmla="*/ 1 w 2"/>
                <a:gd name="T21" fmla="*/ 0 h 1"/>
                <a:gd name="T22" fmla="*/ 2 w 2"/>
                <a:gd name="T23" fmla="*/ 0 h 1"/>
                <a:gd name="T24" fmla="*/ 2 w 2"/>
                <a:gd name="T25" fmla="*/ 0 h 1"/>
                <a:gd name="T26" fmla="*/ 2 w 2"/>
                <a:gd name="T27" fmla="*/ 0 h 1"/>
                <a:gd name="T28" fmla="*/ 2 w 2"/>
                <a:gd name="T2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9" name="îṧļïďe">
              <a:extLst>
                <a:ext uri="{FF2B5EF4-FFF2-40B4-BE49-F238E27FC236}">
                  <a16:creationId xmlns:a16="http://schemas.microsoft.com/office/drawing/2014/main" id="{C6DC6093-03D5-41D4-B44F-C6937E73421F}"/>
                </a:ext>
              </a:extLst>
            </p:cNvPr>
            <p:cNvSpPr/>
            <p:nvPr/>
          </p:nvSpPr>
          <p:spPr bwMode="auto">
            <a:xfrm>
              <a:off x="3067050" y="3451226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0 w 1"/>
                <a:gd name="T8" fmla="*/ 0 w 1"/>
                <a:gd name="T9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1" name="iṣḷîḋê">
              <a:extLst>
                <a:ext uri="{FF2B5EF4-FFF2-40B4-BE49-F238E27FC236}">
                  <a16:creationId xmlns:a16="http://schemas.microsoft.com/office/drawing/2014/main" id="{CB0B0BE1-8904-4524-8ABC-AC84947369D9}"/>
                </a:ext>
              </a:extLst>
            </p:cNvPr>
            <p:cNvSpPr/>
            <p:nvPr/>
          </p:nvSpPr>
          <p:spPr bwMode="auto">
            <a:xfrm>
              <a:off x="2911475" y="3446463"/>
              <a:ext cx="0" cy="4763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1 h 1"/>
                <a:gd name="T5" fmla="*/ 0 h 1"/>
                <a:gd name="T6" fmla="*/ 0 h 1"/>
                <a:gd name="T7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3" name="íŝ1ïḍè">
              <a:extLst>
                <a:ext uri="{FF2B5EF4-FFF2-40B4-BE49-F238E27FC236}">
                  <a16:creationId xmlns:a16="http://schemas.microsoft.com/office/drawing/2014/main" id="{E412D4CE-8DE9-4DA7-A71B-17F4B17520A5}"/>
                </a:ext>
              </a:extLst>
            </p:cNvPr>
            <p:cNvSpPr/>
            <p:nvPr/>
          </p:nvSpPr>
          <p:spPr bwMode="auto">
            <a:xfrm>
              <a:off x="3100388" y="343693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0 h 1"/>
                <a:gd name="T14" fmla="*/ 1 w 1"/>
                <a:gd name="T1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4" name="íŝlîḋe">
              <a:extLst>
                <a:ext uri="{FF2B5EF4-FFF2-40B4-BE49-F238E27FC236}">
                  <a16:creationId xmlns:a16="http://schemas.microsoft.com/office/drawing/2014/main" id="{65E1FD7A-9EE4-4B21-9213-32BFD3B5078A}"/>
                </a:ext>
              </a:extLst>
            </p:cNvPr>
            <p:cNvSpPr/>
            <p:nvPr/>
          </p:nvSpPr>
          <p:spPr bwMode="auto">
            <a:xfrm>
              <a:off x="2763838" y="3406776"/>
              <a:ext cx="407988" cy="73025"/>
            </a:xfrm>
            <a:custGeom>
              <a:avLst/>
              <a:gdLst>
                <a:gd name="T0" fmla="*/ 95 w 113"/>
                <a:gd name="T1" fmla="*/ 7 h 20"/>
                <a:gd name="T2" fmla="*/ 86 w 113"/>
                <a:gd name="T3" fmla="*/ 6 h 20"/>
                <a:gd name="T4" fmla="*/ 73 w 113"/>
                <a:gd name="T5" fmla="*/ 11 h 20"/>
                <a:gd name="T6" fmla="*/ 71 w 113"/>
                <a:gd name="T7" fmla="*/ 8 h 20"/>
                <a:gd name="T8" fmla="*/ 73 w 113"/>
                <a:gd name="T9" fmla="*/ 8 h 20"/>
                <a:gd name="T10" fmla="*/ 70 w 113"/>
                <a:gd name="T11" fmla="*/ 6 h 20"/>
                <a:gd name="T12" fmla="*/ 63 w 113"/>
                <a:gd name="T13" fmla="*/ 9 h 20"/>
                <a:gd name="T14" fmla="*/ 50 w 113"/>
                <a:gd name="T15" fmla="*/ 6 h 20"/>
                <a:gd name="T16" fmla="*/ 43 w 113"/>
                <a:gd name="T17" fmla="*/ 7 h 20"/>
                <a:gd name="T18" fmla="*/ 18 w 113"/>
                <a:gd name="T19" fmla="*/ 13 h 20"/>
                <a:gd name="T20" fmla="*/ 19 w 113"/>
                <a:gd name="T21" fmla="*/ 13 h 20"/>
                <a:gd name="T22" fmla="*/ 14 w 113"/>
                <a:gd name="T23" fmla="*/ 9 h 20"/>
                <a:gd name="T24" fmla="*/ 16 w 113"/>
                <a:gd name="T25" fmla="*/ 8 h 20"/>
                <a:gd name="T26" fmla="*/ 17 w 113"/>
                <a:gd name="T27" fmla="*/ 7 h 20"/>
                <a:gd name="T28" fmla="*/ 20 w 113"/>
                <a:gd name="T29" fmla="*/ 9 h 20"/>
                <a:gd name="T30" fmla="*/ 28 w 113"/>
                <a:gd name="T31" fmla="*/ 13 h 20"/>
                <a:gd name="T32" fmla="*/ 24 w 113"/>
                <a:gd name="T33" fmla="*/ 13 h 20"/>
                <a:gd name="T34" fmla="*/ 24 w 113"/>
                <a:gd name="T35" fmla="*/ 9 h 20"/>
                <a:gd name="T36" fmla="*/ 25 w 113"/>
                <a:gd name="T37" fmla="*/ 9 h 20"/>
                <a:gd name="T38" fmla="*/ 27 w 113"/>
                <a:gd name="T39" fmla="*/ 9 h 20"/>
                <a:gd name="T40" fmla="*/ 28 w 113"/>
                <a:gd name="T41" fmla="*/ 7 h 20"/>
                <a:gd name="T42" fmla="*/ 30 w 113"/>
                <a:gd name="T43" fmla="*/ 10 h 20"/>
                <a:gd name="T44" fmla="*/ 41 w 113"/>
                <a:gd name="T45" fmla="*/ 13 h 20"/>
                <a:gd name="T46" fmla="*/ 38 w 113"/>
                <a:gd name="T47" fmla="*/ 12 h 20"/>
                <a:gd name="T48" fmla="*/ 37 w 113"/>
                <a:gd name="T49" fmla="*/ 9 h 20"/>
                <a:gd name="T50" fmla="*/ 40 w 113"/>
                <a:gd name="T51" fmla="*/ 6 h 20"/>
                <a:gd name="T52" fmla="*/ 41 w 113"/>
                <a:gd name="T53" fmla="*/ 9 h 20"/>
                <a:gd name="T54" fmla="*/ 40 w 113"/>
                <a:gd name="T55" fmla="*/ 9 h 20"/>
                <a:gd name="T56" fmla="*/ 40 w 113"/>
                <a:gd name="T57" fmla="*/ 10 h 20"/>
                <a:gd name="T58" fmla="*/ 42 w 113"/>
                <a:gd name="T59" fmla="*/ 9 h 20"/>
                <a:gd name="T60" fmla="*/ 43 w 113"/>
                <a:gd name="T61" fmla="*/ 9 h 20"/>
                <a:gd name="T62" fmla="*/ 51 w 113"/>
                <a:gd name="T63" fmla="*/ 10 h 20"/>
                <a:gd name="T64" fmla="*/ 49 w 113"/>
                <a:gd name="T65" fmla="*/ 13 h 20"/>
                <a:gd name="T66" fmla="*/ 48 w 113"/>
                <a:gd name="T67" fmla="*/ 13 h 20"/>
                <a:gd name="T68" fmla="*/ 48 w 113"/>
                <a:gd name="T69" fmla="*/ 11 h 20"/>
                <a:gd name="T70" fmla="*/ 50 w 113"/>
                <a:gd name="T71" fmla="*/ 7 h 20"/>
                <a:gd name="T72" fmla="*/ 65 w 113"/>
                <a:gd name="T73" fmla="*/ 12 h 20"/>
                <a:gd name="T74" fmla="*/ 62 w 113"/>
                <a:gd name="T75" fmla="*/ 12 h 20"/>
                <a:gd name="T76" fmla="*/ 60 w 113"/>
                <a:gd name="T77" fmla="*/ 10 h 20"/>
                <a:gd name="T78" fmla="*/ 61 w 113"/>
                <a:gd name="T79" fmla="*/ 11 h 20"/>
                <a:gd name="T80" fmla="*/ 60 w 113"/>
                <a:gd name="T81" fmla="*/ 7 h 20"/>
                <a:gd name="T82" fmla="*/ 63 w 113"/>
                <a:gd name="T83" fmla="*/ 7 h 20"/>
                <a:gd name="T84" fmla="*/ 65 w 113"/>
                <a:gd name="T85" fmla="*/ 11 h 20"/>
                <a:gd name="T86" fmla="*/ 71 w 113"/>
                <a:gd name="T87" fmla="*/ 12 h 20"/>
                <a:gd name="T88" fmla="*/ 69 w 113"/>
                <a:gd name="T89" fmla="*/ 11 h 20"/>
                <a:gd name="T90" fmla="*/ 70 w 113"/>
                <a:gd name="T91" fmla="*/ 9 h 20"/>
                <a:gd name="T92" fmla="*/ 74 w 113"/>
                <a:gd name="T93" fmla="*/ 12 h 20"/>
                <a:gd name="T94" fmla="*/ 84 w 113"/>
                <a:gd name="T95" fmla="*/ 11 h 20"/>
                <a:gd name="T96" fmla="*/ 84 w 113"/>
                <a:gd name="T97" fmla="*/ 13 h 20"/>
                <a:gd name="T98" fmla="*/ 83 w 113"/>
                <a:gd name="T99" fmla="*/ 11 h 20"/>
                <a:gd name="T100" fmla="*/ 84 w 113"/>
                <a:gd name="T101" fmla="*/ 8 h 20"/>
                <a:gd name="T102" fmla="*/ 84 w 113"/>
                <a:gd name="T103" fmla="*/ 6 h 20"/>
                <a:gd name="T104" fmla="*/ 87 w 113"/>
                <a:gd name="T105" fmla="*/ 9 h 20"/>
                <a:gd name="T106" fmla="*/ 88 w 113"/>
                <a:gd name="T107" fmla="*/ 9 h 20"/>
                <a:gd name="T108" fmla="*/ 87 w 113"/>
                <a:gd name="T109" fmla="*/ 9 h 20"/>
                <a:gd name="T110" fmla="*/ 94 w 113"/>
                <a:gd name="T111" fmla="*/ 12 h 20"/>
                <a:gd name="T112" fmla="*/ 96 w 113"/>
                <a:gd name="T113" fmla="*/ 12 h 20"/>
                <a:gd name="T114" fmla="*/ 94 w 113"/>
                <a:gd name="T115" fmla="*/ 10 h 20"/>
                <a:gd name="T116" fmla="*/ 93 w 113"/>
                <a:gd name="T117" fmla="*/ 12 h 20"/>
                <a:gd name="T118" fmla="*/ 92 w 113"/>
                <a:gd name="T119" fmla="*/ 11 h 20"/>
                <a:gd name="T120" fmla="*/ 92 w 113"/>
                <a:gd name="T121" fmla="*/ 9 h 20"/>
                <a:gd name="T122" fmla="*/ 94 w 113"/>
                <a:gd name="T123" fmla="*/ 7 h 20"/>
                <a:gd name="T124" fmla="*/ 95 w 113"/>
                <a:gd name="T125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" h="20">
                  <a:moveTo>
                    <a:pt x="110" y="4"/>
                  </a:moveTo>
                  <a:cubicBezTo>
                    <a:pt x="110" y="0"/>
                    <a:pt x="110" y="0"/>
                    <a:pt x="1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4"/>
                    <a:pt x="113" y="4"/>
                    <a:pt x="113" y="4"/>
                  </a:cubicBezTo>
                  <a:lnTo>
                    <a:pt x="110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lose/>
                  <a:moveTo>
                    <a:pt x="93" y="5"/>
                  </a:move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4" y="5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lose/>
                  <a:moveTo>
                    <a:pt x="86" y="7"/>
                  </a:moveTo>
                  <a:cubicBezTo>
                    <a:pt x="86" y="7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7" y="7"/>
                    <a:pt x="87" y="7"/>
                  </a:cubicBezTo>
                  <a:cubicBezTo>
                    <a:pt x="87" y="7"/>
                    <a:pt x="87" y="7"/>
                    <a:pt x="86" y="7"/>
                  </a:cubicBezTo>
                  <a:cubicBezTo>
                    <a:pt x="86" y="7"/>
                    <a:pt x="86" y="8"/>
                    <a:pt x="86" y="8"/>
                  </a:cubicBezTo>
                  <a:cubicBezTo>
                    <a:pt x="86" y="8"/>
                    <a:pt x="86" y="8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lose/>
                  <a:moveTo>
                    <a:pt x="74" y="10"/>
                  </a:moveTo>
                  <a:cubicBezTo>
                    <a:pt x="74" y="10"/>
                    <a:pt x="74" y="11"/>
                    <a:pt x="74" y="11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4" y="10"/>
                    <a:pt x="74" y="10"/>
                  </a:cubicBezTo>
                  <a:close/>
                  <a:moveTo>
                    <a:pt x="70" y="6"/>
                  </a:moveTo>
                  <a:cubicBezTo>
                    <a:pt x="70" y="6"/>
                    <a:pt x="70" y="6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2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2" y="8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5"/>
                    <a:pt x="72" y="5"/>
                  </a:cubicBezTo>
                  <a:cubicBezTo>
                    <a:pt x="72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6"/>
                  </a:cubicBezTo>
                  <a:cubicBezTo>
                    <a:pt x="70" y="6"/>
                    <a:pt x="70" y="6"/>
                    <a:pt x="70" y="6"/>
                  </a:cubicBezTo>
                  <a:close/>
                  <a:moveTo>
                    <a:pt x="63" y="5"/>
                  </a:moveTo>
                  <a:cubicBezTo>
                    <a:pt x="63" y="5"/>
                    <a:pt x="63" y="5"/>
                    <a:pt x="63" y="5"/>
                  </a:cubicBezTo>
                  <a:cubicBezTo>
                    <a:pt x="63" y="5"/>
                    <a:pt x="64" y="5"/>
                    <a:pt x="64" y="5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5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3" y="6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6"/>
                    <a:pt x="63" y="5"/>
                    <a:pt x="63" y="5"/>
                  </a:cubicBezTo>
                  <a:cubicBezTo>
                    <a:pt x="63" y="5"/>
                    <a:pt x="63" y="5"/>
                    <a:pt x="63" y="5"/>
                  </a:cubicBezTo>
                  <a:close/>
                  <a:moveTo>
                    <a:pt x="64" y="9"/>
                  </a:move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lose/>
                  <a:moveTo>
                    <a:pt x="49" y="5"/>
                  </a:move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lose/>
                  <a:moveTo>
                    <a:pt x="43" y="7"/>
                  </a:moveTo>
                  <a:cubicBezTo>
                    <a:pt x="43" y="7"/>
                    <a:pt x="43" y="7"/>
                    <a:pt x="44" y="7"/>
                  </a:cubicBezTo>
                  <a:cubicBezTo>
                    <a:pt x="44" y="7"/>
                    <a:pt x="44" y="7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lose/>
                  <a:moveTo>
                    <a:pt x="20" y="9"/>
                  </a:moveTo>
                  <a:cubicBezTo>
                    <a:pt x="20" y="9"/>
                    <a:pt x="20" y="10"/>
                    <a:pt x="20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0"/>
                    <a:pt x="20" y="11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20" y="14"/>
                  </a:cubicBezTo>
                  <a:cubicBezTo>
                    <a:pt x="20" y="14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1"/>
                    <a:pt x="20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5" y="9"/>
                    <a:pt x="15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lose/>
                  <a:moveTo>
                    <a:pt x="30" y="10"/>
                  </a:move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30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10"/>
                    <a:pt x="25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5" y="8"/>
                    <a:pt x="25" y="8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5" y="8"/>
                  </a:cubicBezTo>
                  <a:cubicBezTo>
                    <a:pt x="25" y="8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5" y="10"/>
                  </a:cubicBezTo>
                  <a:cubicBezTo>
                    <a:pt x="25" y="10"/>
                    <a:pt x="25" y="10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8"/>
                  </a:cubicBezTo>
                  <a:cubicBezTo>
                    <a:pt x="26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0" y="9"/>
                    <a:pt x="30" y="10"/>
                    <a:pt x="30" y="10"/>
                  </a:cubicBezTo>
                  <a:cubicBezTo>
                    <a:pt x="30" y="10"/>
                    <a:pt x="30" y="10"/>
                    <a:pt x="30" y="10"/>
                  </a:cubicBezTo>
                  <a:close/>
                  <a:moveTo>
                    <a:pt x="44" y="13"/>
                  </a:move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2"/>
                    <a:pt x="41" y="12"/>
                    <a:pt x="40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12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1"/>
                    <a:pt x="38" y="11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3"/>
                    <a:pt x="38" y="13"/>
                  </a:cubicBezTo>
                  <a:cubicBezTo>
                    <a:pt x="38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6"/>
                    <a:pt x="38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7"/>
                  </a:cubicBezTo>
                  <a:cubicBezTo>
                    <a:pt x="40" y="7"/>
                    <a:pt x="41" y="7"/>
                    <a:pt x="41" y="7"/>
                  </a:cubicBezTo>
                  <a:cubicBezTo>
                    <a:pt x="41" y="7"/>
                    <a:pt x="41" y="7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9"/>
                    <a:pt x="42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2" y="10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3"/>
                    <a:pt x="44" y="13"/>
                    <a:pt x="44" y="13"/>
                  </a:cubicBezTo>
                  <a:close/>
                  <a:moveTo>
                    <a:pt x="53" y="8"/>
                  </a:move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4"/>
                    <a:pt x="51" y="14"/>
                  </a:cubicBezTo>
                  <a:cubicBezTo>
                    <a:pt x="51" y="14"/>
                    <a:pt x="51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8" y="12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50" y="10"/>
                  </a:cubicBezTo>
                  <a:cubicBezTo>
                    <a:pt x="50" y="10"/>
                    <a:pt x="50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2" y="9"/>
                  </a:cubicBezTo>
                  <a:cubicBezTo>
                    <a:pt x="52" y="9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3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lose/>
                  <a:moveTo>
                    <a:pt x="65" y="12"/>
                  </a:move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3" y="12"/>
                    <a:pt x="63" y="12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1" y="11"/>
                    <a:pt x="61" y="11"/>
                  </a:cubicBezTo>
                  <a:cubicBezTo>
                    <a:pt x="61" y="11"/>
                    <a:pt x="61" y="12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9"/>
                    <a:pt x="60" y="9"/>
                  </a:cubicBezTo>
                  <a:cubicBezTo>
                    <a:pt x="60" y="9"/>
                    <a:pt x="59" y="9"/>
                    <a:pt x="59" y="9"/>
                  </a:cubicBezTo>
                  <a:cubicBezTo>
                    <a:pt x="59" y="9"/>
                    <a:pt x="59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1" y="9"/>
                    <a:pt x="61" y="9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9" y="8"/>
                    <a:pt x="59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5"/>
                    <a:pt x="61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5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1"/>
                  </a:cubicBezTo>
                  <a:cubicBezTo>
                    <a:pt x="63" y="11"/>
                    <a:pt x="63" y="11"/>
                    <a:pt x="64" y="11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4" y="11"/>
                    <a:pt x="64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lose/>
                  <a:moveTo>
                    <a:pt x="75" y="12"/>
                  </a:moveTo>
                  <a:cubicBezTo>
                    <a:pt x="75" y="12"/>
                    <a:pt x="75" y="12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3" y="13"/>
                    <a:pt x="73" y="13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3"/>
                  </a:cubicBezTo>
                  <a:cubicBezTo>
                    <a:pt x="70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8" y="13"/>
                    <a:pt x="68" y="13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70" y="11"/>
                    <a:pt x="70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70" y="11"/>
                    <a:pt x="70" y="11"/>
                  </a:cubicBezTo>
                  <a:cubicBezTo>
                    <a:pt x="70" y="11"/>
                    <a:pt x="70" y="11"/>
                    <a:pt x="70" y="11"/>
                  </a:cubicBezTo>
                  <a:cubicBezTo>
                    <a:pt x="70" y="11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69" y="10"/>
                    <a:pt x="69" y="10"/>
                  </a:cubicBezTo>
                  <a:cubicBezTo>
                    <a:pt x="69" y="10"/>
                    <a:pt x="69" y="10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9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10"/>
                    <a:pt x="69" y="9"/>
                    <a:pt x="69" y="9"/>
                  </a:cubicBezTo>
                  <a:cubicBezTo>
                    <a:pt x="69" y="9"/>
                    <a:pt x="69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2" y="10"/>
                    <a:pt x="72" y="10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lose/>
                  <a:moveTo>
                    <a:pt x="87" y="10"/>
                  </a:move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1"/>
                  </a:cubicBezTo>
                  <a:cubicBezTo>
                    <a:pt x="86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3"/>
                    <a:pt x="86" y="13"/>
                  </a:cubicBezTo>
                  <a:cubicBezTo>
                    <a:pt x="86" y="13"/>
                    <a:pt x="86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2"/>
                  </a:cubicBezTo>
                  <a:cubicBezTo>
                    <a:pt x="82" y="12"/>
                    <a:pt x="82" y="12"/>
                    <a:pt x="82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lose/>
                  <a:moveTo>
                    <a:pt x="88" y="8"/>
                  </a:move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88" y="8"/>
                    <a:pt x="88" y="8"/>
                    <a:pt x="88" y="8"/>
                  </a:cubicBezTo>
                  <a:close/>
                  <a:moveTo>
                    <a:pt x="94" y="12"/>
                  </a:move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5" y="11"/>
                  </a:cubicBezTo>
                  <a:cubicBezTo>
                    <a:pt x="95" y="12"/>
                    <a:pt x="95" y="12"/>
                    <a:pt x="95" y="12"/>
                  </a:cubicBezTo>
                  <a:cubicBezTo>
                    <a:pt x="95" y="12"/>
                    <a:pt x="95" y="12"/>
                    <a:pt x="94" y="12"/>
                  </a:cubicBezTo>
                  <a:close/>
                  <a:moveTo>
                    <a:pt x="97" y="9"/>
                  </a:moveTo>
                  <a:cubicBezTo>
                    <a:pt x="97" y="9"/>
                    <a:pt x="97" y="9"/>
                    <a:pt x="97" y="9"/>
                  </a:cubicBezTo>
                  <a:cubicBezTo>
                    <a:pt x="97" y="9"/>
                    <a:pt x="96" y="9"/>
                    <a:pt x="96" y="9"/>
                  </a:cubicBezTo>
                  <a:cubicBezTo>
                    <a:pt x="96" y="9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1"/>
                    <a:pt x="96" y="11"/>
                  </a:cubicBezTo>
                  <a:cubicBezTo>
                    <a:pt x="96" y="11"/>
                    <a:pt x="96" y="11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9"/>
                    <a:pt x="96" y="9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6" y="9"/>
                    <a:pt x="96" y="9"/>
                    <a:pt x="95" y="9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9"/>
                    <a:pt x="95" y="9"/>
                    <a:pt x="95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3"/>
                    <a:pt x="93" y="13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2" y="11"/>
                    <a:pt x="92" y="11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1"/>
                    <a:pt x="91" y="11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91" y="11"/>
                    <a:pt x="91" y="11"/>
                    <a:pt x="92" y="11"/>
                  </a:cubicBezTo>
                  <a:cubicBezTo>
                    <a:pt x="92" y="11"/>
                    <a:pt x="92" y="11"/>
                    <a:pt x="93" y="11"/>
                  </a:cubicBezTo>
                  <a:cubicBezTo>
                    <a:pt x="93" y="11"/>
                    <a:pt x="93" y="11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3" y="10"/>
                    <a:pt x="93" y="10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8"/>
                    <a:pt x="92" y="8"/>
                  </a:cubicBezTo>
                  <a:cubicBezTo>
                    <a:pt x="93" y="8"/>
                    <a:pt x="93" y="8"/>
                    <a:pt x="93" y="8"/>
                  </a:cubicBezTo>
                  <a:cubicBezTo>
                    <a:pt x="93" y="8"/>
                    <a:pt x="93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4" y="7"/>
                    <a:pt x="94" y="6"/>
                  </a:cubicBezTo>
                  <a:cubicBezTo>
                    <a:pt x="94" y="6"/>
                    <a:pt x="94" y="6"/>
                    <a:pt x="95" y="6"/>
                  </a:cubicBezTo>
                  <a:cubicBezTo>
                    <a:pt x="95" y="6"/>
                    <a:pt x="95" y="6"/>
                    <a:pt x="95" y="6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4" y="7"/>
                    <a:pt x="94" y="7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5" y="8"/>
                    <a:pt x="95" y="8"/>
                  </a:cubicBezTo>
                  <a:cubicBezTo>
                    <a:pt x="95" y="8"/>
                    <a:pt x="95" y="8"/>
                    <a:pt x="95" y="9"/>
                  </a:cubicBezTo>
                  <a:cubicBezTo>
                    <a:pt x="95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9"/>
                    <a:pt x="95" y="9"/>
                  </a:cubicBezTo>
                  <a:cubicBezTo>
                    <a:pt x="95" y="9"/>
                    <a:pt x="96" y="9"/>
                    <a:pt x="96" y="9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9"/>
                    <a:pt x="97" y="9"/>
                    <a:pt x="97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5" name="iŝḻiďê">
              <a:extLst>
                <a:ext uri="{FF2B5EF4-FFF2-40B4-BE49-F238E27FC236}">
                  <a16:creationId xmlns:a16="http://schemas.microsoft.com/office/drawing/2014/main" id="{90144B1D-D4D0-4353-8E41-46F225878C50}"/>
                </a:ext>
              </a:extLst>
            </p:cNvPr>
            <p:cNvSpPr/>
            <p:nvPr/>
          </p:nvSpPr>
          <p:spPr bwMode="auto">
            <a:xfrm>
              <a:off x="3103563" y="34401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6" name="îṥḻiḍè">
              <a:extLst>
                <a:ext uri="{FF2B5EF4-FFF2-40B4-BE49-F238E27FC236}">
                  <a16:creationId xmlns:a16="http://schemas.microsoft.com/office/drawing/2014/main" id="{F95A83D0-CCDD-495A-8CF8-CF7515804C0F}"/>
                </a:ext>
              </a:extLst>
            </p:cNvPr>
            <p:cNvSpPr/>
            <p:nvPr/>
          </p:nvSpPr>
          <p:spPr bwMode="auto">
            <a:xfrm>
              <a:off x="3021013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1 h 1"/>
                <a:gd name="T10" fmla="*/ 0 w 1"/>
                <a:gd name="T11" fmla="*/ 1 h 1"/>
                <a:gd name="T12" fmla="*/ 0 w 1"/>
                <a:gd name="T13" fmla="*/ 1 h 1"/>
                <a:gd name="T14" fmla="*/ 0 w 1"/>
                <a:gd name="T15" fmla="*/ 1 h 1"/>
                <a:gd name="T16" fmla="*/ 0 w 1"/>
                <a:gd name="T17" fmla="*/ 1 h 1"/>
                <a:gd name="T18" fmla="*/ 1 w 1"/>
                <a:gd name="T19" fmla="*/ 1 h 1"/>
                <a:gd name="T20" fmla="*/ 1 w 1"/>
                <a:gd name="T21" fmla="*/ 1 h 1"/>
                <a:gd name="T22" fmla="*/ 1 w 1"/>
                <a:gd name="T23" fmla="*/ 0 h 1"/>
                <a:gd name="T24" fmla="*/ 1 w 1"/>
                <a:gd name="T25" fmla="*/ 0 h 1"/>
                <a:gd name="T26" fmla="*/ 1 w 1"/>
                <a:gd name="T2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7" name="íṩḷîḋe">
              <a:extLst>
                <a:ext uri="{FF2B5EF4-FFF2-40B4-BE49-F238E27FC236}">
                  <a16:creationId xmlns:a16="http://schemas.microsoft.com/office/drawing/2014/main" id="{AF9B4090-3A08-4022-B3EA-A0413D774DDC}"/>
                </a:ext>
              </a:extLst>
            </p:cNvPr>
            <p:cNvSpPr/>
            <p:nvPr/>
          </p:nvSpPr>
          <p:spPr bwMode="auto">
            <a:xfrm>
              <a:off x="2941638" y="3436938"/>
              <a:ext cx="3175" cy="6350"/>
            </a:xfrm>
            <a:custGeom>
              <a:avLst/>
              <a:gdLst>
                <a:gd name="T0" fmla="*/ 1 w 1"/>
                <a:gd name="T1" fmla="*/ 0 h 2"/>
                <a:gd name="T2" fmla="*/ 1 w 1"/>
                <a:gd name="T3" fmla="*/ 0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0 h 2"/>
                <a:gd name="T10" fmla="*/ 0 w 1"/>
                <a:gd name="T11" fmla="*/ 0 h 2"/>
                <a:gd name="T12" fmla="*/ 0 w 1"/>
                <a:gd name="T13" fmla="*/ 0 h 2"/>
                <a:gd name="T14" fmla="*/ 0 w 1"/>
                <a:gd name="T15" fmla="*/ 0 h 2"/>
                <a:gd name="T16" fmla="*/ 1 w 1"/>
                <a:gd name="T17" fmla="*/ 0 h 2"/>
                <a:gd name="T18" fmla="*/ 1 w 1"/>
                <a:gd name="T19" fmla="*/ 0 h 2"/>
                <a:gd name="T20" fmla="*/ 1 w 1"/>
                <a:gd name="T21" fmla="*/ 1 h 2"/>
                <a:gd name="T22" fmla="*/ 0 w 1"/>
                <a:gd name="T23" fmla="*/ 1 h 2"/>
                <a:gd name="T24" fmla="*/ 0 w 1"/>
                <a:gd name="T25" fmla="*/ 1 h 2"/>
                <a:gd name="T26" fmla="*/ 0 w 1"/>
                <a:gd name="T27" fmla="*/ 1 h 2"/>
                <a:gd name="T28" fmla="*/ 0 w 1"/>
                <a:gd name="T29" fmla="*/ 1 h 2"/>
                <a:gd name="T30" fmla="*/ 0 w 1"/>
                <a:gd name="T31" fmla="*/ 1 h 2"/>
                <a:gd name="T32" fmla="*/ 0 w 1"/>
                <a:gd name="T33" fmla="*/ 1 h 2"/>
                <a:gd name="T34" fmla="*/ 1 w 1"/>
                <a:gd name="T35" fmla="*/ 1 h 2"/>
                <a:gd name="T36" fmla="*/ 1 w 1"/>
                <a:gd name="T37" fmla="*/ 1 h 2"/>
                <a:gd name="T38" fmla="*/ 1 w 1"/>
                <a:gd name="T39" fmla="*/ 1 h 2"/>
                <a:gd name="T40" fmla="*/ 1 w 1"/>
                <a:gd name="T41" fmla="*/ 1 h 2"/>
                <a:gd name="T42" fmla="*/ 0 w 1"/>
                <a:gd name="T43" fmla="*/ 2 h 2"/>
                <a:gd name="T44" fmla="*/ 0 w 1"/>
                <a:gd name="T45" fmla="*/ 2 h 2"/>
                <a:gd name="T46" fmla="*/ 0 w 1"/>
                <a:gd name="T47" fmla="*/ 2 h 2"/>
                <a:gd name="T48" fmla="*/ 0 w 1"/>
                <a:gd name="T49" fmla="*/ 2 h 2"/>
                <a:gd name="T50" fmla="*/ 1 w 1"/>
                <a:gd name="T51" fmla="*/ 2 h 2"/>
                <a:gd name="T52" fmla="*/ 1 w 1"/>
                <a:gd name="T53" fmla="*/ 1 h 2"/>
                <a:gd name="T54" fmla="*/ 1 w 1"/>
                <a:gd name="T55" fmla="*/ 1 h 2"/>
                <a:gd name="T56" fmla="*/ 1 w 1"/>
                <a:gd name="T57" fmla="*/ 0 h 2"/>
                <a:gd name="T58" fmla="*/ 1 w 1"/>
                <a:gd name="T5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8" name="iṧḻiḋè">
              <a:extLst>
                <a:ext uri="{FF2B5EF4-FFF2-40B4-BE49-F238E27FC236}">
                  <a16:creationId xmlns:a16="http://schemas.microsoft.com/office/drawing/2014/main" id="{AE56AC39-9C0A-4C0E-99D8-4FCF4D2796E3}"/>
                </a:ext>
              </a:extLst>
            </p:cNvPr>
            <p:cNvSpPr/>
            <p:nvPr/>
          </p:nvSpPr>
          <p:spPr bwMode="auto">
            <a:xfrm>
              <a:off x="3517900" y="2994026"/>
              <a:ext cx="138113" cy="115888"/>
            </a:xfrm>
            <a:custGeom>
              <a:avLst/>
              <a:gdLst>
                <a:gd name="T0" fmla="*/ 36 w 38"/>
                <a:gd name="T1" fmla="*/ 26 h 32"/>
                <a:gd name="T2" fmla="*/ 34 w 38"/>
                <a:gd name="T3" fmla="*/ 22 h 32"/>
                <a:gd name="T4" fmla="*/ 28 w 38"/>
                <a:gd name="T5" fmla="*/ 16 h 32"/>
                <a:gd name="T6" fmla="*/ 27 w 38"/>
                <a:gd name="T7" fmla="*/ 14 h 32"/>
                <a:gd name="T8" fmla="*/ 26 w 38"/>
                <a:gd name="T9" fmla="*/ 14 h 32"/>
                <a:gd name="T10" fmla="*/ 27 w 38"/>
                <a:gd name="T11" fmla="*/ 13 h 32"/>
                <a:gd name="T12" fmla="*/ 30 w 38"/>
                <a:gd name="T13" fmla="*/ 14 h 32"/>
                <a:gd name="T14" fmla="*/ 32 w 38"/>
                <a:gd name="T15" fmla="*/ 14 h 32"/>
                <a:gd name="T16" fmla="*/ 36 w 38"/>
                <a:gd name="T17" fmla="*/ 14 h 32"/>
                <a:gd name="T18" fmla="*/ 37 w 38"/>
                <a:gd name="T19" fmla="*/ 13 h 32"/>
                <a:gd name="T20" fmla="*/ 37 w 38"/>
                <a:gd name="T21" fmla="*/ 12 h 32"/>
                <a:gd name="T22" fmla="*/ 36 w 38"/>
                <a:gd name="T23" fmla="*/ 7 h 32"/>
                <a:gd name="T24" fmla="*/ 33 w 38"/>
                <a:gd name="T25" fmla="*/ 4 h 32"/>
                <a:gd name="T26" fmla="*/ 31 w 38"/>
                <a:gd name="T27" fmla="*/ 4 h 32"/>
                <a:gd name="T28" fmla="*/ 31 w 38"/>
                <a:gd name="T29" fmla="*/ 6 h 32"/>
                <a:gd name="T30" fmla="*/ 31 w 38"/>
                <a:gd name="T31" fmla="*/ 8 h 32"/>
                <a:gd name="T32" fmla="*/ 31 w 38"/>
                <a:gd name="T33" fmla="*/ 9 h 32"/>
                <a:gd name="T34" fmla="*/ 28 w 38"/>
                <a:gd name="T35" fmla="*/ 10 h 32"/>
                <a:gd name="T36" fmla="*/ 26 w 38"/>
                <a:gd name="T37" fmla="*/ 10 h 32"/>
                <a:gd name="T38" fmla="*/ 23 w 38"/>
                <a:gd name="T39" fmla="*/ 11 h 32"/>
                <a:gd name="T40" fmla="*/ 22 w 38"/>
                <a:gd name="T41" fmla="*/ 10 h 32"/>
                <a:gd name="T42" fmla="*/ 16 w 38"/>
                <a:gd name="T43" fmla="*/ 6 h 32"/>
                <a:gd name="T44" fmla="*/ 12 w 38"/>
                <a:gd name="T45" fmla="*/ 3 h 32"/>
                <a:gd name="T46" fmla="*/ 8 w 38"/>
                <a:gd name="T47" fmla="*/ 0 h 32"/>
                <a:gd name="T48" fmla="*/ 7 w 38"/>
                <a:gd name="T49" fmla="*/ 0 h 32"/>
                <a:gd name="T50" fmla="*/ 6 w 38"/>
                <a:gd name="T51" fmla="*/ 1 h 32"/>
                <a:gd name="T52" fmla="*/ 7 w 38"/>
                <a:gd name="T53" fmla="*/ 7 h 32"/>
                <a:gd name="T54" fmla="*/ 7 w 38"/>
                <a:gd name="T55" fmla="*/ 8 h 32"/>
                <a:gd name="T56" fmla="*/ 16 w 38"/>
                <a:gd name="T57" fmla="*/ 14 h 32"/>
                <a:gd name="T58" fmla="*/ 19 w 38"/>
                <a:gd name="T59" fmla="*/ 16 h 32"/>
                <a:gd name="T60" fmla="*/ 12 w 38"/>
                <a:gd name="T61" fmla="*/ 20 h 32"/>
                <a:gd name="T62" fmla="*/ 7 w 38"/>
                <a:gd name="T63" fmla="*/ 20 h 32"/>
                <a:gd name="T64" fmla="*/ 5 w 38"/>
                <a:gd name="T65" fmla="*/ 18 h 32"/>
                <a:gd name="T66" fmla="*/ 5 w 38"/>
                <a:gd name="T67" fmla="*/ 14 h 32"/>
                <a:gd name="T68" fmla="*/ 5 w 38"/>
                <a:gd name="T69" fmla="*/ 12 h 32"/>
                <a:gd name="T70" fmla="*/ 4 w 38"/>
                <a:gd name="T71" fmla="*/ 12 h 32"/>
                <a:gd name="T72" fmla="*/ 3 w 38"/>
                <a:gd name="T73" fmla="*/ 15 h 32"/>
                <a:gd name="T74" fmla="*/ 1 w 38"/>
                <a:gd name="T75" fmla="*/ 17 h 32"/>
                <a:gd name="T76" fmla="*/ 0 w 38"/>
                <a:gd name="T77" fmla="*/ 20 h 32"/>
                <a:gd name="T78" fmla="*/ 2 w 38"/>
                <a:gd name="T79" fmla="*/ 24 h 32"/>
                <a:gd name="T80" fmla="*/ 14 w 38"/>
                <a:gd name="T81" fmla="*/ 25 h 32"/>
                <a:gd name="T82" fmla="*/ 22 w 38"/>
                <a:gd name="T83" fmla="*/ 21 h 32"/>
                <a:gd name="T84" fmla="*/ 23 w 38"/>
                <a:gd name="T85" fmla="*/ 21 h 32"/>
                <a:gd name="T86" fmla="*/ 25 w 38"/>
                <a:gd name="T87" fmla="*/ 24 h 32"/>
                <a:gd name="T88" fmla="*/ 28 w 38"/>
                <a:gd name="T89" fmla="*/ 28 h 32"/>
                <a:gd name="T90" fmla="*/ 29 w 38"/>
                <a:gd name="T91" fmla="*/ 31 h 32"/>
                <a:gd name="T92" fmla="*/ 32 w 38"/>
                <a:gd name="T93" fmla="*/ 32 h 32"/>
                <a:gd name="T94" fmla="*/ 35 w 38"/>
                <a:gd name="T95" fmla="*/ 29 h 32"/>
                <a:gd name="T96" fmla="*/ 36 w 38"/>
                <a:gd name="T97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32">
                  <a:moveTo>
                    <a:pt x="36" y="26"/>
                  </a:moveTo>
                  <a:cubicBezTo>
                    <a:pt x="36" y="25"/>
                    <a:pt x="35" y="24"/>
                    <a:pt x="34" y="22"/>
                  </a:cubicBezTo>
                  <a:cubicBezTo>
                    <a:pt x="32" y="21"/>
                    <a:pt x="31" y="18"/>
                    <a:pt x="28" y="16"/>
                  </a:cubicBezTo>
                  <a:cubicBezTo>
                    <a:pt x="28" y="16"/>
                    <a:pt x="27" y="15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3"/>
                    <a:pt x="27" y="13"/>
                  </a:cubicBezTo>
                  <a:cubicBezTo>
                    <a:pt x="28" y="13"/>
                    <a:pt x="29" y="14"/>
                    <a:pt x="30" y="14"/>
                  </a:cubicBezTo>
                  <a:cubicBezTo>
                    <a:pt x="30" y="14"/>
                    <a:pt x="31" y="14"/>
                    <a:pt x="32" y="14"/>
                  </a:cubicBezTo>
                  <a:cubicBezTo>
                    <a:pt x="33" y="14"/>
                    <a:pt x="34" y="14"/>
                    <a:pt x="36" y="14"/>
                  </a:cubicBezTo>
                  <a:cubicBezTo>
                    <a:pt x="37" y="14"/>
                    <a:pt x="37" y="14"/>
                    <a:pt x="37" y="13"/>
                  </a:cubicBezTo>
                  <a:cubicBezTo>
                    <a:pt x="37" y="13"/>
                    <a:pt x="37" y="12"/>
                    <a:pt x="37" y="12"/>
                  </a:cubicBezTo>
                  <a:cubicBezTo>
                    <a:pt x="38" y="11"/>
                    <a:pt x="38" y="8"/>
                    <a:pt x="36" y="7"/>
                  </a:cubicBezTo>
                  <a:cubicBezTo>
                    <a:pt x="35" y="6"/>
                    <a:pt x="34" y="5"/>
                    <a:pt x="33" y="4"/>
                  </a:cubicBezTo>
                  <a:cubicBezTo>
                    <a:pt x="33" y="4"/>
                    <a:pt x="32" y="4"/>
                    <a:pt x="31" y="4"/>
                  </a:cubicBezTo>
                  <a:cubicBezTo>
                    <a:pt x="31" y="5"/>
                    <a:pt x="31" y="5"/>
                    <a:pt x="31" y="6"/>
                  </a:cubicBezTo>
                  <a:cubicBezTo>
                    <a:pt x="30" y="7"/>
                    <a:pt x="30" y="8"/>
                    <a:pt x="31" y="8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0" y="9"/>
                    <a:pt x="29" y="10"/>
                    <a:pt x="28" y="10"/>
                  </a:cubicBezTo>
                  <a:cubicBezTo>
                    <a:pt x="27" y="10"/>
                    <a:pt x="26" y="10"/>
                    <a:pt x="26" y="10"/>
                  </a:cubicBezTo>
                  <a:cubicBezTo>
                    <a:pt x="25" y="10"/>
                    <a:pt x="24" y="10"/>
                    <a:pt x="23" y="11"/>
                  </a:cubicBezTo>
                  <a:cubicBezTo>
                    <a:pt x="23" y="11"/>
                    <a:pt x="23" y="11"/>
                    <a:pt x="22" y="10"/>
                  </a:cubicBezTo>
                  <a:cubicBezTo>
                    <a:pt x="20" y="9"/>
                    <a:pt x="18" y="7"/>
                    <a:pt x="16" y="6"/>
                  </a:cubicBezTo>
                  <a:cubicBezTo>
                    <a:pt x="15" y="5"/>
                    <a:pt x="13" y="4"/>
                    <a:pt x="12" y="3"/>
                  </a:cubicBezTo>
                  <a:cubicBezTo>
                    <a:pt x="10" y="2"/>
                    <a:pt x="9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5" y="3"/>
                    <a:pt x="5" y="5"/>
                    <a:pt x="7" y="7"/>
                  </a:cubicBezTo>
                  <a:cubicBezTo>
                    <a:pt x="7" y="7"/>
                    <a:pt x="7" y="7"/>
                    <a:pt x="7" y="8"/>
                  </a:cubicBezTo>
                  <a:cubicBezTo>
                    <a:pt x="10" y="10"/>
                    <a:pt x="14" y="12"/>
                    <a:pt x="16" y="14"/>
                  </a:cubicBezTo>
                  <a:cubicBezTo>
                    <a:pt x="17" y="15"/>
                    <a:pt x="18" y="16"/>
                    <a:pt x="19" y="16"/>
                  </a:cubicBezTo>
                  <a:cubicBezTo>
                    <a:pt x="20" y="18"/>
                    <a:pt x="15" y="20"/>
                    <a:pt x="12" y="20"/>
                  </a:cubicBezTo>
                  <a:cubicBezTo>
                    <a:pt x="10" y="21"/>
                    <a:pt x="7" y="20"/>
                    <a:pt x="7" y="20"/>
                  </a:cubicBezTo>
                  <a:cubicBezTo>
                    <a:pt x="6" y="20"/>
                    <a:pt x="5" y="20"/>
                    <a:pt x="5" y="18"/>
                  </a:cubicBezTo>
                  <a:cubicBezTo>
                    <a:pt x="4" y="16"/>
                    <a:pt x="5" y="14"/>
                    <a:pt x="5" y="14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2"/>
                    <a:pt x="4" y="12"/>
                  </a:cubicBezTo>
                  <a:cubicBezTo>
                    <a:pt x="4" y="12"/>
                    <a:pt x="3" y="14"/>
                    <a:pt x="3" y="15"/>
                  </a:cubicBezTo>
                  <a:cubicBezTo>
                    <a:pt x="2" y="17"/>
                    <a:pt x="1" y="16"/>
                    <a:pt x="1" y="17"/>
                  </a:cubicBezTo>
                  <a:cubicBezTo>
                    <a:pt x="0" y="18"/>
                    <a:pt x="0" y="19"/>
                    <a:pt x="0" y="20"/>
                  </a:cubicBezTo>
                  <a:cubicBezTo>
                    <a:pt x="0" y="21"/>
                    <a:pt x="1" y="23"/>
                    <a:pt x="2" y="24"/>
                  </a:cubicBezTo>
                  <a:cubicBezTo>
                    <a:pt x="4" y="25"/>
                    <a:pt x="9" y="26"/>
                    <a:pt x="14" y="25"/>
                  </a:cubicBezTo>
                  <a:cubicBezTo>
                    <a:pt x="17" y="24"/>
                    <a:pt x="21" y="22"/>
                    <a:pt x="22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4" y="22"/>
                    <a:pt x="25" y="23"/>
                    <a:pt x="25" y="24"/>
                  </a:cubicBezTo>
                  <a:cubicBezTo>
                    <a:pt x="26" y="25"/>
                    <a:pt x="28" y="26"/>
                    <a:pt x="28" y="28"/>
                  </a:cubicBezTo>
                  <a:cubicBezTo>
                    <a:pt x="28" y="29"/>
                    <a:pt x="29" y="30"/>
                    <a:pt x="29" y="31"/>
                  </a:cubicBezTo>
                  <a:cubicBezTo>
                    <a:pt x="30" y="32"/>
                    <a:pt x="30" y="32"/>
                    <a:pt x="32" y="32"/>
                  </a:cubicBezTo>
                  <a:cubicBezTo>
                    <a:pt x="34" y="32"/>
                    <a:pt x="35" y="30"/>
                    <a:pt x="35" y="29"/>
                  </a:cubicBezTo>
                  <a:cubicBezTo>
                    <a:pt x="36" y="28"/>
                    <a:pt x="36" y="27"/>
                    <a:pt x="3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9" name="î$ľíḓè">
              <a:extLst>
                <a:ext uri="{FF2B5EF4-FFF2-40B4-BE49-F238E27FC236}">
                  <a16:creationId xmlns:a16="http://schemas.microsoft.com/office/drawing/2014/main" id="{276D8587-62A4-44EA-9409-8024F50389B0}"/>
                </a:ext>
              </a:extLst>
            </p:cNvPr>
            <p:cNvSpPr/>
            <p:nvPr/>
          </p:nvSpPr>
          <p:spPr bwMode="auto">
            <a:xfrm>
              <a:off x="3636963" y="2936876"/>
              <a:ext cx="115888" cy="90488"/>
            </a:xfrm>
            <a:custGeom>
              <a:avLst/>
              <a:gdLst>
                <a:gd name="T0" fmla="*/ 0 w 32"/>
                <a:gd name="T1" fmla="*/ 7 h 25"/>
                <a:gd name="T2" fmla="*/ 1 w 32"/>
                <a:gd name="T3" fmla="*/ 8 h 25"/>
                <a:gd name="T4" fmla="*/ 2 w 32"/>
                <a:gd name="T5" fmla="*/ 11 h 25"/>
                <a:gd name="T6" fmla="*/ 4 w 32"/>
                <a:gd name="T7" fmla="*/ 12 h 25"/>
                <a:gd name="T8" fmla="*/ 6 w 32"/>
                <a:gd name="T9" fmla="*/ 11 h 25"/>
                <a:gd name="T10" fmla="*/ 7 w 32"/>
                <a:gd name="T11" fmla="*/ 9 h 25"/>
                <a:gd name="T12" fmla="*/ 11 w 32"/>
                <a:gd name="T13" fmla="*/ 8 h 25"/>
                <a:gd name="T14" fmla="*/ 12 w 32"/>
                <a:gd name="T15" fmla="*/ 8 h 25"/>
                <a:gd name="T16" fmla="*/ 11 w 32"/>
                <a:gd name="T17" fmla="*/ 8 h 25"/>
                <a:gd name="T18" fmla="*/ 11 w 32"/>
                <a:gd name="T19" fmla="*/ 13 h 25"/>
                <a:gd name="T20" fmla="*/ 10 w 32"/>
                <a:gd name="T21" fmla="*/ 14 h 25"/>
                <a:gd name="T22" fmla="*/ 8 w 32"/>
                <a:gd name="T23" fmla="*/ 13 h 25"/>
                <a:gd name="T24" fmla="*/ 6 w 32"/>
                <a:gd name="T25" fmla="*/ 13 h 25"/>
                <a:gd name="T26" fmla="*/ 4 w 32"/>
                <a:gd name="T27" fmla="*/ 14 h 25"/>
                <a:gd name="T28" fmla="*/ 6 w 32"/>
                <a:gd name="T29" fmla="*/ 15 h 25"/>
                <a:gd name="T30" fmla="*/ 22 w 32"/>
                <a:gd name="T31" fmla="*/ 22 h 25"/>
                <a:gd name="T32" fmla="*/ 24 w 32"/>
                <a:gd name="T33" fmla="*/ 23 h 25"/>
                <a:gd name="T34" fmla="*/ 25 w 32"/>
                <a:gd name="T35" fmla="*/ 23 h 25"/>
                <a:gd name="T36" fmla="*/ 26 w 32"/>
                <a:gd name="T37" fmla="*/ 24 h 25"/>
                <a:gd name="T38" fmla="*/ 28 w 32"/>
                <a:gd name="T39" fmla="*/ 25 h 25"/>
                <a:gd name="T40" fmla="*/ 30 w 32"/>
                <a:gd name="T41" fmla="*/ 24 h 25"/>
                <a:gd name="T42" fmla="*/ 31 w 32"/>
                <a:gd name="T43" fmla="*/ 23 h 25"/>
                <a:gd name="T44" fmla="*/ 32 w 32"/>
                <a:gd name="T45" fmla="*/ 22 h 25"/>
                <a:gd name="T46" fmla="*/ 32 w 32"/>
                <a:gd name="T47" fmla="*/ 19 h 25"/>
                <a:gd name="T48" fmla="*/ 31 w 32"/>
                <a:gd name="T49" fmla="*/ 17 h 25"/>
                <a:gd name="T50" fmla="*/ 29 w 32"/>
                <a:gd name="T51" fmla="*/ 16 h 25"/>
                <a:gd name="T52" fmla="*/ 28 w 32"/>
                <a:gd name="T53" fmla="*/ 15 h 25"/>
                <a:gd name="T54" fmla="*/ 28 w 32"/>
                <a:gd name="T55" fmla="*/ 15 h 25"/>
                <a:gd name="T56" fmla="*/ 28 w 32"/>
                <a:gd name="T57" fmla="*/ 16 h 25"/>
                <a:gd name="T58" fmla="*/ 27 w 32"/>
                <a:gd name="T59" fmla="*/ 17 h 25"/>
                <a:gd name="T60" fmla="*/ 24 w 32"/>
                <a:gd name="T61" fmla="*/ 17 h 25"/>
                <a:gd name="T62" fmla="*/ 14 w 32"/>
                <a:gd name="T63" fmla="*/ 15 h 25"/>
                <a:gd name="T64" fmla="*/ 16 w 32"/>
                <a:gd name="T65" fmla="*/ 14 h 25"/>
                <a:gd name="T66" fmla="*/ 20 w 32"/>
                <a:gd name="T67" fmla="*/ 11 h 25"/>
                <a:gd name="T68" fmla="*/ 21 w 32"/>
                <a:gd name="T69" fmla="*/ 8 h 25"/>
                <a:gd name="T70" fmla="*/ 20 w 32"/>
                <a:gd name="T71" fmla="*/ 7 h 25"/>
                <a:gd name="T72" fmla="*/ 19 w 32"/>
                <a:gd name="T73" fmla="*/ 7 h 25"/>
                <a:gd name="T74" fmla="*/ 16 w 32"/>
                <a:gd name="T75" fmla="*/ 7 h 25"/>
                <a:gd name="T76" fmla="*/ 11 w 32"/>
                <a:gd name="T77" fmla="*/ 7 h 25"/>
                <a:gd name="T78" fmla="*/ 11 w 32"/>
                <a:gd name="T79" fmla="*/ 7 h 25"/>
                <a:gd name="T80" fmla="*/ 11 w 32"/>
                <a:gd name="T81" fmla="*/ 6 h 25"/>
                <a:gd name="T82" fmla="*/ 13 w 32"/>
                <a:gd name="T83" fmla="*/ 4 h 25"/>
                <a:gd name="T84" fmla="*/ 13 w 32"/>
                <a:gd name="T85" fmla="*/ 1 h 25"/>
                <a:gd name="T86" fmla="*/ 9 w 32"/>
                <a:gd name="T87" fmla="*/ 0 h 25"/>
                <a:gd name="T88" fmla="*/ 4 w 32"/>
                <a:gd name="T89" fmla="*/ 2 h 25"/>
                <a:gd name="T90" fmla="*/ 2 w 32"/>
                <a:gd name="T91" fmla="*/ 4 h 25"/>
                <a:gd name="T92" fmla="*/ 0 w 32"/>
                <a:gd name="T93" fmla="*/ 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2" h="25">
                  <a:moveTo>
                    <a:pt x="0" y="7"/>
                  </a:moveTo>
                  <a:cubicBezTo>
                    <a:pt x="0" y="8"/>
                    <a:pt x="1" y="8"/>
                    <a:pt x="1" y="8"/>
                  </a:cubicBezTo>
                  <a:cubicBezTo>
                    <a:pt x="1" y="10"/>
                    <a:pt x="1" y="11"/>
                    <a:pt x="2" y="11"/>
                  </a:cubicBezTo>
                  <a:cubicBezTo>
                    <a:pt x="2" y="12"/>
                    <a:pt x="3" y="12"/>
                    <a:pt x="4" y="12"/>
                  </a:cubicBezTo>
                  <a:cubicBezTo>
                    <a:pt x="4" y="11"/>
                    <a:pt x="5" y="11"/>
                    <a:pt x="6" y="11"/>
                  </a:cubicBezTo>
                  <a:cubicBezTo>
                    <a:pt x="6" y="10"/>
                    <a:pt x="7" y="10"/>
                    <a:pt x="7" y="9"/>
                  </a:cubicBezTo>
                  <a:cubicBezTo>
                    <a:pt x="8" y="8"/>
                    <a:pt x="10" y="8"/>
                    <a:pt x="11" y="8"/>
                  </a:cubicBezTo>
                  <a:cubicBezTo>
                    <a:pt x="11" y="8"/>
                    <a:pt x="11" y="8"/>
                    <a:pt x="12" y="8"/>
                  </a:cubicBezTo>
                  <a:cubicBezTo>
                    <a:pt x="12" y="8"/>
                    <a:pt x="12" y="8"/>
                    <a:pt x="11" y="8"/>
                  </a:cubicBezTo>
                  <a:cubicBezTo>
                    <a:pt x="11" y="10"/>
                    <a:pt x="11" y="11"/>
                    <a:pt x="11" y="13"/>
                  </a:cubicBezTo>
                  <a:cubicBezTo>
                    <a:pt x="11" y="14"/>
                    <a:pt x="10" y="14"/>
                    <a:pt x="10" y="14"/>
                  </a:cubicBezTo>
                  <a:cubicBezTo>
                    <a:pt x="10" y="14"/>
                    <a:pt x="8" y="13"/>
                    <a:pt x="8" y="13"/>
                  </a:cubicBezTo>
                  <a:cubicBezTo>
                    <a:pt x="7" y="13"/>
                    <a:pt x="6" y="13"/>
                    <a:pt x="6" y="13"/>
                  </a:cubicBezTo>
                  <a:cubicBezTo>
                    <a:pt x="6" y="14"/>
                    <a:pt x="4" y="14"/>
                    <a:pt x="4" y="14"/>
                  </a:cubicBezTo>
                  <a:cubicBezTo>
                    <a:pt x="4" y="15"/>
                    <a:pt x="6" y="15"/>
                    <a:pt x="6" y="15"/>
                  </a:cubicBezTo>
                  <a:cubicBezTo>
                    <a:pt x="6" y="15"/>
                    <a:pt x="20" y="21"/>
                    <a:pt x="22" y="22"/>
                  </a:cubicBezTo>
                  <a:cubicBezTo>
                    <a:pt x="23" y="22"/>
                    <a:pt x="24" y="23"/>
                    <a:pt x="24" y="23"/>
                  </a:cubicBezTo>
                  <a:cubicBezTo>
                    <a:pt x="24" y="23"/>
                    <a:pt x="25" y="23"/>
                    <a:pt x="25" y="23"/>
                  </a:cubicBezTo>
                  <a:cubicBezTo>
                    <a:pt x="25" y="24"/>
                    <a:pt x="26" y="24"/>
                    <a:pt x="26" y="24"/>
                  </a:cubicBezTo>
                  <a:cubicBezTo>
                    <a:pt x="27" y="24"/>
                    <a:pt x="28" y="25"/>
                    <a:pt x="28" y="25"/>
                  </a:cubicBezTo>
                  <a:cubicBezTo>
                    <a:pt x="29" y="24"/>
                    <a:pt x="30" y="24"/>
                    <a:pt x="30" y="24"/>
                  </a:cubicBezTo>
                  <a:cubicBezTo>
                    <a:pt x="30" y="24"/>
                    <a:pt x="31" y="23"/>
                    <a:pt x="31" y="23"/>
                  </a:cubicBezTo>
                  <a:cubicBezTo>
                    <a:pt x="31" y="23"/>
                    <a:pt x="32" y="22"/>
                    <a:pt x="32" y="22"/>
                  </a:cubicBezTo>
                  <a:cubicBezTo>
                    <a:pt x="32" y="21"/>
                    <a:pt x="32" y="20"/>
                    <a:pt x="32" y="19"/>
                  </a:cubicBezTo>
                  <a:cubicBezTo>
                    <a:pt x="32" y="19"/>
                    <a:pt x="32" y="18"/>
                    <a:pt x="31" y="17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7"/>
                    <a:pt x="28" y="17"/>
                    <a:pt x="27" y="17"/>
                  </a:cubicBezTo>
                  <a:cubicBezTo>
                    <a:pt x="26" y="17"/>
                    <a:pt x="25" y="17"/>
                    <a:pt x="24" y="17"/>
                  </a:cubicBezTo>
                  <a:cubicBezTo>
                    <a:pt x="22" y="17"/>
                    <a:pt x="15" y="15"/>
                    <a:pt x="14" y="15"/>
                  </a:cubicBezTo>
                  <a:cubicBezTo>
                    <a:pt x="14" y="15"/>
                    <a:pt x="16" y="14"/>
                    <a:pt x="16" y="14"/>
                  </a:cubicBezTo>
                  <a:cubicBezTo>
                    <a:pt x="18" y="13"/>
                    <a:pt x="20" y="12"/>
                    <a:pt x="20" y="11"/>
                  </a:cubicBezTo>
                  <a:cubicBezTo>
                    <a:pt x="21" y="10"/>
                    <a:pt x="21" y="9"/>
                    <a:pt x="21" y="8"/>
                  </a:cubicBezTo>
                  <a:cubicBezTo>
                    <a:pt x="21" y="8"/>
                    <a:pt x="20" y="8"/>
                    <a:pt x="20" y="7"/>
                  </a:cubicBezTo>
                  <a:cubicBezTo>
                    <a:pt x="20" y="7"/>
                    <a:pt x="19" y="7"/>
                    <a:pt x="19" y="7"/>
                  </a:cubicBezTo>
                  <a:cubicBezTo>
                    <a:pt x="18" y="6"/>
                    <a:pt x="17" y="6"/>
                    <a:pt x="16" y="7"/>
                  </a:cubicBezTo>
                  <a:cubicBezTo>
                    <a:pt x="14" y="7"/>
                    <a:pt x="13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2" y="5"/>
                    <a:pt x="13" y="4"/>
                    <a:pt x="13" y="4"/>
                  </a:cubicBezTo>
                  <a:cubicBezTo>
                    <a:pt x="14" y="3"/>
                    <a:pt x="14" y="2"/>
                    <a:pt x="13" y="1"/>
                  </a:cubicBezTo>
                  <a:cubicBezTo>
                    <a:pt x="12" y="1"/>
                    <a:pt x="11" y="0"/>
                    <a:pt x="9" y="0"/>
                  </a:cubicBezTo>
                  <a:cubicBezTo>
                    <a:pt x="7" y="1"/>
                    <a:pt x="6" y="1"/>
                    <a:pt x="4" y="2"/>
                  </a:cubicBezTo>
                  <a:cubicBezTo>
                    <a:pt x="3" y="3"/>
                    <a:pt x="3" y="3"/>
                    <a:pt x="2" y="4"/>
                  </a:cubicBezTo>
                  <a:cubicBezTo>
                    <a:pt x="1" y="5"/>
                    <a:pt x="0" y="6"/>
                    <a:pt x="0" y="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0" name="ïsľíďe">
              <a:extLst>
                <a:ext uri="{FF2B5EF4-FFF2-40B4-BE49-F238E27FC236}">
                  <a16:creationId xmlns:a16="http://schemas.microsoft.com/office/drawing/2014/main" id="{8500F066-253C-470D-BFC1-09C0232B6EA1}"/>
                </a:ext>
              </a:extLst>
            </p:cNvPr>
            <p:cNvSpPr/>
            <p:nvPr/>
          </p:nvSpPr>
          <p:spPr bwMode="auto">
            <a:xfrm>
              <a:off x="3616325" y="2971801"/>
              <a:ext cx="96838" cy="106363"/>
            </a:xfrm>
            <a:custGeom>
              <a:avLst/>
              <a:gdLst>
                <a:gd name="T0" fmla="*/ 26 w 27"/>
                <a:gd name="T1" fmla="*/ 26 h 29"/>
                <a:gd name="T2" fmla="*/ 27 w 27"/>
                <a:gd name="T3" fmla="*/ 21 h 29"/>
                <a:gd name="T4" fmla="*/ 22 w 27"/>
                <a:gd name="T5" fmla="*/ 14 h 29"/>
                <a:gd name="T6" fmla="*/ 16 w 27"/>
                <a:gd name="T7" fmla="*/ 9 h 29"/>
                <a:gd name="T8" fmla="*/ 7 w 27"/>
                <a:gd name="T9" fmla="*/ 3 h 29"/>
                <a:gd name="T10" fmla="*/ 0 w 27"/>
                <a:gd name="T11" fmla="*/ 0 h 29"/>
                <a:gd name="T12" fmla="*/ 0 w 27"/>
                <a:gd name="T13" fmla="*/ 1 h 29"/>
                <a:gd name="T14" fmla="*/ 2 w 27"/>
                <a:gd name="T15" fmla="*/ 3 h 29"/>
                <a:gd name="T16" fmla="*/ 5 w 27"/>
                <a:gd name="T17" fmla="*/ 6 h 29"/>
                <a:gd name="T18" fmla="*/ 9 w 27"/>
                <a:gd name="T19" fmla="*/ 8 h 29"/>
                <a:gd name="T20" fmla="*/ 17 w 27"/>
                <a:gd name="T21" fmla="*/ 12 h 29"/>
                <a:gd name="T22" fmla="*/ 24 w 27"/>
                <a:gd name="T23" fmla="*/ 20 h 29"/>
                <a:gd name="T24" fmla="*/ 24 w 27"/>
                <a:gd name="T25" fmla="*/ 23 h 29"/>
                <a:gd name="T26" fmla="*/ 20 w 27"/>
                <a:gd name="T27" fmla="*/ 24 h 29"/>
                <a:gd name="T28" fmla="*/ 16 w 27"/>
                <a:gd name="T29" fmla="*/ 22 h 29"/>
                <a:gd name="T30" fmla="*/ 11 w 27"/>
                <a:gd name="T31" fmla="*/ 20 h 29"/>
                <a:gd name="T32" fmla="*/ 10 w 27"/>
                <a:gd name="T33" fmla="*/ 20 h 29"/>
                <a:gd name="T34" fmla="*/ 10 w 27"/>
                <a:gd name="T35" fmla="*/ 20 h 29"/>
                <a:gd name="T36" fmla="*/ 10 w 27"/>
                <a:gd name="T37" fmla="*/ 20 h 29"/>
                <a:gd name="T38" fmla="*/ 11 w 27"/>
                <a:gd name="T39" fmla="*/ 21 h 29"/>
                <a:gd name="T40" fmla="*/ 12 w 27"/>
                <a:gd name="T41" fmla="*/ 23 h 29"/>
                <a:gd name="T42" fmla="*/ 19 w 27"/>
                <a:gd name="T43" fmla="*/ 28 h 29"/>
                <a:gd name="T44" fmla="*/ 24 w 27"/>
                <a:gd name="T45" fmla="*/ 28 h 29"/>
                <a:gd name="T46" fmla="*/ 26 w 27"/>
                <a:gd name="T47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" h="29">
                  <a:moveTo>
                    <a:pt x="26" y="26"/>
                  </a:moveTo>
                  <a:cubicBezTo>
                    <a:pt x="27" y="24"/>
                    <a:pt x="27" y="23"/>
                    <a:pt x="27" y="21"/>
                  </a:cubicBezTo>
                  <a:cubicBezTo>
                    <a:pt x="26" y="19"/>
                    <a:pt x="24" y="16"/>
                    <a:pt x="22" y="14"/>
                  </a:cubicBezTo>
                  <a:cubicBezTo>
                    <a:pt x="20" y="12"/>
                    <a:pt x="20" y="11"/>
                    <a:pt x="16" y="9"/>
                  </a:cubicBezTo>
                  <a:cubicBezTo>
                    <a:pt x="12" y="6"/>
                    <a:pt x="8" y="4"/>
                    <a:pt x="7" y="3"/>
                  </a:cubicBezTo>
                  <a:cubicBezTo>
                    <a:pt x="5" y="3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2" y="3"/>
                    <a:pt x="2" y="3"/>
                  </a:cubicBezTo>
                  <a:cubicBezTo>
                    <a:pt x="3" y="4"/>
                    <a:pt x="4" y="6"/>
                    <a:pt x="5" y="6"/>
                  </a:cubicBezTo>
                  <a:cubicBezTo>
                    <a:pt x="7" y="7"/>
                    <a:pt x="8" y="8"/>
                    <a:pt x="9" y="8"/>
                  </a:cubicBezTo>
                  <a:cubicBezTo>
                    <a:pt x="12" y="9"/>
                    <a:pt x="16" y="12"/>
                    <a:pt x="17" y="12"/>
                  </a:cubicBezTo>
                  <a:cubicBezTo>
                    <a:pt x="20" y="15"/>
                    <a:pt x="23" y="18"/>
                    <a:pt x="24" y="20"/>
                  </a:cubicBezTo>
                  <a:cubicBezTo>
                    <a:pt x="25" y="21"/>
                    <a:pt x="25" y="22"/>
                    <a:pt x="24" y="23"/>
                  </a:cubicBezTo>
                  <a:cubicBezTo>
                    <a:pt x="23" y="24"/>
                    <a:pt x="21" y="24"/>
                    <a:pt x="20" y="24"/>
                  </a:cubicBezTo>
                  <a:cubicBezTo>
                    <a:pt x="19" y="23"/>
                    <a:pt x="17" y="23"/>
                    <a:pt x="16" y="22"/>
                  </a:cubicBezTo>
                  <a:cubicBezTo>
                    <a:pt x="14" y="21"/>
                    <a:pt x="11" y="20"/>
                    <a:pt x="11" y="20"/>
                  </a:cubicBezTo>
                  <a:cubicBezTo>
                    <a:pt x="11" y="20"/>
                    <a:pt x="11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1" y="21"/>
                  </a:cubicBezTo>
                  <a:cubicBezTo>
                    <a:pt x="11" y="21"/>
                    <a:pt x="12" y="23"/>
                    <a:pt x="12" y="23"/>
                  </a:cubicBezTo>
                  <a:cubicBezTo>
                    <a:pt x="13" y="24"/>
                    <a:pt x="15" y="27"/>
                    <a:pt x="19" y="28"/>
                  </a:cubicBezTo>
                  <a:cubicBezTo>
                    <a:pt x="21" y="28"/>
                    <a:pt x="22" y="29"/>
                    <a:pt x="24" y="28"/>
                  </a:cubicBezTo>
                  <a:cubicBezTo>
                    <a:pt x="25" y="27"/>
                    <a:pt x="26" y="27"/>
                    <a:pt x="2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1" name="íšḷïdé">
              <a:extLst>
                <a:ext uri="{FF2B5EF4-FFF2-40B4-BE49-F238E27FC236}">
                  <a16:creationId xmlns:a16="http://schemas.microsoft.com/office/drawing/2014/main" id="{7527FBD6-2C24-4137-87E9-2F6F1FAB10BB}"/>
                </a:ext>
              </a:extLst>
            </p:cNvPr>
            <p:cNvSpPr/>
            <p:nvPr/>
          </p:nvSpPr>
          <p:spPr bwMode="auto">
            <a:xfrm>
              <a:off x="3651250" y="304482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2" name="ïslîḍê">
              <a:extLst>
                <a:ext uri="{FF2B5EF4-FFF2-40B4-BE49-F238E27FC236}">
                  <a16:creationId xmlns:a16="http://schemas.microsoft.com/office/drawing/2014/main" id="{D7BBB215-B34A-4A30-A6AC-196DFAFD3867}"/>
                </a:ext>
              </a:extLst>
            </p:cNvPr>
            <p:cNvSpPr/>
            <p:nvPr/>
          </p:nvSpPr>
          <p:spPr bwMode="auto">
            <a:xfrm>
              <a:off x="3651250" y="3044826"/>
              <a:ext cx="4763" cy="0"/>
            </a:xfrm>
            <a:custGeom>
              <a:avLst/>
              <a:gdLst>
                <a:gd name="T0" fmla="*/ 0 w 1"/>
                <a:gd name="T1" fmla="*/ 0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3" name="îŝľíḍè">
              <a:extLst>
                <a:ext uri="{FF2B5EF4-FFF2-40B4-BE49-F238E27FC236}">
                  <a16:creationId xmlns:a16="http://schemas.microsoft.com/office/drawing/2014/main" id="{452B0065-201F-4273-882D-B2D36A18C7FF}"/>
                </a:ext>
              </a:extLst>
            </p:cNvPr>
            <p:cNvSpPr/>
            <p:nvPr/>
          </p:nvSpPr>
          <p:spPr bwMode="auto">
            <a:xfrm>
              <a:off x="3560763" y="2951163"/>
              <a:ext cx="44450" cy="36513"/>
            </a:xfrm>
            <a:custGeom>
              <a:avLst/>
              <a:gdLst>
                <a:gd name="T0" fmla="*/ 3 w 12"/>
                <a:gd name="T1" fmla="*/ 9 h 10"/>
                <a:gd name="T2" fmla="*/ 6 w 12"/>
                <a:gd name="T3" fmla="*/ 8 h 10"/>
                <a:gd name="T4" fmla="*/ 11 w 12"/>
                <a:gd name="T5" fmla="*/ 5 h 10"/>
                <a:gd name="T6" fmla="*/ 12 w 12"/>
                <a:gd name="T7" fmla="*/ 4 h 10"/>
                <a:gd name="T8" fmla="*/ 12 w 12"/>
                <a:gd name="T9" fmla="*/ 3 h 10"/>
                <a:gd name="T10" fmla="*/ 11 w 12"/>
                <a:gd name="T11" fmla="*/ 1 h 10"/>
                <a:gd name="T12" fmla="*/ 10 w 12"/>
                <a:gd name="T13" fmla="*/ 1 h 10"/>
                <a:gd name="T14" fmla="*/ 8 w 12"/>
                <a:gd name="T15" fmla="*/ 1 h 10"/>
                <a:gd name="T16" fmla="*/ 2 w 12"/>
                <a:gd name="T17" fmla="*/ 3 h 10"/>
                <a:gd name="T18" fmla="*/ 0 w 12"/>
                <a:gd name="T19" fmla="*/ 7 h 10"/>
                <a:gd name="T20" fmla="*/ 1 w 12"/>
                <a:gd name="T21" fmla="*/ 8 h 10"/>
                <a:gd name="T22" fmla="*/ 3 w 12"/>
                <a:gd name="T23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0">
                  <a:moveTo>
                    <a:pt x="3" y="9"/>
                  </a:moveTo>
                  <a:cubicBezTo>
                    <a:pt x="4" y="9"/>
                    <a:pt x="5" y="8"/>
                    <a:pt x="6" y="8"/>
                  </a:cubicBezTo>
                  <a:cubicBezTo>
                    <a:pt x="8" y="7"/>
                    <a:pt x="9" y="6"/>
                    <a:pt x="11" y="5"/>
                  </a:cubicBezTo>
                  <a:cubicBezTo>
                    <a:pt x="12" y="5"/>
                    <a:pt x="12" y="4"/>
                    <a:pt x="12" y="4"/>
                  </a:cubicBezTo>
                  <a:cubicBezTo>
                    <a:pt x="12" y="4"/>
                    <a:pt x="12" y="3"/>
                    <a:pt x="12" y="3"/>
                  </a:cubicBezTo>
                  <a:cubicBezTo>
                    <a:pt x="12" y="3"/>
                    <a:pt x="11" y="2"/>
                    <a:pt x="11" y="1"/>
                  </a:cubicBezTo>
                  <a:cubicBezTo>
                    <a:pt x="11" y="1"/>
                    <a:pt x="11" y="1"/>
                    <a:pt x="10" y="1"/>
                  </a:cubicBezTo>
                  <a:cubicBezTo>
                    <a:pt x="9" y="0"/>
                    <a:pt x="8" y="0"/>
                    <a:pt x="8" y="1"/>
                  </a:cubicBezTo>
                  <a:cubicBezTo>
                    <a:pt x="6" y="1"/>
                    <a:pt x="4" y="2"/>
                    <a:pt x="2" y="3"/>
                  </a:cubicBezTo>
                  <a:cubicBezTo>
                    <a:pt x="0" y="3"/>
                    <a:pt x="0" y="5"/>
                    <a:pt x="0" y="7"/>
                  </a:cubicBezTo>
                  <a:cubicBezTo>
                    <a:pt x="1" y="7"/>
                    <a:pt x="1" y="8"/>
                    <a:pt x="1" y="8"/>
                  </a:cubicBezTo>
                  <a:cubicBezTo>
                    <a:pt x="2" y="9"/>
                    <a:pt x="2" y="10"/>
                    <a:pt x="3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4" name="íşľîḑé">
              <a:extLst>
                <a:ext uri="{FF2B5EF4-FFF2-40B4-BE49-F238E27FC236}">
                  <a16:creationId xmlns:a16="http://schemas.microsoft.com/office/drawing/2014/main" id="{E43A8A5C-F71A-49C7-9D4E-4A751906EC00}"/>
                </a:ext>
              </a:extLst>
            </p:cNvPr>
            <p:cNvSpPr/>
            <p:nvPr/>
          </p:nvSpPr>
          <p:spPr bwMode="auto">
            <a:xfrm>
              <a:off x="2205038" y="2925763"/>
              <a:ext cx="220663" cy="198438"/>
            </a:xfrm>
            <a:custGeom>
              <a:avLst/>
              <a:gdLst>
                <a:gd name="T0" fmla="*/ 23 w 61"/>
                <a:gd name="T1" fmla="*/ 15 h 55"/>
                <a:gd name="T2" fmla="*/ 21 w 61"/>
                <a:gd name="T3" fmla="*/ 20 h 55"/>
                <a:gd name="T4" fmla="*/ 17 w 61"/>
                <a:gd name="T5" fmla="*/ 12 h 55"/>
                <a:gd name="T6" fmla="*/ 19 w 61"/>
                <a:gd name="T7" fmla="*/ 8 h 55"/>
                <a:gd name="T8" fmla="*/ 17 w 61"/>
                <a:gd name="T9" fmla="*/ 2 h 55"/>
                <a:gd name="T10" fmla="*/ 14 w 61"/>
                <a:gd name="T11" fmla="*/ 2 h 55"/>
                <a:gd name="T12" fmla="*/ 12 w 61"/>
                <a:gd name="T13" fmla="*/ 5 h 55"/>
                <a:gd name="T14" fmla="*/ 8 w 61"/>
                <a:gd name="T15" fmla="*/ 3 h 55"/>
                <a:gd name="T16" fmla="*/ 2 w 61"/>
                <a:gd name="T17" fmla="*/ 10 h 55"/>
                <a:gd name="T18" fmla="*/ 9 w 61"/>
                <a:gd name="T19" fmla="*/ 15 h 55"/>
                <a:gd name="T20" fmla="*/ 10 w 61"/>
                <a:gd name="T21" fmla="*/ 18 h 55"/>
                <a:gd name="T22" fmla="*/ 10 w 61"/>
                <a:gd name="T23" fmla="*/ 24 h 55"/>
                <a:gd name="T24" fmla="*/ 16 w 61"/>
                <a:gd name="T25" fmla="*/ 25 h 55"/>
                <a:gd name="T26" fmla="*/ 21 w 61"/>
                <a:gd name="T27" fmla="*/ 35 h 55"/>
                <a:gd name="T28" fmla="*/ 20 w 61"/>
                <a:gd name="T29" fmla="*/ 37 h 55"/>
                <a:gd name="T30" fmla="*/ 25 w 61"/>
                <a:gd name="T31" fmla="*/ 46 h 55"/>
                <a:gd name="T32" fmla="*/ 39 w 61"/>
                <a:gd name="T33" fmla="*/ 54 h 55"/>
                <a:gd name="T34" fmla="*/ 43 w 61"/>
                <a:gd name="T35" fmla="*/ 54 h 55"/>
                <a:gd name="T36" fmla="*/ 45 w 61"/>
                <a:gd name="T37" fmla="*/ 52 h 55"/>
                <a:gd name="T38" fmla="*/ 41 w 61"/>
                <a:gd name="T39" fmla="*/ 47 h 55"/>
                <a:gd name="T40" fmla="*/ 31 w 61"/>
                <a:gd name="T41" fmla="*/ 42 h 55"/>
                <a:gd name="T42" fmla="*/ 27 w 61"/>
                <a:gd name="T43" fmla="*/ 37 h 55"/>
                <a:gd name="T44" fmla="*/ 27 w 61"/>
                <a:gd name="T45" fmla="*/ 33 h 55"/>
                <a:gd name="T46" fmla="*/ 26 w 61"/>
                <a:gd name="T47" fmla="*/ 25 h 55"/>
                <a:gd name="T48" fmla="*/ 26 w 61"/>
                <a:gd name="T49" fmla="*/ 25 h 55"/>
                <a:gd name="T50" fmla="*/ 26 w 61"/>
                <a:gd name="T51" fmla="*/ 22 h 55"/>
                <a:gd name="T52" fmla="*/ 32 w 61"/>
                <a:gd name="T53" fmla="*/ 6 h 55"/>
                <a:gd name="T54" fmla="*/ 44 w 61"/>
                <a:gd name="T55" fmla="*/ 10 h 55"/>
                <a:gd name="T56" fmla="*/ 52 w 61"/>
                <a:gd name="T57" fmla="*/ 20 h 55"/>
                <a:gd name="T58" fmla="*/ 54 w 61"/>
                <a:gd name="T59" fmla="*/ 27 h 55"/>
                <a:gd name="T60" fmla="*/ 49 w 61"/>
                <a:gd name="T61" fmla="*/ 31 h 55"/>
                <a:gd name="T62" fmla="*/ 46 w 61"/>
                <a:gd name="T63" fmla="*/ 27 h 55"/>
                <a:gd name="T64" fmla="*/ 42 w 61"/>
                <a:gd name="T65" fmla="*/ 25 h 55"/>
                <a:gd name="T66" fmla="*/ 41 w 61"/>
                <a:gd name="T67" fmla="*/ 28 h 55"/>
                <a:gd name="T68" fmla="*/ 40 w 61"/>
                <a:gd name="T69" fmla="*/ 28 h 55"/>
                <a:gd name="T70" fmla="*/ 38 w 61"/>
                <a:gd name="T71" fmla="*/ 20 h 55"/>
                <a:gd name="T72" fmla="*/ 34 w 61"/>
                <a:gd name="T73" fmla="*/ 19 h 55"/>
                <a:gd name="T74" fmla="*/ 28 w 61"/>
                <a:gd name="T75" fmla="*/ 16 h 55"/>
                <a:gd name="T76" fmla="*/ 28 w 61"/>
                <a:gd name="T77" fmla="*/ 19 h 55"/>
                <a:gd name="T78" fmla="*/ 30 w 61"/>
                <a:gd name="T79" fmla="*/ 24 h 55"/>
                <a:gd name="T80" fmla="*/ 28 w 61"/>
                <a:gd name="T81" fmla="*/ 24 h 55"/>
                <a:gd name="T82" fmla="*/ 26 w 61"/>
                <a:gd name="T83" fmla="*/ 25 h 55"/>
                <a:gd name="T84" fmla="*/ 26 w 61"/>
                <a:gd name="T85" fmla="*/ 25 h 55"/>
                <a:gd name="T86" fmla="*/ 29 w 61"/>
                <a:gd name="T87" fmla="*/ 28 h 55"/>
                <a:gd name="T88" fmla="*/ 32 w 61"/>
                <a:gd name="T89" fmla="*/ 29 h 55"/>
                <a:gd name="T90" fmla="*/ 36 w 61"/>
                <a:gd name="T91" fmla="*/ 36 h 55"/>
                <a:gd name="T92" fmla="*/ 38 w 61"/>
                <a:gd name="T93" fmla="*/ 34 h 55"/>
                <a:gd name="T94" fmla="*/ 40 w 61"/>
                <a:gd name="T95" fmla="*/ 39 h 55"/>
                <a:gd name="T96" fmla="*/ 42 w 61"/>
                <a:gd name="T97" fmla="*/ 40 h 55"/>
                <a:gd name="T98" fmla="*/ 44 w 61"/>
                <a:gd name="T99" fmla="*/ 38 h 55"/>
                <a:gd name="T100" fmla="*/ 47 w 61"/>
                <a:gd name="T101" fmla="*/ 33 h 55"/>
                <a:gd name="T102" fmla="*/ 58 w 61"/>
                <a:gd name="T103" fmla="*/ 41 h 55"/>
                <a:gd name="T104" fmla="*/ 61 w 61"/>
                <a:gd name="T105" fmla="*/ 42 h 55"/>
                <a:gd name="T106" fmla="*/ 60 w 61"/>
                <a:gd name="T107" fmla="*/ 40 h 55"/>
                <a:gd name="T108" fmla="*/ 52 w 61"/>
                <a:gd name="T109" fmla="*/ 34 h 55"/>
                <a:gd name="T110" fmla="*/ 50 w 61"/>
                <a:gd name="T111" fmla="*/ 31 h 55"/>
                <a:gd name="T112" fmla="*/ 53 w 61"/>
                <a:gd name="T113" fmla="*/ 31 h 55"/>
                <a:gd name="T114" fmla="*/ 54 w 61"/>
                <a:gd name="T115" fmla="*/ 32 h 55"/>
                <a:gd name="T116" fmla="*/ 58 w 61"/>
                <a:gd name="T117" fmla="*/ 31 h 55"/>
                <a:gd name="T118" fmla="*/ 59 w 61"/>
                <a:gd name="T119" fmla="*/ 22 h 55"/>
                <a:gd name="T120" fmla="*/ 52 w 61"/>
                <a:gd name="T121" fmla="*/ 12 h 55"/>
                <a:gd name="T122" fmla="*/ 45 w 61"/>
                <a:gd name="T123" fmla="*/ 5 h 55"/>
                <a:gd name="T124" fmla="*/ 37 w 61"/>
                <a:gd name="T125" fmla="*/ 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30" y="3"/>
                  </a:moveTo>
                  <a:cubicBezTo>
                    <a:pt x="26" y="6"/>
                    <a:pt x="24" y="10"/>
                    <a:pt x="23" y="15"/>
                  </a:cubicBezTo>
                  <a:cubicBezTo>
                    <a:pt x="23" y="16"/>
                    <a:pt x="22" y="18"/>
                    <a:pt x="22" y="19"/>
                  </a:cubicBezTo>
                  <a:cubicBezTo>
                    <a:pt x="22" y="20"/>
                    <a:pt x="21" y="20"/>
                    <a:pt x="21" y="20"/>
                  </a:cubicBezTo>
                  <a:cubicBezTo>
                    <a:pt x="21" y="19"/>
                    <a:pt x="20" y="19"/>
                    <a:pt x="20" y="18"/>
                  </a:cubicBezTo>
                  <a:cubicBezTo>
                    <a:pt x="18" y="17"/>
                    <a:pt x="18" y="15"/>
                    <a:pt x="17" y="12"/>
                  </a:cubicBezTo>
                  <a:cubicBezTo>
                    <a:pt x="17" y="12"/>
                    <a:pt x="17" y="11"/>
                    <a:pt x="18" y="10"/>
                  </a:cubicBezTo>
                  <a:cubicBezTo>
                    <a:pt x="18" y="9"/>
                    <a:pt x="18" y="8"/>
                    <a:pt x="19" y="8"/>
                  </a:cubicBezTo>
                  <a:cubicBezTo>
                    <a:pt x="19" y="6"/>
                    <a:pt x="19" y="5"/>
                    <a:pt x="19" y="4"/>
                  </a:cubicBezTo>
                  <a:cubicBezTo>
                    <a:pt x="18" y="3"/>
                    <a:pt x="18" y="3"/>
                    <a:pt x="17" y="2"/>
                  </a:cubicBezTo>
                  <a:cubicBezTo>
                    <a:pt x="17" y="2"/>
                    <a:pt x="16" y="2"/>
                    <a:pt x="15" y="2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3" y="3"/>
                    <a:pt x="13" y="3"/>
                    <a:pt x="13" y="4"/>
                  </a:cubicBezTo>
                  <a:cubicBezTo>
                    <a:pt x="13" y="4"/>
                    <a:pt x="12" y="5"/>
                    <a:pt x="12" y="5"/>
                  </a:cubicBezTo>
                  <a:cubicBezTo>
                    <a:pt x="12" y="6"/>
                    <a:pt x="11" y="5"/>
                    <a:pt x="11" y="4"/>
                  </a:cubicBezTo>
                  <a:cubicBezTo>
                    <a:pt x="10" y="3"/>
                    <a:pt x="9" y="3"/>
                    <a:pt x="8" y="3"/>
                  </a:cubicBezTo>
                  <a:cubicBezTo>
                    <a:pt x="5" y="3"/>
                    <a:pt x="3" y="3"/>
                    <a:pt x="1" y="6"/>
                  </a:cubicBezTo>
                  <a:cubicBezTo>
                    <a:pt x="0" y="7"/>
                    <a:pt x="1" y="9"/>
                    <a:pt x="2" y="10"/>
                  </a:cubicBezTo>
                  <a:cubicBezTo>
                    <a:pt x="4" y="10"/>
                    <a:pt x="4" y="10"/>
                    <a:pt x="5" y="11"/>
                  </a:cubicBezTo>
                  <a:cubicBezTo>
                    <a:pt x="6" y="12"/>
                    <a:pt x="8" y="13"/>
                    <a:pt x="9" y="15"/>
                  </a:cubicBezTo>
                  <a:cubicBezTo>
                    <a:pt x="9" y="15"/>
                    <a:pt x="10" y="16"/>
                    <a:pt x="10" y="17"/>
                  </a:cubicBezTo>
                  <a:cubicBezTo>
                    <a:pt x="10" y="17"/>
                    <a:pt x="10" y="17"/>
                    <a:pt x="10" y="18"/>
                  </a:cubicBezTo>
                  <a:cubicBezTo>
                    <a:pt x="10" y="19"/>
                    <a:pt x="10" y="20"/>
                    <a:pt x="9" y="21"/>
                  </a:cubicBezTo>
                  <a:cubicBezTo>
                    <a:pt x="9" y="22"/>
                    <a:pt x="9" y="23"/>
                    <a:pt x="10" y="24"/>
                  </a:cubicBezTo>
                  <a:cubicBezTo>
                    <a:pt x="11" y="25"/>
                    <a:pt x="14" y="26"/>
                    <a:pt x="15" y="25"/>
                  </a:cubicBezTo>
                  <a:cubicBezTo>
                    <a:pt x="16" y="24"/>
                    <a:pt x="16" y="24"/>
                    <a:pt x="16" y="25"/>
                  </a:cubicBezTo>
                  <a:cubicBezTo>
                    <a:pt x="17" y="26"/>
                    <a:pt x="18" y="28"/>
                    <a:pt x="19" y="30"/>
                  </a:cubicBezTo>
                  <a:cubicBezTo>
                    <a:pt x="20" y="31"/>
                    <a:pt x="20" y="33"/>
                    <a:pt x="21" y="35"/>
                  </a:cubicBezTo>
                  <a:cubicBezTo>
                    <a:pt x="21" y="35"/>
                    <a:pt x="21" y="36"/>
                    <a:pt x="21" y="36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20" y="39"/>
                    <a:pt x="21" y="41"/>
                    <a:pt x="22" y="43"/>
                  </a:cubicBezTo>
                  <a:cubicBezTo>
                    <a:pt x="23" y="44"/>
                    <a:pt x="24" y="46"/>
                    <a:pt x="25" y="46"/>
                  </a:cubicBezTo>
                  <a:cubicBezTo>
                    <a:pt x="28" y="48"/>
                    <a:pt x="30" y="49"/>
                    <a:pt x="32" y="51"/>
                  </a:cubicBezTo>
                  <a:cubicBezTo>
                    <a:pt x="34" y="52"/>
                    <a:pt x="37" y="53"/>
                    <a:pt x="39" y="54"/>
                  </a:cubicBezTo>
                  <a:cubicBezTo>
                    <a:pt x="39" y="54"/>
                    <a:pt x="39" y="55"/>
                    <a:pt x="40" y="54"/>
                  </a:cubicBezTo>
                  <a:cubicBezTo>
                    <a:pt x="41" y="54"/>
                    <a:pt x="42" y="54"/>
                    <a:pt x="43" y="54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4" y="53"/>
                    <a:pt x="45" y="52"/>
                    <a:pt x="45" y="52"/>
                  </a:cubicBezTo>
                  <a:cubicBezTo>
                    <a:pt x="46" y="51"/>
                    <a:pt x="46" y="50"/>
                    <a:pt x="46" y="50"/>
                  </a:cubicBezTo>
                  <a:cubicBezTo>
                    <a:pt x="44" y="49"/>
                    <a:pt x="43" y="47"/>
                    <a:pt x="41" y="47"/>
                  </a:cubicBezTo>
                  <a:cubicBezTo>
                    <a:pt x="40" y="47"/>
                    <a:pt x="39" y="46"/>
                    <a:pt x="38" y="46"/>
                  </a:cubicBezTo>
                  <a:cubicBezTo>
                    <a:pt x="35" y="45"/>
                    <a:pt x="33" y="43"/>
                    <a:pt x="31" y="42"/>
                  </a:cubicBezTo>
                  <a:cubicBezTo>
                    <a:pt x="29" y="41"/>
                    <a:pt x="28" y="40"/>
                    <a:pt x="27" y="40"/>
                  </a:cubicBezTo>
                  <a:cubicBezTo>
                    <a:pt x="26" y="39"/>
                    <a:pt x="26" y="38"/>
                    <a:pt x="27" y="37"/>
                  </a:cubicBezTo>
                  <a:cubicBezTo>
                    <a:pt x="27" y="37"/>
                    <a:pt x="27" y="37"/>
                    <a:pt x="27" y="36"/>
                  </a:cubicBezTo>
                  <a:cubicBezTo>
                    <a:pt x="28" y="35"/>
                    <a:pt x="28" y="34"/>
                    <a:pt x="27" y="33"/>
                  </a:cubicBezTo>
                  <a:cubicBezTo>
                    <a:pt x="27" y="32"/>
                    <a:pt x="27" y="30"/>
                    <a:pt x="27" y="29"/>
                  </a:cubicBezTo>
                  <a:cubicBezTo>
                    <a:pt x="26" y="27"/>
                    <a:pt x="26" y="26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4"/>
                    <a:pt x="26" y="23"/>
                  </a:cubicBezTo>
                  <a:cubicBezTo>
                    <a:pt x="26" y="23"/>
                    <a:pt x="26" y="22"/>
                    <a:pt x="26" y="22"/>
                  </a:cubicBezTo>
                  <a:cubicBezTo>
                    <a:pt x="26" y="20"/>
                    <a:pt x="26" y="18"/>
                    <a:pt x="27" y="17"/>
                  </a:cubicBezTo>
                  <a:cubicBezTo>
                    <a:pt x="27" y="13"/>
                    <a:pt x="29" y="9"/>
                    <a:pt x="32" y="6"/>
                  </a:cubicBezTo>
                  <a:cubicBezTo>
                    <a:pt x="35" y="4"/>
                    <a:pt x="37" y="4"/>
                    <a:pt x="40" y="6"/>
                  </a:cubicBezTo>
                  <a:cubicBezTo>
                    <a:pt x="41" y="7"/>
                    <a:pt x="43" y="9"/>
                    <a:pt x="44" y="10"/>
                  </a:cubicBezTo>
                  <a:cubicBezTo>
                    <a:pt x="45" y="10"/>
                    <a:pt x="45" y="11"/>
                    <a:pt x="46" y="12"/>
                  </a:cubicBezTo>
                  <a:cubicBezTo>
                    <a:pt x="48" y="15"/>
                    <a:pt x="50" y="17"/>
                    <a:pt x="52" y="20"/>
                  </a:cubicBezTo>
                  <a:cubicBezTo>
                    <a:pt x="53" y="21"/>
                    <a:pt x="54" y="23"/>
                    <a:pt x="54" y="25"/>
                  </a:cubicBezTo>
                  <a:cubicBezTo>
                    <a:pt x="55" y="26"/>
                    <a:pt x="55" y="26"/>
                    <a:pt x="54" y="27"/>
                  </a:cubicBezTo>
                  <a:cubicBezTo>
                    <a:pt x="53" y="29"/>
                    <a:pt x="51" y="30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8" y="30"/>
                    <a:pt x="47" y="29"/>
                    <a:pt x="47" y="28"/>
                  </a:cubicBezTo>
                  <a:cubicBezTo>
                    <a:pt x="46" y="28"/>
                    <a:pt x="46" y="27"/>
                    <a:pt x="46" y="27"/>
                  </a:cubicBezTo>
                  <a:cubicBezTo>
                    <a:pt x="46" y="26"/>
                    <a:pt x="45" y="26"/>
                    <a:pt x="45" y="26"/>
                  </a:cubicBezTo>
                  <a:cubicBezTo>
                    <a:pt x="44" y="25"/>
                    <a:pt x="43" y="25"/>
                    <a:pt x="42" y="25"/>
                  </a:cubicBezTo>
                  <a:cubicBezTo>
                    <a:pt x="42" y="25"/>
                    <a:pt x="40" y="26"/>
                    <a:pt x="41" y="27"/>
                  </a:cubicBezTo>
                  <a:cubicBezTo>
                    <a:pt x="41" y="27"/>
                    <a:pt x="41" y="28"/>
                    <a:pt x="41" y="28"/>
                  </a:cubicBezTo>
                  <a:cubicBezTo>
                    <a:pt x="41" y="28"/>
                    <a:pt x="41" y="29"/>
                    <a:pt x="41" y="29"/>
                  </a:cubicBezTo>
                  <a:cubicBezTo>
                    <a:pt x="41" y="29"/>
                    <a:pt x="40" y="29"/>
                    <a:pt x="40" y="28"/>
                  </a:cubicBezTo>
                  <a:cubicBezTo>
                    <a:pt x="40" y="26"/>
                    <a:pt x="39" y="24"/>
                    <a:pt x="39" y="22"/>
                  </a:cubicBezTo>
                  <a:cubicBezTo>
                    <a:pt x="39" y="21"/>
                    <a:pt x="39" y="21"/>
                    <a:pt x="38" y="20"/>
                  </a:cubicBezTo>
                  <a:cubicBezTo>
                    <a:pt x="37" y="19"/>
                    <a:pt x="36" y="19"/>
                    <a:pt x="35" y="20"/>
                  </a:cubicBezTo>
                  <a:cubicBezTo>
                    <a:pt x="35" y="20"/>
                    <a:pt x="34" y="20"/>
                    <a:pt x="34" y="19"/>
                  </a:cubicBezTo>
                  <a:cubicBezTo>
                    <a:pt x="34" y="18"/>
                    <a:pt x="33" y="17"/>
                    <a:pt x="32" y="16"/>
                  </a:cubicBezTo>
                  <a:cubicBezTo>
                    <a:pt x="31" y="15"/>
                    <a:pt x="29" y="15"/>
                    <a:pt x="28" y="16"/>
                  </a:cubicBezTo>
                  <a:cubicBezTo>
                    <a:pt x="27" y="16"/>
                    <a:pt x="27" y="16"/>
                    <a:pt x="27" y="17"/>
                  </a:cubicBezTo>
                  <a:cubicBezTo>
                    <a:pt x="27" y="17"/>
                    <a:pt x="28" y="18"/>
                    <a:pt x="28" y="19"/>
                  </a:cubicBezTo>
                  <a:cubicBezTo>
                    <a:pt x="29" y="20"/>
                    <a:pt x="30" y="21"/>
                    <a:pt x="30" y="22"/>
                  </a:cubicBezTo>
                  <a:cubicBezTo>
                    <a:pt x="30" y="23"/>
                    <a:pt x="30" y="24"/>
                    <a:pt x="30" y="24"/>
                  </a:cubicBezTo>
                  <a:cubicBezTo>
                    <a:pt x="29" y="24"/>
                    <a:pt x="29" y="24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7" y="23"/>
                    <a:pt x="27" y="24"/>
                    <a:pt x="27" y="24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7" y="26"/>
                    <a:pt x="27" y="27"/>
                    <a:pt x="27" y="28"/>
                  </a:cubicBezTo>
                  <a:cubicBezTo>
                    <a:pt x="28" y="28"/>
                    <a:pt x="28" y="28"/>
                    <a:pt x="29" y="28"/>
                  </a:cubicBezTo>
                  <a:cubicBezTo>
                    <a:pt x="29" y="29"/>
                    <a:pt x="30" y="29"/>
                    <a:pt x="31" y="28"/>
                  </a:cubicBezTo>
                  <a:cubicBezTo>
                    <a:pt x="31" y="28"/>
                    <a:pt x="32" y="29"/>
                    <a:pt x="32" y="29"/>
                  </a:cubicBezTo>
                  <a:cubicBezTo>
                    <a:pt x="33" y="31"/>
                    <a:pt x="33" y="33"/>
                    <a:pt x="34" y="35"/>
                  </a:cubicBezTo>
                  <a:cubicBezTo>
                    <a:pt x="34" y="35"/>
                    <a:pt x="35" y="36"/>
                    <a:pt x="36" y="36"/>
                  </a:cubicBezTo>
                  <a:cubicBezTo>
                    <a:pt x="37" y="35"/>
                    <a:pt x="37" y="35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9" y="34"/>
                    <a:pt x="39" y="35"/>
                  </a:cubicBezTo>
                  <a:cubicBezTo>
                    <a:pt x="39" y="36"/>
                    <a:pt x="40" y="38"/>
                    <a:pt x="40" y="39"/>
                  </a:cubicBezTo>
                  <a:cubicBezTo>
                    <a:pt x="41" y="39"/>
                    <a:pt x="41" y="40"/>
                    <a:pt x="41" y="40"/>
                  </a:cubicBezTo>
                  <a:cubicBezTo>
                    <a:pt x="41" y="40"/>
                    <a:pt x="42" y="40"/>
                    <a:pt x="42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4" y="39"/>
                    <a:pt x="44" y="38"/>
                    <a:pt x="44" y="38"/>
                  </a:cubicBezTo>
                  <a:cubicBezTo>
                    <a:pt x="45" y="36"/>
                    <a:pt x="45" y="35"/>
                    <a:pt x="45" y="34"/>
                  </a:cubicBezTo>
                  <a:cubicBezTo>
                    <a:pt x="46" y="33"/>
                    <a:pt x="46" y="33"/>
                    <a:pt x="47" y="33"/>
                  </a:cubicBezTo>
                  <a:cubicBezTo>
                    <a:pt x="48" y="34"/>
                    <a:pt x="49" y="35"/>
                    <a:pt x="50" y="36"/>
                  </a:cubicBezTo>
                  <a:cubicBezTo>
                    <a:pt x="53" y="38"/>
                    <a:pt x="56" y="39"/>
                    <a:pt x="58" y="41"/>
                  </a:cubicBezTo>
                  <a:cubicBezTo>
                    <a:pt x="59" y="41"/>
                    <a:pt x="60" y="42"/>
                    <a:pt x="60" y="42"/>
                  </a:cubicBezTo>
                  <a:cubicBezTo>
                    <a:pt x="60" y="42"/>
                    <a:pt x="61" y="42"/>
                    <a:pt x="61" y="42"/>
                  </a:cubicBezTo>
                  <a:cubicBezTo>
                    <a:pt x="61" y="42"/>
                    <a:pt x="61" y="41"/>
                    <a:pt x="61" y="41"/>
                  </a:cubicBezTo>
                  <a:cubicBezTo>
                    <a:pt x="61" y="41"/>
                    <a:pt x="60" y="40"/>
                    <a:pt x="60" y="40"/>
                  </a:cubicBezTo>
                  <a:cubicBezTo>
                    <a:pt x="59" y="39"/>
                    <a:pt x="54" y="36"/>
                    <a:pt x="53" y="35"/>
                  </a:cubicBezTo>
                  <a:cubicBezTo>
                    <a:pt x="53" y="35"/>
                    <a:pt x="53" y="34"/>
                    <a:pt x="52" y="34"/>
                  </a:cubicBezTo>
                  <a:cubicBezTo>
                    <a:pt x="52" y="33"/>
                    <a:pt x="51" y="33"/>
                    <a:pt x="50" y="32"/>
                  </a:cubicBezTo>
                  <a:cubicBezTo>
                    <a:pt x="50" y="32"/>
                    <a:pt x="50" y="32"/>
                    <a:pt x="50" y="31"/>
                  </a:cubicBezTo>
                  <a:cubicBezTo>
                    <a:pt x="51" y="31"/>
                    <a:pt x="51" y="31"/>
                    <a:pt x="52" y="31"/>
                  </a:cubicBezTo>
                  <a:cubicBezTo>
                    <a:pt x="52" y="31"/>
                    <a:pt x="52" y="30"/>
                    <a:pt x="53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31"/>
                    <a:pt x="54" y="31"/>
                    <a:pt x="54" y="32"/>
                  </a:cubicBezTo>
                  <a:cubicBezTo>
                    <a:pt x="53" y="32"/>
                    <a:pt x="54" y="32"/>
                    <a:pt x="54" y="32"/>
                  </a:cubicBezTo>
                  <a:cubicBezTo>
                    <a:pt x="56" y="32"/>
                    <a:pt x="57" y="32"/>
                    <a:pt x="58" y="31"/>
                  </a:cubicBezTo>
                  <a:cubicBezTo>
                    <a:pt x="59" y="30"/>
                    <a:pt x="60" y="28"/>
                    <a:pt x="60" y="27"/>
                  </a:cubicBezTo>
                  <a:cubicBezTo>
                    <a:pt x="59" y="25"/>
                    <a:pt x="59" y="24"/>
                    <a:pt x="59" y="22"/>
                  </a:cubicBezTo>
                  <a:cubicBezTo>
                    <a:pt x="58" y="21"/>
                    <a:pt x="57" y="20"/>
                    <a:pt x="56" y="18"/>
                  </a:cubicBezTo>
                  <a:cubicBezTo>
                    <a:pt x="55" y="16"/>
                    <a:pt x="53" y="14"/>
                    <a:pt x="52" y="12"/>
                  </a:cubicBezTo>
                  <a:cubicBezTo>
                    <a:pt x="51" y="11"/>
                    <a:pt x="50" y="10"/>
                    <a:pt x="49" y="8"/>
                  </a:cubicBezTo>
                  <a:cubicBezTo>
                    <a:pt x="47" y="7"/>
                    <a:pt x="46" y="6"/>
                    <a:pt x="45" y="5"/>
                  </a:cubicBezTo>
                  <a:cubicBezTo>
                    <a:pt x="44" y="4"/>
                    <a:pt x="43" y="4"/>
                    <a:pt x="43" y="3"/>
                  </a:cubicBezTo>
                  <a:cubicBezTo>
                    <a:pt x="41" y="2"/>
                    <a:pt x="39" y="1"/>
                    <a:pt x="37" y="1"/>
                  </a:cubicBezTo>
                  <a:cubicBezTo>
                    <a:pt x="34" y="0"/>
                    <a:pt x="32" y="1"/>
                    <a:pt x="30" y="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5" name="íSḷîḍè">
              <a:extLst>
                <a:ext uri="{FF2B5EF4-FFF2-40B4-BE49-F238E27FC236}">
                  <a16:creationId xmlns:a16="http://schemas.microsoft.com/office/drawing/2014/main" id="{E8E78389-29D9-4D4D-AF21-98D5067E300E}"/>
                </a:ext>
              </a:extLst>
            </p:cNvPr>
            <p:cNvSpPr/>
            <p:nvPr/>
          </p:nvSpPr>
          <p:spPr bwMode="auto">
            <a:xfrm>
              <a:off x="2443163" y="2686051"/>
              <a:ext cx="158750" cy="206375"/>
            </a:xfrm>
            <a:custGeom>
              <a:avLst/>
              <a:gdLst>
                <a:gd name="T0" fmla="*/ 25 w 44"/>
                <a:gd name="T1" fmla="*/ 1 h 57"/>
                <a:gd name="T2" fmla="*/ 20 w 44"/>
                <a:gd name="T3" fmla="*/ 7 h 57"/>
                <a:gd name="T4" fmla="*/ 7 w 44"/>
                <a:gd name="T5" fmla="*/ 27 h 57"/>
                <a:gd name="T6" fmla="*/ 2 w 44"/>
                <a:gd name="T7" fmla="*/ 36 h 57"/>
                <a:gd name="T8" fmla="*/ 1 w 44"/>
                <a:gd name="T9" fmla="*/ 41 h 57"/>
                <a:gd name="T10" fmla="*/ 5 w 44"/>
                <a:gd name="T11" fmla="*/ 42 h 57"/>
                <a:gd name="T12" fmla="*/ 12 w 44"/>
                <a:gd name="T13" fmla="*/ 28 h 57"/>
                <a:gd name="T14" fmla="*/ 16 w 44"/>
                <a:gd name="T15" fmla="*/ 21 h 57"/>
                <a:gd name="T16" fmla="*/ 17 w 44"/>
                <a:gd name="T17" fmla="*/ 22 h 57"/>
                <a:gd name="T18" fmla="*/ 17 w 44"/>
                <a:gd name="T19" fmla="*/ 40 h 57"/>
                <a:gd name="T20" fmla="*/ 22 w 44"/>
                <a:gd name="T21" fmla="*/ 43 h 57"/>
                <a:gd name="T22" fmla="*/ 22 w 44"/>
                <a:gd name="T23" fmla="*/ 39 h 57"/>
                <a:gd name="T24" fmla="*/ 22 w 44"/>
                <a:gd name="T25" fmla="*/ 37 h 57"/>
                <a:gd name="T26" fmla="*/ 21 w 44"/>
                <a:gd name="T27" fmla="*/ 33 h 57"/>
                <a:gd name="T28" fmla="*/ 26 w 44"/>
                <a:gd name="T29" fmla="*/ 23 h 57"/>
                <a:gd name="T30" fmla="*/ 27 w 44"/>
                <a:gd name="T31" fmla="*/ 23 h 57"/>
                <a:gd name="T32" fmla="*/ 23 w 44"/>
                <a:gd name="T33" fmla="*/ 35 h 57"/>
                <a:gd name="T34" fmla="*/ 26 w 44"/>
                <a:gd name="T35" fmla="*/ 40 h 57"/>
                <a:gd name="T36" fmla="*/ 27 w 44"/>
                <a:gd name="T37" fmla="*/ 40 h 57"/>
                <a:gd name="T38" fmla="*/ 30 w 44"/>
                <a:gd name="T39" fmla="*/ 45 h 57"/>
                <a:gd name="T40" fmla="*/ 25 w 44"/>
                <a:gd name="T41" fmla="*/ 51 h 57"/>
                <a:gd name="T42" fmla="*/ 24 w 44"/>
                <a:gd name="T43" fmla="*/ 54 h 57"/>
                <a:gd name="T44" fmla="*/ 28 w 44"/>
                <a:gd name="T45" fmla="*/ 57 h 57"/>
                <a:gd name="T46" fmla="*/ 31 w 44"/>
                <a:gd name="T47" fmla="*/ 51 h 57"/>
                <a:gd name="T48" fmla="*/ 33 w 44"/>
                <a:gd name="T49" fmla="*/ 51 h 57"/>
                <a:gd name="T50" fmla="*/ 35 w 44"/>
                <a:gd name="T51" fmla="*/ 54 h 57"/>
                <a:gd name="T52" fmla="*/ 38 w 44"/>
                <a:gd name="T53" fmla="*/ 53 h 57"/>
                <a:gd name="T54" fmla="*/ 39 w 44"/>
                <a:gd name="T55" fmla="*/ 52 h 57"/>
                <a:gd name="T56" fmla="*/ 39 w 44"/>
                <a:gd name="T57" fmla="*/ 49 h 57"/>
                <a:gd name="T58" fmla="*/ 36 w 44"/>
                <a:gd name="T59" fmla="*/ 44 h 57"/>
                <a:gd name="T60" fmla="*/ 40 w 44"/>
                <a:gd name="T61" fmla="*/ 40 h 57"/>
                <a:gd name="T62" fmla="*/ 40 w 44"/>
                <a:gd name="T63" fmla="*/ 44 h 57"/>
                <a:gd name="T64" fmla="*/ 40 w 44"/>
                <a:gd name="T65" fmla="*/ 44 h 57"/>
                <a:gd name="T66" fmla="*/ 42 w 44"/>
                <a:gd name="T67" fmla="*/ 42 h 57"/>
                <a:gd name="T68" fmla="*/ 40 w 44"/>
                <a:gd name="T69" fmla="*/ 35 h 57"/>
                <a:gd name="T70" fmla="*/ 33 w 44"/>
                <a:gd name="T71" fmla="*/ 40 h 57"/>
                <a:gd name="T72" fmla="*/ 30 w 44"/>
                <a:gd name="T73" fmla="*/ 36 h 57"/>
                <a:gd name="T74" fmla="*/ 32 w 44"/>
                <a:gd name="T75" fmla="*/ 32 h 57"/>
                <a:gd name="T76" fmla="*/ 29 w 44"/>
                <a:gd name="T77" fmla="*/ 27 h 57"/>
                <a:gd name="T78" fmla="*/ 28 w 44"/>
                <a:gd name="T79" fmla="*/ 21 h 57"/>
                <a:gd name="T80" fmla="*/ 23 w 44"/>
                <a:gd name="T81" fmla="*/ 20 h 57"/>
                <a:gd name="T82" fmla="*/ 19 w 44"/>
                <a:gd name="T83" fmla="*/ 28 h 57"/>
                <a:gd name="T84" fmla="*/ 18 w 44"/>
                <a:gd name="T85" fmla="*/ 33 h 57"/>
                <a:gd name="T86" fmla="*/ 17 w 44"/>
                <a:gd name="T87" fmla="*/ 33 h 57"/>
                <a:gd name="T88" fmla="*/ 17 w 44"/>
                <a:gd name="T89" fmla="*/ 27 h 57"/>
                <a:gd name="T90" fmla="*/ 20 w 44"/>
                <a:gd name="T91" fmla="*/ 18 h 57"/>
                <a:gd name="T92" fmla="*/ 26 w 44"/>
                <a:gd name="T93" fmla="*/ 11 h 57"/>
                <a:gd name="T94" fmla="*/ 32 w 44"/>
                <a:gd name="T95" fmla="*/ 6 h 57"/>
                <a:gd name="T96" fmla="*/ 30 w 44"/>
                <a:gd name="T97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4" h="57">
                  <a:moveTo>
                    <a:pt x="30" y="1"/>
                  </a:moveTo>
                  <a:cubicBezTo>
                    <a:pt x="29" y="0"/>
                    <a:pt x="27" y="0"/>
                    <a:pt x="25" y="1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3" y="4"/>
                    <a:pt x="22" y="6"/>
                    <a:pt x="20" y="7"/>
                  </a:cubicBezTo>
                  <a:cubicBezTo>
                    <a:pt x="19" y="9"/>
                    <a:pt x="18" y="11"/>
                    <a:pt x="16" y="13"/>
                  </a:cubicBezTo>
                  <a:cubicBezTo>
                    <a:pt x="15" y="14"/>
                    <a:pt x="8" y="26"/>
                    <a:pt x="7" y="27"/>
                  </a:cubicBezTo>
                  <a:cubicBezTo>
                    <a:pt x="6" y="29"/>
                    <a:pt x="5" y="30"/>
                    <a:pt x="4" y="32"/>
                  </a:cubicBezTo>
                  <a:cubicBezTo>
                    <a:pt x="4" y="33"/>
                    <a:pt x="3" y="35"/>
                    <a:pt x="2" y="36"/>
                  </a:cubicBezTo>
                  <a:cubicBezTo>
                    <a:pt x="1" y="37"/>
                    <a:pt x="1" y="39"/>
                    <a:pt x="0" y="40"/>
                  </a:cubicBezTo>
                  <a:cubicBezTo>
                    <a:pt x="0" y="41"/>
                    <a:pt x="0" y="41"/>
                    <a:pt x="1" y="41"/>
                  </a:cubicBezTo>
                  <a:cubicBezTo>
                    <a:pt x="1" y="42"/>
                    <a:pt x="2" y="43"/>
                    <a:pt x="3" y="43"/>
                  </a:cubicBezTo>
                  <a:cubicBezTo>
                    <a:pt x="4" y="43"/>
                    <a:pt x="5" y="43"/>
                    <a:pt x="5" y="42"/>
                  </a:cubicBezTo>
                  <a:cubicBezTo>
                    <a:pt x="6" y="40"/>
                    <a:pt x="7" y="38"/>
                    <a:pt x="8" y="36"/>
                  </a:cubicBezTo>
                  <a:cubicBezTo>
                    <a:pt x="10" y="33"/>
                    <a:pt x="10" y="31"/>
                    <a:pt x="12" y="28"/>
                  </a:cubicBezTo>
                  <a:cubicBezTo>
                    <a:pt x="12" y="28"/>
                    <a:pt x="12" y="27"/>
                    <a:pt x="13" y="27"/>
                  </a:cubicBezTo>
                  <a:cubicBezTo>
                    <a:pt x="14" y="25"/>
                    <a:pt x="15" y="23"/>
                    <a:pt x="16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6" y="26"/>
                    <a:pt x="15" y="30"/>
                    <a:pt x="15" y="34"/>
                  </a:cubicBezTo>
                  <a:cubicBezTo>
                    <a:pt x="15" y="36"/>
                    <a:pt x="16" y="38"/>
                    <a:pt x="17" y="40"/>
                  </a:cubicBezTo>
                  <a:cubicBezTo>
                    <a:pt x="18" y="41"/>
                    <a:pt x="18" y="43"/>
                    <a:pt x="20" y="43"/>
                  </a:cubicBezTo>
                  <a:cubicBezTo>
                    <a:pt x="20" y="44"/>
                    <a:pt x="21" y="44"/>
                    <a:pt x="22" y="43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2" y="41"/>
                    <a:pt x="22" y="40"/>
                    <a:pt x="22" y="39"/>
                  </a:cubicBezTo>
                  <a:cubicBezTo>
                    <a:pt x="22" y="39"/>
                    <a:pt x="22" y="39"/>
                    <a:pt x="22" y="38"/>
                  </a:cubicBezTo>
                  <a:cubicBezTo>
                    <a:pt x="22" y="38"/>
                    <a:pt x="22" y="37"/>
                    <a:pt x="22" y="37"/>
                  </a:cubicBezTo>
                  <a:cubicBezTo>
                    <a:pt x="22" y="36"/>
                    <a:pt x="22" y="36"/>
                    <a:pt x="22" y="35"/>
                  </a:cubicBezTo>
                  <a:cubicBezTo>
                    <a:pt x="22" y="35"/>
                    <a:pt x="21" y="34"/>
                    <a:pt x="21" y="33"/>
                  </a:cubicBezTo>
                  <a:cubicBezTo>
                    <a:pt x="22" y="31"/>
                    <a:pt x="22" y="28"/>
                    <a:pt x="24" y="26"/>
                  </a:cubicBezTo>
                  <a:cubicBezTo>
                    <a:pt x="24" y="25"/>
                    <a:pt x="25" y="23"/>
                    <a:pt x="26" y="23"/>
                  </a:cubicBezTo>
                  <a:cubicBezTo>
                    <a:pt x="26" y="22"/>
                    <a:pt x="27" y="22"/>
                    <a:pt x="27" y="22"/>
                  </a:cubicBezTo>
                  <a:cubicBezTo>
                    <a:pt x="27" y="22"/>
                    <a:pt x="27" y="23"/>
                    <a:pt x="27" y="23"/>
                  </a:cubicBezTo>
                  <a:cubicBezTo>
                    <a:pt x="27" y="26"/>
                    <a:pt x="26" y="28"/>
                    <a:pt x="25" y="30"/>
                  </a:cubicBezTo>
                  <a:cubicBezTo>
                    <a:pt x="25" y="32"/>
                    <a:pt x="24" y="33"/>
                    <a:pt x="23" y="35"/>
                  </a:cubicBezTo>
                  <a:cubicBezTo>
                    <a:pt x="22" y="37"/>
                    <a:pt x="23" y="38"/>
                    <a:pt x="24" y="40"/>
                  </a:cubicBezTo>
                  <a:cubicBezTo>
                    <a:pt x="24" y="41"/>
                    <a:pt x="26" y="41"/>
                    <a:pt x="26" y="40"/>
                  </a:cubicBezTo>
                  <a:cubicBezTo>
                    <a:pt x="26" y="40"/>
                    <a:pt x="26" y="40"/>
                    <a:pt x="27" y="40"/>
                  </a:cubicBezTo>
                  <a:cubicBezTo>
                    <a:pt x="27" y="39"/>
                    <a:pt x="27" y="39"/>
                    <a:pt x="27" y="40"/>
                  </a:cubicBezTo>
                  <a:cubicBezTo>
                    <a:pt x="28" y="41"/>
                    <a:pt x="29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9" y="47"/>
                    <a:pt x="28" y="49"/>
                    <a:pt x="27" y="51"/>
                  </a:cubicBezTo>
                  <a:cubicBezTo>
                    <a:pt x="27" y="51"/>
                    <a:pt x="26" y="52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4" y="52"/>
                    <a:pt x="24" y="53"/>
                    <a:pt x="24" y="54"/>
                  </a:cubicBezTo>
                  <a:cubicBezTo>
                    <a:pt x="25" y="54"/>
                    <a:pt x="25" y="54"/>
                    <a:pt x="25" y="55"/>
                  </a:cubicBezTo>
                  <a:cubicBezTo>
                    <a:pt x="25" y="56"/>
                    <a:pt x="26" y="57"/>
                    <a:pt x="28" y="57"/>
                  </a:cubicBezTo>
                  <a:cubicBezTo>
                    <a:pt x="29" y="57"/>
                    <a:pt x="29" y="57"/>
                    <a:pt x="30" y="55"/>
                  </a:cubicBezTo>
                  <a:cubicBezTo>
                    <a:pt x="31" y="54"/>
                    <a:pt x="31" y="52"/>
                    <a:pt x="31" y="51"/>
                  </a:cubicBezTo>
                  <a:cubicBezTo>
                    <a:pt x="32" y="51"/>
                    <a:pt x="32" y="50"/>
                    <a:pt x="32" y="50"/>
                  </a:cubicBezTo>
                  <a:cubicBezTo>
                    <a:pt x="32" y="50"/>
                    <a:pt x="33" y="51"/>
                    <a:pt x="33" y="51"/>
                  </a:cubicBezTo>
                  <a:cubicBezTo>
                    <a:pt x="33" y="52"/>
                    <a:pt x="34" y="53"/>
                    <a:pt x="35" y="53"/>
                  </a:cubicBezTo>
                  <a:cubicBezTo>
                    <a:pt x="35" y="53"/>
                    <a:pt x="35" y="54"/>
                    <a:pt x="35" y="54"/>
                  </a:cubicBezTo>
                  <a:cubicBezTo>
                    <a:pt x="36" y="54"/>
                    <a:pt x="37" y="54"/>
                    <a:pt x="37" y="54"/>
                  </a:cubicBezTo>
                  <a:cubicBezTo>
                    <a:pt x="38" y="54"/>
                    <a:pt x="38" y="54"/>
                    <a:pt x="38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3"/>
                    <a:pt x="39" y="52"/>
                    <a:pt x="39" y="52"/>
                  </a:cubicBezTo>
                  <a:cubicBezTo>
                    <a:pt x="39" y="51"/>
                    <a:pt x="39" y="51"/>
                    <a:pt x="39" y="50"/>
                  </a:cubicBezTo>
                  <a:cubicBezTo>
                    <a:pt x="40" y="50"/>
                    <a:pt x="39" y="49"/>
                    <a:pt x="39" y="49"/>
                  </a:cubicBezTo>
                  <a:cubicBezTo>
                    <a:pt x="38" y="48"/>
                    <a:pt x="37" y="47"/>
                    <a:pt x="36" y="45"/>
                  </a:cubicBezTo>
                  <a:cubicBezTo>
                    <a:pt x="35" y="45"/>
                    <a:pt x="35" y="44"/>
                    <a:pt x="36" y="44"/>
                  </a:cubicBezTo>
                  <a:cubicBezTo>
                    <a:pt x="37" y="42"/>
                    <a:pt x="38" y="41"/>
                    <a:pt x="39" y="41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1" y="40"/>
                    <a:pt x="41" y="41"/>
                    <a:pt x="41" y="42"/>
                  </a:cubicBezTo>
                  <a:cubicBezTo>
                    <a:pt x="40" y="42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1" y="43"/>
                    <a:pt x="41" y="43"/>
                  </a:cubicBezTo>
                  <a:cubicBezTo>
                    <a:pt x="41" y="43"/>
                    <a:pt x="42" y="43"/>
                    <a:pt x="42" y="42"/>
                  </a:cubicBezTo>
                  <a:cubicBezTo>
                    <a:pt x="43" y="41"/>
                    <a:pt x="44" y="40"/>
                    <a:pt x="44" y="38"/>
                  </a:cubicBezTo>
                  <a:cubicBezTo>
                    <a:pt x="44" y="36"/>
                    <a:pt x="42" y="35"/>
                    <a:pt x="40" y="35"/>
                  </a:cubicBezTo>
                  <a:cubicBezTo>
                    <a:pt x="39" y="35"/>
                    <a:pt x="37" y="36"/>
                    <a:pt x="36" y="37"/>
                  </a:cubicBezTo>
                  <a:cubicBezTo>
                    <a:pt x="35" y="38"/>
                    <a:pt x="34" y="39"/>
                    <a:pt x="33" y="40"/>
                  </a:cubicBezTo>
                  <a:cubicBezTo>
                    <a:pt x="33" y="41"/>
                    <a:pt x="32" y="41"/>
                    <a:pt x="32" y="40"/>
                  </a:cubicBezTo>
                  <a:cubicBezTo>
                    <a:pt x="32" y="39"/>
                    <a:pt x="31" y="37"/>
                    <a:pt x="30" y="36"/>
                  </a:cubicBezTo>
                  <a:cubicBezTo>
                    <a:pt x="30" y="36"/>
                    <a:pt x="30" y="35"/>
                    <a:pt x="31" y="35"/>
                  </a:cubicBezTo>
                  <a:cubicBezTo>
                    <a:pt x="31" y="34"/>
                    <a:pt x="32" y="33"/>
                    <a:pt x="32" y="32"/>
                  </a:cubicBezTo>
                  <a:cubicBezTo>
                    <a:pt x="31" y="31"/>
                    <a:pt x="31" y="30"/>
                    <a:pt x="30" y="29"/>
                  </a:cubicBezTo>
                  <a:cubicBezTo>
                    <a:pt x="29" y="29"/>
                    <a:pt x="29" y="28"/>
                    <a:pt x="29" y="27"/>
                  </a:cubicBezTo>
                  <a:cubicBezTo>
                    <a:pt x="29" y="26"/>
                    <a:pt x="29" y="25"/>
                    <a:pt x="29" y="24"/>
                  </a:cubicBezTo>
                  <a:cubicBezTo>
                    <a:pt x="28" y="23"/>
                    <a:pt x="28" y="22"/>
                    <a:pt x="28" y="21"/>
                  </a:cubicBezTo>
                  <a:cubicBezTo>
                    <a:pt x="28" y="20"/>
                    <a:pt x="27" y="19"/>
                    <a:pt x="26" y="19"/>
                  </a:cubicBezTo>
                  <a:cubicBezTo>
                    <a:pt x="25" y="20"/>
                    <a:pt x="24" y="20"/>
                    <a:pt x="23" y="20"/>
                  </a:cubicBezTo>
                  <a:cubicBezTo>
                    <a:pt x="22" y="21"/>
                    <a:pt x="21" y="23"/>
                    <a:pt x="21" y="24"/>
                  </a:cubicBezTo>
                  <a:cubicBezTo>
                    <a:pt x="20" y="25"/>
                    <a:pt x="20" y="27"/>
                    <a:pt x="19" y="28"/>
                  </a:cubicBezTo>
                  <a:cubicBezTo>
                    <a:pt x="19" y="29"/>
                    <a:pt x="18" y="29"/>
                    <a:pt x="18" y="30"/>
                  </a:cubicBezTo>
                  <a:cubicBezTo>
                    <a:pt x="18" y="31"/>
                    <a:pt x="18" y="32"/>
                    <a:pt x="18" y="33"/>
                  </a:cubicBezTo>
                  <a:cubicBezTo>
                    <a:pt x="18" y="33"/>
                    <a:pt x="18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2"/>
                    <a:pt x="17" y="31"/>
                    <a:pt x="17" y="31"/>
                  </a:cubicBezTo>
                  <a:cubicBezTo>
                    <a:pt x="17" y="29"/>
                    <a:pt x="17" y="28"/>
                    <a:pt x="17" y="27"/>
                  </a:cubicBezTo>
                  <a:cubicBezTo>
                    <a:pt x="17" y="25"/>
                    <a:pt x="17" y="23"/>
                    <a:pt x="18" y="21"/>
                  </a:cubicBezTo>
                  <a:cubicBezTo>
                    <a:pt x="18" y="20"/>
                    <a:pt x="19" y="19"/>
                    <a:pt x="20" y="18"/>
                  </a:cubicBezTo>
                  <a:cubicBezTo>
                    <a:pt x="21" y="17"/>
                    <a:pt x="21" y="16"/>
                    <a:pt x="22" y="15"/>
                  </a:cubicBezTo>
                  <a:cubicBezTo>
                    <a:pt x="23" y="14"/>
                    <a:pt x="25" y="12"/>
                    <a:pt x="26" y="11"/>
                  </a:cubicBezTo>
                  <a:cubicBezTo>
                    <a:pt x="27" y="10"/>
                    <a:pt x="28" y="9"/>
                    <a:pt x="29" y="8"/>
                  </a:cubicBezTo>
                  <a:cubicBezTo>
                    <a:pt x="30" y="7"/>
                    <a:pt x="31" y="7"/>
                    <a:pt x="32" y="6"/>
                  </a:cubicBezTo>
                  <a:cubicBezTo>
                    <a:pt x="32" y="5"/>
                    <a:pt x="32" y="5"/>
                    <a:pt x="32" y="4"/>
                  </a:cubicBezTo>
                  <a:cubicBezTo>
                    <a:pt x="32" y="3"/>
                    <a:pt x="31" y="2"/>
                    <a:pt x="3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6" name="ïşļîḍè">
              <a:extLst>
                <a:ext uri="{FF2B5EF4-FFF2-40B4-BE49-F238E27FC236}">
                  <a16:creationId xmlns:a16="http://schemas.microsoft.com/office/drawing/2014/main" id="{5BD4A37E-D02A-4B6B-9DE8-3018FCF0A92F}"/>
                </a:ext>
              </a:extLst>
            </p:cNvPr>
            <p:cNvSpPr/>
            <p:nvPr/>
          </p:nvSpPr>
          <p:spPr bwMode="auto">
            <a:xfrm>
              <a:off x="2451100" y="2693988"/>
              <a:ext cx="49213" cy="50800"/>
            </a:xfrm>
            <a:custGeom>
              <a:avLst/>
              <a:gdLst>
                <a:gd name="T0" fmla="*/ 4 w 14"/>
                <a:gd name="T1" fmla="*/ 8 h 14"/>
                <a:gd name="T2" fmla="*/ 5 w 14"/>
                <a:gd name="T3" fmla="*/ 9 h 14"/>
                <a:gd name="T4" fmla="*/ 6 w 14"/>
                <a:gd name="T5" fmla="*/ 10 h 14"/>
                <a:gd name="T6" fmla="*/ 6 w 14"/>
                <a:gd name="T7" fmla="*/ 12 h 14"/>
                <a:gd name="T8" fmla="*/ 6 w 14"/>
                <a:gd name="T9" fmla="*/ 14 h 14"/>
                <a:gd name="T10" fmla="*/ 7 w 14"/>
                <a:gd name="T11" fmla="*/ 12 h 14"/>
                <a:gd name="T12" fmla="*/ 9 w 14"/>
                <a:gd name="T13" fmla="*/ 10 h 14"/>
                <a:gd name="T14" fmla="*/ 12 w 14"/>
                <a:gd name="T15" fmla="*/ 8 h 14"/>
                <a:gd name="T16" fmla="*/ 13 w 14"/>
                <a:gd name="T17" fmla="*/ 5 h 14"/>
                <a:gd name="T18" fmla="*/ 10 w 14"/>
                <a:gd name="T19" fmla="*/ 1 h 14"/>
                <a:gd name="T20" fmla="*/ 7 w 14"/>
                <a:gd name="T21" fmla="*/ 0 h 14"/>
                <a:gd name="T22" fmla="*/ 3 w 14"/>
                <a:gd name="T23" fmla="*/ 0 h 14"/>
                <a:gd name="T24" fmla="*/ 1 w 14"/>
                <a:gd name="T25" fmla="*/ 2 h 14"/>
                <a:gd name="T26" fmla="*/ 1 w 14"/>
                <a:gd name="T27" fmla="*/ 4 h 14"/>
                <a:gd name="T28" fmla="*/ 3 w 14"/>
                <a:gd name="T29" fmla="*/ 8 h 14"/>
                <a:gd name="T30" fmla="*/ 4 w 14"/>
                <a:gd name="T31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4">
                  <a:moveTo>
                    <a:pt x="4" y="8"/>
                  </a:moveTo>
                  <a:cubicBezTo>
                    <a:pt x="4" y="9"/>
                    <a:pt x="5" y="9"/>
                    <a:pt x="5" y="9"/>
                  </a:cubicBezTo>
                  <a:cubicBezTo>
                    <a:pt x="6" y="9"/>
                    <a:pt x="6" y="9"/>
                    <a:pt x="6" y="10"/>
                  </a:cubicBezTo>
                  <a:cubicBezTo>
                    <a:pt x="6" y="10"/>
                    <a:pt x="6" y="11"/>
                    <a:pt x="6" y="12"/>
                  </a:cubicBezTo>
                  <a:cubicBezTo>
                    <a:pt x="6" y="12"/>
                    <a:pt x="6" y="14"/>
                    <a:pt x="6" y="14"/>
                  </a:cubicBezTo>
                  <a:cubicBezTo>
                    <a:pt x="6" y="14"/>
                    <a:pt x="7" y="12"/>
                    <a:pt x="7" y="12"/>
                  </a:cubicBezTo>
                  <a:cubicBezTo>
                    <a:pt x="7" y="11"/>
                    <a:pt x="8" y="10"/>
                    <a:pt x="9" y="10"/>
                  </a:cubicBezTo>
                  <a:cubicBezTo>
                    <a:pt x="10" y="10"/>
                    <a:pt x="11" y="9"/>
                    <a:pt x="12" y="8"/>
                  </a:cubicBezTo>
                  <a:cubicBezTo>
                    <a:pt x="13" y="7"/>
                    <a:pt x="14" y="6"/>
                    <a:pt x="13" y="5"/>
                  </a:cubicBezTo>
                  <a:cubicBezTo>
                    <a:pt x="13" y="3"/>
                    <a:pt x="12" y="1"/>
                    <a:pt x="10" y="1"/>
                  </a:cubicBezTo>
                  <a:cubicBezTo>
                    <a:pt x="9" y="0"/>
                    <a:pt x="8" y="0"/>
                    <a:pt x="7" y="0"/>
                  </a:cubicBezTo>
                  <a:cubicBezTo>
                    <a:pt x="6" y="0"/>
                    <a:pt x="4" y="0"/>
                    <a:pt x="3" y="0"/>
                  </a:cubicBezTo>
                  <a:cubicBezTo>
                    <a:pt x="2" y="1"/>
                    <a:pt x="2" y="1"/>
                    <a:pt x="1" y="2"/>
                  </a:cubicBezTo>
                  <a:cubicBezTo>
                    <a:pt x="1" y="2"/>
                    <a:pt x="1" y="3"/>
                    <a:pt x="1" y="4"/>
                  </a:cubicBezTo>
                  <a:cubicBezTo>
                    <a:pt x="0" y="5"/>
                    <a:pt x="1" y="8"/>
                    <a:pt x="3" y="8"/>
                  </a:cubicBezTo>
                  <a:cubicBezTo>
                    <a:pt x="3" y="8"/>
                    <a:pt x="4" y="8"/>
                    <a:pt x="4" y="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7" name="ísḷiḋe">
              <a:extLst>
                <a:ext uri="{FF2B5EF4-FFF2-40B4-BE49-F238E27FC236}">
                  <a16:creationId xmlns:a16="http://schemas.microsoft.com/office/drawing/2014/main" id="{45A14514-6E83-4177-A9E9-D91CC0EC28AA}"/>
                </a:ext>
              </a:extLst>
            </p:cNvPr>
            <p:cNvSpPr/>
            <p:nvPr/>
          </p:nvSpPr>
          <p:spPr bwMode="auto">
            <a:xfrm>
              <a:off x="2768600" y="2555876"/>
              <a:ext cx="119063" cy="231775"/>
            </a:xfrm>
            <a:custGeom>
              <a:avLst/>
              <a:gdLst>
                <a:gd name="T0" fmla="*/ 22 w 33"/>
                <a:gd name="T1" fmla="*/ 29 h 64"/>
                <a:gd name="T2" fmla="*/ 24 w 33"/>
                <a:gd name="T3" fmla="*/ 24 h 64"/>
                <a:gd name="T4" fmla="*/ 27 w 33"/>
                <a:gd name="T5" fmla="*/ 11 h 64"/>
                <a:gd name="T6" fmla="*/ 25 w 33"/>
                <a:gd name="T7" fmla="*/ 4 h 64"/>
                <a:gd name="T8" fmla="*/ 17 w 33"/>
                <a:gd name="T9" fmla="*/ 0 h 64"/>
                <a:gd name="T10" fmla="*/ 15 w 33"/>
                <a:gd name="T11" fmla="*/ 1 h 64"/>
                <a:gd name="T12" fmla="*/ 6 w 33"/>
                <a:gd name="T13" fmla="*/ 7 h 64"/>
                <a:gd name="T14" fmla="*/ 3 w 33"/>
                <a:gd name="T15" fmla="*/ 13 h 64"/>
                <a:gd name="T16" fmla="*/ 6 w 33"/>
                <a:gd name="T17" fmla="*/ 15 h 64"/>
                <a:gd name="T18" fmla="*/ 10 w 33"/>
                <a:gd name="T19" fmla="*/ 14 h 64"/>
                <a:gd name="T20" fmla="*/ 18 w 33"/>
                <a:gd name="T21" fmla="*/ 6 h 64"/>
                <a:gd name="T22" fmla="*/ 22 w 33"/>
                <a:gd name="T23" fmla="*/ 10 h 64"/>
                <a:gd name="T24" fmla="*/ 21 w 33"/>
                <a:gd name="T25" fmla="*/ 18 h 64"/>
                <a:gd name="T26" fmla="*/ 18 w 33"/>
                <a:gd name="T27" fmla="*/ 26 h 64"/>
                <a:gd name="T28" fmla="*/ 16 w 33"/>
                <a:gd name="T29" fmla="*/ 25 h 64"/>
                <a:gd name="T30" fmla="*/ 19 w 33"/>
                <a:gd name="T31" fmla="*/ 19 h 64"/>
                <a:gd name="T32" fmla="*/ 20 w 33"/>
                <a:gd name="T33" fmla="*/ 15 h 64"/>
                <a:gd name="T34" fmla="*/ 15 w 33"/>
                <a:gd name="T35" fmla="*/ 14 h 64"/>
                <a:gd name="T36" fmla="*/ 11 w 33"/>
                <a:gd name="T37" fmla="*/ 14 h 64"/>
                <a:gd name="T38" fmla="*/ 10 w 33"/>
                <a:gd name="T39" fmla="*/ 17 h 64"/>
                <a:gd name="T40" fmla="*/ 9 w 33"/>
                <a:gd name="T41" fmla="*/ 19 h 64"/>
                <a:gd name="T42" fmla="*/ 8 w 33"/>
                <a:gd name="T43" fmla="*/ 24 h 64"/>
                <a:gd name="T44" fmla="*/ 7 w 33"/>
                <a:gd name="T45" fmla="*/ 23 h 64"/>
                <a:gd name="T46" fmla="*/ 0 w 33"/>
                <a:gd name="T47" fmla="*/ 24 h 64"/>
                <a:gd name="T48" fmla="*/ 2 w 33"/>
                <a:gd name="T49" fmla="*/ 32 h 64"/>
                <a:gd name="T50" fmla="*/ 8 w 33"/>
                <a:gd name="T51" fmla="*/ 35 h 64"/>
                <a:gd name="T52" fmla="*/ 11 w 33"/>
                <a:gd name="T53" fmla="*/ 37 h 64"/>
                <a:gd name="T54" fmla="*/ 12 w 33"/>
                <a:gd name="T55" fmla="*/ 40 h 64"/>
                <a:gd name="T56" fmla="*/ 8 w 33"/>
                <a:gd name="T57" fmla="*/ 48 h 64"/>
                <a:gd name="T58" fmla="*/ 12 w 33"/>
                <a:gd name="T59" fmla="*/ 50 h 64"/>
                <a:gd name="T60" fmla="*/ 13 w 33"/>
                <a:gd name="T61" fmla="*/ 53 h 64"/>
                <a:gd name="T62" fmla="*/ 9 w 33"/>
                <a:gd name="T63" fmla="*/ 56 h 64"/>
                <a:gd name="T64" fmla="*/ 8 w 33"/>
                <a:gd name="T65" fmla="*/ 61 h 64"/>
                <a:gd name="T66" fmla="*/ 10 w 33"/>
                <a:gd name="T67" fmla="*/ 64 h 64"/>
                <a:gd name="T68" fmla="*/ 16 w 33"/>
                <a:gd name="T69" fmla="*/ 61 h 64"/>
                <a:gd name="T70" fmla="*/ 25 w 33"/>
                <a:gd name="T71" fmla="*/ 58 h 64"/>
                <a:gd name="T72" fmla="*/ 29 w 33"/>
                <a:gd name="T73" fmla="*/ 58 h 64"/>
                <a:gd name="T74" fmla="*/ 31 w 33"/>
                <a:gd name="T75" fmla="*/ 57 h 64"/>
                <a:gd name="T76" fmla="*/ 32 w 33"/>
                <a:gd name="T77" fmla="*/ 52 h 64"/>
                <a:gd name="T78" fmla="*/ 29 w 33"/>
                <a:gd name="T79" fmla="*/ 50 h 64"/>
                <a:gd name="T80" fmla="*/ 20 w 33"/>
                <a:gd name="T81" fmla="*/ 52 h 64"/>
                <a:gd name="T82" fmla="*/ 19 w 33"/>
                <a:gd name="T83" fmla="*/ 50 h 64"/>
                <a:gd name="T84" fmla="*/ 23 w 33"/>
                <a:gd name="T85" fmla="*/ 43 h 64"/>
                <a:gd name="T86" fmla="*/ 24 w 33"/>
                <a:gd name="T87" fmla="*/ 37 h 64"/>
                <a:gd name="T88" fmla="*/ 20 w 33"/>
                <a:gd name="T89" fmla="*/ 37 h 64"/>
                <a:gd name="T90" fmla="*/ 16 w 33"/>
                <a:gd name="T91" fmla="*/ 38 h 64"/>
                <a:gd name="T92" fmla="*/ 19 w 33"/>
                <a:gd name="T93" fmla="*/ 32 h 64"/>
                <a:gd name="T94" fmla="*/ 10 w 33"/>
                <a:gd name="T95" fmla="*/ 29 h 64"/>
                <a:gd name="T96" fmla="*/ 10 w 33"/>
                <a:gd name="T97" fmla="*/ 29 h 64"/>
                <a:gd name="T98" fmla="*/ 8 w 33"/>
                <a:gd name="T99" fmla="*/ 25 h 64"/>
                <a:gd name="T100" fmla="*/ 8 w 33"/>
                <a:gd name="T101" fmla="*/ 25 h 64"/>
                <a:gd name="T102" fmla="*/ 11 w 33"/>
                <a:gd name="T103" fmla="*/ 2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" h="64">
                  <a:moveTo>
                    <a:pt x="19" y="32"/>
                  </a:moveTo>
                  <a:cubicBezTo>
                    <a:pt x="20" y="32"/>
                    <a:pt x="21" y="31"/>
                    <a:pt x="22" y="29"/>
                  </a:cubicBezTo>
                  <a:cubicBezTo>
                    <a:pt x="22" y="29"/>
                    <a:pt x="22" y="28"/>
                    <a:pt x="22" y="28"/>
                  </a:cubicBezTo>
                  <a:cubicBezTo>
                    <a:pt x="23" y="27"/>
                    <a:pt x="23" y="25"/>
                    <a:pt x="24" y="24"/>
                  </a:cubicBezTo>
                  <a:cubicBezTo>
                    <a:pt x="24" y="23"/>
                    <a:pt x="25" y="22"/>
                    <a:pt x="25" y="20"/>
                  </a:cubicBezTo>
                  <a:cubicBezTo>
                    <a:pt x="26" y="17"/>
                    <a:pt x="27" y="14"/>
                    <a:pt x="27" y="11"/>
                  </a:cubicBezTo>
                  <a:cubicBezTo>
                    <a:pt x="27" y="10"/>
                    <a:pt x="27" y="8"/>
                    <a:pt x="27" y="7"/>
                  </a:cubicBezTo>
                  <a:cubicBezTo>
                    <a:pt x="26" y="6"/>
                    <a:pt x="26" y="5"/>
                    <a:pt x="25" y="4"/>
                  </a:cubicBezTo>
                  <a:cubicBezTo>
                    <a:pt x="24" y="2"/>
                    <a:pt x="23" y="1"/>
                    <a:pt x="21" y="0"/>
                  </a:cubicBezTo>
                  <a:cubicBezTo>
                    <a:pt x="20" y="0"/>
                    <a:pt x="18" y="0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4" y="1"/>
                    <a:pt x="13" y="1"/>
                    <a:pt x="12" y="1"/>
                  </a:cubicBezTo>
                  <a:cubicBezTo>
                    <a:pt x="10" y="3"/>
                    <a:pt x="8" y="5"/>
                    <a:pt x="6" y="7"/>
                  </a:cubicBezTo>
                  <a:cubicBezTo>
                    <a:pt x="5" y="8"/>
                    <a:pt x="5" y="9"/>
                    <a:pt x="4" y="11"/>
                  </a:cubicBezTo>
                  <a:cubicBezTo>
                    <a:pt x="4" y="12"/>
                    <a:pt x="3" y="12"/>
                    <a:pt x="3" y="13"/>
                  </a:cubicBezTo>
                  <a:cubicBezTo>
                    <a:pt x="3" y="14"/>
                    <a:pt x="3" y="15"/>
                    <a:pt x="4" y="15"/>
                  </a:cubicBezTo>
                  <a:cubicBezTo>
                    <a:pt x="4" y="15"/>
                    <a:pt x="5" y="15"/>
                    <a:pt x="6" y="15"/>
                  </a:cubicBezTo>
                  <a:cubicBezTo>
                    <a:pt x="7" y="15"/>
                    <a:pt x="8" y="15"/>
                    <a:pt x="8" y="15"/>
                  </a:cubicBezTo>
                  <a:cubicBezTo>
                    <a:pt x="9" y="15"/>
                    <a:pt x="9" y="15"/>
                    <a:pt x="10" y="14"/>
                  </a:cubicBezTo>
                  <a:cubicBezTo>
                    <a:pt x="11" y="13"/>
                    <a:pt x="11" y="12"/>
                    <a:pt x="12" y="11"/>
                  </a:cubicBezTo>
                  <a:cubicBezTo>
                    <a:pt x="14" y="9"/>
                    <a:pt x="16" y="7"/>
                    <a:pt x="18" y="6"/>
                  </a:cubicBezTo>
                  <a:cubicBezTo>
                    <a:pt x="19" y="6"/>
                    <a:pt x="20" y="6"/>
                    <a:pt x="20" y="6"/>
                  </a:cubicBezTo>
                  <a:cubicBezTo>
                    <a:pt x="21" y="7"/>
                    <a:pt x="22" y="8"/>
                    <a:pt x="22" y="10"/>
                  </a:cubicBezTo>
                  <a:cubicBezTo>
                    <a:pt x="22" y="11"/>
                    <a:pt x="22" y="12"/>
                    <a:pt x="22" y="13"/>
                  </a:cubicBezTo>
                  <a:cubicBezTo>
                    <a:pt x="22" y="15"/>
                    <a:pt x="22" y="17"/>
                    <a:pt x="21" y="18"/>
                  </a:cubicBezTo>
                  <a:cubicBezTo>
                    <a:pt x="21" y="20"/>
                    <a:pt x="20" y="22"/>
                    <a:pt x="20" y="24"/>
                  </a:cubicBezTo>
                  <a:cubicBezTo>
                    <a:pt x="20" y="25"/>
                    <a:pt x="19" y="26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5"/>
                  </a:cubicBezTo>
                  <a:cubicBezTo>
                    <a:pt x="16" y="24"/>
                    <a:pt x="16" y="23"/>
                    <a:pt x="16" y="22"/>
                  </a:cubicBezTo>
                  <a:cubicBezTo>
                    <a:pt x="17" y="21"/>
                    <a:pt x="18" y="20"/>
                    <a:pt x="19" y="19"/>
                  </a:cubicBezTo>
                  <a:cubicBezTo>
                    <a:pt x="19" y="19"/>
                    <a:pt x="19" y="18"/>
                    <a:pt x="19" y="18"/>
                  </a:cubicBezTo>
                  <a:cubicBezTo>
                    <a:pt x="20" y="17"/>
                    <a:pt x="20" y="16"/>
                    <a:pt x="20" y="15"/>
                  </a:cubicBezTo>
                  <a:cubicBezTo>
                    <a:pt x="20" y="15"/>
                    <a:pt x="20" y="15"/>
                    <a:pt x="19" y="15"/>
                  </a:cubicBezTo>
                  <a:cubicBezTo>
                    <a:pt x="18" y="14"/>
                    <a:pt x="17" y="13"/>
                    <a:pt x="15" y="14"/>
                  </a:cubicBezTo>
                  <a:cubicBezTo>
                    <a:pt x="15" y="14"/>
                    <a:pt x="14" y="14"/>
                    <a:pt x="14" y="14"/>
                  </a:cubicBezTo>
                  <a:cubicBezTo>
                    <a:pt x="13" y="13"/>
                    <a:pt x="11" y="13"/>
                    <a:pt x="11" y="14"/>
                  </a:cubicBezTo>
                  <a:cubicBezTo>
                    <a:pt x="10" y="15"/>
                    <a:pt x="10" y="15"/>
                    <a:pt x="10" y="16"/>
                  </a:cubicBezTo>
                  <a:cubicBezTo>
                    <a:pt x="10" y="16"/>
                    <a:pt x="10" y="17"/>
                    <a:pt x="10" y="17"/>
                  </a:cubicBezTo>
                  <a:cubicBezTo>
                    <a:pt x="10" y="17"/>
                    <a:pt x="10" y="18"/>
                    <a:pt x="10" y="18"/>
                  </a:cubicBezTo>
                  <a:cubicBezTo>
                    <a:pt x="10" y="18"/>
                    <a:pt x="9" y="19"/>
                    <a:pt x="9" y="19"/>
                  </a:cubicBezTo>
                  <a:cubicBezTo>
                    <a:pt x="8" y="20"/>
                    <a:pt x="8" y="22"/>
                    <a:pt x="8" y="23"/>
                  </a:cubicBezTo>
                  <a:cubicBezTo>
                    <a:pt x="8" y="23"/>
                    <a:pt x="8" y="24"/>
                    <a:pt x="8" y="24"/>
                  </a:cubicBezTo>
                  <a:cubicBezTo>
                    <a:pt x="8" y="24"/>
                    <a:pt x="7" y="24"/>
                    <a:pt x="7" y="24"/>
                  </a:cubicBezTo>
                  <a:cubicBezTo>
                    <a:pt x="7" y="24"/>
                    <a:pt x="7" y="23"/>
                    <a:pt x="7" y="23"/>
                  </a:cubicBezTo>
                  <a:cubicBezTo>
                    <a:pt x="6" y="22"/>
                    <a:pt x="5" y="21"/>
                    <a:pt x="3" y="21"/>
                  </a:cubicBezTo>
                  <a:cubicBezTo>
                    <a:pt x="2" y="21"/>
                    <a:pt x="0" y="22"/>
                    <a:pt x="0" y="24"/>
                  </a:cubicBezTo>
                  <a:cubicBezTo>
                    <a:pt x="0" y="26"/>
                    <a:pt x="1" y="28"/>
                    <a:pt x="1" y="29"/>
                  </a:cubicBezTo>
                  <a:cubicBezTo>
                    <a:pt x="2" y="30"/>
                    <a:pt x="2" y="31"/>
                    <a:pt x="2" y="32"/>
                  </a:cubicBezTo>
                  <a:cubicBezTo>
                    <a:pt x="3" y="34"/>
                    <a:pt x="4" y="35"/>
                    <a:pt x="6" y="35"/>
                  </a:cubicBezTo>
                  <a:cubicBezTo>
                    <a:pt x="7" y="35"/>
                    <a:pt x="7" y="35"/>
                    <a:pt x="8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9" y="37"/>
                    <a:pt x="10" y="37"/>
                    <a:pt x="11" y="37"/>
                  </a:cubicBezTo>
                  <a:cubicBezTo>
                    <a:pt x="12" y="37"/>
                    <a:pt x="12" y="37"/>
                    <a:pt x="12" y="38"/>
                  </a:cubicBezTo>
                  <a:cubicBezTo>
                    <a:pt x="12" y="39"/>
                    <a:pt x="12" y="39"/>
                    <a:pt x="12" y="40"/>
                  </a:cubicBezTo>
                  <a:cubicBezTo>
                    <a:pt x="12" y="42"/>
                    <a:pt x="12" y="43"/>
                    <a:pt x="11" y="44"/>
                  </a:cubicBezTo>
                  <a:cubicBezTo>
                    <a:pt x="10" y="45"/>
                    <a:pt x="9" y="47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11" y="50"/>
                    <a:pt x="12" y="50"/>
                  </a:cubicBezTo>
                  <a:cubicBezTo>
                    <a:pt x="13" y="50"/>
                    <a:pt x="13" y="50"/>
                    <a:pt x="13" y="51"/>
                  </a:cubicBezTo>
                  <a:cubicBezTo>
                    <a:pt x="13" y="51"/>
                    <a:pt x="13" y="52"/>
                    <a:pt x="13" y="53"/>
                  </a:cubicBezTo>
                  <a:cubicBezTo>
                    <a:pt x="13" y="54"/>
                    <a:pt x="13" y="54"/>
                    <a:pt x="12" y="54"/>
                  </a:cubicBezTo>
                  <a:cubicBezTo>
                    <a:pt x="11" y="55"/>
                    <a:pt x="10" y="55"/>
                    <a:pt x="9" y="56"/>
                  </a:cubicBezTo>
                  <a:cubicBezTo>
                    <a:pt x="9" y="57"/>
                    <a:pt x="9" y="57"/>
                    <a:pt x="8" y="57"/>
                  </a:cubicBezTo>
                  <a:cubicBezTo>
                    <a:pt x="7" y="59"/>
                    <a:pt x="7" y="60"/>
                    <a:pt x="8" y="61"/>
                  </a:cubicBezTo>
                  <a:cubicBezTo>
                    <a:pt x="8" y="62"/>
                    <a:pt x="8" y="62"/>
                    <a:pt x="9" y="62"/>
                  </a:cubicBezTo>
                  <a:cubicBezTo>
                    <a:pt x="9" y="63"/>
                    <a:pt x="10" y="64"/>
                    <a:pt x="10" y="64"/>
                  </a:cubicBezTo>
                  <a:cubicBezTo>
                    <a:pt x="11" y="63"/>
                    <a:pt x="12" y="63"/>
                    <a:pt x="13" y="63"/>
                  </a:cubicBezTo>
                  <a:cubicBezTo>
                    <a:pt x="14" y="62"/>
                    <a:pt x="15" y="61"/>
                    <a:pt x="16" y="61"/>
                  </a:cubicBezTo>
                  <a:cubicBezTo>
                    <a:pt x="17" y="60"/>
                    <a:pt x="18" y="60"/>
                    <a:pt x="19" y="59"/>
                  </a:cubicBezTo>
                  <a:cubicBezTo>
                    <a:pt x="21" y="58"/>
                    <a:pt x="23" y="58"/>
                    <a:pt x="25" y="58"/>
                  </a:cubicBezTo>
                  <a:cubicBezTo>
                    <a:pt x="26" y="58"/>
                    <a:pt x="27" y="58"/>
                    <a:pt x="28" y="58"/>
                  </a:cubicBezTo>
                  <a:cubicBezTo>
                    <a:pt x="28" y="58"/>
                    <a:pt x="28" y="58"/>
                    <a:pt x="29" y="58"/>
                  </a:cubicBezTo>
                  <a:cubicBezTo>
                    <a:pt x="29" y="58"/>
                    <a:pt x="30" y="58"/>
                    <a:pt x="30" y="57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6"/>
                    <a:pt x="32" y="55"/>
                    <a:pt x="32" y="55"/>
                  </a:cubicBezTo>
                  <a:cubicBezTo>
                    <a:pt x="32" y="54"/>
                    <a:pt x="32" y="53"/>
                    <a:pt x="32" y="52"/>
                  </a:cubicBezTo>
                  <a:cubicBezTo>
                    <a:pt x="33" y="51"/>
                    <a:pt x="32" y="51"/>
                    <a:pt x="32" y="50"/>
                  </a:cubicBezTo>
                  <a:cubicBezTo>
                    <a:pt x="31" y="50"/>
                    <a:pt x="30" y="50"/>
                    <a:pt x="29" y="50"/>
                  </a:cubicBezTo>
                  <a:cubicBezTo>
                    <a:pt x="28" y="50"/>
                    <a:pt x="27" y="50"/>
                    <a:pt x="26" y="50"/>
                  </a:cubicBezTo>
                  <a:cubicBezTo>
                    <a:pt x="24" y="50"/>
                    <a:pt x="22" y="51"/>
                    <a:pt x="20" y="52"/>
                  </a:cubicBezTo>
                  <a:cubicBezTo>
                    <a:pt x="20" y="52"/>
                    <a:pt x="20" y="51"/>
                    <a:pt x="19" y="51"/>
                  </a:cubicBezTo>
                  <a:cubicBezTo>
                    <a:pt x="19" y="51"/>
                    <a:pt x="19" y="50"/>
                    <a:pt x="19" y="50"/>
                  </a:cubicBezTo>
                  <a:cubicBezTo>
                    <a:pt x="18" y="48"/>
                    <a:pt x="18" y="47"/>
                    <a:pt x="19" y="46"/>
                  </a:cubicBezTo>
                  <a:cubicBezTo>
                    <a:pt x="20" y="45"/>
                    <a:pt x="21" y="44"/>
                    <a:pt x="23" y="43"/>
                  </a:cubicBezTo>
                  <a:cubicBezTo>
                    <a:pt x="24" y="42"/>
                    <a:pt x="25" y="39"/>
                    <a:pt x="24" y="38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6"/>
                    <a:pt x="23" y="36"/>
                    <a:pt x="22" y="36"/>
                  </a:cubicBezTo>
                  <a:cubicBezTo>
                    <a:pt x="21" y="36"/>
                    <a:pt x="20" y="37"/>
                    <a:pt x="20" y="37"/>
                  </a:cubicBezTo>
                  <a:cubicBezTo>
                    <a:pt x="19" y="37"/>
                    <a:pt x="18" y="38"/>
                    <a:pt x="17" y="38"/>
                  </a:cubicBezTo>
                  <a:cubicBezTo>
                    <a:pt x="17" y="39"/>
                    <a:pt x="17" y="39"/>
                    <a:pt x="16" y="38"/>
                  </a:cubicBezTo>
                  <a:cubicBezTo>
                    <a:pt x="16" y="37"/>
                    <a:pt x="16" y="36"/>
                    <a:pt x="16" y="36"/>
                  </a:cubicBezTo>
                  <a:cubicBezTo>
                    <a:pt x="16" y="34"/>
                    <a:pt x="17" y="33"/>
                    <a:pt x="19" y="32"/>
                  </a:cubicBezTo>
                  <a:close/>
                  <a:moveTo>
                    <a:pt x="11" y="27"/>
                  </a:moveTo>
                  <a:cubicBezTo>
                    <a:pt x="11" y="28"/>
                    <a:pt x="10" y="29"/>
                    <a:pt x="10" y="29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29"/>
                    <a:pt x="10" y="29"/>
                  </a:cubicBezTo>
                  <a:cubicBezTo>
                    <a:pt x="9" y="28"/>
                    <a:pt x="9" y="27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9" y="26"/>
                    <a:pt x="10" y="26"/>
                    <a:pt x="11" y="26"/>
                  </a:cubicBezTo>
                  <a:cubicBezTo>
                    <a:pt x="11" y="26"/>
                    <a:pt x="11" y="27"/>
                    <a:pt x="11" y="2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8" name="išḷîḓe">
              <a:extLst>
                <a:ext uri="{FF2B5EF4-FFF2-40B4-BE49-F238E27FC236}">
                  <a16:creationId xmlns:a16="http://schemas.microsoft.com/office/drawing/2014/main" id="{CC275142-586F-4ABF-9865-91A15A69B99F}"/>
                </a:ext>
              </a:extLst>
            </p:cNvPr>
            <p:cNvSpPr/>
            <p:nvPr/>
          </p:nvSpPr>
          <p:spPr bwMode="auto">
            <a:xfrm>
              <a:off x="2709863" y="2620963"/>
              <a:ext cx="73025" cy="174625"/>
            </a:xfrm>
            <a:custGeom>
              <a:avLst/>
              <a:gdLst>
                <a:gd name="T0" fmla="*/ 20 w 20"/>
                <a:gd name="T1" fmla="*/ 22 h 48"/>
                <a:gd name="T2" fmla="*/ 20 w 20"/>
                <a:gd name="T3" fmla="*/ 21 h 48"/>
                <a:gd name="T4" fmla="*/ 19 w 20"/>
                <a:gd name="T5" fmla="*/ 22 h 48"/>
                <a:gd name="T6" fmla="*/ 18 w 20"/>
                <a:gd name="T7" fmla="*/ 29 h 48"/>
                <a:gd name="T8" fmla="*/ 16 w 20"/>
                <a:gd name="T9" fmla="*/ 34 h 48"/>
                <a:gd name="T10" fmla="*/ 14 w 20"/>
                <a:gd name="T11" fmla="*/ 39 h 48"/>
                <a:gd name="T12" fmla="*/ 14 w 20"/>
                <a:gd name="T13" fmla="*/ 39 h 48"/>
                <a:gd name="T14" fmla="*/ 13 w 20"/>
                <a:gd name="T15" fmla="*/ 39 h 48"/>
                <a:gd name="T16" fmla="*/ 14 w 20"/>
                <a:gd name="T17" fmla="*/ 37 h 48"/>
                <a:gd name="T18" fmla="*/ 14 w 20"/>
                <a:gd name="T19" fmla="*/ 33 h 48"/>
                <a:gd name="T20" fmla="*/ 15 w 20"/>
                <a:gd name="T21" fmla="*/ 27 h 48"/>
                <a:gd name="T22" fmla="*/ 16 w 20"/>
                <a:gd name="T23" fmla="*/ 22 h 48"/>
                <a:gd name="T24" fmla="*/ 15 w 20"/>
                <a:gd name="T25" fmla="*/ 19 h 48"/>
                <a:gd name="T26" fmla="*/ 14 w 20"/>
                <a:gd name="T27" fmla="*/ 18 h 48"/>
                <a:gd name="T28" fmla="*/ 14 w 20"/>
                <a:gd name="T29" fmla="*/ 14 h 48"/>
                <a:gd name="T30" fmla="*/ 14 w 20"/>
                <a:gd name="T31" fmla="*/ 9 h 48"/>
                <a:gd name="T32" fmla="*/ 15 w 20"/>
                <a:gd name="T33" fmla="*/ 6 h 48"/>
                <a:gd name="T34" fmla="*/ 15 w 20"/>
                <a:gd name="T35" fmla="*/ 2 h 48"/>
                <a:gd name="T36" fmla="*/ 13 w 20"/>
                <a:gd name="T37" fmla="*/ 0 h 48"/>
                <a:gd name="T38" fmla="*/ 10 w 20"/>
                <a:gd name="T39" fmla="*/ 0 h 48"/>
                <a:gd name="T40" fmla="*/ 7 w 20"/>
                <a:gd name="T41" fmla="*/ 2 h 48"/>
                <a:gd name="T42" fmla="*/ 4 w 20"/>
                <a:gd name="T43" fmla="*/ 5 h 48"/>
                <a:gd name="T44" fmla="*/ 1 w 20"/>
                <a:gd name="T45" fmla="*/ 7 h 48"/>
                <a:gd name="T46" fmla="*/ 0 w 20"/>
                <a:gd name="T47" fmla="*/ 9 h 48"/>
                <a:gd name="T48" fmla="*/ 2 w 20"/>
                <a:gd name="T49" fmla="*/ 12 h 48"/>
                <a:gd name="T50" fmla="*/ 3 w 20"/>
                <a:gd name="T51" fmla="*/ 12 h 48"/>
                <a:gd name="T52" fmla="*/ 7 w 20"/>
                <a:gd name="T53" fmla="*/ 13 h 48"/>
                <a:gd name="T54" fmla="*/ 10 w 20"/>
                <a:gd name="T55" fmla="*/ 11 h 48"/>
                <a:gd name="T56" fmla="*/ 11 w 20"/>
                <a:gd name="T57" fmla="*/ 11 h 48"/>
                <a:gd name="T58" fmla="*/ 11 w 20"/>
                <a:gd name="T59" fmla="*/ 13 h 48"/>
                <a:gd name="T60" fmla="*/ 12 w 20"/>
                <a:gd name="T61" fmla="*/ 18 h 48"/>
                <a:gd name="T62" fmla="*/ 10 w 20"/>
                <a:gd name="T63" fmla="*/ 19 h 48"/>
                <a:gd name="T64" fmla="*/ 8 w 20"/>
                <a:gd name="T65" fmla="*/ 20 h 48"/>
                <a:gd name="T66" fmla="*/ 3 w 20"/>
                <a:gd name="T67" fmla="*/ 27 h 48"/>
                <a:gd name="T68" fmla="*/ 4 w 20"/>
                <a:gd name="T69" fmla="*/ 32 h 48"/>
                <a:gd name="T70" fmla="*/ 9 w 20"/>
                <a:gd name="T71" fmla="*/ 35 h 48"/>
                <a:gd name="T72" fmla="*/ 9 w 20"/>
                <a:gd name="T73" fmla="*/ 35 h 48"/>
                <a:gd name="T74" fmla="*/ 9 w 20"/>
                <a:gd name="T75" fmla="*/ 42 h 48"/>
                <a:gd name="T76" fmla="*/ 9 w 20"/>
                <a:gd name="T77" fmla="*/ 46 h 48"/>
                <a:gd name="T78" fmla="*/ 12 w 20"/>
                <a:gd name="T79" fmla="*/ 47 h 48"/>
                <a:gd name="T80" fmla="*/ 14 w 20"/>
                <a:gd name="T81" fmla="*/ 46 h 48"/>
                <a:gd name="T82" fmla="*/ 17 w 20"/>
                <a:gd name="T83" fmla="*/ 38 h 48"/>
                <a:gd name="T84" fmla="*/ 18 w 20"/>
                <a:gd name="T85" fmla="*/ 35 h 48"/>
                <a:gd name="T86" fmla="*/ 19 w 20"/>
                <a:gd name="T87" fmla="*/ 31 h 48"/>
                <a:gd name="T88" fmla="*/ 19 w 20"/>
                <a:gd name="T89" fmla="*/ 27 h 48"/>
                <a:gd name="T90" fmla="*/ 20 w 20"/>
                <a:gd name="T91" fmla="*/ 23 h 48"/>
                <a:gd name="T92" fmla="*/ 20 w 20"/>
                <a:gd name="T93" fmla="*/ 22 h 48"/>
                <a:gd name="T94" fmla="*/ 10 w 20"/>
                <a:gd name="T95" fmla="*/ 28 h 48"/>
                <a:gd name="T96" fmla="*/ 10 w 20"/>
                <a:gd name="T97" fmla="*/ 29 h 48"/>
                <a:gd name="T98" fmla="*/ 9 w 20"/>
                <a:gd name="T99" fmla="*/ 30 h 48"/>
                <a:gd name="T100" fmla="*/ 8 w 20"/>
                <a:gd name="T101" fmla="*/ 28 h 48"/>
                <a:gd name="T102" fmla="*/ 10 w 20"/>
                <a:gd name="T103" fmla="*/ 24 h 48"/>
                <a:gd name="T104" fmla="*/ 10 w 20"/>
                <a:gd name="T105" fmla="*/ 24 h 48"/>
                <a:gd name="T106" fmla="*/ 10 w 20"/>
                <a:gd name="T107" fmla="*/ 25 h 48"/>
                <a:gd name="T108" fmla="*/ 10 w 20"/>
                <a:gd name="T109" fmla="*/ 2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" h="48">
                  <a:moveTo>
                    <a:pt x="20" y="22"/>
                  </a:moveTo>
                  <a:cubicBezTo>
                    <a:pt x="20" y="22"/>
                    <a:pt x="20" y="21"/>
                    <a:pt x="20" y="21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9" y="24"/>
                    <a:pt x="18" y="26"/>
                    <a:pt x="18" y="29"/>
                  </a:cubicBezTo>
                  <a:cubicBezTo>
                    <a:pt x="17" y="30"/>
                    <a:pt x="17" y="32"/>
                    <a:pt x="16" y="34"/>
                  </a:cubicBezTo>
                  <a:cubicBezTo>
                    <a:pt x="16" y="36"/>
                    <a:pt x="15" y="37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4" y="38"/>
                    <a:pt x="14" y="37"/>
                  </a:cubicBezTo>
                  <a:cubicBezTo>
                    <a:pt x="14" y="36"/>
                    <a:pt x="14" y="35"/>
                    <a:pt x="14" y="33"/>
                  </a:cubicBezTo>
                  <a:cubicBezTo>
                    <a:pt x="15" y="31"/>
                    <a:pt x="15" y="29"/>
                    <a:pt x="15" y="27"/>
                  </a:cubicBezTo>
                  <a:cubicBezTo>
                    <a:pt x="16" y="25"/>
                    <a:pt x="16" y="23"/>
                    <a:pt x="16" y="22"/>
                  </a:cubicBezTo>
                  <a:cubicBezTo>
                    <a:pt x="16" y="21"/>
                    <a:pt x="15" y="20"/>
                    <a:pt x="15" y="19"/>
                  </a:cubicBezTo>
                  <a:cubicBezTo>
                    <a:pt x="14" y="19"/>
                    <a:pt x="14" y="18"/>
                    <a:pt x="14" y="18"/>
                  </a:cubicBezTo>
                  <a:cubicBezTo>
                    <a:pt x="14" y="17"/>
                    <a:pt x="14" y="15"/>
                    <a:pt x="14" y="14"/>
                  </a:cubicBezTo>
                  <a:cubicBezTo>
                    <a:pt x="13" y="12"/>
                    <a:pt x="13" y="10"/>
                    <a:pt x="14" y="9"/>
                  </a:cubicBezTo>
                  <a:cubicBezTo>
                    <a:pt x="14" y="8"/>
                    <a:pt x="14" y="7"/>
                    <a:pt x="15" y="6"/>
                  </a:cubicBezTo>
                  <a:cubicBezTo>
                    <a:pt x="16" y="5"/>
                    <a:pt x="16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7" y="2"/>
                  </a:cubicBezTo>
                  <a:cubicBezTo>
                    <a:pt x="6" y="3"/>
                    <a:pt x="5" y="4"/>
                    <a:pt x="4" y="5"/>
                  </a:cubicBezTo>
                  <a:cubicBezTo>
                    <a:pt x="3" y="5"/>
                    <a:pt x="2" y="6"/>
                    <a:pt x="1" y="7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1" y="10"/>
                    <a:pt x="1" y="11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4" y="13"/>
                    <a:pt x="6" y="14"/>
                    <a:pt x="7" y="13"/>
                  </a:cubicBezTo>
                  <a:cubicBezTo>
                    <a:pt x="8" y="12"/>
                    <a:pt x="9" y="11"/>
                    <a:pt x="10" y="11"/>
                  </a:cubicBezTo>
                  <a:cubicBezTo>
                    <a:pt x="10" y="10"/>
                    <a:pt x="10" y="10"/>
                    <a:pt x="11" y="11"/>
                  </a:cubicBezTo>
                  <a:cubicBezTo>
                    <a:pt x="11" y="11"/>
                    <a:pt x="11" y="12"/>
                    <a:pt x="11" y="13"/>
                  </a:cubicBezTo>
                  <a:cubicBezTo>
                    <a:pt x="11" y="14"/>
                    <a:pt x="12" y="16"/>
                    <a:pt x="12" y="18"/>
                  </a:cubicBezTo>
                  <a:cubicBezTo>
                    <a:pt x="12" y="19"/>
                    <a:pt x="11" y="19"/>
                    <a:pt x="10" y="19"/>
                  </a:cubicBezTo>
                  <a:cubicBezTo>
                    <a:pt x="9" y="20"/>
                    <a:pt x="8" y="20"/>
                    <a:pt x="8" y="20"/>
                  </a:cubicBezTo>
                  <a:cubicBezTo>
                    <a:pt x="5" y="22"/>
                    <a:pt x="4" y="24"/>
                    <a:pt x="3" y="27"/>
                  </a:cubicBezTo>
                  <a:cubicBezTo>
                    <a:pt x="3" y="29"/>
                    <a:pt x="3" y="31"/>
                    <a:pt x="4" y="32"/>
                  </a:cubicBezTo>
                  <a:cubicBezTo>
                    <a:pt x="5" y="34"/>
                    <a:pt x="7" y="35"/>
                    <a:pt x="9" y="35"/>
                  </a:cubicBezTo>
                  <a:cubicBezTo>
                    <a:pt x="9" y="35"/>
                    <a:pt x="10" y="35"/>
                    <a:pt x="9" y="35"/>
                  </a:cubicBezTo>
                  <a:cubicBezTo>
                    <a:pt x="9" y="38"/>
                    <a:pt x="9" y="40"/>
                    <a:pt x="9" y="42"/>
                  </a:cubicBezTo>
                  <a:cubicBezTo>
                    <a:pt x="9" y="43"/>
                    <a:pt x="9" y="44"/>
                    <a:pt x="9" y="46"/>
                  </a:cubicBezTo>
                  <a:cubicBezTo>
                    <a:pt x="10" y="47"/>
                    <a:pt x="11" y="48"/>
                    <a:pt x="12" y="47"/>
                  </a:cubicBezTo>
                  <a:cubicBezTo>
                    <a:pt x="13" y="47"/>
                    <a:pt x="13" y="47"/>
                    <a:pt x="14" y="46"/>
                  </a:cubicBezTo>
                  <a:cubicBezTo>
                    <a:pt x="16" y="44"/>
                    <a:pt x="16" y="41"/>
                    <a:pt x="17" y="38"/>
                  </a:cubicBezTo>
                  <a:cubicBezTo>
                    <a:pt x="17" y="37"/>
                    <a:pt x="18" y="36"/>
                    <a:pt x="18" y="35"/>
                  </a:cubicBezTo>
                  <a:cubicBezTo>
                    <a:pt x="18" y="34"/>
                    <a:pt x="19" y="32"/>
                    <a:pt x="19" y="31"/>
                  </a:cubicBezTo>
                  <a:cubicBezTo>
                    <a:pt x="19" y="30"/>
                    <a:pt x="19" y="27"/>
                    <a:pt x="19" y="27"/>
                  </a:cubicBezTo>
                  <a:cubicBezTo>
                    <a:pt x="19" y="26"/>
                    <a:pt x="20" y="25"/>
                    <a:pt x="20" y="23"/>
                  </a:cubicBezTo>
                  <a:cubicBezTo>
                    <a:pt x="20" y="23"/>
                    <a:pt x="20" y="22"/>
                    <a:pt x="20" y="22"/>
                  </a:cubicBezTo>
                  <a:close/>
                  <a:moveTo>
                    <a:pt x="10" y="28"/>
                  </a:moveTo>
                  <a:cubicBezTo>
                    <a:pt x="10" y="28"/>
                    <a:pt x="10" y="29"/>
                    <a:pt x="10" y="29"/>
                  </a:cubicBezTo>
                  <a:cubicBezTo>
                    <a:pt x="10" y="29"/>
                    <a:pt x="10" y="30"/>
                    <a:pt x="9" y="30"/>
                  </a:cubicBezTo>
                  <a:cubicBezTo>
                    <a:pt x="8" y="30"/>
                    <a:pt x="8" y="29"/>
                    <a:pt x="8" y="28"/>
                  </a:cubicBezTo>
                  <a:cubicBezTo>
                    <a:pt x="8" y="27"/>
                    <a:pt x="9" y="25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5"/>
                    <a:pt x="11" y="25"/>
                    <a:pt x="10" y="25"/>
                  </a:cubicBezTo>
                  <a:cubicBezTo>
                    <a:pt x="10" y="26"/>
                    <a:pt x="10" y="27"/>
                    <a:pt x="10" y="2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9" name="ïṩļidê">
              <a:extLst>
                <a:ext uri="{FF2B5EF4-FFF2-40B4-BE49-F238E27FC236}">
                  <a16:creationId xmlns:a16="http://schemas.microsoft.com/office/drawing/2014/main" id="{CB1EB223-3268-49E3-9009-8FB4F6B1C0A1}"/>
                </a:ext>
              </a:extLst>
            </p:cNvPr>
            <p:cNvSpPr/>
            <p:nvPr/>
          </p:nvSpPr>
          <p:spPr bwMode="auto">
            <a:xfrm>
              <a:off x="3038475" y="2620963"/>
              <a:ext cx="136525" cy="115888"/>
            </a:xfrm>
            <a:custGeom>
              <a:avLst/>
              <a:gdLst>
                <a:gd name="T0" fmla="*/ 36 w 38"/>
                <a:gd name="T1" fmla="*/ 22 h 32"/>
                <a:gd name="T2" fmla="*/ 34 w 38"/>
                <a:gd name="T3" fmla="*/ 22 h 32"/>
                <a:gd name="T4" fmla="*/ 32 w 38"/>
                <a:gd name="T5" fmla="*/ 22 h 32"/>
                <a:gd name="T6" fmla="*/ 28 w 38"/>
                <a:gd name="T7" fmla="*/ 22 h 32"/>
                <a:gd name="T8" fmla="*/ 27 w 38"/>
                <a:gd name="T9" fmla="*/ 21 h 32"/>
                <a:gd name="T10" fmla="*/ 28 w 38"/>
                <a:gd name="T11" fmla="*/ 21 h 32"/>
                <a:gd name="T12" fmla="*/ 32 w 38"/>
                <a:gd name="T13" fmla="*/ 16 h 32"/>
                <a:gd name="T14" fmla="*/ 35 w 38"/>
                <a:gd name="T15" fmla="*/ 11 h 32"/>
                <a:gd name="T16" fmla="*/ 35 w 38"/>
                <a:gd name="T17" fmla="*/ 8 h 32"/>
                <a:gd name="T18" fmla="*/ 35 w 38"/>
                <a:gd name="T19" fmla="*/ 7 h 32"/>
                <a:gd name="T20" fmla="*/ 34 w 38"/>
                <a:gd name="T21" fmla="*/ 3 h 32"/>
                <a:gd name="T22" fmla="*/ 29 w 38"/>
                <a:gd name="T23" fmla="*/ 1 h 32"/>
                <a:gd name="T24" fmla="*/ 22 w 38"/>
                <a:gd name="T25" fmla="*/ 2 h 32"/>
                <a:gd name="T26" fmla="*/ 16 w 38"/>
                <a:gd name="T27" fmla="*/ 5 h 32"/>
                <a:gd name="T28" fmla="*/ 14 w 38"/>
                <a:gd name="T29" fmla="*/ 7 h 32"/>
                <a:gd name="T30" fmla="*/ 17 w 38"/>
                <a:gd name="T31" fmla="*/ 12 h 32"/>
                <a:gd name="T32" fmla="*/ 22 w 38"/>
                <a:gd name="T33" fmla="*/ 13 h 32"/>
                <a:gd name="T34" fmla="*/ 26 w 38"/>
                <a:gd name="T35" fmla="*/ 11 h 32"/>
                <a:gd name="T36" fmla="*/ 28 w 38"/>
                <a:gd name="T37" fmla="*/ 11 h 32"/>
                <a:gd name="T38" fmla="*/ 25 w 38"/>
                <a:gd name="T39" fmla="*/ 16 h 32"/>
                <a:gd name="T40" fmla="*/ 20 w 38"/>
                <a:gd name="T41" fmla="*/ 20 h 32"/>
                <a:gd name="T42" fmla="*/ 15 w 38"/>
                <a:gd name="T43" fmla="*/ 21 h 32"/>
                <a:gd name="T44" fmla="*/ 12 w 38"/>
                <a:gd name="T45" fmla="*/ 21 h 32"/>
                <a:gd name="T46" fmla="*/ 5 w 38"/>
                <a:gd name="T47" fmla="*/ 22 h 32"/>
                <a:gd name="T48" fmla="*/ 2 w 38"/>
                <a:gd name="T49" fmla="*/ 24 h 32"/>
                <a:gd name="T50" fmla="*/ 1 w 38"/>
                <a:gd name="T51" fmla="*/ 25 h 32"/>
                <a:gd name="T52" fmla="*/ 3 w 38"/>
                <a:gd name="T53" fmla="*/ 31 h 32"/>
                <a:gd name="T54" fmla="*/ 6 w 38"/>
                <a:gd name="T55" fmla="*/ 31 h 32"/>
                <a:gd name="T56" fmla="*/ 12 w 38"/>
                <a:gd name="T57" fmla="*/ 31 h 32"/>
                <a:gd name="T58" fmla="*/ 29 w 38"/>
                <a:gd name="T59" fmla="*/ 30 h 32"/>
                <a:gd name="T60" fmla="*/ 31 w 38"/>
                <a:gd name="T61" fmla="*/ 31 h 32"/>
                <a:gd name="T62" fmla="*/ 33 w 38"/>
                <a:gd name="T63" fmla="*/ 32 h 32"/>
                <a:gd name="T64" fmla="*/ 36 w 38"/>
                <a:gd name="T65" fmla="*/ 30 h 32"/>
                <a:gd name="T66" fmla="*/ 37 w 38"/>
                <a:gd name="T67" fmla="*/ 27 h 32"/>
                <a:gd name="T68" fmla="*/ 36 w 38"/>
                <a:gd name="T69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8" h="32">
                  <a:moveTo>
                    <a:pt x="36" y="22"/>
                  </a:moveTo>
                  <a:cubicBezTo>
                    <a:pt x="36" y="21"/>
                    <a:pt x="35" y="21"/>
                    <a:pt x="34" y="22"/>
                  </a:cubicBezTo>
                  <a:cubicBezTo>
                    <a:pt x="33" y="22"/>
                    <a:pt x="33" y="22"/>
                    <a:pt x="32" y="22"/>
                  </a:cubicBezTo>
                  <a:cubicBezTo>
                    <a:pt x="31" y="22"/>
                    <a:pt x="29" y="22"/>
                    <a:pt x="28" y="22"/>
                  </a:cubicBezTo>
                  <a:cubicBezTo>
                    <a:pt x="28" y="22"/>
                    <a:pt x="27" y="22"/>
                    <a:pt x="27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9" y="19"/>
                    <a:pt x="31" y="17"/>
                    <a:pt x="32" y="16"/>
                  </a:cubicBezTo>
                  <a:cubicBezTo>
                    <a:pt x="33" y="14"/>
                    <a:pt x="34" y="11"/>
                    <a:pt x="35" y="11"/>
                  </a:cubicBezTo>
                  <a:cubicBezTo>
                    <a:pt x="35" y="10"/>
                    <a:pt x="36" y="9"/>
                    <a:pt x="35" y="8"/>
                  </a:cubicBezTo>
                  <a:cubicBezTo>
                    <a:pt x="35" y="8"/>
                    <a:pt x="35" y="7"/>
                    <a:pt x="35" y="7"/>
                  </a:cubicBezTo>
                  <a:cubicBezTo>
                    <a:pt x="35" y="6"/>
                    <a:pt x="35" y="4"/>
                    <a:pt x="34" y="3"/>
                  </a:cubicBezTo>
                  <a:cubicBezTo>
                    <a:pt x="33" y="2"/>
                    <a:pt x="31" y="1"/>
                    <a:pt x="29" y="1"/>
                  </a:cubicBezTo>
                  <a:cubicBezTo>
                    <a:pt x="27" y="0"/>
                    <a:pt x="24" y="1"/>
                    <a:pt x="22" y="2"/>
                  </a:cubicBezTo>
                  <a:cubicBezTo>
                    <a:pt x="20" y="3"/>
                    <a:pt x="18" y="4"/>
                    <a:pt x="16" y="5"/>
                  </a:cubicBezTo>
                  <a:cubicBezTo>
                    <a:pt x="15" y="5"/>
                    <a:pt x="14" y="7"/>
                    <a:pt x="14" y="7"/>
                  </a:cubicBezTo>
                  <a:cubicBezTo>
                    <a:pt x="15" y="9"/>
                    <a:pt x="15" y="11"/>
                    <a:pt x="17" y="12"/>
                  </a:cubicBezTo>
                  <a:cubicBezTo>
                    <a:pt x="18" y="13"/>
                    <a:pt x="20" y="13"/>
                    <a:pt x="22" y="13"/>
                  </a:cubicBezTo>
                  <a:cubicBezTo>
                    <a:pt x="23" y="12"/>
                    <a:pt x="24" y="12"/>
                    <a:pt x="26" y="11"/>
                  </a:cubicBezTo>
                  <a:cubicBezTo>
                    <a:pt x="26" y="11"/>
                    <a:pt x="27" y="11"/>
                    <a:pt x="28" y="11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3" y="17"/>
                    <a:pt x="22" y="18"/>
                    <a:pt x="20" y="20"/>
                  </a:cubicBezTo>
                  <a:cubicBezTo>
                    <a:pt x="19" y="21"/>
                    <a:pt x="17" y="21"/>
                    <a:pt x="15" y="21"/>
                  </a:cubicBezTo>
                  <a:cubicBezTo>
                    <a:pt x="14" y="21"/>
                    <a:pt x="13" y="21"/>
                    <a:pt x="12" y="21"/>
                  </a:cubicBezTo>
                  <a:cubicBezTo>
                    <a:pt x="9" y="22"/>
                    <a:pt x="7" y="22"/>
                    <a:pt x="5" y="22"/>
                  </a:cubicBezTo>
                  <a:cubicBezTo>
                    <a:pt x="4" y="23"/>
                    <a:pt x="3" y="23"/>
                    <a:pt x="2" y="24"/>
                  </a:cubicBezTo>
                  <a:cubicBezTo>
                    <a:pt x="2" y="24"/>
                    <a:pt x="2" y="25"/>
                    <a:pt x="1" y="25"/>
                  </a:cubicBezTo>
                  <a:cubicBezTo>
                    <a:pt x="0" y="27"/>
                    <a:pt x="1" y="30"/>
                    <a:pt x="3" y="31"/>
                  </a:cubicBezTo>
                  <a:cubicBezTo>
                    <a:pt x="4" y="31"/>
                    <a:pt x="5" y="31"/>
                    <a:pt x="6" y="31"/>
                  </a:cubicBezTo>
                  <a:cubicBezTo>
                    <a:pt x="8" y="31"/>
                    <a:pt x="11" y="31"/>
                    <a:pt x="12" y="31"/>
                  </a:cubicBezTo>
                  <a:cubicBezTo>
                    <a:pt x="14" y="30"/>
                    <a:pt x="25" y="30"/>
                    <a:pt x="29" y="30"/>
                  </a:cubicBezTo>
                  <a:cubicBezTo>
                    <a:pt x="29" y="30"/>
                    <a:pt x="30" y="30"/>
                    <a:pt x="31" y="31"/>
                  </a:cubicBezTo>
                  <a:cubicBezTo>
                    <a:pt x="32" y="31"/>
                    <a:pt x="32" y="32"/>
                    <a:pt x="33" y="32"/>
                  </a:cubicBezTo>
                  <a:cubicBezTo>
                    <a:pt x="34" y="32"/>
                    <a:pt x="35" y="32"/>
                    <a:pt x="36" y="30"/>
                  </a:cubicBezTo>
                  <a:cubicBezTo>
                    <a:pt x="37" y="29"/>
                    <a:pt x="37" y="28"/>
                    <a:pt x="37" y="27"/>
                  </a:cubicBezTo>
                  <a:cubicBezTo>
                    <a:pt x="38" y="25"/>
                    <a:pt x="37" y="24"/>
                    <a:pt x="36" y="2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0" name="îṧliḑe">
              <a:extLst>
                <a:ext uri="{FF2B5EF4-FFF2-40B4-BE49-F238E27FC236}">
                  <a16:creationId xmlns:a16="http://schemas.microsoft.com/office/drawing/2014/main" id="{78D8483C-51F5-41B6-B92D-284D1FA2DA29}"/>
                </a:ext>
              </a:extLst>
            </p:cNvPr>
            <p:cNvSpPr/>
            <p:nvPr/>
          </p:nvSpPr>
          <p:spPr bwMode="auto">
            <a:xfrm>
              <a:off x="3290888" y="2722563"/>
              <a:ext cx="187325" cy="198438"/>
            </a:xfrm>
            <a:custGeom>
              <a:avLst/>
              <a:gdLst>
                <a:gd name="T0" fmla="*/ 37 w 52"/>
                <a:gd name="T1" fmla="*/ 49 h 55"/>
                <a:gd name="T2" fmla="*/ 35 w 52"/>
                <a:gd name="T3" fmla="*/ 45 h 55"/>
                <a:gd name="T4" fmla="*/ 34 w 52"/>
                <a:gd name="T5" fmla="*/ 39 h 55"/>
                <a:gd name="T6" fmla="*/ 33 w 52"/>
                <a:gd name="T7" fmla="*/ 34 h 55"/>
                <a:gd name="T8" fmla="*/ 32 w 52"/>
                <a:gd name="T9" fmla="*/ 27 h 55"/>
                <a:gd name="T10" fmla="*/ 34 w 52"/>
                <a:gd name="T11" fmla="*/ 25 h 55"/>
                <a:gd name="T12" fmla="*/ 35 w 52"/>
                <a:gd name="T13" fmla="*/ 23 h 55"/>
                <a:gd name="T14" fmla="*/ 38 w 52"/>
                <a:gd name="T15" fmla="*/ 22 h 55"/>
                <a:gd name="T16" fmla="*/ 43 w 52"/>
                <a:gd name="T17" fmla="*/ 24 h 55"/>
                <a:gd name="T18" fmla="*/ 46 w 52"/>
                <a:gd name="T19" fmla="*/ 23 h 55"/>
                <a:gd name="T20" fmla="*/ 48 w 52"/>
                <a:gd name="T21" fmla="*/ 22 h 55"/>
                <a:gd name="T22" fmla="*/ 49 w 52"/>
                <a:gd name="T23" fmla="*/ 22 h 55"/>
                <a:gd name="T24" fmla="*/ 50 w 52"/>
                <a:gd name="T25" fmla="*/ 21 h 55"/>
                <a:gd name="T26" fmla="*/ 50 w 52"/>
                <a:gd name="T27" fmla="*/ 19 h 55"/>
                <a:gd name="T28" fmla="*/ 48 w 52"/>
                <a:gd name="T29" fmla="*/ 16 h 55"/>
                <a:gd name="T30" fmla="*/ 45 w 52"/>
                <a:gd name="T31" fmla="*/ 15 h 55"/>
                <a:gd name="T32" fmla="*/ 45 w 52"/>
                <a:gd name="T33" fmla="*/ 15 h 55"/>
                <a:gd name="T34" fmla="*/ 45 w 52"/>
                <a:gd name="T35" fmla="*/ 15 h 55"/>
                <a:gd name="T36" fmla="*/ 48 w 52"/>
                <a:gd name="T37" fmla="*/ 11 h 55"/>
                <a:gd name="T38" fmla="*/ 51 w 52"/>
                <a:gd name="T39" fmla="*/ 7 h 55"/>
                <a:gd name="T40" fmla="*/ 52 w 52"/>
                <a:gd name="T41" fmla="*/ 5 h 55"/>
                <a:gd name="T42" fmla="*/ 51 w 52"/>
                <a:gd name="T43" fmla="*/ 1 h 55"/>
                <a:gd name="T44" fmla="*/ 48 w 52"/>
                <a:gd name="T45" fmla="*/ 0 h 55"/>
                <a:gd name="T46" fmla="*/ 45 w 52"/>
                <a:gd name="T47" fmla="*/ 2 h 55"/>
                <a:gd name="T48" fmla="*/ 43 w 52"/>
                <a:gd name="T49" fmla="*/ 6 h 55"/>
                <a:gd name="T50" fmla="*/ 37 w 52"/>
                <a:gd name="T51" fmla="*/ 12 h 55"/>
                <a:gd name="T52" fmla="*/ 35 w 52"/>
                <a:gd name="T53" fmla="*/ 13 h 55"/>
                <a:gd name="T54" fmla="*/ 32 w 52"/>
                <a:gd name="T55" fmla="*/ 12 h 55"/>
                <a:gd name="T56" fmla="*/ 26 w 52"/>
                <a:gd name="T57" fmla="*/ 10 h 55"/>
                <a:gd name="T58" fmla="*/ 22 w 52"/>
                <a:gd name="T59" fmla="*/ 10 h 55"/>
                <a:gd name="T60" fmla="*/ 21 w 52"/>
                <a:gd name="T61" fmla="*/ 11 h 55"/>
                <a:gd name="T62" fmla="*/ 21 w 52"/>
                <a:gd name="T63" fmla="*/ 14 h 55"/>
                <a:gd name="T64" fmla="*/ 21 w 52"/>
                <a:gd name="T65" fmla="*/ 15 h 55"/>
                <a:gd name="T66" fmla="*/ 23 w 52"/>
                <a:gd name="T67" fmla="*/ 17 h 55"/>
                <a:gd name="T68" fmla="*/ 26 w 52"/>
                <a:gd name="T69" fmla="*/ 19 h 55"/>
                <a:gd name="T70" fmla="*/ 29 w 52"/>
                <a:gd name="T71" fmla="*/ 20 h 55"/>
                <a:gd name="T72" fmla="*/ 24 w 52"/>
                <a:gd name="T73" fmla="*/ 23 h 55"/>
                <a:gd name="T74" fmla="*/ 12 w 52"/>
                <a:gd name="T75" fmla="*/ 28 h 55"/>
                <a:gd name="T76" fmla="*/ 0 w 52"/>
                <a:gd name="T77" fmla="*/ 28 h 55"/>
                <a:gd name="T78" fmla="*/ 1 w 52"/>
                <a:gd name="T79" fmla="*/ 29 h 55"/>
                <a:gd name="T80" fmla="*/ 3 w 52"/>
                <a:gd name="T81" fmla="*/ 30 h 55"/>
                <a:gd name="T82" fmla="*/ 6 w 52"/>
                <a:gd name="T83" fmla="*/ 32 h 55"/>
                <a:gd name="T84" fmla="*/ 15 w 52"/>
                <a:gd name="T85" fmla="*/ 32 h 55"/>
                <a:gd name="T86" fmla="*/ 20 w 52"/>
                <a:gd name="T87" fmla="*/ 31 h 55"/>
                <a:gd name="T88" fmla="*/ 26 w 52"/>
                <a:gd name="T89" fmla="*/ 29 h 55"/>
                <a:gd name="T90" fmla="*/ 27 w 52"/>
                <a:gd name="T91" fmla="*/ 29 h 55"/>
                <a:gd name="T92" fmla="*/ 26 w 52"/>
                <a:gd name="T93" fmla="*/ 35 h 55"/>
                <a:gd name="T94" fmla="*/ 25 w 52"/>
                <a:gd name="T95" fmla="*/ 40 h 55"/>
                <a:gd name="T96" fmla="*/ 25 w 52"/>
                <a:gd name="T97" fmla="*/ 43 h 55"/>
                <a:gd name="T98" fmla="*/ 26 w 52"/>
                <a:gd name="T99" fmla="*/ 47 h 55"/>
                <a:gd name="T100" fmla="*/ 28 w 52"/>
                <a:gd name="T101" fmla="*/ 50 h 55"/>
                <a:gd name="T102" fmla="*/ 29 w 52"/>
                <a:gd name="T103" fmla="*/ 52 h 55"/>
                <a:gd name="T104" fmla="*/ 31 w 52"/>
                <a:gd name="T105" fmla="*/ 53 h 55"/>
                <a:gd name="T106" fmla="*/ 34 w 52"/>
                <a:gd name="T107" fmla="*/ 54 h 55"/>
                <a:gd name="T108" fmla="*/ 35 w 52"/>
                <a:gd name="T109" fmla="*/ 54 h 55"/>
                <a:gd name="T110" fmla="*/ 36 w 52"/>
                <a:gd name="T111" fmla="*/ 54 h 55"/>
                <a:gd name="T112" fmla="*/ 37 w 52"/>
                <a:gd name="T113" fmla="*/ 53 h 55"/>
                <a:gd name="T114" fmla="*/ 39 w 52"/>
                <a:gd name="T115" fmla="*/ 53 h 55"/>
                <a:gd name="T116" fmla="*/ 37 w 52"/>
                <a:gd name="T117" fmla="*/ 4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2" h="55">
                  <a:moveTo>
                    <a:pt x="37" y="49"/>
                  </a:moveTo>
                  <a:cubicBezTo>
                    <a:pt x="36" y="47"/>
                    <a:pt x="36" y="46"/>
                    <a:pt x="35" y="45"/>
                  </a:cubicBezTo>
                  <a:cubicBezTo>
                    <a:pt x="34" y="43"/>
                    <a:pt x="34" y="41"/>
                    <a:pt x="34" y="39"/>
                  </a:cubicBezTo>
                  <a:cubicBezTo>
                    <a:pt x="33" y="37"/>
                    <a:pt x="33" y="35"/>
                    <a:pt x="33" y="34"/>
                  </a:cubicBezTo>
                  <a:cubicBezTo>
                    <a:pt x="33" y="31"/>
                    <a:pt x="33" y="28"/>
                    <a:pt x="32" y="27"/>
                  </a:cubicBezTo>
                  <a:cubicBezTo>
                    <a:pt x="32" y="25"/>
                    <a:pt x="33" y="25"/>
                    <a:pt x="34" y="25"/>
                  </a:cubicBezTo>
                  <a:cubicBezTo>
                    <a:pt x="34" y="24"/>
                    <a:pt x="35" y="24"/>
                    <a:pt x="35" y="23"/>
                  </a:cubicBezTo>
                  <a:cubicBezTo>
                    <a:pt x="36" y="23"/>
                    <a:pt x="37" y="22"/>
                    <a:pt x="38" y="22"/>
                  </a:cubicBezTo>
                  <a:cubicBezTo>
                    <a:pt x="40" y="23"/>
                    <a:pt x="41" y="23"/>
                    <a:pt x="43" y="24"/>
                  </a:cubicBezTo>
                  <a:cubicBezTo>
                    <a:pt x="43" y="24"/>
                    <a:pt x="45" y="24"/>
                    <a:pt x="46" y="23"/>
                  </a:cubicBezTo>
                  <a:cubicBezTo>
                    <a:pt x="47" y="23"/>
                    <a:pt x="47" y="23"/>
                    <a:pt x="48" y="22"/>
                  </a:cubicBezTo>
                  <a:cubicBezTo>
                    <a:pt x="48" y="22"/>
                    <a:pt x="49" y="22"/>
                    <a:pt x="49" y="22"/>
                  </a:cubicBezTo>
                  <a:cubicBezTo>
                    <a:pt x="49" y="21"/>
                    <a:pt x="50" y="21"/>
                    <a:pt x="50" y="21"/>
                  </a:cubicBezTo>
                  <a:cubicBezTo>
                    <a:pt x="51" y="20"/>
                    <a:pt x="51" y="20"/>
                    <a:pt x="50" y="19"/>
                  </a:cubicBezTo>
                  <a:cubicBezTo>
                    <a:pt x="50" y="18"/>
                    <a:pt x="49" y="17"/>
                    <a:pt x="48" y="16"/>
                  </a:cubicBezTo>
                  <a:cubicBezTo>
                    <a:pt x="47" y="15"/>
                    <a:pt x="46" y="15"/>
                    <a:pt x="45" y="15"/>
                  </a:cubicBezTo>
                  <a:cubicBezTo>
                    <a:pt x="45" y="15"/>
                    <a:pt x="45" y="16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6" y="13"/>
                    <a:pt x="47" y="12"/>
                    <a:pt x="48" y="11"/>
                  </a:cubicBezTo>
                  <a:cubicBezTo>
                    <a:pt x="49" y="10"/>
                    <a:pt x="50" y="8"/>
                    <a:pt x="51" y="7"/>
                  </a:cubicBezTo>
                  <a:cubicBezTo>
                    <a:pt x="51" y="6"/>
                    <a:pt x="52" y="6"/>
                    <a:pt x="52" y="5"/>
                  </a:cubicBezTo>
                  <a:cubicBezTo>
                    <a:pt x="52" y="4"/>
                    <a:pt x="51" y="3"/>
                    <a:pt x="51" y="1"/>
                  </a:cubicBezTo>
                  <a:cubicBezTo>
                    <a:pt x="50" y="0"/>
                    <a:pt x="49" y="0"/>
                    <a:pt x="48" y="0"/>
                  </a:cubicBezTo>
                  <a:cubicBezTo>
                    <a:pt x="47" y="1"/>
                    <a:pt x="45" y="1"/>
                    <a:pt x="45" y="2"/>
                  </a:cubicBezTo>
                  <a:cubicBezTo>
                    <a:pt x="44" y="4"/>
                    <a:pt x="43" y="5"/>
                    <a:pt x="43" y="6"/>
                  </a:cubicBezTo>
                  <a:cubicBezTo>
                    <a:pt x="41" y="8"/>
                    <a:pt x="39" y="10"/>
                    <a:pt x="37" y="12"/>
                  </a:cubicBezTo>
                  <a:cubicBezTo>
                    <a:pt x="37" y="13"/>
                    <a:pt x="36" y="13"/>
                    <a:pt x="35" y="13"/>
                  </a:cubicBezTo>
                  <a:cubicBezTo>
                    <a:pt x="34" y="13"/>
                    <a:pt x="33" y="13"/>
                    <a:pt x="32" y="12"/>
                  </a:cubicBezTo>
                  <a:cubicBezTo>
                    <a:pt x="30" y="12"/>
                    <a:pt x="28" y="11"/>
                    <a:pt x="26" y="10"/>
                  </a:cubicBezTo>
                  <a:cubicBezTo>
                    <a:pt x="25" y="9"/>
                    <a:pt x="23" y="9"/>
                    <a:pt x="22" y="10"/>
                  </a:cubicBezTo>
                  <a:cubicBezTo>
                    <a:pt x="22" y="11"/>
                    <a:pt x="21" y="11"/>
                    <a:pt x="21" y="11"/>
                  </a:cubicBezTo>
                  <a:cubicBezTo>
                    <a:pt x="21" y="12"/>
                    <a:pt x="21" y="13"/>
                    <a:pt x="21" y="14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6"/>
                    <a:pt x="22" y="17"/>
                    <a:pt x="23" y="17"/>
                  </a:cubicBezTo>
                  <a:cubicBezTo>
                    <a:pt x="24" y="18"/>
                    <a:pt x="25" y="19"/>
                    <a:pt x="26" y="19"/>
                  </a:cubicBezTo>
                  <a:cubicBezTo>
                    <a:pt x="27" y="19"/>
                    <a:pt x="28" y="20"/>
                    <a:pt x="29" y="20"/>
                  </a:cubicBezTo>
                  <a:cubicBezTo>
                    <a:pt x="28" y="20"/>
                    <a:pt x="26" y="22"/>
                    <a:pt x="24" y="23"/>
                  </a:cubicBezTo>
                  <a:cubicBezTo>
                    <a:pt x="21" y="25"/>
                    <a:pt x="18" y="26"/>
                    <a:pt x="12" y="28"/>
                  </a:cubicBezTo>
                  <a:cubicBezTo>
                    <a:pt x="5" y="29"/>
                    <a:pt x="1" y="28"/>
                    <a:pt x="0" y="28"/>
                  </a:cubicBezTo>
                  <a:cubicBezTo>
                    <a:pt x="0" y="28"/>
                    <a:pt x="0" y="28"/>
                    <a:pt x="1" y="29"/>
                  </a:cubicBezTo>
                  <a:cubicBezTo>
                    <a:pt x="1" y="29"/>
                    <a:pt x="3" y="30"/>
                    <a:pt x="3" y="30"/>
                  </a:cubicBezTo>
                  <a:cubicBezTo>
                    <a:pt x="4" y="31"/>
                    <a:pt x="5" y="32"/>
                    <a:pt x="6" y="32"/>
                  </a:cubicBezTo>
                  <a:cubicBezTo>
                    <a:pt x="7" y="32"/>
                    <a:pt x="12" y="33"/>
                    <a:pt x="15" y="32"/>
                  </a:cubicBezTo>
                  <a:cubicBezTo>
                    <a:pt x="17" y="32"/>
                    <a:pt x="20" y="31"/>
                    <a:pt x="20" y="31"/>
                  </a:cubicBezTo>
                  <a:cubicBezTo>
                    <a:pt x="22" y="30"/>
                    <a:pt x="24" y="30"/>
                    <a:pt x="26" y="29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7" y="31"/>
                    <a:pt x="26" y="33"/>
                    <a:pt x="26" y="35"/>
                  </a:cubicBezTo>
                  <a:cubicBezTo>
                    <a:pt x="26" y="37"/>
                    <a:pt x="26" y="38"/>
                    <a:pt x="25" y="40"/>
                  </a:cubicBezTo>
                  <a:cubicBezTo>
                    <a:pt x="25" y="41"/>
                    <a:pt x="25" y="42"/>
                    <a:pt x="25" y="43"/>
                  </a:cubicBezTo>
                  <a:cubicBezTo>
                    <a:pt x="25" y="44"/>
                    <a:pt x="25" y="46"/>
                    <a:pt x="26" y="47"/>
                  </a:cubicBezTo>
                  <a:cubicBezTo>
                    <a:pt x="26" y="48"/>
                    <a:pt x="27" y="49"/>
                    <a:pt x="28" y="50"/>
                  </a:cubicBezTo>
                  <a:cubicBezTo>
                    <a:pt x="28" y="50"/>
                    <a:pt x="29" y="51"/>
                    <a:pt x="29" y="52"/>
                  </a:cubicBezTo>
                  <a:cubicBezTo>
                    <a:pt x="30" y="52"/>
                    <a:pt x="30" y="53"/>
                    <a:pt x="31" y="53"/>
                  </a:cubicBezTo>
                  <a:cubicBezTo>
                    <a:pt x="32" y="53"/>
                    <a:pt x="33" y="55"/>
                    <a:pt x="34" y="54"/>
                  </a:cubicBezTo>
                  <a:cubicBezTo>
                    <a:pt x="34" y="54"/>
                    <a:pt x="35" y="54"/>
                    <a:pt x="35" y="54"/>
                  </a:cubicBezTo>
                  <a:cubicBezTo>
                    <a:pt x="35" y="54"/>
                    <a:pt x="36" y="54"/>
                    <a:pt x="36" y="54"/>
                  </a:cubicBezTo>
                  <a:cubicBezTo>
                    <a:pt x="37" y="54"/>
                    <a:pt x="37" y="54"/>
                    <a:pt x="37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2"/>
                    <a:pt x="38" y="52"/>
                    <a:pt x="37" y="4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1" name="ïśḷïḓè">
              <a:extLst>
                <a:ext uri="{FF2B5EF4-FFF2-40B4-BE49-F238E27FC236}">
                  <a16:creationId xmlns:a16="http://schemas.microsoft.com/office/drawing/2014/main" id="{D0FAE020-E0E9-4A13-882F-6164298F229C}"/>
                </a:ext>
              </a:extLst>
            </p:cNvPr>
            <p:cNvSpPr/>
            <p:nvPr/>
          </p:nvSpPr>
          <p:spPr bwMode="auto">
            <a:xfrm>
              <a:off x="2035175" y="2493963"/>
              <a:ext cx="1865313" cy="1873250"/>
            </a:xfrm>
            <a:custGeom>
              <a:avLst/>
              <a:gdLst>
                <a:gd name="T0" fmla="*/ 258 w 517"/>
                <a:gd name="T1" fmla="*/ 0 h 517"/>
                <a:gd name="T2" fmla="*/ 0 w 517"/>
                <a:gd name="T3" fmla="*/ 258 h 517"/>
                <a:gd name="T4" fmla="*/ 258 w 517"/>
                <a:gd name="T5" fmla="*/ 517 h 517"/>
                <a:gd name="T6" fmla="*/ 517 w 517"/>
                <a:gd name="T7" fmla="*/ 258 h 517"/>
                <a:gd name="T8" fmla="*/ 258 w 517"/>
                <a:gd name="T9" fmla="*/ 0 h 517"/>
                <a:gd name="T10" fmla="*/ 258 w 517"/>
                <a:gd name="T11" fmla="*/ 511 h 517"/>
                <a:gd name="T12" fmla="*/ 5 w 517"/>
                <a:gd name="T13" fmla="*/ 258 h 517"/>
                <a:gd name="T14" fmla="*/ 258 w 517"/>
                <a:gd name="T15" fmla="*/ 6 h 517"/>
                <a:gd name="T16" fmla="*/ 511 w 517"/>
                <a:gd name="T17" fmla="*/ 258 h 517"/>
                <a:gd name="T18" fmla="*/ 258 w 517"/>
                <a:gd name="T19" fmla="*/ 511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" h="517">
                  <a:moveTo>
                    <a:pt x="258" y="0"/>
                  </a:moveTo>
                  <a:cubicBezTo>
                    <a:pt x="115" y="0"/>
                    <a:pt x="0" y="116"/>
                    <a:pt x="0" y="258"/>
                  </a:cubicBezTo>
                  <a:cubicBezTo>
                    <a:pt x="0" y="401"/>
                    <a:pt x="115" y="517"/>
                    <a:pt x="258" y="517"/>
                  </a:cubicBezTo>
                  <a:cubicBezTo>
                    <a:pt x="401" y="517"/>
                    <a:pt x="517" y="401"/>
                    <a:pt x="517" y="258"/>
                  </a:cubicBezTo>
                  <a:cubicBezTo>
                    <a:pt x="517" y="116"/>
                    <a:pt x="401" y="0"/>
                    <a:pt x="258" y="0"/>
                  </a:cubicBezTo>
                  <a:close/>
                  <a:moveTo>
                    <a:pt x="258" y="511"/>
                  </a:moveTo>
                  <a:cubicBezTo>
                    <a:pt x="119" y="511"/>
                    <a:pt x="5" y="398"/>
                    <a:pt x="5" y="258"/>
                  </a:cubicBezTo>
                  <a:cubicBezTo>
                    <a:pt x="5" y="119"/>
                    <a:pt x="119" y="6"/>
                    <a:pt x="258" y="6"/>
                  </a:cubicBezTo>
                  <a:cubicBezTo>
                    <a:pt x="398" y="6"/>
                    <a:pt x="511" y="119"/>
                    <a:pt x="511" y="258"/>
                  </a:cubicBezTo>
                  <a:cubicBezTo>
                    <a:pt x="511" y="398"/>
                    <a:pt x="398" y="511"/>
                    <a:pt x="258" y="51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2" name="ísliďè">
              <a:extLst>
                <a:ext uri="{FF2B5EF4-FFF2-40B4-BE49-F238E27FC236}">
                  <a16:creationId xmlns:a16="http://schemas.microsoft.com/office/drawing/2014/main" id="{2C4C12CE-7C7F-4659-8EA0-5AA1523635DE}"/>
                </a:ext>
              </a:extLst>
            </p:cNvPr>
            <p:cNvSpPr/>
            <p:nvPr/>
          </p:nvSpPr>
          <p:spPr bwMode="auto">
            <a:xfrm>
              <a:off x="2332038" y="2790826"/>
              <a:ext cx="1273175" cy="1279525"/>
            </a:xfrm>
            <a:custGeom>
              <a:avLst/>
              <a:gdLst>
                <a:gd name="T0" fmla="*/ 176 w 353"/>
                <a:gd name="T1" fmla="*/ 0 h 353"/>
                <a:gd name="T2" fmla="*/ 0 w 353"/>
                <a:gd name="T3" fmla="*/ 176 h 353"/>
                <a:gd name="T4" fmla="*/ 176 w 353"/>
                <a:gd name="T5" fmla="*/ 353 h 353"/>
                <a:gd name="T6" fmla="*/ 353 w 353"/>
                <a:gd name="T7" fmla="*/ 176 h 353"/>
                <a:gd name="T8" fmla="*/ 176 w 353"/>
                <a:gd name="T9" fmla="*/ 0 h 353"/>
                <a:gd name="T10" fmla="*/ 176 w 353"/>
                <a:gd name="T11" fmla="*/ 347 h 353"/>
                <a:gd name="T12" fmla="*/ 6 w 353"/>
                <a:gd name="T13" fmla="*/ 176 h 353"/>
                <a:gd name="T14" fmla="*/ 176 w 353"/>
                <a:gd name="T15" fmla="*/ 6 h 353"/>
                <a:gd name="T16" fmla="*/ 347 w 353"/>
                <a:gd name="T17" fmla="*/ 176 h 353"/>
                <a:gd name="T18" fmla="*/ 176 w 353"/>
                <a:gd name="T19" fmla="*/ 347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3" h="353">
                  <a:moveTo>
                    <a:pt x="176" y="0"/>
                  </a:moveTo>
                  <a:cubicBezTo>
                    <a:pt x="79" y="0"/>
                    <a:pt x="0" y="79"/>
                    <a:pt x="0" y="176"/>
                  </a:cubicBezTo>
                  <a:cubicBezTo>
                    <a:pt x="0" y="274"/>
                    <a:pt x="79" y="353"/>
                    <a:pt x="176" y="353"/>
                  </a:cubicBezTo>
                  <a:cubicBezTo>
                    <a:pt x="274" y="353"/>
                    <a:pt x="353" y="274"/>
                    <a:pt x="353" y="176"/>
                  </a:cubicBezTo>
                  <a:cubicBezTo>
                    <a:pt x="353" y="79"/>
                    <a:pt x="274" y="0"/>
                    <a:pt x="176" y="0"/>
                  </a:cubicBezTo>
                  <a:close/>
                  <a:moveTo>
                    <a:pt x="176" y="347"/>
                  </a:moveTo>
                  <a:cubicBezTo>
                    <a:pt x="82" y="347"/>
                    <a:pt x="6" y="271"/>
                    <a:pt x="6" y="176"/>
                  </a:cubicBezTo>
                  <a:cubicBezTo>
                    <a:pt x="6" y="82"/>
                    <a:pt x="82" y="6"/>
                    <a:pt x="176" y="6"/>
                  </a:cubicBezTo>
                  <a:cubicBezTo>
                    <a:pt x="270" y="6"/>
                    <a:pt x="347" y="82"/>
                    <a:pt x="347" y="176"/>
                  </a:cubicBezTo>
                  <a:cubicBezTo>
                    <a:pt x="347" y="271"/>
                    <a:pt x="270" y="347"/>
                    <a:pt x="176" y="34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3" name="ïsḷíḍé">
              <a:extLst>
                <a:ext uri="{FF2B5EF4-FFF2-40B4-BE49-F238E27FC236}">
                  <a16:creationId xmlns:a16="http://schemas.microsoft.com/office/drawing/2014/main" id="{0A008D82-9A5C-4C7F-92E1-205C76002CEF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65088"/>
            </a:xfrm>
            <a:custGeom>
              <a:avLst/>
              <a:gdLst>
                <a:gd name="T0" fmla="*/ 0 w 144"/>
                <a:gd name="T1" fmla="*/ 4 h 18"/>
                <a:gd name="T2" fmla="*/ 72 w 144"/>
                <a:gd name="T3" fmla="*/ 18 h 18"/>
                <a:gd name="T4" fmla="*/ 144 w 144"/>
                <a:gd name="T5" fmla="*/ 4 h 18"/>
                <a:gd name="T6" fmla="*/ 144 w 144"/>
                <a:gd name="T7" fmla="*/ 0 h 18"/>
                <a:gd name="T8" fmla="*/ 72 w 144"/>
                <a:gd name="T9" fmla="*/ 14 h 18"/>
                <a:gd name="T10" fmla="*/ 0 w 144"/>
                <a:gd name="T11" fmla="*/ 0 h 18"/>
                <a:gd name="T12" fmla="*/ 0 w 144"/>
                <a:gd name="T13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8">
                  <a:moveTo>
                    <a:pt x="0" y="4"/>
                  </a:moveTo>
                  <a:cubicBezTo>
                    <a:pt x="32" y="4"/>
                    <a:pt x="59" y="4"/>
                    <a:pt x="72" y="18"/>
                  </a:cubicBezTo>
                  <a:cubicBezTo>
                    <a:pt x="86" y="4"/>
                    <a:pt x="112" y="4"/>
                    <a:pt x="144" y="4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12" y="0"/>
                    <a:pt x="86" y="0"/>
                    <a:pt x="72" y="14"/>
                  </a:cubicBezTo>
                  <a:cubicBezTo>
                    <a:pt x="59" y="0"/>
                    <a:pt x="32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5" name="ïšlîḑê">
              <a:extLst>
                <a:ext uri="{FF2B5EF4-FFF2-40B4-BE49-F238E27FC236}">
                  <a16:creationId xmlns:a16="http://schemas.microsoft.com/office/drawing/2014/main" id="{8E54FE52-7C25-4436-8F28-FD1A9CD43B85}"/>
                </a:ext>
              </a:extLst>
            </p:cNvPr>
            <p:cNvSpPr/>
            <p:nvPr/>
          </p:nvSpPr>
          <p:spPr bwMode="auto">
            <a:xfrm>
              <a:off x="2706688" y="3146426"/>
              <a:ext cx="519113" cy="68263"/>
            </a:xfrm>
            <a:custGeom>
              <a:avLst/>
              <a:gdLst>
                <a:gd name="T0" fmla="*/ 0 w 144"/>
                <a:gd name="T1" fmla="*/ 0 h 19"/>
                <a:gd name="T2" fmla="*/ 72 w 144"/>
                <a:gd name="T3" fmla="*/ 14 h 19"/>
                <a:gd name="T4" fmla="*/ 144 w 144"/>
                <a:gd name="T5" fmla="*/ 0 h 19"/>
                <a:gd name="T6" fmla="*/ 144 w 144"/>
                <a:gd name="T7" fmla="*/ 6 h 19"/>
                <a:gd name="T8" fmla="*/ 72 w 144"/>
                <a:gd name="T9" fmla="*/ 19 h 19"/>
                <a:gd name="T10" fmla="*/ 0 w 144"/>
                <a:gd name="T11" fmla="*/ 6 h 19"/>
                <a:gd name="T12" fmla="*/ 0 w 144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9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6"/>
                    <a:pt x="144" y="6"/>
                    <a:pt x="144" y="6"/>
                  </a:cubicBezTo>
                  <a:cubicBezTo>
                    <a:pt x="112" y="6"/>
                    <a:pt x="86" y="5"/>
                    <a:pt x="72" y="19"/>
                  </a:cubicBezTo>
                  <a:cubicBezTo>
                    <a:pt x="59" y="5"/>
                    <a:pt x="32" y="6"/>
                    <a:pt x="0" y="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7" name="îṧḻîḓé">
              <a:extLst>
                <a:ext uri="{FF2B5EF4-FFF2-40B4-BE49-F238E27FC236}">
                  <a16:creationId xmlns:a16="http://schemas.microsoft.com/office/drawing/2014/main" id="{60871A67-9948-40EE-B00E-92FEBAB9C33F}"/>
                </a:ext>
              </a:extLst>
            </p:cNvPr>
            <p:cNvSpPr/>
            <p:nvPr/>
          </p:nvSpPr>
          <p:spPr bwMode="auto">
            <a:xfrm>
              <a:off x="2706688" y="3194051"/>
              <a:ext cx="519113" cy="76200"/>
            </a:xfrm>
            <a:custGeom>
              <a:avLst/>
              <a:gdLst>
                <a:gd name="T0" fmla="*/ 0 w 144"/>
                <a:gd name="T1" fmla="*/ 0 h 21"/>
                <a:gd name="T2" fmla="*/ 72 w 144"/>
                <a:gd name="T3" fmla="*/ 14 h 21"/>
                <a:gd name="T4" fmla="*/ 144 w 144"/>
                <a:gd name="T5" fmla="*/ 0 h 21"/>
                <a:gd name="T6" fmla="*/ 144 w 144"/>
                <a:gd name="T7" fmla="*/ 7 h 21"/>
                <a:gd name="T8" fmla="*/ 72 w 144"/>
                <a:gd name="T9" fmla="*/ 21 h 21"/>
                <a:gd name="T10" fmla="*/ 0 w 144"/>
                <a:gd name="T11" fmla="*/ 7 h 21"/>
                <a:gd name="T12" fmla="*/ 0 w 144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1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7"/>
                    <a:pt x="144" y="7"/>
                    <a:pt x="144" y="7"/>
                  </a:cubicBezTo>
                  <a:cubicBezTo>
                    <a:pt x="112" y="7"/>
                    <a:pt x="86" y="7"/>
                    <a:pt x="72" y="21"/>
                  </a:cubicBezTo>
                  <a:cubicBezTo>
                    <a:pt x="59" y="7"/>
                    <a:pt x="32" y="7"/>
                    <a:pt x="0" y="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9" name="iśļîḋê">
              <a:extLst>
                <a:ext uri="{FF2B5EF4-FFF2-40B4-BE49-F238E27FC236}">
                  <a16:creationId xmlns:a16="http://schemas.microsoft.com/office/drawing/2014/main" id="{0E5B1037-4321-4789-84B3-A4DE23D0003A}"/>
                </a:ext>
              </a:extLst>
            </p:cNvPr>
            <p:cNvSpPr/>
            <p:nvPr/>
          </p:nvSpPr>
          <p:spPr bwMode="auto">
            <a:xfrm>
              <a:off x="2706688" y="3236913"/>
              <a:ext cx="519113" cy="84138"/>
            </a:xfrm>
            <a:custGeom>
              <a:avLst/>
              <a:gdLst>
                <a:gd name="T0" fmla="*/ 0 w 144"/>
                <a:gd name="T1" fmla="*/ 1 h 23"/>
                <a:gd name="T2" fmla="*/ 72 w 144"/>
                <a:gd name="T3" fmla="*/ 14 h 23"/>
                <a:gd name="T4" fmla="*/ 144 w 144"/>
                <a:gd name="T5" fmla="*/ 1 h 23"/>
                <a:gd name="T6" fmla="*/ 144 w 144"/>
                <a:gd name="T7" fmla="*/ 9 h 23"/>
                <a:gd name="T8" fmla="*/ 72 w 144"/>
                <a:gd name="T9" fmla="*/ 23 h 23"/>
                <a:gd name="T10" fmla="*/ 0 w 144"/>
                <a:gd name="T11" fmla="*/ 9 h 23"/>
                <a:gd name="T12" fmla="*/ 0 w 144"/>
                <a:gd name="T13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3">
                  <a:moveTo>
                    <a:pt x="0" y="1"/>
                  </a:moveTo>
                  <a:cubicBezTo>
                    <a:pt x="32" y="1"/>
                    <a:pt x="59" y="0"/>
                    <a:pt x="72" y="14"/>
                  </a:cubicBezTo>
                  <a:cubicBezTo>
                    <a:pt x="86" y="0"/>
                    <a:pt x="112" y="1"/>
                    <a:pt x="144" y="1"/>
                  </a:cubicBezTo>
                  <a:cubicBezTo>
                    <a:pt x="144" y="9"/>
                    <a:pt x="144" y="9"/>
                    <a:pt x="144" y="9"/>
                  </a:cubicBezTo>
                  <a:cubicBezTo>
                    <a:pt x="112" y="9"/>
                    <a:pt x="86" y="9"/>
                    <a:pt x="72" y="23"/>
                  </a:cubicBezTo>
                  <a:cubicBezTo>
                    <a:pt x="59" y="9"/>
                    <a:pt x="32" y="9"/>
                    <a:pt x="0" y="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72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排版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732D65A4-43FB-4FF1-898F-C29DCB1992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678" y="368300"/>
            <a:ext cx="1885510" cy="434293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DFC62F6-2DFD-4084-AA3E-9A3FFEB2FD9A}"/>
              </a:ext>
            </a:extLst>
          </p:cNvPr>
          <p:cNvCxnSpPr/>
          <p:nvPr userDrawn="1"/>
        </p:nvCxnSpPr>
        <p:spPr>
          <a:xfrm>
            <a:off x="485775" y="858762"/>
            <a:ext cx="11220450" cy="0"/>
          </a:xfrm>
          <a:prstGeom prst="line">
            <a:avLst/>
          </a:prstGeom>
          <a:ln w="38100">
            <a:solidFill>
              <a:srgbClr val="9926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227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5788F9-2C1B-4ED7-83D6-CE9345B88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97F6D-FA34-49FA-872F-778AAEB988F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灯片编号占位符 6">
            <a:extLst>
              <a:ext uri="{FF2B5EF4-FFF2-40B4-BE49-F238E27FC236}">
                <a16:creationId xmlns:a16="http://schemas.microsoft.com/office/drawing/2014/main" id="{4B76C6D9-580E-489C-9EA8-3883FABF2BFE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797F6D-FA34-49FA-872F-778AAEB988F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111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40">
          <p15:clr>
            <a:srgbClr val="F26B43"/>
          </p15:clr>
        </p15:guide>
        <p15:guide id="4" pos="7240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3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5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73374AA3-77F8-4684-8EB9-8CEB2DCA3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1648" y="2778477"/>
            <a:ext cx="7198350" cy="705941"/>
          </a:xfrm>
          <a:prstGeom prst="rect">
            <a:avLst/>
          </a:prstGeom>
        </p:spPr>
        <p:txBody>
          <a:bodyPr/>
          <a:lstStyle/>
          <a:p>
            <a:r>
              <a:rPr lang="zh-CN" altLang="en-US" sz="5400" dirty="0"/>
              <a:t>离散数学</a:t>
            </a:r>
          </a:p>
        </p:txBody>
      </p:sp>
      <p:grpSp>
        <p:nvGrpSpPr>
          <p:cNvPr id="21" name="ab742894-b611-4118-8065-b69e992411d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E1E1BD5E-876F-DCEE-3C7D-2ED5C9138BF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326643" y="955675"/>
            <a:ext cx="1538714" cy="1545269"/>
            <a:chOff x="2035175" y="2493963"/>
            <a:chExt cx="1865313" cy="1873250"/>
          </a:xfrm>
        </p:grpSpPr>
        <p:sp>
          <p:nvSpPr>
            <p:cNvPr id="70" name="iśļîḋè">
              <a:extLst>
                <a:ext uri="{FF2B5EF4-FFF2-40B4-BE49-F238E27FC236}">
                  <a16:creationId xmlns:a16="http://schemas.microsoft.com/office/drawing/2014/main" id="{3B4776B5-BB4B-0FC2-C039-8390026A00FF}"/>
                </a:ext>
              </a:extLst>
            </p:cNvPr>
            <p:cNvSpPr/>
            <p:nvPr/>
          </p:nvSpPr>
          <p:spPr bwMode="auto">
            <a:xfrm>
              <a:off x="2927350" y="3657601"/>
              <a:ext cx="14288" cy="22225"/>
            </a:xfrm>
            <a:custGeom>
              <a:avLst/>
              <a:gdLst>
                <a:gd name="T0" fmla="*/ 2 w 4"/>
                <a:gd name="T1" fmla="*/ 0 h 6"/>
                <a:gd name="T2" fmla="*/ 0 w 4"/>
                <a:gd name="T3" fmla="*/ 3 h 6"/>
                <a:gd name="T4" fmla="*/ 2 w 4"/>
                <a:gd name="T5" fmla="*/ 6 h 6"/>
                <a:gd name="T6" fmla="*/ 4 w 4"/>
                <a:gd name="T7" fmla="*/ 5 h 6"/>
                <a:gd name="T8" fmla="*/ 4 w 4"/>
                <a:gd name="T9" fmla="*/ 4 h 6"/>
                <a:gd name="T10" fmla="*/ 2 w 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3" y="6"/>
                    <a:pt x="4" y="5"/>
                    <a:pt x="4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2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1" name="iṣliḓê">
              <a:extLst>
                <a:ext uri="{FF2B5EF4-FFF2-40B4-BE49-F238E27FC236}">
                  <a16:creationId xmlns:a16="http://schemas.microsoft.com/office/drawing/2014/main" id="{B42DF907-DECD-263E-1B3A-0C655820F95C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703263"/>
            </a:xfrm>
            <a:custGeom>
              <a:avLst/>
              <a:gdLst>
                <a:gd name="T0" fmla="*/ 46 w 144"/>
                <a:gd name="T1" fmla="*/ 167 h 194"/>
                <a:gd name="T2" fmla="*/ 46 w 144"/>
                <a:gd name="T3" fmla="*/ 155 h 194"/>
                <a:gd name="T4" fmla="*/ 42 w 144"/>
                <a:gd name="T5" fmla="*/ 154 h 194"/>
                <a:gd name="T6" fmla="*/ 49 w 144"/>
                <a:gd name="T7" fmla="*/ 152 h 194"/>
                <a:gd name="T8" fmla="*/ 59 w 144"/>
                <a:gd name="T9" fmla="*/ 167 h 194"/>
                <a:gd name="T10" fmla="*/ 61 w 144"/>
                <a:gd name="T11" fmla="*/ 165 h 194"/>
                <a:gd name="T12" fmla="*/ 65 w 144"/>
                <a:gd name="T13" fmla="*/ 161 h 194"/>
                <a:gd name="T14" fmla="*/ 58 w 144"/>
                <a:gd name="T15" fmla="*/ 157 h 194"/>
                <a:gd name="T16" fmla="*/ 69 w 144"/>
                <a:gd name="T17" fmla="*/ 158 h 194"/>
                <a:gd name="T18" fmla="*/ 79 w 144"/>
                <a:gd name="T19" fmla="*/ 167 h 194"/>
                <a:gd name="T20" fmla="*/ 76 w 144"/>
                <a:gd name="T21" fmla="*/ 164 h 194"/>
                <a:gd name="T22" fmla="*/ 82 w 144"/>
                <a:gd name="T23" fmla="*/ 162 h 194"/>
                <a:gd name="T24" fmla="*/ 77 w 144"/>
                <a:gd name="T25" fmla="*/ 160 h 194"/>
                <a:gd name="T26" fmla="*/ 85 w 144"/>
                <a:gd name="T27" fmla="*/ 152 h 194"/>
                <a:gd name="T28" fmla="*/ 80 w 144"/>
                <a:gd name="T29" fmla="*/ 155 h 194"/>
                <a:gd name="T30" fmla="*/ 80 w 144"/>
                <a:gd name="T31" fmla="*/ 157 h 194"/>
                <a:gd name="T32" fmla="*/ 79 w 144"/>
                <a:gd name="T33" fmla="*/ 167 h 194"/>
                <a:gd name="T34" fmla="*/ 92 w 144"/>
                <a:gd name="T35" fmla="*/ 166 h 194"/>
                <a:gd name="T36" fmla="*/ 96 w 144"/>
                <a:gd name="T37" fmla="*/ 165 h 194"/>
                <a:gd name="T38" fmla="*/ 96 w 144"/>
                <a:gd name="T39" fmla="*/ 160 h 194"/>
                <a:gd name="T40" fmla="*/ 95 w 144"/>
                <a:gd name="T41" fmla="*/ 158 h 194"/>
                <a:gd name="T42" fmla="*/ 99 w 144"/>
                <a:gd name="T43" fmla="*/ 156 h 194"/>
                <a:gd name="T44" fmla="*/ 93 w 144"/>
                <a:gd name="T45" fmla="*/ 155 h 194"/>
                <a:gd name="T46" fmla="*/ 97 w 144"/>
                <a:gd name="T47" fmla="*/ 152 h 194"/>
                <a:gd name="T48" fmla="*/ 99 w 144"/>
                <a:gd name="T49" fmla="*/ 159 h 194"/>
                <a:gd name="T50" fmla="*/ 102 w 144"/>
                <a:gd name="T51" fmla="*/ 163 h 194"/>
                <a:gd name="T52" fmla="*/ 139 w 144"/>
                <a:gd name="T53" fmla="*/ 2 h 194"/>
                <a:gd name="T54" fmla="*/ 136 w 144"/>
                <a:gd name="T55" fmla="*/ 132 h 194"/>
                <a:gd name="T56" fmla="*/ 12 w 144"/>
                <a:gd name="T57" fmla="*/ 141 h 194"/>
                <a:gd name="T58" fmla="*/ 6 w 144"/>
                <a:gd name="T59" fmla="*/ 115 h 194"/>
                <a:gd name="T60" fmla="*/ 0 w 144"/>
                <a:gd name="T61" fmla="*/ 0 h 194"/>
                <a:gd name="T62" fmla="*/ 2 w 144"/>
                <a:gd name="T63" fmla="*/ 130 h 194"/>
                <a:gd name="T64" fmla="*/ 6 w 144"/>
                <a:gd name="T65" fmla="*/ 141 h 194"/>
                <a:gd name="T66" fmla="*/ 7 w 144"/>
                <a:gd name="T67" fmla="*/ 144 h 194"/>
                <a:gd name="T68" fmla="*/ 9 w 144"/>
                <a:gd name="T69" fmla="*/ 147 h 194"/>
                <a:gd name="T70" fmla="*/ 11 w 144"/>
                <a:gd name="T71" fmla="*/ 151 h 194"/>
                <a:gd name="T72" fmla="*/ 12 w 144"/>
                <a:gd name="T73" fmla="*/ 154 h 194"/>
                <a:gd name="T74" fmla="*/ 15 w 144"/>
                <a:gd name="T75" fmla="*/ 157 h 194"/>
                <a:gd name="T76" fmla="*/ 17 w 144"/>
                <a:gd name="T77" fmla="*/ 160 h 194"/>
                <a:gd name="T78" fmla="*/ 19 w 144"/>
                <a:gd name="T79" fmla="*/ 163 h 194"/>
                <a:gd name="T80" fmla="*/ 22 w 144"/>
                <a:gd name="T81" fmla="*/ 166 h 194"/>
                <a:gd name="T82" fmla="*/ 123 w 144"/>
                <a:gd name="T83" fmla="*/ 166 h 194"/>
                <a:gd name="T84" fmla="*/ 125 w 144"/>
                <a:gd name="T85" fmla="*/ 163 h 194"/>
                <a:gd name="T86" fmla="*/ 127 w 144"/>
                <a:gd name="T87" fmla="*/ 160 h 194"/>
                <a:gd name="T88" fmla="*/ 130 w 144"/>
                <a:gd name="T89" fmla="*/ 157 h 194"/>
                <a:gd name="T90" fmla="*/ 132 w 144"/>
                <a:gd name="T91" fmla="*/ 154 h 194"/>
                <a:gd name="T92" fmla="*/ 134 w 144"/>
                <a:gd name="T93" fmla="*/ 151 h 194"/>
                <a:gd name="T94" fmla="*/ 136 w 144"/>
                <a:gd name="T95" fmla="*/ 147 h 194"/>
                <a:gd name="T96" fmla="*/ 137 w 144"/>
                <a:gd name="T97" fmla="*/ 144 h 194"/>
                <a:gd name="T98" fmla="*/ 144 w 144"/>
                <a:gd name="T99" fmla="*/ 114 h 194"/>
                <a:gd name="T100" fmla="*/ 139 w 144"/>
                <a:gd name="T101" fmla="*/ 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4" h="194">
                  <a:moveTo>
                    <a:pt x="49" y="167"/>
                  </a:moveTo>
                  <a:cubicBezTo>
                    <a:pt x="46" y="167"/>
                    <a:pt x="46" y="167"/>
                    <a:pt x="46" y="167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3" y="156"/>
                    <a:pt x="43" y="156"/>
                    <a:pt x="43" y="156"/>
                  </a:cubicBezTo>
                  <a:cubicBezTo>
                    <a:pt x="42" y="154"/>
                    <a:pt x="42" y="154"/>
                    <a:pt x="42" y="154"/>
                  </a:cubicBezTo>
                  <a:cubicBezTo>
                    <a:pt x="46" y="152"/>
                    <a:pt x="46" y="152"/>
                    <a:pt x="46" y="152"/>
                  </a:cubicBezTo>
                  <a:cubicBezTo>
                    <a:pt x="49" y="152"/>
                    <a:pt x="49" y="152"/>
                    <a:pt x="49" y="152"/>
                  </a:cubicBezTo>
                  <a:lnTo>
                    <a:pt x="49" y="167"/>
                  </a:lnTo>
                  <a:close/>
                  <a:moveTo>
                    <a:pt x="59" y="167"/>
                  </a:moveTo>
                  <a:cubicBezTo>
                    <a:pt x="59" y="165"/>
                    <a:pt x="59" y="165"/>
                    <a:pt x="59" y="165"/>
                  </a:cubicBezTo>
                  <a:cubicBezTo>
                    <a:pt x="60" y="165"/>
                    <a:pt x="60" y="165"/>
                    <a:pt x="61" y="165"/>
                  </a:cubicBezTo>
                  <a:cubicBezTo>
                    <a:pt x="63" y="165"/>
                    <a:pt x="65" y="163"/>
                    <a:pt x="65" y="161"/>
                  </a:cubicBezTo>
                  <a:cubicBezTo>
                    <a:pt x="65" y="161"/>
                    <a:pt x="65" y="161"/>
                    <a:pt x="65" y="161"/>
                  </a:cubicBezTo>
                  <a:cubicBezTo>
                    <a:pt x="65" y="161"/>
                    <a:pt x="64" y="162"/>
                    <a:pt x="62" y="162"/>
                  </a:cubicBezTo>
                  <a:cubicBezTo>
                    <a:pt x="60" y="162"/>
                    <a:pt x="58" y="160"/>
                    <a:pt x="58" y="157"/>
                  </a:cubicBezTo>
                  <a:cubicBezTo>
                    <a:pt x="58" y="155"/>
                    <a:pt x="60" y="152"/>
                    <a:pt x="63" y="152"/>
                  </a:cubicBezTo>
                  <a:cubicBezTo>
                    <a:pt x="67" y="152"/>
                    <a:pt x="69" y="155"/>
                    <a:pt x="69" y="158"/>
                  </a:cubicBezTo>
                  <a:cubicBezTo>
                    <a:pt x="69" y="163"/>
                    <a:pt x="66" y="167"/>
                    <a:pt x="59" y="167"/>
                  </a:cubicBezTo>
                  <a:close/>
                  <a:moveTo>
                    <a:pt x="79" y="167"/>
                  </a:moveTo>
                  <a:cubicBezTo>
                    <a:pt x="78" y="167"/>
                    <a:pt x="76" y="167"/>
                    <a:pt x="76" y="166"/>
                  </a:cubicBezTo>
                  <a:cubicBezTo>
                    <a:pt x="76" y="164"/>
                    <a:pt x="76" y="164"/>
                    <a:pt x="76" y="164"/>
                  </a:cubicBezTo>
                  <a:cubicBezTo>
                    <a:pt x="77" y="165"/>
                    <a:pt x="78" y="165"/>
                    <a:pt x="79" y="165"/>
                  </a:cubicBezTo>
                  <a:cubicBezTo>
                    <a:pt x="81" y="165"/>
                    <a:pt x="82" y="164"/>
                    <a:pt x="82" y="162"/>
                  </a:cubicBezTo>
                  <a:cubicBezTo>
                    <a:pt x="82" y="161"/>
                    <a:pt x="81" y="160"/>
                    <a:pt x="78" y="160"/>
                  </a:cubicBezTo>
                  <a:cubicBezTo>
                    <a:pt x="78" y="160"/>
                    <a:pt x="77" y="160"/>
                    <a:pt x="77" y="160"/>
                  </a:cubicBezTo>
                  <a:cubicBezTo>
                    <a:pt x="77" y="152"/>
                    <a:pt x="77" y="152"/>
                    <a:pt x="77" y="152"/>
                  </a:cubicBezTo>
                  <a:cubicBezTo>
                    <a:pt x="85" y="152"/>
                    <a:pt x="85" y="152"/>
                    <a:pt x="85" y="152"/>
                  </a:cubicBezTo>
                  <a:cubicBezTo>
                    <a:pt x="85" y="155"/>
                    <a:pt x="85" y="155"/>
                    <a:pt x="85" y="155"/>
                  </a:cubicBezTo>
                  <a:cubicBezTo>
                    <a:pt x="80" y="155"/>
                    <a:pt x="80" y="155"/>
                    <a:pt x="80" y="155"/>
                  </a:cubicBezTo>
                  <a:cubicBezTo>
                    <a:pt x="79" y="158"/>
                    <a:pt x="79" y="158"/>
                    <a:pt x="79" y="158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3" y="157"/>
                    <a:pt x="86" y="159"/>
                    <a:pt x="86" y="162"/>
                  </a:cubicBezTo>
                  <a:cubicBezTo>
                    <a:pt x="86" y="165"/>
                    <a:pt x="83" y="167"/>
                    <a:pt x="79" y="167"/>
                  </a:cubicBezTo>
                  <a:close/>
                  <a:moveTo>
                    <a:pt x="96" y="167"/>
                  </a:moveTo>
                  <a:cubicBezTo>
                    <a:pt x="95" y="167"/>
                    <a:pt x="93" y="167"/>
                    <a:pt x="92" y="166"/>
                  </a:cubicBezTo>
                  <a:cubicBezTo>
                    <a:pt x="93" y="164"/>
                    <a:pt x="93" y="164"/>
                    <a:pt x="93" y="164"/>
                  </a:cubicBezTo>
                  <a:cubicBezTo>
                    <a:pt x="94" y="164"/>
                    <a:pt x="95" y="165"/>
                    <a:pt x="96" y="165"/>
                  </a:cubicBezTo>
                  <a:cubicBezTo>
                    <a:pt x="98" y="165"/>
                    <a:pt x="99" y="164"/>
                    <a:pt x="99" y="163"/>
                  </a:cubicBezTo>
                  <a:cubicBezTo>
                    <a:pt x="99" y="161"/>
                    <a:pt x="97" y="160"/>
                    <a:pt x="96" y="160"/>
                  </a:cubicBezTo>
                  <a:cubicBezTo>
                    <a:pt x="95" y="160"/>
                    <a:pt x="95" y="160"/>
                    <a:pt x="95" y="160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6" y="158"/>
                    <a:pt x="96" y="158"/>
                    <a:pt x="96" y="158"/>
                  </a:cubicBezTo>
                  <a:cubicBezTo>
                    <a:pt x="97" y="158"/>
                    <a:pt x="99" y="158"/>
                    <a:pt x="99" y="156"/>
                  </a:cubicBezTo>
                  <a:cubicBezTo>
                    <a:pt x="99" y="155"/>
                    <a:pt x="98" y="154"/>
                    <a:pt x="96" y="154"/>
                  </a:cubicBezTo>
                  <a:cubicBezTo>
                    <a:pt x="95" y="154"/>
                    <a:pt x="94" y="155"/>
                    <a:pt x="93" y="155"/>
                  </a:cubicBezTo>
                  <a:cubicBezTo>
                    <a:pt x="93" y="153"/>
                    <a:pt x="93" y="153"/>
                    <a:pt x="93" y="153"/>
                  </a:cubicBezTo>
                  <a:cubicBezTo>
                    <a:pt x="94" y="153"/>
                    <a:pt x="95" y="152"/>
                    <a:pt x="97" y="152"/>
                  </a:cubicBezTo>
                  <a:cubicBezTo>
                    <a:pt x="100" y="152"/>
                    <a:pt x="102" y="154"/>
                    <a:pt x="102" y="156"/>
                  </a:cubicBezTo>
                  <a:cubicBezTo>
                    <a:pt x="102" y="157"/>
                    <a:pt x="101" y="158"/>
                    <a:pt x="99" y="159"/>
                  </a:cubicBezTo>
                  <a:cubicBezTo>
                    <a:pt x="99" y="159"/>
                    <a:pt x="99" y="159"/>
                    <a:pt x="99" y="159"/>
                  </a:cubicBezTo>
                  <a:cubicBezTo>
                    <a:pt x="101" y="159"/>
                    <a:pt x="102" y="161"/>
                    <a:pt x="102" y="163"/>
                  </a:cubicBezTo>
                  <a:cubicBezTo>
                    <a:pt x="102" y="165"/>
                    <a:pt x="100" y="167"/>
                    <a:pt x="96" y="167"/>
                  </a:cubicBezTo>
                  <a:close/>
                  <a:moveTo>
                    <a:pt x="139" y="2"/>
                  </a:moveTo>
                  <a:cubicBezTo>
                    <a:pt x="139" y="30"/>
                    <a:pt x="139" y="113"/>
                    <a:pt x="139" y="115"/>
                  </a:cubicBezTo>
                  <a:cubicBezTo>
                    <a:pt x="138" y="118"/>
                    <a:pt x="138" y="124"/>
                    <a:pt x="136" y="132"/>
                  </a:cubicBezTo>
                  <a:cubicBezTo>
                    <a:pt x="135" y="135"/>
                    <a:pt x="134" y="138"/>
                    <a:pt x="132" y="141"/>
                  </a:cubicBezTo>
                  <a:cubicBezTo>
                    <a:pt x="12" y="141"/>
                    <a:pt x="12" y="141"/>
                    <a:pt x="12" y="141"/>
                  </a:cubicBezTo>
                  <a:cubicBezTo>
                    <a:pt x="11" y="138"/>
                    <a:pt x="9" y="135"/>
                    <a:pt x="9" y="132"/>
                  </a:cubicBezTo>
                  <a:cubicBezTo>
                    <a:pt x="6" y="124"/>
                    <a:pt x="6" y="118"/>
                    <a:pt x="6" y="115"/>
                  </a:cubicBezTo>
                  <a:cubicBezTo>
                    <a:pt x="6" y="113"/>
                    <a:pt x="6" y="30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10"/>
                    <a:pt x="0" y="114"/>
                  </a:cubicBezTo>
                  <a:cubicBezTo>
                    <a:pt x="0" y="118"/>
                    <a:pt x="1" y="123"/>
                    <a:pt x="2" y="130"/>
                  </a:cubicBezTo>
                  <a:cubicBezTo>
                    <a:pt x="3" y="133"/>
                    <a:pt x="4" y="137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2"/>
                    <a:pt x="7" y="143"/>
                    <a:pt x="7" y="144"/>
                  </a:cubicBezTo>
                  <a:cubicBezTo>
                    <a:pt x="7" y="144"/>
                    <a:pt x="7" y="144"/>
                    <a:pt x="7" y="145"/>
                  </a:cubicBezTo>
                  <a:cubicBezTo>
                    <a:pt x="8" y="145"/>
                    <a:pt x="8" y="146"/>
                    <a:pt x="9" y="147"/>
                  </a:cubicBezTo>
                  <a:cubicBezTo>
                    <a:pt x="9" y="147"/>
                    <a:pt x="9" y="147"/>
                    <a:pt x="9" y="148"/>
                  </a:cubicBezTo>
                  <a:cubicBezTo>
                    <a:pt x="9" y="149"/>
                    <a:pt x="10" y="150"/>
                    <a:pt x="11" y="151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11" y="152"/>
                    <a:pt x="12" y="153"/>
                    <a:pt x="12" y="154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13" y="155"/>
                    <a:pt x="14" y="156"/>
                    <a:pt x="15" y="157"/>
                  </a:cubicBezTo>
                  <a:cubicBezTo>
                    <a:pt x="15" y="157"/>
                    <a:pt x="15" y="157"/>
                    <a:pt x="15" y="157"/>
                  </a:cubicBezTo>
                  <a:cubicBezTo>
                    <a:pt x="16" y="158"/>
                    <a:pt x="16" y="159"/>
                    <a:pt x="17" y="160"/>
                  </a:cubicBezTo>
                  <a:cubicBezTo>
                    <a:pt x="17" y="160"/>
                    <a:pt x="17" y="160"/>
                    <a:pt x="17" y="161"/>
                  </a:cubicBezTo>
                  <a:cubicBezTo>
                    <a:pt x="18" y="161"/>
                    <a:pt x="18" y="162"/>
                    <a:pt x="19" y="163"/>
                  </a:cubicBezTo>
                  <a:cubicBezTo>
                    <a:pt x="19" y="163"/>
                    <a:pt x="19" y="163"/>
                    <a:pt x="20" y="163"/>
                  </a:cubicBezTo>
                  <a:cubicBezTo>
                    <a:pt x="20" y="164"/>
                    <a:pt x="21" y="165"/>
                    <a:pt x="22" y="166"/>
                  </a:cubicBezTo>
                  <a:cubicBezTo>
                    <a:pt x="37" y="182"/>
                    <a:pt x="58" y="189"/>
                    <a:pt x="72" y="194"/>
                  </a:cubicBezTo>
                  <a:cubicBezTo>
                    <a:pt x="86" y="189"/>
                    <a:pt x="108" y="182"/>
                    <a:pt x="123" y="166"/>
                  </a:cubicBezTo>
                  <a:cubicBezTo>
                    <a:pt x="123" y="165"/>
                    <a:pt x="124" y="164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6" y="162"/>
                    <a:pt x="126" y="161"/>
                    <a:pt x="127" y="161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9"/>
                    <a:pt x="129" y="158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0" y="156"/>
                    <a:pt x="131" y="155"/>
                    <a:pt x="131" y="154"/>
                  </a:cubicBezTo>
                  <a:cubicBezTo>
                    <a:pt x="132" y="154"/>
                    <a:pt x="132" y="154"/>
                    <a:pt x="132" y="154"/>
                  </a:cubicBezTo>
                  <a:cubicBezTo>
                    <a:pt x="132" y="153"/>
                    <a:pt x="133" y="152"/>
                    <a:pt x="133" y="151"/>
                  </a:cubicBezTo>
                  <a:cubicBezTo>
                    <a:pt x="134" y="151"/>
                    <a:pt x="134" y="151"/>
                    <a:pt x="134" y="151"/>
                  </a:cubicBezTo>
                  <a:cubicBezTo>
                    <a:pt x="134" y="150"/>
                    <a:pt x="135" y="149"/>
                    <a:pt x="135" y="148"/>
                  </a:cubicBezTo>
                  <a:cubicBezTo>
                    <a:pt x="136" y="147"/>
                    <a:pt x="136" y="147"/>
                    <a:pt x="136" y="147"/>
                  </a:cubicBezTo>
                  <a:cubicBezTo>
                    <a:pt x="136" y="146"/>
                    <a:pt x="137" y="145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40" y="139"/>
                    <a:pt x="142" y="134"/>
                    <a:pt x="143" y="130"/>
                  </a:cubicBezTo>
                  <a:cubicBezTo>
                    <a:pt x="144" y="123"/>
                    <a:pt x="144" y="118"/>
                    <a:pt x="144" y="114"/>
                  </a:cubicBezTo>
                  <a:cubicBezTo>
                    <a:pt x="144" y="110"/>
                    <a:pt x="144" y="0"/>
                    <a:pt x="144" y="0"/>
                  </a:cubicBezTo>
                  <a:lnTo>
                    <a:pt x="139" y="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2" name="íṡľiḍê">
              <a:extLst>
                <a:ext uri="{FF2B5EF4-FFF2-40B4-BE49-F238E27FC236}">
                  <a16:creationId xmlns:a16="http://schemas.microsoft.com/office/drawing/2014/main" id="{AF9AED17-A860-2124-6851-B91A2406345C}"/>
                </a:ext>
              </a:extLst>
            </p:cNvPr>
            <p:cNvSpPr/>
            <p:nvPr/>
          </p:nvSpPr>
          <p:spPr bwMode="auto">
            <a:xfrm>
              <a:off x="2395538" y="2917826"/>
              <a:ext cx="1141413" cy="1050925"/>
            </a:xfrm>
            <a:custGeom>
              <a:avLst/>
              <a:gdLst>
                <a:gd name="T0" fmla="*/ 300 w 316"/>
                <a:gd name="T1" fmla="*/ 173 h 290"/>
                <a:gd name="T2" fmla="*/ 294 w 316"/>
                <a:gd name="T3" fmla="*/ 163 h 290"/>
                <a:gd name="T4" fmla="*/ 299 w 316"/>
                <a:gd name="T5" fmla="*/ 78 h 290"/>
                <a:gd name="T6" fmla="*/ 285 w 316"/>
                <a:gd name="T7" fmla="*/ 84 h 290"/>
                <a:gd name="T8" fmla="*/ 248 w 316"/>
                <a:gd name="T9" fmla="*/ 17 h 290"/>
                <a:gd name="T10" fmla="*/ 233 w 316"/>
                <a:gd name="T11" fmla="*/ 15 h 290"/>
                <a:gd name="T12" fmla="*/ 233 w 316"/>
                <a:gd name="T13" fmla="*/ 33 h 290"/>
                <a:gd name="T14" fmla="*/ 242 w 316"/>
                <a:gd name="T15" fmla="*/ 45 h 290"/>
                <a:gd name="T16" fmla="*/ 278 w 316"/>
                <a:gd name="T17" fmla="*/ 88 h 290"/>
                <a:gd name="T18" fmla="*/ 276 w 316"/>
                <a:gd name="T19" fmla="*/ 93 h 290"/>
                <a:gd name="T20" fmla="*/ 286 w 316"/>
                <a:gd name="T21" fmla="*/ 156 h 290"/>
                <a:gd name="T22" fmla="*/ 278 w 316"/>
                <a:gd name="T23" fmla="*/ 170 h 290"/>
                <a:gd name="T24" fmla="*/ 269 w 316"/>
                <a:gd name="T25" fmla="*/ 179 h 290"/>
                <a:gd name="T26" fmla="*/ 254 w 316"/>
                <a:gd name="T27" fmla="*/ 230 h 290"/>
                <a:gd name="T28" fmla="*/ 246 w 316"/>
                <a:gd name="T29" fmla="*/ 219 h 290"/>
                <a:gd name="T30" fmla="*/ 169 w 316"/>
                <a:gd name="T31" fmla="*/ 262 h 290"/>
                <a:gd name="T32" fmla="*/ 147 w 316"/>
                <a:gd name="T33" fmla="*/ 262 h 290"/>
                <a:gd name="T34" fmla="*/ 70 w 316"/>
                <a:gd name="T35" fmla="*/ 219 h 290"/>
                <a:gd name="T36" fmla="*/ 62 w 316"/>
                <a:gd name="T37" fmla="*/ 230 h 290"/>
                <a:gd name="T38" fmla="*/ 48 w 316"/>
                <a:gd name="T39" fmla="*/ 179 h 290"/>
                <a:gd name="T40" fmla="*/ 38 w 316"/>
                <a:gd name="T41" fmla="*/ 170 h 290"/>
                <a:gd name="T42" fmla="*/ 30 w 316"/>
                <a:gd name="T43" fmla="*/ 156 h 290"/>
                <a:gd name="T44" fmla="*/ 41 w 316"/>
                <a:gd name="T45" fmla="*/ 93 h 290"/>
                <a:gd name="T46" fmla="*/ 38 w 316"/>
                <a:gd name="T47" fmla="*/ 88 h 290"/>
                <a:gd name="T48" fmla="*/ 75 w 316"/>
                <a:gd name="T49" fmla="*/ 45 h 290"/>
                <a:gd name="T50" fmla="*/ 84 w 316"/>
                <a:gd name="T51" fmla="*/ 33 h 290"/>
                <a:gd name="T52" fmla="*/ 83 w 316"/>
                <a:gd name="T53" fmla="*/ 15 h 290"/>
                <a:gd name="T54" fmla="*/ 68 w 316"/>
                <a:gd name="T55" fmla="*/ 17 h 290"/>
                <a:gd name="T56" fmla="*/ 31 w 316"/>
                <a:gd name="T57" fmla="*/ 84 h 290"/>
                <a:gd name="T58" fmla="*/ 17 w 316"/>
                <a:gd name="T59" fmla="*/ 78 h 290"/>
                <a:gd name="T60" fmla="*/ 23 w 316"/>
                <a:gd name="T61" fmla="*/ 163 h 290"/>
                <a:gd name="T62" fmla="*/ 16 w 316"/>
                <a:gd name="T63" fmla="*/ 173 h 290"/>
                <a:gd name="T64" fmla="*/ 14 w 316"/>
                <a:gd name="T65" fmla="*/ 182 h 290"/>
                <a:gd name="T66" fmla="*/ 93 w 316"/>
                <a:gd name="T67" fmla="*/ 253 h 290"/>
                <a:gd name="T68" fmla="*/ 72 w 316"/>
                <a:gd name="T69" fmla="*/ 258 h 290"/>
                <a:gd name="T70" fmla="*/ 134 w 316"/>
                <a:gd name="T71" fmla="*/ 265 h 290"/>
                <a:gd name="T72" fmla="*/ 138 w 316"/>
                <a:gd name="T73" fmla="*/ 272 h 290"/>
                <a:gd name="T74" fmla="*/ 131 w 316"/>
                <a:gd name="T75" fmla="*/ 290 h 290"/>
                <a:gd name="T76" fmla="*/ 158 w 316"/>
                <a:gd name="T77" fmla="*/ 272 h 290"/>
                <a:gd name="T78" fmla="*/ 186 w 316"/>
                <a:gd name="T79" fmla="*/ 290 h 290"/>
                <a:gd name="T80" fmla="*/ 178 w 316"/>
                <a:gd name="T81" fmla="*/ 272 h 290"/>
                <a:gd name="T82" fmla="*/ 182 w 316"/>
                <a:gd name="T83" fmla="*/ 265 h 290"/>
                <a:gd name="T84" fmla="*/ 244 w 316"/>
                <a:gd name="T85" fmla="*/ 258 h 290"/>
                <a:gd name="T86" fmla="*/ 223 w 316"/>
                <a:gd name="T87" fmla="*/ 253 h 290"/>
                <a:gd name="T88" fmla="*/ 302 w 316"/>
                <a:gd name="T89" fmla="*/ 182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6" h="290">
                  <a:moveTo>
                    <a:pt x="276" y="216"/>
                  </a:moveTo>
                  <a:cubicBezTo>
                    <a:pt x="282" y="191"/>
                    <a:pt x="289" y="190"/>
                    <a:pt x="300" y="173"/>
                  </a:cubicBezTo>
                  <a:cubicBezTo>
                    <a:pt x="310" y="157"/>
                    <a:pt x="316" y="126"/>
                    <a:pt x="305" y="115"/>
                  </a:cubicBezTo>
                  <a:cubicBezTo>
                    <a:pt x="304" y="138"/>
                    <a:pt x="296" y="143"/>
                    <a:pt x="294" y="163"/>
                  </a:cubicBezTo>
                  <a:cubicBezTo>
                    <a:pt x="292" y="147"/>
                    <a:pt x="292" y="137"/>
                    <a:pt x="295" y="126"/>
                  </a:cubicBezTo>
                  <a:cubicBezTo>
                    <a:pt x="298" y="117"/>
                    <a:pt x="302" y="95"/>
                    <a:pt x="299" y="78"/>
                  </a:cubicBezTo>
                  <a:cubicBezTo>
                    <a:pt x="297" y="66"/>
                    <a:pt x="291" y="61"/>
                    <a:pt x="284" y="58"/>
                  </a:cubicBezTo>
                  <a:cubicBezTo>
                    <a:pt x="288" y="72"/>
                    <a:pt x="285" y="84"/>
                    <a:pt x="285" y="84"/>
                  </a:cubicBezTo>
                  <a:cubicBezTo>
                    <a:pt x="285" y="84"/>
                    <a:pt x="277" y="75"/>
                    <a:pt x="274" y="52"/>
                  </a:cubicBezTo>
                  <a:cubicBezTo>
                    <a:pt x="271" y="29"/>
                    <a:pt x="256" y="18"/>
                    <a:pt x="248" y="17"/>
                  </a:cubicBezTo>
                  <a:cubicBezTo>
                    <a:pt x="255" y="29"/>
                    <a:pt x="255" y="33"/>
                    <a:pt x="257" y="44"/>
                  </a:cubicBezTo>
                  <a:cubicBezTo>
                    <a:pt x="250" y="40"/>
                    <a:pt x="245" y="26"/>
                    <a:pt x="233" y="15"/>
                  </a:cubicBezTo>
                  <a:cubicBezTo>
                    <a:pt x="216" y="0"/>
                    <a:pt x="203" y="0"/>
                    <a:pt x="195" y="7"/>
                  </a:cubicBezTo>
                  <a:cubicBezTo>
                    <a:pt x="218" y="16"/>
                    <a:pt x="214" y="18"/>
                    <a:pt x="233" y="33"/>
                  </a:cubicBezTo>
                  <a:cubicBezTo>
                    <a:pt x="251" y="45"/>
                    <a:pt x="259" y="46"/>
                    <a:pt x="264" y="62"/>
                  </a:cubicBezTo>
                  <a:cubicBezTo>
                    <a:pt x="256" y="54"/>
                    <a:pt x="251" y="49"/>
                    <a:pt x="242" y="45"/>
                  </a:cubicBezTo>
                  <a:cubicBezTo>
                    <a:pt x="239" y="50"/>
                    <a:pt x="243" y="60"/>
                    <a:pt x="257" y="71"/>
                  </a:cubicBezTo>
                  <a:cubicBezTo>
                    <a:pt x="267" y="82"/>
                    <a:pt x="270" y="77"/>
                    <a:pt x="278" y="88"/>
                  </a:cubicBezTo>
                  <a:cubicBezTo>
                    <a:pt x="285" y="96"/>
                    <a:pt x="291" y="105"/>
                    <a:pt x="289" y="124"/>
                  </a:cubicBezTo>
                  <a:cubicBezTo>
                    <a:pt x="283" y="110"/>
                    <a:pt x="279" y="108"/>
                    <a:pt x="276" y="93"/>
                  </a:cubicBezTo>
                  <a:cubicBezTo>
                    <a:pt x="272" y="98"/>
                    <a:pt x="270" y="106"/>
                    <a:pt x="271" y="116"/>
                  </a:cubicBezTo>
                  <a:cubicBezTo>
                    <a:pt x="275" y="136"/>
                    <a:pt x="283" y="136"/>
                    <a:pt x="286" y="156"/>
                  </a:cubicBezTo>
                  <a:cubicBezTo>
                    <a:pt x="288" y="168"/>
                    <a:pt x="288" y="183"/>
                    <a:pt x="278" y="194"/>
                  </a:cubicBezTo>
                  <a:cubicBezTo>
                    <a:pt x="276" y="184"/>
                    <a:pt x="277" y="179"/>
                    <a:pt x="278" y="170"/>
                  </a:cubicBezTo>
                  <a:cubicBezTo>
                    <a:pt x="280" y="161"/>
                    <a:pt x="279" y="154"/>
                    <a:pt x="276" y="145"/>
                  </a:cubicBezTo>
                  <a:cubicBezTo>
                    <a:pt x="269" y="151"/>
                    <a:pt x="267" y="165"/>
                    <a:pt x="269" y="179"/>
                  </a:cubicBezTo>
                  <a:cubicBezTo>
                    <a:pt x="270" y="193"/>
                    <a:pt x="280" y="203"/>
                    <a:pt x="265" y="223"/>
                  </a:cubicBezTo>
                  <a:cubicBezTo>
                    <a:pt x="258" y="229"/>
                    <a:pt x="254" y="231"/>
                    <a:pt x="254" y="230"/>
                  </a:cubicBezTo>
                  <a:cubicBezTo>
                    <a:pt x="262" y="221"/>
                    <a:pt x="273" y="198"/>
                    <a:pt x="265" y="187"/>
                  </a:cubicBezTo>
                  <a:cubicBezTo>
                    <a:pt x="262" y="200"/>
                    <a:pt x="254" y="207"/>
                    <a:pt x="246" y="219"/>
                  </a:cubicBezTo>
                  <a:cubicBezTo>
                    <a:pt x="235" y="235"/>
                    <a:pt x="245" y="240"/>
                    <a:pt x="210" y="253"/>
                  </a:cubicBezTo>
                  <a:cubicBezTo>
                    <a:pt x="199" y="257"/>
                    <a:pt x="185" y="258"/>
                    <a:pt x="169" y="262"/>
                  </a:cubicBezTo>
                  <a:cubicBezTo>
                    <a:pt x="165" y="263"/>
                    <a:pt x="161" y="264"/>
                    <a:pt x="158" y="265"/>
                  </a:cubicBezTo>
                  <a:cubicBezTo>
                    <a:pt x="155" y="264"/>
                    <a:pt x="151" y="263"/>
                    <a:pt x="147" y="262"/>
                  </a:cubicBezTo>
                  <a:cubicBezTo>
                    <a:pt x="132" y="258"/>
                    <a:pt x="117" y="257"/>
                    <a:pt x="107" y="253"/>
                  </a:cubicBezTo>
                  <a:cubicBezTo>
                    <a:pt x="72" y="240"/>
                    <a:pt x="81" y="235"/>
                    <a:pt x="70" y="219"/>
                  </a:cubicBezTo>
                  <a:cubicBezTo>
                    <a:pt x="62" y="207"/>
                    <a:pt x="54" y="200"/>
                    <a:pt x="51" y="187"/>
                  </a:cubicBezTo>
                  <a:cubicBezTo>
                    <a:pt x="43" y="198"/>
                    <a:pt x="54" y="221"/>
                    <a:pt x="62" y="230"/>
                  </a:cubicBezTo>
                  <a:cubicBezTo>
                    <a:pt x="62" y="231"/>
                    <a:pt x="58" y="229"/>
                    <a:pt x="51" y="223"/>
                  </a:cubicBezTo>
                  <a:cubicBezTo>
                    <a:pt x="36" y="203"/>
                    <a:pt x="46" y="193"/>
                    <a:pt x="48" y="179"/>
                  </a:cubicBezTo>
                  <a:cubicBezTo>
                    <a:pt x="49" y="165"/>
                    <a:pt x="47" y="151"/>
                    <a:pt x="40" y="145"/>
                  </a:cubicBezTo>
                  <a:cubicBezTo>
                    <a:pt x="38" y="154"/>
                    <a:pt x="36" y="161"/>
                    <a:pt x="38" y="170"/>
                  </a:cubicBezTo>
                  <a:cubicBezTo>
                    <a:pt x="40" y="179"/>
                    <a:pt x="41" y="184"/>
                    <a:pt x="39" y="194"/>
                  </a:cubicBezTo>
                  <a:cubicBezTo>
                    <a:pt x="28" y="183"/>
                    <a:pt x="29" y="168"/>
                    <a:pt x="30" y="156"/>
                  </a:cubicBezTo>
                  <a:cubicBezTo>
                    <a:pt x="33" y="136"/>
                    <a:pt x="41" y="136"/>
                    <a:pt x="45" y="116"/>
                  </a:cubicBezTo>
                  <a:cubicBezTo>
                    <a:pt x="47" y="106"/>
                    <a:pt x="44" y="98"/>
                    <a:pt x="41" y="93"/>
                  </a:cubicBezTo>
                  <a:cubicBezTo>
                    <a:pt x="37" y="108"/>
                    <a:pt x="33" y="110"/>
                    <a:pt x="28" y="124"/>
                  </a:cubicBezTo>
                  <a:cubicBezTo>
                    <a:pt x="25" y="105"/>
                    <a:pt x="32" y="96"/>
                    <a:pt x="38" y="88"/>
                  </a:cubicBezTo>
                  <a:cubicBezTo>
                    <a:pt x="47" y="77"/>
                    <a:pt x="49" y="82"/>
                    <a:pt x="60" y="71"/>
                  </a:cubicBezTo>
                  <a:cubicBezTo>
                    <a:pt x="73" y="60"/>
                    <a:pt x="77" y="50"/>
                    <a:pt x="75" y="45"/>
                  </a:cubicBezTo>
                  <a:cubicBezTo>
                    <a:pt x="65" y="49"/>
                    <a:pt x="60" y="54"/>
                    <a:pt x="53" y="62"/>
                  </a:cubicBezTo>
                  <a:cubicBezTo>
                    <a:pt x="57" y="46"/>
                    <a:pt x="66" y="45"/>
                    <a:pt x="84" y="33"/>
                  </a:cubicBezTo>
                  <a:cubicBezTo>
                    <a:pt x="102" y="18"/>
                    <a:pt x="98" y="16"/>
                    <a:pt x="121" y="7"/>
                  </a:cubicBezTo>
                  <a:cubicBezTo>
                    <a:pt x="113" y="0"/>
                    <a:pt x="100" y="0"/>
                    <a:pt x="83" y="15"/>
                  </a:cubicBezTo>
                  <a:cubicBezTo>
                    <a:pt x="72" y="26"/>
                    <a:pt x="66" y="40"/>
                    <a:pt x="59" y="44"/>
                  </a:cubicBezTo>
                  <a:cubicBezTo>
                    <a:pt x="62" y="33"/>
                    <a:pt x="61" y="29"/>
                    <a:pt x="68" y="17"/>
                  </a:cubicBezTo>
                  <a:cubicBezTo>
                    <a:pt x="61" y="18"/>
                    <a:pt x="45" y="29"/>
                    <a:pt x="42" y="52"/>
                  </a:cubicBezTo>
                  <a:cubicBezTo>
                    <a:pt x="39" y="75"/>
                    <a:pt x="31" y="84"/>
                    <a:pt x="31" y="84"/>
                  </a:cubicBezTo>
                  <a:cubicBezTo>
                    <a:pt x="31" y="84"/>
                    <a:pt x="29" y="72"/>
                    <a:pt x="32" y="58"/>
                  </a:cubicBezTo>
                  <a:cubicBezTo>
                    <a:pt x="25" y="61"/>
                    <a:pt x="19" y="66"/>
                    <a:pt x="17" y="78"/>
                  </a:cubicBezTo>
                  <a:cubicBezTo>
                    <a:pt x="14" y="95"/>
                    <a:pt x="18" y="117"/>
                    <a:pt x="21" y="126"/>
                  </a:cubicBezTo>
                  <a:cubicBezTo>
                    <a:pt x="25" y="137"/>
                    <a:pt x="24" y="147"/>
                    <a:pt x="23" y="163"/>
                  </a:cubicBezTo>
                  <a:cubicBezTo>
                    <a:pt x="20" y="143"/>
                    <a:pt x="12" y="138"/>
                    <a:pt x="11" y="115"/>
                  </a:cubicBezTo>
                  <a:cubicBezTo>
                    <a:pt x="0" y="126"/>
                    <a:pt x="6" y="157"/>
                    <a:pt x="16" y="173"/>
                  </a:cubicBezTo>
                  <a:cubicBezTo>
                    <a:pt x="27" y="190"/>
                    <a:pt x="34" y="191"/>
                    <a:pt x="41" y="216"/>
                  </a:cubicBezTo>
                  <a:cubicBezTo>
                    <a:pt x="30" y="201"/>
                    <a:pt x="22" y="199"/>
                    <a:pt x="14" y="182"/>
                  </a:cubicBezTo>
                  <a:cubicBezTo>
                    <a:pt x="8" y="190"/>
                    <a:pt x="13" y="206"/>
                    <a:pt x="30" y="219"/>
                  </a:cubicBezTo>
                  <a:cubicBezTo>
                    <a:pt x="44" y="233"/>
                    <a:pt x="67" y="232"/>
                    <a:pt x="93" y="253"/>
                  </a:cubicBezTo>
                  <a:cubicBezTo>
                    <a:pt x="72" y="241"/>
                    <a:pt x="50" y="241"/>
                    <a:pt x="38" y="234"/>
                  </a:cubicBezTo>
                  <a:cubicBezTo>
                    <a:pt x="36" y="243"/>
                    <a:pt x="50" y="252"/>
                    <a:pt x="72" y="258"/>
                  </a:cubicBezTo>
                  <a:cubicBezTo>
                    <a:pt x="81" y="260"/>
                    <a:pt x="95" y="260"/>
                    <a:pt x="103" y="260"/>
                  </a:cubicBezTo>
                  <a:cubicBezTo>
                    <a:pt x="117" y="261"/>
                    <a:pt x="125" y="264"/>
                    <a:pt x="134" y="265"/>
                  </a:cubicBezTo>
                  <a:cubicBezTo>
                    <a:pt x="138" y="266"/>
                    <a:pt x="142" y="267"/>
                    <a:pt x="147" y="268"/>
                  </a:cubicBezTo>
                  <a:cubicBezTo>
                    <a:pt x="143" y="270"/>
                    <a:pt x="140" y="271"/>
                    <a:pt x="138" y="272"/>
                  </a:cubicBezTo>
                  <a:cubicBezTo>
                    <a:pt x="132" y="276"/>
                    <a:pt x="132" y="276"/>
                    <a:pt x="119" y="285"/>
                  </a:cubicBezTo>
                  <a:cubicBezTo>
                    <a:pt x="131" y="290"/>
                    <a:pt x="131" y="290"/>
                    <a:pt x="131" y="290"/>
                  </a:cubicBezTo>
                  <a:cubicBezTo>
                    <a:pt x="131" y="290"/>
                    <a:pt x="137" y="282"/>
                    <a:pt x="150" y="276"/>
                  </a:cubicBezTo>
                  <a:cubicBezTo>
                    <a:pt x="152" y="275"/>
                    <a:pt x="155" y="273"/>
                    <a:pt x="158" y="272"/>
                  </a:cubicBezTo>
                  <a:cubicBezTo>
                    <a:pt x="161" y="273"/>
                    <a:pt x="164" y="275"/>
                    <a:pt x="167" y="276"/>
                  </a:cubicBezTo>
                  <a:cubicBezTo>
                    <a:pt x="179" y="282"/>
                    <a:pt x="186" y="290"/>
                    <a:pt x="186" y="290"/>
                  </a:cubicBezTo>
                  <a:cubicBezTo>
                    <a:pt x="198" y="285"/>
                    <a:pt x="198" y="285"/>
                    <a:pt x="198" y="285"/>
                  </a:cubicBezTo>
                  <a:cubicBezTo>
                    <a:pt x="184" y="276"/>
                    <a:pt x="185" y="276"/>
                    <a:pt x="178" y="272"/>
                  </a:cubicBezTo>
                  <a:cubicBezTo>
                    <a:pt x="176" y="271"/>
                    <a:pt x="173" y="270"/>
                    <a:pt x="169" y="268"/>
                  </a:cubicBezTo>
                  <a:cubicBezTo>
                    <a:pt x="174" y="267"/>
                    <a:pt x="178" y="266"/>
                    <a:pt x="182" y="265"/>
                  </a:cubicBezTo>
                  <a:cubicBezTo>
                    <a:pt x="192" y="264"/>
                    <a:pt x="199" y="261"/>
                    <a:pt x="214" y="260"/>
                  </a:cubicBezTo>
                  <a:cubicBezTo>
                    <a:pt x="221" y="260"/>
                    <a:pt x="235" y="260"/>
                    <a:pt x="244" y="258"/>
                  </a:cubicBezTo>
                  <a:cubicBezTo>
                    <a:pt x="267" y="252"/>
                    <a:pt x="280" y="243"/>
                    <a:pt x="278" y="234"/>
                  </a:cubicBezTo>
                  <a:cubicBezTo>
                    <a:pt x="266" y="241"/>
                    <a:pt x="244" y="241"/>
                    <a:pt x="223" y="253"/>
                  </a:cubicBezTo>
                  <a:cubicBezTo>
                    <a:pt x="249" y="232"/>
                    <a:pt x="272" y="233"/>
                    <a:pt x="286" y="219"/>
                  </a:cubicBezTo>
                  <a:cubicBezTo>
                    <a:pt x="303" y="206"/>
                    <a:pt x="309" y="190"/>
                    <a:pt x="302" y="182"/>
                  </a:cubicBezTo>
                  <a:cubicBezTo>
                    <a:pt x="294" y="199"/>
                    <a:pt x="286" y="201"/>
                    <a:pt x="276" y="2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3" name="íšlîde">
              <a:extLst>
                <a:ext uri="{FF2B5EF4-FFF2-40B4-BE49-F238E27FC236}">
                  <a16:creationId xmlns:a16="http://schemas.microsoft.com/office/drawing/2014/main" id="{B8B76548-BB8C-B9F9-A70D-07D979C6AC6E}"/>
                </a:ext>
              </a:extLst>
            </p:cNvPr>
            <p:cNvSpPr/>
            <p:nvPr/>
          </p:nvSpPr>
          <p:spPr bwMode="auto">
            <a:xfrm>
              <a:off x="2162175" y="3240088"/>
              <a:ext cx="104775" cy="80963"/>
            </a:xfrm>
            <a:custGeom>
              <a:avLst/>
              <a:gdLst>
                <a:gd name="T0" fmla="*/ 9 w 66"/>
                <a:gd name="T1" fmla="*/ 0 h 51"/>
                <a:gd name="T2" fmla="*/ 66 w 66"/>
                <a:gd name="T3" fmla="*/ 12 h 51"/>
                <a:gd name="T4" fmla="*/ 63 w 66"/>
                <a:gd name="T5" fmla="*/ 21 h 51"/>
                <a:gd name="T6" fmla="*/ 20 w 66"/>
                <a:gd name="T7" fmla="*/ 35 h 51"/>
                <a:gd name="T8" fmla="*/ 59 w 66"/>
                <a:gd name="T9" fmla="*/ 41 h 51"/>
                <a:gd name="T10" fmla="*/ 57 w 66"/>
                <a:gd name="T11" fmla="*/ 51 h 51"/>
                <a:gd name="T12" fmla="*/ 0 w 66"/>
                <a:gd name="T13" fmla="*/ 39 h 51"/>
                <a:gd name="T14" fmla="*/ 2 w 66"/>
                <a:gd name="T15" fmla="*/ 30 h 51"/>
                <a:gd name="T16" fmla="*/ 43 w 66"/>
                <a:gd name="T17" fmla="*/ 16 h 51"/>
                <a:gd name="T18" fmla="*/ 7 w 66"/>
                <a:gd name="T19" fmla="*/ 9 h 51"/>
                <a:gd name="T20" fmla="*/ 9 w 66"/>
                <a:gd name="T2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1">
                  <a:moveTo>
                    <a:pt x="9" y="0"/>
                  </a:moveTo>
                  <a:lnTo>
                    <a:pt x="66" y="12"/>
                  </a:lnTo>
                  <a:lnTo>
                    <a:pt x="63" y="21"/>
                  </a:lnTo>
                  <a:lnTo>
                    <a:pt x="20" y="35"/>
                  </a:lnTo>
                  <a:lnTo>
                    <a:pt x="59" y="41"/>
                  </a:lnTo>
                  <a:lnTo>
                    <a:pt x="57" y="51"/>
                  </a:lnTo>
                  <a:lnTo>
                    <a:pt x="0" y="39"/>
                  </a:lnTo>
                  <a:lnTo>
                    <a:pt x="2" y="30"/>
                  </a:lnTo>
                  <a:lnTo>
                    <a:pt x="43" y="16"/>
                  </a:lnTo>
                  <a:lnTo>
                    <a:pt x="7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4" name="îṡḷíḋé">
              <a:extLst>
                <a:ext uri="{FF2B5EF4-FFF2-40B4-BE49-F238E27FC236}">
                  <a16:creationId xmlns:a16="http://schemas.microsoft.com/office/drawing/2014/main" id="{520F35BA-C6BB-61BD-7E3C-5FE2F21D6B96}"/>
                </a:ext>
              </a:extLst>
            </p:cNvPr>
            <p:cNvSpPr/>
            <p:nvPr/>
          </p:nvSpPr>
          <p:spPr bwMode="auto">
            <a:xfrm>
              <a:off x="2154238" y="3316288"/>
              <a:ext cx="93663" cy="79375"/>
            </a:xfrm>
            <a:custGeom>
              <a:avLst/>
              <a:gdLst>
                <a:gd name="T0" fmla="*/ 0 w 59"/>
                <a:gd name="T1" fmla="*/ 50 h 50"/>
                <a:gd name="T2" fmla="*/ 0 w 59"/>
                <a:gd name="T3" fmla="*/ 39 h 50"/>
                <a:gd name="T4" fmla="*/ 14 w 59"/>
                <a:gd name="T5" fmla="*/ 34 h 50"/>
                <a:gd name="T6" fmla="*/ 16 w 59"/>
                <a:gd name="T7" fmla="*/ 16 h 50"/>
                <a:gd name="T8" fmla="*/ 2 w 59"/>
                <a:gd name="T9" fmla="*/ 12 h 50"/>
                <a:gd name="T10" fmla="*/ 5 w 59"/>
                <a:gd name="T11" fmla="*/ 0 h 50"/>
                <a:gd name="T12" fmla="*/ 59 w 59"/>
                <a:gd name="T13" fmla="*/ 25 h 50"/>
                <a:gd name="T14" fmla="*/ 59 w 59"/>
                <a:gd name="T15" fmla="*/ 34 h 50"/>
                <a:gd name="T16" fmla="*/ 0 w 59"/>
                <a:gd name="T17" fmla="*/ 50 h 50"/>
                <a:gd name="T18" fmla="*/ 23 w 59"/>
                <a:gd name="T19" fmla="*/ 32 h 50"/>
                <a:gd name="T20" fmla="*/ 46 w 59"/>
                <a:gd name="T21" fmla="*/ 28 h 50"/>
                <a:gd name="T22" fmla="*/ 25 w 59"/>
                <a:gd name="T23" fmla="*/ 21 h 50"/>
                <a:gd name="T24" fmla="*/ 23 w 59"/>
                <a:gd name="T25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50">
                  <a:moveTo>
                    <a:pt x="0" y="50"/>
                  </a:moveTo>
                  <a:lnTo>
                    <a:pt x="0" y="39"/>
                  </a:lnTo>
                  <a:lnTo>
                    <a:pt x="14" y="34"/>
                  </a:lnTo>
                  <a:lnTo>
                    <a:pt x="16" y="16"/>
                  </a:lnTo>
                  <a:lnTo>
                    <a:pt x="2" y="12"/>
                  </a:lnTo>
                  <a:lnTo>
                    <a:pt x="5" y="0"/>
                  </a:lnTo>
                  <a:lnTo>
                    <a:pt x="59" y="25"/>
                  </a:lnTo>
                  <a:lnTo>
                    <a:pt x="59" y="34"/>
                  </a:lnTo>
                  <a:lnTo>
                    <a:pt x="0" y="50"/>
                  </a:lnTo>
                  <a:close/>
                  <a:moveTo>
                    <a:pt x="23" y="32"/>
                  </a:moveTo>
                  <a:lnTo>
                    <a:pt x="46" y="28"/>
                  </a:lnTo>
                  <a:lnTo>
                    <a:pt x="25" y="21"/>
                  </a:lnTo>
                  <a:lnTo>
                    <a:pt x="23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5" name="îsḻiḓe">
              <a:extLst>
                <a:ext uri="{FF2B5EF4-FFF2-40B4-BE49-F238E27FC236}">
                  <a16:creationId xmlns:a16="http://schemas.microsoft.com/office/drawing/2014/main" id="{3F87EB36-9B33-1A3D-52CA-93EB9FCA4246}"/>
                </a:ext>
              </a:extLst>
            </p:cNvPr>
            <p:cNvSpPr/>
            <p:nvPr/>
          </p:nvSpPr>
          <p:spPr bwMode="auto">
            <a:xfrm>
              <a:off x="2154238" y="3406776"/>
              <a:ext cx="90488" cy="65088"/>
            </a:xfrm>
            <a:custGeom>
              <a:avLst/>
              <a:gdLst>
                <a:gd name="T0" fmla="*/ 0 w 57"/>
                <a:gd name="T1" fmla="*/ 3 h 41"/>
                <a:gd name="T2" fmla="*/ 57 w 57"/>
                <a:gd name="T3" fmla="*/ 0 h 41"/>
                <a:gd name="T4" fmla="*/ 57 w 57"/>
                <a:gd name="T5" fmla="*/ 12 h 41"/>
                <a:gd name="T6" fmla="*/ 18 w 57"/>
                <a:gd name="T7" fmla="*/ 32 h 41"/>
                <a:gd name="T8" fmla="*/ 57 w 57"/>
                <a:gd name="T9" fmla="*/ 30 h 41"/>
                <a:gd name="T10" fmla="*/ 57 w 57"/>
                <a:gd name="T11" fmla="*/ 39 h 41"/>
                <a:gd name="T12" fmla="*/ 0 w 57"/>
                <a:gd name="T13" fmla="*/ 41 h 41"/>
                <a:gd name="T14" fmla="*/ 0 w 57"/>
                <a:gd name="T15" fmla="*/ 30 h 41"/>
                <a:gd name="T16" fmla="*/ 37 w 57"/>
                <a:gd name="T17" fmla="*/ 9 h 41"/>
                <a:gd name="T18" fmla="*/ 0 w 57"/>
                <a:gd name="T19" fmla="*/ 12 h 41"/>
                <a:gd name="T20" fmla="*/ 0 w 57"/>
                <a:gd name="T21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41">
                  <a:moveTo>
                    <a:pt x="0" y="3"/>
                  </a:moveTo>
                  <a:lnTo>
                    <a:pt x="57" y="0"/>
                  </a:lnTo>
                  <a:lnTo>
                    <a:pt x="57" y="12"/>
                  </a:lnTo>
                  <a:lnTo>
                    <a:pt x="18" y="32"/>
                  </a:lnTo>
                  <a:lnTo>
                    <a:pt x="57" y="30"/>
                  </a:lnTo>
                  <a:lnTo>
                    <a:pt x="57" y="39"/>
                  </a:lnTo>
                  <a:lnTo>
                    <a:pt x="0" y="41"/>
                  </a:lnTo>
                  <a:lnTo>
                    <a:pt x="0" y="30"/>
                  </a:lnTo>
                  <a:lnTo>
                    <a:pt x="37" y="9"/>
                  </a:lnTo>
                  <a:lnTo>
                    <a:pt x="0" y="1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6" name="î$ļïdè">
              <a:extLst>
                <a:ext uri="{FF2B5EF4-FFF2-40B4-BE49-F238E27FC236}">
                  <a16:creationId xmlns:a16="http://schemas.microsoft.com/office/drawing/2014/main" id="{E0BEA39A-317C-A033-A522-073CE1328D5E}"/>
                </a:ext>
              </a:extLst>
            </p:cNvPr>
            <p:cNvSpPr/>
            <p:nvPr/>
          </p:nvSpPr>
          <p:spPr bwMode="auto">
            <a:xfrm>
              <a:off x="2154238" y="3482976"/>
              <a:ext cx="98425" cy="50800"/>
            </a:xfrm>
            <a:custGeom>
              <a:avLst/>
              <a:gdLst>
                <a:gd name="T0" fmla="*/ 26 w 27"/>
                <a:gd name="T1" fmla="*/ 8 h 14"/>
                <a:gd name="T2" fmla="*/ 27 w 27"/>
                <a:gd name="T3" fmla="*/ 12 h 14"/>
                <a:gd name="T4" fmla="*/ 11 w 27"/>
                <a:gd name="T5" fmla="*/ 14 h 14"/>
                <a:gd name="T6" fmla="*/ 6 w 27"/>
                <a:gd name="T7" fmla="*/ 14 h 14"/>
                <a:gd name="T8" fmla="*/ 2 w 27"/>
                <a:gd name="T9" fmla="*/ 12 h 14"/>
                <a:gd name="T10" fmla="*/ 0 w 27"/>
                <a:gd name="T11" fmla="*/ 8 h 14"/>
                <a:gd name="T12" fmla="*/ 2 w 27"/>
                <a:gd name="T13" fmla="*/ 3 h 14"/>
                <a:gd name="T14" fmla="*/ 8 w 27"/>
                <a:gd name="T15" fmla="*/ 0 h 14"/>
                <a:gd name="T16" fmla="*/ 9 w 27"/>
                <a:gd name="T17" fmla="*/ 4 h 14"/>
                <a:gd name="T18" fmla="*/ 6 w 27"/>
                <a:gd name="T19" fmla="*/ 5 h 14"/>
                <a:gd name="T20" fmla="*/ 5 w 27"/>
                <a:gd name="T21" fmla="*/ 8 h 14"/>
                <a:gd name="T22" fmla="*/ 6 w 27"/>
                <a:gd name="T23" fmla="*/ 9 h 14"/>
                <a:gd name="T24" fmla="*/ 10 w 27"/>
                <a:gd name="T25" fmla="*/ 10 h 14"/>
                <a:gd name="T26" fmla="*/ 26 w 27"/>
                <a:gd name="T27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14">
                  <a:moveTo>
                    <a:pt x="26" y="8"/>
                  </a:moveTo>
                  <a:cubicBezTo>
                    <a:pt x="27" y="12"/>
                    <a:pt x="27" y="12"/>
                    <a:pt x="27" y="12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4"/>
                    <a:pt x="7" y="14"/>
                    <a:pt x="6" y="14"/>
                  </a:cubicBezTo>
                  <a:cubicBezTo>
                    <a:pt x="4" y="14"/>
                    <a:pt x="3" y="13"/>
                    <a:pt x="2" y="12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3" y="1"/>
                    <a:pt x="5" y="1"/>
                    <a:pt x="8" y="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5"/>
                    <a:pt x="6" y="5"/>
                    <a:pt x="6" y="5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6" y="9"/>
                  </a:cubicBezTo>
                  <a:cubicBezTo>
                    <a:pt x="7" y="10"/>
                    <a:pt x="8" y="10"/>
                    <a:pt x="10" y="10"/>
                  </a:cubicBezTo>
                  <a:lnTo>
                    <a:pt x="26" y="8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7" name="îṧḷíḓê">
              <a:extLst>
                <a:ext uri="{FF2B5EF4-FFF2-40B4-BE49-F238E27FC236}">
                  <a16:creationId xmlns:a16="http://schemas.microsoft.com/office/drawing/2014/main" id="{9C8020A2-44B0-E8F2-83F0-ED19E866BBCC}"/>
                </a:ext>
              </a:extLst>
            </p:cNvPr>
            <p:cNvSpPr/>
            <p:nvPr/>
          </p:nvSpPr>
          <p:spPr bwMode="auto">
            <a:xfrm>
              <a:off x="2162175" y="3541713"/>
              <a:ext cx="93663" cy="31750"/>
            </a:xfrm>
            <a:custGeom>
              <a:avLst/>
              <a:gdLst>
                <a:gd name="T0" fmla="*/ 0 w 59"/>
                <a:gd name="T1" fmla="*/ 9 h 20"/>
                <a:gd name="T2" fmla="*/ 57 w 59"/>
                <a:gd name="T3" fmla="*/ 0 h 20"/>
                <a:gd name="T4" fmla="*/ 59 w 59"/>
                <a:gd name="T5" fmla="*/ 9 h 20"/>
                <a:gd name="T6" fmla="*/ 2 w 59"/>
                <a:gd name="T7" fmla="*/ 20 h 20"/>
                <a:gd name="T8" fmla="*/ 0 w 59"/>
                <a:gd name="T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0">
                  <a:moveTo>
                    <a:pt x="0" y="9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" y="2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8" name="íṩ1iḑê">
              <a:extLst>
                <a:ext uri="{FF2B5EF4-FFF2-40B4-BE49-F238E27FC236}">
                  <a16:creationId xmlns:a16="http://schemas.microsoft.com/office/drawing/2014/main" id="{878AA491-4081-B0E1-402A-508D1BA102B5}"/>
                </a:ext>
              </a:extLst>
            </p:cNvPr>
            <p:cNvSpPr/>
            <p:nvPr/>
          </p:nvSpPr>
          <p:spPr bwMode="auto">
            <a:xfrm>
              <a:off x="2168525" y="3570288"/>
              <a:ext cx="104775" cy="84138"/>
            </a:xfrm>
            <a:custGeom>
              <a:avLst/>
              <a:gdLst>
                <a:gd name="T0" fmla="*/ 0 w 66"/>
                <a:gd name="T1" fmla="*/ 14 h 53"/>
                <a:gd name="T2" fmla="*/ 57 w 66"/>
                <a:gd name="T3" fmla="*/ 0 h 53"/>
                <a:gd name="T4" fmla="*/ 59 w 66"/>
                <a:gd name="T5" fmla="*/ 9 h 53"/>
                <a:gd name="T6" fmla="*/ 25 w 66"/>
                <a:gd name="T7" fmla="*/ 39 h 53"/>
                <a:gd name="T8" fmla="*/ 64 w 66"/>
                <a:gd name="T9" fmla="*/ 30 h 53"/>
                <a:gd name="T10" fmla="*/ 66 w 66"/>
                <a:gd name="T11" fmla="*/ 39 h 53"/>
                <a:gd name="T12" fmla="*/ 9 w 66"/>
                <a:gd name="T13" fmla="*/ 53 h 53"/>
                <a:gd name="T14" fmla="*/ 7 w 66"/>
                <a:gd name="T15" fmla="*/ 41 h 53"/>
                <a:gd name="T16" fmla="*/ 39 w 66"/>
                <a:gd name="T17" fmla="*/ 14 h 53"/>
                <a:gd name="T18" fmla="*/ 3 w 66"/>
                <a:gd name="T19" fmla="*/ 23 h 53"/>
                <a:gd name="T20" fmla="*/ 0 w 66"/>
                <a:gd name="T21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3">
                  <a:moveTo>
                    <a:pt x="0" y="14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5" y="39"/>
                  </a:lnTo>
                  <a:lnTo>
                    <a:pt x="64" y="30"/>
                  </a:lnTo>
                  <a:lnTo>
                    <a:pt x="66" y="39"/>
                  </a:lnTo>
                  <a:lnTo>
                    <a:pt x="9" y="53"/>
                  </a:lnTo>
                  <a:lnTo>
                    <a:pt x="7" y="41"/>
                  </a:lnTo>
                  <a:lnTo>
                    <a:pt x="39" y="14"/>
                  </a:lnTo>
                  <a:lnTo>
                    <a:pt x="3" y="23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9" name="îṥlîdê">
              <a:extLst>
                <a:ext uri="{FF2B5EF4-FFF2-40B4-BE49-F238E27FC236}">
                  <a16:creationId xmlns:a16="http://schemas.microsoft.com/office/drawing/2014/main" id="{D12A04B6-DDC4-B84E-828B-40C62064A29F}"/>
                </a:ext>
              </a:extLst>
            </p:cNvPr>
            <p:cNvSpPr/>
            <p:nvPr/>
          </p:nvSpPr>
          <p:spPr bwMode="auto">
            <a:xfrm>
              <a:off x="2197100" y="3649663"/>
              <a:ext cx="95250" cy="87313"/>
            </a:xfrm>
            <a:custGeom>
              <a:avLst/>
              <a:gdLst>
                <a:gd name="T0" fmla="*/ 10 w 26"/>
                <a:gd name="T1" fmla="*/ 13 h 24"/>
                <a:gd name="T2" fmla="*/ 14 w 26"/>
                <a:gd name="T3" fmla="*/ 12 h 24"/>
                <a:gd name="T4" fmla="*/ 17 w 26"/>
                <a:gd name="T5" fmla="*/ 20 h 24"/>
                <a:gd name="T6" fmla="*/ 8 w 26"/>
                <a:gd name="T7" fmla="*/ 24 h 24"/>
                <a:gd name="T8" fmla="*/ 4 w 26"/>
                <a:gd name="T9" fmla="*/ 21 h 24"/>
                <a:gd name="T10" fmla="*/ 1 w 26"/>
                <a:gd name="T11" fmla="*/ 17 h 24"/>
                <a:gd name="T12" fmla="*/ 0 w 26"/>
                <a:gd name="T13" fmla="*/ 10 h 24"/>
                <a:gd name="T14" fmla="*/ 3 w 26"/>
                <a:gd name="T15" fmla="*/ 5 h 24"/>
                <a:gd name="T16" fmla="*/ 9 w 26"/>
                <a:gd name="T17" fmla="*/ 2 h 24"/>
                <a:gd name="T18" fmla="*/ 17 w 26"/>
                <a:gd name="T19" fmla="*/ 1 h 24"/>
                <a:gd name="T20" fmla="*/ 22 w 26"/>
                <a:gd name="T21" fmla="*/ 3 h 24"/>
                <a:gd name="T22" fmla="*/ 25 w 26"/>
                <a:gd name="T23" fmla="*/ 7 h 24"/>
                <a:gd name="T24" fmla="*/ 26 w 26"/>
                <a:gd name="T25" fmla="*/ 14 h 24"/>
                <a:gd name="T26" fmla="*/ 22 w 26"/>
                <a:gd name="T27" fmla="*/ 19 h 24"/>
                <a:gd name="T28" fmla="*/ 19 w 26"/>
                <a:gd name="T29" fmla="*/ 15 h 24"/>
                <a:gd name="T30" fmla="*/ 21 w 26"/>
                <a:gd name="T31" fmla="*/ 12 h 24"/>
                <a:gd name="T32" fmla="*/ 21 w 26"/>
                <a:gd name="T33" fmla="*/ 9 h 24"/>
                <a:gd name="T34" fmla="*/ 18 w 26"/>
                <a:gd name="T35" fmla="*/ 5 h 24"/>
                <a:gd name="T36" fmla="*/ 11 w 26"/>
                <a:gd name="T37" fmla="*/ 6 h 24"/>
                <a:gd name="T38" fmla="*/ 5 w 26"/>
                <a:gd name="T39" fmla="*/ 10 h 24"/>
                <a:gd name="T40" fmla="*/ 5 w 26"/>
                <a:gd name="T41" fmla="*/ 15 h 24"/>
                <a:gd name="T42" fmla="*/ 6 w 26"/>
                <a:gd name="T43" fmla="*/ 17 h 24"/>
                <a:gd name="T44" fmla="*/ 9 w 26"/>
                <a:gd name="T45" fmla="*/ 19 h 24"/>
                <a:gd name="T46" fmla="*/ 12 w 26"/>
                <a:gd name="T47" fmla="*/ 18 h 24"/>
                <a:gd name="T48" fmla="*/ 10 w 26"/>
                <a:gd name="T49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" h="24">
                  <a:moveTo>
                    <a:pt x="10" y="13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3"/>
                    <a:pt x="5" y="22"/>
                    <a:pt x="4" y="21"/>
                  </a:cubicBezTo>
                  <a:cubicBezTo>
                    <a:pt x="2" y="20"/>
                    <a:pt x="1" y="18"/>
                    <a:pt x="1" y="17"/>
                  </a:cubicBezTo>
                  <a:cubicBezTo>
                    <a:pt x="0" y="14"/>
                    <a:pt x="0" y="12"/>
                    <a:pt x="0" y="10"/>
                  </a:cubicBezTo>
                  <a:cubicBezTo>
                    <a:pt x="1" y="8"/>
                    <a:pt x="2" y="7"/>
                    <a:pt x="3" y="5"/>
                  </a:cubicBezTo>
                  <a:cubicBezTo>
                    <a:pt x="5" y="4"/>
                    <a:pt x="7" y="3"/>
                    <a:pt x="9" y="2"/>
                  </a:cubicBezTo>
                  <a:cubicBezTo>
                    <a:pt x="12" y="1"/>
                    <a:pt x="14" y="0"/>
                    <a:pt x="17" y="1"/>
                  </a:cubicBezTo>
                  <a:cubicBezTo>
                    <a:pt x="19" y="1"/>
                    <a:pt x="21" y="2"/>
                    <a:pt x="22" y="3"/>
                  </a:cubicBezTo>
                  <a:cubicBezTo>
                    <a:pt x="24" y="4"/>
                    <a:pt x="25" y="5"/>
                    <a:pt x="25" y="7"/>
                  </a:cubicBezTo>
                  <a:cubicBezTo>
                    <a:pt x="26" y="10"/>
                    <a:pt x="26" y="12"/>
                    <a:pt x="26" y="14"/>
                  </a:cubicBezTo>
                  <a:cubicBezTo>
                    <a:pt x="25" y="16"/>
                    <a:pt x="24" y="17"/>
                    <a:pt x="22" y="19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20" y="14"/>
                    <a:pt x="21" y="13"/>
                    <a:pt x="21" y="12"/>
                  </a:cubicBezTo>
                  <a:cubicBezTo>
                    <a:pt x="22" y="11"/>
                    <a:pt x="22" y="10"/>
                    <a:pt x="21" y="9"/>
                  </a:cubicBezTo>
                  <a:cubicBezTo>
                    <a:pt x="21" y="7"/>
                    <a:pt x="19" y="6"/>
                    <a:pt x="18" y="5"/>
                  </a:cubicBezTo>
                  <a:cubicBezTo>
                    <a:pt x="16" y="5"/>
                    <a:pt x="14" y="5"/>
                    <a:pt x="11" y="6"/>
                  </a:cubicBezTo>
                  <a:cubicBezTo>
                    <a:pt x="8" y="7"/>
                    <a:pt x="6" y="8"/>
                    <a:pt x="5" y="10"/>
                  </a:cubicBezTo>
                  <a:cubicBezTo>
                    <a:pt x="4" y="11"/>
                    <a:pt x="4" y="13"/>
                    <a:pt x="5" y="15"/>
                  </a:cubicBezTo>
                  <a:cubicBezTo>
                    <a:pt x="5" y="16"/>
                    <a:pt x="6" y="16"/>
                    <a:pt x="6" y="17"/>
                  </a:cubicBezTo>
                  <a:cubicBezTo>
                    <a:pt x="7" y="18"/>
                    <a:pt x="8" y="18"/>
                    <a:pt x="9" y="19"/>
                  </a:cubicBezTo>
                  <a:cubicBezTo>
                    <a:pt x="12" y="18"/>
                    <a:pt x="12" y="18"/>
                    <a:pt x="12" y="18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0" name="îṧľîḑé">
              <a:extLst>
                <a:ext uri="{FF2B5EF4-FFF2-40B4-BE49-F238E27FC236}">
                  <a16:creationId xmlns:a16="http://schemas.microsoft.com/office/drawing/2014/main" id="{3588C69B-794C-4A9D-B27A-C1E9E0077C87}"/>
                </a:ext>
              </a:extLst>
            </p:cNvPr>
            <p:cNvSpPr/>
            <p:nvPr/>
          </p:nvSpPr>
          <p:spPr bwMode="auto">
            <a:xfrm>
              <a:off x="2244725" y="3744913"/>
              <a:ext cx="101600" cy="90488"/>
            </a:xfrm>
            <a:custGeom>
              <a:avLst/>
              <a:gdLst>
                <a:gd name="T0" fmla="*/ 20 w 28"/>
                <a:gd name="T1" fmla="*/ 0 h 25"/>
                <a:gd name="T2" fmla="*/ 22 w 28"/>
                <a:gd name="T3" fmla="*/ 4 h 25"/>
                <a:gd name="T4" fmla="*/ 10 w 28"/>
                <a:gd name="T5" fmla="*/ 11 h 25"/>
                <a:gd name="T6" fmla="*/ 6 w 28"/>
                <a:gd name="T7" fmla="*/ 13 h 25"/>
                <a:gd name="T8" fmla="*/ 4 w 28"/>
                <a:gd name="T9" fmla="*/ 15 h 25"/>
                <a:gd name="T10" fmla="*/ 5 w 28"/>
                <a:gd name="T11" fmla="*/ 18 h 25"/>
                <a:gd name="T12" fmla="*/ 7 w 28"/>
                <a:gd name="T13" fmla="*/ 20 h 25"/>
                <a:gd name="T14" fmla="*/ 10 w 28"/>
                <a:gd name="T15" fmla="*/ 20 h 25"/>
                <a:gd name="T16" fmla="*/ 13 w 28"/>
                <a:gd name="T17" fmla="*/ 19 h 25"/>
                <a:gd name="T18" fmla="*/ 26 w 28"/>
                <a:gd name="T19" fmla="*/ 12 h 25"/>
                <a:gd name="T20" fmla="*/ 28 w 28"/>
                <a:gd name="T21" fmla="*/ 16 h 25"/>
                <a:gd name="T22" fmla="*/ 16 w 28"/>
                <a:gd name="T23" fmla="*/ 22 h 25"/>
                <a:gd name="T24" fmla="*/ 10 w 28"/>
                <a:gd name="T25" fmla="*/ 25 h 25"/>
                <a:gd name="T26" fmla="*/ 7 w 28"/>
                <a:gd name="T27" fmla="*/ 25 h 25"/>
                <a:gd name="T28" fmla="*/ 4 w 28"/>
                <a:gd name="T29" fmla="*/ 24 h 25"/>
                <a:gd name="T30" fmla="*/ 1 w 28"/>
                <a:gd name="T31" fmla="*/ 21 h 25"/>
                <a:gd name="T32" fmla="*/ 0 w 28"/>
                <a:gd name="T33" fmla="*/ 16 h 25"/>
                <a:gd name="T34" fmla="*/ 0 w 28"/>
                <a:gd name="T35" fmla="*/ 13 h 25"/>
                <a:gd name="T36" fmla="*/ 2 w 28"/>
                <a:gd name="T37" fmla="*/ 10 h 25"/>
                <a:gd name="T38" fmla="*/ 8 w 28"/>
                <a:gd name="T39" fmla="*/ 7 h 25"/>
                <a:gd name="T40" fmla="*/ 20 w 28"/>
                <a:gd name="T4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5">
                  <a:moveTo>
                    <a:pt x="20" y="0"/>
                  </a:moveTo>
                  <a:cubicBezTo>
                    <a:pt x="22" y="4"/>
                    <a:pt x="22" y="4"/>
                    <a:pt x="22" y="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8" y="12"/>
                    <a:pt x="7" y="13"/>
                    <a:pt x="6" y="13"/>
                  </a:cubicBezTo>
                  <a:cubicBezTo>
                    <a:pt x="5" y="14"/>
                    <a:pt x="5" y="14"/>
                    <a:pt x="4" y="15"/>
                  </a:cubicBezTo>
                  <a:cubicBezTo>
                    <a:pt x="4" y="16"/>
                    <a:pt x="4" y="17"/>
                    <a:pt x="5" y="18"/>
                  </a:cubicBezTo>
                  <a:cubicBezTo>
                    <a:pt x="6" y="19"/>
                    <a:pt x="6" y="20"/>
                    <a:pt x="7" y="20"/>
                  </a:cubicBezTo>
                  <a:cubicBezTo>
                    <a:pt x="8" y="21"/>
                    <a:pt x="9" y="21"/>
                    <a:pt x="10" y="20"/>
                  </a:cubicBezTo>
                  <a:cubicBezTo>
                    <a:pt x="10" y="20"/>
                    <a:pt x="12" y="19"/>
                    <a:pt x="13" y="19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23"/>
                    <a:pt x="12" y="24"/>
                    <a:pt x="10" y="25"/>
                  </a:cubicBezTo>
                  <a:cubicBezTo>
                    <a:pt x="9" y="25"/>
                    <a:pt x="8" y="25"/>
                    <a:pt x="7" y="25"/>
                  </a:cubicBezTo>
                  <a:cubicBezTo>
                    <a:pt x="6" y="25"/>
                    <a:pt x="5" y="25"/>
                    <a:pt x="4" y="24"/>
                  </a:cubicBezTo>
                  <a:cubicBezTo>
                    <a:pt x="3" y="23"/>
                    <a:pt x="2" y="22"/>
                    <a:pt x="1" y="21"/>
                  </a:cubicBezTo>
                  <a:cubicBezTo>
                    <a:pt x="0" y="19"/>
                    <a:pt x="0" y="17"/>
                    <a:pt x="0" y="16"/>
                  </a:cubicBezTo>
                  <a:cubicBezTo>
                    <a:pt x="0" y="15"/>
                    <a:pt x="0" y="14"/>
                    <a:pt x="0" y="13"/>
                  </a:cubicBezTo>
                  <a:cubicBezTo>
                    <a:pt x="1" y="12"/>
                    <a:pt x="2" y="11"/>
                    <a:pt x="2" y="10"/>
                  </a:cubicBezTo>
                  <a:cubicBezTo>
                    <a:pt x="3" y="9"/>
                    <a:pt x="5" y="8"/>
                    <a:pt x="8" y="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1" name="ï$ļíḑe">
              <a:extLst>
                <a:ext uri="{FF2B5EF4-FFF2-40B4-BE49-F238E27FC236}">
                  <a16:creationId xmlns:a16="http://schemas.microsoft.com/office/drawing/2014/main" id="{3B846306-3EF6-F1A0-B72E-27B513CC9AD0}"/>
                </a:ext>
              </a:extLst>
            </p:cNvPr>
            <p:cNvSpPr/>
            <p:nvPr/>
          </p:nvSpPr>
          <p:spPr bwMode="auto">
            <a:xfrm>
              <a:off x="2276475" y="3813176"/>
              <a:ext cx="112713" cy="101600"/>
            </a:xfrm>
            <a:custGeom>
              <a:avLst/>
              <a:gdLst>
                <a:gd name="T0" fmla="*/ 0 w 71"/>
                <a:gd name="T1" fmla="*/ 32 h 64"/>
                <a:gd name="T2" fmla="*/ 48 w 71"/>
                <a:gd name="T3" fmla="*/ 0 h 64"/>
                <a:gd name="T4" fmla="*/ 53 w 71"/>
                <a:gd name="T5" fmla="*/ 7 h 64"/>
                <a:gd name="T6" fmla="*/ 32 w 71"/>
                <a:gd name="T7" fmla="*/ 46 h 64"/>
                <a:gd name="T8" fmla="*/ 64 w 71"/>
                <a:gd name="T9" fmla="*/ 25 h 64"/>
                <a:gd name="T10" fmla="*/ 71 w 71"/>
                <a:gd name="T11" fmla="*/ 32 h 64"/>
                <a:gd name="T12" fmla="*/ 21 w 71"/>
                <a:gd name="T13" fmla="*/ 64 h 64"/>
                <a:gd name="T14" fmla="*/ 16 w 71"/>
                <a:gd name="T15" fmla="*/ 57 h 64"/>
                <a:gd name="T16" fmla="*/ 37 w 71"/>
                <a:gd name="T17" fmla="*/ 18 h 64"/>
                <a:gd name="T18" fmla="*/ 5 w 71"/>
                <a:gd name="T19" fmla="*/ 39 h 64"/>
                <a:gd name="T20" fmla="*/ 0 w 71"/>
                <a:gd name="T21" fmla="*/ 3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1" h="64">
                  <a:moveTo>
                    <a:pt x="0" y="32"/>
                  </a:moveTo>
                  <a:lnTo>
                    <a:pt x="48" y="0"/>
                  </a:lnTo>
                  <a:lnTo>
                    <a:pt x="53" y="7"/>
                  </a:lnTo>
                  <a:lnTo>
                    <a:pt x="32" y="46"/>
                  </a:lnTo>
                  <a:lnTo>
                    <a:pt x="64" y="25"/>
                  </a:lnTo>
                  <a:lnTo>
                    <a:pt x="71" y="32"/>
                  </a:lnTo>
                  <a:lnTo>
                    <a:pt x="21" y="64"/>
                  </a:lnTo>
                  <a:lnTo>
                    <a:pt x="16" y="57"/>
                  </a:lnTo>
                  <a:lnTo>
                    <a:pt x="37" y="18"/>
                  </a:lnTo>
                  <a:lnTo>
                    <a:pt x="5" y="39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2" name="iṩḷïde">
              <a:extLst>
                <a:ext uri="{FF2B5EF4-FFF2-40B4-BE49-F238E27FC236}">
                  <a16:creationId xmlns:a16="http://schemas.microsoft.com/office/drawing/2014/main" id="{2DDABF60-0BA2-8B8D-6B07-0BE8C84280D4}"/>
                </a:ext>
              </a:extLst>
            </p:cNvPr>
            <p:cNvSpPr/>
            <p:nvPr/>
          </p:nvSpPr>
          <p:spPr bwMode="auto">
            <a:xfrm>
              <a:off x="2324100" y="3875088"/>
              <a:ext cx="82550" cy="68263"/>
            </a:xfrm>
            <a:custGeom>
              <a:avLst/>
              <a:gdLst>
                <a:gd name="T0" fmla="*/ 0 w 52"/>
                <a:gd name="T1" fmla="*/ 36 h 43"/>
                <a:gd name="T2" fmla="*/ 45 w 52"/>
                <a:gd name="T3" fmla="*/ 0 h 43"/>
                <a:gd name="T4" fmla="*/ 52 w 52"/>
                <a:gd name="T5" fmla="*/ 7 h 43"/>
                <a:gd name="T6" fmla="*/ 7 w 52"/>
                <a:gd name="T7" fmla="*/ 43 h 43"/>
                <a:gd name="T8" fmla="*/ 0 w 52"/>
                <a:gd name="T9" fmla="*/ 3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3">
                  <a:moveTo>
                    <a:pt x="0" y="36"/>
                  </a:moveTo>
                  <a:lnTo>
                    <a:pt x="45" y="0"/>
                  </a:lnTo>
                  <a:lnTo>
                    <a:pt x="52" y="7"/>
                  </a:lnTo>
                  <a:lnTo>
                    <a:pt x="7" y="43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3" name="í$ḷïďê">
              <a:extLst>
                <a:ext uri="{FF2B5EF4-FFF2-40B4-BE49-F238E27FC236}">
                  <a16:creationId xmlns:a16="http://schemas.microsoft.com/office/drawing/2014/main" id="{817DB484-5D5C-A3C3-8097-0E3337CC020F}"/>
                </a:ext>
              </a:extLst>
            </p:cNvPr>
            <p:cNvSpPr/>
            <p:nvPr/>
          </p:nvSpPr>
          <p:spPr bwMode="auto">
            <a:xfrm>
              <a:off x="2360613" y="3889376"/>
              <a:ext cx="96838" cy="98425"/>
            </a:xfrm>
            <a:custGeom>
              <a:avLst/>
              <a:gdLst>
                <a:gd name="T0" fmla="*/ 0 w 61"/>
                <a:gd name="T1" fmla="*/ 52 h 62"/>
                <a:gd name="T2" fmla="*/ 29 w 61"/>
                <a:gd name="T3" fmla="*/ 0 h 62"/>
                <a:gd name="T4" fmla="*/ 38 w 61"/>
                <a:gd name="T5" fmla="*/ 9 h 62"/>
                <a:gd name="T6" fmla="*/ 13 w 61"/>
                <a:gd name="T7" fmla="*/ 48 h 62"/>
                <a:gd name="T8" fmla="*/ 54 w 61"/>
                <a:gd name="T9" fmla="*/ 27 h 62"/>
                <a:gd name="T10" fmla="*/ 61 w 61"/>
                <a:gd name="T11" fmla="*/ 34 h 62"/>
                <a:gd name="T12" fmla="*/ 7 w 61"/>
                <a:gd name="T13" fmla="*/ 62 h 62"/>
                <a:gd name="T14" fmla="*/ 0 w 61"/>
                <a:gd name="T15" fmla="*/ 5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2">
                  <a:moveTo>
                    <a:pt x="0" y="52"/>
                  </a:moveTo>
                  <a:lnTo>
                    <a:pt x="29" y="0"/>
                  </a:lnTo>
                  <a:lnTo>
                    <a:pt x="38" y="9"/>
                  </a:lnTo>
                  <a:lnTo>
                    <a:pt x="13" y="48"/>
                  </a:lnTo>
                  <a:lnTo>
                    <a:pt x="54" y="27"/>
                  </a:lnTo>
                  <a:lnTo>
                    <a:pt x="61" y="34"/>
                  </a:lnTo>
                  <a:lnTo>
                    <a:pt x="7" y="6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4" name="îśľïḑe">
              <a:extLst>
                <a:ext uri="{FF2B5EF4-FFF2-40B4-BE49-F238E27FC236}">
                  <a16:creationId xmlns:a16="http://schemas.microsoft.com/office/drawing/2014/main" id="{03503FD3-4079-7357-3F0C-5BB558D9D6C1}"/>
                </a:ext>
              </a:extLst>
            </p:cNvPr>
            <p:cNvSpPr/>
            <p:nvPr/>
          </p:nvSpPr>
          <p:spPr bwMode="auto">
            <a:xfrm>
              <a:off x="2400300" y="3946526"/>
              <a:ext cx="104775" cy="109538"/>
            </a:xfrm>
            <a:custGeom>
              <a:avLst/>
              <a:gdLst>
                <a:gd name="T0" fmla="*/ 0 w 66"/>
                <a:gd name="T1" fmla="*/ 44 h 69"/>
                <a:gd name="T2" fmla="*/ 38 w 66"/>
                <a:gd name="T3" fmla="*/ 0 h 69"/>
                <a:gd name="T4" fmla="*/ 66 w 66"/>
                <a:gd name="T5" fmla="*/ 26 h 69"/>
                <a:gd name="T6" fmla="*/ 59 w 66"/>
                <a:gd name="T7" fmla="*/ 32 h 69"/>
                <a:gd name="T8" fmla="*/ 38 w 66"/>
                <a:gd name="T9" fmla="*/ 14 h 69"/>
                <a:gd name="T10" fmla="*/ 29 w 66"/>
                <a:gd name="T11" fmla="*/ 26 h 69"/>
                <a:gd name="T12" fmla="*/ 47 w 66"/>
                <a:gd name="T13" fmla="*/ 42 h 69"/>
                <a:gd name="T14" fmla="*/ 43 w 66"/>
                <a:gd name="T15" fmla="*/ 48 h 69"/>
                <a:gd name="T16" fmla="*/ 22 w 66"/>
                <a:gd name="T17" fmla="*/ 32 h 69"/>
                <a:gd name="T18" fmla="*/ 13 w 66"/>
                <a:gd name="T19" fmla="*/ 44 h 69"/>
                <a:gd name="T20" fmla="*/ 34 w 66"/>
                <a:gd name="T21" fmla="*/ 62 h 69"/>
                <a:gd name="T22" fmla="*/ 27 w 66"/>
                <a:gd name="T23" fmla="*/ 69 h 69"/>
                <a:gd name="T24" fmla="*/ 0 w 66"/>
                <a:gd name="T25" fmla="*/ 4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0" y="44"/>
                  </a:moveTo>
                  <a:lnTo>
                    <a:pt x="38" y="0"/>
                  </a:lnTo>
                  <a:lnTo>
                    <a:pt x="66" y="26"/>
                  </a:lnTo>
                  <a:lnTo>
                    <a:pt x="59" y="32"/>
                  </a:lnTo>
                  <a:lnTo>
                    <a:pt x="38" y="14"/>
                  </a:lnTo>
                  <a:lnTo>
                    <a:pt x="29" y="26"/>
                  </a:lnTo>
                  <a:lnTo>
                    <a:pt x="47" y="42"/>
                  </a:lnTo>
                  <a:lnTo>
                    <a:pt x="43" y="48"/>
                  </a:lnTo>
                  <a:lnTo>
                    <a:pt x="22" y="32"/>
                  </a:lnTo>
                  <a:lnTo>
                    <a:pt x="13" y="44"/>
                  </a:lnTo>
                  <a:lnTo>
                    <a:pt x="34" y="62"/>
                  </a:lnTo>
                  <a:lnTo>
                    <a:pt x="27" y="69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5" name="ïSlîḍè">
              <a:extLst>
                <a:ext uri="{FF2B5EF4-FFF2-40B4-BE49-F238E27FC236}">
                  <a16:creationId xmlns:a16="http://schemas.microsoft.com/office/drawing/2014/main" id="{797974A7-A584-C474-43E0-0D0867D8EDD2}"/>
                </a:ext>
              </a:extLst>
            </p:cNvPr>
            <p:cNvSpPr/>
            <p:nvPr/>
          </p:nvSpPr>
          <p:spPr bwMode="auto">
            <a:xfrm>
              <a:off x="2457450" y="3994151"/>
              <a:ext cx="96838" cy="115888"/>
            </a:xfrm>
            <a:custGeom>
              <a:avLst/>
              <a:gdLst>
                <a:gd name="T0" fmla="*/ 0 w 27"/>
                <a:gd name="T1" fmla="*/ 21 h 32"/>
                <a:gd name="T2" fmla="*/ 15 w 27"/>
                <a:gd name="T3" fmla="*/ 0 h 32"/>
                <a:gd name="T4" fmla="*/ 23 w 27"/>
                <a:gd name="T5" fmla="*/ 6 h 32"/>
                <a:gd name="T6" fmla="*/ 26 w 27"/>
                <a:gd name="T7" fmla="*/ 9 h 32"/>
                <a:gd name="T8" fmla="*/ 27 w 27"/>
                <a:gd name="T9" fmla="*/ 13 h 32"/>
                <a:gd name="T10" fmla="*/ 25 w 27"/>
                <a:gd name="T11" fmla="*/ 16 h 32"/>
                <a:gd name="T12" fmla="*/ 21 w 27"/>
                <a:gd name="T13" fmla="*/ 19 h 32"/>
                <a:gd name="T14" fmla="*/ 16 w 27"/>
                <a:gd name="T15" fmla="*/ 19 h 32"/>
                <a:gd name="T16" fmla="*/ 17 w 27"/>
                <a:gd name="T17" fmla="*/ 22 h 32"/>
                <a:gd name="T18" fmla="*/ 16 w 27"/>
                <a:gd name="T19" fmla="*/ 27 h 32"/>
                <a:gd name="T20" fmla="*/ 16 w 27"/>
                <a:gd name="T21" fmla="*/ 32 h 32"/>
                <a:gd name="T22" fmla="*/ 11 w 27"/>
                <a:gd name="T23" fmla="*/ 29 h 32"/>
                <a:gd name="T24" fmla="*/ 12 w 27"/>
                <a:gd name="T25" fmla="*/ 23 h 32"/>
                <a:gd name="T26" fmla="*/ 13 w 27"/>
                <a:gd name="T27" fmla="*/ 18 h 32"/>
                <a:gd name="T28" fmla="*/ 12 w 27"/>
                <a:gd name="T29" fmla="*/ 17 h 32"/>
                <a:gd name="T30" fmla="*/ 11 w 27"/>
                <a:gd name="T31" fmla="*/ 15 h 32"/>
                <a:gd name="T32" fmla="*/ 10 w 27"/>
                <a:gd name="T33" fmla="*/ 15 h 32"/>
                <a:gd name="T34" fmla="*/ 3 w 27"/>
                <a:gd name="T35" fmla="*/ 23 h 32"/>
                <a:gd name="T36" fmla="*/ 0 w 27"/>
                <a:gd name="T37" fmla="*/ 21 h 32"/>
                <a:gd name="T38" fmla="*/ 12 w 27"/>
                <a:gd name="T39" fmla="*/ 11 h 32"/>
                <a:gd name="T40" fmla="*/ 15 w 27"/>
                <a:gd name="T41" fmla="*/ 13 h 32"/>
                <a:gd name="T42" fmla="*/ 18 w 27"/>
                <a:gd name="T43" fmla="*/ 15 h 32"/>
                <a:gd name="T44" fmla="*/ 20 w 27"/>
                <a:gd name="T45" fmla="*/ 15 h 32"/>
                <a:gd name="T46" fmla="*/ 21 w 27"/>
                <a:gd name="T47" fmla="*/ 14 h 32"/>
                <a:gd name="T48" fmla="*/ 22 w 27"/>
                <a:gd name="T49" fmla="*/ 12 h 32"/>
                <a:gd name="T50" fmla="*/ 21 w 27"/>
                <a:gd name="T51" fmla="*/ 10 h 32"/>
                <a:gd name="T52" fmla="*/ 19 w 27"/>
                <a:gd name="T53" fmla="*/ 8 h 32"/>
                <a:gd name="T54" fmla="*/ 16 w 27"/>
                <a:gd name="T55" fmla="*/ 6 h 32"/>
                <a:gd name="T56" fmla="*/ 12 w 27"/>
                <a:gd name="T57" fmla="*/ 1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" h="32">
                  <a:moveTo>
                    <a:pt x="0" y="21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7"/>
                    <a:pt x="26" y="8"/>
                    <a:pt x="26" y="9"/>
                  </a:cubicBezTo>
                  <a:cubicBezTo>
                    <a:pt x="27" y="10"/>
                    <a:pt x="27" y="11"/>
                    <a:pt x="27" y="13"/>
                  </a:cubicBezTo>
                  <a:cubicBezTo>
                    <a:pt x="27" y="14"/>
                    <a:pt x="26" y="15"/>
                    <a:pt x="25" y="16"/>
                  </a:cubicBezTo>
                  <a:cubicBezTo>
                    <a:pt x="24" y="18"/>
                    <a:pt x="23" y="19"/>
                    <a:pt x="21" y="19"/>
                  </a:cubicBezTo>
                  <a:cubicBezTo>
                    <a:pt x="20" y="20"/>
                    <a:pt x="18" y="20"/>
                    <a:pt x="16" y="19"/>
                  </a:cubicBezTo>
                  <a:cubicBezTo>
                    <a:pt x="17" y="20"/>
                    <a:pt x="17" y="21"/>
                    <a:pt x="17" y="22"/>
                  </a:cubicBezTo>
                  <a:cubicBezTo>
                    <a:pt x="17" y="23"/>
                    <a:pt x="17" y="24"/>
                    <a:pt x="16" y="27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0"/>
                    <a:pt x="13" y="19"/>
                    <a:pt x="13" y="18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6"/>
                    <a:pt x="11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3" y="23"/>
                    <a:pt x="3" y="23"/>
                    <a:pt x="3" y="23"/>
                  </a:cubicBezTo>
                  <a:lnTo>
                    <a:pt x="0" y="21"/>
                  </a:lnTo>
                  <a:close/>
                  <a:moveTo>
                    <a:pt x="12" y="11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7" y="15"/>
                    <a:pt x="18" y="15"/>
                    <a:pt x="18" y="15"/>
                  </a:cubicBezTo>
                  <a:cubicBezTo>
                    <a:pt x="19" y="16"/>
                    <a:pt x="19" y="15"/>
                    <a:pt x="20" y="15"/>
                  </a:cubicBezTo>
                  <a:cubicBezTo>
                    <a:pt x="20" y="15"/>
                    <a:pt x="21" y="15"/>
                    <a:pt x="21" y="14"/>
                  </a:cubicBezTo>
                  <a:cubicBezTo>
                    <a:pt x="22" y="13"/>
                    <a:pt x="22" y="13"/>
                    <a:pt x="22" y="12"/>
                  </a:cubicBezTo>
                  <a:cubicBezTo>
                    <a:pt x="22" y="11"/>
                    <a:pt x="22" y="11"/>
                    <a:pt x="21" y="10"/>
                  </a:cubicBezTo>
                  <a:cubicBezTo>
                    <a:pt x="21" y="10"/>
                    <a:pt x="20" y="9"/>
                    <a:pt x="19" y="8"/>
                  </a:cubicBezTo>
                  <a:cubicBezTo>
                    <a:pt x="16" y="6"/>
                    <a:pt x="16" y="6"/>
                    <a:pt x="16" y="6"/>
                  </a:cubicBezTo>
                  <a:lnTo>
                    <a:pt x="12" y="1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6" name="işliḍé">
              <a:extLst>
                <a:ext uri="{FF2B5EF4-FFF2-40B4-BE49-F238E27FC236}">
                  <a16:creationId xmlns:a16="http://schemas.microsoft.com/office/drawing/2014/main" id="{E3330533-0DAD-703F-ABE1-7B3D4D11DD95}"/>
                </a:ext>
              </a:extLst>
            </p:cNvPr>
            <p:cNvSpPr/>
            <p:nvPr/>
          </p:nvSpPr>
          <p:spPr bwMode="auto">
            <a:xfrm>
              <a:off x="2533650" y="4044951"/>
              <a:ext cx="79375" cy="93663"/>
            </a:xfrm>
            <a:custGeom>
              <a:avLst/>
              <a:gdLst>
                <a:gd name="T0" fmla="*/ 1 w 22"/>
                <a:gd name="T1" fmla="*/ 13 h 26"/>
                <a:gd name="T2" fmla="*/ 5 w 22"/>
                <a:gd name="T3" fmla="*/ 14 h 26"/>
                <a:gd name="T4" fmla="*/ 5 w 22"/>
                <a:gd name="T5" fmla="*/ 18 h 26"/>
                <a:gd name="T6" fmla="*/ 7 w 22"/>
                <a:gd name="T7" fmla="*/ 21 h 26"/>
                <a:gd name="T8" fmla="*/ 10 w 22"/>
                <a:gd name="T9" fmla="*/ 22 h 26"/>
                <a:gd name="T10" fmla="*/ 12 w 22"/>
                <a:gd name="T11" fmla="*/ 20 h 26"/>
                <a:gd name="T12" fmla="*/ 13 w 22"/>
                <a:gd name="T13" fmla="*/ 19 h 26"/>
                <a:gd name="T14" fmla="*/ 12 w 22"/>
                <a:gd name="T15" fmla="*/ 17 h 26"/>
                <a:gd name="T16" fmla="*/ 9 w 22"/>
                <a:gd name="T17" fmla="*/ 14 h 26"/>
                <a:gd name="T18" fmla="*/ 6 w 22"/>
                <a:gd name="T19" fmla="*/ 9 h 26"/>
                <a:gd name="T20" fmla="*/ 7 w 22"/>
                <a:gd name="T21" fmla="*/ 4 h 26"/>
                <a:gd name="T22" fmla="*/ 10 w 22"/>
                <a:gd name="T23" fmla="*/ 1 h 26"/>
                <a:gd name="T24" fmla="*/ 14 w 22"/>
                <a:gd name="T25" fmla="*/ 0 h 26"/>
                <a:gd name="T26" fmla="*/ 18 w 22"/>
                <a:gd name="T27" fmla="*/ 2 h 26"/>
                <a:gd name="T28" fmla="*/ 22 w 22"/>
                <a:gd name="T29" fmla="*/ 7 h 26"/>
                <a:gd name="T30" fmla="*/ 21 w 22"/>
                <a:gd name="T31" fmla="*/ 13 h 26"/>
                <a:gd name="T32" fmla="*/ 17 w 22"/>
                <a:gd name="T33" fmla="*/ 11 h 26"/>
                <a:gd name="T34" fmla="*/ 18 w 22"/>
                <a:gd name="T35" fmla="*/ 8 h 26"/>
                <a:gd name="T36" fmla="*/ 16 w 22"/>
                <a:gd name="T37" fmla="*/ 5 h 26"/>
                <a:gd name="T38" fmla="*/ 13 w 22"/>
                <a:gd name="T39" fmla="*/ 5 h 26"/>
                <a:gd name="T40" fmla="*/ 11 w 22"/>
                <a:gd name="T41" fmla="*/ 6 h 26"/>
                <a:gd name="T42" fmla="*/ 11 w 22"/>
                <a:gd name="T43" fmla="*/ 7 h 26"/>
                <a:gd name="T44" fmla="*/ 13 w 22"/>
                <a:gd name="T45" fmla="*/ 11 h 26"/>
                <a:gd name="T46" fmla="*/ 17 w 22"/>
                <a:gd name="T47" fmla="*/ 15 h 26"/>
                <a:gd name="T48" fmla="*/ 17 w 22"/>
                <a:gd name="T49" fmla="*/ 18 h 26"/>
                <a:gd name="T50" fmla="*/ 16 w 22"/>
                <a:gd name="T51" fmla="*/ 22 h 26"/>
                <a:gd name="T52" fmla="*/ 13 w 22"/>
                <a:gd name="T53" fmla="*/ 25 h 26"/>
                <a:gd name="T54" fmla="*/ 9 w 22"/>
                <a:gd name="T55" fmla="*/ 26 h 26"/>
                <a:gd name="T56" fmla="*/ 4 w 22"/>
                <a:gd name="T57" fmla="*/ 25 h 26"/>
                <a:gd name="T58" fmla="*/ 0 w 22"/>
                <a:gd name="T59" fmla="*/ 20 h 26"/>
                <a:gd name="T60" fmla="*/ 1 w 22"/>
                <a:gd name="T6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" h="26">
                  <a:moveTo>
                    <a:pt x="1" y="13"/>
                  </a:moveTo>
                  <a:cubicBezTo>
                    <a:pt x="5" y="14"/>
                    <a:pt x="5" y="14"/>
                    <a:pt x="5" y="14"/>
                  </a:cubicBezTo>
                  <a:cubicBezTo>
                    <a:pt x="5" y="16"/>
                    <a:pt x="4" y="17"/>
                    <a:pt x="5" y="18"/>
                  </a:cubicBezTo>
                  <a:cubicBezTo>
                    <a:pt x="5" y="19"/>
                    <a:pt x="6" y="20"/>
                    <a:pt x="7" y="21"/>
                  </a:cubicBezTo>
                  <a:cubicBezTo>
                    <a:pt x="8" y="22"/>
                    <a:pt x="9" y="22"/>
                    <a:pt x="10" y="22"/>
                  </a:cubicBezTo>
                  <a:cubicBezTo>
                    <a:pt x="11" y="21"/>
                    <a:pt x="12" y="21"/>
                    <a:pt x="12" y="20"/>
                  </a:cubicBezTo>
                  <a:cubicBezTo>
                    <a:pt x="13" y="20"/>
                    <a:pt x="13" y="19"/>
                    <a:pt x="13" y="19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5"/>
                    <a:pt x="9" y="14"/>
                  </a:cubicBezTo>
                  <a:cubicBezTo>
                    <a:pt x="8" y="12"/>
                    <a:pt x="7" y="11"/>
                    <a:pt x="6" y="9"/>
                  </a:cubicBezTo>
                  <a:cubicBezTo>
                    <a:pt x="6" y="7"/>
                    <a:pt x="6" y="6"/>
                    <a:pt x="7" y="4"/>
                  </a:cubicBezTo>
                  <a:cubicBezTo>
                    <a:pt x="8" y="3"/>
                    <a:pt x="9" y="2"/>
                    <a:pt x="10" y="1"/>
                  </a:cubicBezTo>
                  <a:cubicBezTo>
                    <a:pt x="11" y="1"/>
                    <a:pt x="12" y="0"/>
                    <a:pt x="14" y="0"/>
                  </a:cubicBezTo>
                  <a:cubicBezTo>
                    <a:pt x="15" y="1"/>
                    <a:pt x="16" y="1"/>
                    <a:pt x="18" y="2"/>
                  </a:cubicBezTo>
                  <a:cubicBezTo>
                    <a:pt x="20" y="3"/>
                    <a:pt x="22" y="5"/>
                    <a:pt x="22" y="7"/>
                  </a:cubicBezTo>
                  <a:cubicBezTo>
                    <a:pt x="22" y="9"/>
                    <a:pt x="22" y="11"/>
                    <a:pt x="21" y="13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9"/>
                    <a:pt x="18" y="8"/>
                    <a:pt x="18" y="8"/>
                  </a:cubicBezTo>
                  <a:cubicBezTo>
                    <a:pt x="17" y="7"/>
                    <a:pt x="17" y="6"/>
                    <a:pt x="16" y="5"/>
                  </a:cubicBezTo>
                  <a:cubicBezTo>
                    <a:pt x="14" y="5"/>
                    <a:pt x="13" y="5"/>
                    <a:pt x="13" y="5"/>
                  </a:cubicBezTo>
                  <a:cubicBezTo>
                    <a:pt x="12" y="5"/>
                    <a:pt x="11" y="5"/>
                    <a:pt x="11" y="6"/>
                  </a:cubicBezTo>
                  <a:cubicBezTo>
                    <a:pt x="11" y="6"/>
                    <a:pt x="11" y="7"/>
                    <a:pt x="11" y="7"/>
                  </a:cubicBezTo>
                  <a:cubicBezTo>
                    <a:pt x="11" y="8"/>
                    <a:pt x="12" y="9"/>
                    <a:pt x="13" y="11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7" y="16"/>
                    <a:pt x="17" y="17"/>
                    <a:pt x="17" y="18"/>
                  </a:cubicBezTo>
                  <a:cubicBezTo>
                    <a:pt x="17" y="20"/>
                    <a:pt x="17" y="21"/>
                    <a:pt x="16" y="22"/>
                  </a:cubicBezTo>
                  <a:cubicBezTo>
                    <a:pt x="15" y="24"/>
                    <a:pt x="14" y="25"/>
                    <a:pt x="13" y="25"/>
                  </a:cubicBezTo>
                  <a:cubicBezTo>
                    <a:pt x="12" y="26"/>
                    <a:pt x="10" y="26"/>
                    <a:pt x="9" y="26"/>
                  </a:cubicBezTo>
                  <a:cubicBezTo>
                    <a:pt x="8" y="26"/>
                    <a:pt x="6" y="26"/>
                    <a:pt x="4" y="25"/>
                  </a:cubicBezTo>
                  <a:cubicBezTo>
                    <a:pt x="2" y="23"/>
                    <a:pt x="1" y="22"/>
                    <a:pt x="0" y="20"/>
                  </a:cubicBezTo>
                  <a:cubicBezTo>
                    <a:pt x="0" y="17"/>
                    <a:pt x="0" y="15"/>
                    <a:pt x="1" y="1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7" name="ísḻïde">
              <a:extLst>
                <a:ext uri="{FF2B5EF4-FFF2-40B4-BE49-F238E27FC236}">
                  <a16:creationId xmlns:a16="http://schemas.microsoft.com/office/drawing/2014/main" id="{170C29F5-AA14-F70B-7285-A0F09F0694B5}"/>
                </a:ext>
              </a:extLst>
            </p:cNvPr>
            <p:cNvSpPr/>
            <p:nvPr/>
          </p:nvSpPr>
          <p:spPr bwMode="auto">
            <a:xfrm>
              <a:off x="2590800" y="4073526"/>
              <a:ext cx="58738" cy="90488"/>
            </a:xfrm>
            <a:custGeom>
              <a:avLst/>
              <a:gdLst>
                <a:gd name="T0" fmla="*/ 0 w 37"/>
                <a:gd name="T1" fmla="*/ 53 h 57"/>
                <a:gd name="T2" fmla="*/ 27 w 37"/>
                <a:gd name="T3" fmla="*/ 0 h 57"/>
                <a:gd name="T4" fmla="*/ 37 w 37"/>
                <a:gd name="T5" fmla="*/ 5 h 57"/>
                <a:gd name="T6" fmla="*/ 9 w 37"/>
                <a:gd name="T7" fmla="*/ 57 h 57"/>
                <a:gd name="T8" fmla="*/ 0 w 37"/>
                <a:gd name="T9" fmla="*/ 5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7">
                  <a:moveTo>
                    <a:pt x="0" y="53"/>
                  </a:moveTo>
                  <a:lnTo>
                    <a:pt x="27" y="0"/>
                  </a:lnTo>
                  <a:lnTo>
                    <a:pt x="37" y="5"/>
                  </a:lnTo>
                  <a:lnTo>
                    <a:pt x="9" y="57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8" name="iŝļiḋê">
              <a:extLst>
                <a:ext uri="{FF2B5EF4-FFF2-40B4-BE49-F238E27FC236}">
                  <a16:creationId xmlns:a16="http://schemas.microsoft.com/office/drawing/2014/main" id="{433573EA-2A51-AAF4-4F80-3326D88185F0}"/>
                </a:ext>
              </a:extLst>
            </p:cNvPr>
            <p:cNvSpPr/>
            <p:nvPr/>
          </p:nvSpPr>
          <p:spPr bwMode="auto">
            <a:xfrm>
              <a:off x="2638425" y="4084638"/>
              <a:ext cx="71438" cy="101600"/>
            </a:xfrm>
            <a:custGeom>
              <a:avLst/>
              <a:gdLst>
                <a:gd name="T0" fmla="*/ 0 w 45"/>
                <a:gd name="T1" fmla="*/ 60 h 64"/>
                <a:gd name="T2" fmla="*/ 20 w 45"/>
                <a:gd name="T3" fmla="*/ 14 h 64"/>
                <a:gd name="T4" fmla="*/ 7 w 45"/>
                <a:gd name="T5" fmla="*/ 9 h 64"/>
                <a:gd name="T6" fmla="*/ 9 w 45"/>
                <a:gd name="T7" fmla="*/ 0 h 64"/>
                <a:gd name="T8" fmla="*/ 45 w 45"/>
                <a:gd name="T9" fmla="*/ 16 h 64"/>
                <a:gd name="T10" fmla="*/ 43 w 45"/>
                <a:gd name="T11" fmla="*/ 25 h 64"/>
                <a:gd name="T12" fmla="*/ 29 w 45"/>
                <a:gd name="T13" fmla="*/ 18 h 64"/>
                <a:gd name="T14" fmla="*/ 9 w 45"/>
                <a:gd name="T15" fmla="*/ 64 h 64"/>
                <a:gd name="T16" fmla="*/ 0 w 45"/>
                <a:gd name="T17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64">
                  <a:moveTo>
                    <a:pt x="0" y="60"/>
                  </a:moveTo>
                  <a:lnTo>
                    <a:pt x="20" y="14"/>
                  </a:lnTo>
                  <a:lnTo>
                    <a:pt x="7" y="9"/>
                  </a:lnTo>
                  <a:lnTo>
                    <a:pt x="9" y="0"/>
                  </a:lnTo>
                  <a:lnTo>
                    <a:pt x="45" y="16"/>
                  </a:lnTo>
                  <a:lnTo>
                    <a:pt x="43" y="25"/>
                  </a:lnTo>
                  <a:lnTo>
                    <a:pt x="29" y="18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9" name="iṧḷîdè">
              <a:extLst>
                <a:ext uri="{FF2B5EF4-FFF2-40B4-BE49-F238E27FC236}">
                  <a16:creationId xmlns:a16="http://schemas.microsoft.com/office/drawing/2014/main" id="{BE364B71-660A-9C45-80A8-5F9BE516F3DF}"/>
                </a:ext>
              </a:extLst>
            </p:cNvPr>
            <p:cNvSpPr/>
            <p:nvPr/>
          </p:nvSpPr>
          <p:spPr bwMode="auto">
            <a:xfrm>
              <a:off x="2709863" y="4110038"/>
              <a:ext cx="68263" cy="101600"/>
            </a:xfrm>
            <a:custGeom>
              <a:avLst/>
              <a:gdLst>
                <a:gd name="T0" fmla="*/ 0 w 43"/>
                <a:gd name="T1" fmla="*/ 60 h 64"/>
                <a:gd name="T2" fmla="*/ 7 w 43"/>
                <a:gd name="T3" fmla="*/ 37 h 64"/>
                <a:gd name="T4" fmla="*/ 0 w 43"/>
                <a:gd name="T5" fmla="*/ 0 h 64"/>
                <a:gd name="T6" fmla="*/ 12 w 43"/>
                <a:gd name="T7" fmla="*/ 2 h 64"/>
                <a:gd name="T8" fmla="*/ 16 w 43"/>
                <a:gd name="T9" fmla="*/ 28 h 64"/>
                <a:gd name="T10" fmla="*/ 32 w 43"/>
                <a:gd name="T11" fmla="*/ 9 h 64"/>
                <a:gd name="T12" fmla="*/ 43 w 43"/>
                <a:gd name="T13" fmla="*/ 14 h 64"/>
                <a:gd name="T14" fmla="*/ 16 w 43"/>
                <a:gd name="T15" fmla="*/ 41 h 64"/>
                <a:gd name="T16" fmla="*/ 9 w 43"/>
                <a:gd name="T17" fmla="*/ 64 h 64"/>
                <a:gd name="T18" fmla="*/ 0 w 43"/>
                <a:gd name="T19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64">
                  <a:moveTo>
                    <a:pt x="0" y="60"/>
                  </a:moveTo>
                  <a:lnTo>
                    <a:pt x="7" y="37"/>
                  </a:lnTo>
                  <a:lnTo>
                    <a:pt x="0" y="0"/>
                  </a:lnTo>
                  <a:lnTo>
                    <a:pt x="12" y="2"/>
                  </a:lnTo>
                  <a:lnTo>
                    <a:pt x="16" y="28"/>
                  </a:lnTo>
                  <a:lnTo>
                    <a:pt x="32" y="9"/>
                  </a:lnTo>
                  <a:lnTo>
                    <a:pt x="43" y="14"/>
                  </a:lnTo>
                  <a:lnTo>
                    <a:pt x="16" y="41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0" name="isļíḍè">
              <a:extLst>
                <a:ext uri="{FF2B5EF4-FFF2-40B4-BE49-F238E27FC236}">
                  <a16:creationId xmlns:a16="http://schemas.microsoft.com/office/drawing/2014/main" id="{AC9D63BD-85AA-6053-378F-835659962103}"/>
                </a:ext>
              </a:extLst>
            </p:cNvPr>
            <p:cNvSpPr/>
            <p:nvPr/>
          </p:nvSpPr>
          <p:spPr bwMode="auto">
            <a:xfrm>
              <a:off x="2797175" y="4143376"/>
              <a:ext cx="79375" cy="96838"/>
            </a:xfrm>
            <a:custGeom>
              <a:avLst/>
              <a:gdLst>
                <a:gd name="T0" fmla="*/ 1 w 22"/>
                <a:gd name="T1" fmla="*/ 11 h 27"/>
                <a:gd name="T2" fmla="*/ 3 w 22"/>
                <a:gd name="T3" fmla="*/ 5 h 27"/>
                <a:gd name="T4" fmla="*/ 5 w 22"/>
                <a:gd name="T5" fmla="*/ 2 h 27"/>
                <a:gd name="T6" fmla="*/ 8 w 22"/>
                <a:gd name="T7" fmla="*/ 0 h 27"/>
                <a:gd name="T8" fmla="*/ 13 w 22"/>
                <a:gd name="T9" fmla="*/ 0 h 27"/>
                <a:gd name="T10" fmla="*/ 20 w 22"/>
                <a:gd name="T11" fmla="*/ 5 h 27"/>
                <a:gd name="T12" fmla="*/ 21 w 22"/>
                <a:gd name="T13" fmla="*/ 15 h 27"/>
                <a:gd name="T14" fmla="*/ 17 w 22"/>
                <a:gd name="T15" fmla="*/ 24 h 27"/>
                <a:gd name="T16" fmla="*/ 9 w 22"/>
                <a:gd name="T17" fmla="*/ 26 h 27"/>
                <a:gd name="T18" fmla="*/ 2 w 22"/>
                <a:gd name="T19" fmla="*/ 21 h 27"/>
                <a:gd name="T20" fmla="*/ 1 w 22"/>
                <a:gd name="T21" fmla="*/ 11 h 27"/>
                <a:gd name="T22" fmla="*/ 5 w 22"/>
                <a:gd name="T23" fmla="*/ 12 h 27"/>
                <a:gd name="T24" fmla="*/ 6 w 22"/>
                <a:gd name="T25" fmla="*/ 19 h 27"/>
                <a:gd name="T26" fmla="*/ 10 w 22"/>
                <a:gd name="T27" fmla="*/ 22 h 27"/>
                <a:gd name="T28" fmla="*/ 14 w 22"/>
                <a:gd name="T29" fmla="*/ 20 h 27"/>
                <a:gd name="T30" fmla="*/ 17 w 22"/>
                <a:gd name="T31" fmla="*/ 14 h 27"/>
                <a:gd name="T32" fmla="*/ 16 w 22"/>
                <a:gd name="T33" fmla="*/ 7 h 27"/>
                <a:gd name="T34" fmla="*/ 13 w 22"/>
                <a:gd name="T35" fmla="*/ 4 h 27"/>
                <a:gd name="T36" fmla="*/ 8 w 22"/>
                <a:gd name="T37" fmla="*/ 6 h 27"/>
                <a:gd name="T38" fmla="*/ 5 w 22"/>
                <a:gd name="T3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7">
                  <a:moveTo>
                    <a:pt x="1" y="11"/>
                  </a:moveTo>
                  <a:cubicBezTo>
                    <a:pt x="1" y="9"/>
                    <a:pt x="2" y="7"/>
                    <a:pt x="3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7" y="1"/>
                    <a:pt x="8" y="0"/>
                  </a:cubicBezTo>
                  <a:cubicBezTo>
                    <a:pt x="10" y="0"/>
                    <a:pt x="11" y="0"/>
                    <a:pt x="13" y="0"/>
                  </a:cubicBezTo>
                  <a:cubicBezTo>
                    <a:pt x="16" y="1"/>
                    <a:pt x="19" y="2"/>
                    <a:pt x="20" y="5"/>
                  </a:cubicBezTo>
                  <a:cubicBezTo>
                    <a:pt x="22" y="7"/>
                    <a:pt x="22" y="11"/>
                    <a:pt x="21" y="15"/>
                  </a:cubicBezTo>
                  <a:cubicBezTo>
                    <a:pt x="21" y="19"/>
                    <a:pt x="19" y="22"/>
                    <a:pt x="17" y="24"/>
                  </a:cubicBezTo>
                  <a:cubicBezTo>
                    <a:pt x="15" y="26"/>
                    <a:pt x="12" y="27"/>
                    <a:pt x="9" y="26"/>
                  </a:cubicBezTo>
                  <a:cubicBezTo>
                    <a:pt x="6" y="26"/>
                    <a:pt x="3" y="24"/>
                    <a:pt x="2" y="21"/>
                  </a:cubicBezTo>
                  <a:cubicBezTo>
                    <a:pt x="0" y="19"/>
                    <a:pt x="0" y="15"/>
                    <a:pt x="1" y="11"/>
                  </a:cubicBezTo>
                  <a:close/>
                  <a:moveTo>
                    <a:pt x="5" y="12"/>
                  </a:moveTo>
                  <a:cubicBezTo>
                    <a:pt x="5" y="15"/>
                    <a:pt x="5" y="17"/>
                    <a:pt x="6" y="19"/>
                  </a:cubicBezTo>
                  <a:cubicBezTo>
                    <a:pt x="7" y="21"/>
                    <a:pt x="8" y="21"/>
                    <a:pt x="10" y="22"/>
                  </a:cubicBezTo>
                  <a:cubicBezTo>
                    <a:pt x="11" y="22"/>
                    <a:pt x="13" y="22"/>
                    <a:pt x="14" y="20"/>
                  </a:cubicBezTo>
                  <a:cubicBezTo>
                    <a:pt x="16" y="19"/>
                    <a:pt x="16" y="17"/>
                    <a:pt x="17" y="14"/>
                  </a:cubicBezTo>
                  <a:cubicBezTo>
                    <a:pt x="17" y="11"/>
                    <a:pt x="17" y="9"/>
                    <a:pt x="16" y="7"/>
                  </a:cubicBezTo>
                  <a:cubicBezTo>
                    <a:pt x="16" y="6"/>
                    <a:pt x="14" y="5"/>
                    <a:pt x="13" y="4"/>
                  </a:cubicBezTo>
                  <a:cubicBezTo>
                    <a:pt x="11" y="4"/>
                    <a:pt x="9" y="5"/>
                    <a:pt x="8" y="6"/>
                  </a:cubicBezTo>
                  <a:cubicBezTo>
                    <a:pt x="7" y="7"/>
                    <a:pt x="6" y="9"/>
                    <a:pt x="5" y="1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1" name="ïṡ1íḓe">
              <a:extLst>
                <a:ext uri="{FF2B5EF4-FFF2-40B4-BE49-F238E27FC236}">
                  <a16:creationId xmlns:a16="http://schemas.microsoft.com/office/drawing/2014/main" id="{1F23651E-DC09-5148-A26D-CB41A9C90E80}"/>
                </a:ext>
              </a:extLst>
            </p:cNvPr>
            <p:cNvSpPr/>
            <p:nvPr/>
          </p:nvSpPr>
          <p:spPr bwMode="auto">
            <a:xfrm>
              <a:off x="2882900" y="4149726"/>
              <a:ext cx="61913" cy="95250"/>
            </a:xfrm>
            <a:custGeom>
              <a:avLst/>
              <a:gdLst>
                <a:gd name="T0" fmla="*/ 0 w 39"/>
                <a:gd name="T1" fmla="*/ 60 h 60"/>
                <a:gd name="T2" fmla="*/ 5 w 39"/>
                <a:gd name="T3" fmla="*/ 0 h 60"/>
                <a:gd name="T4" fmla="*/ 39 w 39"/>
                <a:gd name="T5" fmla="*/ 3 h 60"/>
                <a:gd name="T6" fmla="*/ 37 w 39"/>
                <a:gd name="T7" fmla="*/ 14 h 60"/>
                <a:gd name="T8" fmla="*/ 14 w 39"/>
                <a:gd name="T9" fmla="*/ 12 h 60"/>
                <a:gd name="T10" fmla="*/ 12 w 39"/>
                <a:gd name="T11" fmla="*/ 25 h 60"/>
                <a:gd name="T12" fmla="*/ 34 w 39"/>
                <a:gd name="T13" fmla="*/ 28 h 60"/>
                <a:gd name="T14" fmla="*/ 32 w 39"/>
                <a:gd name="T15" fmla="*/ 37 h 60"/>
                <a:gd name="T16" fmla="*/ 12 w 39"/>
                <a:gd name="T17" fmla="*/ 35 h 60"/>
                <a:gd name="T18" fmla="*/ 9 w 39"/>
                <a:gd name="T19" fmla="*/ 60 h 60"/>
                <a:gd name="T20" fmla="*/ 0 w 39"/>
                <a:gd name="T2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60">
                  <a:moveTo>
                    <a:pt x="0" y="60"/>
                  </a:moveTo>
                  <a:lnTo>
                    <a:pt x="5" y="0"/>
                  </a:lnTo>
                  <a:lnTo>
                    <a:pt x="39" y="3"/>
                  </a:lnTo>
                  <a:lnTo>
                    <a:pt x="37" y="14"/>
                  </a:lnTo>
                  <a:lnTo>
                    <a:pt x="14" y="12"/>
                  </a:lnTo>
                  <a:lnTo>
                    <a:pt x="12" y="25"/>
                  </a:lnTo>
                  <a:lnTo>
                    <a:pt x="34" y="28"/>
                  </a:lnTo>
                  <a:lnTo>
                    <a:pt x="32" y="37"/>
                  </a:lnTo>
                  <a:lnTo>
                    <a:pt x="12" y="35"/>
                  </a:lnTo>
                  <a:lnTo>
                    <a:pt x="9" y="6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2" name="isḷiḑê">
              <a:extLst>
                <a:ext uri="{FF2B5EF4-FFF2-40B4-BE49-F238E27FC236}">
                  <a16:creationId xmlns:a16="http://schemas.microsoft.com/office/drawing/2014/main" id="{F7198A8E-54A1-9597-8B5D-1503B08B050F}"/>
                </a:ext>
              </a:extLst>
            </p:cNvPr>
            <p:cNvSpPr/>
            <p:nvPr/>
          </p:nvSpPr>
          <p:spPr bwMode="auto">
            <a:xfrm>
              <a:off x="2981325" y="4149726"/>
              <a:ext cx="65088" cy="98425"/>
            </a:xfrm>
            <a:custGeom>
              <a:avLst/>
              <a:gdLst>
                <a:gd name="T0" fmla="*/ 0 w 18"/>
                <a:gd name="T1" fmla="*/ 19 h 27"/>
                <a:gd name="T2" fmla="*/ 5 w 18"/>
                <a:gd name="T3" fmla="*/ 18 h 27"/>
                <a:gd name="T4" fmla="*/ 6 w 18"/>
                <a:gd name="T5" fmla="*/ 22 h 27"/>
                <a:gd name="T6" fmla="*/ 10 w 18"/>
                <a:gd name="T7" fmla="*/ 23 h 27"/>
                <a:gd name="T8" fmla="*/ 13 w 18"/>
                <a:gd name="T9" fmla="*/ 21 h 27"/>
                <a:gd name="T10" fmla="*/ 14 w 18"/>
                <a:gd name="T11" fmla="*/ 19 h 27"/>
                <a:gd name="T12" fmla="*/ 13 w 18"/>
                <a:gd name="T13" fmla="*/ 17 h 27"/>
                <a:gd name="T14" fmla="*/ 11 w 18"/>
                <a:gd name="T15" fmla="*/ 16 h 27"/>
                <a:gd name="T16" fmla="*/ 8 w 18"/>
                <a:gd name="T17" fmla="*/ 15 h 27"/>
                <a:gd name="T18" fmla="*/ 3 w 18"/>
                <a:gd name="T19" fmla="*/ 13 h 27"/>
                <a:gd name="T20" fmla="*/ 0 w 18"/>
                <a:gd name="T21" fmla="*/ 8 h 27"/>
                <a:gd name="T22" fmla="*/ 1 w 18"/>
                <a:gd name="T23" fmla="*/ 5 h 27"/>
                <a:gd name="T24" fmla="*/ 4 w 18"/>
                <a:gd name="T25" fmla="*/ 2 h 27"/>
                <a:gd name="T26" fmla="*/ 8 w 18"/>
                <a:gd name="T27" fmla="*/ 1 h 27"/>
                <a:gd name="T28" fmla="*/ 14 w 18"/>
                <a:gd name="T29" fmla="*/ 2 h 27"/>
                <a:gd name="T30" fmla="*/ 17 w 18"/>
                <a:gd name="T31" fmla="*/ 8 h 27"/>
                <a:gd name="T32" fmla="*/ 12 w 18"/>
                <a:gd name="T33" fmla="*/ 8 h 27"/>
                <a:gd name="T34" fmla="*/ 11 w 18"/>
                <a:gd name="T35" fmla="*/ 6 h 27"/>
                <a:gd name="T36" fmla="*/ 8 w 18"/>
                <a:gd name="T37" fmla="*/ 5 h 27"/>
                <a:gd name="T38" fmla="*/ 5 w 18"/>
                <a:gd name="T39" fmla="*/ 6 h 27"/>
                <a:gd name="T40" fmla="*/ 5 w 18"/>
                <a:gd name="T41" fmla="*/ 8 h 27"/>
                <a:gd name="T42" fmla="*/ 5 w 18"/>
                <a:gd name="T43" fmla="*/ 9 h 27"/>
                <a:gd name="T44" fmla="*/ 10 w 18"/>
                <a:gd name="T45" fmla="*/ 11 h 27"/>
                <a:gd name="T46" fmla="*/ 14 w 18"/>
                <a:gd name="T47" fmla="*/ 12 h 27"/>
                <a:gd name="T48" fmla="*/ 17 w 18"/>
                <a:gd name="T49" fmla="*/ 15 h 27"/>
                <a:gd name="T50" fmla="*/ 18 w 18"/>
                <a:gd name="T51" fmla="*/ 19 h 27"/>
                <a:gd name="T52" fmla="*/ 17 w 18"/>
                <a:gd name="T53" fmla="*/ 23 h 27"/>
                <a:gd name="T54" fmla="*/ 14 w 18"/>
                <a:gd name="T55" fmla="*/ 26 h 27"/>
                <a:gd name="T56" fmla="*/ 10 w 18"/>
                <a:gd name="T57" fmla="*/ 27 h 27"/>
                <a:gd name="T58" fmla="*/ 3 w 18"/>
                <a:gd name="T59" fmla="*/ 25 h 27"/>
                <a:gd name="T60" fmla="*/ 0 w 18"/>
                <a:gd name="T61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8" h="27">
                  <a:moveTo>
                    <a:pt x="0" y="19"/>
                  </a:moveTo>
                  <a:cubicBezTo>
                    <a:pt x="5" y="18"/>
                    <a:pt x="5" y="18"/>
                    <a:pt x="5" y="18"/>
                  </a:cubicBezTo>
                  <a:cubicBezTo>
                    <a:pt x="5" y="20"/>
                    <a:pt x="6" y="21"/>
                    <a:pt x="6" y="22"/>
                  </a:cubicBezTo>
                  <a:cubicBezTo>
                    <a:pt x="7" y="22"/>
                    <a:pt x="8" y="23"/>
                    <a:pt x="10" y="23"/>
                  </a:cubicBezTo>
                  <a:cubicBezTo>
                    <a:pt x="11" y="23"/>
                    <a:pt x="12" y="22"/>
                    <a:pt x="13" y="21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8"/>
                    <a:pt x="13" y="18"/>
                    <a:pt x="13" y="17"/>
                  </a:cubicBezTo>
                  <a:cubicBezTo>
                    <a:pt x="13" y="17"/>
                    <a:pt x="12" y="17"/>
                    <a:pt x="11" y="16"/>
                  </a:cubicBezTo>
                  <a:cubicBezTo>
                    <a:pt x="11" y="16"/>
                    <a:pt x="10" y="16"/>
                    <a:pt x="8" y="15"/>
                  </a:cubicBezTo>
                  <a:cubicBezTo>
                    <a:pt x="5" y="15"/>
                    <a:pt x="4" y="14"/>
                    <a:pt x="3" y="13"/>
                  </a:cubicBezTo>
                  <a:cubicBezTo>
                    <a:pt x="1" y="12"/>
                    <a:pt x="1" y="10"/>
                    <a:pt x="0" y="8"/>
                  </a:cubicBezTo>
                  <a:cubicBezTo>
                    <a:pt x="0" y="7"/>
                    <a:pt x="1" y="6"/>
                    <a:pt x="1" y="5"/>
                  </a:cubicBezTo>
                  <a:cubicBezTo>
                    <a:pt x="2" y="3"/>
                    <a:pt x="3" y="2"/>
                    <a:pt x="4" y="2"/>
                  </a:cubicBezTo>
                  <a:cubicBezTo>
                    <a:pt x="5" y="1"/>
                    <a:pt x="6" y="1"/>
                    <a:pt x="8" y="1"/>
                  </a:cubicBezTo>
                  <a:cubicBezTo>
                    <a:pt x="11" y="0"/>
                    <a:pt x="13" y="1"/>
                    <a:pt x="14" y="2"/>
                  </a:cubicBezTo>
                  <a:cubicBezTo>
                    <a:pt x="16" y="4"/>
                    <a:pt x="17" y="6"/>
                    <a:pt x="17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7"/>
                    <a:pt x="12" y="6"/>
                    <a:pt x="11" y="6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5"/>
                    <a:pt x="5" y="6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6" y="10"/>
                    <a:pt x="7" y="10"/>
                    <a:pt x="10" y="11"/>
                  </a:cubicBezTo>
                  <a:cubicBezTo>
                    <a:pt x="12" y="11"/>
                    <a:pt x="13" y="12"/>
                    <a:pt x="14" y="12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8" y="16"/>
                    <a:pt x="18" y="17"/>
                    <a:pt x="18" y="19"/>
                  </a:cubicBezTo>
                  <a:cubicBezTo>
                    <a:pt x="18" y="20"/>
                    <a:pt x="18" y="21"/>
                    <a:pt x="17" y="23"/>
                  </a:cubicBezTo>
                  <a:cubicBezTo>
                    <a:pt x="17" y="24"/>
                    <a:pt x="16" y="25"/>
                    <a:pt x="14" y="26"/>
                  </a:cubicBezTo>
                  <a:cubicBezTo>
                    <a:pt x="13" y="26"/>
                    <a:pt x="12" y="27"/>
                    <a:pt x="10" y="27"/>
                  </a:cubicBezTo>
                  <a:cubicBezTo>
                    <a:pt x="7" y="27"/>
                    <a:pt x="5" y="27"/>
                    <a:pt x="3" y="25"/>
                  </a:cubicBezTo>
                  <a:cubicBezTo>
                    <a:pt x="2" y="24"/>
                    <a:pt x="1" y="22"/>
                    <a:pt x="0" y="1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3" name="ïṥlíḓê">
              <a:extLst>
                <a:ext uri="{FF2B5EF4-FFF2-40B4-BE49-F238E27FC236}">
                  <a16:creationId xmlns:a16="http://schemas.microsoft.com/office/drawing/2014/main" id="{1B6DDAFD-A95E-D227-878E-99FD6D583507}"/>
                </a:ext>
              </a:extLst>
            </p:cNvPr>
            <p:cNvSpPr/>
            <p:nvPr/>
          </p:nvSpPr>
          <p:spPr bwMode="auto">
            <a:xfrm>
              <a:off x="3052763" y="4143376"/>
              <a:ext cx="73025" cy="96838"/>
            </a:xfrm>
            <a:custGeom>
              <a:avLst/>
              <a:gdLst>
                <a:gd name="T0" fmla="*/ 16 w 20"/>
                <a:gd name="T1" fmla="*/ 16 h 27"/>
                <a:gd name="T2" fmla="*/ 20 w 20"/>
                <a:gd name="T3" fmla="*/ 17 h 27"/>
                <a:gd name="T4" fmla="*/ 18 w 20"/>
                <a:gd name="T5" fmla="*/ 24 h 27"/>
                <a:gd name="T6" fmla="*/ 13 w 20"/>
                <a:gd name="T7" fmla="*/ 26 h 27"/>
                <a:gd name="T8" fmla="*/ 5 w 20"/>
                <a:gd name="T9" fmla="*/ 24 h 27"/>
                <a:gd name="T10" fmla="*/ 1 w 20"/>
                <a:gd name="T11" fmla="*/ 15 h 27"/>
                <a:gd name="T12" fmla="*/ 2 w 20"/>
                <a:gd name="T13" fmla="*/ 5 h 27"/>
                <a:gd name="T14" fmla="*/ 9 w 20"/>
                <a:gd name="T15" fmla="*/ 0 h 27"/>
                <a:gd name="T16" fmla="*/ 16 w 20"/>
                <a:gd name="T17" fmla="*/ 2 h 27"/>
                <a:gd name="T18" fmla="*/ 19 w 20"/>
                <a:gd name="T19" fmla="*/ 6 h 27"/>
                <a:gd name="T20" fmla="*/ 14 w 20"/>
                <a:gd name="T21" fmla="*/ 8 h 27"/>
                <a:gd name="T22" fmla="*/ 12 w 20"/>
                <a:gd name="T23" fmla="*/ 5 h 27"/>
                <a:gd name="T24" fmla="*/ 9 w 20"/>
                <a:gd name="T25" fmla="*/ 5 h 27"/>
                <a:gd name="T26" fmla="*/ 6 w 20"/>
                <a:gd name="T27" fmla="*/ 7 h 27"/>
                <a:gd name="T28" fmla="*/ 5 w 20"/>
                <a:gd name="T29" fmla="*/ 14 h 27"/>
                <a:gd name="T30" fmla="*/ 8 w 20"/>
                <a:gd name="T31" fmla="*/ 21 h 27"/>
                <a:gd name="T32" fmla="*/ 12 w 20"/>
                <a:gd name="T33" fmla="*/ 22 h 27"/>
                <a:gd name="T34" fmla="*/ 15 w 20"/>
                <a:gd name="T35" fmla="*/ 20 h 27"/>
                <a:gd name="T36" fmla="*/ 16 w 20"/>
                <a:gd name="T37" fmla="*/ 1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27">
                  <a:moveTo>
                    <a:pt x="16" y="16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20"/>
                    <a:pt x="19" y="22"/>
                    <a:pt x="18" y="24"/>
                  </a:cubicBezTo>
                  <a:cubicBezTo>
                    <a:pt x="17" y="25"/>
                    <a:pt x="15" y="26"/>
                    <a:pt x="13" y="26"/>
                  </a:cubicBezTo>
                  <a:cubicBezTo>
                    <a:pt x="10" y="27"/>
                    <a:pt x="7" y="26"/>
                    <a:pt x="5" y="24"/>
                  </a:cubicBezTo>
                  <a:cubicBezTo>
                    <a:pt x="3" y="22"/>
                    <a:pt x="2" y="19"/>
                    <a:pt x="1" y="15"/>
                  </a:cubicBezTo>
                  <a:cubicBezTo>
                    <a:pt x="0" y="11"/>
                    <a:pt x="1" y="8"/>
                    <a:pt x="2" y="5"/>
                  </a:cubicBezTo>
                  <a:cubicBezTo>
                    <a:pt x="4" y="2"/>
                    <a:pt x="6" y="1"/>
                    <a:pt x="9" y="0"/>
                  </a:cubicBezTo>
                  <a:cubicBezTo>
                    <a:pt x="11" y="0"/>
                    <a:pt x="14" y="0"/>
                    <a:pt x="16" y="2"/>
                  </a:cubicBezTo>
                  <a:cubicBezTo>
                    <a:pt x="17" y="3"/>
                    <a:pt x="18" y="4"/>
                    <a:pt x="19" y="6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7"/>
                    <a:pt x="13" y="6"/>
                    <a:pt x="12" y="5"/>
                  </a:cubicBezTo>
                  <a:cubicBezTo>
                    <a:pt x="11" y="5"/>
                    <a:pt x="10" y="5"/>
                    <a:pt x="9" y="5"/>
                  </a:cubicBezTo>
                  <a:cubicBezTo>
                    <a:pt x="8" y="5"/>
                    <a:pt x="6" y="6"/>
                    <a:pt x="6" y="7"/>
                  </a:cubicBezTo>
                  <a:cubicBezTo>
                    <a:pt x="5" y="9"/>
                    <a:pt x="5" y="11"/>
                    <a:pt x="5" y="14"/>
                  </a:cubicBezTo>
                  <a:cubicBezTo>
                    <a:pt x="6" y="17"/>
                    <a:pt x="7" y="19"/>
                    <a:pt x="8" y="21"/>
                  </a:cubicBezTo>
                  <a:cubicBezTo>
                    <a:pt x="9" y="22"/>
                    <a:pt x="10" y="22"/>
                    <a:pt x="12" y="22"/>
                  </a:cubicBezTo>
                  <a:cubicBezTo>
                    <a:pt x="13" y="22"/>
                    <a:pt x="14" y="21"/>
                    <a:pt x="15" y="20"/>
                  </a:cubicBezTo>
                  <a:cubicBezTo>
                    <a:pt x="15" y="19"/>
                    <a:pt x="16" y="18"/>
                    <a:pt x="16" y="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4" name="îṧḷíḍé">
              <a:extLst>
                <a:ext uri="{FF2B5EF4-FFF2-40B4-BE49-F238E27FC236}">
                  <a16:creationId xmlns:a16="http://schemas.microsoft.com/office/drawing/2014/main" id="{493616DA-17EF-D05D-FD59-4064C7664BBF}"/>
                </a:ext>
              </a:extLst>
            </p:cNvPr>
            <p:cNvSpPr/>
            <p:nvPr/>
          </p:nvSpPr>
          <p:spPr bwMode="auto">
            <a:xfrm>
              <a:off x="3125788" y="4135438"/>
              <a:ext cx="34925" cy="90488"/>
            </a:xfrm>
            <a:custGeom>
              <a:avLst/>
              <a:gdLst>
                <a:gd name="T0" fmla="*/ 13 w 22"/>
                <a:gd name="T1" fmla="*/ 57 h 57"/>
                <a:gd name="T2" fmla="*/ 0 w 22"/>
                <a:gd name="T3" fmla="*/ 2 h 57"/>
                <a:gd name="T4" fmla="*/ 11 w 22"/>
                <a:gd name="T5" fmla="*/ 0 h 57"/>
                <a:gd name="T6" fmla="*/ 22 w 22"/>
                <a:gd name="T7" fmla="*/ 55 h 57"/>
                <a:gd name="T8" fmla="*/ 13 w 22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57">
                  <a:moveTo>
                    <a:pt x="13" y="57"/>
                  </a:moveTo>
                  <a:lnTo>
                    <a:pt x="0" y="2"/>
                  </a:lnTo>
                  <a:lnTo>
                    <a:pt x="11" y="0"/>
                  </a:lnTo>
                  <a:lnTo>
                    <a:pt x="22" y="55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5" name="îṩḻïďè">
              <a:extLst>
                <a:ext uri="{FF2B5EF4-FFF2-40B4-BE49-F238E27FC236}">
                  <a16:creationId xmlns:a16="http://schemas.microsoft.com/office/drawing/2014/main" id="{3A849376-543A-9254-E7E7-ADF2BC5FAA66}"/>
                </a:ext>
              </a:extLst>
            </p:cNvPr>
            <p:cNvSpPr/>
            <p:nvPr/>
          </p:nvSpPr>
          <p:spPr bwMode="auto">
            <a:xfrm>
              <a:off x="3154363" y="4113213"/>
              <a:ext cx="82550" cy="106363"/>
            </a:xfrm>
            <a:custGeom>
              <a:avLst/>
              <a:gdLst>
                <a:gd name="T0" fmla="*/ 18 w 52"/>
                <a:gd name="T1" fmla="*/ 67 h 67"/>
                <a:gd name="T2" fmla="*/ 0 w 52"/>
                <a:gd name="T3" fmla="*/ 12 h 67"/>
                <a:gd name="T4" fmla="*/ 34 w 52"/>
                <a:gd name="T5" fmla="*/ 0 h 67"/>
                <a:gd name="T6" fmla="*/ 38 w 52"/>
                <a:gd name="T7" fmla="*/ 10 h 67"/>
                <a:gd name="T8" fmla="*/ 11 w 52"/>
                <a:gd name="T9" fmla="*/ 19 h 67"/>
                <a:gd name="T10" fmla="*/ 16 w 52"/>
                <a:gd name="T11" fmla="*/ 30 h 67"/>
                <a:gd name="T12" fmla="*/ 38 w 52"/>
                <a:gd name="T13" fmla="*/ 23 h 67"/>
                <a:gd name="T14" fmla="*/ 43 w 52"/>
                <a:gd name="T15" fmla="*/ 32 h 67"/>
                <a:gd name="T16" fmla="*/ 18 w 52"/>
                <a:gd name="T17" fmla="*/ 39 h 67"/>
                <a:gd name="T18" fmla="*/ 22 w 52"/>
                <a:gd name="T19" fmla="*/ 55 h 67"/>
                <a:gd name="T20" fmla="*/ 50 w 52"/>
                <a:gd name="T21" fmla="*/ 46 h 67"/>
                <a:gd name="T22" fmla="*/ 52 w 52"/>
                <a:gd name="T23" fmla="*/ 55 h 67"/>
                <a:gd name="T24" fmla="*/ 18 w 52"/>
                <a:gd name="T2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" h="67">
                  <a:moveTo>
                    <a:pt x="18" y="67"/>
                  </a:moveTo>
                  <a:lnTo>
                    <a:pt x="0" y="12"/>
                  </a:lnTo>
                  <a:lnTo>
                    <a:pt x="34" y="0"/>
                  </a:lnTo>
                  <a:lnTo>
                    <a:pt x="38" y="10"/>
                  </a:lnTo>
                  <a:lnTo>
                    <a:pt x="11" y="19"/>
                  </a:lnTo>
                  <a:lnTo>
                    <a:pt x="16" y="30"/>
                  </a:lnTo>
                  <a:lnTo>
                    <a:pt x="38" y="23"/>
                  </a:lnTo>
                  <a:lnTo>
                    <a:pt x="43" y="32"/>
                  </a:lnTo>
                  <a:lnTo>
                    <a:pt x="18" y="39"/>
                  </a:lnTo>
                  <a:lnTo>
                    <a:pt x="22" y="55"/>
                  </a:lnTo>
                  <a:lnTo>
                    <a:pt x="50" y="46"/>
                  </a:lnTo>
                  <a:lnTo>
                    <a:pt x="52" y="55"/>
                  </a:lnTo>
                  <a:lnTo>
                    <a:pt x="18" y="6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6" name="ïşļídé">
              <a:extLst>
                <a:ext uri="{FF2B5EF4-FFF2-40B4-BE49-F238E27FC236}">
                  <a16:creationId xmlns:a16="http://schemas.microsoft.com/office/drawing/2014/main" id="{FD12BF63-3FF2-41D3-A5F0-E18A730B9835}"/>
                </a:ext>
              </a:extLst>
            </p:cNvPr>
            <p:cNvSpPr/>
            <p:nvPr/>
          </p:nvSpPr>
          <p:spPr bwMode="auto">
            <a:xfrm>
              <a:off x="3219450" y="4084638"/>
              <a:ext cx="93663" cy="109538"/>
            </a:xfrm>
            <a:custGeom>
              <a:avLst/>
              <a:gdLst>
                <a:gd name="T0" fmla="*/ 22 w 59"/>
                <a:gd name="T1" fmla="*/ 69 h 69"/>
                <a:gd name="T2" fmla="*/ 0 w 59"/>
                <a:gd name="T3" fmla="*/ 16 h 69"/>
                <a:gd name="T4" fmla="*/ 9 w 59"/>
                <a:gd name="T5" fmla="*/ 12 h 69"/>
                <a:gd name="T6" fmla="*/ 43 w 59"/>
                <a:gd name="T7" fmla="*/ 39 h 69"/>
                <a:gd name="T8" fmla="*/ 27 w 59"/>
                <a:gd name="T9" fmla="*/ 5 h 69"/>
                <a:gd name="T10" fmla="*/ 36 w 59"/>
                <a:gd name="T11" fmla="*/ 0 h 69"/>
                <a:gd name="T12" fmla="*/ 59 w 59"/>
                <a:gd name="T13" fmla="*/ 55 h 69"/>
                <a:gd name="T14" fmla="*/ 50 w 59"/>
                <a:gd name="T15" fmla="*/ 57 h 69"/>
                <a:gd name="T16" fmla="*/ 16 w 59"/>
                <a:gd name="T17" fmla="*/ 30 h 69"/>
                <a:gd name="T18" fmla="*/ 31 w 59"/>
                <a:gd name="T19" fmla="*/ 66 h 69"/>
                <a:gd name="T20" fmla="*/ 22 w 59"/>
                <a:gd name="T21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69">
                  <a:moveTo>
                    <a:pt x="22" y="69"/>
                  </a:moveTo>
                  <a:lnTo>
                    <a:pt x="0" y="16"/>
                  </a:lnTo>
                  <a:lnTo>
                    <a:pt x="9" y="12"/>
                  </a:lnTo>
                  <a:lnTo>
                    <a:pt x="43" y="39"/>
                  </a:lnTo>
                  <a:lnTo>
                    <a:pt x="27" y="5"/>
                  </a:lnTo>
                  <a:lnTo>
                    <a:pt x="36" y="0"/>
                  </a:lnTo>
                  <a:lnTo>
                    <a:pt x="59" y="55"/>
                  </a:lnTo>
                  <a:lnTo>
                    <a:pt x="50" y="57"/>
                  </a:lnTo>
                  <a:lnTo>
                    <a:pt x="16" y="30"/>
                  </a:lnTo>
                  <a:lnTo>
                    <a:pt x="31" y="66"/>
                  </a:lnTo>
                  <a:lnTo>
                    <a:pt x="22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7" name="iṧḻíďe">
              <a:extLst>
                <a:ext uri="{FF2B5EF4-FFF2-40B4-BE49-F238E27FC236}">
                  <a16:creationId xmlns:a16="http://schemas.microsoft.com/office/drawing/2014/main" id="{240BC46E-3278-2745-67FD-1FF3CF9B17BC}"/>
                </a:ext>
              </a:extLst>
            </p:cNvPr>
            <p:cNvSpPr/>
            <p:nvPr/>
          </p:nvSpPr>
          <p:spPr bwMode="auto">
            <a:xfrm>
              <a:off x="3298825" y="4056063"/>
              <a:ext cx="82550" cy="93663"/>
            </a:xfrm>
            <a:custGeom>
              <a:avLst/>
              <a:gdLst>
                <a:gd name="T0" fmla="*/ 17 w 23"/>
                <a:gd name="T1" fmla="*/ 14 h 26"/>
                <a:gd name="T2" fmla="*/ 22 w 23"/>
                <a:gd name="T3" fmla="*/ 13 h 26"/>
                <a:gd name="T4" fmla="*/ 22 w 23"/>
                <a:gd name="T5" fmla="*/ 20 h 26"/>
                <a:gd name="T6" fmla="*/ 18 w 23"/>
                <a:gd name="T7" fmla="*/ 25 h 26"/>
                <a:gd name="T8" fmla="*/ 10 w 23"/>
                <a:gd name="T9" fmla="*/ 25 h 26"/>
                <a:gd name="T10" fmla="*/ 3 w 23"/>
                <a:gd name="T11" fmla="*/ 18 h 26"/>
                <a:gd name="T12" fmla="*/ 1 w 23"/>
                <a:gd name="T13" fmla="*/ 8 h 26"/>
                <a:gd name="T14" fmla="*/ 5 w 23"/>
                <a:gd name="T15" fmla="*/ 2 h 26"/>
                <a:gd name="T16" fmla="*/ 12 w 23"/>
                <a:gd name="T17" fmla="*/ 1 h 26"/>
                <a:gd name="T18" fmla="*/ 17 w 23"/>
                <a:gd name="T19" fmla="*/ 4 h 26"/>
                <a:gd name="T20" fmla="*/ 13 w 23"/>
                <a:gd name="T21" fmla="*/ 7 h 26"/>
                <a:gd name="T22" fmla="*/ 10 w 23"/>
                <a:gd name="T23" fmla="*/ 5 h 26"/>
                <a:gd name="T24" fmla="*/ 7 w 23"/>
                <a:gd name="T25" fmla="*/ 6 h 26"/>
                <a:gd name="T26" fmla="*/ 5 w 23"/>
                <a:gd name="T27" fmla="*/ 9 h 26"/>
                <a:gd name="T28" fmla="*/ 7 w 23"/>
                <a:gd name="T29" fmla="*/ 16 h 26"/>
                <a:gd name="T30" fmla="*/ 11 w 23"/>
                <a:gd name="T31" fmla="*/ 21 h 26"/>
                <a:gd name="T32" fmla="*/ 16 w 23"/>
                <a:gd name="T33" fmla="*/ 21 h 26"/>
                <a:gd name="T34" fmla="*/ 18 w 23"/>
                <a:gd name="T35" fmla="*/ 18 h 26"/>
                <a:gd name="T36" fmla="*/ 17 w 23"/>
                <a:gd name="T37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" h="26">
                  <a:moveTo>
                    <a:pt x="17" y="14"/>
                  </a:moveTo>
                  <a:cubicBezTo>
                    <a:pt x="22" y="13"/>
                    <a:pt x="22" y="13"/>
                    <a:pt x="22" y="13"/>
                  </a:cubicBezTo>
                  <a:cubicBezTo>
                    <a:pt x="23" y="16"/>
                    <a:pt x="23" y="18"/>
                    <a:pt x="22" y="20"/>
                  </a:cubicBezTo>
                  <a:cubicBezTo>
                    <a:pt x="21" y="22"/>
                    <a:pt x="20" y="24"/>
                    <a:pt x="18" y="25"/>
                  </a:cubicBezTo>
                  <a:cubicBezTo>
                    <a:pt x="15" y="26"/>
                    <a:pt x="13" y="26"/>
                    <a:pt x="10" y="25"/>
                  </a:cubicBezTo>
                  <a:cubicBezTo>
                    <a:pt x="7" y="24"/>
                    <a:pt x="5" y="22"/>
                    <a:pt x="3" y="18"/>
                  </a:cubicBezTo>
                  <a:cubicBezTo>
                    <a:pt x="1" y="15"/>
                    <a:pt x="0" y="11"/>
                    <a:pt x="1" y="8"/>
                  </a:cubicBezTo>
                  <a:cubicBezTo>
                    <a:pt x="1" y="5"/>
                    <a:pt x="3" y="3"/>
                    <a:pt x="5" y="2"/>
                  </a:cubicBezTo>
                  <a:cubicBezTo>
                    <a:pt x="8" y="0"/>
                    <a:pt x="10" y="0"/>
                    <a:pt x="12" y="1"/>
                  </a:cubicBezTo>
                  <a:cubicBezTo>
                    <a:pt x="14" y="1"/>
                    <a:pt x="15" y="2"/>
                    <a:pt x="17" y="4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2" y="6"/>
                    <a:pt x="11" y="5"/>
                    <a:pt x="10" y="5"/>
                  </a:cubicBezTo>
                  <a:cubicBezTo>
                    <a:pt x="9" y="5"/>
                    <a:pt x="8" y="5"/>
                    <a:pt x="7" y="6"/>
                  </a:cubicBezTo>
                  <a:cubicBezTo>
                    <a:pt x="6" y="6"/>
                    <a:pt x="5" y="8"/>
                    <a:pt x="5" y="9"/>
                  </a:cubicBezTo>
                  <a:cubicBezTo>
                    <a:pt x="5" y="11"/>
                    <a:pt x="5" y="13"/>
                    <a:pt x="7" y="16"/>
                  </a:cubicBezTo>
                  <a:cubicBezTo>
                    <a:pt x="8" y="19"/>
                    <a:pt x="10" y="20"/>
                    <a:pt x="11" y="21"/>
                  </a:cubicBezTo>
                  <a:cubicBezTo>
                    <a:pt x="13" y="22"/>
                    <a:pt x="14" y="22"/>
                    <a:pt x="16" y="21"/>
                  </a:cubicBezTo>
                  <a:cubicBezTo>
                    <a:pt x="17" y="20"/>
                    <a:pt x="17" y="20"/>
                    <a:pt x="18" y="18"/>
                  </a:cubicBezTo>
                  <a:cubicBezTo>
                    <a:pt x="18" y="17"/>
                    <a:pt x="18" y="16"/>
                    <a:pt x="17" y="14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8" name="ïSlïḓé">
              <a:extLst>
                <a:ext uri="{FF2B5EF4-FFF2-40B4-BE49-F238E27FC236}">
                  <a16:creationId xmlns:a16="http://schemas.microsoft.com/office/drawing/2014/main" id="{F7E26F36-4F8A-99AC-BED0-AA2CA7B9DD0A}"/>
                </a:ext>
              </a:extLst>
            </p:cNvPr>
            <p:cNvSpPr/>
            <p:nvPr/>
          </p:nvSpPr>
          <p:spPr bwMode="auto">
            <a:xfrm>
              <a:off x="3352800" y="4008438"/>
              <a:ext cx="104775" cy="109538"/>
            </a:xfrm>
            <a:custGeom>
              <a:avLst/>
              <a:gdLst>
                <a:gd name="T0" fmla="*/ 34 w 66"/>
                <a:gd name="T1" fmla="*/ 69 h 69"/>
                <a:gd name="T2" fmla="*/ 0 w 66"/>
                <a:gd name="T3" fmla="*/ 21 h 69"/>
                <a:gd name="T4" fmla="*/ 31 w 66"/>
                <a:gd name="T5" fmla="*/ 0 h 69"/>
                <a:gd name="T6" fmla="*/ 36 w 66"/>
                <a:gd name="T7" fmla="*/ 9 h 69"/>
                <a:gd name="T8" fmla="*/ 16 w 66"/>
                <a:gd name="T9" fmla="*/ 23 h 69"/>
                <a:gd name="T10" fmla="*/ 22 w 66"/>
                <a:gd name="T11" fmla="*/ 35 h 69"/>
                <a:gd name="T12" fmla="*/ 43 w 66"/>
                <a:gd name="T13" fmla="*/ 21 h 69"/>
                <a:gd name="T14" fmla="*/ 47 w 66"/>
                <a:gd name="T15" fmla="*/ 28 h 69"/>
                <a:gd name="T16" fmla="*/ 27 w 66"/>
                <a:gd name="T17" fmla="*/ 44 h 69"/>
                <a:gd name="T18" fmla="*/ 36 w 66"/>
                <a:gd name="T19" fmla="*/ 55 h 69"/>
                <a:gd name="T20" fmla="*/ 59 w 66"/>
                <a:gd name="T21" fmla="*/ 39 h 69"/>
                <a:gd name="T22" fmla="*/ 66 w 66"/>
                <a:gd name="T23" fmla="*/ 48 h 69"/>
                <a:gd name="T24" fmla="*/ 34 w 66"/>
                <a:gd name="T2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34" y="69"/>
                  </a:moveTo>
                  <a:lnTo>
                    <a:pt x="0" y="21"/>
                  </a:lnTo>
                  <a:lnTo>
                    <a:pt x="31" y="0"/>
                  </a:lnTo>
                  <a:lnTo>
                    <a:pt x="36" y="9"/>
                  </a:lnTo>
                  <a:lnTo>
                    <a:pt x="16" y="23"/>
                  </a:lnTo>
                  <a:lnTo>
                    <a:pt x="22" y="35"/>
                  </a:lnTo>
                  <a:lnTo>
                    <a:pt x="43" y="21"/>
                  </a:lnTo>
                  <a:lnTo>
                    <a:pt x="47" y="28"/>
                  </a:lnTo>
                  <a:lnTo>
                    <a:pt x="27" y="44"/>
                  </a:lnTo>
                  <a:lnTo>
                    <a:pt x="36" y="55"/>
                  </a:lnTo>
                  <a:lnTo>
                    <a:pt x="59" y="39"/>
                  </a:lnTo>
                  <a:lnTo>
                    <a:pt x="66" y="48"/>
                  </a:lnTo>
                  <a:lnTo>
                    <a:pt x="34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9" name="išľîḑé">
              <a:extLst>
                <a:ext uri="{FF2B5EF4-FFF2-40B4-BE49-F238E27FC236}">
                  <a16:creationId xmlns:a16="http://schemas.microsoft.com/office/drawing/2014/main" id="{3B06242B-B414-F1AE-0827-8481D81930F3}"/>
                </a:ext>
              </a:extLst>
            </p:cNvPr>
            <p:cNvSpPr/>
            <p:nvPr/>
          </p:nvSpPr>
          <p:spPr bwMode="auto">
            <a:xfrm>
              <a:off x="3446463" y="3957638"/>
              <a:ext cx="93663" cy="87313"/>
            </a:xfrm>
            <a:custGeom>
              <a:avLst/>
              <a:gdLst>
                <a:gd name="T0" fmla="*/ 26 w 26"/>
                <a:gd name="T1" fmla="*/ 11 h 24"/>
                <a:gd name="T2" fmla="*/ 26 w 26"/>
                <a:gd name="T3" fmla="*/ 15 h 24"/>
                <a:gd name="T4" fmla="*/ 22 w 26"/>
                <a:gd name="T5" fmla="*/ 15 h 24"/>
                <a:gd name="T6" fmla="*/ 21 w 26"/>
                <a:gd name="T7" fmla="*/ 19 h 24"/>
                <a:gd name="T8" fmla="*/ 19 w 26"/>
                <a:gd name="T9" fmla="*/ 22 h 24"/>
                <a:gd name="T10" fmla="*/ 13 w 26"/>
                <a:gd name="T11" fmla="*/ 24 h 24"/>
                <a:gd name="T12" fmla="*/ 8 w 26"/>
                <a:gd name="T13" fmla="*/ 21 h 24"/>
                <a:gd name="T14" fmla="*/ 6 w 26"/>
                <a:gd name="T15" fmla="*/ 17 h 24"/>
                <a:gd name="T16" fmla="*/ 7 w 26"/>
                <a:gd name="T17" fmla="*/ 12 h 24"/>
                <a:gd name="T18" fmla="*/ 3 w 26"/>
                <a:gd name="T19" fmla="*/ 11 h 24"/>
                <a:gd name="T20" fmla="*/ 1 w 26"/>
                <a:gd name="T21" fmla="*/ 10 h 24"/>
                <a:gd name="T22" fmla="*/ 0 w 26"/>
                <a:gd name="T23" fmla="*/ 6 h 24"/>
                <a:gd name="T24" fmla="*/ 2 w 26"/>
                <a:gd name="T25" fmla="*/ 1 h 24"/>
                <a:gd name="T26" fmla="*/ 6 w 26"/>
                <a:gd name="T27" fmla="*/ 0 h 24"/>
                <a:gd name="T28" fmla="*/ 10 w 26"/>
                <a:gd name="T29" fmla="*/ 2 h 24"/>
                <a:gd name="T30" fmla="*/ 12 w 26"/>
                <a:gd name="T31" fmla="*/ 4 h 24"/>
                <a:gd name="T32" fmla="*/ 11 w 26"/>
                <a:gd name="T33" fmla="*/ 9 h 24"/>
                <a:gd name="T34" fmla="*/ 17 w 26"/>
                <a:gd name="T35" fmla="*/ 10 h 24"/>
                <a:gd name="T36" fmla="*/ 16 w 26"/>
                <a:gd name="T37" fmla="*/ 7 h 24"/>
                <a:gd name="T38" fmla="*/ 19 w 26"/>
                <a:gd name="T39" fmla="*/ 6 h 24"/>
                <a:gd name="T40" fmla="*/ 21 w 26"/>
                <a:gd name="T41" fmla="*/ 9 h 24"/>
                <a:gd name="T42" fmla="*/ 21 w 26"/>
                <a:gd name="T43" fmla="*/ 11 h 24"/>
                <a:gd name="T44" fmla="*/ 24 w 26"/>
                <a:gd name="T45" fmla="*/ 11 h 24"/>
                <a:gd name="T46" fmla="*/ 26 w 26"/>
                <a:gd name="T47" fmla="*/ 11 h 24"/>
                <a:gd name="T48" fmla="*/ 8 w 26"/>
                <a:gd name="T49" fmla="*/ 8 h 24"/>
                <a:gd name="T50" fmla="*/ 8 w 26"/>
                <a:gd name="T51" fmla="*/ 7 h 24"/>
                <a:gd name="T52" fmla="*/ 7 w 26"/>
                <a:gd name="T53" fmla="*/ 4 h 24"/>
                <a:gd name="T54" fmla="*/ 6 w 26"/>
                <a:gd name="T55" fmla="*/ 3 h 24"/>
                <a:gd name="T56" fmla="*/ 4 w 26"/>
                <a:gd name="T57" fmla="*/ 4 h 24"/>
                <a:gd name="T58" fmla="*/ 4 w 26"/>
                <a:gd name="T59" fmla="*/ 5 h 24"/>
                <a:gd name="T60" fmla="*/ 4 w 26"/>
                <a:gd name="T61" fmla="*/ 7 h 24"/>
                <a:gd name="T62" fmla="*/ 6 w 26"/>
                <a:gd name="T63" fmla="*/ 8 h 24"/>
                <a:gd name="T64" fmla="*/ 8 w 26"/>
                <a:gd name="T65" fmla="*/ 8 h 24"/>
                <a:gd name="T66" fmla="*/ 10 w 26"/>
                <a:gd name="T67" fmla="*/ 13 h 24"/>
                <a:gd name="T68" fmla="*/ 10 w 26"/>
                <a:gd name="T69" fmla="*/ 16 h 24"/>
                <a:gd name="T70" fmla="*/ 11 w 26"/>
                <a:gd name="T71" fmla="*/ 18 h 24"/>
                <a:gd name="T72" fmla="*/ 14 w 26"/>
                <a:gd name="T73" fmla="*/ 20 h 24"/>
                <a:gd name="T74" fmla="*/ 16 w 26"/>
                <a:gd name="T75" fmla="*/ 19 h 24"/>
                <a:gd name="T76" fmla="*/ 17 w 26"/>
                <a:gd name="T77" fmla="*/ 17 h 24"/>
                <a:gd name="T78" fmla="*/ 18 w 26"/>
                <a:gd name="T79" fmla="*/ 15 h 24"/>
                <a:gd name="T80" fmla="*/ 10 w 26"/>
                <a:gd name="T81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5"/>
                    <a:pt x="26" y="15"/>
                    <a:pt x="26" y="15"/>
                  </a:cubicBezTo>
                  <a:cubicBezTo>
                    <a:pt x="25" y="15"/>
                    <a:pt x="23" y="15"/>
                    <a:pt x="22" y="15"/>
                  </a:cubicBezTo>
                  <a:cubicBezTo>
                    <a:pt x="22" y="17"/>
                    <a:pt x="22" y="18"/>
                    <a:pt x="21" y="19"/>
                  </a:cubicBezTo>
                  <a:cubicBezTo>
                    <a:pt x="21" y="20"/>
                    <a:pt x="20" y="21"/>
                    <a:pt x="19" y="22"/>
                  </a:cubicBezTo>
                  <a:cubicBezTo>
                    <a:pt x="17" y="23"/>
                    <a:pt x="15" y="24"/>
                    <a:pt x="13" y="24"/>
                  </a:cubicBezTo>
                  <a:cubicBezTo>
                    <a:pt x="11" y="23"/>
                    <a:pt x="10" y="23"/>
                    <a:pt x="8" y="21"/>
                  </a:cubicBezTo>
                  <a:cubicBezTo>
                    <a:pt x="7" y="20"/>
                    <a:pt x="7" y="19"/>
                    <a:pt x="6" y="17"/>
                  </a:cubicBezTo>
                  <a:cubicBezTo>
                    <a:pt x="6" y="16"/>
                    <a:pt x="6" y="14"/>
                    <a:pt x="7" y="12"/>
                  </a:cubicBezTo>
                  <a:cubicBezTo>
                    <a:pt x="5" y="12"/>
                    <a:pt x="4" y="12"/>
                    <a:pt x="3" y="11"/>
                  </a:cubicBezTo>
                  <a:cubicBezTo>
                    <a:pt x="3" y="11"/>
                    <a:pt x="2" y="10"/>
                    <a:pt x="1" y="10"/>
                  </a:cubicBezTo>
                  <a:cubicBezTo>
                    <a:pt x="0" y="9"/>
                    <a:pt x="0" y="7"/>
                    <a:pt x="0" y="6"/>
                  </a:cubicBezTo>
                  <a:cubicBezTo>
                    <a:pt x="0" y="4"/>
                    <a:pt x="0" y="3"/>
                    <a:pt x="2" y="1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9" y="0"/>
                    <a:pt x="10" y="2"/>
                  </a:cubicBezTo>
                  <a:cubicBezTo>
                    <a:pt x="11" y="2"/>
                    <a:pt x="11" y="3"/>
                    <a:pt x="12" y="4"/>
                  </a:cubicBezTo>
                  <a:cubicBezTo>
                    <a:pt x="12" y="5"/>
                    <a:pt x="12" y="7"/>
                    <a:pt x="11" y="9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9"/>
                    <a:pt x="16" y="9"/>
                    <a:pt x="16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7"/>
                    <a:pt x="20" y="8"/>
                    <a:pt x="21" y="9"/>
                  </a:cubicBezTo>
                  <a:cubicBezTo>
                    <a:pt x="21" y="10"/>
                    <a:pt x="21" y="10"/>
                    <a:pt x="21" y="11"/>
                  </a:cubicBezTo>
                  <a:cubicBezTo>
                    <a:pt x="22" y="11"/>
                    <a:pt x="23" y="11"/>
                    <a:pt x="24" y="11"/>
                  </a:cubicBezTo>
                  <a:cubicBezTo>
                    <a:pt x="25" y="11"/>
                    <a:pt x="25" y="11"/>
                    <a:pt x="26" y="11"/>
                  </a:cubicBezTo>
                  <a:close/>
                  <a:moveTo>
                    <a:pt x="8" y="8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8" y="5"/>
                    <a:pt x="8" y="5"/>
                    <a:pt x="7" y="4"/>
                  </a:cubicBezTo>
                  <a:cubicBezTo>
                    <a:pt x="7" y="4"/>
                    <a:pt x="7" y="3"/>
                    <a:pt x="6" y="3"/>
                  </a:cubicBezTo>
                  <a:cubicBezTo>
                    <a:pt x="5" y="3"/>
                    <a:pt x="5" y="3"/>
                    <a:pt x="4" y="4"/>
                  </a:cubicBezTo>
                  <a:cubicBezTo>
                    <a:pt x="4" y="4"/>
                    <a:pt x="4" y="5"/>
                    <a:pt x="4" y="5"/>
                  </a:cubicBezTo>
                  <a:cubicBezTo>
                    <a:pt x="4" y="6"/>
                    <a:pt x="4" y="6"/>
                    <a:pt x="4" y="7"/>
                  </a:cubicBezTo>
                  <a:cubicBezTo>
                    <a:pt x="4" y="7"/>
                    <a:pt x="5" y="8"/>
                    <a:pt x="6" y="8"/>
                  </a:cubicBezTo>
                  <a:lnTo>
                    <a:pt x="8" y="8"/>
                  </a:lnTo>
                  <a:close/>
                  <a:moveTo>
                    <a:pt x="10" y="13"/>
                  </a:moveTo>
                  <a:cubicBezTo>
                    <a:pt x="10" y="14"/>
                    <a:pt x="10" y="15"/>
                    <a:pt x="10" y="16"/>
                  </a:cubicBezTo>
                  <a:cubicBezTo>
                    <a:pt x="10" y="17"/>
                    <a:pt x="11" y="18"/>
                    <a:pt x="11" y="18"/>
                  </a:cubicBezTo>
                  <a:cubicBezTo>
                    <a:pt x="12" y="19"/>
                    <a:pt x="13" y="20"/>
                    <a:pt x="14" y="20"/>
                  </a:cubicBezTo>
                  <a:cubicBezTo>
                    <a:pt x="15" y="20"/>
                    <a:pt x="15" y="19"/>
                    <a:pt x="16" y="19"/>
                  </a:cubicBezTo>
                  <a:cubicBezTo>
                    <a:pt x="17" y="18"/>
                    <a:pt x="17" y="18"/>
                    <a:pt x="17" y="17"/>
                  </a:cubicBezTo>
                  <a:cubicBezTo>
                    <a:pt x="17" y="17"/>
                    <a:pt x="18" y="16"/>
                    <a:pt x="18" y="15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0" name="îṥḻîďè">
              <a:extLst>
                <a:ext uri="{FF2B5EF4-FFF2-40B4-BE49-F238E27FC236}">
                  <a16:creationId xmlns:a16="http://schemas.microsoft.com/office/drawing/2014/main" id="{B005F17A-4F5E-2CD0-F744-72CC2A806C57}"/>
                </a:ext>
              </a:extLst>
            </p:cNvPr>
            <p:cNvSpPr/>
            <p:nvPr/>
          </p:nvSpPr>
          <p:spPr bwMode="auto">
            <a:xfrm>
              <a:off x="3503613" y="3867151"/>
              <a:ext cx="96838" cy="87313"/>
            </a:xfrm>
            <a:custGeom>
              <a:avLst/>
              <a:gdLst>
                <a:gd name="T0" fmla="*/ 55 w 61"/>
                <a:gd name="T1" fmla="*/ 55 h 55"/>
                <a:gd name="T2" fmla="*/ 16 w 61"/>
                <a:gd name="T3" fmla="*/ 25 h 55"/>
                <a:gd name="T4" fmla="*/ 7 w 61"/>
                <a:gd name="T5" fmla="*/ 37 h 55"/>
                <a:gd name="T6" fmla="*/ 0 w 61"/>
                <a:gd name="T7" fmla="*/ 30 h 55"/>
                <a:gd name="T8" fmla="*/ 25 w 61"/>
                <a:gd name="T9" fmla="*/ 0 h 55"/>
                <a:gd name="T10" fmla="*/ 32 w 61"/>
                <a:gd name="T11" fmla="*/ 5 h 55"/>
                <a:gd name="T12" fmla="*/ 23 w 61"/>
                <a:gd name="T13" fmla="*/ 16 h 55"/>
                <a:gd name="T14" fmla="*/ 61 w 61"/>
                <a:gd name="T15" fmla="*/ 48 h 55"/>
                <a:gd name="T16" fmla="*/ 55 w 61"/>
                <a:gd name="T17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5">
                  <a:moveTo>
                    <a:pt x="55" y="55"/>
                  </a:moveTo>
                  <a:lnTo>
                    <a:pt x="16" y="25"/>
                  </a:lnTo>
                  <a:lnTo>
                    <a:pt x="7" y="37"/>
                  </a:lnTo>
                  <a:lnTo>
                    <a:pt x="0" y="30"/>
                  </a:lnTo>
                  <a:lnTo>
                    <a:pt x="25" y="0"/>
                  </a:lnTo>
                  <a:lnTo>
                    <a:pt x="32" y="5"/>
                  </a:lnTo>
                  <a:lnTo>
                    <a:pt x="23" y="16"/>
                  </a:lnTo>
                  <a:lnTo>
                    <a:pt x="61" y="48"/>
                  </a:lnTo>
                  <a:lnTo>
                    <a:pt x="55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1" name="i$líḋé">
              <a:extLst>
                <a:ext uri="{FF2B5EF4-FFF2-40B4-BE49-F238E27FC236}">
                  <a16:creationId xmlns:a16="http://schemas.microsoft.com/office/drawing/2014/main" id="{32AB2D29-DC53-1272-A6FA-9ABBE6D2A3F4}"/>
                </a:ext>
              </a:extLst>
            </p:cNvPr>
            <p:cNvSpPr/>
            <p:nvPr/>
          </p:nvSpPr>
          <p:spPr bwMode="auto">
            <a:xfrm>
              <a:off x="3546475" y="3813176"/>
              <a:ext cx="109538" cy="101600"/>
            </a:xfrm>
            <a:custGeom>
              <a:avLst/>
              <a:gdLst>
                <a:gd name="T0" fmla="*/ 48 w 69"/>
                <a:gd name="T1" fmla="*/ 64 h 64"/>
                <a:gd name="T2" fmla="*/ 0 w 69"/>
                <a:gd name="T3" fmla="*/ 30 h 64"/>
                <a:gd name="T4" fmla="*/ 21 w 69"/>
                <a:gd name="T5" fmla="*/ 0 h 64"/>
                <a:gd name="T6" fmla="*/ 30 w 69"/>
                <a:gd name="T7" fmla="*/ 5 h 64"/>
                <a:gd name="T8" fmla="*/ 14 w 69"/>
                <a:gd name="T9" fmla="*/ 27 h 64"/>
                <a:gd name="T10" fmla="*/ 25 w 69"/>
                <a:gd name="T11" fmla="*/ 34 h 64"/>
                <a:gd name="T12" fmla="*/ 39 w 69"/>
                <a:gd name="T13" fmla="*/ 14 h 64"/>
                <a:gd name="T14" fmla="*/ 46 w 69"/>
                <a:gd name="T15" fmla="*/ 21 h 64"/>
                <a:gd name="T16" fmla="*/ 32 w 69"/>
                <a:gd name="T17" fmla="*/ 41 h 64"/>
                <a:gd name="T18" fmla="*/ 46 w 69"/>
                <a:gd name="T19" fmla="*/ 50 h 64"/>
                <a:gd name="T20" fmla="*/ 62 w 69"/>
                <a:gd name="T21" fmla="*/ 25 h 64"/>
                <a:gd name="T22" fmla="*/ 69 w 69"/>
                <a:gd name="T23" fmla="*/ 32 h 64"/>
                <a:gd name="T24" fmla="*/ 48 w 69"/>
                <a:gd name="T25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64">
                  <a:moveTo>
                    <a:pt x="48" y="64"/>
                  </a:moveTo>
                  <a:lnTo>
                    <a:pt x="0" y="30"/>
                  </a:lnTo>
                  <a:lnTo>
                    <a:pt x="21" y="0"/>
                  </a:lnTo>
                  <a:lnTo>
                    <a:pt x="30" y="5"/>
                  </a:lnTo>
                  <a:lnTo>
                    <a:pt x="14" y="27"/>
                  </a:lnTo>
                  <a:lnTo>
                    <a:pt x="25" y="34"/>
                  </a:lnTo>
                  <a:lnTo>
                    <a:pt x="39" y="14"/>
                  </a:lnTo>
                  <a:lnTo>
                    <a:pt x="46" y="21"/>
                  </a:lnTo>
                  <a:lnTo>
                    <a:pt x="32" y="41"/>
                  </a:lnTo>
                  <a:lnTo>
                    <a:pt x="46" y="50"/>
                  </a:lnTo>
                  <a:lnTo>
                    <a:pt x="62" y="25"/>
                  </a:lnTo>
                  <a:lnTo>
                    <a:pt x="69" y="32"/>
                  </a:lnTo>
                  <a:lnTo>
                    <a:pt x="48" y="6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2" name="iṡľîḋê">
              <a:extLst>
                <a:ext uri="{FF2B5EF4-FFF2-40B4-BE49-F238E27FC236}">
                  <a16:creationId xmlns:a16="http://schemas.microsoft.com/office/drawing/2014/main" id="{A90684E4-7A21-C3BD-E7F4-C7A8002E3579}"/>
                </a:ext>
              </a:extLst>
            </p:cNvPr>
            <p:cNvSpPr/>
            <p:nvPr/>
          </p:nvSpPr>
          <p:spPr bwMode="auto">
            <a:xfrm>
              <a:off x="3594100" y="3754438"/>
              <a:ext cx="93663" cy="84138"/>
            </a:xfrm>
            <a:custGeom>
              <a:avLst/>
              <a:gdLst>
                <a:gd name="T0" fmla="*/ 19 w 26"/>
                <a:gd name="T1" fmla="*/ 9 h 23"/>
                <a:gd name="T2" fmla="*/ 22 w 26"/>
                <a:gd name="T3" fmla="*/ 6 h 23"/>
                <a:gd name="T4" fmla="*/ 26 w 26"/>
                <a:gd name="T5" fmla="*/ 12 h 23"/>
                <a:gd name="T6" fmla="*/ 25 w 26"/>
                <a:gd name="T7" fmla="*/ 18 h 23"/>
                <a:gd name="T8" fmla="*/ 19 w 26"/>
                <a:gd name="T9" fmla="*/ 22 h 23"/>
                <a:gd name="T10" fmla="*/ 9 w 26"/>
                <a:gd name="T11" fmla="*/ 20 h 23"/>
                <a:gd name="T12" fmla="*/ 1 w 26"/>
                <a:gd name="T13" fmla="*/ 13 h 23"/>
                <a:gd name="T14" fmla="*/ 2 w 26"/>
                <a:gd name="T15" fmla="*/ 5 h 23"/>
                <a:gd name="T16" fmla="*/ 7 w 26"/>
                <a:gd name="T17" fmla="*/ 0 h 23"/>
                <a:gd name="T18" fmla="*/ 13 w 26"/>
                <a:gd name="T19" fmla="*/ 1 h 23"/>
                <a:gd name="T20" fmla="*/ 12 w 26"/>
                <a:gd name="T21" fmla="*/ 5 h 23"/>
                <a:gd name="T22" fmla="*/ 8 w 26"/>
                <a:gd name="T23" fmla="*/ 5 h 23"/>
                <a:gd name="T24" fmla="*/ 6 w 26"/>
                <a:gd name="T25" fmla="*/ 7 h 23"/>
                <a:gd name="T26" fmla="*/ 6 w 26"/>
                <a:gd name="T27" fmla="*/ 11 h 23"/>
                <a:gd name="T28" fmla="*/ 11 w 26"/>
                <a:gd name="T29" fmla="*/ 16 h 23"/>
                <a:gd name="T30" fmla="*/ 17 w 26"/>
                <a:gd name="T31" fmla="*/ 18 h 23"/>
                <a:gd name="T32" fmla="*/ 21 w 26"/>
                <a:gd name="T33" fmla="*/ 16 h 23"/>
                <a:gd name="T34" fmla="*/ 21 w 26"/>
                <a:gd name="T35" fmla="*/ 12 h 23"/>
                <a:gd name="T36" fmla="*/ 19 w 26"/>
                <a:gd name="T37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23">
                  <a:moveTo>
                    <a:pt x="19" y="9"/>
                  </a:moveTo>
                  <a:cubicBezTo>
                    <a:pt x="22" y="6"/>
                    <a:pt x="22" y="6"/>
                    <a:pt x="22" y="6"/>
                  </a:cubicBezTo>
                  <a:cubicBezTo>
                    <a:pt x="24" y="8"/>
                    <a:pt x="25" y="10"/>
                    <a:pt x="26" y="12"/>
                  </a:cubicBezTo>
                  <a:cubicBezTo>
                    <a:pt x="26" y="14"/>
                    <a:pt x="26" y="16"/>
                    <a:pt x="25" y="18"/>
                  </a:cubicBezTo>
                  <a:cubicBezTo>
                    <a:pt x="24" y="20"/>
                    <a:pt x="21" y="22"/>
                    <a:pt x="19" y="22"/>
                  </a:cubicBezTo>
                  <a:cubicBezTo>
                    <a:pt x="16" y="23"/>
                    <a:pt x="12" y="22"/>
                    <a:pt x="9" y="20"/>
                  </a:cubicBezTo>
                  <a:cubicBezTo>
                    <a:pt x="5" y="18"/>
                    <a:pt x="3" y="16"/>
                    <a:pt x="1" y="13"/>
                  </a:cubicBezTo>
                  <a:cubicBezTo>
                    <a:pt x="0" y="10"/>
                    <a:pt x="0" y="7"/>
                    <a:pt x="2" y="5"/>
                  </a:cubicBezTo>
                  <a:cubicBezTo>
                    <a:pt x="3" y="2"/>
                    <a:pt x="5" y="1"/>
                    <a:pt x="7" y="0"/>
                  </a:cubicBezTo>
                  <a:cubicBezTo>
                    <a:pt x="9" y="0"/>
                    <a:pt x="11" y="0"/>
                    <a:pt x="13" y="1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5" y="8"/>
                    <a:pt x="5" y="10"/>
                    <a:pt x="6" y="11"/>
                  </a:cubicBezTo>
                  <a:cubicBezTo>
                    <a:pt x="6" y="13"/>
                    <a:pt x="8" y="15"/>
                    <a:pt x="11" y="16"/>
                  </a:cubicBezTo>
                  <a:cubicBezTo>
                    <a:pt x="13" y="17"/>
                    <a:pt x="16" y="18"/>
                    <a:pt x="17" y="18"/>
                  </a:cubicBezTo>
                  <a:cubicBezTo>
                    <a:pt x="19" y="18"/>
                    <a:pt x="20" y="17"/>
                    <a:pt x="21" y="16"/>
                  </a:cubicBezTo>
                  <a:cubicBezTo>
                    <a:pt x="22" y="15"/>
                    <a:pt x="22" y="13"/>
                    <a:pt x="21" y="12"/>
                  </a:cubicBezTo>
                  <a:cubicBezTo>
                    <a:pt x="21" y="11"/>
                    <a:pt x="20" y="10"/>
                    <a:pt x="19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3" name="ïśḷîḍè">
              <a:extLst>
                <a:ext uri="{FF2B5EF4-FFF2-40B4-BE49-F238E27FC236}">
                  <a16:creationId xmlns:a16="http://schemas.microsoft.com/office/drawing/2014/main" id="{2820993C-8A9E-120F-BB8D-0F6F8C67BD47}"/>
                </a:ext>
              </a:extLst>
            </p:cNvPr>
            <p:cNvSpPr/>
            <p:nvPr/>
          </p:nvSpPr>
          <p:spPr bwMode="auto">
            <a:xfrm>
              <a:off x="3622675" y="3679826"/>
              <a:ext cx="107950" cy="93663"/>
            </a:xfrm>
            <a:custGeom>
              <a:avLst/>
              <a:gdLst>
                <a:gd name="T0" fmla="*/ 52 w 68"/>
                <a:gd name="T1" fmla="*/ 59 h 59"/>
                <a:gd name="T2" fmla="*/ 0 w 68"/>
                <a:gd name="T3" fmla="*/ 36 h 59"/>
                <a:gd name="T4" fmla="*/ 2 w 68"/>
                <a:gd name="T5" fmla="*/ 27 h 59"/>
                <a:gd name="T6" fmla="*/ 23 w 68"/>
                <a:gd name="T7" fmla="*/ 36 h 59"/>
                <a:gd name="T8" fmla="*/ 32 w 68"/>
                <a:gd name="T9" fmla="*/ 18 h 59"/>
                <a:gd name="T10" fmla="*/ 9 w 68"/>
                <a:gd name="T11" fmla="*/ 9 h 59"/>
                <a:gd name="T12" fmla="*/ 14 w 68"/>
                <a:gd name="T13" fmla="*/ 0 h 59"/>
                <a:gd name="T14" fmla="*/ 68 w 68"/>
                <a:gd name="T15" fmla="*/ 22 h 59"/>
                <a:gd name="T16" fmla="*/ 64 w 68"/>
                <a:gd name="T17" fmla="*/ 32 h 59"/>
                <a:gd name="T18" fmla="*/ 41 w 68"/>
                <a:gd name="T19" fmla="*/ 20 h 59"/>
                <a:gd name="T20" fmla="*/ 32 w 68"/>
                <a:gd name="T21" fmla="*/ 38 h 59"/>
                <a:gd name="T22" fmla="*/ 57 w 68"/>
                <a:gd name="T23" fmla="*/ 50 h 59"/>
                <a:gd name="T24" fmla="*/ 52 w 68"/>
                <a:gd name="T2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59">
                  <a:moveTo>
                    <a:pt x="52" y="59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23" y="36"/>
                  </a:lnTo>
                  <a:lnTo>
                    <a:pt x="32" y="18"/>
                  </a:lnTo>
                  <a:lnTo>
                    <a:pt x="9" y="9"/>
                  </a:lnTo>
                  <a:lnTo>
                    <a:pt x="14" y="0"/>
                  </a:lnTo>
                  <a:lnTo>
                    <a:pt x="68" y="22"/>
                  </a:lnTo>
                  <a:lnTo>
                    <a:pt x="64" y="32"/>
                  </a:lnTo>
                  <a:lnTo>
                    <a:pt x="41" y="20"/>
                  </a:lnTo>
                  <a:lnTo>
                    <a:pt x="32" y="38"/>
                  </a:lnTo>
                  <a:lnTo>
                    <a:pt x="57" y="50"/>
                  </a:lnTo>
                  <a:lnTo>
                    <a:pt x="52" y="5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4" name="íṣļíḓe">
              <a:extLst>
                <a:ext uri="{FF2B5EF4-FFF2-40B4-BE49-F238E27FC236}">
                  <a16:creationId xmlns:a16="http://schemas.microsoft.com/office/drawing/2014/main" id="{1DB3D17D-1C60-6696-30FE-909BE59061EF}"/>
                </a:ext>
              </a:extLst>
            </p:cNvPr>
            <p:cNvSpPr/>
            <p:nvPr/>
          </p:nvSpPr>
          <p:spPr bwMode="auto">
            <a:xfrm>
              <a:off x="3648075" y="3606801"/>
              <a:ext cx="107950" cy="87313"/>
            </a:xfrm>
            <a:custGeom>
              <a:avLst/>
              <a:gdLst>
                <a:gd name="T0" fmla="*/ 57 w 68"/>
                <a:gd name="T1" fmla="*/ 55 h 55"/>
                <a:gd name="T2" fmla="*/ 0 w 68"/>
                <a:gd name="T3" fmla="*/ 36 h 55"/>
                <a:gd name="T4" fmla="*/ 2 w 68"/>
                <a:gd name="T5" fmla="*/ 27 h 55"/>
                <a:gd name="T6" fmla="*/ 45 w 68"/>
                <a:gd name="T7" fmla="*/ 20 h 55"/>
                <a:gd name="T8" fmla="*/ 9 w 68"/>
                <a:gd name="T9" fmla="*/ 9 h 55"/>
                <a:gd name="T10" fmla="*/ 11 w 68"/>
                <a:gd name="T11" fmla="*/ 0 h 55"/>
                <a:gd name="T12" fmla="*/ 68 w 68"/>
                <a:gd name="T13" fmla="*/ 16 h 55"/>
                <a:gd name="T14" fmla="*/ 64 w 68"/>
                <a:gd name="T15" fmla="*/ 25 h 55"/>
                <a:gd name="T16" fmla="*/ 23 w 68"/>
                <a:gd name="T17" fmla="*/ 34 h 55"/>
                <a:gd name="T18" fmla="*/ 59 w 68"/>
                <a:gd name="T19" fmla="*/ 46 h 55"/>
                <a:gd name="T20" fmla="*/ 57 w 68"/>
                <a:gd name="T21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" h="55">
                  <a:moveTo>
                    <a:pt x="57" y="55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45" y="20"/>
                  </a:lnTo>
                  <a:lnTo>
                    <a:pt x="9" y="9"/>
                  </a:lnTo>
                  <a:lnTo>
                    <a:pt x="11" y="0"/>
                  </a:lnTo>
                  <a:lnTo>
                    <a:pt x="68" y="16"/>
                  </a:lnTo>
                  <a:lnTo>
                    <a:pt x="64" y="25"/>
                  </a:lnTo>
                  <a:lnTo>
                    <a:pt x="23" y="34"/>
                  </a:lnTo>
                  <a:lnTo>
                    <a:pt x="59" y="46"/>
                  </a:lnTo>
                  <a:lnTo>
                    <a:pt x="57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5" name="ïslïḓé">
              <a:extLst>
                <a:ext uri="{FF2B5EF4-FFF2-40B4-BE49-F238E27FC236}">
                  <a16:creationId xmlns:a16="http://schemas.microsoft.com/office/drawing/2014/main" id="{576F1EE3-2651-2B91-701F-68FA1B214D1B}"/>
                </a:ext>
              </a:extLst>
            </p:cNvPr>
            <p:cNvSpPr/>
            <p:nvPr/>
          </p:nvSpPr>
          <p:spPr bwMode="auto">
            <a:xfrm>
              <a:off x="3673475" y="3527426"/>
              <a:ext cx="96838" cy="79375"/>
            </a:xfrm>
            <a:custGeom>
              <a:avLst/>
              <a:gdLst>
                <a:gd name="T0" fmla="*/ 12 w 27"/>
                <a:gd name="T1" fmla="*/ 22 h 22"/>
                <a:gd name="T2" fmla="*/ 5 w 27"/>
                <a:gd name="T3" fmla="*/ 20 h 22"/>
                <a:gd name="T4" fmla="*/ 2 w 27"/>
                <a:gd name="T5" fmla="*/ 17 h 22"/>
                <a:gd name="T6" fmla="*/ 0 w 27"/>
                <a:gd name="T7" fmla="*/ 14 h 22"/>
                <a:gd name="T8" fmla="*/ 0 w 27"/>
                <a:gd name="T9" fmla="*/ 9 h 22"/>
                <a:gd name="T10" fmla="*/ 5 w 27"/>
                <a:gd name="T11" fmla="*/ 2 h 22"/>
                <a:gd name="T12" fmla="*/ 15 w 27"/>
                <a:gd name="T13" fmla="*/ 1 h 22"/>
                <a:gd name="T14" fmla="*/ 24 w 27"/>
                <a:gd name="T15" fmla="*/ 5 h 22"/>
                <a:gd name="T16" fmla="*/ 26 w 27"/>
                <a:gd name="T17" fmla="*/ 14 h 22"/>
                <a:gd name="T18" fmla="*/ 21 w 27"/>
                <a:gd name="T19" fmla="*/ 21 h 22"/>
                <a:gd name="T20" fmla="*/ 12 w 27"/>
                <a:gd name="T21" fmla="*/ 22 h 22"/>
                <a:gd name="T22" fmla="*/ 12 w 27"/>
                <a:gd name="T23" fmla="*/ 17 h 22"/>
                <a:gd name="T24" fmla="*/ 19 w 27"/>
                <a:gd name="T25" fmla="*/ 17 h 22"/>
                <a:gd name="T26" fmla="*/ 22 w 27"/>
                <a:gd name="T27" fmla="*/ 13 h 22"/>
                <a:gd name="T28" fmla="*/ 21 w 27"/>
                <a:gd name="T29" fmla="*/ 8 h 22"/>
                <a:gd name="T30" fmla="*/ 14 w 27"/>
                <a:gd name="T31" fmla="*/ 5 h 22"/>
                <a:gd name="T32" fmla="*/ 8 w 27"/>
                <a:gd name="T33" fmla="*/ 6 h 22"/>
                <a:gd name="T34" fmla="*/ 5 w 27"/>
                <a:gd name="T35" fmla="*/ 10 h 22"/>
                <a:gd name="T36" fmla="*/ 6 w 27"/>
                <a:gd name="T37" fmla="*/ 14 h 22"/>
                <a:gd name="T38" fmla="*/ 12 w 27"/>
                <a:gd name="T39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2">
                  <a:moveTo>
                    <a:pt x="12" y="22"/>
                  </a:moveTo>
                  <a:cubicBezTo>
                    <a:pt x="9" y="21"/>
                    <a:pt x="7" y="21"/>
                    <a:pt x="5" y="20"/>
                  </a:cubicBezTo>
                  <a:cubicBezTo>
                    <a:pt x="4" y="19"/>
                    <a:pt x="3" y="18"/>
                    <a:pt x="2" y="17"/>
                  </a:cubicBezTo>
                  <a:cubicBezTo>
                    <a:pt x="1" y="16"/>
                    <a:pt x="1" y="15"/>
                    <a:pt x="0" y="14"/>
                  </a:cubicBezTo>
                  <a:cubicBezTo>
                    <a:pt x="0" y="12"/>
                    <a:pt x="0" y="11"/>
                    <a:pt x="0" y="9"/>
                  </a:cubicBezTo>
                  <a:cubicBezTo>
                    <a:pt x="1" y="6"/>
                    <a:pt x="2" y="4"/>
                    <a:pt x="5" y="2"/>
                  </a:cubicBezTo>
                  <a:cubicBezTo>
                    <a:pt x="8" y="1"/>
                    <a:pt x="11" y="0"/>
                    <a:pt x="15" y="1"/>
                  </a:cubicBezTo>
                  <a:cubicBezTo>
                    <a:pt x="19" y="2"/>
                    <a:pt x="22" y="3"/>
                    <a:pt x="24" y="5"/>
                  </a:cubicBezTo>
                  <a:cubicBezTo>
                    <a:pt x="26" y="8"/>
                    <a:pt x="27" y="10"/>
                    <a:pt x="26" y="14"/>
                  </a:cubicBezTo>
                  <a:cubicBezTo>
                    <a:pt x="26" y="17"/>
                    <a:pt x="24" y="19"/>
                    <a:pt x="21" y="21"/>
                  </a:cubicBezTo>
                  <a:cubicBezTo>
                    <a:pt x="19" y="22"/>
                    <a:pt x="16" y="22"/>
                    <a:pt x="12" y="22"/>
                  </a:cubicBezTo>
                  <a:close/>
                  <a:moveTo>
                    <a:pt x="12" y="17"/>
                  </a:moveTo>
                  <a:cubicBezTo>
                    <a:pt x="15" y="18"/>
                    <a:pt x="17" y="18"/>
                    <a:pt x="19" y="17"/>
                  </a:cubicBezTo>
                  <a:cubicBezTo>
                    <a:pt x="21" y="16"/>
                    <a:pt x="22" y="15"/>
                    <a:pt x="22" y="13"/>
                  </a:cubicBezTo>
                  <a:cubicBezTo>
                    <a:pt x="22" y="11"/>
                    <a:pt x="22" y="10"/>
                    <a:pt x="21" y="8"/>
                  </a:cubicBezTo>
                  <a:cubicBezTo>
                    <a:pt x="19" y="7"/>
                    <a:pt x="17" y="6"/>
                    <a:pt x="14" y="5"/>
                  </a:cubicBezTo>
                  <a:cubicBezTo>
                    <a:pt x="11" y="5"/>
                    <a:pt x="9" y="5"/>
                    <a:pt x="8" y="6"/>
                  </a:cubicBezTo>
                  <a:cubicBezTo>
                    <a:pt x="6" y="7"/>
                    <a:pt x="5" y="8"/>
                    <a:pt x="5" y="10"/>
                  </a:cubicBezTo>
                  <a:cubicBezTo>
                    <a:pt x="4" y="12"/>
                    <a:pt x="5" y="13"/>
                    <a:pt x="6" y="14"/>
                  </a:cubicBezTo>
                  <a:cubicBezTo>
                    <a:pt x="7" y="16"/>
                    <a:pt x="9" y="17"/>
                    <a:pt x="12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6" name="ïṣḻîḋé">
              <a:extLst>
                <a:ext uri="{FF2B5EF4-FFF2-40B4-BE49-F238E27FC236}">
                  <a16:creationId xmlns:a16="http://schemas.microsoft.com/office/drawing/2014/main" id="{B491D6CB-B2B3-4814-0C68-23AEEF0C2A2B}"/>
                </a:ext>
              </a:extLst>
            </p:cNvPr>
            <p:cNvSpPr/>
            <p:nvPr/>
          </p:nvSpPr>
          <p:spPr bwMode="auto">
            <a:xfrm>
              <a:off x="3684588" y="3465513"/>
              <a:ext cx="93663" cy="53975"/>
            </a:xfrm>
            <a:custGeom>
              <a:avLst/>
              <a:gdLst>
                <a:gd name="T0" fmla="*/ 57 w 59"/>
                <a:gd name="T1" fmla="*/ 34 h 34"/>
                <a:gd name="T2" fmla="*/ 0 w 59"/>
                <a:gd name="T3" fmla="*/ 30 h 34"/>
                <a:gd name="T4" fmla="*/ 0 w 59"/>
                <a:gd name="T5" fmla="*/ 20 h 34"/>
                <a:gd name="T6" fmla="*/ 47 w 59"/>
                <a:gd name="T7" fmla="*/ 23 h 34"/>
                <a:gd name="T8" fmla="*/ 50 w 59"/>
                <a:gd name="T9" fmla="*/ 0 h 34"/>
                <a:gd name="T10" fmla="*/ 59 w 59"/>
                <a:gd name="T11" fmla="*/ 0 h 34"/>
                <a:gd name="T12" fmla="*/ 57 w 59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34">
                  <a:moveTo>
                    <a:pt x="57" y="34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47" y="23"/>
                  </a:lnTo>
                  <a:lnTo>
                    <a:pt x="50" y="0"/>
                  </a:lnTo>
                  <a:lnTo>
                    <a:pt x="59" y="0"/>
                  </a:lnTo>
                  <a:lnTo>
                    <a:pt x="57" y="3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7" name="ïṥḷîḓè">
              <a:extLst>
                <a:ext uri="{FF2B5EF4-FFF2-40B4-BE49-F238E27FC236}">
                  <a16:creationId xmlns:a16="http://schemas.microsoft.com/office/drawing/2014/main" id="{41064502-35CB-C7F7-AC58-780557783B77}"/>
                </a:ext>
              </a:extLst>
            </p:cNvPr>
            <p:cNvSpPr/>
            <p:nvPr/>
          </p:nvSpPr>
          <p:spPr bwMode="auto">
            <a:xfrm>
              <a:off x="3684588" y="3375026"/>
              <a:ext cx="96838" cy="76200"/>
            </a:xfrm>
            <a:custGeom>
              <a:avLst/>
              <a:gdLst>
                <a:gd name="T0" fmla="*/ 14 w 27"/>
                <a:gd name="T1" fmla="*/ 21 h 21"/>
                <a:gd name="T2" fmla="*/ 7 w 27"/>
                <a:gd name="T3" fmla="*/ 21 h 21"/>
                <a:gd name="T4" fmla="*/ 4 w 27"/>
                <a:gd name="T5" fmla="*/ 19 h 21"/>
                <a:gd name="T6" fmla="*/ 2 w 27"/>
                <a:gd name="T7" fmla="*/ 16 h 21"/>
                <a:gd name="T8" fmla="*/ 0 w 27"/>
                <a:gd name="T9" fmla="*/ 11 h 21"/>
                <a:gd name="T10" fmla="*/ 4 w 27"/>
                <a:gd name="T11" fmla="*/ 3 h 21"/>
                <a:gd name="T12" fmla="*/ 13 w 27"/>
                <a:gd name="T13" fmla="*/ 0 h 21"/>
                <a:gd name="T14" fmla="*/ 23 w 27"/>
                <a:gd name="T15" fmla="*/ 3 h 21"/>
                <a:gd name="T16" fmla="*/ 27 w 27"/>
                <a:gd name="T17" fmla="*/ 11 h 21"/>
                <a:gd name="T18" fmla="*/ 24 w 27"/>
                <a:gd name="T19" fmla="*/ 18 h 21"/>
                <a:gd name="T20" fmla="*/ 14 w 27"/>
                <a:gd name="T21" fmla="*/ 21 h 21"/>
                <a:gd name="T22" fmla="*/ 14 w 27"/>
                <a:gd name="T23" fmla="*/ 17 h 21"/>
                <a:gd name="T24" fmla="*/ 20 w 27"/>
                <a:gd name="T25" fmla="*/ 15 h 21"/>
                <a:gd name="T26" fmla="*/ 22 w 27"/>
                <a:gd name="T27" fmla="*/ 11 h 21"/>
                <a:gd name="T28" fmla="*/ 20 w 27"/>
                <a:gd name="T29" fmla="*/ 6 h 21"/>
                <a:gd name="T30" fmla="*/ 13 w 27"/>
                <a:gd name="T31" fmla="*/ 5 h 21"/>
                <a:gd name="T32" fmla="*/ 7 w 27"/>
                <a:gd name="T33" fmla="*/ 7 h 21"/>
                <a:gd name="T34" fmla="*/ 5 w 27"/>
                <a:gd name="T35" fmla="*/ 11 h 21"/>
                <a:gd name="T36" fmla="*/ 7 w 27"/>
                <a:gd name="T37" fmla="*/ 15 h 21"/>
                <a:gd name="T38" fmla="*/ 14 w 27"/>
                <a:gd name="T3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1">
                  <a:moveTo>
                    <a:pt x="14" y="21"/>
                  </a:moveTo>
                  <a:cubicBezTo>
                    <a:pt x="11" y="21"/>
                    <a:pt x="9" y="21"/>
                    <a:pt x="7" y="21"/>
                  </a:cubicBezTo>
                  <a:cubicBezTo>
                    <a:pt x="6" y="20"/>
                    <a:pt x="5" y="19"/>
                    <a:pt x="4" y="19"/>
                  </a:cubicBezTo>
                  <a:cubicBezTo>
                    <a:pt x="3" y="18"/>
                    <a:pt x="2" y="17"/>
                    <a:pt x="2" y="16"/>
                  </a:cubicBezTo>
                  <a:cubicBezTo>
                    <a:pt x="1" y="15"/>
                    <a:pt x="0" y="13"/>
                    <a:pt x="0" y="11"/>
                  </a:cubicBezTo>
                  <a:cubicBezTo>
                    <a:pt x="0" y="8"/>
                    <a:pt x="1" y="5"/>
                    <a:pt x="4" y="3"/>
                  </a:cubicBezTo>
                  <a:cubicBezTo>
                    <a:pt x="6" y="1"/>
                    <a:pt x="9" y="0"/>
                    <a:pt x="13" y="0"/>
                  </a:cubicBezTo>
                  <a:cubicBezTo>
                    <a:pt x="18" y="0"/>
                    <a:pt x="21" y="1"/>
                    <a:pt x="23" y="3"/>
                  </a:cubicBezTo>
                  <a:cubicBezTo>
                    <a:pt x="26" y="5"/>
                    <a:pt x="27" y="7"/>
                    <a:pt x="27" y="11"/>
                  </a:cubicBezTo>
                  <a:cubicBezTo>
                    <a:pt x="27" y="14"/>
                    <a:pt x="26" y="16"/>
                    <a:pt x="24" y="18"/>
                  </a:cubicBezTo>
                  <a:cubicBezTo>
                    <a:pt x="21" y="20"/>
                    <a:pt x="18" y="21"/>
                    <a:pt x="14" y="21"/>
                  </a:cubicBezTo>
                  <a:close/>
                  <a:moveTo>
                    <a:pt x="14" y="17"/>
                  </a:moveTo>
                  <a:cubicBezTo>
                    <a:pt x="17" y="17"/>
                    <a:pt x="19" y="16"/>
                    <a:pt x="20" y="15"/>
                  </a:cubicBezTo>
                  <a:cubicBezTo>
                    <a:pt x="22" y="14"/>
                    <a:pt x="22" y="12"/>
                    <a:pt x="22" y="11"/>
                  </a:cubicBezTo>
                  <a:cubicBezTo>
                    <a:pt x="22" y="9"/>
                    <a:pt x="22" y="8"/>
                    <a:pt x="20" y="6"/>
                  </a:cubicBezTo>
                  <a:cubicBezTo>
                    <a:pt x="19" y="5"/>
                    <a:pt x="16" y="5"/>
                    <a:pt x="13" y="5"/>
                  </a:cubicBezTo>
                  <a:cubicBezTo>
                    <a:pt x="10" y="5"/>
                    <a:pt x="8" y="6"/>
                    <a:pt x="7" y="7"/>
                  </a:cubicBezTo>
                  <a:cubicBezTo>
                    <a:pt x="5" y="8"/>
                    <a:pt x="5" y="9"/>
                    <a:pt x="5" y="11"/>
                  </a:cubicBezTo>
                  <a:cubicBezTo>
                    <a:pt x="5" y="13"/>
                    <a:pt x="6" y="14"/>
                    <a:pt x="7" y="15"/>
                  </a:cubicBezTo>
                  <a:cubicBezTo>
                    <a:pt x="9" y="16"/>
                    <a:pt x="11" y="17"/>
                    <a:pt x="14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8" name="iṥḷíďè">
              <a:extLst>
                <a:ext uri="{FF2B5EF4-FFF2-40B4-BE49-F238E27FC236}">
                  <a16:creationId xmlns:a16="http://schemas.microsoft.com/office/drawing/2014/main" id="{66C87D98-138C-E487-D523-9684282CA5B9}"/>
                </a:ext>
              </a:extLst>
            </p:cNvPr>
            <p:cNvSpPr/>
            <p:nvPr/>
          </p:nvSpPr>
          <p:spPr bwMode="auto">
            <a:xfrm>
              <a:off x="3676650" y="3287713"/>
              <a:ext cx="98425" cy="79375"/>
            </a:xfrm>
            <a:custGeom>
              <a:avLst/>
              <a:gdLst>
                <a:gd name="T0" fmla="*/ 17 w 27"/>
                <a:gd name="T1" fmla="*/ 10 h 22"/>
                <a:gd name="T2" fmla="*/ 13 w 27"/>
                <a:gd name="T3" fmla="*/ 11 h 22"/>
                <a:gd name="T4" fmla="*/ 12 w 27"/>
                <a:gd name="T5" fmla="*/ 1 h 22"/>
                <a:gd name="T6" fmla="*/ 22 w 27"/>
                <a:gd name="T7" fmla="*/ 0 h 22"/>
                <a:gd name="T8" fmla="*/ 25 w 27"/>
                <a:gd name="T9" fmla="*/ 4 h 22"/>
                <a:gd name="T10" fmla="*/ 27 w 27"/>
                <a:gd name="T11" fmla="*/ 9 h 22"/>
                <a:gd name="T12" fmla="*/ 26 w 27"/>
                <a:gd name="T13" fmla="*/ 15 h 22"/>
                <a:gd name="T14" fmla="*/ 22 w 27"/>
                <a:gd name="T15" fmla="*/ 19 h 22"/>
                <a:gd name="T16" fmla="*/ 15 w 27"/>
                <a:gd name="T17" fmla="*/ 21 h 22"/>
                <a:gd name="T18" fmla="*/ 8 w 27"/>
                <a:gd name="T19" fmla="*/ 21 h 22"/>
                <a:gd name="T20" fmla="*/ 3 w 27"/>
                <a:gd name="T21" fmla="*/ 17 h 22"/>
                <a:gd name="T22" fmla="*/ 1 w 27"/>
                <a:gd name="T23" fmla="*/ 12 h 22"/>
                <a:gd name="T24" fmla="*/ 2 w 27"/>
                <a:gd name="T25" fmla="*/ 6 h 22"/>
                <a:gd name="T26" fmla="*/ 7 w 27"/>
                <a:gd name="T27" fmla="*/ 2 h 22"/>
                <a:gd name="T28" fmla="*/ 8 w 27"/>
                <a:gd name="T29" fmla="*/ 7 h 22"/>
                <a:gd name="T30" fmla="*/ 6 w 27"/>
                <a:gd name="T31" fmla="*/ 9 h 22"/>
                <a:gd name="T32" fmla="*/ 5 w 27"/>
                <a:gd name="T33" fmla="*/ 12 h 22"/>
                <a:gd name="T34" fmla="*/ 8 w 27"/>
                <a:gd name="T35" fmla="*/ 16 h 22"/>
                <a:gd name="T36" fmla="*/ 14 w 27"/>
                <a:gd name="T37" fmla="*/ 17 h 22"/>
                <a:gd name="T38" fmla="*/ 21 w 27"/>
                <a:gd name="T39" fmla="*/ 14 h 22"/>
                <a:gd name="T40" fmla="*/ 22 w 27"/>
                <a:gd name="T41" fmla="*/ 10 h 22"/>
                <a:gd name="T42" fmla="*/ 21 w 27"/>
                <a:gd name="T43" fmla="*/ 7 h 22"/>
                <a:gd name="T44" fmla="*/ 20 w 27"/>
                <a:gd name="T45" fmla="*/ 5 h 22"/>
                <a:gd name="T46" fmla="*/ 16 w 27"/>
                <a:gd name="T47" fmla="*/ 5 h 22"/>
                <a:gd name="T48" fmla="*/ 17 w 27"/>
                <a:gd name="T49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" h="22">
                  <a:moveTo>
                    <a:pt x="17" y="10"/>
                  </a:moveTo>
                  <a:cubicBezTo>
                    <a:pt x="13" y="11"/>
                    <a:pt x="13" y="11"/>
                    <a:pt x="13" y="1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1"/>
                    <a:pt x="24" y="2"/>
                    <a:pt x="25" y="4"/>
                  </a:cubicBezTo>
                  <a:cubicBezTo>
                    <a:pt x="26" y="5"/>
                    <a:pt x="27" y="7"/>
                    <a:pt x="27" y="9"/>
                  </a:cubicBezTo>
                  <a:cubicBezTo>
                    <a:pt x="27" y="11"/>
                    <a:pt x="27" y="13"/>
                    <a:pt x="26" y="15"/>
                  </a:cubicBezTo>
                  <a:cubicBezTo>
                    <a:pt x="25" y="17"/>
                    <a:pt x="24" y="18"/>
                    <a:pt x="22" y="19"/>
                  </a:cubicBezTo>
                  <a:cubicBezTo>
                    <a:pt x="20" y="20"/>
                    <a:pt x="18" y="21"/>
                    <a:pt x="15" y="21"/>
                  </a:cubicBezTo>
                  <a:cubicBezTo>
                    <a:pt x="12" y="22"/>
                    <a:pt x="10" y="22"/>
                    <a:pt x="8" y="21"/>
                  </a:cubicBezTo>
                  <a:cubicBezTo>
                    <a:pt x="6" y="20"/>
                    <a:pt x="4" y="19"/>
                    <a:pt x="3" y="17"/>
                  </a:cubicBezTo>
                  <a:cubicBezTo>
                    <a:pt x="2" y="16"/>
                    <a:pt x="1" y="15"/>
                    <a:pt x="1" y="12"/>
                  </a:cubicBezTo>
                  <a:cubicBezTo>
                    <a:pt x="0" y="10"/>
                    <a:pt x="1" y="8"/>
                    <a:pt x="2" y="6"/>
                  </a:cubicBezTo>
                  <a:cubicBezTo>
                    <a:pt x="3" y="4"/>
                    <a:pt x="5" y="3"/>
                    <a:pt x="7" y="2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7"/>
                    <a:pt x="6" y="8"/>
                    <a:pt x="6" y="9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4"/>
                    <a:pt x="6" y="15"/>
                    <a:pt x="8" y="16"/>
                  </a:cubicBezTo>
                  <a:cubicBezTo>
                    <a:pt x="9" y="17"/>
                    <a:pt x="12" y="17"/>
                    <a:pt x="14" y="17"/>
                  </a:cubicBezTo>
                  <a:cubicBezTo>
                    <a:pt x="17" y="17"/>
                    <a:pt x="19" y="16"/>
                    <a:pt x="21" y="14"/>
                  </a:cubicBezTo>
                  <a:cubicBezTo>
                    <a:pt x="22" y="13"/>
                    <a:pt x="23" y="11"/>
                    <a:pt x="22" y="10"/>
                  </a:cubicBezTo>
                  <a:cubicBezTo>
                    <a:pt x="22" y="9"/>
                    <a:pt x="22" y="8"/>
                    <a:pt x="21" y="7"/>
                  </a:cubicBezTo>
                  <a:cubicBezTo>
                    <a:pt x="21" y="6"/>
                    <a:pt x="20" y="5"/>
                    <a:pt x="20" y="5"/>
                  </a:cubicBezTo>
                  <a:cubicBezTo>
                    <a:pt x="16" y="5"/>
                    <a:pt x="16" y="5"/>
                    <a:pt x="16" y="5"/>
                  </a:cubicBezTo>
                  <a:lnTo>
                    <a:pt x="17" y="1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9" name="ïş1ídè">
              <a:extLst>
                <a:ext uri="{FF2B5EF4-FFF2-40B4-BE49-F238E27FC236}">
                  <a16:creationId xmlns:a16="http://schemas.microsoft.com/office/drawing/2014/main" id="{2829CD61-BFA0-C3B3-4B7E-5BB2A39DC58A}"/>
                </a:ext>
              </a:extLst>
            </p:cNvPr>
            <p:cNvSpPr/>
            <p:nvPr/>
          </p:nvSpPr>
          <p:spPr bwMode="auto">
            <a:xfrm>
              <a:off x="3659188" y="3225801"/>
              <a:ext cx="100013" cy="69850"/>
            </a:xfrm>
            <a:custGeom>
              <a:avLst/>
              <a:gdLst>
                <a:gd name="T0" fmla="*/ 63 w 63"/>
                <a:gd name="T1" fmla="*/ 14 h 44"/>
                <a:gd name="T2" fmla="*/ 38 w 63"/>
                <a:gd name="T3" fmla="*/ 18 h 44"/>
                <a:gd name="T4" fmla="*/ 11 w 63"/>
                <a:gd name="T5" fmla="*/ 44 h 44"/>
                <a:gd name="T6" fmla="*/ 7 w 63"/>
                <a:gd name="T7" fmla="*/ 32 h 44"/>
                <a:gd name="T8" fmla="*/ 27 w 63"/>
                <a:gd name="T9" fmla="*/ 16 h 44"/>
                <a:gd name="T10" fmla="*/ 2 w 63"/>
                <a:gd name="T11" fmla="*/ 9 h 44"/>
                <a:gd name="T12" fmla="*/ 0 w 63"/>
                <a:gd name="T13" fmla="*/ 0 h 44"/>
                <a:gd name="T14" fmla="*/ 36 w 63"/>
                <a:gd name="T15" fmla="*/ 9 h 44"/>
                <a:gd name="T16" fmla="*/ 61 w 63"/>
                <a:gd name="T17" fmla="*/ 2 h 44"/>
                <a:gd name="T18" fmla="*/ 63 w 63"/>
                <a:gd name="T19" fmla="*/ 1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44">
                  <a:moveTo>
                    <a:pt x="63" y="14"/>
                  </a:moveTo>
                  <a:lnTo>
                    <a:pt x="38" y="18"/>
                  </a:lnTo>
                  <a:lnTo>
                    <a:pt x="11" y="44"/>
                  </a:lnTo>
                  <a:lnTo>
                    <a:pt x="7" y="32"/>
                  </a:lnTo>
                  <a:lnTo>
                    <a:pt x="27" y="16"/>
                  </a:lnTo>
                  <a:lnTo>
                    <a:pt x="2" y="9"/>
                  </a:lnTo>
                  <a:lnTo>
                    <a:pt x="0" y="0"/>
                  </a:lnTo>
                  <a:lnTo>
                    <a:pt x="36" y="9"/>
                  </a:lnTo>
                  <a:lnTo>
                    <a:pt x="61" y="2"/>
                  </a:lnTo>
                  <a:lnTo>
                    <a:pt x="63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0" name="îŝļiḑe">
              <a:extLst>
                <a:ext uri="{FF2B5EF4-FFF2-40B4-BE49-F238E27FC236}">
                  <a16:creationId xmlns:a16="http://schemas.microsoft.com/office/drawing/2014/main" id="{625EE407-D0F0-A4D8-240C-456A6216A26C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1" name="í$ļïḓé">
              <a:extLst>
                <a:ext uri="{FF2B5EF4-FFF2-40B4-BE49-F238E27FC236}">
                  <a16:creationId xmlns:a16="http://schemas.microsoft.com/office/drawing/2014/main" id="{CB7644ED-54BA-E53C-CE05-8158552C83DF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2" name="i$1iďê">
              <a:extLst>
                <a:ext uri="{FF2B5EF4-FFF2-40B4-BE49-F238E27FC236}">
                  <a16:creationId xmlns:a16="http://schemas.microsoft.com/office/drawing/2014/main" id="{7A8213F7-6B62-4A7A-4A76-6E984FAB9D49}"/>
                </a:ext>
              </a:extLst>
            </p:cNvPr>
            <p:cNvSpPr/>
            <p:nvPr/>
          </p:nvSpPr>
          <p:spPr bwMode="auto">
            <a:xfrm>
              <a:off x="2768600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3" name="îšḷiḍe">
              <a:extLst>
                <a:ext uri="{FF2B5EF4-FFF2-40B4-BE49-F238E27FC236}">
                  <a16:creationId xmlns:a16="http://schemas.microsoft.com/office/drawing/2014/main" id="{F868CE21-5E90-7A92-4C2F-6491270F91D8}"/>
                </a:ext>
              </a:extLst>
            </p:cNvPr>
            <p:cNvSpPr/>
            <p:nvPr/>
          </p:nvSpPr>
          <p:spPr bwMode="auto">
            <a:xfrm>
              <a:off x="3121025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4" name="íṥlïdê">
              <a:extLst>
                <a:ext uri="{FF2B5EF4-FFF2-40B4-BE49-F238E27FC236}">
                  <a16:creationId xmlns:a16="http://schemas.microsoft.com/office/drawing/2014/main" id="{92C3E46F-D149-DBAF-2089-1E4ED880476A}"/>
                </a:ext>
              </a:extLst>
            </p:cNvPr>
            <p:cNvSpPr/>
            <p:nvPr/>
          </p:nvSpPr>
          <p:spPr bwMode="auto">
            <a:xfrm>
              <a:off x="2871788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5" name="íśľîďé">
              <a:extLst>
                <a:ext uri="{FF2B5EF4-FFF2-40B4-BE49-F238E27FC236}">
                  <a16:creationId xmlns:a16="http://schemas.microsoft.com/office/drawing/2014/main" id="{2AEC2632-39A7-3349-9738-404C0263D74C}"/>
                </a:ext>
              </a:extLst>
            </p:cNvPr>
            <p:cNvSpPr/>
            <p:nvPr/>
          </p:nvSpPr>
          <p:spPr bwMode="auto">
            <a:xfrm>
              <a:off x="3021013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6" name="iŝḻîdé">
              <a:extLst>
                <a:ext uri="{FF2B5EF4-FFF2-40B4-BE49-F238E27FC236}">
                  <a16:creationId xmlns:a16="http://schemas.microsoft.com/office/drawing/2014/main" id="{5C6B6E80-97C4-5247-33BD-5F9B0FE263BD}"/>
                </a:ext>
              </a:extLst>
            </p:cNvPr>
            <p:cNvSpPr/>
            <p:nvPr/>
          </p:nvSpPr>
          <p:spPr bwMode="auto">
            <a:xfrm>
              <a:off x="2768600" y="3482976"/>
              <a:ext cx="396875" cy="109538"/>
            </a:xfrm>
            <a:custGeom>
              <a:avLst/>
              <a:gdLst>
                <a:gd name="T0" fmla="*/ 250 w 250"/>
                <a:gd name="T1" fmla="*/ 0 h 69"/>
                <a:gd name="T2" fmla="*/ 225 w 250"/>
                <a:gd name="T3" fmla="*/ 0 h 69"/>
                <a:gd name="T4" fmla="*/ 225 w 250"/>
                <a:gd name="T5" fmla="*/ 5 h 69"/>
                <a:gd name="T6" fmla="*/ 222 w 250"/>
                <a:gd name="T7" fmla="*/ 5 h 69"/>
                <a:gd name="T8" fmla="*/ 222 w 250"/>
                <a:gd name="T9" fmla="*/ 0 h 69"/>
                <a:gd name="T10" fmla="*/ 186 w 250"/>
                <a:gd name="T11" fmla="*/ 0 h 69"/>
                <a:gd name="T12" fmla="*/ 186 w 250"/>
                <a:gd name="T13" fmla="*/ 5 h 69"/>
                <a:gd name="T14" fmla="*/ 184 w 250"/>
                <a:gd name="T15" fmla="*/ 5 h 69"/>
                <a:gd name="T16" fmla="*/ 184 w 250"/>
                <a:gd name="T17" fmla="*/ 0 h 69"/>
                <a:gd name="T18" fmla="*/ 161 w 250"/>
                <a:gd name="T19" fmla="*/ 0 h 69"/>
                <a:gd name="T20" fmla="*/ 161 w 250"/>
                <a:gd name="T21" fmla="*/ 5 h 69"/>
                <a:gd name="T22" fmla="*/ 159 w 250"/>
                <a:gd name="T23" fmla="*/ 5 h 69"/>
                <a:gd name="T24" fmla="*/ 159 w 250"/>
                <a:gd name="T25" fmla="*/ 0 h 69"/>
                <a:gd name="T26" fmla="*/ 93 w 250"/>
                <a:gd name="T27" fmla="*/ 0 h 69"/>
                <a:gd name="T28" fmla="*/ 93 w 250"/>
                <a:gd name="T29" fmla="*/ 5 h 69"/>
                <a:gd name="T30" fmla="*/ 90 w 250"/>
                <a:gd name="T31" fmla="*/ 5 h 69"/>
                <a:gd name="T32" fmla="*/ 90 w 250"/>
                <a:gd name="T33" fmla="*/ 0 h 69"/>
                <a:gd name="T34" fmla="*/ 65 w 250"/>
                <a:gd name="T35" fmla="*/ 0 h 69"/>
                <a:gd name="T36" fmla="*/ 65 w 250"/>
                <a:gd name="T37" fmla="*/ 5 h 69"/>
                <a:gd name="T38" fmla="*/ 65 w 250"/>
                <a:gd name="T39" fmla="*/ 5 h 69"/>
                <a:gd name="T40" fmla="*/ 65 w 250"/>
                <a:gd name="T41" fmla="*/ 0 h 69"/>
                <a:gd name="T42" fmla="*/ 27 w 250"/>
                <a:gd name="T43" fmla="*/ 0 h 69"/>
                <a:gd name="T44" fmla="*/ 27 w 250"/>
                <a:gd name="T45" fmla="*/ 5 h 69"/>
                <a:gd name="T46" fmla="*/ 25 w 250"/>
                <a:gd name="T47" fmla="*/ 5 h 69"/>
                <a:gd name="T48" fmla="*/ 25 w 250"/>
                <a:gd name="T49" fmla="*/ 0 h 69"/>
                <a:gd name="T50" fmla="*/ 2 w 250"/>
                <a:gd name="T51" fmla="*/ 0 h 69"/>
                <a:gd name="T52" fmla="*/ 2 w 250"/>
                <a:gd name="T53" fmla="*/ 5 h 69"/>
                <a:gd name="T54" fmla="*/ 0 w 250"/>
                <a:gd name="T55" fmla="*/ 5 h 69"/>
                <a:gd name="T56" fmla="*/ 0 w 250"/>
                <a:gd name="T57" fmla="*/ 69 h 69"/>
                <a:gd name="T58" fmla="*/ 27 w 250"/>
                <a:gd name="T59" fmla="*/ 69 h 69"/>
                <a:gd name="T60" fmla="*/ 27 w 250"/>
                <a:gd name="T61" fmla="*/ 12 h 69"/>
                <a:gd name="T62" fmla="*/ 65 w 250"/>
                <a:gd name="T63" fmla="*/ 12 h 69"/>
                <a:gd name="T64" fmla="*/ 65 w 250"/>
                <a:gd name="T65" fmla="*/ 69 h 69"/>
                <a:gd name="T66" fmla="*/ 93 w 250"/>
                <a:gd name="T67" fmla="*/ 69 h 69"/>
                <a:gd name="T68" fmla="*/ 93 w 250"/>
                <a:gd name="T69" fmla="*/ 12 h 69"/>
                <a:gd name="T70" fmla="*/ 159 w 250"/>
                <a:gd name="T71" fmla="*/ 12 h 69"/>
                <a:gd name="T72" fmla="*/ 159 w 250"/>
                <a:gd name="T73" fmla="*/ 69 h 69"/>
                <a:gd name="T74" fmla="*/ 186 w 250"/>
                <a:gd name="T75" fmla="*/ 69 h 69"/>
                <a:gd name="T76" fmla="*/ 186 w 250"/>
                <a:gd name="T77" fmla="*/ 12 h 69"/>
                <a:gd name="T78" fmla="*/ 222 w 250"/>
                <a:gd name="T79" fmla="*/ 12 h 69"/>
                <a:gd name="T80" fmla="*/ 222 w 250"/>
                <a:gd name="T81" fmla="*/ 69 h 69"/>
                <a:gd name="T82" fmla="*/ 250 w 250"/>
                <a:gd name="T83" fmla="*/ 69 h 69"/>
                <a:gd name="T84" fmla="*/ 250 w 250"/>
                <a:gd name="T85" fmla="*/ 5 h 69"/>
                <a:gd name="T86" fmla="*/ 250 w 250"/>
                <a:gd name="T87" fmla="*/ 5 h 69"/>
                <a:gd name="T88" fmla="*/ 250 w 250"/>
                <a:gd name="T8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0" h="69">
                  <a:moveTo>
                    <a:pt x="250" y="0"/>
                  </a:moveTo>
                  <a:lnTo>
                    <a:pt x="225" y="0"/>
                  </a:lnTo>
                  <a:lnTo>
                    <a:pt x="225" y="5"/>
                  </a:lnTo>
                  <a:lnTo>
                    <a:pt x="222" y="5"/>
                  </a:lnTo>
                  <a:lnTo>
                    <a:pt x="222" y="0"/>
                  </a:lnTo>
                  <a:lnTo>
                    <a:pt x="186" y="0"/>
                  </a:lnTo>
                  <a:lnTo>
                    <a:pt x="186" y="5"/>
                  </a:lnTo>
                  <a:lnTo>
                    <a:pt x="184" y="5"/>
                  </a:lnTo>
                  <a:lnTo>
                    <a:pt x="184" y="0"/>
                  </a:lnTo>
                  <a:lnTo>
                    <a:pt x="161" y="0"/>
                  </a:lnTo>
                  <a:lnTo>
                    <a:pt x="161" y="5"/>
                  </a:lnTo>
                  <a:lnTo>
                    <a:pt x="159" y="5"/>
                  </a:lnTo>
                  <a:lnTo>
                    <a:pt x="159" y="0"/>
                  </a:lnTo>
                  <a:lnTo>
                    <a:pt x="93" y="0"/>
                  </a:lnTo>
                  <a:lnTo>
                    <a:pt x="93" y="5"/>
                  </a:lnTo>
                  <a:lnTo>
                    <a:pt x="90" y="5"/>
                  </a:lnTo>
                  <a:lnTo>
                    <a:pt x="90" y="0"/>
                  </a:lnTo>
                  <a:lnTo>
                    <a:pt x="65" y="0"/>
                  </a:lnTo>
                  <a:lnTo>
                    <a:pt x="65" y="5"/>
                  </a:lnTo>
                  <a:lnTo>
                    <a:pt x="65" y="5"/>
                  </a:lnTo>
                  <a:lnTo>
                    <a:pt x="65" y="0"/>
                  </a:lnTo>
                  <a:lnTo>
                    <a:pt x="27" y="0"/>
                  </a:lnTo>
                  <a:lnTo>
                    <a:pt x="27" y="5"/>
                  </a:lnTo>
                  <a:lnTo>
                    <a:pt x="25" y="5"/>
                  </a:lnTo>
                  <a:lnTo>
                    <a:pt x="25" y="0"/>
                  </a:lnTo>
                  <a:lnTo>
                    <a:pt x="2" y="0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69"/>
                  </a:lnTo>
                  <a:lnTo>
                    <a:pt x="27" y="69"/>
                  </a:lnTo>
                  <a:lnTo>
                    <a:pt x="27" y="12"/>
                  </a:lnTo>
                  <a:lnTo>
                    <a:pt x="65" y="12"/>
                  </a:lnTo>
                  <a:lnTo>
                    <a:pt x="65" y="69"/>
                  </a:lnTo>
                  <a:lnTo>
                    <a:pt x="93" y="69"/>
                  </a:lnTo>
                  <a:lnTo>
                    <a:pt x="93" y="12"/>
                  </a:lnTo>
                  <a:lnTo>
                    <a:pt x="159" y="12"/>
                  </a:lnTo>
                  <a:lnTo>
                    <a:pt x="159" y="69"/>
                  </a:lnTo>
                  <a:lnTo>
                    <a:pt x="186" y="69"/>
                  </a:lnTo>
                  <a:lnTo>
                    <a:pt x="186" y="12"/>
                  </a:lnTo>
                  <a:lnTo>
                    <a:pt x="222" y="12"/>
                  </a:lnTo>
                  <a:lnTo>
                    <a:pt x="222" y="69"/>
                  </a:lnTo>
                  <a:lnTo>
                    <a:pt x="250" y="69"/>
                  </a:lnTo>
                  <a:lnTo>
                    <a:pt x="250" y="5"/>
                  </a:lnTo>
                  <a:lnTo>
                    <a:pt x="250" y="5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7" name="ïsḷiḍé">
              <a:extLst>
                <a:ext uri="{FF2B5EF4-FFF2-40B4-BE49-F238E27FC236}">
                  <a16:creationId xmlns:a16="http://schemas.microsoft.com/office/drawing/2014/main" id="{48B1102B-347B-4D6D-A1BB-977FF3B5AD3C}"/>
                </a:ext>
              </a:extLst>
            </p:cNvPr>
            <p:cNvSpPr/>
            <p:nvPr/>
          </p:nvSpPr>
          <p:spPr bwMode="auto">
            <a:xfrm>
              <a:off x="29019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0 w 1"/>
                <a:gd name="T9" fmla="*/ 0 w 1"/>
                <a:gd name="T10" fmla="*/ 0 w 1"/>
                <a:gd name="T11" fmla="*/ 0 w 1"/>
                <a:gd name="T12" fmla="*/ 1 w 1"/>
                <a:gd name="T1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8" name="íṧ1iďè">
              <a:extLst>
                <a:ext uri="{FF2B5EF4-FFF2-40B4-BE49-F238E27FC236}">
                  <a16:creationId xmlns:a16="http://schemas.microsoft.com/office/drawing/2014/main" id="{5F4027BD-02FA-A256-2D43-CA85B2963F57}"/>
                </a:ext>
              </a:extLst>
            </p:cNvPr>
            <p:cNvSpPr/>
            <p:nvPr/>
          </p:nvSpPr>
          <p:spPr bwMode="auto">
            <a:xfrm>
              <a:off x="2901950" y="3443288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0 h 1"/>
                <a:gd name="T5" fmla="*/ 0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9" name="îṩľíḓe">
              <a:extLst>
                <a:ext uri="{FF2B5EF4-FFF2-40B4-BE49-F238E27FC236}">
                  <a16:creationId xmlns:a16="http://schemas.microsoft.com/office/drawing/2014/main" id="{C75D6B14-2C81-115C-74B2-648D19C0CD68}"/>
                </a:ext>
              </a:extLst>
            </p:cNvPr>
            <p:cNvSpPr/>
            <p:nvPr/>
          </p:nvSpPr>
          <p:spPr bwMode="auto">
            <a:xfrm>
              <a:off x="2901950" y="3440113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0" name="ïṡ1ïḑé">
              <a:extLst>
                <a:ext uri="{FF2B5EF4-FFF2-40B4-BE49-F238E27FC236}">
                  <a16:creationId xmlns:a16="http://schemas.microsoft.com/office/drawing/2014/main" id="{BB521E10-DA58-FCE6-2085-293368D2841D}"/>
                </a:ext>
              </a:extLst>
            </p:cNvPr>
            <p:cNvSpPr/>
            <p:nvPr/>
          </p:nvSpPr>
          <p:spPr bwMode="auto">
            <a:xfrm>
              <a:off x="2905125" y="3446463"/>
              <a:ext cx="3175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0 w 1"/>
                <a:gd name="T4" fmla="*/ 1 w 1"/>
                <a:gd name="T5" fmla="*/ 1 w 1"/>
                <a:gd name="T6" fmla="*/ 1 w 1"/>
                <a:gd name="T7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1" name="iṡlíďe">
              <a:extLst>
                <a:ext uri="{FF2B5EF4-FFF2-40B4-BE49-F238E27FC236}">
                  <a16:creationId xmlns:a16="http://schemas.microsoft.com/office/drawing/2014/main" id="{D73D8C5C-56C4-EDED-779B-DD11A698FF57}"/>
                </a:ext>
              </a:extLst>
            </p:cNvPr>
            <p:cNvSpPr/>
            <p:nvPr/>
          </p:nvSpPr>
          <p:spPr bwMode="auto">
            <a:xfrm>
              <a:off x="2908300" y="3446463"/>
              <a:ext cx="3175" cy="476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2" name="ïšḷiḍè">
              <a:extLst>
                <a:ext uri="{FF2B5EF4-FFF2-40B4-BE49-F238E27FC236}">
                  <a16:creationId xmlns:a16="http://schemas.microsoft.com/office/drawing/2014/main" id="{64BAEC53-ECD8-6E42-4B94-A271DC027260}"/>
                </a:ext>
              </a:extLst>
            </p:cNvPr>
            <p:cNvSpPr/>
            <p:nvPr/>
          </p:nvSpPr>
          <p:spPr bwMode="auto">
            <a:xfrm>
              <a:off x="2905125" y="3451226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1 h 1"/>
                <a:gd name="T5" fmla="*/ 1 h 1"/>
                <a:gd name="T6" fmla="*/ 0 h 1"/>
                <a:gd name="T7" fmla="*/ 0 h 1"/>
                <a:gd name="T8" fmla="*/ 0 h 1"/>
                <a:gd name="T9" fmla="*/ 0 h 1"/>
                <a:gd name="T10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3" name="í$1îḓè">
              <a:extLst>
                <a:ext uri="{FF2B5EF4-FFF2-40B4-BE49-F238E27FC236}">
                  <a16:creationId xmlns:a16="http://schemas.microsoft.com/office/drawing/2014/main" id="{F3DA2611-74B9-0123-1FCE-B741996E8F98}"/>
                </a:ext>
              </a:extLst>
            </p:cNvPr>
            <p:cNvSpPr/>
            <p:nvPr/>
          </p:nvSpPr>
          <p:spPr bwMode="auto">
            <a:xfrm>
              <a:off x="2857500" y="3446463"/>
              <a:ext cx="11113" cy="7938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1 h 2"/>
                <a:gd name="T4" fmla="*/ 1 w 3"/>
                <a:gd name="T5" fmla="*/ 1 h 2"/>
                <a:gd name="T6" fmla="*/ 1 w 3"/>
                <a:gd name="T7" fmla="*/ 1 h 2"/>
                <a:gd name="T8" fmla="*/ 1 w 3"/>
                <a:gd name="T9" fmla="*/ 1 h 2"/>
                <a:gd name="T10" fmla="*/ 1 w 3"/>
                <a:gd name="T11" fmla="*/ 0 h 2"/>
                <a:gd name="T12" fmla="*/ 1 w 3"/>
                <a:gd name="T13" fmla="*/ 0 h 2"/>
                <a:gd name="T14" fmla="*/ 1 w 3"/>
                <a:gd name="T15" fmla="*/ 0 h 2"/>
                <a:gd name="T16" fmla="*/ 1 w 3"/>
                <a:gd name="T17" fmla="*/ 0 h 2"/>
                <a:gd name="T18" fmla="*/ 1 w 3"/>
                <a:gd name="T19" fmla="*/ 0 h 2"/>
                <a:gd name="T20" fmla="*/ 1 w 3"/>
                <a:gd name="T21" fmla="*/ 0 h 2"/>
                <a:gd name="T22" fmla="*/ 1 w 3"/>
                <a:gd name="T23" fmla="*/ 0 h 2"/>
                <a:gd name="T24" fmla="*/ 1 w 3"/>
                <a:gd name="T25" fmla="*/ 0 h 2"/>
                <a:gd name="T26" fmla="*/ 1 w 3"/>
                <a:gd name="T27" fmla="*/ 0 h 2"/>
                <a:gd name="T28" fmla="*/ 0 w 3"/>
                <a:gd name="T29" fmla="*/ 0 h 2"/>
                <a:gd name="T30" fmla="*/ 0 w 3"/>
                <a:gd name="T31" fmla="*/ 0 h 2"/>
                <a:gd name="T32" fmla="*/ 0 w 3"/>
                <a:gd name="T33" fmla="*/ 0 h 2"/>
                <a:gd name="T34" fmla="*/ 0 w 3"/>
                <a:gd name="T35" fmla="*/ 0 h 2"/>
                <a:gd name="T36" fmla="*/ 0 w 3"/>
                <a:gd name="T37" fmla="*/ 0 h 2"/>
                <a:gd name="T38" fmla="*/ 1 w 3"/>
                <a:gd name="T39" fmla="*/ 1 h 2"/>
                <a:gd name="T40" fmla="*/ 1 w 3"/>
                <a:gd name="T41" fmla="*/ 1 h 2"/>
                <a:gd name="T42" fmla="*/ 1 w 3"/>
                <a:gd name="T43" fmla="*/ 1 h 2"/>
                <a:gd name="T44" fmla="*/ 1 w 3"/>
                <a:gd name="T45" fmla="*/ 2 h 2"/>
                <a:gd name="T46" fmla="*/ 1 w 3"/>
                <a:gd name="T47" fmla="*/ 1 h 2"/>
                <a:gd name="T48" fmla="*/ 2 w 3"/>
                <a:gd name="T49" fmla="*/ 1 h 2"/>
                <a:gd name="T50" fmla="*/ 2 w 3"/>
                <a:gd name="T51" fmla="*/ 1 h 2"/>
                <a:gd name="T52" fmla="*/ 2 w 3"/>
                <a:gd name="T53" fmla="*/ 1 h 2"/>
                <a:gd name="T54" fmla="*/ 3 w 3"/>
                <a:gd name="T55" fmla="*/ 1 h 2"/>
                <a:gd name="T56" fmla="*/ 3 w 3"/>
                <a:gd name="T57" fmla="*/ 1 h 2"/>
                <a:gd name="T58" fmla="*/ 2 w 3"/>
                <a:gd name="T59" fmla="*/ 1 h 2"/>
                <a:gd name="T60" fmla="*/ 2 w 3"/>
                <a:gd name="T61" fmla="*/ 1 h 2"/>
                <a:gd name="T62" fmla="*/ 2 w 3"/>
                <a:gd name="T63" fmla="*/ 1 h 2"/>
                <a:gd name="T64" fmla="*/ 2 w 3"/>
                <a:gd name="T6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4" name="î$ľidé">
              <a:extLst>
                <a:ext uri="{FF2B5EF4-FFF2-40B4-BE49-F238E27FC236}">
                  <a16:creationId xmlns:a16="http://schemas.microsoft.com/office/drawing/2014/main" id="{AFF2FC16-1EE3-912E-115A-CBF4847F6EE8}"/>
                </a:ext>
              </a:extLst>
            </p:cNvPr>
            <p:cNvSpPr/>
            <p:nvPr/>
          </p:nvSpPr>
          <p:spPr bwMode="auto">
            <a:xfrm>
              <a:off x="2908300" y="3451226"/>
              <a:ext cx="3175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0 w 1"/>
                <a:gd name="T6" fmla="*/ 0 w 1"/>
                <a:gd name="T7" fmla="*/ 1 w 1"/>
                <a:gd name="T8" fmla="*/ 1 w 1"/>
                <a:gd name="T9" fmla="*/ 1 w 1"/>
                <a:gd name="T10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5" name="išḻïďê">
              <a:extLst>
                <a:ext uri="{FF2B5EF4-FFF2-40B4-BE49-F238E27FC236}">
                  <a16:creationId xmlns:a16="http://schemas.microsoft.com/office/drawing/2014/main" id="{F3C3C0D2-9458-72B6-DF40-B19114EA4BC5}"/>
                </a:ext>
              </a:extLst>
            </p:cNvPr>
            <p:cNvSpPr/>
            <p:nvPr/>
          </p:nvSpPr>
          <p:spPr bwMode="auto">
            <a:xfrm>
              <a:off x="2822575" y="3440113"/>
              <a:ext cx="3175" cy="3175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1 h 1"/>
                <a:gd name="T24" fmla="*/ 0 w 1"/>
                <a:gd name="T2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6" name="îSļíďê">
              <a:extLst>
                <a:ext uri="{FF2B5EF4-FFF2-40B4-BE49-F238E27FC236}">
                  <a16:creationId xmlns:a16="http://schemas.microsoft.com/office/drawing/2014/main" id="{C163E0C3-9D95-AE80-9F07-8CC8441E16EE}"/>
                </a:ext>
              </a:extLst>
            </p:cNvPr>
            <p:cNvSpPr/>
            <p:nvPr/>
          </p:nvSpPr>
          <p:spPr bwMode="auto">
            <a:xfrm>
              <a:off x="2817813" y="3440113"/>
              <a:ext cx="7938" cy="11113"/>
            </a:xfrm>
            <a:custGeom>
              <a:avLst/>
              <a:gdLst>
                <a:gd name="T0" fmla="*/ 0 w 2"/>
                <a:gd name="T1" fmla="*/ 2 h 3"/>
                <a:gd name="T2" fmla="*/ 0 w 2"/>
                <a:gd name="T3" fmla="*/ 2 h 3"/>
                <a:gd name="T4" fmla="*/ 1 w 2"/>
                <a:gd name="T5" fmla="*/ 3 h 3"/>
                <a:gd name="T6" fmla="*/ 1 w 2"/>
                <a:gd name="T7" fmla="*/ 3 h 3"/>
                <a:gd name="T8" fmla="*/ 1 w 2"/>
                <a:gd name="T9" fmla="*/ 3 h 3"/>
                <a:gd name="T10" fmla="*/ 1 w 2"/>
                <a:gd name="T11" fmla="*/ 2 h 3"/>
                <a:gd name="T12" fmla="*/ 2 w 2"/>
                <a:gd name="T13" fmla="*/ 2 h 3"/>
                <a:gd name="T14" fmla="*/ 2 w 2"/>
                <a:gd name="T15" fmla="*/ 2 h 3"/>
                <a:gd name="T16" fmla="*/ 2 w 2"/>
                <a:gd name="T17" fmla="*/ 2 h 3"/>
                <a:gd name="T18" fmla="*/ 2 w 2"/>
                <a:gd name="T19" fmla="*/ 2 h 3"/>
                <a:gd name="T20" fmla="*/ 2 w 2"/>
                <a:gd name="T21" fmla="*/ 2 h 3"/>
                <a:gd name="T22" fmla="*/ 2 w 2"/>
                <a:gd name="T23" fmla="*/ 2 h 3"/>
                <a:gd name="T24" fmla="*/ 2 w 2"/>
                <a:gd name="T25" fmla="*/ 2 h 3"/>
                <a:gd name="T26" fmla="*/ 1 w 2"/>
                <a:gd name="T27" fmla="*/ 2 h 3"/>
                <a:gd name="T28" fmla="*/ 1 w 2"/>
                <a:gd name="T29" fmla="*/ 2 h 3"/>
                <a:gd name="T30" fmla="*/ 1 w 2"/>
                <a:gd name="T31" fmla="*/ 2 h 3"/>
                <a:gd name="T32" fmla="*/ 1 w 2"/>
                <a:gd name="T33" fmla="*/ 2 h 3"/>
                <a:gd name="T34" fmla="*/ 1 w 2"/>
                <a:gd name="T35" fmla="*/ 1 h 3"/>
                <a:gd name="T36" fmla="*/ 1 w 2"/>
                <a:gd name="T37" fmla="*/ 1 h 3"/>
                <a:gd name="T38" fmla="*/ 1 w 2"/>
                <a:gd name="T39" fmla="*/ 0 h 3"/>
                <a:gd name="T40" fmla="*/ 0 w 2"/>
                <a:gd name="T41" fmla="*/ 0 h 3"/>
                <a:gd name="T42" fmla="*/ 0 w 2"/>
                <a:gd name="T43" fmla="*/ 0 h 3"/>
                <a:gd name="T44" fmla="*/ 0 w 2"/>
                <a:gd name="T45" fmla="*/ 1 h 3"/>
                <a:gd name="T46" fmla="*/ 0 w 2"/>
                <a:gd name="T4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" h="3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7" name="íṧḻiḋe">
              <a:extLst>
                <a:ext uri="{FF2B5EF4-FFF2-40B4-BE49-F238E27FC236}">
                  <a16:creationId xmlns:a16="http://schemas.microsoft.com/office/drawing/2014/main" id="{A7F76B94-C659-90E9-B5E8-A9F767EFBCA5}"/>
                </a:ext>
              </a:extLst>
            </p:cNvPr>
            <p:cNvSpPr/>
            <p:nvPr/>
          </p:nvSpPr>
          <p:spPr bwMode="auto">
            <a:xfrm>
              <a:off x="2822575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1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8" name="îṡ1iďé">
              <a:extLst>
                <a:ext uri="{FF2B5EF4-FFF2-40B4-BE49-F238E27FC236}">
                  <a16:creationId xmlns:a16="http://schemas.microsoft.com/office/drawing/2014/main" id="{2F9E554B-29FC-4548-7ADE-14EC005890D6}"/>
                </a:ext>
              </a:extLst>
            </p:cNvPr>
            <p:cNvSpPr/>
            <p:nvPr/>
          </p:nvSpPr>
          <p:spPr bwMode="auto">
            <a:xfrm>
              <a:off x="2828925" y="3432176"/>
              <a:ext cx="7938" cy="14288"/>
            </a:xfrm>
            <a:custGeom>
              <a:avLst/>
              <a:gdLst>
                <a:gd name="T0" fmla="*/ 1 w 2"/>
                <a:gd name="T1" fmla="*/ 0 h 4"/>
                <a:gd name="T2" fmla="*/ 1 w 2"/>
                <a:gd name="T3" fmla="*/ 0 h 4"/>
                <a:gd name="T4" fmla="*/ 1 w 2"/>
                <a:gd name="T5" fmla="*/ 0 h 4"/>
                <a:gd name="T6" fmla="*/ 0 w 2"/>
                <a:gd name="T7" fmla="*/ 0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0 w 2"/>
                <a:gd name="T17" fmla="*/ 0 h 4"/>
                <a:gd name="T18" fmla="*/ 0 w 2"/>
                <a:gd name="T19" fmla="*/ 0 h 4"/>
                <a:gd name="T20" fmla="*/ 0 w 2"/>
                <a:gd name="T21" fmla="*/ 0 h 4"/>
                <a:gd name="T22" fmla="*/ 1 w 2"/>
                <a:gd name="T23" fmla="*/ 1 h 4"/>
                <a:gd name="T24" fmla="*/ 1 w 2"/>
                <a:gd name="T25" fmla="*/ 1 h 4"/>
                <a:gd name="T26" fmla="*/ 1 w 2"/>
                <a:gd name="T27" fmla="*/ 1 h 4"/>
                <a:gd name="T28" fmla="*/ 0 w 2"/>
                <a:gd name="T29" fmla="*/ 1 h 4"/>
                <a:gd name="T30" fmla="*/ 0 w 2"/>
                <a:gd name="T31" fmla="*/ 1 h 4"/>
                <a:gd name="T32" fmla="*/ 0 w 2"/>
                <a:gd name="T33" fmla="*/ 1 h 4"/>
                <a:gd name="T34" fmla="*/ 0 w 2"/>
                <a:gd name="T35" fmla="*/ 1 h 4"/>
                <a:gd name="T36" fmla="*/ 0 w 2"/>
                <a:gd name="T37" fmla="*/ 1 h 4"/>
                <a:gd name="T38" fmla="*/ 0 w 2"/>
                <a:gd name="T39" fmla="*/ 1 h 4"/>
                <a:gd name="T40" fmla="*/ 1 w 2"/>
                <a:gd name="T41" fmla="*/ 1 h 4"/>
                <a:gd name="T42" fmla="*/ 1 w 2"/>
                <a:gd name="T43" fmla="*/ 1 h 4"/>
                <a:gd name="T44" fmla="*/ 1 w 2"/>
                <a:gd name="T45" fmla="*/ 1 h 4"/>
                <a:gd name="T46" fmla="*/ 1 w 2"/>
                <a:gd name="T47" fmla="*/ 2 h 4"/>
                <a:gd name="T48" fmla="*/ 1 w 2"/>
                <a:gd name="T49" fmla="*/ 2 h 4"/>
                <a:gd name="T50" fmla="*/ 1 w 2"/>
                <a:gd name="T51" fmla="*/ 3 h 4"/>
                <a:gd name="T52" fmla="*/ 1 w 2"/>
                <a:gd name="T53" fmla="*/ 3 h 4"/>
                <a:gd name="T54" fmla="*/ 1 w 2"/>
                <a:gd name="T55" fmla="*/ 3 h 4"/>
                <a:gd name="T56" fmla="*/ 1 w 2"/>
                <a:gd name="T57" fmla="*/ 3 h 4"/>
                <a:gd name="T58" fmla="*/ 1 w 2"/>
                <a:gd name="T59" fmla="*/ 4 h 4"/>
                <a:gd name="T60" fmla="*/ 1 w 2"/>
                <a:gd name="T61" fmla="*/ 4 h 4"/>
                <a:gd name="T62" fmla="*/ 1 w 2"/>
                <a:gd name="T63" fmla="*/ 4 h 4"/>
                <a:gd name="T64" fmla="*/ 1 w 2"/>
                <a:gd name="T65" fmla="*/ 4 h 4"/>
                <a:gd name="T66" fmla="*/ 2 w 2"/>
                <a:gd name="T67" fmla="*/ 4 h 4"/>
                <a:gd name="T68" fmla="*/ 2 w 2"/>
                <a:gd name="T69" fmla="*/ 3 h 4"/>
                <a:gd name="T70" fmla="*/ 2 w 2"/>
                <a:gd name="T71" fmla="*/ 2 h 4"/>
                <a:gd name="T72" fmla="*/ 2 w 2"/>
                <a:gd name="T73" fmla="*/ 2 h 4"/>
                <a:gd name="T74" fmla="*/ 2 w 2"/>
                <a:gd name="T75" fmla="*/ 1 h 4"/>
                <a:gd name="T76" fmla="*/ 2 w 2"/>
                <a:gd name="T77" fmla="*/ 1 h 4"/>
                <a:gd name="T78" fmla="*/ 2 w 2"/>
                <a:gd name="T79" fmla="*/ 0 h 4"/>
                <a:gd name="T80" fmla="*/ 1 w 2"/>
                <a:gd name="T8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2" y="4"/>
                    <a:pt x="2" y="4"/>
                  </a:cubicBezTo>
                  <a:cubicBezTo>
                    <a:pt x="2" y="4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9" name="ï$ḷïdè">
              <a:extLst>
                <a:ext uri="{FF2B5EF4-FFF2-40B4-BE49-F238E27FC236}">
                  <a16:creationId xmlns:a16="http://schemas.microsoft.com/office/drawing/2014/main" id="{E99BDECA-1322-00A5-3927-C308E50AE1BB}"/>
                </a:ext>
              </a:extLst>
            </p:cNvPr>
            <p:cNvSpPr/>
            <p:nvPr/>
          </p:nvSpPr>
          <p:spPr bwMode="auto">
            <a:xfrm>
              <a:off x="2817813" y="3451226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2 w 2"/>
                <a:gd name="T5" fmla="*/ 0 h 1"/>
                <a:gd name="T6" fmla="*/ 2 w 2"/>
                <a:gd name="T7" fmla="*/ 0 h 1"/>
                <a:gd name="T8" fmla="*/ 2 w 2"/>
                <a:gd name="T9" fmla="*/ 0 h 1"/>
                <a:gd name="T10" fmla="*/ 2 w 2"/>
                <a:gd name="T11" fmla="*/ 0 h 1"/>
                <a:gd name="T12" fmla="*/ 1 w 2"/>
                <a:gd name="T13" fmla="*/ 0 h 1"/>
                <a:gd name="T14" fmla="*/ 1 w 2"/>
                <a:gd name="T15" fmla="*/ 0 h 1"/>
                <a:gd name="T16" fmla="*/ 1 w 2"/>
                <a:gd name="T17" fmla="*/ 0 h 1"/>
                <a:gd name="T18" fmla="*/ 1 w 2"/>
                <a:gd name="T19" fmla="*/ 0 h 1"/>
                <a:gd name="T20" fmla="*/ 1 w 2"/>
                <a:gd name="T21" fmla="*/ 0 h 1"/>
                <a:gd name="T22" fmla="*/ 0 w 2"/>
                <a:gd name="T23" fmla="*/ 0 h 1"/>
                <a:gd name="T24" fmla="*/ 0 w 2"/>
                <a:gd name="T25" fmla="*/ 0 h 1"/>
                <a:gd name="T26" fmla="*/ 0 w 2"/>
                <a:gd name="T27" fmla="*/ 0 h 1"/>
                <a:gd name="T28" fmla="*/ 0 w 2"/>
                <a:gd name="T29" fmla="*/ 0 h 1"/>
                <a:gd name="T30" fmla="*/ 0 w 2"/>
                <a:gd name="T31" fmla="*/ 1 h 1"/>
                <a:gd name="T32" fmla="*/ 0 w 2"/>
                <a:gd name="T33" fmla="*/ 1 h 1"/>
                <a:gd name="T34" fmla="*/ 1 w 2"/>
                <a:gd name="T35" fmla="*/ 1 h 1"/>
                <a:gd name="T36" fmla="*/ 1 w 2"/>
                <a:gd name="T37" fmla="*/ 1 h 1"/>
                <a:gd name="T38" fmla="*/ 1 w 2"/>
                <a:gd name="T39" fmla="*/ 1 h 1"/>
                <a:gd name="T40" fmla="*/ 2 w 2"/>
                <a:gd name="T41" fmla="*/ 1 h 1"/>
                <a:gd name="T42" fmla="*/ 2 w 2"/>
                <a:gd name="T43" fmla="*/ 1 h 1"/>
                <a:gd name="T44" fmla="*/ 2 w 2"/>
                <a:gd name="T45" fmla="*/ 1 h 1"/>
                <a:gd name="T46" fmla="*/ 2 w 2"/>
                <a:gd name="T47" fmla="*/ 0 h 1"/>
                <a:gd name="T48" fmla="*/ 2 w 2"/>
                <a:gd name="T4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0" name="işlîḋê">
              <a:extLst>
                <a:ext uri="{FF2B5EF4-FFF2-40B4-BE49-F238E27FC236}">
                  <a16:creationId xmlns:a16="http://schemas.microsoft.com/office/drawing/2014/main" id="{1338D772-9EFF-3E3E-3680-88732232A877}"/>
                </a:ext>
              </a:extLst>
            </p:cNvPr>
            <p:cNvSpPr/>
            <p:nvPr/>
          </p:nvSpPr>
          <p:spPr bwMode="auto">
            <a:xfrm>
              <a:off x="2828925" y="344011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1 h 1"/>
                <a:gd name="T16" fmla="*/ 0 w 1"/>
                <a:gd name="T17" fmla="*/ 1 h 1"/>
                <a:gd name="T18" fmla="*/ 0 w 1"/>
                <a:gd name="T19" fmla="*/ 1 h 1"/>
                <a:gd name="T20" fmla="*/ 0 w 1"/>
                <a:gd name="T21" fmla="*/ 1 h 1"/>
                <a:gd name="T22" fmla="*/ 0 w 1"/>
                <a:gd name="T23" fmla="*/ 1 h 1"/>
                <a:gd name="T24" fmla="*/ 0 w 1"/>
                <a:gd name="T25" fmla="*/ 1 h 1"/>
                <a:gd name="T26" fmla="*/ 0 w 1"/>
                <a:gd name="T27" fmla="*/ 1 h 1"/>
                <a:gd name="T28" fmla="*/ 0 w 1"/>
                <a:gd name="T29" fmla="*/ 1 h 1"/>
                <a:gd name="T30" fmla="*/ 1 w 1"/>
                <a:gd name="T31" fmla="*/ 0 h 1"/>
                <a:gd name="T32" fmla="*/ 1 w 1"/>
                <a:gd name="T33" fmla="*/ 0 h 1"/>
                <a:gd name="T34" fmla="*/ 1 w 1"/>
                <a:gd name="T35" fmla="*/ 0 h 1"/>
                <a:gd name="T36" fmla="*/ 1 w 1"/>
                <a:gd name="T3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1" name="işḻïḑè">
              <a:extLst>
                <a:ext uri="{FF2B5EF4-FFF2-40B4-BE49-F238E27FC236}">
                  <a16:creationId xmlns:a16="http://schemas.microsoft.com/office/drawing/2014/main" id="{E880FFEA-1F5A-337C-C2C3-FFCC83B2B9FC}"/>
                </a:ext>
              </a:extLst>
            </p:cNvPr>
            <p:cNvSpPr/>
            <p:nvPr/>
          </p:nvSpPr>
          <p:spPr bwMode="auto">
            <a:xfrm>
              <a:off x="2825750" y="3451226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  <a:gd name="T24" fmla="*/ 1 w 1"/>
                <a:gd name="T25" fmla="*/ 1 h 1"/>
                <a:gd name="T26" fmla="*/ 1 w 1"/>
                <a:gd name="T27" fmla="*/ 0 h 1"/>
                <a:gd name="T28" fmla="*/ 1 w 1"/>
                <a:gd name="T29" fmla="*/ 0 h 1"/>
                <a:gd name="T30" fmla="*/ 1 w 1"/>
                <a:gd name="T31" fmla="*/ 0 h 1"/>
                <a:gd name="T32" fmla="*/ 1 w 1"/>
                <a:gd name="T3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2" name="ïslidê">
              <a:extLst>
                <a:ext uri="{FF2B5EF4-FFF2-40B4-BE49-F238E27FC236}">
                  <a16:creationId xmlns:a16="http://schemas.microsoft.com/office/drawing/2014/main" id="{B6F9A34C-8977-F257-5163-ECC8B9F65DA0}"/>
                </a:ext>
              </a:extLst>
            </p:cNvPr>
            <p:cNvSpPr/>
            <p:nvPr/>
          </p:nvSpPr>
          <p:spPr bwMode="auto">
            <a:xfrm>
              <a:off x="2828925" y="34464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3" name="íṣḻíḑê">
              <a:extLst>
                <a:ext uri="{FF2B5EF4-FFF2-40B4-BE49-F238E27FC236}">
                  <a16:creationId xmlns:a16="http://schemas.microsoft.com/office/drawing/2014/main" id="{FC1AE05E-7B18-C550-1E3A-57B8A1F74773}"/>
                </a:ext>
              </a:extLst>
            </p:cNvPr>
            <p:cNvSpPr/>
            <p:nvPr/>
          </p:nvSpPr>
          <p:spPr bwMode="auto">
            <a:xfrm>
              <a:off x="2905125" y="3446463"/>
              <a:ext cx="0" cy="4763"/>
            </a:xfrm>
            <a:custGeom>
              <a:avLst/>
              <a:gdLst>
                <a:gd name="T0" fmla="*/ 1 h 1"/>
                <a:gd name="T1" fmla="*/ 1 h 1"/>
                <a:gd name="T2" fmla="*/ 1 h 1"/>
                <a:gd name="T3" fmla="*/ 0 h 1"/>
                <a:gd name="T4" fmla="*/ 0 h 1"/>
                <a:gd name="T5" fmla="*/ 0 h 1"/>
                <a:gd name="T6" fmla="*/ 0 h 1"/>
                <a:gd name="T7" fmla="*/ 1 h 1"/>
                <a:gd name="T8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4" name="ísḻídé">
              <a:extLst>
                <a:ext uri="{FF2B5EF4-FFF2-40B4-BE49-F238E27FC236}">
                  <a16:creationId xmlns:a16="http://schemas.microsoft.com/office/drawing/2014/main" id="{D89E3937-8FE8-28CC-C792-0D81C7C49DCE}"/>
                </a:ext>
              </a:extLst>
            </p:cNvPr>
            <p:cNvSpPr/>
            <p:nvPr/>
          </p:nvSpPr>
          <p:spPr bwMode="auto">
            <a:xfrm>
              <a:off x="30670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0 w 1"/>
                <a:gd name="T4" fmla="*/ 0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  <a:gd name="T11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5" name="iṧḻide">
              <a:extLst>
                <a:ext uri="{FF2B5EF4-FFF2-40B4-BE49-F238E27FC236}">
                  <a16:creationId xmlns:a16="http://schemas.microsoft.com/office/drawing/2014/main" id="{B7B5B3E2-B3C1-0C97-2EC2-A6C0A52226B4}"/>
                </a:ext>
              </a:extLst>
            </p:cNvPr>
            <p:cNvSpPr/>
            <p:nvPr/>
          </p:nvSpPr>
          <p:spPr bwMode="auto">
            <a:xfrm>
              <a:off x="3067050" y="3440113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1 w 2"/>
                <a:gd name="T5" fmla="*/ 0 h 1"/>
                <a:gd name="T6" fmla="*/ 1 w 2"/>
                <a:gd name="T7" fmla="*/ 0 h 1"/>
                <a:gd name="T8" fmla="*/ 1 w 2"/>
                <a:gd name="T9" fmla="*/ 0 h 1"/>
                <a:gd name="T10" fmla="*/ 1 w 2"/>
                <a:gd name="T11" fmla="*/ 0 h 1"/>
                <a:gd name="T12" fmla="*/ 1 w 2"/>
                <a:gd name="T13" fmla="*/ 1 h 1"/>
                <a:gd name="T14" fmla="*/ 1 w 2"/>
                <a:gd name="T15" fmla="*/ 1 h 1"/>
                <a:gd name="T16" fmla="*/ 1 w 2"/>
                <a:gd name="T17" fmla="*/ 1 h 1"/>
                <a:gd name="T18" fmla="*/ 1 w 2"/>
                <a:gd name="T19" fmla="*/ 0 h 1"/>
                <a:gd name="T20" fmla="*/ 1 w 2"/>
                <a:gd name="T21" fmla="*/ 0 h 1"/>
                <a:gd name="T22" fmla="*/ 2 w 2"/>
                <a:gd name="T23" fmla="*/ 0 h 1"/>
                <a:gd name="T24" fmla="*/ 2 w 2"/>
                <a:gd name="T25" fmla="*/ 0 h 1"/>
                <a:gd name="T26" fmla="*/ 2 w 2"/>
                <a:gd name="T27" fmla="*/ 0 h 1"/>
                <a:gd name="T28" fmla="*/ 2 w 2"/>
                <a:gd name="T2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6" name="îṧļïďe">
              <a:extLst>
                <a:ext uri="{FF2B5EF4-FFF2-40B4-BE49-F238E27FC236}">
                  <a16:creationId xmlns:a16="http://schemas.microsoft.com/office/drawing/2014/main" id="{F785AF04-E33F-F906-8B1A-F5A2A3BF8A64}"/>
                </a:ext>
              </a:extLst>
            </p:cNvPr>
            <p:cNvSpPr/>
            <p:nvPr/>
          </p:nvSpPr>
          <p:spPr bwMode="auto">
            <a:xfrm>
              <a:off x="3067050" y="3451226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0 w 1"/>
                <a:gd name="T8" fmla="*/ 0 w 1"/>
                <a:gd name="T9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7" name="iṣḷîḋê">
              <a:extLst>
                <a:ext uri="{FF2B5EF4-FFF2-40B4-BE49-F238E27FC236}">
                  <a16:creationId xmlns:a16="http://schemas.microsoft.com/office/drawing/2014/main" id="{C29FDA12-C0AD-0202-34D0-2A12E0578B00}"/>
                </a:ext>
              </a:extLst>
            </p:cNvPr>
            <p:cNvSpPr/>
            <p:nvPr/>
          </p:nvSpPr>
          <p:spPr bwMode="auto">
            <a:xfrm>
              <a:off x="2911475" y="3446463"/>
              <a:ext cx="0" cy="4763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1 h 1"/>
                <a:gd name="T5" fmla="*/ 0 h 1"/>
                <a:gd name="T6" fmla="*/ 0 h 1"/>
                <a:gd name="T7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8" name="íŝ1ïḍè">
              <a:extLst>
                <a:ext uri="{FF2B5EF4-FFF2-40B4-BE49-F238E27FC236}">
                  <a16:creationId xmlns:a16="http://schemas.microsoft.com/office/drawing/2014/main" id="{B7DA8230-DD2E-C089-FF82-BDACC3BBCA3E}"/>
                </a:ext>
              </a:extLst>
            </p:cNvPr>
            <p:cNvSpPr/>
            <p:nvPr/>
          </p:nvSpPr>
          <p:spPr bwMode="auto">
            <a:xfrm>
              <a:off x="3100388" y="343693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0 h 1"/>
                <a:gd name="T14" fmla="*/ 1 w 1"/>
                <a:gd name="T1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9" name="íŝlîḋe">
              <a:extLst>
                <a:ext uri="{FF2B5EF4-FFF2-40B4-BE49-F238E27FC236}">
                  <a16:creationId xmlns:a16="http://schemas.microsoft.com/office/drawing/2014/main" id="{6EA30E85-9A45-B723-4DD3-A9BA0582B6E4}"/>
                </a:ext>
              </a:extLst>
            </p:cNvPr>
            <p:cNvSpPr/>
            <p:nvPr/>
          </p:nvSpPr>
          <p:spPr bwMode="auto">
            <a:xfrm>
              <a:off x="2763838" y="3406776"/>
              <a:ext cx="407988" cy="73025"/>
            </a:xfrm>
            <a:custGeom>
              <a:avLst/>
              <a:gdLst>
                <a:gd name="T0" fmla="*/ 95 w 113"/>
                <a:gd name="T1" fmla="*/ 7 h 20"/>
                <a:gd name="T2" fmla="*/ 86 w 113"/>
                <a:gd name="T3" fmla="*/ 6 h 20"/>
                <a:gd name="T4" fmla="*/ 73 w 113"/>
                <a:gd name="T5" fmla="*/ 11 h 20"/>
                <a:gd name="T6" fmla="*/ 71 w 113"/>
                <a:gd name="T7" fmla="*/ 8 h 20"/>
                <a:gd name="T8" fmla="*/ 73 w 113"/>
                <a:gd name="T9" fmla="*/ 8 h 20"/>
                <a:gd name="T10" fmla="*/ 70 w 113"/>
                <a:gd name="T11" fmla="*/ 6 h 20"/>
                <a:gd name="T12" fmla="*/ 63 w 113"/>
                <a:gd name="T13" fmla="*/ 9 h 20"/>
                <a:gd name="T14" fmla="*/ 50 w 113"/>
                <a:gd name="T15" fmla="*/ 6 h 20"/>
                <a:gd name="T16" fmla="*/ 43 w 113"/>
                <a:gd name="T17" fmla="*/ 7 h 20"/>
                <a:gd name="T18" fmla="*/ 18 w 113"/>
                <a:gd name="T19" fmla="*/ 13 h 20"/>
                <a:gd name="T20" fmla="*/ 19 w 113"/>
                <a:gd name="T21" fmla="*/ 13 h 20"/>
                <a:gd name="T22" fmla="*/ 14 w 113"/>
                <a:gd name="T23" fmla="*/ 9 h 20"/>
                <a:gd name="T24" fmla="*/ 16 w 113"/>
                <a:gd name="T25" fmla="*/ 8 h 20"/>
                <a:gd name="T26" fmla="*/ 17 w 113"/>
                <a:gd name="T27" fmla="*/ 7 h 20"/>
                <a:gd name="T28" fmla="*/ 20 w 113"/>
                <a:gd name="T29" fmla="*/ 9 h 20"/>
                <a:gd name="T30" fmla="*/ 28 w 113"/>
                <a:gd name="T31" fmla="*/ 13 h 20"/>
                <a:gd name="T32" fmla="*/ 24 w 113"/>
                <a:gd name="T33" fmla="*/ 13 h 20"/>
                <a:gd name="T34" fmla="*/ 24 w 113"/>
                <a:gd name="T35" fmla="*/ 9 h 20"/>
                <a:gd name="T36" fmla="*/ 25 w 113"/>
                <a:gd name="T37" fmla="*/ 9 h 20"/>
                <a:gd name="T38" fmla="*/ 27 w 113"/>
                <a:gd name="T39" fmla="*/ 9 h 20"/>
                <a:gd name="T40" fmla="*/ 28 w 113"/>
                <a:gd name="T41" fmla="*/ 7 h 20"/>
                <a:gd name="T42" fmla="*/ 30 w 113"/>
                <a:gd name="T43" fmla="*/ 10 h 20"/>
                <a:gd name="T44" fmla="*/ 41 w 113"/>
                <a:gd name="T45" fmla="*/ 13 h 20"/>
                <a:gd name="T46" fmla="*/ 38 w 113"/>
                <a:gd name="T47" fmla="*/ 12 h 20"/>
                <a:gd name="T48" fmla="*/ 37 w 113"/>
                <a:gd name="T49" fmla="*/ 9 h 20"/>
                <a:gd name="T50" fmla="*/ 40 w 113"/>
                <a:gd name="T51" fmla="*/ 6 h 20"/>
                <a:gd name="T52" fmla="*/ 41 w 113"/>
                <a:gd name="T53" fmla="*/ 9 h 20"/>
                <a:gd name="T54" fmla="*/ 40 w 113"/>
                <a:gd name="T55" fmla="*/ 9 h 20"/>
                <a:gd name="T56" fmla="*/ 40 w 113"/>
                <a:gd name="T57" fmla="*/ 10 h 20"/>
                <a:gd name="T58" fmla="*/ 42 w 113"/>
                <a:gd name="T59" fmla="*/ 9 h 20"/>
                <a:gd name="T60" fmla="*/ 43 w 113"/>
                <a:gd name="T61" fmla="*/ 9 h 20"/>
                <a:gd name="T62" fmla="*/ 51 w 113"/>
                <a:gd name="T63" fmla="*/ 10 h 20"/>
                <a:gd name="T64" fmla="*/ 49 w 113"/>
                <a:gd name="T65" fmla="*/ 13 h 20"/>
                <a:gd name="T66" fmla="*/ 48 w 113"/>
                <a:gd name="T67" fmla="*/ 13 h 20"/>
                <a:gd name="T68" fmla="*/ 48 w 113"/>
                <a:gd name="T69" fmla="*/ 11 h 20"/>
                <a:gd name="T70" fmla="*/ 50 w 113"/>
                <a:gd name="T71" fmla="*/ 7 h 20"/>
                <a:gd name="T72" fmla="*/ 65 w 113"/>
                <a:gd name="T73" fmla="*/ 12 h 20"/>
                <a:gd name="T74" fmla="*/ 62 w 113"/>
                <a:gd name="T75" fmla="*/ 12 h 20"/>
                <a:gd name="T76" fmla="*/ 60 w 113"/>
                <a:gd name="T77" fmla="*/ 10 h 20"/>
                <a:gd name="T78" fmla="*/ 61 w 113"/>
                <a:gd name="T79" fmla="*/ 11 h 20"/>
                <a:gd name="T80" fmla="*/ 60 w 113"/>
                <a:gd name="T81" fmla="*/ 7 h 20"/>
                <a:gd name="T82" fmla="*/ 63 w 113"/>
                <a:gd name="T83" fmla="*/ 7 h 20"/>
                <a:gd name="T84" fmla="*/ 65 w 113"/>
                <a:gd name="T85" fmla="*/ 11 h 20"/>
                <a:gd name="T86" fmla="*/ 71 w 113"/>
                <a:gd name="T87" fmla="*/ 12 h 20"/>
                <a:gd name="T88" fmla="*/ 69 w 113"/>
                <a:gd name="T89" fmla="*/ 11 h 20"/>
                <a:gd name="T90" fmla="*/ 70 w 113"/>
                <a:gd name="T91" fmla="*/ 9 h 20"/>
                <a:gd name="T92" fmla="*/ 74 w 113"/>
                <a:gd name="T93" fmla="*/ 12 h 20"/>
                <a:gd name="T94" fmla="*/ 84 w 113"/>
                <a:gd name="T95" fmla="*/ 11 h 20"/>
                <a:gd name="T96" fmla="*/ 84 w 113"/>
                <a:gd name="T97" fmla="*/ 13 h 20"/>
                <a:gd name="T98" fmla="*/ 83 w 113"/>
                <a:gd name="T99" fmla="*/ 11 h 20"/>
                <a:gd name="T100" fmla="*/ 84 w 113"/>
                <a:gd name="T101" fmla="*/ 8 h 20"/>
                <a:gd name="T102" fmla="*/ 84 w 113"/>
                <a:gd name="T103" fmla="*/ 6 h 20"/>
                <a:gd name="T104" fmla="*/ 87 w 113"/>
                <a:gd name="T105" fmla="*/ 9 h 20"/>
                <a:gd name="T106" fmla="*/ 88 w 113"/>
                <a:gd name="T107" fmla="*/ 9 h 20"/>
                <a:gd name="T108" fmla="*/ 87 w 113"/>
                <a:gd name="T109" fmla="*/ 9 h 20"/>
                <a:gd name="T110" fmla="*/ 94 w 113"/>
                <a:gd name="T111" fmla="*/ 12 h 20"/>
                <a:gd name="T112" fmla="*/ 96 w 113"/>
                <a:gd name="T113" fmla="*/ 12 h 20"/>
                <a:gd name="T114" fmla="*/ 94 w 113"/>
                <a:gd name="T115" fmla="*/ 10 h 20"/>
                <a:gd name="T116" fmla="*/ 93 w 113"/>
                <a:gd name="T117" fmla="*/ 12 h 20"/>
                <a:gd name="T118" fmla="*/ 92 w 113"/>
                <a:gd name="T119" fmla="*/ 11 h 20"/>
                <a:gd name="T120" fmla="*/ 92 w 113"/>
                <a:gd name="T121" fmla="*/ 9 h 20"/>
                <a:gd name="T122" fmla="*/ 94 w 113"/>
                <a:gd name="T123" fmla="*/ 7 h 20"/>
                <a:gd name="T124" fmla="*/ 95 w 113"/>
                <a:gd name="T125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" h="20">
                  <a:moveTo>
                    <a:pt x="110" y="4"/>
                  </a:moveTo>
                  <a:cubicBezTo>
                    <a:pt x="110" y="0"/>
                    <a:pt x="110" y="0"/>
                    <a:pt x="1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4"/>
                    <a:pt x="113" y="4"/>
                    <a:pt x="113" y="4"/>
                  </a:cubicBezTo>
                  <a:lnTo>
                    <a:pt x="110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lose/>
                  <a:moveTo>
                    <a:pt x="93" y="5"/>
                  </a:move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4" y="5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lose/>
                  <a:moveTo>
                    <a:pt x="86" y="7"/>
                  </a:moveTo>
                  <a:cubicBezTo>
                    <a:pt x="86" y="7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7" y="7"/>
                    <a:pt x="87" y="7"/>
                  </a:cubicBezTo>
                  <a:cubicBezTo>
                    <a:pt x="87" y="7"/>
                    <a:pt x="87" y="7"/>
                    <a:pt x="86" y="7"/>
                  </a:cubicBezTo>
                  <a:cubicBezTo>
                    <a:pt x="86" y="7"/>
                    <a:pt x="86" y="8"/>
                    <a:pt x="86" y="8"/>
                  </a:cubicBezTo>
                  <a:cubicBezTo>
                    <a:pt x="86" y="8"/>
                    <a:pt x="86" y="8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lose/>
                  <a:moveTo>
                    <a:pt x="74" y="10"/>
                  </a:moveTo>
                  <a:cubicBezTo>
                    <a:pt x="74" y="10"/>
                    <a:pt x="74" y="11"/>
                    <a:pt x="74" y="11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4" y="10"/>
                    <a:pt x="74" y="10"/>
                  </a:cubicBezTo>
                  <a:close/>
                  <a:moveTo>
                    <a:pt x="70" y="6"/>
                  </a:moveTo>
                  <a:cubicBezTo>
                    <a:pt x="70" y="6"/>
                    <a:pt x="70" y="6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2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2" y="8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5"/>
                    <a:pt x="72" y="5"/>
                  </a:cubicBezTo>
                  <a:cubicBezTo>
                    <a:pt x="72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6"/>
                  </a:cubicBezTo>
                  <a:cubicBezTo>
                    <a:pt x="70" y="6"/>
                    <a:pt x="70" y="6"/>
                    <a:pt x="70" y="6"/>
                  </a:cubicBezTo>
                  <a:close/>
                  <a:moveTo>
                    <a:pt x="63" y="5"/>
                  </a:moveTo>
                  <a:cubicBezTo>
                    <a:pt x="63" y="5"/>
                    <a:pt x="63" y="5"/>
                    <a:pt x="63" y="5"/>
                  </a:cubicBezTo>
                  <a:cubicBezTo>
                    <a:pt x="63" y="5"/>
                    <a:pt x="64" y="5"/>
                    <a:pt x="64" y="5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5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3" y="6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6"/>
                    <a:pt x="63" y="5"/>
                    <a:pt x="63" y="5"/>
                  </a:cubicBezTo>
                  <a:cubicBezTo>
                    <a:pt x="63" y="5"/>
                    <a:pt x="63" y="5"/>
                    <a:pt x="63" y="5"/>
                  </a:cubicBezTo>
                  <a:close/>
                  <a:moveTo>
                    <a:pt x="64" y="9"/>
                  </a:move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lose/>
                  <a:moveTo>
                    <a:pt x="49" y="5"/>
                  </a:move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lose/>
                  <a:moveTo>
                    <a:pt x="43" y="7"/>
                  </a:moveTo>
                  <a:cubicBezTo>
                    <a:pt x="43" y="7"/>
                    <a:pt x="43" y="7"/>
                    <a:pt x="44" y="7"/>
                  </a:cubicBezTo>
                  <a:cubicBezTo>
                    <a:pt x="44" y="7"/>
                    <a:pt x="44" y="7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lose/>
                  <a:moveTo>
                    <a:pt x="20" y="9"/>
                  </a:moveTo>
                  <a:cubicBezTo>
                    <a:pt x="20" y="9"/>
                    <a:pt x="20" y="10"/>
                    <a:pt x="20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0"/>
                    <a:pt x="20" y="11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20" y="14"/>
                  </a:cubicBezTo>
                  <a:cubicBezTo>
                    <a:pt x="20" y="14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1"/>
                    <a:pt x="20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5" y="9"/>
                    <a:pt x="15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lose/>
                  <a:moveTo>
                    <a:pt x="30" y="10"/>
                  </a:move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30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10"/>
                    <a:pt x="25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5" y="8"/>
                    <a:pt x="25" y="8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5" y="8"/>
                  </a:cubicBezTo>
                  <a:cubicBezTo>
                    <a:pt x="25" y="8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5" y="10"/>
                  </a:cubicBezTo>
                  <a:cubicBezTo>
                    <a:pt x="25" y="10"/>
                    <a:pt x="25" y="10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8"/>
                  </a:cubicBezTo>
                  <a:cubicBezTo>
                    <a:pt x="26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0" y="9"/>
                    <a:pt x="30" y="10"/>
                    <a:pt x="30" y="10"/>
                  </a:cubicBezTo>
                  <a:cubicBezTo>
                    <a:pt x="30" y="10"/>
                    <a:pt x="30" y="10"/>
                    <a:pt x="30" y="10"/>
                  </a:cubicBezTo>
                  <a:close/>
                  <a:moveTo>
                    <a:pt x="44" y="13"/>
                  </a:move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2"/>
                    <a:pt x="41" y="12"/>
                    <a:pt x="40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12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1"/>
                    <a:pt x="38" y="11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3"/>
                    <a:pt x="38" y="13"/>
                  </a:cubicBezTo>
                  <a:cubicBezTo>
                    <a:pt x="38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6"/>
                    <a:pt x="38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7"/>
                  </a:cubicBezTo>
                  <a:cubicBezTo>
                    <a:pt x="40" y="7"/>
                    <a:pt x="41" y="7"/>
                    <a:pt x="41" y="7"/>
                  </a:cubicBezTo>
                  <a:cubicBezTo>
                    <a:pt x="41" y="7"/>
                    <a:pt x="41" y="7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9"/>
                    <a:pt x="42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2" y="10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3"/>
                    <a:pt x="44" y="13"/>
                    <a:pt x="44" y="13"/>
                  </a:cubicBezTo>
                  <a:close/>
                  <a:moveTo>
                    <a:pt x="53" y="8"/>
                  </a:move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4"/>
                    <a:pt x="51" y="14"/>
                  </a:cubicBezTo>
                  <a:cubicBezTo>
                    <a:pt x="51" y="14"/>
                    <a:pt x="51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8" y="12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50" y="10"/>
                  </a:cubicBezTo>
                  <a:cubicBezTo>
                    <a:pt x="50" y="10"/>
                    <a:pt x="50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2" y="9"/>
                  </a:cubicBezTo>
                  <a:cubicBezTo>
                    <a:pt x="52" y="9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3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lose/>
                  <a:moveTo>
                    <a:pt x="65" y="12"/>
                  </a:move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3" y="12"/>
                    <a:pt x="63" y="12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1" y="11"/>
                    <a:pt x="61" y="11"/>
                  </a:cubicBezTo>
                  <a:cubicBezTo>
                    <a:pt x="61" y="11"/>
                    <a:pt x="61" y="12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9"/>
                    <a:pt x="60" y="9"/>
                  </a:cubicBezTo>
                  <a:cubicBezTo>
                    <a:pt x="60" y="9"/>
                    <a:pt x="59" y="9"/>
                    <a:pt x="59" y="9"/>
                  </a:cubicBezTo>
                  <a:cubicBezTo>
                    <a:pt x="59" y="9"/>
                    <a:pt x="59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1" y="9"/>
                    <a:pt x="61" y="9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9" y="8"/>
                    <a:pt x="59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5"/>
                    <a:pt x="61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5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1"/>
                  </a:cubicBezTo>
                  <a:cubicBezTo>
                    <a:pt x="63" y="11"/>
                    <a:pt x="63" y="11"/>
                    <a:pt x="64" y="11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4" y="11"/>
                    <a:pt x="64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lose/>
                  <a:moveTo>
                    <a:pt x="75" y="12"/>
                  </a:moveTo>
                  <a:cubicBezTo>
                    <a:pt x="75" y="12"/>
                    <a:pt x="75" y="12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3" y="13"/>
                    <a:pt x="73" y="13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3"/>
                  </a:cubicBezTo>
                  <a:cubicBezTo>
                    <a:pt x="70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8" y="13"/>
                    <a:pt x="68" y="13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70" y="11"/>
                    <a:pt x="70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70" y="11"/>
                    <a:pt x="70" y="11"/>
                  </a:cubicBezTo>
                  <a:cubicBezTo>
                    <a:pt x="70" y="11"/>
                    <a:pt x="70" y="11"/>
                    <a:pt x="70" y="11"/>
                  </a:cubicBezTo>
                  <a:cubicBezTo>
                    <a:pt x="70" y="11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69" y="10"/>
                    <a:pt x="69" y="10"/>
                  </a:cubicBezTo>
                  <a:cubicBezTo>
                    <a:pt x="69" y="10"/>
                    <a:pt x="69" y="10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9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10"/>
                    <a:pt x="69" y="9"/>
                    <a:pt x="69" y="9"/>
                  </a:cubicBezTo>
                  <a:cubicBezTo>
                    <a:pt x="69" y="9"/>
                    <a:pt x="69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2" y="10"/>
                    <a:pt x="72" y="10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lose/>
                  <a:moveTo>
                    <a:pt x="87" y="10"/>
                  </a:move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1"/>
                  </a:cubicBezTo>
                  <a:cubicBezTo>
                    <a:pt x="86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3"/>
                    <a:pt x="86" y="13"/>
                  </a:cubicBezTo>
                  <a:cubicBezTo>
                    <a:pt x="86" y="13"/>
                    <a:pt x="86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2"/>
                  </a:cubicBezTo>
                  <a:cubicBezTo>
                    <a:pt x="82" y="12"/>
                    <a:pt x="82" y="12"/>
                    <a:pt x="82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lose/>
                  <a:moveTo>
                    <a:pt x="88" y="8"/>
                  </a:move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88" y="8"/>
                    <a:pt x="88" y="8"/>
                    <a:pt x="88" y="8"/>
                  </a:cubicBezTo>
                  <a:close/>
                  <a:moveTo>
                    <a:pt x="94" y="12"/>
                  </a:move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5" y="11"/>
                  </a:cubicBezTo>
                  <a:cubicBezTo>
                    <a:pt x="95" y="12"/>
                    <a:pt x="95" y="12"/>
                    <a:pt x="95" y="12"/>
                  </a:cubicBezTo>
                  <a:cubicBezTo>
                    <a:pt x="95" y="12"/>
                    <a:pt x="95" y="12"/>
                    <a:pt x="94" y="12"/>
                  </a:cubicBezTo>
                  <a:close/>
                  <a:moveTo>
                    <a:pt x="97" y="9"/>
                  </a:moveTo>
                  <a:cubicBezTo>
                    <a:pt x="97" y="9"/>
                    <a:pt x="97" y="9"/>
                    <a:pt x="97" y="9"/>
                  </a:cubicBezTo>
                  <a:cubicBezTo>
                    <a:pt x="97" y="9"/>
                    <a:pt x="96" y="9"/>
                    <a:pt x="96" y="9"/>
                  </a:cubicBezTo>
                  <a:cubicBezTo>
                    <a:pt x="96" y="9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1"/>
                    <a:pt x="96" y="11"/>
                  </a:cubicBezTo>
                  <a:cubicBezTo>
                    <a:pt x="96" y="11"/>
                    <a:pt x="96" y="11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9"/>
                    <a:pt x="96" y="9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6" y="9"/>
                    <a:pt x="96" y="9"/>
                    <a:pt x="95" y="9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9"/>
                    <a:pt x="95" y="9"/>
                    <a:pt x="95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3"/>
                    <a:pt x="93" y="13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2" y="11"/>
                    <a:pt x="92" y="11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1"/>
                    <a:pt x="91" y="11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91" y="11"/>
                    <a:pt x="91" y="11"/>
                    <a:pt x="92" y="11"/>
                  </a:cubicBezTo>
                  <a:cubicBezTo>
                    <a:pt x="92" y="11"/>
                    <a:pt x="92" y="11"/>
                    <a:pt x="93" y="11"/>
                  </a:cubicBezTo>
                  <a:cubicBezTo>
                    <a:pt x="93" y="11"/>
                    <a:pt x="93" y="11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3" y="10"/>
                    <a:pt x="93" y="10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8"/>
                    <a:pt x="92" y="8"/>
                  </a:cubicBezTo>
                  <a:cubicBezTo>
                    <a:pt x="93" y="8"/>
                    <a:pt x="93" y="8"/>
                    <a:pt x="93" y="8"/>
                  </a:cubicBezTo>
                  <a:cubicBezTo>
                    <a:pt x="93" y="8"/>
                    <a:pt x="93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4" y="7"/>
                    <a:pt x="94" y="6"/>
                  </a:cubicBezTo>
                  <a:cubicBezTo>
                    <a:pt x="94" y="6"/>
                    <a:pt x="94" y="6"/>
                    <a:pt x="95" y="6"/>
                  </a:cubicBezTo>
                  <a:cubicBezTo>
                    <a:pt x="95" y="6"/>
                    <a:pt x="95" y="6"/>
                    <a:pt x="95" y="6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4" y="7"/>
                    <a:pt x="94" y="7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5" y="8"/>
                    <a:pt x="95" y="8"/>
                  </a:cubicBezTo>
                  <a:cubicBezTo>
                    <a:pt x="95" y="8"/>
                    <a:pt x="95" y="8"/>
                    <a:pt x="95" y="9"/>
                  </a:cubicBezTo>
                  <a:cubicBezTo>
                    <a:pt x="95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9"/>
                    <a:pt x="95" y="9"/>
                  </a:cubicBezTo>
                  <a:cubicBezTo>
                    <a:pt x="95" y="9"/>
                    <a:pt x="96" y="9"/>
                    <a:pt x="96" y="9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9"/>
                    <a:pt x="97" y="9"/>
                    <a:pt x="97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0" name="iŝḻiďê">
              <a:extLst>
                <a:ext uri="{FF2B5EF4-FFF2-40B4-BE49-F238E27FC236}">
                  <a16:creationId xmlns:a16="http://schemas.microsoft.com/office/drawing/2014/main" id="{F4E2D8CC-4A7A-73F6-1D57-3F283EB70F58}"/>
                </a:ext>
              </a:extLst>
            </p:cNvPr>
            <p:cNvSpPr/>
            <p:nvPr/>
          </p:nvSpPr>
          <p:spPr bwMode="auto">
            <a:xfrm>
              <a:off x="3103563" y="34401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1" name="îṥḻiḍè">
              <a:extLst>
                <a:ext uri="{FF2B5EF4-FFF2-40B4-BE49-F238E27FC236}">
                  <a16:creationId xmlns:a16="http://schemas.microsoft.com/office/drawing/2014/main" id="{BC72794C-1A56-8DC0-2A5C-964C7EA6D13C}"/>
                </a:ext>
              </a:extLst>
            </p:cNvPr>
            <p:cNvSpPr/>
            <p:nvPr/>
          </p:nvSpPr>
          <p:spPr bwMode="auto">
            <a:xfrm>
              <a:off x="3021013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1 h 1"/>
                <a:gd name="T10" fmla="*/ 0 w 1"/>
                <a:gd name="T11" fmla="*/ 1 h 1"/>
                <a:gd name="T12" fmla="*/ 0 w 1"/>
                <a:gd name="T13" fmla="*/ 1 h 1"/>
                <a:gd name="T14" fmla="*/ 0 w 1"/>
                <a:gd name="T15" fmla="*/ 1 h 1"/>
                <a:gd name="T16" fmla="*/ 0 w 1"/>
                <a:gd name="T17" fmla="*/ 1 h 1"/>
                <a:gd name="T18" fmla="*/ 1 w 1"/>
                <a:gd name="T19" fmla="*/ 1 h 1"/>
                <a:gd name="T20" fmla="*/ 1 w 1"/>
                <a:gd name="T21" fmla="*/ 1 h 1"/>
                <a:gd name="T22" fmla="*/ 1 w 1"/>
                <a:gd name="T23" fmla="*/ 0 h 1"/>
                <a:gd name="T24" fmla="*/ 1 w 1"/>
                <a:gd name="T25" fmla="*/ 0 h 1"/>
                <a:gd name="T26" fmla="*/ 1 w 1"/>
                <a:gd name="T2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2" name="íṩḷîḋe">
              <a:extLst>
                <a:ext uri="{FF2B5EF4-FFF2-40B4-BE49-F238E27FC236}">
                  <a16:creationId xmlns:a16="http://schemas.microsoft.com/office/drawing/2014/main" id="{F2E09BD2-F3F5-5033-547D-B76AA1CF45D1}"/>
                </a:ext>
              </a:extLst>
            </p:cNvPr>
            <p:cNvSpPr/>
            <p:nvPr/>
          </p:nvSpPr>
          <p:spPr bwMode="auto">
            <a:xfrm>
              <a:off x="2941638" y="3436938"/>
              <a:ext cx="3175" cy="6350"/>
            </a:xfrm>
            <a:custGeom>
              <a:avLst/>
              <a:gdLst>
                <a:gd name="T0" fmla="*/ 1 w 1"/>
                <a:gd name="T1" fmla="*/ 0 h 2"/>
                <a:gd name="T2" fmla="*/ 1 w 1"/>
                <a:gd name="T3" fmla="*/ 0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0 h 2"/>
                <a:gd name="T10" fmla="*/ 0 w 1"/>
                <a:gd name="T11" fmla="*/ 0 h 2"/>
                <a:gd name="T12" fmla="*/ 0 w 1"/>
                <a:gd name="T13" fmla="*/ 0 h 2"/>
                <a:gd name="T14" fmla="*/ 0 w 1"/>
                <a:gd name="T15" fmla="*/ 0 h 2"/>
                <a:gd name="T16" fmla="*/ 1 w 1"/>
                <a:gd name="T17" fmla="*/ 0 h 2"/>
                <a:gd name="T18" fmla="*/ 1 w 1"/>
                <a:gd name="T19" fmla="*/ 0 h 2"/>
                <a:gd name="T20" fmla="*/ 1 w 1"/>
                <a:gd name="T21" fmla="*/ 1 h 2"/>
                <a:gd name="T22" fmla="*/ 0 w 1"/>
                <a:gd name="T23" fmla="*/ 1 h 2"/>
                <a:gd name="T24" fmla="*/ 0 w 1"/>
                <a:gd name="T25" fmla="*/ 1 h 2"/>
                <a:gd name="T26" fmla="*/ 0 w 1"/>
                <a:gd name="T27" fmla="*/ 1 h 2"/>
                <a:gd name="T28" fmla="*/ 0 w 1"/>
                <a:gd name="T29" fmla="*/ 1 h 2"/>
                <a:gd name="T30" fmla="*/ 0 w 1"/>
                <a:gd name="T31" fmla="*/ 1 h 2"/>
                <a:gd name="T32" fmla="*/ 0 w 1"/>
                <a:gd name="T33" fmla="*/ 1 h 2"/>
                <a:gd name="T34" fmla="*/ 1 w 1"/>
                <a:gd name="T35" fmla="*/ 1 h 2"/>
                <a:gd name="T36" fmla="*/ 1 w 1"/>
                <a:gd name="T37" fmla="*/ 1 h 2"/>
                <a:gd name="T38" fmla="*/ 1 w 1"/>
                <a:gd name="T39" fmla="*/ 1 h 2"/>
                <a:gd name="T40" fmla="*/ 1 w 1"/>
                <a:gd name="T41" fmla="*/ 1 h 2"/>
                <a:gd name="T42" fmla="*/ 0 w 1"/>
                <a:gd name="T43" fmla="*/ 2 h 2"/>
                <a:gd name="T44" fmla="*/ 0 w 1"/>
                <a:gd name="T45" fmla="*/ 2 h 2"/>
                <a:gd name="T46" fmla="*/ 0 w 1"/>
                <a:gd name="T47" fmla="*/ 2 h 2"/>
                <a:gd name="T48" fmla="*/ 0 w 1"/>
                <a:gd name="T49" fmla="*/ 2 h 2"/>
                <a:gd name="T50" fmla="*/ 1 w 1"/>
                <a:gd name="T51" fmla="*/ 2 h 2"/>
                <a:gd name="T52" fmla="*/ 1 w 1"/>
                <a:gd name="T53" fmla="*/ 1 h 2"/>
                <a:gd name="T54" fmla="*/ 1 w 1"/>
                <a:gd name="T55" fmla="*/ 1 h 2"/>
                <a:gd name="T56" fmla="*/ 1 w 1"/>
                <a:gd name="T57" fmla="*/ 0 h 2"/>
                <a:gd name="T58" fmla="*/ 1 w 1"/>
                <a:gd name="T5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3" name="iṧḻiḋè">
              <a:extLst>
                <a:ext uri="{FF2B5EF4-FFF2-40B4-BE49-F238E27FC236}">
                  <a16:creationId xmlns:a16="http://schemas.microsoft.com/office/drawing/2014/main" id="{9A7ACAC5-BB6C-281A-2303-9504734227F9}"/>
                </a:ext>
              </a:extLst>
            </p:cNvPr>
            <p:cNvSpPr/>
            <p:nvPr/>
          </p:nvSpPr>
          <p:spPr bwMode="auto">
            <a:xfrm>
              <a:off x="3517900" y="2994026"/>
              <a:ext cx="138113" cy="115888"/>
            </a:xfrm>
            <a:custGeom>
              <a:avLst/>
              <a:gdLst>
                <a:gd name="T0" fmla="*/ 36 w 38"/>
                <a:gd name="T1" fmla="*/ 26 h 32"/>
                <a:gd name="T2" fmla="*/ 34 w 38"/>
                <a:gd name="T3" fmla="*/ 22 h 32"/>
                <a:gd name="T4" fmla="*/ 28 w 38"/>
                <a:gd name="T5" fmla="*/ 16 h 32"/>
                <a:gd name="T6" fmla="*/ 27 w 38"/>
                <a:gd name="T7" fmla="*/ 14 h 32"/>
                <a:gd name="T8" fmla="*/ 26 w 38"/>
                <a:gd name="T9" fmla="*/ 14 h 32"/>
                <a:gd name="T10" fmla="*/ 27 w 38"/>
                <a:gd name="T11" fmla="*/ 13 h 32"/>
                <a:gd name="T12" fmla="*/ 30 w 38"/>
                <a:gd name="T13" fmla="*/ 14 h 32"/>
                <a:gd name="T14" fmla="*/ 32 w 38"/>
                <a:gd name="T15" fmla="*/ 14 h 32"/>
                <a:gd name="T16" fmla="*/ 36 w 38"/>
                <a:gd name="T17" fmla="*/ 14 h 32"/>
                <a:gd name="T18" fmla="*/ 37 w 38"/>
                <a:gd name="T19" fmla="*/ 13 h 32"/>
                <a:gd name="T20" fmla="*/ 37 w 38"/>
                <a:gd name="T21" fmla="*/ 12 h 32"/>
                <a:gd name="T22" fmla="*/ 36 w 38"/>
                <a:gd name="T23" fmla="*/ 7 h 32"/>
                <a:gd name="T24" fmla="*/ 33 w 38"/>
                <a:gd name="T25" fmla="*/ 4 h 32"/>
                <a:gd name="T26" fmla="*/ 31 w 38"/>
                <a:gd name="T27" fmla="*/ 4 h 32"/>
                <a:gd name="T28" fmla="*/ 31 w 38"/>
                <a:gd name="T29" fmla="*/ 6 h 32"/>
                <a:gd name="T30" fmla="*/ 31 w 38"/>
                <a:gd name="T31" fmla="*/ 8 h 32"/>
                <a:gd name="T32" fmla="*/ 31 w 38"/>
                <a:gd name="T33" fmla="*/ 9 h 32"/>
                <a:gd name="T34" fmla="*/ 28 w 38"/>
                <a:gd name="T35" fmla="*/ 10 h 32"/>
                <a:gd name="T36" fmla="*/ 26 w 38"/>
                <a:gd name="T37" fmla="*/ 10 h 32"/>
                <a:gd name="T38" fmla="*/ 23 w 38"/>
                <a:gd name="T39" fmla="*/ 11 h 32"/>
                <a:gd name="T40" fmla="*/ 22 w 38"/>
                <a:gd name="T41" fmla="*/ 10 h 32"/>
                <a:gd name="T42" fmla="*/ 16 w 38"/>
                <a:gd name="T43" fmla="*/ 6 h 32"/>
                <a:gd name="T44" fmla="*/ 12 w 38"/>
                <a:gd name="T45" fmla="*/ 3 h 32"/>
                <a:gd name="T46" fmla="*/ 8 w 38"/>
                <a:gd name="T47" fmla="*/ 0 h 32"/>
                <a:gd name="T48" fmla="*/ 7 w 38"/>
                <a:gd name="T49" fmla="*/ 0 h 32"/>
                <a:gd name="T50" fmla="*/ 6 w 38"/>
                <a:gd name="T51" fmla="*/ 1 h 32"/>
                <a:gd name="T52" fmla="*/ 7 w 38"/>
                <a:gd name="T53" fmla="*/ 7 h 32"/>
                <a:gd name="T54" fmla="*/ 7 w 38"/>
                <a:gd name="T55" fmla="*/ 8 h 32"/>
                <a:gd name="T56" fmla="*/ 16 w 38"/>
                <a:gd name="T57" fmla="*/ 14 h 32"/>
                <a:gd name="T58" fmla="*/ 19 w 38"/>
                <a:gd name="T59" fmla="*/ 16 h 32"/>
                <a:gd name="T60" fmla="*/ 12 w 38"/>
                <a:gd name="T61" fmla="*/ 20 h 32"/>
                <a:gd name="T62" fmla="*/ 7 w 38"/>
                <a:gd name="T63" fmla="*/ 20 h 32"/>
                <a:gd name="T64" fmla="*/ 5 w 38"/>
                <a:gd name="T65" fmla="*/ 18 h 32"/>
                <a:gd name="T66" fmla="*/ 5 w 38"/>
                <a:gd name="T67" fmla="*/ 14 h 32"/>
                <a:gd name="T68" fmla="*/ 5 w 38"/>
                <a:gd name="T69" fmla="*/ 12 h 32"/>
                <a:gd name="T70" fmla="*/ 4 w 38"/>
                <a:gd name="T71" fmla="*/ 12 h 32"/>
                <a:gd name="T72" fmla="*/ 3 w 38"/>
                <a:gd name="T73" fmla="*/ 15 h 32"/>
                <a:gd name="T74" fmla="*/ 1 w 38"/>
                <a:gd name="T75" fmla="*/ 17 h 32"/>
                <a:gd name="T76" fmla="*/ 0 w 38"/>
                <a:gd name="T77" fmla="*/ 20 h 32"/>
                <a:gd name="T78" fmla="*/ 2 w 38"/>
                <a:gd name="T79" fmla="*/ 24 h 32"/>
                <a:gd name="T80" fmla="*/ 14 w 38"/>
                <a:gd name="T81" fmla="*/ 25 h 32"/>
                <a:gd name="T82" fmla="*/ 22 w 38"/>
                <a:gd name="T83" fmla="*/ 21 h 32"/>
                <a:gd name="T84" fmla="*/ 23 w 38"/>
                <a:gd name="T85" fmla="*/ 21 h 32"/>
                <a:gd name="T86" fmla="*/ 25 w 38"/>
                <a:gd name="T87" fmla="*/ 24 h 32"/>
                <a:gd name="T88" fmla="*/ 28 w 38"/>
                <a:gd name="T89" fmla="*/ 28 h 32"/>
                <a:gd name="T90" fmla="*/ 29 w 38"/>
                <a:gd name="T91" fmla="*/ 31 h 32"/>
                <a:gd name="T92" fmla="*/ 32 w 38"/>
                <a:gd name="T93" fmla="*/ 32 h 32"/>
                <a:gd name="T94" fmla="*/ 35 w 38"/>
                <a:gd name="T95" fmla="*/ 29 h 32"/>
                <a:gd name="T96" fmla="*/ 36 w 38"/>
                <a:gd name="T97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32">
                  <a:moveTo>
                    <a:pt x="36" y="26"/>
                  </a:moveTo>
                  <a:cubicBezTo>
                    <a:pt x="36" y="25"/>
                    <a:pt x="35" y="24"/>
                    <a:pt x="34" y="22"/>
                  </a:cubicBezTo>
                  <a:cubicBezTo>
                    <a:pt x="32" y="21"/>
                    <a:pt x="31" y="18"/>
                    <a:pt x="28" y="16"/>
                  </a:cubicBezTo>
                  <a:cubicBezTo>
                    <a:pt x="28" y="16"/>
                    <a:pt x="27" y="15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3"/>
                    <a:pt x="27" y="13"/>
                  </a:cubicBezTo>
                  <a:cubicBezTo>
                    <a:pt x="28" y="13"/>
                    <a:pt x="29" y="14"/>
                    <a:pt x="30" y="14"/>
                  </a:cubicBezTo>
                  <a:cubicBezTo>
                    <a:pt x="30" y="14"/>
                    <a:pt x="31" y="14"/>
                    <a:pt x="32" y="14"/>
                  </a:cubicBezTo>
                  <a:cubicBezTo>
                    <a:pt x="33" y="14"/>
                    <a:pt x="34" y="14"/>
                    <a:pt x="36" y="14"/>
                  </a:cubicBezTo>
                  <a:cubicBezTo>
                    <a:pt x="37" y="14"/>
                    <a:pt x="37" y="14"/>
                    <a:pt x="37" y="13"/>
                  </a:cubicBezTo>
                  <a:cubicBezTo>
                    <a:pt x="37" y="13"/>
                    <a:pt x="37" y="12"/>
                    <a:pt x="37" y="12"/>
                  </a:cubicBezTo>
                  <a:cubicBezTo>
                    <a:pt x="38" y="11"/>
                    <a:pt x="38" y="8"/>
                    <a:pt x="36" y="7"/>
                  </a:cubicBezTo>
                  <a:cubicBezTo>
                    <a:pt x="35" y="6"/>
                    <a:pt x="34" y="5"/>
                    <a:pt x="33" y="4"/>
                  </a:cubicBezTo>
                  <a:cubicBezTo>
                    <a:pt x="33" y="4"/>
                    <a:pt x="32" y="4"/>
                    <a:pt x="31" y="4"/>
                  </a:cubicBezTo>
                  <a:cubicBezTo>
                    <a:pt x="31" y="5"/>
                    <a:pt x="31" y="5"/>
                    <a:pt x="31" y="6"/>
                  </a:cubicBezTo>
                  <a:cubicBezTo>
                    <a:pt x="30" y="7"/>
                    <a:pt x="30" y="8"/>
                    <a:pt x="31" y="8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0" y="9"/>
                    <a:pt x="29" y="10"/>
                    <a:pt x="28" y="10"/>
                  </a:cubicBezTo>
                  <a:cubicBezTo>
                    <a:pt x="27" y="10"/>
                    <a:pt x="26" y="10"/>
                    <a:pt x="26" y="10"/>
                  </a:cubicBezTo>
                  <a:cubicBezTo>
                    <a:pt x="25" y="10"/>
                    <a:pt x="24" y="10"/>
                    <a:pt x="23" y="11"/>
                  </a:cubicBezTo>
                  <a:cubicBezTo>
                    <a:pt x="23" y="11"/>
                    <a:pt x="23" y="11"/>
                    <a:pt x="22" y="10"/>
                  </a:cubicBezTo>
                  <a:cubicBezTo>
                    <a:pt x="20" y="9"/>
                    <a:pt x="18" y="7"/>
                    <a:pt x="16" y="6"/>
                  </a:cubicBezTo>
                  <a:cubicBezTo>
                    <a:pt x="15" y="5"/>
                    <a:pt x="13" y="4"/>
                    <a:pt x="12" y="3"/>
                  </a:cubicBezTo>
                  <a:cubicBezTo>
                    <a:pt x="10" y="2"/>
                    <a:pt x="9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5" y="3"/>
                    <a:pt x="5" y="5"/>
                    <a:pt x="7" y="7"/>
                  </a:cubicBezTo>
                  <a:cubicBezTo>
                    <a:pt x="7" y="7"/>
                    <a:pt x="7" y="7"/>
                    <a:pt x="7" y="8"/>
                  </a:cubicBezTo>
                  <a:cubicBezTo>
                    <a:pt x="10" y="10"/>
                    <a:pt x="14" y="12"/>
                    <a:pt x="16" y="14"/>
                  </a:cubicBezTo>
                  <a:cubicBezTo>
                    <a:pt x="17" y="15"/>
                    <a:pt x="18" y="16"/>
                    <a:pt x="19" y="16"/>
                  </a:cubicBezTo>
                  <a:cubicBezTo>
                    <a:pt x="20" y="18"/>
                    <a:pt x="15" y="20"/>
                    <a:pt x="12" y="20"/>
                  </a:cubicBezTo>
                  <a:cubicBezTo>
                    <a:pt x="10" y="21"/>
                    <a:pt x="7" y="20"/>
                    <a:pt x="7" y="20"/>
                  </a:cubicBezTo>
                  <a:cubicBezTo>
                    <a:pt x="6" y="20"/>
                    <a:pt x="5" y="20"/>
                    <a:pt x="5" y="18"/>
                  </a:cubicBezTo>
                  <a:cubicBezTo>
                    <a:pt x="4" y="16"/>
                    <a:pt x="5" y="14"/>
                    <a:pt x="5" y="14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2"/>
                    <a:pt x="4" y="12"/>
                  </a:cubicBezTo>
                  <a:cubicBezTo>
                    <a:pt x="4" y="12"/>
                    <a:pt x="3" y="14"/>
                    <a:pt x="3" y="15"/>
                  </a:cubicBezTo>
                  <a:cubicBezTo>
                    <a:pt x="2" y="17"/>
                    <a:pt x="1" y="16"/>
                    <a:pt x="1" y="17"/>
                  </a:cubicBezTo>
                  <a:cubicBezTo>
                    <a:pt x="0" y="18"/>
                    <a:pt x="0" y="19"/>
                    <a:pt x="0" y="20"/>
                  </a:cubicBezTo>
                  <a:cubicBezTo>
                    <a:pt x="0" y="21"/>
                    <a:pt x="1" y="23"/>
                    <a:pt x="2" y="24"/>
                  </a:cubicBezTo>
                  <a:cubicBezTo>
                    <a:pt x="4" y="25"/>
                    <a:pt x="9" y="26"/>
                    <a:pt x="14" y="25"/>
                  </a:cubicBezTo>
                  <a:cubicBezTo>
                    <a:pt x="17" y="24"/>
                    <a:pt x="21" y="22"/>
                    <a:pt x="22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4" y="22"/>
                    <a:pt x="25" y="23"/>
                    <a:pt x="25" y="24"/>
                  </a:cubicBezTo>
                  <a:cubicBezTo>
                    <a:pt x="26" y="25"/>
                    <a:pt x="28" y="26"/>
                    <a:pt x="28" y="28"/>
                  </a:cubicBezTo>
                  <a:cubicBezTo>
                    <a:pt x="28" y="29"/>
                    <a:pt x="29" y="30"/>
                    <a:pt x="29" y="31"/>
                  </a:cubicBezTo>
                  <a:cubicBezTo>
                    <a:pt x="30" y="32"/>
                    <a:pt x="30" y="32"/>
                    <a:pt x="32" y="32"/>
                  </a:cubicBezTo>
                  <a:cubicBezTo>
                    <a:pt x="34" y="32"/>
                    <a:pt x="35" y="30"/>
                    <a:pt x="35" y="29"/>
                  </a:cubicBezTo>
                  <a:cubicBezTo>
                    <a:pt x="36" y="28"/>
                    <a:pt x="36" y="27"/>
                    <a:pt x="3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4" name="î$ľíḓè">
              <a:extLst>
                <a:ext uri="{FF2B5EF4-FFF2-40B4-BE49-F238E27FC236}">
                  <a16:creationId xmlns:a16="http://schemas.microsoft.com/office/drawing/2014/main" id="{5D7E9699-3D6B-FC72-0738-4584D44365BD}"/>
                </a:ext>
              </a:extLst>
            </p:cNvPr>
            <p:cNvSpPr/>
            <p:nvPr/>
          </p:nvSpPr>
          <p:spPr bwMode="auto">
            <a:xfrm>
              <a:off x="3636963" y="2936876"/>
              <a:ext cx="115888" cy="90488"/>
            </a:xfrm>
            <a:custGeom>
              <a:avLst/>
              <a:gdLst>
                <a:gd name="T0" fmla="*/ 0 w 32"/>
                <a:gd name="T1" fmla="*/ 7 h 25"/>
                <a:gd name="T2" fmla="*/ 1 w 32"/>
                <a:gd name="T3" fmla="*/ 8 h 25"/>
                <a:gd name="T4" fmla="*/ 2 w 32"/>
                <a:gd name="T5" fmla="*/ 11 h 25"/>
                <a:gd name="T6" fmla="*/ 4 w 32"/>
                <a:gd name="T7" fmla="*/ 12 h 25"/>
                <a:gd name="T8" fmla="*/ 6 w 32"/>
                <a:gd name="T9" fmla="*/ 11 h 25"/>
                <a:gd name="T10" fmla="*/ 7 w 32"/>
                <a:gd name="T11" fmla="*/ 9 h 25"/>
                <a:gd name="T12" fmla="*/ 11 w 32"/>
                <a:gd name="T13" fmla="*/ 8 h 25"/>
                <a:gd name="T14" fmla="*/ 12 w 32"/>
                <a:gd name="T15" fmla="*/ 8 h 25"/>
                <a:gd name="T16" fmla="*/ 11 w 32"/>
                <a:gd name="T17" fmla="*/ 8 h 25"/>
                <a:gd name="T18" fmla="*/ 11 w 32"/>
                <a:gd name="T19" fmla="*/ 13 h 25"/>
                <a:gd name="T20" fmla="*/ 10 w 32"/>
                <a:gd name="T21" fmla="*/ 14 h 25"/>
                <a:gd name="T22" fmla="*/ 8 w 32"/>
                <a:gd name="T23" fmla="*/ 13 h 25"/>
                <a:gd name="T24" fmla="*/ 6 w 32"/>
                <a:gd name="T25" fmla="*/ 13 h 25"/>
                <a:gd name="T26" fmla="*/ 4 w 32"/>
                <a:gd name="T27" fmla="*/ 14 h 25"/>
                <a:gd name="T28" fmla="*/ 6 w 32"/>
                <a:gd name="T29" fmla="*/ 15 h 25"/>
                <a:gd name="T30" fmla="*/ 22 w 32"/>
                <a:gd name="T31" fmla="*/ 22 h 25"/>
                <a:gd name="T32" fmla="*/ 24 w 32"/>
                <a:gd name="T33" fmla="*/ 23 h 25"/>
                <a:gd name="T34" fmla="*/ 25 w 32"/>
                <a:gd name="T35" fmla="*/ 23 h 25"/>
                <a:gd name="T36" fmla="*/ 26 w 32"/>
                <a:gd name="T37" fmla="*/ 24 h 25"/>
                <a:gd name="T38" fmla="*/ 28 w 32"/>
                <a:gd name="T39" fmla="*/ 25 h 25"/>
                <a:gd name="T40" fmla="*/ 30 w 32"/>
                <a:gd name="T41" fmla="*/ 24 h 25"/>
                <a:gd name="T42" fmla="*/ 31 w 32"/>
                <a:gd name="T43" fmla="*/ 23 h 25"/>
                <a:gd name="T44" fmla="*/ 32 w 32"/>
                <a:gd name="T45" fmla="*/ 22 h 25"/>
                <a:gd name="T46" fmla="*/ 32 w 32"/>
                <a:gd name="T47" fmla="*/ 19 h 25"/>
                <a:gd name="T48" fmla="*/ 31 w 32"/>
                <a:gd name="T49" fmla="*/ 17 h 25"/>
                <a:gd name="T50" fmla="*/ 29 w 32"/>
                <a:gd name="T51" fmla="*/ 16 h 25"/>
                <a:gd name="T52" fmla="*/ 28 w 32"/>
                <a:gd name="T53" fmla="*/ 15 h 25"/>
                <a:gd name="T54" fmla="*/ 28 w 32"/>
                <a:gd name="T55" fmla="*/ 15 h 25"/>
                <a:gd name="T56" fmla="*/ 28 w 32"/>
                <a:gd name="T57" fmla="*/ 16 h 25"/>
                <a:gd name="T58" fmla="*/ 27 w 32"/>
                <a:gd name="T59" fmla="*/ 17 h 25"/>
                <a:gd name="T60" fmla="*/ 24 w 32"/>
                <a:gd name="T61" fmla="*/ 17 h 25"/>
                <a:gd name="T62" fmla="*/ 14 w 32"/>
                <a:gd name="T63" fmla="*/ 15 h 25"/>
                <a:gd name="T64" fmla="*/ 16 w 32"/>
                <a:gd name="T65" fmla="*/ 14 h 25"/>
                <a:gd name="T66" fmla="*/ 20 w 32"/>
                <a:gd name="T67" fmla="*/ 11 h 25"/>
                <a:gd name="T68" fmla="*/ 21 w 32"/>
                <a:gd name="T69" fmla="*/ 8 h 25"/>
                <a:gd name="T70" fmla="*/ 20 w 32"/>
                <a:gd name="T71" fmla="*/ 7 h 25"/>
                <a:gd name="T72" fmla="*/ 19 w 32"/>
                <a:gd name="T73" fmla="*/ 7 h 25"/>
                <a:gd name="T74" fmla="*/ 16 w 32"/>
                <a:gd name="T75" fmla="*/ 7 h 25"/>
                <a:gd name="T76" fmla="*/ 11 w 32"/>
                <a:gd name="T77" fmla="*/ 7 h 25"/>
                <a:gd name="T78" fmla="*/ 11 w 32"/>
                <a:gd name="T79" fmla="*/ 7 h 25"/>
                <a:gd name="T80" fmla="*/ 11 w 32"/>
                <a:gd name="T81" fmla="*/ 6 h 25"/>
                <a:gd name="T82" fmla="*/ 13 w 32"/>
                <a:gd name="T83" fmla="*/ 4 h 25"/>
                <a:gd name="T84" fmla="*/ 13 w 32"/>
                <a:gd name="T85" fmla="*/ 1 h 25"/>
                <a:gd name="T86" fmla="*/ 9 w 32"/>
                <a:gd name="T87" fmla="*/ 0 h 25"/>
                <a:gd name="T88" fmla="*/ 4 w 32"/>
                <a:gd name="T89" fmla="*/ 2 h 25"/>
                <a:gd name="T90" fmla="*/ 2 w 32"/>
                <a:gd name="T91" fmla="*/ 4 h 25"/>
                <a:gd name="T92" fmla="*/ 0 w 32"/>
                <a:gd name="T93" fmla="*/ 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2" h="25">
                  <a:moveTo>
                    <a:pt x="0" y="7"/>
                  </a:moveTo>
                  <a:cubicBezTo>
                    <a:pt x="0" y="8"/>
                    <a:pt x="1" y="8"/>
                    <a:pt x="1" y="8"/>
                  </a:cubicBezTo>
                  <a:cubicBezTo>
                    <a:pt x="1" y="10"/>
                    <a:pt x="1" y="11"/>
                    <a:pt x="2" y="11"/>
                  </a:cubicBezTo>
                  <a:cubicBezTo>
                    <a:pt x="2" y="12"/>
                    <a:pt x="3" y="12"/>
                    <a:pt x="4" y="12"/>
                  </a:cubicBezTo>
                  <a:cubicBezTo>
                    <a:pt x="4" y="11"/>
                    <a:pt x="5" y="11"/>
                    <a:pt x="6" y="11"/>
                  </a:cubicBezTo>
                  <a:cubicBezTo>
                    <a:pt x="6" y="10"/>
                    <a:pt x="7" y="10"/>
                    <a:pt x="7" y="9"/>
                  </a:cubicBezTo>
                  <a:cubicBezTo>
                    <a:pt x="8" y="8"/>
                    <a:pt x="10" y="8"/>
                    <a:pt x="11" y="8"/>
                  </a:cubicBezTo>
                  <a:cubicBezTo>
                    <a:pt x="11" y="8"/>
                    <a:pt x="11" y="8"/>
                    <a:pt x="12" y="8"/>
                  </a:cubicBezTo>
                  <a:cubicBezTo>
                    <a:pt x="12" y="8"/>
                    <a:pt x="12" y="8"/>
                    <a:pt x="11" y="8"/>
                  </a:cubicBezTo>
                  <a:cubicBezTo>
                    <a:pt x="11" y="10"/>
                    <a:pt x="11" y="11"/>
                    <a:pt x="11" y="13"/>
                  </a:cubicBezTo>
                  <a:cubicBezTo>
                    <a:pt x="11" y="14"/>
                    <a:pt x="10" y="14"/>
                    <a:pt x="10" y="14"/>
                  </a:cubicBezTo>
                  <a:cubicBezTo>
                    <a:pt x="10" y="14"/>
                    <a:pt x="8" y="13"/>
                    <a:pt x="8" y="13"/>
                  </a:cubicBezTo>
                  <a:cubicBezTo>
                    <a:pt x="7" y="13"/>
                    <a:pt x="6" y="13"/>
                    <a:pt x="6" y="13"/>
                  </a:cubicBezTo>
                  <a:cubicBezTo>
                    <a:pt x="6" y="14"/>
                    <a:pt x="4" y="14"/>
                    <a:pt x="4" y="14"/>
                  </a:cubicBezTo>
                  <a:cubicBezTo>
                    <a:pt x="4" y="15"/>
                    <a:pt x="6" y="15"/>
                    <a:pt x="6" y="15"/>
                  </a:cubicBezTo>
                  <a:cubicBezTo>
                    <a:pt x="6" y="15"/>
                    <a:pt x="20" y="21"/>
                    <a:pt x="22" y="22"/>
                  </a:cubicBezTo>
                  <a:cubicBezTo>
                    <a:pt x="23" y="22"/>
                    <a:pt x="24" y="23"/>
                    <a:pt x="24" y="23"/>
                  </a:cubicBezTo>
                  <a:cubicBezTo>
                    <a:pt x="24" y="23"/>
                    <a:pt x="25" y="23"/>
                    <a:pt x="25" y="23"/>
                  </a:cubicBezTo>
                  <a:cubicBezTo>
                    <a:pt x="25" y="24"/>
                    <a:pt x="26" y="24"/>
                    <a:pt x="26" y="24"/>
                  </a:cubicBezTo>
                  <a:cubicBezTo>
                    <a:pt x="27" y="24"/>
                    <a:pt x="28" y="25"/>
                    <a:pt x="28" y="25"/>
                  </a:cubicBezTo>
                  <a:cubicBezTo>
                    <a:pt x="29" y="24"/>
                    <a:pt x="30" y="24"/>
                    <a:pt x="30" y="24"/>
                  </a:cubicBezTo>
                  <a:cubicBezTo>
                    <a:pt x="30" y="24"/>
                    <a:pt x="31" y="23"/>
                    <a:pt x="31" y="23"/>
                  </a:cubicBezTo>
                  <a:cubicBezTo>
                    <a:pt x="31" y="23"/>
                    <a:pt x="32" y="22"/>
                    <a:pt x="32" y="22"/>
                  </a:cubicBezTo>
                  <a:cubicBezTo>
                    <a:pt x="32" y="21"/>
                    <a:pt x="32" y="20"/>
                    <a:pt x="32" y="19"/>
                  </a:cubicBezTo>
                  <a:cubicBezTo>
                    <a:pt x="32" y="19"/>
                    <a:pt x="32" y="18"/>
                    <a:pt x="31" y="17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7"/>
                    <a:pt x="28" y="17"/>
                    <a:pt x="27" y="17"/>
                  </a:cubicBezTo>
                  <a:cubicBezTo>
                    <a:pt x="26" y="17"/>
                    <a:pt x="25" y="17"/>
                    <a:pt x="24" y="17"/>
                  </a:cubicBezTo>
                  <a:cubicBezTo>
                    <a:pt x="22" y="17"/>
                    <a:pt x="15" y="15"/>
                    <a:pt x="14" y="15"/>
                  </a:cubicBezTo>
                  <a:cubicBezTo>
                    <a:pt x="14" y="15"/>
                    <a:pt x="16" y="14"/>
                    <a:pt x="16" y="14"/>
                  </a:cubicBezTo>
                  <a:cubicBezTo>
                    <a:pt x="18" y="13"/>
                    <a:pt x="20" y="12"/>
                    <a:pt x="20" y="11"/>
                  </a:cubicBezTo>
                  <a:cubicBezTo>
                    <a:pt x="21" y="10"/>
                    <a:pt x="21" y="9"/>
                    <a:pt x="21" y="8"/>
                  </a:cubicBezTo>
                  <a:cubicBezTo>
                    <a:pt x="21" y="8"/>
                    <a:pt x="20" y="8"/>
                    <a:pt x="20" y="7"/>
                  </a:cubicBezTo>
                  <a:cubicBezTo>
                    <a:pt x="20" y="7"/>
                    <a:pt x="19" y="7"/>
                    <a:pt x="19" y="7"/>
                  </a:cubicBezTo>
                  <a:cubicBezTo>
                    <a:pt x="18" y="6"/>
                    <a:pt x="17" y="6"/>
                    <a:pt x="16" y="7"/>
                  </a:cubicBezTo>
                  <a:cubicBezTo>
                    <a:pt x="14" y="7"/>
                    <a:pt x="13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2" y="5"/>
                    <a:pt x="13" y="4"/>
                    <a:pt x="13" y="4"/>
                  </a:cubicBezTo>
                  <a:cubicBezTo>
                    <a:pt x="14" y="3"/>
                    <a:pt x="14" y="2"/>
                    <a:pt x="13" y="1"/>
                  </a:cubicBezTo>
                  <a:cubicBezTo>
                    <a:pt x="12" y="1"/>
                    <a:pt x="11" y="0"/>
                    <a:pt x="9" y="0"/>
                  </a:cubicBezTo>
                  <a:cubicBezTo>
                    <a:pt x="7" y="1"/>
                    <a:pt x="6" y="1"/>
                    <a:pt x="4" y="2"/>
                  </a:cubicBezTo>
                  <a:cubicBezTo>
                    <a:pt x="3" y="3"/>
                    <a:pt x="3" y="3"/>
                    <a:pt x="2" y="4"/>
                  </a:cubicBezTo>
                  <a:cubicBezTo>
                    <a:pt x="1" y="5"/>
                    <a:pt x="0" y="6"/>
                    <a:pt x="0" y="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5" name="ïsľíďe">
              <a:extLst>
                <a:ext uri="{FF2B5EF4-FFF2-40B4-BE49-F238E27FC236}">
                  <a16:creationId xmlns:a16="http://schemas.microsoft.com/office/drawing/2014/main" id="{C4B81C1C-0532-C6A3-9942-997F89B23F17}"/>
                </a:ext>
              </a:extLst>
            </p:cNvPr>
            <p:cNvSpPr/>
            <p:nvPr/>
          </p:nvSpPr>
          <p:spPr bwMode="auto">
            <a:xfrm>
              <a:off x="3616325" y="2971801"/>
              <a:ext cx="96838" cy="106363"/>
            </a:xfrm>
            <a:custGeom>
              <a:avLst/>
              <a:gdLst>
                <a:gd name="T0" fmla="*/ 26 w 27"/>
                <a:gd name="T1" fmla="*/ 26 h 29"/>
                <a:gd name="T2" fmla="*/ 27 w 27"/>
                <a:gd name="T3" fmla="*/ 21 h 29"/>
                <a:gd name="T4" fmla="*/ 22 w 27"/>
                <a:gd name="T5" fmla="*/ 14 h 29"/>
                <a:gd name="T6" fmla="*/ 16 w 27"/>
                <a:gd name="T7" fmla="*/ 9 h 29"/>
                <a:gd name="T8" fmla="*/ 7 w 27"/>
                <a:gd name="T9" fmla="*/ 3 h 29"/>
                <a:gd name="T10" fmla="*/ 0 w 27"/>
                <a:gd name="T11" fmla="*/ 0 h 29"/>
                <a:gd name="T12" fmla="*/ 0 w 27"/>
                <a:gd name="T13" fmla="*/ 1 h 29"/>
                <a:gd name="T14" fmla="*/ 2 w 27"/>
                <a:gd name="T15" fmla="*/ 3 h 29"/>
                <a:gd name="T16" fmla="*/ 5 w 27"/>
                <a:gd name="T17" fmla="*/ 6 h 29"/>
                <a:gd name="T18" fmla="*/ 9 w 27"/>
                <a:gd name="T19" fmla="*/ 8 h 29"/>
                <a:gd name="T20" fmla="*/ 17 w 27"/>
                <a:gd name="T21" fmla="*/ 12 h 29"/>
                <a:gd name="T22" fmla="*/ 24 w 27"/>
                <a:gd name="T23" fmla="*/ 20 h 29"/>
                <a:gd name="T24" fmla="*/ 24 w 27"/>
                <a:gd name="T25" fmla="*/ 23 h 29"/>
                <a:gd name="T26" fmla="*/ 20 w 27"/>
                <a:gd name="T27" fmla="*/ 24 h 29"/>
                <a:gd name="T28" fmla="*/ 16 w 27"/>
                <a:gd name="T29" fmla="*/ 22 h 29"/>
                <a:gd name="T30" fmla="*/ 11 w 27"/>
                <a:gd name="T31" fmla="*/ 20 h 29"/>
                <a:gd name="T32" fmla="*/ 10 w 27"/>
                <a:gd name="T33" fmla="*/ 20 h 29"/>
                <a:gd name="T34" fmla="*/ 10 w 27"/>
                <a:gd name="T35" fmla="*/ 20 h 29"/>
                <a:gd name="T36" fmla="*/ 10 w 27"/>
                <a:gd name="T37" fmla="*/ 20 h 29"/>
                <a:gd name="T38" fmla="*/ 11 w 27"/>
                <a:gd name="T39" fmla="*/ 21 h 29"/>
                <a:gd name="T40" fmla="*/ 12 w 27"/>
                <a:gd name="T41" fmla="*/ 23 h 29"/>
                <a:gd name="T42" fmla="*/ 19 w 27"/>
                <a:gd name="T43" fmla="*/ 28 h 29"/>
                <a:gd name="T44" fmla="*/ 24 w 27"/>
                <a:gd name="T45" fmla="*/ 28 h 29"/>
                <a:gd name="T46" fmla="*/ 26 w 27"/>
                <a:gd name="T47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" h="29">
                  <a:moveTo>
                    <a:pt x="26" y="26"/>
                  </a:moveTo>
                  <a:cubicBezTo>
                    <a:pt x="27" y="24"/>
                    <a:pt x="27" y="23"/>
                    <a:pt x="27" y="21"/>
                  </a:cubicBezTo>
                  <a:cubicBezTo>
                    <a:pt x="26" y="19"/>
                    <a:pt x="24" y="16"/>
                    <a:pt x="22" y="14"/>
                  </a:cubicBezTo>
                  <a:cubicBezTo>
                    <a:pt x="20" y="12"/>
                    <a:pt x="20" y="11"/>
                    <a:pt x="16" y="9"/>
                  </a:cubicBezTo>
                  <a:cubicBezTo>
                    <a:pt x="12" y="6"/>
                    <a:pt x="8" y="4"/>
                    <a:pt x="7" y="3"/>
                  </a:cubicBezTo>
                  <a:cubicBezTo>
                    <a:pt x="5" y="3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2" y="3"/>
                    <a:pt x="2" y="3"/>
                  </a:cubicBezTo>
                  <a:cubicBezTo>
                    <a:pt x="3" y="4"/>
                    <a:pt x="4" y="6"/>
                    <a:pt x="5" y="6"/>
                  </a:cubicBezTo>
                  <a:cubicBezTo>
                    <a:pt x="7" y="7"/>
                    <a:pt x="8" y="8"/>
                    <a:pt x="9" y="8"/>
                  </a:cubicBezTo>
                  <a:cubicBezTo>
                    <a:pt x="12" y="9"/>
                    <a:pt x="16" y="12"/>
                    <a:pt x="17" y="12"/>
                  </a:cubicBezTo>
                  <a:cubicBezTo>
                    <a:pt x="20" y="15"/>
                    <a:pt x="23" y="18"/>
                    <a:pt x="24" y="20"/>
                  </a:cubicBezTo>
                  <a:cubicBezTo>
                    <a:pt x="25" y="21"/>
                    <a:pt x="25" y="22"/>
                    <a:pt x="24" y="23"/>
                  </a:cubicBezTo>
                  <a:cubicBezTo>
                    <a:pt x="23" y="24"/>
                    <a:pt x="21" y="24"/>
                    <a:pt x="20" y="24"/>
                  </a:cubicBezTo>
                  <a:cubicBezTo>
                    <a:pt x="19" y="23"/>
                    <a:pt x="17" y="23"/>
                    <a:pt x="16" y="22"/>
                  </a:cubicBezTo>
                  <a:cubicBezTo>
                    <a:pt x="14" y="21"/>
                    <a:pt x="11" y="20"/>
                    <a:pt x="11" y="20"/>
                  </a:cubicBezTo>
                  <a:cubicBezTo>
                    <a:pt x="11" y="20"/>
                    <a:pt x="11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1" y="21"/>
                  </a:cubicBezTo>
                  <a:cubicBezTo>
                    <a:pt x="11" y="21"/>
                    <a:pt x="12" y="23"/>
                    <a:pt x="12" y="23"/>
                  </a:cubicBezTo>
                  <a:cubicBezTo>
                    <a:pt x="13" y="24"/>
                    <a:pt x="15" y="27"/>
                    <a:pt x="19" y="28"/>
                  </a:cubicBezTo>
                  <a:cubicBezTo>
                    <a:pt x="21" y="28"/>
                    <a:pt x="22" y="29"/>
                    <a:pt x="24" y="28"/>
                  </a:cubicBezTo>
                  <a:cubicBezTo>
                    <a:pt x="25" y="27"/>
                    <a:pt x="26" y="27"/>
                    <a:pt x="2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6" name="íšḷïdé">
              <a:extLst>
                <a:ext uri="{FF2B5EF4-FFF2-40B4-BE49-F238E27FC236}">
                  <a16:creationId xmlns:a16="http://schemas.microsoft.com/office/drawing/2014/main" id="{6FF4AAFA-35BD-5C29-0A35-5A7291B273E1}"/>
                </a:ext>
              </a:extLst>
            </p:cNvPr>
            <p:cNvSpPr/>
            <p:nvPr/>
          </p:nvSpPr>
          <p:spPr bwMode="auto">
            <a:xfrm>
              <a:off x="3651250" y="304482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7" name="ïslîḍê">
              <a:extLst>
                <a:ext uri="{FF2B5EF4-FFF2-40B4-BE49-F238E27FC236}">
                  <a16:creationId xmlns:a16="http://schemas.microsoft.com/office/drawing/2014/main" id="{0A5B9A3B-659D-C997-57D2-EDCCB3D8632A}"/>
                </a:ext>
              </a:extLst>
            </p:cNvPr>
            <p:cNvSpPr/>
            <p:nvPr/>
          </p:nvSpPr>
          <p:spPr bwMode="auto">
            <a:xfrm>
              <a:off x="3651250" y="3044826"/>
              <a:ext cx="4763" cy="0"/>
            </a:xfrm>
            <a:custGeom>
              <a:avLst/>
              <a:gdLst>
                <a:gd name="T0" fmla="*/ 0 w 1"/>
                <a:gd name="T1" fmla="*/ 0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8" name="îŝľíḍè">
              <a:extLst>
                <a:ext uri="{FF2B5EF4-FFF2-40B4-BE49-F238E27FC236}">
                  <a16:creationId xmlns:a16="http://schemas.microsoft.com/office/drawing/2014/main" id="{51972F81-9B84-D8A0-10D9-90F4B70D7A0C}"/>
                </a:ext>
              </a:extLst>
            </p:cNvPr>
            <p:cNvSpPr/>
            <p:nvPr/>
          </p:nvSpPr>
          <p:spPr bwMode="auto">
            <a:xfrm>
              <a:off x="3560763" y="2951163"/>
              <a:ext cx="44450" cy="36513"/>
            </a:xfrm>
            <a:custGeom>
              <a:avLst/>
              <a:gdLst>
                <a:gd name="T0" fmla="*/ 3 w 12"/>
                <a:gd name="T1" fmla="*/ 9 h 10"/>
                <a:gd name="T2" fmla="*/ 6 w 12"/>
                <a:gd name="T3" fmla="*/ 8 h 10"/>
                <a:gd name="T4" fmla="*/ 11 w 12"/>
                <a:gd name="T5" fmla="*/ 5 h 10"/>
                <a:gd name="T6" fmla="*/ 12 w 12"/>
                <a:gd name="T7" fmla="*/ 4 h 10"/>
                <a:gd name="T8" fmla="*/ 12 w 12"/>
                <a:gd name="T9" fmla="*/ 3 h 10"/>
                <a:gd name="T10" fmla="*/ 11 w 12"/>
                <a:gd name="T11" fmla="*/ 1 h 10"/>
                <a:gd name="T12" fmla="*/ 10 w 12"/>
                <a:gd name="T13" fmla="*/ 1 h 10"/>
                <a:gd name="T14" fmla="*/ 8 w 12"/>
                <a:gd name="T15" fmla="*/ 1 h 10"/>
                <a:gd name="T16" fmla="*/ 2 w 12"/>
                <a:gd name="T17" fmla="*/ 3 h 10"/>
                <a:gd name="T18" fmla="*/ 0 w 12"/>
                <a:gd name="T19" fmla="*/ 7 h 10"/>
                <a:gd name="T20" fmla="*/ 1 w 12"/>
                <a:gd name="T21" fmla="*/ 8 h 10"/>
                <a:gd name="T22" fmla="*/ 3 w 12"/>
                <a:gd name="T23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0">
                  <a:moveTo>
                    <a:pt x="3" y="9"/>
                  </a:moveTo>
                  <a:cubicBezTo>
                    <a:pt x="4" y="9"/>
                    <a:pt x="5" y="8"/>
                    <a:pt x="6" y="8"/>
                  </a:cubicBezTo>
                  <a:cubicBezTo>
                    <a:pt x="8" y="7"/>
                    <a:pt x="9" y="6"/>
                    <a:pt x="11" y="5"/>
                  </a:cubicBezTo>
                  <a:cubicBezTo>
                    <a:pt x="12" y="5"/>
                    <a:pt x="12" y="4"/>
                    <a:pt x="12" y="4"/>
                  </a:cubicBezTo>
                  <a:cubicBezTo>
                    <a:pt x="12" y="4"/>
                    <a:pt x="12" y="3"/>
                    <a:pt x="12" y="3"/>
                  </a:cubicBezTo>
                  <a:cubicBezTo>
                    <a:pt x="12" y="3"/>
                    <a:pt x="11" y="2"/>
                    <a:pt x="11" y="1"/>
                  </a:cubicBezTo>
                  <a:cubicBezTo>
                    <a:pt x="11" y="1"/>
                    <a:pt x="11" y="1"/>
                    <a:pt x="10" y="1"/>
                  </a:cubicBezTo>
                  <a:cubicBezTo>
                    <a:pt x="9" y="0"/>
                    <a:pt x="8" y="0"/>
                    <a:pt x="8" y="1"/>
                  </a:cubicBezTo>
                  <a:cubicBezTo>
                    <a:pt x="6" y="1"/>
                    <a:pt x="4" y="2"/>
                    <a:pt x="2" y="3"/>
                  </a:cubicBezTo>
                  <a:cubicBezTo>
                    <a:pt x="0" y="3"/>
                    <a:pt x="0" y="5"/>
                    <a:pt x="0" y="7"/>
                  </a:cubicBezTo>
                  <a:cubicBezTo>
                    <a:pt x="1" y="7"/>
                    <a:pt x="1" y="8"/>
                    <a:pt x="1" y="8"/>
                  </a:cubicBezTo>
                  <a:cubicBezTo>
                    <a:pt x="2" y="9"/>
                    <a:pt x="2" y="10"/>
                    <a:pt x="3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9" name="íşľîḑé">
              <a:extLst>
                <a:ext uri="{FF2B5EF4-FFF2-40B4-BE49-F238E27FC236}">
                  <a16:creationId xmlns:a16="http://schemas.microsoft.com/office/drawing/2014/main" id="{6433D098-631C-7239-1F92-D6E56ED392DE}"/>
                </a:ext>
              </a:extLst>
            </p:cNvPr>
            <p:cNvSpPr/>
            <p:nvPr/>
          </p:nvSpPr>
          <p:spPr bwMode="auto">
            <a:xfrm>
              <a:off x="2205038" y="2925763"/>
              <a:ext cx="220663" cy="198438"/>
            </a:xfrm>
            <a:custGeom>
              <a:avLst/>
              <a:gdLst>
                <a:gd name="T0" fmla="*/ 23 w 61"/>
                <a:gd name="T1" fmla="*/ 15 h 55"/>
                <a:gd name="T2" fmla="*/ 21 w 61"/>
                <a:gd name="T3" fmla="*/ 20 h 55"/>
                <a:gd name="T4" fmla="*/ 17 w 61"/>
                <a:gd name="T5" fmla="*/ 12 h 55"/>
                <a:gd name="T6" fmla="*/ 19 w 61"/>
                <a:gd name="T7" fmla="*/ 8 h 55"/>
                <a:gd name="T8" fmla="*/ 17 w 61"/>
                <a:gd name="T9" fmla="*/ 2 h 55"/>
                <a:gd name="T10" fmla="*/ 14 w 61"/>
                <a:gd name="T11" fmla="*/ 2 h 55"/>
                <a:gd name="T12" fmla="*/ 12 w 61"/>
                <a:gd name="T13" fmla="*/ 5 h 55"/>
                <a:gd name="T14" fmla="*/ 8 w 61"/>
                <a:gd name="T15" fmla="*/ 3 h 55"/>
                <a:gd name="T16" fmla="*/ 2 w 61"/>
                <a:gd name="T17" fmla="*/ 10 h 55"/>
                <a:gd name="T18" fmla="*/ 9 w 61"/>
                <a:gd name="T19" fmla="*/ 15 h 55"/>
                <a:gd name="T20" fmla="*/ 10 w 61"/>
                <a:gd name="T21" fmla="*/ 18 h 55"/>
                <a:gd name="T22" fmla="*/ 10 w 61"/>
                <a:gd name="T23" fmla="*/ 24 h 55"/>
                <a:gd name="T24" fmla="*/ 16 w 61"/>
                <a:gd name="T25" fmla="*/ 25 h 55"/>
                <a:gd name="T26" fmla="*/ 21 w 61"/>
                <a:gd name="T27" fmla="*/ 35 h 55"/>
                <a:gd name="T28" fmla="*/ 20 w 61"/>
                <a:gd name="T29" fmla="*/ 37 h 55"/>
                <a:gd name="T30" fmla="*/ 25 w 61"/>
                <a:gd name="T31" fmla="*/ 46 h 55"/>
                <a:gd name="T32" fmla="*/ 39 w 61"/>
                <a:gd name="T33" fmla="*/ 54 h 55"/>
                <a:gd name="T34" fmla="*/ 43 w 61"/>
                <a:gd name="T35" fmla="*/ 54 h 55"/>
                <a:gd name="T36" fmla="*/ 45 w 61"/>
                <a:gd name="T37" fmla="*/ 52 h 55"/>
                <a:gd name="T38" fmla="*/ 41 w 61"/>
                <a:gd name="T39" fmla="*/ 47 h 55"/>
                <a:gd name="T40" fmla="*/ 31 w 61"/>
                <a:gd name="T41" fmla="*/ 42 h 55"/>
                <a:gd name="T42" fmla="*/ 27 w 61"/>
                <a:gd name="T43" fmla="*/ 37 h 55"/>
                <a:gd name="T44" fmla="*/ 27 w 61"/>
                <a:gd name="T45" fmla="*/ 33 h 55"/>
                <a:gd name="T46" fmla="*/ 26 w 61"/>
                <a:gd name="T47" fmla="*/ 25 h 55"/>
                <a:gd name="T48" fmla="*/ 26 w 61"/>
                <a:gd name="T49" fmla="*/ 25 h 55"/>
                <a:gd name="T50" fmla="*/ 26 w 61"/>
                <a:gd name="T51" fmla="*/ 22 h 55"/>
                <a:gd name="T52" fmla="*/ 32 w 61"/>
                <a:gd name="T53" fmla="*/ 6 h 55"/>
                <a:gd name="T54" fmla="*/ 44 w 61"/>
                <a:gd name="T55" fmla="*/ 10 h 55"/>
                <a:gd name="T56" fmla="*/ 52 w 61"/>
                <a:gd name="T57" fmla="*/ 20 h 55"/>
                <a:gd name="T58" fmla="*/ 54 w 61"/>
                <a:gd name="T59" fmla="*/ 27 h 55"/>
                <a:gd name="T60" fmla="*/ 49 w 61"/>
                <a:gd name="T61" fmla="*/ 31 h 55"/>
                <a:gd name="T62" fmla="*/ 46 w 61"/>
                <a:gd name="T63" fmla="*/ 27 h 55"/>
                <a:gd name="T64" fmla="*/ 42 w 61"/>
                <a:gd name="T65" fmla="*/ 25 h 55"/>
                <a:gd name="T66" fmla="*/ 41 w 61"/>
                <a:gd name="T67" fmla="*/ 28 h 55"/>
                <a:gd name="T68" fmla="*/ 40 w 61"/>
                <a:gd name="T69" fmla="*/ 28 h 55"/>
                <a:gd name="T70" fmla="*/ 38 w 61"/>
                <a:gd name="T71" fmla="*/ 20 h 55"/>
                <a:gd name="T72" fmla="*/ 34 w 61"/>
                <a:gd name="T73" fmla="*/ 19 h 55"/>
                <a:gd name="T74" fmla="*/ 28 w 61"/>
                <a:gd name="T75" fmla="*/ 16 h 55"/>
                <a:gd name="T76" fmla="*/ 28 w 61"/>
                <a:gd name="T77" fmla="*/ 19 h 55"/>
                <a:gd name="T78" fmla="*/ 30 w 61"/>
                <a:gd name="T79" fmla="*/ 24 h 55"/>
                <a:gd name="T80" fmla="*/ 28 w 61"/>
                <a:gd name="T81" fmla="*/ 24 h 55"/>
                <a:gd name="T82" fmla="*/ 26 w 61"/>
                <a:gd name="T83" fmla="*/ 25 h 55"/>
                <a:gd name="T84" fmla="*/ 26 w 61"/>
                <a:gd name="T85" fmla="*/ 25 h 55"/>
                <a:gd name="T86" fmla="*/ 29 w 61"/>
                <a:gd name="T87" fmla="*/ 28 h 55"/>
                <a:gd name="T88" fmla="*/ 32 w 61"/>
                <a:gd name="T89" fmla="*/ 29 h 55"/>
                <a:gd name="T90" fmla="*/ 36 w 61"/>
                <a:gd name="T91" fmla="*/ 36 h 55"/>
                <a:gd name="T92" fmla="*/ 38 w 61"/>
                <a:gd name="T93" fmla="*/ 34 h 55"/>
                <a:gd name="T94" fmla="*/ 40 w 61"/>
                <a:gd name="T95" fmla="*/ 39 h 55"/>
                <a:gd name="T96" fmla="*/ 42 w 61"/>
                <a:gd name="T97" fmla="*/ 40 h 55"/>
                <a:gd name="T98" fmla="*/ 44 w 61"/>
                <a:gd name="T99" fmla="*/ 38 h 55"/>
                <a:gd name="T100" fmla="*/ 47 w 61"/>
                <a:gd name="T101" fmla="*/ 33 h 55"/>
                <a:gd name="T102" fmla="*/ 58 w 61"/>
                <a:gd name="T103" fmla="*/ 41 h 55"/>
                <a:gd name="T104" fmla="*/ 61 w 61"/>
                <a:gd name="T105" fmla="*/ 42 h 55"/>
                <a:gd name="T106" fmla="*/ 60 w 61"/>
                <a:gd name="T107" fmla="*/ 40 h 55"/>
                <a:gd name="T108" fmla="*/ 52 w 61"/>
                <a:gd name="T109" fmla="*/ 34 h 55"/>
                <a:gd name="T110" fmla="*/ 50 w 61"/>
                <a:gd name="T111" fmla="*/ 31 h 55"/>
                <a:gd name="T112" fmla="*/ 53 w 61"/>
                <a:gd name="T113" fmla="*/ 31 h 55"/>
                <a:gd name="T114" fmla="*/ 54 w 61"/>
                <a:gd name="T115" fmla="*/ 32 h 55"/>
                <a:gd name="T116" fmla="*/ 58 w 61"/>
                <a:gd name="T117" fmla="*/ 31 h 55"/>
                <a:gd name="T118" fmla="*/ 59 w 61"/>
                <a:gd name="T119" fmla="*/ 22 h 55"/>
                <a:gd name="T120" fmla="*/ 52 w 61"/>
                <a:gd name="T121" fmla="*/ 12 h 55"/>
                <a:gd name="T122" fmla="*/ 45 w 61"/>
                <a:gd name="T123" fmla="*/ 5 h 55"/>
                <a:gd name="T124" fmla="*/ 37 w 61"/>
                <a:gd name="T125" fmla="*/ 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30" y="3"/>
                  </a:moveTo>
                  <a:cubicBezTo>
                    <a:pt x="26" y="6"/>
                    <a:pt x="24" y="10"/>
                    <a:pt x="23" y="15"/>
                  </a:cubicBezTo>
                  <a:cubicBezTo>
                    <a:pt x="23" y="16"/>
                    <a:pt x="22" y="18"/>
                    <a:pt x="22" y="19"/>
                  </a:cubicBezTo>
                  <a:cubicBezTo>
                    <a:pt x="22" y="20"/>
                    <a:pt x="21" y="20"/>
                    <a:pt x="21" y="20"/>
                  </a:cubicBezTo>
                  <a:cubicBezTo>
                    <a:pt x="21" y="19"/>
                    <a:pt x="20" y="19"/>
                    <a:pt x="20" y="18"/>
                  </a:cubicBezTo>
                  <a:cubicBezTo>
                    <a:pt x="18" y="17"/>
                    <a:pt x="18" y="15"/>
                    <a:pt x="17" y="12"/>
                  </a:cubicBezTo>
                  <a:cubicBezTo>
                    <a:pt x="17" y="12"/>
                    <a:pt x="17" y="11"/>
                    <a:pt x="18" y="10"/>
                  </a:cubicBezTo>
                  <a:cubicBezTo>
                    <a:pt x="18" y="9"/>
                    <a:pt x="18" y="8"/>
                    <a:pt x="19" y="8"/>
                  </a:cubicBezTo>
                  <a:cubicBezTo>
                    <a:pt x="19" y="6"/>
                    <a:pt x="19" y="5"/>
                    <a:pt x="19" y="4"/>
                  </a:cubicBezTo>
                  <a:cubicBezTo>
                    <a:pt x="18" y="3"/>
                    <a:pt x="18" y="3"/>
                    <a:pt x="17" y="2"/>
                  </a:cubicBezTo>
                  <a:cubicBezTo>
                    <a:pt x="17" y="2"/>
                    <a:pt x="16" y="2"/>
                    <a:pt x="15" y="2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3" y="3"/>
                    <a:pt x="13" y="3"/>
                    <a:pt x="13" y="4"/>
                  </a:cubicBezTo>
                  <a:cubicBezTo>
                    <a:pt x="13" y="4"/>
                    <a:pt x="12" y="5"/>
                    <a:pt x="12" y="5"/>
                  </a:cubicBezTo>
                  <a:cubicBezTo>
                    <a:pt x="12" y="6"/>
                    <a:pt x="11" y="5"/>
                    <a:pt x="11" y="4"/>
                  </a:cubicBezTo>
                  <a:cubicBezTo>
                    <a:pt x="10" y="3"/>
                    <a:pt x="9" y="3"/>
                    <a:pt x="8" y="3"/>
                  </a:cubicBezTo>
                  <a:cubicBezTo>
                    <a:pt x="5" y="3"/>
                    <a:pt x="3" y="3"/>
                    <a:pt x="1" y="6"/>
                  </a:cubicBezTo>
                  <a:cubicBezTo>
                    <a:pt x="0" y="7"/>
                    <a:pt x="1" y="9"/>
                    <a:pt x="2" y="10"/>
                  </a:cubicBezTo>
                  <a:cubicBezTo>
                    <a:pt x="4" y="10"/>
                    <a:pt x="4" y="10"/>
                    <a:pt x="5" y="11"/>
                  </a:cubicBezTo>
                  <a:cubicBezTo>
                    <a:pt x="6" y="12"/>
                    <a:pt x="8" y="13"/>
                    <a:pt x="9" y="15"/>
                  </a:cubicBezTo>
                  <a:cubicBezTo>
                    <a:pt x="9" y="15"/>
                    <a:pt x="10" y="16"/>
                    <a:pt x="10" y="17"/>
                  </a:cubicBezTo>
                  <a:cubicBezTo>
                    <a:pt x="10" y="17"/>
                    <a:pt x="10" y="17"/>
                    <a:pt x="10" y="18"/>
                  </a:cubicBezTo>
                  <a:cubicBezTo>
                    <a:pt x="10" y="19"/>
                    <a:pt x="10" y="20"/>
                    <a:pt x="9" y="21"/>
                  </a:cubicBezTo>
                  <a:cubicBezTo>
                    <a:pt x="9" y="22"/>
                    <a:pt x="9" y="23"/>
                    <a:pt x="10" y="24"/>
                  </a:cubicBezTo>
                  <a:cubicBezTo>
                    <a:pt x="11" y="25"/>
                    <a:pt x="14" y="26"/>
                    <a:pt x="15" y="25"/>
                  </a:cubicBezTo>
                  <a:cubicBezTo>
                    <a:pt x="16" y="24"/>
                    <a:pt x="16" y="24"/>
                    <a:pt x="16" y="25"/>
                  </a:cubicBezTo>
                  <a:cubicBezTo>
                    <a:pt x="17" y="26"/>
                    <a:pt x="18" y="28"/>
                    <a:pt x="19" y="30"/>
                  </a:cubicBezTo>
                  <a:cubicBezTo>
                    <a:pt x="20" y="31"/>
                    <a:pt x="20" y="33"/>
                    <a:pt x="21" y="35"/>
                  </a:cubicBezTo>
                  <a:cubicBezTo>
                    <a:pt x="21" y="35"/>
                    <a:pt x="21" y="36"/>
                    <a:pt x="21" y="36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20" y="39"/>
                    <a:pt x="21" y="41"/>
                    <a:pt x="22" y="43"/>
                  </a:cubicBezTo>
                  <a:cubicBezTo>
                    <a:pt x="23" y="44"/>
                    <a:pt x="24" y="46"/>
                    <a:pt x="25" y="46"/>
                  </a:cubicBezTo>
                  <a:cubicBezTo>
                    <a:pt x="28" y="48"/>
                    <a:pt x="30" y="49"/>
                    <a:pt x="32" y="51"/>
                  </a:cubicBezTo>
                  <a:cubicBezTo>
                    <a:pt x="34" y="52"/>
                    <a:pt x="37" y="53"/>
                    <a:pt x="39" y="54"/>
                  </a:cubicBezTo>
                  <a:cubicBezTo>
                    <a:pt x="39" y="54"/>
                    <a:pt x="39" y="55"/>
                    <a:pt x="40" y="54"/>
                  </a:cubicBezTo>
                  <a:cubicBezTo>
                    <a:pt x="41" y="54"/>
                    <a:pt x="42" y="54"/>
                    <a:pt x="43" y="54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4" y="53"/>
                    <a:pt x="45" y="52"/>
                    <a:pt x="45" y="52"/>
                  </a:cubicBezTo>
                  <a:cubicBezTo>
                    <a:pt x="46" y="51"/>
                    <a:pt x="46" y="50"/>
                    <a:pt x="46" y="50"/>
                  </a:cubicBezTo>
                  <a:cubicBezTo>
                    <a:pt x="44" y="49"/>
                    <a:pt x="43" y="47"/>
                    <a:pt x="41" y="47"/>
                  </a:cubicBezTo>
                  <a:cubicBezTo>
                    <a:pt x="40" y="47"/>
                    <a:pt x="39" y="46"/>
                    <a:pt x="38" y="46"/>
                  </a:cubicBezTo>
                  <a:cubicBezTo>
                    <a:pt x="35" y="45"/>
                    <a:pt x="33" y="43"/>
                    <a:pt x="31" y="42"/>
                  </a:cubicBezTo>
                  <a:cubicBezTo>
                    <a:pt x="29" y="41"/>
                    <a:pt x="28" y="40"/>
                    <a:pt x="27" y="40"/>
                  </a:cubicBezTo>
                  <a:cubicBezTo>
                    <a:pt x="26" y="39"/>
                    <a:pt x="26" y="38"/>
                    <a:pt x="27" y="37"/>
                  </a:cubicBezTo>
                  <a:cubicBezTo>
                    <a:pt x="27" y="37"/>
                    <a:pt x="27" y="37"/>
                    <a:pt x="27" y="36"/>
                  </a:cubicBezTo>
                  <a:cubicBezTo>
                    <a:pt x="28" y="35"/>
                    <a:pt x="28" y="34"/>
                    <a:pt x="27" y="33"/>
                  </a:cubicBezTo>
                  <a:cubicBezTo>
                    <a:pt x="27" y="32"/>
                    <a:pt x="27" y="30"/>
                    <a:pt x="27" y="29"/>
                  </a:cubicBezTo>
                  <a:cubicBezTo>
                    <a:pt x="26" y="27"/>
                    <a:pt x="26" y="26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4"/>
                    <a:pt x="26" y="23"/>
                  </a:cubicBezTo>
                  <a:cubicBezTo>
                    <a:pt x="26" y="23"/>
                    <a:pt x="26" y="22"/>
                    <a:pt x="26" y="22"/>
                  </a:cubicBezTo>
                  <a:cubicBezTo>
                    <a:pt x="26" y="20"/>
                    <a:pt x="26" y="18"/>
                    <a:pt x="27" y="17"/>
                  </a:cubicBezTo>
                  <a:cubicBezTo>
                    <a:pt x="27" y="13"/>
                    <a:pt x="29" y="9"/>
                    <a:pt x="32" y="6"/>
                  </a:cubicBezTo>
                  <a:cubicBezTo>
                    <a:pt x="35" y="4"/>
                    <a:pt x="37" y="4"/>
                    <a:pt x="40" y="6"/>
                  </a:cubicBezTo>
                  <a:cubicBezTo>
                    <a:pt x="41" y="7"/>
                    <a:pt x="43" y="9"/>
                    <a:pt x="44" y="10"/>
                  </a:cubicBezTo>
                  <a:cubicBezTo>
                    <a:pt x="45" y="10"/>
                    <a:pt x="45" y="11"/>
                    <a:pt x="46" y="12"/>
                  </a:cubicBezTo>
                  <a:cubicBezTo>
                    <a:pt x="48" y="15"/>
                    <a:pt x="50" y="17"/>
                    <a:pt x="52" y="20"/>
                  </a:cubicBezTo>
                  <a:cubicBezTo>
                    <a:pt x="53" y="21"/>
                    <a:pt x="54" y="23"/>
                    <a:pt x="54" y="25"/>
                  </a:cubicBezTo>
                  <a:cubicBezTo>
                    <a:pt x="55" y="26"/>
                    <a:pt x="55" y="26"/>
                    <a:pt x="54" y="27"/>
                  </a:cubicBezTo>
                  <a:cubicBezTo>
                    <a:pt x="53" y="29"/>
                    <a:pt x="51" y="30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8" y="30"/>
                    <a:pt x="47" y="29"/>
                    <a:pt x="47" y="28"/>
                  </a:cubicBezTo>
                  <a:cubicBezTo>
                    <a:pt x="46" y="28"/>
                    <a:pt x="46" y="27"/>
                    <a:pt x="46" y="27"/>
                  </a:cubicBezTo>
                  <a:cubicBezTo>
                    <a:pt x="46" y="26"/>
                    <a:pt x="45" y="26"/>
                    <a:pt x="45" y="26"/>
                  </a:cubicBezTo>
                  <a:cubicBezTo>
                    <a:pt x="44" y="25"/>
                    <a:pt x="43" y="25"/>
                    <a:pt x="42" y="25"/>
                  </a:cubicBezTo>
                  <a:cubicBezTo>
                    <a:pt x="42" y="25"/>
                    <a:pt x="40" y="26"/>
                    <a:pt x="41" y="27"/>
                  </a:cubicBezTo>
                  <a:cubicBezTo>
                    <a:pt x="41" y="27"/>
                    <a:pt x="41" y="28"/>
                    <a:pt x="41" y="28"/>
                  </a:cubicBezTo>
                  <a:cubicBezTo>
                    <a:pt x="41" y="28"/>
                    <a:pt x="41" y="29"/>
                    <a:pt x="41" y="29"/>
                  </a:cubicBezTo>
                  <a:cubicBezTo>
                    <a:pt x="41" y="29"/>
                    <a:pt x="40" y="29"/>
                    <a:pt x="40" y="28"/>
                  </a:cubicBezTo>
                  <a:cubicBezTo>
                    <a:pt x="40" y="26"/>
                    <a:pt x="39" y="24"/>
                    <a:pt x="39" y="22"/>
                  </a:cubicBezTo>
                  <a:cubicBezTo>
                    <a:pt x="39" y="21"/>
                    <a:pt x="39" y="21"/>
                    <a:pt x="38" y="20"/>
                  </a:cubicBezTo>
                  <a:cubicBezTo>
                    <a:pt x="37" y="19"/>
                    <a:pt x="36" y="19"/>
                    <a:pt x="35" y="20"/>
                  </a:cubicBezTo>
                  <a:cubicBezTo>
                    <a:pt x="35" y="20"/>
                    <a:pt x="34" y="20"/>
                    <a:pt x="34" y="19"/>
                  </a:cubicBezTo>
                  <a:cubicBezTo>
                    <a:pt x="34" y="18"/>
                    <a:pt x="33" y="17"/>
                    <a:pt x="32" y="16"/>
                  </a:cubicBezTo>
                  <a:cubicBezTo>
                    <a:pt x="31" y="15"/>
                    <a:pt x="29" y="15"/>
                    <a:pt x="28" y="16"/>
                  </a:cubicBezTo>
                  <a:cubicBezTo>
                    <a:pt x="27" y="16"/>
                    <a:pt x="27" y="16"/>
                    <a:pt x="27" y="17"/>
                  </a:cubicBezTo>
                  <a:cubicBezTo>
                    <a:pt x="27" y="17"/>
                    <a:pt x="28" y="18"/>
                    <a:pt x="28" y="19"/>
                  </a:cubicBezTo>
                  <a:cubicBezTo>
                    <a:pt x="29" y="20"/>
                    <a:pt x="30" y="21"/>
                    <a:pt x="30" y="22"/>
                  </a:cubicBezTo>
                  <a:cubicBezTo>
                    <a:pt x="30" y="23"/>
                    <a:pt x="30" y="24"/>
                    <a:pt x="30" y="24"/>
                  </a:cubicBezTo>
                  <a:cubicBezTo>
                    <a:pt x="29" y="24"/>
                    <a:pt x="29" y="24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7" y="23"/>
                    <a:pt x="27" y="24"/>
                    <a:pt x="27" y="24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7" y="26"/>
                    <a:pt x="27" y="27"/>
                    <a:pt x="27" y="28"/>
                  </a:cubicBezTo>
                  <a:cubicBezTo>
                    <a:pt x="28" y="28"/>
                    <a:pt x="28" y="28"/>
                    <a:pt x="29" y="28"/>
                  </a:cubicBezTo>
                  <a:cubicBezTo>
                    <a:pt x="29" y="29"/>
                    <a:pt x="30" y="29"/>
                    <a:pt x="31" y="28"/>
                  </a:cubicBezTo>
                  <a:cubicBezTo>
                    <a:pt x="31" y="28"/>
                    <a:pt x="32" y="29"/>
                    <a:pt x="32" y="29"/>
                  </a:cubicBezTo>
                  <a:cubicBezTo>
                    <a:pt x="33" y="31"/>
                    <a:pt x="33" y="33"/>
                    <a:pt x="34" y="35"/>
                  </a:cubicBezTo>
                  <a:cubicBezTo>
                    <a:pt x="34" y="35"/>
                    <a:pt x="35" y="36"/>
                    <a:pt x="36" y="36"/>
                  </a:cubicBezTo>
                  <a:cubicBezTo>
                    <a:pt x="37" y="35"/>
                    <a:pt x="37" y="35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9" y="34"/>
                    <a:pt x="39" y="35"/>
                  </a:cubicBezTo>
                  <a:cubicBezTo>
                    <a:pt x="39" y="36"/>
                    <a:pt x="40" y="38"/>
                    <a:pt x="40" y="39"/>
                  </a:cubicBezTo>
                  <a:cubicBezTo>
                    <a:pt x="41" y="39"/>
                    <a:pt x="41" y="40"/>
                    <a:pt x="41" y="40"/>
                  </a:cubicBezTo>
                  <a:cubicBezTo>
                    <a:pt x="41" y="40"/>
                    <a:pt x="42" y="40"/>
                    <a:pt x="42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4" y="39"/>
                    <a:pt x="44" y="38"/>
                    <a:pt x="44" y="38"/>
                  </a:cubicBezTo>
                  <a:cubicBezTo>
                    <a:pt x="45" y="36"/>
                    <a:pt x="45" y="35"/>
                    <a:pt x="45" y="34"/>
                  </a:cubicBezTo>
                  <a:cubicBezTo>
                    <a:pt x="46" y="33"/>
                    <a:pt x="46" y="33"/>
                    <a:pt x="47" y="33"/>
                  </a:cubicBezTo>
                  <a:cubicBezTo>
                    <a:pt x="48" y="34"/>
                    <a:pt x="49" y="35"/>
                    <a:pt x="50" y="36"/>
                  </a:cubicBezTo>
                  <a:cubicBezTo>
                    <a:pt x="53" y="38"/>
                    <a:pt x="56" y="39"/>
                    <a:pt x="58" y="41"/>
                  </a:cubicBezTo>
                  <a:cubicBezTo>
                    <a:pt x="59" y="41"/>
                    <a:pt x="60" y="42"/>
                    <a:pt x="60" y="42"/>
                  </a:cubicBezTo>
                  <a:cubicBezTo>
                    <a:pt x="60" y="42"/>
                    <a:pt x="61" y="42"/>
                    <a:pt x="61" y="42"/>
                  </a:cubicBezTo>
                  <a:cubicBezTo>
                    <a:pt x="61" y="42"/>
                    <a:pt x="61" y="41"/>
                    <a:pt x="61" y="41"/>
                  </a:cubicBezTo>
                  <a:cubicBezTo>
                    <a:pt x="61" y="41"/>
                    <a:pt x="60" y="40"/>
                    <a:pt x="60" y="40"/>
                  </a:cubicBezTo>
                  <a:cubicBezTo>
                    <a:pt x="59" y="39"/>
                    <a:pt x="54" y="36"/>
                    <a:pt x="53" y="35"/>
                  </a:cubicBezTo>
                  <a:cubicBezTo>
                    <a:pt x="53" y="35"/>
                    <a:pt x="53" y="34"/>
                    <a:pt x="52" y="34"/>
                  </a:cubicBezTo>
                  <a:cubicBezTo>
                    <a:pt x="52" y="33"/>
                    <a:pt x="51" y="33"/>
                    <a:pt x="50" y="32"/>
                  </a:cubicBezTo>
                  <a:cubicBezTo>
                    <a:pt x="50" y="32"/>
                    <a:pt x="50" y="32"/>
                    <a:pt x="50" y="31"/>
                  </a:cubicBezTo>
                  <a:cubicBezTo>
                    <a:pt x="51" y="31"/>
                    <a:pt x="51" y="31"/>
                    <a:pt x="52" y="31"/>
                  </a:cubicBezTo>
                  <a:cubicBezTo>
                    <a:pt x="52" y="31"/>
                    <a:pt x="52" y="30"/>
                    <a:pt x="53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31"/>
                    <a:pt x="54" y="31"/>
                    <a:pt x="54" y="32"/>
                  </a:cubicBezTo>
                  <a:cubicBezTo>
                    <a:pt x="53" y="32"/>
                    <a:pt x="54" y="32"/>
                    <a:pt x="54" y="32"/>
                  </a:cubicBezTo>
                  <a:cubicBezTo>
                    <a:pt x="56" y="32"/>
                    <a:pt x="57" y="32"/>
                    <a:pt x="58" y="31"/>
                  </a:cubicBezTo>
                  <a:cubicBezTo>
                    <a:pt x="59" y="30"/>
                    <a:pt x="60" y="28"/>
                    <a:pt x="60" y="27"/>
                  </a:cubicBezTo>
                  <a:cubicBezTo>
                    <a:pt x="59" y="25"/>
                    <a:pt x="59" y="24"/>
                    <a:pt x="59" y="22"/>
                  </a:cubicBezTo>
                  <a:cubicBezTo>
                    <a:pt x="58" y="21"/>
                    <a:pt x="57" y="20"/>
                    <a:pt x="56" y="18"/>
                  </a:cubicBezTo>
                  <a:cubicBezTo>
                    <a:pt x="55" y="16"/>
                    <a:pt x="53" y="14"/>
                    <a:pt x="52" y="12"/>
                  </a:cubicBezTo>
                  <a:cubicBezTo>
                    <a:pt x="51" y="11"/>
                    <a:pt x="50" y="10"/>
                    <a:pt x="49" y="8"/>
                  </a:cubicBezTo>
                  <a:cubicBezTo>
                    <a:pt x="47" y="7"/>
                    <a:pt x="46" y="6"/>
                    <a:pt x="45" y="5"/>
                  </a:cubicBezTo>
                  <a:cubicBezTo>
                    <a:pt x="44" y="4"/>
                    <a:pt x="43" y="4"/>
                    <a:pt x="43" y="3"/>
                  </a:cubicBezTo>
                  <a:cubicBezTo>
                    <a:pt x="41" y="2"/>
                    <a:pt x="39" y="1"/>
                    <a:pt x="37" y="1"/>
                  </a:cubicBezTo>
                  <a:cubicBezTo>
                    <a:pt x="34" y="0"/>
                    <a:pt x="32" y="1"/>
                    <a:pt x="30" y="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0" name="íSḷîḍè">
              <a:extLst>
                <a:ext uri="{FF2B5EF4-FFF2-40B4-BE49-F238E27FC236}">
                  <a16:creationId xmlns:a16="http://schemas.microsoft.com/office/drawing/2014/main" id="{D48F2334-DF91-B37B-66C4-34A12B768FC9}"/>
                </a:ext>
              </a:extLst>
            </p:cNvPr>
            <p:cNvSpPr/>
            <p:nvPr/>
          </p:nvSpPr>
          <p:spPr bwMode="auto">
            <a:xfrm>
              <a:off x="2443163" y="2686051"/>
              <a:ext cx="158750" cy="206375"/>
            </a:xfrm>
            <a:custGeom>
              <a:avLst/>
              <a:gdLst>
                <a:gd name="T0" fmla="*/ 25 w 44"/>
                <a:gd name="T1" fmla="*/ 1 h 57"/>
                <a:gd name="T2" fmla="*/ 20 w 44"/>
                <a:gd name="T3" fmla="*/ 7 h 57"/>
                <a:gd name="T4" fmla="*/ 7 w 44"/>
                <a:gd name="T5" fmla="*/ 27 h 57"/>
                <a:gd name="T6" fmla="*/ 2 w 44"/>
                <a:gd name="T7" fmla="*/ 36 h 57"/>
                <a:gd name="T8" fmla="*/ 1 w 44"/>
                <a:gd name="T9" fmla="*/ 41 h 57"/>
                <a:gd name="T10" fmla="*/ 5 w 44"/>
                <a:gd name="T11" fmla="*/ 42 h 57"/>
                <a:gd name="T12" fmla="*/ 12 w 44"/>
                <a:gd name="T13" fmla="*/ 28 h 57"/>
                <a:gd name="T14" fmla="*/ 16 w 44"/>
                <a:gd name="T15" fmla="*/ 21 h 57"/>
                <a:gd name="T16" fmla="*/ 17 w 44"/>
                <a:gd name="T17" fmla="*/ 22 h 57"/>
                <a:gd name="T18" fmla="*/ 17 w 44"/>
                <a:gd name="T19" fmla="*/ 40 h 57"/>
                <a:gd name="T20" fmla="*/ 22 w 44"/>
                <a:gd name="T21" fmla="*/ 43 h 57"/>
                <a:gd name="T22" fmla="*/ 22 w 44"/>
                <a:gd name="T23" fmla="*/ 39 h 57"/>
                <a:gd name="T24" fmla="*/ 22 w 44"/>
                <a:gd name="T25" fmla="*/ 37 h 57"/>
                <a:gd name="T26" fmla="*/ 21 w 44"/>
                <a:gd name="T27" fmla="*/ 33 h 57"/>
                <a:gd name="T28" fmla="*/ 26 w 44"/>
                <a:gd name="T29" fmla="*/ 23 h 57"/>
                <a:gd name="T30" fmla="*/ 27 w 44"/>
                <a:gd name="T31" fmla="*/ 23 h 57"/>
                <a:gd name="T32" fmla="*/ 23 w 44"/>
                <a:gd name="T33" fmla="*/ 35 h 57"/>
                <a:gd name="T34" fmla="*/ 26 w 44"/>
                <a:gd name="T35" fmla="*/ 40 h 57"/>
                <a:gd name="T36" fmla="*/ 27 w 44"/>
                <a:gd name="T37" fmla="*/ 40 h 57"/>
                <a:gd name="T38" fmla="*/ 30 w 44"/>
                <a:gd name="T39" fmla="*/ 45 h 57"/>
                <a:gd name="T40" fmla="*/ 25 w 44"/>
                <a:gd name="T41" fmla="*/ 51 h 57"/>
                <a:gd name="T42" fmla="*/ 24 w 44"/>
                <a:gd name="T43" fmla="*/ 54 h 57"/>
                <a:gd name="T44" fmla="*/ 28 w 44"/>
                <a:gd name="T45" fmla="*/ 57 h 57"/>
                <a:gd name="T46" fmla="*/ 31 w 44"/>
                <a:gd name="T47" fmla="*/ 51 h 57"/>
                <a:gd name="T48" fmla="*/ 33 w 44"/>
                <a:gd name="T49" fmla="*/ 51 h 57"/>
                <a:gd name="T50" fmla="*/ 35 w 44"/>
                <a:gd name="T51" fmla="*/ 54 h 57"/>
                <a:gd name="T52" fmla="*/ 38 w 44"/>
                <a:gd name="T53" fmla="*/ 53 h 57"/>
                <a:gd name="T54" fmla="*/ 39 w 44"/>
                <a:gd name="T55" fmla="*/ 52 h 57"/>
                <a:gd name="T56" fmla="*/ 39 w 44"/>
                <a:gd name="T57" fmla="*/ 49 h 57"/>
                <a:gd name="T58" fmla="*/ 36 w 44"/>
                <a:gd name="T59" fmla="*/ 44 h 57"/>
                <a:gd name="T60" fmla="*/ 40 w 44"/>
                <a:gd name="T61" fmla="*/ 40 h 57"/>
                <a:gd name="T62" fmla="*/ 40 w 44"/>
                <a:gd name="T63" fmla="*/ 44 h 57"/>
                <a:gd name="T64" fmla="*/ 40 w 44"/>
                <a:gd name="T65" fmla="*/ 44 h 57"/>
                <a:gd name="T66" fmla="*/ 42 w 44"/>
                <a:gd name="T67" fmla="*/ 42 h 57"/>
                <a:gd name="T68" fmla="*/ 40 w 44"/>
                <a:gd name="T69" fmla="*/ 35 h 57"/>
                <a:gd name="T70" fmla="*/ 33 w 44"/>
                <a:gd name="T71" fmla="*/ 40 h 57"/>
                <a:gd name="T72" fmla="*/ 30 w 44"/>
                <a:gd name="T73" fmla="*/ 36 h 57"/>
                <a:gd name="T74" fmla="*/ 32 w 44"/>
                <a:gd name="T75" fmla="*/ 32 h 57"/>
                <a:gd name="T76" fmla="*/ 29 w 44"/>
                <a:gd name="T77" fmla="*/ 27 h 57"/>
                <a:gd name="T78" fmla="*/ 28 w 44"/>
                <a:gd name="T79" fmla="*/ 21 h 57"/>
                <a:gd name="T80" fmla="*/ 23 w 44"/>
                <a:gd name="T81" fmla="*/ 20 h 57"/>
                <a:gd name="T82" fmla="*/ 19 w 44"/>
                <a:gd name="T83" fmla="*/ 28 h 57"/>
                <a:gd name="T84" fmla="*/ 18 w 44"/>
                <a:gd name="T85" fmla="*/ 33 h 57"/>
                <a:gd name="T86" fmla="*/ 17 w 44"/>
                <a:gd name="T87" fmla="*/ 33 h 57"/>
                <a:gd name="T88" fmla="*/ 17 w 44"/>
                <a:gd name="T89" fmla="*/ 27 h 57"/>
                <a:gd name="T90" fmla="*/ 20 w 44"/>
                <a:gd name="T91" fmla="*/ 18 h 57"/>
                <a:gd name="T92" fmla="*/ 26 w 44"/>
                <a:gd name="T93" fmla="*/ 11 h 57"/>
                <a:gd name="T94" fmla="*/ 32 w 44"/>
                <a:gd name="T95" fmla="*/ 6 h 57"/>
                <a:gd name="T96" fmla="*/ 30 w 44"/>
                <a:gd name="T97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4" h="57">
                  <a:moveTo>
                    <a:pt x="30" y="1"/>
                  </a:moveTo>
                  <a:cubicBezTo>
                    <a:pt x="29" y="0"/>
                    <a:pt x="27" y="0"/>
                    <a:pt x="25" y="1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3" y="4"/>
                    <a:pt x="22" y="6"/>
                    <a:pt x="20" y="7"/>
                  </a:cubicBezTo>
                  <a:cubicBezTo>
                    <a:pt x="19" y="9"/>
                    <a:pt x="18" y="11"/>
                    <a:pt x="16" y="13"/>
                  </a:cubicBezTo>
                  <a:cubicBezTo>
                    <a:pt x="15" y="14"/>
                    <a:pt x="8" y="26"/>
                    <a:pt x="7" y="27"/>
                  </a:cubicBezTo>
                  <a:cubicBezTo>
                    <a:pt x="6" y="29"/>
                    <a:pt x="5" y="30"/>
                    <a:pt x="4" y="32"/>
                  </a:cubicBezTo>
                  <a:cubicBezTo>
                    <a:pt x="4" y="33"/>
                    <a:pt x="3" y="35"/>
                    <a:pt x="2" y="36"/>
                  </a:cubicBezTo>
                  <a:cubicBezTo>
                    <a:pt x="1" y="37"/>
                    <a:pt x="1" y="39"/>
                    <a:pt x="0" y="40"/>
                  </a:cubicBezTo>
                  <a:cubicBezTo>
                    <a:pt x="0" y="41"/>
                    <a:pt x="0" y="41"/>
                    <a:pt x="1" y="41"/>
                  </a:cubicBezTo>
                  <a:cubicBezTo>
                    <a:pt x="1" y="42"/>
                    <a:pt x="2" y="43"/>
                    <a:pt x="3" y="43"/>
                  </a:cubicBezTo>
                  <a:cubicBezTo>
                    <a:pt x="4" y="43"/>
                    <a:pt x="5" y="43"/>
                    <a:pt x="5" y="42"/>
                  </a:cubicBezTo>
                  <a:cubicBezTo>
                    <a:pt x="6" y="40"/>
                    <a:pt x="7" y="38"/>
                    <a:pt x="8" y="36"/>
                  </a:cubicBezTo>
                  <a:cubicBezTo>
                    <a:pt x="10" y="33"/>
                    <a:pt x="10" y="31"/>
                    <a:pt x="12" y="28"/>
                  </a:cubicBezTo>
                  <a:cubicBezTo>
                    <a:pt x="12" y="28"/>
                    <a:pt x="12" y="27"/>
                    <a:pt x="13" y="27"/>
                  </a:cubicBezTo>
                  <a:cubicBezTo>
                    <a:pt x="14" y="25"/>
                    <a:pt x="15" y="23"/>
                    <a:pt x="16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6" y="26"/>
                    <a:pt x="15" y="30"/>
                    <a:pt x="15" y="34"/>
                  </a:cubicBezTo>
                  <a:cubicBezTo>
                    <a:pt x="15" y="36"/>
                    <a:pt x="16" y="38"/>
                    <a:pt x="17" y="40"/>
                  </a:cubicBezTo>
                  <a:cubicBezTo>
                    <a:pt x="18" y="41"/>
                    <a:pt x="18" y="43"/>
                    <a:pt x="20" y="43"/>
                  </a:cubicBezTo>
                  <a:cubicBezTo>
                    <a:pt x="20" y="44"/>
                    <a:pt x="21" y="44"/>
                    <a:pt x="22" y="43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2" y="41"/>
                    <a:pt x="22" y="40"/>
                    <a:pt x="22" y="39"/>
                  </a:cubicBezTo>
                  <a:cubicBezTo>
                    <a:pt x="22" y="39"/>
                    <a:pt x="22" y="39"/>
                    <a:pt x="22" y="38"/>
                  </a:cubicBezTo>
                  <a:cubicBezTo>
                    <a:pt x="22" y="38"/>
                    <a:pt x="22" y="37"/>
                    <a:pt x="22" y="37"/>
                  </a:cubicBezTo>
                  <a:cubicBezTo>
                    <a:pt x="22" y="36"/>
                    <a:pt x="22" y="36"/>
                    <a:pt x="22" y="35"/>
                  </a:cubicBezTo>
                  <a:cubicBezTo>
                    <a:pt x="22" y="35"/>
                    <a:pt x="21" y="34"/>
                    <a:pt x="21" y="33"/>
                  </a:cubicBezTo>
                  <a:cubicBezTo>
                    <a:pt x="22" y="31"/>
                    <a:pt x="22" y="28"/>
                    <a:pt x="24" y="26"/>
                  </a:cubicBezTo>
                  <a:cubicBezTo>
                    <a:pt x="24" y="25"/>
                    <a:pt x="25" y="23"/>
                    <a:pt x="26" y="23"/>
                  </a:cubicBezTo>
                  <a:cubicBezTo>
                    <a:pt x="26" y="22"/>
                    <a:pt x="27" y="22"/>
                    <a:pt x="27" y="22"/>
                  </a:cubicBezTo>
                  <a:cubicBezTo>
                    <a:pt x="27" y="22"/>
                    <a:pt x="27" y="23"/>
                    <a:pt x="27" y="23"/>
                  </a:cubicBezTo>
                  <a:cubicBezTo>
                    <a:pt x="27" y="26"/>
                    <a:pt x="26" y="28"/>
                    <a:pt x="25" y="30"/>
                  </a:cubicBezTo>
                  <a:cubicBezTo>
                    <a:pt x="25" y="32"/>
                    <a:pt x="24" y="33"/>
                    <a:pt x="23" y="35"/>
                  </a:cubicBezTo>
                  <a:cubicBezTo>
                    <a:pt x="22" y="37"/>
                    <a:pt x="23" y="38"/>
                    <a:pt x="24" y="40"/>
                  </a:cubicBezTo>
                  <a:cubicBezTo>
                    <a:pt x="24" y="41"/>
                    <a:pt x="26" y="41"/>
                    <a:pt x="26" y="40"/>
                  </a:cubicBezTo>
                  <a:cubicBezTo>
                    <a:pt x="26" y="40"/>
                    <a:pt x="26" y="40"/>
                    <a:pt x="27" y="40"/>
                  </a:cubicBezTo>
                  <a:cubicBezTo>
                    <a:pt x="27" y="39"/>
                    <a:pt x="27" y="39"/>
                    <a:pt x="27" y="40"/>
                  </a:cubicBezTo>
                  <a:cubicBezTo>
                    <a:pt x="28" y="41"/>
                    <a:pt x="29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9" y="47"/>
                    <a:pt x="28" y="49"/>
                    <a:pt x="27" y="51"/>
                  </a:cubicBezTo>
                  <a:cubicBezTo>
                    <a:pt x="27" y="51"/>
                    <a:pt x="26" y="52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4" y="52"/>
                    <a:pt x="24" y="53"/>
                    <a:pt x="24" y="54"/>
                  </a:cubicBezTo>
                  <a:cubicBezTo>
                    <a:pt x="25" y="54"/>
                    <a:pt x="25" y="54"/>
                    <a:pt x="25" y="55"/>
                  </a:cubicBezTo>
                  <a:cubicBezTo>
                    <a:pt x="25" y="56"/>
                    <a:pt x="26" y="57"/>
                    <a:pt x="28" y="57"/>
                  </a:cubicBezTo>
                  <a:cubicBezTo>
                    <a:pt x="29" y="57"/>
                    <a:pt x="29" y="57"/>
                    <a:pt x="30" y="55"/>
                  </a:cubicBezTo>
                  <a:cubicBezTo>
                    <a:pt x="31" y="54"/>
                    <a:pt x="31" y="52"/>
                    <a:pt x="31" y="51"/>
                  </a:cubicBezTo>
                  <a:cubicBezTo>
                    <a:pt x="32" y="51"/>
                    <a:pt x="32" y="50"/>
                    <a:pt x="32" y="50"/>
                  </a:cubicBezTo>
                  <a:cubicBezTo>
                    <a:pt x="32" y="50"/>
                    <a:pt x="33" y="51"/>
                    <a:pt x="33" y="51"/>
                  </a:cubicBezTo>
                  <a:cubicBezTo>
                    <a:pt x="33" y="52"/>
                    <a:pt x="34" y="53"/>
                    <a:pt x="35" y="53"/>
                  </a:cubicBezTo>
                  <a:cubicBezTo>
                    <a:pt x="35" y="53"/>
                    <a:pt x="35" y="54"/>
                    <a:pt x="35" y="54"/>
                  </a:cubicBezTo>
                  <a:cubicBezTo>
                    <a:pt x="36" y="54"/>
                    <a:pt x="37" y="54"/>
                    <a:pt x="37" y="54"/>
                  </a:cubicBezTo>
                  <a:cubicBezTo>
                    <a:pt x="38" y="54"/>
                    <a:pt x="38" y="54"/>
                    <a:pt x="38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3"/>
                    <a:pt x="39" y="52"/>
                    <a:pt x="39" y="52"/>
                  </a:cubicBezTo>
                  <a:cubicBezTo>
                    <a:pt x="39" y="51"/>
                    <a:pt x="39" y="51"/>
                    <a:pt x="39" y="50"/>
                  </a:cubicBezTo>
                  <a:cubicBezTo>
                    <a:pt x="40" y="50"/>
                    <a:pt x="39" y="49"/>
                    <a:pt x="39" y="49"/>
                  </a:cubicBezTo>
                  <a:cubicBezTo>
                    <a:pt x="38" y="48"/>
                    <a:pt x="37" y="47"/>
                    <a:pt x="36" y="45"/>
                  </a:cubicBezTo>
                  <a:cubicBezTo>
                    <a:pt x="35" y="45"/>
                    <a:pt x="35" y="44"/>
                    <a:pt x="36" y="44"/>
                  </a:cubicBezTo>
                  <a:cubicBezTo>
                    <a:pt x="37" y="42"/>
                    <a:pt x="38" y="41"/>
                    <a:pt x="39" y="41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1" y="40"/>
                    <a:pt x="41" y="41"/>
                    <a:pt x="41" y="42"/>
                  </a:cubicBezTo>
                  <a:cubicBezTo>
                    <a:pt x="40" y="42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1" y="43"/>
                    <a:pt x="41" y="43"/>
                  </a:cubicBezTo>
                  <a:cubicBezTo>
                    <a:pt x="41" y="43"/>
                    <a:pt x="42" y="43"/>
                    <a:pt x="42" y="42"/>
                  </a:cubicBezTo>
                  <a:cubicBezTo>
                    <a:pt x="43" y="41"/>
                    <a:pt x="44" y="40"/>
                    <a:pt x="44" y="38"/>
                  </a:cubicBezTo>
                  <a:cubicBezTo>
                    <a:pt x="44" y="36"/>
                    <a:pt x="42" y="35"/>
                    <a:pt x="40" y="35"/>
                  </a:cubicBezTo>
                  <a:cubicBezTo>
                    <a:pt x="39" y="35"/>
                    <a:pt x="37" y="36"/>
                    <a:pt x="36" y="37"/>
                  </a:cubicBezTo>
                  <a:cubicBezTo>
                    <a:pt x="35" y="38"/>
                    <a:pt x="34" y="39"/>
                    <a:pt x="33" y="40"/>
                  </a:cubicBezTo>
                  <a:cubicBezTo>
                    <a:pt x="33" y="41"/>
                    <a:pt x="32" y="41"/>
                    <a:pt x="32" y="40"/>
                  </a:cubicBezTo>
                  <a:cubicBezTo>
                    <a:pt x="32" y="39"/>
                    <a:pt x="31" y="37"/>
                    <a:pt x="30" y="36"/>
                  </a:cubicBezTo>
                  <a:cubicBezTo>
                    <a:pt x="30" y="36"/>
                    <a:pt x="30" y="35"/>
                    <a:pt x="31" y="35"/>
                  </a:cubicBezTo>
                  <a:cubicBezTo>
                    <a:pt x="31" y="34"/>
                    <a:pt x="32" y="33"/>
                    <a:pt x="32" y="32"/>
                  </a:cubicBezTo>
                  <a:cubicBezTo>
                    <a:pt x="31" y="31"/>
                    <a:pt x="31" y="30"/>
                    <a:pt x="30" y="29"/>
                  </a:cubicBezTo>
                  <a:cubicBezTo>
                    <a:pt x="29" y="29"/>
                    <a:pt x="29" y="28"/>
                    <a:pt x="29" y="27"/>
                  </a:cubicBezTo>
                  <a:cubicBezTo>
                    <a:pt x="29" y="26"/>
                    <a:pt x="29" y="25"/>
                    <a:pt x="29" y="24"/>
                  </a:cubicBezTo>
                  <a:cubicBezTo>
                    <a:pt x="28" y="23"/>
                    <a:pt x="28" y="22"/>
                    <a:pt x="28" y="21"/>
                  </a:cubicBezTo>
                  <a:cubicBezTo>
                    <a:pt x="28" y="20"/>
                    <a:pt x="27" y="19"/>
                    <a:pt x="26" y="19"/>
                  </a:cubicBezTo>
                  <a:cubicBezTo>
                    <a:pt x="25" y="20"/>
                    <a:pt x="24" y="20"/>
                    <a:pt x="23" y="20"/>
                  </a:cubicBezTo>
                  <a:cubicBezTo>
                    <a:pt x="22" y="21"/>
                    <a:pt x="21" y="23"/>
                    <a:pt x="21" y="24"/>
                  </a:cubicBezTo>
                  <a:cubicBezTo>
                    <a:pt x="20" y="25"/>
                    <a:pt x="20" y="27"/>
                    <a:pt x="19" y="28"/>
                  </a:cubicBezTo>
                  <a:cubicBezTo>
                    <a:pt x="19" y="29"/>
                    <a:pt x="18" y="29"/>
                    <a:pt x="18" y="30"/>
                  </a:cubicBezTo>
                  <a:cubicBezTo>
                    <a:pt x="18" y="31"/>
                    <a:pt x="18" y="32"/>
                    <a:pt x="18" y="33"/>
                  </a:cubicBezTo>
                  <a:cubicBezTo>
                    <a:pt x="18" y="33"/>
                    <a:pt x="18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2"/>
                    <a:pt x="17" y="31"/>
                    <a:pt x="17" y="31"/>
                  </a:cubicBezTo>
                  <a:cubicBezTo>
                    <a:pt x="17" y="29"/>
                    <a:pt x="17" y="28"/>
                    <a:pt x="17" y="27"/>
                  </a:cubicBezTo>
                  <a:cubicBezTo>
                    <a:pt x="17" y="25"/>
                    <a:pt x="17" y="23"/>
                    <a:pt x="18" y="21"/>
                  </a:cubicBezTo>
                  <a:cubicBezTo>
                    <a:pt x="18" y="20"/>
                    <a:pt x="19" y="19"/>
                    <a:pt x="20" y="18"/>
                  </a:cubicBezTo>
                  <a:cubicBezTo>
                    <a:pt x="21" y="17"/>
                    <a:pt x="21" y="16"/>
                    <a:pt x="22" y="15"/>
                  </a:cubicBezTo>
                  <a:cubicBezTo>
                    <a:pt x="23" y="14"/>
                    <a:pt x="25" y="12"/>
                    <a:pt x="26" y="11"/>
                  </a:cubicBezTo>
                  <a:cubicBezTo>
                    <a:pt x="27" y="10"/>
                    <a:pt x="28" y="9"/>
                    <a:pt x="29" y="8"/>
                  </a:cubicBezTo>
                  <a:cubicBezTo>
                    <a:pt x="30" y="7"/>
                    <a:pt x="31" y="7"/>
                    <a:pt x="32" y="6"/>
                  </a:cubicBezTo>
                  <a:cubicBezTo>
                    <a:pt x="32" y="5"/>
                    <a:pt x="32" y="5"/>
                    <a:pt x="32" y="4"/>
                  </a:cubicBezTo>
                  <a:cubicBezTo>
                    <a:pt x="32" y="3"/>
                    <a:pt x="31" y="2"/>
                    <a:pt x="3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1" name="ïşļîḍè">
              <a:extLst>
                <a:ext uri="{FF2B5EF4-FFF2-40B4-BE49-F238E27FC236}">
                  <a16:creationId xmlns:a16="http://schemas.microsoft.com/office/drawing/2014/main" id="{3E35E65F-DBEA-8841-627B-D4E90DE785E3}"/>
                </a:ext>
              </a:extLst>
            </p:cNvPr>
            <p:cNvSpPr/>
            <p:nvPr/>
          </p:nvSpPr>
          <p:spPr bwMode="auto">
            <a:xfrm>
              <a:off x="2451100" y="2693988"/>
              <a:ext cx="49213" cy="50800"/>
            </a:xfrm>
            <a:custGeom>
              <a:avLst/>
              <a:gdLst>
                <a:gd name="T0" fmla="*/ 4 w 14"/>
                <a:gd name="T1" fmla="*/ 8 h 14"/>
                <a:gd name="T2" fmla="*/ 5 w 14"/>
                <a:gd name="T3" fmla="*/ 9 h 14"/>
                <a:gd name="T4" fmla="*/ 6 w 14"/>
                <a:gd name="T5" fmla="*/ 10 h 14"/>
                <a:gd name="T6" fmla="*/ 6 w 14"/>
                <a:gd name="T7" fmla="*/ 12 h 14"/>
                <a:gd name="T8" fmla="*/ 6 w 14"/>
                <a:gd name="T9" fmla="*/ 14 h 14"/>
                <a:gd name="T10" fmla="*/ 7 w 14"/>
                <a:gd name="T11" fmla="*/ 12 h 14"/>
                <a:gd name="T12" fmla="*/ 9 w 14"/>
                <a:gd name="T13" fmla="*/ 10 h 14"/>
                <a:gd name="T14" fmla="*/ 12 w 14"/>
                <a:gd name="T15" fmla="*/ 8 h 14"/>
                <a:gd name="T16" fmla="*/ 13 w 14"/>
                <a:gd name="T17" fmla="*/ 5 h 14"/>
                <a:gd name="T18" fmla="*/ 10 w 14"/>
                <a:gd name="T19" fmla="*/ 1 h 14"/>
                <a:gd name="T20" fmla="*/ 7 w 14"/>
                <a:gd name="T21" fmla="*/ 0 h 14"/>
                <a:gd name="T22" fmla="*/ 3 w 14"/>
                <a:gd name="T23" fmla="*/ 0 h 14"/>
                <a:gd name="T24" fmla="*/ 1 w 14"/>
                <a:gd name="T25" fmla="*/ 2 h 14"/>
                <a:gd name="T26" fmla="*/ 1 w 14"/>
                <a:gd name="T27" fmla="*/ 4 h 14"/>
                <a:gd name="T28" fmla="*/ 3 w 14"/>
                <a:gd name="T29" fmla="*/ 8 h 14"/>
                <a:gd name="T30" fmla="*/ 4 w 14"/>
                <a:gd name="T31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4">
                  <a:moveTo>
                    <a:pt x="4" y="8"/>
                  </a:moveTo>
                  <a:cubicBezTo>
                    <a:pt x="4" y="9"/>
                    <a:pt x="5" y="9"/>
                    <a:pt x="5" y="9"/>
                  </a:cubicBezTo>
                  <a:cubicBezTo>
                    <a:pt x="6" y="9"/>
                    <a:pt x="6" y="9"/>
                    <a:pt x="6" y="10"/>
                  </a:cubicBezTo>
                  <a:cubicBezTo>
                    <a:pt x="6" y="10"/>
                    <a:pt x="6" y="11"/>
                    <a:pt x="6" y="12"/>
                  </a:cubicBezTo>
                  <a:cubicBezTo>
                    <a:pt x="6" y="12"/>
                    <a:pt x="6" y="14"/>
                    <a:pt x="6" y="14"/>
                  </a:cubicBezTo>
                  <a:cubicBezTo>
                    <a:pt x="6" y="14"/>
                    <a:pt x="7" y="12"/>
                    <a:pt x="7" y="12"/>
                  </a:cubicBezTo>
                  <a:cubicBezTo>
                    <a:pt x="7" y="11"/>
                    <a:pt x="8" y="10"/>
                    <a:pt x="9" y="10"/>
                  </a:cubicBezTo>
                  <a:cubicBezTo>
                    <a:pt x="10" y="10"/>
                    <a:pt x="11" y="9"/>
                    <a:pt x="12" y="8"/>
                  </a:cubicBezTo>
                  <a:cubicBezTo>
                    <a:pt x="13" y="7"/>
                    <a:pt x="14" y="6"/>
                    <a:pt x="13" y="5"/>
                  </a:cubicBezTo>
                  <a:cubicBezTo>
                    <a:pt x="13" y="3"/>
                    <a:pt x="12" y="1"/>
                    <a:pt x="10" y="1"/>
                  </a:cubicBezTo>
                  <a:cubicBezTo>
                    <a:pt x="9" y="0"/>
                    <a:pt x="8" y="0"/>
                    <a:pt x="7" y="0"/>
                  </a:cubicBezTo>
                  <a:cubicBezTo>
                    <a:pt x="6" y="0"/>
                    <a:pt x="4" y="0"/>
                    <a:pt x="3" y="0"/>
                  </a:cubicBezTo>
                  <a:cubicBezTo>
                    <a:pt x="2" y="1"/>
                    <a:pt x="2" y="1"/>
                    <a:pt x="1" y="2"/>
                  </a:cubicBezTo>
                  <a:cubicBezTo>
                    <a:pt x="1" y="2"/>
                    <a:pt x="1" y="3"/>
                    <a:pt x="1" y="4"/>
                  </a:cubicBezTo>
                  <a:cubicBezTo>
                    <a:pt x="0" y="5"/>
                    <a:pt x="1" y="8"/>
                    <a:pt x="3" y="8"/>
                  </a:cubicBezTo>
                  <a:cubicBezTo>
                    <a:pt x="3" y="8"/>
                    <a:pt x="4" y="8"/>
                    <a:pt x="4" y="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2" name="ísḷiḋe">
              <a:extLst>
                <a:ext uri="{FF2B5EF4-FFF2-40B4-BE49-F238E27FC236}">
                  <a16:creationId xmlns:a16="http://schemas.microsoft.com/office/drawing/2014/main" id="{7E184D40-DB29-F839-0160-E97AF86850C1}"/>
                </a:ext>
              </a:extLst>
            </p:cNvPr>
            <p:cNvSpPr/>
            <p:nvPr/>
          </p:nvSpPr>
          <p:spPr bwMode="auto">
            <a:xfrm>
              <a:off x="2768600" y="2555876"/>
              <a:ext cx="119063" cy="231775"/>
            </a:xfrm>
            <a:custGeom>
              <a:avLst/>
              <a:gdLst>
                <a:gd name="T0" fmla="*/ 22 w 33"/>
                <a:gd name="T1" fmla="*/ 29 h 64"/>
                <a:gd name="T2" fmla="*/ 24 w 33"/>
                <a:gd name="T3" fmla="*/ 24 h 64"/>
                <a:gd name="T4" fmla="*/ 27 w 33"/>
                <a:gd name="T5" fmla="*/ 11 h 64"/>
                <a:gd name="T6" fmla="*/ 25 w 33"/>
                <a:gd name="T7" fmla="*/ 4 h 64"/>
                <a:gd name="T8" fmla="*/ 17 w 33"/>
                <a:gd name="T9" fmla="*/ 0 h 64"/>
                <a:gd name="T10" fmla="*/ 15 w 33"/>
                <a:gd name="T11" fmla="*/ 1 h 64"/>
                <a:gd name="T12" fmla="*/ 6 w 33"/>
                <a:gd name="T13" fmla="*/ 7 h 64"/>
                <a:gd name="T14" fmla="*/ 3 w 33"/>
                <a:gd name="T15" fmla="*/ 13 h 64"/>
                <a:gd name="T16" fmla="*/ 6 w 33"/>
                <a:gd name="T17" fmla="*/ 15 h 64"/>
                <a:gd name="T18" fmla="*/ 10 w 33"/>
                <a:gd name="T19" fmla="*/ 14 h 64"/>
                <a:gd name="T20" fmla="*/ 18 w 33"/>
                <a:gd name="T21" fmla="*/ 6 h 64"/>
                <a:gd name="T22" fmla="*/ 22 w 33"/>
                <a:gd name="T23" fmla="*/ 10 h 64"/>
                <a:gd name="T24" fmla="*/ 21 w 33"/>
                <a:gd name="T25" fmla="*/ 18 h 64"/>
                <a:gd name="T26" fmla="*/ 18 w 33"/>
                <a:gd name="T27" fmla="*/ 26 h 64"/>
                <a:gd name="T28" fmla="*/ 16 w 33"/>
                <a:gd name="T29" fmla="*/ 25 h 64"/>
                <a:gd name="T30" fmla="*/ 19 w 33"/>
                <a:gd name="T31" fmla="*/ 19 h 64"/>
                <a:gd name="T32" fmla="*/ 20 w 33"/>
                <a:gd name="T33" fmla="*/ 15 h 64"/>
                <a:gd name="T34" fmla="*/ 15 w 33"/>
                <a:gd name="T35" fmla="*/ 14 h 64"/>
                <a:gd name="T36" fmla="*/ 11 w 33"/>
                <a:gd name="T37" fmla="*/ 14 h 64"/>
                <a:gd name="T38" fmla="*/ 10 w 33"/>
                <a:gd name="T39" fmla="*/ 17 h 64"/>
                <a:gd name="T40" fmla="*/ 9 w 33"/>
                <a:gd name="T41" fmla="*/ 19 h 64"/>
                <a:gd name="T42" fmla="*/ 8 w 33"/>
                <a:gd name="T43" fmla="*/ 24 h 64"/>
                <a:gd name="T44" fmla="*/ 7 w 33"/>
                <a:gd name="T45" fmla="*/ 23 h 64"/>
                <a:gd name="T46" fmla="*/ 0 w 33"/>
                <a:gd name="T47" fmla="*/ 24 h 64"/>
                <a:gd name="T48" fmla="*/ 2 w 33"/>
                <a:gd name="T49" fmla="*/ 32 h 64"/>
                <a:gd name="T50" fmla="*/ 8 w 33"/>
                <a:gd name="T51" fmla="*/ 35 h 64"/>
                <a:gd name="T52" fmla="*/ 11 w 33"/>
                <a:gd name="T53" fmla="*/ 37 h 64"/>
                <a:gd name="T54" fmla="*/ 12 w 33"/>
                <a:gd name="T55" fmla="*/ 40 h 64"/>
                <a:gd name="T56" fmla="*/ 8 w 33"/>
                <a:gd name="T57" fmla="*/ 48 h 64"/>
                <a:gd name="T58" fmla="*/ 12 w 33"/>
                <a:gd name="T59" fmla="*/ 50 h 64"/>
                <a:gd name="T60" fmla="*/ 13 w 33"/>
                <a:gd name="T61" fmla="*/ 53 h 64"/>
                <a:gd name="T62" fmla="*/ 9 w 33"/>
                <a:gd name="T63" fmla="*/ 56 h 64"/>
                <a:gd name="T64" fmla="*/ 8 w 33"/>
                <a:gd name="T65" fmla="*/ 61 h 64"/>
                <a:gd name="T66" fmla="*/ 10 w 33"/>
                <a:gd name="T67" fmla="*/ 64 h 64"/>
                <a:gd name="T68" fmla="*/ 16 w 33"/>
                <a:gd name="T69" fmla="*/ 61 h 64"/>
                <a:gd name="T70" fmla="*/ 25 w 33"/>
                <a:gd name="T71" fmla="*/ 58 h 64"/>
                <a:gd name="T72" fmla="*/ 29 w 33"/>
                <a:gd name="T73" fmla="*/ 58 h 64"/>
                <a:gd name="T74" fmla="*/ 31 w 33"/>
                <a:gd name="T75" fmla="*/ 57 h 64"/>
                <a:gd name="T76" fmla="*/ 32 w 33"/>
                <a:gd name="T77" fmla="*/ 52 h 64"/>
                <a:gd name="T78" fmla="*/ 29 w 33"/>
                <a:gd name="T79" fmla="*/ 50 h 64"/>
                <a:gd name="T80" fmla="*/ 20 w 33"/>
                <a:gd name="T81" fmla="*/ 52 h 64"/>
                <a:gd name="T82" fmla="*/ 19 w 33"/>
                <a:gd name="T83" fmla="*/ 50 h 64"/>
                <a:gd name="T84" fmla="*/ 23 w 33"/>
                <a:gd name="T85" fmla="*/ 43 h 64"/>
                <a:gd name="T86" fmla="*/ 24 w 33"/>
                <a:gd name="T87" fmla="*/ 37 h 64"/>
                <a:gd name="T88" fmla="*/ 20 w 33"/>
                <a:gd name="T89" fmla="*/ 37 h 64"/>
                <a:gd name="T90" fmla="*/ 16 w 33"/>
                <a:gd name="T91" fmla="*/ 38 h 64"/>
                <a:gd name="T92" fmla="*/ 19 w 33"/>
                <a:gd name="T93" fmla="*/ 32 h 64"/>
                <a:gd name="T94" fmla="*/ 10 w 33"/>
                <a:gd name="T95" fmla="*/ 29 h 64"/>
                <a:gd name="T96" fmla="*/ 10 w 33"/>
                <a:gd name="T97" fmla="*/ 29 h 64"/>
                <a:gd name="T98" fmla="*/ 8 w 33"/>
                <a:gd name="T99" fmla="*/ 25 h 64"/>
                <a:gd name="T100" fmla="*/ 8 w 33"/>
                <a:gd name="T101" fmla="*/ 25 h 64"/>
                <a:gd name="T102" fmla="*/ 11 w 33"/>
                <a:gd name="T103" fmla="*/ 2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" h="64">
                  <a:moveTo>
                    <a:pt x="19" y="32"/>
                  </a:moveTo>
                  <a:cubicBezTo>
                    <a:pt x="20" y="32"/>
                    <a:pt x="21" y="31"/>
                    <a:pt x="22" y="29"/>
                  </a:cubicBezTo>
                  <a:cubicBezTo>
                    <a:pt x="22" y="29"/>
                    <a:pt x="22" y="28"/>
                    <a:pt x="22" y="28"/>
                  </a:cubicBezTo>
                  <a:cubicBezTo>
                    <a:pt x="23" y="27"/>
                    <a:pt x="23" y="25"/>
                    <a:pt x="24" y="24"/>
                  </a:cubicBezTo>
                  <a:cubicBezTo>
                    <a:pt x="24" y="23"/>
                    <a:pt x="25" y="22"/>
                    <a:pt x="25" y="20"/>
                  </a:cubicBezTo>
                  <a:cubicBezTo>
                    <a:pt x="26" y="17"/>
                    <a:pt x="27" y="14"/>
                    <a:pt x="27" y="11"/>
                  </a:cubicBezTo>
                  <a:cubicBezTo>
                    <a:pt x="27" y="10"/>
                    <a:pt x="27" y="8"/>
                    <a:pt x="27" y="7"/>
                  </a:cubicBezTo>
                  <a:cubicBezTo>
                    <a:pt x="26" y="6"/>
                    <a:pt x="26" y="5"/>
                    <a:pt x="25" y="4"/>
                  </a:cubicBezTo>
                  <a:cubicBezTo>
                    <a:pt x="24" y="2"/>
                    <a:pt x="23" y="1"/>
                    <a:pt x="21" y="0"/>
                  </a:cubicBezTo>
                  <a:cubicBezTo>
                    <a:pt x="20" y="0"/>
                    <a:pt x="18" y="0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4" y="1"/>
                    <a:pt x="13" y="1"/>
                    <a:pt x="12" y="1"/>
                  </a:cubicBezTo>
                  <a:cubicBezTo>
                    <a:pt x="10" y="3"/>
                    <a:pt x="8" y="5"/>
                    <a:pt x="6" y="7"/>
                  </a:cubicBezTo>
                  <a:cubicBezTo>
                    <a:pt x="5" y="8"/>
                    <a:pt x="5" y="9"/>
                    <a:pt x="4" y="11"/>
                  </a:cubicBezTo>
                  <a:cubicBezTo>
                    <a:pt x="4" y="12"/>
                    <a:pt x="3" y="12"/>
                    <a:pt x="3" y="13"/>
                  </a:cubicBezTo>
                  <a:cubicBezTo>
                    <a:pt x="3" y="14"/>
                    <a:pt x="3" y="15"/>
                    <a:pt x="4" y="15"/>
                  </a:cubicBezTo>
                  <a:cubicBezTo>
                    <a:pt x="4" y="15"/>
                    <a:pt x="5" y="15"/>
                    <a:pt x="6" y="15"/>
                  </a:cubicBezTo>
                  <a:cubicBezTo>
                    <a:pt x="7" y="15"/>
                    <a:pt x="8" y="15"/>
                    <a:pt x="8" y="15"/>
                  </a:cubicBezTo>
                  <a:cubicBezTo>
                    <a:pt x="9" y="15"/>
                    <a:pt x="9" y="15"/>
                    <a:pt x="10" y="14"/>
                  </a:cubicBezTo>
                  <a:cubicBezTo>
                    <a:pt x="11" y="13"/>
                    <a:pt x="11" y="12"/>
                    <a:pt x="12" y="11"/>
                  </a:cubicBezTo>
                  <a:cubicBezTo>
                    <a:pt x="14" y="9"/>
                    <a:pt x="16" y="7"/>
                    <a:pt x="18" y="6"/>
                  </a:cubicBezTo>
                  <a:cubicBezTo>
                    <a:pt x="19" y="6"/>
                    <a:pt x="20" y="6"/>
                    <a:pt x="20" y="6"/>
                  </a:cubicBezTo>
                  <a:cubicBezTo>
                    <a:pt x="21" y="7"/>
                    <a:pt x="22" y="8"/>
                    <a:pt x="22" y="10"/>
                  </a:cubicBezTo>
                  <a:cubicBezTo>
                    <a:pt x="22" y="11"/>
                    <a:pt x="22" y="12"/>
                    <a:pt x="22" y="13"/>
                  </a:cubicBezTo>
                  <a:cubicBezTo>
                    <a:pt x="22" y="15"/>
                    <a:pt x="22" y="17"/>
                    <a:pt x="21" y="18"/>
                  </a:cubicBezTo>
                  <a:cubicBezTo>
                    <a:pt x="21" y="20"/>
                    <a:pt x="20" y="22"/>
                    <a:pt x="20" y="24"/>
                  </a:cubicBezTo>
                  <a:cubicBezTo>
                    <a:pt x="20" y="25"/>
                    <a:pt x="19" y="26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5"/>
                  </a:cubicBezTo>
                  <a:cubicBezTo>
                    <a:pt x="16" y="24"/>
                    <a:pt x="16" y="23"/>
                    <a:pt x="16" y="22"/>
                  </a:cubicBezTo>
                  <a:cubicBezTo>
                    <a:pt x="17" y="21"/>
                    <a:pt x="18" y="20"/>
                    <a:pt x="19" y="19"/>
                  </a:cubicBezTo>
                  <a:cubicBezTo>
                    <a:pt x="19" y="19"/>
                    <a:pt x="19" y="18"/>
                    <a:pt x="19" y="18"/>
                  </a:cubicBezTo>
                  <a:cubicBezTo>
                    <a:pt x="20" y="17"/>
                    <a:pt x="20" y="16"/>
                    <a:pt x="20" y="15"/>
                  </a:cubicBezTo>
                  <a:cubicBezTo>
                    <a:pt x="20" y="15"/>
                    <a:pt x="20" y="15"/>
                    <a:pt x="19" y="15"/>
                  </a:cubicBezTo>
                  <a:cubicBezTo>
                    <a:pt x="18" y="14"/>
                    <a:pt x="17" y="13"/>
                    <a:pt x="15" y="14"/>
                  </a:cubicBezTo>
                  <a:cubicBezTo>
                    <a:pt x="15" y="14"/>
                    <a:pt x="14" y="14"/>
                    <a:pt x="14" y="14"/>
                  </a:cubicBezTo>
                  <a:cubicBezTo>
                    <a:pt x="13" y="13"/>
                    <a:pt x="11" y="13"/>
                    <a:pt x="11" y="14"/>
                  </a:cubicBezTo>
                  <a:cubicBezTo>
                    <a:pt x="10" y="15"/>
                    <a:pt x="10" y="15"/>
                    <a:pt x="10" y="16"/>
                  </a:cubicBezTo>
                  <a:cubicBezTo>
                    <a:pt x="10" y="16"/>
                    <a:pt x="10" y="17"/>
                    <a:pt x="10" y="17"/>
                  </a:cubicBezTo>
                  <a:cubicBezTo>
                    <a:pt x="10" y="17"/>
                    <a:pt x="10" y="18"/>
                    <a:pt x="10" y="18"/>
                  </a:cubicBezTo>
                  <a:cubicBezTo>
                    <a:pt x="10" y="18"/>
                    <a:pt x="9" y="19"/>
                    <a:pt x="9" y="19"/>
                  </a:cubicBezTo>
                  <a:cubicBezTo>
                    <a:pt x="8" y="20"/>
                    <a:pt x="8" y="22"/>
                    <a:pt x="8" y="23"/>
                  </a:cubicBezTo>
                  <a:cubicBezTo>
                    <a:pt x="8" y="23"/>
                    <a:pt x="8" y="24"/>
                    <a:pt x="8" y="24"/>
                  </a:cubicBezTo>
                  <a:cubicBezTo>
                    <a:pt x="8" y="24"/>
                    <a:pt x="7" y="24"/>
                    <a:pt x="7" y="24"/>
                  </a:cubicBezTo>
                  <a:cubicBezTo>
                    <a:pt x="7" y="24"/>
                    <a:pt x="7" y="23"/>
                    <a:pt x="7" y="23"/>
                  </a:cubicBezTo>
                  <a:cubicBezTo>
                    <a:pt x="6" y="22"/>
                    <a:pt x="5" y="21"/>
                    <a:pt x="3" y="21"/>
                  </a:cubicBezTo>
                  <a:cubicBezTo>
                    <a:pt x="2" y="21"/>
                    <a:pt x="0" y="22"/>
                    <a:pt x="0" y="24"/>
                  </a:cubicBezTo>
                  <a:cubicBezTo>
                    <a:pt x="0" y="26"/>
                    <a:pt x="1" y="28"/>
                    <a:pt x="1" y="29"/>
                  </a:cubicBezTo>
                  <a:cubicBezTo>
                    <a:pt x="2" y="30"/>
                    <a:pt x="2" y="31"/>
                    <a:pt x="2" y="32"/>
                  </a:cubicBezTo>
                  <a:cubicBezTo>
                    <a:pt x="3" y="34"/>
                    <a:pt x="4" y="35"/>
                    <a:pt x="6" y="35"/>
                  </a:cubicBezTo>
                  <a:cubicBezTo>
                    <a:pt x="7" y="35"/>
                    <a:pt x="7" y="35"/>
                    <a:pt x="8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9" y="37"/>
                    <a:pt x="10" y="37"/>
                    <a:pt x="11" y="37"/>
                  </a:cubicBezTo>
                  <a:cubicBezTo>
                    <a:pt x="12" y="37"/>
                    <a:pt x="12" y="37"/>
                    <a:pt x="12" y="38"/>
                  </a:cubicBezTo>
                  <a:cubicBezTo>
                    <a:pt x="12" y="39"/>
                    <a:pt x="12" y="39"/>
                    <a:pt x="12" y="40"/>
                  </a:cubicBezTo>
                  <a:cubicBezTo>
                    <a:pt x="12" y="42"/>
                    <a:pt x="12" y="43"/>
                    <a:pt x="11" y="44"/>
                  </a:cubicBezTo>
                  <a:cubicBezTo>
                    <a:pt x="10" y="45"/>
                    <a:pt x="9" y="47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11" y="50"/>
                    <a:pt x="12" y="50"/>
                  </a:cubicBezTo>
                  <a:cubicBezTo>
                    <a:pt x="13" y="50"/>
                    <a:pt x="13" y="50"/>
                    <a:pt x="13" y="51"/>
                  </a:cubicBezTo>
                  <a:cubicBezTo>
                    <a:pt x="13" y="51"/>
                    <a:pt x="13" y="52"/>
                    <a:pt x="13" y="53"/>
                  </a:cubicBezTo>
                  <a:cubicBezTo>
                    <a:pt x="13" y="54"/>
                    <a:pt x="13" y="54"/>
                    <a:pt x="12" y="54"/>
                  </a:cubicBezTo>
                  <a:cubicBezTo>
                    <a:pt x="11" y="55"/>
                    <a:pt x="10" y="55"/>
                    <a:pt x="9" y="56"/>
                  </a:cubicBezTo>
                  <a:cubicBezTo>
                    <a:pt x="9" y="57"/>
                    <a:pt x="9" y="57"/>
                    <a:pt x="8" y="57"/>
                  </a:cubicBezTo>
                  <a:cubicBezTo>
                    <a:pt x="7" y="59"/>
                    <a:pt x="7" y="60"/>
                    <a:pt x="8" y="61"/>
                  </a:cubicBezTo>
                  <a:cubicBezTo>
                    <a:pt x="8" y="62"/>
                    <a:pt x="8" y="62"/>
                    <a:pt x="9" y="62"/>
                  </a:cubicBezTo>
                  <a:cubicBezTo>
                    <a:pt x="9" y="63"/>
                    <a:pt x="10" y="64"/>
                    <a:pt x="10" y="64"/>
                  </a:cubicBezTo>
                  <a:cubicBezTo>
                    <a:pt x="11" y="63"/>
                    <a:pt x="12" y="63"/>
                    <a:pt x="13" y="63"/>
                  </a:cubicBezTo>
                  <a:cubicBezTo>
                    <a:pt x="14" y="62"/>
                    <a:pt x="15" y="61"/>
                    <a:pt x="16" y="61"/>
                  </a:cubicBezTo>
                  <a:cubicBezTo>
                    <a:pt x="17" y="60"/>
                    <a:pt x="18" y="60"/>
                    <a:pt x="19" y="59"/>
                  </a:cubicBezTo>
                  <a:cubicBezTo>
                    <a:pt x="21" y="58"/>
                    <a:pt x="23" y="58"/>
                    <a:pt x="25" y="58"/>
                  </a:cubicBezTo>
                  <a:cubicBezTo>
                    <a:pt x="26" y="58"/>
                    <a:pt x="27" y="58"/>
                    <a:pt x="28" y="58"/>
                  </a:cubicBezTo>
                  <a:cubicBezTo>
                    <a:pt x="28" y="58"/>
                    <a:pt x="28" y="58"/>
                    <a:pt x="29" y="58"/>
                  </a:cubicBezTo>
                  <a:cubicBezTo>
                    <a:pt x="29" y="58"/>
                    <a:pt x="30" y="58"/>
                    <a:pt x="30" y="57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6"/>
                    <a:pt x="32" y="55"/>
                    <a:pt x="32" y="55"/>
                  </a:cubicBezTo>
                  <a:cubicBezTo>
                    <a:pt x="32" y="54"/>
                    <a:pt x="32" y="53"/>
                    <a:pt x="32" y="52"/>
                  </a:cubicBezTo>
                  <a:cubicBezTo>
                    <a:pt x="33" y="51"/>
                    <a:pt x="32" y="51"/>
                    <a:pt x="32" y="50"/>
                  </a:cubicBezTo>
                  <a:cubicBezTo>
                    <a:pt x="31" y="50"/>
                    <a:pt x="30" y="50"/>
                    <a:pt x="29" y="50"/>
                  </a:cubicBezTo>
                  <a:cubicBezTo>
                    <a:pt x="28" y="50"/>
                    <a:pt x="27" y="50"/>
                    <a:pt x="26" y="50"/>
                  </a:cubicBezTo>
                  <a:cubicBezTo>
                    <a:pt x="24" y="50"/>
                    <a:pt x="22" y="51"/>
                    <a:pt x="20" y="52"/>
                  </a:cubicBezTo>
                  <a:cubicBezTo>
                    <a:pt x="20" y="52"/>
                    <a:pt x="20" y="51"/>
                    <a:pt x="19" y="51"/>
                  </a:cubicBezTo>
                  <a:cubicBezTo>
                    <a:pt x="19" y="51"/>
                    <a:pt x="19" y="50"/>
                    <a:pt x="19" y="50"/>
                  </a:cubicBezTo>
                  <a:cubicBezTo>
                    <a:pt x="18" y="48"/>
                    <a:pt x="18" y="47"/>
                    <a:pt x="19" y="46"/>
                  </a:cubicBezTo>
                  <a:cubicBezTo>
                    <a:pt x="20" y="45"/>
                    <a:pt x="21" y="44"/>
                    <a:pt x="23" y="43"/>
                  </a:cubicBezTo>
                  <a:cubicBezTo>
                    <a:pt x="24" y="42"/>
                    <a:pt x="25" y="39"/>
                    <a:pt x="24" y="38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6"/>
                    <a:pt x="23" y="36"/>
                    <a:pt x="22" y="36"/>
                  </a:cubicBezTo>
                  <a:cubicBezTo>
                    <a:pt x="21" y="36"/>
                    <a:pt x="20" y="37"/>
                    <a:pt x="20" y="37"/>
                  </a:cubicBezTo>
                  <a:cubicBezTo>
                    <a:pt x="19" y="37"/>
                    <a:pt x="18" y="38"/>
                    <a:pt x="17" y="38"/>
                  </a:cubicBezTo>
                  <a:cubicBezTo>
                    <a:pt x="17" y="39"/>
                    <a:pt x="17" y="39"/>
                    <a:pt x="16" y="38"/>
                  </a:cubicBezTo>
                  <a:cubicBezTo>
                    <a:pt x="16" y="37"/>
                    <a:pt x="16" y="36"/>
                    <a:pt x="16" y="36"/>
                  </a:cubicBezTo>
                  <a:cubicBezTo>
                    <a:pt x="16" y="34"/>
                    <a:pt x="17" y="33"/>
                    <a:pt x="19" y="32"/>
                  </a:cubicBezTo>
                  <a:close/>
                  <a:moveTo>
                    <a:pt x="11" y="27"/>
                  </a:moveTo>
                  <a:cubicBezTo>
                    <a:pt x="11" y="28"/>
                    <a:pt x="10" y="29"/>
                    <a:pt x="10" y="29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29"/>
                    <a:pt x="10" y="29"/>
                  </a:cubicBezTo>
                  <a:cubicBezTo>
                    <a:pt x="9" y="28"/>
                    <a:pt x="9" y="27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9" y="26"/>
                    <a:pt x="10" y="26"/>
                    <a:pt x="11" y="26"/>
                  </a:cubicBezTo>
                  <a:cubicBezTo>
                    <a:pt x="11" y="26"/>
                    <a:pt x="11" y="27"/>
                    <a:pt x="11" y="2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3" name="išḷîḓe">
              <a:extLst>
                <a:ext uri="{FF2B5EF4-FFF2-40B4-BE49-F238E27FC236}">
                  <a16:creationId xmlns:a16="http://schemas.microsoft.com/office/drawing/2014/main" id="{BFF5C089-E738-4EEC-3921-840A5ED40CF7}"/>
                </a:ext>
              </a:extLst>
            </p:cNvPr>
            <p:cNvSpPr/>
            <p:nvPr/>
          </p:nvSpPr>
          <p:spPr bwMode="auto">
            <a:xfrm>
              <a:off x="2709863" y="2620963"/>
              <a:ext cx="73025" cy="174625"/>
            </a:xfrm>
            <a:custGeom>
              <a:avLst/>
              <a:gdLst>
                <a:gd name="T0" fmla="*/ 20 w 20"/>
                <a:gd name="T1" fmla="*/ 22 h 48"/>
                <a:gd name="T2" fmla="*/ 20 w 20"/>
                <a:gd name="T3" fmla="*/ 21 h 48"/>
                <a:gd name="T4" fmla="*/ 19 w 20"/>
                <a:gd name="T5" fmla="*/ 22 h 48"/>
                <a:gd name="T6" fmla="*/ 18 w 20"/>
                <a:gd name="T7" fmla="*/ 29 h 48"/>
                <a:gd name="T8" fmla="*/ 16 w 20"/>
                <a:gd name="T9" fmla="*/ 34 h 48"/>
                <a:gd name="T10" fmla="*/ 14 w 20"/>
                <a:gd name="T11" fmla="*/ 39 h 48"/>
                <a:gd name="T12" fmla="*/ 14 w 20"/>
                <a:gd name="T13" fmla="*/ 39 h 48"/>
                <a:gd name="T14" fmla="*/ 13 w 20"/>
                <a:gd name="T15" fmla="*/ 39 h 48"/>
                <a:gd name="T16" fmla="*/ 14 w 20"/>
                <a:gd name="T17" fmla="*/ 37 h 48"/>
                <a:gd name="T18" fmla="*/ 14 w 20"/>
                <a:gd name="T19" fmla="*/ 33 h 48"/>
                <a:gd name="T20" fmla="*/ 15 w 20"/>
                <a:gd name="T21" fmla="*/ 27 h 48"/>
                <a:gd name="T22" fmla="*/ 16 w 20"/>
                <a:gd name="T23" fmla="*/ 22 h 48"/>
                <a:gd name="T24" fmla="*/ 15 w 20"/>
                <a:gd name="T25" fmla="*/ 19 h 48"/>
                <a:gd name="T26" fmla="*/ 14 w 20"/>
                <a:gd name="T27" fmla="*/ 18 h 48"/>
                <a:gd name="T28" fmla="*/ 14 w 20"/>
                <a:gd name="T29" fmla="*/ 14 h 48"/>
                <a:gd name="T30" fmla="*/ 14 w 20"/>
                <a:gd name="T31" fmla="*/ 9 h 48"/>
                <a:gd name="T32" fmla="*/ 15 w 20"/>
                <a:gd name="T33" fmla="*/ 6 h 48"/>
                <a:gd name="T34" fmla="*/ 15 w 20"/>
                <a:gd name="T35" fmla="*/ 2 h 48"/>
                <a:gd name="T36" fmla="*/ 13 w 20"/>
                <a:gd name="T37" fmla="*/ 0 h 48"/>
                <a:gd name="T38" fmla="*/ 10 w 20"/>
                <a:gd name="T39" fmla="*/ 0 h 48"/>
                <a:gd name="T40" fmla="*/ 7 w 20"/>
                <a:gd name="T41" fmla="*/ 2 h 48"/>
                <a:gd name="T42" fmla="*/ 4 w 20"/>
                <a:gd name="T43" fmla="*/ 5 h 48"/>
                <a:gd name="T44" fmla="*/ 1 w 20"/>
                <a:gd name="T45" fmla="*/ 7 h 48"/>
                <a:gd name="T46" fmla="*/ 0 w 20"/>
                <a:gd name="T47" fmla="*/ 9 h 48"/>
                <a:gd name="T48" fmla="*/ 2 w 20"/>
                <a:gd name="T49" fmla="*/ 12 h 48"/>
                <a:gd name="T50" fmla="*/ 3 w 20"/>
                <a:gd name="T51" fmla="*/ 12 h 48"/>
                <a:gd name="T52" fmla="*/ 7 w 20"/>
                <a:gd name="T53" fmla="*/ 13 h 48"/>
                <a:gd name="T54" fmla="*/ 10 w 20"/>
                <a:gd name="T55" fmla="*/ 11 h 48"/>
                <a:gd name="T56" fmla="*/ 11 w 20"/>
                <a:gd name="T57" fmla="*/ 11 h 48"/>
                <a:gd name="T58" fmla="*/ 11 w 20"/>
                <a:gd name="T59" fmla="*/ 13 h 48"/>
                <a:gd name="T60" fmla="*/ 12 w 20"/>
                <a:gd name="T61" fmla="*/ 18 h 48"/>
                <a:gd name="T62" fmla="*/ 10 w 20"/>
                <a:gd name="T63" fmla="*/ 19 h 48"/>
                <a:gd name="T64" fmla="*/ 8 w 20"/>
                <a:gd name="T65" fmla="*/ 20 h 48"/>
                <a:gd name="T66" fmla="*/ 3 w 20"/>
                <a:gd name="T67" fmla="*/ 27 h 48"/>
                <a:gd name="T68" fmla="*/ 4 w 20"/>
                <a:gd name="T69" fmla="*/ 32 h 48"/>
                <a:gd name="T70" fmla="*/ 9 w 20"/>
                <a:gd name="T71" fmla="*/ 35 h 48"/>
                <a:gd name="T72" fmla="*/ 9 w 20"/>
                <a:gd name="T73" fmla="*/ 35 h 48"/>
                <a:gd name="T74" fmla="*/ 9 w 20"/>
                <a:gd name="T75" fmla="*/ 42 h 48"/>
                <a:gd name="T76" fmla="*/ 9 w 20"/>
                <a:gd name="T77" fmla="*/ 46 h 48"/>
                <a:gd name="T78" fmla="*/ 12 w 20"/>
                <a:gd name="T79" fmla="*/ 47 h 48"/>
                <a:gd name="T80" fmla="*/ 14 w 20"/>
                <a:gd name="T81" fmla="*/ 46 h 48"/>
                <a:gd name="T82" fmla="*/ 17 w 20"/>
                <a:gd name="T83" fmla="*/ 38 h 48"/>
                <a:gd name="T84" fmla="*/ 18 w 20"/>
                <a:gd name="T85" fmla="*/ 35 h 48"/>
                <a:gd name="T86" fmla="*/ 19 w 20"/>
                <a:gd name="T87" fmla="*/ 31 h 48"/>
                <a:gd name="T88" fmla="*/ 19 w 20"/>
                <a:gd name="T89" fmla="*/ 27 h 48"/>
                <a:gd name="T90" fmla="*/ 20 w 20"/>
                <a:gd name="T91" fmla="*/ 23 h 48"/>
                <a:gd name="T92" fmla="*/ 20 w 20"/>
                <a:gd name="T93" fmla="*/ 22 h 48"/>
                <a:gd name="T94" fmla="*/ 10 w 20"/>
                <a:gd name="T95" fmla="*/ 28 h 48"/>
                <a:gd name="T96" fmla="*/ 10 w 20"/>
                <a:gd name="T97" fmla="*/ 29 h 48"/>
                <a:gd name="T98" fmla="*/ 9 w 20"/>
                <a:gd name="T99" fmla="*/ 30 h 48"/>
                <a:gd name="T100" fmla="*/ 8 w 20"/>
                <a:gd name="T101" fmla="*/ 28 h 48"/>
                <a:gd name="T102" fmla="*/ 10 w 20"/>
                <a:gd name="T103" fmla="*/ 24 h 48"/>
                <a:gd name="T104" fmla="*/ 10 w 20"/>
                <a:gd name="T105" fmla="*/ 24 h 48"/>
                <a:gd name="T106" fmla="*/ 10 w 20"/>
                <a:gd name="T107" fmla="*/ 25 h 48"/>
                <a:gd name="T108" fmla="*/ 10 w 20"/>
                <a:gd name="T109" fmla="*/ 2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" h="48">
                  <a:moveTo>
                    <a:pt x="20" y="22"/>
                  </a:moveTo>
                  <a:cubicBezTo>
                    <a:pt x="20" y="22"/>
                    <a:pt x="20" y="21"/>
                    <a:pt x="20" y="21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9" y="24"/>
                    <a:pt x="18" y="26"/>
                    <a:pt x="18" y="29"/>
                  </a:cubicBezTo>
                  <a:cubicBezTo>
                    <a:pt x="17" y="30"/>
                    <a:pt x="17" y="32"/>
                    <a:pt x="16" y="34"/>
                  </a:cubicBezTo>
                  <a:cubicBezTo>
                    <a:pt x="16" y="36"/>
                    <a:pt x="15" y="37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4" y="38"/>
                    <a:pt x="14" y="37"/>
                  </a:cubicBezTo>
                  <a:cubicBezTo>
                    <a:pt x="14" y="36"/>
                    <a:pt x="14" y="35"/>
                    <a:pt x="14" y="33"/>
                  </a:cubicBezTo>
                  <a:cubicBezTo>
                    <a:pt x="15" y="31"/>
                    <a:pt x="15" y="29"/>
                    <a:pt x="15" y="27"/>
                  </a:cubicBezTo>
                  <a:cubicBezTo>
                    <a:pt x="16" y="25"/>
                    <a:pt x="16" y="23"/>
                    <a:pt x="16" y="22"/>
                  </a:cubicBezTo>
                  <a:cubicBezTo>
                    <a:pt x="16" y="21"/>
                    <a:pt x="15" y="20"/>
                    <a:pt x="15" y="19"/>
                  </a:cubicBezTo>
                  <a:cubicBezTo>
                    <a:pt x="14" y="19"/>
                    <a:pt x="14" y="18"/>
                    <a:pt x="14" y="18"/>
                  </a:cubicBezTo>
                  <a:cubicBezTo>
                    <a:pt x="14" y="17"/>
                    <a:pt x="14" y="15"/>
                    <a:pt x="14" y="14"/>
                  </a:cubicBezTo>
                  <a:cubicBezTo>
                    <a:pt x="13" y="12"/>
                    <a:pt x="13" y="10"/>
                    <a:pt x="14" y="9"/>
                  </a:cubicBezTo>
                  <a:cubicBezTo>
                    <a:pt x="14" y="8"/>
                    <a:pt x="14" y="7"/>
                    <a:pt x="15" y="6"/>
                  </a:cubicBezTo>
                  <a:cubicBezTo>
                    <a:pt x="16" y="5"/>
                    <a:pt x="16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7" y="2"/>
                  </a:cubicBezTo>
                  <a:cubicBezTo>
                    <a:pt x="6" y="3"/>
                    <a:pt x="5" y="4"/>
                    <a:pt x="4" y="5"/>
                  </a:cubicBezTo>
                  <a:cubicBezTo>
                    <a:pt x="3" y="5"/>
                    <a:pt x="2" y="6"/>
                    <a:pt x="1" y="7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1" y="10"/>
                    <a:pt x="1" y="11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4" y="13"/>
                    <a:pt x="6" y="14"/>
                    <a:pt x="7" y="13"/>
                  </a:cubicBezTo>
                  <a:cubicBezTo>
                    <a:pt x="8" y="12"/>
                    <a:pt x="9" y="11"/>
                    <a:pt x="10" y="11"/>
                  </a:cubicBezTo>
                  <a:cubicBezTo>
                    <a:pt x="10" y="10"/>
                    <a:pt x="10" y="10"/>
                    <a:pt x="11" y="11"/>
                  </a:cubicBezTo>
                  <a:cubicBezTo>
                    <a:pt x="11" y="11"/>
                    <a:pt x="11" y="12"/>
                    <a:pt x="11" y="13"/>
                  </a:cubicBezTo>
                  <a:cubicBezTo>
                    <a:pt x="11" y="14"/>
                    <a:pt x="12" y="16"/>
                    <a:pt x="12" y="18"/>
                  </a:cubicBezTo>
                  <a:cubicBezTo>
                    <a:pt x="12" y="19"/>
                    <a:pt x="11" y="19"/>
                    <a:pt x="10" y="19"/>
                  </a:cubicBezTo>
                  <a:cubicBezTo>
                    <a:pt x="9" y="20"/>
                    <a:pt x="8" y="20"/>
                    <a:pt x="8" y="20"/>
                  </a:cubicBezTo>
                  <a:cubicBezTo>
                    <a:pt x="5" y="22"/>
                    <a:pt x="4" y="24"/>
                    <a:pt x="3" y="27"/>
                  </a:cubicBezTo>
                  <a:cubicBezTo>
                    <a:pt x="3" y="29"/>
                    <a:pt x="3" y="31"/>
                    <a:pt x="4" y="32"/>
                  </a:cubicBezTo>
                  <a:cubicBezTo>
                    <a:pt x="5" y="34"/>
                    <a:pt x="7" y="35"/>
                    <a:pt x="9" y="35"/>
                  </a:cubicBezTo>
                  <a:cubicBezTo>
                    <a:pt x="9" y="35"/>
                    <a:pt x="10" y="35"/>
                    <a:pt x="9" y="35"/>
                  </a:cubicBezTo>
                  <a:cubicBezTo>
                    <a:pt x="9" y="38"/>
                    <a:pt x="9" y="40"/>
                    <a:pt x="9" y="42"/>
                  </a:cubicBezTo>
                  <a:cubicBezTo>
                    <a:pt x="9" y="43"/>
                    <a:pt x="9" y="44"/>
                    <a:pt x="9" y="46"/>
                  </a:cubicBezTo>
                  <a:cubicBezTo>
                    <a:pt x="10" y="47"/>
                    <a:pt x="11" y="48"/>
                    <a:pt x="12" y="47"/>
                  </a:cubicBezTo>
                  <a:cubicBezTo>
                    <a:pt x="13" y="47"/>
                    <a:pt x="13" y="47"/>
                    <a:pt x="14" y="46"/>
                  </a:cubicBezTo>
                  <a:cubicBezTo>
                    <a:pt x="16" y="44"/>
                    <a:pt x="16" y="41"/>
                    <a:pt x="17" y="38"/>
                  </a:cubicBezTo>
                  <a:cubicBezTo>
                    <a:pt x="17" y="37"/>
                    <a:pt x="18" y="36"/>
                    <a:pt x="18" y="35"/>
                  </a:cubicBezTo>
                  <a:cubicBezTo>
                    <a:pt x="18" y="34"/>
                    <a:pt x="19" y="32"/>
                    <a:pt x="19" y="31"/>
                  </a:cubicBezTo>
                  <a:cubicBezTo>
                    <a:pt x="19" y="30"/>
                    <a:pt x="19" y="27"/>
                    <a:pt x="19" y="27"/>
                  </a:cubicBezTo>
                  <a:cubicBezTo>
                    <a:pt x="19" y="26"/>
                    <a:pt x="20" y="25"/>
                    <a:pt x="20" y="23"/>
                  </a:cubicBezTo>
                  <a:cubicBezTo>
                    <a:pt x="20" y="23"/>
                    <a:pt x="20" y="22"/>
                    <a:pt x="20" y="22"/>
                  </a:cubicBezTo>
                  <a:close/>
                  <a:moveTo>
                    <a:pt x="10" y="28"/>
                  </a:moveTo>
                  <a:cubicBezTo>
                    <a:pt x="10" y="28"/>
                    <a:pt x="10" y="29"/>
                    <a:pt x="10" y="29"/>
                  </a:cubicBezTo>
                  <a:cubicBezTo>
                    <a:pt x="10" y="29"/>
                    <a:pt x="10" y="30"/>
                    <a:pt x="9" y="30"/>
                  </a:cubicBezTo>
                  <a:cubicBezTo>
                    <a:pt x="8" y="30"/>
                    <a:pt x="8" y="29"/>
                    <a:pt x="8" y="28"/>
                  </a:cubicBezTo>
                  <a:cubicBezTo>
                    <a:pt x="8" y="27"/>
                    <a:pt x="9" y="25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5"/>
                    <a:pt x="11" y="25"/>
                    <a:pt x="10" y="25"/>
                  </a:cubicBezTo>
                  <a:cubicBezTo>
                    <a:pt x="10" y="26"/>
                    <a:pt x="10" y="27"/>
                    <a:pt x="10" y="2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4" name="ïṩļidê">
              <a:extLst>
                <a:ext uri="{FF2B5EF4-FFF2-40B4-BE49-F238E27FC236}">
                  <a16:creationId xmlns:a16="http://schemas.microsoft.com/office/drawing/2014/main" id="{D3B4BE40-9947-3E4C-6AE9-97713FC0E01B}"/>
                </a:ext>
              </a:extLst>
            </p:cNvPr>
            <p:cNvSpPr/>
            <p:nvPr/>
          </p:nvSpPr>
          <p:spPr bwMode="auto">
            <a:xfrm>
              <a:off x="3038475" y="2620963"/>
              <a:ext cx="136525" cy="115888"/>
            </a:xfrm>
            <a:custGeom>
              <a:avLst/>
              <a:gdLst>
                <a:gd name="T0" fmla="*/ 36 w 38"/>
                <a:gd name="T1" fmla="*/ 22 h 32"/>
                <a:gd name="T2" fmla="*/ 34 w 38"/>
                <a:gd name="T3" fmla="*/ 22 h 32"/>
                <a:gd name="T4" fmla="*/ 32 w 38"/>
                <a:gd name="T5" fmla="*/ 22 h 32"/>
                <a:gd name="T6" fmla="*/ 28 w 38"/>
                <a:gd name="T7" fmla="*/ 22 h 32"/>
                <a:gd name="T8" fmla="*/ 27 w 38"/>
                <a:gd name="T9" fmla="*/ 21 h 32"/>
                <a:gd name="T10" fmla="*/ 28 w 38"/>
                <a:gd name="T11" fmla="*/ 21 h 32"/>
                <a:gd name="T12" fmla="*/ 32 w 38"/>
                <a:gd name="T13" fmla="*/ 16 h 32"/>
                <a:gd name="T14" fmla="*/ 35 w 38"/>
                <a:gd name="T15" fmla="*/ 11 h 32"/>
                <a:gd name="T16" fmla="*/ 35 w 38"/>
                <a:gd name="T17" fmla="*/ 8 h 32"/>
                <a:gd name="T18" fmla="*/ 35 w 38"/>
                <a:gd name="T19" fmla="*/ 7 h 32"/>
                <a:gd name="T20" fmla="*/ 34 w 38"/>
                <a:gd name="T21" fmla="*/ 3 h 32"/>
                <a:gd name="T22" fmla="*/ 29 w 38"/>
                <a:gd name="T23" fmla="*/ 1 h 32"/>
                <a:gd name="T24" fmla="*/ 22 w 38"/>
                <a:gd name="T25" fmla="*/ 2 h 32"/>
                <a:gd name="T26" fmla="*/ 16 w 38"/>
                <a:gd name="T27" fmla="*/ 5 h 32"/>
                <a:gd name="T28" fmla="*/ 14 w 38"/>
                <a:gd name="T29" fmla="*/ 7 h 32"/>
                <a:gd name="T30" fmla="*/ 17 w 38"/>
                <a:gd name="T31" fmla="*/ 12 h 32"/>
                <a:gd name="T32" fmla="*/ 22 w 38"/>
                <a:gd name="T33" fmla="*/ 13 h 32"/>
                <a:gd name="T34" fmla="*/ 26 w 38"/>
                <a:gd name="T35" fmla="*/ 11 h 32"/>
                <a:gd name="T36" fmla="*/ 28 w 38"/>
                <a:gd name="T37" fmla="*/ 11 h 32"/>
                <a:gd name="T38" fmla="*/ 25 w 38"/>
                <a:gd name="T39" fmla="*/ 16 h 32"/>
                <a:gd name="T40" fmla="*/ 20 w 38"/>
                <a:gd name="T41" fmla="*/ 20 h 32"/>
                <a:gd name="T42" fmla="*/ 15 w 38"/>
                <a:gd name="T43" fmla="*/ 21 h 32"/>
                <a:gd name="T44" fmla="*/ 12 w 38"/>
                <a:gd name="T45" fmla="*/ 21 h 32"/>
                <a:gd name="T46" fmla="*/ 5 w 38"/>
                <a:gd name="T47" fmla="*/ 22 h 32"/>
                <a:gd name="T48" fmla="*/ 2 w 38"/>
                <a:gd name="T49" fmla="*/ 24 h 32"/>
                <a:gd name="T50" fmla="*/ 1 w 38"/>
                <a:gd name="T51" fmla="*/ 25 h 32"/>
                <a:gd name="T52" fmla="*/ 3 w 38"/>
                <a:gd name="T53" fmla="*/ 31 h 32"/>
                <a:gd name="T54" fmla="*/ 6 w 38"/>
                <a:gd name="T55" fmla="*/ 31 h 32"/>
                <a:gd name="T56" fmla="*/ 12 w 38"/>
                <a:gd name="T57" fmla="*/ 31 h 32"/>
                <a:gd name="T58" fmla="*/ 29 w 38"/>
                <a:gd name="T59" fmla="*/ 30 h 32"/>
                <a:gd name="T60" fmla="*/ 31 w 38"/>
                <a:gd name="T61" fmla="*/ 31 h 32"/>
                <a:gd name="T62" fmla="*/ 33 w 38"/>
                <a:gd name="T63" fmla="*/ 32 h 32"/>
                <a:gd name="T64" fmla="*/ 36 w 38"/>
                <a:gd name="T65" fmla="*/ 30 h 32"/>
                <a:gd name="T66" fmla="*/ 37 w 38"/>
                <a:gd name="T67" fmla="*/ 27 h 32"/>
                <a:gd name="T68" fmla="*/ 36 w 38"/>
                <a:gd name="T69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8" h="32">
                  <a:moveTo>
                    <a:pt x="36" y="22"/>
                  </a:moveTo>
                  <a:cubicBezTo>
                    <a:pt x="36" y="21"/>
                    <a:pt x="35" y="21"/>
                    <a:pt x="34" y="22"/>
                  </a:cubicBezTo>
                  <a:cubicBezTo>
                    <a:pt x="33" y="22"/>
                    <a:pt x="33" y="22"/>
                    <a:pt x="32" y="22"/>
                  </a:cubicBezTo>
                  <a:cubicBezTo>
                    <a:pt x="31" y="22"/>
                    <a:pt x="29" y="22"/>
                    <a:pt x="28" y="22"/>
                  </a:cubicBezTo>
                  <a:cubicBezTo>
                    <a:pt x="28" y="22"/>
                    <a:pt x="27" y="22"/>
                    <a:pt x="27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9" y="19"/>
                    <a:pt x="31" y="17"/>
                    <a:pt x="32" y="16"/>
                  </a:cubicBezTo>
                  <a:cubicBezTo>
                    <a:pt x="33" y="14"/>
                    <a:pt x="34" y="11"/>
                    <a:pt x="35" y="11"/>
                  </a:cubicBezTo>
                  <a:cubicBezTo>
                    <a:pt x="35" y="10"/>
                    <a:pt x="36" y="9"/>
                    <a:pt x="35" y="8"/>
                  </a:cubicBezTo>
                  <a:cubicBezTo>
                    <a:pt x="35" y="8"/>
                    <a:pt x="35" y="7"/>
                    <a:pt x="35" y="7"/>
                  </a:cubicBezTo>
                  <a:cubicBezTo>
                    <a:pt x="35" y="6"/>
                    <a:pt x="35" y="4"/>
                    <a:pt x="34" y="3"/>
                  </a:cubicBezTo>
                  <a:cubicBezTo>
                    <a:pt x="33" y="2"/>
                    <a:pt x="31" y="1"/>
                    <a:pt x="29" y="1"/>
                  </a:cubicBezTo>
                  <a:cubicBezTo>
                    <a:pt x="27" y="0"/>
                    <a:pt x="24" y="1"/>
                    <a:pt x="22" y="2"/>
                  </a:cubicBezTo>
                  <a:cubicBezTo>
                    <a:pt x="20" y="3"/>
                    <a:pt x="18" y="4"/>
                    <a:pt x="16" y="5"/>
                  </a:cubicBezTo>
                  <a:cubicBezTo>
                    <a:pt x="15" y="5"/>
                    <a:pt x="14" y="7"/>
                    <a:pt x="14" y="7"/>
                  </a:cubicBezTo>
                  <a:cubicBezTo>
                    <a:pt x="15" y="9"/>
                    <a:pt x="15" y="11"/>
                    <a:pt x="17" y="12"/>
                  </a:cubicBezTo>
                  <a:cubicBezTo>
                    <a:pt x="18" y="13"/>
                    <a:pt x="20" y="13"/>
                    <a:pt x="22" y="13"/>
                  </a:cubicBezTo>
                  <a:cubicBezTo>
                    <a:pt x="23" y="12"/>
                    <a:pt x="24" y="12"/>
                    <a:pt x="26" y="11"/>
                  </a:cubicBezTo>
                  <a:cubicBezTo>
                    <a:pt x="26" y="11"/>
                    <a:pt x="27" y="11"/>
                    <a:pt x="28" y="11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3" y="17"/>
                    <a:pt x="22" y="18"/>
                    <a:pt x="20" y="20"/>
                  </a:cubicBezTo>
                  <a:cubicBezTo>
                    <a:pt x="19" y="21"/>
                    <a:pt x="17" y="21"/>
                    <a:pt x="15" y="21"/>
                  </a:cubicBezTo>
                  <a:cubicBezTo>
                    <a:pt x="14" y="21"/>
                    <a:pt x="13" y="21"/>
                    <a:pt x="12" y="21"/>
                  </a:cubicBezTo>
                  <a:cubicBezTo>
                    <a:pt x="9" y="22"/>
                    <a:pt x="7" y="22"/>
                    <a:pt x="5" y="22"/>
                  </a:cubicBezTo>
                  <a:cubicBezTo>
                    <a:pt x="4" y="23"/>
                    <a:pt x="3" y="23"/>
                    <a:pt x="2" y="24"/>
                  </a:cubicBezTo>
                  <a:cubicBezTo>
                    <a:pt x="2" y="24"/>
                    <a:pt x="2" y="25"/>
                    <a:pt x="1" y="25"/>
                  </a:cubicBezTo>
                  <a:cubicBezTo>
                    <a:pt x="0" y="27"/>
                    <a:pt x="1" y="30"/>
                    <a:pt x="3" y="31"/>
                  </a:cubicBezTo>
                  <a:cubicBezTo>
                    <a:pt x="4" y="31"/>
                    <a:pt x="5" y="31"/>
                    <a:pt x="6" y="31"/>
                  </a:cubicBezTo>
                  <a:cubicBezTo>
                    <a:pt x="8" y="31"/>
                    <a:pt x="11" y="31"/>
                    <a:pt x="12" y="31"/>
                  </a:cubicBezTo>
                  <a:cubicBezTo>
                    <a:pt x="14" y="30"/>
                    <a:pt x="25" y="30"/>
                    <a:pt x="29" y="30"/>
                  </a:cubicBezTo>
                  <a:cubicBezTo>
                    <a:pt x="29" y="30"/>
                    <a:pt x="30" y="30"/>
                    <a:pt x="31" y="31"/>
                  </a:cubicBezTo>
                  <a:cubicBezTo>
                    <a:pt x="32" y="31"/>
                    <a:pt x="32" y="32"/>
                    <a:pt x="33" y="32"/>
                  </a:cubicBezTo>
                  <a:cubicBezTo>
                    <a:pt x="34" y="32"/>
                    <a:pt x="35" y="32"/>
                    <a:pt x="36" y="30"/>
                  </a:cubicBezTo>
                  <a:cubicBezTo>
                    <a:pt x="37" y="29"/>
                    <a:pt x="37" y="28"/>
                    <a:pt x="37" y="27"/>
                  </a:cubicBezTo>
                  <a:cubicBezTo>
                    <a:pt x="38" y="25"/>
                    <a:pt x="37" y="24"/>
                    <a:pt x="36" y="2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5" name="îṧliḑe">
              <a:extLst>
                <a:ext uri="{FF2B5EF4-FFF2-40B4-BE49-F238E27FC236}">
                  <a16:creationId xmlns:a16="http://schemas.microsoft.com/office/drawing/2014/main" id="{C1BA431E-9376-EDFF-B8EA-EDB369A6990E}"/>
                </a:ext>
              </a:extLst>
            </p:cNvPr>
            <p:cNvSpPr/>
            <p:nvPr/>
          </p:nvSpPr>
          <p:spPr bwMode="auto">
            <a:xfrm>
              <a:off x="3290888" y="2722563"/>
              <a:ext cx="187325" cy="198438"/>
            </a:xfrm>
            <a:custGeom>
              <a:avLst/>
              <a:gdLst>
                <a:gd name="T0" fmla="*/ 37 w 52"/>
                <a:gd name="T1" fmla="*/ 49 h 55"/>
                <a:gd name="T2" fmla="*/ 35 w 52"/>
                <a:gd name="T3" fmla="*/ 45 h 55"/>
                <a:gd name="T4" fmla="*/ 34 w 52"/>
                <a:gd name="T5" fmla="*/ 39 h 55"/>
                <a:gd name="T6" fmla="*/ 33 w 52"/>
                <a:gd name="T7" fmla="*/ 34 h 55"/>
                <a:gd name="T8" fmla="*/ 32 w 52"/>
                <a:gd name="T9" fmla="*/ 27 h 55"/>
                <a:gd name="T10" fmla="*/ 34 w 52"/>
                <a:gd name="T11" fmla="*/ 25 h 55"/>
                <a:gd name="T12" fmla="*/ 35 w 52"/>
                <a:gd name="T13" fmla="*/ 23 h 55"/>
                <a:gd name="T14" fmla="*/ 38 w 52"/>
                <a:gd name="T15" fmla="*/ 22 h 55"/>
                <a:gd name="T16" fmla="*/ 43 w 52"/>
                <a:gd name="T17" fmla="*/ 24 h 55"/>
                <a:gd name="T18" fmla="*/ 46 w 52"/>
                <a:gd name="T19" fmla="*/ 23 h 55"/>
                <a:gd name="T20" fmla="*/ 48 w 52"/>
                <a:gd name="T21" fmla="*/ 22 h 55"/>
                <a:gd name="T22" fmla="*/ 49 w 52"/>
                <a:gd name="T23" fmla="*/ 22 h 55"/>
                <a:gd name="T24" fmla="*/ 50 w 52"/>
                <a:gd name="T25" fmla="*/ 21 h 55"/>
                <a:gd name="T26" fmla="*/ 50 w 52"/>
                <a:gd name="T27" fmla="*/ 19 h 55"/>
                <a:gd name="T28" fmla="*/ 48 w 52"/>
                <a:gd name="T29" fmla="*/ 16 h 55"/>
                <a:gd name="T30" fmla="*/ 45 w 52"/>
                <a:gd name="T31" fmla="*/ 15 h 55"/>
                <a:gd name="T32" fmla="*/ 45 w 52"/>
                <a:gd name="T33" fmla="*/ 15 h 55"/>
                <a:gd name="T34" fmla="*/ 45 w 52"/>
                <a:gd name="T35" fmla="*/ 15 h 55"/>
                <a:gd name="T36" fmla="*/ 48 w 52"/>
                <a:gd name="T37" fmla="*/ 11 h 55"/>
                <a:gd name="T38" fmla="*/ 51 w 52"/>
                <a:gd name="T39" fmla="*/ 7 h 55"/>
                <a:gd name="T40" fmla="*/ 52 w 52"/>
                <a:gd name="T41" fmla="*/ 5 h 55"/>
                <a:gd name="T42" fmla="*/ 51 w 52"/>
                <a:gd name="T43" fmla="*/ 1 h 55"/>
                <a:gd name="T44" fmla="*/ 48 w 52"/>
                <a:gd name="T45" fmla="*/ 0 h 55"/>
                <a:gd name="T46" fmla="*/ 45 w 52"/>
                <a:gd name="T47" fmla="*/ 2 h 55"/>
                <a:gd name="T48" fmla="*/ 43 w 52"/>
                <a:gd name="T49" fmla="*/ 6 h 55"/>
                <a:gd name="T50" fmla="*/ 37 w 52"/>
                <a:gd name="T51" fmla="*/ 12 h 55"/>
                <a:gd name="T52" fmla="*/ 35 w 52"/>
                <a:gd name="T53" fmla="*/ 13 h 55"/>
                <a:gd name="T54" fmla="*/ 32 w 52"/>
                <a:gd name="T55" fmla="*/ 12 h 55"/>
                <a:gd name="T56" fmla="*/ 26 w 52"/>
                <a:gd name="T57" fmla="*/ 10 h 55"/>
                <a:gd name="T58" fmla="*/ 22 w 52"/>
                <a:gd name="T59" fmla="*/ 10 h 55"/>
                <a:gd name="T60" fmla="*/ 21 w 52"/>
                <a:gd name="T61" fmla="*/ 11 h 55"/>
                <a:gd name="T62" fmla="*/ 21 w 52"/>
                <a:gd name="T63" fmla="*/ 14 h 55"/>
                <a:gd name="T64" fmla="*/ 21 w 52"/>
                <a:gd name="T65" fmla="*/ 15 h 55"/>
                <a:gd name="T66" fmla="*/ 23 w 52"/>
                <a:gd name="T67" fmla="*/ 17 h 55"/>
                <a:gd name="T68" fmla="*/ 26 w 52"/>
                <a:gd name="T69" fmla="*/ 19 h 55"/>
                <a:gd name="T70" fmla="*/ 29 w 52"/>
                <a:gd name="T71" fmla="*/ 20 h 55"/>
                <a:gd name="T72" fmla="*/ 24 w 52"/>
                <a:gd name="T73" fmla="*/ 23 h 55"/>
                <a:gd name="T74" fmla="*/ 12 w 52"/>
                <a:gd name="T75" fmla="*/ 28 h 55"/>
                <a:gd name="T76" fmla="*/ 0 w 52"/>
                <a:gd name="T77" fmla="*/ 28 h 55"/>
                <a:gd name="T78" fmla="*/ 1 w 52"/>
                <a:gd name="T79" fmla="*/ 29 h 55"/>
                <a:gd name="T80" fmla="*/ 3 w 52"/>
                <a:gd name="T81" fmla="*/ 30 h 55"/>
                <a:gd name="T82" fmla="*/ 6 w 52"/>
                <a:gd name="T83" fmla="*/ 32 h 55"/>
                <a:gd name="T84" fmla="*/ 15 w 52"/>
                <a:gd name="T85" fmla="*/ 32 h 55"/>
                <a:gd name="T86" fmla="*/ 20 w 52"/>
                <a:gd name="T87" fmla="*/ 31 h 55"/>
                <a:gd name="T88" fmla="*/ 26 w 52"/>
                <a:gd name="T89" fmla="*/ 29 h 55"/>
                <a:gd name="T90" fmla="*/ 27 w 52"/>
                <a:gd name="T91" fmla="*/ 29 h 55"/>
                <a:gd name="T92" fmla="*/ 26 w 52"/>
                <a:gd name="T93" fmla="*/ 35 h 55"/>
                <a:gd name="T94" fmla="*/ 25 w 52"/>
                <a:gd name="T95" fmla="*/ 40 h 55"/>
                <a:gd name="T96" fmla="*/ 25 w 52"/>
                <a:gd name="T97" fmla="*/ 43 h 55"/>
                <a:gd name="T98" fmla="*/ 26 w 52"/>
                <a:gd name="T99" fmla="*/ 47 h 55"/>
                <a:gd name="T100" fmla="*/ 28 w 52"/>
                <a:gd name="T101" fmla="*/ 50 h 55"/>
                <a:gd name="T102" fmla="*/ 29 w 52"/>
                <a:gd name="T103" fmla="*/ 52 h 55"/>
                <a:gd name="T104" fmla="*/ 31 w 52"/>
                <a:gd name="T105" fmla="*/ 53 h 55"/>
                <a:gd name="T106" fmla="*/ 34 w 52"/>
                <a:gd name="T107" fmla="*/ 54 h 55"/>
                <a:gd name="T108" fmla="*/ 35 w 52"/>
                <a:gd name="T109" fmla="*/ 54 h 55"/>
                <a:gd name="T110" fmla="*/ 36 w 52"/>
                <a:gd name="T111" fmla="*/ 54 h 55"/>
                <a:gd name="T112" fmla="*/ 37 w 52"/>
                <a:gd name="T113" fmla="*/ 53 h 55"/>
                <a:gd name="T114" fmla="*/ 39 w 52"/>
                <a:gd name="T115" fmla="*/ 53 h 55"/>
                <a:gd name="T116" fmla="*/ 37 w 52"/>
                <a:gd name="T117" fmla="*/ 4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2" h="55">
                  <a:moveTo>
                    <a:pt x="37" y="49"/>
                  </a:moveTo>
                  <a:cubicBezTo>
                    <a:pt x="36" y="47"/>
                    <a:pt x="36" y="46"/>
                    <a:pt x="35" y="45"/>
                  </a:cubicBezTo>
                  <a:cubicBezTo>
                    <a:pt x="34" y="43"/>
                    <a:pt x="34" y="41"/>
                    <a:pt x="34" y="39"/>
                  </a:cubicBezTo>
                  <a:cubicBezTo>
                    <a:pt x="33" y="37"/>
                    <a:pt x="33" y="35"/>
                    <a:pt x="33" y="34"/>
                  </a:cubicBezTo>
                  <a:cubicBezTo>
                    <a:pt x="33" y="31"/>
                    <a:pt x="33" y="28"/>
                    <a:pt x="32" y="27"/>
                  </a:cubicBezTo>
                  <a:cubicBezTo>
                    <a:pt x="32" y="25"/>
                    <a:pt x="33" y="25"/>
                    <a:pt x="34" y="25"/>
                  </a:cubicBezTo>
                  <a:cubicBezTo>
                    <a:pt x="34" y="24"/>
                    <a:pt x="35" y="24"/>
                    <a:pt x="35" y="23"/>
                  </a:cubicBezTo>
                  <a:cubicBezTo>
                    <a:pt x="36" y="23"/>
                    <a:pt x="37" y="22"/>
                    <a:pt x="38" y="22"/>
                  </a:cubicBezTo>
                  <a:cubicBezTo>
                    <a:pt x="40" y="23"/>
                    <a:pt x="41" y="23"/>
                    <a:pt x="43" y="24"/>
                  </a:cubicBezTo>
                  <a:cubicBezTo>
                    <a:pt x="43" y="24"/>
                    <a:pt x="45" y="24"/>
                    <a:pt x="46" y="23"/>
                  </a:cubicBezTo>
                  <a:cubicBezTo>
                    <a:pt x="47" y="23"/>
                    <a:pt x="47" y="23"/>
                    <a:pt x="48" y="22"/>
                  </a:cubicBezTo>
                  <a:cubicBezTo>
                    <a:pt x="48" y="22"/>
                    <a:pt x="49" y="22"/>
                    <a:pt x="49" y="22"/>
                  </a:cubicBezTo>
                  <a:cubicBezTo>
                    <a:pt x="49" y="21"/>
                    <a:pt x="50" y="21"/>
                    <a:pt x="50" y="21"/>
                  </a:cubicBezTo>
                  <a:cubicBezTo>
                    <a:pt x="51" y="20"/>
                    <a:pt x="51" y="20"/>
                    <a:pt x="50" y="19"/>
                  </a:cubicBezTo>
                  <a:cubicBezTo>
                    <a:pt x="50" y="18"/>
                    <a:pt x="49" y="17"/>
                    <a:pt x="48" y="16"/>
                  </a:cubicBezTo>
                  <a:cubicBezTo>
                    <a:pt x="47" y="15"/>
                    <a:pt x="46" y="15"/>
                    <a:pt x="45" y="15"/>
                  </a:cubicBezTo>
                  <a:cubicBezTo>
                    <a:pt x="45" y="15"/>
                    <a:pt x="45" y="16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6" y="13"/>
                    <a:pt x="47" y="12"/>
                    <a:pt x="48" y="11"/>
                  </a:cubicBezTo>
                  <a:cubicBezTo>
                    <a:pt x="49" y="10"/>
                    <a:pt x="50" y="8"/>
                    <a:pt x="51" y="7"/>
                  </a:cubicBezTo>
                  <a:cubicBezTo>
                    <a:pt x="51" y="6"/>
                    <a:pt x="52" y="6"/>
                    <a:pt x="52" y="5"/>
                  </a:cubicBezTo>
                  <a:cubicBezTo>
                    <a:pt x="52" y="4"/>
                    <a:pt x="51" y="3"/>
                    <a:pt x="51" y="1"/>
                  </a:cubicBezTo>
                  <a:cubicBezTo>
                    <a:pt x="50" y="0"/>
                    <a:pt x="49" y="0"/>
                    <a:pt x="48" y="0"/>
                  </a:cubicBezTo>
                  <a:cubicBezTo>
                    <a:pt x="47" y="1"/>
                    <a:pt x="45" y="1"/>
                    <a:pt x="45" y="2"/>
                  </a:cubicBezTo>
                  <a:cubicBezTo>
                    <a:pt x="44" y="4"/>
                    <a:pt x="43" y="5"/>
                    <a:pt x="43" y="6"/>
                  </a:cubicBezTo>
                  <a:cubicBezTo>
                    <a:pt x="41" y="8"/>
                    <a:pt x="39" y="10"/>
                    <a:pt x="37" y="12"/>
                  </a:cubicBezTo>
                  <a:cubicBezTo>
                    <a:pt x="37" y="13"/>
                    <a:pt x="36" y="13"/>
                    <a:pt x="35" y="13"/>
                  </a:cubicBezTo>
                  <a:cubicBezTo>
                    <a:pt x="34" y="13"/>
                    <a:pt x="33" y="13"/>
                    <a:pt x="32" y="12"/>
                  </a:cubicBezTo>
                  <a:cubicBezTo>
                    <a:pt x="30" y="12"/>
                    <a:pt x="28" y="11"/>
                    <a:pt x="26" y="10"/>
                  </a:cubicBezTo>
                  <a:cubicBezTo>
                    <a:pt x="25" y="9"/>
                    <a:pt x="23" y="9"/>
                    <a:pt x="22" y="10"/>
                  </a:cubicBezTo>
                  <a:cubicBezTo>
                    <a:pt x="22" y="11"/>
                    <a:pt x="21" y="11"/>
                    <a:pt x="21" y="11"/>
                  </a:cubicBezTo>
                  <a:cubicBezTo>
                    <a:pt x="21" y="12"/>
                    <a:pt x="21" y="13"/>
                    <a:pt x="21" y="14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6"/>
                    <a:pt x="22" y="17"/>
                    <a:pt x="23" y="17"/>
                  </a:cubicBezTo>
                  <a:cubicBezTo>
                    <a:pt x="24" y="18"/>
                    <a:pt x="25" y="19"/>
                    <a:pt x="26" y="19"/>
                  </a:cubicBezTo>
                  <a:cubicBezTo>
                    <a:pt x="27" y="19"/>
                    <a:pt x="28" y="20"/>
                    <a:pt x="29" y="20"/>
                  </a:cubicBezTo>
                  <a:cubicBezTo>
                    <a:pt x="28" y="20"/>
                    <a:pt x="26" y="22"/>
                    <a:pt x="24" y="23"/>
                  </a:cubicBezTo>
                  <a:cubicBezTo>
                    <a:pt x="21" y="25"/>
                    <a:pt x="18" y="26"/>
                    <a:pt x="12" y="28"/>
                  </a:cubicBezTo>
                  <a:cubicBezTo>
                    <a:pt x="5" y="29"/>
                    <a:pt x="1" y="28"/>
                    <a:pt x="0" y="28"/>
                  </a:cubicBezTo>
                  <a:cubicBezTo>
                    <a:pt x="0" y="28"/>
                    <a:pt x="0" y="28"/>
                    <a:pt x="1" y="29"/>
                  </a:cubicBezTo>
                  <a:cubicBezTo>
                    <a:pt x="1" y="29"/>
                    <a:pt x="3" y="30"/>
                    <a:pt x="3" y="30"/>
                  </a:cubicBezTo>
                  <a:cubicBezTo>
                    <a:pt x="4" y="31"/>
                    <a:pt x="5" y="32"/>
                    <a:pt x="6" y="32"/>
                  </a:cubicBezTo>
                  <a:cubicBezTo>
                    <a:pt x="7" y="32"/>
                    <a:pt x="12" y="33"/>
                    <a:pt x="15" y="32"/>
                  </a:cubicBezTo>
                  <a:cubicBezTo>
                    <a:pt x="17" y="32"/>
                    <a:pt x="20" y="31"/>
                    <a:pt x="20" y="31"/>
                  </a:cubicBezTo>
                  <a:cubicBezTo>
                    <a:pt x="22" y="30"/>
                    <a:pt x="24" y="30"/>
                    <a:pt x="26" y="29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7" y="31"/>
                    <a:pt x="26" y="33"/>
                    <a:pt x="26" y="35"/>
                  </a:cubicBezTo>
                  <a:cubicBezTo>
                    <a:pt x="26" y="37"/>
                    <a:pt x="26" y="38"/>
                    <a:pt x="25" y="40"/>
                  </a:cubicBezTo>
                  <a:cubicBezTo>
                    <a:pt x="25" y="41"/>
                    <a:pt x="25" y="42"/>
                    <a:pt x="25" y="43"/>
                  </a:cubicBezTo>
                  <a:cubicBezTo>
                    <a:pt x="25" y="44"/>
                    <a:pt x="25" y="46"/>
                    <a:pt x="26" y="47"/>
                  </a:cubicBezTo>
                  <a:cubicBezTo>
                    <a:pt x="26" y="48"/>
                    <a:pt x="27" y="49"/>
                    <a:pt x="28" y="50"/>
                  </a:cubicBezTo>
                  <a:cubicBezTo>
                    <a:pt x="28" y="50"/>
                    <a:pt x="29" y="51"/>
                    <a:pt x="29" y="52"/>
                  </a:cubicBezTo>
                  <a:cubicBezTo>
                    <a:pt x="30" y="52"/>
                    <a:pt x="30" y="53"/>
                    <a:pt x="31" y="53"/>
                  </a:cubicBezTo>
                  <a:cubicBezTo>
                    <a:pt x="32" y="53"/>
                    <a:pt x="33" y="55"/>
                    <a:pt x="34" y="54"/>
                  </a:cubicBezTo>
                  <a:cubicBezTo>
                    <a:pt x="34" y="54"/>
                    <a:pt x="35" y="54"/>
                    <a:pt x="35" y="54"/>
                  </a:cubicBezTo>
                  <a:cubicBezTo>
                    <a:pt x="35" y="54"/>
                    <a:pt x="36" y="54"/>
                    <a:pt x="36" y="54"/>
                  </a:cubicBezTo>
                  <a:cubicBezTo>
                    <a:pt x="37" y="54"/>
                    <a:pt x="37" y="54"/>
                    <a:pt x="37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2"/>
                    <a:pt x="38" y="52"/>
                    <a:pt x="37" y="4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6" name="ïśḷïḓè">
              <a:extLst>
                <a:ext uri="{FF2B5EF4-FFF2-40B4-BE49-F238E27FC236}">
                  <a16:creationId xmlns:a16="http://schemas.microsoft.com/office/drawing/2014/main" id="{FAC55141-4FF0-8318-2CD6-CF1EDA5F6973}"/>
                </a:ext>
              </a:extLst>
            </p:cNvPr>
            <p:cNvSpPr/>
            <p:nvPr/>
          </p:nvSpPr>
          <p:spPr bwMode="auto">
            <a:xfrm>
              <a:off x="2035175" y="2493963"/>
              <a:ext cx="1865313" cy="1873250"/>
            </a:xfrm>
            <a:custGeom>
              <a:avLst/>
              <a:gdLst>
                <a:gd name="T0" fmla="*/ 258 w 517"/>
                <a:gd name="T1" fmla="*/ 0 h 517"/>
                <a:gd name="T2" fmla="*/ 0 w 517"/>
                <a:gd name="T3" fmla="*/ 258 h 517"/>
                <a:gd name="T4" fmla="*/ 258 w 517"/>
                <a:gd name="T5" fmla="*/ 517 h 517"/>
                <a:gd name="T6" fmla="*/ 517 w 517"/>
                <a:gd name="T7" fmla="*/ 258 h 517"/>
                <a:gd name="T8" fmla="*/ 258 w 517"/>
                <a:gd name="T9" fmla="*/ 0 h 517"/>
                <a:gd name="T10" fmla="*/ 258 w 517"/>
                <a:gd name="T11" fmla="*/ 511 h 517"/>
                <a:gd name="T12" fmla="*/ 5 w 517"/>
                <a:gd name="T13" fmla="*/ 258 h 517"/>
                <a:gd name="T14" fmla="*/ 258 w 517"/>
                <a:gd name="T15" fmla="*/ 6 h 517"/>
                <a:gd name="T16" fmla="*/ 511 w 517"/>
                <a:gd name="T17" fmla="*/ 258 h 517"/>
                <a:gd name="T18" fmla="*/ 258 w 517"/>
                <a:gd name="T19" fmla="*/ 511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" h="517">
                  <a:moveTo>
                    <a:pt x="258" y="0"/>
                  </a:moveTo>
                  <a:cubicBezTo>
                    <a:pt x="115" y="0"/>
                    <a:pt x="0" y="116"/>
                    <a:pt x="0" y="258"/>
                  </a:cubicBezTo>
                  <a:cubicBezTo>
                    <a:pt x="0" y="401"/>
                    <a:pt x="115" y="517"/>
                    <a:pt x="258" y="517"/>
                  </a:cubicBezTo>
                  <a:cubicBezTo>
                    <a:pt x="401" y="517"/>
                    <a:pt x="517" y="401"/>
                    <a:pt x="517" y="258"/>
                  </a:cubicBezTo>
                  <a:cubicBezTo>
                    <a:pt x="517" y="116"/>
                    <a:pt x="401" y="0"/>
                    <a:pt x="258" y="0"/>
                  </a:cubicBezTo>
                  <a:close/>
                  <a:moveTo>
                    <a:pt x="258" y="511"/>
                  </a:moveTo>
                  <a:cubicBezTo>
                    <a:pt x="119" y="511"/>
                    <a:pt x="5" y="398"/>
                    <a:pt x="5" y="258"/>
                  </a:cubicBezTo>
                  <a:cubicBezTo>
                    <a:pt x="5" y="119"/>
                    <a:pt x="119" y="6"/>
                    <a:pt x="258" y="6"/>
                  </a:cubicBezTo>
                  <a:cubicBezTo>
                    <a:pt x="398" y="6"/>
                    <a:pt x="511" y="119"/>
                    <a:pt x="511" y="258"/>
                  </a:cubicBezTo>
                  <a:cubicBezTo>
                    <a:pt x="511" y="398"/>
                    <a:pt x="398" y="511"/>
                    <a:pt x="258" y="51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7" name="ísliďè">
              <a:extLst>
                <a:ext uri="{FF2B5EF4-FFF2-40B4-BE49-F238E27FC236}">
                  <a16:creationId xmlns:a16="http://schemas.microsoft.com/office/drawing/2014/main" id="{F7A14C12-E6F1-98DE-0AFF-3CC2A97B1FD7}"/>
                </a:ext>
              </a:extLst>
            </p:cNvPr>
            <p:cNvSpPr/>
            <p:nvPr/>
          </p:nvSpPr>
          <p:spPr bwMode="auto">
            <a:xfrm>
              <a:off x="2332038" y="2790826"/>
              <a:ext cx="1273175" cy="1279525"/>
            </a:xfrm>
            <a:custGeom>
              <a:avLst/>
              <a:gdLst>
                <a:gd name="T0" fmla="*/ 176 w 353"/>
                <a:gd name="T1" fmla="*/ 0 h 353"/>
                <a:gd name="T2" fmla="*/ 0 w 353"/>
                <a:gd name="T3" fmla="*/ 176 h 353"/>
                <a:gd name="T4" fmla="*/ 176 w 353"/>
                <a:gd name="T5" fmla="*/ 353 h 353"/>
                <a:gd name="T6" fmla="*/ 353 w 353"/>
                <a:gd name="T7" fmla="*/ 176 h 353"/>
                <a:gd name="T8" fmla="*/ 176 w 353"/>
                <a:gd name="T9" fmla="*/ 0 h 353"/>
                <a:gd name="T10" fmla="*/ 176 w 353"/>
                <a:gd name="T11" fmla="*/ 347 h 353"/>
                <a:gd name="T12" fmla="*/ 6 w 353"/>
                <a:gd name="T13" fmla="*/ 176 h 353"/>
                <a:gd name="T14" fmla="*/ 176 w 353"/>
                <a:gd name="T15" fmla="*/ 6 h 353"/>
                <a:gd name="T16" fmla="*/ 347 w 353"/>
                <a:gd name="T17" fmla="*/ 176 h 353"/>
                <a:gd name="T18" fmla="*/ 176 w 353"/>
                <a:gd name="T19" fmla="*/ 347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3" h="353">
                  <a:moveTo>
                    <a:pt x="176" y="0"/>
                  </a:moveTo>
                  <a:cubicBezTo>
                    <a:pt x="79" y="0"/>
                    <a:pt x="0" y="79"/>
                    <a:pt x="0" y="176"/>
                  </a:cubicBezTo>
                  <a:cubicBezTo>
                    <a:pt x="0" y="274"/>
                    <a:pt x="79" y="353"/>
                    <a:pt x="176" y="353"/>
                  </a:cubicBezTo>
                  <a:cubicBezTo>
                    <a:pt x="274" y="353"/>
                    <a:pt x="353" y="274"/>
                    <a:pt x="353" y="176"/>
                  </a:cubicBezTo>
                  <a:cubicBezTo>
                    <a:pt x="353" y="79"/>
                    <a:pt x="274" y="0"/>
                    <a:pt x="176" y="0"/>
                  </a:cubicBezTo>
                  <a:close/>
                  <a:moveTo>
                    <a:pt x="176" y="347"/>
                  </a:moveTo>
                  <a:cubicBezTo>
                    <a:pt x="82" y="347"/>
                    <a:pt x="6" y="271"/>
                    <a:pt x="6" y="176"/>
                  </a:cubicBezTo>
                  <a:cubicBezTo>
                    <a:pt x="6" y="82"/>
                    <a:pt x="82" y="6"/>
                    <a:pt x="176" y="6"/>
                  </a:cubicBezTo>
                  <a:cubicBezTo>
                    <a:pt x="270" y="6"/>
                    <a:pt x="347" y="82"/>
                    <a:pt x="347" y="176"/>
                  </a:cubicBezTo>
                  <a:cubicBezTo>
                    <a:pt x="347" y="271"/>
                    <a:pt x="270" y="347"/>
                    <a:pt x="176" y="34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8" name="ïsḷíḍé">
              <a:extLst>
                <a:ext uri="{FF2B5EF4-FFF2-40B4-BE49-F238E27FC236}">
                  <a16:creationId xmlns:a16="http://schemas.microsoft.com/office/drawing/2014/main" id="{62621E6E-DDFE-9F21-3C2F-2FEC965A5B37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65088"/>
            </a:xfrm>
            <a:custGeom>
              <a:avLst/>
              <a:gdLst>
                <a:gd name="T0" fmla="*/ 0 w 144"/>
                <a:gd name="T1" fmla="*/ 4 h 18"/>
                <a:gd name="T2" fmla="*/ 72 w 144"/>
                <a:gd name="T3" fmla="*/ 18 h 18"/>
                <a:gd name="T4" fmla="*/ 144 w 144"/>
                <a:gd name="T5" fmla="*/ 4 h 18"/>
                <a:gd name="T6" fmla="*/ 144 w 144"/>
                <a:gd name="T7" fmla="*/ 0 h 18"/>
                <a:gd name="T8" fmla="*/ 72 w 144"/>
                <a:gd name="T9" fmla="*/ 14 h 18"/>
                <a:gd name="T10" fmla="*/ 0 w 144"/>
                <a:gd name="T11" fmla="*/ 0 h 18"/>
                <a:gd name="T12" fmla="*/ 0 w 144"/>
                <a:gd name="T13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8">
                  <a:moveTo>
                    <a:pt x="0" y="4"/>
                  </a:moveTo>
                  <a:cubicBezTo>
                    <a:pt x="32" y="4"/>
                    <a:pt x="59" y="4"/>
                    <a:pt x="72" y="18"/>
                  </a:cubicBezTo>
                  <a:cubicBezTo>
                    <a:pt x="86" y="4"/>
                    <a:pt x="112" y="4"/>
                    <a:pt x="144" y="4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12" y="0"/>
                    <a:pt x="86" y="0"/>
                    <a:pt x="72" y="14"/>
                  </a:cubicBezTo>
                  <a:cubicBezTo>
                    <a:pt x="59" y="0"/>
                    <a:pt x="32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9" name="ïšlîḑê">
              <a:extLst>
                <a:ext uri="{FF2B5EF4-FFF2-40B4-BE49-F238E27FC236}">
                  <a16:creationId xmlns:a16="http://schemas.microsoft.com/office/drawing/2014/main" id="{8B277695-7A9D-408F-9405-D4C864F0658A}"/>
                </a:ext>
              </a:extLst>
            </p:cNvPr>
            <p:cNvSpPr/>
            <p:nvPr/>
          </p:nvSpPr>
          <p:spPr bwMode="auto">
            <a:xfrm>
              <a:off x="2706688" y="3146426"/>
              <a:ext cx="519113" cy="68263"/>
            </a:xfrm>
            <a:custGeom>
              <a:avLst/>
              <a:gdLst>
                <a:gd name="T0" fmla="*/ 0 w 144"/>
                <a:gd name="T1" fmla="*/ 0 h 19"/>
                <a:gd name="T2" fmla="*/ 72 w 144"/>
                <a:gd name="T3" fmla="*/ 14 h 19"/>
                <a:gd name="T4" fmla="*/ 144 w 144"/>
                <a:gd name="T5" fmla="*/ 0 h 19"/>
                <a:gd name="T6" fmla="*/ 144 w 144"/>
                <a:gd name="T7" fmla="*/ 6 h 19"/>
                <a:gd name="T8" fmla="*/ 72 w 144"/>
                <a:gd name="T9" fmla="*/ 19 h 19"/>
                <a:gd name="T10" fmla="*/ 0 w 144"/>
                <a:gd name="T11" fmla="*/ 6 h 19"/>
                <a:gd name="T12" fmla="*/ 0 w 144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9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6"/>
                    <a:pt x="144" y="6"/>
                    <a:pt x="144" y="6"/>
                  </a:cubicBezTo>
                  <a:cubicBezTo>
                    <a:pt x="112" y="6"/>
                    <a:pt x="86" y="5"/>
                    <a:pt x="72" y="19"/>
                  </a:cubicBezTo>
                  <a:cubicBezTo>
                    <a:pt x="59" y="5"/>
                    <a:pt x="32" y="6"/>
                    <a:pt x="0" y="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0" name="îṧḻîḓé">
              <a:extLst>
                <a:ext uri="{FF2B5EF4-FFF2-40B4-BE49-F238E27FC236}">
                  <a16:creationId xmlns:a16="http://schemas.microsoft.com/office/drawing/2014/main" id="{4649DC98-072C-C099-AEFA-7D4D2FC044DC}"/>
                </a:ext>
              </a:extLst>
            </p:cNvPr>
            <p:cNvSpPr/>
            <p:nvPr/>
          </p:nvSpPr>
          <p:spPr bwMode="auto">
            <a:xfrm>
              <a:off x="2706688" y="3194051"/>
              <a:ext cx="519113" cy="76200"/>
            </a:xfrm>
            <a:custGeom>
              <a:avLst/>
              <a:gdLst>
                <a:gd name="T0" fmla="*/ 0 w 144"/>
                <a:gd name="T1" fmla="*/ 0 h 21"/>
                <a:gd name="T2" fmla="*/ 72 w 144"/>
                <a:gd name="T3" fmla="*/ 14 h 21"/>
                <a:gd name="T4" fmla="*/ 144 w 144"/>
                <a:gd name="T5" fmla="*/ 0 h 21"/>
                <a:gd name="T6" fmla="*/ 144 w 144"/>
                <a:gd name="T7" fmla="*/ 7 h 21"/>
                <a:gd name="T8" fmla="*/ 72 w 144"/>
                <a:gd name="T9" fmla="*/ 21 h 21"/>
                <a:gd name="T10" fmla="*/ 0 w 144"/>
                <a:gd name="T11" fmla="*/ 7 h 21"/>
                <a:gd name="T12" fmla="*/ 0 w 144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1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7"/>
                    <a:pt x="144" y="7"/>
                    <a:pt x="144" y="7"/>
                  </a:cubicBezTo>
                  <a:cubicBezTo>
                    <a:pt x="112" y="7"/>
                    <a:pt x="86" y="7"/>
                    <a:pt x="72" y="21"/>
                  </a:cubicBezTo>
                  <a:cubicBezTo>
                    <a:pt x="59" y="7"/>
                    <a:pt x="32" y="7"/>
                    <a:pt x="0" y="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1" name="iśļîḋê">
              <a:extLst>
                <a:ext uri="{FF2B5EF4-FFF2-40B4-BE49-F238E27FC236}">
                  <a16:creationId xmlns:a16="http://schemas.microsoft.com/office/drawing/2014/main" id="{FEC0BED0-5E03-86ED-8D1D-716D21C8F065}"/>
                </a:ext>
              </a:extLst>
            </p:cNvPr>
            <p:cNvSpPr/>
            <p:nvPr/>
          </p:nvSpPr>
          <p:spPr bwMode="auto">
            <a:xfrm>
              <a:off x="2706688" y="3236913"/>
              <a:ext cx="519113" cy="84138"/>
            </a:xfrm>
            <a:custGeom>
              <a:avLst/>
              <a:gdLst>
                <a:gd name="T0" fmla="*/ 0 w 144"/>
                <a:gd name="T1" fmla="*/ 1 h 23"/>
                <a:gd name="T2" fmla="*/ 72 w 144"/>
                <a:gd name="T3" fmla="*/ 14 h 23"/>
                <a:gd name="T4" fmla="*/ 144 w 144"/>
                <a:gd name="T5" fmla="*/ 1 h 23"/>
                <a:gd name="T6" fmla="*/ 144 w 144"/>
                <a:gd name="T7" fmla="*/ 9 h 23"/>
                <a:gd name="T8" fmla="*/ 72 w 144"/>
                <a:gd name="T9" fmla="*/ 23 h 23"/>
                <a:gd name="T10" fmla="*/ 0 w 144"/>
                <a:gd name="T11" fmla="*/ 9 h 23"/>
                <a:gd name="T12" fmla="*/ 0 w 144"/>
                <a:gd name="T13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3">
                  <a:moveTo>
                    <a:pt x="0" y="1"/>
                  </a:moveTo>
                  <a:cubicBezTo>
                    <a:pt x="32" y="1"/>
                    <a:pt x="59" y="0"/>
                    <a:pt x="72" y="14"/>
                  </a:cubicBezTo>
                  <a:cubicBezTo>
                    <a:pt x="86" y="0"/>
                    <a:pt x="112" y="1"/>
                    <a:pt x="144" y="1"/>
                  </a:cubicBezTo>
                  <a:cubicBezTo>
                    <a:pt x="144" y="9"/>
                    <a:pt x="144" y="9"/>
                    <a:pt x="144" y="9"/>
                  </a:cubicBezTo>
                  <a:cubicBezTo>
                    <a:pt x="112" y="9"/>
                    <a:pt x="86" y="9"/>
                    <a:pt x="72" y="23"/>
                  </a:cubicBezTo>
                  <a:cubicBezTo>
                    <a:pt x="59" y="9"/>
                    <a:pt x="32" y="9"/>
                    <a:pt x="0" y="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163" name="标题 5">
            <a:extLst>
              <a:ext uri="{FF2B5EF4-FFF2-40B4-BE49-F238E27FC236}">
                <a16:creationId xmlns:a16="http://schemas.microsoft.com/office/drawing/2014/main" id="{2CE6E157-70B1-4848-AAFD-A9B317C8FA93}"/>
              </a:ext>
            </a:extLst>
          </p:cNvPr>
          <p:cNvSpPr txBox="1">
            <a:spLocks/>
          </p:cNvSpPr>
          <p:nvPr/>
        </p:nvSpPr>
        <p:spPr>
          <a:xfrm>
            <a:off x="2714048" y="4170858"/>
            <a:ext cx="7198350" cy="7059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000" b="1" kern="1200" spc="600" dirty="0">
                <a:solidFill>
                  <a:schemeClr val="bg1"/>
                </a:solidFill>
                <a:latin typeface="+mj-ea"/>
                <a:ea typeface="+mj-ea"/>
                <a:cs typeface="+mn-ea"/>
              </a:defRPr>
            </a:lvl1pPr>
          </a:lstStyle>
          <a:p>
            <a:r>
              <a:rPr lang="zh-CN" altLang="en-US" sz="4400" dirty="0"/>
              <a:t>第</a:t>
            </a:r>
            <a:r>
              <a:rPr lang="en-US" altLang="zh-CN" sz="4400" dirty="0"/>
              <a:t>3</a:t>
            </a:r>
            <a:r>
              <a:rPr lang="zh-CN" altLang="en-US" sz="4400" dirty="0"/>
              <a:t>章 集合代数</a:t>
            </a:r>
          </a:p>
        </p:txBody>
      </p:sp>
    </p:spTree>
    <p:extLst>
      <p:ext uri="{BB962C8B-B14F-4D97-AF65-F5344CB8AC3E}">
        <p14:creationId xmlns:p14="http://schemas.microsoft.com/office/powerpoint/2010/main" val="2876387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>
            <a:extLst>
              <a:ext uri="{FF2B5EF4-FFF2-40B4-BE49-F238E27FC236}">
                <a16:creationId xmlns:a16="http://schemas.microsoft.com/office/drawing/2014/main" id="{EBB1BCF0-D4C7-4F87-A1FB-537C3A222B35}"/>
              </a:ext>
            </a:extLst>
          </p:cNvPr>
          <p:cNvSpPr txBox="1">
            <a:spLocks noChangeArrowheads="1"/>
          </p:cNvSpPr>
          <p:nvPr/>
        </p:nvSpPr>
        <p:spPr>
          <a:xfrm>
            <a:off x="429491" y="1255570"/>
            <a:ext cx="10146494" cy="48748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</a:t>
            </a:r>
            <a:r>
              <a:rPr lang="zh-CN" altLang="en-US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集合的基本概念</a:t>
            </a:r>
            <a:endParaRPr lang="en-US" altLang="zh-CN" sz="3200" b="1" dirty="0">
              <a:solidFill>
                <a:srgbClr val="29292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集合、元素、属于、包含、幂集、空集、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文氏图</a:t>
            </a:r>
            <a:r>
              <a:rPr lang="zh-CN" altLang="en-US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</a:t>
            </a:r>
          </a:p>
          <a:p>
            <a:pPr marL="0">
              <a:lnSpc>
                <a:spcPct val="140000"/>
              </a:lnSpc>
              <a:spcBef>
                <a:spcPts val="600"/>
              </a:spcBef>
              <a:buClr>
                <a:srgbClr val="FF9900"/>
              </a:buClr>
              <a:buNone/>
            </a:pPr>
            <a:r>
              <a:rPr lang="en-US" altLang="zh-CN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 </a:t>
            </a:r>
            <a:r>
              <a:rPr lang="zh-CN" altLang="en-US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集合的基本运算</a:t>
            </a:r>
            <a:endParaRPr lang="en-US" altLang="zh-CN" sz="3200" b="1" dirty="0">
              <a:solidFill>
                <a:srgbClr val="29292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lnSpc>
                <a:spcPct val="140000"/>
              </a:lnSpc>
              <a:spcBef>
                <a:spcPts val="600"/>
              </a:spcBef>
              <a:buClr>
                <a:srgbClr val="FF9900"/>
              </a:buClr>
              <a:buNone/>
            </a:pPr>
            <a:r>
              <a:rPr lang="en-US" altLang="zh-CN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并、交、补、差</a:t>
            </a:r>
            <a:r>
              <a:rPr lang="zh-CN" altLang="en-US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</a:t>
            </a:r>
          </a:p>
          <a:p>
            <a:pPr marL="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集合中元素的计数</a:t>
            </a:r>
            <a:endParaRPr lang="en-US" altLang="zh-CN" sz="3200" b="1" dirty="0">
              <a:solidFill>
                <a:srgbClr val="29292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集合运算的算律、恒等式的证明方法 </a:t>
            </a:r>
          </a:p>
        </p:txBody>
      </p:sp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3573608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主要内容</a:t>
            </a:r>
          </a:p>
        </p:txBody>
      </p:sp>
    </p:spTree>
    <p:extLst>
      <p:ext uri="{BB962C8B-B14F-4D97-AF65-F5344CB8AC3E}">
        <p14:creationId xmlns:p14="http://schemas.microsoft.com/office/powerpoint/2010/main" val="3964951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集合的基本概念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49038"/>
            <a:ext cx="198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集合定义与表示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E33DAB4-A7C6-40CA-99EB-21CDCDA9308E}"/>
              </a:ext>
            </a:extLst>
          </p:cNvPr>
          <p:cNvSpPr txBox="1"/>
          <p:nvPr/>
        </p:nvSpPr>
        <p:spPr>
          <a:xfrm>
            <a:off x="9796604" y="977361"/>
            <a:ext cx="1756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空集全集幂集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3969632" y="978689"/>
            <a:ext cx="1492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集合与元素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610E44-2BBF-415B-8564-00FB80795670}"/>
              </a:ext>
            </a:extLst>
          </p:cNvPr>
          <p:cNvSpPr txBox="1"/>
          <p:nvPr/>
        </p:nvSpPr>
        <p:spPr>
          <a:xfrm>
            <a:off x="6514047" y="978688"/>
            <a:ext cx="20654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集合之间的关系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126D503E-8165-4C13-A1F3-98849856723F}"/>
              </a:ext>
            </a:extLst>
          </p:cNvPr>
          <p:cNvSpPr txBox="1">
            <a:spLocks noChangeArrowheads="1"/>
          </p:cNvSpPr>
          <p:nvPr/>
        </p:nvSpPr>
        <p:spPr>
          <a:xfrm>
            <a:off x="586118" y="1427687"/>
            <a:ext cx="11499863" cy="24127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5475" indent="-625475">
              <a:buFont typeface="Wingdings" pitchFamily="2" charset="2"/>
              <a:buNone/>
            </a:pPr>
            <a:r>
              <a:rPr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集合定义</a:t>
            </a:r>
          </a:p>
          <a:p>
            <a:pPr marL="625475" indent="-625475">
              <a:buFont typeface="Wingdings" pitchFamily="2" charset="2"/>
              <a:buNone/>
            </a:pP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集合没有精确的数学定义</a:t>
            </a:r>
          </a:p>
          <a:p>
            <a:pPr marL="625475" indent="-625475"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理解：由一些可确定的、可分辨的事物构成的整体称为</a:t>
            </a:r>
            <a:r>
              <a:rPr lang="zh-CN" altLang="en-US" sz="2400" b="1" dirty="0">
                <a:solidFill>
                  <a:srgbClr val="AD519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集合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，这些个体称为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25475" indent="-625475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集合的</a:t>
            </a:r>
            <a:r>
              <a:rPr lang="zh-CN" altLang="en-US" sz="2400" b="1" dirty="0">
                <a:solidFill>
                  <a:srgbClr val="AD519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元素</a:t>
            </a:r>
          </a:p>
          <a:p>
            <a:pPr marL="625475" indent="-625475">
              <a:buFont typeface="Wingdings" pitchFamily="2" charset="2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常见的数集：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25475" indent="-625475">
              <a:buFont typeface="Wingdings" pitchFamily="2" charset="2"/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N, Z, Q, R, C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等分别表示自然数、整数、有理数、实数、复数集合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62E4FEC-AEE1-4A95-965E-157A6FBD3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117" y="4235974"/>
            <a:ext cx="11098250" cy="2053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25475" indent="-625475">
              <a:lnSpc>
                <a:spcPct val="90000"/>
              </a:lnSpc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集合表示法</a:t>
            </a:r>
          </a:p>
          <a:p>
            <a:pPr marL="625475" indent="-625475">
              <a:lnSpc>
                <a:spcPct val="90000"/>
              </a:lnSpc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b="1" dirty="0">
                <a:solidFill>
                  <a:srgbClr val="AD519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枚举（列举）法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----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通过列出全体元素来表示集合</a:t>
            </a:r>
          </a:p>
          <a:p>
            <a:pPr marL="625475" indent="-625475">
              <a:lnSpc>
                <a:spcPct val="90000"/>
              </a:lnSpc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b="1" dirty="0">
                <a:solidFill>
                  <a:srgbClr val="AD519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谓词表示（描述）法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----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通过谓词概括集合元素的属性</a:t>
            </a:r>
          </a:p>
          <a:p>
            <a:pPr marL="625475" indent="-625475">
              <a:lnSpc>
                <a:spcPct val="90000"/>
              </a:lnSpc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实例：枚举法  自然数集合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N={0,1,2,3,…}</a:t>
            </a:r>
          </a:p>
          <a:p>
            <a:pPr marL="625475" indent="-625475">
              <a:lnSpc>
                <a:spcPct val="90000"/>
              </a:lnSpc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谓词法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S={ x | x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是实数，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400" b="1" baseline="30000" dirty="0" err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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=0} </a:t>
            </a:r>
          </a:p>
          <a:p>
            <a:pPr marL="625475" indent="-625475">
              <a:lnSpc>
                <a:spcPct val="90000"/>
              </a:lnSpc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  B={ x | P(x) } B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由使得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P(x)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为真的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x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构成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998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集合的基本概念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4" y="978689"/>
            <a:ext cx="21976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集合定义与表示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E33DAB4-A7C6-40CA-99EB-21CDCDA9308E}"/>
              </a:ext>
            </a:extLst>
          </p:cNvPr>
          <p:cNvSpPr txBox="1"/>
          <p:nvPr/>
        </p:nvSpPr>
        <p:spPr>
          <a:xfrm>
            <a:off x="9804556" y="977361"/>
            <a:ext cx="20268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空集全集幂集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3967701" y="978689"/>
            <a:ext cx="1635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集合与元素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610E44-2BBF-415B-8564-00FB80795670}"/>
              </a:ext>
            </a:extLst>
          </p:cNvPr>
          <p:cNvSpPr txBox="1"/>
          <p:nvPr/>
        </p:nvSpPr>
        <p:spPr>
          <a:xfrm>
            <a:off x="6537894" y="978688"/>
            <a:ext cx="21210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集合之间的关系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C8DECE7B-1D27-41C2-AF52-C5843DA69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705" y="1627685"/>
            <a:ext cx="7479772" cy="2877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625475" indent="-625475">
              <a:spcAft>
                <a:spcPts val="600"/>
              </a:spcAft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集合的元素具有的性质</a:t>
            </a:r>
          </a:p>
          <a:p>
            <a:pPr marL="625475" indent="-625475">
              <a:spcAft>
                <a:spcPts val="600"/>
              </a:spcAft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AD519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无序性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：元素列出的顺序无关</a:t>
            </a:r>
          </a:p>
          <a:p>
            <a:pPr marL="625475" indent="-625475">
              <a:spcAft>
                <a:spcPts val="600"/>
              </a:spcAft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AD519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相异性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：集合的每个元素只计数一次</a:t>
            </a:r>
          </a:p>
          <a:p>
            <a:pPr marL="625475" indent="-625475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AD519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确定性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：对任何元素和集合都能确定这个元素是否  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25475" indent="-625475">
              <a:spcAft>
                <a:spcPts val="600"/>
              </a:spcAft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为该集合的元素</a:t>
            </a:r>
          </a:p>
          <a:p>
            <a:pPr marL="625475" indent="-625475">
              <a:spcAft>
                <a:spcPts val="600"/>
              </a:spcAft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AD519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任意性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：集合的元素也可以是集合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10ACF0D0-1435-4A02-B304-E053B163D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316" y="4733903"/>
            <a:ext cx="7296891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625475" indent="-625475">
              <a:spcBef>
                <a:spcPct val="50000"/>
              </a:spcBef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．元素与集合的关系</a:t>
            </a:r>
          </a:p>
          <a:p>
            <a:pPr marL="625475" indent="-625475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隶属关系：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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或者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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25475" indent="-625475">
              <a:spcBef>
                <a:spcPct val="50000"/>
              </a:spcBef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．集合的树型层次结构</a:t>
            </a:r>
          </a:p>
        </p:txBody>
      </p:sp>
      <p:pic>
        <p:nvPicPr>
          <p:cNvPr id="11" name="Picture 4" descr="3">
            <a:extLst>
              <a:ext uri="{FF2B5EF4-FFF2-40B4-BE49-F238E27FC236}">
                <a16:creationId xmlns:a16="http://schemas.microsoft.com/office/drawing/2014/main" id="{239D97A1-AA0C-4EAC-9029-06D502EFF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0666" y="1814182"/>
            <a:ext cx="2366292" cy="24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3">
            <a:extLst>
              <a:ext uri="{FF2B5EF4-FFF2-40B4-BE49-F238E27FC236}">
                <a16:creationId xmlns:a16="http://schemas.microsoft.com/office/drawing/2014/main" id="{D75E7438-5924-447D-88DE-E2B3CE4605C2}"/>
              </a:ext>
            </a:extLst>
          </p:cNvPr>
          <p:cNvSpPr txBox="1">
            <a:spLocks noChangeArrowheads="1"/>
          </p:cNvSpPr>
          <p:nvPr/>
        </p:nvSpPr>
        <p:spPr>
          <a:xfrm>
            <a:off x="8619614" y="4563899"/>
            <a:ext cx="3315294" cy="20277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Times New Roman" panose="02020603050405020304" pitchFamily="18" charset="0"/>
              </a:rPr>
              <a:t>例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000" b="1" dirty="0">
                <a:latin typeface="Times New Roman" panose="02020603050405020304" pitchFamily="18" charset="0"/>
              </a:rPr>
              <a:t>={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000" b="1" dirty="0">
                <a:latin typeface="Times New Roman" panose="02020603050405020304" pitchFamily="18" charset="0"/>
              </a:rPr>
              <a:t>, {</a:t>
            </a:r>
            <a:r>
              <a:rPr lang="en-US" altLang="zh-CN" sz="20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0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000" b="1" dirty="0">
                <a:latin typeface="Times New Roman" panose="02020603050405020304" pitchFamily="18" charset="0"/>
              </a:rPr>
              <a:t>},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000" b="1" dirty="0">
                <a:latin typeface="Times New Roman" panose="02020603050405020304" pitchFamily="18" charset="0"/>
              </a:rPr>
              <a:t>, {{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000" b="1" dirty="0">
                <a:latin typeface="Times New Roman" panose="02020603050405020304" pitchFamily="18" charset="0"/>
              </a:rPr>
              <a:t>}}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{</a:t>
            </a:r>
            <a:r>
              <a:rPr lang="en-US" altLang="zh-CN" sz="20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0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000" b="1" dirty="0">
                <a:latin typeface="Times New Roman" panose="02020603050405020304" pitchFamily="18" charset="0"/>
              </a:rPr>
              <a:t>}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0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0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0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{{</a:t>
            </a:r>
            <a:r>
              <a:rPr lang="en-US" altLang="zh-CN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}}</a:t>
            </a:r>
            <a:r>
              <a:rPr lang="en-US" altLang="zh-CN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CN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}</a:t>
            </a:r>
            <a:r>
              <a:rPr lang="en-US" altLang="zh-CN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0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0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endParaRPr lang="en-US" altLang="zh-CN" sz="20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41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集合的基本概念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78689"/>
            <a:ext cx="198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集合定义与表示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E33DAB4-A7C6-40CA-99EB-21CDCDA9308E}"/>
              </a:ext>
            </a:extLst>
          </p:cNvPr>
          <p:cNvSpPr txBox="1"/>
          <p:nvPr/>
        </p:nvSpPr>
        <p:spPr>
          <a:xfrm>
            <a:off x="9756851" y="977361"/>
            <a:ext cx="18600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空集全集幂集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3969632" y="978689"/>
            <a:ext cx="1492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集合与元素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610E44-2BBF-415B-8564-00FB80795670}"/>
              </a:ext>
            </a:extLst>
          </p:cNvPr>
          <p:cNvSpPr txBox="1"/>
          <p:nvPr/>
        </p:nvSpPr>
        <p:spPr>
          <a:xfrm>
            <a:off x="6474290" y="970737"/>
            <a:ext cx="233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集合之间的关系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C88FADB-0306-4873-BA0E-582E37D85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884" y="1888616"/>
            <a:ext cx="11032435" cy="1008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集合与集合之间的关系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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ngLiU" pitchFamily="49" charset="-120"/>
                <a:cs typeface="+mn-cs"/>
              </a:rPr>
              <a:t>⊈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ingLiU" pitchFamily="49" charset="-120"/>
                <a:cs typeface="+mn-cs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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</a:t>
            </a:r>
            <a:endParaRPr kumimoji="0" lang="en-US" altLang="zh-CN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Arial Unicode MS" pitchFamily="34" charset="-122"/>
              <a:cs typeface="Arial Unicode MS" pitchFamily="34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黑体" pitchFamily="2" charset="-122"/>
                <a:cs typeface="+mn-cs"/>
              </a:rPr>
              <a:t>定义</a:t>
            </a:r>
            <a:r>
              <a:rPr lang="en-US" altLang="zh-CN" kern="0" dirty="0">
                <a:solidFill>
                  <a:srgbClr val="AD5192"/>
                </a:solidFill>
                <a:latin typeface="Times New Roman"/>
                <a:ea typeface="黑体" pitchFamily="2" charset="-122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黑体" pitchFamily="2" charset="-122"/>
                <a:cs typeface="+mn-cs"/>
              </a:rPr>
              <a:t>.1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 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(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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的子集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，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被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包含或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包含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3DBD97A0-7264-495A-B6AF-74477E8D8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885" y="2895981"/>
            <a:ext cx="10428136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kern="0" dirty="0">
                <a:solidFill>
                  <a:srgbClr val="AD5192"/>
                </a:solidFill>
                <a:latin typeface="Times New Roman"/>
                <a:ea typeface="黑体" pitchFamily="2" charset="-122"/>
              </a:rPr>
              <a:t>定义</a:t>
            </a:r>
            <a:r>
              <a:rPr lang="en-US" altLang="zh-CN" kern="0" dirty="0">
                <a:solidFill>
                  <a:srgbClr val="AD5192"/>
                </a:solidFill>
                <a:latin typeface="Times New Roman"/>
                <a:ea typeface="黑体" pitchFamily="2" charset="-122"/>
              </a:rPr>
              <a:t>3.2</a:t>
            </a:r>
            <a:r>
              <a:rPr lang="en-US" altLang="zh-CN" i="1" kern="0" dirty="0">
                <a:solidFill>
                  <a:srgbClr val="AD5192"/>
                </a:solidFill>
                <a:latin typeface="Times New Roman"/>
                <a:ea typeface="宋体"/>
              </a:rPr>
              <a:t>   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=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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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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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zh-CN" altLang="en-US" i="1" kern="0" dirty="0">
                <a:solidFill>
                  <a:srgbClr val="000000"/>
                </a:solidFill>
                <a:latin typeface="Times New Roman"/>
                <a:ea typeface="宋体"/>
              </a:rPr>
              <a:t>，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相等</a:t>
            </a:r>
            <a:endParaRPr lang="en-US" altLang="zh-CN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buFont typeface="Wingdings" pitchFamily="2" charset="2"/>
              <a:buNone/>
            </a:pPr>
            <a:endParaRPr lang="zh-CN" altLang="en-US" kern="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BE9699DC-5FBF-4535-9BDA-8C42BC648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163" y="3473139"/>
            <a:ext cx="7859713" cy="1008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457200" indent="-457200" eaLnBrk="1" hangingPunct="1">
              <a:buNone/>
            </a:pPr>
            <a:r>
              <a:rPr lang="zh-CN" altLang="en-US" kern="0" dirty="0">
                <a:solidFill>
                  <a:srgbClr val="AD5192"/>
                </a:solidFill>
                <a:latin typeface="Times New Roman"/>
                <a:ea typeface="黑体" pitchFamily="2" charset="-122"/>
              </a:rPr>
              <a:t>定义</a:t>
            </a:r>
            <a:r>
              <a:rPr lang="en-US" altLang="zh-CN" kern="0" dirty="0">
                <a:solidFill>
                  <a:srgbClr val="AD5192"/>
                </a:solidFill>
                <a:latin typeface="Times New Roman"/>
                <a:ea typeface="黑体" pitchFamily="2" charset="-122"/>
              </a:rPr>
              <a:t>3.3</a:t>
            </a:r>
            <a:r>
              <a:rPr lang="en-US" altLang="zh-CN" i="1" kern="0" dirty="0">
                <a:solidFill>
                  <a:srgbClr val="AD5192"/>
                </a:solidFill>
                <a:latin typeface="Times New Roman"/>
                <a:ea typeface="宋体"/>
              </a:rPr>
              <a:t>   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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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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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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，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的真子集</a:t>
            </a:r>
            <a:endParaRPr lang="en-US" altLang="zh-CN" i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buNone/>
            </a:pP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		    B </a:t>
            </a:r>
            <a:r>
              <a:rPr lang="en-US" altLang="zh-CN" kern="0" dirty="0">
                <a:solidFill>
                  <a:srgbClr val="000000"/>
                </a:solidFill>
                <a:latin typeface="Lucida Sans Unicode" pitchFamily="34" charset="0"/>
                <a:ea typeface="Arial Unicode MS" pitchFamily="34" charset="-122"/>
                <a:cs typeface="Arial Unicode MS" pitchFamily="34" charset="-122"/>
              </a:rPr>
              <a:t>⊈</a:t>
            </a:r>
            <a:r>
              <a:rPr lang="en-US" altLang="zh-CN" kern="0" dirty="0">
                <a:solidFill>
                  <a:srgbClr val="000000"/>
                </a:solidFill>
                <a:latin typeface="Lucida Sans Unicode" pitchFamily="34" charset="0"/>
                <a:ea typeface="华文中宋" pitchFamily="2" charset="-122"/>
                <a:cs typeface="Lucida Sans Unicode" pitchFamily="34" charset="0"/>
              </a:rPr>
              <a:t>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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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( 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kern="0" dirty="0" err="1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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 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kern="0" dirty="0" err="1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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 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5040F8E9-1937-4EC0-A843-BD64EF391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870" y="4463777"/>
            <a:ext cx="7859713" cy="1457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思考：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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和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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的定义  </a:t>
            </a: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        </a:t>
            </a:r>
            <a:endParaRPr lang="zh-CN" altLang="en-US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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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是不同层次的问题</a:t>
            </a:r>
          </a:p>
        </p:txBody>
      </p:sp>
    </p:spTree>
    <p:extLst>
      <p:ext uri="{BB962C8B-B14F-4D97-AF65-F5344CB8AC3E}">
        <p14:creationId xmlns:p14="http://schemas.microsoft.com/office/powerpoint/2010/main" val="1916047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集合的基本概念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56E2481-E517-406D-9BEB-B329CD356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921" y="1556792"/>
            <a:ext cx="7704137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黑体" pitchFamily="2" charset="-122"/>
                <a:cs typeface="+mn-cs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黑体" pitchFamily="2" charset="-122"/>
                <a:cs typeface="+mn-cs"/>
              </a:rPr>
              <a:t>3.4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黑体" pitchFamily="2" charset="-122"/>
                <a:cs typeface="+mn-cs"/>
              </a:rPr>
              <a:t>空集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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不含有任何元素的集合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实例：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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+1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=0 } 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0B127EB-1ECB-496F-BD4D-3F098C18A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180" y="2681536"/>
            <a:ext cx="7704137" cy="1467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kern="0" dirty="0">
                <a:solidFill>
                  <a:srgbClr val="A50021"/>
                </a:solidFill>
                <a:latin typeface="Times New Roman"/>
                <a:ea typeface="宋体"/>
              </a:rPr>
              <a:t>      </a:t>
            </a:r>
            <a:r>
              <a:rPr lang="zh-CN" altLang="en-US" kern="0" dirty="0">
                <a:solidFill>
                  <a:srgbClr val="AD5192"/>
                </a:solidFill>
                <a:latin typeface="Times New Roman"/>
                <a:ea typeface="黑体" pitchFamily="2" charset="-122"/>
              </a:rPr>
              <a:t>定理</a:t>
            </a:r>
            <a:r>
              <a:rPr lang="en-US" altLang="zh-CN" kern="0" dirty="0">
                <a:solidFill>
                  <a:srgbClr val="AD5192"/>
                </a:solidFill>
                <a:latin typeface="Times New Roman"/>
                <a:ea typeface="黑体" pitchFamily="2" charset="-122"/>
              </a:rPr>
              <a:t>3.1</a:t>
            </a:r>
            <a:r>
              <a:rPr lang="en-US" altLang="zh-CN" kern="0" dirty="0">
                <a:solidFill>
                  <a:srgbClr val="AD5192"/>
                </a:solidFill>
                <a:latin typeface="Times New Roman"/>
                <a:ea typeface="宋体"/>
              </a:rPr>
              <a:t>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空集是任何集合的子集。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    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 对于任意集合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              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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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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(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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kern="0" dirty="0" err="1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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1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（</a:t>
            </a:r>
            <a:r>
              <a:rPr lang="zh-CN" altLang="en-US" kern="0" dirty="0">
                <a:solidFill>
                  <a:srgbClr val="AD519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永真式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）</a:t>
            </a:r>
            <a:endParaRPr lang="en-US" altLang="zh-CN" kern="0" dirty="0">
              <a:solidFill>
                <a:srgbClr val="000000"/>
              </a:solidFill>
              <a:latin typeface="Times New Roman"/>
              <a:ea typeface="宋体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 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B0A476A3-4D46-4EB5-B93D-861CFB2F5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4538030"/>
            <a:ext cx="7704137" cy="547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kern="0" dirty="0">
                <a:solidFill>
                  <a:srgbClr val="AD5192"/>
                </a:solidFill>
                <a:latin typeface="Times New Roman"/>
                <a:ea typeface="黑体" pitchFamily="2" charset="-122"/>
              </a:rPr>
              <a:t>推论</a:t>
            </a:r>
            <a:r>
              <a:rPr lang="zh-CN" altLang="en-US" kern="0" dirty="0">
                <a:solidFill>
                  <a:srgbClr val="A50021"/>
                </a:solidFill>
                <a:latin typeface="Times New Roman"/>
                <a:ea typeface="宋体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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是惟一的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。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kern="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BC2BB34-13BE-401C-A819-D89E2619B4E9}"/>
              </a:ext>
            </a:extLst>
          </p:cNvPr>
          <p:cNvSpPr txBox="1"/>
          <p:nvPr/>
        </p:nvSpPr>
        <p:spPr>
          <a:xfrm>
            <a:off x="900484" y="5049215"/>
            <a:ext cx="10167731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证 假设存在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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1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和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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2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，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则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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12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且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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12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，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因此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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1=2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6F53C5-E34C-45A6-A601-67DFAD4F64D4}"/>
              </a:ext>
            </a:extLst>
          </p:cNvPr>
          <p:cNvSpPr txBox="1"/>
          <p:nvPr/>
        </p:nvSpPr>
        <p:spPr>
          <a:xfrm>
            <a:off x="568035" y="978689"/>
            <a:ext cx="198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集合定义与表示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F8B274C-EA3D-4C38-A07F-D6A7E91F367A}"/>
              </a:ext>
            </a:extLst>
          </p:cNvPr>
          <p:cNvSpPr txBox="1"/>
          <p:nvPr/>
        </p:nvSpPr>
        <p:spPr>
          <a:xfrm>
            <a:off x="9756851" y="977361"/>
            <a:ext cx="18600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空集全集幂集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5D32B7A-E6B1-4A45-8656-E0231CBA571A}"/>
              </a:ext>
            </a:extLst>
          </p:cNvPr>
          <p:cNvSpPr txBox="1"/>
          <p:nvPr/>
        </p:nvSpPr>
        <p:spPr>
          <a:xfrm>
            <a:off x="3969632" y="978689"/>
            <a:ext cx="1492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集合与元素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BE06E42-DCAA-47A4-B629-F043A668529D}"/>
              </a:ext>
            </a:extLst>
          </p:cNvPr>
          <p:cNvSpPr txBox="1"/>
          <p:nvPr/>
        </p:nvSpPr>
        <p:spPr>
          <a:xfrm>
            <a:off x="6474290" y="970737"/>
            <a:ext cx="233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集合之间的关系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3F8AB2-8CB9-4609-962C-0257183606D9}"/>
              </a:ext>
            </a:extLst>
          </p:cNvPr>
          <p:cNvSpPr txBox="1"/>
          <p:nvPr/>
        </p:nvSpPr>
        <p:spPr>
          <a:xfrm>
            <a:off x="911303" y="5897736"/>
            <a:ext cx="10167731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注意区分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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和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{ 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}</a:t>
            </a:r>
            <a:endParaRPr lang="en-US" altLang="zh-CN" sz="2400" b="1" kern="0" dirty="0">
              <a:solidFill>
                <a:srgbClr val="000000"/>
              </a:solidFill>
              <a:latin typeface="Times New Roman"/>
              <a:ea typeface="宋体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77343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集合的基本概念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4543" y="978689"/>
            <a:ext cx="19878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集合定义与表示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E33DAB4-A7C6-40CA-99EB-21CDCDA9308E}"/>
              </a:ext>
            </a:extLst>
          </p:cNvPr>
          <p:cNvSpPr txBox="1"/>
          <p:nvPr/>
        </p:nvSpPr>
        <p:spPr>
          <a:xfrm>
            <a:off x="9685290" y="945557"/>
            <a:ext cx="19554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空集全集幂集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3906024" y="978689"/>
            <a:ext cx="1492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集合与元素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610E44-2BBF-415B-8564-00FB80795670}"/>
              </a:ext>
            </a:extLst>
          </p:cNvPr>
          <p:cNvSpPr txBox="1"/>
          <p:nvPr/>
        </p:nvSpPr>
        <p:spPr>
          <a:xfrm>
            <a:off x="6347068" y="978688"/>
            <a:ext cx="233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集合之间的关系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55CF5D3E-5596-495D-BDD4-E949ECD72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436" y="4724801"/>
            <a:ext cx="10154630" cy="935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spcBef>
                <a:spcPct val="5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AD5192"/>
                </a:solidFill>
                <a:latin typeface="Times New Roman" pitchFamily="18" charset="0"/>
                <a:ea typeface="黑体" pitchFamily="2" charset="-122"/>
              </a:rPr>
              <a:t>定义</a:t>
            </a:r>
            <a:r>
              <a:rPr lang="en-US" altLang="zh-CN" sz="2400" b="1" dirty="0">
                <a:solidFill>
                  <a:srgbClr val="AD5192"/>
                </a:solidFill>
                <a:latin typeface="Times New Roman" pitchFamily="18" charset="0"/>
                <a:ea typeface="黑体" pitchFamily="2" charset="-122"/>
              </a:rPr>
              <a:t>3.6  </a:t>
            </a:r>
            <a:r>
              <a:rPr lang="zh-CN" altLang="en-US" sz="2400" b="1" dirty="0">
                <a:solidFill>
                  <a:srgbClr val="AD5192"/>
                </a:solidFill>
                <a:latin typeface="Times New Roman" pitchFamily="18" charset="0"/>
                <a:ea typeface="黑体" pitchFamily="2" charset="-122"/>
              </a:rPr>
              <a:t>全集</a:t>
            </a:r>
            <a:r>
              <a:rPr lang="zh-CN" altLang="en-US" sz="2400" b="1" dirty="0">
                <a:solidFill>
                  <a:srgbClr val="AD5192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i="1" dirty="0">
                <a:solidFill>
                  <a:srgbClr val="AD5192"/>
                </a:solidFill>
                <a:latin typeface="Times New Roman" pitchFamily="18" charset="0"/>
                <a:ea typeface="宋体" pitchFamily="2" charset="-122"/>
              </a:rPr>
              <a:t>E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：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包含了所有对象的集合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全集具有相对性：与问题有关，不存在绝对的全集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94EE8945-8D8E-4218-8CD5-C6358CFE4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435" y="1571625"/>
            <a:ext cx="10162581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spcBef>
                <a:spcPct val="5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AD5192"/>
                </a:solidFill>
                <a:latin typeface="Times New Roman" pitchFamily="18" charset="0"/>
                <a:ea typeface="黑体" pitchFamily="2" charset="-122"/>
              </a:rPr>
              <a:t>定义</a:t>
            </a:r>
            <a:r>
              <a:rPr lang="en-US" altLang="zh-CN" sz="2400" b="1" dirty="0">
                <a:solidFill>
                  <a:srgbClr val="AD5192"/>
                </a:solidFill>
                <a:latin typeface="Times New Roman" pitchFamily="18" charset="0"/>
                <a:ea typeface="黑体" pitchFamily="2" charset="-122"/>
              </a:rPr>
              <a:t>3.5  </a:t>
            </a:r>
            <a:r>
              <a:rPr lang="zh-CN" altLang="en-US" sz="2400" b="1" dirty="0">
                <a:solidFill>
                  <a:srgbClr val="AD5192"/>
                </a:solidFill>
                <a:latin typeface="Times New Roman" pitchFamily="18" charset="0"/>
                <a:ea typeface="黑体" pitchFamily="2" charset="-122"/>
              </a:rPr>
              <a:t>幂集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的全体子集构成的集合</a:t>
            </a:r>
            <a:endParaRPr lang="en-US" altLang="zh-CN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fontAlgn="base">
              <a:spcBef>
                <a:spcPct val="5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				P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)={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|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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 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实例：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P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)={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},  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P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({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})={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,{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}}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 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P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({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1,2,3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})={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,{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 ,{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 ,{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 ,{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1,2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 ,{1,3} ,{2,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}, {1,2,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 }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计数：如果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|=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，则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P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)|=2</a:t>
            </a:r>
            <a:r>
              <a:rPr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.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C0FBAE-6131-4EE2-A274-96EE7B5E9DBA}"/>
              </a:ext>
            </a:extLst>
          </p:cNvPr>
          <p:cNvSpPr txBox="1"/>
          <p:nvPr/>
        </p:nvSpPr>
        <p:spPr>
          <a:xfrm>
            <a:off x="590384" y="5701222"/>
            <a:ext cx="7941365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在给定问题中，全集包含任何集合，即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anose="05050102010706020507" pitchFamily="18" charset="2"/>
              </a:rPr>
              <a:t>A (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anose="05050102010706020507" pitchFamily="18" charset="2"/>
              </a:rPr>
              <a:t>AE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anose="05050102010706020507" pitchFamily="18" charset="2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202589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49038"/>
            <a:ext cx="2250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初级运算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3540260" y="978689"/>
            <a:ext cx="2152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集合运算的表示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8AED1A8-9865-4D4F-A581-61FF8DAE6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005" y="1917977"/>
            <a:ext cx="8229600" cy="2376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集合的基本运算有：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黑体" pitchFamily="2" charset="-122"/>
                <a:cs typeface="+mn-cs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黑体" pitchFamily="2" charset="-122"/>
                <a:cs typeface="+mn-cs"/>
              </a:rPr>
              <a:t>3.7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黑体" pitchFamily="2" charset="-122"/>
                <a:cs typeface="+mn-cs"/>
              </a:rPr>
              <a:t>并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|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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黑体" pitchFamily="2" charset="-122"/>
                <a:cs typeface="+mn-cs"/>
              </a:rPr>
              <a:t>交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|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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（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的相同元）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AD5192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黑体" pitchFamily="2" charset="-122"/>
                <a:cs typeface="+mn-cs"/>
              </a:rPr>
              <a:t>相对补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|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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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    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DC606E60-1764-4ACA-9209-1D8C9B6EA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058" y="3892454"/>
            <a:ext cx="8229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kern="0" dirty="0">
                <a:solidFill>
                  <a:srgbClr val="AD5192"/>
                </a:solidFill>
                <a:latin typeface="Times New Roman"/>
                <a:ea typeface="黑体" pitchFamily="2" charset="-122"/>
              </a:rPr>
              <a:t>定义</a:t>
            </a:r>
            <a:r>
              <a:rPr lang="en-US" altLang="zh-CN" kern="0" dirty="0">
                <a:solidFill>
                  <a:srgbClr val="AD5192"/>
                </a:solidFill>
                <a:latin typeface="Times New Roman"/>
                <a:ea typeface="黑体" pitchFamily="2" charset="-122"/>
              </a:rPr>
              <a:t>3.8   </a:t>
            </a:r>
            <a:r>
              <a:rPr lang="zh-CN" altLang="en-US" kern="0" dirty="0">
                <a:solidFill>
                  <a:srgbClr val="AD5192"/>
                </a:solidFill>
                <a:latin typeface="Times New Roman"/>
                <a:ea typeface="黑体" pitchFamily="2" charset="-122"/>
              </a:rPr>
              <a:t>对称差</a:t>
            </a:r>
            <a:r>
              <a:rPr lang="zh-CN" altLang="en-US" kern="0" dirty="0">
                <a:solidFill>
                  <a:srgbClr val="AD5192"/>
                </a:solidFill>
                <a:latin typeface="Times New Roman"/>
                <a:ea typeface="宋体"/>
              </a:rPr>
              <a:t>   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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= (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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lang="en-US" altLang="zh-CN" b="0" kern="0" dirty="0">
                <a:solidFill>
                  <a:srgbClr val="000000"/>
                </a:solidFill>
                <a:latin typeface="Cambria Math" pitchFamily="18" charset="0"/>
                <a:ea typeface="宋体"/>
                <a:sym typeface="Symbol" pitchFamily="18" charset="2"/>
              </a:rPr>
              <a:t>∪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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    </a:t>
            </a:r>
            <a:r>
              <a:rPr lang="zh-CN" altLang="en-US" kern="0" dirty="0">
                <a:solidFill>
                  <a:srgbClr val="AD5192"/>
                </a:solidFill>
                <a:latin typeface="Times New Roman"/>
                <a:ea typeface="宋体"/>
              </a:rPr>
              <a:t>（</a:t>
            </a:r>
            <a:r>
              <a:rPr lang="en-US" altLang="zh-CN" i="1" kern="0" dirty="0">
                <a:solidFill>
                  <a:srgbClr val="AD5192"/>
                </a:solidFill>
                <a:latin typeface="Times New Roman"/>
                <a:ea typeface="宋体"/>
              </a:rPr>
              <a:t> A</a:t>
            </a:r>
            <a:r>
              <a:rPr lang="zh-CN" altLang="en-US" kern="0" dirty="0">
                <a:solidFill>
                  <a:srgbClr val="AD5192"/>
                </a:solidFill>
                <a:latin typeface="Times New Roman"/>
                <a:ea typeface="宋体"/>
              </a:rPr>
              <a:t>与</a:t>
            </a:r>
            <a:r>
              <a:rPr lang="en-US" altLang="zh-CN" i="1" kern="0" dirty="0">
                <a:solidFill>
                  <a:srgbClr val="AD5192"/>
                </a:solidFill>
                <a:latin typeface="Times New Roman"/>
                <a:ea typeface="宋体"/>
              </a:rPr>
              <a:t>B</a:t>
            </a:r>
            <a:r>
              <a:rPr lang="zh-CN" altLang="en-US" kern="0" dirty="0">
                <a:solidFill>
                  <a:srgbClr val="AD5192"/>
                </a:solidFill>
                <a:latin typeface="Times New Roman"/>
                <a:ea typeface="宋体"/>
              </a:rPr>
              <a:t>的相异元）</a:t>
            </a:r>
            <a:endParaRPr lang="en-US" altLang="zh-CN" kern="0" dirty="0">
              <a:solidFill>
                <a:srgbClr val="AD5192"/>
              </a:solidFill>
              <a:latin typeface="Times New Roman"/>
              <a:ea typeface="宋体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442BFB1E-00A2-4C1E-896C-794F9F793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844" y="4494598"/>
            <a:ext cx="8229600" cy="659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kern="0" dirty="0">
                <a:solidFill>
                  <a:srgbClr val="AD5192"/>
                </a:solidFill>
                <a:latin typeface="Times New Roman"/>
                <a:ea typeface="黑体" pitchFamily="2" charset="-122"/>
              </a:rPr>
              <a:t>定义</a:t>
            </a:r>
            <a:r>
              <a:rPr lang="en-US" altLang="zh-CN" kern="0" dirty="0">
                <a:solidFill>
                  <a:srgbClr val="AD5192"/>
                </a:solidFill>
                <a:latin typeface="Times New Roman"/>
                <a:ea typeface="黑体" pitchFamily="2" charset="-122"/>
              </a:rPr>
              <a:t>3.9   </a:t>
            </a:r>
            <a:r>
              <a:rPr lang="zh-CN" altLang="en-US" kern="0" dirty="0">
                <a:solidFill>
                  <a:srgbClr val="AD5192"/>
                </a:solidFill>
                <a:latin typeface="Times New Roman"/>
                <a:ea typeface="黑体" pitchFamily="2" charset="-122"/>
              </a:rPr>
              <a:t>绝对补</a:t>
            </a:r>
            <a:r>
              <a:rPr lang="zh-CN" altLang="en-US" kern="0" dirty="0">
                <a:solidFill>
                  <a:srgbClr val="AD5192"/>
                </a:solidFill>
                <a:latin typeface="Times New Roman"/>
                <a:ea typeface="宋体"/>
              </a:rPr>
              <a:t>     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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=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E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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68031E-E0E3-46CC-88B2-EF4724962A74}"/>
              </a:ext>
            </a:extLst>
          </p:cNvPr>
          <p:cNvSpPr txBox="1"/>
          <p:nvPr/>
        </p:nvSpPr>
        <p:spPr>
          <a:xfrm>
            <a:off x="7158103" y="978688"/>
            <a:ext cx="16479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集合算律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4FA3596-F84C-4C84-BDA5-36DEC09FB7F9}"/>
              </a:ext>
            </a:extLst>
          </p:cNvPr>
          <p:cNvSpPr txBox="1"/>
          <p:nvPr/>
        </p:nvSpPr>
        <p:spPr>
          <a:xfrm>
            <a:off x="10027308" y="978689"/>
            <a:ext cx="1864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集合证明题</a:t>
            </a:r>
          </a:p>
        </p:txBody>
      </p:sp>
    </p:spTree>
    <p:extLst>
      <p:ext uri="{BB962C8B-B14F-4D97-AF65-F5344CB8AC3E}">
        <p14:creationId xmlns:p14="http://schemas.microsoft.com/office/powerpoint/2010/main" val="614897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  <p:bldP spid="20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198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初级运算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3540260" y="978689"/>
            <a:ext cx="2152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集合运算的表示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610E44-2BBF-415B-8564-00FB80795670}"/>
              </a:ext>
            </a:extLst>
          </p:cNvPr>
          <p:cNvSpPr txBox="1"/>
          <p:nvPr/>
        </p:nvSpPr>
        <p:spPr>
          <a:xfrm>
            <a:off x="7158103" y="978688"/>
            <a:ext cx="14531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集合算律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6B217762-3B49-4A7C-9084-8A9EEB9BA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3641" y="1741091"/>
            <a:ext cx="1665799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0" indent="0" eaLnBrk="1" hangingPunct="1">
              <a:buClr>
                <a:srgbClr val="FF9900"/>
              </a:buClr>
              <a:buNone/>
            </a:pPr>
            <a:r>
              <a:rPr lang="zh-CN" altLang="en-US" sz="25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文氏图</a:t>
            </a:r>
            <a:endParaRPr lang="en-US" altLang="zh-CN" sz="2500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9F57A5A-AD6B-47E8-B261-0A19A677DF8F}"/>
              </a:ext>
            </a:extLst>
          </p:cNvPr>
          <p:cNvGrpSpPr/>
          <p:nvPr/>
        </p:nvGrpSpPr>
        <p:grpSpPr>
          <a:xfrm>
            <a:off x="2358433" y="2472139"/>
            <a:ext cx="7445375" cy="4224338"/>
            <a:chOff x="1738230" y="1995060"/>
            <a:chExt cx="7445375" cy="4224338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5B684518-ECB2-417A-B4C9-BF2B872562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738230" y="1995060"/>
              <a:ext cx="7445375" cy="3851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Text Box 5">
              <a:extLst>
                <a:ext uri="{FF2B5EF4-FFF2-40B4-BE49-F238E27FC236}">
                  <a16:creationId xmlns:a16="http://schemas.microsoft.com/office/drawing/2014/main" id="{760A9257-091E-47DB-AC72-59E00379BC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3342" y="2312560"/>
              <a:ext cx="3873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altLang="zh-CN" b="1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6" name="Text Box 6">
              <a:extLst>
                <a:ext uri="{FF2B5EF4-FFF2-40B4-BE49-F238E27FC236}">
                  <a16:creationId xmlns:a16="http://schemas.microsoft.com/office/drawing/2014/main" id="{7BC05A1A-E0F6-42CF-9F00-3933619D9F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6655" y="2312560"/>
              <a:ext cx="3873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altLang="zh-CN" b="1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8" name="Text Box 7">
              <a:extLst>
                <a:ext uri="{FF2B5EF4-FFF2-40B4-BE49-F238E27FC236}">
                  <a16:creationId xmlns:a16="http://schemas.microsoft.com/office/drawing/2014/main" id="{D4C3C08E-E551-4C04-98AC-4DDE425E1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192" y="2239535"/>
              <a:ext cx="3873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altLang="zh-CN" b="1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23" name="Text Box 8">
              <a:extLst>
                <a:ext uri="{FF2B5EF4-FFF2-40B4-BE49-F238E27FC236}">
                  <a16:creationId xmlns:a16="http://schemas.microsoft.com/office/drawing/2014/main" id="{3C7A99FD-45B0-4660-9375-2FD90F776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3505" y="2239535"/>
              <a:ext cx="3873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altLang="zh-CN" b="1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25" name="Text Box 9">
              <a:extLst>
                <a:ext uri="{FF2B5EF4-FFF2-40B4-BE49-F238E27FC236}">
                  <a16:creationId xmlns:a16="http://schemas.microsoft.com/office/drawing/2014/main" id="{6A2F0E9D-06C2-4CDC-AFE4-2EA64E5BC8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4017" y="2239535"/>
              <a:ext cx="3873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altLang="zh-CN" b="1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26" name="Text Box 10">
              <a:extLst>
                <a:ext uri="{FF2B5EF4-FFF2-40B4-BE49-F238E27FC236}">
                  <a16:creationId xmlns:a16="http://schemas.microsoft.com/office/drawing/2014/main" id="{D5F0282C-E339-41D6-86AC-44F3A742F7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07330" y="2239535"/>
              <a:ext cx="3873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altLang="zh-CN" b="1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30" name="Text Box 11">
              <a:extLst>
                <a:ext uri="{FF2B5EF4-FFF2-40B4-BE49-F238E27FC236}">
                  <a16:creationId xmlns:a16="http://schemas.microsoft.com/office/drawing/2014/main" id="{1AF9E56F-E7CC-4710-979D-52EDB961E2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4580" y="4616023"/>
              <a:ext cx="3873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altLang="zh-CN" b="1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31" name="Text Box 12">
              <a:extLst>
                <a:ext uri="{FF2B5EF4-FFF2-40B4-BE49-F238E27FC236}">
                  <a16:creationId xmlns:a16="http://schemas.microsoft.com/office/drawing/2014/main" id="{84B4E834-1AA4-40AC-801F-218F234DDA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7892" y="4616023"/>
              <a:ext cx="3873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altLang="zh-CN" b="1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32" name="Text Box 13">
              <a:extLst>
                <a:ext uri="{FF2B5EF4-FFF2-40B4-BE49-F238E27FC236}">
                  <a16:creationId xmlns:a16="http://schemas.microsoft.com/office/drawing/2014/main" id="{FA84612D-A779-4199-8F34-0BB3D9EF62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9705" y="4431873"/>
              <a:ext cx="3873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altLang="zh-CN" b="1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33" name="Text Box 14">
              <a:extLst>
                <a:ext uri="{FF2B5EF4-FFF2-40B4-BE49-F238E27FC236}">
                  <a16:creationId xmlns:a16="http://schemas.microsoft.com/office/drawing/2014/main" id="{60962EE7-378E-439D-9301-708B48C5A9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80280" y="3974673"/>
              <a:ext cx="3873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altLang="zh-CN" b="1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34" name="Text Box 15">
              <a:extLst>
                <a:ext uri="{FF2B5EF4-FFF2-40B4-BE49-F238E27FC236}">
                  <a16:creationId xmlns:a16="http://schemas.microsoft.com/office/drawing/2014/main" id="{54C7590E-4463-45BD-A226-FDFE381814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0980" y="3361898"/>
              <a:ext cx="9144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altLang="zh-CN" b="1" i="1">
                  <a:latin typeface="Times New Roman" pitchFamily="18" charset="0"/>
                </a:rPr>
                <a:t>A</a:t>
              </a:r>
              <a:r>
                <a:rPr lang="en-US" altLang="zh-CN">
                  <a:latin typeface="Cambria Math" pitchFamily="18" charset="0"/>
                  <a:sym typeface="Symbol" pitchFamily="18" charset="2"/>
                </a:rPr>
                <a:t>∪</a:t>
              </a:r>
              <a:r>
                <a:rPr lang="en-US" altLang="zh-CN" b="1" i="1">
                  <a:latin typeface="Times New Roman" pitchFamily="18" charset="0"/>
                  <a:sym typeface="Symbol" pitchFamily="18" charset="2"/>
                </a:rPr>
                <a:t>B</a:t>
              </a:r>
            </a:p>
          </p:txBody>
        </p:sp>
        <p:sp>
          <p:nvSpPr>
            <p:cNvPr id="35" name="Text Box 16">
              <a:extLst>
                <a:ext uri="{FF2B5EF4-FFF2-40B4-BE49-F238E27FC236}">
                  <a16:creationId xmlns:a16="http://schemas.microsoft.com/office/drawing/2014/main" id="{DD62CF24-86F7-4427-87E3-AF0CA17E66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8480" y="3317448"/>
              <a:ext cx="9144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altLang="zh-CN" b="1" i="1">
                  <a:latin typeface="Times New Roman" pitchFamily="18" charset="0"/>
                </a:rPr>
                <a:t>A</a:t>
              </a:r>
              <a:r>
                <a:rPr lang="en-US" altLang="zh-CN">
                  <a:latin typeface="Cambria Math" pitchFamily="18" charset="0"/>
                  <a:sym typeface="Symbol" pitchFamily="18" charset="2"/>
                </a:rPr>
                <a:t>∩</a:t>
              </a:r>
              <a:r>
                <a:rPr lang="en-US" altLang="zh-CN" b="1" i="1">
                  <a:latin typeface="Times New Roman" pitchFamily="18" charset="0"/>
                  <a:sym typeface="Symbol" pitchFamily="18" charset="2"/>
                </a:rPr>
                <a:t>B</a:t>
              </a:r>
            </a:p>
          </p:txBody>
        </p:sp>
        <p:sp>
          <p:nvSpPr>
            <p:cNvPr id="36" name="Text Box 17">
              <a:extLst>
                <a:ext uri="{FF2B5EF4-FFF2-40B4-BE49-F238E27FC236}">
                  <a16:creationId xmlns:a16="http://schemas.microsoft.com/office/drawing/2014/main" id="{67859BC0-650B-49CD-91E1-7500264D19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0717" y="3279348"/>
              <a:ext cx="9144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altLang="zh-CN" b="1" i="1">
                  <a:latin typeface="Times New Roman" pitchFamily="18" charset="0"/>
                </a:rPr>
                <a:t>A</a:t>
              </a:r>
              <a:r>
                <a:rPr lang="en-US" altLang="zh-CN" b="1" i="1">
                  <a:latin typeface="Times New Roman" pitchFamily="18" charset="0"/>
                  <a:ea typeface="华文中宋" pitchFamily="2" charset="-122"/>
                  <a:sym typeface="Symbol" pitchFamily="18" charset="2"/>
                </a:rPr>
                <a:t>–</a:t>
              </a:r>
              <a:r>
                <a:rPr lang="en-US" altLang="zh-CN" b="1" i="1">
                  <a:latin typeface="Times New Roman" pitchFamily="18" charset="0"/>
                  <a:sym typeface="Symbol" pitchFamily="18" charset="2"/>
                </a:rPr>
                <a:t>B</a:t>
              </a:r>
            </a:p>
          </p:txBody>
        </p:sp>
        <p:sp>
          <p:nvSpPr>
            <p:cNvPr id="37" name="Text Box 18">
              <a:extLst>
                <a:ext uri="{FF2B5EF4-FFF2-40B4-BE49-F238E27FC236}">
                  <a16:creationId xmlns:a16="http://schemas.microsoft.com/office/drawing/2014/main" id="{F9400A67-F5FD-49CC-9F5E-E80EAC763B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8255" y="5762198"/>
              <a:ext cx="9144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US" altLang="zh-CN" b="1" i="1">
                  <a:latin typeface="Times New Roman" pitchFamily="18" charset="0"/>
                </a:rPr>
                <a:t>A</a:t>
              </a:r>
              <a:r>
                <a:rPr lang="en-US" altLang="zh-CN" b="1">
                  <a:latin typeface="Times New Roman" pitchFamily="18" charset="0"/>
                  <a:sym typeface="Symbol" pitchFamily="18" charset="2"/>
                </a:rPr>
                <a:t></a:t>
              </a:r>
              <a:r>
                <a:rPr lang="en-US" altLang="zh-CN" b="1" i="1">
                  <a:latin typeface="Times New Roman" pitchFamily="18" charset="0"/>
                  <a:sym typeface="Symbol" pitchFamily="18" charset="2"/>
                </a:rPr>
                <a:t>B</a:t>
              </a:r>
            </a:p>
          </p:txBody>
        </p:sp>
        <p:sp>
          <p:nvSpPr>
            <p:cNvPr id="38" name="Text Box 19">
              <a:extLst>
                <a:ext uri="{FF2B5EF4-FFF2-40B4-BE49-F238E27FC236}">
                  <a16:creationId xmlns:a16="http://schemas.microsoft.com/office/drawing/2014/main" id="{CDA3800C-C2AE-4DFD-8E7D-8046D36F8B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5680" y="5835223"/>
              <a:ext cx="87371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b="1" i="1">
                  <a:latin typeface="Times New Roman" pitchFamily="18" charset="0"/>
                  <a:cs typeface="Arial" charset="0"/>
                </a:rPr>
                <a:t>~A</a:t>
              </a:r>
              <a:endParaRPr lang="en-US" altLang="zh-CN" b="1" i="1">
                <a:latin typeface="Times New Roman" pitchFamily="18" charset="0"/>
                <a:cs typeface="Arial" charset="0"/>
                <a:sym typeface="Symbol" pitchFamily="18" charset="2"/>
              </a:endParaRPr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7A1453B-13A7-414B-9140-E48F51E9486F}"/>
              </a:ext>
            </a:extLst>
          </p:cNvPr>
          <p:cNvSpPr txBox="1"/>
          <p:nvPr/>
        </p:nvSpPr>
        <p:spPr>
          <a:xfrm>
            <a:off x="10027308" y="978689"/>
            <a:ext cx="16442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集合证明题</a:t>
            </a:r>
          </a:p>
        </p:txBody>
      </p:sp>
    </p:spTree>
    <p:extLst>
      <p:ext uri="{BB962C8B-B14F-4D97-AF65-F5344CB8AC3E}">
        <p14:creationId xmlns:p14="http://schemas.microsoft.com/office/powerpoint/2010/main" val="3985876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198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初级运算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3540260" y="978689"/>
            <a:ext cx="2152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集合运算的表示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610E44-2BBF-415B-8564-00FB80795670}"/>
              </a:ext>
            </a:extLst>
          </p:cNvPr>
          <p:cNvSpPr txBox="1"/>
          <p:nvPr/>
        </p:nvSpPr>
        <p:spPr>
          <a:xfrm>
            <a:off x="7158103" y="978688"/>
            <a:ext cx="14531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集合算律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7A1453B-13A7-414B-9140-E48F51E9486F}"/>
              </a:ext>
            </a:extLst>
          </p:cNvPr>
          <p:cNvSpPr txBox="1"/>
          <p:nvPr/>
        </p:nvSpPr>
        <p:spPr>
          <a:xfrm>
            <a:off x="10027308" y="978689"/>
            <a:ext cx="16442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集合证明题</a:t>
            </a:r>
          </a:p>
        </p:txBody>
      </p:sp>
      <p:sp>
        <p:nvSpPr>
          <p:cNvPr id="44" name="Rectangle 2">
            <a:extLst>
              <a:ext uri="{FF2B5EF4-FFF2-40B4-BE49-F238E27FC236}">
                <a16:creationId xmlns:a16="http://schemas.microsoft.com/office/drawing/2014/main" id="{AC0D4BB7-64F8-4F80-BB71-7E8430F36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81" y="1200518"/>
            <a:ext cx="1086909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关于运算的说明</a:t>
            </a:r>
            <a:r>
              <a:rPr lang="en-US" altLang="zh-CN" sz="26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:</a:t>
            </a:r>
            <a:endParaRPr lang="zh-CN" altLang="en-US" sz="26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989E1E2A-05E9-458C-9873-D1A56E269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86" y="2157488"/>
            <a:ext cx="10379915" cy="402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992677"/>
              </a:buClr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运算顺序： 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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和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幂集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优先，其他由括号确定</a:t>
            </a:r>
            <a:endParaRPr lang="zh-CN" altLang="en-US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992677"/>
              </a:buClr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并和交运算可以推广到有穷个集合上，即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800" b="1" kern="0" dirty="0">
                <a:latin typeface="Times New Roman" panose="02020603050405020304" pitchFamily="18" charset="0"/>
              </a:rPr>
              <a:t>     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kern="0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kern="0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…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 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kern="0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 {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x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kern="0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kern="0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…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i="1" kern="0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}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     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kern="0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kern="0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…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 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kern="0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 {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x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kern="0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kern="0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…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i="1" kern="0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}</a:t>
            </a:r>
            <a:endParaRPr lang="en-US" altLang="zh-CN" sz="2400" b="1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992677"/>
              </a:buClr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某些重要结果     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      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A</a:t>
            </a:r>
            <a:endParaRPr lang="en-US" altLang="zh-CN" sz="2400" b="1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     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zh-CN" altLang="en-US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Times New Roman" panose="02020603050405020304" pitchFamily="18" charset="0"/>
              </a:rPr>
              <a:t>     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 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25516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552F7382-0121-4986-B16C-038A2C7C6BAE}"/>
              </a:ext>
            </a:extLst>
          </p:cNvPr>
          <p:cNvSpPr txBox="1">
            <a:spLocks/>
          </p:cNvSpPr>
          <p:nvPr/>
        </p:nvSpPr>
        <p:spPr>
          <a:xfrm>
            <a:off x="7473494" y="6384084"/>
            <a:ext cx="21336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EB6989-6630-4CFB-9F6E-42AF66324C87}" type="slidenum">
              <a:rPr lang="en-US" altLang="zh-CN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F91DFF5D-B316-4D36-9A5A-701AA5E1E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5582" y="5220447"/>
            <a:ext cx="4752975" cy="4333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只有一、二年级的学生才爱好体育运动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34D0CC8-564F-4A2A-96F1-551B44AABCD8}"/>
              </a:ext>
            </a:extLst>
          </p:cNvPr>
          <p:cNvSpPr txBox="1">
            <a:spLocks noChangeArrowheads="1"/>
          </p:cNvSpPr>
          <p:nvPr/>
        </p:nvSpPr>
        <p:spPr>
          <a:xfrm>
            <a:off x="1205728" y="1694891"/>
            <a:ext cx="9436709" cy="143176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3366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F: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一年级大学生的集合      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：二年级大学生的集合</a:t>
            </a:r>
            <a:b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：计算机系学生的集合      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：数学系学生的集合</a:t>
            </a:r>
            <a:b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：选修离散数学的学生的集合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：爱好体育运动学生的集合</a:t>
            </a:r>
            <a:b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L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：爱好文学学生的集合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6DF8FD48-5874-40F8-8011-4E1950C5C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2882" y="3253534"/>
            <a:ext cx="16541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T</a:t>
            </a:r>
            <a:r>
              <a:rPr lang="en-US" altLang="zh-CN" sz="2000" b="1">
                <a:sym typeface="Symbol" panose="05050102010706020507" pitchFamily="18" charset="2"/>
              </a:rPr>
              <a:t>(MR)S</a:t>
            </a:r>
          </a:p>
        </p:txBody>
      </p:sp>
      <p:sp>
        <p:nvSpPr>
          <p:cNvPr id="6" name="Text Box 12">
            <a:extLst>
              <a:ext uri="{FF2B5EF4-FFF2-40B4-BE49-F238E27FC236}">
                <a16:creationId xmlns:a16="http://schemas.microsoft.com/office/drawing/2014/main" id="{EF9B4296-98B9-4D41-8031-A2E6F4D88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2882" y="3805984"/>
            <a:ext cx="1366837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 err="1">
                <a:sym typeface="Symbol" panose="05050102010706020507" pitchFamily="18" charset="2"/>
              </a:rPr>
              <a:t>RS</a:t>
            </a:r>
            <a:r>
              <a:rPr lang="en-US" altLang="zh-CN" sz="2000" b="1" dirty="0">
                <a:sym typeface="Symbol" panose="05050102010706020507" pitchFamily="18" charset="2"/>
              </a:rPr>
              <a:t> </a:t>
            </a:r>
            <a:r>
              <a:rPr lang="en-US" altLang="zh-CN" sz="2000" b="1" dirty="0"/>
              <a:t>T</a:t>
            </a:r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7525F385-D328-4B30-A912-5B3D3DA02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2882" y="4428284"/>
            <a:ext cx="1944687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ym typeface="Symbol" panose="05050102010706020507" pitchFamily="18" charset="2"/>
              </a:rPr>
              <a:t>(MF)T=</a:t>
            </a:r>
          </a:p>
        </p:txBody>
      </p:sp>
      <p:sp>
        <p:nvSpPr>
          <p:cNvPr id="8" name="Text Box 14">
            <a:extLst>
              <a:ext uri="{FF2B5EF4-FFF2-40B4-BE49-F238E27FC236}">
                <a16:creationId xmlns:a16="http://schemas.microsoft.com/office/drawing/2014/main" id="{D85B78FB-C5F9-4E71-AC33-621FA8BF1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2882" y="5077572"/>
            <a:ext cx="1368425" cy="406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M</a:t>
            </a:r>
            <a:r>
              <a:rPr lang="en-US" altLang="zh-CN" sz="2000" b="1">
                <a:sym typeface="Symbol" panose="05050102010706020507" pitchFamily="18" charset="2"/>
              </a:rPr>
              <a:t>LP</a:t>
            </a: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DCEB78D9-99C6-4517-BC14-266BFC4D3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2882" y="5701459"/>
            <a:ext cx="1065212" cy="406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P</a:t>
            </a:r>
            <a:r>
              <a:rPr lang="en-US" altLang="zh-CN" sz="2000" b="1">
                <a:sym typeface="Symbol" panose="05050102010706020507" pitchFamily="18" charset="2"/>
              </a:rPr>
              <a:t>FS</a:t>
            </a:r>
          </a:p>
        </p:txBody>
      </p:sp>
      <p:sp>
        <p:nvSpPr>
          <p:cNvPr id="10" name="Text Box 16">
            <a:extLst>
              <a:ext uri="{FF2B5EF4-FFF2-40B4-BE49-F238E27FC236}">
                <a16:creationId xmlns:a16="http://schemas.microsoft.com/office/drawing/2014/main" id="{691F7179-0062-4604-A46E-753C1ECB4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2882" y="6277722"/>
            <a:ext cx="1612900" cy="406400"/>
          </a:xfrm>
          <a:prstGeom prst="rect">
            <a:avLst/>
          </a:prstGeom>
          <a:noFill/>
          <a:ln w="9525">
            <a:solidFill>
              <a:srgbClr val="99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S</a:t>
            </a:r>
            <a:r>
              <a:rPr lang="en-US" altLang="zh-CN" sz="2000" b="1">
                <a:sym typeface="Symbol" panose="05050102010706020507" pitchFamily="18" charset="2"/>
              </a:rPr>
              <a:t>(MR)P</a:t>
            </a:r>
          </a:p>
        </p:txBody>
      </p:sp>
      <p:sp>
        <p:nvSpPr>
          <p:cNvPr id="11" name="Rectangle 17">
            <a:extLst>
              <a:ext uri="{FF2B5EF4-FFF2-40B4-BE49-F238E27FC236}">
                <a16:creationId xmlns:a16="http://schemas.microsoft.com/office/drawing/2014/main" id="{F25765EF-1228-4C02-9ECB-13EF9ADA0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5582" y="5869734"/>
            <a:ext cx="4608512" cy="7112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除去数学和计算机系二年级学生外都不</a:t>
            </a:r>
            <a:b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选修离散数学</a:t>
            </a: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6AA24A10-2CFF-466C-818A-D208A9B5F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537" y="1693114"/>
            <a:ext cx="22579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3" name="Rectangle 19">
            <a:extLst>
              <a:ext uri="{FF2B5EF4-FFF2-40B4-BE49-F238E27FC236}">
                <a16:creationId xmlns:a16="http://schemas.microsoft.com/office/drawing/2014/main" id="{74D462D1-4357-419D-BA24-F5EBF335A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5582" y="3329734"/>
            <a:ext cx="4897437" cy="406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所有计算机系二年级学生都选修离散数学</a:t>
            </a:r>
          </a:p>
        </p:txBody>
      </p:sp>
      <p:sp>
        <p:nvSpPr>
          <p:cNvPr id="14" name="Rectangle 20">
            <a:extLst>
              <a:ext uri="{FF2B5EF4-FFF2-40B4-BE49-F238E27FC236}">
                <a16:creationId xmlns:a16="http://schemas.microsoft.com/office/drawing/2014/main" id="{CE1AF869-E557-4BF6-8FD2-EFD84382B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5582" y="3977434"/>
            <a:ext cx="4897437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数学系一年级的学生都没有选修离散数学</a:t>
            </a: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9662B75-C339-4E73-A213-21275FF86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5582" y="4625134"/>
            <a:ext cx="4681537" cy="406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数学系学生或爱好文学或爱好体育运动</a:t>
            </a:r>
          </a:p>
        </p:txBody>
      </p:sp>
      <p:sp>
        <p:nvSpPr>
          <p:cNvPr id="16" name="Line 22">
            <a:extLst>
              <a:ext uri="{FF2B5EF4-FFF2-40B4-BE49-F238E27FC236}">
                <a16:creationId xmlns:a16="http://schemas.microsoft.com/office/drawing/2014/main" id="{AB266963-3604-49B3-B7EF-3B707C28423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3019" y="3564684"/>
            <a:ext cx="1366838" cy="4318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30">
            <a:extLst>
              <a:ext uri="{FF2B5EF4-FFF2-40B4-BE49-F238E27FC236}">
                <a16:creationId xmlns:a16="http://schemas.microsoft.com/office/drawing/2014/main" id="{EBD92562-0830-4E58-AE34-7ADA2196836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3019" y="4212384"/>
            <a:ext cx="1366838" cy="431800"/>
          </a:xfrm>
          <a:prstGeom prst="line">
            <a:avLst/>
          </a:prstGeom>
          <a:noFill/>
          <a:ln w="28575">
            <a:solidFill>
              <a:srgbClr val="33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31">
            <a:extLst>
              <a:ext uri="{FF2B5EF4-FFF2-40B4-BE49-F238E27FC236}">
                <a16:creationId xmlns:a16="http://schemas.microsoft.com/office/drawing/2014/main" id="{BCECD6B8-CFD5-4B3D-BCB8-42397FFEEB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9994" y="4860084"/>
            <a:ext cx="1439863" cy="433388"/>
          </a:xfrm>
          <a:prstGeom prst="line">
            <a:avLst/>
          </a:prstGeom>
          <a:noFill/>
          <a:ln w="28575">
            <a:solidFill>
              <a:srgbClr val="33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32">
            <a:extLst>
              <a:ext uri="{FF2B5EF4-FFF2-40B4-BE49-F238E27FC236}">
                <a16:creationId xmlns:a16="http://schemas.microsoft.com/office/drawing/2014/main" id="{E8F35EAD-BF6E-4030-9D02-64813B4F52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9994" y="5436347"/>
            <a:ext cx="1370013" cy="431800"/>
          </a:xfrm>
          <a:prstGeom prst="line">
            <a:avLst/>
          </a:prstGeom>
          <a:noFill/>
          <a:ln w="28575">
            <a:solidFill>
              <a:srgbClr val="33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33">
            <a:extLst>
              <a:ext uri="{FF2B5EF4-FFF2-40B4-BE49-F238E27FC236}">
                <a16:creationId xmlns:a16="http://schemas.microsoft.com/office/drawing/2014/main" id="{45698CA3-2E33-438A-A1A9-9E1D0D9944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13019" y="3563097"/>
            <a:ext cx="1152525" cy="2881312"/>
          </a:xfrm>
          <a:prstGeom prst="line">
            <a:avLst/>
          </a:prstGeom>
          <a:noFill/>
          <a:ln w="28575">
            <a:solidFill>
              <a:srgbClr val="33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标题 449">
            <a:extLst>
              <a:ext uri="{FF2B5EF4-FFF2-40B4-BE49-F238E27FC236}">
                <a16:creationId xmlns:a16="http://schemas.microsoft.com/office/drawing/2014/main" id="{4BA62F82-232B-4DF5-9BEC-A472992A10E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0C07940-6E8C-4E31-AC3B-61CF98EF0155}"/>
              </a:ext>
            </a:extLst>
          </p:cNvPr>
          <p:cNvSpPr txBox="1"/>
          <p:nvPr/>
        </p:nvSpPr>
        <p:spPr>
          <a:xfrm>
            <a:off x="568035" y="964940"/>
            <a:ext cx="198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初级运算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75B7E0A-2EA8-4B82-9FE5-480563829835}"/>
              </a:ext>
            </a:extLst>
          </p:cNvPr>
          <p:cNvSpPr txBox="1"/>
          <p:nvPr/>
        </p:nvSpPr>
        <p:spPr>
          <a:xfrm>
            <a:off x="3540260" y="978689"/>
            <a:ext cx="2152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集合运算的表示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B1F0343-4F3F-4594-97C6-DCBF0BD51286}"/>
              </a:ext>
            </a:extLst>
          </p:cNvPr>
          <p:cNvSpPr txBox="1"/>
          <p:nvPr/>
        </p:nvSpPr>
        <p:spPr>
          <a:xfrm>
            <a:off x="7158103" y="978688"/>
            <a:ext cx="14531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集合算律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2CB9A24-F35D-4D4B-ADBE-C5F3051900D0}"/>
              </a:ext>
            </a:extLst>
          </p:cNvPr>
          <p:cNvSpPr txBox="1"/>
          <p:nvPr/>
        </p:nvSpPr>
        <p:spPr>
          <a:xfrm>
            <a:off x="10027308" y="978689"/>
            <a:ext cx="16442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集合证明题</a:t>
            </a:r>
          </a:p>
        </p:txBody>
      </p:sp>
    </p:spTree>
    <p:extLst>
      <p:ext uri="{BB962C8B-B14F-4D97-AF65-F5344CB8AC3E}">
        <p14:creationId xmlns:p14="http://schemas.microsoft.com/office/powerpoint/2010/main" val="50627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13B3540B-4B4F-4136-B0BF-59261EB998F3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4201C8-AA6E-452E-986D-8B9F04D405AC}"/>
              </a:ext>
            </a:extLst>
          </p:cNvPr>
          <p:cNvSpPr txBox="1"/>
          <p:nvPr/>
        </p:nvSpPr>
        <p:spPr>
          <a:xfrm>
            <a:off x="568035" y="964940"/>
            <a:ext cx="198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初级运算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2E263D-BFE5-4613-B5E7-77BB3F9CF02D}"/>
              </a:ext>
            </a:extLst>
          </p:cNvPr>
          <p:cNvSpPr txBox="1"/>
          <p:nvPr/>
        </p:nvSpPr>
        <p:spPr>
          <a:xfrm>
            <a:off x="3540260" y="978689"/>
            <a:ext cx="2152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集合运算的表示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AF9C5D-D216-4728-9EFC-FA48B2C5ABEF}"/>
              </a:ext>
            </a:extLst>
          </p:cNvPr>
          <p:cNvSpPr txBox="1"/>
          <p:nvPr/>
        </p:nvSpPr>
        <p:spPr>
          <a:xfrm>
            <a:off x="7158103" y="978688"/>
            <a:ext cx="14531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集合算律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151B55-06D7-4233-88DD-9FD79903FBAF}"/>
              </a:ext>
            </a:extLst>
          </p:cNvPr>
          <p:cNvSpPr txBox="1"/>
          <p:nvPr/>
        </p:nvSpPr>
        <p:spPr>
          <a:xfrm>
            <a:off x="10027308" y="978689"/>
            <a:ext cx="16442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集合证明题</a:t>
            </a:r>
          </a:p>
        </p:txBody>
      </p:sp>
      <p:grpSp>
        <p:nvGrpSpPr>
          <p:cNvPr id="8" name="Group 23">
            <a:extLst>
              <a:ext uri="{FF2B5EF4-FFF2-40B4-BE49-F238E27FC236}">
                <a16:creationId xmlns:a16="http://schemas.microsoft.com/office/drawing/2014/main" id="{C98B44E6-5E4F-4560-8007-2267F8F860A8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2108348"/>
            <a:ext cx="7940674" cy="4640262"/>
            <a:chOff x="431" y="845"/>
            <a:chExt cx="5002" cy="2923"/>
          </a:xfrm>
        </p:grpSpPr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F27B0F13-D934-46B3-BFBF-3FFC9F261C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845"/>
              <a:ext cx="5002" cy="1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分别对条件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(1)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到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(5)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确定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 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集合与下述哪些集合相等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。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 </a:t>
              </a: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2400" b="1" i="1" dirty="0" err="1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 err="1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 { 1, 2, …, 8, 9 },  </a:t>
              </a:r>
              <a:r>
                <a:rPr lang="en-US" altLang="zh-CN" sz="2400" b="1" i="1" dirty="0" err="1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 err="1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 { 2, 4, 6, 8 },  </a:t>
              </a:r>
              <a:r>
                <a:rPr lang="en-US" altLang="zh-CN" sz="2400" b="1" i="1" dirty="0" err="1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 err="1">
                  <a:latin typeface="Times New Roman" panose="02020603050405020304" pitchFamily="18" charset="0"/>
                </a:rPr>
                <a:t>3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 { 1, 3, 5, 7, 9 }, </a:t>
              </a: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2400" b="1" i="1" dirty="0" err="1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 err="1">
                  <a:latin typeface="Times New Roman" panose="02020603050405020304" pitchFamily="18" charset="0"/>
                </a:rPr>
                <a:t>4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 { 3, 4, 5 },  </a:t>
              </a:r>
              <a:r>
                <a:rPr lang="en-US" altLang="zh-CN" sz="2400" b="1" i="1" dirty="0" err="1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 err="1">
                  <a:latin typeface="Times New Roman" panose="02020603050405020304" pitchFamily="18" charset="0"/>
                </a:rPr>
                <a:t>5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 { 3, 5 }          </a:t>
              </a:r>
            </a:p>
          </p:txBody>
        </p:sp>
        <p:grpSp>
          <p:nvGrpSpPr>
            <p:cNvPr id="10" name="Group 22">
              <a:extLst>
                <a:ext uri="{FF2B5EF4-FFF2-40B4-BE49-F238E27FC236}">
                  <a16:creationId xmlns:a16="http://schemas.microsoft.com/office/drawing/2014/main" id="{20735F65-78C3-45D6-AECA-0C80261927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1" y="1965"/>
              <a:ext cx="2585" cy="1803"/>
              <a:chOff x="431" y="1983"/>
              <a:chExt cx="2585" cy="1803"/>
            </a:xfrm>
          </p:grpSpPr>
          <p:sp>
            <p:nvSpPr>
              <p:cNvPr id="11" name="Text Box 11">
                <a:extLst>
                  <a:ext uri="{FF2B5EF4-FFF2-40B4-BE49-F238E27FC236}">
                    <a16:creationId xmlns:a16="http://schemas.microsoft.com/office/drawing/2014/main" id="{BE55DB72-53FD-4FF6-8269-72E75F4C6D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983"/>
                <a:ext cx="2585" cy="1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AutoNum type="arabicParenBoth"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若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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3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=, 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则</a:t>
                </a:r>
                <a:r>
                  <a:rPr lang="zh-CN" altLang="en-US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endParaRPr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AutoNum type="arabicParenBoth"/>
                </a:pPr>
                <a:r>
                  <a:rPr lang="en-US" altLang="zh-CN" sz="2400" b="1" dirty="0"/>
                  <a:t>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若</a:t>
                </a:r>
                <a:r>
                  <a:rPr lang="zh-CN" altLang="en-US" sz="2400" b="1" dirty="0"/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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4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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2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=,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则</a:t>
                </a:r>
                <a:r>
                  <a:rPr lang="zh-CN" altLang="en-US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endParaRPr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AutoNum type="arabicParenBoth"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若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sym typeface="Symbol" panose="05050102010706020507" pitchFamily="18" charset="2"/>
                  </a:rPr>
                  <a:t>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r>
                  <a:rPr lang="zh-CN" altLang="en-US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，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   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3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, 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则</a:t>
                </a:r>
                <a:r>
                  <a:rPr lang="zh-CN" altLang="en-US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endParaRPr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AutoNum type="arabicParenBoth"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若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 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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3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=, 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则</a:t>
                </a:r>
                <a:r>
                  <a:rPr lang="zh-CN" altLang="en-US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endParaRPr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AutoNum type="arabicParenBoth"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若</a:t>
                </a:r>
                <a:r>
                  <a:rPr lang="zh-CN" altLang="en-US" sz="1800" b="1" dirty="0"/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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3</a:t>
                </a:r>
                <a:r>
                  <a:rPr lang="zh-CN" altLang="en-US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，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   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,</a:t>
                </a:r>
                <a:r>
                  <a:rPr lang="en-US" altLang="zh-CN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则</a:t>
                </a:r>
                <a:r>
                  <a:rPr lang="zh-CN" altLang="en-US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endParaRPr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pic>
            <p:nvPicPr>
              <p:cNvPr id="12" name="Picture 15">
                <a:extLst>
                  <a:ext uri="{FF2B5EF4-FFF2-40B4-BE49-F238E27FC236}">
                    <a16:creationId xmlns:a16="http://schemas.microsoft.com/office/drawing/2014/main" id="{C1525A6A-22E5-498D-82E0-8048013AA8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91" y="2818"/>
                <a:ext cx="150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" name="Picture 16">
                <a:extLst>
                  <a:ext uri="{FF2B5EF4-FFF2-40B4-BE49-F238E27FC236}">
                    <a16:creationId xmlns:a16="http://schemas.microsoft.com/office/drawing/2014/main" id="{A8A66E64-F428-4D45-AE9A-DF22A6EE05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91" y="3493"/>
                <a:ext cx="150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14" name="Text Box 17">
            <a:extLst>
              <a:ext uri="{FF2B5EF4-FFF2-40B4-BE49-F238E27FC236}">
                <a16:creationId xmlns:a16="http://schemas.microsoft.com/office/drawing/2014/main" id="{68C78EB5-CEED-4DB5-9A86-82C3B250F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3999152"/>
            <a:ext cx="704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A4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 err="1">
                <a:solidFill>
                  <a:srgbClr val="0000A4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 err="1">
                <a:solidFill>
                  <a:srgbClr val="0000A4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 b="1" baseline="-25000" dirty="0">
              <a:solidFill>
                <a:srgbClr val="0000A4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18">
            <a:extLst>
              <a:ext uri="{FF2B5EF4-FFF2-40B4-BE49-F238E27FC236}">
                <a16:creationId xmlns:a16="http://schemas.microsoft.com/office/drawing/2014/main" id="{73529997-0EC4-450F-8084-952CF797F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4575414"/>
            <a:ext cx="704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solidFill>
                  <a:srgbClr val="0000A4"/>
                </a:solidFill>
                <a:latin typeface="Times New Roman" panose="02020603050405020304" pitchFamily="18" charset="0"/>
              </a:rPr>
              <a:t>= S</a:t>
            </a:r>
            <a:r>
              <a:rPr lang="en-US" altLang="zh-CN" sz="2400" b="1" baseline="-25000">
                <a:solidFill>
                  <a:srgbClr val="0000A4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6" name="Text Box 19">
            <a:extLst>
              <a:ext uri="{FF2B5EF4-FFF2-40B4-BE49-F238E27FC236}">
                <a16:creationId xmlns:a16="http://schemas.microsoft.com/office/drawing/2014/main" id="{A474BE70-1540-4423-8E00-CF2DE5554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5080239"/>
            <a:ext cx="1552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solidFill>
                  <a:srgbClr val="0000A4"/>
                </a:solidFill>
                <a:latin typeface="Times New Roman" panose="02020603050405020304" pitchFamily="18" charset="0"/>
              </a:rPr>
              <a:t>= S</a:t>
            </a:r>
            <a:r>
              <a:rPr lang="en-US" altLang="zh-CN" sz="2400" b="1" baseline="-25000">
                <a:solidFill>
                  <a:srgbClr val="0000A4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rgbClr val="0000A4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solidFill>
                  <a:srgbClr val="0000A4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solidFill>
                  <a:srgbClr val="0000A4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solidFill>
                  <a:srgbClr val="0000A4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solidFill>
                  <a:srgbClr val="0000A4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solidFill>
                  <a:srgbClr val="0000A4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7" name="Text Box 20">
            <a:extLst>
              <a:ext uri="{FF2B5EF4-FFF2-40B4-BE49-F238E27FC236}">
                <a16:creationId xmlns:a16="http://schemas.microsoft.com/office/drawing/2014/main" id="{4B062754-257E-4A13-910E-8EEC85A6F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7386" y="5649778"/>
            <a:ext cx="1128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A4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 err="1">
                <a:solidFill>
                  <a:srgbClr val="0000A4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 err="1">
                <a:solidFill>
                  <a:srgbClr val="0000A4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rgbClr val="0000A4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solidFill>
                  <a:srgbClr val="0000A4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 err="1">
                <a:solidFill>
                  <a:srgbClr val="0000A4"/>
                </a:solidFill>
                <a:latin typeface="Times New Roman" panose="02020603050405020304" pitchFamily="18" charset="0"/>
              </a:rPr>
              <a:t>5</a:t>
            </a:r>
            <a:endParaRPr lang="en-US" altLang="zh-CN" sz="2400" b="1" baseline="-25000" dirty="0">
              <a:solidFill>
                <a:srgbClr val="0000A4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ext Box 21">
            <a:extLst>
              <a:ext uri="{FF2B5EF4-FFF2-40B4-BE49-F238E27FC236}">
                <a16:creationId xmlns:a16="http://schemas.microsoft.com/office/drawing/2014/main" id="{E24D6149-3C1E-45E0-8F06-CC45D1F08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6199144"/>
            <a:ext cx="2689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A4"/>
                </a:solidFill>
                <a:latin typeface="Times New Roman" panose="02020603050405020304" pitchFamily="18" charset="0"/>
              </a:rPr>
              <a:t>与 </a:t>
            </a:r>
            <a:r>
              <a:rPr lang="en-US" altLang="zh-CN" sz="2400" b="1" i="1" dirty="0" err="1">
                <a:solidFill>
                  <a:srgbClr val="0000A4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 err="1">
                <a:solidFill>
                  <a:srgbClr val="0000A4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00A4"/>
                </a:solidFill>
                <a:latin typeface="Times New Roman" panose="02020603050405020304" pitchFamily="18" charset="0"/>
              </a:rPr>
              <a:t>, ... , </a:t>
            </a:r>
            <a:r>
              <a:rPr lang="en-US" altLang="zh-CN" sz="2400" b="1" i="1" dirty="0" err="1">
                <a:solidFill>
                  <a:srgbClr val="0000A4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 err="1">
                <a:solidFill>
                  <a:srgbClr val="0000A4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400" b="1" baseline="-25000" dirty="0">
                <a:solidFill>
                  <a:srgbClr val="0000A4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A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都不等</a:t>
            </a:r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B2CBCC21-199F-4555-8565-9A53E70C5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537" y="1693114"/>
            <a:ext cx="22579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710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初级运算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3540260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集合运算的表示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610E44-2BBF-415B-8564-00FB80795670}"/>
              </a:ext>
            </a:extLst>
          </p:cNvPr>
          <p:cNvSpPr txBox="1"/>
          <p:nvPr/>
        </p:nvSpPr>
        <p:spPr>
          <a:xfrm>
            <a:off x="6895708" y="978688"/>
            <a:ext cx="23707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集合算律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B030309-83E6-4CDF-AD3F-7194DF765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704" y="1829127"/>
            <a:ext cx="5253487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715963" marR="0" lvl="0" indent="-715963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．只涉及一种运算的算律：</a:t>
            </a:r>
          </a:p>
          <a:p>
            <a:pPr marL="715963" marR="0" lvl="0" indent="-715963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交换律、结合律、幂等律</a:t>
            </a:r>
          </a:p>
        </p:txBody>
      </p:sp>
      <p:graphicFrame>
        <p:nvGraphicFramePr>
          <p:cNvPr id="14" name="Group 4">
            <a:extLst>
              <a:ext uri="{FF2B5EF4-FFF2-40B4-BE49-F238E27FC236}">
                <a16:creationId xmlns:a16="http://schemas.microsoft.com/office/drawing/2014/main" id="{4DC23D28-D45E-462E-8097-F02E07466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975603"/>
              </p:ext>
            </p:extLst>
          </p:nvPr>
        </p:nvGraphicFramePr>
        <p:xfrm>
          <a:off x="2357284" y="3271787"/>
          <a:ext cx="7561263" cy="2573816"/>
        </p:xfrm>
        <a:graphic>
          <a:graphicData uri="http://schemas.openxmlformats.org/drawingml/2006/table">
            <a:tbl>
              <a:tblPr/>
              <a:tblGrid>
                <a:gridCol w="1081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2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2400" dirty="0">
                          <a:latin typeface="Cambria Math" pitchFamily="18" charset="0"/>
                          <a:sym typeface="Symbol" pitchFamily="18" charset="2"/>
                        </a:rPr>
                        <a:t>∪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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6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幂等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2400" dirty="0" err="1">
                          <a:latin typeface="Cambria Math" pitchFamily="18" charset="0"/>
                          <a:sym typeface="Symbol" pitchFamily="18" charset="2"/>
                        </a:rPr>
                        <a:t>∪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2400" b="0" dirty="0" err="1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结合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2400" dirty="0">
                          <a:latin typeface="Cambria Math" pitchFamily="18" charset="0"/>
                          <a:sym typeface="Symbol" pitchFamily="18" charset="2"/>
                        </a:rPr>
                        <a:t>∪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</a:t>
                      </a:r>
                      <a:r>
                        <a:rPr lang="en-US" altLang="zh-CN" sz="2400" dirty="0">
                          <a:latin typeface="Cambria Math" pitchFamily="18" charset="0"/>
                          <a:sym typeface="Symbol" pitchFamily="18" charset="2"/>
                        </a:rPr>
                        <a:t> ∪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lang="en-US" altLang="zh-CN" sz="2400" dirty="0">
                          <a:latin typeface="Cambria Math" pitchFamily="18" charset="0"/>
                          <a:sym typeface="Symbol" pitchFamily="18" charset="2"/>
                        </a:rPr>
                        <a:t>∪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altLang="zh-CN" sz="2400" dirty="0">
                          <a:latin typeface="Cambria Math" pitchFamily="18" charset="0"/>
                          <a:sym typeface="Symbol" pitchFamily="18" charset="2"/>
                        </a:rPr>
                        <a:t>∪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 ∩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=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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)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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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9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交换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2400" dirty="0" err="1">
                          <a:latin typeface="Cambria Math" pitchFamily="18" charset="0"/>
                          <a:sym typeface="Symbol" pitchFamily="18" charset="2"/>
                        </a:rPr>
                        <a:t>∪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altLang="zh-CN" sz="2400" dirty="0" err="1">
                          <a:latin typeface="Cambria Math" pitchFamily="18" charset="0"/>
                          <a:sym typeface="Symbol" pitchFamily="18" charset="2"/>
                        </a:rPr>
                        <a:t>∪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2400" b="0" dirty="0" err="1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altLang="zh-CN" sz="2400" b="0" dirty="0" err="1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  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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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057A4345-3555-464E-AC88-AFED51EF9ECF}"/>
              </a:ext>
            </a:extLst>
          </p:cNvPr>
          <p:cNvSpPr txBox="1"/>
          <p:nvPr/>
        </p:nvSpPr>
        <p:spPr>
          <a:xfrm>
            <a:off x="10027308" y="978689"/>
            <a:ext cx="1947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集合证明题</a:t>
            </a:r>
          </a:p>
        </p:txBody>
      </p:sp>
    </p:spTree>
    <p:extLst>
      <p:ext uri="{BB962C8B-B14F-4D97-AF65-F5344CB8AC3E}">
        <p14:creationId xmlns:p14="http://schemas.microsoft.com/office/powerpoint/2010/main" val="3177147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4BFC83E9-DE18-4208-B519-224C4569B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76305"/>
            <a:ext cx="8229600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涉及两种不同运算的算律：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黑体" pitchFamily="2" charset="-122"/>
                <a:cs typeface="Times New Roman" pitchFamily="18" charset="0"/>
              </a:rPr>
              <a:t>分配律、吸收律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</p:txBody>
      </p:sp>
      <p:graphicFrame>
        <p:nvGraphicFramePr>
          <p:cNvPr id="12" name="Group 4">
            <a:extLst>
              <a:ext uri="{FF2B5EF4-FFF2-40B4-BE49-F238E27FC236}">
                <a16:creationId xmlns:a16="http://schemas.microsoft.com/office/drawing/2014/main" id="{EE17D4E2-8337-4A43-B2C0-81576839C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339805"/>
              </p:ext>
            </p:extLst>
          </p:nvPr>
        </p:nvGraphicFramePr>
        <p:xfrm>
          <a:off x="600374" y="2175095"/>
          <a:ext cx="9966984" cy="1884324"/>
        </p:xfrm>
        <a:graphic>
          <a:graphicData uri="http://schemas.openxmlformats.org/drawingml/2006/table">
            <a:tbl>
              <a:tblPr/>
              <a:tblGrid>
                <a:gridCol w="1225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7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4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77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Cambria Math" pitchFamily="18" charset="0"/>
                          <a:sym typeface="Symbol" pitchFamily="18" charset="2"/>
                        </a:rPr>
                        <a:t>∪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与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与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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5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分配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2400" dirty="0">
                          <a:latin typeface="Cambria Math" pitchFamily="18" charset="0"/>
                          <a:sym typeface="Symbol" pitchFamily="18" charset="2"/>
                        </a:rPr>
                        <a:t>∪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altLang="zh-CN" sz="2400" b="0" dirty="0" err="1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 = 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lang="en-US" altLang="zh-CN" sz="2400" dirty="0">
                          <a:latin typeface="Cambria Math" pitchFamily="18" charset="0"/>
                          <a:sym typeface="Symbol" pitchFamily="18" charset="2"/>
                        </a:rPr>
                        <a:t>∪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 ∩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lang="en-US" altLang="zh-CN" sz="2400" dirty="0">
                          <a:latin typeface="Cambria Math" pitchFamily="18" charset="0"/>
                          <a:sym typeface="Symbol" pitchFamily="18" charset="2"/>
                        </a:rPr>
                        <a:t>∪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altLang="zh-CN" sz="2400" dirty="0" err="1">
                          <a:latin typeface="Cambria Math" pitchFamily="18" charset="0"/>
                          <a:sym typeface="Symbol" pitchFamily="18" charset="2"/>
                        </a:rPr>
                        <a:t>∪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 = 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</a:t>
                      </a:r>
                      <a:r>
                        <a:rPr lang="en-US" altLang="zh-CN" sz="2400" dirty="0">
                          <a:latin typeface="Cambria Math" pitchFamily="18" charset="0"/>
                          <a:sym typeface="Symbol" pitchFamily="18" charset="2"/>
                        </a:rPr>
                        <a:t> ∪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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 = 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)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1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吸收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2400" dirty="0">
                          <a:latin typeface="Cambria Math" pitchFamily="18" charset="0"/>
                          <a:sym typeface="Symbol" pitchFamily="18" charset="2"/>
                        </a:rPr>
                        <a:t>∪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)=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     A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lang="en-US" altLang="zh-CN" sz="2400" dirty="0" err="1">
                          <a:latin typeface="Cambria Math" pitchFamily="18" charset="0"/>
                          <a:sym typeface="Symbol" pitchFamily="18" charset="2"/>
                        </a:rPr>
                        <a:t>∪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)=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Rectangle 3">
            <a:extLst>
              <a:ext uri="{FF2B5EF4-FFF2-40B4-BE49-F238E27FC236}">
                <a16:creationId xmlns:a16="http://schemas.microsoft.com/office/drawing/2014/main" id="{D4CC70DC-0ED2-4D3D-AB42-5ED713E7E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343195"/>
            <a:ext cx="8229600" cy="631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涉及补运算的算律：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德摩根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黑体" pitchFamily="2" charset="-122"/>
                <a:cs typeface="Times New Roman" pitchFamily="18" charset="0"/>
              </a:rPr>
              <a:t>，双重否定律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</p:txBody>
      </p:sp>
      <p:graphicFrame>
        <p:nvGraphicFramePr>
          <p:cNvPr id="19" name="Group 4">
            <a:extLst>
              <a:ext uri="{FF2B5EF4-FFF2-40B4-BE49-F238E27FC236}">
                <a16:creationId xmlns:a16="http://schemas.microsoft.com/office/drawing/2014/main" id="{07C3BF66-AD4F-4410-A066-0BB5FFAB1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944133"/>
              </p:ext>
            </p:extLst>
          </p:nvPr>
        </p:nvGraphicFramePr>
        <p:xfrm>
          <a:off x="667201" y="4951392"/>
          <a:ext cx="7632700" cy="1854861"/>
        </p:xfrm>
        <a:graphic>
          <a:graphicData uri="http://schemas.openxmlformats.org/drawingml/2006/table">
            <a:tbl>
              <a:tblPr/>
              <a:tblGrid>
                <a:gridCol w="1512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2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4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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7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itchFamily="18" charset="0"/>
                        </a:rPr>
                        <a:t>德摩根</a:t>
                      </a:r>
                      <a:r>
                        <a:rPr kumimoji="0" lang="zh-CN" alt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itchFamily="18" charset="0"/>
                        </a:rPr>
                        <a:t>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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altLang="zh-CN" sz="2400" dirty="0">
                          <a:latin typeface="Cambria Math" pitchFamily="18" charset="0"/>
                          <a:sym typeface="Symbol" pitchFamily="18" charset="2"/>
                        </a:rPr>
                        <a:t>∪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)=(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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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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)=(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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</a:t>
                      </a:r>
                      <a:r>
                        <a:rPr lang="en-US" altLang="zh-CN" sz="2400" dirty="0">
                          <a:latin typeface="Cambria Math" pitchFamily="18" charset="0"/>
                          <a:sym typeface="Symbol" pitchFamily="18" charset="2"/>
                        </a:rPr>
                        <a:t> ∪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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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altLang="zh-CN" sz="2400" dirty="0">
                          <a:latin typeface="Cambria Math" pitchFamily="18" charset="0"/>
                          <a:sym typeface="Symbol" pitchFamily="18" charset="2"/>
                        </a:rPr>
                        <a:t>∪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)=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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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)=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lang="en-US" altLang="zh-CN" sz="2400" dirty="0">
                          <a:latin typeface="Cambria Math" pitchFamily="18" charset="0"/>
                          <a:sym typeface="Symbol" pitchFamily="18" charset="2"/>
                        </a:rPr>
                        <a:t>∪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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双重否定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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标题 449">
            <a:extLst>
              <a:ext uri="{FF2B5EF4-FFF2-40B4-BE49-F238E27FC236}">
                <a16:creationId xmlns:a16="http://schemas.microsoft.com/office/drawing/2014/main" id="{64A52184-EE1F-4151-80DB-975825472CEF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E24EE23-AF71-4B4C-AF53-AD3D9905499E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初级运算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52DFCB5-15A9-4D66-A892-29858CDDC82D}"/>
              </a:ext>
            </a:extLst>
          </p:cNvPr>
          <p:cNvSpPr txBox="1"/>
          <p:nvPr/>
        </p:nvSpPr>
        <p:spPr>
          <a:xfrm>
            <a:off x="3540260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集合运算的表示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7717021-EA1D-4059-AC33-A946E373067F}"/>
              </a:ext>
            </a:extLst>
          </p:cNvPr>
          <p:cNvSpPr txBox="1"/>
          <p:nvPr/>
        </p:nvSpPr>
        <p:spPr>
          <a:xfrm>
            <a:off x="6895708" y="978688"/>
            <a:ext cx="23707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集合算律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330FD29-3C96-47C3-AE41-538CFA603E2A}"/>
              </a:ext>
            </a:extLst>
          </p:cNvPr>
          <p:cNvSpPr txBox="1"/>
          <p:nvPr/>
        </p:nvSpPr>
        <p:spPr>
          <a:xfrm>
            <a:off x="10027308" y="978689"/>
            <a:ext cx="1947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集合证明题</a:t>
            </a:r>
          </a:p>
        </p:txBody>
      </p:sp>
    </p:spTree>
    <p:extLst>
      <p:ext uri="{BB962C8B-B14F-4D97-AF65-F5344CB8AC3E}">
        <p14:creationId xmlns:p14="http://schemas.microsoft.com/office/powerpoint/2010/main" val="3501371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228AF8B-EE2F-4AE5-9C84-AB9DF41A9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344" y="2057430"/>
            <a:ext cx="82296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涉及全集和空集的算律：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D5192"/>
                </a:solidFill>
                <a:effectLst/>
                <a:uLnTx/>
                <a:uFillTx/>
                <a:latin typeface="Times New Roman"/>
                <a:ea typeface="黑体" pitchFamily="2" charset="-122"/>
                <a:cs typeface="Times New Roman" pitchFamily="18" charset="0"/>
              </a:rPr>
              <a:t>补元律、零律、同一律、否定律</a:t>
            </a:r>
          </a:p>
        </p:txBody>
      </p:sp>
      <p:graphicFrame>
        <p:nvGraphicFramePr>
          <p:cNvPr id="15" name="Group 4">
            <a:extLst>
              <a:ext uri="{FF2B5EF4-FFF2-40B4-BE49-F238E27FC236}">
                <a16:creationId xmlns:a16="http://schemas.microsoft.com/office/drawing/2014/main" id="{E05B83B0-7F87-4FFB-8A7E-FBC7E7DC8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943383"/>
              </p:ext>
            </p:extLst>
          </p:nvPr>
        </p:nvGraphicFramePr>
        <p:xfrm>
          <a:off x="1155132" y="3402042"/>
          <a:ext cx="6419850" cy="2699385"/>
        </p:xfrm>
        <a:graphic>
          <a:graphicData uri="http://schemas.openxmlformats.org/drawingml/2006/table">
            <a:tbl>
              <a:tblPr/>
              <a:tblGrid>
                <a:gridCol w="2128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8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E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补元律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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=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AD5192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矛盾律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AD5192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2400" dirty="0">
                          <a:latin typeface="Cambria Math" pitchFamily="18" charset="0"/>
                          <a:sym typeface="Symbol" pitchFamily="18" charset="2"/>
                        </a:rPr>
                        <a:t>∪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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AD5192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排中律</a:t>
                      </a:r>
                      <a:endParaRPr kumimoji="0" lang="en-US" alt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AD5192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零律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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=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2400" dirty="0">
                          <a:latin typeface="Cambria Math" pitchFamily="18" charset="0"/>
                          <a:sym typeface="Symbol" pitchFamily="18" charset="2"/>
                        </a:rPr>
                        <a:t>∪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E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E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3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同一律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2400" dirty="0">
                          <a:latin typeface="Cambria Math" pitchFamily="18" charset="0"/>
                          <a:sym typeface="Symbol" pitchFamily="18" charset="2"/>
                        </a:rPr>
                        <a:t>∪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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2400" b="0" dirty="0">
                          <a:latin typeface="Cambria Math" pitchFamily="18" charset="0"/>
                          <a:sym typeface="Symbol" pitchFamily="18" charset="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E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余补律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36512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    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E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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E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=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AAADBC20-5F85-421D-8E4B-17898EBF03E4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初级运算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E87DD5C-E4CD-41B1-9A6E-2E2459D2B931}"/>
              </a:ext>
            </a:extLst>
          </p:cNvPr>
          <p:cNvSpPr txBox="1"/>
          <p:nvPr/>
        </p:nvSpPr>
        <p:spPr>
          <a:xfrm>
            <a:off x="3540260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集合运算的表示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DAD03C8-C5ED-40F4-84B5-0EFEDE9164B2}"/>
              </a:ext>
            </a:extLst>
          </p:cNvPr>
          <p:cNvSpPr txBox="1"/>
          <p:nvPr/>
        </p:nvSpPr>
        <p:spPr>
          <a:xfrm>
            <a:off x="6895708" y="978688"/>
            <a:ext cx="23707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集合算律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1FB5592-1FD7-4C8B-98B1-5B9954F0F434}"/>
              </a:ext>
            </a:extLst>
          </p:cNvPr>
          <p:cNvSpPr txBox="1"/>
          <p:nvPr/>
        </p:nvSpPr>
        <p:spPr>
          <a:xfrm>
            <a:off x="10027308" y="978689"/>
            <a:ext cx="1947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集合证明题</a:t>
            </a:r>
          </a:p>
        </p:txBody>
      </p:sp>
    </p:spTree>
    <p:extLst>
      <p:ext uri="{BB962C8B-B14F-4D97-AF65-F5344CB8AC3E}">
        <p14:creationId xmlns:p14="http://schemas.microsoft.com/office/powerpoint/2010/main" val="2835470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228AF8B-EE2F-4AE5-9C84-AB9DF41A9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344" y="1715269"/>
            <a:ext cx="8229600" cy="491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集合运算性质的重要结论：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ADBC20-5F85-421D-8E4B-17898EBF03E4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初级运算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E87DD5C-E4CD-41B1-9A6E-2E2459D2B931}"/>
              </a:ext>
            </a:extLst>
          </p:cNvPr>
          <p:cNvSpPr txBox="1"/>
          <p:nvPr/>
        </p:nvSpPr>
        <p:spPr>
          <a:xfrm>
            <a:off x="3540260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集合运算的表示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DAD03C8-C5ED-40F4-84B5-0EFEDE9164B2}"/>
              </a:ext>
            </a:extLst>
          </p:cNvPr>
          <p:cNvSpPr txBox="1"/>
          <p:nvPr/>
        </p:nvSpPr>
        <p:spPr>
          <a:xfrm>
            <a:off x="6895708" y="978688"/>
            <a:ext cx="23707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集合算律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1FB5592-1FD7-4C8B-98B1-5B9954F0F434}"/>
              </a:ext>
            </a:extLst>
          </p:cNvPr>
          <p:cNvSpPr txBox="1"/>
          <p:nvPr/>
        </p:nvSpPr>
        <p:spPr>
          <a:xfrm>
            <a:off x="10027308" y="978689"/>
            <a:ext cx="1947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集合证明题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F53823-4618-4FE1-8BDC-FFE331587B81}"/>
              </a:ext>
            </a:extLst>
          </p:cNvPr>
          <p:cNvSpPr txBox="1"/>
          <p:nvPr/>
        </p:nvSpPr>
        <p:spPr>
          <a:xfrm>
            <a:off x="935542" y="2399253"/>
            <a:ext cx="6096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400" b="0" dirty="0" err="1">
                <a:latin typeface="Cambria Math" pitchFamily="18" charset="0"/>
                <a:sym typeface="Symbol" pitchFamily="18" charset="2"/>
              </a:rPr>
              <a:t>∩</a:t>
            </a:r>
            <a:r>
              <a:rPr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sz="2400" b="1" dirty="0">
                <a:sym typeface="Symbol" panose="05050102010706020507" pitchFamily="18" charset="2"/>
              </a:rPr>
              <a:t>  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anose="05050102010706020507" pitchFamily="18" charset="2"/>
              </a:rPr>
              <a:t>A    </a:t>
            </a:r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400" b="0" dirty="0" err="1">
                <a:latin typeface="Cambria Math" pitchFamily="18" charset="0"/>
                <a:sym typeface="Symbol" pitchFamily="18" charset="2"/>
              </a:rPr>
              <a:t>∩</a:t>
            </a:r>
            <a:r>
              <a:rPr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sz="2400" b="1" dirty="0">
                <a:sym typeface="Symbol" panose="05050102010706020507" pitchFamily="18" charset="2"/>
              </a:rPr>
              <a:t>  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anose="05050102010706020507" pitchFamily="18" charset="2"/>
              </a:rPr>
              <a:t>B   </a:t>
            </a:r>
            <a:r>
              <a:rPr lang="en-US" altLang="zh-CN" sz="2400" b="0" dirty="0">
                <a:latin typeface="Cambria Math" pitchFamily="18" charset="0"/>
                <a:sym typeface="Symbol" pitchFamily="18" charset="2"/>
              </a:rPr>
              <a:t> </a:t>
            </a:r>
            <a:endParaRPr lang="zh-CN" altLang="en-US" sz="24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6BB4BBB-6512-41A4-97ED-91963684ACF8}"/>
              </a:ext>
            </a:extLst>
          </p:cNvPr>
          <p:cNvSpPr txBox="1"/>
          <p:nvPr/>
        </p:nvSpPr>
        <p:spPr>
          <a:xfrm>
            <a:off x="935542" y="2883492"/>
            <a:ext cx="6096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400" b="1" dirty="0">
                <a:sym typeface="Symbol" panose="05050102010706020507" pitchFamily="18" charset="2"/>
              </a:rPr>
              <a:t> </a:t>
            </a:r>
            <a:r>
              <a:rPr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dirty="0" err="1">
                <a:latin typeface="Cambria Math" pitchFamily="18" charset="0"/>
                <a:sym typeface="Symbol" pitchFamily="18" charset="2"/>
              </a:rPr>
              <a:t>∪</a:t>
            </a:r>
            <a:r>
              <a:rPr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sz="2400" b="1" dirty="0">
                <a:sym typeface="Symbol" panose="05050102010706020507" pitchFamily="18" charset="2"/>
              </a:rPr>
              <a:t>   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B </a:t>
            </a:r>
            <a:r>
              <a:rPr lang="en-US" altLang="zh-CN" sz="2400" b="1" dirty="0">
                <a:sym typeface="Symbol" panose="05050102010706020507" pitchFamily="18" charset="2"/>
              </a:rPr>
              <a:t> </a:t>
            </a:r>
            <a:r>
              <a:rPr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400" dirty="0" err="1">
                <a:latin typeface="Cambria Math" pitchFamily="18" charset="0"/>
                <a:sym typeface="Symbol" pitchFamily="18" charset="2"/>
              </a:rPr>
              <a:t>∪</a:t>
            </a:r>
            <a:r>
              <a:rPr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anose="05050102010706020507" pitchFamily="18" charset="2"/>
              </a:rPr>
              <a:t>   </a:t>
            </a:r>
            <a:r>
              <a:rPr lang="en-US" altLang="zh-CN" sz="2400" b="0" dirty="0">
                <a:latin typeface="Cambria Math" pitchFamily="18" charset="0"/>
                <a:sym typeface="Symbol" pitchFamily="18" charset="2"/>
              </a:rPr>
              <a:t> </a:t>
            </a:r>
            <a:endParaRPr lang="zh-CN" altLang="en-US" sz="24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655C6DC-F571-4F99-B519-988BE7D8A1AC}"/>
              </a:ext>
            </a:extLst>
          </p:cNvPr>
          <p:cNvSpPr txBox="1"/>
          <p:nvPr/>
        </p:nvSpPr>
        <p:spPr>
          <a:xfrm>
            <a:off x="935542" y="3367731"/>
            <a:ext cx="6096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B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 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anose="05050102010706020507" pitchFamily="18" charset="2"/>
              </a:rPr>
              <a:t>A</a:t>
            </a:r>
            <a:endParaRPr lang="zh-CN" altLang="en-US" sz="24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6A09B9A-94BF-488F-9FFB-03B22675E1D4}"/>
              </a:ext>
            </a:extLst>
          </p:cNvPr>
          <p:cNvSpPr txBox="1"/>
          <p:nvPr/>
        </p:nvSpPr>
        <p:spPr>
          <a:xfrm>
            <a:off x="935542" y="3851970"/>
            <a:ext cx="6096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B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= 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0" dirty="0">
                <a:latin typeface="Cambria Math" pitchFamily="18" charset="0"/>
                <a:sym typeface="Symbol" pitchFamily="18" charset="2"/>
              </a:rPr>
              <a:t> ∩ 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 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sz="2400" b="1" dirty="0">
                <a:sym typeface="Symbol" panose="05050102010706020507" pitchFamily="18" charset="2"/>
              </a:rPr>
              <a:t> </a:t>
            </a:r>
            <a:endParaRPr lang="zh-CN" altLang="en-US" sz="24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C9BFAC3-8BE5-474B-A434-45564921E213}"/>
              </a:ext>
            </a:extLst>
          </p:cNvPr>
          <p:cNvSpPr txBox="1"/>
          <p:nvPr/>
        </p:nvSpPr>
        <p:spPr>
          <a:xfrm>
            <a:off x="935542" y="4336209"/>
            <a:ext cx="8592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400" dirty="0" err="1">
                <a:latin typeface="Cambria Math" pitchFamily="18" charset="0"/>
                <a:sym typeface="Symbol" pitchFamily="18" charset="2"/>
              </a:rPr>
              <a:t>∪</a:t>
            </a:r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B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= 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anose="05050102010706020507" pitchFamily="18" charset="2"/>
              </a:rPr>
              <a:t>B   </a:t>
            </a: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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  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400" b="1" dirty="0">
                <a:sym typeface="Symbol" panose="05050102010706020507" pitchFamily="18" charset="2"/>
              </a:rPr>
              <a:t>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 B   </a:t>
            </a: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    </a:t>
            </a:r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400" b="0" dirty="0" err="1">
                <a:latin typeface="Cambria Math" pitchFamily="18" charset="0"/>
                <a:sym typeface="Symbol" pitchFamily="18" charset="2"/>
              </a:rPr>
              <a:t>∩</a:t>
            </a:r>
            <a:r>
              <a:rPr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sz="2400" b="1" dirty="0">
                <a:sym typeface="Symbol" panose="05050102010706020507" pitchFamily="18" charset="2"/>
              </a:rPr>
              <a:t> = 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anose="05050102010706020507" pitchFamily="18" charset="2"/>
              </a:rPr>
              <a:t>A    </a:t>
            </a: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 </a:t>
            </a:r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B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 =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 </a:t>
            </a:r>
            <a:endParaRPr lang="zh-CN" altLang="en-US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B6778CE-39DA-4BDA-9F61-02F88137DD13}"/>
              </a:ext>
            </a:extLst>
          </p:cNvPr>
          <p:cNvSpPr txBox="1"/>
          <p:nvPr/>
        </p:nvSpPr>
        <p:spPr>
          <a:xfrm>
            <a:off x="935542" y="4820448"/>
            <a:ext cx="6096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</a:t>
            </a:r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</a:t>
            </a:r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endParaRPr lang="zh-CN" altLang="en-US" sz="2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51DAC6E-7C43-43D0-ADBB-505E5E213158}"/>
              </a:ext>
            </a:extLst>
          </p:cNvPr>
          <p:cNvSpPr txBox="1"/>
          <p:nvPr/>
        </p:nvSpPr>
        <p:spPr>
          <a:xfrm>
            <a:off x="935542" y="5304687"/>
            <a:ext cx="6096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400" b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</a:t>
            </a:r>
            <a:r>
              <a:rPr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) 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 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 = 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 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</a:t>
            </a:r>
            <a:r>
              <a:rPr lang="en-US" altLang="zh-CN" sz="2400" dirty="0">
                <a:latin typeface="Cambria Math" pitchFamily="18" charset="0"/>
                <a:sym typeface="Symbol" pitchFamily="18" charset="2"/>
              </a:rPr>
              <a:t> 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</a:t>
            </a:r>
            <a:r>
              <a:rPr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sz="2400" b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</a:t>
            </a:r>
            <a:r>
              <a:rPr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) </a:t>
            </a:r>
            <a:endParaRPr lang="zh-CN" altLang="en-US" sz="24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EE54147-9C24-47E9-BE06-628D4984E013}"/>
              </a:ext>
            </a:extLst>
          </p:cNvPr>
          <p:cNvSpPr txBox="1"/>
          <p:nvPr/>
        </p:nvSpPr>
        <p:spPr>
          <a:xfrm>
            <a:off x="935542" y="5788926"/>
            <a:ext cx="6096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 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 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A                A 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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A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 </a:t>
            </a:r>
            <a:endParaRPr lang="zh-CN" altLang="en-US" sz="24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C244F5B-52B6-43C3-B47B-F96E54456D6E}"/>
              </a:ext>
            </a:extLst>
          </p:cNvPr>
          <p:cNvSpPr txBox="1"/>
          <p:nvPr/>
        </p:nvSpPr>
        <p:spPr>
          <a:xfrm>
            <a:off x="935542" y="6273162"/>
            <a:ext cx="6096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B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400" b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</a:t>
            </a:r>
            <a:r>
              <a:rPr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zh-CN" altLang="en-US" sz="2400" b="1" kern="0" dirty="0">
                <a:latin typeface="Times New Roman" pitchFamily="18" charset="0"/>
                <a:sym typeface="Symbol" pitchFamily="18" charset="2"/>
              </a:rPr>
              <a:t>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B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 C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0082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10027308" y="962787"/>
            <a:ext cx="19128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集合证明题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D8543889-1FF3-4BD1-B977-3F6FF6EED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897" y="1950417"/>
            <a:ext cx="8229600" cy="1485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814388" marR="0" lvl="0" indent="-7223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>
                <a:tab pos="625475" algn="l"/>
              </a:tabLs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证明方法：命题演算法、等式置换法</a:t>
            </a:r>
          </a:p>
          <a:p>
            <a:pPr marL="814388" marR="0" lvl="0" indent="-722313" algn="l" defTabSz="914400" rtl="0" eaLnBrk="1" fontAlgn="base" latinLnBrk="0" hangingPunct="1">
              <a:lnSpc>
                <a:spcPct val="100000"/>
              </a:lnSpc>
              <a:spcBef>
                <a:spcPct val="55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>
                <a:tab pos="625475" algn="l"/>
              </a:tabLs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命题演算证明法的书写规范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以下的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代表集合公式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814388" marR="0" lvl="0" indent="-7223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>
                <a:tab pos="625475" algn="l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(1)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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814388" marR="0" lvl="0" indent="-7223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>
                <a:tab pos="625475" algn="l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任取</a:t>
            </a: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 </a:t>
            </a:r>
            <a:r>
              <a:rPr kumimoji="0" lang="en-US" altLang="zh-CN" sz="2400" i="1" u="none" strike="noStrike" kern="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i="0" u="none" strike="noStrike" kern="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i="1" u="none" strike="noStrike" kern="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…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i="1" u="none" strike="noStrike" kern="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i="0" u="none" strike="noStrike" kern="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i="1" u="none" strike="noStrike" kern="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723563F3-9AAA-4BAE-BEA9-9763CA2B1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233" y="4038425"/>
            <a:ext cx="10370788" cy="2380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814388" indent="-722313" eaLnBrk="1" hangingPunct="1">
              <a:buFont typeface="Wingdings" pitchFamily="2" charset="2"/>
              <a:buNone/>
              <a:tabLst>
                <a:tab pos="625475" algn="l"/>
              </a:tabLst>
            </a:pP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(2)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=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Y</a:t>
            </a:r>
            <a:endParaRPr lang="en-US" altLang="zh-CN" kern="0" dirty="0">
              <a:solidFill>
                <a:srgbClr val="000000"/>
              </a:solidFill>
              <a:latin typeface="Times New Roman"/>
              <a:ea typeface="宋体"/>
            </a:endParaRPr>
          </a:p>
          <a:p>
            <a:pPr marL="814388" indent="-722313" eaLnBrk="1" hangingPunct="1">
              <a:buFont typeface="Wingdings" pitchFamily="2" charset="2"/>
              <a:buNone/>
              <a:tabLst>
                <a:tab pos="625475" algn="l"/>
              </a:tabLst>
            </a:pP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       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方法一  分别证明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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Y 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和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Y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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endParaRPr lang="en-US" altLang="zh-CN" kern="0" dirty="0">
              <a:solidFill>
                <a:srgbClr val="000000"/>
              </a:solidFill>
              <a:latin typeface="Times New Roman"/>
              <a:ea typeface="宋体"/>
            </a:endParaRPr>
          </a:p>
          <a:p>
            <a:pPr marL="814388" indent="-722313" eaLnBrk="1" hangingPunct="1">
              <a:buFont typeface="Wingdings" pitchFamily="2" charset="2"/>
              <a:buNone/>
              <a:tabLst>
                <a:tab pos="625475" algn="l"/>
              </a:tabLst>
            </a:pP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       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方法二  </a:t>
            </a:r>
          </a:p>
          <a:p>
            <a:pPr marL="814388" indent="-722313" eaLnBrk="1" hangingPunct="1">
              <a:buFont typeface="Wingdings" pitchFamily="2" charset="2"/>
              <a:buNone/>
              <a:tabLst>
                <a:tab pos="625475" algn="l"/>
              </a:tabLst>
            </a:pPr>
            <a:r>
              <a:rPr lang="zh-CN" altLang="en-US" kern="0" dirty="0">
                <a:solidFill>
                  <a:srgbClr val="992677"/>
                </a:solidFill>
                <a:latin typeface="Times New Roman"/>
                <a:ea typeface="宋体"/>
              </a:rPr>
              <a:t>              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任取</a:t>
            </a:r>
            <a:r>
              <a:rPr lang="en-US" altLang="zh-CN" i="1" kern="0" dirty="0">
                <a:solidFill>
                  <a:srgbClr val="992677"/>
                </a:solidFill>
                <a:latin typeface="Times New Roman"/>
                <a:ea typeface="宋体"/>
              </a:rPr>
              <a:t>x</a:t>
            </a:r>
            <a:r>
              <a:rPr lang="zh-CN" altLang="en-US" kern="0" dirty="0">
                <a:solidFill>
                  <a:srgbClr val="992677"/>
                </a:solidFill>
                <a:latin typeface="Times New Roman"/>
                <a:ea typeface="宋体"/>
              </a:rPr>
              <a:t>，</a:t>
            </a:r>
            <a:r>
              <a:rPr lang="en-US" altLang="zh-CN" i="1" kern="0" dirty="0" err="1">
                <a:solidFill>
                  <a:srgbClr val="992677"/>
                </a:solidFill>
                <a:latin typeface="Times New Roman"/>
                <a:ea typeface="宋体"/>
              </a:rPr>
              <a:t>x</a:t>
            </a:r>
            <a:r>
              <a:rPr lang="en-US" altLang="zh-CN" kern="0" dirty="0" err="1">
                <a:solidFill>
                  <a:srgbClr val="992677"/>
                </a:solidFill>
                <a:latin typeface="Times New Roman"/>
                <a:ea typeface="宋体"/>
                <a:sym typeface="Symbol" pitchFamily="18" charset="2"/>
              </a:rPr>
              <a:t></a:t>
            </a:r>
            <a:r>
              <a:rPr lang="en-US" altLang="zh-CN" i="1" kern="0" dirty="0" err="1">
                <a:solidFill>
                  <a:srgbClr val="992677"/>
                </a:solidFill>
                <a:latin typeface="Times New Roman"/>
                <a:ea typeface="宋体"/>
              </a:rPr>
              <a:t>X</a:t>
            </a:r>
            <a:r>
              <a:rPr lang="en-US" altLang="zh-CN" i="1" kern="0" dirty="0">
                <a:solidFill>
                  <a:srgbClr val="992677"/>
                </a:solidFill>
                <a:latin typeface="Times New Roman"/>
                <a:ea typeface="宋体"/>
              </a:rPr>
              <a:t> </a:t>
            </a:r>
            <a:r>
              <a:rPr lang="en-US" altLang="zh-CN" kern="0" dirty="0">
                <a:solidFill>
                  <a:srgbClr val="992677"/>
                </a:solidFill>
                <a:latin typeface="Times New Roman"/>
                <a:ea typeface="宋体"/>
                <a:sym typeface="Symbol" pitchFamily="18" charset="2"/>
              </a:rPr>
              <a:t></a:t>
            </a:r>
            <a:r>
              <a:rPr lang="en-US" altLang="zh-CN" kern="0" dirty="0">
                <a:solidFill>
                  <a:srgbClr val="992677"/>
                </a:solidFill>
                <a:latin typeface="Times New Roman"/>
                <a:ea typeface="宋体"/>
              </a:rPr>
              <a:t> … </a:t>
            </a:r>
            <a:r>
              <a:rPr lang="en-US" altLang="zh-CN" kern="0" dirty="0">
                <a:solidFill>
                  <a:srgbClr val="992677"/>
                </a:solidFill>
                <a:latin typeface="Times New Roman"/>
                <a:ea typeface="宋体"/>
                <a:sym typeface="Symbol" pitchFamily="18" charset="2"/>
              </a:rPr>
              <a:t></a:t>
            </a:r>
            <a:r>
              <a:rPr lang="en-US" altLang="zh-CN" kern="0" dirty="0">
                <a:solidFill>
                  <a:srgbClr val="992677"/>
                </a:solidFill>
                <a:latin typeface="Times New Roman"/>
                <a:ea typeface="宋体"/>
              </a:rPr>
              <a:t> </a:t>
            </a:r>
            <a:r>
              <a:rPr lang="en-US" altLang="zh-CN" i="1" kern="0" dirty="0" err="1">
                <a:solidFill>
                  <a:srgbClr val="992677"/>
                </a:solidFill>
                <a:latin typeface="Times New Roman"/>
                <a:ea typeface="宋体"/>
              </a:rPr>
              <a:t>x</a:t>
            </a:r>
            <a:r>
              <a:rPr lang="en-US" altLang="zh-CN" kern="0" dirty="0" err="1">
                <a:solidFill>
                  <a:srgbClr val="992677"/>
                </a:solidFill>
                <a:latin typeface="Times New Roman"/>
                <a:ea typeface="宋体"/>
                <a:sym typeface="Symbol" pitchFamily="18" charset="2"/>
              </a:rPr>
              <a:t></a:t>
            </a:r>
            <a:r>
              <a:rPr lang="en-US" altLang="zh-CN" i="1" kern="0" dirty="0" err="1">
                <a:solidFill>
                  <a:srgbClr val="992677"/>
                </a:solidFill>
                <a:latin typeface="Times New Roman"/>
                <a:ea typeface="宋体"/>
              </a:rPr>
              <a:t>Y</a:t>
            </a:r>
            <a:endParaRPr lang="en-US" altLang="zh-CN" kern="0" dirty="0">
              <a:solidFill>
                <a:srgbClr val="992677"/>
              </a:solidFill>
              <a:latin typeface="Times New Roman"/>
              <a:ea typeface="宋体"/>
            </a:endParaRPr>
          </a:p>
          <a:p>
            <a:pPr marL="814388" indent="-722313" eaLnBrk="1" hangingPunct="1">
              <a:buFont typeface="Wingdings" pitchFamily="2" charset="2"/>
              <a:buNone/>
              <a:tabLst>
                <a:tab pos="625475" algn="l"/>
              </a:tabLst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注意：在使用方法二的格式时，必须保证每步推理都是充分必要的</a:t>
            </a:r>
          </a:p>
        </p:txBody>
      </p:sp>
      <p:sp>
        <p:nvSpPr>
          <p:cNvPr id="9" name="标题 449">
            <a:extLst>
              <a:ext uri="{FF2B5EF4-FFF2-40B4-BE49-F238E27FC236}">
                <a16:creationId xmlns:a16="http://schemas.microsoft.com/office/drawing/2014/main" id="{19C24D89-BF85-429B-AD7E-F0FF0D8A5C1B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A323E66-DE09-47E5-9715-ED387DA89473}"/>
              </a:ext>
            </a:extLst>
          </p:cNvPr>
          <p:cNvSpPr txBox="1"/>
          <p:nvPr/>
        </p:nvSpPr>
        <p:spPr>
          <a:xfrm>
            <a:off x="568035" y="964940"/>
            <a:ext cx="23084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初级运算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8F6CB8-B32F-480B-BA0A-DB5CCFF9B481}"/>
              </a:ext>
            </a:extLst>
          </p:cNvPr>
          <p:cNvSpPr txBox="1"/>
          <p:nvPr/>
        </p:nvSpPr>
        <p:spPr>
          <a:xfrm>
            <a:off x="3540260" y="978689"/>
            <a:ext cx="22085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集合运算的表示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8AA5921-4275-41AF-863F-5BA566806496}"/>
              </a:ext>
            </a:extLst>
          </p:cNvPr>
          <p:cNvSpPr txBox="1"/>
          <p:nvPr/>
        </p:nvSpPr>
        <p:spPr>
          <a:xfrm>
            <a:off x="6895708" y="978688"/>
            <a:ext cx="2328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集合算律</a:t>
            </a:r>
          </a:p>
        </p:txBody>
      </p:sp>
    </p:spTree>
    <p:extLst>
      <p:ext uri="{BB962C8B-B14F-4D97-AF65-F5344CB8AC3E}">
        <p14:creationId xmlns:p14="http://schemas.microsoft.com/office/powerpoint/2010/main" val="133270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集合恒等式</a:t>
            </a: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29E80BF4-76CF-4B4E-A71C-F38691EA0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8134" y="1603674"/>
            <a:ext cx="6121400" cy="41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集合等式的证明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FAB440DE-887A-4979-8D2F-0A10A6A86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046169"/>
            <a:ext cx="11050438" cy="2540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1706563" indent="-1706563" eaLnBrk="1" hangingPunct="1">
              <a:buFont typeface="Wingdings" pitchFamily="2" charset="2"/>
              <a:buNone/>
              <a:tabLst>
                <a:tab pos="1706563" algn="l"/>
              </a:tabLst>
            </a:pP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方法一：命题演算法</a:t>
            </a:r>
          </a:p>
          <a:p>
            <a:pPr marL="1706563" indent="-1706563" eaLnBrk="1" hangingPunct="1">
              <a:buNone/>
              <a:tabLst>
                <a:tab pos="1706563" algn="l"/>
              </a:tabLst>
            </a:pP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证明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∪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0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∩ 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) = 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（吸收律）</a:t>
            </a:r>
          </a:p>
          <a:p>
            <a:pPr marL="1706563" indent="-1706563" eaLnBrk="1" hangingPunct="1">
              <a:spcBef>
                <a:spcPct val="60000"/>
              </a:spcBef>
              <a:buFont typeface="Wingdings" pitchFamily="2" charset="2"/>
              <a:buNone/>
              <a:tabLst>
                <a:tab pos="1706563" algn="l"/>
              </a:tabLst>
            </a:pP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证  任取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,</a:t>
            </a:r>
            <a:endParaRPr lang="en-US" altLang="zh-CN" i="1" kern="0" dirty="0">
              <a:latin typeface="Times New Roman" panose="02020603050405020304" pitchFamily="18" charset="0"/>
              <a:ea typeface="黑体" pitchFamily="2" charset="-122"/>
              <a:cs typeface="Times New Roman" panose="02020603050405020304" pitchFamily="18" charset="0"/>
            </a:endParaRPr>
          </a:p>
          <a:p>
            <a:pPr marL="1706563" indent="-1706563" eaLnBrk="1" hangingPunct="1">
              <a:buFont typeface="Wingdings" pitchFamily="2" charset="2"/>
              <a:buNone/>
              <a:tabLst>
                <a:tab pos="1706563" algn="l"/>
              </a:tabLst>
            </a:pPr>
            <a:r>
              <a:rPr lang="en-US" altLang="zh-CN" i="1" kern="0" dirty="0">
                <a:ea typeface="黑体" pitchFamily="2" charset="-122"/>
                <a:cs typeface="Times New Roman" pitchFamily="18" charset="0"/>
              </a:rPr>
              <a:t>                       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∪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0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∩ 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)  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 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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0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∩ 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B    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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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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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 </a:t>
            </a:r>
          </a:p>
          <a:p>
            <a:pPr marL="1706563" indent="-1706563" eaLnBrk="1" hangingPunct="1">
              <a:buFont typeface="Wingdings" pitchFamily="2" charset="2"/>
              <a:buNone/>
              <a:tabLst>
                <a:tab pos="1706563" algn="l"/>
              </a:tabLst>
            </a:pPr>
            <a:r>
              <a:rPr lang="zh-CN" altLang="en-US" kern="0" dirty="0">
                <a:ea typeface="黑体" pitchFamily="2" charset="-122"/>
              </a:rPr>
              <a:t>因此得 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∪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0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∩ 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) = 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A.</a:t>
            </a:r>
            <a:endParaRPr lang="en-US" altLang="zh-CN" kern="0" dirty="0">
              <a:latin typeface="Times New Roman" panose="02020603050405020304" pitchFamily="18" charset="0"/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844C68C8-02AB-44C1-B7D5-D156A367F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4684594"/>
            <a:ext cx="8208963" cy="208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706563" indent="-1706563" fontAlgn="base">
              <a:lnSpc>
                <a:spcPct val="90000"/>
              </a:lnSpc>
              <a:spcBef>
                <a:spcPct val="55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706563" algn="l"/>
              </a:tabLst>
            </a:pPr>
            <a:r>
              <a:rPr lang="zh-CN" altLang="en-US" sz="2400" b="1" kern="0" dirty="0">
                <a:ea typeface="黑体" pitchFamily="2" charset="-122"/>
                <a:cs typeface="Times New Roman" pitchFamily="18" charset="0"/>
              </a:rPr>
              <a:t>例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证明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B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Cambria Math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 ∩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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B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  <a:p>
            <a:pPr marL="1706563" indent="-170656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706563" algn="l"/>
              </a:tabLs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证  任取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,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  <a:p>
            <a:pPr marL="1706563" indent="-170656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706563" algn="l"/>
              </a:tabLst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              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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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B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  <a:p>
            <a:pPr marL="1706563" indent="-170656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706563" algn="l"/>
              </a:tabLst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  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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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B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Cambria Math" pitchFamily="18" charset="0"/>
                <a:ea typeface="宋体" pitchFamily="2" charset="-122"/>
                <a:sym typeface="Symbol" pitchFamily="18" charset="2"/>
              </a:rPr>
              <a:t>∩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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</a:rPr>
              <a:t> </a:t>
            </a:r>
          </a:p>
          <a:p>
            <a:pPr marL="1706563" indent="-170656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706563" algn="l"/>
              </a:tabLs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</a:rPr>
              <a:t>因此得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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</a:rPr>
              <a:t>B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</a:rPr>
              <a:t>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Cambria Math" pitchFamily="18" charset="0"/>
                <a:ea typeface="宋体" pitchFamily="2" charset="-122"/>
                <a:sym typeface="Symbol" pitchFamily="18" charset="2"/>
              </a:rPr>
              <a:t>∩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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</a:rPr>
              <a:t>B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黑体" pitchFamily="2" charset="-122"/>
            </a:endParaRPr>
          </a:p>
          <a:p>
            <a:pPr marL="1706563" indent="-170656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706563" algn="l"/>
              </a:tabLst>
            </a:pP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0D2A2F-76AA-4A45-9EB9-54ABB9CE979B}"/>
              </a:ext>
            </a:extLst>
          </p:cNvPr>
          <p:cNvSpPr txBox="1"/>
          <p:nvPr/>
        </p:nvSpPr>
        <p:spPr>
          <a:xfrm>
            <a:off x="10027308" y="962787"/>
            <a:ext cx="19128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集合证明题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3D6E059-BACA-4A18-9317-6E0312B1C81B}"/>
              </a:ext>
            </a:extLst>
          </p:cNvPr>
          <p:cNvSpPr txBox="1"/>
          <p:nvPr/>
        </p:nvSpPr>
        <p:spPr>
          <a:xfrm>
            <a:off x="568035" y="964940"/>
            <a:ext cx="23084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初级运算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F62BE4-3D1A-4362-BDFA-2BCCF269AE61}"/>
              </a:ext>
            </a:extLst>
          </p:cNvPr>
          <p:cNvSpPr txBox="1"/>
          <p:nvPr/>
        </p:nvSpPr>
        <p:spPr>
          <a:xfrm>
            <a:off x="3540260" y="978689"/>
            <a:ext cx="22085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集合运算的表示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C7F470E-8078-464D-93A8-0371AFD840E0}"/>
              </a:ext>
            </a:extLst>
          </p:cNvPr>
          <p:cNvSpPr txBox="1"/>
          <p:nvPr/>
        </p:nvSpPr>
        <p:spPr>
          <a:xfrm>
            <a:off x="6895708" y="978688"/>
            <a:ext cx="2328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集合算律</a:t>
            </a:r>
          </a:p>
        </p:txBody>
      </p:sp>
    </p:spTree>
    <p:extLst>
      <p:ext uri="{BB962C8B-B14F-4D97-AF65-F5344CB8AC3E}">
        <p14:creationId xmlns:p14="http://schemas.microsoft.com/office/powerpoint/2010/main" val="2021688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62B67FB6-E262-4857-8CD9-3C6413025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465" y="1557091"/>
            <a:ext cx="9851368" cy="4127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539750" marR="0" lvl="0" indent="-539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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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∪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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∩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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</a:p>
          <a:p>
            <a:pPr marL="539750" marR="0" lvl="0" indent="-539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①            ②                 ③               ④</a:t>
            </a:r>
          </a:p>
          <a:p>
            <a:pPr marL="539750" marR="0" lvl="0" indent="-539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</a:t>
            </a:r>
          </a:p>
          <a:p>
            <a:pPr marL="539750" marR="0" lvl="0" indent="-539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证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①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②  </a:t>
            </a:r>
          </a:p>
          <a:p>
            <a:pPr marL="539750" marR="0" lvl="0" indent="-539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显然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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∪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下面证明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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 </a:t>
            </a:r>
          </a:p>
          <a:p>
            <a:pPr marL="539750" marR="0" lvl="0" indent="-539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</a:t>
            </a:r>
            <a:r>
              <a:rPr lang="en-US" altLang="zh-CN" kern="0" dirty="0">
                <a:ea typeface="黑体" pitchFamily="2" charset="-122"/>
                <a:cs typeface="Times New Roman" pitchFamily="18" charset="0"/>
              </a:rPr>
              <a:t>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任取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 </a:t>
            </a:r>
          </a:p>
          <a:p>
            <a:pPr marL="539750" marR="0" lvl="0" indent="-539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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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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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539750" marR="0" lvl="0" indent="-539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因此有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∪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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综合上述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②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得证</a:t>
            </a:r>
            <a:r>
              <a:rPr lang="en-US" altLang="zh-CN" kern="0" dirty="0">
                <a:ea typeface="黑体" pitchFamily="2" charset="-122"/>
                <a:cs typeface="Times New Roman" pitchFamily="18" charset="0"/>
              </a:rPr>
              <a:t>. </a:t>
            </a:r>
          </a:p>
          <a:p>
            <a:pPr marL="539750" marR="0" lvl="0" indent="-539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②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③</a:t>
            </a:r>
            <a:endParaRPr kumimoji="0" lang="en-US" altLang="zh-CN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539750" marR="0" lvl="0" indent="-539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∩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∪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∩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(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由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②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将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用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代入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</a:t>
            </a:r>
          </a:p>
        </p:txBody>
      </p:sp>
      <p:sp>
        <p:nvSpPr>
          <p:cNvPr id="6" name="标题 449">
            <a:extLst>
              <a:ext uri="{FF2B5EF4-FFF2-40B4-BE49-F238E27FC236}">
                <a16:creationId xmlns:a16="http://schemas.microsoft.com/office/drawing/2014/main" id="{6D7DF2C8-F34C-4C91-AE53-041788C907CE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63247EF-4BA1-4694-825C-827ABA0D7A14}"/>
              </a:ext>
            </a:extLst>
          </p:cNvPr>
          <p:cNvSpPr txBox="1"/>
          <p:nvPr/>
        </p:nvSpPr>
        <p:spPr>
          <a:xfrm>
            <a:off x="10027308" y="962787"/>
            <a:ext cx="19128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集合证明题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EFE81A-F564-4ECC-8B9D-C1CA16883945}"/>
              </a:ext>
            </a:extLst>
          </p:cNvPr>
          <p:cNvSpPr txBox="1"/>
          <p:nvPr/>
        </p:nvSpPr>
        <p:spPr>
          <a:xfrm>
            <a:off x="568035" y="964940"/>
            <a:ext cx="23084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初级运算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C0632C3-C162-4DB2-BABD-8391D9B800EC}"/>
              </a:ext>
            </a:extLst>
          </p:cNvPr>
          <p:cNvSpPr txBox="1"/>
          <p:nvPr/>
        </p:nvSpPr>
        <p:spPr>
          <a:xfrm>
            <a:off x="3540260" y="978689"/>
            <a:ext cx="22085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集合运算的表示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B78189C-293A-4E8A-A409-2B1A0300119B}"/>
              </a:ext>
            </a:extLst>
          </p:cNvPr>
          <p:cNvSpPr txBox="1"/>
          <p:nvPr/>
        </p:nvSpPr>
        <p:spPr>
          <a:xfrm>
            <a:off x="6895708" y="978688"/>
            <a:ext cx="2328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集合算律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4B46BA-C6F9-4AF2-9CB8-407BDEA4A771}"/>
              </a:ext>
            </a:extLst>
          </p:cNvPr>
          <p:cNvSpPr/>
          <p:nvPr/>
        </p:nvSpPr>
        <p:spPr>
          <a:xfrm>
            <a:off x="2193415" y="2994440"/>
            <a:ext cx="23455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rgbClr val="99267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p62 (3.28)</a:t>
            </a:r>
            <a:r>
              <a:rPr lang="zh-CN" altLang="en-US" sz="1600" b="1" dirty="0">
                <a:solidFill>
                  <a:srgbClr val="99267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式</a:t>
            </a:r>
            <a:endParaRPr lang="zh-CN" altLang="en-US" sz="1600" dirty="0">
              <a:solidFill>
                <a:srgbClr val="992677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6C226E3-6AD2-42EF-94BF-84362EC25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226" y="1738334"/>
            <a:ext cx="4649774" cy="300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763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>
            <a:extLst>
              <a:ext uri="{FF2B5EF4-FFF2-40B4-BE49-F238E27FC236}">
                <a16:creationId xmlns:a16="http://schemas.microsoft.com/office/drawing/2014/main" id="{D6793547-7A49-4AE4-940E-9EA3C9DE3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66" y="2500549"/>
            <a:ext cx="10351698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④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假设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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即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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那么知道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且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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而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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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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从而与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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矛盾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①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假设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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不成立，那么</a:t>
            </a:r>
            <a:endParaRPr lang="zh-CN" altLang="en-US" kern="0" dirty="0">
              <a:ea typeface="黑体" pitchFamily="2" charset="-122"/>
              <a:cs typeface="Times New Roman" pitchFamily="18" charset="0"/>
              <a:sym typeface="Symbol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         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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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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与条件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④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矛盾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 </a:t>
            </a:r>
          </a:p>
        </p:txBody>
      </p:sp>
      <p:sp>
        <p:nvSpPr>
          <p:cNvPr id="6" name="标题 449">
            <a:extLst>
              <a:ext uri="{FF2B5EF4-FFF2-40B4-BE49-F238E27FC236}">
                <a16:creationId xmlns:a16="http://schemas.microsoft.com/office/drawing/2014/main" id="{DAE4DEE3-F51C-4ED8-A8A8-331FF5709433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09CB16-CC7A-4E64-8165-0DFC04841F73}"/>
              </a:ext>
            </a:extLst>
          </p:cNvPr>
          <p:cNvSpPr txBox="1"/>
          <p:nvPr/>
        </p:nvSpPr>
        <p:spPr>
          <a:xfrm>
            <a:off x="10027308" y="962787"/>
            <a:ext cx="19128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集合证明题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F5752D-04A0-4212-8A2F-07F726175F14}"/>
              </a:ext>
            </a:extLst>
          </p:cNvPr>
          <p:cNvSpPr txBox="1"/>
          <p:nvPr/>
        </p:nvSpPr>
        <p:spPr>
          <a:xfrm>
            <a:off x="568035" y="964940"/>
            <a:ext cx="23084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初级运算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074AE06-5129-43A6-B570-0E974319BD6F}"/>
              </a:ext>
            </a:extLst>
          </p:cNvPr>
          <p:cNvSpPr txBox="1"/>
          <p:nvPr/>
        </p:nvSpPr>
        <p:spPr>
          <a:xfrm>
            <a:off x="3540260" y="978689"/>
            <a:ext cx="22085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集合运算的表示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F66F302-94CD-41C3-B078-89D3ACEE06A0}"/>
              </a:ext>
            </a:extLst>
          </p:cNvPr>
          <p:cNvSpPr txBox="1"/>
          <p:nvPr/>
        </p:nvSpPr>
        <p:spPr>
          <a:xfrm>
            <a:off x="6895708" y="978688"/>
            <a:ext cx="2328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集合算律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62D7B04-1BAC-4B9E-AB4D-7AA3850A2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55" y="1444438"/>
            <a:ext cx="6094019" cy="109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05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集合中元素的计数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EA115C-B97E-47C3-A92A-3FA7FEA29893}"/>
              </a:ext>
            </a:extLst>
          </p:cNvPr>
          <p:cNvSpPr txBox="1"/>
          <p:nvPr/>
        </p:nvSpPr>
        <p:spPr>
          <a:xfrm>
            <a:off x="568035" y="964940"/>
            <a:ext cx="2437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基数与有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无穷集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F322C6-F1EF-48F8-903D-045F2CFF2694}"/>
              </a:ext>
            </a:extLst>
          </p:cNvPr>
          <p:cNvSpPr txBox="1"/>
          <p:nvPr/>
        </p:nvSpPr>
        <p:spPr>
          <a:xfrm>
            <a:off x="4247926" y="946883"/>
            <a:ext cx="18984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包含排斥原理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A963AD7-2BE5-4624-8542-0149494A473E}"/>
              </a:ext>
            </a:extLst>
          </p:cNvPr>
          <p:cNvSpPr txBox="1"/>
          <p:nvPr/>
        </p:nvSpPr>
        <p:spPr>
          <a:xfrm>
            <a:off x="7643129" y="970736"/>
            <a:ext cx="1771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有穷集的计数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A1F193C-EDAC-4847-BF8F-B999C13CCC91}"/>
              </a:ext>
            </a:extLst>
          </p:cNvPr>
          <p:cNvSpPr txBox="1"/>
          <p:nvPr/>
        </p:nvSpPr>
        <p:spPr>
          <a:xfrm>
            <a:off x="10840879" y="972063"/>
            <a:ext cx="8236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070ACEF-EC4C-41D2-A386-E1BC0DA3A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695" y="1575684"/>
            <a:ext cx="11360846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集合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含有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个元素，则称集合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基数为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，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记作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card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 = n </a:t>
            </a:r>
          </a:p>
          <a:p>
            <a:pPr lvl="0" eaLnBrk="1" hangingPunct="1">
              <a:lnSpc>
                <a:spcPct val="150000"/>
              </a:lnSpc>
              <a:buClr>
                <a:srgbClr val="00007D"/>
              </a:buClr>
              <a:buNone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3.10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：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为集合，若存在自然数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 </a:t>
            </a:r>
            <a:r>
              <a:rPr kumimoji="0" lang="zh-CN" altLang="en-US" sz="24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也是自然数），使得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|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| = card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=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n, </a:t>
            </a:r>
          </a:p>
          <a:p>
            <a:pPr lvl="0" eaLnBrk="1" hangingPunct="1">
              <a:lnSpc>
                <a:spcPct val="150000"/>
              </a:lnSpc>
              <a:buClr>
                <a:srgbClr val="00007D"/>
              </a:buClr>
              <a:buNone/>
            </a:pPr>
            <a:r>
              <a:rPr lang="en-US" altLang="zh-CN" sz="2400" b="1" i="1" kern="0" dirty="0">
                <a:latin typeface="Times New Roman" panose="02020603050405020304" pitchFamily="18" charset="0"/>
                <a:ea typeface="宋体"/>
              </a:rPr>
              <a:t>                  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zh-CN" altLang="en-US" sz="2400" b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有穷集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，否则称为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无穷集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有穷集的实例：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={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}, card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=|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|=3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；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|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+1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=0,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}, card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=|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|=0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无穷集的实例：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Z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Q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C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等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1745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3">
            <a:extLst>
              <a:ext uri="{FF2B5EF4-FFF2-40B4-BE49-F238E27FC236}">
                <a16:creationId xmlns:a16="http://schemas.microsoft.com/office/drawing/2014/main" id="{A9DC7F0A-B019-421A-99A0-3BF57CF27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10" y="1362738"/>
            <a:ext cx="11309033" cy="4968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>
                <a:tab pos="1249363" algn="l"/>
              </a:tabLst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黑体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>
                <a:tab pos="1249363" algn="l"/>
              </a:tabLs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2" charset="-122"/>
                <a:cs typeface="+mn-cs"/>
              </a:rPr>
              <a:t>定理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2" charset="-122"/>
                <a:cs typeface="+mn-cs"/>
              </a:rPr>
              <a:t>3.2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设集合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S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上定义了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条性质，其中具有第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条性质的元素构成子集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那么 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>
                <a:tab pos="1249363" algn="l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集合中不具有任何性质的元素数为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>
                <a:tab pos="1249363" algn="l"/>
              </a:tabLs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</p:txBody>
      </p:sp>
      <p:graphicFrame>
        <p:nvGraphicFramePr>
          <p:cNvPr id="30" name="Object 4">
            <a:extLst>
              <a:ext uri="{FF2B5EF4-FFF2-40B4-BE49-F238E27FC236}">
                <a16:creationId xmlns:a16="http://schemas.microsoft.com/office/drawing/2014/main" id="{F3EA2799-03CC-4B49-8F60-37D5A6F085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2684382"/>
              </p:ext>
            </p:extLst>
          </p:nvPr>
        </p:nvGraphicFramePr>
        <p:xfrm>
          <a:off x="1908837" y="3003181"/>
          <a:ext cx="5832475" cy="1436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251160" imgH="749160" progId="Equation.3">
                  <p:embed/>
                </p:oleObj>
              </mc:Choice>
              <mc:Fallback>
                <p:oleObj name="公式" r:id="rId3" imgW="3251160" imgH="749160" progId="Equation.3">
                  <p:embed/>
                  <p:pic>
                    <p:nvPicPr>
                      <p:cNvPr id="30" name="Object 4">
                        <a:extLst>
                          <a:ext uri="{FF2B5EF4-FFF2-40B4-BE49-F238E27FC236}">
                            <a16:creationId xmlns:a16="http://schemas.microsoft.com/office/drawing/2014/main" id="{F3EA2799-03CC-4B49-8F60-37D5A6F085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837" y="3003181"/>
                        <a:ext cx="5832475" cy="14366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5">
            <a:extLst>
              <a:ext uri="{FF2B5EF4-FFF2-40B4-BE49-F238E27FC236}">
                <a16:creationId xmlns:a16="http://schemas.microsoft.com/office/drawing/2014/main" id="{06BA01F4-32D1-487C-B06C-C9FCC5EC27D6}"/>
              </a:ext>
            </a:extLst>
          </p:cNvPr>
          <p:cNvGrpSpPr>
            <a:grpSpLocks/>
          </p:cNvGrpSpPr>
          <p:nvPr/>
        </p:nvGrpSpPr>
        <p:grpSpPr bwMode="auto">
          <a:xfrm>
            <a:off x="538411" y="4674057"/>
            <a:ext cx="7827962" cy="2139950"/>
            <a:chOff x="158" y="2779"/>
            <a:chExt cx="4931" cy="1348"/>
          </a:xfrm>
        </p:grpSpPr>
        <p:sp>
          <p:nvSpPr>
            <p:cNvPr id="32" name="Rectangle 6">
              <a:extLst>
                <a:ext uri="{FF2B5EF4-FFF2-40B4-BE49-F238E27FC236}">
                  <a16:creationId xmlns:a16="http://schemas.microsoft.com/office/drawing/2014/main" id="{08DAF5C4-8718-4ECF-9194-09CAD5D85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2779"/>
              <a:ext cx="343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黑体" pitchFamily="2" charset="-122"/>
                  <a:cs typeface="Times New Roman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2677"/>
                  </a:solidFill>
                  <a:effectLst/>
                  <a:uLnTx/>
                  <a:uFillTx/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推论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黑体" pitchFamily="2" charset="-122"/>
                  <a:cs typeface="Times New Roman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S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中至少具有一条性质的元素数为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黑体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33" name="Object 7">
              <a:extLst>
                <a:ext uri="{FF2B5EF4-FFF2-40B4-BE49-F238E27FC236}">
                  <a16:creationId xmlns:a16="http://schemas.microsoft.com/office/drawing/2014/main" id="{78999798-BA97-4E20-81B3-866ACAFB9B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08" y="3067"/>
            <a:ext cx="4281" cy="10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3390840" imgH="838080" progId="Equation.3">
                    <p:embed/>
                  </p:oleObj>
                </mc:Choice>
                <mc:Fallback>
                  <p:oleObj name="公式" r:id="rId5" imgW="3390840" imgH="838080" progId="Equation.3">
                    <p:embed/>
                    <p:pic>
                      <p:nvPicPr>
                        <p:cNvPr id="33" name="Object 7">
                          <a:extLst>
                            <a:ext uri="{FF2B5EF4-FFF2-40B4-BE49-F238E27FC236}">
                              <a16:creationId xmlns:a16="http://schemas.microsoft.com/office/drawing/2014/main" id="{78999798-BA97-4E20-81B3-866ACAFB9B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8" y="3067"/>
                          <a:ext cx="4281" cy="10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标题 449">
            <a:extLst>
              <a:ext uri="{FF2B5EF4-FFF2-40B4-BE49-F238E27FC236}">
                <a16:creationId xmlns:a16="http://schemas.microsoft.com/office/drawing/2014/main" id="{D134E825-66B3-4BEC-A73B-5FFEE258E08E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集合中元素的计数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F91F8D1-01E3-4AD6-93EA-3CC1CE4CC4AB}"/>
              </a:ext>
            </a:extLst>
          </p:cNvPr>
          <p:cNvSpPr txBox="1"/>
          <p:nvPr/>
        </p:nvSpPr>
        <p:spPr>
          <a:xfrm>
            <a:off x="568035" y="964940"/>
            <a:ext cx="2437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基数与有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无穷集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69C6C0-F95D-433A-88A3-D486F541DBD7}"/>
              </a:ext>
            </a:extLst>
          </p:cNvPr>
          <p:cNvSpPr txBox="1"/>
          <p:nvPr/>
        </p:nvSpPr>
        <p:spPr>
          <a:xfrm>
            <a:off x="4247926" y="946883"/>
            <a:ext cx="18984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包含排斥原理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DC31B1C-5130-444E-8B75-058604B3F383}"/>
              </a:ext>
            </a:extLst>
          </p:cNvPr>
          <p:cNvSpPr txBox="1"/>
          <p:nvPr/>
        </p:nvSpPr>
        <p:spPr>
          <a:xfrm>
            <a:off x="7643129" y="970736"/>
            <a:ext cx="1771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有穷集的计数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C6ECE0D-2F52-4221-A3AD-EF81DABE06F2}"/>
              </a:ext>
            </a:extLst>
          </p:cNvPr>
          <p:cNvSpPr txBox="1"/>
          <p:nvPr/>
        </p:nvSpPr>
        <p:spPr>
          <a:xfrm>
            <a:off x="10840879" y="972063"/>
            <a:ext cx="8236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</a:p>
        </p:txBody>
      </p:sp>
    </p:spTree>
    <p:extLst>
      <p:ext uri="{BB962C8B-B14F-4D97-AF65-F5344CB8AC3E}">
        <p14:creationId xmlns:p14="http://schemas.microsoft.com/office/powerpoint/2010/main" val="4252347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3">
            <a:extLst>
              <a:ext uri="{FF2B5EF4-FFF2-40B4-BE49-F238E27FC236}">
                <a16:creationId xmlns:a16="http://schemas.microsoft.com/office/drawing/2014/main" id="{A9DC7F0A-B019-421A-99A0-3BF57CF27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10" y="1699511"/>
            <a:ext cx="11094348" cy="625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>
                <a:tab pos="1249363" algn="l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1.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文氏图法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         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            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2.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包含排斥原理</a:t>
            </a:r>
          </a:p>
        </p:txBody>
      </p:sp>
      <p:sp>
        <p:nvSpPr>
          <p:cNvPr id="13" name="标题 449">
            <a:extLst>
              <a:ext uri="{FF2B5EF4-FFF2-40B4-BE49-F238E27FC236}">
                <a16:creationId xmlns:a16="http://schemas.microsoft.com/office/drawing/2014/main" id="{D134E825-66B3-4BEC-A73B-5FFEE258E08E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集合中元素的计数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F91F8D1-01E3-4AD6-93EA-3CC1CE4CC4AB}"/>
              </a:ext>
            </a:extLst>
          </p:cNvPr>
          <p:cNvSpPr txBox="1"/>
          <p:nvPr/>
        </p:nvSpPr>
        <p:spPr>
          <a:xfrm>
            <a:off x="568035" y="964940"/>
            <a:ext cx="2437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基数与有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无穷集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69C6C0-F95D-433A-88A3-D486F541DBD7}"/>
              </a:ext>
            </a:extLst>
          </p:cNvPr>
          <p:cNvSpPr txBox="1"/>
          <p:nvPr/>
        </p:nvSpPr>
        <p:spPr>
          <a:xfrm>
            <a:off x="4247926" y="946883"/>
            <a:ext cx="18984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包含排斥原理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DC31B1C-5130-444E-8B75-058604B3F383}"/>
              </a:ext>
            </a:extLst>
          </p:cNvPr>
          <p:cNvSpPr txBox="1"/>
          <p:nvPr/>
        </p:nvSpPr>
        <p:spPr>
          <a:xfrm>
            <a:off x="7643129" y="970736"/>
            <a:ext cx="1771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有穷集的计数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C6ECE0D-2F52-4221-A3AD-EF81DABE06F2}"/>
              </a:ext>
            </a:extLst>
          </p:cNvPr>
          <p:cNvSpPr txBox="1"/>
          <p:nvPr/>
        </p:nvSpPr>
        <p:spPr>
          <a:xfrm>
            <a:off x="10840879" y="972063"/>
            <a:ext cx="8236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2CCE50D-71BD-4ED4-B9AE-9F0D615F4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005" y="2336705"/>
            <a:ext cx="10960873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441325" indent="-441325" eaLnBrk="1" hangingPunct="1">
              <a:buNone/>
            </a:pP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例</a:t>
            </a:r>
            <a:r>
              <a:rPr lang="en-US" altLang="zh-CN" kern="0" dirty="0">
                <a:ea typeface="黑体" pitchFamily="2" charset="-122"/>
                <a:cs typeface="Times New Roman" pitchFamily="18" charset="0"/>
              </a:rPr>
              <a:t>  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1~1000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（包含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1000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在内）中不能被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5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6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，也不能被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8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整除的数的个数 </a:t>
            </a:r>
            <a:endParaRPr lang="en-US" altLang="zh-CN" kern="0" dirty="0"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AD20FA8-259D-4318-B52F-605AD779F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971" y="3012278"/>
            <a:ext cx="6346079" cy="3711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解法一：文氏图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定义以下集合：</a:t>
            </a:r>
            <a:r>
              <a:rPr lang="zh-CN" altLang="en-US" sz="24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  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    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S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|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Z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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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1000}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|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S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可被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5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|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S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可被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6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|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S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可被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8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</a:t>
            </a:r>
            <a:r>
              <a:rPr lang="en-US" altLang="zh-CN" sz="24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画出文氏图，然后填入相应的数字，解得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N=1000</a:t>
            </a:r>
            <a:r>
              <a:rPr lang="zh-CN" altLang="en-US" sz="2400" b="1" dirty="0">
                <a:solidFill>
                  <a:srgbClr val="000000"/>
                </a:solidFill>
                <a:latin typeface="Wingdings 3" pitchFamily="18" charset="2"/>
                <a:ea typeface="宋体" pitchFamily="2" charset="-122"/>
              </a:rPr>
              <a:t>－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(200+100+33+67)  = 600</a:t>
            </a:r>
          </a:p>
        </p:txBody>
      </p:sp>
      <p:pic>
        <p:nvPicPr>
          <p:cNvPr id="19" name="Picture 4" descr="图片2">
            <a:extLst>
              <a:ext uri="{FF2B5EF4-FFF2-40B4-BE49-F238E27FC236}">
                <a16:creationId xmlns:a16="http://schemas.microsoft.com/office/drawing/2014/main" id="{B74FB734-3EBE-4BAC-B9A4-04351F2B1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90691" y="3388419"/>
            <a:ext cx="2922436" cy="2447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22294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E35B6F1-4039-4567-B2DF-C0AE9E53D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275" y="1659365"/>
            <a:ext cx="9903349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解法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二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 = 1000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|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1000/5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=200,  |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1000/6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=166,  |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1000/8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=125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|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 =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1000/lcm(5,6)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1000/30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33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|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 =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1000/lcm(5,8)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1000/40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25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|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 =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1000/lcm(6,8)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1000/24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41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|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 =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1000/lcm(5,6,8)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1000/120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8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= 1000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(200+166+125)+(33+25+41)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8 = 600 </a:t>
            </a:r>
          </a:p>
        </p:txBody>
      </p:sp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CA317280-363C-4FE1-B657-31A9C4B2F0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366688"/>
              </p:ext>
            </p:extLst>
          </p:nvPr>
        </p:nvGraphicFramePr>
        <p:xfrm>
          <a:off x="960438" y="5218847"/>
          <a:ext cx="14636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61760" imgH="241200" progId="Equation.3">
                  <p:embed/>
                </p:oleObj>
              </mc:Choice>
              <mc:Fallback>
                <p:oleObj name="公式" r:id="rId3" imgW="761760" imgH="241200" progId="Equation.3">
                  <p:embed/>
                  <p:pic>
                    <p:nvPicPr>
                      <p:cNvPr id="13" name="Object 4">
                        <a:extLst>
                          <a:ext uri="{FF2B5EF4-FFF2-40B4-BE49-F238E27FC236}">
                            <a16:creationId xmlns:a16="http://schemas.microsoft.com/office/drawing/2014/main" id="{CA317280-363C-4FE1-B657-31A9C4B2F0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8" y="5218847"/>
                        <a:ext cx="1463675" cy="477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F0BF4E4E-78F9-4761-B1AE-AAB278926088}"/>
              </a:ext>
            </a:extLst>
          </p:cNvPr>
          <p:cNvSpPr txBox="1"/>
          <p:nvPr/>
        </p:nvSpPr>
        <p:spPr>
          <a:xfrm>
            <a:off x="568035" y="964940"/>
            <a:ext cx="2437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基数与有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无穷集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947DDA4-C8E6-4D4A-A454-387EF64E2FD0}"/>
              </a:ext>
            </a:extLst>
          </p:cNvPr>
          <p:cNvSpPr txBox="1"/>
          <p:nvPr/>
        </p:nvSpPr>
        <p:spPr>
          <a:xfrm>
            <a:off x="4247926" y="946883"/>
            <a:ext cx="18984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包含排斥原理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6DF9EB6-1525-42B4-B77C-5F1FA6BDA27E}"/>
              </a:ext>
            </a:extLst>
          </p:cNvPr>
          <p:cNvSpPr txBox="1"/>
          <p:nvPr/>
        </p:nvSpPr>
        <p:spPr>
          <a:xfrm>
            <a:off x="7643129" y="970736"/>
            <a:ext cx="1771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有穷集的计数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E053441-C473-4A68-9B18-FC819035A33C}"/>
              </a:ext>
            </a:extLst>
          </p:cNvPr>
          <p:cNvSpPr txBox="1"/>
          <p:nvPr/>
        </p:nvSpPr>
        <p:spPr>
          <a:xfrm>
            <a:off x="10840879" y="972063"/>
            <a:ext cx="8236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</a:p>
        </p:txBody>
      </p:sp>
    </p:spTree>
    <p:extLst>
      <p:ext uri="{BB962C8B-B14F-4D97-AF65-F5344CB8AC3E}">
        <p14:creationId xmlns:p14="http://schemas.microsoft.com/office/powerpoint/2010/main" val="225059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F298AC9F-ADCE-4DCD-80D1-691C52736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52" y="1789430"/>
            <a:ext cx="6171151" cy="309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eaLnBrk="1" hangingPunct="1">
              <a:lnSpc>
                <a:spcPct val="100000"/>
              </a:lnSpc>
              <a:buClr>
                <a:srgbClr val="69B3F1"/>
              </a:buClr>
              <a:buSzPct val="75000"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  <a:p>
            <a:pPr marL="0" marR="0" lvl="0" indent="0" eaLnBrk="1" hangingPunct="1">
              <a:lnSpc>
                <a:spcPct val="100000"/>
              </a:lnSpc>
              <a:buClr>
                <a:srgbClr val="69B3F1"/>
              </a:buClr>
              <a:buSzPct val="75000"/>
              <a:buNone/>
              <a:tabLst/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24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名科技人员，每人至少会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门外语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marL="0" marR="0" lvl="0" indent="0" eaLnBrk="1" hangingPunct="1">
              <a:lnSpc>
                <a:spcPct val="100000"/>
              </a:lnSpc>
              <a:buClr>
                <a:srgbClr val="69B3F1"/>
              </a:buClr>
              <a:buSzPct val="75000"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英语：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13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日语：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德语：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法语：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</a:p>
          <a:p>
            <a:pPr marL="0" marR="0" lvl="0" indent="0" eaLnBrk="1" hangingPunct="1">
              <a:lnSpc>
                <a:spcPct val="100000"/>
              </a:lnSpc>
              <a:buClr>
                <a:srgbClr val="69B3F1"/>
              </a:buClr>
              <a:buSzPct val="75000"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英日：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2;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英德：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英法：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 法德：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</a:p>
          <a:p>
            <a:pPr marL="0" marR="0" lvl="0" indent="0" eaLnBrk="1" hangingPunct="1">
              <a:lnSpc>
                <a:spcPct val="100000"/>
              </a:lnSpc>
              <a:buClr>
                <a:srgbClr val="69B3F1"/>
              </a:buClr>
              <a:buSzPct val="75000"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会日语的不会法语、德语</a:t>
            </a:r>
          </a:p>
          <a:p>
            <a:pPr marL="0" marR="0" lvl="0" indent="0" eaLnBrk="1" hangingPunct="1">
              <a:lnSpc>
                <a:spcPct val="100000"/>
              </a:lnSpc>
              <a:buClr>
                <a:srgbClr val="69B3F1"/>
              </a:buClr>
              <a:buSzPct val="75000"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求：只会 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种语言人数，会 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种语言人数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7D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</p:txBody>
      </p:sp>
      <p:sp>
        <p:nvSpPr>
          <p:cNvPr id="20" name="Text Box 4">
            <a:extLst>
              <a:ext uri="{FF2B5EF4-FFF2-40B4-BE49-F238E27FC236}">
                <a16:creationId xmlns:a16="http://schemas.microsoft.com/office/drawing/2014/main" id="{418B4051-7DE5-4C46-BDDE-D8E3F22E6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6257" y="4083560"/>
            <a:ext cx="3671887" cy="235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(4-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)+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=13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(4-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)+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=10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(4-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)+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=9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+3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(4-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)+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=19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=1,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=4,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=3,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7B61093-EDCC-405B-A0B8-7470E179CE43}"/>
              </a:ext>
            </a:extLst>
          </p:cNvPr>
          <p:cNvSpPr txBox="1"/>
          <p:nvPr/>
        </p:nvSpPr>
        <p:spPr>
          <a:xfrm>
            <a:off x="568035" y="964940"/>
            <a:ext cx="2437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基数与有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无穷集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860700-DAE8-46DB-BF3E-D4EEB1C50940}"/>
              </a:ext>
            </a:extLst>
          </p:cNvPr>
          <p:cNvSpPr txBox="1"/>
          <p:nvPr/>
        </p:nvSpPr>
        <p:spPr>
          <a:xfrm>
            <a:off x="4247926" y="946883"/>
            <a:ext cx="18984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包含排斥原理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5B6E72-E160-48D7-9144-FB889843AB5C}"/>
              </a:ext>
            </a:extLst>
          </p:cNvPr>
          <p:cNvSpPr txBox="1"/>
          <p:nvPr/>
        </p:nvSpPr>
        <p:spPr>
          <a:xfrm>
            <a:off x="7643129" y="970736"/>
            <a:ext cx="1771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pPr algn="just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有穷集的计数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D466B75-5DD5-4C60-B503-0F4F6D500919}"/>
              </a:ext>
            </a:extLst>
          </p:cNvPr>
          <p:cNvSpPr txBox="1"/>
          <p:nvPr/>
        </p:nvSpPr>
        <p:spPr>
          <a:xfrm>
            <a:off x="10840879" y="972063"/>
            <a:ext cx="8236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pPr algn="l"/>
            <a:r>
              <a:rPr lang="zh-CN" altLang="en-US" sz="2000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1846BBD-A04F-43A1-9E7A-AFD61A598BBB}"/>
              </a:ext>
            </a:extLst>
          </p:cNvPr>
          <p:cNvGrpSpPr/>
          <p:nvPr/>
        </p:nvGrpSpPr>
        <p:grpSpPr>
          <a:xfrm>
            <a:off x="7267769" y="1385048"/>
            <a:ext cx="3803646" cy="2733172"/>
            <a:chOff x="7267769" y="1385048"/>
            <a:chExt cx="3803646" cy="2733172"/>
          </a:xfrm>
        </p:grpSpPr>
        <p:pic>
          <p:nvPicPr>
            <p:cNvPr id="21" name="Picture 5" descr="图形1">
              <a:extLst>
                <a:ext uri="{FF2B5EF4-FFF2-40B4-BE49-F238E27FC236}">
                  <a16:creationId xmlns:a16="http://schemas.microsoft.com/office/drawing/2014/main" id="{F6B95A1E-A6CE-49AE-A40C-1EF4FDA323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7769" y="1723361"/>
              <a:ext cx="3455988" cy="2303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4F1DB8E-EE81-4028-83EB-7D0BE488BF09}"/>
                </a:ext>
              </a:extLst>
            </p:cNvPr>
            <p:cNvSpPr txBox="1"/>
            <p:nvPr/>
          </p:nvSpPr>
          <p:spPr>
            <a:xfrm>
              <a:off x="8633011" y="1385048"/>
              <a:ext cx="416859" cy="348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英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7D252EA-65F7-4D71-8FE2-50C953490B27}"/>
                </a:ext>
              </a:extLst>
            </p:cNvPr>
            <p:cNvSpPr txBox="1"/>
            <p:nvPr/>
          </p:nvSpPr>
          <p:spPr>
            <a:xfrm>
              <a:off x="7467599" y="1490383"/>
              <a:ext cx="416859" cy="348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德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A054A7F-6997-4035-B484-D0700BB1E7EE}"/>
                </a:ext>
              </a:extLst>
            </p:cNvPr>
            <p:cNvSpPr txBox="1"/>
            <p:nvPr/>
          </p:nvSpPr>
          <p:spPr>
            <a:xfrm>
              <a:off x="8973670" y="3769663"/>
              <a:ext cx="416859" cy="348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法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CC6A7E6-26E1-4156-971A-5EBDC7C4C871}"/>
                </a:ext>
              </a:extLst>
            </p:cNvPr>
            <p:cNvSpPr txBox="1"/>
            <p:nvPr/>
          </p:nvSpPr>
          <p:spPr>
            <a:xfrm>
              <a:off x="10654556" y="2162740"/>
              <a:ext cx="416859" cy="348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7875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5AC96D16-A7BA-4C67-B569-FF0539D4A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638606"/>
            <a:ext cx="79930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Clr>
                <a:srgbClr val="69B3F1"/>
              </a:buClr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求欧拉函数的值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7D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</p:txBody>
      </p:sp>
      <p:sp>
        <p:nvSpPr>
          <p:cNvPr id="22" name="Text Box 5">
            <a:extLst>
              <a:ext uri="{FF2B5EF4-FFF2-40B4-BE49-F238E27FC236}">
                <a16:creationId xmlns:a16="http://schemas.microsoft.com/office/drawing/2014/main" id="{7A2AAA12-C5BF-4CB1-B4C9-492C21EBA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071" y="2430644"/>
            <a:ext cx="9796945" cy="3865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欧拉函数：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{0,1,…,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中与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互素的数的个数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marL="0" marR="0" lvl="0" indent="0" defTabSz="91440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(12)=4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互素的数有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1, 5, 7, 11.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en-US" altLang="zh-CN" sz="2400" b="1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的素因子分解式</a:t>
            </a:r>
            <a:endParaRPr lang="en-US" altLang="zh-CN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kumimoji="0" lang="en-US" altLang="zh-CN" sz="2800" b="1" i="1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={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|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zh-CN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整除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defTabSz="91440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23" name="Object 1">
            <a:extLst>
              <a:ext uri="{FF2B5EF4-FFF2-40B4-BE49-F238E27FC236}">
                <a16:creationId xmlns:a16="http://schemas.microsoft.com/office/drawing/2014/main" id="{D1E9B88B-086E-4C69-AF51-50C2552236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479783"/>
              </p:ext>
            </p:extLst>
          </p:nvPr>
        </p:nvGraphicFramePr>
        <p:xfrm>
          <a:off x="1772755" y="4161862"/>
          <a:ext cx="304323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193760" imgH="253800" progId="Equation.3">
                  <p:embed/>
                </p:oleObj>
              </mc:Choice>
              <mc:Fallback>
                <p:oleObj name="公式" r:id="rId3" imgW="1193760" imgH="253800" progId="Equation.3">
                  <p:embed/>
                  <p:pic>
                    <p:nvPicPr>
                      <p:cNvPr id="23" name="Object 1">
                        <a:extLst>
                          <a:ext uri="{FF2B5EF4-FFF2-40B4-BE49-F238E27FC236}">
                            <a16:creationId xmlns:a16="http://schemas.microsoft.com/office/drawing/2014/main" id="{D1E9B88B-086E-4C69-AF51-50C2552236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2755" y="4161862"/>
                        <a:ext cx="3043238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">
            <a:extLst>
              <a:ext uri="{FF2B5EF4-FFF2-40B4-BE49-F238E27FC236}">
                <a16:creationId xmlns:a16="http://schemas.microsoft.com/office/drawing/2014/main" id="{233B5C67-80C1-4E78-B928-FD432D977F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760701"/>
              </p:ext>
            </p:extLst>
          </p:nvPr>
        </p:nvGraphicFramePr>
        <p:xfrm>
          <a:off x="1645659" y="5633529"/>
          <a:ext cx="36607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663560" imgH="253800" progId="Equation.3">
                  <p:embed/>
                </p:oleObj>
              </mc:Choice>
              <mc:Fallback>
                <p:oleObj name="公式" r:id="rId5" imgW="1663560" imgH="253800" progId="Equation.3">
                  <p:embed/>
                  <p:pic>
                    <p:nvPicPr>
                      <p:cNvPr id="24" name="Object 3">
                        <a:extLst>
                          <a:ext uri="{FF2B5EF4-FFF2-40B4-BE49-F238E27FC236}">
                            <a16:creationId xmlns:a16="http://schemas.microsoft.com/office/drawing/2014/main" id="{233B5C67-80C1-4E78-B928-FD432D977F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5659" y="5633529"/>
                        <a:ext cx="3660775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FA6719CF-E467-4FE2-B5F0-CD8D6548BD29}"/>
              </a:ext>
            </a:extLst>
          </p:cNvPr>
          <p:cNvSpPr txBox="1"/>
          <p:nvPr/>
        </p:nvSpPr>
        <p:spPr>
          <a:xfrm>
            <a:off x="568035" y="964940"/>
            <a:ext cx="2437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基数与有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无穷集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0406FB5-C19C-48A9-B3EB-7015275FA64F}"/>
              </a:ext>
            </a:extLst>
          </p:cNvPr>
          <p:cNvSpPr txBox="1"/>
          <p:nvPr/>
        </p:nvSpPr>
        <p:spPr>
          <a:xfrm>
            <a:off x="4247926" y="946883"/>
            <a:ext cx="18984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包含排斥原理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ACE702-FEE1-46D4-A2BB-A0201F565328}"/>
              </a:ext>
            </a:extLst>
          </p:cNvPr>
          <p:cNvSpPr txBox="1"/>
          <p:nvPr/>
        </p:nvSpPr>
        <p:spPr>
          <a:xfrm>
            <a:off x="7643129" y="970736"/>
            <a:ext cx="1771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pPr algn="just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有穷集的计数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FD01F52-770C-4E2D-9A00-C32709EE0654}"/>
              </a:ext>
            </a:extLst>
          </p:cNvPr>
          <p:cNvSpPr txBox="1"/>
          <p:nvPr/>
        </p:nvSpPr>
        <p:spPr>
          <a:xfrm>
            <a:off x="10840879" y="972063"/>
            <a:ext cx="8236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pPr algn="l"/>
            <a:r>
              <a:rPr lang="zh-CN" altLang="en-US" sz="2000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</a:p>
        </p:txBody>
      </p:sp>
    </p:spTree>
    <p:extLst>
      <p:ext uri="{BB962C8B-B14F-4D97-AF65-F5344CB8AC3E}">
        <p14:creationId xmlns:p14="http://schemas.microsoft.com/office/powerpoint/2010/main" val="286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871723B1-EAB6-4AAD-A2A4-B07A9F9F1F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235382"/>
              </p:ext>
            </p:extLst>
          </p:nvPr>
        </p:nvGraphicFramePr>
        <p:xfrm>
          <a:off x="605790" y="2218926"/>
          <a:ext cx="3671888" cy="285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019240" imgH="1574640" progId="Equation.3">
                  <p:embed/>
                </p:oleObj>
              </mc:Choice>
              <mc:Fallback>
                <p:oleObj name="公式" r:id="rId3" imgW="2019240" imgH="1574640" progId="Equation.3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871723B1-EAB6-4AAD-A2A4-B07A9F9F1F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" y="2218926"/>
                        <a:ext cx="3671888" cy="285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0EC56A5B-B1DE-4B94-99ED-9B78B928F6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7222"/>
              </p:ext>
            </p:extLst>
          </p:nvPr>
        </p:nvGraphicFramePr>
        <p:xfrm>
          <a:off x="4764326" y="2218926"/>
          <a:ext cx="6964363" cy="295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759120" imgH="1600200" progId="Equation.3">
                  <p:embed/>
                </p:oleObj>
              </mc:Choice>
              <mc:Fallback>
                <p:oleObj name="公式" r:id="rId5" imgW="3759120" imgH="1600200" progId="Equation.3">
                  <p:embed/>
                  <p:pic>
                    <p:nvPicPr>
                      <p:cNvPr id="13" name="Object 5">
                        <a:extLst>
                          <a:ext uri="{FF2B5EF4-FFF2-40B4-BE49-F238E27FC236}">
                            <a16:creationId xmlns:a16="http://schemas.microsoft.com/office/drawing/2014/main" id="{0EC56A5B-B1DE-4B94-99ED-9B78B928F6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4326" y="2218926"/>
                        <a:ext cx="6964363" cy="295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EE2ED08C-3400-4375-8D28-707C4343F667}"/>
              </a:ext>
            </a:extLst>
          </p:cNvPr>
          <p:cNvSpPr txBox="1"/>
          <p:nvPr/>
        </p:nvSpPr>
        <p:spPr>
          <a:xfrm>
            <a:off x="568035" y="964940"/>
            <a:ext cx="2437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基数与有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无穷集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938B753-1112-4DFE-9D3E-A95D1E3C7759}"/>
              </a:ext>
            </a:extLst>
          </p:cNvPr>
          <p:cNvSpPr txBox="1"/>
          <p:nvPr/>
        </p:nvSpPr>
        <p:spPr>
          <a:xfrm>
            <a:off x="4247926" y="946883"/>
            <a:ext cx="18984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包含排斥原理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9D0C533-3F82-40F6-A5D3-3A1D3969605C}"/>
              </a:ext>
            </a:extLst>
          </p:cNvPr>
          <p:cNvSpPr txBox="1"/>
          <p:nvPr/>
        </p:nvSpPr>
        <p:spPr>
          <a:xfrm>
            <a:off x="7643129" y="970736"/>
            <a:ext cx="1771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pPr algn="just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有穷集的计数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B7C6276-A037-4BAB-A904-8737E6360592}"/>
              </a:ext>
            </a:extLst>
          </p:cNvPr>
          <p:cNvSpPr txBox="1"/>
          <p:nvPr/>
        </p:nvSpPr>
        <p:spPr>
          <a:xfrm>
            <a:off x="10840879" y="972063"/>
            <a:ext cx="8236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pPr algn="l"/>
            <a:r>
              <a:rPr lang="zh-CN" altLang="en-US" sz="2000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</a:p>
        </p:txBody>
      </p:sp>
    </p:spTree>
    <p:extLst>
      <p:ext uri="{BB962C8B-B14F-4D97-AF65-F5344CB8AC3E}">
        <p14:creationId xmlns:p14="http://schemas.microsoft.com/office/powerpoint/2010/main" val="18637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6617E0EC-FDED-45CE-94C4-F859E0FD69B2}"/>
              </a:ext>
            </a:extLst>
          </p:cNvPr>
          <p:cNvSpPr txBox="1">
            <a:spLocks/>
          </p:cNvSpPr>
          <p:nvPr/>
        </p:nvSpPr>
        <p:spPr>
          <a:xfrm>
            <a:off x="468313" y="1628775"/>
            <a:ext cx="10464730" cy="187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例：与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互素的正整数有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4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1,   7,   11,  13,  17,  19,  23,  29, </a:t>
            </a:r>
          </a:p>
          <a:p>
            <a:pPr>
              <a:lnSpc>
                <a:spcPts val="4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31,  37,  41,  43,  47,  49,  53,  59.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2">
            <a:extLst>
              <a:ext uri="{FF2B5EF4-FFF2-40B4-BE49-F238E27FC236}">
                <a16:creationId xmlns:a16="http://schemas.microsoft.com/office/drawing/2014/main" id="{F4280030-25AB-41B1-AF29-03CE0522FE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3868010"/>
              </p:ext>
            </p:extLst>
          </p:nvPr>
        </p:nvGraphicFramePr>
        <p:xfrm>
          <a:off x="773860" y="4163075"/>
          <a:ext cx="3996924" cy="1708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917360" imgH="812520" progId="Equation.3">
                  <p:embed/>
                </p:oleObj>
              </mc:Choice>
              <mc:Fallback>
                <p:oleObj name="公式" r:id="rId3" imgW="1917360" imgH="812520" progId="Equation.3">
                  <p:embed/>
                  <p:pic>
                    <p:nvPicPr>
                      <p:cNvPr id="16" name="Object 2">
                        <a:extLst>
                          <a:ext uri="{FF2B5EF4-FFF2-40B4-BE49-F238E27FC236}">
                            <a16:creationId xmlns:a16="http://schemas.microsoft.com/office/drawing/2014/main" id="{F4280030-25AB-41B1-AF29-03CE0522FE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860" y="4163075"/>
                        <a:ext cx="3996924" cy="17085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5D0585A4-C864-45D6-A0A6-D012CAFAA7DD}"/>
              </a:ext>
            </a:extLst>
          </p:cNvPr>
          <p:cNvSpPr txBox="1"/>
          <p:nvPr/>
        </p:nvSpPr>
        <p:spPr>
          <a:xfrm>
            <a:off x="568035" y="964940"/>
            <a:ext cx="2437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基数与有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无穷集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56A9D65-E558-4286-A118-669FA661B213}"/>
              </a:ext>
            </a:extLst>
          </p:cNvPr>
          <p:cNvSpPr txBox="1"/>
          <p:nvPr/>
        </p:nvSpPr>
        <p:spPr>
          <a:xfrm>
            <a:off x="4247926" y="946883"/>
            <a:ext cx="18984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包含排斥原理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2160FAC-188C-490A-BE29-28DB20F47801}"/>
              </a:ext>
            </a:extLst>
          </p:cNvPr>
          <p:cNvSpPr txBox="1"/>
          <p:nvPr/>
        </p:nvSpPr>
        <p:spPr>
          <a:xfrm>
            <a:off x="7643129" y="970736"/>
            <a:ext cx="1771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pPr algn="just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有穷集的计数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BE8ECBC-6E5C-4244-AE30-015A6F5DFDB9}"/>
              </a:ext>
            </a:extLst>
          </p:cNvPr>
          <p:cNvSpPr txBox="1"/>
          <p:nvPr/>
        </p:nvSpPr>
        <p:spPr>
          <a:xfrm>
            <a:off x="10840879" y="972063"/>
            <a:ext cx="8236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pPr algn="l"/>
            <a:r>
              <a:rPr lang="zh-CN" altLang="en-US" sz="2000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</a:p>
        </p:txBody>
      </p:sp>
    </p:spTree>
    <p:extLst>
      <p:ext uri="{BB962C8B-B14F-4D97-AF65-F5344CB8AC3E}">
        <p14:creationId xmlns:p14="http://schemas.microsoft.com/office/powerpoint/2010/main" val="2564400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本章总结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F25CC41-1A88-4CFC-8756-32C11E60C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674" y="994031"/>
            <a:ext cx="5642975" cy="3760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主要内容</a:t>
            </a: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集合的两种表示法</a:t>
            </a: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集合与元素之间的隶属关系、集合之间的包含关系的区别与联系</a:t>
            </a: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特殊集合：空集、全集、幂集</a:t>
            </a: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文氏图及有穷集合的计数</a:t>
            </a: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集合的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∪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∩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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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等运算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集合运算的算律及其应用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E508FD3-50FC-4465-86E8-CB66B6F4D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658" y="994031"/>
            <a:ext cx="5614445" cy="3410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基本要求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掌握集合的两种表示法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能够判别元素是否属于给定的集合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能够判别两个集合之间是否存在包含、相等、真包含等关系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掌握集合的基本运算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掌握证明集合等式或者包含关系的基本方法</a:t>
            </a:r>
          </a:p>
        </p:txBody>
      </p:sp>
    </p:spTree>
    <p:extLst>
      <p:ext uri="{BB962C8B-B14F-4D97-AF65-F5344CB8AC3E}">
        <p14:creationId xmlns:p14="http://schemas.microsoft.com/office/powerpoint/2010/main" val="164420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ab742894-b611-4118-8065-b69e992411d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ab742894-b611-4118-8065-b69e992411d4"/>
</p:tagLst>
</file>

<file path=ppt/theme/theme1.xml><?xml version="1.0" encoding="utf-8"?>
<a:theme xmlns:a="http://schemas.openxmlformats.org/drawingml/2006/main" name="南京理工大学通用模板">
  <a:themeElements>
    <a:clrScheme name="紫罗兰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defRPr sz="1600" dirty="0" smtClean="0">
            <a:solidFill>
              <a:schemeClr val="tx1">
                <a:lumMod val="65000"/>
                <a:lumOff val="35000"/>
              </a:schemeClr>
            </a:solidFill>
            <a:latin typeface="微软雅黑 Light" panose="020B0502040204020203" pitchFamily="34" charset="-122"/>
            <a:ea typeface="微软雅黑 Light" panose="020B0502040204020203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21558</TotalTime>
  <Words>3373</Words>
  <Application>Microsoft Office PowerPoint</Application>
  <PresentationFormat>宽屏</PresentationFormat>
  <Paragraphs>457</Paragraphs>
  <Slides>29</Slides>
  <Notes>27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4" baseType="lpstr">
      <vt:lpstr>等线</vt:lpstr>
      <vt:lpstr>黑体</vt:lpstr>
      <vt:lpstr>华文中宋</vt:lpstr>
      <vt:lpstr>宋体</vt:lpstr>
      <vt:lpstr>微软雅黑 Light</vt:lpstr>
      <vt:lpstr>Arial</vt:lpstr>
      <vt:lpstr>Arial Black</vt:lpstr>
      <vt:lpstr>Cambria Math</vt:lpstr>
      <vt:lpstr>Lucida Sans Unicode</vt:lpstr>
      <vt:lpstr>Symbol</vt:lpstr>
      <vt:lpstr>Times New Roman</vt:lpstr>
      <vt:lpstr>Wingdings</vt:lpstr>
      <vt:lpstr>Wingdings 3</vt:lpstr>
      <vt:lpstr>南京理工大学通用模板</vt:lpstr>
      <vt:lpstr>公式</vt:lpstr>
      <vt:lpstr>离散数学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基于双目视觉的加油机器人 油箱盖识别与定位技术研究</dc:title>
  <dc:creator>Hongwei Fu</dc:creator>
  <cp:lastModifiedBy>744311194@qq.com</cp:lastModifiedBy>
  <cp:revision>234</cp:revision>
  <dcterms:created xsi:type="dcterms:W3CDTF">2024-03-07T10:43:13Z</dcterms:created>
  <dcterms:modified xsi:type="dcterms:W3CDTF">2026-03-16T11:42:54Z</dcterms:modified>
</cp:coreProperties>
</file>