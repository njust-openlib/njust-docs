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90"/>
  </p:notesMasterIdLst>
  <p:sldIdLst>
    <p:sldId id="376" r:id="rId2"/>
    <p:sldId id="517" r:id="rId3"/>
    <p:sldId id="415" r:id="rId4"/>
    <p:sldId id="375" r:id="rId5"/>
    <p:sldId id="425" r:id="rId6"/>
    <p:sldId id="426" r:id="rId7"/>
    <p:sldId id="427" r:id="rId8"/>
    <p:sldId id="428" r:id="rId9"/>
    <p:sldId id="429" r:id="rId10"/>
    <p:sldId id="430" r:id="rId11"/>
    <p:sldId id="431" r:id="rId12"/>
    <p:sldId id="432" r:id="rId13"/>
    <p:sldId id="433" r:id="rId14"/>
    <p:sldId id="434" r:id="rId15"/>
    <p:sldId id="435" r:id="rId16"/>
    <p:sldId id="418" r:id="rId17"/>
    <p:sldId id="437" r:id="rId18"/>
    <p:sldId id="439" r:id="rId19"/>
    <p:sldId id="419" r:id="rId20"/>
    <p:sldId id="440" r:id="rId21"/>
    <p:sldId id="441" r:id="rId22"/>
    <p:sldId id="442" r:id="rId23"/>
    <p:sldId id="443" r:id="rId24"/>
    <p:sldId id="444" r:id="rId25"/>
    <p:sldId id="445" r:id="rId26"/>
    <p:sldId id="446" r:id="rId27"/>
    <p:sldId id="519" r:id="rId28"/>
    <p:sldId id="520" r:id="rId29"/>
    <p:sldId id="447" r:id="rId30"/>
    <p:sldId id="448" r:id="rId31"/>
    <p:sldId id="449" r:id="rId32"/>
    <p:sldId id="450" r:id="rId33"/>
    <p:sldId id="451" r:id="rId34"/>
    <p:sldId id="452" r:id="rId35"/>
    <p:sldId id="454" r:id="rId36"/>
    <p:sldId id="455" r:id="rId37"/>
    <p:sldId id="456" r:id="rId38"/>
    <p:sldId id="457" r:id="rId39"/>
    <p:sldId id="458" r:id="rId40"/>
    <p:sldId id="453" r:id="rId41"/>
    <p:sldId id="461" r:id="rId42"/>
    <p:sldId id="460" r:id="rId43"/>
    <p:sldId id="462" r:id="rId44"/>
    <p:sldId id="464" r:id="rId45"/>
    <p:sldId id="467" r:id="rId46"/>
    <p:sldId id="468" r:id="rId47"/>
    <p:sldId id="469" r:id="rId48"/>
    <p:sldId id="470" r:id="rId49"/>
    <p:sldId id="471" r:id="rId50"/>
    <p:sldId id="473" r:id="rId51"/>
    <p:sldId id="474" r:id="rId52"/>
    <p:sldId id="475" r:id="rId53"/>
    <p:sldId id="476" r:id="rId54"/>
    <p:sldId id="477" r:id="rId55"/>
    <p:sldId id="479" r:id="rId56"/>
    <p:sldId id="485" r:id="rId57"/>
    <p:sldId id="486" r:id="rId58"/>
    <p:sldId id="487" r:id="rId59"/>
    <p:sldId id="488" r:id="rId60"/>
    <p:sldId id="482" r:id="rId61"/>
    <p:sldId id="481" r:id="rId62"/>
    <p:sldId id="484" r:id="rId63"/>
    <p:sldId id="489" r:id="rId64"/>
    <p:sldId id="492" r:id="rId65"/>
    <p:sldId id="491" r:id="rId66"/>
    <p:sldId id="493" r:id="rId67"/>
    <p:sldId id="494" r:id="rId68"/>
    <p:sldId id="495" r:id="rId69"/>
    <p:sldId id="496" r:id="rId70"/>
    <p:sldId id="497" r:id="rId71"/>
    <p:sldId id="498" r:id="rId72"/>
    <p:sldId id="499" r:id="rId73"/>
    <p:sldId id="500" r:id="rId74"/>
    <p:sldId id="501" r:id="rId75"/>
    <p:sldId id="502" r:id="rId76"/>
    <p:sldId id="503" r:id="rId77"/>
    <p:sldId id="515" r:id="rId78"/>
    <p:sldId id="505" r:id="rId79"/>
    <p:sldId id="507" r:id="rId80"/>
    <p:sldId id="508" r:id="rId81"/>
    <p:sldId id="510" r:id="rId82"/>
    <p:sldId id="509" r:id="rId83"/>
    <p:sldId id="512" r:id="rId84"/>
    <p:sldId id="513" r:id="rId85"/>
    <p:sldId id="511" r:id="rId86"/>
    <p:sldId id="514" r:id="rId87"/>
    <p:sldId id="516" r:id="rId88"/>
    <p:sldId id="518" r:id="rId8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ACC65D6F-A28C-4260-803B-9B8CBD5B93F1}">
          <p14:sldIdLst>
            <p14:sldId id="376"/>
            <p14:sldId id="517"/>
            <p14:sldId id="415"/>
            <p14:sldId id="375"/>
          </p14:sldIdLst>
        </p14:section>
        <p14:section name="1.1 命题符号化及联结词" id="{C8D5C452-DC4D-4C31-B4BC-B3F13F36C18B}">
          <p14:sldIdLst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35"/>
          </p14:sldIdLst>
        </p14:section>
        <p14:section name="1.2 命题公式及分类" id="{21AC7E27-5618-4499-B383-B16A261775C7}">
          <p14:sldIdLst>
            <p14:sldId id="418"/>
            <p14:sldId id="437"/>
            <p14:sldId id="439"/>
            <p14:sldId id="419"/>
            <p14:sldId id="440"/>
            <p14:sldId id="441"/>
            <p14:sldId id="442"/>
            <p14:sldId id="443"/>
            <p14:sldId id="444"/>
            <p14:sldId id="445"/>
            <p14:sldId id="446"/>
            <p14:sldId id="519"/>
            <p14:sldId id="520"/>
          </p14:sldIdLst>
        </p14:section>
        <p14:section name="1.3 等值演算" id="{0DF82F65-7862-4628-A4B1-AB4C10D71486}">
          <p14:sldIdLst>
            <p14:sldId id="447"/>
            <p14:sldId id="448"/>
            <p14:sldId id="449"/>
            <p14:sldId id="450"/>
            <p14:sldId id="451"/>
            <p14:sldId id="452"/>
            <p14:sldId id="454"/>
            <p14:sldId id="455"/>
            <p14:sldId id="456"/>
            <p14:sldId id="457"/>
            <p14:sldId id="458"/>
          </p14:sldIdLst>
        </p14:section>
        <p14:section name="1.4 范式" id="{85054577-779C-4706-A198-835B21BF3B76}">
          <p14:sldIdLst>
            <p14:sldId id="453"/>
            <p14:sldId id="461"/>
            <p14:sldId id="460"/>
            <p14:sldId id="462"/>
            <p14:sldId id="464"/>
            <p14:sldId id="467"/>
            <p14:sldId id="468"/>
            <p14:sldId id="469"/>
            <p14:sldId id="470"/>
            <p14:sldId id="471"/>
            <p14:sldId id="473"/>
            <p14:sldId id="474"/>
            <p14:sldId id="475"/>
            <p14:sldId id="476"/>
            <p14:sldId id="477"/>
            <p14:sldId id="479"/>
            <p14:sldId id="485"/>
            <p14:sldId id="486"/>
            <p14:sldId id="487"/>
            <p14:sldId id="488"/>
            <p14:sldId id="482"/>
            <p14:sldId id="481"/>
            <p14:sldId id="484"/>
          </p14:sldIdLst>
        </p14:section>
        <p14:section name="1.5 联结词全功能集" id="{C8EFBAA2-7FB4-4317-9F82-3280F35921D2}">
          <p14:sldIdLst>
            <p14:sldId id="489"/>
            <p14:sldId id="492"/>
            <p14:sldId id="491"/>
            <p14:sldId id="493"/>
          </p14:sldIdLst>
        </p14:section>
        <p14:section name="1.6组合电路" id="{A653258F-19DD-41FC-AD2B-3C5257717BDB}">
          <p14:sldIdLst>
            <p14:sldId id="494"/>
            <p14:sldId id="495"/>
            <p14:sldId id="496"/>
            <p14:sldId id="497"/>
            <p14:sldId id="498"/>
            <p14:sldId id="499"/>
          </p14:sldIdLst>
        </p14:section>
        <p14:section name="1.7推理理论·" id="{289E285E-BA81-4854-BAEE-630B78BD9656}">
          <p14:sldIdLst>
            <p14:sldId id="500"/>
            <p14:sldId id="501"/>
            <p14:sldId id="502"/>
            <p14:sldId id="503"/>
            <p14:sldId id="515"/>
            <p14:sldId id="505"/>
            <p14:sldId id="507"/>
            <p14:sldId id="508"/>
            <p14:sldId id="510"/>
            <p14:sldId id="509"/>
            <p14:sldId id="512"/>
            <p14:sldId id="513"/>
            <p14:sldId id="511"/>
            <p14:sldId id="514"/>
          </p14:sldIdLst>
        </p14:section>
        <p14:section name="总结" id="{1DEA7BF8-C28B-4FE7-93C3-1BC58B40FDC3}">
          <p14:sldIdLst>
            <p14:sldId id="516"/>
            <p14:sldId id="51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2677"/>
    <a:srgbClr val="AD51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72" autoAdjust="0"/>
    <p:restoredTop sz="96151" autoAdjust="0"/>
  </p:normalViewPr>
  <p:slideViewPr>
    <p:cSldViewPr snapToGrid="0">
      <p:cViewPr varScale="1">
        <p:scale>
          <a:sx n="92" d="100"/>
          <a:sy n="92" d="100"/>
        </p:scale>
        <p:origin x="996" y="56"/>
      </p:cViewPr>
      <p:guideLst/>
    </p:cSldViewPr>
  </p:slideViewPr>
  <p:outlineViewPr>
    <p:cViewPr>
      <p:scale>
        <a:sx n="33" d="100"/>
        <a:sy n="33" d="100"/>
      </p:scale>
      <p:origin x="0" y="-28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95" Type="http://schemas.microsoft.com/office/2016/11/relationships/changesInfo" Target="changesInfos/changesInfo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744311194@qq.com" userId="e2a28223f2085f4b" providerId="LiveId" clId="{93EAE7B5-FDEE-48D0-B65C-03455E3B8632}"/>
    <pc:docChg chg="undo custSel delSld modSld addSection delSection modSection">
      <pc:chgData name="744311194@qq.com" userId="e2a28223f2085f4b" providerId="LiveId" clId="{93EAE7B5-FDEE-48D0-B65C-03455E3B8632}" dt="2026-03-05T11:31:37.689" v="19" actId="17846"/>
      <pc:docMkLst>
        <pc:docMk/>
      </pc:docMkLst>
      <pc:sldChg chg="modSp mod">
        <pc:chgData name="744311194@qq.com" userId="e2a28223f2085f4b" providerId="LiveId" clId="{93EAE7B5-FDEE-48D0-B65C-03455E3B8632}" dt="2026-03-05T11:16:55.187" v="1" actId="1076"/>
        <pc:sldMkLst>
          <pc:docMk/>
          <pc:sldMk cId="1609920976" sldId="468"/>
        </pc:sldMkLst>
        <pc:picChg chg="mod">
          <ac:chgData name="744311194@qq.com" userId="e2a28223f2085f4b" providerId="LiveId" clId="{93EAE7B5-FDEE-48D0-B65C-03455E3B8632}" dt="2026-03-05T11:16:55.187" v="1" actId="1076"/>
          <ac:picMkLst>
            <pc:docMk/>
            <pc:sldMk cId="1609920976" sldId="468"/>
            <ac:picMk id="4" creationId="{3787A037-C211-4FB3-8967-EEB2AAA92D8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37446B-2894-449C-92CD-CB8A7EEE00B4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C4DD7C-FBF0-44C0-A1F7-EB98AA47B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547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263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4E569D-EDD6-4BC5-AFEC-DD57613D91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2640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780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0042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818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38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0359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029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9431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637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264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750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6054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5821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8210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2597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75159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1250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6825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978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39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93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7333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6079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5978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0959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054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95200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0783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71411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8024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9597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384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4574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85622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6683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08616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506480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784875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81484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86907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51829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98650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91157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29990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3535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88146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42782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51544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04576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45383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158005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34848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58751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35723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059934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4690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 79">
            <a:extLst>
              <a:ext uri="{FF2B5EF4-FFF2-40B4-BE49-F238E27FC236}">
                <a16:creationId xmlns:a16="http://schemas.microsoft.com/office/drawing/2014/main" id="{B69D3C12-69C4-4A3C-8A16-E380AFBB70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D66FF192-87A1-4842-AED9-B944F1200217}"/>
              </a:ext>
            </a:extLst>
          </p:cNvPr>
          <p:cNvSpPr/>
          <p:nvPr userDrawn="1"/>
        </p:nvSpPr>
        <p:spPr>
          <a:xfrm>
            <a:off x="0" y="1736723"/>
            <a:ext cx="12192000" cy="3384552"/>
          </a:xfrm>
          <a:custGeom>
            <a:avLst/>
            <a:gdLst>
              <a:gd name="connsiteX0" fmla="*/ 0 w 12192000"/>
              <a:gd name="connsiteY0" fmla="*/ 0 h 3384552"/>
              <a:gd name="connsiteX1" fmla="*/ 5221304 w 12192000"/>
              <a:gd name="connsiteY1" fmla="*/ 0 h 3384552"/>
              <a:gd name="connsiteX2" fmla="*/ 5237005 w 12192000"/>
              <a:gd name="connsiteY2" fmla="*/ 155754 h 3384552"/>
              <a:gd name="connsiteX3" fmla="*/ 6096000 w 12192000"/>
              <a:gd name="connsiteY3" fmla="*/ 855855 h 3384552"/>
              <a:gd name="connsiteX4" fmla="*/ 6954996 w 12192000"/>
              <a:gd name="connsiteY4" fmla="*/ 155754 h 3384552"/>
              <a:gd name="connsiteX5" fmla="*/ 6970697 w 12192000"/>
              <a:gd name="connsiteY5" fmla="*/ 0 h 3384552"/>
              <a:gd name="connsiteX6" fmla="*/ 12192000 w 12192000"/>
              <a:gd name="connsiteY6" fmla="*/ 0 h 3384552"/>
              <a:gd name="connsiteX7" fmla="*/ 12192000 w 12192000"/>
              <a:gd name="connsiteY7" fmla="*/ 3384552 h 3384552"/>
              <a:gd name="connsiteX8" fmla="*/ 0 w 12192000"/>
              <a:gd name="connsiteY8" fmla="*/ 3384552 h 3384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384552">
                <a:moveTo>
                  <a:pt x="0" y="0"/>
                </a:moveTo>
                <a:lnTo>
                  <a:pt x="5221304" y="0"/>
                </a:lnTo>
                <a:lnTo>
                  <a:pt x="5237005" y="155754"/>
                </a:lnTo>
                <a:cubicBezTo>
                  <a:pt x="5318764" y="555301"/>
                  <a:pt x="5672283" y="855855"/>
                  <a:pt x="6096000" y="855855"/>
                </a:cubicBezTo>
                <a:cubicBezTo>
                  <a:pt x="6519717" y="855855"/>
                  <a:pt x="6873236" y="555301"/>
                  <a:pt x="6954996" y="155754"/>
                </a:cubicBezTo>
                <a:lnTo>
                  <a:pt x="6970697" y="0"/>
                </a:lnTo>
                <a:lnTo>
                  <a:pt x="12192000" y="0"/>
                </a:lnTo>
                <a:lnTo>
                  <a:pt x="12192000" y="3384552"/>
                </a:lnTo>
                <a:lnTo>
                  <a:pt x="0" y="3384552"/>
                </a:lnTo>
                <a:close/>
              </a:path>
            </a:pathLst>
          </a:custGeom>
          <a:solidFill>
            <a:srgbClr val="9926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 useBgFill="1">
        <p:nvSpPr>
          <p:cNvPr id="104" name="矩形 103">
            <a:extLst>
              <a:ext uri="{FF2B5EF4-FFF2-40B4-BE49-F238E27FC236}">
                <a16:creationId xmlns:a16="http://schemas.microsoft.com/office/drawing/2014/main" id="{25E46E35-8EC9-4AC4-909B-B1F3BC63089E}"/>
              </a:ext>
            </a:extLst>
          </p:cNvPr>
          <p:cNvSpPr/>
          <p:nvPr userDrawn="1"/>
        </p:nvSpPr>
        <p:spPr>
          <a:xfrm>
            <a:off x="423387" y="1736724"/>
            <a:ext cx="164788" cy="33845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 useBgFill="1">
        <p:nvSpPr>
          <p:cNvPr id="106" name="矩形 105">
            <a:extLst>
              <a:ext uri="{FF2B5EF4-FFF2-40B4-BE49-F238E27FC236}">
                <a16:creationId xmlns:a16="http://schemas.microsoft.com/office/drawing/2014/main" id="{D87BC45E-E4CF-4749-91B0-AB004E8258BC}"/>
              </a:ext>
            </a:extLst>
          </p:cNvPr>
          <p:cNvSpPr/>
          <p:nvPr userDrawn="1"/>
        </p:nvSpPr>
        <p:spPr>
          <a:xfrm>
            <a:off x="11649241" y="1736724"/>
            <a:ext cx="164788" cy="33845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F6385A17-6A4B-4926-AD6D-2A09F5402B58}"/>
              </a:ext>
            </a:extLst>
          </p:cNvPr>
          <p:cNvSpPr/>
          <p:nvPr userDrawn="1"/>
        </p:nvSpPr>
        <p:spPr>
          <a:xfrm>
            <a:off x="11649241" y="1736724"/>
            <a:ext cx="164788" cy="3384552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ABC598F6-7EB1-4C8F-9F87-5CA9A5CECDC1}"/>
              </a:ext>
            </a:extLst>
          </p:cNvPr>
          <p:cNvSpPr/>
          <p:nvPr userDrawn="1"/>
        </p:nvSpPr>
        <p:spPr>
          <a:xfrm>
            <a:off x="423387" y="1736724"/>
            <a:ext cx="164788" cy="3384552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>
        <p:nvSpPr>
          <p:cNvPr id="114" name="标题 112">
            <a:extLst>
              <a:ext uri="{FF2B5EF4-FFF2-40B4-BE49-F238E27FC236}">
                <a16:creationId xmlns:a16="http://schemas.microsoft.com/office/drawing/2014/main" id="{FA5E98B8-A581-470E-A5D3-7587EC891C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1094" y="2795268"/>
            <a:ext cx="10335228" cy="663712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defRPr lang="zh-CN" altLang="en-US" sz="4000" b="1" kern="1200" spc="600" dirty="0">
                <a:solidFill>
                  <a:schemeClr val="bg1"/>
                </a:solidFill>
                <a:latin typeface="+mj-ea"/>
                <a:ea typeface="+mj-ea"/>
                <a:cs typeface="+mn-ea"/>
              </a:defRPr>
            </a:lvl1pPr>
          </a:lstStyle>
          <a:p>
            <a:pPr algn="ctr"/>
            <a:r>
              <a:rPr lang="zh-CN" altLang="en-US" sz="4000" b="1" spc="600" dirty="0">
                <a:solidFill>
                  <a:schemeClr val="bg1"/>
                </a:solidFill>
                <a:cs typeface="+mn-ea"/>
                <a:sym typeface="+mn-lt"/>
              </a:rPr>
              <a:t>南京理工大学通用模板</a:t>
            </a:r>
          </a:p>
        </p:txBody>
      </p:sp>
      <p:sp>
        <p:nvSpPr>
          <p:cNvPr id="117" name="文本占位符 115">
            <a:extLst>
              <a:ext uri="{FF2B5EF4-FFF2-40B4-BE49-F238E27FC236}">
                <a16:creationId xmlns:a16="http://schemas.microsoft.com/office/drawing/2014/main" id="{9B9521D1-D78A-45F5-868B-2DC1CB0C6A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3600" y="3729984"/>
            <a:ext cx="5370513" cy="415925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buNone/>
              <a:defRPr lang="zh-CN" altLang="en-US" sz="2000" kern="1200" spc="600" dirty="0" smtClean="0">
                <a:solidFill>
                  <a:schemeClr val="bg1"/>
                </a:solidFill>
                <a:latin typeface="+mn-lt"/>
                <a:ea typeface="+mn-ea"/>
                <a:cs typeface="+mn-ea"/>
              </a:defRPr>
            </a:lvl1pPr>
            <a:lvl2pPr marL="0" indent="0" algn="ctr" defTabSz="914400" rtl="0" eaLnBrk="1" latinLnBrk="0" hangingPunct="1">
              <a:buNone/>
              <a:defRPr lang="zh-CN" altLang="en-US" sz="2000" kern="1200" spc="600" dirty="0" smtClean="0">
                <a:solidFill>
                  <a:schemeClr val="bg1"/>
                </a:solidFill>
                <a:latin typeface="+mn-lt"/>
                <a:ea typeface="+mn-ea"/>
                <a:cs typeface="+mn-ea"/>
              </a:defRPr>
            </a:lvl2pPr>
            <a:lvl3pPr marL="0" indent="0" algn="ctr" defTabSz="914400" rtl="0" eaLnBrk="1" latinLnBrk="0" hangingPunct="1">
              <a:buNone/>
              <a:defRPr lang="zh-CN" altLang="en-US" sz="2000" kern="1200" spc="600" dirty="0" smtClean="0">
                <a:solidFill>
                  <a:schemeClr val="bg1"/>
                </a:solidFill>
                <a:latin typeface="+mn-lt"/>
                <a:ea typeface="+mn-ea"/>
                <a:cs typeface="+mn-ea"/>
              </a:defRPr>
            </a:lvl3pPr>
            <a:lvl4pPr marL="0" indent="0" algn="ctr" defTabSz="914400" rtl="0" eaLnBrk="1" latinLnBrk="0" hangingPunct="1">
              <a:buNone/>
              <a:defRPr lang="zh-CN" altLang="en-US" sz="2000" kern="1200" spc="600" dirty="0" smtClean="0">
                <a:solidFill>
                  <a:schemeClr val="bg1"/>
                </a:solidFill>
                <a:latin typeface="+mn-lt"/>
                <a:ea typeface="+mn-ea"/>
                <a:cs typeface="+mn-ea"/>
              </a:defRPr>
            </a:lvl4pPr>
            <a:lvl5pPr marL="0" indent="0" algn="ctr" defTabSz="914400" rtl="0" eaLnBrk="1" latinLnBrk="0" hangingPunct="1">
              <a:buNone/>
              <a:defRPr lang="zh-CN" altLang="en-US" sz="2000" kern="1200" spc="600" dirty="0">
                <a:solidFill>
                  <a:schemeClr val="bg1"/>
                </a:solidFill>
                <a:latin typeface="+mn-lt"/>
                <a:ea typeface="+mn-ea"/>
                <a:cs typeface="+mn-ea"/>
              </a:defRPr>
            </a:lvl5pPr>
          </a:lstStyle>
          <a:p>
            <a:pPr algn="ctr"/>
            <a:r>
              <a:rPr lang="zh-CN" altLang="en-US" sz="2000" spc="600" dirty="0">
                <a:solidFill>
                  <a:schemeClr val="bg1"/>
                </a:solidFill>
                <a:cs typeface="+mn-ea"/>
                <a:sym typeface="+mn-lt"/>
              </a:rPr>
              <a:t>我为母校送模板</a:t>
            </a:r>
          </a:p>
        </p:txBody>
      </p:sp>
      <p:sp>
        <p:nvSpPr>
          <p:cNvPr id="120" name="文本占位符 118">
            <a:extLst>
              <a:ext uri="{FF2B5EF4-FFF2-40B4-BE49-F238E27FC236}">
                <a16:creationId xmlns:a16="http://schemas.microsoft.com/office/drawing/2014/main" id="{C7C91DAB-02C1-4D18-9707-E24263492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56856" y="5514975"/>
            <a:ext cx="2032000" cy="32702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buNone/>
              <a:defRPr lang="zh-CN" altLang="en-US" sz="1600" b="1" kern="1200" dirty="0" smtClean="0">
                <a:solidFill>
                  <a:schemeClr val="accent1"/>
                </a:solidFill>
                <a:latin typeface="+mj-ea"/>
                <a:ea typeface="+mj-ea"/>
                <a:cs typeface="+mn-ea"/>
              </a:defRPr>
            </a:lvl1pPr>
            <a:lvl2pPr marL="0" indent="0" algn="just" defTabSz="914400" rtl="0" eaLnBrk="1" latinLnBrk="0" hangingPunct="1">
              <a:buNone/>
              <a:defRPr lang="zh-CN" altLang="en-US" sz="1600" kern="1200" dirty="0" smtClean="0">
                <a:solidFill>
                  <a:schemeClr val="accent1"/>
                </a:solidFill>
                <a:latin typeface="+mn-lt"/>
                <a:ea typeface="+mn-ea"/>
                <a:cs typeface="+mn-ea"/>
              </a:defRPr>
            </a:lvl2pPr>
            <a:lvl3pPr marL="0" indent="0" algn="just" defTabSz="914400" rtl="0" eaLnBrk="1" latinLnBrk="0" hangingPunct="1">
              <a:buNone/>
              <a:defRPr lang="zh-CN" altLang="en-US" sz="1600" kern="1200" dirty="0" smtClean="0">
                <a:solidFill>
                  <a:schemeClr val="accent1"/>
                </a:solidFill>
                <a:latin typeface="+mn-lt"/>
                <a:ea typeface="+mn-ea"/>
                <a:cs typeface="+mn-ea"/>
              </a:defRPr>
            </a:lvl3pPr>
            <a:lvl4pPr marL="0" indent="0" algn="just" defTabSz="914400" rtl="0" eaLnBrk="1" latinLnBrk="0" hangingPunct="1">
              <a:buNone/>
              <a:defRPr lang="zh-CN" altLang="en-US" sz="1600" kern="1200" dirty="0" smtClean="0">
                <a:solidFill>
                  <a:schemeClr val="accent1"/>
                </a:solidFill>
                <a:latin typeface="+mn-lt"/>
                <a:ea typeface="+mn-ea"/>
                <a:cs typeface="+mn-ea"/>
              </a:defRPr>
            </a:lvl4pPr>
            <a:lvl5pPr marL="0" indent="0" algn="just" defTabSz="914400" rtl="0" eaLnBrk="1" latinLnBrk="0" hangingPunct="1">
              <a:buNone/>
              <a:defRPr lang="zh-CN" altLang="en-US" sz="1600" kern="1200" dirty="0">
                <a:solidFill>
                  <a:schemeClr val="accent1"/>
                </a:solidFill>
                <a:latin typeface="+mn-lt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汇报人：</a:t>
            </a:r>
            <a:r>
              <a:rPr lang="zh-CN" altLang="en-US" b="0" dirty="0">
                <a:latin typeface="+mn-ea"/>
                <a:ea typeface="+mn-ea"/>
              </a:rPr>
              <a:t>刘光前</a:t>
            </a:r>
            <a:endParaRPr lang="zh-CN" altLang="en-US" dirty="0"/>
          </a:p>
        </p:txBody>
      </p:sp>
      <p:sp>
        <p:nvSpPr>
          <p:cNvPr id="122" name="文本占位符 118">
            <a:extLst>
              <a:ext uri="{FF2B5EF4-FFF2-40B4-BE49-F238E27FC236}">
                <a16:creationId xmlns:a16="http://schemas.microsoft.com/office/drawing/2014/main" id="{8BC95D8D-59EF-48A7-9C18-AC99F935125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46243" y="5575300"/>
            <a:ext cx="2032000" cy="32702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buNone/>
              <a:defRPr lang="zh-CN" altLang="en-US" sz="1600" b="1" kern="1200" dirty="0" smtClean="0">
                <a:solidFill>
                  <a:schemeClr val="accent1"/>
                </a:solidFill>
                <a:latin typeface="+mj-ea"/>
                <a:ea typeface="+mj-ea"/>
                <a:cs typeface="+mn-ea"/>
              </a:defRPr>
            </a:lvl1pPr>
            <a:lvl2pPr marL="0" indent="0" algn="just" defTabSz="914400" rtl="0" eaLnBrk="1" latinLnBrk="0" hangingPunct="1">
              <a:buNone/>
              <a:defRPr lang="zh-CN" altLang="en-US" sz="1600" kern="1200" dirty="0" smtClean="0">
                <a:solidFill>
                  <a:schemeClr val="accent1"/>
                </a:solidFill>
                <a:latin typeface="+mn-lt"/>
                <a:ea typeface="+mn-ea"/>
                <a:cs typeface="+mn-ea"/>
              </a:defRPr>
            </a:lvl2pPr>
            <a:lvl3pPr marL="0" indent="0" algn="just" defTabSz="914400" rtl="0" eaLnBrk="1" latinLnBrk="0" hangingPunct="1">
              <a:buNone/>
              <a:defRPr lang="zh-CN" altLang="en-US" sz="1600" kern="1200" dirty="0" smtClean="0">
                <a:solidFill>
                  <a:schemeClr val="accent1"/>
                </a:solidFill>
                <a:latin typeface="+mn-lt"/>
                <a:ea typeface="+mn-ea"/>
                <a:cs typeface="+mn-ea"/>
              </a:defRPr>
            </a:lvl3pPr>
            <a:lvl4pPr marL="0" indent="0" algn="just" defTabSz="914400" rtl="0" eaLnBrk="1" latinLnBrk="0" hangingPunct="1">
              <a:buNone/>
              <a:defRPr lang="zh-CN" altLang="en-US" sz="1600" kern="1200" dirty="0" smtClean="0">
                <a:solidFill>
                  <a:schemeClr val="accent1"/>
                </a:solidFill>
                <a:latin typeface="+mn-lt"/>
                <a:ea typeface="+mn-ea"/>
                <a:cs typeface="+mn-ea"/>
              </a:defRPr>
            </a:lvl4pPr>
            <a:lvl5pPr marL="0" indent="0" algn="just" defTabSz="914400" rtl="0" eaLnBrk="1" latinLnBrk="0" hangingPunct="1">
              <a:buNone/>
              <a:defRPr lang="zh-CN" altLang="en-US" sz="1600" kern="1200" dirty="0">
                <a:solidFill>
                  <a:schemeClr val="accent1"/>
                </a:solidFill>
                <a:latin typeface="+mn-lt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指导老师：</a:t>
            </a:r>
            <a:r>
              <a:rPr lang="en-US" altLang="zh-CN" b="0" dirty="0">
                <a:latin typeface="+mn-ea"/>
                <a:ea typeface="+mn-ea"/>
              </a:rPr>
              <a:t>X </a:t>
            </a:r>
            <a:r>
              <a:rPr lang="en-US" altLang="zh-CN" b="0" dirty="0" err="1">
                <a:latin typeface="+mn-ea"/>
                <a:ea typeface="+mn-ea"/>
              </a:rPr>
              <a:t>X</a:t>
            </a:r>
            <a:r>
              <a:rPr lang="en-US" altLang="zh-CN" b="0" dirty="0">
                <a:latin typeface="+mn-ea"/>
                <a:ea typeface="+mn-ea"/>
              </a:rPr>
              <a:t> </a:t>
            </a:r>
            <a:r>
              <a:rPr lang="en-US" altLang="zh-CN" b="0" dirty="0" err="1">
                <a:latin typeface="+mn-ea"/>
                <a:ea typeface="+mn-ea"/>
              </a:rPr>
              <a:t>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72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排版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E379FF4-CF40-446E-8233-5839C197A8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92" r="3449" b="734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0818D33-AD20-4EFB-8D77-858D885ED47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32D65A4-43FB-4FF1-898F-C29DCB19927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7678" y="368300"/>
            <a:ext cx="1885510" cy="434293"/>
          </a:xfrm>
          <a:prstGeom prst="rect">
            <a:avLst/>
          </a:prstGeo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DFC62F6-2DFD-4084-AA3E-9A3FFEB2FD9A}"/>
              </a:ext>
            </a:extLst>
          </p:cNvPr>
          <p:cNvCxnSpPr/>
          <p:nvPr userDrawn="1"/>
        </p:nvCxnSpPr>
        <p:spPr>
          <a:xfrm>
            <a:off x="485775" y="858762"/>
            <a:ext cx="11220450" cy="0"/>
          </a:xfrm>
          <a:prstGeom prst="line">
            <a:avLst/>
          </a:prstGeom>
          <a:ln w="38100">
            <a:solidFill>
              <a:srgbClr val="9926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227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3111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1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40">
          <p15:clr>
            <a:srgbClr val="F26B43"/>
          </p15:clr>
        </p15:guide>
        <p15:guide id="4" pos="7240">
          <p15:clr>
            <a:srgbClr val="F26B43"/>
          </p15:clr>
        </p15:guide>
        <p15:guide id="5" orient="horz" pos="232">
          <p15:clr>
            <a:srgbClr val="F26B43"/>
          </p15:clr>
        </p15:guide>
        <p15:guide id="6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7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57BA58C6-D381-5CE4-FE6F-7F012883EED6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3573608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课程简介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DB62CFE-5D20-4182-8DB7-7312071BD56C}"/>
              </a:ext>
            </a:extLst>
          </p:cNvPr>
          <p:cNvSpPr txBox="1"/>
          <p:nvPr/>
        </p:nvSpPr>
        <p:spPr>
          <a:xfrm>
            <a:off x="495498" y="1137842"/>
            <a:ext cx="981594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3000" b="1" dirty="0">
                <a:solidFill>
                  <a:srgbClr val="CC0000"/>
                </a:solidFill>
                <a:effectLst/>
                <a:latin typeface="STZhongsong" panose="02010600040101010101" pitchFamily="2" charset="-122"/>
                <a:ea typeface="STZhongsong" panose="02010600040101010101" pitchFamily="2" charset="-122"/>
              </a:rPr>
              <a:t>学习对象</a:t>
            </a:r>
            <a:r>
              <a:rPr lang="zh-CN" altLang="en-US" sz="3000" b="1" dirty="0">
                <a:solidFill>
                  <a:srgbClr val="00009A"/>
                </a:solidFill>
                <a:effectLst/>
                <a:latin typeface="STZhongsong" panose="02010600040101010101" pitchFamily="2" charset="-122"/>
                <a:ea typeface="STZhongsong" panose="02010600040101010101" pitchFamily="2" charset="-122"/>
              </a:rPr>
              <a:t>：</a:t>
            </a:r>
            <a:r>
              <a:rPr lang="zh-CN" altLang="en-US" sz="3000" b="1" dirty="0">
                <a:solidFill>
                  <a:srgbClr val="292929"/>
                </a:solidFill>
                <a:effectLst/>
                <a:latin typeface="STZhongsong" panose="02010600040101010101" pitchFamily="2" charset="-122"/>
                <a:ea typeface="STZhongsong" panose="02010600040101010101" pitchFamily="2" charset="-122"/>
              </a:rPr>
              <a:t>各种离散量的结构及之间的关系。 </a:t>
            </a:r>
            <a:endParaRPr lang="en-US" altLang="zh-CN" sz="3000" b="1" dirty="0">
              <a:solidFill>
                <a:srgbClr val="292929"/>
              </a:solidFill>
              <a:effectLst/>
              <a:latin typeface="STZhongsong" panose="02010600040101010101" pitchFamily="2" charset="-122"/>
              <a:ea typeface="STZhongsong" panose="02010600040101010101" pitchFamily="2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3000" b="1" dirty="0">
                <a:solidFill>
                  <a:srgbClr val="292929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                </a:t>
            </a:r>
            <a:r>
              <a:rPr lang="zh-CN" altLang="en-US" sz="3000" b="1" dirty="0">
                <a:solidFill>
                  <a:srgbClr val="292929"/>
                </a:solidFill>
                <a:effectLst/>
                <a:latin typeface="STZhongsong" panose="02010600040101010101" pitchFamily="2" charset="-122"/>
                <a:ea typeface="STZhongsong" panose="02010600040101010101" pitchFamily="2" charset="-122"/>
              </a:rPr>
              <a:t>这些离散量一般是有限或可数个元素。</a:t>
            </a:r>
            <a:endParaRPr lang="zh-CN" altLang="en-US" sz="30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859CC63-D42E-4FCC-8923-DD315624A17B}"/>
              </a:ext>
            </a:extLst>
          </p:cNvPr>
          <p:cNvSpPr txBox="1"/>
          <p:nvPr/>
        </p:nvSpPr>
        <p:spPr>
          <a:xfrm>
            <a:off x="571697" y="2584816"/>
            <a:ext cx="1093816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 dirty="0">
                <a:solidFill>
                  <a:srgbClr val="CC0000"/>
                </a:solidFill>
                <a:effectLst/>
                <a:latin typeface="STZhongsong" panose="02010600040101010101" pitchFamily="2" charset="-122"/>
                <a:ea typeface="STZhongsong" panose="02010600040101010101" pitchFamily="2" charset="-122"/>
              </a:rPr>
              <a:t>学习内容</a:t>
            </a:r>
            <a:r>
              <a:rPr lang="zh-CN" altLang="en-US" sz="3000" b="1" dirty="0">
                <a:solidFill>
                  <a:srgbClr val="00009A"/>
                </a:solidFill>
                <a:effectLst/>
                <a:latin typeface="STZhongsong" panose="02010600040101010101" pitchFamily="2" charset="-122"/>
                <a:ea typeface="STZhongsong" panose="02010600040101010101" pitchFamily="2" charset="-122"/>
              </a:rPr>
              <a:t>：</a:t>
            </a:r>
            <a:r>
              <a:rPr lang="zh-CN" altLang="en-US" sz="3000" b="1" dirty="0">
                <a:solidFill>
                  <a:srgbClr val="292929"/>
                </a:solidFill>
                <a:effectLst/>
                <a:latin typeface="STZhongsong" panose="02010600040101010101" pitchFamily="2" charset="-122"/>
                <a:ea typeface="STZhongsong" panose="02010600040101010101" pitchFamily="2" charset="-122"/>
              </a:rPr>
              <a:t>多个分散的专题，包括教材前</a:t>
            </a:r>
            <a:r>
              <a:rPr lang="en-US" altLang="zh-CN" sz="3000" b="1" dirty="0">
                <a:solidFill>
                  <a:srgbClr val="292929"/>
                </a:solidFill>
                <a:effectLst/>
                <a:latin typeface="STZhongsong" panose="02010600040101010101" pitchFamily="2" charset="-122"/>
                <a:ea typeface="STZhongsong" panose="02010600040101010101" pitchFamily="2" charset="-122"/>
              </a:rPr>
              <a:t>7</a:t>
            </a:r>
            <a:r>
              <a:rPr lang="zh-CN" altLang="en-US" sz="3000" b="1" dirty="0">
                <a:solidFill>
                  <a:srgbClr val="292929"/>
                </a:solidFill>
                <a:effectLst/>
                <a:latin typeface="STZhongsong" panose="02010600040101010101" pitchFamily="2" charset="-122"/>
                <a:ea typeface="STZhongsong" panose="02010600040101010101" pitchFamily="2" charset="-122"/>
              </a:rPr>
              <a:t>章： </a:t>
            </a:r>
            <a:endParaRPr lang="en-US" altLang="zh-CN" sz="3000" b="1" dirty="0">
              <a:solidFill>
                <a:srgbClr val="292929"/>
              </a:solidFill>
              <a:effectLst/>
              <a:latin typeface="STZhongsong" panose="02010600040101010101" pitchFamily="2" charset="-122"/>
              <a:ea typeface="STZhongsong" panose="02010600040101010101" pitchFamily="2" charset="-122"/>
            </a:endParaRPr>
          </a:p>
          <a:p>
            <a:r>
              <a:rPr lang="en-US" altLang="zh-CN" sz="3000" b="1" dirty="0">
                <a:solidFill>
                  <a:srgbClr val="292929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               </a:t>
            </a:r>
            <a:r>
              <a:rPr lang="zh-CN" altLang="en-US" sz="3000" b="1" dirty="0">
                <a:solidFill>
                  <a:srgbClr val="292929"/>
                </a:solidFill>
                <a:effectLst/>
                <a:latin typeface="STZhongsong" panose="02010600040101010101" pitchFamily="2" charset="-122"/>
                <a:ea typeface="STZhongsong" panose="02010600040101010101" pitchFamily="2" charset="-122"/>
              </a:rPr>
              <a:t>命题逻辑、谓词逻辑、集合、关系</a:t>
            </a:r>
            <a:r>
              <a:rPr lang="zh-CN" altLang="en-US" sz="3000" b="1" dirty="0">
                <a:solidFill>
                  <a:srgbClr val="292929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、图、树等</a:t>
            </a:r>
            <a:endParaRPr lang="zh-CN" altLang="en-US" sz="30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D0B1466-B85F-481D-83A9-816709D3CBC6}"/>
              </a:ext>
            </a:extLst>
          </p:cNvPr>
          <p:cNvSpPr txBox="1"/>
          <p:nvPr/>
        </p:nvSpPr>
        <p:spPr>
          <a:xfrm>
            <a:off x="616524" y="5182661"/>
            <a:ext cx="1093816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 dirty="0">
                <a:solidFill>
                  <a:srgbClr val="CC0000"/>
                </a:solidFill>
                <a:effectLst/>
                <a:latin typeface="STZhongsong" panose="02010600040101010101" pitchFamily="2" charset="-122"/>
                <a:ea typeface="STZhongsong" panose="02010600040101010101" pitchFamily="2" charset="-122"/>
              </a:rPr>
              <a:t>课时安排</a:t>
            </a:r>
            <a:r>
              <a:rPr lang="zh-CN" altLang="en-US" sz="3000" b="1" dirty="0">
                <a:solidFill>
                  <a:srgbClr val="00009A"/>
                </a:solidFill>
                <a:effectLst/>
                <a:latin typeface="STZhongsong" panose="02010600040101010101" pitchFamily="2" charset="-122"/>
                <a:ea typeface="STZhongsong" panose="02010600040101010101" pitchFamily="2" charset="-122"/>
              </a:rPr>
              <a:t>：</a:t>
            </a:r>
            <a:r>
              <a:rPr lang="en-US" altLang="zh-CN" sz="3000" b="1" dirty="0">
                <a:solidFill>
                  <a:srgbClr val="292929"/>
                </a:solidFill>
                <a:effectLst/>
                <a:latin typeface="STZhongsong" panose="02010600040101010101" pitchFamily="2" charset="-122"/>
                <a:ea typeface="STZhongsong" panose="02010600040101010101" pitchFamily="2" charset="-122"/>
              </a:rPr>
              <a:t>32</a:t>
            </a:r>
            <a:r>
              <a:rPr lang="zh-CN" altLang="en-US" sz="3000" b="1" dirty="0">
                <a:solidFill>
                  <a:srgbClr val="292929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学时</a:t>
            </a:r>
            <a:endParaRPr lang="en-US" altLang="zh-CN" sz="3000" b="1" dirty="0">
              <a:solidFill>
                <a:srgbClr val="292929"/>
              </a:solidFill>
              <a:effectLst/>
              <a:latin typeface="STZhongsong" panose="02010600040101010101" pitchFamily="2" charset="-122"/>
              <a:ea typeface="STZhongsong" panose="02010600040101010101" pitchFamily="2" charset="-122"/>
            </a:endParaRPr>
          </a:p>
          <a:p>
            <a:r>
              <a:rPr lang="en-US" altLang="zh-CN" sz="3000" b="1" dirty="0">
                <a:solidFill>
                  <a:srgbClr val="292929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               </a:t>
            </a:r>
            <a:endParaRPr lang="zh-CN" altLang="en-US" sz="30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195A985-0173-4131-A301-8DDFC250E31F}"/>
              </a:ext>
            </a:extLst>
          </p:cNvPr>
          <p:cNvSpPr txBox="1"/>
          <p:nvPr/>
        </p:nvSpPr>
        <p:spPr>
          <a:xfrm>
            <a:off x="609595" y="6007006"/>
            <a:ext cx="1093816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 dirty="0">
                <a:solidFill>
                  <a:srgbClr val="CC0000"/>
                </a:solidFill>
                <a:effectLst/>
                <a:latin typeface="STZhongsong" panose="02010600040101010101" pitchFamily="2" charset="-122"/>
                <a:ea typeface="STZhongsong" panose="02010600040101010101" pitchFamily="2" charset="-122"/>
              </a:rPr>
              <a:t>考核方式</a:t>
            </a:r>
            <a:r>
              <a:rPr lang="zh-CN" altLang="en-US" sz="3000" b="1" dirty="0">
                <a:solidFill>
                  <a:srgbClr val="00009A"/>
                </a:solidFill>
                <a:effectLst/>
                <a:latin typeface="STZhongsong" panose="02010600040101010101" pitchFamily="2" charset="-122"/>
                <a:ea typeface="STZhongsong" panose="02010600040101010101" pitchFamily="2" charset="-122"/>
              </a:rPr>
              <a:t>：</a:t>
            </a:r>
            <a:r>
              <a:rPr lang="zh-CN" altLang="en-US" sz="3000" b="1" dirty="0">
                <a:solidFill>
                  <a:srgbClr val="292929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闭卷笔试（</a:t>
            </a:r>
            <a:r>
              <a:rPr lang="en-US" altLang="zh-CN" sz="3000" b="1" dirty="0">
                <a:solidFill>
                  <a:srgbClr val="292929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70%</a:t>
            </a:r>
            <a:r>
              <a:rPr lang="zh-CN" altLang="en-US" sz="3000" b="1" dirty="0">
                <a:solidFill>
                  <a:srgbClr val="292929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）</a:t>
            </a:r>
            <a:r>
              <a:rPr lang="en-US" altLang="zh-CN" sz="3000" b="1" dirty="0">
                <a:solidFill>
                  <a:srgbClr val="292929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+</a:t>
            </a:r>
            <a:r>
              <a:rPr lang="zh-CN" altLang="en-US" sz="3000" b="1" dirty="0">
                <a:solidFill>
                  <a:srgbClr val="292929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作业（</a:t>
            </a:r>
            <a:r>
              <a:rPr lang="en-US" altLang="zh-CN" sz="3000" b="1" dirty="0">
                <a:solidFill>
                  <a:srgbClr val="292929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20%</a:t>
            </a:r>
            <a:r>
              <a:rPr lang="zh-CN" altLang="en-US" sz="3000" b="1" dirty="0">
                <a:solidFill>
                  <a:srgbClr val="292929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）</a:t>
            </a:r>
            <a:r>
              <a:rPr lang="en-US" altLang="zh-CN" sz="3000" b="1" dirty="0">
                <a:solidFill>
                  <a:srgbClr val="292929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+</a:t>
            </a:r>
            <a:r>
              <a:rPr lang="zh-CN" altLang="en-US" sz="3000" b="1" dirty="0">
                <a:solidFill>
                  <a:srgbClr val="292929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出勤（</a:t>
            </a:r>
            <a:r>
              <a:rPr lang="en-US" altLang="zh-CN" sz="3000" b="1" dirty="0">
                <a:solidFill>
                  <a:srgbClr val="292929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10%</a:t>
            </a:r>
            <a:r>
              <a:rPr lang="zh-CN" altLang="en-US" sz="3000" b="1" dirty="0">
                <a:solidFill>
                  <a:srgbClr val="292929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）</a:t>
            </a:r>
            <a:endParaRPr lang="en-US" altLang="zh-CN" sz="3000" b="1" dirty="0">
              <a:solidFill>
                <a:srgbClr val="292929"/>
              </a:solidFill>
              <a:latin typeface="STZhongsong" panose="02010600040101010101" pitchFamily="2" charset="-122"/>
              <a:ea typeface="STZhongsong" panose="02010600040101010101" pitchFamily="2" charset="-122"/>
            </a:endParaRPr>
          </a:p>
          <a:p>
            <a:r>
              <a:rPr lang="en-US" altLang="zh-CN" sz="3000" b="1" dirty="0">
                <a:solidFill>
                  <a:srgbClr val="292929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               </a:t>
            </a:r>
            <a:endParaRPr lang="zh-CN" altLang="en-US" sz="3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E7662B9-D4C2-43DC-940E-6402D3AFFFDA}"/>
              </a:ext>
            </a:extLst>
          </p:cNvPr>
          <p:cNvSpPr txBox="1"/>
          <p:nvPr/>
        </p:nvSpPr>
        <p:spPr>
          <a:xfrm>
            <a:off x="596396" y="3868578"/>
            <a:ext cx="11308057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 dirty="0">
                <a:solidFill>
                  <a:srgbClr val="CC0000"/>
                </a:solidFill>
                <a:effectLst/>
                <a:latin typeface="STZhongsong" panose="02010600040101010101" pitchFamily="2" charset="-122"/>
                <a:ea typeface="STZhongsong" panose="02010600040101010101" pitchFamily="2" charset="-122"/>
              </a:rPr>
              <a:t>教学目的</a:t>
            </a:r>
            <a:r>
              <a:rPr lang="zh-CN" altLang="en-US" sz="3000" b="1" dirty="0">
                <a:solidFill>
                  <a:srgbClr val="00009A"/>
                </a:solidFill>
                <a:effectLst/>
                <a:latin typeface="STZhongsong" panose="02010600040101010101" pitchFamily="2" charset="-122"/>
                <a:ea typeface="STZhongsong" panose="02010600040101010101" pitchFamily="2" charset="-122"/>
              </a:rPr>
              <a:t>：</a:t>
            </a:r>
            <a:r>
              <a:rPr lang="zh-CN" altLang="en-US" sz="3000" b="1" dirty="0">
                <a:solidFill>
                  <a:srgbClr val="292929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培养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宋体" pitchFamily="2" charset="-122"/>
                <a:ea typeface="黑体" pitchFamily="49" charset="-122"/>
                <a:cs typeface="+mn-cs"/>
              </a:rPr>
              <a:t>抽象思维</a:t>
            </a:r>
            <a:r>
              <a:rPr lang="zh-CN" altLang="en-US" sz="3000" b="1" dirty="0">
                <a:solidFill>
                  <a:srgbClr val="292929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和</a:t>
            </a:r>
            <a:r>
              <a:rPr lang="zh-CN" altLang="en-US" sz="3000" b="1" kern="0" dirty="0">
                <a:solidFill>
                  <a:srgbClr val="992677"/>
                </a:solidFill>
                <a:latin typeface="宋体" pitchFamily="2" charset="-122"/>
                <a:ea typeface="黑体" pitchFamily="49" charset="-122"/>
              </a:rPr>
              <a:t>逻辑推理</a:t>
            </a:r>
            <a:r>
              <a:rPr lang="zh-CN" altLang="en-US" sz="3000" b="1" dirty="0">
                <a:solidFill>
                  <a:srgbClr val="292929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能力,为提高专业理论水平打</a:t>
            </a:r>
            <a:endParaRPr lang="en-US" altLang="zh-CN" sz="3000" b="1" dirty="0">
              <a:solidFill>
                <a:srgbClr val="292929"/>
              </a:solidFill>
              <a:latin typeface="STZhongsong" panose="02010600040101010101" pitchFamily="2" charset="-122"/>
              <a:ea typeface="STZhongsong" panose="02010600040101010101" pitchFamily="2" charset="-122"/>
            </a:endParaRPr>
          </a:p>
          <a:p>
            <a:r>
              <a:rPr lang="en-US" altLang="zh-CN" sz="3000" b="1" dirty="0">
                <a:solidFill>
                  <a:srgbClr val="292929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               </a:t>
            </a:r>
            <a:r>
              <a:rPr lang="zh-CN" altLang="en-US" sz="3000" b="1" dirty="0">
                <a:solidFill>
                  <a:srgbClr val="292929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下坚实的数学基础</a:t>
            </a:r>
            <a:r>
              <a:rPr lang="en-US" altLang="zh-CN" sz="3000" b="1" dirty="0">
                <a:solidFill>
                  <a:srgbClr val="292929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               </a:t>
            </a:r>
            <a:endParaRPr lang="zh-CN" altLang="en-US" sz="3000" b="1" dirty="0">
              <a:solidFill>
                <a:srgbClr val="292929"/>
              </a:solidFill>
              <a:latin typeface="STZhongsong" panose="02010600040101010101" pitchFamily="2" charset="-122"/>
              <a:ea typeface="STZhongsong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4657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49">
            <a:extLst>
              <a:ext uri="{FF2B5EF4-FFF2-40B4-BE49-F238E27FC236}">
                <a16:creationId xmlns:a16="http://schemas.microsoft.com/office/drawing/2014/main" id="{C67EF03F-98B7-43A0-862A-2DE40298B4B9}"/>
              </a:ext>
            </a:extLst>
          </p:cNvPr>
          <p:cNvSpPr txBox="1">
            <a:spLocks/>
          </p:cNvSpPr>
          <p:nvPr/>
        </p:nvSpPr>
        <p:spPr>
          <a:xfrm>
            <a:off x="485774" y="309648"/>
            <a:ext cx="4791075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课程主要内容</a:t>
            </a:r>
          </a:p>
        </p:txBody>
      </p:sp>
      <p:sp>
        <p:nvSpPr>
          <p:cNvPr id="24" name="Text Box 2">
            <a:extLst>
              <a:ext uri="{FF2B5EF4-FFF2-40B4-BE49-F238E27FC236}">
                <a16:creationId xmlns:a16="http://schemas.microsoft.com/office/drawing/2014/main" id="{005D3FE4-8C14-45F5-A901-0D7179D70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013" y="1257300"/>
            <a:ext cx="5904876" cy="53877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sz="2800" b="1" u="sng" dirty="0">
                <a:latin typeface="黑体" panose="02010609060101010101" pitchFamily="49" charset="-122"/>
                <a:ea typeface="黑体" panose="02010609060101010101" pitchFamily="49" charset="-122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第一部分 数理逻辑</a:t>
            </a:r>
            <a:endParaRPr lang="en-US" altLang="zh-CN" sz="2800" b="1" u="sng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>
              <a:spcBef>
                <a:spcPts val="1200"/>
              </a:spcBef>
              <a:spcAft>
                <a:spcPts val="600"/>
              </a:spcAft>
              <a:buClr>
                <a:srgbClr val="992677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300" b="1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3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300" b="1" dirty="0">
                <a:latin typeface="黑体" panose="02010609060101010101" pitchFamily="49" charset="-122"/>
                <a:ea typeface="黑体" panose="02010609060101010101" pitchFamily="49" charset="-122"/>
              </a:rPr>
              <a:t>章 命题逻辑</a:t>
            </a:r>
            <a:endParaRPr lang="en-US" altLang="zh-CN" sz="23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>
              <a:spcBef>
                <a:spcPts val="600"/>
              </a:spcBef>
              <a:spcAft>
                <a:spcPts val="1200"/>
              </a:spcAft>
              <a:buClr>
                <a:srgbClr val="992677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300" b="1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3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300" b="1" dirty="0">
                <a:latin typeface="黑体" panose="02010609060101010101" pitchFamily="49" charset="-122"/>
                <a:ea typeface="黑体" panose="02010609060101010101" pitchFamily="49" charset="-122"/>
              </a:rPr>
              <a:t>章 一阶逻辑</a:t>
            </a:r>
            <a:endParaRPr lang="zh-CN" sz="23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ts val="600"/>
              </a:spcBef>
            </a:pPr>
            <a:r>
              <a:rPr lang="zh-CN" sz="2800" b="1" u="sng" dirty="0">
                <a:latin typeface="黑体" panose="02010609060101010101" pitchFamily="49" charset="-122"/>
                <a:ea typeface="黑体" panose="02010609060101010101" pitchFamily="49" charset="-122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第二部分 集合论</a:t>
            </a:r>
            <a:endParaRPr lang="en-US" altLang="zh-CN" sz="2800" b="1" u="sng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>
              <a:spcBef>
                <a:spcPts val="1200"/>
              </a:spcBef>
              <a:spcAft>
                <a:spcPts val="600"/>
              </a:spcAft>
              <a:buClr>
                <a:srgbClr val="992677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3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3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3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章 集合的基本概念和运算</a:t>
            </a:r>
            <a:endParaRPr lang="en-US" altLang="zh-CN" sz="2300" b="1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>
              <a:spcBef>
                <a:spcPts val="600"/>
              </a:spcBef>
              <a:spcAft>
                <a:spcPts val="1200"/>
              </a:spcAft>
              <a:buClr>
                <a:srgbClr val="992677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3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3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3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章 二元关系和函数</a:t>
            </a:r>
            <a:endParaRPr lang="zh-CN" sz="2300" b="1" u="sng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ts val="600"/>
              </a:spcBef>
            </a:pPr>
            <a:r>
              <a:rPr lang="zh-CN" sz="2800" b="1" u="sng" dirty="0">
                <a:latin typeface="黑体" panose="02010609060101010101" pitchFamily="49" charset="-122"/>
                <a:ea typeface="黑体" panose="02010609060101010101" pitchFamily="49" charset="-122"/>
              </a:rPr>
              <a:t>第三部分 </a:t>
            </a:r>
            <a:r>
              <a:rPr lang="zh-CN" altLang="en-US" sz="2800" b="1" u="sng" dirty="0">
                <a:latin typeface="黑体" panose="02010609060101010101" pitchFamily="49" charset="-122"/>
                <a:ea typeface="黑体" panose="02010609060101010101" pitchFamily="49" charset="-122"/>
              </a:rPr>
              <a:t>图论</a:t>
            </a:r>
            <a:endParaRPr lang="zh-CN" sz="2800" b="1" u="sng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>
              <a:lnSpc>
                <a:spcPct val="150000"/>
              </a:lnSpc>
              <a:buClr>
                <a:srgbClr val="992677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3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3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3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章 图的基本概念</a:t>
            </a:r>
            <a:endParaRPr lang="en-US" altLang="zh-CN" sz="2300" b="1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>
              <a:lnSpc>
                <a:spcPct val="150000"/>
              </a:lnSpc>
              <a:buClr>
                <a:srgbClr val="992677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3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3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3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章 特殊的图</a:t>
            </a:r>
            <a:endParaRPr lang="en-US" altLang="zh-CN" sz="2300" b="1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0">
              <a:lnSpc>
                <a:spcPct val="150000"/>
              </a:lnSpc>
              <a:buClr>
                <a:srgbClr val="992677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3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3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23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章 树</a:t>
            </a:r>
          </a:p>
        </p:txBody>
      </p:sp>
    </p:spTree>
    <p:extLst>
      <p:ext uri="{BB962C8B-B14F-4D97-AF65-F5344CB8AC3E}">
        <p14:creationId xmlns:p14="http://schemas.microsoft.com/office/powerpoint/2010/main" val="1552263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73374AA3-77F8-4684-8EB9-8CEB2DCA3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1648" y="2778477"/>
            <a:ext cx="7198350" cy="705941"/>
          </a:xfrm>
        </p:spPr>
        <p:txBody>
          <a:bodyPr/>
          <a:lstStyle/>
          <a:p>
            <a:r>
              <a:rPr lang="zh-CN" altLang="en-US" sz="5400" dirty="0"/>
              <a:t>离散数学</a:t>
            </a:r>
          </a:p>
        </p:txBody>
      </p:sp>
      <p:grpSp>
        <p:nvGrpSpPr>
          <p:cNvPr id="21" name="ab742894-b611-4118-8065-b69e992411d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E1E1BD5E-876F-DCEE-3C7D-2ED5C9138BFA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326643" y="955675"/>
            <a:ext cx="1538714" cy="1545269"/>
            <a:chOff x="2035175" y="2493963"/>
            <a:chExt cx="1865313" cy="1873250"/>
          </a:xfrm>
        </p:grpSpPr>
        <p:sp>
          <p:nvSpPr>
            <p:cNvPr id="70" name="iśļîḋè">
              <a:extLst>
                <a:ext uri="{FF2B5EF4-FFF2-40B4-BE49-F238E27FC236}">
                  <a16:creationId xmlns:a16="http://schemas.microsoft.com/office/drawing/2014/main" id="{3B4776B5-BB4B-0FC2-C039-8390026A00FF}"/>
                </a:ext>
              </a:extLst>
            </p:cNvPr>
            <p:cNvSpPr/>
            <p:nvPr/>
          </p:nvSpPr>
          <p:spPr bwMode="auto">
            <a:xfrm>
              <a:off x="2927350" y="3657601"/>
              <a:ext cx="14288" cy="22225"/>
            </a:xfrm>
            <a:custGeom>
              <a:avLst/>
              <a:gdLst>
                <a:gd name="T0" fmla="*/ 2 w 4"/>
                <a:gd name="T1" fmla="*/ 0 h 6"/>
                <a:gd name="T2" fmla="*/ 0 w 4"/>
                <a:gd name="T3" fmla="*/ 3 h 6"/>
                <a:gd name="T4" fmla="*/ 2 w 4"/>
                <a:gd name="T5" fmla="*/ 6 h 6"/>
                <a:gd name="T6" fmla="*/ 4 w 4"/>
                <a:gd name="T7" fmla="*/ 5 h 6"/>
                <a:gd name="T8" fmla="*/ 4 w 4"/>
                <a:gd name="T9" fmla="*/ 4 h 6"/>
                <a:gd name="T10" fmla="*/ 2 w 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5"/>
                    <a:pt x="1" y="6"/>
                    <a:pt x="2" y="6"/>
                  </a:cubicBezTo>
                  <a:cubicBezTo>
                    <a:pt x="3" y="6"/>
                    <a:pt x="4" y="5"/>
                    <a:pt x="4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2"/>
                    <a:pt x="4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1" name="iṣliḓê">
              <a:extLst>
                <a:ext uri="{FF2B5EF4-FFF2-40B4-BE49-F238E27FC236}">
                  <a16:creationId xmlns:a16="http://schemas.microsoft.com/office/drawing/2014/main" id="{B42DF907-DECD-263E-1B3A-0C655820F95C}"/>
                </a:ext>
              </a:extLst>
            </p:cNvPr>
            <p:cNvSpPr/>
            <p:nvPr/>
          </p:nvSpPr>
          <p:spPr bwMode="auto">
            <a:xfrm>
              <a:off x="2706688" y="3098801"/>
              <a:ext cx="519113" cy="703263"/>
            </a:xfrm>
            <a:custGeom>
              <a:avLst/>
              <a:gdLst>
                <a:gd name="T0" fmla="*/ 46 w 144"/>
                <a:gd name="T1" fmla="*/ 167 h 194"/>
                <a:gd name="T2" fmla="*/ 46 w 144"/>
                <a:gd name="T3" fmla="*/ 155 h 194"/>
                <a:gd name="T4" fmla="*/ 42 w 144"/>
                <a:gd name="T5" fmla="*/ 154 h 194"/>
                <a:gd name="T6" fmla="*/ 49 w 144"/>
                <a:gd name="T7" fmla="*/ 152 h 194"/>
                <a:gd name="T8" fmla="*/ 59 w 144"/>
                <a:gd name="T9" fmla="*/ 167 h 194"/>
                <a:gd name="T10" fmla="*/ 61 w 144"/>
                <a:gd name="T11" fmla="*/ 165 h 194"/>
                <a:gd name="T12" fmla="*/ 65 w 144"/>
                <a:gd name="T13" fmla="*/ 161 h 194"/>
                <a:gd name="T14" fmla="*/ 58 w 144"/>
                <a:gd name="T15" fmla="*/ 157 h 194"/>
                <a:gd name="T16" fmla="*/ 69 w 144"/>
                <a:gd name="T17" fmla="*/ 158 h 194"/>
                <a:gd name="T18" fmla="*/ 79 w 144"/>
                <a:gd name="T19" fmla="*/ 167 h 194"/>
                <a:gd name="T20" fmla="*/ 76 w 144"/>
                <a:gd name="T21" fmla="*/ 164 h 194"/>
                <a:gd name="T22" fmla="*/ 82 w 144"/>
                <a:gd name="T23" fmla="*/ 162 h 194"/>
                <a:gd name="T24" fmla="*/ 77 w 144"/>
                <a:gd name="T25" fmla="*/ 160 h 194"/>
                <a:gd name="T26" fmla="*/ 85 w 144"/>
                <a:gd name="T27" fmla="*/ 152 h 194"/>
                <a:gd name="T28" fmla="*/ 80 w 144"/>
                <a:gd name="T29" fmla="*/ 155 h 194"/>
                <a:gd name="T30" fmla="*/ 80 w 144"/>
                <a:gd name="T31" fmla="*/ 157 h 194"/>
                <a:gd name="T32" fmla="*/ 79 w 144"/>
                <a:gd name="T33" fmla="*/ 167 h 194"/>
                <a:gd name="T34" fmla="*/ 92 w 144"/>
                <a:gd name="T35" fmla="*/ 166 h 194"/>
                <a:gd name="T36" fmla="*/ 96 w 144"/>
                <a:gd name="T37" fmla="*/ 165 h 194"/>
                <a:gd name="T38" fmla="*/ 96 w 144"/>
                <a:gd name="T39" fmla="*/ 160 h 194"/>
                <a:gd name="T40" fmla="*/ 95 w 144"/>
                <a:gd name="T41" fmla="*/ 158 h 194"/>
                <a:gd name="T42" fmla="*/ 99 w 144"/>
                <a:gd name="T43" fmla="*/ 156 h 194"/>
                <a:gd name="T44" fmla="*/ 93 w 144"/>
                <a:gd name="T45" fmla="*/ 155 h 194"/>
                <a:gd name="T46" fmla="*/ 97 w 144"/>
                <a:gd name="T47" fmla="*/ 152 h 194"/>
                <a:gd name="T48" fmla="*/ 99 w 144"/>
                <a:gd name="T49" fmla="*/ 159 h 194"/>
                <a:gd name="T50" fmla="*/ 102 w 144"/>
                <a:gd name="T51" fmla="*/ 163 h 194"/>
                <a:gd name="T52" fmla="*/ 139 w 144"/>
                <a:gd name="T53" fmla="*/ 2 h 194"/>
                <a:gd name="T54" fmla="*/ 136 w 144"/>
                <a:gd name="T55" fmla="*/ 132 h 194"/>
                <a:gd name="T56" fmla="*/ 12 w 144"/>
                <a:gd name="T57" fmla="*/ 141 h 194"/>
                <a:gd name="T58" fmla="*/ 6 w 144"/>
                <a:gd name="T59" fmla="*/ 115 h 194"/>
                <a:gd name="T60" fmla="*/ 0 w 144"/>
                <a:gd name="T61" fmla="*/ 0 h 194"/>
                <a:gd name="T62" fmla="*/ 2 w 144"/>
                <a:gd name="T63" fmla="*/ 130 h 194"/>
                <a:gd name="T64" fmla="*/ 6 w 144"/>
                <a:gd name="T65" fmla="*/ 141 h 194"/>
                <a:gd name="T66" fmla="*/ 7 w 144"/>
                <a:gd name="T67" fmla="*/ 144 h 194"/>
                <a:gd name="T68" fmla="*/ 9 w 144"/>
                <a:gd name="T69" fmla="*/ 147 h 194"/>
                <a:gd name="T70" fmla="*/ 11 w 144"/>
                <a:gd name="T71" fmla="*/ 151 h 194"/>
                <a:gd name="T72" fmla="*/ 12 w 144"/>
                <a:gd name="T73" fmla="*/ 154 h 194"/>
                <a:gd name="T74" fmla="*/ 15 w 144"/>
                <a:gd name="T75" fmla="*/ 157 h 194"/>
                <a:gd name="T76" fmla="*/ 17 w 144"/>
                <a:gd name="T77" fmla="*/ 160 h 194"/>
                <a:gd name="T78" fmla="*/ 19 w 144"/>
                <a:gd name="T79" fmla="*/ 163 h 194"/>
                <a:gd name="T80" fmla="*/ 22 w 144"/>
                <a:gd name="T81" fmla="*/ 166 h 194"/>
                <a:gd name="T82" fmla="*/ 123 w 144"/>
                <a:gd name="T83" fmla="*/ 166 h 194"/>
                <a:gd name="T84" fmla="*/ 125 w 144"/>
                <a:gd name="T85" fmla="*/ 163 h 194"/>
                <a:gd name="T86" fmla="*/ 127 w 144"/>
                <a:gd name="T87" fmla="*/ 160 h 194"/>
                <a:gd name="T88" fmla="*/ 130 w 144"/>
                <a:gd name="T89" fmla="*/ 157 h 194"/>
                <a:gd name="T90" fmla="*/ 132 w 144"/>
                <a:gd name="T91" fmla="*/ 154 h 194"/>
                <a:gd name="T92" fmla="*/ 134 w 144"/>
                <a:gd name="T93" fmla="*/ 151 h 194"/>
                <a:gd name="T94" fmla="*/ 136 w 144"/>
                <a:gd name="T95" fmla="*/ 147 h 194"/>
                <a:gd name="T96" fmla="*/ 137 w 144"/>
                <a:gd name="T97" fmla="*/ 144 h 194"/>
                <a:gd name="T98" fmla="*/ 144 w 144"/>
                <a:gd name="T99" fmla="*/ 114 h 194"/>
                <a:gd name="T100" fmla="*/ 139 w 144"/>
                <a:gd name="T101" fmla="*/ 2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4" h="194">
                  <a:moveTo>
                    <a:pt x="49" y="167"/>
                  </a:moveTo>
                  <a:cubicBezTo>
                    <a:pt x="46" y="167"/>
                    <a:pt x="46" y="167"/>
                    <a:pt x="46" y="167"/>
                  </a:cubicBezTo>
                  <a:cubicBezTo>
                    <a:pt x="46" y="155"/>
                    <a:pt x="46" y="155"/>
                    <a:pt x="46" y="155"/>
                  </a:cubicBezTo>
                  <a:cubicBezTo>
                    <a:pt x="46" y="155"/>
                    <a:pt x="46" y="155"/>
                    <a:pt x="46" y="155"/>
                  </a:cubicBezTo>
                  <a:cubicBezTo>
                    <a:pt x="43" y="156"/>
                    <a:pt x="43" y="156"/>
                    <a:pt x="43" y="156"/>
                  </a:cubicBezTo>
                  <a:cubicBezTo>
                    <a:pt x="42" y="154"/>
                    <a:pt x="42" y="154"/>
                    <a:pt x="42" y="154"/>
                  </a:cubicBezTo>
                  <a:cubicBezTo>
                    <a:pt x="46" y="152"/>
                    <a:pt x="46" y="152"/>
                    <a:pt x="46" y="152"/>
                  </a:cubicBezTo>
                  <a:cubicBezTo>
                    <a:pt x="49" y="152"/>
                    <a:pt x="49" y="152"/>
                    <a:pt x="49" y="152"/>
                  </a:cubicBezTo>
                  <a:lnTo>
                    <a:pt x="49" y="167"/>
                  </a:lnTo>
                  <a:close/>
                  <a:moveTo>
                    <a:pt x="59" y="167"/>
                  </a:moveTo>
                  <a:cubicBezTo>
                    <a:pt x="59" y="165"/>
                    <a:pt x="59" y="165"/>
                    <a:pt x="59" y="165"/>
                  </a:cubicBezTo>
                  <a:cubicBezTo>
                    <a:pt x="60" y="165"/>
                    <a:pt x="60" y="165"/>
                    <a:pt x="61" y="165"/>
                  </a:cubicBezTo>
                  <a:cubicBezTo>
                    <a:pt x="63" y="165"/>
                    <a:pt x="65" y="163"/>
                    <a:pt x="65" y="161"/>
                  </a:cubicBezTo>
                  <a:cubicBezTo>
                    <a:pt x="65" y="161"/>
                    <a:pt x="65" y="161"/>
                    <a:pt x="65" y="161"/>
                  </a:cubicBezTo>
                  <a:cubicBezTo>
                    <a:pt x="65" y="161"/>
                    <a:pt x="64" y="162"/>
                    <a:pt x="62" y="162"/>
                  </a:cubicBezTo>
                  <a:cubicBezTo>
                    <a:pt x="60" y="162"/>
                    <a:pt x="58" y="160"/>
                    <a:pt x="58" y="157"/>
                  </a:cubicBezTo>
                  <a:cubicBezTo>
                    <a:pt x="58" y="155"/>
                    <a:pt x="60" y="152"/>
                    <a:pt x="63" y="152"/>
                  </a:cubicBezTo>
                  <a:cubicBezTo>
                    <a:pt x="67" y="152"/>
                    <a:pt x="69" y="155"/>
                    <a:pt x="69" y="158"/>
                  </a:cubicBezTo>
                  <a:cubicBezTo>
                    <a:pt x="69" y="163"/>
                    <a:pt x="66" y="167"/>
                    <a:pt x="59" y="167"/>
                  </a:cubicBezTo>
                  <a:close/>
                  <a:moveTo>
                    <a:pt x="79" y="167"/>
                  </a:moveTo>
                  <a:cubicBezTo>
                    <a:pt x="78" y="167"/>
                    <a:pt x="76" y="167"/>
                    <a:pt x="76" y="166"/>
                  </a:cubicBezTo>
                  <a:cubicBezTo>
                    <a:pt x="76" y="164"/>
                    <a:pt x="76" y="164"/>
                    <a:pt x="76" y="164"/>
                  </a:cubicBezTo>
                  <a:cubicBezTo>
                    <a:pt x="77" y="165"/>
                    <a:pt x="78" y="165"/>
                    <a:pt x="79" y="165"/>
                  </a:cubicBezTo>
                  <a:cubicBezTo>
                    <a:pt x="81" y="165"/>
                    <a:pt x="82" y="164"/>
                    <a:pt x="82" y="162"/>
                  </a:cubicBezTo>
                  <a:cubicBezTo>
                    <a:pt x="82" y="161"/>
                    <a:pt x="81" y="160"/>
                    <a:pt x="78" y="160"/>
                  </a:cubicBezTo>
                  <a:cubicBezTo>
                    <a:pt x="78" y="160"/>
                    <a:pt x="77" y="160"/>
                    <a:pt x="77" y="160"/>
                  </a:cubicBezTo>
                  <a:cubicBezTo>
                    <a:pt x="77" y="152"/>
                    <a:pt x="77" y="152"/>
                    <a:pt x="77" y="152"/>
                  </a:cubicBezTo>
                  <a:cubicBezTo>
                    <a:pt x="85" y="152"/>
                    <a:pt x="85" y="152"/>
                    <a:pt x="85" y="152"/>
                  </a:cubicBezTo>
                  <a:cubicBezTo>
                    <a:pt x="85" y="155"/>
                    <a:pt x="85" y="155"/>
                    <a:pt x="85" y="155"/>
                  </a:cubicBezTo>
                  <a:cubicBezTo>
                    <a:pt x="80" y="155"/>
                    <a:pt x="80" y="155"/>
                    <a:pt x="80" y="155"/>
                  </a:cubicBezTo>
                  <a:cubicBezTo>
                    <a:pt x="79" y="158"/>
                    <a:pt x="79" y="158"/>
                    <a:pt x="79" y="158"/>
                  </a:cubicBezTo>
                  <a:cubicBezTo>
                    <a:pt x="80" y="157"/>
                    <a:pt x="80" y="157"/>
                    <a:pt x="80" y="157"/>
                  </a:cubicBezTo>
                  <a:cubicBezTo>
                    <a:pt x="83" y="157"/>
                    <a:pt x="86" y="159"/>
                    <a:pt x="86" y="162"/>
                  </a:cubicBezTo>
                  <a:cubicBezTo>
                    <a:pt x="86" y="165"/>
                    <a:pt x="83" y="167"/>
                    <a:pt x="79" y="167"/>
                  </a:cubicBezTo>
                  <a:close/>
                  <a:moveTo>
                    <a:pt x="96" y="167"/>
                  </a:moveTo>
                  <a:cubicBezTo>
                    <a:pt x="95" y="167"/>
                    <a:pt x="93" y="167"/>
                    <a:pt x="92" y="166"/>
                  </a:cubicBezTo>
                  <a:cubicBezTo>
                    <a:pt x="93" y="164"/>
                    <a:pt x="93" y="164"/>
                    <a:pt x="93" y="164"/>
                  </a:cubicBezTo>
                  <a:cubicBezTo>
                    <a:pt x="94" y="164"/>
                    <a:pt x="95" y="165"/>
                    <a:pt x="96" y="165"/>
                  </a:cubicBezTo>
                  <a:cubicBezTo>
                    <a:pt x="98" y="165"/>
                    <a:pt x="99" y="164"/>
                    <a:pt x="99" y="163"/>
                  </a:cubicBezTo>
                  <a:cubicBezTo>
                    <a:pt x="99" y="161"/>
                    <a:pt x="97" y="160"/>
                    <a:pt x="96" y="160"/>
                  </a:cubicBezTo>
                  <a:cubicBezTo>
                    <a:pt x="95" y="160"/>
                    <a:pt x="95" y="160"/>
                    <a:pt x="95" y="160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6" y="158"/>
                    <a:pt x="96" y="158"/>
                    <a:pt x="96" y="158"/>
                  </a:cubicBezTo>
                  <a:cubicBezTo>
                    <a:pt x="97" y="158"/>
                    <a:pt x="99" y="158"/>
                    <a:pt x="99" y="156"/>
                  </a:cubicBezTo>
                  <a:cubicBezTo>
                    <a:pt x="99" y="155"/>
                    <a:pt x="98" y="154"/>
                    <a:pt x="96" y="154"/>
                  </a:cubicBezTo>
                  <a:cubicBezTo>
                    <a:pt x="95" y="154"/>
                    <a:pt x="94" y="155"/>
                    <a:pt x="93" y="155"/>
                  </a:cubicBezTo>
                  <a:cubicBezTo>
                    <a:pt x="93" y="153"/>
                    <a:pt x="93" y="153"/>
                    <a:pt x="93" y="153"/>
                  </a:cubicBezTo>
                  <a:cubicBezTo>
                    <a:pt x="94" y="153"/>
                    <a:pt x="95" y="152"/>
                    <a:pt x="97" y="152"/>
                  </a:cubicBezTo>
                  <a:cubicBezTo>
                    <a:pt x="100" y="152"/>
                    <a:pt x="102" y="154"/>
                    <a:pt x="102" y="156"/>
                  </a:cubicBezTo>
                  <a:cubicBezTo>
                    <a:pt x="102" y="157"/>
                    <a:pt x="101" y="158"/>
                    <a:pt x="99" y="159"/>
                  </a:cubicBezTo>
                  <a:cubicBezTo>
                    <a:pt x="99" y="159"/>
                    <a:pt x="99" y="159"/>
                    <a:pt x="99" y="159"/>
                  </a:cubicBezTo>
                  <a:cubicBezTo>
                    <a:pt x="101" y="159"/>
                    <a:pt x="102" y="161"/>
                    <a:pt x="102" y="163"/>
                  </a:cubicBezTo>
                  <a:cubicBezTo>
                    <a:pt x="102" y="165"/>
                    <a:pt x="100" y="167"/>
                    <a:pt x="96" y="167"/>
                  </a:cubicBezTo>
                  <a:close/>
                  <a:moveTo>
                    <a:pt x="139" y="2"/>
                  </a:moveTo>
                  <a:cubicBezTo>
                    <a:pt x="139" y="30"/>
                    <a:pt x="139" y="113"/>
                    <a:pt x="139" y="115"/>
                  </a:cubicBezTo>
                  <a:cubicBezTo>
                    <a:pt x="138" y="118"/>
                    <a:pt x="138" y="124"/>
                    <a:pt x="136" y="132"/>
                  </a:cubicBezTo>
                  <a:cubicBezTo>
                    <a:pt x="135" y="135"/>
                    <a:pt x="134" y="138"/>
                    <a:pt x="132" y="141"/>
                  </a:cubicBezTo>
                  <a:cubicBezTo>
                    <a:pt x="12" y="141"/>
                    <a:pt x="12" y="141"/>
                    <a:pt x="12" y="141"/>
                  </a:cubicBezTo>
                  <a:cubicBezTo>
                    <a:pt x="11" y="138"/>
                    <a:pt x="9" y="135"/>
                    <a:pt x="9" y="132"/>
                  </a:cubicBezTo>
                  <a:cubicBezTo>
                    <a:pt x="6" y="124"/>
                    <a:pt x="6" y="118"/>
                    <a:pt x="6" y="115"/>
                  </a:cubicBezTo>
                  <a:cubicBezTo>
                    <a:pt x="6" y="113"/>
                    <a:pt x="6" y="30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10"/>
                    <a:pt x="0" y="114"/>
                  </a:cubicBezTo>
                  <a:cubicBezTo>
                    <a:pt x="0" y="118"/>
                    <a:pt x="1" y="123"/>
                    <a:pt x="2" y="130"/>
                  </a:cubicBezTo>
                  <a:cubicBezTo>
                    <a:pt x="3" y="133"/>
                    <a:pt x="4" y="137"/>
                    <a:pt x="6" y="141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142"/>
                    <a:pt x="7" y="143"/>
                    <a:pt x="7" y="144"/>
                  </a:cubicBezTo>
                  <a:cubicBezTo>
                    <a:pt x="7" y="144"/>
                    <a:pt x="7" y="144"/>
                    <a:pt x="7" y="145"/>
                  </a:cubicBezTo>
                  <a:cubicBezTo>
                    <a:pt x="8" y="145"/>
                    <a:pt x="8" y="146"/>
                    <a:pt x="9" y="147"/>
                  </a:cubicBezTo>
                  <a:cubicBezTo>
                    <a:pt x="9" y="147"/>
                    <a:pt x="9" y="147"/>
                    <a:pt x="9" y="148"/>
                  </a:cubicBezTo>
                  <a:cubicBezTo>
                    <a:pt x="9" y="149"/>
                    <a:pt x="10" y="150"/>
                    <a:pt x="11" y="151"/>
                  </a:cubicBezTo>
                  <a:cubicBezTo>
                    <a:pt x="11" y="151"/>
                    <a:pt x="11" y="151"/>
                    <a:pt x="11" y="151"/>
                  </a:cubicBezTo>
                  <a:cubicBezTo>
                    <a:pt x="11" y="152"/>
                    <a:pt x="12" y="153"/>
                    <a:pt x="12" y="154"/>
                  </a:cubicBezTo>
                  <a:cubicBezTo>
                    <a:pt x="13" y="154"/>
                    <a:pt x="13" y="154"/>
                    <a:pt x="13" y="154"/>
                  </a:cubicBezTo>
                  <a:cubicBezTo>
                    <a:pt x="13" y="155"/>
                    <a:pt x="14" y="156"/>
                    <a:pt x="15" y="157"/>
                  </a:cubicBezTo>
                  <a:cubicBezTo>
                    <a:pt x="15" y="157"/>
                    <a:pt x="15" y="157"/>
                    <a:pt x="15" y="157"/>
                  </a:cubicBezTo>
                  <a:cubicBezTo>
                    <a:pt x="16" y="158"/>
                    <a:pt x="16" y="159"/>
                    <a:pt x="17" y="160"/>
                  </a:cubicBezTo>
                  <a:cubicBezTo>
                    <a:pt x="17" y="160"/>
                    <a:pt x="17" y="160"/>
                    <a:pt x="17" y="161"/>
                  </a:cubicBezTo>
                  <a:cubicBezTo>
                    <a:pt x="18" y="161"/>
                    <a:pt x="18" y="162"/>
                    <a:pt x="19" y="163"/>
                  </a:cubicBezTo>
                  <a:cubicBezTo>
                    <a:pt x="19" y="163"/>
                    <a:pt x="19" y="163"/>
                    <a:pt x="20" y="163"/>
                  </a:cubicBezTo>
                  <a:cubicBezTo>
                    <a:pt x="20" y="164"/>
                    <a:pt x="21" y="165"/>
                    <a:pt x="22" y="166"/>
                  </a:cubicBezTo>
                  <a:cubicBezTo>
                    <a:pt x="37" y="182"/>
                    <a:pt x="58" y="189"/>
                    <a:pt x="72" y="194"/>
                  </a:cubicBezTo>
                  <a:cubicBezTo>
                    <a:pt x="86" y="189"/>
                    <a:pt x="108" y="182"/>
                    <a:pt x="123" y="166"/>
                  </a:cubicBezTo>
                  <a:cubicBezTo>
                    <a:pt x="123" y="165"/>
                    <a:pt x="124" y="164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6" y="162"/>
                    <a:pt x="126" y="161"/>
                    <a:pt x="127" y="161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9"/>
                    <a:pt x="129" y="158"/>
                    <a:pt x="130" y="157"/>
                  </a:cubicBezTo>
                  <a:cubicBezTo>
                    <a:pt x="130" y="157"/>
                    <a:pt x="130" y="157"/>
                    <a:pt x="130" y="157"/>
                  </a:cubicBezTo>
                  <a:cubicBezTo>
                    <a:pt x="130" y="156"/>
                    <a:pt x="131" y="155"/>
                    <a:pt x="131" y="154"/>
                  </a:cubicBezTo>
                  <a:cubicBezTo>
                    <a:pt x="132" y="154"/>
                    <a:pt x="132" y="154"/>
                    <a:pt x="132" y="154"/>
                  </a:cubicBezTo>
                  <a:cubicBezTo>
                    <a:pt x="132" y="153"/>
                    <a:pt x="133" y="152"/>
                    <a:pt x="133" y="151"/>
                  </a:cubicBezTo>
                  <a:cubicBezTo>
                    <a:pt x="134" y="151"/>
                    <a:pt x="134" y="151"/>
                    <a:pt x="134" y="151"/>
                  </a:cubicBezTo>
                  <a:cubicBezTo>
                    <a:pt x="134" y="150"/>
                    <a:pt x="135" y="149"/>
                    <a:pt x="135" y="148"/>
                  </a:cubicBezTo>
                  <a:cubicBezTo>
                    <a:pt x="136" y="147"/>
                    <a:pt x="136" y="147"/>
                    <a:pt x="136" y="147"/>
                  </a:cubicBezTo>
                  <a:cubicBezTo>
                    <a:pt x="136" y="146"/>
                    <a:pt x="137" y="145"/>
                    <a:pt x="137" y="144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40" y="139"/>
                    <a:pt x="142" y="134"/>
                    <a:pt x="143" y="130"/>
                  </a:cubicBezTo>
                  <a:cubicBezTo>
                    <a:pt x="144" y="123"/>
                    <a:pt x="144" y="118"/>
                    <a:pt x="144" y="114"/>
                  </a:cubicBezTo>
                  <a:cubicBezTo>
                    <a:pt x="144" y="110"/>
                    <a:pt x="144" y="0"/>
                    <a:pt x="144" y="0"/>
                  </a:cubicBezTo>
                  <a:lnTo>
                    <a:pt x="139" y="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2" name="íṡľiḍê">
              <a:extLst>
                <a:ext uri="{FF2B5EF4-FFF2-40B4-BE49-F238E27FC236}">
                  <a16:creationId xmlns:a16="http://schemas.microsoft.com/office/drawing/2014/main" id="{AF9AED17-A860-2124-6851-B91A2406345C}"/>
                </a:ext>
              </a:extLst>
            </p:cNvPr>
            <p:cNvSpPr/>
            <p:nvPr/>
          </p:nvSpPr>
          <p:spPr bwMode="auto">
            <a:xfrm>
              <a:off x="2395538" y="2917826"/>
              <a:ext cx="1141413" cy="1050925"/>
            </a:xfrm>
            <a:custGeom>
              <a:avLst/>
              <a:gdLst>
                <a:gd name="T0" fmla="*/ 300 w 316"/>
                <a:gd name="T1" fmla="*/ 173 h 290"/>
                <a:gd name="T2" fmla="*/ 294 w 316"/>
                <a:gd name="T3" fmla="*/ 163 h 290"/>
                <a:gd name="T4" fmla="*/ 299 w 316"/>
                <a:gd name="T5" fmla="*/ 78 h 290"/>
                <a:gd name="T6" fmla="*/ 285 w 316"/>
                <a:gd name="T7" fmla="*/ 84 h 290"/>
                <a:gd name="T8" fmla="*/ 248 w 316"/>
                <a:gd name="T9" fmla="*/ 17 h 290"/>
                <a:gd name="T10" fmla="*/ 233 w 316"/>
                <a:gd name="T11" fmla="*/ 15 h 290"/>
                <a:gd name="T12" fmla="*/ 233 w 316"/>
                <a:gd name="T13" fmla="*/ 33 h 290"/>
                <a:gd name="T14" fmla="*/ 242 w 316"/>
                <a:gd name="T15" fmla="*/ 45 h 290"/>
                <a:gd name="T16" fmla="*/ 278 w 316"/>
                <a:gd name="T17" fmla="*/ 88 h 290"/>
                <a:gd name="T18" fmla="*/ 276 w 316"/>
                <a:gd name="T19" fmla="*/ 93 h 290"/>
                <a:gd name="T20" fmla="*/ 286 w 316"/>
                <a:gd name="T21" fmla="*/ 156 h 290"/>
                <a:gd name="T22" fmla="*/ 278 w 316"/>
                <a:gd name="T23" fmla="*/ 170 h 290"/>
                <a:gd name="T24" fmla="*/ 269 w 316"/>
                <a:gd name="T25" fmla="*/ 179 h 290"/>
                <a:gd name="T26" fmla="*/ 254 w 316"/>
                <a:gd name="T27" fmla="*/ 230 h 290"/>
                <a:gd name="T28" fmla="*/ 246 w 316"/>
                <a:gd name="T29" fmla="*/ 219 h 290"/>
                <a:gd name="T30" fmla="*/ 169 w 316"/>
                <a:gd name="T31" fmla="*/ 262 h 290"/>
                <a:gd name="T32" fmla="*/ 147 w 316"/>
                <a:gd name="T33" fmla="*/ 262 h 290"/>
                <a:gd name="T34" fmla="*/ 70 w 316"/>
                <a:gd name="T35" fmla="*/ 219 h 290"/>
                <a:gd name="T36" fmla="*/ 62 w 316"/>
                <a:gd name="T37" fmla="*/ 230 h 290"/>
                <a:gd name="T38" fmla="*/ 48 w 316"/>
                <a:gd name="T39" fmla="*/ 179 h 290"/>
                <a:gd name="T40" fmla="*/ 38 w 316"/>
                <a:gd name="T41" fmla="*/ 170 h 290"/>
                <a:gd name="T42" fmla="*/ 30 w 316"/>
                <a:gd name="T43" fmla="*/ 156 h 290"/>
                <a:gd name="T44" fmla="*/ 41 w 316"/>
                <a:gd name="T45" fmla="*/ 93 h 290"/>
                <a:gd name="T46" fmla="*/ 38 w 316"/>
                <a:gd name="T47" fmla="*/ 88 h 290"/>
                <a:gd name="T48" fmla="*/ 75 w 316"/>
                <a:gd name="T49" fmla="*/ 45 h 290"/>
                <a:gd name="T50" fmla="*/ 84 w 316"/>
                <a:gd name="T51" fmla="*/ 33 h 290"/>
                <a:gd name="T52" fmla="*/ 83 w 316"/>
                <a:gd name="T53" fmla="*/ 15 h 290"/>
                <a:gd name="T54" fmla="*/ 68 w 316"/>
                <a:gd name="T55" fmla="*/ 17 h 290"/>
                <a:gd name="T56" fmla="*/ 31 w 316"/>
                <a:gd name="T57" fmla="*/ 84 h 290"/>
                <a:gd name="T58" fmla="*/ 17 w 316"/>
                <a:gd name="T59" fmla="*/ 78 h 290"/>
                <a:gd name="T60" fmla="*/ 23 w 316"/>
                <a:gd name="T61" fmla="*/ 163 h 290"/>
                <a:gd name="T62" fmla="*/ 16 w 316"/>
                <a:gd name="T63" fmla="*/ 173 h 290"/>
                <a:gd name="T64" fmla="*/ 14 w 316"/>
                <a:gd name="T65" fmla="*/ 182 h 290"/>
                <a:gd name="T66" fmla="*/ 93 w 316"/>
                <a:gd name="T67" fmla="*/ 253 h 290"/>
                <a:gd name="T68" fmla="*/ 72 w 316"/>
                <a:gd name="T69" fmla="*/ 258 h 290"/>
                <a:gd name="T70" fmla="*/ 134 w 316"/>
                <a:gd name="T71" fmla="*/ 265 h 290"/>
                <a:gd name="T72" fmla="*/ 138 w 316"/>
                <a:gd name="T73" fmla="*/ 272 h 290"/>
                <a:gd name="T74" fmla="*/ 131 w 316"/>
                <a:gd name="T75" fmla="*/ 290 h 290"/>
                <a:gd name="T76" fmla="*/ 158 w 316"/>
                <a:gd name="T77" fmla="*/ 272 h 290"/>
                <a:gd name="T78" fmla="*/ 186 w 316"/>
                <a:gd name="T79" fmla="*/ 290 h 290"/>
                <a:gd name="T80" fmla="*/ 178 w 316"/>
                <a:gd name="T81" fmla="*/ 272 h 290"/>
                <a:gd name="T82" fmla="*/ 182 w 316"/>
                <a:gd name="T83" fmla="*/ 265 h 290"/>
                <a:gd name="T84" fmla="*/ 244 w 316"/>
                <a:gd name="T85" fmla="*/ 258 h 290"/>
                <a:gd name="T86" fmla="*/ 223 w 316"/>
                <a:gd name="T87" fmla="*/ 253 h 290"/>
                <a:gd name="T88" fmla="*/ 302 w 316"/>
                <a:gd name="T89" fmla="*/ 182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16" h="290">
                  <a:moveTo>
                    <a:pt x="276" y="216"/>
                  </a:moveTo>
                  <a:cubicBezTo>
                    <a:pt x="282" y="191"/>
                    <a:pt x="289" y="190"/>
                    <a:pt x="300" y="173"/>
                  </a:cubicBezTo>
                  <a:cubicBezTo>
                    <a:pt x="310" y="157"/>
                    <a:pt x="316" y="126"/>
                    <a:pt x="305" y="115"/>
                  </a:cubicBezTo>
                  <a:cubicBezTo>
                    <a:pt x="304" y="138"/>
                    <a:pt x="296" y="143"/>
                    <a:pt x="294" y="163"/>
                  </a:cubicBezTo>
                  <a:cubicBezTo>
                    <a:pt x="292" y="147"/>
                    <a:pt x="292" y="137"/>
                    <a:pt x="295" y="126"/>
                  </a:cubicBezTo>
                  <a:cubicBezTo>
                    <a:pt x="298" y="117"/>
                    <a:pt x="302" y="95"/>
                    <a:pt x="299" y="78"/>
                  </a:cubicBezTo>
                  <a:cubicBezTo>
                    <a:pt x="297" y="66"/>
                    <a:pt x="291" y="61"/>
                    <a:pt x="284" y="58"/>
                  </a:cubicBezTo>
                  <a:cubicBezTo>
                    <a:pt x="288" y="72"/>
                    <a:pt x="285" y="84"/>
                    <a:pt x="285" y="84"/>
                  </a:cubicBezTo>
                  <a:cubicBezTo>
                    <a:pt x="285" y="84"/>
                    <a:pt x="277" y="75"/>
                    <a:pt x="274" y="52"/>
                  </a:cubicBezTo>
                  <a:cubicBezTo>
                    <a:pt x="271" y="29"/>
                    <a:pt x="256" y="18"/>
                    <a:pt x="248" y="17"/>
                  </a:cubicBezTo>
                  <a:cubicBezTo>
                    <a:pt x="255" y="29"/>
                    <a:pt x="255" y="33"/>
                    <a:pt x="257" y="44"/>
                  </a:cubicBezTo>
                  <a:cubicBezTo>
                    <a:pt x="250" y="40"/>
                    <a:pt x="245" y="26"/>
                    <a:pt x="233" y="15"/>
                  </a:cubicBezTo>
                  <a:cubicBezTo>
                    <a:pt x="216" y="0"/>
                    <a:pt x="203" y="0"/>
                    <a:pt x="195" y="7"/>
                  </a:cubicBezTo>
                  <a:cubicBezTo>
                    <a:pt x="218" y="16"/>
                    <a:pt x="214" y="18"/>
                    <a:pt x="233" y="33"/>
                  </a:cubicBezTo>
                  <a:cubicBezTo>
                    <a:pt x="251" y="45"/>
                    <a:pt x="259" y="46"/>
                    <a:pt x="264" y="62"/>
                  </a:cubicBezTo>
                  <a:cubicBezTo>
                    <a:pt x="256" y="54"/>
                    <a:pt x="251" y="49"/>
                    <a:pt x="242" y="45"/>
                  </a:cubicBezTo>
                  <a:cubicBezTo>
                    <a:pt x="239" y="50"/>
                    <a:pt x="243" y="60"/>
                    <a:pt x="257" y="71"/>
                  </a:cubicBezTo>
                  <a:cubicBezTo>
                    <a:pt x="267" y="82"/>
                    <a:pt x="270" y="77"/>
                    <a:pt x="278" y="88"/>
                  </a:cubicBezTo>
                  <a:cubicBezTo>
                    <a:pt x="285" y="96"/>
                    <a:pt x="291" y="105"/>
                    <a:pt x="289" y="124"/>
                  </a:cubicBezTo>
                  <a:cubicBezTo>
                    <a:pt x="283" y="110"/>
                    <a:pt x="279" y="108"/>
                    <a:pt x="276" y="93"/>
                  </a:cubicBezTo>
                  <a:cubicBezTo>
                    <a:pt x="272" y="98"/>
                    <a:pt x="270" y="106"/>
                    <a:pt x="271" y="116"/>
                  </a:cubicBezTo>
                  <a:cubicBezTo>
                    <a:pt x="275" y="136"/>
                    <a:pt x="283" y="136"/>
                    <a:pt x="286" y="156"/>
                  </a:cubicBezTo>
                  <a:cubicBezTo>
                    <a:pt x="288" y="168"/>
                    <a:pt x="288" y="183"/>
                    <a:pt x="278" y="194"/>
                  </a:cubicBezTo>
                  <a:cubicBezTo>
                    <a:pt x="276" y="184"/>
                    <a:pt x="277" y="179"/>
                    <a:pt x="278" y="170"/>
                  </a:cubicBezTo>
                  <a:cubicBezTo>
                    <a:pt x="280" y="161"/>
                    <a:pt x="279" y="154"/>
                    <a:pt x="276" y="145"/>
                  </a:cubicBezTo>
                  <a:cubicBezTo>
                    <a:pt x="269" y="151"/>
                    <a:pt x="267" y="165"/>
                    <a:pt x="269" y="179"/>
                  </a:cubicBezTo>
                  <a:cubicBezTo>
                    <a:pt x="270" y="193"/>
                    <a:pt x="280" y="203"/>
                    <a:pt x="265" y="223"/>
                  </a:cubicBezTo>
                  <a:cubicBezTo>
                    <a:pt x="258" y="229"/>
                    <a:pt x="254" y="231"/>
                    <a:pt x="254" y="230"/>
                  </a:cubicBezTo>
                  <a:cubicBezTo>
                    <a:pt x="262" y="221"/>
                    <a:pt x="273" y="198"/>
                    <a:pt x="265" y="187"/>
                  </a:cubicBezTo>
                  <a:cubicBezTo>
                    <a:pt x="262" y="200"/>
                    <a:pt x="254" y="207"/>
                    <a:pt x="246" y="219"/>
                  </a:cubicBezTo>
                  <a:cubicBezTo>
                    <a:pt x="235" y="235"/>
                    <a:pt x="245" y="240"/>
                    <a:pt x="210" y="253"/>
                  </a:cubicBezTo>
                  <a:cubicBezTo>
                    <a:pt x="199" y="257"/>
                    <a:pt x="185" y="258"/>
                    <a:pt x="169" y="262"/>
                  </a:cubicBezTo>
                  <a:cubicBezTo>
                    <a:pt x="165" y="263"/>
                    <a:pt x="161" y="264"/>
                    <a:pt x="158" y="265"/>
                  </a:cubicBezTo>
                  <a:cubicBezTo>
                    <a:pt x="155" y="264"/>
                    <a:pt x="151" y="263"/>
                    <a:pt x="147" y="262"/>
                  </a:cubicBezTo>
                  <a:cubicBezTo>
                    <a:pt x="132" y="258"/>
                    <a:pt x="117" y="257"/>
                    <a:pt x="107" y="253"/>
                  </a:cubicBezTo>
                  <a:cubicBezTo>
                    <a:pt x="72" y="240"/>
                    <a:pt x="81" y="235"/>
                    <a:pt x="70" y="219"/>
                  </a:cubicBezTo>
                  <a:cubicBezTo>
                    <a:pt x="62" y="207"/>
                    <a:pt x="54" y="200"/>
                    <a:pt x="51" y="187"/>
                  </a:cubicBezTo>
                  <a:cubicBezTo>
                    <a:pt x="43" y="198"/>
                    <a:pt x="54" y="221"/>
                    <a:pt x="62" y="230"/>
                  </a:cubicBezTo>
                  <a:cubicBezTo>
                    <a:pt x="62" y="231"/>
                    <a:pt x="58" y="229"/>
                    <a:pt x="51" y="223"/>
                  </a:cubicBezTo>
                  <a:cubicBezTo>
                    <a:pt x="36" y="203"/>
                    <a:pt x="46" y="193"/>
                    <a:pt x="48" y="179"/>
                  </a:cubicBezTo>
                  <a:cubicBezTo>
                    <a:pt x="49" y="165"/>
                    <a:pt x="47" y="151"/>
                    <a:pt x="40" y="145"/>
                  </a:cubicBezTo>
                  <a:cubicBezTo>
                    <a:pt x="38" y="154"/>
                    <a:pt x="36" y="161"/>
                    <a:pt x="38" y="170"/>
                  </a:cubicBezTo>
                  <a:cubicBezTo>
                    <a:pt x="40" y="179"/>
                    <a:pt x="41" y="184"/>
                    <a:pt x="39" y="194"/>
                  </a:cubicBezTo>
                  <a:cubicBezTo>
                    <a:pt x="28" y="183"/>
                    <a:pt x="29" y="168"/>
                    <a:pt x="30" y="156"/>
                  </a:cubicBezTo>
                  <a:cubicBezTo>
                    <a:pt x="33" y="136"/>
                    <a:pt x="41" y="136"/>
                    <a:pt x="45" y="116"/>
                  </a:cubicBezTo>
                  <a:cubicBezTo>
                    <a:pt x="47" y="106"/>
                    <a:pt x="44" y="98"/>
                    <a:pt x="41" y="93"/>
                  </a:cubicBezTo>
                  <a:cubicBezTo>
                    <a:pt x="37" y="108"/>
                    <a:pt x="33" y="110"/>
                    <a:pt x="28" y="124"/>
                  </a:cubicBezTo>
                  <a:cubicBezTo>
                    <a:pt x="25" y="105"/>
                    <a:pt x="32" y="96"/>
                    <a:pt x="38" y="88"/>
                  </a:cubicBezTo>
                  <a:cubicBezTo>
                    <a:pt x="47" y="77"/>
                    <a:pt x="49" y="82"/>
                    <a:pt x="60" y="71"/>
                  </a:cubicBezTo>
                  <a:cubicBezTo>
                    <a:pt x="73" y="60"/>
                    <a:pt x="77" y="50"/>
                    <a:pt x="75" y="45"/>
                  </a:cubicBezTo>
                  <a:cubicBezTo>
                    <a:pt x="65" y="49"/>
                    <a:pt x="60" y="54"/>
                    <a:pt x="53" y="62"/>
                  </a:cubicBezTo>
                  <a:cubicBezTo>
                    <a:pt x="57" y="46"/>
                    <a:pt x="66" y="45"/>
                    <a:pt x="84" y="33"/>
                  </a:cubicBezTo>
                  <a:cubicBezTo>
                    <a:pt x="102" y="18"/>
                    <a:pt x="98" y="16"/>
                    <a:pt x="121" y="7"/>
                  </a:cubicBezTo>
                  <a:cubicBezTo>
                    <a:pt x="113" y="0"/>
                    <a:pt x="100" y="0"/>
                    <a:pt x="83" y="15"/>
                  </a:cubicBezTo>
                  <a:cubicBezTo>
                    <a:pt x="72" y="26"/>
                    <a:pt x="66" y="40"/>
                    <a:pt x="59" y="44"/>
                  </a:cubicBezTo>
                  <a:cubicBezTo>
                    <a:pt x="62" y="33"/>
                    <a:pt x="61" y="29"/>
                    <a:pt x="68" y="17"/>
                  </a:cubicBezTo>
                  <a:cubicBezTo>
                    <a:pt x="61" y="18"/>
                    <a:pt x="45" y="29"/>
                    <a:pt x="42" y="52"/>
                  </a:cubicBezTo>
                  <a:cubicBezTo>
                    <a:pt x="39" y="75"/>
                    <a:pt x="31" y="84"/>
                    <a:pt x="31" y="84"/>
                  </a:cubicBezTo>
                  <a:cubicBezTo>
                    <a:pt x="31" y="84"/>
                    <a:pt x="29" y="72"/>
                    <a:pt x="32" y="58"/>
                  </a:cubicBezTo>
                  <a:cubicBezTo>
                    <a:pt x="25" y="61"/>
                    <a:pt x="19" y="66"/>
                    <a:pt x="17" y="78"/>
                  </a:cubicBezTo>
                  <a:cubicBezTo>
                    <a:pt x="14" y="95"/>
                    <a:pt x="18" y="117"/>
                    <a:pt x="21" y="126"/>
                  </a:cubicBezTo>
                  <a:cubicBezTo>
                    <a:pt x="25" y="137"/>
                    <a:pt x="24" y="147"/>
                    <a:pt x="23" y="163"/>
                  </a:cubicBezTo>
                  <a:cubicBezTo>
                    <a:pt x="20" y="143"/>
                    <a:pt x="12" y="138"/>
                    <a:pt x="11" y="115"/>
                  </a:cubicBezTo>
                  <a:cubicBezTo>
                    <a:pt x="0" y="126"/>
                    <a:pt x="6" y="157"/>
                    <a:pt x="16" y="173"/>
                  </a:cubicBezTo>
                  <a:cubicBezTo>
                    <a:pt x="27" y="190"/>
                    <a:pt x="34" y="191"/>
                    <a:pt x="41" y="216"/>
                  </a:cubicBezTo>
                  <a:cubicBezTo>
                    <a:pt x="30" y="201"/>
                    <a:pt x="22" y="199"/>
                    <a:pt x="14" y="182"/>
                  </a:cubicBezTo>
                  <a:cubicBezTo>
                    <a:pt x="8" y="190"/>
                    <a:pt x="13" y="206"/>
                    <a:pt x="30" y="219"/>
                  </a:cubicBezTo>
                  <a:cubicBezTo>
                    <a:pt x="44" y="233"/>
                    <a:pt x="67" y="232"/>
                    <a:pt x="93" y="253"/>
                  </a:cubicBezTo>
                  <a:cubicBezTo>
                    <a:pt x="72" y="241"/>
                    <a:pt x="50" y="241"/>
                    <a:pt x="38" y="234"/>
                  </a:cubicBezTo>
                  <a:cubicBezTo>
                    <a:pt x="36" y="243"/>
                    <a:pt x="50" y="252"/>
                    <a:pt x="72" y="258"/>
                  </a:cubicBezTo>
                  <a:cubicBezTo>
                    <a:pt x="81" y="260"/>
                    <a:pt x="95" y="260"/>
                    <a:pt x="103" y="260"/>
                  </a:cubicBezTo>
                  <a:cubicBezTo>
                    <a:pt x="117" y="261"/>
                    <a:pt x="125" y="264"/>
                    <a:pt x="134" y="265"/>
                  </a:cubicBezTo>
                  <a:cubicBezTo>
                    <a:pt x="138" y="266"/>
                    <a:pt x="142" y="267"/>
                    <a:pt x="147" y="268"/>
                  </a:cubicBezTo>
                  <a:cubicBezTo>
                    <a:pt x="143" y="270"/>
                    <a:pt x="140" y="271"/>
                    <a:pt x="138" y="272"/>
                  </a:cubicBezTo>
                  <a:cubicBezTo>
                    <a:pt x="132" y="276"/>
                    <a:pt x="132" y="276"/>
                    <a:pt x="119" y="285"/>
                  </a:cubicBezTo>
                  <a:cubicBezTo>
                    <a:pt x="131" y="290"/>
                    <a:pt x="131" y="290"/>
                    <a:pt x="131" y="290"/>
                  </a:cubicBezTo>
                  <a:cubicBezTo>
                    <a:pt x="131" y="290"/>
                    <a:pt x="137" y="282"/>
                    <a:pt x="150" y="276"/>
                  </a:cubicBezTo>
                  <a:cubicBezTo>
                    <a:pt x="152" y="275"/>
                    <a:pt x="155" y="273"/>
                    <a:pt x="158" y="272"/>
                  </a:cubicBezTo>
                  <a:cubicBezTo>
                    <a:pt x="161" y="273"/>
                    <a:pt x="164" y="275"/>
                    <a:pt x="167" y="276"/>
                  </a:cubicBezTo>
                  <a:cubicBezTo>
                    <a:pt x="179" y="282"/>
                    <a:pt x="186" y="290"/>
                    <a:pt x="186" y="290"/>
                  </a:cubicBezTo>
                  <a:cubicBezTo>
                    <a:pt x="198" y="285"/>
                    <a:pt x="198" y="285"/>
                    <a:pt x="198" y="285"/>
                  </a:cubicBezTo>
                  <a:cubicBezTo>
                    <a:pt x="184" y="276"/>
                    <a:pt x="185" y="276"/>
                    <a:pt x="178" y="272"/>
                  </a:cubicBezTo>
                  <a:cubicBezTo>
                    <a:pt x="176" y="271"/>
                    <a:pt x="173" y="270"/>
                    <a:pt x="169" y="268"/>
                  </a:cubicBezTo>
                  <a:cubicBezTo>
                    <a:pt x="174" y="267"/>
                    <a:pt x="178" y="266"/>
                    <a:pt x="182" y="265"/>
                  </a:cubicBezTo>
                  <a:cubicBezTo>
                    <a:pt x="192" y="264"/>
                    <a:pt x="199" y="261"/>
                    <a:pt x="214" y="260"/>
                  </a:cubicBezTo>
                  <a:cubicBezTo>
                    <a:pt x="221" y="260"/>
                    <a:pt x="235" y="260"/>
                    <a:pt x="244" y="258"/>
                  </a:cubicBezTo>
                  <a:cubicBezTo>
                    <a:pt x="267" y="252"/>
                    <a:pt x="280" y="243"/>
                    <a:pt x="278" y="234"/>
                  </a:cubicBezTo>
                  <a:cubicBezTo>
                    <a:pt x="266" y="241"/>
                    <a:pt x="244" y="241"/>
                    <a:pt x="223" y="253"/>
                  </a:cubicBezTo>
                  <a:cubicBezTo>
                    <a:pt x="249" y="232"/>
                    <a:pt x="272" y="233"/>
                    <a:pt x="286" y="219"/>
                  </a:cubicBezTo>
                  <a:cubicBezTo>
                    <a:pt x="303" y="206"/>
                    <a:pt x="309" y="190"/>
                    <a:pt x="302" y="182"/>
                  </a:cubicBezTo>
                  <a:cubicBezTo>
                    <a:pt x="294" y="199"/>
                    <a:pt x="286" y="201"/>
                    <a:pt x="276" y="21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3" name="íšlîde">
              <a:extLst>
                <a:ext uri="{FF2B5EF4-FFF2-40B4-BE49-F238E27FC236}">
                  <a16:creationId xmlns:a16="http://schemas.microsoft.com/office/drawing/2014/main" id="{B8B76548-BB8C-B9F9-A70D-07D979C6AC6E}"/>
                </a:ext>
              </a:extLst>
            </p:cNvPr>
            <p:cNvSpPr/>
            <p:nvPr/>
          </p:nvSpPr>
          <p:spPr bwMode="auto">
            <a:xfrm>
              <a:off x="2162175" y="3240088"/>
              <a:ext cx="104775" cy="80963"/>
            </a:xfrm>
            <a:custGeom>
              <a:avLst/>
              <a:gdLst>
                <a:gd name="T0" fmla="*/ 9 w 66"/>
                <a:gd name="T1" fmla="*/ 0 h 51"/>
                <a:gd name="T2" fmla="*/ 66 w 66"/>
                <a:gd name="T3" fmla="*/ 12 h 51"/>
                <a:gd name="T4" fmla="*/ 63 w 66"/>
                <a:gd name="T5" fmla="*/ 21 h 51"/>
                <a:gd name="T6" fmla="*/ 20 w 66"/>
                <a:gd name="T7" fmla="*/ 35 h 51"/>
                <a:gd name="T8" fmla="*/ 59 w 66"/>
                <a:gd name="T9" fmla="*/ 41 h 51"/>
                <a:gd name="T10" fmla="*/ 57 w 66"/>
                <a:gd name="T11" fmla="*/ 51 h 51"/>
                <a:gd name="T12" fmla="*/ 0 w 66"/>
                <a:gd name="T13" fmla="*/ 39 h 51"/>
                <a:gd name="T14" fmla="*/ 2 w 66"/>
                <a:gd name="T15" fmla="*/ 30 h 51"/>
                <a:gd name="T16" fmla="*/ 43 w 66"/>
                <a:gd name="T17" fmla="*/ 16 h 51"/>
                <a:gd name="T18" fmla="*/ 7 w 66"/>
                <a:gd name="T19" fmla="*/ 9 h 51"/>
                <a:gd name="T20" fmla="*/ 9 w 66"/>
                <a:gd name="T2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51">
                  <a:moveTo>
                    <a:pt x="9" y="0"/>
                  </a:moveTo>
                  <a:lnTo>
                    <a:pt x="66" y="12"/>
                  </a:lnTo>
                  <a:lnTo>
                    <a:pt x="63" y="21"/>
                  </a:lnTo>
                  <a:lnTo>
                    <a:pt x="20" y="35"/>
                  </a:lnTo>
                  <a:lnTo>
                    <a:pt x="59" y="41"/>
                  </a:lnTo>
                  <a:lnTo>
                    <a:pt x="57" y="51"/>
                  </a:lnTo>
                  <a:lnTo>
                    <a:pt x="0" y="39"/>
                  </a:lnTo>
                  <a:lnTo>
                    <a:pt x="2" y="30"/>
                  </a:lnTo>
                  <a:lnTo>
                    <a:pt x="43" y="16"/>
                  </a:lnTo>
                  <a:lnTo>
                    <a:pt x="7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4" name="îṡḷíḋé">
              <a:extLst>
                <a:ext uri="{FF2B5EF4-FFF2-40B4-BE49-F238E27FC236}">
                  <a16:creationId xmlns:a16="http://schemas.microsoft.com/office/drawing/2014/main" id="{520F35BA-C6BB-61BD-7E3C-5FE2F21D6B96}"/>
                </a:ext>
              </a:extLst>
            </p:cNvPr>
            <p:cNvSpPr/>
            <p:nvPr/>
          </p:nvSpPr>
          <p:spPr bwMode="auto">
            <a:xfrm>
              <a:off x="2154238" y="3316288"/>
              <a:ext cx="93663" cy="79375"/>
            </a:xfrm>
            <a:custGeom>
              <a:avLst/>
              <a:gdLst>
                <a:gd name="T0" fmla="*/ 0 w 59"/>
                <a:gd name="T1" fmla="*/ 50 h 50"/>
                <a:gd name="T2" fmla="*/ 0 w 59"/>
                <a:gd name="T3" fmla="*/ 39 h 50"/>
                <a:gd name="T4" fmla="*/ 14 w 59"/>
                <a:gd name="T5" fmla="*/ 34 h 50"/>
                <a:gd name="T6" fmla="*/ 16 w 59"/>
                <a:gd name="T7" fmla="*/ 16 h 50"/>
                <a:gd name="T8" fmla="*/ 2 w 59"/>
                <a:gd name="T9" fmla="*/ 12 h 50"/>
                <a:gd name="T10" fmla="*/ 5 w 59"/>
                <a:gd name="T11" fmla="*/ 0 h 50"/>
                <a:gd name="T12" fmla="*/ 59 w 59"/>
                <a:gd name="T13" fmla="*/ 25 h 50"/>
                <a:gd name="T14" fmla="*/ 59 w 59"/>
                <a:gd name="T15" fmla="*/ 34 h 50"/>
                <a:gd name="T16" fmla="*/ 0 w 59"/>
                <a:gd name="T17" fmla="*/ 50 h 50"/>
                <a:gd name="T18" fmla="*/ 23 w 59"/>
                <a:gd name="T19" fmla="*/ 32 h 50"/>
                <a:gd name="T20" fmla="*/ 46 w 59"/>
                <a:gd name="T21" fmla="*/ 28 h 50"/>
                <a:gd name="T22" fmla="*/ 25 w 59"/>
                <a:gd name="T23" fmla="*/ 21 h 50"/>
                <a:gd name="T24" fmla="*/ 23 w 59"/>
                <a:gd name="T25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50">
                  <a:moveTo>
                    <a:pt x="0" y="50"/>
                  </a:moveTo>
                  <a:lnTo>
                    <a:pt x="0" y="39"/>
                  </a:lnTo>
                  <a:lnTo>
                    <a:pt x="14" y="34"/>
                  </a:lnTo>
                  <a:lnTo>
                    <a:pt x="16" y="16"/>
                  </a:lnTo>
                  <a:lnTo>
                    <a:pt x="2" y="12"/>
                  </a:lnTo>
                  <a:lnTo>
                    <a:pt x="5" y="0"/>
                  </a:lnTo>
                  <a:lnTo>
                    <a:pt x="59" y="25"/>
                  </a:lnTo>
                  <a:lnTo>
                    <a:pt x="59" y="34"/>
                  </a:lnTo>
                  <a:lnTo>
                    <a:pt x="0" y="50"/>
                  </a:lnTo>
                  <a:close/>
                  <a:moveTo>
                    <a:pt x="23" y="32"/>
                  </a:moveTo>
                  <a:lnTo>
                    <a:pt x="46" y="28"/>
                  </a:lnTo>
                  <a:lnTo>
                    <a:pt x="25" y="21"/>
                  </a:lnTo>
                  <a:lnTo>
                    <a:pt x="23" y="3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5" name="îsḻiḓe">
              <a:extLst>
                <a:ext uri="{FF2B5EF4-FFF2-40B4-BE49-F238E27FC236}">
                  <a16:creationId xmlns:a16="http://schemas.microsoft.com/office/drawing/2014/main" id="{3F87EB36-9B33-1A3D-52CA-93EB9FCA4246}"/>
                </a:ext>
              </a:extLst>
            </p:cNvPr>
            <p:cNvSpPr/>
            <p:nvPr/>
          </p:nvSpPr>
          <p:spPr bwMode="auto">
            <a:xfrm>
              <a:off x="2154238" y="3406776"/>
              <a:ext cx="90488" cy="65088"/>
            </a:xfrm>
            <a:custGeom>
              <a:avLst/>
              <a:gdLst>
                <a:gd name="T0" fmla="*/ 0 w 57"/>
                <a:gd name="T1" fmla="*/ 3 h 41"/>
                <a:gd name="T2" fmla="*/ 57 w 57"/>
                <a:gd name="T3" fmla="*/ 0 h 41"/>
                <a:gd name="T4" fmla="*/ 57 w 57"/>
                <a:gd name="T5" fmla="*/ 12 h 41"/>
                <a:gd name="T6" fmla="*/ 18 w 57"/>
                <a:gd name="T7" fmla="*/ 32 h 41"/>
                <a:gd name="T8" fmla="*/ 57 w 57"/>
                <a:gd name="T9" fmla="*/ 30 h 41"/>
                <a:gd name="T10" fmla="*/ 57 w 57"/>
                <a:gd name="T11" fmla="*/ 39 h 41"/>
                <a:gd name="T12" fmla="*/ 0 w 57"/>
                <a:gd name="T13" fmla="*/ 41 h 41"/>
                <a:gd name="T14" fmla="*/ 0 w 57"/>
                <a:gd name="T15" fmla="*/ 30 h 41"/>
                <a:gd name="T16" fmla="*/ 37 w 57"/>
                <a:gd name="T17" fmla="*/ 9 h 41"/>
                <a:gd name="T18" fmla="*/ 0 w 57"/>
                <a:gd name="T19" fmla="*/ 12 h 41"/>
                <a:gd name="T20" fmla="*/ 0 w 57"/>
                <a:gd name="T21" fmla="*/ 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" h="41">
                  <a:moveTo>
                    <a:pt x="0" y="3"/>
                  </a:moveTo>
                  <a:lnTo>
                    <a:pt x="57" y="0"/>
                  </a:lnTo>
                  <a:lnTo>
                    <a:pt x="57" y="12"/>
                  </a:lnTo>
                  <a:lnTo>
                    <a:pt x="18" y="32"/>
                  </a:lnTo>
                  <a:lnTo>
                    <a:pt x="57" y="30"/>
                  </a:lnTo>
                  <a:lnTo>
                    <a:pt x="57" y="39"/>
                  </a:lnTo>
                  <a:lnTo>
                    <a:pt x="0" y="41"/>
                  </a:lnTo>
                  <a:lnTo>
                    <a:pt x="0" y="30"/>
                  </a:lnTo>
                  <a:lnTo>
                    <a:pt x="37" y="9"/>
                  </a:lnTo>
                  <a:lnTo>
                    <a:pt x="0" y="1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6" name="î$ļïdè">
              <a:extLst>
                <a:ext uri="{FF2B5EF4-FFF2-40B4-BE49-F238E27FC236}">
                  <a16:creationId xmlns:a16="http://schemas.microsoft.com/office/drawing/2014/main" id="{E0BEA39A-317C-A033-A522-073CE1328D5E}"/>
                </a:ext>
              </a:extLst>
            </p:cNvPr>
            <p:cNvSpPr/>
            <p:nvPr/>
          </p:nvSpPr>
          <p:spPr bwMode="auto">
            <a:xfrm>
              <a:off x="2154238" y="3482976"/>
              <a:ext cx="98425" cy="50800"/>
            </a:xfrm>
            <a:custGeom>
              <a:avLst/>
              <a:gdLst>
                <a:gd name="T0" fmla="*/ 26 w 27"/>
                <a:gd name="T1" fmla="*/ 8 h 14"/>
                <a:gd name="T2" fmla="*/ 27 w 27"/>
                <a:gd name="T3" fmla="*/ 12 h 14"/>
                <a:gd name="T4" fmla="*/ 11 w 27"/>
                <a:gd name="T5" fmla="*/ 14 h 14"/>
                <a:gd name="T6" fmla="*/ 6 w 27"/>
                <a:gd name="T7" fmla="*/ 14 h 14"/>
                <a:gd name="T8" fmla="*/ 2 w 27"/>
                <a:gd name="T9" fmla="*/ 12 h 14"/>
                <a:gd name="T10" fmla="*/ 0 w 27"/>
                <a:gd name="T11" fmla="*/ 8 h 14"/>
                <a:gd name="T12" fmla="*/ 2 w 27"/>
                <a:gd name="T13" fmla="*/ 3 h 14"/>
                <a:gd name="T14" fmla="*/ 8 w 27"/>
                <a:gd name="T15" fmla="*/ 0 h 14"/>
                <a:gd name="T16" fmla="*/ 9 w 27"/>
                <a:gd name="T17" fmla="*/ 4 h 14"/>
                <a:gd name="T18" fmla="*/ 6 w 27"/>
                <a:gd name="T19" fmla="*/ 5 h 14"/>
                <a:gd name="T20" fmla="*/ 5 w 27"/>
                <a:gd name="T21" fmla="*/ 8 h 14"/>
                <a:gd name="T22" fmla="*/ 6 w 27"/>
                <a:gd name="T23" fmla="*/ 9 h 14"/>
                <a:gd name="T24" fmla="*/ 10 w 27"/>
                <a:gd name="T25" fmla="*/ 10 h 14"/>
                <a:gd name="T26" fmla="*/ 26 w 27"/>
                <a:gd name="T27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" h="14">
                  <a:moveTo>
                    <a:pt x="26" y="8"/>
                  </a:moveTo>
                  <a:cubicBezTo>
                    <a:pt x="27" y="12"/>
                    <a:pt x="27" y="12"/>
                    <a:pt x="27" y="12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4"/>
                    <a:pt x="7" y="14"/>
                    <a:pt x="6" y="14"/>
                  </a:cubicBezTo>
                  <a:cubicBezTo>
                    <a:pt x="4" y="14"/>
                    <a:pt x="3" y="13"/>
                    <a:pt x="2" y="12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6"/>
                    <a:pt x="1" y="4"/>
                    <a:pt x="2" y="3"/>
                  </a:cubicBezTo>
                  <a:cubicBezTo>
                    <a:pt x="3" y="1"/>
                    <a:pt x="5" y="1"/>
                    <a:pt x="8" y="0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7" y="5"/>
                    <a:pt x="6" y="5"/>
                    <a:pt x="6" y="5"/>
                  </a:cubicBezTo>
                  <a:cubicBezTo>
                    <a:pt x="5" y="6"/>
                    <a:pt x="5" y="7"/>
                    <a:pt x="5" y="8"/>
                  </a:cubicBezTo>
                  <a:cubicBezTo>
                    <a:pt x="5" y="8"/>
                    <a:pt x="5" y="9"/>
                    <a:pt x="6" y="9"/>
                  </a:cubicBezTo>
                  <a:cubicBezTo>
                    <a:pt x="7" y="10"/>
                    <a:pt x="8" y="10"/>
                    <a:pt x="10" y="10"/>
                  </a:cubicBezTo>
                  <a:lnTo>
                    <a:pt x="26" y="8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7" name="îṧḷíḓê">
              <a:extLst>
                <a:ext uri="{FF2B5EF4-FFF2-40B4-BE49-F238E27FC236}">
                  <a16:creationId xmlns:a16="http://schemas.microsoft.com/office/drawing/2014/main" id="{9C8020A2-44B0-E8F2-83F0-ED19E866BBCC}"/>
                </a:ext>
              </a:extLst>
            </p:cNvPr>
            <p:cNvSpPr/>
            <p:nvPr/>
          </p:nvSpPr>
          <p:spPr bwMode="auto">
            <a:xfrm>
              <a:off x="2162175" y="3541713"/>
              <a:ext cx="93663" cy="31750"/>
            </a:xfrm>
            <a:custGeom>
              <a:avLst/>
              <a:gdLst>
                <a:gd name="T0" fmla="*/ 0 w 59"/>
                <a:gd name="T1" fmla="*/ 9 h 20"/>
                <a:gd name="T2" fmla="*/ 57 w 59"/>
                <a:gd name="T3" fmla="*/ 0 h 20"/>
                <a:gd name="T4" fmla="*/ 59 w 59"/>
                <a:gd name="T5" fmla="*/ 9 h 20"/>
                <a:gd name="T6" fmla="*/ 2 w 59"/>
                <a:gd name="T7" fmla="*/ 20 h 20"/>
                <a:gd name="T8" fmla="*/ 0 w 59"/>
                <a:gd name="T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20">
                  <a:moveTo>
                    <a:pt x="0" y="9"/>
                  </a:moveTo>
                  <a:lnTo>
                    <a:pt x="57" y="0"/>
                  </a:lnTo>
                  <a:lnTo>
                    <a:pt x="59" y="9"/>
                  </a:lnTo>
                  <a:lnTo>
                    <a:pt x="2" y="2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8" name="íṩ1iḑê">
              <a:extLst>
                <a:ext uri="{FF2B5EF4-FFF2-40B4-BE49-F238E27FC236}">
                  <a16:creationId xmlns:a16="http://schemas.microsoft.com/office/drawing/2014/main" id="{878AA491-4081-B0E1-402A-508D1BA102B5}"/>
                </a:ext>
              </a:extLst>
            </p:cNvPr>
            <p:cNvSpPr/>
            <p:nvPr/>
          </p:nvSpPr>
          <p:spPr bwMode="auto">
            <a:xfrm>
              <a:off x="2168525" y="3570288"/>
              <a:ext cx="104775" cy="84138"/>
            </a:xfrm>
            <a:custGeom>
              <a:avLst/>
              <a:gdLst>
                <a:gd name="T0" fmla="*/ 0 w 66"/>
                <a:gd name="T1" fmla="*/ 14 h 53"/>
                <a:gd name="T2" fmla="*/ 57 w 66"/>
                <a:gd name="T3" fmla="*/ 0 h 53"/>
                <a:gd name="T4" fmla="*/ 59 w 66"/>
                <a:gd name="T5" fmla="*/ 9 h 53"/>
                <a:gd name="T6" fmla="*/ 25 w 66"/>
                <a:gd name="T7" fmla="*/ 39 h 53"/>
                <a:gd name="T8" fmla="*/ 64 w 66"/>
                <a:gd name="T9" fmla="*/ 30 h 53"/>
                <a:gd name="T10" fmla="*/ 66 w 66"/>
                <a:gd name="T11" fmla="*/ 39 h 53"/>
                <a:gd name="T12" fmla="*/ 9 w 66"/>
                <a:gd name="T13" fmla="*/ 53 h 53"/>
                <a:gd name="T14" fmla="*/ 7 w 66"/>
                <a:gd name="T15" fmla="*/ 41 h 53"/>
                <a:gd name="T16" fmla="*/ 39 w 66"/>
                <a:gd name="T17" fmla="*/ 14 h 53"/>
                <a:gd name="T18" fmla="*/ 3 w 66"/>
                <a:gd name="T19" fmla="*/ 23 h 53"/>
                <a:gd name="T20" fmla="*/ 0 w 66"/>
                <a:gd name="T21" fmla="*/ 1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53">
                  <a:moveTo>
                    <a:pt x="0" y="14"/>
                  </a:moveTo>
                  <a:lnTo>
                    <a:pt x="57" y="0"/>
                  </a:lnTo>
                  <a:lnTo>
                    <a:pt x="59" y="9"/>
                  </a:lnTo>
                  <a:lnTo>
                    <a:pt x="25" y="39"/>
                  </a:lnTo>
                  <a:lnTo>
                    <a:pt x="64" y="30"/>
                  </a:lnTo>
                  <a:lnTo>
                    <a:pt x="66" y="39"/>
                  </a:lnTo>
                  <a:lnTo>
                    <a:pt x="9" y="53"/>
                  </a:lnTo>
                  <a:lnTo>
                    <a:pt x="7" y="41"/>
                  </a:lnTo>
                  <a:lnTo>
                    <a:pt x="39" y="14"/>
                  </a:lnTo>
                  <a:lnTo>
                    <a:pt x="3" y="23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9" name="îṥlîdê">
              <a:extLst>
                <a:ext uri="{FF2B5EF4-FFF2-40B4-BE49-F238E27FC236}">
                  <a16:creationId xmlns:a16="http://schemas.microsoft.com/office/drawing/2014/main" id="{D12A04B6-DDC4-B84E-828B-40C62064A29F}"/>
                </a:ext>
              </a:extLst>
            </p:cNvPr>
            <p:cNvSpPr/>
            <p:nvPr/>
          </p:nvSpPr>
          <p:spPr bwMode="auto">
            <a:xfrm>
              <a:off x="2197100" y="3649663"/>
              <a:ext cx="95250" cy="87313"/>
            </a:xfrm>
            <a:custGeom>
              <a:avLst/>
              <a:gdLst>
                <a:gd name="T0" fmla="*/ 10 w 26"/>
                <a:gd name="T1" fmla="*/ 13 h 24"/>
                <a:gd name="T2" fmla="*/ 14 w 26"/>
                <a:gd name="T3" fmla="*/ 12 h 24"/>
                <a:gd name="T4" fmla="*/ 17 w 26"/>
                <a:gd name="T5" fmla="*/ 20 h 24"/>
                <a:gd name="T6" fmla="*/ 8 w 26"/>
                <a:gd name="T7" fmla="*/ 24 h 24"/>
                <a:gd name="T8" fmla="*/ 4 w 26"/>
                <a:gd name="T9" fmla="*/ 21 h 24"/>
                <a:gd name="T10" fmla="*/ 1 w 26"/>
                <a:gd name="T11" fmla="*/ 17 h 24"/>
                <a:gd name="T12" fmla="*/ 0 w 26"/>
                <a:gd name="T13" fmla="*/ 10 h 24"/>
                <a:gd name="T14" fmla="*/ 3 w 26"/>
                <a:gd name="T15" fmla="*/ 5 h 24"/>
                <a:gd name="T16" fmla="*/ 9 w 26"/>
                <a:gd name="T17" fmla="*/ 2 h 24"/>
                <a:gd name="T18" fmla="*/ 17 w 26"/>
                <a:gd name="T19" fmla="*/ 1 h 24"/>
                <a:gd name="T20" fmla="*/ 22 w 26"/>
                <a:gd name="T21" fmla="*/ 3 h 24"/>
                <a:gd name="T22" fmla="*/ 25 w 26"/>
                <a:gd name="T23" fmla="*/ 7 h 24"/>
                <a:gd name="T24" fmla="*/ 26 w 26"/>
                <a:gd name="T25" fmla="*/ 14 h 24"/>
                <a:gd name="T26" fmla="*/ 22 w 26"/>
                <a:gd name="T27" fmla="*/ 19 h 24"/>
                <a:gd name="T28" fmla="*/ 19 w 26"/>
                <a:gd name="T29" fmla="*/ 15 h 24"/>
                <a:gd name="T30" fmla="*/ 21 w 26"/>
                <a:gd name="T31" fmla="*/ 12 h 24"/>
                <a:gd name="T32" fmla="*/ 21 w 26"/>
                <a:gd name="T33" fmla="*/ 9 h 24"/>
                <a:gd name="T34" fmla="*/ 18 w 26"/>
                <a:gd name="T35" fmla="*/ 5 h 24"/>
                <a:gd name="T36" fmla="*/ 11 w 26"/>
                <a:gd name="T37" fmla="*/ 6 h 24"/>
                <a:gd name="T38" fmla="*/ 5 w 26"/>
                <a:gd name="T39" fmla="*/ 10 h 24"/>
                <a:gd name="T40" fmla="*/ 5 w 26"/>
                <a:gd name="T41" fmla="*/ 15 h 24"/>
                <a:gd name="T42" fmla="*/ 6 w 26"/>
                <a:gd name="T43" fmla="*/ 17 h 24"/>
                <a:gd name="T44" fmla="*/ 9 w 26"/>
                <a:gd name="T45" fmla="*/ 19 h 24"/>
                <a:gd name="T46" fmla="*/ 12 w 26"/>
                <a:gd name="T47" fmla="*/ 18 h 24"/>
                <a:gd name="T48" fmla="*/ 10 w 26"/>
                <a:gd name="T49" fmla="*/ 1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" h="24">
                  <a:moveTo>
                    <a:pt x="10" y="13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3"/>
                    <a:pt x="5" y="22"/>
                    <a:pt x="4" y="21"/>
                  </a:cubicBezTo>
                  <a:cubicBezTo>
                    <a:pt x="2" y="20"/>
                    <a:pt x="1" y="18"/>
                    <a:pt x="1" y="17"/>
                  </a:cubicBezTo>
                  <a:cubicBezTo>
                    <a:pt x="0" y="14"/>
                    <a:pt x="0" y="12"/>
                    <a:pt x="0" y="10"/>
                  </a:cubicBezTo>
                  <a:cubicBezTo>
                    <a:pt x="1" y="8"/>
                    <a:pt x="2" y="7"/>
                    <a:pt x="3" y="5"/>
                  </a:cubicBezTo>
                  <a:cubicBezTo>
                    <a:pt x="5" y="4"/>
                    <a:pt x="7" y="3"/>
                    <a:pt x="9" y="2"/>
                  </a:cubicBezTo>
                  <a:cubicBezTo>
                    <a:pt x="12" y="1"/>
                    <a:pt x="14" y="0"/>
                    <a:pt x="17" y="1"/>
                  </a:cubicBezTo>
                  <a:cubicBezTo>
                    <a:pt x="19" y="1"/>
                    <a:pt x="21" y="2"/>
                    <a:pt x="22" y="3"/>
                  </a:cubicBezTo>
                  <a:cubicBezTo>
                    <a:pt x="24" y="4"/>
                    <a:pt x="25" y="5"/>
                    <a:pt x="25" y="7"/>
                  </a:cubicBezTo>
                  <a:cubicBezTo>
                    <a:pt x="26" y="10"/>
                    <a:pt x="26" y="12"/>
                    <a:pt x="26" y="14"/>
                  </a:cubicBezTo>
                  <a:cubicBezTo>
                    <a:pt x="25" y="16"/>
                    <a:pt x="24" y="17"/>
                    <a:pt x="22" y="19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20" y="14"/>
                    <a:pt x="21" y="13"/>
                    <a:pt x="21" y="12"/>
                  </a:cubicBezTo>
                  <a:cubicBezTo>
                    <a:pt x="22" y="11"/>
                    <a:pt x="22" y="10"/>
                    <a:pt x="21" y="9"/>
                  </a:cubicBezTo>
                  <a:cubicBezTo>
                    <a:pt x="21" y="7"/>
                    <a:pt x="19" y="6"/>
                    <a:pt x="18" y="5"/>
                  </a:cubicBezTo>
                  <a:cubicBezTo>
                    <a:pt x="16" y="5"/>
                    <a:pt x="14" y="5"/>
                    <a:pt x="11" y="6"/>
                  </a:cubicBezTo>
                  <a:cubicBezTo>
                    <a:pt x="8" y="7"/>
                    <a:pt x="6" y="8"/>
                    <a:pt x="5" y="10"/>
                  </a:cubicBezTo>
                  <a:cubicBezTo>
                    <a:pt x="4" y="11"/>
                    <a:pt x="4" y="13"/>
                    <a:pt x="5" y="15"/>
                  </a:cubicBezTo>
                  <a:cubicBezTo>
                    <a:pt x="5" y="16"/>
                    <a:pt x="6" y="16"/>
                    <a:pt x="6" y="17"/>
                  </a:cubicBezTo>
                  <a:cubicBezTo>
                    <a:pt x="7" y="18"/>
                    <a:pt x="8" y="18"/>
                    <a:pt x="9" y="19"/>
                  </a:cubicBezTo>
                  <a:cubicBezTo>
                    <a:pt x="12" y="18"/>
                    <a:pt x="12" y="18"/>
                    <a:pt x="12" y="18"/>
                  </a:cubicBezTo>
                  <a:lnTo>
                    <a:pt x="10" y="1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0" name="îṧľîḑé">
              <a:extLst>
                <a:ext uri="{FF2B5EF4-FFF2-40B4-BE49-F238E27FC236}">
                  <a16:creationId xmlns:a16="http://schemas.microsoft.com/office/drawing/2014/main" id="{3588C69B-794C-4A9D-B27A-C1E9E0077C87}"/>
                </a:ext>
              </a:extLst>
            </p:cNvPr>
            <p:cNvSpPr/>
            <p:nvPr/>
          </p:nvSpPr>
          <p:spPr bwMode="auto">
            <a:xfrm>
              <a:off x="2244725" y="3744913"/>
              <a:ext cx="101600" cy="90488"/>
            </a:xfrm>
            <a:custGeom>
              <a:avLst/>
              <a:gdLst>
                <a:gd name="T0" fmla="*/ 20 w 28"/>
                <a:gd name="T1" fmla="*/ 0 h 25"/>
                <a:gd name="T2" fmla="*/ 22 w 28"/>
                <a:gd name="T3" fmla="*/ 4 h 25"/>
                <a:gd name="T4" fmla="*/ 10 w 28"/>
                <a:gd name="T5" fmla="*/ 11 h 25"/>
                <a:gd name="T6" fmla="*/ 6 w 28"/>
                <a:gd name="T7" fmla="*/ 13 h 25"/>
                <a:gd name="T8" fmla="*/ 4 w 28"/>
                <a:gd name="T9" fmla="*/ 15 h 25"/>
                <a:gd name="T10" fmla="*/ 5 w 28"/>
                <a:gd name="T11" fmla="*/ 18 h 25"/>
                <a:gd name="T12" fmla="*/ 7 w 28"/>
                <a:gd name="T13" fmla="*/ 20 h 25"/>
                <a:gd name="T14" fmla="*/ 10 w 28"/>
                <a:gd name="T15" fmla="*/ 20 h 25"/>
                <a:gd name="T16" fmla="*/ 13 w 28"/>
                <a:gd name="T17" fmla="*/ 19 h 25"/>
                <a:gd name="T18" fmla="*/ 26 w 28"/>
                <a:gd name="T19" fmla="*/ 12 h 25"/>
                <a:gd name="T20" fmla="*/ 28 w 28"/>
                <a:gd name="T21" fmla="*/ 16 h 25"/>
                <a:gd name="T22" fmla="*/ 16 w 28"/>
                <a:gd name="T23" fmla="*/ 22 h 25"/>
                <a:gd name="T24" fmla="*/ 10 w 28"/>
                <a:gd name="T25" fmla="*/ 25 h 25"/>
                <a:gd name="T26" fmla="*/ 7 w 28"/>
                <a:gd name="T27" fmla="*/ 25 h 25"/>
                <a:gd name="T28" fmla="*/ 4 w 28"/>
                <a:gd name="T29" fmla="*/ 24 h 25"/>
                <a:gd name="T30" fmla="*/ 1 w 28"/>
                <a:gd name="T31" fmla="*/ 21 h 25"/>
                <a:gd name="T32" fmla="*/ 0 w 28"/>
                <a:gd name="T33" fmla="*/ 16 h 25"/>
                <a:gd name="T34" fmla="*/ 0 w 28"/>
                <a:gd name="T35" fmla="*/ 13 h 25"/>
                <a:gd name="T36" fmla="*/ 2 w 28"/>
                <a:gd name="T37" fmla="*/ 10 h 25"/>
                <a:gd name="T38" fmla="*/ 8 w 28"/>
                <a:gd name="T39" fmla="*/ 7 h 25"/>
                <a:gd name="T40" fmla="*/ 20 w 28"/>
                <a:gd name="T4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5">
                  <a:moveTo>
                    <a:pt x="20" y="0"/>
                  </a:moveTo>
                  <a:cubicBezTo>
                    <a:pt x="22" y="4"/>
                    <a:pt x="22" y="4"/>
                    <a:pt x="22" y="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8" y="12"/>
                    <a:pt x="7" y="13"/>
                    <a:pt x="6" y="13"/>
                  </a:cubicBezTo>
                  <a:cubicBezTo>
                    <a:pt x="5" y="14"/>
                    <a:pt x="5" y="14"/>
                    <a:pt x="4" y="15"/>
                  </a:cubicBezTo>
                  <a:cubicBezTo>
                    <a:pt x="4" y="16"/>
                    <a:pt x="4" y="17"/>
                    <a:pt x="5" y="18"/>
                  </a:cubicBezTo>
                  <a:cubicBezTo>
                    <a:pt x="6" y="19"/>
                    <a:pt x="6" y="20"/>
                    <a:pt x="7" y="20"/>
                  </a:cubicBezTo>
                  <a:cubicBezTo>
                    <a:pt x="8" y="21"/>
                    <a:pt x="9" y="21"/>
                    <a:pt x="10" y="20"/>
                  </a:cubicBezTo>
                  <a:cubicBezTo>
                    <a:pt x="10" y="20"/>
                    <a:pt x="12" y="19"/>
                    <a:pt x="13" y="19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4" y="23"/>
                    <a:pt x="12" y="24"/>
                    <a:pt x="10" y="25"/>
                  </a:cubicBezTo>
                  <a:cubicBezTo>
                    <a:pt x="9" y="25"/>
                    <a:pt x="8" y="25"/>
                    <a:pt x="7" y="25"/>
                  </a:cubicBezTo>
                  <a:cubicBezTo>
                    <a:pt x="6" y="25"/>
                    <a:pt x="5" y="25"/>
                    <a:pt x="4" y="24"/>
                  </a:cubicBezTo>
                  <a:cubicBezTo>
                    <a:pt x="3" y="23"/>
                    <a:pt x="2" y="22"/>
                    <a:pt x="1" y="21"/>
                  </a:cubicBezTo>
                  <a:cubicBezTo>
                    <a:pt x="0" y="19"/>
                    <a:pt x="0" y="17"/>
                    <a:pt x="0" y="16"/>
                  </a:cubicBezTo>
                  <a:cubicBezTo>
                    <a:pt x="0" y="15"/>
                    <a:pt x="0" y="14"/>
                    <a:pt x="0" y="13"/>
                  </a:cubicBezTo>
                  <a:cubicBezTo>
                    <a:pt x="1" y="12"/>
                    <a:pt x="2" y="11"/>
                    <a:pt x="2" y="10"/>
                  </a:cubicBezTo>
                  <a:cubicBezTo>
                    <a:pt x="3" y="9"/>
                    <a:pt x="5" y="8"/>
                    <a:pt x="8" y="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1" name="ï$ļíḑe">
              <a:extLst>
                <a:ext uri="{FF2B5EF4-FFF2-40B4-BE49-F238E27FC236}">
                  <a16:creationId xmlns:a16="http://schemas.microsoft.com/office/drawing/2014/main" id="{3B846306-3EF6-F1A0-B72E-27B513CC9AD0}"/>
                </a:ext>
              </a:extLst>
            </p:cNvPr>
            <p:cNvSpPr/>
            <p:nvPr/>
          </p:nvSpPr>
          <p:spPr bwMode="auto">
            <a:xfrm>
              <a:off x="2276475" y="3813176"/>
              <a:ext cx="112713" cy="101600"/>
            </a:xfrm>
            <a:custGeom>
              <a:avLst/>
              <a:gdLst>
                <a:gd name="T0" fmla="*/ 0 w 71"/>
                <a:gd name="T1" fmla="*/ 32 h 64"/>
                <a:gd name="T2" fmla="*/ 48 w 71"/>
                <a:gd name="T3" fmla="*/ 0 h 64"/>
                <a:gd name="T4" fmla="*/ 53 w 71"/>
                <a:gd name="T5" fmla="*/ 7 h 64"/>
                <a:gd name="T6" fmla="*/ 32 w 71"/>
                <a:gd name="T7" fmla="*/ 46 h 64"/>
                <a:gd name="T8" fmla="*/ 64 w 71"/>
                <a:gd name="T9" fmla="*/ 25 h 64"/>
                <a:gd name="T10" fmla="*/ 71 w 71"/>
                <a:gd name="T11" fmla="*/ 32 h 64"/>
                <a:gd name="T12" fmla="*/ 21 w 71"/>
                <a:gd name="T13" fmla="*/ 64 h 64"/>
                <a:gd name="T14" fmla="*/ 16 w 71"/>
                <a:gd name="T15" fmla="*/ 57 h 64"/>
                <a:gd name="T16" fmla="*/ 37 w 71"/>
                <a:gd name="T17" fmla="*/ 18 h 64"/>
                <a:gd name="T18" fmla="*/ 5 w 71"/>
                <a:gd name="T19" fmla="*/ 39 h 64"/>
                <a:gd name="T20" fmla="*/ 0 w 71"/>
                <a:gd name="T21" fmla="*/ 3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1" h="64">
                  <a:moveTo>
                    <a:pt x="0" y="32"/>
                  </a:moveTo>
                  <a:lnTo>
                    <a:pt x="48" y="0"/>
                  </a:lnTo>
                  <a:lnTo>
                    <a:pt x="53" y="7"/>
                  </a:lnTo>
                  <a:lnTo>
                    <a:pt x="32" y="46"/>
                  </a:lnTo>
                  <a:lnTo>
                    <a:pt x="64" y="25"/>
                  </a:lnTo>
                  <a:lnTo>
                    <a:pt x="71" y="32"/>
                  </a:lnTo>
                  <a:lnTo>
                    <a:pt x="21" y="64"/>
                  </a:lnTo>
                  <a:lnTo>
                    <a:pt x="16" y="57"/>
                  </a:lnTo>
                  <a:lnTo>
                    <a:pt x="37" y="18"/>
                  </a:lnTo>
                  <a:lnTo>
                    <a:pt x="5" y="39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2" name="iṩḷïde">
              <a:extLst>
                <a:ext uri="{FF2B5EF4-FFF2-40B4-BE49-F238E27FC236}">
                  <a16:creationId xmlns:a16="http://schemas.microsoft.com/office/drawing/2014/main" id="{2DDABF60-0BA2-8B8D-6B07-0BE8C84280D4}"/>
                </a:ext>
              </a:extLst>
            </p:cNvPr>
            <p:cNvSpPr/>
            <p:nvPr/>
          </p:nvSpPr>
          <p:spPr bwMode="auto">
            <a:xfrm>
              <a:off x="2324100" y="3875088"/>
              <a:ext cx="82550" cy="68263"/>
            </a:xfrm>
            <a:custGeom>
              <a:avLst/>
              <a:gdLst>
                <a:gd name="T0" fmla="*/ 0 w 52"/>
                <a:gd name="T1" fmla="*/ 36 h 43"/>
                <a:gd name="T2" fmla="*/ 45 w 52"/>
                <a:gd name="T3" fmla="*/ 0 h 43"/>
                <a:gd name="T4" fmla="*/ 52 w 52"/>
                <a:gd name="T5" fmla="*/ 7 h 43"/>
                <a:gd name="T6" fmla="*/ 7 w 52"/>
                <a:gd name="T7" fmla="*/ 43 h 43"/>
                <a:gd name="T8" fmla="*/ 0 w 52"/>
                <a:gd name="T9" fmla="*/ 3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43">
                  <a:moveTo>
                    <a:pt x="0" y="36"/>
                  </a:moveTo>
                  <a:lnTo>
                    <a:pt x="45" y="0"/>
                  </a:lnTo>
                  <a:lnTo>
                    <a:pt x="52" y="7"/>
                  </a:lnTo>
                  <a:lnTo>
                    <a:pt x="7" y="43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3" name="í$ḷïďê">
              <a:extLst>
                <a:ext uri="{FF2B5EF4-FFF2-40B4-BE49-F238E27FC236}">
                  <a16:creationId xmlns:a16="http://schemas.microsoft.com/office/drawing/2014/main" id="{817DB484-5D5C-A3C3-8097-0E3337CC020F}"/>
                </a:ext>
              </a:extLst>
            </p:cNvPr>
            <p:cNvSpPr/>
            <p:nvPr/>
          </p:nvSpPr>
          <p:spPr bwMode="auto">
            <a:xfrm>
              <a:off x="2360613" y="3889376"/>
              <a:ext cx="96838" cy="98425"/>
            </a:xfrm>
            <a:custGeom>
              <a:avLst/>
              <a:gdLst>
                <a:gd name="T0" fmla="*/ 0 w 61"/>
                <a:gd name="T1" fmla="*/ 52 h 62"/>
                <a:gd name="T2" fmla="*/ 29 w 61"/>
                <a:gd name="T3" fmla="*/ 0 h 62"/>
                <a:gd name="T4" fmla="*/ 38 w 61"/>
                <a:gd name="T5" fmla="*/ 9 h 62"/>
                <a:gd name="T6" fmla="*/ 13 w 61"/>
                <a:gd name="T7" fmla="*/ 48 h 62"/>
                <a:gd name="T8" fmla="*/ 54 w 61"/>
                <a:gd name="T9" fmla="*/ 27 h 62"/>
                <a:gd name="T10" fmla="*/ 61 w 61"/>
                <a:gd name="T11" fmla="*/ 34 h 62"/>
                <a:gd name="T12" fmla="*/ 7 w 61"/>
                <a:gd name="T13" fmla="*/ 62 h 62"/>
                <a:gd name="T14" fmla="*/ 0 w 61"/>
                <a:gd name="T15" fmla="*/ 5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2">
                  <a:moveTo>
                    <a:pt x="0" y="52"/>
                  </a:moveTo>
                  <a:lnTo>
                    <a:pt x="29" y="0"/>
                  </a:lnTo>
                  <a:lnTo>
                    <a:pt x="38" y="9"/>
                  </a:lnTo>
                  <a:lnTo>
                    <a:pt x="13" y="48"/>
                  </a:lnTo>
                  <a:lnTo>
                    <a:pt x="54" y="27"/>
                  </a:lnTo>
                  <a:lnTo>
                    <a:pt x="61" y="34"/>
                  </a:lnTo>
                  <a:lnTo>
                    <a:pt x="7" y="6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4" name="îśľïḑe">
              <a:extLst>
                <a:ext uri="{FF2B5EF4-FFF2-40B4-BE49-F238E27FC236}">
                  <a16:creationId xmlns:a16="http://schemas.microsoft.com/office/drawing/2014/main" id="{03503FD3-4079-7357-3F0C-5BB558D9D6C1}"/>
                </a:ext>
              </a:extLst>
            </p:cNvPr>
            <p:cNvSpPr/>
            <p:nvPr/>
          </p:nvSpPr>
          <p:spPr bwMode="auto">
            <a:xfrm>
              <a:off x="2400300" y="3946526"/>
              <a:ext cx="104775" cy="109538"/>
            </a:xfrm>
            <a:custGeom>
              <a:avLst/>
              <a:gdLst>
                <a:gd name="T0" fmla="*/ 0 w 66"/>
                <a:gd name="T1" fmla="*/ 44 h 69"/>
                <a:gd name="T2" fmla="*/ 38 w 66"/>
                <a:gd name="T3" fmla="*/ 0 h 69"/>
                <a:gd name="T4" fmla="*/ 66 w 66"/>
                <a:gd name="T5" fmla="*/ 26 h 69"/>
                <a:gd name="T6" fmla="*/ 59 w 66"/>
                <a:gd name="T7" fmla="*/ 32 h 69"/>
                <a:gd name="T8" fmla="*/ 38 w 66"/>
                <a:gd name="T9" fmla="*/ 14 h 69"/>
                <a:gd name="T10" fmla="*/ 29 w 66"/>
                <a:gd name="T11" fmla="*/ 26 h 69"/>
                <a:gd name="T12" fmla="*/ 47 w 66"/>
                <a:gd name="T13" fmla="*/ 42 h 69"/>
                <a:gd name="T14" fmla="*/ 43 w 66"/>
                <a:gd name="T15" fmla="*/ 48 h 69"/>
                <a:gd name="T16" fmla="*/ 22 w 66"/>
                <a:gd name="T17" fmla="*/ 32 h 69"/>
                <a:gd name="T18" fmla="*/ 13 w 66"/>
                <a:gd name="T19" fmla="*/ 44 h 69"/>
                <a:gd name="T20" fmla="*/ 34 w 66"/>
                <a:gd name="T21" fmla="*/ 62 h 69"/>
                <a:gd name="T22" fmla="*/ 27 w 66"/>
                <a:gd name="T23" fmla="*/ 69 h 69"/>
                <a:gd name="T24" fmla="*/ 0 w 66"/>
                <a:gd name="T25" fmla="*/ 4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69">
                  <a:moveTo>
                    <a:pt x="0" y="44"/>
                  </a:moveTo>
                  <a:lnTo>
                    <a:pt x="38" y="0"/>
                  </a:lnTo>
                  <a:lnTo>
                    <a:pt x="66" y="26"/>
                  </a:lnTo>
                  <a:lnTo>
                    <a:pt x="59" y="32"/>
                  </a:lnTo>
                  <a:lnTo>
                    <a:pt x="38" y="14"/>
                  </a:lnTo>
                  <a:lnTo>
                    <a:pt x="29" y="26"/>
                  </a:lnTo>
                  <a:lnTo>
                    <a:pt x="47" y="42"/>
                  </a:lnTo>
                  <a:lnTo>
                    <a:pt x="43" y="48"/>
                  </a:lnTo>
                  <a:lnTo>
                    <a:pt x="22" y="32"/>
                  </a:lnTo>
                  <a:lnTo>
                    <a:pt x="13" y="44"/>
                  </a:lnTo>
                  <a:lnTo>
                    <a:pt x="34" y="62"/>
                  </a:lnTo>
                  <a:lnTo>
                    <a:pt x="27" y="69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5" name="ïSlîḍè">
              <a:extLst>
                <a:ext uri="{FF2B5EF4-FFF2-40B4-BE49-F238E27FC236}">
                  <a16:creationId xmlns:a16="http://schemas.microsoft.com/office/drawing/2014/main" id="{797974A7-A584-C474-43E0-0D0867D8EDD2}"/>
                </a:ext>
              </a:extLst>
            </p:cNvPr>
            <p:cNvSpPr/>
            <p:nvPr/>
          </p:nvSpPr>
          <p:spPr bwMode="auto">
            <a:xfrm>
              <a:off x="2457450" y="3994151"/>
              <a:ext cx="96838" cy="115888"/>
            </a:xfrm>
            <a:custGeom>
              <a:avLst/>
              <a:gdLst>
                <a:gd name="T0" fmla="*/ 0 w 27"/>
                <a:gd name="T1" fmla="*/ 21 h 32"/>
                <a:gd name="T2" fmla="*/ 15 w 27"/>
                <a:gd name="T3" fmla="*/ 0 h 32"/>
                <a:gd name="T4" fmla="*/ 23 w 27"/>
                <a:gd name="T5" fmla="*/ 6 h 32"/>
                <a:gd name="T6" fmla="*/ 26 w 27"/>
                <a:gd name="T7" fmla="*/ 9 h 32"/>
                <a:gd name="T8" fmla="*/ 27 w 27"/>
                <a:gd name="T9" fmla="*/ 13 h 32"/>
                <a:gd name="T10" fmla="*/ 25 w 27"/>
                <a:gd name="T11" fmla="*/ 16 h 32"/>
                <a:gd name="T12" fmla="*/ 21 w 27"/>
                <a:gd name="T13" fmla="*/ 19 h 32"/>
                <a:gd name="T14" fmla="*/ 16 w 27"/>
                <a:gd name="T15" fmla="*/ 19 h 32"/>
                <a:gd name="T16" fmla="*/ 17 w 27"/>
                <a:gd name="T17" fmla="*/ 22 h 32"/>
                <a:gd name="T18" fmla="*/ 16 w 27"/>
                <a:gd name="T19" fmla="*/ 27 h 32"/>
                <a:gd name="T20" fmla="*/ 16 w 27"/>
                <a:gd name="T21" fmla="*/ 32 h 32"/>
                <a:gd name="T22" fmla="*/ 11 w 27"/>
                <a:gd name="T23" fmla="*/ 29 h 32"/>
                <a:gd name="T24" fmla="*/ 12 w 27"/>
                <a:gd name="T25" fmla="*/ 23 h 32"/>
                <a:gd name="T26" fmla="*/ 13 w 27"/>
                <a:gd name="T27" fmla="*/ 18 h 32"/>
                <a:gd name="T28" fmla="*/ 12 w 27"/>
                <a:gd name="T29" fmla="*/ 17 h 32"/>
                <a:gd name="T30" fmla="*/ 11 w 27"/>
                <a:gd name="T31" fmla="*/ 15 h 32"/>
                <a:gd name="T32" fmla="*/ 10 w 27"/>
                <a:gd name="T33" fmla="*/ 15 h 32"/>
                <a:gd name="T34" fmla="*/ 3 w 27"/>
                <a:gd name="T35" fmla="*/ 23 h 32"/>
                <a:gd name="T36" fmla="*/ 0 w 27"/>
                <a:gd name="T37" fmla="*/ 21 h 32"/>
                <a:gd name="T38" fmla="*/ 12 w 27"/>
                <a:gd name="T39" fmla="*/ 11 h 32"/>
                <a:gd name="T40" fmla="*/ 15 w 27"/>
                <a:gd name="T41" fmla="*/ 13 h 32"/>
                <a:gd name="T42" fmla="*/ 18 w 27"/>
                <a:gd name="T43" fmla="*/ 15 h 32"/>
                <a:gd name="T44" fmla="*/ 20 w 27"/>
                <a:gd name="T45" fmla="*/ 15 h 32"/>
                <a:gd name="T46" fmla="*/ 21 w 27"/>
                <a:gd name="T47" fmla="*/ 14 h 32"/>
                <a:gd name="T48" fmla="*/ 22 w 27"/>
                <a:gd name="T49" fmla="*/ 12 h 32"/>
                <a:gd name="T50" fmla="*/ 21 w 27"/>
                <a:gd name="T51" fmla="*/ 10 h 32"/>
                <a:gd name="T52" fmla="*/ 19 w 27"/>
                <a:gd name="T53" fmla="*/ 8 h 32"/>
                <a:gd name="T54" fmla="*/ 16 w 27"/>
                <a:gd name="T55" fmla="*/ 6 h 32"/>
                <a:gd name="T56" fmla="*/ 12 w 27"/>
                <a:gd name="T57" fmla="*/ 1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" h="32">
                  <a:moveTo>
                    <a:pt x="0" y="21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4" y="7"/>
                    <a:pt x="26" y="8"/>
                    <a:pt x="26" y="9"/>
                  </a:cubicBezTo>
                  <a:cubicBezTo>
                    <a:pt x="27" y="10"/>
                    <a:pt x="27" y="11"/>
                    <a:pt x="27" y="13"/>
                  </a:cubicBezTo>
                  <a:cubicBezTo>
                    <a:pt x="27" y="14"/>
                    <a:pt x="26" y="15"/>
                    <a:pt x="25" y="16"/>
                  </a:cubicBezTo>
                  <a:cubicBezTo>
                    <a:pt x="24" y="18"/>
                    <a:pt x="23" y="19"/>
                    <a:pt x="21" y="19"/>
                  </a:cubicBezTo>
                  <a:cubicBezTo>
                    <a:pt x="20" y="20"/>
                    <a:pt x="18" y="20"/>
                    <a:pt x="16" y="19"/>
                  </a:cubicBezTo>
                  <a:cubicBezTo>
                    <a:pt x="17" y="20"/>
                    <a:pt x="17" y="21"/>
                    <a:pt x="17" y="22"/>
                  </a:cubicBezTo>
                  <a:cubicBezTo>
                    <a:pt x="17" y="23"/>
                    <a:pt x="17" y="24"/>
                    <a:pt x="16" y="27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0"/>
                    <a:pt x="13" y="19"/>
                    <a:pt x="13" y="18"/>
                  </a:cubicBezTo>
                  <a:cubicBezTo>
                    <a:pt x="13" y="18"/>
                    <a:pt x="12" y="17"/>
                    <a:pt x="12" y="17"/>
                  </a:cubicBezTo>
                  <a:cubicBezTo>
                    <a:pt x="12" y="16"/>
                    <a:pt x="11" y="16"/>
                    <a:pt x="11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3" y="23"/>
                    <a:pt x="3" y="23"/>
                    <a:pt x="3" y="23"/>
                  </a:cubicBezTo>
                  <a:lnTo>
                    <a:pt x="0" y="21"/>
                  </a:lnTo>
                  <a:close/>
                  <a:moveTo>
                    <a:pt x="12" y="11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7" y="15"/>
                    <a:pt x="18" y="15"/>
                    <a:pt x="18" y="15"/>
                  </a:cubicBezTo>
                  <a:cubicBezTo>
                    <a:pt x="19" y="16"/>
                    <a:pt x="19" y="15"/>
                    <a:pt x="20" y="15"/>
                  </a:cubicBezTo>
                  <a:cubicBezTo>
                    <a:pt x="20" y="15"/>
                    <a:pt x="21" y="15"/>
                    <a:pt x="21" y="14"/>
                  </a:cubicBezTo>
                  <a:cubicBezTo>
                    <a:pt x="22" y="13"/>
                    <a:pt x="22" y="13"/>
                    <a:pt x="22" y="12"/>
                  </a:cubicBezTo>
                  <a:cubicBezTo>
                    <a:pt x="22" y="11"/>
                    <a:pt x="22" y="11"/>
                    <a:pt x="21" y="10"/>
                  </a:cubicBezTo>
                  <a:cubicBezTo>
                    <a:pt x="21" y="10"/>
                    <a:pt x="20" y="9"/>
                    <a:pt x="19" y="8"/>
                  </a:cubicBezTo>
                  <a:cubicBezTo>
                    <a:pt x="16" y="6"/>
                    <a:pt x="16" y="6"/>
                    <a:pt x="16" y="6"/>
                  </a:cubicBezTo>
                  <a:lnTo>
                    <a:pt x="12" y="11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6" name="işliḍé">
              <a:extLst>
                <a:ext uri="{FF2B5EF4-FFF2-40B4-BE49-F238E27FC236}">
                  <a16:creationId xmlns:a16="http://schemas.microsoft.com/office/drawing/2014/main" id="{E3330533-0DAD-703F-ABE1-7B3D4D11DD95}"/>
                </a:ext>
              </a:extLst>
            </p:cNvPr>
            <p:cNvSpPr/>
            <p:nvPr/>
          </p:nvSpPr>
          <p:spPr bwMode="auto">
            <a:xfrm>
              <a:off x="2533650" y="4044951"/>
              <a:ext cx="79375" cy="93663"/>
            </a:xfrm>
            <a:custGeom>
              <a:avLst/>
              <a:gdLst>
                <a:gd name="T0" fmla="*/ 1 w 22"/>
                <a:gd name="T1" fmla="*/ 13 h 26"/>
                <a:gd name="T2" fmla="*/ 5 w 22"/>
                <a:gd name="T3" fmla="*/ 14 h 26"/>
                <a:gd name="T4" fmla="*/ 5 w 22"/>
                <a:gd name="T5" fmla="*/ 18 h 26"/>
                <a:gd name="T6" fmla="*/ 7 w 22"/>
                <a:gd name="T7" fmla="*/ 21 h 26"/>
                <a:gd name="T8" fmla="*/ 10 w 22"/>
                <a:gd name="T9" fmla="*/ 22 h 26"/>
                <a:gd name="T10" fmla="*/ 12 w 22"/>
                <a:gd name="T11" fmla="*/ 20 h 26"/>
                <a:gd name="T12" fmla="*/ 13 w 22"/>
                <a:gd name="T13" fmla="*/ 19 h 26"/>
                <a:gd name="T14" fmla="*/ 12 w 22"/>
                <a:gd name="T15" fmla="*/ 17 h 26"/>
                <a:gd name="T16" fmla="*/ 9 w 22"/>
                <a:gd name="T17" fmla="*/ 14 h 26"/>
                <a:gd name="T18" fmla="*/ 6 w 22"/>
                <a:gd name="T19" fmla="*/ 9 h 26"/>
                <a:gd name="T20" fmla="*/ 7 w 22"/>
                <a:gd name="T21" fmla="*/ 4 h 26"/>
                <a:gd name="T22" fmla="*/ 10 w 22"/>
                <a:gd name="T23" fmla="*/ 1 h 26"/>
                <a:gd name="T24" fmla="*/ 14 w 22"/>
                <a:gd name="T25" fmla="*/ 0 h 26"/>
                <a:gd name="T26" fmla="*/ 18 w 22"/>
                <a:gd name="T27" fmla="*/ 2 h 26"/>
                <a:gd name="T28" fmla="*/ 22 w 22"/>
                <a:gd name="T29" fmla="*/ 7 h 26"/>
                <a:gd name="T30" fmla="*/ 21 w 22"/>
                <a:gd name="T31" fmla="*/ 13 h 26"/>
                <a:gd name="T32" fmla="*/ 17 w 22"/>
                <a:gd name="T33" fmla="*/ 11 h 26"/>
                <a:gd name="T34" fmla="*/ 18 w 22"/>
                <a:gd name="T35" fmla="*/ 8 h 26"/>
                <a:gd name="T36" fmla="*/ 16 w 22"/>
                <a:gd name="T37" fmla="*/ 5 h 26"/>
                <a:gd name="T38" fmla="*/ 13 w 22"/>
                <a:gd name="T39" fmla="*/ 5 h 26"/>
                <a:gd name="T40" fmla="*/ 11 w 22"/>
                <a:gd name="T41" fmla="*/ 6 h 26"/>
                <a:gd name="T42" fmla="*/ 11 w 22"/>
                <a:gd name="T43" fmla="*/ 7 h 26"/>
                <a:gd name="T44" fmla="*/ 13 w 22"/>
                <a:gd name="T45" fmla="*/ 11 h 26"/>
                <a:gd name="T46" fmla="*/ 17 w 22"/>
                <a:gd name="T47" fmla="*/ 15 h 26"/>
                <a:gd name="T48" fmla="*/ 17 w 22"/>
                <a:gd name="T49" fmla="*/ 18 h 26"/>
                <a:gd name="T50" fmla="*/ 16 w 22"/>
                <a:gd name="T51" fmla="*/ 22 h 26"/>
                <a:gd name="T52" fmla="*/ 13 w 22"/>
                <a:gd name="T53" fmla="*/ 25 h 26"/>
                <a:gd name="T54" fmla="*/ 9 w 22"/>
                <a:gd name="T55" fmla="*/ 26 h 26"/>
                <a:gd name="T56" fmla="*/ 4 w 22"/>
                <a:gd name="T57" fmla="*/ 25 h 26"/>
                <a:gd name="T58" fmla="*/ 0 w 22"/>
                <a:gd name="T59" fmla="*/ 20 h 26"/>
                <a:gd name="T60" fmla="*/ 1 w 22"/>
                <a:gd name="T61" fmla="*/ 1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2" h="26">
                  <a:moveTo>
                    <a:pt x="1" y="13"/>
                  </a:moveTo>
                  <a:cubicBezTo>
                    <a:pt x="5" y="14"/>
                    <a:pt x="5" y="14"/>
                    <a:pt x="5" y="14"/>
                  </a:cubicBezTo>
                  <a:cubicBezTo>
                    <a:pt x="5" y="16"/>
                    <a:pt x="4" y="17"/>
                    <a:pt x="5" y="18"/>
                  </a:cubicBezTo>
                  <a:cubicBezTo>
                    <a:pt x="5" y="19"/>
                    <a:pt x="6" y="20"/>
                    <a:pt x="7" y="21"/>
                  </a:cubicBezTo>
                  <a:cubicBezTo>
                    <a:pt x="8" y="22"/>
                    <a:pt x="9" y="22"/>
                    <a:pt x="10" y="22"/>
                  </a:cubicBezTo>
                  <a:cubicBezTo>
                    <a:pt x="11" y="21"/>
                    <a:pt x="12" y="21"/>
                    <a:pt x="12" y="20"/>
                  </a:cubicBezTo>
                  <a:cubicBezTo>
                    <a:pt x="13" y="20"/>
                    <a:pt x="13" y="19"/>
                    <a:pt x="13" y="19"/>
                  </a:cubicBezTo>
                  <a:cubicBezTo>
                    <a:pt x="13" y="18"/>
                    <a:pt x="12" y="17"/>
                    <a:pt x="12" y="17"/>
                  </a:cubicBezTo>
                  <a:cubicBezTo>
                    <a:pt x="12" y="16"/>
                    <a:pt x="11" y="15"/>
                    <a:pt x="9" y="14"/>
                  </a:cubicBezTo>
                  <a:cubicBezTo>
                    <a:pt x="8" y="12"/>
                    <a:pt x="7" y="11"/>
                    <a:pt x="6" y="9"/>
                  </a:cubicBezTo>
                  <a:cubicBezTo>
                    <a:pt x="6" y="7"/>
                    <a:pt x="6" y="6"/>
                    <a:pt x="7" y="4"/>
                  </a:cubicBezTo>
                  <a:cubicBezTo>
                    <a:pt x="8" y="3"/>
                    <a:pt x="9" y="2"/>
                    <a:pt x="10" y="1"/>
                  </a:cubicBezTo>
                  <a:cubicBezTo>
                    <a:pt x="11" y="1"/>
                    <a:pt x="12" y="0"/>
                    <a:pt x="14" y="0"/>
                  </a:cubicBezTo>
                  <a:cubicBezTo>
                    <a:pt x="15" y="1"/>
                    <a:pt x="16" y="1"/>
                    <a:pt x="18" y="2"/>
                  </a:cubicBezTo>
                  <a:cubicBezTo>
                    <a:pt x="20" y="3"/>
                    <a:pt x="22" y="5"/>
                    <a:pt x="22" y="7"/>
                  </a:cubicBezTo>
                  <a:cubicBezTo>
                    <a:pt x="22" y="9"/>
                    <a:pt x="22" y="11"/>
                    <a:pt x="21" y="13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9"/>
                    <a:pt x="18" y="8"/>
                    <a:pt x="18" y="8"/>
                  </a:cubicBezTo>
                  <a:cubicBezTo>
                    <a:pt x="17" y="7"/>
                    <a:pt x="17" y="6"/>
                    <a:pt x="16" y="5"/>
                  </a:cubicBezTo>
                  <a:cubicBezTo>
                    <a:pt x="14" y="5"/>
                    <a:pt x="13" y="5"/>
                    <a:pt x="13" y="5"/>
                  </a:cubicBezTo>
                  <a:cubicBezTo>
                    <a:pt x="12" y="5"/>
                    <a:pt x="11" y="5"/>
                    <a:pt x="11" y="6"/>
                  </a:cubicBezTo>
                  <a:cubicBezTo>
                    <a:pt x="11" y="6"/>
                    <a:pt x="11" y="7"/>
                    <a:pt x="11" y="7"/>
                  </a:cubicBezTo>
                  <a:cubicBezTo>
                    <a:pt x="11" y="8"/>
                    <a:pt x="12" y="9"/>
                    <a:pt x="13" y="11"/>
                  </a:cubicBezTo>
                  <a:cubicBezTo>
                    <a:pt x="15" y="13"/>
                    <a:pt x="16" y="14"/>
                    <a:pt x="17" y="15"/>
                  </a:cubicBezTo>
                  <a:cubicBezTo>
                    <a:pt x="17" y="16"/>
                    <a:pt x="17" y="17"/>
                    <a:pt x="17" y="18"/>
                  </a:cubicBezTo>
                  <a:cubicBezTo>
                    <a:pt x="17" y="20"/>
                    <a:pt x="17" y="21"/>
                    <a:pt x="16" y="22"/>
                  </a:cubicBezTo>
                  <a:cubicBezTo>
                    <a:pt x="15" y="24"/>
                    <a:pt x="14" y="25"/>
                    <a:pt x="13" y="25"/>
                  </a:cubicBezTo>
                  <a:cubicBezTo>
                    <a:pt x="12" y="26"/>
                    <a:pt x="10" y="26"/>
                    <a:pt x="9" y="26"/>
                  </a:cubicBezTo>
                  <a:cubicBezTo>
                    <a:pt x="8" y="26"/>
                    <a:pt x="6" y="26"/>
                    <a:pt x="4" y="25"/>
                  </a:cubicBezTo>
                  <a:cubicBezTo>
                    <a:pt x="2" y="23"/>
                    <a:pt x="1" y="22"/>
                    <a:pt x="0" y="20"/>
                  </a:cubicBezTo>
                  <a:cubicBezTo>
                    <a:pt x="0" y="17"/>
                    <a:pt x="0" y="15"/>
                    <a:pt x="1" y="13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7" name="ísḻïde">
              <a:extLst>
                <a:ext uri="{FF2B5EF4-FFF2-40B4-BE49-F238E27FC236}">
                  <a16:creationId xmlns:a16="http://schemas.microsoft.com/office/drawing/2014/main" id="{170C29F5-AA14-F70B-7285-A0F09F0694B5}"/>
                </a:ext>
              </a:extLst>
            </p:cNvPr>
            <p:cNvSpPr/>
            <p:nvPr/>
          </p:nvSpPr>
          <p:spPr bwMode="auto">
            <a:xfrm>
              <a:off x="2590800" y="4073526"/>
              <a:ext cx="58738" cy="90488"/>
            </a:xfrm>
            <a:custGeom>
              <a:avLst/>
              <a:gdLst>
                <a:gd name="T0" fmla="*/ 0 w 37"/>
                <a:gd name="T1" fmla="*/ 53 h 57"/>
                <a:gd name="T2" fmla="*/ 27 w 37"/>
                <a:gd name="T3" fmla="*/ 0 h 57"/>
                <a:gd name="T4" fmla="*/ 37 w 37"/>
                <a:gd name="T5" fmla="*/ 5 h 57"/>
                <a:gd name="T6" fmla="*/ 9 w 37"/>
                <a:gd name="T7" fmla="*/ 57 h 57"/>
                <a:gd name="T8" fmla="*/ 0 w 37"/>
                <a:gd name="T9" fmla="*/ 5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57">
                  <a:moveTo>
                    <a:pt x="0" y="53"/>
                  </a:moveTo>
                  <a:lnTo>
                    <a:pt x="27" y="0"/>
                  </a:lnTo>
                  <a:lnTo>
                    <a:pt x="37" y="5"/>
                  </a:lnTo>
                  <a:lnTo>
                    <a:pt x="9" y="57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8" name="iŝļiḋê">
              <a:extLst>
                <a:ext uri="{FF2B5EF4-FFF2-40B4-BE49-F238E27FC236}">
                  <a16:creationId xmlns:a16="http://schemas.microsoft.com/office/drawing/2014/main" id="{433573EA-2A51-AAF4-4F80-3326D88185F0}"/>
                </a:ext>
              </a:extLst>
            </p:cNvPr>
            <p:cNvSpPr/>
            <p:nvPr/>
          </p:nvSpPr>
          <p:spPr bwMode="auto">
            <a:xfrm>
              <a:off x="2638425" y="4084638"/>
              <a:ext cx="71438" cy="101600"/>
            </a:xfrm>
            <a:custGeom>
              <a:avLst/>
              <a:gdLst>
                <a:gd name="T0" fmla="*/ 0 w 45"/>
                <a:gd name="T1" fmla="*/ 60 h 64"/>
                <a:gd name="T2" fmla="*/ 20 w 45"/>
                <a:gd name="T3" fmla="*/ 14 h 64"/>
                <a:gd name="T4" fmla="*/ 7 w 45"/>
                <a:gd name="T5" fmla="*/ 9 h 64"/>
                <a:gd name="T6" fmla="*/ 9 w 45"/>
                <a:gd name="T7" fmla="*/ 0 h 64"/>
                <a:gd name="T8" fmla="*/ 45 w 45"/>
                <a:gd name="T9" fmla="*/ 16 h 64"/>
                <a:gd name="T10" fmla="*/ 43 w 45"/>
                <a:gd name="T11" fmla="*/ 25 h 64"/>
                <a:gd name="T12" fmla="*/ 29 w 45"/>
                <a:gd name="T13" fmla="*/ 18 h 64"/>
                <a:gd name="T14" fmla="*/ 9 w 45"/>
                <a:gd name="T15" fmla="*/ 64 h 64"/>
                <a:gd name="T16" fmla="*/ 0 w 45"/>
                <a:gd name="T17" fmla="*/ 6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64">
                  <a:moveTo>
                    <a:pt x="0" y="60"/>
                  </a:moveTo>
                  <a:lnTo>
                    <a:pt x="20" y="14"/>
                  </a:lnTo>
                  <a:lnTo>
                    <a:pt x="7" y="9"/>
                  </a:lnTo>
                  <a:lnTo>
                    <a:pt x="9" y="0"/>
                  </a:lnTo>
                  <a:lnTo>
                    <a:pt x="45" y="16"/>
                  </a:lnTo>
                  <a:lnTo>
                    <a:pt x="43" y="25"/>
                  </a:lnTo>
                  <a:lnTo>
                    <a:pt x="29" y="18"/>
                  </a:lnTo>
                  <a:lnTo>
                    <a:pt x="9" y="64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9" name="iṧḷîdè">
              <a:extLst>
                <a:ext uri="{FF2B5EF4-FFF2-40B4-BE49-F238E27FC236}">
                  <a16:creationId xmlns:a16="http://schemas.microsoft.com/office/drawing/2014/main" id="{BE364B71-660A-9C45-80A8-5F9BE516F3DF}"/>
                </a:ext>
              </a:extLst>
            </p:cNvPr>
            <p:cNvSpPr/>
            <p:nvPr/>
          </p:nvSpPr>
          <p:spPr bwMode="auto">
            <a:xfrm>
              <a:off x="2709863" y="4110038"/>
              <a:ext cx="68263" cy="101600"/>
            </a:xfrm>
            <a:custGeom>
              <a:avLst/>
              <a:gdLst>
                <a:gd name="T0" fmla="*/ 0 w 43"/>
                <a:gd name="T1" fmla="*/ 60 h 64"/>
                <a:gd name="T2" fmla="*/ 7 w 43"/>
                <a:gd name="T3" fmla="*/ 37 h 64"/>
                <a:gd name="T4" fmla="*/ 0 w 43"/>
                <a:gd name="T5" fmla="*/ 0 h 64"/>
                <a:gd name="T6" fmla="*/ 12 w 43"/>
                <a:gd name="T7" fmla="*/ 2 h 64"/>
                <a:gd name="T8" fmla="*/ 16 w 43"/>
                <a:gd name="T9" fmla="*/ 28 h 64"/>
                <a:gd name="T10" fmla="*/ 32 w 43"/>
                <a:gd name="T11" fmla="*/ 9 h 64"/>
                <a:gd name="T12" fmla="*/ 43 w 43"/>
                <a:gd name="T13" fmla="*/ 14 h 64"/>
                <a:gd name="T14" fmla="*/ 16 w 43"/>
                <a:gd name="T15" fmla="*/ 41 h 64"/>
                <a:gd name="T16" fmla="*/ 9 w 43"/>
                <a:gd name="T17" fmla="*/ 64 h 64"/>
                <a:gd name="T18" fmla="*/ 0 w 43"/>
                <a:gd name="T19" fmla="*/ 6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" h="64">
                  <a:moveTo>
                    <a:pt x="0" y="60"/>
                  </a:moveTo>
                  <a:lnTo>
                    <a:pt x="7" y="37"/>
                  </a:lnTo>
                  <a:lnTo>
                    <a:pt x="0" y="0"/>
                  </a:lnTo>
                  <a:lnTo>
                    <a:pt x="12" y="2"/>
                  </a:lnTo>
                  <a:lnTo>
                    <a:pt x="16" y="28"/>
                  </a:lnTo>
                  <a:lnTo>
                    <a:pt x="32" y="9"/>
                  </a:lnTo>
                  <a:lnTo>
                    <a:pt x="43" y="14"/>
                  </a:lnTo>
                  <a:lnTo>
                    <a:pt x="16" y="41"/>
                  </a:lnTo>
                  <a:lnTo>
                    <a:pt x="9" y="64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0" name="isļíḍè">
              <a:extLst>
                <a:ext uri="{FF2B5EF4-FFF2-40B4-BE49-F238E27FC236}">
                  <a16:creationId xmlns:a16="http://schemas.microsoft.com/office/drawing/2014/main" id="{AC9D63BD-85AA-6053-378F-835659962103}"/>
                </a:ext>
              </a:extLst>
            </p:cNvPr>
            <p:cNvSpPr/>
            <p:nvPr/>
          </p:nvSpPr>
          <p:spPr bwMode="auto">
            <a:xfrm>
              <a:off x="2797175" y="4143376"/>
              <a:ext cx="79375" cy="96838"/>
            </a:xfrm>
            <a:custGeom>
              <a:avLst/>
              <a:gdLst>
                <a:gd name="T0" fmla="*/ 1 w 22"/>
                <a:gd name="T1" fmla="*/ 11 h 27"/>
                <a:gd name="T2" fmla="*/ 3 w 22"/>
                <a:gd name="T3" fmla="*/ 5 h 27"/>
                <a:gd name="T4" fmla="*/ 5 w 22"/>
                <a:gd name="T5" fmla="*/ 2 h 27"/>
                <a:gd name="T6" fmla="*/ 8 w 22"/>
                <a:gd name="T7" fmla="*/ 0 h 27"/>
                <a:gd name="T8" fmla="*/ 13 w 22"/>
                <a:gd name="T9" fmla="*/ 0 h 27"/>
                <a:gd name="T10" fmla="*/ 20 w 22"/>
                <a:gd name="T11" fmla="*/ 5 h 27"/>
                <a:gd name="T12" fmla="*/ 21 w 22"/>
                <a:gd name="T13" fmla="*/ 15 h 27"/>
                <a:gd name="T14" fmla="*/ 17 w 22"/>
                <a:gd name="T15" fmla="*/ 24 h 27"/>
                <a:gd name="T16" fmla="*/ 9 w 22"/>
                <a:gd name="T17" fmla="*/ 26 h 27"/>
                <a:gd name="T18" fmla="*/ 2 w 22"/>
                <a:gd name="T19" fmla="*/ 21 h 27"/>
                <a:gd name="T20" fmla="*/ 1 w 22"/>
                <a:gd name="T21" fmla="*/ 11 h 27"/>
                <a:gd name="T22" fmla="*/ 5 w 22"/>
                <a:gd name="T23" fmla="*/ 12 h 27"/>
                <a:gd name="T24" fmla="*/ 6 w 22"/>
                <a:gd name="T25" fmla="*/ 19 h 27"/>
                <a:gd name="T26" fmla="*/ 10 w 22"/>
                <a:gd name="T27" fmla="*/ 22 h 27"/>
                <a:gd name="T28" fmla="*/ 14 w 22"/>
                <a:gd name="T29" fmla="*/ 20 h 27"/>
                <a:gd name="T30" fmla="*/ 17 w 22"/>
                <a:gd name="T31" fmla="*/ 14 h 27"/>
                <a:gd name="T32" fmla="*/ 16 w 22"/>
                <a:gd name="T33" fmla="*/ 7 h 27"/>
                <a:gd name="T34" fmla="*/ 13 w 22"/>
                <a:gd name="T35" fmla="*/ 4 h 27"/>
                <a:gd name="T36" fmla="*/ 8 w 22"/>
                <a:gd name="T37" fmla="*/ 6 h 27"/>
                <a:gd name="T38" fmla="*/ 5 w 22"/>
                <a:gd name="T3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" h="27">
                  <a:moveTo>
                    <a:pt x="1" y="11"/>
                  </a:moveTo>
                  <a:cubicBezTo>
                    <a:pt x="1" y="9"/>
                    <a:pt x="2" y="7"/>
                    <a:pt x="3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7" y="1"/>
                    <a:pt x="8" y="0"/>
                  </a:cubicBezTo>
                  <a:cubicBezTo>
                    <a:pt x="10" y="0"/>
                    <a:pt x="11" y="0"/>
                    <a:pt x="13" y="0"/>
                  </a:cubicBezTo>
                  <a:cubicBezTo>
                    <a:pt x="16" y="1"/>
                    <a:pt x="19" y="2"/>
                    <a:pt x="20" y="5"/>
                  </a:cubicBezTo>
                  <a:cubicBezTo>
                    <a:pt x="22" y="7"/>
                    <a:pt x="22" y="11"/>
                    <a:pt x="21" y="15"/>
                  </a:cubicBezTo>
                  <a:cubicBezTo>
                    <a:pt x="21" y="19"/>
                    <a:pt x="19" y="22"/>
                    <a:pt x="17" y="24"/>
                  </a:cubicBezTo>
                  <a:cubicBezTo>
                    <a:pt x="15" y="26"/>
                    <a:pt x="12" y="27"/>
                    <a:pt x="9" y="26"/>
                  </a:cubicBezTo>
                  <a:cubicBezTo>
                    <a:pt x="6" y="26"/>
                    <a:pt x="3" y="24"/>
                    <a:pt x="2" y="21"/>
                  </a:cubicBezTo>
                  <a:cubicBezTo>
                    <a:pt x="0" y="19"/>
                    <a:pt x="0" y="15"/>
                    <a:pt x="1" y="11"/>
                  </a:cubicBezTo>
                  <a:close/>
                  <a:moveTo>
                    <a:pt x="5" y="12"/>
                  </a:moveTo>
                  <a:cubicBezTo>
                    <a:pt x="5" y="15"/>
                    <a:pt x="5" y="17"/>
                    <a:pt x="6" y="19"/>
                  </a:cubicBezTo>
                  <a:cubicBezTo>
                    <a:pt x="7" y="21"/>
                    <a:pt x="8" y="21"/>
                    <a:pt x="10" y="22"/>
                  </a:cubicBezTo>
                  <a:cubicBezTo>
                    <a:pt x="11" y="22"/>
                    <a:pt x="13" y="22"/>
                    <a:pt x="14" y="20"/>
                  </a:cubicBezTo>
                  <a:cubicBezTo>
                    <a:pt x="16" y="19"/>
                    <a:pt x="16" y="17"/>
                    <a:pt x="17" y="14"/>
                  </a:cubicBezTo>
                  <a:cubicBezTo>
                    <a:pt x="17" y="11"/>
                    <a:pt x="17" y="9"/>
                    <a:pt x="16" y="7"/>
                  </a:cubicBezTo>
                  <a:cubicBezTo>
                    <a:pt x="16" y="6"/>
                    <a:pt x="14" y="5"/>
                    <a:pt x="13" y="4"/>
                  </a:cubicBezTo>
                  <a:cubicBezTo>
                    <a:pt x="11" y="4"/>
                    <a:pt x="9" y="5"/>
                    <a:pt x="8" y="6"/>
                  </a:cubicBezTo>
                  <a:cubicBezTo>
                    <a:pt x="7" y="7"/>
                    <a:pt x="6" y="9"/>
                    <a:pt x="5" y="1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1" name="ïṡ1íḓe">
              <a:extLst>
                <a:ext uri="{FF2B5EF4-FFF2-40B4-BE49-F238E27FC236}">
                  <a16:creationId xmlns:a16="http://schemas.microsoft.com/office/drawing/2014/main" id="{1F23651E-DC09-5148-A26D-CB41A9C90E80}"/>
                </a:ext>
              </a:extLst>
            </p:cNvPr>
            <p:cNvSpPr/>
            <p:nvPr/>
          </p:nvSpPr>
          <p:spPr bwMode="auto">
            <a:xfrm>
              <a:off x="2882900" y="4149726"/>
              <a:ext cx="61913" cy="95250"/>
            </a:xfrm>
            <a:custGeom>
              <a:avLst/>
              <a:gdLst>
                <a:gd name="T0" fmla="*/ 0 w 39"/>
                <a:gd name="T1" fmla="*/ 60 h 60"/>
                <a:gd name="T2" fmla="*/ 5 w 39"/>
                <a:gd name="T3" fmla="*/ 0 h 60"/>
                <a:gd name="T4" fmla="*/ 39 w 39"/>
                <a:gd name="T5" fmla="*/ 3 h 60"/>
                <a:gd name="T6" fmla="*/ 37 w 39"/>
                <a:gd name="T7" fmla="*/ 14 h 60"/>
                <a:gd name="T8" fmla="*/ 14 w 39"/>
                <a:gd name="T9" fmla="*/ 12 h 60"/>
                <a:gd name="T10" fmla="*/ 12 w 39"/>
                <a:gd name="T11" fmla="*/ 25 h 60"/>
                <a:gd name="T12" fmla="*/ 34 w 39"/>
                <a:gd name="T13" fmla="*/ 28 h 60"/>
                <a:gd name="T14" fmla="*/ 32 w 39"/>
                <a:gd name="T15" fmla="*/ 37 h 60"/>
                <a:gd name="T16" fmla="*/ 12 w 39"/>
                <a:gd name="T17" fmla="*/ 35 h 60"/>
                <a:gd name="T18" fmla="*/ 9 w 39"/>
                <a:gd name="T19" fmla="*/ 60 h 60"/>
                <a:gd name="T20" fmla="*/ 0 w 39"/>
                <a:gd name="T21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" h="60">
                  <a:moveTo>
                    <a:pt x="0" y="60"/>
                  </a:moveTo>
                  <a:lnTo>
                    <a:pt x="5" y="0"/>
                  </a:lnTo>
                  <a:lnTo>
                    <a:pt x="39" y="3"/>
                  </a:lnTo>
                  <a:lnTo>
                    <a:pt x="37" y="14"/>
                  </a:lnTo>
                  <a:lnTo>
                    <a:pt x="14" y="12"/>
                  </a:lnTo>
                  <a:lnTo>
                    <a:pt x="12" y="25"/>
                  </a:lnTo>
                  <a:lnTo>
                    <a:pt x="34" y="28"/>
                  </a:lnTo>
                  <a:lnTo>
                    <a:pt x="32" y="37"/>
                  </a:lnTo>
                  <a:lnTo>
                    <a:pt x="12" y="35"/>
                  </a:lnTo>
                  <a:lnTo>
                    <a:pt x="9" y="6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2" name="isḷiḑê">
              <a:extLst>
                <a:ext uri="{FF2B5EF4-FFF2-40B4-BE49-F238E27FC236}">
                  <a16:creationId xmlns:a16="http://schemas.microsoft.com/office/drawing/2014/main" id="{F7198A8E-54A1-9597-8B5D-1503B08B050F}"/>
                </a:ext>
              </a:extLst>
            </p:cNvPr>
            <p:cNvSpPr/>
            <p:nvPr/>
          </p:nvSpPr>
          <p:spPr bwMode="auto">
            <a:xfrm>
              <a:off x="2981325" y="4149726"/>
              <a:ext cx="65088" cy="98425"/>
            </a:xfrm>
            <a:custGeom>
              <a:avLst/>
              <a:gdLst>
                <a:gd name="T0" fmla="*/ 0 w 18"/>
                <a:gd name="T1" fmla="*/ 19 h 27"/>
                <a:gd name="T2" fmla="*/ 5 w 18"/>
                <a:gd name="T3" fmla="*/ 18 h 27"/>
                <a:gd name="T4" fmla="*/ 6 w 18"/>
                <a:gd name="T5" fmla="*/ 22 h 27"/>
                <a:gd name="T6" fmla="*/ 10 w 18"/>
                <a:gd name="T7" fmla="*/ 23 h 27"/>
                <a:gd name="T8" fmla="*/ 13 w 18"/>
                <a:gd name="T9" fmla="*/ 21 h 27"/>
                <a:gd name="T10" fmla="*/ 14 w 18"/>
                <a:gd name="T11" fmla="*/ 19 h 27"/>
                <a:gd name="T12" fmla="*/ 13 w 18"/>
                <a:gd name="T13" fmla="*/ 17 h 27"/>
                <a:gd name="T14" fmla="*/ 11 w 18"/>
                <a:gd name="T15" fmla="*/ 16 h 27"/>
                <a:gd name="T16" fmla="*/ 8 w 18"/>
                <a:gd name="T17" fmla="*/ 15 h 27"/>
                <a:gd name="T18" fmla="*/ 3 w 18"/>
                <a:gd name="T19" fmla="*/ 13 h 27"/>
                <a:gd name="T20" fmla="*/ 0 w 18"/>
                <a:gd name="T21" fmla="*/ 8 h 27"/>
                <a:gd name="T22" fmla="*/ 1 w 18"/>
                <a:gd name="T23" fmla="*/ 5 h 27"/>
                <a:gd name="T24" fmla="*/ 4 w 18"/>
                <a:gd name="T25" fmla="*/ 2 h 27"/>
                <a:gd name="T26" fmla="*/ 8 w 18"/>
                <a:gd name="T27" fmla="*/ 1 h 27"/>
                <a:gd name="T28" fmla="*/ 14 w 18"/>
                <a:gd name="T29" fmla="*/ 2 h 27"/>
                <a:gd name="T30" fmla="*/ 17 w 18"/>
                <a:gd name="T31" fmla="*/ 8 h 27"/>
                <a:gd name="T32" fmla="*/ 12 w 18"/>
                <a:gd name="T33" fmla="*/ 8 h 27"/>
                <a:gd name="T34" fmla="*/ 11 w 18"/>
                <a:gd name="T35" fmla="*/ 6 h 27"/>
                <a:gd name="T36" fmla="*/ 8 w 18"/>
                <a:gd name="T37" fmla="*/ 5 h 27"/>
                <a:gd name="T38" fmla="*/ 5 w 18"/>
                <a:gd name="T39" fmla="*/ 6 h 27"/>
                <a:gd name="T40" fmla="*/ 5 w 18"/>
                <a:gd name="T41" fmla="*/ 8 h 27"/>
                <a:gd name="T42" fmla="*/ 5 w 18"/>
                <a:gd name="T43" fmla="*/ 9 h 27"/>
                <a:gd name="T44" fmla="*/ 10 w 18"/>
                <a:gd name="T45" fmla="*/ 11 h 27"/>
                <a:gd name="T46" fmla="*/ 14 w 18"/>
                <a:gd name="T47" fmla="*/ 12 h 27"/>
                <a:gd name="T48" fmla="*/ 17 w 18"/>
                <a:gd name="T49" fmla="*/ 15 h 27"/>
                <a:gd name="T50" fmla="*/ 18 w 18"/>
                <a:gd name="T51" fmla="*/ 19 h 27"/>
                <a:gd name="T52" fmla="*/ 17 w 18"/>
                <a:gd name="T53" fmla="*/ 23 h 27"/>
                <a:gd name="T54" fmla="*/ 14 w 18"/>
                <a:gd name="T55" fmla="*/ 26 h 27"/>
                <a:gd name="T56" fmla="*/ 10 w 18"/>
                <a:gd name="T57" fmla="*/ 27 h 27"/>
                <a:gd name="T58" fmla="*/ 3 w 18"/>
                <a:gd name="T59" fmla="*/ 25 h 27"/>
                <a:gd name="T60" fmla="*/ 0 w 18"/>
                <a:gd name="T61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8" h="27">
                  <a:moveTo>
                    <a:pt x="0" y="19"/>
                  </a:moveTo>
                  <a:cubicBezTo>
                    <a:pt x="5" y="18"/>
                    <a:pt x="5" y="18"/>
                    <a:pt x="5" y="18"/>
                  </a:cubicBezTo>
                  <a:cubicBezTo>
                    <a:pt x="5" y="20"/>
                    <a:pt x="6" y="21"/>
                    <a:pt x="6" y="22"/>
                  </a:cubicBezTo>
                  <a:cubicBezTo>
                    <a:pt x="7" y="22"/>
                    <a:pt x="8" y="23"/>
                    <a:pt x="10" y="23"/>
                  </a:cubicBezTo>
                  <a:cubicBezTo>
                    <a:pt x="11" y="23"/>
                    <a:pt x="12" y="22"/>
                    <a:pt x="13" y="21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8"/>
                    <a:pt x="13" y="18"/>
                    <a:pt x="13" y="17"/>
                  </a:cubicBezTo>
                  <a:cubicBezTo>
                    <a:pt x="13" y="17"/>
                    <a:pt x="12" y="17"/>
                    <a:pt x="11" y="16"/>
                  </a:cubicBezTo>
                  <a:cubicBezTo>
                    <a:pt x="11" y="16"/>
                    <a:pt x="10" y="16"/>
                    <a:pt x="8" y="15"/>
                  </a:cubicBezTo>
                  <a:cubicBezTo>
                    <a:pt x="5" y="15"/>
                    <a:pt x="4" y="14"/>
                    <a:pt x="3" y="13"/>
                  </a:cubicBezTo>
                  <a:cubicBezTo>
                    <a:pt x="1" y="12"/>
                    <a:pt x="1" y="10"/>
                    <a:pt x="0" y="8"/>
                  </a:cubicBezTo>
                  <a:cubicBezTo>
                    <a:pt x="0" y="7"/>
                    <a:pt x="1" y="6"/>
                    <a:pt x="1" y="5"/>
                  </a:cubicBezTo>
                  <a:cubicBezTo>
                    <a:pt x="2" y="3"/>
                    <a:pt x="3" y="2"/>
                    <a:pt x="4" y="2"/>
                  </a:cubicBezTo>
                  <a:cubicBezTo>
                    <a:pt x="5" y="1"/>
                    <a:pt x="6" y="1"/>
                    <a:pt x="8" y="1"/>
                  </a:cubicBezTo>
                  <a:cubicBezTo>
                    <a:pt x="11" y="0"/>
                    <a:pt x="13" y="1"/>
                    <a:pt x="14" y="2"/>
                  </a:cubicBezTo>
                  <a:cubicBezTo>
                    <a:pt x="16" y="4"/>
                    <a:pt x="17" y="6"/>
                    <a:pt x="17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7"/>
                    <a:pt x="12" y="6"/>
                    <a:pt x="11" y="6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7" y="5"/>
                    <a:pt x="6" y="5"/>
                    <a:pt x="5" y="6"/>
                  </a:cubicBezTo>
                  <a:cubicBezTo>
                    <a:pt x="5" y="6"/>
                    <a:pt x="5" y="7"/>
                    <a:pt x="5" y="8"/>
                  </a:cubicBezTo>
                  <a:cubicBezTo>
                    <a:pt x="5" y="8"/>
                    <a:pt x="5" y="9"/>
                    <a:pt x="5" y="9"/>
                  </a:cubicBezTo>
                  <a:cubicBezTo>
                    <a:pt x="6" y="10"/>
                    <a:pt x="7" y="10"/>
                    <a:pt x="10" y="11"/>
                  </a:cubicBezTo>
                  <a:cubicBezTo>
                    <a:pt x="12" y="11"/>
                    <a:pt x="13" y="12"/>
                    <a:pt x="14" y="12"/>
                  </a:cubicBezTo>
                  <a:cubicBezTo>
                    <a:pt x="15" y="13"/>
                    <a:pt x="16" y="14"/>
                    <a:pt x="17" y="15"/>
                  </a:cubicBezTo>
                  <a:cubicBezTo>
                    <a:pt x="18" y="16"/>
                    <a:pt x="18" y="17"/>
                    <a:pt x="18" y="19"/>
                  </a:cubicBezTo>
                  <a:cubicBezTo>
                    <a:pt x="18" y="20"/>
                    <a:pt x="18" y="21"/>
                    <a:pt x="17" y="23"/>
                  </a:cubicBezTo>
                  <a:cubicBezTo>
                    <a:pt x="17" y="24"/>
                    <a:pt x="16" y="25"/>
                    <a:pt x="14" y="26"/>
                  </a:cubicBezTo>
                  <a:cubicBezTo>
                    <a:pt x="13" y="26"/>
                    <a:pt x="12" y="27"/>
                    <a:pt x="10" y="27"/>
                  </a:cubicBezTo>
                  <a:cubicBezTo>
                    <a:pt x="7" y="27"/>
                    <a:pt x="5" y="27"/>
                    <a:pt x="3" y="25"/>
                  </a:cubicBezTo>
                  <a:cubicBezTo>
                    <a:pt x="2" y="24"/>
                    <a:pt x="1" y="22"/>
                    <a:pt x="0" y="1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3" name="ïṥlíḓê">
              <a:extLst>
                <a:ext uri="{FF2B5EF4-FFF2-40B4-BE49-F238E27FC236}">
                  <a16:creationId xmlns:a16="http://schemas.microsoft.com/office/drawing/2014/main" id="{1B6DDAFD-A95E-D227-878E-99FD6D583507}"/>
                </a:ext>
              </a:extLst>
            </p:cNvPr>
            <p:cNvSpPr/>
            <p:nvPr/>
          </p:nvSpPr>
          <p:spPr bwMode="auto">
            <a:xfrm>
              <a:off x="3052763" y="4143376"/>
              <a:ext cx="73025" cy="96838"/>
            </a:xfrm>
            <a:custGeom>
              <a:avLst/>
              <a:gdLst>
                <a:gd name="T0" fmla="*/ 16 w 20"/>
                <a:gd name="T1" fmla="*/ 16 h 27"/>
                <a:gd name="T2" fmla="*/ 20 w 20"/>
                <a:gd name="T3" fmla="*/ 17 h 27"/>
                <a:gd name="T4" fmla="*/ 18 w 20"/>
                <a:gd name="T5" fmla="*/ 24 h 27"/>
                <a:gd name="T6" fmla="*/ 13 w 20"/>
                <a:gd name="T7" fmla="*/ 26 h 27"/>
                <a:gd name="T8" fmla="*/ 5 w 20"/>
                <a:gd name="T9" fmla="*/ 24 h 27"/>
                <a:gd name="T10" fmla="*/ 1 w 20"/>
                <a:gd name="T11" fmla="*/ 15 h 27"/>
                <a:gd name="T12" fmla="*/ 2 w 20"/>
                <a:gd name="T13" fmla="*/ 5 h 27"/>
                <a:gd name="T14" fmla="*/ 9 w 20"/>
                <a:gd name="T15" fmla="*/ 0 h 27"/>
                <a:gd name="T16" fmla="*/ 16 w 20"/>
                <a:gd name="T17" fmla="*/ 2 h 27"/>
                <a:gd name="T18" fmla="*/ 19 w 20"/>
                <a:gd name="T19" fmla="*/ 6 h 27"/>
                <a:gd name="T20" fmla="*/ 14 w 20"/>
                <a:gd name="T21" fmla="*/ 8 h 27"/>
                <a:gd name="T22" fmla="*/ 12 w 20"/>
                <a:gd name="T23" fmla="*/ 5 h 27"/>
                <a:gd name="T24" fmla="*/ 9 w 20"/>
                <a:gd name="T25" fmla="*/ 5 h 27"/>
                <a:gd name="T26" fmla="*/ 6 w 20"/>
                <a:gd name="T27" fmla="*/ 7 h 27"/>
                <a:gd name="T28" fmla="*/ 5 w 20"/>
                <a:gd name="T29" fmla="*/ 14 h 27"/>
                <a:gd name="T30" fmla="*/ 8 w 20"/>
                <a:gd name="T31" fmla="*/ 21 h 27"/>
                <a:gd name="T32" fmla="*/ 12 w 20"/>
                <a:gd name="T33" fmla="*/ 22 h 27"/>
                <a:gd name="T34" fmla="*/ 15 w 20"/>
                <a:gd name="T35" fmla="*/ 20 h 27"/>
                <a:gd name="T36" fmla="*/ 16 w 20"/>
                <a:gd name="T37" fmla="*/ 1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" h="27">
                  <a:moveTo>
                    <a:pt x="16" y="16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20"/>
                    <a:pt x="19" y="22"/>
                    <a:pt x="18" y="24"/>
                  </a:cubicBezTo>
                  <a:cubicBezTo>
                    <a:pt x="17" y="25"/>
                    <a:pt x="15" y="26"/>
                    <a:pt x="13" y="26"/>
                  </a:cubicBezTo>
                  <a:cubicBezTo>
                    <a:pt x="10" y="27"/>
                    <a:pt x="7" y="26"/>
                    <a:pt x="5" y="24"/>
                  </a:cubicBezTo>
                  <a:cubicBezTo>
                    <a:pt x="3" y="22"/>
                    <a:pt x="2" y="19"/>
                    <a:pt x="1" y="15"/>
                  </a:cubicBezTo>
                  <a:cubicBezTo>
                    <a:pt x="0" y="11"/>
                    <a:pt x="1" y="8"/>
                    <a:pt x="2" y="5"/>
                  </a:cubicBezTo>
                  <a:cubicBezTo>
                    <a:pt x="4" y="2"/>
                    <a:pt x="6" y="1"/>
                    <a:pt x="9" y="0"/>
                  </a:cubicBezTo>
                  <a:cubicBezTo>
                    <a:pt x="11" y="0"/>
                    <a:pt x="14" y="0"/>
                    <a:pt x="16" y="2"/>
                  </a:cubicBezTo>
                  <a:cubicBezTo>
                    <a:pt x="17" y="3"/>
                    <a:pt x="18" y="4"/>
                    <a:pt x="19" y="6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7"/>
                    <a:pt x="13" y="6"/>
                    <a:pt x="12" y="5"/>
                  </a:cubicBezTo>
                  <a:cubicBezTo>
                    <a:pt x="11" y="5"/>
                    <a:pt x="10" y="5"/>
                    <a:pt x="9" y="5"/>
                  </a:cubicBezTo>
                  <a:cubicBezTo>
                    <a:pt x="8" y="5"/>
                    <a:pt x="6" y="6"/>
                    <a:pt x="6" y="7"/>
                  </a:cubicBezTo>
                  <a:cubicBezTo>
                    <a:pt x="5" y="9"/>
                    <a:pt x="5" y="11"/>
                    <a:pt x="5" y="14"/>
                  </a:cubicBezTo>
                  <a:cubicBezTo>
                    <a:pt x="6" y="17"/>
                    <a:pt x="7" y="19"/>
                    <a:pt x="8" y="21"/>
                  </a:cubicBezTo>
                  <a:cubicBezTo>
                    <a:pt x="9" y="22"/>
                    <a:pt x="10" y="22"/>
                    <a:pt x="12" y="22"/>
                  </a:cubicBezTo>
                  <a:cubicBezTo>
                    <a:pt x="13" y="22"/>
                    <a:pt x="14" y="21"/>
                    <a:pt x="15" y="20"/>
                  </a:cubicBezTo>
                  <a:cubicBezTo>
                    <a:pt x="15" y="19"/>
                    <a:pt x="16" y="18"/>
                    <a:pt x="16" y="1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4" name="îṧḷíḍé">
              <a:extLst>
                <a:ext uri="{FF2B5EF4-FFF2-40B4-BE49-F238E27FC236}">
                  <a16:creationId xmlns:a16="http://schemas.microsoft.com/office/drawing/2014/main" id="{493616DA-17EF-D05D-FD59-4064C7664BBF}"/>
                </a:ext>
              </a:extLst>
            </p:cNvPr>
            <p:cNvSpPr/>
            <p:nvPr/>
          </p:nvSpPr>
          <p:spPr bwMode="auto">
            <a:xfrm>
              <a:off x="3125788" y="4135438"/>
              <a:ext cx="34925" cy="90488"/>
            </a:xfrm>
            <a:custGeom>
              <a:avLst/>
              <a:gdLst>
                <a:gd name="T0" fmla="*/ 13 w 22"/>
                <a:gd name="T1" fmla="*/ 57 h 57"/>
                <a:gd name="T2" fmla="*/ 0 w 22"/>
                <a:gd name="T3" fmla="*/ 2 h 57"/>
                <a:gd name="T4" fmla="*/ 11 w 22"/>
                <a:gd name="T5" fmla="*/ 0 h 57"/>
                <a:gd name="T6" fmla="*/ 22 w 22"/>
                <a:gd name="T7" fmla="*/ 55 h 57"/>
                <a:gd name="T8" fmla="*/ 13 w 22"/>
                <a:gd name="T9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57">
                  <a:moveTo>
                    <a:pt x="13" y="57"/>
                  </a:moveTo>
                  <a:lnTo>
                    <a:pt x="0" y="2"/>
                  </a:lnTo>
                  <a:lnTo>
                    <a:pt x="11" y="0"/>
                  </a:lnTo>
                  <a:lnTo>
                    <a:pt x="22" y="55"/>
                  </a:lnTo>
                  <a:lnTo>
                    <a:pt x="13" y="57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5" name="îṩḻïďè">
              <a:extLst>
                <a:ext uri="{FF2B5EF4-FFF2-40B4-BE49-F238E27FC236}">
                  <a16:creationId xmlns:a16="http://schemas.microsoft.com/office/drawing/2014/main" id="{3A849376-543A-9254-E7E7-ADF2BC5FAA66}"/>
                </a:ext>
              </a:extLst>
            </p:cNvPr>
            <p:cNvSpPr/>
            <p:nvPr/>
          </p:nvSpPr>
          <p:spPr bwMode="auto">
            <a:xfrm>
              <a:off x="3154363" y="4113213"/>
              <a:ext cx="82550" cy="106363"/>
            </a:xfrm>
            <a:custGeom>
              <a:avLst/>
              <a:gdLst>
                <a:gd name="T0" fmla="*/ 18 w 52"/>
                <a:gd name="T1" fmla="*/ 67 h 67"/>
                <a:gd name="T2" fmla="*/ 0 w 52"/>
                <a:gd name="T3" fmla="*/ 12 h 67"/>
                <a:gd name="T4" fmla="*/ 34 w 52"/>
                <a:gd name="T5" fmla="*/ 0 h 67"/>
                <a:gd name="T6" fmla="*/ 38 w 52"/>
                <a:gd name="T7" fmla="*/ 10 h 67"/>
                <a:gd name="T8" fmla="*/ 11 w 52"/>
                <a:gd name="T9" fmla="*/ 19 h 67"/>
                <a:gd name="T10" fmla="*/ 16 w 52"/>
                <a:gd name="T11" fmla="*/ 30 h 67"/>
                <a:gd name="T12" fmla="*/ 38 w 52"/>
                <a:gd name="T13" fmla="*/ 23 h 67"/>
                <a:gd name="T14" fmla="*/ 43 w 52"/>
                <a:gd name="T15" fmla="*/ 32 h 67"/>
                <a:gd name="T16" fmla="*/ 18 w 52"/>
                <a:gd name="T17" fmla="*/ 39 h 67"/>
                <a:gd name="T18" fmla="*/ 22 w 52"/>
                <a:gd name="T19" fmla="*/ 55 h 67"/>
                <a:gd name="T20" fmla="*/ 50 w 52"/>
                <a:gd name="T21" fmla="*/ 46 h 67"/>
                <a:gd name="T22" fmla="*/ 52 w 52"/>
                <a:gd name="T23" fmla="*/ 55 h 67"/>
                <a:gd name="T24" fmla="*/ 18 w 52"/>
                <a:gd name="T25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2" h="67">
                  <a:moveTo>
                    <a:pt x="18" y="67"/>
                  </a:moveTo>
                  <a:lnTo>
                    <a:pt x="0" y="12"/>
                  </a:lnTo>
                  <a:lnTo>
                    <a:pt x="34" y="0"/>
                  </a:lnTo>
                  <a:lnTo>
                    <a:pt x="38" y="10"/>
                  </a:lnTo>
                  <a:lnTo>
                    <a:pt x="11" y="19"/>
                  </a:lnTo>
                  <a:lnTo>
                    <a:pt x="16" y="30"/>
                  </a:lnTo>
                  <a:lnTo>
                    <a:pt x="38" y="23"/>
                  </a:lnTo>
                  <a:lnTo>
                    <a:pt x="43" y="32"/>
                  </a:lnTo>
                  <a:lnTo>
                    <a:pt x="18" y="39"/>
                  </a:lnTo>
                  <a:lnTo>
                    <a:pt x="22" y="55"/>
                  </a:lnTo>
                  <a:lnTo>
                    <a:pt x="50" y="46"/>
                  </a:lnTo>
                  <a:lnTo>
                    <a:pt x="52" y="55"/>
                  </a:lnTo>
                  <a:lnTo>
                    <a:pt x="18" y="67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6" name="ïşļídé">
              <a:extLst>
                <a:ext uri="{FF2B5EF4-FFF2-40B4-BE49-F238E27FC236}">
                  <a16:creationId xmlns:a16="http://schemas.microsoft.com/office/drawing/2014/main" id="{FD12BF63-3FF2-41D3-A5F0-E18A730B9835}"/>
                </a:ext>
              </a:extLst>
            </p:cNvPr>
            <p:cNvSpPr/>
            <p:nvPr/>
          </p:nvSpPr>
          <p:spPr bwMode="auto">
            <a:xfrm>
              <a:off x="3219450" y="4084638"/>
              <a:ext cx="93663" cy="109538"/>
            </a:xfrm>
            <a:custGeom>
              <a:avLst/>
              <a:gdLst>
                <a:gd name="T0" fmla="*/ 22 w 59"/>
                <a:gd name="T1" fmla="*/ 69 h 69"/>
                <a:gd name="T2" fmla="*/ 0 w 59"/>
                <a:gd name="T3" fmla="*/ 16 h 69"/>
                <a:gd name="T4" fmla="*/ 9 w 59"/>
                <a:gd name="T5" fmla="*/ 12 h 69"/>
                <a:gd name="T6" fmla="*/ 43 w 59"/>
                <a:gd name="T7" fmla="*/ 39 h 69"/>
                <a:gd name="T8" fmla="*/ 27 w 59"/>
                <a:gd name="T9" fmla="*/ 5 h 69"/>
                <a:gd name="T10" fmla="*/ 36 w 59"/>
                <a:gd name="T11" fmla="*/ 0 h 69"/>
                <a:gd name="T12" fmla="*/ 59 w 59"/>
                <a:gd name="T13" fmla="*/ 55 h 69"/>
                <a:gd name="T14" fmla="*/ 50 w 59"/>
                <a:gd name="T15" fmla="*/ 57 h 69"/>
                <a:gd name="T16" fmla="*/ 16 w 59"/>
                <a:gd name="T17" fmla="*/ 30 h 69"/>
                <a:gd name="T18" fmla="*/ 31 w 59"/>
                <a:gd name="T19" fmla="*/ 66 h 69"/>
                <a:gd name="T20" fmla="*/ 22 w 59"/>
                <a:gd name="T21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69">
                  <a:moveTo>
                    <a:pt x="22" y="69"/>
                  </a:moveTo>
                  <a:lnTo>
                    <a:pt x="0" y="16"/>
                  </a:lnTo>
                  <a:lnTo>
                    <a:pt x="9" y="12"/>
                  </a:lnTo>
                  <a:lnTo>
                    <a:pt x="43" y="39"/>
                  </a:lnTo>
                  <a:lnTo>
                    <a:pt x="27" y="5"/>
                  </a:lnTo>
                  <a:lnTo>
                    <a:pt x="36" y="0"/>
                  </a:lnTo>
                  <a:lnTo>
                    <a:pt x="59" y="55"/>
                  </a:lnTo>
                  <a:lnTo>
                    <a:pt x="50" y="57"/>
                  </a:lnTo>
                  <a:lnTo>
                    <a:pt x="16" y="30"/>
                  </a:lnTo>
                  <a:lnTo>
                    <a:pt x="31" y="66"/>
                  </a:lnTo>
                  <a:lnTo>
                    <a:pt x="22" y="6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7" name="iṧḻíďe">
              <a:extLst>
                <a:ext uri="{FF2B5EF4-FFF2-40B4-BE49-F238E27FC236}">
                  <a16:creationId xmlns:a16="http://schemas.microsoft.com/office/drawing/2014/main" id="{240BC46E-3278-2745-67FD-1FF3CF9B17BC}"/>
                </a:ext>
              </a:extLst>
            </p:cNvPr>
            <p:cNvSpPr/>
            <p:nvPr/>
          </p:nvSpPr>
          <p:spPr bwMode="auto">
            <a:xfrm>
              <a:off x="3298825" y="4056063"/>
              <a:ext cx="82550" cy="93663"/>
            </a:xfrm>
            <a:custGeom>
              <a:avLst/>
              <a:gdLst>
                <a:gd name="T0" fmla="*/ 17 w 23"/>
                <a:gd name="T1" fmla="*/ 14 h 26"/>
                <a:gd name="T2" fmla="*/ 22 w 23"/>
                <a:gd name="T3" fmla="*/ 13 h 26"/>
                <a:gd name="T4" fmla="*/ 22 w 23"/>
                <a:gd name="T5" fmla="*/ 20 h 26"/>
                <a:gd name="T6" fmla="*/ 18 w 23"/>
                <a:gd name="T7" fmla="*/ 25 h 26"/>
                <a:gd name="T8" fmla="*/ 10 w 23"/>
                <a:gd name="T9" fmla="*/ 25 h 26"/>
                <a:gd name="T10" fmla="*/ 3 w 23"/>
                <a:gd name="T11" fmla="*/ 18 h 26"/>
                <a:gd name="T12" fmla="*/ 1 w 23"/>
                <a:gd name="T13" fmla="*/ 8 h 26"/>
                <a:gd name="T14" fmla="*/ 5 w 23"/>
                <a:gd name="T15" fmla="*/ 2 h 26"/>
                <a:gd name="T16" fmla="*/ 12 w 23"/>
                <a:gd name="T17" fmla="*/ 1 h 26"/>
                <a:gd name="T18" fmla="*/ 17 w 23"/>
                <a:gd name="T19" fmla="*/ 4 h 26"/>
                <a:gd name="T20" fmla="*/ 13 w 23"/>
                <a:gd name="T21" fmla="*/ 7 h 26"/>
                <a:gd name="T22" fmla="*/ 10 w 23"/>
                <a:gd name="T23" fmla="*/ 5 h 26"/>
                <a:gd name="T24" fmla="*/ 7 w 23"/>
                <a:gd name="T25" fmla="*/ 6 h 26"/>
                <a:gd name="T26" fmla="*/ 5 w 23"/>
                <a:gd name="T27" fmla="*/ 9 h 26"/>
                <a:gd name="T28" fmla="*/ 7 w 23"/>
                <a:gd name="T29" fmla="*/ 16 h 26"/>
                <a:gd name="T30" fmla="*/ 11 w 23"/>
                <a:gd name="T31" fmla="*/ 21 h 26"/>
                <a:gd name="T32" fmla="*/ 16 w 23"/>
                <a:gd name="T33" fmla="*/ 21 h 26"/>
                <a:gd name="T34" fmla="*/ 18 w 23"/>
                <a:gd name="T35" fmla="*/ 18 h 26"/>
                <a:gd name="T36" fmla="*/ 17 w 23"/>
                <a:gd name="T37" fmla="*/ 1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" h="26">
                  <a:moveTo>
                    <a:pt x="17" y="14"/>
                  </a:moveTo>
                  <a:cubicBezTo>
                    <a:pt x="22" y="13"/>
                    <a:pt x="22" y="13"/>
                    <a:pt x="22" y="13"/>
                  </a:cubicBezTo>
                  <a:cubicBezTo>
                    <a:pt x="23" y="16"/>
                    <a:pt x="23" y="18"/>
                    <a:pt x="22" y="20"/>
                  </a:cubicBezTo>
                  <a:cubicBezTo>
                    <a:pt x="21" y="22"/>
                    <a:pt x="20" y="24"/>
                    <a:pt x="18" y="25"/>
                  </a:cubicBezTo>
                  <a:cubicBezTo>
                    <a:pt x="15" y="26"/>
                    <a:pt x="13" y="26"/>
                    <a:pt x="10" y="25"/>
                  </a:cubicBezTo>
                  <a:cubicBezTo>
                    <a:pt x="7" y="24"/>
                    <a:pt x="5" y="22"/>
                    <a:pt x="3" y="18"/>
                  </a:cubicBezTo>
                  <a:cubicBezTo>
                    <a:pt x="1" y="15"/>
                    <a:pt x="0" y="11"/>
                    <a:pt x="1" y="8"/>
                  </a:cubicBezTo>
                  <a:cubicBezTo>
                    <a:pt x="1" y="5"/>
                    <a:pt x="3" y="3"/>
                    <a:pt x="5" y="2"/>
                  </a:cubicBezTo>
                  <a:cubicBezTo>
                    <a:pt x="8" y="0"/>
                    <a:pt x="10" y="0"/>
                    <a:pt x="12" y="1"/>
                  </a:cubicBezTo>
                  <a:cubicBezTo>
                    <a:pt x="14" y="1"/>
                    <a:pt x="15" y="2"/>
                    <a:pt x="17" y="4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2" y="6"/>
                    <a:pt x="11" y="5"/>
                    <a:pt x="10" y="5"/>
                  </a:cubicBezTo>
                  <a:cubicBezTo>
                    <a:pt x="9" y="5"/>
                    <a:pt x="8" y="5"/>
                    <a:pt x="7" y="6"/>
                  </a:cubicBezTo>
                  <a:cubicBezTo>
                    <a:pt x="6" y="6"/>
                    <a:pt x="5" y="8"/>
                    <a:pt x="5" y="9"/>
                  </a:cubicBezTo>
                  <a:cubicBezTo>
                    <a:pt x="5" y="11"/>
                    <a:pt x="5" y="13"/>
                    <a:pt x="7" y="16"/>
                  </a:cubicBezTo>
                  <a:cubicBezTo>
                    <a:pt x="8" y="19"/>
                    <a:pt x="10" y="20"/>
                    <a:pt x="11" y="21"/>
                  </a:cubicBezTo>
                  <a:cubicBezTo>
                    <a:pt x="13" y="22"/>
                    <a:pt x="14" y="22"/>
                    <a:pt x="16" y="21"/>
                  </a:cubicBezTo>
                  <a:cubicBezTo>
                    <a:pt x="17" y="20"/>
                    <a:pt x="17" y="20"/>
                    <a:pt x="18" y="18"/>
                  </a:cubicBezTo>
                  <a:cubicBezTo>
                    <a:pt x="18" y="17"/>
                    <a:pt x="18" y="16"/>
                    <a:pt x="17" y="14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8" name="ïSlïḓé">
              <a:extLst>
                <a:ext uri="{FF2B5EF4-FFF2-40B4-BE49-F238E27FC236}">
                  <a16:creationId xmlns:a16="http://schemas.microsoft.com/office/drawing/2014/main" id="{F7E26F36-4F8A-99AC-BED0-AA2CA7B9DD0A}"/>
                </a:ext>
              </a:extLst>
            </p:cNvPr>
            <p:cNvSpPr/>
            <p:nvPr/>
          </p:nvSpPr>
          <p:spPr bwMode="auto">
            <a:xfrm>
              <a:off x="3352800" y="4008438"/>
              <a:ext cx="104775" cy="109538"/>
            </a:xfrm>
            <a:custGeom>
              <a:avLst/>
              <a:gdLst>
                <a:gd name="T0" fmla="*/ 34 w 66"/>
                <a:gd name="T1" fmla="*/ 69 h 69"/>
                <a:gd name="T2" fmla="*/ 0 w 66"/>
                <a:gd name="T3" fmla="*/ 21 h 69"/>
                <a:gd name="T4" fmla="*/ 31 w 66"/>
                <a:gd name="T5" fmla="*/ 0 h 69"/>
                <a:gd name="T6" fmla="*/ 36 w 66"/>
                <a:gd name="T7" fmla="*/ 9 h 69"/>
                <a:gd name="T8" fmla="*/ 16 w 66"/>
                <a:gd name="T9" fmla="*/ 23 h 69"/>
                <a:gd name="T10" fmla="*/ 22 w 66"/>
                <a:gd name="T11" fmla="*/ 35 h 69"/>
                <a:gd name="T12" fmla="*/ 43 w 66"/>
                <a:gd name="T13" fmla="*/ 21 h 69"/>
                <a:gd name="T14" fmla="*/ 47 w 66"/>
                <a:gd name="T15" fmla="*/ 28 h 69"/>
                <a:gd name="T16" fmla="*/ 27 w 66"/>
                <a:gd name="T17" fmla="*/ 44 h 69"/>
                <a:gd name="T18" fmla="*/ 36 w 66"/>
                <a:gd name="T19" fmla="*/ 55 h 69"/>
                <a:gd name="T20" fmla="*/ 59 w 66"/>
                <a:gd name="T21" fmla="*/ 39 h 69"/>
                <a:gd name="T22" fmla="*/ 66 w 66"/>
                <a:gd name="T23" fmla="*/ 48 h 69"/>
                <a:gd name="T24" fmla="*/ 34 w 66"/>
                <a:gd name="T2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69">
                  <a:moveTo>
                    <a:pt x="34" y="69"/>
                  </a:moveTo>
                  <a:lnTo>
                    <a:pt x="0" y="21"/>
                  </a:lnTo>
                  <a:lnTo>
                    <a:pt x="31" y="0"/>
                  </a:lnTo>
                  <a:lnTo>
                    <a:pt x="36" y="9"/>
                  </a:lnTo>
                  <a:lnTo>
                    <a:pt x="16" y="23"/>
                  </a:lnTo>
                  <a:lnTo>
                    <a:pt x="22" y="35"/>
                  </a:lnTo>
                  <a:lnTo>
                    <a:pt x="43" y="21"/>
                  </a:lnTo>
                  <a:lnTo>
                    <a:pt x="47" y="28"/>
                  </a:lnTo>
                  <a:lnTo>
                    <a:pt x="27" y="44"/>
                  </a:lnTo>
                  <a:lnTo>
                    <a:pt x="36" y="55"/>
                  </a:lnTo>
                  <a:lnTo>
                    <a:pt x="59" y="39"/>
                  </a:lnTo>
                  <a:lnTo>
                    <a:pt x="66" y="48"/>
                  </a:lnTo>
                  <a:lnTo>
                    <a:pt x="34" y="6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9" name="išľîḑé">
              <a:extLst>
                <a:ext uri="{FF2B5EF4-FFF2-40B4-BE49-F238E27FC236}">
                  <a16:creationId xmlns:a16="http://schemas.microsoft.com/office/drawing/2014/main" id="{3B06242B-B414-F1AE-0827-8481D81930F3}"/>
                </a:ext>
              </a:extLst>
            </p:cNvPr>
            <p:cNvSpPr/>
            <p:nvPr/>
          </p:nvSpPr>
          <p:spPr bwMode="auto">
            <a:xfrm>
              <a:off x="3446463" y="3957638"/>
              <a:ext cx="93663" cy="87313"/>
            </a:xfrm>
            <a:custGeom>
              <a:avLst/>
              <a:gdLst>
                <a:gd name="T0" fmla="*/ 26 w 26"/>
                <a:gd name="T1" fmla="*/ 11 h 24"/>
                <a:gd name="T2" fmla="*/ 26 w 26"/>
                <a:gd name="T3" fmla="*/ 15 h 24"/>
                <a:gd name="T4" fmla="*/ 22 w 26"/>
                <a:gd name="T5" fmla="*/ 15 h 24"/>
                <a:gd name="T6" fmla="*/ 21 w 26"/>
                <a:gd name="T7" fmla="*/ 19 h 24"/>
                <a:gd name="T8" fmla="*/ 19 w 26"/>
                <a:gd name="T9" fmla="*/ 22 h 24"/>
                <a:gd name="T10" fmla="*/ 13 w 26"/>
                <a:gd name="T11" fmla="*/ 24 h 24"/>
                <a:gd name="T12" fmla="*/ 8 w 26"/>
                <a:gd name="T13" fmla="*/ 21 h 24"/>
                <a:gd name="T14" fmla="*/ 6 w 26"/>
                <a:gd name="T15" fmla="*/ 17 h 24"/>
                <a:gd name="T16" fmla="*/ 7 w 26"/>
                <a:gd name="T17" fmla="*/ 12 h 24"/>
                <a:gd name="T18" fmla="*/ 3 w 26"/>
                <a:gd name="T19" fmla="*/ 11 h 24"/>
                <a:gd name="T20" fmla="*/ 1 w 26"/>
                <a:gd name="T21" fmla="*/ 10 h 24"/>
                <a:gd name="T22" fmla="*/ 0 w 26"/>
                <a:gd name="T23" fmla="*/ 6 h 24"/>
                <a:gd name="T24" fmla="*/ 2 w 26"/>
                <a:gd name="T25" fmla="*/ 1 h 24"/>
                <a:gd name="T26" fmla="*/ 6 w 26"/>
                <a:gd name="T27" fmla="*/ 0 h 24"/>
                <a:gd name="T28" fmla="*/ 10 w 26"/>
                <a:gd name="T29" fmla="*/ 2 h 24"/>
                <a:gd name="T30" fmla="*/ 12 w 26"/>
                <a:gd name="T31" fmla="*/ 4 h 24"/>
                <a:gd name="T32" fmla="*/ 11 w 26"/>
                <a:gd name="T33" fmla="*/ 9 h 24"/>
                <a:gd name="T34" fmla="*/ 17 w 26"/>
                <a:gd name="T35" fmla="*/ 10 h 24"/>
                <a:gd name="T36" fmla="*/ 16 w 26"/>
                <a:gd name="T37" fmla="*/ 7 h 24"/>
                <a:gd name="T38" fmla="*/ 19 w 26"/>
                <a:gd name="T39" fmla="*/ 6 h 24"/>
                <a:gd name="T40" fmla="*/ 21 w 26"/>
                <a:gd name="T41" fmla="*/ 9 h 24"/>
                <a:gd name="T42" fmla="*/ 21 w 26"/>
                <a:gd name="T43" fmla="*/ 11 h 24"/>
                <a:gd name="T44" fmla="*/ 24 w 26"/>
                <a:gd name="T45" fmla="*/ 11 h 24"/>
                <a:gd name="T46" fmla="*/ 26 w 26"/>
                <a:gd name="T47" fmla="*/ 11 h 24"/>
                <a:gd name="T48" fmla="*/ 8 w 26"/>
                <a:gd name="T49" fmla="*/ 8 h 24"/>
                <a:gd name="T50" fmla="*/ 8 w 26"/>
                <a:gd name="T51" fmla="*/ 7 h 24"/>
                <a:gd name="T52" fmla="*/ 7 w 26"/>
                <a:gd name="T53" fmla="*/ 4 h 24"/>
                <a:gd name="T54" fmla="*/ 6 w 26"/>
                <a:gd name="T55" fmla="*/ 3 h 24"/>
                <a:gd name="T56" fmla="*/ 4 w 26"/>
                <a:gd name="T57" fmla="*/ 4 h 24"/>
                <a:gd name="T58" fmla="*/ 4 w 26"/>
                <a:gd name="T59" fmla="*/ 5 h 24"/>
                <a:gd name="T60" fmla="*/ 4 w 26"/>
                <a:gd name="T61" fmla="*/ 7 h 24"/>
                <a:gd name="T62" fmla="*/ 6 w 26"/>
                <a:gd name="T63" fmla="*/ 8 h 24"/>
                <a:gd name="T64" fmla="*/ 8 w 26"/>
                <a:gd name="T65" fmla="*/ 8 h 24"/>
                <a:gd name="T66" fmla="*/ 10 w 26"/>
                <a:gd name="T67" fmla="*/ 13 h 24"/>
                <a:gd name="T68" fmla="*/ 10 w 26"/>
                <a:gd name="T69" fmla="*/ 16 h 24"/>
                <a:gd name="T70" fmla="*/ 11 w 26"/>
                <a:gd name="T71" fmla="*/ 18 h 24"/>
                <a:gd name="T72" fmla="*/ 14 w 26"/>
                <a:gd name="T73" fmla="*/ 20 h 24"/>
                <a:gd name="T74" fmla="*/ 16 w 26"/>
                <a:gd name="T75" fmla="*/ 19 h 24"/>
                <a:gd name="T76" fmla="*/ 17 w 26"/>
                <a:gd name="T77" fmla="*/ 17 h 24"/>
                <a:gd name="T78" fmla="*/ 18 w 26"/>
                <a:gd name="T79" fmla="*/ 15 h 24"/>
                <a:gd name="T80" fmla="*/ 10 w 26"/>
                <a:gd name="T81" fmla="*/ 1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6" h="24">
                  <a:moveTo>
                    <a:pt x="26" y="11"/>
                  </a:moveTo>
                  <a:cubicBezTo>
                    <a:pt x="26" y="15"/>
                    <a:pt x="26" y="15"/>
                    <a:pt x="26" y="15"/>
                  </a:cubicBezTo>
                  <a:cubicBezTo>
                    <a:pt x="25" y="15"/>
                    <a:pt x="23" y="15"/>
                    <a:pt x="22" y="15"/>
                  </a:cubicBezTo>
                  <a:cubicBezTo>
                    <a:pt x="22" y="17"/>
                    <a:pt x="22" y="18"/>
                    <a:pt x="21" y="19"/>
                  </a:cubicBezTo>
                  <a:cubicBezTo>
                    <a:pt x="21" y="20"/>
                    <a:pt x="20" y="21"/>
                    <a:pt x="19" y="22"/>
                  </a:cubicBezTo>
                  <a:cubicBezTo>
                    <a:pt x="17" y="23"/>
                    <a:pt x="15" y="24"/>
                    <a:pt x="13" y="24"/>
                  </a:cubicBezTo>
                  <a:cubicBezTo>
                    <a:pt x="11" y="23"/>
                    <a:pt x="10" y="23"/>
                    <a:pt x="8" y="21"/>
                  </a:cubicBezTo>
                  <a:cubicBezTo>
                    <a:pt x="7" y="20"/>
                    <a:pt x="7" y="19"/>
                    <a:pt x="6" y="17"/>
                  </a:cubicBezTo>
                  <a:cubicBezTo>
                    <a:pt x="6" y="16"/>
                    <a:pt x="6" y="14"/>
                    <a:pt x="7" y="12"/>
                  </a:cubicBezTo>
                  <a:cubicBezTo>
                    <a:pt x="5" y="12"/>
                    <a:pt x="4" y="12"/>
                    <a:pt x="3" y="11"/>
                  </a:cubicBezTo>
                  <a:cubicBezTo>
                    <a:pt x="3" y="11"/>
                    <a:pt x="2" y="10"/>
                    <a:pt x="1" y="10"/>
                  </a:cubicBezTo>
                  <a:cubicBezTo>
                    <a:pt x="0" y="9"/>
                    <a:pt x="0" y="7"/>
                    <a:pt x="0" y="6"/>
                  </a:cubicBezTo>
                  <a:cubicBezTo>
                    <a:pt x="0" y="4"/>
                    <a:pt x="0" y="3"/>
                    <a:pt x="2" y="1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9" y="0"/>
                    <a:pt x="10" y="2"/>
                  </a:cubicBezTo>
                  <a:cubicBezTo>
                    <a:pt x="11" y="2"/>
                    <a:pt x="11" y="3"/>
                    <a:pt x="12" y="4"/>
                  </a:cubicBezTo>
                  <a:cubicBezTo>
                    <a:pt x="12" y="5"/>
                    <a:pt x="12" y="7"/>
                    <a:pt x="11" y="9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9"/>
                    <a:pt x="16" y="9"/>
                    <a:pt x="16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0" y="7"/>
                    <a:pt x="20" y="8"/>
                    <a:pt x="21" y="9"/>
                  </a:cubicBezTo>
                  <a:cubicBezTo>
                    <a:pt x="21" y="10"/>
                    <a:pt x="21" y="10"/>
                    <a:pt x="21" y="11"/>
                  </a:cubicBezTo>
                  <a:cubicBezTo>
                    <a:pt x="22" y="11"/>
                    <a:pt x="23" y="11"/>
                    <a:pt x="24" y="11"/>
                  </a:cubicBezTo>
                  <a:cubicBezTo>
                    <a:pt x="25" y="11"/>
                    <a:pt x="25" y="11"/>
                    <a:pt x="26" y="11"/>
                  </a:cubicBezTo>
                  <a:close/>
                  <a:moveTo>
                    <a:pt x="8" y="8"/>
                  </a:moveTo>
                  <a:cubicBezTo>
                    <a:pt x="8" y="7"/>
                    <a:pt x="8" y="7"/>
                    <a:pt x="8" y="7"/>
                  </a:cubicBezTo>
                  <a:cubicBezTo>
                    <a:pt x="8" y="5"/>
                    <a:pt x="8" y="5"/>
                    <a:pt x="7" y="4"/>
                  </a:cubicBezTo>
                  <a:cubicBezTo>
                    <a:pt x="7" y="4"/>
                    <a:pt x="7" y="3"/>
                    <a:pt x="6" y="3"/>
                  </a:cubicBezTo>
                  <a:cubicBezTo>
                    <a:pt x="5" y="3"/>
                    <a:pt x="5" y="3"/>
                    <a:pt x="4" y="4"/>
                  </a:cubicBezTo>
                  <a:cubicBezTo>
                    <a:pt x="4" y="4"/>
                    <a:pt x="4" y="5"/>
                    <a:pt x="4" y="5"/>
                  </a:cubicBezTo>
                  <a:cubicBezTo>
                    <a:pt x="4" y="6"/>
                    <a:pt x="4" y="6"/>
                    <a:pt x="4" y="7"/>
                  </a:cubicBezTo>
                  <a:cubicBezTo>
                    <a:pt x="4" y="7"/>
                    <a:pt x="5" y="8"/>
                    <a:pt x="6" y="8"/>
                  </a:cubicBezTo>
                  <a:lnTo>
                    <a:pt x="8" y="8"/>
                  </a:lnTo>
                  <a:close/>
                  <a:moveTo>
                    <a:pt x="10" y="13"/>
                  </a:moveTo>
                  <a:cubicBezTo>
                    <a:pt x="10" y="14"/>
                    <a:pt x="10" y="15"/>
                    <a:pt x="10" y="16"/>
                  </a:cubicBezTo>
                  <a:cubicBezTo>
                    <a:pt x="10" y="17"/>
                    <a:pt x="11" y="18"/>
                    <a:pt x="11" y="18"/>
                  </a:cubicBezTo>
                  <a:cubicBezTo>
                    <a:pt x="12" y="19"/>
                    <a:pt x="13" y="20"/>
                    <a:pt x="14" y="20"/>
                  </a:cubicBezTo>
                  <a:cubicBezTo>
                    <a:pt x="15" y="20"/>
                    <a:pt x="15" y="19"/>
                    <a:pt x="16" y="19"/>
                  </a:cubicBezTo>
                  <a:cubicBezTo>
                    <a:pt x="17" y="18"/>
                    <a:pt x="17" y="18"/>
                    <a:pt x="17" y="17"/>
                  </a:cubicBezTo>
                  <a:cubicBezTo>
                    <a:pt x="17" y="17"/>
                    <a:pt x="18" y="16"/>
                    <a:pt x="18" y="15"/>
                  </a:cubicBezTo>
                  <a:lnTo>
                    <a:pt x="10" y="1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0" name="îṥḻîďè">
              <a:extLst>
                <a:ext uri="{FF2B5EF4-FFF2-40B4-BE49-F238E27FC236}">
                  <a16:creationId xmlns:a16="http://schemas.microsoft.com/office/drawing/2014/main" id="{B005F17A-4F5E-2CD0-F744-72CC2A806C57}"/>
                </a:ext>
              </a:extLst>
            </p:cNvPr>
            <p:cNvSpPr/>
            <p:nvPr/>
          </p:nvSpPr>
          <p:spPr bwMode="auto">
            <a:xfrm>
              <a:off x="3503613" y="3867151"/>
              <a:ext cx="96838" cy="87313"/>
            </a:xfrm>
            <a:custGeom>
              <a:avLst/>
              <a:gdLst>
                <a:gd name="T0" fmla="*/ 55 w 61"/>
                <a:gd name="T1" fmla="*/ 55 h 55"/>
                <a:gd name="T2" fmla="*/ 16 w 61"/>
                <a:gd name="T3" fmla="*/ 25 h 55"/>
                <a:gd name="T4" fmla="*/ 7 w 61"/>
                <a:gd name="T5" fmla="*/ 37 h 55"/>
                <a:gd name="T6" fmla="*/ 0 w 61"/>
                <a:gd name="T7" fmla="*/ 30 h 55"/>
                <a:gd name="T8" fmla="*/ 25 w 61"/>
                <a:gd name="T9" fmla="*/ 0 h 55"/>
                <a:gd name="T10" fmla="*/ 32 w 61"/>
                <a:gd name="T11" fmla="*/ 5 h 55"/>
                <a:gd name="T12" fmla="*/ 23 w 61"/>
                <a:gd name="T13" fmla="*/ 16 h 55"/>
                <a:gd name="T14" fmla="*/ 61 w 61"/>
                <a:gd name="T15" fmla="*/ 48 h 55"/>
                <a:gd name="T16" fmla="*/ 55 w 61"/>
                <a:gd name="T17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55">
                  <a:moveTo>
                    <a:pt x="55" y="55"/>
                  </a:moveTo>
                  <a:lnTo>
                    <a:pt x="16" y="25"/>
                  </a:lnTo>
                  <a:lnTo>
                    <a:pt x="7" y="37"/>
                  </a:lnTo>
                  <a:lnTo>
                    <a:pt x="0" y="30"/>
                  </a:lnTo>
                  <a:lnTo>
                    <a:pt x="25" y="0"/>
                  </a:lnTo>
                  <a:lnTo>
                    <a:pt x="32" y="5"/>
                  </a:lnTo>
                  <a:lnTo>
                    <a:pt x="23" y="16"/>
                  </a:lnTo>
                  <a:lnTo>
                    <a:pt x="61" y="48"/>
                  </a:lnTo>
                  <a:lnTo>
                    <a:pt x="55" y="55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1" name="i$líḋé">
              <a:extLst>
                <a:ext uri="{FF2B5EF4-FFF2-40B4-BE49-F238E27FC236}">
                  <a16:creationId xmlns:a16="http://schemas.microsoft.com/office/drawing/2014/main" id="{32AB2D29-DC53-1272-A6FA-9ABBE6D2A3F4}"/>
                </a:ext>
              </a:extLst>
            </p:cNvPr>
            <p:cNvSpPr/>
            <p:nvPr/>
          </p:nvSpPr>
          <p:spPr bwMode="auto">
            <a:xfrm>
              <a:off x="3546475" y="3813176"/>
              <a:ext cx="109538" cy="101600"/>
            </a:xfrm>
            <a:custGeom>
              <a:avLst/>
              <a:gdLst>
                <a:gd name="T0" fmla="*/ 48 w 69"/>
                <a:gd name="T1" fmla="*/ 64 h 64"/>
                <a:gd name="T2" fmla="*/ 0 w 69"/>
                <a:gd name="T3" fmla="*/ 30 h 64"/>
                <a:gd name="T4" fmla="*/ 21 w 69"/>
                <a:gd name="T5" fmla="*/ 0 h 64"/>
                <a:gd name="T6" fmla="*/ 30 w 69"/>
                <a:gd name="T7" fmla="*/ 5 h 64"/>
                <a:gd name="T8" fmla="*/ 14 w 69"/>
                <a:gd name="T9" fmla="*/ 27 h 64"/>
                <a:gd name="T10" fmla="*/ 25 w 69"/>
                <a:gd name="T11" fmla="*/ 34 h 64"/>
                <a:gd name="T12" fmla="*/ 39 w 69"/>
                <a:gd name="T13" fmla="*/ 14 h 64"/>
                <a:gd name="T14" fmla="*/ 46 w 69"/>
                <a:gd name="T15" fmla="*/ 21 h 64"/>
                <a:gd name="T16" fmla="*/ 32 w 69"/>
                <a:gd name="T17" fmla="*/ 41 h 64"/>
                <a:gd name="T18" fmla="*/ 46 w 69"/>
                <a:gd name="T19" fmla="*/ 50 h 64"/>
                <a:gd name="T20" fmla="*/ 62 w 69"/>
                <a:gd name="T21" fmla="*/ 25 h 64"/>
                <a:gd name="T22" fmla="*/ 69 w 69"/>
                <a:gd name="T23" fmla="*/ 32 h 64"/>
                <a:gd name="T24" fmla="*/ 48 w 69"/>
                <a:gd name="T25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" h="64">
                  <a:moveTo>
                    <a:pt x="48" y="64"/>
                  </a:moveTo>
                  <a:lnTo>
                    <a:pt x="0" y="30"/>
                  </a:lnTo>
                  <a:lnTo>
                    <a:pt x="21" y="0"/>
                  </a:lnTo>
                  <a:lnTo>
                    <a:pt x="30" y="5"/>
                  </a:lnTo>
                  <a:lnTo>
                    <a:pt x="14" y="27"/>
                  </a:lnTo>
                  <a:lnTo>
                    <a:pt x="25" y="34"/>
                  </a:lnTo>
                  <a:lnTo>
                    <a:pt x="39" y="14"/>
                  </a:lnTo>
                  <a:lnTo>
                    <a:pt x="46" y="21"/>
                  </a:lnTo>
                  <a:lnTo>
                    <a:pt x="32" y="41"/>
                  </a:lnTo>
                  <a:lnTo>
                    <a:pt x="46" y="50"/>
                  </a:lnTo>
                  <a:lnTo>
                    <a:pt x="62" y="25"/>
                  </a:lnTo>
                  <a:lnTo>
                    <a:pt x="69" y="32"/>
                  </a:lnTo>
                  <a:lnTo>
                    <a:pt x="48" y="6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2" name="iṡľîḋê">
              <a:extLst>
                <a:ext uri="{FF2B5EF4-FFF2-40B4-BE49-F238E27FC236}">
                  <a16:creationId xmlns:a16="http://schemas.microsoft.com/office/drawing/2014/main" id="{A90684E4-7A21-C3BD-E7F4-C7A8002E3579}"/>
                </a:ext>
              </a:extLst>
            </p:cNvPr>
            <p:cNvSpPr/>
            <p:nvPr/>
          </p:nvSpPr>
          <p:spPr bwMode="auto">
            <a:xfrm>
              <a:off x="3594100" y="3754438"/>
              <a:ext cx="93663" cy="84138"/>
            </a:xfrm>
            <a:custGeom>
              <a:avLst/>
              <a:gdLst>
                <a:gd name="T0" fmla="*/ 19 w 26"/>
                <a:gd name="T1" fmla="*/ 9 h 23"/>
                <a:gd name="T2" fmla="*/ 22 w 26"/>
                <a:gd name="T3" fmla="*/ 6 h 23"/>
                <a:gd name="T4" fmla="*/ 26 w 26"/>
                <a:gd name="T5" fmla="*/ 12 h 23"/>
                <a:gd name="T6" fmla="*/ 25 w 26"/>
                <a:gd name="T7" fmla="*/ 18 h 23"/>
                <a:gd name="T8" fmla="*/ 19 w 26"/>
                <a:gd name="T9" fmla="*/ 22 h 23"/>
                <a:gd name="T10" fmla="*/ 9 w 26"/>
                <a:gd name="T11" fmla="*/ 20 h 23"/>
                <a:gd name="T12" fmla="*/ 1 w 26"/>
                <a:gd name="T13" fmla="*/ 13 h 23"/>
                <a:gd name="T14" fmla="*/ 2 w 26"/>
                <a:gd name="T15" fmla="*/ 5 h 23"/>
                <a:gd name="T16" fmla="*/ 7 w 26"/>
                <a:gd name="T17" fmla="*/ 0 h 23"/>
                <a:gd name="T18" fmla="*/ 13 w 26"/>
                <a:gd name="T19" fmla="*/ 1 h 23"/>
                <a:gd name="T20" fmla="*/ 12 w 26"/>
                <a:gd name="T21" fmla="*/ 5 h 23"/>
                <a:gd name="T22" fmla="*/ 8 w 26"/>
                <a:gd name="T23" fmla="*/ 5 h 23"/>
                <a:gd name="T24" fmla="*/ 6 w 26"/>
                <a:gd name="T25" fmla="*/ 7 h 23"/>
                <a:gd name="T26" fmla="*/ 6 w 26"/>
                <a:gd name="T27" fmla="*/ 11 h 23"/>
                <a:gd name="T28" fmla="*/ 11 w 26"/>
                <a:gd name="T29" fmla="*/ 16 h 23"/>
                <a:gd name="T30" fmla="*/ 17 w 26"/>
                <a:gd name="T31" fmla="*/ 18 h 23"/>
                <a:gd name="T32" fmla="*/ 21 w 26"/>
                <a:gd name="T33" fmla="*/ 16 h 23"/>
                <a:gd name="T34" fmla="*/ 21 w 26"/>
                <a:gd name="T35" fmla="*/ 12 h 23"/>
                <a:gd name="T36" fmla="*/ 19 w 26"/>
                <a:gd name="T37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" h="23">
                  <a:moveTo>
                    <a:pt x="19" y="9"/>
                  </a:moveTo>
                  <a:cubicBezTo>
                    <a:pt x="22" y="6"/>
                    <a:pt x="22" y="6"/>
                    <a:pt x="22" y="6"/>
                  </a:cubicBezTo>
                  <a:cubicBezTo>
                    <a:pt x="24" y="8"/>
                    <a:pt x="25" y="10"/>
                    <a:pt x="26" y="12"/>
                  </a:cubicBezTo>
                  <a:cubicBezTo>
                    <a:pt x="26" y="14"/>
                    <a:pt x="26" y="16"/>
                    <a:pt x="25" y="18"/>
                  </a:cubicBezTo>
                  <a:cubicBezTo>
                    <a:pt x="24" y="20"/>
                    <a:pt x="21" y="22"/>
                    <a:pt x="19" y="22"/>
                  </a:cubicBezTo>
                  <a:cubicBezTo>
                    <a:pt x="16" y="23"/>
                    <a:pt x="12" y="22"/>
                    <a:pt x="9" y="20"/>
                  </a:cubicBezTo>
                  <a:cubicBezTo>
                    <a:pt x="5" y="18"/>
                    <a:pt x="3" y="16"/>
                    <a:pt x="1" y="13"/>
                  </a:cubicBezTo>
                  <a:cubicBezTo>
                    <a:pt x="0" y="10"/>
                    <a:pt x="0" y="7"/>
                    <a:pt x="2" y="5"/>
                  </a:cubicBezTo>
                  <a:cubicBezTo>
                    <a:pt x="3" y="2"/>
                    <a:pt x="5" y="1"/>
                    <a:pt x="7" y="0"/>
                  </a:cubicBezTo>
                  <a:cubicBezTo>
                    <a:pt x="9" y="0"/>
                    <a:pt x="11" y="0"/>
                    <a:pt x="13" y="1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5" y="8"/>
                    <a:pt x="5" y="10"/>
                    <a:pt x="6" y="11"/>
                  </a:cubicBezTo>
                  <a:cubicBezTo>
                    <a:pt x="6" y="13"/>
                    <a:pt x="8" y="15"/>
                    <a:pt x="11" y="16"/>
                  </a:cubicBezTo>
                  <a:cubicBezTo>
                    <a:pt x="13" y="17"/>
                    <a:pt x="16" y="18"/>
                    <a:pt x="17" y="18"/>
                  </a:cubicBezTo>
                  <a:cubicBezTo>
                    <a:pt x="19" y="18"/>
                    <a:pt x="20" y="17"/>
                    <a:pt x="21" y="16"/>
                  </a:cubicBezTo>
                  <a:cubicBezTo>
                    <a:pt x="22" y="15"/>
                    <a:pt x="22" y="13"/>
                    <a:pt x="21" y="12"/>
                  </a:cubicBezTo>
                  <a:cubicBezTo>
                    <a:pt x="21" y="11"/>
                    <a:pt x="20" y="10"/>
                    <a:pt x="19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3" name="ïśḷîḍè">
              <a:extLst>
                <a:ext uri="{FF2B5EF4-FFF2-40B4-BE49-F238E27FC236}">
                  <a16:creationId xmlns:a16="http://schemas.microsoft.com/office/drawing/2014/main" id="{2820993C-8A9E-120F-BB8D-0F6F8C67BD47}"/>
                </a:ext>
              </a:extLst>
            </p:cNvPr>
            <p:cNvSpPr/>
            <p:nvPr/>
          </p:nvSpPr>
          <p:spPr bwMode="auto">
            <a:xfrm>
              <a:off x="3622675" y="3679826"/>
              <a:ext cx="107950" cy="93663"/>
            </a:xfrm>
            <a:custGeom>
              <a:avLst/>
              <a:gdLst>
                <a:gd name="T0" fmla="*/ 52 w 68"/>
                <a:gd name="T1" fmla="*/ 59 h 59"/>
                <a:gd name="T2" fmla="*/ 0 w 68"/>
                <a:gd name="T3" fmla="*/ 36 h 59"/>
                <a:gd name="T4" fmla="*/ 2 w 68"/>
                <a:gd name="T5" fmla="*/ 27 h 59"/>
                <a:gd name="T6" fmla="*/ 23 w 68"/>
                <a:gd name="T7" fmla="*/ 36 h 59"/>
                <a:gd name="T8" fmla="*/ 32 w 68"/>
                <a:gd name="T9" fmla="*/ 18 h 59"/>
                <a:gd name="T10" fmla="*/ 9 w 68"/>
                <a:gd name="T11" fmla="*/ 9 h 59"/>
                <a:gd name="T12" fmla="*/ 14 w 68"/>
                <a:gd name="T13" fmla="*/ 0 h 59"/>
                <a:gd name="T14" fmla="*/ 68 w 68"/>
                <a:gd name="T15" fmla="*/ 22 h 59"/>
                <a:gd name="T16" fmla="*/ 64 w 68"/>
                <a:gd name="T17" fmla="*/ 32 h 59"/>
                <a:gd name="T18" fmla="*/ 41 w 68"/>
                <a:gd name="T19" fmla="*/ 20 h 59"/>
                <a:gd name="T20" fmla="*/ 32 w 68"/>
                <a:gd name="T21" fmla="*/ 38 h 59"/>
                <a:gd name="T22" fmla="*/ 57 w 68"/>
                <a:gd name="T23" fmla="*/ 50 h 59"/>
                <a:gd name="T24" fmla="*/ 52 w 68"/>
                <a:gd name="T2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59">
                  <a:moveTo>
                    <a:pt x="52" y="59"/>
                  </a:moveTo>
                  <a:lnTo>
                    <a:pt x="0" y="36"/>
                  </a:lnTo>
                  <a:lnTo>
                    <a:pt x="2" y="27"/>
                  </a:lnTo>
                  <a:lnTo>
                    <a:pt x="23" y="36"/>
                  </a:lnTo>
                  <a:lnTo>
                    <a:pt x="32" y="18"/>
                  </a:lnTo>
                  <a:lnTo>
                    <a:pt x="9" y="9"/>
                  </a:lnTo>
                  <a:lnTo>
                    <a:pt x="14" y="0"/>
                  </a:lnTo>
                  <a:lnTo>
                    <a:pt x="68" y="22"/>
                  </a:lnTo>
                  <a:lnTo>
                    <a:pt x="64" y="32"/>
                  </a:lnTo>
                  <a:lnTo>
                    <a:pt x="41" y="20"/>
                  </a:lnTo>
                  <a:lnTo>
                    <a:pt x="32" y="38"/>
                  </a:lnTo>
                  <a:lnTo>
                    <a:pt x="57" y="50"/>
                  </a:lnTo>
                  <a:lnTo>
                    <a:pt x="52" y="5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4" name="íṣļíḓe">
              <a:extLst>
                <a:ext uri="{FF2B5EF4-FFF2-40B4-BE49-F238E27FC236}">
                  <a16:creationId xmlns:a16="http://schemas.microsoft.com/office/drawing/2014/main" id="{1DB3D17D-1C60-6696-30FE-909BE59061EF}"/>
                </a:ext>
              </a:extLst>
            </p:cNvPr>
            <p:cNvSpPr/>
            <p:nvPr/>
          </p:nvSpPr>
          <p:spPr bwMode="auto">
            <a:xfrm>
              <a:off x="3648075" y="3606801"/>
              <a:ext cx="107950" cy="87313"/>
            </a:xfrm>
            <a:custGeom>
              <a:avLst/>
              <a:gdLst>
                <a:gd name="T0" fmla="*/ 57 w 68"/>
                <a:gd name="T1" fmla="*/ 55 h 55"/>
                <a:gd name="T2" fmla="*/ 0 w 68"/>
                <a:gd name="T3" fmla="*/ 36 h 55"/>
                <a:gd name="T4" fmla="*/ 2 w 68"/>
                <a:gd name="T5" fmla="*/ 27 h 55"/>
                <a:gd name="T6" fmla="*/ 45 w 68"/>
                <a:gd name="T7" fmla="*/ 20 h 55"/>
                <a:gd name="T8" fmla="*/ 9 w 68"/>
                <a:gd name="T9" fmla="*/ 9 h 55"/>
                <a:gd name="T10" fmla="*/ 11 w 68"/>
                <a:gd name="T11" fmla="*/ 0 h 55"/>
                <a:gd name="T12" fmla="*/ 68 w 68"/>
                <a:gd name="T13" fmla="*/ 16 h 55"/>
                <a:gd name="T14" fmla="*/ 64 w 68"/>
                <a:gd name="T15" fmla="*/ 25 h 55"/>
                <a:gd name="T16" fmla="*/ 23 w 68"/>
                <a:gd name="T17" fmla="*/ 34 h 55"/>
                <a:gd name="T18" fmla="*/ 59 w 68"/>
                <a:gd name="T19" fmla="*/ 46 h 55"/>
                <a:gd name="T20" fmla="*/ 57 w 68"/>
                <a:gd name="T21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" h="55">
                  <a:moveTo>
                    <a:pt x="57" y="55"/>
                  </a:moveTo>
                  <a:lnTo>
                    <a:pt x="0" y="36"/>
                  </a:lnTo>
                  <a:lnTo>
                    <a:pt x="2" y="27"/>
                  </a:lnTo>
                  <a:lnTo>
                    <a:pt x="45" y="20"/>
                  </a:lnTo>
                  <a:lnTo>
                    <a:pt x="9" y="9"/>
                  </a:lnTo>
                  <a:lnTo>
                    <a:pt x="11" y="0"/>
                  </a:lnTo>
                  <a:lnTo>
                    <a:pt x="68" y="16"/>
                  </a:lnTo>
                  <a:lnTo>
                    <a:pt x="64" y="25"/>
                  </a:lnTo>
                  <a:lnTo>
                    <a:pt x="23" y="34"/>
                  </a:lnTo>
                  <a:lnTo>
                    <a:pt x="59" y="46"/>
                  </a:lnTo>
                  <a:lnTo>
                    <a:pt x="57" y="55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5" name="ïslïḓé">
              <a:extLst>
                <a:ext uri="{FF2B5EF4-FFF2-40B4-BE49-F238E27FC236}">
                  <a16:creationId xmlns:a16="http://schemas.microsoft.com/office/drawing/2014/main" id="{576F1EE3-2651-2B91-701F-68FA1B214D1B}"/>
                </a:ext>
              </a:extLst>
            </p:cNvPr>
            <p:cNvSpPr/>
            <p:nvPr/>
          </p:nvSpPr>
          <p:spPr bwMode="auto">
            <a:xfrm>
              <a:off x="3673475" y="3527426"/>
              <a:ext cx="96838" cy="79375"/>
            </a:xfrm>
            <a:custGeom>
              <a:avLst/>
              <a:gdLst>
                <a:gd name="T0" fmla="*/ 12 w 27"/>
                <a:gd name="T1" fmla="*/ 22 h 22"/>
                <a:gd name="T2" fmla="*/ 5 w 27"/>
                <a:gd name="T3" fmla="*/ 20 h 22"/>
                <a:gd name="T4" fmla="*/ 2 w 27"/>
                <a:gd name="T5" fmla="*/ 17 h 22"/>
                <a:gd name="T6" fmla="*/ 0 w 27"/>
                <a:gd name="T7" fmla="*/ 14 h 22"/>
                <a:gd name="T8" fmla="*/ 0 w 27"/>
                <a:gd name="T9" fmla="*/ 9 h 22"/>
                <a:gd name="T10" fmla="*/ 5 w 27"/>
                <a:gd name="T11" fmla="*/ 2 h 22"/>
                <a:gd name="T12" fmla="*/ 15 w 27"/>
                <a:gd name="T13" fmla="*/ 1 h 22"/>
                <a:gd name="T14" fmla="*/ 24 w 27"/>
                <a:gd name="T15" fmla="*/ 5 h 22"/>
                <a:gd name="T16" fmla="*/ 26 w 27"/>
                <a:gd name="T17" fmla="*/ 14 h 22"/>
                <a:gd name="T18" fmla="*/ 21 w 27"/>
                <a:gd name="T19" fmla="*/ 21 h 22"/>
                <a:gd name="T20" fmla="*/ 12 w 27"/>
                <a:gd name="T21" fmla="*/ 22 h 22"/>
                <a:gd name="T22" fmla="*/ 12 w 27"/>
                <a:gd name="T23" fmla="*/ 17 h 22"/>
                <a:gd name="T24" fmla="*/ 19 w 27"/>
                <a:gd name="T25" fmla="*/ 17 h 22"/>
                <a:gd name="T26" fmla="*/ 22 w 27"/>
                <a:gd name="T27" fmla="*/ 13 h 22"/>
                <a:gd name="T28" fmla="*/ 21 w 27"/>
                <a:gd name="T29" fmla="*/ 8 h 22"/>
                <a:gd name="T30" fmla="*/ 14 w 27"/>
                <a:gd name="T31" fmla="*/ 5 h 22"/>
                <a:gd name="T32" fmla="*/ 8 w 27"/>
                <a:gd name="T33" fmla="*/ 6 h 22"/>
                <a:gd name="T34" fmla="*/ 5 w 27"/>
                <a:gd name="T35" fmla="*/ 10 h 22"/>
                <a:gd name="T36" fmla="*/ 6 w 27"/>
                <a:gd name="T37" fmla="*/ 14 h 22"/>
                <a:gd name="T38" fmla="*/ 12 w 27"/>
                <a:gd name="T39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" h="22">
                  <a:moveTo>
                    <a:pt x="12" y="22"/>
                  </a:moveTo>
                  <a:cubicBezTo>
                    <a:pt x="9" y="21"/>
                    <a:pt x="7" y="21"/>
                    <a:pt x="5" y="20"/>
                  </a:cubicBezTo>
                  <a:cubicBezTo>
                    <a:pt x="4" y="19"/>
                    <a:pt x="3" y="18"/>
                    <a:pt x="2" y="17"/>
                  </a:cubicBezTo>
                  <a:cubicBezTo>
                    <a:pt x="1" y="16"/>
                    <a:pt x="1" y="15"/>
                    <a:pt x="0" y="14"/>
                  </a:cubicBezTo>
                  <a:cubicBezTo>
                    <a:pt x="0" y="12"/>
                    <a:pt x="0" y="11"/>
                    <a:pt x="0" y="9"/>
                  </a:cubicBezTo>
                  <a:cubicBezTo>
                    <a:pt x="1" y="6"/>
                    <a:pt x="2" y="4"/>
                    <a:pt x="5" y="2"/>
                  </a:cubicBezTo>
                  <a:cubicBezTo>
                    <a:pt x="8" y="1"/>
                    <a:pt x="11" y="0"/>
                    <a:pt x="15" y="1"/>
                  </a:cubicBezTo>
                  <a:cubicBezTo>
                    <a:pt x="19" y="2"/>
                    <a:pt x="22" y="3"/>
                    <a:pt x="24" y="5"/>
                  </a:cubicBezTo>
                  <a:cubicBezTo>
                    <a:pt x="26" y="8"/>
                    <a:pt x="27" y="10"/>
                    <a:pt x="26" y="14"/>
                  </a:cubicBezTo>
                  <a:cubicBezTo>
                    <a:pt x="26" y="17"/>
                    <a:pt x="24" y="19"/>
                    <a:pt x="21" y="21"/>
                  </a:cubicBezTo>
                  <a:cubicBezTo>
                    <a:pt x="19" y="22"/>
                    <a:pt x="16" y="22"/>
                    <a:pt x="12" y="22"/>
                  </a:cubicBezTo>
                  <a:close/>
                  <a:moveTo>
                    <a:pt x="12" y="17"/>
                  </a:moveTo>
                  <a:cubicBezTo>
                    <a:pt x="15" y="18"/>
                    <a:pt x="17" y="18"/>
                    <a:pt x="19" y="17"/>
                  </a:cubicBezTo>
                  <a:cubicBezTo>
                    <a:pt x="21" y="16"/>
                    <a:pt x="22" y="15"/>
                    <a:pt x="22" y="13"/>
                  </a:cubicBezTo>
                  <a:cubicBezTo>
                    <a:pt x="22" y="11"/>
                    <a:pt x="22" y="10"/>
                    <a:pt x="21" y="8"/>
                  </a:cubicBezTo>
                  <a:cubicBezTo>
                    <a:pt x="19" y="7"/>
                    <a:pt x="17" y="6"/>
                    <a:pt x="14" y="5"/>
                  </a:cubicBezTo>
                  <a:cubicBezTo>
                    <a:pt x="11" y="5"/>
                    <a:pt x="9" y="5"/>
                    <a:pt x="8" y="6"/>
                  </a:cubicBezTo>
                  <a:cubicBezTo>
                    <a:pt x="6" y="7"/>
                    <a:pt x="5" y="8"/>
                    <a:pt x="5" y="10"/>
                  </a:cubicBezTo>
                  <a:cubicBezTo>
                    <a:pt x="4" y="12"/>
                    <a:pt x="5" y="13"/>
                    <a:pt x="6" y="14"/>
                  </a:cubicBezTo>
                  <a:cubicBezTo>
                    <a:pt x="7" y="16"/>
                    <a:pt x="9" y="17"/>
                    <a:pt x="12" y="1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6" name="ïṣḻîḋé">
              <a:extLst>
                <a:ext uri="{FF2B5EF4-FFF2-40B4-BE49-F238E27FC236}">
                  <a16:creationId xmlns:a16="http://schemas.microsoft.com/office/drawing/2014/main" id="{B491D6CB-B2B3-4814-0C68-23AEEF0C2A2B}"/>
                </a:ext>
              </a:extLst>
            </p:cNvPr>
            <p:cNvSpPr/>
            <p:nvPr/>
          </p:nvSpPr>
          <p:spPr bwMode="auto">
            <a:xfrm>
              <a:off x="3684588" y="3465513"/>
              <a:ext cx="93663" cy="53975"/>
            </a:xfrm>
            <a:custGeom>
              <a:avLst/>
              <a:gdLst>
                <a:gd name="T0" fmla="*/ 57 w 59"/>
                <a:gd name="T1" fmla="*/ 34 h 34"/>
                <a:gd name="T2" fmla="*/ 0 w 59"/>
                <a:gd name="T3" fmla="*/ 30 h 34"/>
                <a:gd name="T4" fmla="*/ 0 w 59"/>
                <a:gd name="T5" fmla="*/ 20 h 34"/>
                <a:gd name="T6" fmla="*/ 47 w 59"/>
                <a:gd name="T7" fmla="*/ 23 h 34"/>
                <a:gd name="T8" fmla="*/ 50 w 59"/>
                <a:gd name="T9" fmla="*/ 0 h 34"/>
                <a:gd name="T10" fmla="*/ 59 w 59"/>
                <a:gd name="T11" fmla="*/ 0 h 34"/>
                <a:gd name="T12" fmla="*/ 57 w 59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34">
                  <a:moveTo>
                    <a:pt x="57" y="34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47" y="23"/>
                  </a:lnTo>
                  <a:lnTo>
                    <a:pt x="50" y="0"/>
                  </a:lnTo>
                  <a:lnTo>
                    <a:pt x="59" y="0"/>
                  </a:lnTo>
                  <a:lnTo>
                    <a:pt x="57" y="3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7" name="ïṥḷîḓè">
              <a:extLst>
                <a:ext uri="{FF2B5EF4-FFF2-40B4-BE49-F238E27FC236}">
                  <a16:creationId xmlns:a16="http://schemas.microsoft.com/office/drawing/2014/main" id="{41064502-35CB-C7F7-AC58-780557783B77}"/>
                </a:ext>
              </a:extLst>
            </p:cNvPr>
            <p:cNvSpPr/>
            <p:nvPr/>
          </p:nvSpPr>
          <p:spPr bwMode="auto">
            <a:xfrm>
              <a:off x="3684588" y="3375026"/>
              <a:ext cx="96838" cy="76200"/>
            </a:xfrm>
            <a:custGeom>
              <a:avLst/>
              <a:gdLst>
                <a:gd name="T0" fmla="*/ 14 w 27"/>
                <a:gd name="T1" fmla="*/ 21 h 21"/>
                <a:gd name="T2" fmla="*/ 7 w 27"/>
                <a:gd name="T3" fmla="*/ 21 h 21"/>
                <a:gd name="T4" fmla="*/ 4 w 27"/>
                <a:gd name="T5" fmla="*/ 19 h 21"/>
                <a:gd name="T6" fmla="*/ 2 w 27"/>
                <a:gd name="T7" fmla="*/ 16 h 21"/>
                <a:gd name="T8" fmla="*/ 0 w 27"/>
                <a:gd name="T9" fmla="*/ 11 h 21"/>
                <a:gd name="T10" fmla="*/ 4 w 27"/>
                <a:gd name="T11" fmla="*/ 3 h 21"/>
                <a:gd name="T12" fmla="*/ 13 w 27"/>
                <a:gd name="T13" fmla="*/ 0 h 21"/>
                <a:gd name="T14" fmla="*/ 23 w 27"/>
                <a:gd name="T15" fmla="*/ 3 h 21"/>
                <a:gd name="T16" fmla="*/ 27 w 27"/>
                <a:gd name="T17" fmla="*/ 11 h 21"/>
                <a:gd name="T18" fmla="*/ 24 w 27"/>
                <a:gd name="T19" fmla="*/ 18 h 21"/>
                <a:gd name="T20" fmla="*/ 14 w 27"/>
                <a:gd name="T21" fmla="*/ 21 h 21"/>
                <a:gd name="T22" fmla="*/ 14 w 27"/>
                <a:gd name="T23" fmla="*/ 17 h 21"/>
                <a:gd name="T24" fmla="*/ 20 w 27"/>
                <a:gd name="T25" fmla="*/ 15 h 21"/>
                <a:gd name="T26" fmla="*/ 22 w 27"/>
                <a:gd name="T27" fmla="*/ 11 h 21"/>
                <a:gd name="T28" fmla="*/ 20 w 27"/>
                <a:gd name="T29" fmla="*/ 6 h 21"/>
                <a:gd name="T30" fmla="*/ 13 w 27"/>
                <a:gd name="T31" fmla="*/ 5 h 21"/>
                <a:gd name="T32" fmla="*/ 7 w 27"/>
                <a:gd name="T33" fmla="*/ 7 h 21"/>
                <a:gd name="T34" fmla="*/ 5 w 27"/>
                <a:gd name="T35" fmla="*/ 11 h 21"/>
                <a:gd name="T36" fmla="*/ 7 w 27"/>
                <a:gd name="T37" fmla="*/ 15 h 21"/>
                <a:gd name="T38" fmla="*/ 14 w 27"/>
                <a:gd name="T3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" h="21">
                  <a:moveTo>
                    <a:pt x="14" y="21"/>
                  </a:moveTo>
                  <a:cubicBezTo>
                    <a:pt x="11" y="21"/>
                    <a:pt x="9" y="21"/>
                    <a:pt x="7" y="21"/>
                  </a:cubicBezTo>
                  <a:cubicBezTo>
                    <a:pt x="6" y="20"/>
                    <a:pt x="5" y="19"/>
                    <a:pt x="4" y="19"/>
                  </a:cubicBezTo>
                  <a:cubicBezTo>
                    <a:pt x="3" y="18"/>
                    <a:pt x="2" y="17"/>
                    <a:pt x="2" y="16"/>
                  </a:cubicBezTo>
                  <a:cubicBezTo>
                    <a:pt x="1" y="15"/>
                    <a:pt x="0" y="13"/>
                    <a:pt x="0" y="11"/>
                  </a:cubicBezTo>
                  <a:cubicBezTo>
                    <a:pt x="0" y="8"/>
                    <a:pt x="1" y="5"/>
                    <a:pt x="4" y="3"/>
                  </a:cubicBezTo>
                  <a:cubicBezTo>
                    <a:pt x="6" y="1"/>
                    <a:pt x="9" y="0"/>
                    <a:pt x="13" y="0"/>
                  </a:cubicBezTo>
                  <a:cubicBezTo>
                    <a:pt x="18" y="0"/>
                    <a:pt x="21" y="1"/>
                    <a:pt x="23" y="3"/>
                  </a:cubicBezTo>
                  <a:cubicBezTo>
                    <a:pt x="26" y="5"/>
                    <a:pt x="27" y="7"/>
                    <a:pt x="27" y="11"/>
                  </a:cubicBezTo>
                  <a:cubicBezTo>
                    <a:pt x="27" y="14"/>
                    <a:pt x="26" y="16"/>
                    <a:pt x="24" y="18"/>
                  </a:cubicBezTo>
                  <a:cubicBezTo>
                    <a:pt x="21" y="20"/>
                    <a:pt x="18" y="21"/>
                    <a:pt x="14" y="21"/>
                  </a:cubicBezTo>
                  <a:close/>
                  <a:moveTo>
                    <a:pt x="14" y="17"/>
                  </a:moveTo>
                  <a:cubicBezTo>
                    <a:pt x="17" y="17"/>
                    <a:pt x="19" y="16"/>
                    <a:pt x="20" y="15"/>
                  </a:cubicBezTo>
                  <a:cubicBezTo>
                    <a:pt x="22" y="14"/>
                    <a:pt x="22" y="12"/>
                    <a:pt x="22" y="11"/>
                  </a:cubicBezTo>
                  <a:cubicBezTo>
                    <a:pt x="22" y="9"/>
                    <a:pt x="22" y="8"/>
                    <a:pt x="20" y="6"/>
                  </a:cubicBezTo>
                  <a:cubicBezTo>
                    <a:pt x="19" y="5"/>
                    <a:pt x="16" y="5"/>
                    <a:pt x="13" y="5"/>
                  </a:cubicBezTo>
                  <a:cubicBezTo>
                    <a:pt x="10" y="5"/>
                    <a:pt x="8" y="6"/>
                    <a:pt x="7" y="7"/>
                  </a:cubicBezTo>
                  <a:cubicBezTo>
                    <a:pt x="5" y="8"/>
                    <a:pt x="5" y="9"/>
                    <a:pt x="5" y="11"/>
                  </a:cubicBezTo>
                  <a:cubicBezTo>
                    <a:pt x="5" y="13"/>
                    <a:pt x="6" y="14"/>
                    <a:pt x="7" y="15"/>
                  </a:cubicBezTo>
                  <a:cubicBezTo>
                    <a:pt x="9" y="16"/>
                    <a:pt x="11" y="17"/>
                    <a:pt x="14" y="1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8" name="iṥḷíďè">
              <a:extLst>
                <a:ext uri="{FF2B5EF4-FFF2-40B4-BE49-F238E27FC236}">
                  <a16:creationId xmlns:a16="http://schemas.microsoft.com/office/drawing/2014/main" id="{66C87D98-138C-E487-D523-9684282CA5B9}"/>
                </a:ext>
              </a:extLst>
            </p:cNvPr>
            <p:cNvSpPr/>
            <p:nvPr/>
          </p:nvSpPr>
          <p:spPr bwMode="auto">
            <a:xfrm>
              <a:off x="3676650" y="3287713"/>
              <a:ext cx="98425" cy="79375"/>
            </a:xfrm>
            <a:custGeom>
              <a:avLst/>
              <a:gdLst>
                <a:gd name="T0" fmla="*/ 17 w 27"/>
                <a:gd name="T1" fmla="*/ 10 h 22"/>
                <a:gd name="T2" fmla="*/ 13 w 27"/>
                <a:gd name="T3" fmla="*/ 11 h 22"/>
                <a:gd name="T4" fmla="*/ 12 w 27"/>
                <a:gd name="T5" fmla="*/ 1 h 22"/>
                <a:gd name="T6" fmla="*/ 22 w 27"/>
                <a:gd name="T7" fmla="*/ 0 h 22"/>
                <a:gd name="T8" fmla="*/ 25 w 27"/>
                <a:gd name="T9" fmla="*/ 4 h 22"/>
                <a:gd name="T10" fmla="*/ 27 w 27"/>
                <a:gd name="T11" fmla="*/ 9 h 22"/>
                <a:gd name="T12" fmla="*/ 26 w 27"/>
                <a:gd name="T13" fmla="*/ 15 h 22"/>
                <a:gd name="T14" fmla="*/ 22 w 27"/>
                <a:gd name="T15" fmla="*/ 19 h 22"/>
                <a:gd name="T16" fmla="*/ 15 w 27"/>
                <a:gd name="T17" fmla="*/ 21 h 22"/>
                <a:gd name="T18" fmla="*/ 8 w 27"/>
                <a:gd name="T19" fmla="*/ 21 h 22"/>
                <a:gd name="T20" fmla="*/ 3 w 27"/>
                <a:gd name="T21" fmla="*/ 17 h 22"/>
                <a:gd name="T22" fmla="*/ 1 w 27"/>
                <a:gd name="T23" fmla="*/ 12 h 22"/>
                <a:gd name="T24" fmla="*/ 2 w 27"/>
                <a:gd name="T25" fmla="*/ 6 h 22"/>
                <a:gd name="T26" fmla="*/ 7 w 27"/>
                <a:gd name="T27" fmla="*/ 2 h 22"/>
                <a:gd name="T28" fmla="*/ 8 w 27"/>
                <a:gd name="T29" fmla="*/ 7 h 22"/>
                <a:gd name="T30" fmla="*/ 6 w 27"/>
                <a:gd name="T31" fmla="*/ 9 h 22"/>
                <a:gd name="T32" fmla="*/ 5 w 27"/>
                <a:gd name="T33" fmla="*/ 12 h 22"/>
                <a:gd name="T34" fmla="*/ 8 w 27"/>
                <a:gd name="T35" fmla="*/ 16 h 22"/>
                <a:gd name="T36" fmla="*/ 14 w 27"/>
                <a:gd name="T37" fmla="*/ 17 h 22"/>
                <a:gd name="T38" fmla="*/ 21 w 27"/>
                <a:gd name="T39" fmla="*/ 14 h 22"/>
                <a:gd name="T40" fmla="*/ 22 w 27"/>
                <a:gd name="T41" fmla="*/ 10 h 22"/>
                <a:gd name="T42" fmla="*/ 21 w 27"/>
                <a:gd name="T43" fmla="*/ 7 h 22"/>
                <a:gd name="T44" fmla="*/ 20 w 27"/>
                <a:gd name="T45" fmla="*/ 5 h 22"/>
                <a:gd name="T46" fmla="*/ 16 w 27"/>
                <a:gd name="T47" fmla="*/ 5 h 22"/>
                <a:gd name="T48" fmla="*/ 17 w 27"/>
                <a:gd name="T49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" h="22">
                  <a:moveTo>
                    <a:pt x="17" y="10"/>
                  </a:moveTo>
                  <a:cubicBezTo>
                    <a:pt x="13" y="11"/>
                    <a:pt x="13" y="11"/>
                    <a:pt x="13" y="1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3" y="1"/>
                    <a:pt x="24" y="2"/>
                    <a:pt x="25" y="4"/>
                  </a:cubicBezTo>
                  <a:cubicBezTo>
                    <a:pt x="26" y="5"/>
                    <a:pt x="27" y="7"/>
                    <a:pt x="27" y="9"/>
                  </a:cubicBezTo>
                  <a:cubicBezTo>
                    <a:pt x="27" y="11"/>
                    <a:pt x="27" y="13"/>
                    <a:pt x="26" y="15"/>
                  </a:cubicBezTo>
                  <a:cubicBezTo>
                    <a:pt x="25" y="17"/>
                    <a:pt x="24" y="18"/>
                    <a:pt x="22" y="19"/>
                  </a:cubicBezTo>
                  <a:cubicBezTo>
                    <a:pt x="20" y="20"/>
                    <a:pt x="18" y="21"/>
                    <a:pt x="15" y="21"/>
                  </a:cubicBezTo>
                  <a:cubicBezTo>
                    <a:pt x="12" y="22"/>
                    <a:pt x="10" y="22"/>
                    <a:pt x="8" y="21"/>
                  </a:cubicBezTo>
                  <a:cubicBezTo>
                    <a:pt x="6" y="20"/>
                    <a:pt x="4" y="19"/>
                    <a:pt x="3" y="17"/>
                  </a:cubicBezTo>
                  <a:cubicBezTo>
                    <a:pt x="2" y="16"/>
                    <a:pt x="1" y="15"/>
                    <a:pt x="1" y="12"/>
                  </a:cubicBezTo>
                  <a:cubicBezTo>
                    <a:pt x="0" y="10"/>
                    <a:pt x="1" y="8"/>
                    <a:pt x="2" y="6"/>
                  </a:cubicBezTo>
                  <a:cubicBezTo>
                    <a:pt x="3" y="4"/>
                    <a:pt x="5" y="3"/>
                    <a:pt x="7" y="2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7" y="7"/>
                    <a:pt x="6" y="8"/>
                    <a:pt x="6" y="9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4"/>
                    <a:pt x="6" y="15"/>
                    <a:pt x="8" y="16"/>
                  </a:cubicBezTo>
                  <a:cubicBezTo>
                    <a:pt x="9" y="17"/>
                    <a:pt x="12" y="17"/>
                    <a:pt x="14" y="17"/>
                  </a:cubicBezTo>
                  <a:cubicBezTo>
                    <a:pt x="17" y="17"/>
                    <a:pt x="19" y="16"/>
                    <a:pt x="21" y="14"/>
                  </a:cubicBezTo>
                  <a:cubicBezTo>
                    <a:pt x="22" y="13"/>
                    <a:pt x="23" y="11"/>
                    <a:pt x="22" y="10"/>
                  </a:cubicBezTo>
                  <a:cubicBezTo>
                    <a:pt x="22" y="9"/>
                    <a:pt x="22" y="8"/>
                    <a:pt x="21" y="7"/>
                  </a:cubicBezTo>
                  <a:cubicBezTo>
                    <a:pt x="21" y="6"/>
                    <a:pt x="20" y="5"/>
                    <a:pt x="20" y="5"/>
                  </a:cubicBezTo>
                  <a:cubicBezTo>
                    <a:pt x="16" y="5"/>
                    <a:pt x="16" y="5"/>
                    <a:pt x="16" y="5"/>
                  </a:cubicBezTo>
                  <a:lnTo>
                    <a:pt x="17" y="1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9" name="ïş1ídè">
              <a:extLst>
                <a:ext uri="{FF2B5EF4-FFF2-40B4-BE49-F238E27FC236}">
                  <a16:creationId xmlns:a16="http://schemas.microsoft.com/office/drawing/2014/main" id="{2829CD61-BFA0-C3B3-4B7E-5BB2A39DC58A}"/>
                </a:ext>
              </a:extLst>
            </p:cNvPr>
            <p:cNvSpPr/>
            <p:nvPr/>
          </p:nvSpPr>
          <p:spPr bwMode="auto">
            <a:xfrm>
              <a:off x="3659188" y="3225801"/>
              <a:ext cx="100013" cy="69850"/>
            </a:xfrm>
            <a:custGeom>
              <a:avLst/>
              <a:gdLst>
                <a:gd name="T0" fmla="*/ 63 w 63"/>
                <a:gd name="T1" fmla="*/ 14 h 44"/>
                <a:gd name="T2" fmla="*/ 38 w 63"/>
                <a:gd name="T3" fmla="*/ 18 h 44"/>
                <a:gd name="T4" fmla="*/ 11 w 63"/>
                <a:gd name="T5" fmla="*/ 44 h 44"/>
                <a:gd name="T6" fmla="*/ 7 w 63"/>
                <a:gd name="T7" fmla="*/ 32 h 44"/>
                <a:gd name="T8" fmla="*/ 27 w 63"/>
                <a:gd name="T9" fmla="*/ 16 h 44"/>
                <a:gd name="T10" fmla="*/ 2 w 63"/>
                <a:gd name="T11" fmla="*/ 9 h 44"/>
                <a:gd name="T12" fmla="*/ 0 w 63"/>
                <a:gd name="T13" fmla="*/ 0 h 44"/>
                <a:gd name="T14" fmla="*/ 36 w 63"/>
                <a:gd name="T15" fmla="*/ 9 h 44"/>
                <a:gd name="T16" fmla="*/ 61 w 63"/>
                <a:gd name="T17" fmla="*/ 2 h 44"/>
                <a:gd name="T18" fmla="*/ 63 w 63"/>
                <a:gd name="T19" fmla="*/ 1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3" h="44">
                  <a:moveTo>
                    <a:pt x="63" y="14"/>
                  </a:moveTo>
                  <a:lnTo>
                    <a:pt x="38" y="18"/>
                  </a:lnTo>
                  <a:lnTo>
                    <a:pt x="11" y="44"/>
                  </a:lnTo>
                  <a:lnTo>
                    <a:pt x="7" y="32"/>
                  </a:lnTo>
                  <a:lnTo>
                    <a:pt x="27" y="16"/>
                  </a:lnTo>
                  <a:lnTo>
                    <a:pt x="2" y="9"/>
                  </a:lnTo>
                  <a:lnTo>
                    <a:pt x="0" y="0"/>
                  </a:lnTo>
                  <a:lnTo>
                    <a:pt x="36" y="9"/>
                  </a:lnTo>
                  <a:lnTo>
                    <a:pt x="61" y="2"/>
                  </a:lnTo>
                  <a:lnTo>
                    <a:pt x="63" y="1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0" name="îŝļiḑe">
              <a:extLst>
                <a:ext uri="{FF2B5EF4-FFF2-40B4-BE49-F238E27FC236}">
                  <a16:creationId xmlns:a16="http://schemas.microsoft.com/office/drawing/2014/main" id="{625EE407-D0F0-A4D8-240C-456A6216A26C}"/>
                </a:ext>
              </a:extLst>
            </p:cNvPr>
            <p:cNvSpPr/>
            <p:nvPr/>
          </p:nvSpPr>
          <p:spPr bwMode="auto">
            <a:xfrm>
              <a:off x="2967038" y="3346451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1" name="í$ļïḓé">
              <a:extLst>
                <a:ext uri="{FF2B5EF4-FFF2-40B4-BE49-F238E27FC236}">
                  <a16:creationId xmlns:a16="http://schemas.microsoft.com/office/drawing/2014/main" id="{CB7644ED-54BA-E53C-CE05-8158552C83DF}"/>
                </a:ext>
              </a:extLst>
            </p:cNvPr>
            <p:cNvSpPr/>
            <p:nvPr/>
          </p:nvSpPr>
          <p:spPr bwMode="auto">
            <a:xfrm>
              <a:off x="2967038" y="3346451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2" name="i$1iďê">
              <a:extLst>
                <a:ext uri="{FF2B5EF4-FFF2-40B4-BE49-F238E27FC236}">
                  <a16:creationId xmlns:a16="http://schemas.microsoft.com/office/drawing/2014/main" id="{7A8213F7-6B62-4A7A-4A76-6E984FAB9D49}"/>
                </a:ext>
              </a:extLst>
            </p:cNvPr>
            <p:cNvSpPr/>
            <p:nvPr/>
          </p:nvSpPr>
          <p:spPr bwMode="auto">
            <a:xfrm>
              <a:off x="2768600" y="3592513"/>
              <a:ext cx="42863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3" name="îšḷiḍe">
              <a:extLst>
                <a:ext uri="{FF2B5EF4-FFF2-40B4-BE49-F238E27FC236}">
                  <a16:creationId xmlns:a16="http://schemas.microsoft.com/office/drawing/2014/main" id="{F868CE21-5E90-7A92-4C2F-6491270F91D8}"/>
                </a:ext>
              </a:extLst>
            </p:cNvPr>
            <p:cNvSpPr/>
            <p:nvPr/>
          </p:nvSpPr>
          <p:spPr bwMode="auto">
            <a:xfrm>
              <a:off x="3121025" y="3592513"/>
              <a:ext cx="44450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4" name="íṥlïdê">
              <a:extLst>
                <a:ext uri="{FF2B5EF4-FFF2-40B4-BE49-F238E27FC236}">
                  <a16:creationId xmlns:a16="http://schemas.microsoft.com/office/drawing/2014/main" id="{92C3E46F-D149-DBAF-2089-1E4ED880476A}"/>
                </a:ext>
              </a:extLst>
            </p:cNvPr>
            <p:cNvSpPr/>
            <p:nvPr/>
          </p:nvSpPr>
          <p:spPr bwMode="auto">
            <a:xfrm>
              <a:off x="2871788" y="3592513"/>
              <a:ext cx="44450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5" name="íśľîďé">
              <a:extLst>
                <a:ext uri="{FF2B5EF4-FFF2-40B4-BE49-F238E27FC236}">
                  <a16:creationId xmlns:a16="http://schemas.microsoft.com/office/drawing/2014/main" id="{2AEC2632-39A7-3349-9738-404C0263D74C}"/>
                </a:ext>
              </a:extLst>
            </p:cNvPr>
            <p:cNvSpPr/>
            <p:nvPr/>
          </p:nvSpPr>
          <p:spPr bwMode="auto">
            <a:xfrm>
              <a:off x="3021013" y="3592513"/>
              <a:ext cx="42863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6" name="iŝḻîdé">
              <a:extLst>
                <a:ext uri="{FF2B5EF4-FFF2-40B4-BE49-F238E27FC236}">
                  <a16:creationId xmlns:a16="http://schemas.microsoft.com/office/drawing/2014/main" id="{5C6B6E80-97C4-5247-33BD-5F9B0FE263BD}"/>
                </a:ext>
              </a:extLst>
            </p:cNvPr>
            <p:cNvSpPr/>
            <p:nvPr/>
          </p:nvSpPr>
          <p:spPr bwMode="auto">
            <a:xfrm>
              <a:off x="2768600" y="3482976"/>
              <a:ext cx="396875" cy="109538"/>
            </a:xfrm>
            <a:custGeom>
              <a:avLst/>
              <a:gdLst>
                <a:gd name="T0" fmla="*/ 250 w 250"/>
                <a:gd name="T1" fmla="*/ 0 h 69"/>
                <a:gd name="T2" fmla="*/ 225 w 250"/>
                <a:gd name="T3" fmla="*/ 0 h 69"/>
                <a:gd name="T4" fmla="*/ 225 w 250"/>
                <a:gd name="T5" fmla="*/ 5 h 69"/>
                <a:gd name="T6" fmla="*/ 222 w 250"/>
                <a:gd name="T7" fmla="*/ 5 h 69"/>
                <a:gd name="T8" fmla="*/ 222 w 250"/>
                <a:gd name="T9" fmla="*/ 0 h 69"/>
                <a:gd name="T10" fmla="*/ 186 w 250"/>
                <a:gd name="T11" fmla="*/ 0 h 69"/>
                <a:gd name="T12" fmla="*/ 186 w 250"/>
                <a:gd name="T13" fmla="*/ 5 h 69"/>
                <a:gd name="T14" fmla="*/ 184 w 250"/>
                <a:gd name="T15" fmla="*/ 5 h 69"/>
                <a:gd name="T16" fmla="*/ 184 w 250"/>
                <a:gd name="T17" fmla="*/ 0 h 69"/>
                <a:gd name="T18" fmla="*/ 161 w 250"/>
                <a:gd name="T19" fmla="*/ 0 h 69"/>
                <a:gd name="T20" fmla="*/ 161 w 250"/>
                <a:gd name="T21" fmla="*/ 5 h 69"/>
                <a:gd name="T22" fmla="*/ 159 w 250"/>
                <a:gd name="T23" fmla="*/ 5 h 69"/>
                <a:gd name="T24" fmla="*/ 159 w 250"/>
                <a:gd name="T25" fmla="*/ 0 h 69"/>
                <a:gd name="T26" fmla="*/ 93 w 250"/>
                <a:gd name="T27" fmla="*/ 0 h 69"/>
                <a:gd name="T28" fmla="*/ 93 w 250"/>
                <a:gd name="T29" fmla="*/ 5 h 69"/>
                <a:gd name="T30" fmla="*/ 90 w 250"/>
                <a:gd name="T31" fmla="*/ 5 h 69"/>
                <a:gd name="T32" fmla="*/ 90 w 250"/>
                <a:gd name="T33" fmla="*/ 0 h 69"/>
                <a:gd name="T34" fmla="*/ 65 w 250"/>
                <a:gd name="T35" fmla="*/ 0 h 69"/>
                <a:gd name="T36" fmla="*/ 65 w 250"/>
                <a:gd name="T37" fmla="*/ 5 h 69"/>
                <a:gd name="T38" fmla="*/ 65 w 250"/>
                <a:gd name="T39" fmla="*/ 5 h 69"/>
                <a:gd name="T40" fmla="*/ 65 w 250"/>
                <a:gd name="T41" fmla="*/ 0 h 69"/>
                <a:gd name="T42" fmla="*/ 27 w 250"/>
                <a:gd name="T43" fmla="*/ 0 h 69"/>
                <a:gd name="T44" fmla="*/ 27 w 250"/>
                <a:gd name="T45" fmla="*/ 5 h 69"/>
                <a:gd name="T46" fmla="*/ 25 w 250"/>
                <a:gd name="T47" fmla="*/ 5 h 69"/>
                <a:gd name="T48" fmla="*/ 25 w 250"/>
                <a:gd name="T49" fmla="*/ 0 h 69"/>
                <a:gd name="T50" fmla="*/ 2 w 250"/>
                <a:gd name="T51" fmla="*/ 0 h 69"/>
                <a:gd name="T52" fmla="*/ 2 w 250"/>
                <a:gd name="T53" fmla="*/ 5 h 69"/>
                <a:gd name="T54" fmla="*/ 0 w 250"/>
                <a:gd name="T55" fmla="*/ 5 h 69"/>
                <a:gd name="T56" fmla="*/ 0 w 250"/>
                <a:gd name="T57" fmla="*/ 69 h 69"/>
                <a:gd name="T58" fmla="*/ 27 w 250"/>
                <a:gd name="T59" fmla="*/ 69 h 69"/>
                <a:gd name="T60" fmla="*/ 27 w 250"/>
                <a:gd name="T61" fmla="*/ 12 h 69"/>
                <a:gd name="T62" fmla="*/ 65 w 250"/>
                <a:gd name="T63" fmla="*/ 12 h 69"/>
                <a:gd name="T64" fmla="*/ 65 w 250"/>
                <a:gd name="T65" fmla="*/ 69 h 69"/>
                <a:gd name="T66" fmla="*/ 93 w 250"/>
                <a:gd name="T67" fmla="*/ 69 h 69"/>
                <a:gd name="T68" fmla="*/ 93 w 250"/>
                <a:gd name="T69" fmla="*/ 12 h 69"/>
                <a:gd name="T70" fmla="*/ 159 w 250"/>
                <a:gd name="T71" fmla="*/ 12 h 69"/>
                <a:gd name="T72" fmla="*/ 159 w 250"/>
                <a:gd name="T73" fmla="*/ 69 h 69"/>
                <a:gd name="T74" fmla="*/ 186 w 250"/>
                <a:gd name="T75" fmla="*/ 69 h 69"/>
                <a:gd name="T76" fmla="*/ 186 w 250"/>
                <a:gd name="T77" fmla="*/ 12 h 69"/>
                <a:gd name="T78" fmla="*/ 222 w 250"/>
                <a:gd name="T79" fmla="*/ 12 h 69"/>
                <a:gd name="T80" fmla="*/ 222 w 250"/>
                <a:gd name="T81" fmla="*/ 69 h 69"/>
                <a:gd name="T82" fmla="*/ 250 w 250"/>
                <a:gd name="T83" fmla="*/ 69 h 69"/>
                <a:gd name="T84" fmla="*/ 250 w 250"/>
                <a:gd name="T85" fmla="*/ 5 h 69"/>
                <a:gd name="T86" fmla="*/ 250 w 250"/>
                <a:gd name="T87" fmla="*/ 5 h 69"/>
                <a:gd name="T88" fmla="*/ 250 w 250"/>
                <a:gd name="T8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50" h="69">
                  <a:moveTo>
                    <a:pt x="250" y="0"/>
                  </a:moveTo>
                  <a:lnTo>
                    <a:pt x="225" y="0"/>
                  </a:lnTo>
                  <a:lnTo>
                    <a:pt x="225" y="5"/>
                  </a:lnTo>
                  <a:lnTo>
                    <a:pt x="222" y="5"/>
                  </a:lnTo>
                  <a:lnTo>
                    <a:pt x="222" y="0"/>
                  </a:lnTo>
                  <a:lnTo>
                    <a:pt x="186" y="0"/>
                  </a:lnTo>
                  <a:lnTo>
                    <a:pt x="186" y="5"/>
                  </a:lnTo>
                  <a:lnTo>
                    <a:pt x="184" y="5"/>
                  </a:lnTo>
                  <a:lnTo>
                    <a:pt x="184" y="0"/>
                  </a:lnTo>
                  <a:lnTo>
                    <a:pt x="161" y="0"/>
                  </a:lnTo>
                  <a:lnTo>
                    <a:pt x="161" y="5"/>
                  </a:lnTo>
                  <a:lnTo>
                    <a:pt x="159" y="5"/>
                  </a:lnTo>
                  <a:lnTo>
                    <a:pt x="159" y="0"/>
                  </a:lnTo>
                  <a:lnTo>
                    <a:pt x="93" y="0"/>
                  </a:lnTo>
                  <a:lnTo>
                    <a:pt x="93" y="5"/>
                  </a:lnTo>
                  <a:lnTo>
                    <a:pt x="90" y="5"/>
                  </a:lnTo>
                  <a:lnTo>
                    <a:pt x="90" y="0"/>
                  </a:lnTo>
                  <a:lnTo>
                    <a:pt x="65" y="0"/>
                  </a:lnTo>
                  <a:lnTo>
                    <a:pt x="65" y="5"/>
                  </a:lnTo>
                  <a:lnTo>
                    <a:pt x="65" y="5"/>
                  </a:lnTo>
                  <a:lnTo>
                    <a:pt x="65" y="0"/>
                  </a:lnTo>
                  <a:lnTo>
                    <a:pt x="27" y="0"/>
                  </a:lnTo>
                  <a:lnTo>
                    <a:pt x="27" y="5"/>
                  </a:lnTo>
                  <a:lnTo>
                    <a:pt x="25" y="5"/>
                  </a:lnTo>
                  <a:lnTo>
                    <a:pt x="25" y="0"/>
                  </a:lnTo>
                  <a:lnTo>
                    <a:pt x="2" y="0"/>
                  </a:lnTo>
                  <a:lnTo>
                    <a:pt x="2" y="5"/>
                  </a:lnTo>
                  <a:lnTo>
                    <a:pt x="0" y="5"/>
                  </a:lnTo>
                  <a:lnTo>
                    <a:pt x="0" y="69"/>
                  </a:lnTo>
                  <a:lnTo>
                    <a:pt x="27" y="69"/>
                  </a:lnTo>
                  <a:lnTo>
                    <a:pt x="27" y="12"/>
                  </a:lnTo>
                  <a:lnTo>
                    <a:pt x="65" y="12"/>
                  </a:lnTo>
                  <a:lnTo>
                    <a:pt x="65" y="69"/>
                  </a:lnTo>
                  <a:lnTo>
                    <a:pt x="93" y="69"/>
                  </a:lnTo>
                  <a:lnTo>
                    <a:pt x="93" y="12"/>
                  </a:lnTo>
                  <a:lnTo>
                    <a:pt x="159" y="12"/>
                  </a:lnTo>
                  <a:lnTo>
                    <a:pt x="159" y="69"/>
                  </a:lnTo>
                  <a:lnTo>
                    <a:pt x="186" y="69"/>
                  </a:lnTo>
                  <a:lnTo>
                    <a:pt x="186" y="12"/>
                  </a:lnTo>
                  <a:lnTo>
                    <a:pt x="222" y="12"/>
                  </a:lnTo>
                  <a:lnTo>
                    <a:pt x="222" y="69"/>
                  </a:lnTo>
                  <a:lnTo>
                    <a:pt x="250" y="69"/>
                  </a:lnTo>
                  <a:lnTo>
                    <a:pt x="250" y="5"/>
                  </a:lnTo>
                  <a:lnTo>
                    <a:pt x="250" y="5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7" name="ïsḷiḍé">
              <a:extLst>
                <a:ext uri="{FF2B5EF4-FFF2-40B4-BE49-F238E27FC236}">
                  <a16:creationId xmlns:a16="http://schemas.microsoft.com/office/drawing/2014/main" id="{48B1102B-347B-4D6D-A1BB-977FF3B5AD3C}"/>
                </a:ext>
              </a:extLst>
            </p:cNvPr>
            <p:cNvSpPr/>
            <p:nvPr/>
          </p:nvSpPr>
          <p:spPr bwMode="auto">
            <a:xfrm>
              <a:off x="2901950" y="3443288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1 w 1"/>
                <a:gd name="T8" fmla="*/ 0 w 1"/>
                <a:gd name="T9" fmla="*/ 0 w 1"/>
                <a:gd name="T10" fmla="*/ 0 w 1"/>
                <a:gd name="T11" fmla="*/ 0 w 1"/>
                <a:gd name="T12" fmla="*/ 1 w 1"/>
                <a:gd name="T1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8" name="íṧ1iďè">
              <a:extLst>
                <a:ext uri="{FF2B5EF4-FFF2-40B4-BE49-F238E27FC236}">
                  <a16:creationId xmlns:a16="http://schemas.microsoft.com/office/drawing/2014/main" id="{5F4027BD-02FA-A256-2D43-CA85B2963F57}"/>
                </a:ext>
              </a:extLst>
            </p:cNvPr>
            <p:cNvSpPr/>
            <p:nvPr/>
          </p:nvSpPr>
          <p:spPr bwMode="auto">
            <a:xfrm>
              <a:off x="2901950" y="3443288"/>
              <a:ext cx="0" cy="3175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1 h 1"/>
                <a:gd name="T4" fmla="*/ 0 h 1"/>
                <a:gd name="T5" fmla="*/ 0 h 1"/>
                <a:gd name="T6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9" name="îṩľíḓe">
              <a:extLst>
                <a:ext uri="{FF2B5EF4-FFF2-40B4-BE49-F238E27FC236}">
                  <a16:creationId xmlns:a16="http://schemas.microsoft.com/office/drawing/2014/main" id="{C75D6B14-2C81-115C-74B2-648D19C0CD68}"/>
                </a:ext>
              </a:extLst>
            </p:cNvPr>
            <p:cNvSpPr/>
            <p:nvPr/>
          </p:nvSpPr>
          <p:spPr bwMode="auto">
            <a:xfrm>
              <a:off x="2901950" y="3440113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1 w 1"/>
                <a:gd name="T8" fmla="*/ 1 w 1"/>
                <a:gd name="T9" fmla="*/ 1 w 1"/>
                <a:gd name="T10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0" name="ïṡ1ïḑé">
              <a:extLst>
                <a:ext uri="{FF2B5EF4-FFF2-40B4-BE49-F238E27FC236}">
                  <a16:creationId xmlns:a16="http://schemas.microsoft.com/office/drawing/2014/main" id="{BB521E10-DA58-FCE6-2085-293368D2841D}"/>
                </a:ext>
              </a:extLst>
            </p:cNvPr>
            <p:cNvSpPr/>
            <p:nvPr/>
          </p:nvSpPr>
          <p:spPr bwMode="auto">
            <a:xfrm>
              <a:off x="2905125" y="3446463"/>
              <a:ext cx="3175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0 w 1"/>
                <a:gd name="T4" fmla="*/ 1 w 1"/>
                <a:gd name="T5" fmla="*/ 1 w 1"/>
                <a:gd name="T6" fmla="*/ 1 w 1"/>
                <a:gd name="T7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1" name="iṡlíďe">
              <a:extLst>
                <a:ext uri="{FF2B5EF4-FFF2-40B4-BE49-F238E27FC236}">
                  <a16:creationId xmlns:a16="http://schemas.microsoft.com/office/drawing/2014/main" id="{D73D8C5C-56C4-EDED-779B-DD11A698FF57}"/>
                </a:ext>
              </a:extLst>
            </p:cNvPr>
            <p:cNvSpPr/>
            <p:nvPr/>
          </p:nvSpPr>
          <p:spPr bwMode="auto">
            <a:xfrm>
              <a:off x="2908300" y="3446463"/>
              <a:ext cx="3175" cy="4763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1 w 1"/>
                <a:gd name="T13" fmla="*/ 0 h 1"/>
                <a:gd name="T14" fmla="*/ 1 w 1"/>
                <a:gd name="T15" fmla="*/ 0 h 1"/>
                <a:gd name="T16" fmla="*/ 1 w 1"/>
                <a:gd name="T17" fmla="*/ 0 h 1"/>
                <a:gd name="T18" fmla="*/ 0 w 1"/>
                <a:gd name="T1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2" name="ïšḷiḍè">
              <a:extLst>
                <a:ext uri="{FF2B5EF4-FFF2-40B4-BE49-F238E27FC236}">
                  <a16:creationId xmlns:a16="http://schemas.microsoft.com/office/drawing/2014/main" id="{64BAEC53-ECD8-6E42-4B94-A271DC027260}"/>
                </a:ext>
              </a:extLst>
            </p:cNvPr>
            <p:cNvSpPr/>
            <p:nvPr/>
          </p:nvSpPr>
          <p:spPr bwMode="auto">
            <a:xfrm>
              <a:off x="2905125" y="3451226"/>
              <a:ext cx="0" cy="3175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1 h 1"/>
                <a:gd name="T4" fmla="*/ 1 h 1"/>
                <a:gd name="T5" fmla="*/ 1 h 1"/>
                <a:gd name="T6" fmla="*/ 0 h 1"/>
                <a:gd name="T7" fmla="*/ 0 h 1"/>
                <a:gd name="T8" fmla="*/ 0 h 1"/>
                <a:gd name="T9" fmla="*/ 0 h 1"/>
                <a:gd name="T10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  <a:cxn ang="0">
                  <a:pos x="0" y="T9"/>
                </a:cxn>
                <a:cxn ang="0">
                  <a:pos x="0" y="T1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3" name="í$1îḓè">
              <a:extLst>
                <a:ext uri="{FF2B5EF4-FFF2-40B4-BE49-F238E27FC236}">
                  <a16:creationId xmlns:a16="http://schemas.microsoft.com/office/drawing/2014/main" id="{F3DA2611-74B9-0123-1FCE-B741996E8F98}"/>
                </a:ext>
              </a:extLst>
            </p:cNvPr>
            <p:cNvSpPr/>
            <p:nvPr/>
          </p:nvSpPr>
          <p:spPr bwMode="auto">
            <a:xfrm>
              <a:off x="2857500" y="3446463"/>
              <a:ext cx="11113" cy="7938"/>
            </a:xfrm>
            <a:custGeom>
              <a:avLst/>
              <a:gdLst>
                <a:gd name="T0" fmla="*/ 2 w 3"/>
                <a:gd name="T1" fmla="*/ 1 h 2"/>
                <a:gd name="T2" fmla="*/ 1 w 3"/>
                <a:gd name="T3" fmla="*/ 1 h 2"/>
                <a:gd name="T4" fmla="*/ 1 w 3"/>
                <a:gd name="T5" fmla="*/ 1 h 2"/>
                <a:gd name="T6" fmla="*/ 1 w 3"/>
                <a:gd name="T7" fmla="*/ 1 h 2"/>
                <a:gd name="T8" fmla="*/ 1 w 3"/>
                <a:gd name="T9" fmla="*/ 1 h 2"/>
                <a:gd name="T10" fmla="*/ 1 w 3"/>
                <a:gd name="T11" fmla="*/ 0 h 2"/>
                <a:gd name="T12" fmla="*/ 1 w 3"/>
                <a:gd name="T13" fmla="*/ 0 h 2"/>
                <a:gd name="T14" fmla="*/ 1 w 3"/>
                <a:gd name="T15" fmla="*/ 0 h 2"/>
                <a:gd name="T16" fmla="*/ 1 w 3"/>
                <a:gd name="T17" fmla="*/ 0 h 2"/>
                <a:gd name="T18" fmla="*/ 1 w 3"/>
                <a:gd name="T19" fmla="*/ 0 h 2"/>
                <a:gd name="T20" fmla="*/ 1 w 3"/>
                <a:gd name="T21" fmla="*/ 0 h 2"/>
                <a:gd name="T22" fmla="*/ 1 w 3"/>
                <a:gd name="T23" fmla="*/ 0 h 2"/>
                <a:gd name="T24" fmla="*/ 1 w 3"/>
                <a:gd name="T25" fmla="*/ 0 h 2"/>
                <a:gd name="T26" fmla="*/ 1 w 3"/>
                <a:gd name="T27" fmla="*/ 0 h 2"/>
                <a:gd name="T28" fmla="*/ 0 w 3"/>
                <a:gd name="T29" fmla="*/ 0 h 2"/>
                <a:gd name="T30" fmla="*/ 0 w 3"/>
                <a:gd name="T31" fmla="*/ 0 h 2"/>
                <a:gd name="T32" fmla="*/ 0 w 3"/>
                <a:gd name="T33" fmla="*/ 0 h 2"/>
                <a:gd name="T34" fmla="*/ 0 w 3"/>
                <a:gd name="T35" fmla="*/ 0 h 2"/>
                <a:gd name="T36" fmla="*/ 0 w 3"/>
                <a:gd name="T37" fmla="*/ 0 h 2"/>
                <a:gd name="T38" fmla="*/ 1 w 3"/>
                <a:gd name="T39" fmla="*/ 1 h 2"/>
                <a:gd name="T40" fmla="*/ 1 w 3"/>
                <a:gd name="T41" fmla="*/ 1 h 2"/>
                <a:gd name="T42" fmla="*/ 1 w 3"/>
                <a:gd name="T43" fmla="*/ 1 h 2"/>
                <a:gd name="T44" fmla="*/ 1 w 3"/>
                <a:gd name="T45" fmla="*/ 2 h 2"/>
                <a:gd name="T46" fmla="*/ 1 w 3"/>
                <a:gd name="T47" fmla="*/ 1 h 2"/>
                <a:gd name="T48" fmla="*/ 2 w 3"/>
                <a:gd name="T49" fmla="*/ 1 h 2"/>
                <a:gd name="T50" fmla="*/ 2 w 3"/>
                <a:gd name="T51" fmla="*/ 1 h 2"/>
                <a:gd name="T52" fmla="*/ 2 w 3"/>
                <a:gd name="T53" fmla="*/ 1 h 2"/>
                <a:gd name="T54" fmla="*/ 3 w 3"/>
                <a:gd name="T55" fmla="*/ 1 h 2"/>
                <a:gd name="T56" fmla="*/ 3 w 3"/>
                <a:gd name="T57" fmla="*/ 1 h 2"/>
                <a:gd name="T58" fmla="*/ 2 w 3"/>
                <a:gd name="T59" fmla="*/ 1 h 2"/>
                <a:gd name="T60" fmla="*/ 2 w 3"/>
                <a:gd name="T61" fmla="*/ 1 h 2"/>
                <a:gd name="T62" fmla="*/ 2 w 3"/>
                <a:gd name="T63" fmla="*/ 1 h 2"/>
                <a:gd name="T64" fmla="*/ 2 w 3"/>
                <a:gd name="T6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" h="2">
                  <a:moveTo>
                    <a:pt x="2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2"/>
                    <a:pt x="1" y="2"/>
                  </a:cubicBezTo>
                  <a:cubicBezTo>
                    <a:pt x="1" y="2"/>
                    <a:pt x="1" y="1"/>
                    <a:pt x="1" y="1"/>
                  </a:cubicBezTo>
                  <a:cubicBezTo>
                    <a:pt x="1" y="1"/>
                    <a:pt x="2" y="1"/>
                    <a:pt x="2" y="1"/>
                  </a:cubicBezTo>
                  <a:cubicBezTo>
                    <a:pt x="2" y="2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4" name="î$ľidé">
              <a:extLst>
                <a:ext uri="{FF2B5EF4-FFF2-40B4-BE49-F238E27FC236}">
                  <a16:creationId xmlns:a16="http://schemas.microsoft.com/office/drawing/2014/main" id="{AFF2FC16-1EE3-912E-115A-CBF4847F6EE8}"/>
                </a:ext>
              </a:extLst>
            </p:cNvPr>
            <p:cNvSpPr/>
            <p:nvPr/>
          </p:nvSpPr>
          <p:spPr bwMode="auto">
            <a:xfrm>
              <a:off x="2908300" y="3451226"/>
              <a:ext cx="3175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0 w 1"/>
                <a:gd name="T4" fmla="*/ 0 w 1"/>
                <a:gd name="T5" fmla="*/ 0 w 1"/>
                <a:gd name="T6" fmla="*/ 0 w 1"/>
                <a:gd name="T7" fmla="*/ 1 w 1"/>
                <a:gd name="T8" fmla="*/ 1 w 1"/>
                <a:gd name="T9" fmla="*/ 1 w 1"/>
                <a:gd name="T10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5" name="išḻïďê">
              <a:extLst>
                <a:ext uri="{FF2B5EF4-FFF2-40B4-BE49-F238E27FC236}">
                  <a16:creationId xmlns:a16="http://schemas.microsoft.com/office/drawing/2014/main" id="{F3C3C0D2-9458-72B6-DF40-B19114EA4BC5}"/>
                </a:ext>
              </a:extLst>
            </p:cNvPr>
            <p:cNvSpPr/>
            <p:nvPr/>
          </p:nvSpPr>
          <p:spPr bwMode="auto">
            <a:xfrm>
              <a:off x="2822575" y="3440113"/>
              <a:ext cx="3175" cy="3175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  <a:gd name="T10" fmla="*/ 1 w 1"/>
                <a:gd name="T11" fmla="*/ 0 h 1"/>
                <a:gd name="T12" fmla="*/ 1 w 1"/>
                <a:gd name="T13" fmla="*/ 0 h 1"/>
                <a:gd name="T14" fmla="*/ 1 w 1"/>
                <a:gd name="T15" fmla="*/ 0 h 1"/>
                <a:gd name="T16" fmla="*/ 1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1 h 1"/>
                <a:gd name="T24" fmla="*/ 0 w 1"/>
                <a:gd name="T2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6" name="îSļíďê">
              <a:extLst>
                <a:ext uri="{FF2B5EF4-FFF2-40B4-BE49-F238E27FC236}">
                  <a16:creationId xmlns:a16="http://schemas.microsoft.com/office/drawing/2014/main" id="{C163E0C3-9D95-AE80-9F07-8CC8441E16EE}"/>
                </a:ext>
              </a:extLst>
            </p:cNvPr>
            <p:cNvSpPr/>
            <p:nvPr/>
          </p:nvSpPr>
          <p:spPr bwMode="auto">
            <a:xfrm>
              <a:off x="2817813" y="3440113"/>
              <a:ext cx="7938" cy="11113"/>
            </a:xfrm>
            <a:custGeom>
              <a:avLst/>
              <a:gdLst>
                <a:gd name="T0" fmla="*/ 0 w 2"/>
                <a:gd name="T1" fmla="*/ 2 h 3"/>
                <a:gd name="T2" fmla="*/ 0 w 2"/>
                <a:gd name="T3" fmla="*/ 2 h 3"/>
                <a:gd name="T4" fmla="*/ 1 w 2"/>
                <a:gd name="T5" fmla="*/ 3 h 3"/>
                <a:gd name="T6" fmla="*/ 1 w 2"/>
                <a:gd name="T7" fmla="*/ 3 h 3"/>
                <a:gd name="T8" fmla="*/ 1 w 2"/>
                <a:gd name="T9" fmla="*/ 3 h 3"/>
                <a:gd name="T10" fmla="*/ 1 w 2"/>
                <a:gd name="T11" fmla="*/ 2 h 3"/>
                <a:gd name="T12" fmla="*/ 2 w 2"/>
                <a:gd name="T13" fmla="*/ 2 h 3"/>
                <a:gd name="T14" fmla="*/ 2 w 2"/>
                <a:gd name="T15" fmla="*/ 2 h 3"/>
                <a:gd name="T16" fmla="*/ 2 w 2"/>
                <a:gd name="T17" fmla="*/ 2 h 3"/>
                <a:gd name="T18" fmla="*/ 2 w 2"/>
                <a:gd name="T19" fmla="*/ 2 h 3"/>
                <a:gd name="T20" fmla="*/ 2 w 2"/>
                <a:gd name="T21" fmla="*/ 2 h 3"/>
                <a:gd name="T22" fmla="*/ 2 w 2"/>
                <a:gd name="T23" fmla="*/ 2 h 3"/>
                <a:gd name="T24" fmla="*/ 2 w 2"/>
                <a:gd name="T25" fmla="*/ 2 h 3"/>
                <a:gd name="T26" fmla="*/ 1 w 2"/>
                <a:gd name="T27" fmla="*/ 2 h 3"/>
                <a:gd name="T28" fmla="*/ 1 w 2"/>
                <a:gd name="T29" fmla="*/ 2 h 3"/>
                <a:gd name="T30" fmla="*/ 1 w 2"/>
                <a:gd name="T31" fmla="*/ 2 h 3"/>
                <a:gd name="T32" fmla="*/ 1 w 2"/>
                <a:gd name="T33" fmla="*/ 2 h 3"/>
                <a:gd name="T34" fmla="*/ 1 w 2"/>
                <a:gd name="T35" fmla="*/ 1 h 3"/>
                <a:gd name="T36" fmla="*/ 1 w 2"/>
                <a:gd name="T37" fmla="*/ 1 h 3"/>
                <a:gd name="T38" fmla="*/ 1 w 2"/>
                <a:gd name="T39" fmla="*/ 0 h 3"/>
                <a:gd name="T40" fmla="*/ 0 w 2"/>
                <a:gd name="T41" fmla="*/ 0 h 3"/>
                <a:gd name="T42" fmla="*/ 0 w 2"/>
                <a:gd name="T43" fmla="*/ 0 h 3"/>
                <a:gd name="T44" fmla="*/ 0 w 2"/>
                <a:gd name="T45" fmla="*/ 1 h 3"/>
                <a:gd name="T46" fmla="*/ 0 w 2"/>
                <a:gd name="T4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" h="3"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7" name="íṧḻiḋe">
              <a:extLst>
                <a:ext uri="{FF2B5EF4-FFF2-40B4-BE49-F238E27FC236}">
                  <a16:creationId xmlns:a16="http://schemas.microsoft.com/office/drawing/2014/main" id="{A7F76B94-C659-90E9-B5E8-A9F767EFBCA5}"/>
                </a:ext>
              </a:extLst>
            </p:cNvPr>
            <p:cNvSpPr/>
            <p:nvPr/>
          </p:nvSpPr>
          <p:spPr bwMode="auto">
            <a:xfrm>
              <a:off x="2822575" y="344328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1 h 1"/>
                <a:gd name="T14" fmla="*/ 1 w 1"/>
                <a:gd name="T15" fmla="*/ 1 h 1"/>
                <a:gd name="T16" fmla="*/ 1 w 1"/>
                <a:gd name="T17" fmla="*/ 0 h 1"/>
                <a:gd name="T18" fmla="*/ 1 w 1"/>
                <a:gd name="T19" fmla="*/ 0 h 1"/>
                <a:gd name="T20" fmla="*/ 1 w 1"/>
                <a:gd name="T21" fmla="*/ 0 h 1"/>
                <a:gd name="T22" fmla="*/ 1 w 1"/>
                <a:gd name="T2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8" name="îṡ1iďé">
              <a:extLst>
                <a:ext uri="{FF2B5EF4-FFF2-40B4-BE49-F238E27FC236}">
                  <a16:creationId xmlns:a16="http://schemas.microsoft.com/office/drawing/2014/main" id="{2F9E554B-29FC-4548-7ADE-14EC005890D6}"/>
                </a:ext>
              </a:extLst>
            </p:cNvPr>
            <p:cNvSpPr/>
            <p:nvPr/>
          </p:nvSpPr>
          <p:spPr bwMode="auto">
            <a:xfrm>
              <a:off x="2828925" y="3432176"/>
              <a:ext cx="7938" cy="14288"/>
            </a:xfrm>
            <a:custGeom>
              <a:avLst/>
              <a:gdLst>
                <a:gd name="T0" fmla="*/ 1 w 2"/>
                <a:gd name="T1" fmla="*/ 0 h 4"/>
                <a:gd name="T2" fmla="*/ 1 w 2"/>
                <a:gd name="T3" fmla="*/ 0 h 4"/>
                <a:gd name="T4" fmla="*/ 1 w 2"/>
                <a:gd name="T5" fmla="*/ 0 h 4"/>
                <a:gd name="T6" fmla="*/ 0 w 2"/>
                <a:gd name="T7" fmla="*/ 0 h 4"/>
                <a:gd name="T8" fmla="*/ 0 w 2"/>
                <a:gd name="T9" fmla="*/ 0 h 4"/>
                <a:gd name="T10" fmla="*/ 0 w 2"/>
                <a:gd name="T11" fmla="*/ 0 h 4"/>
                <a:gd name="T12" fmla="*/ 0 w 2"/>
                <a:gd name="T13" fmla="*/ 0 h 4"/>
                <a:gd name="T14" fmla="*/ 0 w 2"/>
                <a:gd name="T15" fmla="*/ 0 h 4"/>
                <a:gd name="T16" fmla="*/ 0 w 2"/>
                <a:gd name="T17" fmla="*/ 0 h 4"/>
                <a:gd name="T18" fmla="*/ 0 w 2"/>
                <a:gd name="T19" fmla="*/ 0 h 4"/>
                <a:gd name="T20" fmla="*/ 0 w 2"/>
                <a:gd name="T21" fmla="*/ 0 h 4"/>
                <a:gd name="T22" fmla="*/ 1 w 2"/>
                <a:gd name="T23" fmla="*/ 1 h 4"/>
                <a:gd name="T24" fmla="*/ 1 w 2"/>
                <a:gd name="T25" fmla="*/ 1 h 4"/>
                <a:gd name="T26" fmla="*/ 1 w 2"/>
                <a:gd name="T27" fmla="*/ 1 h 4"/>
                <a:gd name="T28" fmla="*/ 0 w 2"/>
                <a:gd name="T29" fmla="*/ 1 h 4"/>
                <a:gd name="T30" fmla="*/ 0 w 2"/>
                <a:gd name="T31" fmla="*/ 1 h 4"/>
                <a:gd name="T32" fmla="*/ 0 w 2"/>
                <a:gd name="T33" fmla="*/ 1 h 4"/>
                <a:gd name="T34" fmla="*/ 0 w 2"/>
                <a:gd name="T35" fmla="*/ 1 h 4"/>
                <a:gd name="T36" fmla="*/ 0 w 2"/>
                <a:gd name="T37" fmla="*/ 1 h 4"/>
                <a:gd name="T38" fmla="*/ 0 w 2"/>
                <a:gd name="T39" fmla="*/ 1 h 4"/>
                <a:gd name="T40" fmla="*/ 1 w 2"/>
                <a:gd name="T41" fmla="*/ 1 h 4"/>
                <a:gd name="T42" fmla="*/ 1 w 2"/>
                <a:gd name="T43" fmla="*/ 1 h 4"/>
                <a:gd name="T44" fmla="*/ 1 w 2"/>
                <a:gd name="T45" fmla="*/ 1 h 4"/>
                <a:gd name="T46" fmla="*/ 1 w 2"/>
                <a:gd name="T47" fmla="*/ 2 h 4"/>
                <a:gd name="T48" fmla="*/ 1 w 2"/>
                <a:gd name="T49" fmla="*/ 2 h 4"/>
                <a:gd name="T50" fmla="*/ 1 w 2"/>
                <a:gd name="T51" fmla="*/ 3 h 4"/>
                <a:gd name="T52" fmla="*/ 1 w 2"/>
                <a:gd name="T53" fmla="*/ 3 h 4"/>
                <a:gd name="T54" fmla="*/ 1 w 2"/>
                <a:gd name="T55" fmla="*/ 3 h 4"/>
                <a:gd name="T56" fmla="*/ 1 w 2"/>
                <a:gd name="T57" fmla="*/ 3 h 4"/>
                <a:gd name="T58" fmla="*/ 1 w 2"/>
                <a:gd name="T59" fmla="*/ 4 h 4"/>
                <a:gd name="T60" fmla="*/ 1 w 2"/>
                <a:gd name="T61" fmla="*/ 4 h 4"/>
                <a:gd name="T62" fmla="*/ 1 w 2"/>
                <a:gd name="T63" fmla="*/ 4 h 4"/>
                <a:gd name="T64" fmla="*/ 1 w 2"/>
                <a:gd name="T65" fmla="*/ 4 h 4"/>
                <a:gd name="T66" fmla="*/ 2 w 2"/>
                <a:gd name="T67" fmla="*/ 4 h 4"/>
                <a:gd name="T68" fmla="*/ 2 w 2"/>
                <a:gd name="T69" fmla="*/ 3 h 4"/>
                <a:gd name="T70" fmla="*/ 2 w 2"/>
                <a:gd name="T71" fmla="*/ 2 h 4"/>
                <a:gd name="T72" fmla="*/ 2 w 2"/>
                <a:gd name="T73" fmla="*/ 2 h 4"/>
                <a:gd name="T74" fmla="*/ 2 w 2"/>
                <a:gd name="T75" fmla="*/ 1 h 4"/>
                <a:gd name="T76" fmla="*/ 2 w 2"/>
                <a:gd name="T77" fmla="*/ 1 h 4"/>
                <a:gd name="T78" fmla="*/ 2 w 2"/>
                <a:gd name="T79" fmla="*/ 0 h 4"/>
                <a:gd name="T80" fmla="*/ 1 w 2"/>
                <a:gd name="T8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2" y="4"/>
                    <a:pt x="2" y="4"/>
                  </a:cubicBezTo>
                  <a:cubicBezTo>
                    <a:pt x="2" y="4"/>
                    <a:pt x="2" y="3"/>
                    <a:pt x="2" y="3"/>
                  </a:cubicBezTo>
                  <a:cubicBezTo>
                    <a:pt x="2" y="3"/>
                    <a:pt x="2" y="3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9" name="ï$ḷïdè">
              <a:extLst>
                <a:ext uri="{FF2B5EF4-FFF2-40B4-BE49-F238E27FC236}">
                  <a16:creationId xmlns:a16="http://schemas.microsoft.com/office/drawing/2014/main" id="{E99BDECA-1322-00A5-3927-C308E50AE1BB}"/>
                </a:ext>
              </a:extLst>
            </p:cNvPr>
            <p:cNvSpPr/>
            <p:nvPr/>
          </p:nvSpPr>
          <p:spPr bwMode="auto">
            <a:xfrm>
              <a:off x="2817813" y="3451226"/>
              <a:ext cx="7938" cy="3175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0 h 1"/>
                <a:gd name="T4" fmla="*/ 2 w 2"/>
                <a:gd name="T5" fmla="*/ 0 h 1"/>
                <a:gd name="T6" fmla="*/ 2 w 2"/>
                <a:gd name="T7" fmla="*/ 0 h 1"/>
                <a:gd name="T8" fmla="*/ 2 w 2"/>
                <a:gd name="T9" fmla="*/ 0 h 1"/>
                <a:gd name="T10" fmla="*/ 2 w 2"/>
                <a:gd name="T11" fmla="*/ 0 h 1"/>
                <a:gd name="T12" fmla="*/ 1 w 2"/>
                <a:gd name="T13" fmla="*/ 0 h 1"/>
                <a:gd name="T14" fmla="*/ 1 w 2"/>
                <a:gd name="T15" fmla="*/ 0 h 1"/>
                <a:gd name="T16" fmla="*/ 1 w 2"/>
                <a:gd name="T17" fmla="*/ 0 h 1"/>
                <a:gd name="T18" fmla="*/ 1 w 2"/>
                <a:gd name="T19" fmla="*/ 0 h 1"/>
                <a:gd name="T20" fmla="*/ 1 w 2"/>
                <a:gd name="T21" fmla="*/ 0 h 1"/>
                <a:gd name="T22" fmla="*/ 0 w 2"/>
                <a:gd name="T23" fmla="*/ 0 h 1"/>
                <a:gd name="T24" fmla="*/ 0 w 2"/>
                <a:gd name="T25" fmla="*/ 0 h 1"/>
                <a:gd name="T26" fmla="*/ 0 w 2"/>
                <a:gd name="T27" fmla="*/ 0 h 1"/>
                <a:gd name="T28" fmla="*/ 0 w 2"/>
                <a:gd name="T29" fmla="*/ 0 h 1"/>
                <a:gd name="T30" fmla="*/ 0 w 2"/>
                <a:gd name="T31" fmla="*/ 1 h 1"/>
                <a:gd name="T32" fmla="*/ 0 w 2"/>
                <a:gd name="T33" fmla="*/ 1 h 1"/>
                <a:gd name="T34" fmla="*/ 1 w 2"/>
                <a:gd name="T35" fmla="*/ 1 h 1"/>
                <a:gd name="T36" fmla="*/ 1 w 2"/>
                <a:gd name="T37" fmla="*/ 1 h 1"/>
                <a:gd name="T38" fmla="*/ 1 w 2"/>
                <a:gd name="T39" fmla="*/ 1 h 1"/>
                <a:gd name="T40" fmla="*/ 2 w 2"/>
                <a:gd name="T41" fmla="*/ 1 h 1"/>
                <a:gd name="T42" fmla="*/ 2 w 2"/>
                <a:gd name="T43" fmla="*/ 1 h 1"/>
                <a:gd name="T44" fmla="*/ 2 w 2"/>
                <a:gd name="T45" fmla="*/ 1 h 1"/>
                <a:gd name="T46" fmla="*/ 2 w 2"/>
                <a:gd name="T47" fmla="*/ 0 h 1"/>
                <a:gd name="T48" fmla="*/ 2 w 2"/>
                <a:gd name="T4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0" name="işlîḋê">
              <a:extLst>
                <a:ext uri="{FF2B5EF4-FFF2-40B4-BE49-F238E27FC236}">
                  <a16:creationId xmlns:a16="http://schemas.microsoft.com/office/drawing/2014/main" id="{1338D772-9EFF-3E3E-3680-88732232A877}"/>
                </a:ext>
              </a:extLst>
            </p:cNvPr>
            <p:cNvSpPr/>
            <p:nvPr/>
          </p:nvSpPr>
          <p:spPr bwMode="auto">
            <a:xfrm>
              <a:off x="2828925" y="344011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1 h 1"/>
                <a:gd name="T16" fmla="*/ 0 w 1"/>
                <a:gd name="T17" fmla="*/ 1 h 1"/>
                <a:gd name="T18" fmla="*/ 0 w 1"/>
                <a:gd name="T19" fmla="*/ 1 h 1"/>
                <a:gd name="T20" fmla="*/ 0 w 1"/>
                <a:gd name="T21" fmla="*/ 1 h 1"/>
                <a:gd name="T22" fmla="*/ 0 w 1"/>
                <a:gd name="T23" fmla="*/ 1 h 1"/>
                <a:gd name="T24" fmla="*/ 0 w 1"/>
                <a:gd name="T25" fmla="*/ 1 h 1"/>
                <a:gd name="T26" fmla="*/ 0 w 1"/>
                <a:gd name="T27" fmla="*/ 1 h 1"/>
                <a:gd name="T28" fmla="*/ 0 w 1"/>
                <a:gd name="T29" fmla="*/ 1 h 1"/>
                <a:gd name="T30" fmla="*/ 1 w 1"/>
                <a:gd name="T31" fmla="*/ 0 h 1"/>
                <a:gd name="T32" fmla="*/ 1 w 1"/>
                <a:gd name="T33" fmla="*/ 0 h 1"/>
                <a:gd name="T34" fmla="*/ 1 w 1"/>
                <a:gd name="T35" fmla="*/ 0 h 1"/>
                <a:gd name="T36" fmla="*/ 1 w 1"/>
                <a:gd name="T3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1" name="işḻïḑè">
              <a:extLst>
                <a:ext uri="{FF2B5EF4-FFF2-40B4-BE49-F238E27FC236}">
                  <a16:creationId xmlns:a16="http://schemas.microsoft.com/office/drawing/2014/main" id="{E880FFEA-1F5A-337C-C2C3-FFCC83B2B9FC}"/>
                </a:ext>
              </a:extLst>
            </p:cNvPr>
            <p:cNvSpPr/>
            <p:nvPr/>
          </p:nvSpPr>
          <p:spPr bwMode="auto">
            <a:xfrm>
              <a:off x="2825750" y="3451226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1 w 1"/>
                <a:gd name="T19" fmla="*/ 0 h 1"/>
                <a:gd name="T20" fmla="*/ 1 w 1"/>
                <a:gd name="T21" fmla="*/ 0 h 1"/>
                <a:gd name="T22" fmla="*/ 1 w 1"/>
                <a:gd name="T23" fmla="*/ 0 h 1"/>
                <a:gd name="T24" fmla="*/ 1 w 1"/>
                <a:gd name="T25" fmla="*/ 1 h 1"/>
                <a:gd name="T26" fmla="*/ 1 w 1"/>
                <a:gd name="T27" fmla="*/ 0 h 1"/>
                <a:gd name="T28" fmla="*/ 1 w 1"/>
                <a:gd name="T29" fmla="*/ 0 h 1"/>
                <a:gd name="T30" fmla="*/ 1 w 1"/>
                <a:gd name="T31" fmla="*/ 0 h 1"/>
                <a:gd name="T32" fmla="*/ 1 w 1"/>
                <a:gd name="T3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2" name="ïslidê">
              <a:extLst>
                <a:ext uri="{FF2B5EF4-FFF2-40B4-BE49-F238E27FC236}">
                  <a16:creationId xmlns:a16="http://schemas.microsoft.com/office/drawing/2014/main" id="{B6F9A34C-8977-F257-5163-ECC8B9F65DA0}"/>
                </a:ext>
              </a:extLst>
            </p:cNvPr>
            <p:cNvSpPr/>
            <p:nvPr/>
          </p:nvSpPr>
          <p:spPr bwMode="auto">
            <a:xfrm>
              <a:off x="2828925" y="34464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3" name="íṣḻíḑê">
              <a:extLst>
                <a:ext uri="{FF2B5EF4-FFF2-40B4-BE49-F238E27FC236}">
                  <a16:creationId xmlns:a16="http://schemas.microsoft.com/office/drawing/2014/main" id="{FC1AE05E-7B18-C550-1E3A-57B8A1F74773}"/>
                </a:ext>
              </a:extLst>
            </p:cNvPr>
            <p:cNvSpPr/>
            <p:nvPr/>
          </p:nvSpPr>
          <p:spPr bwMode="auto">
            <a:xfrm>
              <a:off x="2905125" y="3446463"/>
              <a:ext cx="0" cy="4763"/>
            </a:xfrm>
            <a:custGeom>
              <a:avLst/>
              <a:gdLst>
                <a:gd name="T0" fmla="*/ 1 h 1"/>
                <a:gd name="T1" fmla="*/ 1 h 1"/>
                <a:gd name="T2" fmla="*/ 1 h 1"/>
                <a:gd name="T3" fmla="*/ 0 h 1"/>
                <a:gd name="T4" fmla="*/ 0 h 1"/>
                <a:gd name="T5" fmla="*/ 0 h 1"/>
                <a:gd name="T6" fmla="*/ 0 h 1"/>
                <a:gd name="T7" fmla="*/ 1 h 1"/>
                <a:gd name="T8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4" name="ísḻídé">
              <a:extLst>
                <a:ext uri="{FF2B5EF4-FFF2-40B4-BE49-F238E27FC236}">
                  <a16:creationId xmlns:a16="http://schemas.microsoft.com/office/drawing/2014/main" id="{D89E3937-8FE8-28CC-C792-0D81C7C49DCE}"/>
                </a:ext>
              </a:extLst>
            </p:cNvPr>
            <p:cNvSpPr/>
            <p:nvPr/>
          </p:nvSpPr>
          <p:spPr bwMode="auto">
            <a:xfrm>
              <a:off x="3067050" y="3443288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0 w 1"/>
                <a:gd name="T4" fmla="*/ 0 w 1"/>
                <a:gd name="T5" fmla="*/ 1 w 1"/>
                <a:gd name="T6" fmla="*/ 1 w 1"/>
                <a:gd name="T7" fmla="*/ 1 w 1"/>
                <a:gd name="T8" fmla="*/ 1 w 1"/>
                <a:gd name="T9" fmla="*/ 1 w 1"/>
                <a:gd name="T10" fmla="*/ 1 w 1"/>
                <a:gd name="T11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5" name="iṧḻide">
              <a:extLst>
                <a:ext uri="{FF2B5EF4-FFF2-40B4-BE49-F238E27FC236}">
                  <a16:creationId xmlns:a16="http://schemas.microsoft.com/office/drawing/2014/main" id="{B7B5B3E2-B3C1-0C97-2EC2-A6C0A52226B4}"/>
                </a:ext>
              </a:extLst>
            </p:cNvPr>
            <p:cNvSpPr/>
            <p:nvPr/>
          </p:nvSpPr>
          <p:spPr bwMode="auto">
            <a:xfrm>
              <a:off x="3067050" y="3440113"/>
              <a:ext cx="7938" cy="3175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0 h 1"/>
                <a:gd name="T4" fmla="*/ 1 w 2"/>
                <a:gd name="T5" fmla="*/ 0 h 1"/>
                <a:gd name="T6" fmla="*/ 1 w 2"/>
                <a:gd name="T7" fmla="*/ 0 h 1"/>
                <a:gd name="T8" fmla="*/ 1 w 2"/>
                <a:gd name="T9" fmla="*/ 0 h 1"/>
                <a:gd name="T10" fmla="*/ 1 w 2"/>
                <a:gd name="T11" fmla="*/ 0 h 1"/>
                <a:gd name="T12" fmla="*/ 1 w 2"/>
                <a:gd name="T13" fmla="*/ 1 h 1"/>
                <a:gd name="T14" fmla="*/ 1 w 2"/>
                <a:gd name="T15" fmla="*/ 1 h 1"/>
                <a:gd name="T16" fmla="*/ 1 w 2"/>
                <a:gd name="T17" fmla="*/ 1 h 1"/>
                <a:gd name="T18" fmla="*/ 1 w 2"/>
                <a:gd name="T19" fmla="*/ 0 h 1"/>
                <a:gd name="T20" fmla="*/ 1 w 2"/>
                <a:gd name="T21" fmla="*/ 0 h 1"/>
                <a:gd name="T22" fmla="*/ 2 w 2"/>
                <a:gd name="T23" fmla="*/ 0 h 1"/>
                <a:gd name="T24" fmla="*/ 2 w 2"/>
                <a:gd name="T25" fmla="*/ 0 h 1"/>
                <a:gd name="T26" fmla="*/ 2 w 2"/>
                <a:gd name="T27" fmla="*/ 0 h 1"/>
                <a:gd name="T28" fmla="*/ 2 w 2"/>
                <a:gd name="T2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6" name="îṧļïďe">
              <a:extLst>
                <a:ext uri="{FF2B5EF4-FFF2-40B4-BE49-F238E27FC236}">
                  <a16:creationId xmlns:a16="http://schemas.microsoft.com/office/drawing/2014/main" id="{F785AF04-E33F-F906-8B1A-F5A2A3BF8A64}"/>
                </a:ext>
              </a:extLst>
            </p:cNvPr>
            <p:cNvSpPr/>
            <p:nvPr/>
          </p:nvSpPr>
          <p:spPr bwMode="auto">
            <a:xfrm>
              <a:off x="3067050" y="3451226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0 w 1"/>
                <a:gd name="T8" fmla="*/ 0 w 1"/>
                <a:gd name="T9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7" name="iṣḷîḋê">
              <a:extLst>
                <a:ext uri="{FF2B5EF4-FFF2-40B4-BE49-F238E27FC236}">
                  <a16:creationId xmlns:a16="http://schemas.microsoft.com/office/drawing/2014/main" id="{C29FDA12-C0AD-0202-34D0-2A12E0578B00}"/>
                </a:ext>
              </a:extLst>
            </p:cNvPr>
            <p:cNvSpPr/>
            <p:nvPr/>
          </p:nvSpPr>
          <p:spPr bwMode="auto">
            <a:xfrm>
              <a:off x="2911475" y="3446463"/>
              <a:ext cx="0" cy="4763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1 h 1"/>
                <a:gd name="T4" fmla="*/ 1 h 1"/>
                <a:gd name="T5" fmla="*/ 0 h 1"/>
                <a:gd name="T6" fmla="*/ 0 h 1"/>
                <a:gd name="T7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8" name="íŝ1ïḍè">
              <a:extLst>
                <a:ext uri="{FF2B5EF4-FFF2-40B4-BE49-F238E27FC236}">
                  <a16:creationId xmlns:a16="http://schemas.microsoft.com/office/drawing/2014/main" id="{B7DA8230-DD2E-C089-FF82-BDACC3BBCA3E}"/>
                </a:ext>
              </a:extLst>
            </p:cNvPr>
            <p:cNvSpPr/>
            <p:nvPr/>
          </p:nvSpPr>
          <p:spPr bwMode="auto">
            <a:xfrm>
              <a:off x="3100388" y="343693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0 h 1"/>
                <a:gd name="T14" fmla="*/ 1 w 1"/>
                <a:gd name="T1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9" name="íŝlîḋe">
              <a:extLst>
                <a:ext uri="{FF2B5EF4-FFF2-40B4-BE49-F238E27FC236}">
                  <a16:creationId xmlns:a16="http://schemas.microsoft.com/office/drawing/2014/main" id="{6EA30E85-9A45-B723-4DD3-A9BA0582B6E4}"/>
                </a:ext>
              </a:extLst>
            </p:cNvPr>
            <p:cNvSpPr/>
            <p:nvPr/>
          </p:nvSpPr>
          <p:spPr bwMode="auto">
            <a:xfrm>
              <a:off x="2763838" y="3406776"/>
              <a:ext cx="407988" cy="73025"/>
            </a:xfrm>
            <a:custGeom>
              <a:avLst/>
              <a:gdLst>
                <a:gd name="T0" fmla="*/ 95 w 113"/>
                <a:gd name="T1" fmla="*/ 7 h 20"/>
                <a:gd name="T2" fmla="*/ 86 w 113"/>
                <a:gd name="T3" fmla="*/ 6 h 20"/>
                <a:gd name="T4" fmla="*/ 73 w 113"/>
                <a:gd name="T5" fmla="*/ 11 h 20"/>
                <a:gd name="T6" fmla="*/ 71 w 113"/>
                <a:gd name="T7" fmla="*/ 8 h 20"/>
                <a:gd name="T8" fmla="*/ 73 w 113"/>
                <a:gd name="T9" fmla="*/ 8 h 20"/>
                <a:gd name="T10" fmla="*/ 70 w 113"/>
                <a:gd name="T11" fmla="*/ 6 h 20"/>
                <a:gd name="T12" fmla="*/ 63 w 113"/>
                <a:gd name="T13" fmla="*/ 9 h 20"/>
                <a:gd name="T14" fmla="*/ 50 w 113"/>
                <a:gd name="T15" fmla="*/ 6 h 20"/>
                <a:gd name="T16" fmla="*/ 43 w 113"/>
                <a:gd name="T17" fmla="*/ 7 h 20"/>
                <a:gd name="T18" fmla="*/ 18 w 113"/>
                <a:gd name="T19" fmla="*/ 13 h 20"/>
                <a:gd name="T20" fmla="*/ 19 w 113"/>
                <a:gd name="T21" fmla="*/ 13 h 20"/>
                <a:gd name="T22" fmla="*/ 14 w 113"/>
                <a:gd name="T23" fmla="*/ 9 h 20"/>
                <a:gd name="T24" fmla="*/ 16 w 113"/>
                <a:gd name="T25" fmla="*/ 8 h 20"/>
                <a:gd name="T26" fmla="*/ 17 w 113"/>
                <a:gd name="T27" fmla="*/ 7 h 20"/>
                <a:gd name="T28" fmla="*/ 20 w 113"/>
                <a:gd name="T29" fmla="*/ 9 h 20"/>
                <a:gd name="T30" fmla="*/ 28 w 113"/>
                <a:gd name="T31" fmla="*/ 13 h 20"/>
                <a:gd name="T32" fmla="*/ 24 w 113"/>
                <a:gd name="T33" fmla="*/ 13 h 20"/>
                <a:gd name="T34" fmla="*/ 24 w 113"/>
                <a:gd name="T35" fmla="*/ 9 h 20"/>
                <a:gd name="T36" fmla="*/ 25 w 113"/>
                <a:gd name="T37" fmla="*/ 9 h 20"/>
                <a:gd name="T38" fmla="*/ 27 w 113"/>
                <a:gd name="T39" fmla="*/ 9 h 20"/>
                <a:gd name="T40" fmla="*/ 28 w 113"/>
                <a:gd name="T41" fmla="*/ 7 h 20"/>
                <a:gd name="T42" fmla="*/ 30 w 113"/>
                <a:gd name="T43" fmla="*/ 10 h 20"/>
                <a:gd name="T44" fmla="*/ 41 w 113"/>
                <a:gd name="T45" fmla="*/ 13 h 20"/>
                <a:gd name="T46" fmla="*/ 38 w 113"/>
                <a:gd name="T47" fmla="*/ 12 h 20"/>
                <a:gd name="T48" fmla="*/ 37 w 113"/>
                <a:gd name="T49" fmla="*/ 9 h 20"/>
                <a:gd name="T50" fmla="*/ 40 w 113"/>
                <a:gd name="T51" fmla="*/ 6 h 20"/>
                <a:gd name="T52" fmla="*/ 41 w 113"/>
                <a:gd name="T53" fmla="*/ 9 h 20"/>
                <a:gd name="T54" fmla="*/ 40 w 113"/>
                <a:gd name="T55" fmla="*/ 9 h 20"/>
                <a:gd name="T56" fmla="*/ 40 w 113"/>
                <a:gd name="T57" fmla="*/ 10 h 20"/>
                <a:gd name="T58" fmla="*/ 42 w 113"/>
                <a:gd name="T59" fmla="*/ 9 h 20"/>
                <a:gd name="T60" fmla="*/ 43 w 113"/>
                <a:gd name="T61" fmla="*/ 9 h 20"/>
                <a:gd name="T62" fmla="*/ 51 w 113"/>
                <a:gd name="T63" fmla="*/ 10 h 20"/>
                <a:gd name="T64" fmla="*/ 49 w 113"/>
                <a:gd name="T65" fmla="*/ 13 h 20"/>
                <a:gd name="T66" fmla="*/ 48 w 113"/>
                <a:gd name="T67" fmla="*/ 13 h 20"/>
                <a:gd name="T68" fmla="*/ 48 w 113"/>
                <a:gd name="T69" fmla="*/ 11 h 20"/>
                <a:gd name="T70" fmla="*/ 50 w 113"/>
                <a:gd name="T71" fmla="*/ 7 h 20"/>
                <a:gd name="T72" fmla="*/ 65 w 113"/>
                <a:gd name="T73" fmla="*/ 12 h 20"/>
                <a:gd name="T74" fmla="*/ 62 w 113"/>
                <a:gd name="T75" fmla="*/ 12 h 20"/>
                <a:gd name="T76" fmla="*/ 60 w 113"/>
                <a:gd name="T77" fmla="*/ 10 h 20"/>
                <a:gd name="T78" fmla="*/ 61 w 113"/>
                <a:gd name="T79" fmla="*/ 11 h 20"/>
                <a:gd name="T80" fmla="*/ 60 w 113"/>
                <a:gd name="T81" fmla="*/ 7 h 20"/>
                <a:gd name="T82" fmla="*/ 63 w 113"/>
                <a:gd name="T83" fmla="*/ 7 h 20"/>
                <a:gd name="T84" fmla="*/ 65 w 113"/>
                <a:gd name="T85" fmla="*/ 11 h 20"/>
                <a:gd name="T86" fmla="*/ 71 w 113"/>
                <a:gd name="T87" fmla="*/ 12 h 20"/>
                <a:gd name="T88" fmla="*/ 69 w 113"/>
                <a:gd name="T89" fmla="*/ 11 h 20"/>
                <a:gd name="T90" fmla="*/ 70 w 113"/>
                <a:gd name="T91" fmla="*/ 9 h 20"/>
                <a:gd name="T92" fmla="*/ 74 w 113"/>
                <a:gd name="T93" fmla="*/ 12 h 20"/>
                <a:gd name="T94" fmla="*/ 84 w 113"/>
                <a:gd name="T95" fmla="*/ 11 h 20"/>
                <a:gd name="T96" fmla="*/ 84 w 113"/>
                <a:gd name="T97" fmla="*/ 13 h 20"/>
                <a:gd name="T98" fmla="*/ 83 w 113"/>
                <a:gd name="T99" fmla="*/ 11 h 20"/>
                <a:gd name="T100" fmla="*/ 84 w 113"/>
                <a:gd name="T101" fmla="*/ 8 h 20"/>
                <a:gd name="T102" fmla="*/ 84 w 113"/>
                <a:gd name="T103" fmla="*/ 6 h 20"/>
                <a:gd name="T104" fmla="*/ 87 w 113"/>
                <a:gd name="T105" fmla="*/ 9 h 20"/>
                <a:gd name="T106" fmla="*/ 88 w 113"/>
                <a:gd name="T107" fmla="*/ 9 h 20"/>
                <a:gd name="T108" fmla="*/ 87 w 113"/>
                <a:gd name="T109" fmla="*/ 9 h 20"/>
                <a:gd name="T110" fmla="*/ 94 w 113"/>
                <a:gd name="T111" fmla="*/ 12 h 20"/>
                <a:gd name="T112" fmla="*/ 96 w 113"/>
                <a:gd name="T113" fmla="*/ 12 h 20"/>
                <a:gd name="T114" fmla="*/ 94 w 113"/>
                <a:gd name="T115" fmla="*/ 10 h 20"/>
                <a:gd name="T116" fmla="*/ 93 w 113"/>
                <a:gd name="T117" fmla="*/ 12 h 20"/>
                <a:gd name="T118" fmla="*/ 92 w 113"/>
                <a:gd name="T119" fmla="*/ 11 h 20"/>
                <a:gd name="T120" fmla="*/ 92 w 113"/>
                <a:gd name="T121" fmla="*/ 9 h 20"/>
                <a:gd name="T122" fmla="*/ 94 w 113"/>
                <a:gd name="T123" fmla="*/ 7 h 20"/>
                <a:gd name="T124" fmla="*/ 95 w 113"/>
                <a:gd name="T125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" h="20">
                  <a:moveTo>
                    <a:pt x="110" y="4"/>
                  </a:moveTo>
                  <a:cubicBezTo>
                    <a:pt x="110" y="0"/>
                    <a:pt x="110" y="0"/>
                    <a:pt x="11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4"/>
                    <a:pt x="113" y="4"/>
                    <a:pt x="113" y="4"/>
                  </a:cubicBezTo>
                  <a:lnTo>
                    <a:pt x="110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lose/>
                  <a:moveTo>
                    <a:pt x="93" y="5"/>
                  </a:move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4" y="5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lose/>
                  <a:moveTo>
                    <a:pt x="86" y="7"/>
                  </a:moveTo>
                  <a:cubicBezTo>
                    <a:pt x="86" y="7"/>
                    <a:pt x="86" y="6"/>
                    <a:pt x="86" y="6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7" y="7"/>
                    <a:pt x="87" y="7"/>
                  </a:cubicBezTo>
                  <a:cubicBezTo>
                    <a:pt x="87" y="7"/>
                    <a:pt x="87" y="7"/>
                    <a:pt x="86" y="7"/>
                  </a:cubicBezTo>
                  <a:cubicBezTo>
                    <a:pt x="86" y="7"/>
                    <a:pt x="86" y="8"/>
                    <a:pt x="86" y="8"/>
                  </a:cubicBezTo>
                  <a:cubicBezTo>
                    <a:pt x="86" y="8"/>
                    <a:pt x="86" y="8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lose/>
                  <a:moveTo>
                    <a:pt x="74" y="10"/>
                  </a:moveTo>
                  <a:cubicBezTo>
                    <a:pt x="74" y="10"/>
                    <a:pt x="74" y="11"/>
                    <a:pt x="74" y="11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4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4" y="10"/>
                    <a:pt x="74" y="10"/>
                  </a:cubicBezTo>
                  <a:close/>
                  <a:moveTo>
                    <a:pt x="70" y="6"/>
                  </a:moveTo>
                  <a:cubicBezTo>
                    <a:pt x="70" y="6"/>
                    <a:pt x="70" y="6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8"/>
                    <a:pt x="71" y="8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71" y="8"/>
                    <a:pt x="72" y="8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72" y="8"/>
                    <a:pt x="72" y="8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5"/>
                    <a:pt x="72" y="5"/>
                  </a:cubicBezTo>
                  <a:cubicBezTo>
                    <a:pt x="72" y="6"/>
                    <a:pt x="73" y="6"/>
                    <a:pt x="73" y="6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6"/>
                    <a:pt x="73" y="6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3" y="7"/>
                    <a:pt x="73" y="7"/>
                    <a:pt x="73" y="8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3" y="8"/>
                    <a:pt x="72" y="8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8"/>
                    <a:pt x="72" y="8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6"/>
                  </a:cubicBezTo>
                  <a:cubicBezTo>
                    <a:pt x="70" y="6"/>
                    <a:pt x="70" y="6"/>
                    <a:pt x="70" y="6"/>
                  </a:cubicBezTo>
                  <a:close/>
                  <a:moveTo>
                    <a:pt x="63" y="5"/>
                  </a:moveTo>
                  <a:cubicBezTo>
                    <a:pt x="63" y="5"/>
                    <a:pt x="63" y="5"/>
                    <a:pt x="63" y="5"/>
                  </a:cubicBezTo>
                  <a:cubicBezTo>
                    <a:pt x="63" y="5"/>
                    <a:pt x="64" y="5"/>
                    <a:pt x="64" y="5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4" y="5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3" y="6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3" y="6"/>
                    <a:pt x="63" y="5"/>
                    <a:pt x="63" y="5"/>
                  </a:cubicBezTo>
                  <a:cubicBezTo>
                    <a:pt x="63" y="5"/>
                    <a:pt x="63" y="5"/>
                    <a:pt x="63" y="5"/>
                  </a:cubicBezTo>
                  <a:close/>
                  <a:moveTo>
                    <a:pt x="64" y="9"/>
                  </a:move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8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lose/>
                  <a:moveTo>
                    <a:pt x="49" y="5"/>
                  </a:move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lose/>
                  <a:moveTo>
                    <a:pt x="43" y="7"/>
                  </a:moveTo>
                  <a:cubicBezTo>
                    <a:pt x="43" y="7"/>
                    <a:pt x="43" y="7"/>
                    <a:pt x="44" y="7"/>
                  </a:cubicBezTo>
                  <a:cubicBezTo>
                    <a:pt x="44" y="7"/>
                    <a:pt x="44" y="7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lose/>
                  <a:moveTo>
                    <a:pt x="20" y="9"/>
                  </a:moveTo>
                  <a:cubicBezTo>
                    <a:pt x="20" y="9"/>
                    <a:pt x="20" y="10"/>
                    <a:pt x="20" y="10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10"/>
                    <a:pt x="20" y="11"/>
                    <a:pt x="20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0" y="11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20" y="14"/>
                  </a:cubicBezTo>
                  <a:cubicBezTo>
                    <a:pt x="20" y="14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1"/>
                    <a:pt x="20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5" y="9"/>
                    <a:pt x="15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9"/>
                    <a:pt x="17" y="9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20" y="9"/>
                    <a:pt x="20" y="9"/>
                  </a:cubicBezTo>
                  <a:close/>
                  <a:moveTo>
                    <a:pt x="30" y="10"/>
                  </a:move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1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1"/>
                    <a:pt x="30" y="11"/>
                    <a:pt x="29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5" y="10"/>
                    <a:pt x="25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5" y="8"/>
                    <a:pt x="25" y="8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5" y="8"/>
                  </a:cubicBezTo>
                  <a:cubicBezTo>
                    <a:pt x="25" y="8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5" y="10"/>
                  </a:cubicBezTo>
                  <a:cubicBezTo>
                    <a:pt x="25" y="10"/>
                    <a:pt x="25" y="10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8"/>
                  </a:cubicBezTo>
                  <a:cubicBezTo>
                    <a:pt x="26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30" y="9"/>
                    <a:pt x="30" y="10"/>
                    <a:pt x="30" y="10"/>
                  </a:cubicBezTo>
                  <a:cubicBezTo>
                    <a:pt x="30" y="10"/>
                    <a:pt x="30" y="10"/>
                    <a:pt x="30" y="10"/>
                  </a:cubicBezTo>
                  <a:close/>
                  <a:moveTo>
                    <a:pt x="44" y="13"/>
                  </a:move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2"/>
                    <a:pt x="41" y="12"/>
                    <a:pt x="40" y="12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40" y="12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1"/>
                    <a:pt x="38" y="11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3"/>
                    <a:pt x="38" y="13"/>
                  </a:cubicBezTo>
                  <a:cubicBezTo>
                    <a:pt x="38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8" y="11"/>
                    <a:pt x="38" y="11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7" y="9"/>
                    <a:pt x="37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8" y="6"/>
                    <a:pt x="38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7"/>
                  </a:cubicBezTo>
                  <a:cubicBezTo>
                    <a:pt x="40" y="7"/>
                    <a:pt x="41" y="7"/>
                    <a:pt x="41" y="7"/>
                  </a:cubicBezTo>
                  <a:cubicBezTo>
                    <a:pt x="41" y="7"/>
                    <a:pt x="41" y="7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9"/>
                    <a:pt x="42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9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1" y="11"/>
                    <a:pt x="41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2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8"/>
                    <a:pt x="42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6"/>
                    <a:pt x="42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6"/>
                    <a:pt x="43" y="6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2" y="10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3"/>
                    <a:pt x="44" y="13"/>
                    <a:pt x="44" y="13"/>
                  </a:cubicBezTo>
                  <a:close/>
                  <a:moveTo>
                    <a:pt x="53" y="8"/>
                  </a:move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4"/>
                    <a:pt x="51" y="14"/>
                  </a:cubicBezTo>
                  <a:cubicBezTo>
                    <a:pt x="51" y="14"/>
                    <a:pt x="51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8" y="12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50" y="10"/>
                  </a:cubicBezTo>
                  <a:cubicBezTo>
                    <a:pt x="50" y="10"/>
                    <a:pt x="50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0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2" y="9"/>
                  </a:cubicBezTo>
                  <a:cubicBezTo>
                    <a:pt x="52" y="9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3" y="8"/>
                    <a:pt x="53" y="8"/>
                  </a:cubicBezTo>
                  <a:cubicBezTo>
                    <a:pt x="53" y="8"/>
                    <a:pt x="53" y="8"/>
                    <a:pt x="53" y="8"/>
                  </a:cubicBezTo>
                  <a:close/>
                  <a:moveTo>
                    <a:pt x="65" y="12"/>
                  </a:move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3" y="12"/>
                    <a:pt x="63" y="12"/>
                    <a:pt x="63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3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1"/>
                    <a:pt x="62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1"/>
                    <a:pt x="61" y="11"/>
                    <a:pt x="61" y="11"/>
                  </a:cubicBezTo>
                  <a:cubicBezTo>
                    <a:pt x="61" y="11"/>
                    <a:pt x="61" y="12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9"/>
                    <a:pt x="60" y="9"/>
                  </a:cubicBezTo>
                  <a:cubicBezTo>
                    <a:pt x="60" y="9"/>
                    <a:pt x="59" y="9"/>
                    <a:pt x="59" y="9"/>
                  </a:cubicBezTo>
                  <a:cubicBezTo>
                    <a:pt x="59" y="9"/>
                    <a:pt x="59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1" y="9"/>
                    <a:pt x="61" y="9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1" y="11"/>
                    <a:pt x="61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1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2" y="10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0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59" y="8"/>
                    <a:pt x="59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2" y="7"/>
                    <a:pt x="62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2" y="7"/>
                    <a:pt x="62" y="7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1" y="6"/>
                    <a:pt x="61" y="6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1" y="6"/>
                    <a:pt x="61" y="5"/>
                    <a:pt x="61" y="5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2" y="5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3" y="8"/>
                    <a:pt x="63" y="8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1"/>
                  </a:cubicBezTo>
                  <a:cubicBezTo>
                    <a:pt x="63" y="11"/>
                    <a:pt x="63" y="11"/>
                    <a:pt x="64" y="11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4" y="11"/>
                    <a:pt x="64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lose/>
                  <a:moveTo>
                    <a:pt x="75" y="12"/>
                  </a:moveTo>
                  <a:cubicBezTo>
                    <a:pt x="75" y="12"/>
                    <a:pt x="75" y="12"/>
                    <a:pt x="75" y="1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3" y="13"/>
                    <a:pt x="73" y="13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3" y="12"/>
                    <a:pt x="73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0" y="12"/>
                    <a:pt x="70" y="12"/>
                    <a:pt x="70" y="13"/>
                  </a:cubicBezTo>
                  <a:cubicBezTo>
                    <a:pt x="70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8" y="13"/>
                    <a:pt x="68" y="13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70" y="11"/>
                    <a:pt x="70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70" y="11"/>
                    <a:pt x="70" y="11"/>
                  </a:cubicBezTo>
                  <a:cubicBezTo>
                    <a:pt x="70" y="11"/>
                    <a:pt x="70" y="11"/>
                    <a:pt x="70" y="11"/>
                  </a:cubicBezTo>
                  <a:cubicBezTo>
                    <a:pt x="70" y="11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69" y="10"/>
                    <a:pt x="69" y="10"/>
                  </a:cubicBezTo>
                  <a:cubicBezTo>
                    <a:pt x="69" y="10"/>
                    <a:pt x="69" y="10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9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10"/>
                    <a:pt x="69" y="9"/>
                    <a:pt x="69" y="9"/>
                  </a:cubicBezTo>
                  <a:cubicBezTo>
                    <a:pt x="69" y="9"/>
                    <a:pt x="69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2" y="10"/>
                    <a:pt x="72" y="10"/>
                    <a:pt x="72" y="10"/>
                  </a:cubicBezTo>
                  <a:cubicBezTo>
                    <a:pt x="72" y="10"/>
                    <a:pt x="72" y="10"/>
                    <a:pt x="72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3" y="12"/>
                    <a:pt x="73" y="12"/>
                    <a:pt x="74" y="12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74" y="12"/>
                    <a:pt x="74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lose/>
                  <a:moveTo>
                    <a:pt x="87" y="10"/>
                  </a:move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1"/>
                  </a:cubicBezTo>
                  <a:cubicBezTo>
                    <a:pt x="86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3"/>
                    <a:pt x="86" y="13"/>
                  </a:cubicBezTo>
                  <a:cubicBezTo>
                    <a:pt x="86" y="13"/>
                    <a:pt x="86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12"/>
                    <a:pt x="84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2"/>
                  </a:cubicBezTo>
                  <a:cubicBezTo>
                    <a:pt x="82" y="12"/>
                    <a:pt x="82" y="12"/>
                    <a:pt x="82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3" y="8"/>
                    <a:pt x="83" y="8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83" y="8"/>
                    <a:pt x="83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6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84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6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6" y="9"/>
                    <a:pt x="86" y="9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lose/>
                  <a:moveTo>
                    <a:pt x="88" y="8"/>
                  </a:moveTo>
                  <a:cubicBezTo>
                    <a:pt x="88" y="8"/>
                    <a:pt x="88" y="8"/>
                    <a:pt x="88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8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8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6"/>
                    <a:pt x="87" y="6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8" y="7"/>
                    <a:pt x="88" y="7"/>
                    <a:pt x="88" y="7"/>
                  </a:cubicBezTo>
                  <a:cubicBezTo>
                    <a:pt x="88" y="8"/>
                    <a:pt x="88" y="8"/>
                    <a:pt x="88" y="8"/>
                  </a:cubicBezTo>
                  <a:close/>
                  <a:moveTo>
                    <a:pt x="94" y="12"/>
                  </a:moveTo>
                  <a:cubicBezTo>
                    <a:pt x="94" y="12"/>
                    <a:pt x="94" y="12"/>
                    <a:pt x="94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5" y="11"/>
                  </a:cubicBezTo>
                  <a:cubicBezTo>
                    <a:pt x="95" y="12"/>
                    <a:pt x="95" y="12"/>
                    <a:pt x="95" y="12"/>
                  </a:cubicBezTo>
                  <a:cubicBezTo>
                    <a:pt x="95" y="12"/>
                    <a:pt x="95" y="12"/>
                    <a:pt x="94" y="12"/>
                  </a:cubicBezTo>
                  <a:close/>
                  <a:moveTo>
                    <a:pt x="97" y="9"/>
                  </a:moveTo>
                  <a:cubicBezTo>
                    <a:pt x="97" y="9"/>
                    <a:pt x="97" y="9"/>
                    <a:pt x="97" y="9"/>
                  </a:cubicBezTo>
                  <a:cubicBezTo>
                    <a:pt x="97" y="9"/>
                    <a:pt x="96" y="9"/>
                    <a:pt x="96" y="9"/>
                  </a:cubicBezTo>
                  <a:cubicBezTo>
                    <a:pt x="96" y="9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1"/>
                    <a:pt x="96" y="11"/>
                  </a:cubicBezTo>
                  <a:cubicBezTo>
                    <a:pt x="96" y="11"/>
                    <a:pt x="96" y="11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1"/>
                    <a:pt x="96" y="11"/>
                  </a:cubicBezTo>
                  <a:cubicBezTo>
                    <a:pt x="96" y="11"/>
                    <a:pt x="96" y="11"/>
                    <a:pt x="96" y="11"/>
                  </a:cubicBezTo>
                  <a:cubicBezTo>
                    <a:pt x="96" y="11"/>
                    <a:pt x="96" y="11"/>
                    <a:pt x="96" y="11"/>
                  </a:cubicBezTo>
                  <a:cubicBezTo>
                    <a:pt x="96" y="11"/>
                    <a:pt x="96" y="11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9"/>
                    <a:pt x="96" y="9"/>
                  </a:cubicBezTo>
                  <a:cubicBezTo>
                    <a:pt x="96" y="9"/>
                    <a:pt x="96" y="9"/>
                    <a:pt x="96" y="9"/>
                  </a:cubicBezTo>
                  <a:cubicBezTo>
                    <a:pt x="96" y="9"/>
                    <a:pt x="96" y="9"/>
                    <a:pt x="95" y="9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9"/>
                    <a:pt x="95" y="9"/>
                    <a:pt x="95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0"/>
                    <a:pt x="93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3"/>
                    <a:pt x="93" y="13"/>
                  </a:cubicBezTo>
                  <a:cubicBezTo>
                    <a:pt x="93" y="13"/>
                    <a:pt x="93" y="13"/>
                    <a:pt x="93" y="13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1"/>
                    <a:pt x="92" y="11"/>
                    <a:pt x="92" y="11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1"/>
                    <a:pt x="91" y="11"/>
                  </a:cubicBezTo>
                  <a:cubicBezTo>
                    <a:pt x="91" y="11"/>
                    <a:pt x="91" y="11"/>
                    <a:pt x="91" y="11"/>
                  </a:cubicBezTo>
                  <a:cubicBezTo>
                    <a:pt x="91" y="11"/>
                    <a:pt x="91" y="11"/>
                    <a:pt x="92" y="11"/>
                  </a:cubicBezTo>
                  <a:cubicBezTo>
                    <a:pt x="92" y="11"/>
                    <a:pt x="92" y="11"/>
                    <a:pt x="93" y="11"/>
                  </a:cubicBezTo>
                  <a:cubicBezTo>
                    <a:pt x="93" y="11"/>
                    <a:pt x="93" y="11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3" y="10"/>
                    <a:pt x="93" y="10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8"/>
                    <a:pt x="92" y="8"/>
                  </a:cubicBezTo>
                  <a:cubicBezTo>
                    <a:pt x="93" y="8"/>
                    <a:pt x="93" y="8"/>
                    <a:pt x="93" y="8"/>
                  </a:cubicBezTo>
                  <a:cubicBezTo>
                    <a:pt x="93" y="8"/>
                    <a:pt x="93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4" y="7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4" y="7"/>
                    <a:pt x="94" y="6"/>
                  </a:cubicBezTo>
                  <a:cubicBezTo>
                    <a:pt x="94" y="6"/>
                    <a:pt x="94" y="6"/>
                    <a:pt x="95" y="6"/>
                  </a:cubicBezTo>
                  <a:cubicBezTo>
                    <a:pt x="95" y="6"/>
                    <a:pt x="95" y="6"/>
                    <a:pt x="95" y="6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4" y="7"/>
                    <a:pt x="94" y="7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5" y="8"/>
                    <a:pt x="95" y="8"/>
                  </a:cubicBezTo>
                  <a:cubicBezTo>
                    <a:pt x="95" y="8"/>
                    <a:pt x="95" y="8"/>
                    <a:pt x="95" y="9"/>
                  </a:cubicBezTo>
                  <a:cubicBezTo>
                    <a:pt x="95" y="9"/>
                    <a:pt x="94" y="9"/>
                    <a:pt x="94" y="9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4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5" y="8"/>
                    <a:pt x="95" y="9"/>
                    <a:pt x="95" y="9"/>
                  </a:cubicBezTo>
                  <a:cubicBezTo>
                    <a:pt x="95" y="9"/>
                    <a:pt x="96" y="9"/>
                    <a:pt x="96" y="9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9"/>
                    <a:pt x="97" y="9"/>
                    <a:pt x="97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0" name="iŝḻiďê">
              <a:extLst>
                <a:ext uri="{FF2B5EF4-FFF2-40B4-BE49-F238E27FC236}">
                  <a16:creationId xmlns:a16="http://schemas.microsoft.com/office/drawing/2014/main" id="{F4E2D8CC-4A7A-73F6-1D57-3F283EB70F58}"/>
                </a:ext>
              </a:extLst>
            </p:cNvPr>
            <p:cNvSpPr/>
            <p:nvPr/>
          </p:nvSpPr>
          <p:spPr bwMode="auto">
            <a:xfrm>
              <a:off x="3103563" y="344011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1" name="îṥḻiḍè">
              <a:extLst>
                <a:ext uri="{FF2B5EF4-FFF2-40B4-BE49-F238E27FC236}">
                  <a16:creationId xmlns:a16="http://schemas.microsoft.com/office/drawing/2014/main" id="{BC72794C-1A56-8DC0-2A5C-964C7EA6D13C}"/>
                </a:ext>
              </a:extLst>
            </p:cNvPr>
            <p:cNvSpPr/>
            <p:nvPr/>
          </p:nvSpPr>
          <p:spPr bwMode="auto">
            <a:xfrm>
              <a:off x="3021013" y="344328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1 h 1"/>
                <a:gd name="T10" fmla="*/ 0 w 1"/>
                <a:gd name="T11" fmla="*/ 1 h 1"/>
                <a:gd name="T12" fmla="*/ 0 w 1"/>
                <a:gd name="T13" fmla="*/ 1 h 1"/>
                <a:gd name="T14" fmla="*/ 0 w 1"/>
                <a:gd name="T15" fmla="*/ 1 h 1"/>
                <a:gd name="T16" fmla="*/ 0 w 1"/>
                <a:gd name="T17" fmla="*/ 1 h 1"/>
                <a:gd name="T18" fmla="*/ 1 w 1"/>
                <a:gd name="T19" fmla="*/ 1 h 1"/>
                <a:gd name="T20" fmla="*/ 1 w 1"/>
                <a:gd name="T21" fmla="*/ 1 h 1"/>
                <a:gd name="T22" fmla="*/ 1 w 1"/>
                <a:gd name="T23" fmla="*/ 0 h 1"/>
                <a:gd name="T24" fmla="*/ 1 w 1"/>
                <a:gd name="T25" fmla="*/ 0 h 1"/>
                <a:gd name="T26" fmla="*/ 1 w 1"/>
                <a:gd name="T2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2" name="íṩḷîḋe">
              <a:extLst>
                <a:ext uri="{FF2B5EF4-FFF2-40B4-BE49-F238E27FC236}">
                  <a16:creationId xmlns:a16="http://schemas.microsoft.com/office/drawing/2014/main" id="{F2E09BD2-F3F5-5033-547D-B76AA1CF45D1}"/>
                </a:ext>
              </a:extLst>
            </p:cNvPr>
            <p:cNvSpPr/>
            <p:nvPr/>
          </p:nvSpPr>
          <p:spPr bwMode="auto">
            <a:xfrm>
              <a:off x="2941638" y="3436938"/>
              <a:ext cx="3175" cy="6350"/>
            </a:xfrm>
            <a:custGeom>
              <a:avLst/>
              <a:gdLst>
                <a:gd name="T0" fmla="*/ 1 w 1"/>
                <a:gd name="T1" fmla="*/ 0 h 2"/>
                <a:gd name="T2" fmla="*/ 1 w 1"/>
                <a:gd name="T3" fmla="*/ 0 h 2"/>
                <a:gd name="T4" fmla="*/ 0 w 1"/>
                <a:gd name="T5" fmla="*/ 0 h 2"/>
                <a:gd name="T6" fmla="*/ 0 w 1"/>
                <a:gd name="T7" fmla="*/ 0 h 2"/>
                <a:gd name="T8" fmla="*/ 0 w 1"/>
                <a:gd name="T9" fmla="*/ 0 h 2"/>
                <a:gd name="T10" fmla="*/ 0 w 1"/>
                <a:gd name="T11" fmla="*/ 0 h 2"/>
                <a:gd name="T12" fmla="*/ 0 w 1"/>
                <a:gd name="T13" fmla="*/ 0 h 2"/>
                <a:gd name="T14" fmla="*/ 0 w 1"/>
                <a:gd name="T15" fmla="*/ 0 h 2"/>
                <a:gd name="T16" fmla="*/ 1 w 1"/>
                <a:gd name="T17" fmla="*/ 0 h 2"/>
                <a:gd name="T18" fmla="*/ 1 w 1"/>
                <a:gd name="T19" fmla="*/ 0 h 2"/>
                <a:gd name="T20" fmla="*/ 1 w 1"/>
                <a:gd name="T21" fmla="*/ 1 h 2"/>
                <a:gd name="T22" fmla="*/ 0 w 1"/>
                <a:gd name="T23" fmla="*/ 1 h 2"/>
                <a:gd name="T24" fmla="*/ 0 w 1"/>
                <a:gd name="T25" fmla="*/ 1 h 2"/>
                <a:gd name="T26" fmla="*/ 0 w 1"/>
                <a:gd name="T27" fmla="*/ 1 h 2"/>
                <a:gd name="T28" fmla="*/ 0 w 1"/>
                <a:gd name="T29" fmla="*/ 1 h 2"/>
                <a:gd name="T30" fmla="*/ 0 w 1"/>
                <a:gd name="T31" fmla="*/ 1 h 2"/>
                <a:gd name="T32" fmla="*/ 0 w 1"/>
                <a:gd name="T33" fmla="*/ 1 h 2"/>
                <a:gd name="T34" fmla="*/ 1 w 1"/>
                <a:gd name="T35" fmla="*/ 1 h 2"/>
                <a:gd name="T36" fmla="*/ 1 w 1"/>
                <a:gd name="T37" fmla="*/ 1 h 2"/>
                <a:gd name="T38" fmla="*/ 1 w 1"/>
                <a:gd name="T39" fmla="*/ 1 h 2"/>
                <a:gd name="T40" fmla="*/ 1 w 1"/>
                <a:gd name="T41" fmla="*/ 1 h 2"/>
                <a:gd name="T42" fmla="*/ 0 w 1"/>
                <a:gd name="T43" fmla="*/ 2 h 2"/>
                <a:gd name="T44" fmla="*/ 0 w 1"/>
                <a:gd name="T45" fmla="*/ 2 h 2"/>
                <a:gd name="T46" fmla="*/ 0 w 1"/>
                <a:gd name="T47" fmla="*/ 2 h 2"/>
                <a:gd name="T48" fmla="*/ 0 w 1"/>
                <a:gd name="T49" fmla="*/ 2 h 2"/>
                <a:gd name="T50" fmla="*/ 1 w 1"/>
                <a:gd name="T51" fmla="*/ 2 h 2"/>
                <a:gd name="T52" fmla="*/ 1 w 1"/>
                <a:gd name="T53" fmla="*/ 1 h 2"/>
                <a:gd name="T54" fmla="*/ 1 w 1"/>
                <a:gd name="T55" fmla="*/ 1 h 2"/>
                <a:gd name="T56" fmla="*/ 1 w 1"/>
                <a:gd name="T57" fmla="*/ 0 h 2"/>
                <a:gd name="T58" fmla="*/ 1 w 1"/>
                <a:gd name="T5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3" name="iṧḻiḋè">
              <a:extLst>
                <a:ext uri="{FF2B5EF4-FFF2-40B4-BE49-F238E27FC236}">
                  <a16:creationId xmlns:a16="http://schemas.microsoft.com/office/drawing/2014/main" id="{9A7ACAC5-BB6C-281A-2303-9504734227F9}"/>
                </a:ext>
              </a:extLst>
            </p:cNvPr>
            <p:cNvSpPr/>
            <p:nvPr/>
          </p:nvSpPr>
          <p:spPr bwMode="auto">
            <a:xfrm>
              <a:off x="3517900" y="2994026"/>
              <a:ext cx="138113" cy="115888"/>
            </a:xfrm>
            <a:custGeom>
              <a:avLst/>
              <a:gdLst>
                <a:gd name="T0" fmla="*/ 36 w 38"/>
                <a:gd name="T1" fmla="*/ 26 h 32"/>
                <a:gd name="T2" fmla="*/ 34 w 38"/>
                <a:gd name="T3" fmla="*/ 22 h 32"/>
                <a:gd name="T4" fmla="*/ 28 w 38"/>
                <a:gd name="T5" fmla="*/ 16 h 32"/>
                <a:gd name="T6" fmla="*/ 27 w 38"/>
                <a:gd name="T7" fmla="*/ 14 h 32"/>
                <a:gd name="T8" fmla="*/ 26 w 38"/>
                <a:gd name="T9" fmla="*/ 14 h 32"/>
                <a:gd name="T10" fmla="*/ 27 w 38"/>
                <a:gd name="T11" fmla="*/ 13 h 32"/>
                <a:gd name="T12" fmla="*/ 30 w 38"/>
                <a:gd name="T13" fmla="*/ 14 h 32"/>
                <a:gd name="T14" fmla="*/ 32 w 38"/>
                <a:gd name="T15" fmla="*/ 14 h 32"/>
                <a:gd name="T16" fmla="*/ 36 w 38"/>
                <a:gd name="T17" fmla="*/ 14 h 32"/>
                <a:gd name="T18" fmla="*/ 37 w 38"/>
                <a:gd name="T19" fmla="*/ 13 h 32"/>
                <a:gd name="T20" fmla="*/ 37 w 38"/>
                <a:gd name="T21" fmla="*/ 12 h 32"/>
                <a:gd name="T22" fmla="*/ 36 w 38"/>
                <a:gd name="T23" fmla="*/ 7 h 32"/>
                <a:gd name="T24" fmla="*/ 33 w 38"/>
                <a:gd name="T25" fmla="*/ 4 h 32"/>
                <a:gd name="T26" fmla="*/ 31 w 38"/>
                <a:gd name="T27" fmla="*/ 4 h 32"/>
                <a:gd name="T28" fmla="*/ 31 w 38"/>
                <a:gd name="T29" fmla="*/ 6 h 32"/>
                <a:gd name="T30" fmla="*/ 31 w 38"/>
                <a:gd name="T31" fmla="*/ 8 h 32"/>
                <a:gd name="T32" fmla="*/ 31 w 38"/>
                <a:gd name="T33" fmla="*/ 9 h 32"/>
                <a:gd name="T34" fmla="*/ 28 w 38"/>
                <a:gd name="T35" fmla="*/ 10 h 32"/>
                <a:gd name="T36" fmla="*/ 26 w 38"/>
                <a:gd name="T37" fmla="*/ 10 h 32"/>
                <a:gd name="T38" fmla="*/ 23 w 38"/>
                <a:gd name="T39" fmla="*/ 11 h 32"/>
                <a:gd name="T40" fmla="*/ 22 w 38"/>
                <a:gd name="T41" fmla="*/ 10 h 32"/>
                <a:gd name="T42" fmla="*/ 16 w 38"/>
                <a:gd name="T43" fmla="*/ 6 h 32"/>
                <a:gd name="T44" fmla="*/ 12 w 38"/>
                <a:gd name="T45" fmla="*/ 3 h 32"/>
                <a:gd name="T46" fmla="*/ 8 w 38"/>
                <a:gd name="T47" fmla="*/ 0 h 32"/>
                <a:gd name="T48" fmla="*/ 7 w 38"/>
                <a:gd name="T49" fmla="*/ 0 h 32"/>
                <a:gd name="T50" fmla="*/ 6 w 38"/>
                <a:gd name="T51" fmla="*/ 1 h 32"/>
                <a:gd name="T52" fmla="*/ 7 w 38"/>
                <a:gd name="T53" fmla="*/ 7 h 32"/>
                <a:gd name="T54" fmla="*/ 7 w 38"/>
                <a:gd name="T55" fmla="*/ 8 h 32"/>
                <a:gd name="T56" fmla="*/ 16 w 38"/>
                <a:gd name="T57" fmla="*/ 14 h 32"/>
                <a:gd name="T58" fmla="*/ 19 w 38"/>
                <a:gd name="T59" fmla="*/ 16 h 32"/>
                <a:gd name="T60" fmla="*/ 12 w 38"/>
                <a:gd name="T61" fmla="*/ 20 h 32"/>
                <a:gd name="T62" fmla="*/ 7 w 38"/>
                <a:gd name="T63" fmla="*/ 20 h 32"/>
                <a:gd name="T64" fmla="*/ 5 w 38"/>
                <a:gd name="T65" fmla="*/ 18 h 32"/>
                <a:gd name="T66" fmla="*/ 5 w 38"/>
                <a:gd name="T67" fmla="*/ 14 h 32"/>
                <a:gd name="T68" fmla="*/ 5 w 38"/>
                <a:gd name="T69" fmla="*/ 12 h 32"/>
                <a:gd name="T70" fmla="*/ 4 w 38"/>
                <a:gd name="T71" fmla="*/ 12 h 32"/>
                <a:gd name="T72" fmla="*/ 3 w 38"/>
                <a:gd name="T73" fmla="*/ 15 h 32"/>
                <a:gd name="T74" fmla="*/ 1 w 38"/>
                <a:gd name="T75" fmla="*/ 17 h 32"/>
                <a:gd name="T76" fmla="*/ 0 w 38"/>
                <a:gd name="T77" fmla="*/ 20 h 32"/>
                <a:gd name="T78" fmla="*/ 2 w 38"/>
                <a:gd name="T79" fmla="*/ 24 h 32"/>
                <a:gd name="T80" fmla="*/ 14 w 38"/>
                <a:gd name="T81" fmla="*/ 25 h 32"/>
                <a:gd name="T82" fmla="*/ 22 w 38"/>
                <a:gd name="T83" fmla="*/ 21 h 32"/>
                <a:gd name="T84" fmla="*/ 23 w 38"/>
                <a:gd name="T85" fmla="*/ 21 h 32"/>
                <a:gd name="T86" fmla="*/ 25 w 38"/>
                <a:gd name="T87" fmla="*/ 24 h 32"/>
                <a:gd name="T88" fmla="*/ 28 w 38"/>
                <a:gd name="T89" fmla="*/ 28 h 32"/>
                <a:gd name="T90" fmla="*/ 29 w 38"/>
                <a:gd name="T91" fmla="*/ 31 h 32"/>
                <a:gd name="T92" fmla="*/ 32 w 38"/>
                <a:gd name="T93" fmla="*/ 32 h 32"/>
                <a:gd name="T94" fmla="*/ 35 w 38"/>
                <a:gd name="T95" fmla="*/ 29 h 32"/>
                <a:gd name="T96" fmla="*/ 36 w 38"/>
                <a:gd name="T97" fmla="*/ 2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32">
                  <a:moveTo>
                    <a:pt x="36" y="26"/>
                  </a:moveTo>
                  <a:cubicBezTo>
                    <a:pt x="36" y="25"/>
                    <a:pt x="35" y="24"/>
                    <a:pt x="34" y="22"/>
                  </a:cubicBezTo>
                  <a:cubicBezTo>
                    <a:pt x="32" y="21"/>
                    <a:pt x="31" y="18"/>
                    <a:pt x="28" y="16"/>
                  </a:cubicBezTo>
                  <a:cubicBezTo>
                    <a:pt x="28" y="16"/>
                    <a:pt x="27" y="15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3"/>
                    <a:pt x="27" y="13"/>
                  </a:cubicBezTo>
                  <a:cubicBezTo>
                    <a:pt x="28" y="13"/>
                    <a:pt x="29" y="14"/>
                    <a:pt x="30" y="14"/>
                  </a:cubicBezTo>
                  <a:cubicBezTo>
                    <a:pt x="30" y="14"/>
                    <a:pt x="31" y="14"/>
                    <a:pt x="32" y="14"/>
                  </a:cubicBezTo>
                  <a:cubicBezTo>
                    <a:pt x="33" y="14"/>
                    <a:pt x="34" y="14"/>
                    <a:pt x="36" y="14"/>
                  </a:cubicBezTo>
                  <a:cubicBezTo>
                    <a:pt x="37" y="14"/>
                    <a:pt x="37" y="14"/>
                    <a:pt x="37" y="13"/>
                  </a:cubicBezTo>
                  <a:cubicBezTo>
                    <a:pt x="37" y="13"/>
                    <a:pt x="37" y="12"/>
                    <a:pt x="37" y="12"/>
                  </a:cubicBezTo>
                  <a:cubicBezTo>
                    <a:pt x="38" y="11"/>
                    <a:pt x="38" y="8"/>
                    <a:pt x="36" y="7"/>
                  </a:cubicBezTo>
                  <a:cubicBezTo>
                    <a:pt x="35" y="6"/>
                    <a:pt x="34" y="5"/>
                    <a:pt x="33" y="4"/>
                  </a:cubicBezTo>
                  <a:cubicBezTo>
                    <a:pt x="33" y="4"/>
                    <a:pt x="32" y="4"/>
                    <a:pt x="31" y="4"/>
                  </a:cubicBezTo>
                  <a:cubicBezTo>
                    <a:pt x="31" y="5"/>
                    <a:pt x="31" y="5"/>
                    <a:pt x="31" y="6"/>
                  </a:cubicBezTo>
                  <a:cubicBezTo>
                    <a:pt x="30" y="7"/>
                    <a:pt x="30" y="8"/>
                    <a:pt x="31" y="8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0" y="9"/>
                    <a:pt x="29" y="10"/>
                    <a:pt x="28" y="10"/>
                  </a:cubicBezTo>
                  <a:cubicBezTo>
                    <a:pt x="27" y="10"/>
                    <a:pt x="26" y="10"/>
                    <a:pt x="26" y="10"/>
                  </a:cubicBezTo>
                  <a:cubicBezTo>
                    <a:pt x="25" y="10"/>
                    <a:pt x="24" y="10"/>
                    <a:pt x="23" y="11"/>
                  </a:cubicBezTo>
                  <a:cubicBezTo>
                    <a:pt x="23" y="11"/>
                    <a:pt x="23" y="11"/>
                    <a:pt x="22" y="10"/>
                  </a:cubicBezTo>
                  <a:cubicBezTo>
                    <a:pt x="20" y="9"/>
                    <a:pt x="18" y="7"/>
                    <a:pt x="16" y="6"/>
                  </a:cubicBezTo>
                  <a:cubicBezTo>
                    <a:pt x="15" y="5"/>
                    <a:pt x="13" y="4"/>
                    <a:pt x="12" y="3"/>
                  </a:cubicBezTo>
                  <a:cubicBezTo>
                    <a:pt x="10" y="2"/>
                    <a:pt x="9" y="1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7" y="1"/>
                    <a:pt x="7" y="1"/>
                    <a:pt x="6" y="1"/>
                  </a:cubicBezTo>
                  <a:cubicBezTo>
                    <a:pt x="5" y="3"/>
                    <a:pt x="5" y="5"/>
                    <a:pt x="7" y="7"/>
                  </a:cubicBezTo>
                  <a:cubicBezTo>
                    <a:pt x="7" y="7"/>
                    <a:pt x="7" y="7"/>
                    <a:pt x="7" y="8"/>
                  </a:cubicBezTo>
                  <a:cubicBezTo>
                    <a:pt x="10" y="10"/>
                    <a:pt x="14" y="12"/>
                    <a:pt x="16" y="14"/>
                  </a:cubicBezTo>
                  <a:cubicBezTo>
                    <a:pt x="17" y="15"/>
                    <a:pt x="18" y="16"/>
                    <a:pt x="19" y="16"/>
                  </a:cubicBezTo>
                  <a:cubicBezTo>
                    <a:pt x="20" y="18"/>
                    <a:pt x="15" y="20"/>
                    <a:pt x="12" y="20"/>
                  </a:cubicBezTo>
                  <a:cubicBezTo>
                    <a:pt x="10" y="21"/>
                    <a:pt x="7" y="20"/>
                    <a:pt x="7" y="20"/>
                  </a:cubicBezTo>
                  <a:cubicBezTo>
                    <a:pt x="6" y="20"/>
                    <a:pt x="5" y="20"/>
                    <a:pt x="5" y="18"/>
                  </a:cubicBezTo>
                  <a:cubicBezTo>
                    <a:pt x="4" y="16"/>
                    <a:pt x="5" y="14"/>
                    <a:pt x="5" y="14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2"/>
                    <a:pt x="4" y="12"/>
                  </a:cubicBezTo>
                  <a:cubicBezTo>
                    <a:pt x="4" y="12"/>
                    <a:pt x="3" y="14"/>
                    <a:pt x="3" y="15"/>
                  </a:cubicBezTo>
                  <a:cubicBezTo>
                    <a:pt x="2" y="17"/>
                    <a:pt x="1" y="16"/>
                    <a:pt x="1" y="17"/>
                  </a:cubicBezTo>
                  <a:cubicBezTo>
                    <a:pt x="0" y="18"/>
                    <a:pt x="0" y="19"/>
                    <a:pt x="0" y="20"/>
                  </a:cubicBezTo>
                  <a:cubicBezTo>
                    <a:pt x="0" y="21"/>
                    <a:pt x="1" y="23"/>
                    <a:pt x="2" y="24"/>
                  </a:cubicBezTo>
                  <a:cubicBezTo>
                    <a:pt x="4" y="25"/>
                    <a:pt x="9" y="26"/>
                    <a:pt x="14" y="25"/>
                  </a:cubicBezTo>
                  <a:cubicBezTo>
                    <a:pt x="17" y="24"/>
                    <a:pt x="21" y="22"/>
                    <a:pt x="22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4" y="22"/>
                    <a:pt x="25" y="23"/>
                    <a:pt x="25" y="24"/>
                  </a:cubicBezTo>
                  <a:cubicBezTo>
                    <a:pt x="26" y="25"/>
                    <a:pt x="28" y="26"/>
                    <a:pt x="28" y="28"/>
                  </a:cubicBezTo>
                  <a:cubicBezTo>
                    <a:pt x="28" y="29"/>
                    <a:pt x="29" y="30"/>
                    <a:pt x="29" y="31"/>
                  </a:cubicBezTo>
                  <a:cubicBezTo>
                    <a:pt x="30" y="32"/>
                    <a:pt x="30" y="32"/>
                    <a:pt x="32" y="32"/>
                  </a:cubicBezTo>
                  <a:cubicBezTo>
                    <a:pt x="34" y="32"/>
                    <a:pt x="35" y="30"/>
                    <a:pt x="35" y="29"/>
                  </a:cubicBezTo>
                  <a:cubicBezTo>
                    <a:pt x="36" y="28"/>
                    <a:pt x="36" y="27"/>
                    <a:pt x="36" y="2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4" name="î$ľíḓè">
              <a:extLst>
                <a:ext uri="{FF2B5EF4-FFF2-40B4-BE49-F238E27FC236}">
                  <a16:creationId xmlns:a16="http://schemas.microsoft.com/office/drawing/2014/main" id="{5D7E9699-3D6B-FC72-0738-4584D44365BD}"/>
                </a:ext>
              </a:extLst>
            </p:cNvPr>
            <p:cNvSpPr/>
            <p:nvPr/>
          </p:nvSpPr>
          <p:spPr bwMode="auto">
            <a:xfrm>
              <a:off x="3636963" y="2936876"/>
              <a:ext cx="115888" cy="90488"/>
            </a:xfrm>
            <a:custGeom>
              <a:avLst/>
              <a:gdLst>
                <a:gd name="T0" fmla="*/ 0 w 32"/>
                <a:gd name="T1" fmla="*/ 7 h 25"/>
                <a:gd name="T2" fmla="*/ 1 w 32"/>
                <a:gd name="T3" fmla="*/ 8 h 25"/>
                <a:gd name="T4" fmla="*/ 2 w 32"/>
                <a:gd name="T5" fmla="*/ 11 h 25"/>
                <a:gd name="T6" fmla="*/ 4 w 32"/>
                <a:gd name="T7" fmla="*/ 12 h 25"/>
                <a:gd name="T8" fmla="*/ 6 w 32"/>
                <a:gd name="T9" fmla="*/ 11 h 25"/>
                <a:gd name="T10" fmla="*/ 7 w 32"/>
                <a:gd name="T11" fmla="*/ 9 h 25"/>
                <a:gd name="T12" fmla="*/ 11 w 32"/>
                <a:gd name="T13" fmla="*/ 8 h 25"/>
                <a:gd name="T14" fmla="*/ 12 w 32"/>
                <a:gd name="T15" fmla="*/ 8 h 25"/>
                <a:gd name="T16" fmla="*/ 11 w 32"/>
                <a:gd name="T17" fmla="*/ 8 h 25"/>
                <a:gd name="T18" fmla="*/ 11 w 32"/>
                <a:gd name="T19" fmla="*/ 13 h 25"/>
                <a:gd name="T20" fmla="*/ 10 w 32"/>
                <a:gd name="T21" fmla="*/ 14 h 25"/>
                <a:gd name="T22" fmla="*/ 8 w 32"/>
                <a:gd name="T23" fmla="*/ 13 h 25"/>
                <a:gd name="T24" fmla="*/ 6 w 32"/>
                <a:gd name="T25" fmla="*/ 13 h 25"/>
                <a:gd name="T26" fmla="*/ 4 w 32"/>
                <a:gd name="T27" fmla="*/ 14 h 25"/>
                <a:gd name="T28" fmla="*/ 6 w 32"/>
                <a:gd name="T29" fmla="*/ 15 h 25"/>
                <a:gd name="T30" fmla="*/ 22 w 32"/>
                <a:gd name="T31" fmla="*/ 22 h 25"/>
                <a:gd name="T32" fmla="*/ 24 w 32"/>
                <a:gd name="T33" fmla="*/ 23 h 25"/>
                <a:gd name="T34" fmla="*/ 25 w 32"/>
                <a:gd name="T35" fmla="*/ 23 h 25"/>
                <a:gd name="T36" fmla="*/ 26 w 32"/>
                <a:gd name="T37" fmla="*/ 24 h 25"/>
                <a:gd name="T38" fmla="*/ 28 w 32"/>
                <a:gd name="T39" fmla="*/ 25 h 25"/>
                <a:gd name="T40" fmla="*/ 30 w 32"/>
                <a:gd name="T41" fmla="*/ 24 h 25"/>
                <a:gd name="T42" fmla="*/ 31 w 32"/>
                <a:gd name="T43" fmla="*/ 23 h 25"/>
                <a:gd name="T44" fmla="*/ 32 w 32"/>
                <a:gd name="T45" fmla="*/ 22 h 25"/>
                <a:gd name="T46" fmla="*/ 32 w 32"/>
                <a:gd name="T47" fmla="*/ 19 h 25"/>
                <a:gd name="T48" fmla="*/ 31 w 32"/>
                <a:gd name="T49" fmla="*/ 17 h 25"/>
                <a:gd name="T50" fmla="*/ 29 w 32"/>
                <a:gd name="T51" fmla="*/ 16 h 25"/>
                <a:gd name="T52" fmla="*/ 28 w 32"/>
                <a:gd name="T53" fmla="*/ 15 h 25"/>
                <a:gd name="T54" fmla="*/ 28 w 32"/>
                <a:gd name="T55" fmla="*/ 15 h 25"/>
                <a:gd name="T56" fmla="*/ 28 w 32"/>
                <a:gd name="T57" fmla="*/ 16 h 25"/>
                <a:gd name="T58" fmla="*/ 27 w 32"/>
                <a:gd name="T59" fmla="*/ 17 h 25"/>
                <a:gd name="T60" fmla="*/ 24 w 32"/>
                <a:gd name="T61" fmla="*/ 17 h 25"/>
                <a:gd name="T62" fmla="*/ 14 w 32"/>
                <a:gd name="T63" fmla="*/ 15 h 25"/>
                <a:gd name="T64" fmla="*/ 16 w 32"/>
                <a:gd name="T65" fmla="*/ 14 h 25"/>
                <a:gd name="T66" fmla="*/ 20 w 32"/>
                <a:gd name="T67" fmla="*/ 11 h 25"/>
                <a:gd name="T68" fmla="*/ 21 w 32"/>
                <a:gd name="T69" fmla="*/ 8 h 25"/>
                <a:gd name="T70" fmla="*/ 20 w 32"/>
                <a:gd name="T71" fmla="*/ 7 h 25"/>
                <a:gd name="T72" fmla="*/ 19 w 32"/>
                <a:gd name="T73" fmla="*/ 7 h 25"/>
                <a:gd name="T74" fmla="*/ 16 w 32"/>
                <a:gd name="T75" fmla="*/ 7 h 25"/>
                <a:gd name="T76" fmla="*/ 11 w 32"/>
                <a:gd name="T77" fmla="*/ 7 h 25"/>
                <a:gd name="T78" fmla="*/ 11 w 32"/>
                <a:gd name="T79" fmla="*/ 7 h 25"/>
                <a:gd name="T80" fmla="*/ 11 w 32"/>
                <a:gd name="T81" fmla="*/ 6 h 25"/>
                <a:gd name="T82" fmla="*/ 13 w 32"/>
                <a:gd name="T83" fmla="*/ 4 h 25"/>
                <a:gd name="T84" fmla="*/ 13 w 32"/>
                <a:gd name="T85" fmla="*/ 1 h 25"/>
                <a:gd name="T86" fmla="*/ 9 w 32"/>
                <a:gd name="T87" fmla="*/ 0 h 25"/>
                <a:gd name="T88" fmla="*/ 4 w 32"/>
                <a:gd name="T89" fmla="*/ 2 h 25"/>
                <a:gd name="T90" fmla="*/ 2 w 32"/>
                <a:gd name="T91" fmla="*/ 4 h 25"/>
                <a:gd name="T92" fmla="*/ 0 w 32"/>
                <a:gd name="T93" fmla="*/ 7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2" h="25">
                  <a:moveTo>
                    <a:pt x="0" y="7"/>
                  </a:moveTo>
                  <a:cubicBezTo>
                    <a:pt x="0" y="8"/>
                    <a:pt x="1" y="8"/>
                    <a:pt x="1" y="8"/>
                  </a:cubicBezTo>
                  <a:cubicBezTo>
                    <a:pt x="1" y="10"/>
                    <a:pt x="1" y="11"/>
                    <a:pt x="2" y="11"/>
                  </a:cubicBezTo>
                  <a:cubicBezTo>
                    <a:pt x="2" y="12"/>
                    <a:pt x="3" y="12"/>
                    <a:pt x="4" y="12"/>
                  </a:cubicBezTo>
                  <a:cubicBezTo>
                    <a:pt x="4" y="11"/>
                    <a:pt x="5" y="11"/>
                    <a:pt x="6" y="11"/>
                  </a:cubicBezTo>
                  <a:cubicBezTo>
                    <a:pt x="6" y="10"/>
                    <a:pt x="7" y="10"/>
                    <a:pt x="7" y="9"/>
                  </a:cubicBezTo>
                  <a:cubicBezTo>
                    <a:pt x="8" y="8"/>
                    <a:pt x="10" y="8"/>
                    <a:pt x="11" y="8"/>
                  </a:cubicBezTo>
                  <a:cubicBezTo>
                    <a:pt x="11" y="8"/>
                    <a:pt x="11" y="8"/>
                    <a:pt x="12" y="8"/>
                  </a:cubicBezTo>
                  <a:cubicBezTo>
                    <a:pt x="12" y="8"/>
                    <a:pt x="12" y="8"/>
                    <a:pt x="11" y="8"/>
                  </a:cubicBezTo>
                  <a:cubicBezTo>
                    <a:pt x="11" y="10"/>
                    <a:pt x="11" y="11"/>
                    <a:pt x="11" y="13"/>
                  </a:cubicBezTo>
                  <a:cubicBezTo>
                    <a:pt x="11" y="14"/>
                    <a:pt x="10" y="14"/>
                    <a:pt x="10" y="14"/>
                  </a:cubicBezTo>
                  <a:cubicBezTo>
                    <a:pt x="10" y="14"/>
                    <a:pt x="8" y="13"/>
                    <a:pt x="8" y="13"/>
                  </a:cubicBezTo>
                  <a:cubicBezTo>
                    <a:pt x="7" y="13"/>
                    <a:pt x="6" y="13"/>
                    <a:pt x="6" y="13"/>
                  </a:cubicBezTo>
                  <a:cubicBezTo>
                    <a:pt x="6" y="14"/>
                    <a:pt x="4" y="14"/>
                    <a:pt x="4" y="14"/>
                  </a:cubicBezTo>
                  <a:cubicBezTo>
                    <a:pt x="4" y="15"/>
                    <a:pt x="6" y="15"/>
                    <a:pt x="6" y="15"/>
                  </a:cubicBezTo>
                  <a:cubicBezTo>
                    <a:pt x="6" y="15"/>
                    <a:pt x="20" y="21"/>
                    <a:pt x="22" y="22"/>
                  </a:cubicBezTo>
                  <a:cubicBezTo>
                    <a:pt x="23" y="22"/>
                    <a:pt x="24" y="23"/>
                    <a:pt x="24" y="23"/>
                  </a:cubicBezTo>
                  <a:cubicBezTo>
                    <a:pt x="24" y="23"/>
                    <a:pt x="25" y="23"/>
                    <a:pt x="25" y="23"/>
                  </a:cubicBezTo>
                  <a:cubicBezTo>
                    <a:pt x="25" y="24"/>
                    <a:pt x="26" y="24"/>
                    <a:pt x="26" y="24"/>
                  </a:cubicBezTo>
                  <a:cubicBezTo>
                    <a:pt x="27" y="24"/>
                    <a:pt x="28" y="25"/>
                    <a:pt x="28" y="25"/>
                  </a:cubicBezTo>
                  <a:cubicBezTo>
                    <a:pt x="29" y="24"/>
                    <a:pt x="30" y="24"/>
                    <a:pt x="30" y="24"/>
                  </a:cubicBezTo>
                  <a:cubicBezTo>
                    <a:pt x="30" y="24"/>
                    <a:pt x="31" y="23"/>
                    <a:pt x="31" y="23"/>
                  </a:cubicBezTo>
                  <a:cubicBezTo>
                    <a:pt x="31" y="23"/>
                    <a:pt x="32" y="22"/>
                    <a:pt x="32" y="22"/>
                  </a:cubicBezTo>
                  <a:cubicBezTo>
                    <a:pt x="32" y="21"/>
                    <a:pt x="32" y="20"/>
                    <a:pt x="32" y="19"/>
                  </a:cubicBezTo>
                  <a:cubicBezTo>
                    <a:pt x="32" y="19"/>
                    <a:pt x="32" y="18"/>
                    <a:pt x="31" y="17"/>
                  </a:cubicBezTo>
                  <a:cubicBezTo>
                    <a:pt x="30" y="17"/>
                    <a:pt x="30" y="16"/>
                    <a:pt x="29" y="16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7"/>
                    <a:pt x="28" y="17"/>
                    <a:pt x="27" y="17"/>
                  </a:cubicBezTo>
                  <a:cubicBezTo>
                    <a:pt x="26" y="17"/>
                    <a:pt x="25" y="17"/>
                    <a:pt x="24" y="17"/>
                  </a:cubicBezTo>
                  <a:cubicBezTo>
                    <a:pt x="22" y="17"/>
                    <a:pt x="15" y="15"/>
                    <a:pt x="14" y="15"/>
                  </a:cubicBezTo>
                  <a:cubicBezTo>
                    <a:pt x="14" y="15"/>
                    <a:pt x="16" y="14"/>
                    <a:pt x="16" y="14"/>
                  </a:cubicBezTo>
                  <a:cubicBezTo>
                    <a:pt x="18" y="13"/>
                    <a:pt x="20" y="12"/>
                    <a:pt x="20" y="11"/>
                  </a:cubicBezTo>
                  <a:cubicBezTo>
                    <a:pt x="21" y="10"/>
                    <a:pt x="21" y="9"/>
                    <a:pt x="21" y="8"/>
                  </a:cubicBezTo>
                  <a:cubicBezTo>
                    <a:pt x="21" y="8"/>
                    <a:pt x="20" y="8"/>
                    <a:pt x="20" y="7"/>
                  </a:cubicBezTo>
                  <a:cubicBezTo>
                    <a:pt x="20" y="7"/>
                    <a:pt x="19" y="7"/>
                    <a:pt x="19" y="7"/>
                  </a:cubicBezTo>
                  <a:cubicBezTo>
                    <a:pt x="18" y="6"/>
                    <a:pt x="17" y="6"/>
                    <a:pt x="16" y="7"/>
                  </a:cubicBezTo>
                  <a:cubicBezTo>
                    <a:pt x="14" y="7"/>
                    <a:pt x="13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2" y="5"/>
                    <a:pt x="13" y="4"/>
                    <a:pt x="13" y="4"/>
                  </a:cubicBezTo>
                  <a:cubicBezTo>
                    <a:pt x="14" y="3"/>
                    <a:pt x="14" y="2"/>
                    <a:pt x="13" y="1"/>
                  </a:cubicBezTo>
                  <a:cubicBezTo>
                    <a:pt x="12" y="1"/>
                    <a:pt x="11" y="0"/>
                    <a:pt x="9" y="0"/>
                  </a:cubicBezTo>
                  <a:cubicBezTo>
                    <a:pt x="7" y="1"/>
                    <a:pt x="6" y="1"/>
                    <a:pt x="4" y="2"/>
                  </a:cubicBezTo>
                  <a:cubicBezTo>
                    <a:pt x="3" y="3"/>
                    <a:pt x="3" y="3"/>
                    <a:pt x="2" y="4"/>
                  </a:cubicBezTo>
                  <a:cubicBezTo>
                    <a:pt x="1" y="5"/>
                    <a:pt x="0" y="6"/>
                    <a:pt x="0" y="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5" name="ïsľíďe">
              <a:extLst>
                <a:ext uri="{FF2B5EF4-FFF2-40B4-BE49-F238E27FC236}">
                  <a16:creationId xmlns:a16="http://schemas.microsoft.com/office/drawing/2014/main" id="{C4B81C1C-0532-C6A3-9942-997F89B23F17}"/>
                </a:ext>
              </a:extLst>
            </p:cNvPr>
            <p:cNvSpPr/>
            <p:nvPr/>
          </p:nvSpPr>
          <p:spPr bwMode="auto">
            <a:xfrm>
              <a:off x="3616325" y="2971801"/>
              <a:ext cx="96838" cy="106363"/>
            </a:xfrm>
            <a:custGeom>
              <a:avLst/>
              <a:gdLst>
                <a:gd name="T0" fmla="*/ 26 w 27"/>
                <a:gd name="T1" fmla="*/ 26 h 29"/>
                <a:gd name="T2" fmla="*/ 27 w 27"/>
                <a:gd name="T3" fmla="*/ 21 h 29"/>
                <a:gd name="T4" fmla="*/ 22 w 27"/>
                <a:gd name="T5" fmla="*/ 14 h 29"/>
                <a:gd name="T6" fmla="*/ 16 w 27"/>
                <a:gd name="T7" fmla="*/ 9 h 29"/>
                <a:gd name="T8" fmla="*/ 7 w 27"/>
                <a:gd name="T9" fmla="*/ 3 h 29"/>
                <a:gd name="T10" fmla="*/ 0 w 27"/>
                <a:gd name="T11" fmla="*/ 0 h 29"/>
                <a:gd name="T12" fmla="*/ 0 w 27"/>
                <a:gd name="T13" fmla="*/ 1 h 29"/>
                <a:gd name="T14" fmla="*/ 2 w 27"/>
                <a:gd name="T15" fmla="*/ 3 h 29"/>
                <a:gd name="T16" fmla="*/ 5 w 27"/>
                <a:gd name="T17" fmla="*/ 6 h 29"/>
                <a:gd name="T18" fmla="*/ 9 w 27"/>
                <a:gd name="T19" fmla="*/ 8 h 29"/>
                <a:gd name="T20" fmla="*/ 17 w 27"/>
                <a:gd name="T21" fmla="*/ 12 h 29"/>
                <a:gd name="T22" fmla="*/ 24 w 27"/>
                <a:gd name="T23" fmla="*/ 20 h 29"/>
                <a:gd name="T24" fmla="*/ 24 w 27"/>
                <a:gd name="T25" fmla="*/ 23 h 29"/>
                <a:gd name="T26" fmla="*/ 20 w 27"/>
                <a:gd name="T27" fmla="*/ 24 h 29"/>
                <a:gd name="T28" fmla="*/ 16 w 27"/>
                <a:gd name="T29" fmla="*/ 22 h 29"/>
                <a:gd name="T30" fmla="*/ 11 w 27"/>
                <a:gd name="T31" fmla="*/ 20 h 29"/>
                <a:gd name="T32" fmla="*/ 10 w 27"/>
                <a:gd name="T33" fmla="*/ 20 h 29"/>
                <a:gd name="T34" fmla="*/ 10 w 27"/>
                <a:gd name="T35" fmla="*/ 20 h 29"/>
                <a:gd name="T36" fmla="*/ 10 w 27"/>
                <a:gd name="T37" fmla="*/ 20 h 29"/>
                <a:gd name="T38" fmla="*/ 11 w 27"/>
                <a:gd name="T39" fmla="*/ 21 h 29"/>
                <a:gd name="T40" fmla="*/ 12 w 27"/>
                <a:gd name="T41" fmla="*/ 23 h 29"/>
                <a:gd name="T42" fmla="*/ 19 w 27"/>
                <a:gd name="T43" fmla="*/ 28 h 29"/>
                <a:gd name="T44" fmla="*/ 24 w 27"/>
                <a:gd name="T45" fmla="*/ 28 h 29"/>
                <a:gd name="T46" fmla="*/ 26 w 27"/>
                <a:gd name="T47" fmla="*/ 2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7" h="29">
                  <a:moveTo>
                    <a:pt x="26" y="26"/>
                  </a:moveTo>
                  <a:cubicBezTo>
                    <a:pt x="27" y="24"/>
                    <a:pt x="27" y="23"/>
                    <a:pt x="27" y="21"/>
                  </a:cubicBezTo>
                  <a:cubicBezTo>
                    <a:pt x="26" y="19"/>
                    <a:pt x="24" y="16"/>
                    <a:pt x="22" y="14"/>
                  </a:cubicBezTo>
                  <a:cubicBezTo>
                    <a:pt x="20" y="12"/>
                    <a:pt x="20" y="11"/>
                    <a:pt x="16" y="9"/>
                  </a:cubicBezTo>
                  <a:cubicBezTo>
                    <a:pt x="12" y="6"/>
                    <a:pt x="8" y="4"/>
                    <a:pt x="7" y="3"/>
                  </a:cubicBezTo>
                  <a:cubicBezTo>
                    <a:pt x="5" y="3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2" y="3"/>
                    <a:pt x="2" y="3"/>
                  </a:cubicBezTo>
                  <a:cubicBezTo>
                    <a:pt x="3" y="4"/>
                    <a:pt x="4" y="6"/>
                    <a:pt x="5" y="6"/>
                  </a:cubicBezTo>
                  <a:cubicBezTo>
                    <a:pt x="7" y="7"/>
                    <a:pt x="8" y="8"/>
                    <a:pt x="9" y="8"/>
                  </a:cubicBezTo>
                  <a:cubicBezTo>
                    <a:pt x="12" y="9"/>
                    <a:pt x="16" y="12"/>
                    <a:pt x="17" y="12"/>
                  </a:cubicBezTo>
                  <a:cubicBezTo>
                    <a:pt x="20" y="15"/>
                    <a:pt x="23" y="18"/>
                    <a:pt x="24" y="20"/>
                  </a:cubicBezTo>
                  <a:cubicBezTo>
                    <a:pt x="25" y="21"/>
                    <a:pt x="25" y="22"/>
                    <a:pt x="24" y="23"/>
                  </a:cubicBezTo>
                  <a:cubicBezTo>
                    <a:pt x="23" y="24"/>
                    <a:pt x="21" y="24"/>
                    <a:pt x="20" y="24"/>
                  </a:cubicBezTo>
                  <a:cubicBezTo>
                    <a:pt x="19" y="23"/>
                    <a:pt x="17" y="23"/>
                    <a:pt x="16" y="22"/>
                  </a:cubicBezTo>
                  <a:cubicBezTo>
                    <a:pt x="14" y="21"/>
                    <a:pt x="11" y="20"/>
                    <a:pt x="11" y="20"/>
                  </a:cubicBezTo>
                  <a:cubicBezTo>
                    <a:pt x="11" y="20"/>
                    <a:pt x="11" y="20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0" y="20"/>
                    <a:pt x="11" y="21"/>
                  </a:cubicBezTo>
                  <a:cubicBezTo>
                    <a:pt x="11" y="21"/>
                    <a:pt x="12" y="23"/>
                    <a:pt x="12" y="23"/>
                  </a:cubicBezTo>
                  <a:cubicBezTo>
                    <a:pt x="13" y="24"/>
                    <a:pt x="15" y="27"/>
                    <a:pt x="19" y="28"/>
                  </a:cubicBezTo>
                  <a:cubicBezTo>
                    <a:pt x="21" y="28"/>
                    <a:pt x="22" y="29"/>
                    <a:pt x="24" y="28"/>
                  </a:cubicBezTo>
                  <a:cubicBezTo>
                    <a:pt x="25" y="27"/>
                    <a:pt x="26" y="27"/>
                    <a:pt x="26" y="2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6" name="íšḷïdé">
              <a:extLst>
                <a:ext uri="{FF2B5EF4-FFF2-40B4-BE49-F238E27FC236}">
                  <a16:creationId xmlns:a16="http://schemas.microsoft.com/office/drawing/2014/main" id="{6FF4AAFA-35BD-5C29-0A35-5A7291B273E1}"/>
                </a:ext>
              </a:extLst>
            </p:cNvPr>
            <p:cNvSpPr/>
            <p:nvPr/>
          </p:nvSpPr>
          <p:spPr bwMode="auto">
            <a:xfrm>
              <a:off x="3651250" y="304482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7" name="ïslîḍê">
              <a:extLst>
                <a:ext uri="{FF2B5EF4-FFF2-40B4-BE49-F238E27FC236}">
                  <a16:creationId xmlns:a16="http://schemas.microsoft.com/office/drawing/2014/main" id="{0A5B9A3B-659D-C997-57D2-EDCCB3D8632A}"/>
                </a:ext>
              </a:extLst>
            </p:cNvPr>
            <p:cNvSpPr/>
            <p:nvPr/>
          </p:nvSpPr>
          <p:spPr bwMode="auto">
            <a:xfrm>
              <a:off x="3651250" y="3044826"/>
              <a:ext cx="4763" cy="0"/>
            </a:xfrm>
            <a:custGeom>
              <a:avLst/>
              <a:gdLst>
                <a:gd name="T0" fmla="*/ 0 w 1"/>
                <a:gd name="T1" fmla="*/ 0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8" name="îŝľíḍè">
              <a:extLst>
                <a:ext uri="{FF2B5EF4-FFF2-40B4-BE49-F238E27FC236}">
                  <a16:creationId xmlns:a16="http://schemas.microsoft.com/office/drawing/2014/main" id="{51972F81-9B84-D8A0-10D9-90F4B70D7A0C}"/>
                </a:ext>
              </a:extLst>
            </p:cNvPr>
            <p:cNvSpPr/>
            <p:nvPr/>
          </p:nvSpPr>
          <p:spPr bwMode="auto">
            <a:xfrm>
              <a:off x="3560763" y="2951163"/>
              <a:ext cx="44450" cy="36513"/>
            </a:xfrm>
            <a:custGeom>
              <a:avLst/>
              <a:gdLst>
                <a:gd name="T0" fmla="*/ 3 w 12"/>
                <a:gd name="T1" fmla="*/ 9 h 10"/>
                <a:gd name="T2" fmla="*/ 6 w 12"/>
                <a:gd name="T3" fmla="*/ 8 h 10"/>
                <a:gd name="T4" fmla="*/ 11 w 12"/>
                <a:gd name="T5" fmla="*/ 5 h 10"/>
                <a:gd name="T6" fmla="*/ 12 w 12"/>
                <a:gd name="T7" fmla="*/ 4 h 10"/>
                <a:gd name="T8" fmla="*/ 12 w 12"/>
                <a:gd name="T9" fmla="*/ 3 h 10"/>
                <a:gd name="T10" fmla="*/ 11 w 12"/>
                <a:gd name="T11" fmla="*/ 1 h 10"/>
                <a:gd name="T12" fmla="*/ 10 w 12"/>
                <a:gd name="T13" fmla="*/ 1 h 10"/>
                <a:gd name="T14" fmla="*/ 8 w 12"/>
                <a:gd name="T15" fmla="*/ 1 h 10"/>
                <a:gd name="T16" fmla="*/ 2 w 12"/>
                <a:gd name="T17" fmla="*/ 3 h 10"/>
                <a:gd name="T18" fmla="*/ 0 w 12"/>
                <a:gd name="T19" fmla="*/ 7 h 10"/>
                <a:gd name="T20" fmla="*/ 1 w 12"/>
                <a:gd name="T21" fmla="*/ 8 h 10"/>
                <a:gd name="T22" fmla="*/ 3 w 12"/>
                <a:gd name="T23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10">
                  <a:moveTo>
                    <a:pt x="3" y="9"/>
                  </a:moveTo>
                  <a:cubicBezTo>
                    <a:pt x="4" y="9"/>
                    <a:pt x="5" y="8"/>
                    <a:pt x="6" y="8"/>
                  </a:cubicBezTo>
                  <a:cubicBezTo>
                    <a:pt x="8" y="7"/>
                    <a:pt x="9" y="6"/>
                    <a:pt x="11" y="5"/>
                  </a:cubicBezTo>
                  <a:cubicBezTo>
                    <a:pt x="12" y="5"/>
                    <a:pt x="12" y="4"/>
                    <a:pt x="12" y="4"/>
                  </a:cubicBezTo>
                  <a:cubicBezTo>
                    <a:pt x="12" y="4"/>
                    <a:pt x="12" y="3"/>
                    <a:pt x="12" y="3"/>
                  </a:cubicBezTo>
                  <a:cubicBezTo>
                    <a:pt x="12" y="3"/>
                    <a:pt x="11" y="2"/>
                    <a:pt x="11" y="1"/>
                  </a:cubicBezTo>
                  <a:cubicBezTo>
                    <a:pt x="11" y="1"/>
                    <a:pt x="11" y="1"/>
                    <a:pt x="10" y="1"/>
                  </a:cubicBezTo>
                  <a:cubicBezTo>
                    <a:pt x="9" y="0"/>
                    <a:pt x="8" y="0"/>
                    <a:pt x="8" y="1"/>
                  </a:cubicBezTo>
                  <a:cubicBezTo>
                    <a:pt x="6" y="1"/>
                    <a:pt x="4" y="2"/>
                    <a:pt x="2" y="3"/>
                  </a:cubicBezTo>
                  <a:cubicBezTo>
                    <a:pt x="0" y="3"/>
                    <a:pt x="0" y="5"/>
                    <a:pt x="0" y="7"/>
                  </a:cubicBezTo>
                  <a:cubicBezTo>
                    <a:pt x="1" y="7"/>
                    <a:pt x="1" y="8"/>
                    <a:pt x="1" y="8"/>
                  </a:cubicBezTo>
                  <a:cubicBezTo>
                    <a:pt x="2" y="9"/>
                    <a:pt x="2" y="10"/>
                    <a:pt x="3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9" name="íşľîḑé">
              <a:extLst>
                <a:ext uri="{FF2B5EF4-FFF2-40B4-BE49-F238E27FC236}">
                  <a16:creationId xmlns:a16="http://schemas.microsoft.com/office/drawing/2014/main" id="{6433D098-631C-7239-1F92-D6E56ED392DE}"/>
                </a:ext>
              </a:extLst>
            </p:cNvPr>
            <p:cNvSpPr/>
            <p:nvPr/>
          </p:nvSpPr>
          <p:spPr bwMode="auto">
            <a:xfrm>
              <a:off x="2205038" y="2925763"/>
              <a:ext cx="220663" cy="198438"/>
            </a:xfrm>
            <a:custGeom>
              <a:avLst/>
              <a:gdLst>
                <a:gd name="T0" fmla="*/ 23 w 61"/>
                <a:gd name="T1" fmla="*/ 15 h 55"/>
                <a:gd name="T2" fmla="*/ 21 w 61"/>
                <a:gd name="T3" fmla="*/ 20 h 55"/>
                <a:gd name="T4" fmla="*/ 17 w 61"/>
                <a:gd name="T5" fmla="*/ 12 h 55"/>
                <a:gd name="T6" fmla="*/ 19 w 61"/>
                <a:gd name="T7" fmla="*/ 8 h 55"/>
                <a:gd name="T8" fmla="*/ 17 w 61"/>
                <a:gd name="T9" fmla="*/ 2 h 55"/>
                <a:gd name="T10" fmla="*/ 14 w 61"/>
                <a:gd name="T11" fmla="*/ 2 h 55"/>
                <a:gd name="T12" fmla="*/ 12 w 61"/>
                <a:gd name="T13" fmla="*/ 5 h 55"/>
                <a:gd name="T14" fmla="*/ 8 w 61"/>
                <a:gd name="T15" fmla="*/ 3 h 55"/>
                <a:gd name="T16" fmla="*/ 2 w 61"/>
                <a:gd name="T17" fmla="*/ 10 h 55"/>
                <a:gd name="T18" fmla="*/ 9 w 61"/>
                <a:gd name="T19" fmla="*/ 15 h 55"/>
                <a:gd name="T20" fmla="*/ 10 w 61"/>
                <a:gd name="T21" fmla="*/ 18 h 55"/>
                <a:gd name="T22" fmla="*/ 10 w 61"/>
                <a:gd name="T23" fmla="*/ 24 h 55"/>
                <a:gd name="T24" fmla="*/ 16 w 61"/>
                <a:gd name="T25" fmla="*/ 25 h 55"/>
                <a:gd name="T26" fmla="*/ 21 w 61"/>
                <a:gd name="T27" fmla="*/ 35 h 55"/>
                <a:gd name="T28" fmla="*/ 20 w 61"/>
                <a:gd name="T29" fmla="*/ 37 h 55"/>
                <a:gd name="T30" fmla="*/ 25 w 61"/>
                <a:gd name="T31" fmla="*/ 46 h 55"/>
                <a:gd name="T32" fmla="*/ 39 w 61"/>
                <a:gd name="T33" fmla="*/ 54 h 55"/>
                <a:gd name="T34" fmla="*/ 43 w 61"/>
                <a:gd name="T35" fmla="*/ 54 h 55"/>
                <a:gd name="T36" fmla="*/ 45 w 61"/>
                <a:gd name="T37" fmla="*/ 52 h 55"/>
                <a:gd name="T38" fmla="*/ 41 w 61"/>
                <a:gd name="T39" fmla="*/ 47 h 55"/>
                <a:gd name="T40" fmla="*/ 31 w 61"/>
                <a:gd name="T41" fmla="*/ 42 h 55"/>
                <a:gd name="T42" fmla="*/ 27 w 61"/>
                <a:gd name="T43" fmla="*/ 37 h 55"/>
                <a:gd name="T44" fmla="*/ 27 w 61"/>
                <a:gd name="T45" fmla="*/ 33 h 55"/>
                <a:gd name="T46" fmla="*/ 26 w 61"/>
                <a:gd name="T47" fmla="*/ 25 h 55"/>
                <a:gd name="T48" fmla="*/ 26 w 61"/>
                <a:gd name="T49" fmla="*/ 25 h 55"/>
                <a:gd name="T50" fmla="*/ 26 w 61"/>
                <a:gd name="T51" fmla="*/ 22 h 55"/>
                <a:gd name="T52" fmla="*/ 32 w 61"/>
                <a:gd name="T53" fmla="*/ 6 h 55"/>
                <a:gd name="T54" fmla="*/ 44 w 61"/>
                <a:gd name="T55" fmla="*/ 10 h 55"/>
                <a:gd name="T56" fmla="*/ 52 w 61"/>
                <a:gd name="T57" fmla="*/ 20 h 55"/>
                <a:gd name="T58" fmla="*/ 54 w 61"/>
                <a:gd name="T59" fmla="*/ 27 h 55"/>
                <a:gd name="T60" fmla="*/ 49 w 61"/>
                <a:gd name="T61" fmla="*/ 31 h 55"/>
                <a:gd name="T62" fmla="*/ 46 w 61"/>
                <a:gd name="T63" fmla="*/ 27 h 55"/>
                <a:gd name="T64" fmla="*/ 42 w 61"/>
                <a:gd name="T65" fmla="*/ 25 h 55"/>
                <a:gd name="T66" fmla="*/ 41 w 61"/>
                <a:gd name="T67" fmla="*/ 28 h 55"/>
                <a:gd name="T68" fmla="*/ 40 w 61"/>
                <a:gd name="T69" fmla="*/ 28 h 55"/>
                <a:gd name="T70" fmla="*/ 38 w 61"/>
                <a:gd name="T71" fmla="*/ 20 h 55"/>
                <a:gd name="T72" fmla="*/ 34 w 61"/>
                <a:gd name="T73" fmla="*/ 19 h 55"/>
                <a:gd name="T74" fmla="*/ 28 w 61"/>
                <a:gd name="T75" fmla="*/ 16 h 55"/>
                <a:gd name="T76" fmla="*/ 28 w 61"/>
                <a:gd name="T77" fmla="*/ 19 h 55"/>
                <a:gd name="T78" fmla="*/ 30 w 61"/>
                <a:gd name="T79" fmla="*/ 24 h 55"/>
                <a:gd name="T80" fmla="*/ 28 w 61"/>
                <a:gd name="T81" fmla="*/ 24 h 55"/>
                <a:gd name="T82" fmla="*/ 26 w 61"/>
                <a:gd name="T83" fmla="*/ 25 h 55"/>
                <a:gd name="T84" fmla="*/ 26 w 61"/>
                <a:gd name="T85" fmla="*/ 25 h 55"/>
                <a:gd name="T86" fmla="*/ 29 w 61"/>
                <a:gd name="T87" fmla="*/ 28 h 55"/>
                <a:gd name="T88" fmla="*/ 32 w 61"/>
                <a:gd name="T89" fmla="*/ 29 h 55"/>
                <a:gd name="T90" fmla="*/ 36 w 61"/>
                <a:gd name="T91" fmla="*/ 36 h 55"/>
                <a:gd name="T92" fmla="*/ 38 w 61"/>
                <a:gd name="T93" fmla="*/ 34 h 55"/>
                <a:gd name="T94" fmla="*/ 40 w 61"/>
                <a:gd name="T95" fmla="*/ 39 h 55"/>
                <a:gd name="T96" fmla="*/ 42 w 61"/>
                <a:gd name="T97" fmla="*/ 40 h 55"/>
                <a:gd name="T98" fmla="*/ 44 w 61"/>
                <a:gd name="T99" fmla="*/ 38 h 55"/>
                <a:gd name="T100" fmla="*/ 47 w 61"/>
                <a:gd name="T101" fmla="*/ 33 h 55"/>
                <a:gd name="T102" fmla="*/ 58 w 61"/>
                <a:gd name="T103" fmla="*/ 41 h 55"/>
                <a:gd name="T104" fmla="*/ 61 w 61"/>
                <a:gd name="T105" fmla="*/ 42 h 55"/>
                <a:gd name="T106" fmla="*/ 60 w 61"/>
                <a:gd name="T107" fmla="*/ 40 h 55"/>
                <a:gd name="T108" fmla="*/ 52 w 61"/>
                <a:gd name="T109" fmla="*/ 34 h 55"/>
                <a:gd name="T110" fmla="*/ 50 w 61"/>
                <a:gd name="T111" fmla="*/ 31 h 55"/>
                <a:gd name="T112" fmla="*/ 53 w 61"/>
                <a:gd name="T113" fmla="*/ 31 h 55"/>
                <a:gd name="T114" fmla="*/ 54 w 61"/>
                <a:gd name="T115" fmla="*/ 32 h 55"/>
                <a:gd name="T116" fmla="*/ 58 w 61"/>
                <a:gd name="T117" fmla="*/ 31 h 55"/>
                <a:gd name="T118" fmla="*/ 59 w 61"/>
                <a:gd name="T119" fmla="*/ 22 h 55"/>
                <a:gd name="T120" fmla="*/ 52 w 61"/>
                <a:gd name="T121" fmla="*/ 12 h 55"/>
                <a:gd name="T122" fmla="*/ 45 w 61"/>
                <a:gd name="T123" fmla="*/ 5 h 55"/>
                <a:gd name="T124" fmla="*/ 37 w 61"/>
                <a:gd name="T125" fmla="*/ 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30" y="3"/>
                  </a:moveTo>
                  <a:cubicBezTo>
                    <a:pt x="26" y="6"/>
                    <a:pt x="24" y="10"/>
                    <a:pt x="23" y="15"/>
                  </a:cubicBezTo>
                  <a:cubicBezTo>
                    <a:pt x="23" y="16"/>
                    <a:pt x="22" y="18"/>
                    <a:pt x="22" y="19"/>
                  </a:cubicBezTo>
                  <a:cubicBezTo>
                    <a:pt x="22" y="20"/>
                    <a:pt x="21" y="20"/>
                    <a:pt x="21" y="20"/>
                  </a:cubicBezTo>
                  <a:cubicBezTo>
                    <a:pt x="21" y="19"/>
                    <a:pt x="20" y="19"/>
                    <a:pt x="20" y="18"/>
                  </a:cubicBezTo>
                  <a:cubicBezTo>
                    <a:pt x="18" y="17"/>
                    <a:pt x="18" y="15"/>
                    <a:pt x="17" y="12"/>
                  </a:cubicBezTo>
                  <a:cubicBezTo>
                    <a:pt x="17" y="12"/>
                    <a:pt x="17" y="11"/>
                    <a:pt x="18" y="10"/>
                  </a:cubicBezTo>
                  <a:cubicBezTo>
                    <a:pt x="18" y="9"/>
                    <a:pt x="18" y="8"/>
                    <a:pt x="19" y="8"/>
                  </a:cubicBezTo>
                  <a:cubicBezTo>
                    <a:pt x="19" y="6"/>
                    <a:pt x="19" y="5"/>
                    <a:pt x="19" y="4"/>
                  </a:cubicBezTo>
                  <a:cubicBezTo>
                    <a:pt x="18" y="3"/>
                    <a:pt x="18" y="3"/>
                    <a:pt x="17" y="2"/>
                  </a:cubicBezTo>
                  <a:cubicBezTo>
                    <a:pt x="17" y="2"/>
                    <a:pt x="16" y="2"/>
                    <a:pt x="15" y="2"/>
                  </a:cubicBezTo>
                  <a:cubicBezTo>
                    <a:pt x="15" y="2"/>
                    <a:pt x="14" y="2"/>
                    <a:pt x="14" y="2"/>
                  </a:cubicBezTo>
                  <a:cubicBezTo>
                    <a:pt x="13" y="3"/>
                    <a:pt x="13" y="3"/>
                    <a:pt x="13" y="4"/>
                  </a:cubicBezTo>
                  <a:cubicBezTo>
                    <a:pt x="13" y="4"/>
                    <a:pt x="12" y="5"/>
                    <a:pt x="12" y="5"/>
                  </a:cubicBezTo>
                  <a:cubicBezTo>
                    <a:pt x="12" y="6"/>
                    <a:pt x="11" y="5"/>
                    <a:pt x="11" y="4"/>
                  </a:cubicBezTo>
                  <a:cubicBezTo>
                    <a:pt x="10" y="3"/>
                    <a:pt x="9" y="3"/>
                    <a:pt x="8" y="3"/>
                  </a:cubicBezTo>
                  <a:cubicBezTo>
                    <a:pt x="5" y="3"/>
                    <a:pt x="3" y="3"/>
                    <a:pt x="1" y="6"/>
                  </a:cubicBezTo>
                  <a:cubicBezTo>
                    <a:pt x="0" y="7"/>
                    <a:pt x="1" y="9"/>
                    <a:pt x="2" y="10"/>
                  </a:cubicBezTo>
                  <a:cubicBezTo>
                    <a:pt x="4" y="10"/>
                    <a:pt x="4" y="10"/>
                    <a:pt x="5" y="11"/>
                  </a:cubicBezTo>
                  <a:cubicBezTo>
                    <a:pt x="6" y="12"/>
                    <a:pt x="8" y="13"/>
                    <a:pt x="9" y="15"/>
                  </a:cubicBezTo>
                  <a:cubicBezTo>
                    <a:pt x="9" y="15"/>
                    <a:pt x="10" y="16"/>
                    <a:pt x="10" y="17"/>
                  </a:cubicBezTo>
                  <a:cubicBezTo>
                    <a:pt x="10" y="17"/>
                    <a:pt x="10" y="17"/>
                    <a:pt x="10" y="18"/>
                  </a:cubicBezTo>
                  <a:cubicBezTo>
                    <a:pt x="10" y="19"/>
                    <a:pt x="10" y="20"/>
                    <a:pt x="9" y="21"/>
                  </a:cubicBezTo>
                  <a:cubicBezTo>
                    <a:pt x="9" y="22"/>
                    <a:pt x="9" y="23"/>
                    <a:pt x="10" y="24"/>
                  </a:cubicBezTo>
                  <a:cubicBezTo>
                    <a:pt x="11" y="25"/>
                    <a:pt x="14" y="26"/>
                    <a:pt x="15" y="25"/>
                  </a:cubicBezTo>
                  <a:cubicBezTo>
                    <a:pt x="16" y="24"/>
                    <a:pt x="16" y="24"/>
                    <a:pt x="16" y="25"/>
                  </a:cubicBezTo>
                  <a:cubicBezTo>
                    <a:pt x="17" y="26"/>
                    <a:pt x="18" y="28"/>
                    <a:pt x="19" y="30"/>
                  </a:cubicBezTo>
                  <a:cubicBezTo>
                    <a:pt x="20" y="31"/>
                    <a:pt x="20" y="33"/>
                    <a:pt x="21" y="35"/>
                  </a:cubicBezTo>
                  <a:cubicBezTo>
                    <a:pt x="21" y="35"/>
                    <a:pt x="21" y="36"/>
                    <a:pt x="21" y="36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20" y="39"/>
                    <a:pt x="21" y="41"/>
                    <a:pt x="22" y="43"/>
                  </a:cubicBezTo>
                  <a:cubicBezTo>
                    <a:pt x="23" y="44"/>
                    <a:pt x="24" y="46"/>
                    <a:pt x="25" y="46"/>
                  </a:cubicBezTo>
                  <a:cubicBezTo>
                    <a:pt x="28" y="48"/>
                    <a:pt x="30" y="49"/>
                    <a:pt x="32" y="51"/>
                  </a:cubicBezTo>
                  <a:cubicBezTo>
                    <a:pt x="34" y="52"/>
                    <a:pt x="37" y="53"/>
                    <a:pt x="39" y="54"/>
                  </a:cubicBezTo>
                  <a:cubicBezTo>
                    <a:pt x="39" y="54"/>
                    <a:pt x="39" y="55"/>
                    <a:pt x="40" y="54"/>
                  </a:cubicBezTo>
                  <a:cubicBezTo>
                    <a:pt x="41" y="54"/>
                    <a:pt x="42" y="54"/>
                    <a:pt x="43" y="54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4" y="53"/>
                    <a:pt x="45" y="52"/>
                    <a:pt x="45" y="52"/>
                  </a:cubicBezTo>
                  <a:cubicBezTo>
                    <a:pt x="46" y="51"/>
                    <a:pt x="46" y="50"/>
                    <a:pt x="46" y="50"/>
                  </a:cubicBezTo>
                  <a:cubicBezTo>
                    <a:pt x="44" y="49"/>
                    <a:pt x="43" y="47"/>
                    <a:pt x="41" y="47"/>
                  </a:cubicBezTo>
                  <a:cubicBezTo>
                    <a:pt x="40" y="47"/>
                    <a:pt x="39" y="46"/>
                    <a:pt x="38" y="46"/>
                  </a:cubicBezTo>
                  <a:cubicBezTo>
                    <a:pt x="35" y="45"/>
                    <a:pt x="33" y="43"/>
                    <a:pt x="31" y="42"/>
                  </a:cubicBezTo>
                  <a:cubicBezTo>
                    <a:pt x="29" y="41"/>
                    <a:pt x="28" y="40"/>
                    <a:pt x="27" y="40"/>
                  </a:cubicBezTo>
                  <a:cubicBezTo>
                    <a:pt x="26" y="39"/>
                    <a:pt x="26" y="38"/>
                    <a:pt x="27" y="37"/>
                  </a:cubicBezTo>
                  <a:cubicBezTo>
                    <a:pt x="27" y="37"/>
                    <a:pt x="27" y="37"/>
                    <a:pt x="27" y="36"/>
                  </a:cubicBezTo>
                  <a:cubicBezTo>
                    <a:pt x="28" y="35"/>
                    <a:pt x="28" y="34"/>
                    <a:pt x="27" y="33"/>
                  </a:cubicBezTo>
                  <a:cubicBezTo>
                    <a:pt x="27" y="32"/>
                    <a:pt x="27" y="30"/>
                    <a:pt x="27" y="29"/>
                  </a:cubicBezTo>
                  <a:cubicBezTo>
                    <a:pt x="26" y="27"/>
                    <a:pt x="26" y="26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4"/>
                    <a:pt x="26" y="23"/>
                  </a:cubicBezTo>
                  <a:cubicBezTo>
                    <a:pt x="26" y="23"/>
                    <a:pt x="26" y="22"/>
                    <a:pt x="26" y="22"/>
                  </a:cubicBezTo>
                  <a:cubicBezTo>
                    <a:pt x="26" y="20"/>
                    <a:pt x="26" y="18"/>
                    <a:pt x="27" y="17"/>
                  </a:cubicBezTo>
                  <a:cubicBezTo>
                    <a:pt x="27" y="13"/>
                    <a:pt x="29" y="9"/>
                    <a:pt x="32" y="6"/>
                  </a:cubicBezTo>
                  <a:cubicBezTo>
                    <a:pt x="35" y="4"/>
                    <a:pt x="37" y="4"/>
                    <a:pt x="40" y="6"/>
                  </a:cubicBezTo>
                  <a:cubicBezTo>
                    <a:pt x="41" y="7"/>
                    <a:pt x="43" y="9"/>
                    <a:pt x="44" y="10"/>
                  </a:cubicBezTo>
                  <a:cubicBezTo>
                    <a:pt x="45" y="10"/>
                    <a:pt x="45" y="11"/>
                    <a:pt x="46" y="12"/>
                  </a:cubicBezTo>
                  <a:cubicBezTo>
                    <a:pt x="48" y="15"/>
                    <a:pt x="50" y="17"/>
                    <a:pt x="52" y="20"/>
                  </a:cubicBezTo>
                  <a:cubicBezTo>
                    <a:pt x="53" y="21"/>
                    <a:pt x="54" y="23"/>
                    <a:pt x="54" y="25"/>
                  </a:cubicBezTo>
                  <a:cubicBezTo>
                    <a:pt x="55" y="26"/>
                    <a:pt x="55" y="26"/>
                    <a:pt x="54" y="27"/>
                  </a:cubicBezTo>
                  <a:cubicBezTo>
                    <a:pt x="53" y="29"/>
                    <a:pt x="51" y="30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8" y="30"/>
                    <a:pt x="47" y="29"/>
                    <a:pt x="47" y="28"/>
                  </a:cubicBezTo>
                  <a:cubicBezTo>
                    <a:pt x="46" y="28"/>
                    <a:pt x="46" y="27"/>
                    <a:pt x="46" y="27"/>
                  </a:cubicBezTo>
                  <a:cubicBezTo>
                    <a:pt x="46" y="26"/>
                    <a:pt x="45" y="26"/>
                    <a:pt x="45" y="26"/>
                  </a:cubicBezTo>
                  <a:cubicBezTo>
                    <a:pt x="44" y="25"/>
                    <a:pt x="43" y="25"/>
                    <a:pt x="42" y="25"/>
                  </a:cubicBezTo>
                  <a:cubicBezTo>
                    <a:pt x="42" y="25"/>
                    <a:pt x="40" y="26"/>
                    <a:pt x="41" y="27"/>
                  </a:cubicBezTo>
                  <a:cubicBezTo>
                    <a:pt x="41" y="27"/>
                    <a:pt x="41" y="28"/>
                    <a:pt x="41" y="28"/>
                  </a:cubicBezTo>
                  <a:cubicBezTo>
                    <a:pt x="41" y="28"/>
                    <a:pt x="41" y="29"/>
                    <a:pt x="41" y="29"/>
                  </a:cubicBezTo>
                  <a:cubicBezTo>
                    <a:pt x="41" y="29"/>
                    <a:pt x="40" y="29"/>
                    <a:pt x="40" y="28"/>
                  </a:cubicBezTo>
                  <a:cubicBezTo>
                    <a:pt x="40" y="26"/>
                    <a:pt x="39" y="24"/>
                    <a:pt x="39" y="22"/>
                  </a:cubicBezTo>
                  <a:cubicBezTo>
                    <a:pt x="39" y="21"/>
                    <a:pt x="39" y="21"/>
                    <a:pt x="38" y="20"/>
                  </a:cubicBezTo>
                  <a:cubicBezTo>
                    <a:pt x="37" y="19"/>
                    <a:pt x="36" y="19"/>
                    <a:pt x="35" y="20"/>
                  </a:cubicBezTo>
                  <a:cubicBezTo>
                    <a:pt x="35" y="20"/>
                    <a:pt x="34" y="20"/>
                    <a:pt x="34" y="19"/>
                  </a:cubicBezTo>
                  <a:cubicBezTo>
                    <a:pt x="34" y="18"/>
                    <a:pt x="33" y="17"/>
                    <a:pt x="32" y="16"/>
                  </a:cubicBezTo>
                  <a:cubicBezTo>
                    <a:pt x="31" y="15"/>
                    <a:pt x="29" y="15"/>
                    <a:pt x="28" y="16"/>
                  </a:cubicBezTo>
                  <a:cubicBezTo>
                    <a:pt x="27" y="16"/>
                    <a:pt x="27" y="16"/>
                    <a:pt x="27" y="17"/>
                  </a:cubicBezTo>
                  <a:cubicBezTo>
                    <a:pt x="27" y="17"/>
                    <a:pt x="28" y="18"/>
                    <a:pt x="28" y="19"/>
                  </a:cubicBezTo>
                  <a:cubicBezTo>
                    <a:pt x="29" y="20"/>
                    <a:pt x="30" y="21"/>
                    <a:pt x="30" y="22"/>
                  </a:cubicBezTo>
                  <a:cubicBezTo>
                    <a:pt x="30" y="23"/>
                    <a:pt x="30" y="24"/>
                    <a:pt x="30" y="24"/>
                  </a:cubicBezTo>
                  <a:cubicBezTo>
                    <a:pt x="29" y="24"/>
                    <a:pt x="29" y="24"/>
                    <a:pt x="28" y="24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7" y="23"/>
                    <a:pt x="27" y="24"/>
                    <a:pt x="27" y="24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7" y="26"/>
                    <a:pt x="27" y="27"/>
                    <a:pt x="27" y="28"/>
                  </a:cubicBezTo>
                  <a:cubicBezTo>
                    <a:pt x="28" y="28"/>
                    <a:pt x="28" y="28"/>
                    <a:pt x="29" y="28"/>
                  </a:cubicBezTo>
                  <a:cubicBezTo>
                    <a:pt x="29" y="29"/>
                    <a:pt x="30" y="29"/>
                    <a:pt x="31" y="28"/>
                  </a:cubicBezTo>
                  <a:cubicBezTo>
                    <a:pt x="31" y="28"/>
                    <a:pt x="32" y="29"/>
                    <a:pt x="32" y="29"/>
                  </a:cubicBezTo>
                  <a:cubicBezTo>
                    <a:pt x="33" y="31"/>
                    <a:pt x="33" y="33"/>
                    <a:pt x="34" y="35"/>
                  </a:cubicBezTo>
                  <a:cubicBezTo>
                    <a:pt x="34" y="35"/>
                    <a:pt x="35" y="36"/>
                    <a:pt x="36" y="36"/>
                  </a:cubicBezTo>
                  <a:cubicBezTo>
                    <a:pt x="37" y="35"/>
                    <a:pt x="37" y="35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9" y="34"/>
                    <a:pt x="39" y="35"/>
                  </a:cubicBezTo>
                  <a:cubicBezTo>
                    <a:pt x="39" y="36"/>
                    <a:pt x="40" y="38"/>
                    <a:pt x="40" y="39"/>
                  </a:cubicBezTo>
                  <a:cubicBezTo>
                    <a:pt x="41" y="39"/>
                    <a:pt x="41" y="40"/>
                    <a:pt x="41" y="40"/>
                  </a:cubicBezTo>
                  <a:cubicBezTo>
                    <a:pt x="41" y="40"/>
                    <a:pt x="42" y="40"/>
                    <a:pt x="42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4" y="39"/>
                    <a:pt x="44" y="38"/>
                    <a:pt x="44" y="38"/>
                  </a:cubicBezTo>
                  <a:cubicBezTo>
                    <a:pt x="45" y="36"/>
                    <a:pt x="45" y="35"/>
                    <a:pt x="45" y="34"/>
                  </a:cubicBezTo>
                  <a:cubicBezTo>
                    <a:pt x="46" y="33"/>
                    <a:pt x="46" y="33"/>
                    <a:pt x="47" y="33"/>
                  </a:cubicBezTo>
                  <a:cubicBezTo>
                    <a:pt x="48" y="34"/>
                    <a:pt x="49" y="35"/>
                    <a:pt x="50" y="36"/>
                  </a:cubicBezTo>
                  <a:cubicBezTo>
                    <a:pt x="53" y="38"/>
                    <a:pt x="56" y="39"/>
                    <a:pt x="58" y="41"/>
                  </a:cubicBezTo>
                  <a:cubicBezTo>
                    <a:pt x="59" y="41"/>
                    <a:pt x="60" y="42"/>
                    <a:pt x="60" y="42"/>
                  </a:cubicBezTo>
                  <a:cubicBezTo>
                    <a:pt x="60" y="42"/>
                    <a:pt x="61" y="42"/>
                    <a:pt x="61" y="42"/>
                  </a:cubicBezTo>
                  <a:cubicBezTo>
                    <a:pt x="61" y="42"/>
                    <a:pt x="61" y="41"/>
                    <a:pt x="61" y="41"/>
                  </a:cubicBezTo>
                  <a:cubicBezTo>
                    <a:pt x="61" y="41"/>
                    <a:pt x="60" y="40"/>
                    <a:pt x="60" y="40"/>
                  </a:cubicBezTo>
                  <a:cubicBezTo>
                    <a:pt x="59" y="39"/>
                    <a:pt x="54" y="36"/>
                    <a:pt x="53" y="35"/>
                  </a:cubicBezTo>
                  <a:cubicBezTo>
                    <a:pt x="53" y="35"/>
                    <a:pt x="53" y="34"/>
                    <a:pt x="52" y="34"/>
                  </a:cubicBezTo>
                  <a:cubicBezTo>
                    <a:pt x="52" y="33"/>
                    <a:pt x="51" y="33"/>
                    <a:pt x="50" y="32"/>
                  </a:cubicBezTo>
                  <a:cubicBezTo>
                    <a:pt x="50" y="32"/>
                    <a:pt x="50" y="32"/>
                    <a:pt x="50" y="31"/>
                  </a:cubicBezTo>
                  <a:cubicBezTo>
                    <a:pt x="51" y="31"/>
                    <a:pt x="51" y="31"/>
                    <a:pt x="52" y="31"/>
                  </a:cubicBezTo>
                  <a:cubicBezTo>
                    <a:pt x="52" y="31"/>
                    <a:pt x="52" y="30"/>
                    <a:pt x="53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31"/>
                    <a:pt x="54" y="31"/>
                    <a:pt x="54" y="32"/>
                  </a:cubicBezTo>
                  <a:cubicBezTo>
                    <a:pt x="53" y="32"/>
                    <a:pt x="54" y="32"/>
                    <a:pt x="54" y="32"/>
                  </a:cubicBezTo>
                  <a:cubicBezTo>
                    <a:pt x="56" y="32"/>
                    <a:pt x="57" y="32"/>
                    <a:pt x="58" y="31"/>
                  </a:cubicBezTo>
                  <a:cubicBezTo>
                    <a:pt x="59" y="30"/>
                    <a:pt x="60" y="28"/>
                    <a:pt x="60" y="27"/>
                  </a:cubicBezTo>
                  <a:cubicBezTo>
                    <a:pt x="59" y="25"/>
                    <a:pt x="59" y="24"/>
                    <a:pt x="59" y="22"/>
                  </a:cubicBezTo>
                  <a:cubicBezTo>
                    <a:pt x="58" y="21"/>
                    <a:pt x="57" y="20"/>
                    <a:pt x="56" y="18"/>
                  </a:cubicBezTo>
                  <a:cubicBezTo>
                    <a:pt x="55" y="16"/>
                    <a:pt x="53" y="14"/>
                    <a:pt x="52" y="12"/>
                  </a:cubicBezTo>
                  <a:cubicBezTo>
                    <a:pt x="51" y="11"/>
                    <a:pt x="50" y="10"/>
                    <a:pt x="49" y="8"/>
                  </a:cubicBezTo>
                  <a:cubicBezTo>
                    <a:pt x="47" y="7"/>
                    <a:pt x="46" y="6"/>
                    <a:pt x="45" y="5"/>
                  </a:cubicBezTo>
                  <a:cubicBezTo>
                    <a:pt x="44" y="4"/>
                    <a:pt x="43" y="4"/>
                    <a:pt x="43" y="3"/>
                  </a:cubicBezTo>
                  <a:cubicBezTo>
                    <a:pt x="41" y="2"/>
                    <a:pt x="39" y="1"/>
                    <a:pt x="37" y="1"/>
                  </a:cubicBezTo>
                  <a:cubicBezTo>
                    <a:pt x="34" y="0"/>
                    <a:pt x="32" y="1"/>
                    <a:pt x="30" y="3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0" name="íSḷîḍè">
              <a:extLst>
                <a:ext uri="{FF2B5EF4-FFF2-40B4-BE49-F238E27FC236}">
                  <a16:creationId xmlns:a16="http://schemas.microsoft.com/office/drawing/2014/main" id="{D48F2334-DF91-B37B-66C4-34A12B768FC9}"/>
                </a:ext>
              </a:extLst>
            </p:cNvPr>
            <p:cNvSpPr/>
            <p:nvPr/>
          </p:nvSpPr>
          <p:spPr bwMode="auto">
            <a:xfrm>
              <a:off x="2443163" y="2686051"/>
              <a:ext cx="158750" cy="206375"/>
            </a:xfrm>
            <a:custGeom>
              <a:avLst/>
              <a:gdLst>
                <a:gd name="T0" fmla="*/ 25 w 44"/>
                <a:gd name="T1" fmla="*/ 1 h 57"/>
                <a:gd name="T2" fmla="*/ 20 w 44"/>
                <a:gd name="T3" fmla="*/ 7 h 57"/>
                <a:gd name="T4" fmla="*/ 7 w 44"/>
                <a:gd name="T5" fmla="*/ 27 h 57"/>
                <a:gd name="T6" fmla="*/ 2 w 44"/>
                <a:gd name="T7" fmla="*/ 36 h 57"/>
                <a:gd name="T8" fmla="*/ 1 w 44"/>
                <a:gd name="T9" fmla="*/ 41 h 57"/>
                <a:gd name="T10" fmla="*/ 5 w 44"/>
                <a:gd name="T11" fmla="*/ 42 h 57"/>
                <a:gd name="T12" fmla="*/ 12 w 44"/>
                <a:gd name="T13" fmla="*/ 28 h 57"/>
                <a:gd name="T14" fmla="*/ 16 w 44"/>
                <a:gd name="T15" fmla="*/ 21 h 57"/>
                <a:gd name="T16" fmla="*/ 17 w 44"/>
                <a:gd name="T17" fmla="*/ 22 h 57"/>
                <a:gd name="T18" fmla="*/ 17 w 44"/>
                <a:gd name="T19" fmla="*/ 40 h 57"/>
                <a:gd name="T20" fmla="*/ 22 w 44"/>
                <a:gd name="T21" fmla="*/ 43 h 57"/>
                <a:gd name="T22" fmla="*/ 22 w 44"/>
                <a:gd name="T23" fmla="*/ 39 h 57"/>
                <a:gd name="T24" fmla="*/ 22 w 44"/>
                <a:gd name="T25" fmla="*/ 37 h 57"/>
                <a:gd name="T26" fmla="*/ 21 w 44"/>
                <a:gd name="T27" fmla="*/ 33 h 57"/>
                <a:gd name="T28" fmla="*/ 26 w 44"/>
                <a:gd name="T29" fmla="*/ 23 h 57"/>
                <a:gd name="T30" fmla="*/ 27 w 44"/>
                <a:gd name="T31" fmla="*/ 23 h 57"/>
                <a:gd name="T32" fmla="*/ 23 w 44"/>
                <a:gd name="T33" fmla="*/ 35 h 57"/>
                <a:gd name="T34" fmla="*/ 26 w 44"/>
                <a:gd name="T35" fmla="*/ 40 h 57"/>
                <a:gd name="T36" fmla="*/ 27 w 44"/>
                <a:gd name="T37" fmla="*/ 40 h 57"/>
                <a:gd name="T38" fmla="*/ 30 w 44"/>
                <a:gd name="T39" fmla="*/ 45 h 57"/>
                <a:gd name="T40" fmla="*/ 25 w 44"/>
                <a:gd name="T41" fmla="*/ 51 h 57"/>
                <a:gd name="T42" fmla="*/ 24 w 44"/>
                <a:gd name="T43" fmla="*/ 54 h 57"/>
                <a:gd name="T44" fmla="*/ 28 w 44"/>
                <a:gd name="T45" fmla="*/ 57 h 57"/>
                <a:gd name="T46" fmla="*/ 31 w 44"/>
                <a:gd name="T47" fmla="*/ 51 h 57"/>
                <a:gd name="T48" fmla="*/ 33 w 44"/>
                <a:gd name="T49" fmla="*/ 51 h 57"/>
                <a:gd name="T50" fmla="*/ 35 w 44"/>
                <a:gd name="T51" fmla="*/ 54 h 57"/>
                <a:gd name="T52" fmla="*/ 38 w 44"/>
                <a:gd name="T53" fmla="*/ 53 h 57"/>
                <a:gd name="T54" fmla="*/ 39 w 44"/>
                <a:gd name="T55" fmla="*/ 52 h 57"/>
                <a:gd name="T56" fmla="*/ 39 w 44"/>
                <a:gd name="T57" fmla="*/ 49 h 57"/>
                <a:gd name="T58" fmla="*/ 36 w 44"/>
                <a:gd name="T59" fmla="*/ 44 h 57"/>
                <a:gd name="T60" fmla="*/ 40 w 44"/>
                <a:gd name="T61" fmla="*/ 40 h 57"/>
                <a:gd name="T62" fmla="*/ 40 w 44"/>
                <a:gd name="T63" fmla="*/ 44 h 57"/>
                <a:gd name="T64" fmla="*/ 40 w 44"/>
                <a:gd name="T65" fmla="*/ 44 h 57"/>
                <a:gd name="T66" fmla="*/ 42 w 44"/>
                <a:gd name="T67" fmla="*/ 42 h 57"/>
                <a:gd name="T68" fmla="*/ 40 w 44"/>
                <a:gd name="T69" fmla="*/ 35 h 57"/>
                <a:gd name="T70" fmla="*/ 33 w 44"/>
                <a:gd name="T71" fmla="*/ 40 h 57"/>
                <a:gd name="T72" fmla="*/ 30 w 44"/>
                <a:gd name="T73" fmla="*/ 36 h 57"/>
                <a:gd name="T74" fmla="*/ 32 w 44"/>
                <a:gd name="T75" fmla="*/ 32 h 57"/>
                <a:gd name="T76" fmla="*/ 29 w 44"/>
                <a:gd name="T77" fmla="*/ 27 h 57"/>
                <a:gd name="T78" fmla="*/ 28 w 44"/>
                <a:gd name="T79" fmla="*/ 21 h 57"/>
                <a:gd name="T80" fmla="*/ 23 w 44"/>
                <a:gd name="T81" fmla="*/ 20 h 57"/>
                <a:gd name="T82" fmla="*/ 19 w 44"/>
                <a:gd name="T83" fmla="*/ 28 h 57"/>
                <a:gd name="T84" fmla="*/ 18 w 44"/>
                <a:gd name="T85" fmla="*/ 33 h 57"/>
                <a:gd name="T86" fmla="*/ 17 w 44"/>
                <a:gd name="T87" fmla="*/ 33 h 57"/>
                <a:gd name="T88" fmla="*/ 17 w 44"/>
                <a:gd name="T89" fmla="*/ 27 h 57"/>
                <a:gd name="T90" fmla="*/ 20 w 44"/>
                <a:gd name="T91" fmla="*/ 18 h 57"/>
                <a:gd name="T92" fmla="*/ 26 w 44"/>
                <a:gd name="T93" fmla="*/ 11 h 57"/>
                <a:gd name="T94" fmla="*/ 32 w 44"/>
                <a:gd name="T95" fmla="*/ 6 h 57"/>
                <a:gd name="T96" fmla="*/ 30 w 44"/>
                <a:gd name="T97" fmla="*/ 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4" h="57">
                  <a:moveTo>
                    <a:pt x="30" y="1"/>
                  </a:moveTo>
                  <a:cubicBezTo>
                    <a:pt x="29" y="0"/>
                    <a:pt x="27" y="0"/>
                    <a:pt x="25" y="1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3" y="4"/>
                    <a:pt x="22" y="6"/>
                    <a:pt x="20" y="7"/>
                  </a:cubicBezTo>
                  <a:cubicBezTo>
                    <a:pt x="19" y="9"/>
                    <a:pt x="18" y="11"/>
                    <a:pt x="16" y="13"/>
                  </a:cubicBezTo>
                  <a:cubicBezTo>
                    <a:pt x="15" y="14"/>
                    <a:pt x="8" y="26"/>
                    <a:pt x="7" y="27"/>
                  </a:cubicBezTo>
                  <a:cubicBezTo>
                    <a:pt x="6" y="29"/>
                    <a:pt x="5" y="30"/>
                    <a:pt x="4" y="32"/>
                  </a:cubicBezTo>
                  <a:cubicBezTo>
                    <a:pt x="4" y="33"/>
                    <a:pt x="3" y="35"/>
                    <a:pt x="2" y="36"/>
                  </a:cubicBezTo>
                  <a:cubicBezTo>
                    <a:pt x="1" y="37"/>
                    <a:pt x="1" y="39"/>
                    <a:pt x="0" y="40"/>
                  </a:cubicBezTo>
                  <a:cubicBezTo>
                    <a:pt x="0" y="41"/>
                    <a:pt x="0" y="41"/>
                    <a:pt x="1" y="41"/>
                  </a:cubicBezTo>
                  <a:cubicBezTo>
                    <a:pt x="1" y="42"/>
                    <a:pt x="2" y="43"/>
                    <a:pt x="3" y="43"/>
                  </a:cubicBezTo>
                  <a:cubicBezTo>
                    <a:pt x="4" y="43"/>
                    <a:pt x="5" y="43"/>
                    <a:pt x="5" y="42"/>
                  </a:cubicBezTo>
                  <a:cubicBezTo>
                    <a:pt x="6" y="40"/>
                    <a:pt x="7" y="38"/>
                    <a:pt x="8" y="36"/>
                  </a:cubicBezTo>
                  <a:cubicBezTo>
                    <a:pt x="10" y="33"/>
                    <a:pt x="10" y="31"/>
                    <a:pt x="12" y="28"/>
                  </a:cubicBezTo>
                  <a:cubicBezTo>
                    <a:pt x="12" y="28"/>
                    <a:pt x="12" y="27"/>
                    <a:pt x="13" y="27"/>
                  </a:cubicBezTo>
                  <a:cubicBezTo>
                    <a:pt x="14" y="25"/>
                    <a:pt x="15" y="23"/>
                    <a:pt x="16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2"/>
                    <a:pt x="17" y="22"/>
                  </a:cubicBezTo>
                  <a:cubicBezTo>
                    <a:pt x="16" y="26"/>
                    <a:pt x="15" y="30"/>
                    <a:pt x="15" y="34"/>
                  </a:cubicBezTo>
                  <a:cubicBezTo>
                    <a:pt x="15" y="36"/>
                    <a:pt x="16" y="38"/>
                    <a:pt x="17" y="40"/>
                  </a:cubicBezTo>
                  <a:cubicBezTo>
                    <a:pt x="18" y="41"/>
                    <a:pt x="18" y="43"/>
                    <a:pt x="20" y="43"/>
                  </a:cubicBezTo>
                  <a:cubicBezTo>
                    <a:pt x="20" y="44"/>
                    <a:pt x="21" y="44"/>
                    <a:pt x="22" y="43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2" y="41"/>
                    <a:pt x="22" y="40"/>
                    <a:pt x="22" y="39"/>
                  </a:cubicBezTo>
                  <a:cubicBezTo>
                    <a:pt x="22" y="39"/>
                    <a:pt x="22" y="39"/>
                    <a:pt x="22" y="38"/>
                  </a:cubicBezTo>
                  <a:cubicBezTo>
                    <a:pt x="22" y="38"/>
                    <a:pt x="22" y="37"/>
                    <a:pt x="22" y="37"/>
                  </a:cubicBezTo>
                  <a:cubicBezTo>
                    <a:pt x="22" y="36"/>
                    <a:pt x="22" y="36"/>
                    <a:pt x="22" y="35"/>
                  </a:cubicBezTo>
                  <a:cubicBezTo>
                    <a:pt x="22" y="35"/>
                    <a:pt x="21" y="34"/>
                    <a:pt x="21" y="33"/>
                  </a:cubicBezTo>
                  <a:cubicBezTo>
                    <a:pt x="22" y="31"/>
                    <a:pt x="22" y="28"/>
                    <a:pt x="24" y="26"/>
                  </a:cubicBezTo>
                  <a:cubicBezTo>
                    <a:pt x="24" y="25"/>
                    <a:pt x="25" y="23"/>
                    <a:pt x="26" y="23"/>
                  </a:cubicBezTo>
                  <a:cubicBezTo>
                    <a:pt x="26" y="22"/>
                    <a:pt x="27" y="22"/>
                    <a:pt x="27" y="22"/>
                  </a:cubicBezTo>
                  <a:cubicBezTo>
                    <a:pt x="27" y="22"/>
                    <a:pt x="27" y="23"/>
                    <a:pt x="27" y="23"/>
                  </a:cubicBezTo>
                  <a:cubicBezTo>
                    <a:pt x="27" y="26"/>
                    <a:pt x="26" y="28"/>
                    <a:pt x="25" y="30"/>
                  </a:cubicBezTo>
                  <a:cubicBezTo>
                    <a:pt x="25" y="32"/>
                    <a:pt x="24" y="33"/>
                    <a:pt x="23" y="35"/>
                  </a:cubicBezTo>
                  <a:cubicBezTo>
                    <a:pt x="22" y="37"/>
                    <a:pt x="23" y="38"/>
                    <a:pt x="24" y="40"/>
                  </a:cubicBezTo>
                  <a:cubicBezTo>
                    <a:pt x="24" y="41"/>
                    <a:pt x="26" y="41"/>
                    <a:pt x="26" y="40"/>
                  </a:cubicBezTo>
                  <a:cubicBezTo>
                    <a:pt x="26" y="40"/>
                    <a:pt x="26" y="40"/>
                    <a:pt x="27" y="40"/>
                  </a:cubicBezTo>
                  <a:cubicBezTo>
                    <a:pt x="27" y="39"/>
                    <a:pt x="27" y="39"/>
                    <a:pt x="27" y="40"/>
                  </a:cubicBezTo>
                  <a:cubicBezTo>
                    <a:pt x="28" y="41"/>
                    <a:pt x="29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9" y="47"/>
                    <a:pt x="28" y="49"/>
                    <a:pt x="27" y="51"/>
                  </a:cubicBezTo>
                  <a:cubicBezTo>
                    <a:pt x="27" y="51"/>
                    <a:pt x="26" y="52"/>
                    <a:pt x="25" y="51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24" y="52"/>
                    <a:pt x="24" y="53"/>
                    <a:pt x="24" y="54"/>
                  </a:cubicBezTo>
                  <a:cubicBezTo>
                    <a:pt x="25" y="54"/>
                    <a:pt x="25" y="54"/>
                    <a:pt x="25" y="55"/>
                  </a:cubicBezTo>
                  <a:cubicBezTo>
                    <a:pt x="25" y="56"/>
                    <a:pt x="26" y="57"/>
                    <a:pt x="28" y="57"/>
                  </a:cubicBezTo>
                  <a:cubicBezTo>
                    <a:pt x="29" y="57"/>
                    <a:pt x="29" y="57"/>
                    <a:pt x="30" y="55"/>
                  </a:cubicBezTo>
                  <a:cubicBezTo>
                    <a:pt x="31" y="54"/>
                    <a:pt x="31" y="52"/>
                    <a:pt x="31" y="51"/>
                  </a:cubicBezTo>
                  <a:cubicBezTo>
                    <a:pt x="32" y="51"/>
                    <a:pt x="32" y="50"/>
                    <a:pt x="32" y="50"/>
                  </a:cubicBezTo>
                  <a:cubicBezTo>
                    <a:pt x="32" y="50"/>
                    <a:pt x="33" y="51"/>
                    <a:pt x="33" y="51"/>
                  </a:cubicBezTo>
                  <a:cubicBezTo>
                    <a:pt x="33" y="52"/>
                    <a:pt x="34" y="53"/>
                    <a:pt x="35" y="53"/>
                  </a:cubicBezTo>
                  <a:cubicBezTo>
                    <a:pt x="35" y="53"/>
                    <a:pt x="35" y="54"/>
                    <a:pt x="35" y="54"/>
                  </a:cubicBezTo>
                  <a:cubicBezTo>
                    <a:pt x="36" y="54"/>
                    <a:pt x="37" y="54"/>
                    <a:pt x="37" y="54"/>
                  </a:cubicBezTo>
                  <a:cubicBezTo>
                    <a:pt x="38" y="54"/>
                    <a:pt x="38" y="54"/>
                    <a:pt x="38" y="53"/>
                  </a:cubicBezTo>
                  <a:cubicBezTo>
                    <a:pt x="38" y="53"/>
                    <a:pt x="39" y="53"/>
                    <a:pt x="39" y="53"/>
                  </a:cubicBezTo>
                  <a:cubicBezTo>
                    <a:pt x="39" y="53"/>
                    <a:pt x="39" y="52"/>
                    <a:pt x="39" y="52"/>
                  </a:cubicBezTo>
                  <a:cubicBezTo>
                    <a:pt x="39" y="51"/>
                    <a:pt x="39" y="51"/>
                    <a:pt x="39" y="50"/>
                  </a:cubicBezTo>
                  <a:cubicBezTo>
                    <a:pt x="40" y="50"/>
                    <a:pt x="39" y="49"/>
                    <a:pt x="39" y="49"/>
                  </a:cubicBezTo>
                  <a:cubicBezTo>
                    <a:pt x="38" y="48"/>
                    <a:pt x="37" y="47"/>
                    <a:pt x="36" y="45"/>
                  </a:cubicBezTo>
                  <a:cubicBezTo>
                    <a:pt x="35" y="45"/>
                    <a:pt x="35" y="44"/>
                    <a:pt x="36" y="44"/>
                  </a:cubicBezTo>
                  <a:cubicBezTo>
                    <a:pt x="37" y="42"/>
                    <a:pt x="38" y="41"/>
                    <a:pt x="39" y="41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41" y="40"/>
                    <a:pt x="41" y="41"/>
                    <a:pt x="41" y="42"/>
                  </a:cubicBezTo>
                  <a:cubicBezTo>
                    <a:pt x="40" y="42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1" y="43"/>
                    <a:pt x="41" y="43"/>
                  </a:cubicBezTo>
                  <a:cubicBezTo>
                    <a:pt x="41" y="43"/>
                    <a:pt x="42" y="43"/>
                    <a:pt x="42" y="42"/>
                  </a:cubicBezTo>
                  <a:cubicBezTo>
                    <a:pt x="43" y="41"/>
                    <a:pt x="44" y="40"/>
                    <a:pt x="44" y="38"/>
                  </a:cubicBezTo>
                  <a:cubicBezTo>
                    <a:pt x="44" y="36"/>
                    <a:pt x="42" y="35"/>
                    <a:pt x="40" y="35"/>
                  </a:cubicBezTo>
                  <a:cubicBezTo>
                    <a:pt x="39" y="35"/>
                    <a:pt x="37" y="36"/>
                    <a:pt x="36" y="37"/>
                  </a:cubicBezTo>
                  <a:cubicBezTo>
                    <a:pt x="35" y="38"/>
                    <a:pt x="34" y="39"/>
                    <a:pt x="33" y="40"/>
                  </a:cubicBezTo>
                  <a:cubicBezTo>
                    <a:pt x="33" y="41"/>
                    <a:pt x="32" y="41"/>
                    <a:pt x="32" y="40"/>
                  </a:cubicBezTo>
                  <a:cubicBezTo>
                    <a:pt x="32" y="39"/>
                    <a:pt x="31" y="37"/>
                    <a:pt x="30" y="36"/>
                  </a:cubicBezTo>
                  <a:cubicBezTo>
                    <a:pt x="30" y="36"/>
                    <a:pt x="30" y="35"/>
                    <a:pt x="31" y="35"/>
                  </a:cubicBezTo>
                  <a:cubicBezTo>
                    <a:pt x="31" y="34"/>
                    <a:pt x="32" y="33"/>
                    <a:pt x="32" y="32"/>
                  </a:cubicBezTo>
                  <a:cubicBezTo>
                    <a:pt x="31" y="31"/>
                    <a:pt x="31" y="30"/>
                    <a:pt x="30" y="29"/>
                  </a:cubicBezTo>
                  <a:cubicBezTo>
                    <a:pt x="29" y="29"/>
                    <a:pt x="29" y="28"/>
                    <a:pt x="29" y="27"/>
                  </a:cubicBezTo>
                  <a:cubicBezTo>
                    <a:pt x="29" y="26"/>
                    <a:pt x="29" y="25"/>
                    <a:pt x="29" y="24"/>
                  </a:cubicBezTo>
                  <a:cubicBezTo>
                    <a:pt x="28" y="23"/>
                    <a:pt x="28" y="22"/>
                    <a:pt x="28" y="21"/>
                  </a:cubicBezTo>
                  <a:cubicBezTo>
                    <a:pt x="28" y="20"/>
                    <a:pt x="27" y="19"/>
                    <a:pt x="26" y="19"/>
                  </a:cubicBezTo>
                  <a:cubicBezTo>
                    <a:pt x="25" y="20"/>
                    <a:pt x="24" y="20"/>
                    <a:pt x="23" y="20"/>
                  </a:cubicBezTo>
                  <a:cubicBezTo>
                    <a:pt x="22" y="21"/>
                    <a:pt x="21" y="23"/>
                    <a:pt x="21" y="24"/>
                  </a:cubicBezTo>
                  <a:cubicBezTo>
                    <a:pt x="20" y="25"/>
                    <a:pt x="20" y="27"/>
                    <a:pt x="19" y="28"/>
                  </a:cubicBezTo>
                  <a:cubicBezTo>
                    <a:pt x="19" y="29"/>
                    <a:pt x="18" y="29"/>
                    <a:pt x="18" y="30"/>
                  </a:cubicBezTo>
                  <a:cubicBezTo>
                    <a:pt x="18" y="31"/>
                    <a:pt x="18" y="32"/>
                    <a:pt x="18" y="33"/>
                  </a:cubicBezTo>
                  <a:cubicBezTo>
                    <a:pt x="18" y="33"/>
                    <a:pt x="18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2"/>
                    <a:pt x="17" y="31"/>
                    <a:pt x="17" y="31"/>
                  </a:cubicBezTo>
                  <a:cubicBezTo>
                    <a:pt x="17" y="29"/>
                    <a:pt x="17" y="28"/>
                    <a:pt x="17" y="27"/>
                  </a:cubicBezTo>
                  <a:cubicBezTo>
                    <a:pt x="17" y="25"/>
                    <a:pt x="17" y="23"/>
                    <a:pt x="18" y="21"/>
                  </a:cubicBezTo>
                  <a:cubicBezTo>
                    <a:pt x="18" y="20"/>
                    <a:pt x="19" y="19"/>
                    <a:pt x="20" y="18"/>
                  </a:cubicBezTo>
                  <a:cubicBezTo>
                    <a:pt x="21" y="17"/>
                    <a:pt x="21" y="16"/>
                    <a:pt x="22" y="15"/>
                  </a:cubicBezTo>
                  <a:cubicBezTo>
                    <a:pt x="23" y="14"/>
                    <a:pt x="25" y="12"/>
                    <a:pt x="26" y="11"/>
                  </a:cubicBezTo>
                  <a:cubicBezTo>
                    <a:pt x="27" y="10"/>
                    <a:pt x="28" y="9"/>
                    <a:pt x="29" y="8"/>
                  </a:cubicBezTo>
                  <a:cubicBezTo>
                    <a:pt x="30" y="7"/>
                    <a:pt x="31" y="7"/>
                    <a:pt x="32" y="6"/>
                  </a:cubicBezTo>
                  <a:cubicBezTo>
                    <a:pt x="32" y="5"/>
                    <a:pt x="32" y="5"/>
                    <a:pt x="32" y="4"/>
                  </a:cubicBezTo>
                  <a:cubicBezTo>
                    <a:pt x="32" y="3"/>
                    <a:pt x="31" y="2"/>
                    <a:pt x="3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1" name="ïşļîḍè">
              <a:extLst>
                <a:ext uri="{FF2B5EF4-FFF2-40B4-BE49-F238E27FC236}">
                  <a16:creationId xmlns:a16="http://schemas.microsoft.com/office/drawing/2014/main" id="{3E35E65F-DBEA-8841-627B-D4E90DE785E3}"/>
                </a:ext>
              </a:extLst>
            </p:cNvPr>
            <p:cNvSpPr/>
            <p:nvPr/>
          </p:nvSpPr>
          <p:spPr bwMode="auto">
            <a:xfrm>
              <a:off x="2451100" y="2693988"/>
              <a:ext cx="49213" cy="50800"/>
            </a:xfrm>
            <a:custGeom>
              <a:avLst/>
              <a:gdLst>
                <a:gd name="T0" fmla="*/ 4 w 14"/>
                <a:gd name="T1" fmla="*/ 8 h 14"/>
                <a:gd name="T2" fmla="*/ 5 w 14"/>
                <a:gd name="T3" fmla="*/ 9 h 14"/>
                <a:gd name="T4" fmla="*/ 6 w 14"/>
                <a:gd name="T5" fmla="*/ 10 h 14"/>
                <a:gd name="T6" fmla="*/ 6 w 14"/>
                <a:gd name="T7" fmla="*/ 12 h 14"/>
                <a:gd name="T8" fmla="*/ 6 w 14"/>
                <a:gd name="T9" fmla="*/ 14 h 14"/>
                <a:gd name="T10" fmla="*/ 7 w 14"/>
                <a:gd name="T11" fmla="*/ 12 h 14"/>
                <a:gd name="T12" fmla="*/ 9 w 14"/>
                <a:gd name="T13" fmla="*/ 10 h 14"/>
                <a:gd name="T14" fmla="*/ 12 w 14"/>
                <a:gd name="T15" fmla="*/ 8 h 14"/>
                <a:gd name="T16" fmla="*/ 13 w 14"/>
                <a:gd name="T17" fmla="*/ 5 h 14"/>
                <a:gd name="T18" fmla="*/ 10 w 14"/>
                <a:gd name="T19" fmla="*/ 1 h 14"/>
                <a:gd name="T20" fmla="*/ 7 w 14"/>
                <a:gd name="T21" fmla="*/ 0 h 14"/>
                <a:gd name="T22" fmla="*/ 3 w 14"/>
                <a:gd name="T23" fmla="*/ 0 h 14"/>
                <a:gd name="T24" fmla="*/ 1 w 14"/>
                <a:gd name="T25" fmla="*/ 2 h 14"/>
                <a:gd name="T26" fmla="*/ 1 w 14"/>
                <a:gd name="T27" fmla="*/ 4 h 14"/>
                <a:gd name="T28" fmla="*/ 3 w 14"/>
                <a:gd name="T29" fmla="*/ 8 h 14"/>
                <a:gd name="T30" fmla="*/ 4 w 14"/>
                <a:gd name="T31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4">
                  <a:moveTo>
                    <a:pt x="4" y="8"/>
                  </a:moveTo>
                  <a:cubicBezTo>
                    <a:pt x="4" y="9"/>
                    <a:pt x="5" y="9"/>
                    <a:pt x="5" y="9"/>
                  </a:cubicBezTo>
                  <a:cubicBezTo>
                    <a:pt x="6" y="9"/>
                    <a:pt x="6" y="9"/>
                    <a:pt x="6" y="10"/>
                  </a:cubicBezTo>
                  <a:cubicBezTo>
                    <a:pt x="6" y="10"/>
                    <a:pt x="6" y="11"/>
                    <a:pt x="6" y="12"/>
                  </a:cubicBezTo>
                  <a:cubicBezTo>
                    <a:pt x="6" y="12"/>
                    <a:pt x="6" y="14"/>
                    <a:pt x="6" y="14"/>
                  </a:cubicBezTo>
                  <a:cubicBezTo>
                    <a:pt x="6" y="14"/>
                    <a:pt x="7" y="12"/>
                    <a:pt x="7" y="12"/>
                  </a:cubicBezTo>
                  <a:cubicBezTo>
                    <a:pt x="7" y="11"/>
                    <a:pt x="8" y="10"/>
                    <a:pt x="9" y="10"/>
                  </a:cubicBezTo>
                  <a:cubicBezTo>
                    <a:pt x="10" y="10"/>
                    <a:pt x="11" y="9"/>
                    <a:pt x="12" y="8"/>
                  </a:cubicBezTo>
                  <a:cubicBezTo>
                    <a:pt x="13" y="7"/>
                    <a:pt x="14" y="6"/>
                    <a:pt x="13" y="5"/>
                  </a:cubicBezTo>
                  <a:cubicBezTo>
                    <a:pt x="13" y="3"/>
                    <a:pt x="12" y="1"/>
                    <a:pt x="10" y="1"/>
                  </a:cubicBezTo>
                  <a:cubicBezTo>
                    <a:pt x="9" y="0"/>
                    <a:pt x="8" y="0"/>
                    <a:pt x="7" y="0"/>
                  </a:cubicBezTo>
                  <a:cubicBezTo>
                    <a:pt x="6" y="0"/>
                    <a:pt x="4" y="0"/>
                    <a:pt x="3" y="0"/>
                  </a:cubicBezTo>
                  <a:cubicBezTo>
                    <a:pt x="2" y="1"/>
                    <a:pt x="2" y="1"/>
                    <a:pt x="1" y="2"/>
                  </a:cubicBezTo>
                  <a:cubicBezTo>
                    <a:pt x="1" y="2"/>
                    <a:pt x="1" y="3"/>
                    <a:pt x="1" y="4"/>
                  </a:cubicBezTo>
                  <a:cubicBezTo>
                    <a:pt x="0" y="5"/>
                    <a:pt x="1" y="8"/>
                    <a:pt x="3" y="8"/>
                  </a:cubicBezTo>
                  <a:cubicBezTo>
                    <a:pt x="3" y="8"/>
                    <a:pt x="4" y="8"/>
                    <a:pt x="4" y="8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2" name="ísḷiḋe">
              <a:extLst>
                <a:ext uri="{FF2B5EF4-FFF2-40B4-BE49-F238E27FC236}">
                  <a16:creationId xmlns:a16="http://schemas.microsoft.com/office/drawing/2014/main" id="{7E184D40-DB29-F839-0160-E97AF86850C1}"/>
                </a:ext>
              </a:extLst>
            </p:cNvPr>
            <p:cNvSpPr/>
            <p:nvPr/>
          </p:nvSpPr>
          <p:spPr bwMode="auto">
            <a:xfrm>
              <a:off x="2768600" y="2555876"/>
              <a:ext cx="119063" cy="231775"/>
            </a:xfrm>
            <a:custGeom>
              <a:avLst/>
              <a:gdLst>
                <a:gd name="T0" fmla="*/ 22 w 33"/>
                <a:gd name="T1" fmla="*/ 29 h 64"/>
                <a:gd name="T2" fmla="*/ 24 w 33"/>
                <a:gd name="T3" fmla="*/ 24 h 64"/>
                <a:gd name="T4" fmla="*/ 27 w 33"/>
                <a:gd name="T5" fmla="*/ 11 h 64"/>
                <a:gd name="T6" fmla="*/ 25 w 33"/>
                <a:gd name="T7" fmla="*/ 4 h 64"/>
                <a:gd name="T8" fmla="*/ 17 w 33"/>
                <a:gd name="T9" fmla="*/ 0 h 64"/>
                <a:gd name="T10" fmla="*/ 15 w 33"/>
                <a:gd name="T11" fmla="*/ 1 h 64"/>
                <a:gd name="T12" fmla="*/ 6 w 33"/>
                <a:gd name="T13" fmla="*/ 7 h 64"/>
                <a:gd name="T14" fmla="*/ 3 w 33"/>
                <a:gd name="T15" fmla="*/ 13 h 64"/>
                <a:gd name="T16" fmla="*/ 6 w 33"/>
                <a:gd name="T17" fmla="*/ 15 h 64"/>
                <a:gd name="T18" fmla="*/ 10 w 33"/>
                <a:gd name="T19" fmla="*/ 14 h 64"/>
                <a:gd name="T20" fmla="*/ 18 w 33"/>
                <a:gd name="T21" fmla="*/ 6 h 64"/>
                <a:gd name="T22" fmla="*/ 22 w 33"/>
                <a:gd name="T23" fmla="*/ 10 h 64"/>
                <a:gd name="T24" fmla="*/ 21 w 33"/>
                <a:gd name="T25" fmla="*/ 18 h 64"/>
                <a:gd name="T26" fmla="*/ 18 w 33"/>
                <a:gd name="T27" fmla="*/ 26 h 64"/>
                <a:gd name="T28" fmla="*/ 16 w 33"/>
                <a:gd name="T29" fmla="*/ 25 h 64"/>
                <a:gd name="T30" fmla="*/ 19 w 33"/>
                <a:gd name="T31" fmla="*/ 19 h 64"/>
                <a:gd name="T32" fmla="*/ 20 w 33"/>
                <a:gd name="T33" fmla="*/ 15 h 64"/>
                <a:gd name="T34" fmla="*/ 15 w 33"/>
                <a:gd name="T35" fmla="*/ 14 h 64"/>
                <a:gd name="T36" fmla="*/ 11 w 33"/>
                <a:gd name="T37" fmla="*/ 14 h 64"/>
                <a:gd name="T38" fmla="*/ 10 w 33"/>
                <a:gd name="T39" fmla="*/ 17 h 64"/>
                <a:gd name="T40" fmla="*/ 9 w 33"/>
                <a:gd name="T41" fmla="*/ 19 h 64"/>
                <a:gd name="T42" fmla="*/ 8 w 33"/>
                <a:gd name="T43" fmla="*/ 24 h 64"/>
                <a:gd name="T44" fmla="*/ 7 w 33"/>
                <a:gd name="T45" fmla="*/ 23 h 64"/>
                <a:gd name="T46" fmla="*/ 0 w 33"/>
                <a:gd name="T47" fmla="*/ 24 h 64"/>
                <a:gd name="T48" fmla="*/ 2 w 33"/>
                <a:gd name="T49" fmla="*/ 32 h 64"/>
                <a:gd name="T50" fmla="*/ 8 w 33"/>
                <a:gd name="T51" fmla="*/ 35 h 64"/>
                <a:gd name="T52" fmla="*/ 11 w 33"/>
                <a:gd name="T53" fmla="*/ 37 h 64"/>
                <a:gd name="T54" fmla="*/ 12 w 33"/>
                <a:gd name="T55" fmla="*/ 40 h 64"/>
                <a:gd name="T56" fmla="*/ 8 w 33"/>
                <a:gd name="T57" fmla="*/ 48 h 64"/>
                <a:gd name="T58" fmla="*/ 12 w 33"/>
                <a:gd name="T59" fmla="*/ 50 h 64"/>
                <a:gd name="T60" fmla="*/ 13 w 33"/>
                <a:gd name="T61" fmla="*/ 53 h 64"/>
                <a:gd name="T62" fmla="*/ 9 w 33"/>
                <a:gd name="T63" fmla="*/ 56 h 64"/>
                <a:gd name="T64" fmla="*/ 8 w 33"/>
                <a:gd name="T65" fmla="*/ 61 h 64"/>
                <a:gd name="T66" fmla="*/ 10 w 33"/>
                <a:gd name="T67" fmla="*/ 64 h 64"/>
                <a:gd name="T68" fmla="*/ 16 w 33"/>
                <a:gd name="T69" fmla="*/ 61 h 64"/>
                <a:gd name="T70" fmla="*/ 25 w 33"/>
                <a:gd name="T71" fmla="*/ 58 h 64"/>
                <a:gd name="T72" fmla="*/ 29 w 33"/>
                <a:gd name="T73" fmla="*/ 58 h 64"/>
                <a:gd name="T74" fmla="*/ 31 w 33"/>
                <a:gd name="T75" fmla="*/ 57 h 64"/>
                <a:gd name="T76" fmla="*/ 32 w 33"/>
                <a:gd name="T77" fmla="*/ 52 h 64"/>
                <a:gd name="T78" fmla="*/ 29 w 33"/>
                <a:gd name="T79" fmla="*/ 50 h 64"/>
                <a:gd name="T80" fmla="*/ 20 w 33"/>
                <a:gd name="T81" fmla="*/ 52 h 64"/>
                <a:gd name="T82" fmla="*/ 19 w 33"/>
                <a:gd name="T83" fmla="*/ 50 h 64"/>
                <a:gd name="T84" fmla="*/ 23 w 33"/>
                <a:gd name="T85" fmla="*/ 43 h 64"/>
                <a:gd name="T86" fmla="*/ 24 w 33"/>
                <a:gd name="T87" fmla="*/ 37 h 64"/>
                <a:gd name="T88" fmla="*/ 20 w 33"/>
                <a:gd name="T89" fmla="*/ 37 h 64"/>
                <a:gd name="T90" fmla="*/ 16 w 33"/>
                <a:gd name="T91" fmla="*/ 38 h 64"/>
                <a:gd name="T92" fmla="*/ 19 w 33"/>
                <a:gd name="T93" fmla="*/ 32 h 64"/>
                <a:gd name="T94" fmla="*/ 10 w 33"/>
                <a:gd name="T95" fmla="*/ 29 h 64"/>
                <a:gd name="T96" fmla="*/ 10 w 33"/>
                <a:gd name="T97" fmla="*/ 29 h 64"/>
                <a:gd name="T98" fmla="*/ 8 w 33"/>
                <a:gd name="T99" fmla="*/ 25 h 64"/>
                <a:gd name="T100" fmla="*/ 8 w 33"/>
                <a:gd name="T101" fmla="*/ 25 h 64"/>
                <a:gd name="T102" fmla="*/ 11 w 33"/>
                <a:gd name="T103" fmla="*/ 2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3" h="64">
                  <a:moveTo>
                    <a:pt x="19" y="32"/>
                  </a:moveTo>
                  <a:cubicBezTo>
                    <a:pt x="20" y="32"/>
                    <a:pt x="21" y="31"/>
                    <a:pt x="22" y="29"/>
                  </a:cubicBezTo>
                  <a:cubicBezTo>
                    <a:pt x="22" y="29"/>
                    <a:pt x="22" y="28"/>
                    <a:pt x="22" y="28"/>
                  </a:cubicBezTo>
                  <a:cubicBezTo>
                    <a:pt x="23" y="27"/>
                    <a:pt x="23" y="25"/>
                    <a:pt x="24" y="24"/>
                  </a:cubicBezTo>
                  <a:cubicBezTo>
                    <a:pt x="24" y="23"/>
                    <a:pt x="25" y="22"/>
                    <a:pt x="25" y="20"/>
                  </a:cubicBezTo>
                  <a:cubicBezTo>
                    <a:pt x="26" y="17"/>
                    <a:pt x="27" y="14"/>
                    <a:pt x="27" y="11"/>
                  </a:cubicBezTo>
                  <a:cubicBezTo>
                    <a:pt x="27" y="10"/>
                    <a:pt x="27" y="8"/>
                    <a:pt x="27" y="7"/>
                  </a:cubicBezTo>
                  <a:cubicBezTo>
                    <a:pt x="26" y="6"/>
                    <a:pt x="26" y="5"/>
                    <a:pt x="25" y="4"/>
                  </a:cubicBezTo>
                  <a:cubicBezTo>
                    <a:pt x="24" y="2"/>
                    <a:pt x="23" y="1"/>
                    <a:pt x="21" y="0"/>
                  </a:cubicBezTo>
                  <a:cubicBezTo>
                    <a:pt x="20" y="0"/>
                    <a:pt x="18" y="0"/>
                    <a:pt x="17" y="0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4" y="1"/>
                    <a:pt x="13" y="1"/>
                    <a:pt x="12" y="1"/>
                  </a:cubicBezTo>
                  <a:cubicBezTo>
                    <a:pt x="10" y="3"/>
                    <a:pt x="8" y="5"/>
                    <a:pt x="6" y="7"/>
                  </a:cubicBezTo>
                  <a:cubicBezTo>
                    <a:pt x="5" y="8"/>
                    <a:pt x="5" y="9"/>
                    <a:pt x="4" y="11"/>
                  </a:cubicBezTo>
                  <a:cubicBezTo>
                    <a:pt x="4" y="12"/>
                    <a:pt x="3" y="12"/>
                    <a:pt x="3" y="13"/>
                  </a:cubicBezTo>
                  <a:cubicBezTo>
                    <a:pt x="3" y="14"/>
                    <a:pt x="3" y="15"/>
                    <a:pt x="4" y="15"/>
                  </a:cubicBezTo>
                  <a:cubicBezTo>
                    <a:pt x="4" y="15"/>
                    <a:pt x="5" y="15"/>
                    <a:pt x="6" y="15"/>
                  </a:cubicBezTo>
                  <a:cubicBezTo>
                    <a:pt x="7" y="15"/>
                    <a:pt x="8" y="15"/>
                    <a:pt x="8" y="15"/>
                  </a:cubicBezTo>
                  <a:cubicBezTo>
                    <a:pt x="9" y="15"/>
                    <a:pt x="9" y="15"/>
                    <a:pt x="10" y="14"/>
                  </a:cubicBezTo>
                  <a:cubicBezTo>
                    <a:pt x="11" y="13"/>
                    <a:pt x="11" y="12"/>
                    <a:pt x="12" y="11"/>
                  </a:cubicBezTo>
                  <a:cubicBezTo>
                    <a:pt x="14" y="9"/>
                    <a:pt x="16" y="7"/>
                    <a:pt x="18" y="6"/>
                  </a:cubicBezTo>
                  <a:cubicBezTo>
                    <a:pt x="19" y="6"/>
                    <a:pt x="20" y="6"/>
                    <a:pt x="20" y="6"/>
                  </a:cubicBezTo>
                  <a:cubicBezTo>
                    <a:pt x="21" y="7"/>
                    <a:pt x="22" y="8"/>
                    <a:pt x="22" y="10"/>
                  </a:cubicBezTo>
                  <a:cubicBezTo>
                    <a:pt x="22" y="11"/>
                    <a:pt x="22" y="12"/>
                    <a:pt x="22" y="13"/>
                  </a:cubicBezTo>
                  <a:cubicBezTo>
                    <a:pt x="22" y="15"/>
                    <a:pt x="22" y="17"/>
                    <a:pt x="21" y="18"/>
                  </a:cubicBezTo>
                  <a:cubicBezTo>
                    <a:pt x="21" y="20"/>
                    <a:pt x="20" y="22"/>
                    <a:pt x="20" y="24"/>
                  </a:cubicBezTo>
                  <a:cubicBezTo>
                    <a:pt x="20" y="25"/>
                    <a:pt x="19" y="26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6" y="26"/>
                    <a:pt x="16" y="25"/>
                  </a:cubicBezTo>
                  <a:cubicBezTo>
                    <a:pt x="16" y="24"/>
                    <a:pt x="16" y="23"/>
                    <a:pt x="16" y="22"/>
                  </a:cubicBezTo>
                  <a:cubicBezTo>
                    <a:pt x="17" y="21"/>
                    <a:pt x="18" y="20"/>
                    <a:pt x="19" y="19"/>
                  </a:cubicBezTo>
                  <a:cubicBezTo>
                    <a:pt x="19" y="19"/>
                    <a:pt x="19" y="18"/>
                    <a:pt x="19" y="18"/>
                  </a:cubicBezTo>
                  <a:cubicBezTo>
                    <a:pt x="20" y="17"/>
                    <a:pt x="20" y="16"/>
                    <a:pt x="20" y="15"/>
                  </a:cubicBezTo>
                  <a:cubicBezTo>
                    <a:pt x="20" y="15"/>
                    <a:pt x="20" y="15"/>
                    <a:pt x="19" y="15"/>
                  </a:cubicBezTo>
                  <a:cubicBezTo>
                    <a:pt x="18" y="14"/>
                    <a:pt x="17" y="13"/>
                    <a:pt x="15" y="14"/>
                  </a:cubicBezTo>
                  <a:cubicBezTo>
                    <a:pt x="15" y="14"/>
                    <a:pt x="14" y="14"/>
                    <a:pt x="14" y="14"/>
                  </a:cubicBezTo>
                  <a:cubicBezTo>
                    <a:pt x="13" y="13"/>
                    <a:pt x="11" y="13"/>
                    <a:pt x="11" y="14"/>
                  </a:cubicBezTo>
                  <a:cubicBezTo>
                    <a:pt x="10" y="15"/>
                    <a:pt x="10" y="15"/>
                    <a:pt x="10" y="16"/>
                  </a:cubicBezTo>
                  <a:cubicBezTo>
                    <a:pt x="10" y="16"/>
                    <a:pt x="10" y="17"/>
                    <a:pt x="10" y="17"/>
                  </a:cubicBezTo>
                  <a:cubicBezTo>
                    <a:pt x="10" y="17"/>
                    <a:pt x="10" y="18"/>
                    <a:pt x="10" y="18"/>
                  </a:cubicBezTo>
                  <a:cubicBezTo>
                    <a:pt x="10" y="18"/>
                    <a:pt x="9" y="19"/>
                    <a:pt x="9" y="19"/>
                  </a:cubicBezTo>
                  <a:cubicBezTo>
                    <a:pt x="8" y="20"/>
                    <a:pt x="8" y="22"/>
                    <a:pt x="8" y="23"/>
                  </a:cubicBezTo>
                  <a:cubicBezTo>
                    <a:pt x="8" y="23"/>
                    <a:pt x="8" y="24"/>
                    <a:pt x="8" y="24"/>
                  </a:cubicBezTo>
                  <a:cubicBezTo>
                    <a:pt x="8" y="24"/>
                    <a:pt x="7" y="24"/>
                    <a:pt x="7" y="24"/>
                  </a:cubicBezTo>
                  <a:cubicBezTo>
                    <a:pt x="7" y="24"/>
                    <a:pt x="7" y="23"/>
                    <a:pt x="7" y="23"/>
                  </a:cubicBezTo>
                  <a:cubicBezTo>
                    <a:pt x="6" y="22"/>
                    <a:pt x="5" y="21"/>
                    <a:pt x="3" y="21"/>
                  </a:cubicBezTo>
                  <a:cubicBezTo>
                    <a:pt x="2" y="21"/>
                    <a:pt x="0" y="22"/>
                    <a:pt x="0" y="24"/>
                  </a:cubicBezTo>
                  <a:cubicBezTo>
                    <a:pt x="0" y="26"/>
                    <a:pt x="1" y="28"/>
                    <a:pt x="1" y="29"/>
                  </a:cubicBezTo>
                  <a:cubicBezTo>
                    <a:pt x="2" y="30"/>
                    <a:pt x="2" y="31"/>
                    <a:pt x="2" y="32"/>
                  </a:cubicBezTo>
                  <a:cubicBezTo>
                    <a:pt x="3" y="34"/>
                    <a:pt x="4" y="35"/>
                    <a:pt x="6" y="35"/>
                  </a:cubicBezTo>
                  <a:cubicBezTo>
                    <a:pt x="7" y="35"/>
                    <a:pt x="7" y="35"/>
                    <a:pt x="8" y="35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9" y="37"/>
                    <a:pt x="10" y="37"/>
                    <a:pt x="11" y="37"/>
                  </a:cubicBezTo>
                  <a:cubicBezTo>
                    <a:pt x="12" y="37"/>
                    <a:pt x="12" y="37"/>
                    <a:pt x="12" y="38"/>
                  </a:cubicBezTo>
                  <a:cubicBezTo>
                    <a:pt x="12" y="39"/>
                    <a:pt x="12" y="39"/>
                    <a:pt x="12" y="40"/>
                  </a:cubicBezTo>
                  <a:cubicBezTo>
                    <a:pt x="12" y="42"/>
                    <a:pt x="12" y="43"/>
                    <a:pt x="11" y="44"/>
                  </a:cubicBezTo>
                  <a:cubicBezTo>
                    <a:pt x="10" y="45"/>
                    <a:pt x="9" y="47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11" y="50"/>
                    <a:pt x="12" y="50"/>
                  </a:cubicBezTo>
                  <a:cubicBezTo>
                    <a:pt x="13" y="50"/>
                    <a:pt x="13" y="50"/>
                    <a:pt x="13" y="51"/>
                  </a:cubicBezTo>
                  <a:cubicBezTo>
                    <a:pt x="13" y="51"/>
                    <a:pt x="13" y="52"/>
                    <a:pt x="13" y="53"/>
                  </a:cubicBezTo>
                  <a:cubicBezTo>
                    <a:pt x="13" y="54"/>
                    <a:pt x="13" y="54"/>
                    <a:pt x="12" y="54"/>
                  </a:cubicBezTo>
                  <a:cubicBezTo>
                    <a:pt x="11" y="55"/>
                    <a:pt x="10" y="55"/>
                    <a:pt x="9" y="56"/>
                  </a:cubicBezTo>
                  <a:cubicBezTo>
                    <a:pt x="9" y="57"/>
                    <a:pt x="9" y="57"/>
                    <a:pt x="8" y="57"/>
                  </a:cubicBezTo>
                  <a:cubicBezTo>
                    <a:pt x="7" y="59"/>
                    <a:pt x="7" y="60"/>
                    <a:pt x="8" y="61"/>
                  </a:cubicBezTo>
                  <a:cubicBezTo>
                    <a:pt x="8" y="62"/>
                    <a:pt x="8" y="62"/>
                    <a:pt x="9" y="62"/>
                  </a:cubicBezTo>
                  <a:cubicBezTo>
                    <a:pt x="9" y="63"/>
                    <a:pt x="10" y="64"/>
                    <a:pt x="10" y="64"/>
                  </a:cubicBezTo>
                  <a:cubicBezTo>
                    <a:pt x="11" y="63"/>
                    <a:pt x="12" y="63"/>
                    <a:pt x="13" y="63"/>
                  </a:cubicBezTo>
                  <a:cubicBezTo>
                    <a:pt x="14" y="62"/>
                    <a:pt x="15" y="61"/>
                    <a:pt x="16" y="61"/>
                  </a:cubicBezTo>
                  <a:cubicBezTo>
                    <a:pt x="17" y="60"/>
                    <a:pt x="18" y="60"/>
                    <a:pt x="19" y="59"/>
                  </a:cubicBezTo>
                  <a:cubicBezTo>
                    <a:pt x="21" y="58"/>
                    <a:pt x="23" y="58"/>
                    <a:pt x="25" y="58"/>
                  </a:cubicBezTo>
                  <a:cubicBezTo>
                    <a:pt x="26" y="58"/>
                    <a:pt x="27" y="58"/>
                    <a:pt x="28" y="58"/>
                  </a:cubicBezTo>
                  <a:cubicBezTo>
                    <a:pt x="28" y="58"/>
                    <a:pt x="28" y="58"/>
                    <a:pt x="29" y="58"/>
                  </a:cubicBezTo>
                  <a:cubicBezTo>
                    <a:pt x="29" y="58"/>
                    <a:pt x="30" y="58"/>
                    <a:pt x="30" y="57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6"/>
                    <a:pt x="32" y="55"/>
                    <a:pt x="32" y="55"/>
                  </a:cubicBezTo>
                  <a:cubicBezTo>
                    <a:pt x="32" y="54"/>
                    <a:pt x="32" y="53"/>
                    <a:pt x="32" y="52"/>
                  </a:cubicBezTo>
                  <a:cubicBezTo>
                    <a:pt x="33" y="51"/>
                    <a:pt x="32" y="51"/>
                    <a:pt x="32" y="50"/>
                  </a:cubicBezTo>
                  <a:cubicBezTo>
                    <a:pt x="31" y="50"/>
                    <a:pt x="30" y="50"/>
                    <a:pt x="29" y="50"/>
                  </a:cubicBezTo>
                  <a:cubicBezTo>
                    <a:pt x="28" y="50"/>
                    <a:pt x="27" y="50"/>
                    <a:pt x="26" y="50"/>
                  </a:cubicBezTo>
                  <a:cubicBezTo>
                    <a:pt x="24" y="50"/>
                    <a:pt x="22" y="51"/>
                    <a:pt x="20" y="52"/>
                  </a:cubicBezTo>
                  <a:cubicBezTo>
                    <a:pt x="20" y="52"/>
                    <a:pt x="20" y="51"/>
                    <a:pt x="19" y="51"/>
                  </a:cubicBezTo>
                  <a:cubicBezTo>
                    <a:pt x="19" y="51"/>
                    <a:pt x="19" y="50"/>
                    <a:pt x="19" y="50"/>
                  </a:cubicBezTo>
                  <a:cubicBezTo>
                    <a:pt x="18" y="48"/>
                    <a:pt x="18" y="47"/>
                    <a:pt x="19" y="46"/>
                  </a:cubicBezTo>
                  <a:cubicBezTo>
                    <a:pt x="20" y="45"/>
                    <a:pt x="21" y="44"/>
                    <a:pt x="23" y="43"/>
                  </a:cubicBezTo>
                  <a:cubicBezTo>
                    <a:pt x="24" y="42"/>
                    <a:pt x="25" y="39"/>
                    <a:pt x="24" y="38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6"/>
                    <a:pt x="23" y="36"/>
                    <a:pt x="22" y="36"/>
                  </a:cubicBezTo>
                  <a:cubicBezTo>
                    <a:pt x="21" y="36"/>
                    <a:pt x="20" y="37"/>
                    <a:pt x="20" y="37"/>
                  </a:cubicBezTo>
                  <a:cubicBezTo>
                    <a:pt x="19" y="37"/>
                    <a:pt x="18" y="38"/>
                    <a:pt x="17" y="38"/>
                  </a:cubicBezTo>
                  <a:cubicBezTo>
                    <a:pt x="17" y="39"/>
                    <a:pt x="17" y="39"/>
                    <a:pt x="16" y="38"/>
                  </a:cubicBezTo>
                  <a:cubicBezTo>
                    <a:pt x="16" y="37"/>
                    <a:pt x="16" y="36"/>
                    <a:pt x="16" y="36"/>
                  </a:cubicBezTo>
                  <a:cubicBezTo>
                    <a:pt x="16" y="34"/>
                    <a:pt x="17" y="33"/>
                    <a:pt x="19" y="32"/>
                  </a:cubicBezTo>
                  <a:close/>
                  <a:moveTo>
                    <a:pt x="11" y="27"/>
                  </a:moveTo>
                  <a:cubicBezTo>
                    <a:pt x="11" y="28"/>
                    <a:pt x="10" y="29"/>
                    <a:pt x="10" y="29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29"/>
                    <a:pt x="10" y="29"/>
                  </a:cubicBezTo>
                  <a:cubicBezTo>
                    <a:pt x="9" y="28"/>
                    <a:pt x="9" y="27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9" y="26"/>
                    <a:pt x="10" y="26"/>
                    <a:pt x="11" y="26"/>
                  </a:cubicBezTo>
                  <a:cubicBezTo>
                    <a:pt x="11" y="26"/>
                    <a:pt x="11" y="27"/>
                    <a:pt x="11" y="2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3" name="išḷîḓe">
              <a:extLst>
                <a:ext uri="{FF2B5EF4-FFF2-40B4-BE49-F238E27FC236}">
                  <a16:creationId xmlns:a16="http://schemas.microsoft.com/office/drawing/2014/main" id="{BFF5C089-E738-4EEC-3921-840A5ED40CF7}"/>
                </a:ext>
              </a:extLst>
            </p:cNvPr>
            <p:cNvSpPr/>
            <p:nvPr/>
          </p:nvSpPr>
          <p:spPr bwMode="auto">
            <a:xfrm>
              <a:off x="2709863" y="2620963"/>
              <a:ext cx="73025" cy="174625"/>
            </a:xfrm>
            <a:custGeom>
              <a:avLst/>
              <a:gdLst>
                <a:gd name="T0" fmla="*/ 20 w 20"/>
                <a:gd name="T1" fmla="*/ 22 h 48"/>
                <a:gd name="T2" fmla="*/ 20 w 20"/>
                <a:gd name="T3" fmla="*/ 21 h 48"/>
                <a:gd name="T4" fmla="*/ 19 w 20"/>
                <a:gd name="T5" fmla="*/ 22 h 48"/>
                <a:gd name="T6" fmla="*/ 18 w 20"/>
                <a:gd name="T7" fmla="*/ 29 h 48"/>
                <a:gd name="T8" fmla="*/ 16 w 20"/>
                <a:gd name="T9" fmla="*/ 34 h 48"/>
                <a:gd name="T10" fmla="*/ 14 w 20"/>
                <a:gd name="T11" fmla="*/ 39 h 48"/>
                <a:gd name="T12" fmla="*/ 14 w 20"/>
                <a:gd name="T13" fmla="*/ 39 h 48"/>
                <a:gd name="T14" fmla="*/ 13 w 20"/>
                <a:gd name="T15" fmla="*/ 39 h 48"/>
                <a:gd name="T16" fmla="*/ 14 w 20"/>
                <a:gd name="T17" fmla="*/ 37 h 48"/>
                <a:gd name="T18" fmla="*/ 14 w 20"/>
                <a:gd name="T19" fmla="*/ 33 h 48"/>
                <a:gd name="T20" fmla="*/ 15 w 20"/>
                <a:gd name="T21" fmla="*/ 27 h 48"/>
                <a:gd name="T22" fmla="*/ 16 w 20"/>
                <a:gd name="T23" fmla="*/ 22 h 48"/>
                <a:gd name="T24" fmla="*/ 15 w 20"/>
                <a:gd name="T25" fmla="*/ 19 h 48"/>
                <a:gd name="T26" fmla="*/ 14 w 20"/>
                <a:gd name="T27" fmla="*/ 18 h 48"/>
                <a:gd name="T28" fmla="*/ 14 w 20"/>
                <a:gd name="T29" fmla="*/ 14 h 48"/>
                <a:gd name="T30" fmla="*/ 14 w 20"/>
                <a:gd name="T31" fmla="*/ 9 h 48"/>
                <a:gd name="T32" fmla="*/ 15 w 20"/>
                <a:gd name="T33" fmla="*/ 6 h 48"/>
                <a:gd name="T34" fmla="*/ 15 w 20"/>
                <a:gd name="T35" fmla="*/ 2 h 48"/>
                <a:gd name="T36" fmla="*/ 13 w 20"/>
                <a:gd name="T37" fmla="*/ 0 h 48"/>
                <a:gd name="T38" fmla="*/ 10 w 20"/>
                <a:gd name="T39" fmla="*/ 0 h 48"/>
                <a:gd name="T40" fmla="*/ 7 w 20"/>
                <a:gd name="T41" fmla="*/ 2 h 48"/>
                <a:gd name="T42" fmla="*/ 4 w 20"/>
                <a:gd name="T43" fmla="*/ 5 h 48"/>
                <a:gd name="T44" fmla="*/ 1 w 20"/>
                <a:gd name="T45" fmla="*/ 7 h 48"/>
                <a:gd name="T46" fmla="*/ 0 w 20"/>
                <a:gd name="T47" fmla="*/ 9 h 48"/>
                <a:gd name="T48" fmla="*/ 2 w 20"/>
                <a:gd name="T49" fmla="*/ 12 h 48"/>
                <a:gd name="T50" fmla="*/ 3 w 20"/>
                <a:gd name="T51" fmla="*/ 12 h 48"/>
                <a:gd name="T52" fmla="*/ 7 w 20"/>
                <a:gd name="T53" fmla="*/ 13 h 48"/>
                <a:gd name="T54" fmla="*/ 10 w 20"/>
                <a:gd name="T55" fmla="*/ 11 h 48"/>
                <a:gd name="T56" fmla="*/ 11 w 20"/>
                <a:gd name="T57" fmla="*/ 11 h 48"/>
                <a:gd name="T58" fmla="*/ 11 w 20"/>
                <a:gd name="T59" fmla="*/ 13 h 48"/>
                <a:gd name="T60" fmla="*/ 12 w 20"/>
                <a:gd name="T61" fmla="*/ 18 h 48"/>
                <a:gd name="T62" fmla="*/ 10 w 20"/>
                <a:gd name="T63" fmla="*/ 19 h 48"/>
                <a:gd name="T64" fmla="*/ 8 w 20"/>
                <a:gd name="T65" fmla="*/ 20 h 48"/>
                <a:gd name="T66" fmla="*/ 3 w 20"/>
                <a:gd name="T67" fmla="*/ 27 h 48"/>
                <a:gd name="T68" fmla="*/ 4 w 20"/>
                <a:gd name="T69" fmla="*/ 32 h 48"/>
                <a:gd name="T70" fmla="*/ 9 w 20"/>
                <a:gd name="T71" fmla="*/ 35 h 48"/>
                <a:gd name="T72" fmla="*/ 9 w 20"/>
                <a:gd name="T73" fmla="*/ 35 h 48"/>
                <a:gd name="T74" fmla="*/ 9 w 20"/>
                <a:gd name="T75" fmla="*/ 42 h 48"/>
                <a:gd name="T76" fmla="*/ 9 w 20"/>
                <a:gd name="T77" fmla="*/ 46 h 48"/>
                <a:gd name="T78" fmla="*/ 12 w 20"/>
                <a:gd name="T79" fmla="*/ 47 h 48"/>
                <a:gd name="T80" fmla="*/ 14 w 20"/>
                <a:gd name="T81" fmla="*/ 46 h 48"/>
                <a:gd name="T82" fmla="*/ 17 w 20"/>
                <a:gd name="T83" fmla="*/ 38 h 48"/>
                <a:gd name="T84" fmla="*/ 18 w 20"/>
                <a:gd name="T85" fmla="*/ 35 h 48"/>
                <a:gd name="T86" fmla="*/ 19 w 20"/>
                <a:gd name="T87" fmla="*/ 31 h 48"/>
                <a:gd name="T88" fmla="*/ 19 w 20"/>
                <a:gd name="T89" fmla="*/ 27 h 48"/>
                <a:gd name="T90" fmla="*/ 20 w 20"/>
                <a:gd name="T91" fmla="*/ 23 h 48"/>
                <a:gd name="T92" fmla="*/ 20 w 20"/>
                <a:gd name="T93" fmla="*/ 22 h 48"/>
                <a:gd name="T94" fmla="*/ 10 w 20"/>
                <a:gd name="T95" fmla="*/ 28 h 48"/>
                <a:gd name="T96" fmla="*/ 10 w 20"/>
                <a:gd name="T97" fmla="*/ 29 h 48"/>
                <a:gd name="T98" fmla="*/ 9 w 20"/>
                <a:gd name="T99" fmla="*/ 30 h 48"/>
                <a:gd name="T100" fmla="*/ 8 w 20"/>
                <a:gd name="T101" fmla="*/ 28 h 48"/>
                <a:gd name="T102" fmla="*/ 10 w 20"/>
                <a:gd name="T103" fmla="*/ 24 h 48"/>
                <a:gd name="T104" fmla="*/ 10 w 20"/>
                <a:gd name="T105" fmla="*/ 24 h 48"/>
                <a:gd name="T106" fmla="*/ 10 w 20"/>
                <a:gd name="T107" fmla="*/ 25 h 48"/>
                <a:gd name="T108" fmla="*/ 10 w 20"/>
                <a:gd name="T109" fmla="*/ 2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" h="48">
                  <a:moveTo>
                    <a:pt x="20" y="22"/>
                  </a:moveTo>
                  <a:cubicBezTo>
                    <a:pt x="20" y="22"/>
                    <a:pt x="20" y="21"/>
                    <a:pt x="20" y="21"/>
                  </a:cubicBezTo>
                  <a:cubicBezTo>
                    <a:pt x="19" y="21"/>
                    <a:pt x="19" y="22"/>
                    <a:pt x="19" y="22"/>
                  </a:cubicBezTo>
                  <a:cubicBezTo>
                    <a:pt x="19" y="24"/>
                    <a:pt x="18" y="26"/>
                    <a:pt x="18" y="29"/>
                  </a:cubicBezTo>
                  <a:cubicBezTo>
                    <a:pt x="17" y="30"/>
                    <a:pt x="17" y="32"/>
                    <a:pt x="16" y="34"/>
                  </a:cubicBezTo>
                  <a:cubicBezTo>
                    <a:pt x="16" y="36"/>
                    <a:pt x="15" y="37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4" y="38"/>
                    <a:pt x="14" y="37"/>
                  </a:cubicBezTo>
                  <a:cubicBezTo>
                    <a:pt x="14" y="36"/>
                    <a:pt x="14" y="35"/>
                    <a:pt x="14" y="33"/>
                  </a:cubicBezTo>
                  <a:cubicBezTo>
                    <a:pt x="15" y="31"/>
                    <a:pt x="15" y="29"/>
                    <a:pt x="15" y="27"/>
                  </a:cubicBezTo>
                  <a:cubicBezTo>
                    <a:pt x="16" y="25"/>
                    <a:pt x="16" y="23"/>
                    <a:pt x="16" y="22"/>
                  </a:cubicBezTo>
                  <a:cubicBezTo>
                    <a:pt x="16" y="21"/>
                    <a:pt x="15" y="20"/>
                    <a:pt x="15" y="19"/>
                  </a:cubicBezTo>
                  <a:cubicBezTo>
                    <a:pt x="14" y="19"/>
                    <a:pt x="14" y="18"/>
                    <a:pt x="14" y="18"/>
                  </a:cubicBezTo>
                  <a:cubicBezTo>
                    <a:pt x="14" y="17"/>
                    <a:pt x="14" y="15"/>
                    <a:pt x="14" y="14"/>
                  </a:cubicBezTo>
                  <a:cubicBezTo>
                    <a:pt x="13" y="12"/>
                    <a:pt x="13" y="10"/>
                    <a:pt x="14" y="9"/>
                  </a:cubicBezTo>
                  <a:cubicBezTo>
                    <a:pt x="14" y="8"/>
                    <a:pt x="14" y="7"/>
                    <a:pt x="15" y="6"/>
                  </a:cubicBezTo>
                  <a:cubicBezTo>
                    <a:pt x="16" y="5"/>
                    <a:pt x="16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7" y="2"/>
                  </a:cubicBezTo>
                  <a:cubicBezTo>
                    <a:pt x="6" y="3"/>
                    <a:pt x="5" y="4"/>
                    <a:pt x="4" y="5"/>
                  </a:cubicBezTo>
                  <a:cubicBezTo>
                    <a:pt x="3" y="5"/>
                    <a:pt x="2" y="6"/>
                    <a:pt x="1" y="7"/>
                  </a:cubicBezTo>
                  <a:cubicBezTo>
                    <a:pt x="0" y="7"/>
                    <a:pt x="0" y="8"/>
                    <a:pt x="0" y="9"/>
                  </a:cubicBezTo>
                  <a:cubicBezTo>
                    <a:pt x="1" y="10"/>
                    <a:pt x="1" y="11"/>
                    <a:pt x="2" y="12"/>
                  </a:cubicBezTo>
                  <a:cubicBezTo>
                    <a:pt x="2" y="12"/>
                    <a:pt x="3" y="12"/>
                    <a:pt x="3" y="12"/>
                  </a:cubicBezTo>
                  <a:cubicBezTo>
                    <a:pt x="4" y="13"/>
                    <a:pt x="6" y="14"/>
                    <a:pt x="7" y="13"/>
                  </a:cubicBezTo>
                  <a:cubicBezTo>
                    <a:pt x="8" y="12"/>
                    <a:pt x="9" y="11"/>
                    <a:pt x="10" y="11"/>
                  </a:cubicBezTo>
                  <a:cubicBezTo>
                    <a:pt x="10" y="10"/>
                    <a:pt x="10" y="10"/>
                    <a:pt x="11" y="11"/>
                  </a:cubicBezTo>
                  <a:cubicBezTo>
                    <a:pt x="11" y="11"/>
                    <a:pt x="11" y="12"/>
                    <a:pt x="11" y="13"/>
                  </a:cubicBezTo>
                  <a:cubicBezTo>
                    <a:pt x="11" y="14"/>
                    <a:pt x="12" y="16"/>
                    <a:pt x="12" y="18"/>
                  </a:cubicBezTo>
                  <a:cubicBezTo>
                    <a:pt x="12" y="19"/>
                    <a:pt x="11" y="19"/>
                    <a:pt x="10" y="19"/>
                  </a:cubicBezTo>
                  <a:cubicBezTo>
                    <a:pt x="9" y="20"/>
                    <a:pt x="8" y="20"/>
                    <a:pt x="8" y="20"/>
                  </a:cubicBezTo>
                  <a:cubicBezTo>
                    <a:pt x="5" y="22"/>
                    <a:pt x="4" y="24"/>
                    <a:pt x="3" y="27"/>
                  </a:cubicBezTo>
                  <a:cubicBezTo>
                    <a:pt x="3" y="29"/>
                    <a:pt x="3" y="31"/>
                    <a:pt x="4" y="32"/>
                  </a:cubicBezTo>
                  <a:cubicBezTo>
                    <a:pt x="5" y="34"/>
                    <a:pt x="7" y="35"/>
                    <a:pt x="9" y="35"/>
                  </a:cubicBezTo>
                  <a:cubicBezTo>
                    <a:pt x="9" y="35"/>
                    <a:pt x="10" y="35"/>
                    <a:pt x="9" y="35"/>
                  </a:cubicBezTo>
                  <a:cubicBezTo>
                    <a:pt x="9" y="38"/>
                    <a:pt x="9" y="40"/>
                    <a:pt x="9" y="42"/>
                  </a:cubicBezTo>
                  <a:cubicBezTo>
                    <a:pt x="9" y="43"/>
                    <a:pt x="9" y="44"/>
                    <a:pt x="9" y="46"/>
                  </a:cubicBezTo>
                  <a:cubicBezTo>
                    <a:pt x="10" y="47"/>
                    <a:pt x="11" y="48"/>
                    <a:pt x="12" y="47"/>
                  </a:cubicBezTo>
                  <a:cubicBezTo>
                    <a:pt x="13" y="47"/>
                    <a:pt x="13" y="47"/>
                    <a:pt x="14" y="46"/>
                  </a:cubicBezTo>
                  <a:cubicBezTo>
                    <a:pt x="16" y="44"/>
                    <a:pt x="16" y="41"/>
                    <a:pt x="17" y="38"/>
                  </a:cubicBezTo>
                  <a:cubicBezTo>
                    <a:pt x="17" y="37"/>
                    <a:pt x="18" y="36"/>
                    <a:pt x="18" y="35"/>
                  </a:cubicBezTo>
                  <a:cubicBezTo>
                    <a:pt x="18" y="34"/>
                    <a:pt x="19" y="32"/>
                    <a:pt x="19" y="31"/>
                  </a:cubicBezTo>
                  <a:cubicBezTo>
                    <a:pt x="19" y="30"/>
                    <a:pt x="19" y="27"/>
                    <a:pt x="19" y="27"/>
                  </a:cubicBezTo>
                  <a:cubicBezTo>
                    <a:pt x="19" y="26"/>
                    <a:pt x="20" y="25"/>
                    <a:pt x="20" y="23"/>
                  </a:cubicBezTo>
                  <a:cubicBezTo>
                    <a:pt x="20" y="23"/>
                    <a:pt x="20" y="22"/>
                    <a:pt x="20" y="22"/>
                  </a:cubicBezTo>
                  <a:close/>
                  <a:moveTo>
                    <a:pt x="10" y="28"/>
                  </a:moveTo>
                  <a:cubicBezTo>
                    <a:pt x="10" y="28"/>
                    <a:pt x="10" y="29"/>
                    <a:pt x="10" y="29"/>
                  </a:cubicBezTo>
                  <a:cubicBezTo>
                    <a:pt x="10" y="29"/>
                    <a:pt x="10" y="30"/>
                    <a:pt x="9" y="30"/>
                  </a:cubicBezTo>
                  <a:cubicBezTo>
                    <a:pt x="8" y="30"/>
                    <a:pt x="8" y="29"/>
                    <a:pt x="8" y="28"/>
                  </a:cubicBezTo>
                  <a:cubicBezTo>
                    <a:pt x="8" y="27"/>
                    <a:pt x="9" y="25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5"/>
                    <a:pt x="11" y="25"/>
                    <a:pt x="10" y="25"/>
                  </a:cubicBezTo>
                  <a:cubicBezTo>
                    <a:pt x="10" y="26"/>
                    <a:pt x="10" y="27"/>
                    <a:pt x="10" y="28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4" name="ïṩļidê">
              <a:extLst>
                <a:ext uri="{FF2B5EF4-FFF2-40B4-BE49-F238E27FC236}">
                  <a16:creationId xmlns:a16="http://schemas.microsoft.com/office/drawing/2014/main" id="{D3B4BE40-9947-3E4C-6AE9-97713FC0E01B}"/>
                </a:ext>
              </a:extLst>
            </p:cNvPr>
            <p:cNvSpPr/>
            <p:nvPr/>
          </p:nvSpPr>
          <p:spPr bwMode="auto">
            <a:xfrm>
              <a:off x="3038475" y="2620963"/>
              <a:ext cx="136525" cy="115888"/>
            </a:xfrm>
            <a:custGeom>
              <a:avLst/>
              <a:gdLst>
                <a:gd name="T0" fmla="*/ 36 w 38"/>
                <a:gd name="T1" fmla="*/ 22 h 32"/>
                <a:gd name="T2" fmla="*/ 34 w 38"/>
                <a:gd name="T3" fmla="*/ 22 h 32"/>
                <a:gd name="T4" fmla="*/ 32 w 38"/>
                <a:gd name="T5" fmla="*/ 22 h 32"/>
                <a:gd name="T6" fmla="*/ 28 w 38"/>
                <a:gd name="T7" fmla="*/ 22 h 32"/>
                <a:gd name="T8" fmla="*/ 27 w 38"/>
                <a:gd name="T9" fmla="*/ 21 h 32"/>
                <a:gd name="T10" fmla="*/ 28 w 38"/>
                <a:gd name="T11" fmla="*/ 21 h 32"/>
                <a:gd name="T12" fmla="*/ 32 w 38"/>
                <a:gd name="T13" fmla="*/ 16 h 32"/>
                <a:gd name="T14" fmla="*/ 35 w 38"/>
                <a:gd name="T15" fmla="*/ 11 h 32"/>
                <a:gd name="T16" fmla="*/ 35 w 38"/>
                <a:gd name="T17" fmla="*/ 8 h 32"/>
                <a:gd name="T18" fmla="*/ 35 w 38"/>
                <a:gd name="T19" fmla="*/ 7 h 32"/>
                <a:gd name="T20" fmla="*/ 34 w 38"/>
                <a:gd name="T21" fmla="*/ 3 h 32"/>
                <a:gd name="T22" fmla="*/ 29 w 38"/>
                <a:gd name="T23" fmla="*/ 1 h 32"/>
                <a:gd name="T24" fmla="*/ 22 w 38"/>
                <a:gd name="T25" fmla="*/ 2 h 32"/>
                <a:gd name="T26" fmla="*/ 16 w 38"/>
                <a:gd name="T27" fmla="*/ 5 h 32"/>
                <a:gd name="T28" fmla="*/ 14 w 38"/>
                <a:gd name="T29" fmla="*/ 7 h 32"/>
                <a:gd name="T30" fmla="*/ 17 w 38"/>
                <a:gd name="T31" fmla="*/ 12 h 32"/>
                <a:gd name="T32" fmla="*/ 22 w 38"/>
                <a:gd name="T33" fmla="*/ 13 h 32"/>
                <a:gd name="T34" fmla="*/ 26 w 38"/>
                <a:gd name="T35" fmla="*/ 11 h 32"/>
                <a:gd name="T36" fmla="*/ 28 w 38"/>
                <a:gd name="T37" fmla="*/ 11 h 32"/>
                <a:gd name="T38" fmla="*/ 25 w 38"/>
                <a:gd name="T39" fmla="*/ 16 h 32"/>
                <a:gd name="T40" fmla="*/ 20 w 38"/>
                <a:gd name="T41" fmla="*/ 20 h 32"/>
                <a:gd name="T42" fmla="*/ 15 w 38"/>
                <a:gd name="T43" fmla="*/ 21 h 32"/>
                <a:gd name="T44" fmla="*/ 12 w 38"/>
                <a:gd name="T45" fmla="*/ 21 h 32"/>
                <a:gd name="T46" fmla="*/ 5 w 38"/>
                <a:gd name="T47" fmla="*/ 22 h 32"/>
                <a:gd name="T48" fmla="*/ 2 w 38"/>
                <a:gd name="T49" fmla="*/ 24 h 32"/>
                <a:gd name="T50" fmla="*/ 1 w 38"/>
                <a:gd name="T51" fmla="*/ 25 h 32"/>
                <a:gd name="T52" fmla="*/ 3 w 38"/>
                <a:gd name="T53" fmla="*/ 31 h 32"/>
                <a:gd name="T54" fmla="*/ 6 w 38"/>
                <a:gd name="T55" fmla="*/ 31 h 32"/>
                <a:gd name="T56" fmla="*/ 12 w 38"/>
                <a:gd name="T57" fmla="*/ 31 h 32"/>
                <a:gd name="T58" fmla="*/ 29 w 38"/>
                <a:gd name="T59" fmla="*/ 30 h 32"/>
                <a:gd name="T60" fmla="*/ 31 w 38"/>
                <a:gd name="T61" fmla="*/ 31 h 32"/>
                <a:gd name="T62" fmla="*/ 33 w 38"/>
                <a:gd name="T63" fmla="*/ 32 h 32"/>
                <a:gd name="T64" fmla="*/ 36 w 38"/>
                <a:gd name="T65" fmla="*/ 30 h 32"/>
                <a:gd name="T66" fmla="*/ 37 w 38"/>
                <a:gd name="T67" fmla="*/ 27 h 32"/>
                <a:gd name="T68" fmla="*/ 36 w 38"/>
                <a:gd name="T69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8" h="32">
                  <a:moveTo>
                    <a:pt x="36" y="22"/>
                  </a:moveTo>
                  <a:cubicBezTo>
                    <a:pt x="36" y="21"/>
                    <a:pt x="35" y="21"/>
                    <a:pt x="34" y="22"/>
                  </a:cubicBezTo>
                  <a:cubicBezTo>
                    <a:pt x="33" y="22"/>
                    <a:pt x="33" y="22"/>
                    <a:pt x="32" y="22"/>
                  </a:cubicBezTo>
                  <a:cubicBezTo>
                    <a:pt x="31" y="22"/>
                    <a:pt x="29" y="22"/>
                    <a:pt x="28" y="22"/>
                  </a:cubicBezTo>
                  <a:cubicBezTo>
                    <a:pt x="28" y="22"/>
                    <a:pt x="27" y="22"/>
                    <a:pt x="27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9" y="19"/>
                    <a:pt x="31" y="17"/>
                    <a:pt x="32" y="16"/>
                  </a:cubicBezTo>
                  <a:cubicBezTo>
                    <a:pt x="33" y="14"/>
                    <a:pt x="34" y="11"/>
                    <a:pt x="35" y="11"/>
                  </a:cubicBezTo>
                  <a:cubicBezTo>
                    <a:pt x="35" y="10"/>
                    <a:pt x="36" y="9"/>
                    <a:pt x="35" y="8"/>
                  </a:cubicBezTo>
                  <a:cubicBezTo>
                    <a:pt x="35" y="8"/>
                    <a:pt x="35" y="7"/>
                    <a:pt x="35" y="7"/>
                  </a:cubicBezTo>
                  <a:cubicBezTo>
                    <a:pt x="35" y="6"/>
                    <a:pt x="35" y="4"/>
                    <a:pt x="34" y="3"/>
                  </a:cubicBezTo>
                  <a:cubicBezTo>
                    <a:pt x="33" y="2"/>
                    <a:pt x="31" y="1"/>
                    <a:pt x="29" y="1"/>
                  </a:cubicBezTo>
                  <a:cubicBezTo>
                    <a:pt x="27" y="0"/>
                    <a:pt x="24" y="1"/>
                    <a:pt x="22" y="2"/>
                  </a:cubicBezTo>
                  <a:cubicBezTo>
                    <a:pt x="20" y="3"/>
                    <a:pt x="18" y="4"/>
                    <a:pt x="16" y="5"/>
                  </a:cubicBezTo>
                  <a:cubicBezTo>
                    <a:pt x="15" y="5"/>
                    <a:pt x="14" y="7"/>
                    <a:pt x="14" y="7"/>
                  </a:cubicBezTo>
                  <a:cubicBezTo>
                    <a:pt x="15" y="9"/>
                    <a:pt x="15" y="11"/>
                    <a:pt x="17" y="12"/>
                  </a:cubicBezTo>
                  <a:cubicBezTo>
                    <a:pt x="18" y="13"/>
                    <a:pt x="20" y="13"/>
                    <a:pt x="22" y="13"/>
                  </a:cubicBezTo>
                  <a:cubicBezTo>
                    <a:pt x="23" y="12"/>
                    <a:pt x="24" y="12"/>
                    <a:pt x="26" y="11"/>
                  </a:cubicBezTo>
                  <a:cubicBezTo>
                    <a:pt x="26" y="11"/>
                    <a:pt x="27" y="11"/>
                    <a:pt x="28" y="11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3" y="17"/>
                    <a:pt x="22" y="18"/>
                    <a:pt x="20" y="20"/>
                  </a:cubicBezTo>
                  <a:cubicBezTo>
                    <a:pt x="19" y="21"/>
                    <a:pt x="17" y="21"/>
                    <a:pt x="15" y="21"/>
                  </a:cubicBezTo>
                  <a:cubicBezTo>
                    <a:pt x="14" y="21"/>
                    <a:pt x="13" y="21"/>
                    <a:pt x="12" y="21"/>
                  </a:cubicBezTo>
                  <a:cubicBezTo>
                    <a:pt x="9" y="22"/>
                    <a:pt x="7" y="22"/>
                    <a:pt x="5" y="22"/>
                  </a:cubicBezTo>
                  <a:cubicBezTo>
                    <a:pt x="4" y="23"/>
                    <a:pt x="3" y="23"/>
                    <a:pt x="2" y="24"/>
                  </a:cubicBezTo>
                  <a:cubicBezTo>
                    <a:pt x="2" y="24"/>
                    <a:pt x="2" y="25"/>
                    <a:pt x="1" y="25"/>
                  </a:cubicBezTo>
                  <a:cubicBezTo>
                    <a:pt x="0" y="27"/>
                    <a:pt x="1" y="30"/>
                    <a:pt x="3" y="31"/>
                  </a:cubicBezTo>
                  <a:cubicBezTo>
                    <a:pt x="4" y="31"/>
                    <a:pt x="5" y="31"/>
                    <a:pt x="6" y="31"/>
                  </a:cubicBezTo>
                  <a:cubicBezTo>
                    <a:pt x="8" y="31"/>
                    <a:pt x="11" y="31"/>
                    <a:pt x="12" y="31"/>
                  </a:cubicBezTo>
                  <a:cubicBezTo>
                    <a:pt x="14" y="30"/>
                    <a:pt x="25" y="30"/>
                    <a:pt x="29" y="30"/>
                  </a:cubicBezTo>
                  <a:cubicBezTo>
                    <a:pt x="29" y="30"/>
                    <a:pt x="30" y="30"/>
                    <a:pt x="31" y="31"/>
                  </a:cubicBezTo>
                  <a:cubicBezTo>
                    <a:pt x="32" y="31"/>
                    <a:pt x="32" y="32"/>
                    <a:pt x="33" y="32"/>
                  </a:cubicBezTo>
                  <a:cubicBezTo>
                    <a:pt x="34" y="32"/>
                    <a:pt x="35" y="32"/>
                    <a:pt x="36" y="30"/>
                  </a:cubicBezTo>
                  <a:cubicBezTo>
                    <a:pt x="37" y="29"/>
                    <a:pt x="37" y="28"/>
                    <a:pt x="37" y="27"/>
                  </a:cubicBezTo>
                  <a:cubicBezTo>
                    <a:pt x="38" y="25"/>
                    <a:pt x="37" y="24"/>
                    <a:pt x="36" y="2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5" name="îṧliḑe">
              <a:extLst>
                <a:ext uri="{FF2B5EF4-FFF2-40B4-BE49-F238E27FC236}">
                  <a16:creationId xmlns:a16="http://schemas.microsoft.com/office/drawing/2014/main" id="{C1BA431E-9376-EDFF-B8EA-EDB369A6990E}"/>
                </a:ext>
              </a:extLst>
            </p:cNvPr>
            <p:cNvSpPr/>
            <p:nvPr/>
          </p:nvSpPr>
          <p:spPr bwMode="auto">
            <a:xfrm>
              <a:off x="3290888" y="2722563"/>
              <a:ext cx="187325" cy="198438"/>
            </a:xfrm>
            <a:custGeom>
              <a:avLst/>
              <a:gdLst>
                <a:gd name="T0" fmla="*/ 37 w 52"/>
                <a:gd name="T1" fmla="*/ 49 h 55"/>
                <a:gd name="T2" fmla="*/ 35 w 52"/>
                <a:gd name="T3" fmla="*/ 45 h 55"/>
                <a:gd name="T4" fmla="*/ 34 w 52"/>
                <a:gd name="T5" fmla="*/ 39 h 55"/>
                <a:gd name="T6" fmla="*/ 33 w 52"/>
                <a:gd name="T7" fmla="*/ 34 h 55"/>
                <a:gd name="T8" fmla="*/ 32 w 52"/>
                <a:gd name="T9" fmla="*/ 27 h 55"/>
                <a:gd name="T10" fmla="*/ 34 w 52"/>
                <a:gd name="T11" fmla="*/ 25 h 55"/>
                <a:gd name="T12" fmla="*/ 35 w 52"/>
                <a:gd name="T13" fmla="*/ 23 h 55"/>
                <a:gd name="T14" fmla="*/ 38 w 52"/>
                <a:gd name="T15" fmla="*/ 22 h 55"/>
                <a:gd name="T16" fmla="*/ 43 w 52"/>
                <a:gd name="T17" fmla="*/ 24 h 55"/>
                <a:gd name="T18" fmla="*/ 46 w 52"/>
                <a:gd name="T19" fmla="*/ 23 h 55"/>
                <a:gd name="T20" fmla="*/ 48 w 52"/>
                <a:gd name="T21" fmla="*/ 22 h 55"/>
                <a:gd name="T22" fmla="*/ 49 w 52"/>
                <a:gd name="T23" fmla="*/ 22 h 55"/>
                <a:gd name="T24" fmla="*/ 50 w 52"/>
                <a:gd name="T25" fmla="*/ 21 h 55"/>
                <a:gd name="T26" fmla="*/ 50 w 52"/>
                <a:gd name="T27" fmla="*/ 19 h 55"/>
                <a:gd name="T28" fmla="*/ 48 w 52"/>
                <a:gd name="T29" fmla="*/ 16 h 55"/>
                <a:gd name="T30" fmla="*/ 45 w 52"/>
                <a:gd name="T31" fmla="*/ 15 h 55"/>
                <a:gd name="T32" fmla="*/ 45 w 52"/>
                <a:gd name="T33" fmla="*/ 15 h 55"/>
                <a:gd name="T34" fmla="*/ 45 w 52"/>
                <a:gd name="T35" fmla="*/ 15 h 55"/>
                <a:gd name="T36" fmla="*/ 48 w 52"/>
                <a:gd name="T37" fmla="*/ 11 h 55"/>
                <a:gd name="T38" fmla="*/ 51 w 52"/>
                <a:gd name="T39" fmla="*/ 7 h 55"/>
                <a:gd name="T40" fmla="*/ 52 w 52"/>
                <a:gd name="T41" fmla="*/ 5 h 55"/>
                <a:gd name="T42" fmla="*/ 51 w 52"/>
                <a:gd name="T43" fmla="*/ 1 h 55"/>
                <a:gd name="T44" fmla="*/ 48 w 52"/>
                <a:gd name="T45" fmla="*/ 0 h 55"/>
                <a:gd name="T46" fmla="*/ 45 w 52"/>
                <a:gd name="T47" fmla="*/ 2 h 55"/>
                <a:gd name="T48" fmla="*/ 43 w 52"/>
                <a:gd name="T49" fmla="*/ 6 h 55"/>
                <a:gd name="T50" fmla="*/ 37 w 52"/>
                <a:gd name="T51" fmla="*/ 12 h 55"/>
                <a:gd name="T52" fmla="*/ 35 w 52"/>
                <a:gd name="T53" fmla="*/ 13 h 55"/>
                <a:gd name="T54" fmla="*/ 32 w 52"/>
                <a:gd name="T55" fmla="*/ 12 h 55"/>
                <a:gd name="T56" fmla="*/ 26 w 52"/>
                <a:gd name="T57" fmla="*/ 10 h 55"/>
                <a:gd name="T58" fmla="*/ 22 w 52"/>
                <a:gd name="T59" fmla="*/ 10 h 55"/>
                <a:gd name="T60" fmla="*/ 21 w 52"/>
                <a:gd name="T61" fmla="*/ 11 h 55"/>
                <a:gd name="T62" fmla="*/ 21 w 52"/>
                <a:gd name="T63" fmla="*/ 14 h 55"/>
                <a:gd name="T64" fmla="*/ 21 w 52"/>
                <a:gd name="T65" fmla="*/ 15 h 55"/>
                <a:gd name="T66" fmla="*/ 23 w 52"/>
                <a:gd name="T67" fmla="*/ 17 h 55"/>
                <a:gd name="T68" fmla="*/ 26 w 52"/>
                <a:gd name="T69" fmla="*/ 19 h 55"/>
                <a:gd name="T70" fmla="*/ 29 w 52"/>
                <a:gd name="T71" fmla="*/ 20 h 55"/>
                <a:gd name="T72" fmla="*/ 24 w 52"/>
                <a:gd name="T73" fmla="*/ 23 h 55"/>
                <a:gd name="T74" fmla="*/ 12 w 52"/>
                <a:gd name="T75" fmla="*/ 28 h 55"/>
                <a:gd name="T76" fmla="*/ 0 w 52"/>
                <a:gd name="T77" fmla="*/ 28 h 55"/>
                <a:gd name="T78" fmla="*/ 1 w 52"/>
                <a:gd name="T79" fmla="*/ 29 h 55"/>
                <a:gd name="T80" fmla="*/ 3 w 52"/>
                <a:gd name="T81" fmla="*/ 30 h 55"/>
                <a:gd name="T82" fmla="*/ 6 w 52"/>
                <a:gd name="T83" fmla="*/ 32 h 55"/>
                <a:gd name="T84" fmla="*/ 15 w 52"/>
                <a:gd name="T85" fmla="*/ 32 h 55"/>
                <a:gd name="T86" fmla="*/ 20 w 52"/>
                <a:gd name="T87" fmla="*/ 31 h 55"/>
                <a:gd name="T88" fmla="*/ 26 w 52"/>
                <a:gd name="T89" fmla="*/ 29 h 55"/>
                <a:gd name="T90" fmla="*/ 27 w 52"/>
                <a:gd name="T91" fmla="*/ 29 h 55"/>
                <a:gd name="T92" fmla="*/ 26 w 52"/>
                <a:gd name="T93" fmla="*/ 35 h 55"/>
                <a:gd name="T94" fmla="*/ 25 w 52"/>
                <a:gd name="T95" fmla="*/ 40 h 55"/>
                <a:gd name="T96" fmla="*/ 25 w 52"/>
                <a:gd name="T97" fmla="*/ 43 h 55"/>
                <a:gd name="T98" fmla="*/ 26 w 52"/>
                <a:gd name="T99" fmla="*/ 47 h 55"/>
                <a:gd name="T100" fmla="*/ 28 w 52"/>
                <a:gd name="T101" fmla="*/ 50 h 55"/>
                <a:gd name="T102" fmla="*/ 29 w 52"/>
                <a:gd name="T103" fmla="*/ 52 h 55"/>
                <a:gd name="T104" fmla="*/ 31 w 52"/>
                <a:gd name="T105" fmla="*/ 53 h 55"/>
                <a:gd name="T106" fmla="*/ 34 w 52"/>
                <a:gd name="T107" fmla="*/ 54 h 55"/>
                <a:gd name="T108" fmla="*/ 35 w 52"/>
                <a:gd name="T109" fmla="*/ 54 h 55"/>
                <a:gd name="T110" fmla="*/ 36 w 52"/>
                <a:gd name="T111" fmla="*/ 54 h 55"/>
                <a:gd name="T112" fmla="*/ 37 w 52"/>
                <a:gd name="T113" fmla="*/ 53 h 55"/>
                <a:gd name="T114" fmla="*/ 39 w 52"/>
                <a:gd name="T115" fmla="*/ 53 h 55"/>
                <a:gd name="T116" fmla="*/ 37 w 52"/>
                <a:gd name="T117" fmla="*/ 49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2" h="55">
                  <a:moveTo>
                    <a:pt x="37" y="49"/>
                  </a:moveTo>
                  <a:cubicBezTo>
                    <a:pt x="36" y="47"/>
                    <a:pt x="36" y="46"/>
                    <a:pt x="35" y="45"/>
                  </a:cubicBezTo>
                  <a:cubicBezTo>
                    <a:pt x="34" y="43"/>
                    <a:pt x="34" y="41"/>
                    <a:pt x="34" y="39"/>
                  </a:cubicBezTo>
                  <a:cubicBezTo>
                    <a:pt x="33" y="37"/>
                    <a:pt x="33" y="35"/>
                    <a:pt x="33" y="34"/>
                  </a:cubicBezTo>
                  <a:cubicBezTo>
                    <a:pt x="33" y="31"/>
                    <a:pt x="33" y="28"/>
                    <a:pt x="32" y="27"/>
                  </a:cubicBezTo>
                  <a:cubicBezTo>
                    <a:pt x="32" y="25"/>
                    <a:pt x="33" y="25"/>
                    <a:pt x="34" y="25"/>
                  </a:cubicBezTo>
                  <a:cubicBezTo>
                    <a:pt x="34" y="24"/>
                    <a:pt x="35" y="24"/>
                    <a:pt x="35" y="23"/>
                  </a:cubicBezTo>
                  <a:cubicBezTo>
                    <a:pt x="36" y="23"/>
                    <a:pt x="37" y="22"/>
                    <a:pt x="38" y="22"/>
                  </a:cubicBezTo>
                  <a:cubicBezTo>
                    <a:pt x="40" y="23"/>
                    <a:pt x="41" y="23"/>
                    <a:pt x="43" y="24"/>
                  </a:cubicBezTo>
                  <a:cubicBezTo>
                    <a:pt x="43" y="24"/>
                    <a:pt x="45" y="24"/>
                    <a:pt x="46" y="23"/>
                  </a:cubicBezTo>
                  <a:cubicBezTo>
                    <a:pt x="47" y="23"/>
                    <a:pt x="47" y="23"/>
                    <a:pt x="48" y="22"/>
                  </a:cubicBezTo>
                  <a:cubicBezTo>
                    <a:pt x="48" y="22"/>
                    <a:pt x="49" y="22"/>
                    <a:pt x="49" y="22"/>
                  </a:cubicBezTo>
                  <a:cubicBezTo>
                    <a:pt x="49" y="21"/>
                    <a:pt x="50" y="21"/>
                    <a:pt x="50" y="21"/>
                  </a:cubicBezTo>
                  <a:cubicBezTo>
                    <a:pt x="51" y="20"/>
                    <a:pt x="51" y="20"/>
                    <a:pt x="50" y="19"/>
                  </a:cubicBezTo>
                  <a:cubicBezTo>
                    <a:pt x="50" y="18"/>
                    <a:pt x="49" y="17"/>
                    <a:pt x="48" y="16"/>
                  </a:cubicBezTo>
                  <a:cubicBezTo>
                    <a:pt x="47" y="15"/>
                    <a:pt x="46" y="15"/>
                    <a:pt x="45" y="15"/>
                  </a:cubicBezTo>
                  <a:cubicBezTo>
                    <a:pt x="45" y="15"/>
                    <a:pt x="45" y="16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6" y="13"/>
                    <a:pt x="47" y="12"/>
                    <a:pt x="48" y="11"/>
                  </a:cubicBezTo>
                  <a:cubicBezTo>
                    <a:pt x="49" y="10"/>
                    <a:pt x="50" y="8"/>
                    <a:pt x="51" y="7"/>
                  </a:cubicBezTo>
                  <a:cubicBezTo>
                    <a:pt x="51" y="6"/>
                    <a:pt x="52" y="6"/>
                    <a:pt x="52" y="5"/>
                  </a:cubicBezTo>
                  <a:cubicBezTo>
                    <a:pt x="52" y="4"/>
                    <a:pt x="51" y="3"/>
                    <a:pt x="51" y="1"/>
                  </a:cubicBezTo>
                  <a:cubicBezTo>
                    <a:pt x="50" y="0"/>
                    <a:pt x="49" y="0"/>
                    <a:pt x="48" y="0"/>
                  </a:cubicBezTo>
                  <a:cubicBezTo>
                    <a:pt x="47" y="1"/>
                    <a:pt x="45" y="1"/>
                    <a:pt x="45" y="2"/>
                  </a:cubicBezTo>
                  <a:cubicBezTo>
                    <a:pt x="44" y="4"/>
                    <a:pt x="43" y="5"/>
                    <a:pt x="43" y="6"/>
                  </a:cubicBezTo>
                  <a:cubicBezTo>
                    <a:pt x="41" y="8"/>
                    <a:pt x="39" y="10"/>
                    <a:pt x="37" y="12"/>
                  </a:cubicBezTo>
                  <a:cubicBezTo>
                    <a:pt x="37" y="13"/>
                    <a:pt x="36" y="13"/>
                    <a:pt x="35" y="13"/>
                  </a:cubicBezTo>
                  <a:cubicBezTo>
                    <a:pt x="34" y="13"/>
                    <a:pt x="33" y="13"/>
                    <a:pt x="32" y="12"/>
                  </a:cubicBezTo>
                  <a:cubicBezTo>
                    <a:pt x="30" y="12"/>
                    <a:pt x="28" y="11"/>
                    <a:pt x="26" y="10"/>
                  </a:cubicBezTo>
                  <a:cubicBezTo>
                    <a:pt x="25" y="9"/>
                    <a:pt x="23" y="9"/>
                    <a:pt x="22" y="10"/>
                  </a:cubicBezTo>
                  <a:cubicBezTo>
                    <a:pt x="22" y="11"/>
                    <a:pt x="21" y="11"/>
                    <a:pt x="21" y="11"/>
                  </a:cubicBezTo>
                  <a:cubicBezTo>
                    <a:pt x="21" y="12"/>
                    <a:pt x="21" y="13"/>
                    <a:pt x="21" y="14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6"/>
                    <a:pt x="22" y="17"/>
                    <a:pt x="23" y="17"/>
                  </a:cubicBezTo>
                  <a:cubicBezTo>
                    <a:pt x="24" y="18"/>
                    <a:pt x="25" y="19"/>
                    <a:pt x="26" y="19"/>
                  </a:cubicBezTo>
                  <a:cubicBezTo>
                    <a:pt x="27" y="19"/>
                    <a:pt x="28" y="20"/>
                    <a:pt x="29" y="20"/>
                  </a:cubicBezTo>
                  <a:cubicBezTo>
                    <a:pt x="28" y="20"/>
                    <a:pt x="26" y="22"/>
                    <a:pt x="24" y="23"/>
                  </a:cubicBezTo>
                  <a:cubicBezTo>
                    <a:pt x="21" y="25"/>
                    <a:pt x="18" y="26"/>
                    <a:pt x="12" y="28"/>
                  </a:cubicBezTo>
                  <a:cubicBezTo>
                    <a:pt x="5" y="29"/>
                    <a:pt x="1" y="28"/>
                    <a:pt x="0" y="28"/>
                  </a:cubicBezTo>
                  <a:cubicBezTo>
                    <a:pt x="0" y="28"/>
                    <a:pt x="0" y="28"/>
                    <a:pt x="1" y="29"/>
                  </a:cubicBezTo>
                  <a:cubicBezTo>
                    <a:pt x="1" y="29"/>
                    <a:pt x="3" y="30"/>
                    <a:pt x="3" y="30"/>
                  </a:cubicBezTo>
                  <a:cubicBezTo>
                    <a:pt x="4" y="31"/>
                    <a:pt x="5" y="32"/>
                    <a:pt x="6" y="32"/>
                  </a:cubicBezTo>
                  <a:cubicBezTo>
                    <a:pt x="7" y="32"/>
                    <a:pt x="12" y="33"/>
                    <a:pt x="15" y="32"/>
                  </a:cubicBezTo>
                  <a:cubicBezTo>
                    <a:pt x="17" y="32"/>
                    <a:pt x="20" y="31"/>
                    <a:pt x="20" y="31"/>
                  </a:cubicBezTo>
                  <a:cubicBezTo>
                    <a:pt x="22" y="30"/>
                    <a:pt x="24" y="30"/>
                    <a:pt x="26" y="29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7" y="31"/>
                    <a:pt x="26" y="33"/>
                    <a:pt x="26" y="35"/>
                  </a:cubicBezTo>
                  <a:cubicBezTo>
                    <a:pt x="26" y="37"/>
                    <a:pt x="26" y="38"/>
                    <a:pt x="25" y="40"/>
                  </a:cubicBezTo>
                  <a:cubicBezTo>
                    <a:pt x="25" y="41"/>
                    <a:pt x="25" y="42"/>
                    <a:pt x="25" y="43"/>
                  </a:cubicBezTo>
                  <a:cubicBezTo>
                    <a:pt x="25" y="44"/>
                    <a:pt x="25" y="46"/>
                    <a:pt x="26" y="47"/>
                  </a:cubicBezTo>
                  <a:cubicBezTo>
                    <a:pt x="26" y="48"/>
                    <a:pt x="27" y="49"/>
                    <a:pt x="28" y="50"/>
                  </a:cubicBezTo>
                  <a:cubicBezTo>
                    <a:pt x="28" y="50"/>
                    <a:pt x="29" y="51"/>
                    <a:pt x="29" y="52"/>
                  </a:cubicBezTo>
                  <a:cubicBezTo>
                    <a:pt x="30" y="52"/>
                    <a:pt x="30" y="53"/>
                    <a:pt x="31" y="53"/>
                  </a:cubicBezTo>
                  <a:cubicBezTo>
                    <a:pt x="32" y="53"/>
                    <a:pt x="33" y="55"/>
                    <a:pt x="34" y="54"/>
                  </a:cubicBezTo>
                  <a:cubicBezTo>
                    <a:pt x="34" y="54"/>
                    <a:pt x="35" y="54"/>
                    <a:pt x="35" y="54"/>
                  </a:cubicBezTo>
                  <a:cubicBezTo>
                    <a:pt x="35" y="54"/>
                    <a:pt x="36" y="54"/>
                    <a:pt x="36" y="54"/>
                  </a:cubicBezTo>
                  <a:cubicBezTo>
                    <a:pt x="37" y="54"/>
                    <a:pt x="37" y="54"/>
                    <a:pt x="37" y="53"/>
                  </a:cubicBezTo>
                  <a:cubicBezTo>
                    <a:pt x="38" y="53"/>
                    <a:pt x="39" y="53"/>
                    <a:pt x="39" y="53"/>
                  </a:cubicBezTo>
                  <a:cubicBezTo>
                    <a:pt x="39" y="52"/>
                    <a:pt x="38" y="52"/>
                    <a:pt x="37" y="4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6" name="ïśḷïḓè">
              <a:extLst>
                <a:ext uri="{FF2B5EF4-FFF2-40B4-BE49-F238E27FC236}">
                  <a16:creationId xmlns:a16="http://schemas.microsoft.com/office/drawing/2014/main" id="{FAC55141-4FF0-8318-2CD6-CF1EDA5F6973}"/>
                </a:ext>
              </a:extLst>
            </p:cNvPr>
            <p:cNvSpPr/>
            <p:nvPr/>
          </p:nvSpPr>
          <p:spPr bwMode="auto">
            <a:xfrm>
              <a:off x="2035175" y="2493963"/>
              <a:ext cx="1865313" cy="1873250"/>
            </a:xfrm>
            <a:custGeom>
              <a:avLst/>
              <a:gdLst>
                <a:gd name="T0" fmla="*/ 258 w 517"/>
                <a:gd name="T1" fmla="*/ 0 h 517"/>
                <a:gd name="T2" fmla="*/ 0 w 517"/>
                <a:gd name="T3" fmla="*/ 258 h 517"/>
                <a:gd name="T4" fmla="*/ 258 w 517"/>
                <a:gd name="T5" fmla="*/ 517 h 517"/>
                <a:gd name="T6" fmla="*/ 517 w 517"/>
                <a:gd name="T7" fmla="*/ 258 h 517"/>
                <a:gd name="T8" fmla="*/ 258 w 517"/>
                <a:gd name="T9" fmla="*/ 0 h 517"/>
                <a:gd name="T10" fmla="*/ 258 w 517"/>
                <a:gd name="T11" fmla="*/ 511 h 517"/>
                <a:gd name="T12" fmla="*/ 5 w 517"/>
                <a:gd name="T13" fmla="*/ 258 h 517"/>
                <a:gd name="T14" fmla="*/ 258 w 517"/>
                <a:gd name="T15" fmla="*/ 6 h 517"/>
                <a:gd name="T16" fmla="*/ 511 w 517"/>
                <a:gd name="T17" fmla="*/ 258 h 517"/>
                <a:gd name="T18" fmla="*/ 258 w 517"/>
                <a:gd name="T19" fmla="*/ 511 h 5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7" h="517">
                  <a:moveTo>
                    <a:pt x="258" y="0"/>
                  </a:moveTo>
                  <a:cubicBezTo>
                    <a:pt x="115" y="0"/>
                    <a:pt x="0" y="116"/>
                    <a:pt x="0" y="258"/>
                  </a:cubicBezTo>
                  <a:cubicBezTo>
                    <a:pt x="0" y="401"/>
                    <a:pt x="115" y="517"/>
                    <a:pt x="258" y="517"/>
                  </a:cubicBezTo>
                  <a:cubicBezTo>
                    <a:pt x="401" y="517"/>
                    <a:pt x="517" y="401"/>
                    <a:pt x="517" y="258"/>
                  </a:cubicBezTo>
                  <a:cubicBezTo>
                    <a:pt x="517" y="116"/>
                    <a:pt x="401" y="0"/>
                    <a:pt x="258" y="0"/>
                  </a:cubicBezTo>
                  <a:close/>
                  <a:moveTo>
                    <a:pt x="258" y="511"/>
                  </a:moveTo>
                  <a:cubicBezTo>
                    <a:pt x="119" y="511"/>
                    <a:pt x="5" y="398"/>
                    <a:pt x="5" y="258"/>
                  </a:cubicBezTo>
                  <a:cubicBezTo>
                    <a:pt x="5" y="119"/>
                    <a:pt x="119" y="6"/>
                    <a:pt x="258" y="6"/>
                  </a:cubicBezTo>
                  <a:cubicBezTo>
                    <a:pt x="398" y="6"/>
                    <a:pt x="511" y="119"/>
                    <a:pt x="511" y="258"/>
                  </a:cubicBezTo>
                  <a:cubicBezTo>
                    <a:pt x="511" y="398"/>
                    <a:pt x="398" y="511"/>
                    <a:pt x="258" y="51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7" name="ísliďè">
              <a:extLst>
                <a:ext uri="{FF2B5EF4-FFF2-40B4-BE49-F238E27FC236}">
                  <a16:creationId xmlns:a16="http://schemas.microsoft.com/office/drawing/2014/main" id="{F7A14C12-E6F1-98DE-0AFF-3CC2A97B1FD7}"/>
                </a:ext>
              </a:extLst>
            </p:cNvPr>
            <p:cNvSpPr/>
            <p:nvPr/>
          </p:nvSpPr>
          <p:spPr bwMode="auto">
            <a:xfrm>
              <a:off x="2332038" y="2790826"/>
              <a:ext cx="1273175" cy="1279525"/>
            </a:xfrm>
            <a:custGeom>
              <a:avLst/>
              <a:gdLst>
                <a:gd name="T0" fmla="*/ 176 w 353"/>
                <a:gd name="T1" fmla="*/ 0 h 353"/>
                <a:gd name="T2" fmla="*/ 0 w 353"/>
                <a:gd name="T3" fmla="*/ 176 h 353"/>
                <a:gd name="T4" fmla="*/ 176 w 353"/>
                <a:gd name="T5" fmla="*/ 353 h 353"/>
                <a:gd name="T6" fmla="*/ 353 w 353"/>
                <a:gd name="T7" fmla="*/ 176 h 353"/>
                <a:gd name="T8" fmla="*/ 176 w 353"/>
                <a:gd name="T9" fmla="*/ 0 h 353"/>
                <a:gd name="T10" fmla="*/ 176 w 353"/>
                <a:gd name="T11" fmla="*/ 347 h 353"/>
                <a:gd name="T12" fmla="*/ 6 w 353"/>
                <a:gd name="T13" fmla="*/ 176 h 353"/>
                <a:gd name="T14" fmla="*/ 176 w 353"/>
                <a:gd name="T15" fmla="*/ 6 h 353"/>
                <a:gd name="T16" fmla="*/ 347 w 353"/>
                <a:gd name="T17" fmla="*/ 176 h 353"/>
                <a:gd name="T18" fmla="*/ 176 w 353"/>
                <a:gd name="T19" fmla="*/ 347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3" h="353">
                  <a:moveTo>
                    <a:pt x="176" y="0"/>
                  </a:moveTo>
                  <a:cubicBezTo>
                    <a:pt x="79" y="0"/>
                    <a:pt x="0" y="79"/>
                    <a:pt x="0" y="176"/>
                  </a:cubicBezTo>
                  <a:cubicBezTo>
                    <a:pt x="0" y="274"/>
                    <a:pt x="79" y="353"/>
                    <a:pt x="176" y="353"/>
                  </a:cubicBezTo>
                  <a:cubicBezTo>
                    <a:pt x="274" y="353"/>
                    <a:pt x="353" y="274"/>
                    <a:pt x="353" y="176"/>
                  </a:cubicBezTo>
                  <a:cubicBezTo>
                    <a:pt x="353" y="79"/>
                    <a:pt x="274" y="0"/>
                    <a:pt x="176" y="0"/>
                  </a:cubicBezTo>
                  <a:close/>
                  <a:moveTo>
                    <a:pt x="176" y="347"/>
                  </a:moveTo>
                  <a:cubicBezTo>
                    <a:pt x="82" y="347"/>
                    <a:pt x="6" y="271"/>
                    <a:pt x="6" y="176"/>
                  </a:cubicBezTo>
                  <a:cubicBezTo>
                    <a:pt x="6" y="82"/>
                    <a:pt x="82" y="6"/>
                    <a:pt x="176" y="6"/>
                  </a:cubicBezTo>
                  <a:cubicBezTo>
                    <a:pt x="270" y="6"/>
                    <a:pt x="347" y="82"/>
                    <a:pt x="347" y="176"/>
                  </a:cubicBezTo>
                  <a:cubicBezTo>
                    <a:pt x="347" y="271"/>
                    <a:pt x="270" y="347"/>
                    <a:pt x="176" y="34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8" name="ïsḷíḍé">
              <a:extLst>
                <a:ext uri="{FF2B5EF4-FFF2-40B4-BE49-F238E27FC236}">
                  <a16:creationId xmlns:a16="http://schemas.microsoft.com/office/drawing/2014/main" id="{62621E6E-DDFE-9F21-3C2F-2FEC965A5B37}"/>
                </a:ext>
              </a:extLst>
            </p:cNvPr>
            <p:cNvSpPr/>
            <p:nvPr/>
          </p:nvSpPr>
          <p:spPr bwMode="auto">
            <a:xfrm>
              <a:off x="2706688" y="3098801"/>
              <a:ext cx="519113" cy="65088"/>
            </a:xfrm>
            <a:custGeom>
              <a:avLst/>
              <a:gdLst>
                <a:gd name="T0" fmla="*/ 0 w 144"/>
                <a:gd name="T1" fmla="*/ 4 h 18"/>
                <a:gd name="T2" fmla="*/ 72 w 144"/>
                <a:gd name="T3" fmla="*/ 18 h 18"/>
                <a:gd name="T4" fmla="*/ 144 w 144"/>
                <a:gd name="T5" fmla="*/ 4 h 18"/>
                <a:gd name="T6" fmla="*/ 144 w 144"/>
                <a:gd name="T7" fmla="*/ 0 h 18"/>
                <a:gd name="T8" fmla="*/ 72 w 144"/>
                <a:gd name="T9" fmla="*/ 14 h 18"/>
                <a:gd name="T10" fmla="*/ 0 w 144"/>
                <a:gd name="T11" fmla="*/ 0 h 18"/>
                <a:gd name="T12" fmla="*/ 0 w 144"/>
                <a:gd name="T13" fmla="*/ 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18">
                  <a:moveTo>
                    <a:pt x="0" y="4"/>
                  </a:moveTo>
                  <a:cubicBezTo>
                    <a:pt x="32" y="4"/>
                    <a:pt x="59" y="4"/>
                    <a:pt x="72" y="18"/>
                  </a:cubicBezTo>
                  <a:cubicBezTo>
                    <a:pt x="86" y="4"/>
                    <a:pt x="112" y="4"/>
                    <a:pt x="144" y="4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12" y="0"/>
                    <a:pt x="86" y="0"/>
                    <a:pt x="72" y="14"/>
                  </a:cubicBezTo>
                  <a:cubicBezTo>
                    <a:pt x="59" y="0"/>
                    <a:pt x="32" y="0"/>
                    <a:pt x="0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9" name="ïšlîḑê">
              <a:extLst>
                <a:ext uri="{FF2B5EF4-FFF2-40B4-BE49-F238E27FC236}">
                  <a16:creationId xmlns:a16="http://schemas.microsoft.com/office/drawing/2014/main" id="{8B277695-7A9D-408F-9405-D4C864F0658A}"/>
                </a:ext>
              </a:extLst>
            </p:cNvPr>
            <p:cNvSpPr/>
            <p:nvPr/>
          </p:nvSpPr>
          <p:spPr bwMode="auto">
            <a:xfrm>
              <a:off x="2706688" y="3146426"/>
              <a:ext cx="519113" cy="68263"/>
            </a:xfrm>
            <a:custGeom>
              <a:avLst/>
              <a:gdLst>
                <a:gd name="T0" fmla="*/ 0 w 144"/>
                <a:gd name="T1" fmla="*/ 0 h 19"/>
                <a:gd name="T2" fmla="*/ 72 w 144"/>
                <a:gd name="T3" fmla="*/ 14 h 19"/>
                <a:gd name="T4" fmla="*/ 144 w 144"/>
                <a:gd name="T5" fmla="*/ 0 h 19"/>
                <a:gd name="T6" fmla="*/ 144 w 144"/>
                <a:gd name="T7" fmla="*/ 6 h 19"/>
                <a:gd name="T8" fmla="*/ 72 w 144"/>
                <a:gd name="T9" fmla="*/ 19 h 19"/>
                <a:gd name="T10" fmla="*/ 0 w 144"/>
                <a:gd name="T11" fmla="*/ 6 h 19"/>
                <a:gd name="T12" fmla="*/ 0 w 144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19">
                  <a:moveTo>
                    <a:pt x="0" y="0"/>
                  </a:moveTo>
                  <a:cubicBezTo>
                    <a:pt x="32" y="0"/>
                    <a:pt x="59" y="0"/>
                    <a:pt x="72" y="14"/>
                  </a:cubicBezTo>
                  <a:cubicBezTo>
                    <a:pt x="86" y="0"/>
                    <a:pt x="112" y="0"/>
                    <a:pt x="144" y="0"/>
                  </a:cubicBezTo>
                  <a:cubicBezTo>
                    <a:pt x="144" y="6"/>
                    <a:pt x="144" y="6"/>
                    <a:pt x="144" y="6"/>
                  </a:cubicBezTo>
                  <a:cubicBezTo>
                    <a:pt x="112" y="6"/>
                    <a:pt x="86" y="5"/>
                    <a:pt x="72" y="19"/>
                  </a:cubicBezTo>
                  <a:cubicBezTo>
                    <a:pt x="59" y="5"/>
                    <a:pt x="32" y="6"/>
                    <a:pt x="0" y="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0" name="îṧḻîḓé">
              <a:extLst>
                <a:ext uri="{FF2B5EF4-FFF2-40B4-BE49-F238E27FC236}">
                  <a16:creationId xmlns:a16="http://schemas.microsoft.com/office/drawing/2014/main" id="{4649DC98-072C-C099-AEFA-7D4D2FC044DC}"/>
                </a:ext>
              </a:extLst>
            </p:cNvPr>
            <p:cNvSpPr/>
            <p:nvPr/>
          </p:nvSpPr>
          <p:spPr bwMode="auto">
            <a:xfrm>
              <a:off x="2706688" y="3194051"/>
              <a:ext cx="519113" cy="76200"/>
            </a:xfrm>
            <a:custGeom>
              <a:avLst/>
              <a:gdLst>
                <a:gd name="T0" fmla="*/ 0 w 144"/>
                <a:gd name="T1" fmla="*/ 0 h 21"/>
                <a:gd name="T2" fmla="*/ 72 w 144"/>
                <a:gd name="T3" fmla="*/ 14 h 21"/>
                <a:gd name="T4" fmla="*/ 144 w 144"/>
                <a:gd name="T5" fmla="*/ 0 h 21"/>
                <a:gd name="T6" fmla="*/ 144 w 144"/>
                <a:gd name="T7" fmla="*/ 7 h 21"/>
                <a:gd name="T8" fmla="*/ 72 w 144"/>
                <a:gd name="T9" fmla="*/ 21 h 21"/>
                <a:gd name="T10" fmla="*/ 0 w 144"/>
                <a:gd name="T11" fmla="*/ 7 h 21"/>
                <a:gd name="T12" fmla="*/ 0 w 144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21">
                  <a:moveTo>
                    <a:pt x="0" y="0"/>
                  </a:moveTo>
                  <a:cubicBezTo>
                    <a:pt x="32" y="0"/>
                    <a:pt x="59" y="0"/>
                    <a:pt x="72" y="14"/>
                  </a:cubicBezTo>
                  <a:cubicBezTo>
                    <a:pt x="86" y="0"/>
                    <a:pt x="112" y="0"/>
                    <a:pt x="144" y="0"/>
                  </a:cubicBezTo>
                  <a:cubicBezTo>
                    <a:pt x="144" y="7"/>
                    <a:pt x="144" y="7"/>
                    <a:pt x="144" y="7"/>
                  </a:cubicBezTo>
                  <a:cubicBezTo>
                    <a:pt x="112" y="7"/>
                    <a:pt x="86" y="7"/>
                    <a:pt x="72" y="21"/>
                  </a:cubicBezTo>
                  <a:cubicBezTo>
                    <a:pt x="59" y="7"/>
                    <a:pt x="32" y="7"/>
                    <a:pt x="0" y="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1" name="iśļîḋê">
              <a:extLst>
                <a:ext uri="{FF2B5EF4-FFF2-40B4-BE49-F238E27FC236}">
                  <a16:creationId xmlns:a16="http://schemas.microsoft.com/office/drawing/2014/main" id="{FEC0BED0-5E03-86ED-8D1D-716D21C8F065}"/>
                </a:ext>
              </a:extLst>
            </p:cNvPr>
            <p:cNvSpPr/>
            <p:nvPr/>
          </p:nvSpPr>
          <p:spPr bwMode="auto">
            <a:xfrm>
              <a:off x="2706688" y="3236913"/>
              <a:ext cx="519113" cy="84138"/>
            </a:xfrm>
            <a:custGeom>
              <a:avLst/>
              <a:gdLst>
                <a:gd name="T0" fmla="*/ 0 w 144"/>
                <a:gd name="T1" fmla="*/ 1 h 23"/>
                <a:gd name="T2" fmla="*/ 72 w 144"/>
                <a:gd name="T3" fmla="*/ 14 h 23"/>
                <a:gd name="T4" fmla="*/ 144 w 144"/>
                <a:gd name="T5" fmla="*/ 1 h 23"/>
                <a:gd name="T6" fmla="*/ 144 w 144"/>
                <a:gd name="T7" fmla="*/ 9 h 23"/>
                <a:gd name="T8" fmla="*/ 72 w 144"/>
                <a:gd name="T9" fmla="*/ 23 h 23"/>
                <a:gd name="T10" fmla="*/ 0 w 144"/>
                <a:gd name="T11" fmla="*/ 9 h 23"/>
                <a:gd name="T12" fmla="*/ 0 w 144"/>
                <a:gd name="T13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23">
                  <a:moveTo>
                    <a:pt x="0" y="1"/>
                  </a:moveTo>
                  <a:cubicBezTo>
                    <a:pt x="32" y="1"/>
                    <a:pt x="59" y="0"/>
                    <a:pt x="72" y="14"/>
                  </a:cubicBezTo>
                  <a:cubicBezTo>
                    <a:pt x="86" y="0"/>
                    <a:pt x="112" y="1"/>
                    <a:pt x="144" y="1"/>
                  </a:cubicBezTo>
                  <a:cubicBezTo>
                    <a:pt x="144" y="9"/>
                    <a:pt x="144" y="9"/>
                    <a:pt x="144" y="9"/>
                  </a:cubicBezTo>
                  <a:cubicBezTo>
                    <a:pt x="112" y="9"/>
                    <a:pt x="86" y="9"/>
                    <a:pt x="72" y="23"/>
                  </a:cubicBezTo>
                  <a:cubicBezTo>
                    <a:pt x="59" y="9"/>
                    <a:pt x="32" y="9"/>
                    <a:pt x="0" y="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sp>
        <p:nvSpPr>
          <p:cNvPr id="163" name="标题 5">
            <a:extLst>
              <a:ext uri="{FF2B5EF4-FFF2-40B4-BE49-F238E27FC236}">
                <a16:creationId xmlns:a16="http://schemas.microsoft.com/office/drawing/2014/main" id="{2CE6E157-70B1-4848-AAFD-A9B317C8FA93}"/>
              </a:ext>
            </a:extLst>
          </p:cNvPr>
          <p:cNvSpPr txBox="1">
            <a:spLocks/>
          </p:cNvSpPr>
          <p:nvPr/>
        </p:nvSpPr>
        <p:spPr>
          <a:xfrm>
            <a:off x="2714048" y="4170858"/>
            <a:ext cx="7198350" cy="7059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4000" b="1" kern="1200" spc="600" dirty="0">
                <a:solidFill>
                  <a:schemeClr val="bg1"/>
                </a:solidFill>
                <a:latin typeface="+mj-ea"/>
                <a:ea typeface="+mj-ea"/>
                <a:cs typeface="+mn-ea"/>
              </a:defRPr>
            </a:lvl1pPr>
          </a:lstStyle>
          <a:p>
            <a:r>
              <a:rPr lang="zh-CN" altLang="en-US" sz="4400" dirty="0"/>
              <a:t>第</a:t>
            </a:r>
            <a:r>
              <a:rPr lang="en-US" altLang="zh-CN" sz="4400" dirty="0"/>
              <a:t>1</a:t>
            </a:r>
            <a:r>
              <a:rPr lang="zh-CN" altLang="en-US" sz="4400" dirty="0"/>
              <a:t>章 命题逻辑</a:t>
            </a:r>
          </a:p>
        </p:txBody>
      </p:sp>
    </p:spTree>
    <p:extLst>
      <p:ext uri="{BB962C8B-B14F-4D97-AF65-F5344CB8AC3E}">
        <p14:creationId xmlns:p14="http://schemas.microsoft.com/office/powerpoint/2010/main" val="2876387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>
            <a:extLst>
              <a:ext uri="{FF2B5EF4-FFF2-40B4-BE49-F238E27FC236}">
                <a16:creationId xmlns:a16="http://schemas.microsoft.com/office/drawing/2014/main" id="{EBB1BCF0-D4C7-4F87-A1FB-537C3A222B35}"/>
              </a:ext>
            </a:extLst>
          </p:cNvPr>
          <p:cNvSpPr txBox="1">
            <a:spLocks noChangeArrowheads="1"/>
          </p:cNvSpPr>
          <p:nvPr/>
        </p:nvSpPr>
        <p:spPr>
          <a:xfrm>
            <a:off x="429491" y="1255569"/>
            <a:ext cx="8229600" cy="50720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命题符号化及联结词</a:t>
            </a:r>
          </a:p>
          <a:p>
            <a:pPr marL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命题公式及分类</a:t>
            </a:r>
          </a:p>
          <a:p>
            <a:pPr marL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等值演算</a:t>
            </a:r>
          </a:p>
          <a:p>
            <a:pPr marL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1.4 </a:t>
            </a:r>
            <a:r>
              <a:rPr lang="zh-CN" altLang="en-US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范式</a:t>
            </a:r>
          </a:p>
          <a:p>
            <a:pPr marL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1.5 </a:t>
            </a:r>
            <a:r>
              <a:rPr lang="zh-CN" altLang="en-US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联结词全功能集</a:t>
            </a:r>
          </a:p>
          <a:p>
            <a:pPr marL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1.6 </a:t>
            </a:r>
            <a:r>
              <a:rPr lang="zh-CN" altLang="en-US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组合电路</a:t>
            </a:r>
            <a:endParaRPr lang="en-US" altLang="zh-CN" sz="3200" b="1" dirty="0">
              <a:solidFill>
                <a:srgbClr val="29292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1.7 </a:t>
            </a:r>
            <a:r>
              <a:rPr lang="zh-CN" altLang="en-US" sz="3200" b="1" dirty="0">
                <a:solidFill>
                  <a:srgbClr val="29292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推理理论</a:t>
            </a:r>
          </a:p>
        </p:txBody>
      </p:sp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3573608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主要内容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A359E1A-29B1-4DB5-8EF7-C71434BB5DA5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4951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命题符号化及联结词</a:t>
            </a: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6D5C99B8-0963-40AE-824F-6FE47FA82871}"/>
              </a:ext>
            </a:extLst>
          </p:cNvPr>
          <p:cNvSpPr txBox="1">
            <a:spLocks noChangeArrowheads="1"/>
          </p:cNvSpPr>
          <p:nvPr/>
        </p:nvSpPr>
        <p:spPr>
          <a:xfrm>
            <a:off x="634567" y="1626466"/>
            <a:ext cx="9929523" cy="31533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基本概念：</a:t>
            </a:r>
            <a:endParaRPr lang="en-US" altLang="zh-CN" sz="2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Aft>
                <a:spcPts val="600"/>
              </a:spcAft>
              <a:buSzPct val="70000"/>
              <a:buFont typeface="Wingdings" panose="05000000000000000000" pitchFamily="2" charset="2"/>
              <a:buChar char="Ø"/>
            </a:pPr>
            <a:r>
              <a:rPr lang="zh-CN" altLang="en-US" sz="26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命题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：判断结果唯一的陈述句</a:t>
            </a:r>
          </a:p>
          <a:p>
            <a:pPr>
              <a:spcAft>
                <a:spcPts val="600"/>
              </a:spcAft>
              <a:buSzPct val="70000"/>
              <a:buFont typeface="Wingdings" panose="05000000000000000000" pitchFamily="2" charset="2"/>
              <a:buChar char="Ø"/>
            </a:pPr>
            <a:r>
              <a:rPr lang="zh-CN" altLang="en-US" sz="26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命题的真值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：判断的结果</a:t>
            </a:r>
          </a:p>
          <a:p>
            <a:pPr>
              <a:spcAft>
                <a:spcPts val="600"/>
              </a:spcAft>
              <a:buSzPct val="70000"/>
              <a:buFont typeface="Wingdings" panose="05000000000000000000" pitchFamily="2" charset="2"/>
              <a:buChar char="Ø"/>
            </a:pPr>
            <a:r>
              <a:rPr lang="zh-CN" altLang="en-US" sz="26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真值的取值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：真与假</a:t>
            </a:r>
          </a:p>
          <a:p>
            <a:pPr>
              <a:spcAft>
                <a:spcPts val="600"/>
              </a:spcAft>
              <a:buSzPct val="70000"/>
              <a:buFont typeface="Wingdings" panose="05000000000000000000" pitchFamily="2" charset="2"/>
              <a:buChar char="Ø"/>
            </a:pPr>
            <a:r>
              <a:rPr lang="zh-CN" altLang="en-US" sz="26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真命题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：真值为真的命题</a:t>
            </a:r>
            <a:endParaRPr lang="en-US" altLang="zh-CN" sz="2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Aft>
                <a:spcPts val="600"/>
              </a:spcAft>
              <a:buSzPct val="70000"/>
              <a:buFont typeface="Wingdings" panose="05000000000000000000" pitchFamily="2" charset="2"/>
              <a:buChar char="Ø"/>
            </a:pPr>
            <a:r>
              <a:rPr lang="zh-CN" altLang="en-US" sz="26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假命题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：真值为假的命题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BAF9DBA-1D2A-4D54-9B5C-DB445E5C662B}"/>
              </a:ext>
            </a:extLst>
          </p:cNvPr>
          <p:cNvSpPr txBox="1"/>
          <p:nvPr/>
        </p:nvSpPr>
        <p:spPr>
          <a:xfrm>
            <a:off x="634567" y="5014500"/>
            <a:ext cx="1057376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注意：</a:t>
            </a:r>
          </a:p>
          <a:p>
            <a:pPr marL="1016000" lvl="1" indent="-558800">
              <a:spcBef>
                <a:spcPts val="600"/>
              </a:spcBef>
              <a:buFontTx/>
              <a:buNone/>
            </a:pP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感叹句、祈使句、疑问句都不是命题</a:t>
            </a:r>
          </a:p>
          <a:p>
            <a:pPr marL="1016000" lvl="1" indent="-558800">
              <a:spcBef>
                <a:spcPts val="600"/>
              </a:spcBef>
              <a:buFontTx/>
              <a:buNone/>
            </a:pP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陈述句中的悖论，判断结果不唯一确定的不是命题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6A2854-40FD-4B38-9765-38DB5558B10D}"/>
              </a:ext>
            </a:extLst>
          </p:cNvPr>
          <p:cNvSpPr txBox="1"/>
          <p:nvPr/>
        </p:nvSpPr>
        <p:spPr>
          <a:xfrm>
            <a:off x="568036" y="949038"/>
            <a:ext cx="14824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命题与真值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6AA6324-1CE3-4FA2-B9AF-917142999A16}"/>
              </a:ext>
            </a:extLst>
          </p:cNvPr>
          <p:cNvSpPr txBox="1"/>
          <p:nvPr/>
        </p:nvSpPr>
        <p:spPr>
          <a:xfrm>
            <a:off x="3745040" y="984288"/>
            <a:ext cx="1447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简单命题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070D85F-D15E-4059-860B-44C7A935521D}"/>
              </a:ext>
            </a:extLst>
          </p:cNvPr>
          <p:cNvSpPr txBox="1"/>
          <p:nvPr/>
        </p:nvSpPr>
        <p:spPr>
          <a:xfrm>
            <a:off x="6644979" y="977361"/>
            <a:ext cx="1939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复合命题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E33DAB4-A7C6-40CA-99EB-21CDCDA9308E}"/>
              </a:ext>
            </a:extLst>
          </p:cNvPr>
          <p:cNvSpPr txBox="1"/>
          <p:nvPr/>
        </p:nvSpPr>
        <p:spPr>
          <a:xfrm>
            <a:off x="9462655" y="977361"/>
            <a:ext cx="233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联结词与复合命题 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BF4A062-0917-40ED-BD6E-16D93E0AE64E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9981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命题符号化及联结词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DAD7F478-89ED-4691-9384-8F07E822D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869" y="1565129"/>
            <a:ext cx="5169332" cy="48006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下列句子中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哪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些是命题？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1)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    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是无理数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(2)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2 + 5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＝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8.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(3)  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x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+ 5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＞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3.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 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(4)  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你有铅笔吗？</a:t>
            </a:r>
          </a:p>
          <a:p>
            <a:pPr algn="just" eaLnBrk="1" hangingPunct="1">
              <a:lnSpc>
                <a:spcPct val="120000"/>
              </a:lnSpc>
              <a:buClr>
                <a:srgbClr val="00007D"/>
              </a:buClr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 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(5) 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这只兔子跑得真快呀！</a:t>
            </a:r>
          </a:p>
          <a:p>
            <a:pPr marR="0" lvl="0" algn="just" eaLnBrk="1" hangingPunct="1">
              <a:lnSpc>
                <a:spcPct val="120000"/>
              </a:lnSpc>
              <a:buClr>
                <a:srgbClr val="00007D"/>
              </a:buClr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 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(6) 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请不要讲话！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 </a:t>
            </a: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(7) 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我正在说谎话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1" name="Text Box 4">
            <a:extLst>
              <a:ext uri="{FF2B5EF4-FFF2-40B4-BE49-F238E27FC236}">
                <a16:creationId xmlns:a16="http://schemas.microsoft.com/office/drawing/2014/main" id="{109AF74F-CA91-487C-8EF6-142F11E34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4663" y="2186856"/>
            <a:ext cx="152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真命题</a:t>
            </a:r>
          </a:p>
        </p:txBody>
      </p:sp>
      <p:sp>
        <p:nvSpPr>
          <p:cNvPr id="22" name="Text Box 5">
            <a:extLst>
              <a:ext uri="{FF2B5EF4-FFF2-40B4-BE49-F238E27FC236}">
                <a16:creationId xmlns:a16="http://schemas.microsoft.com/office/drawing/2014/main" id="{9261F51E-B963-4448-845F-AB5A27B07B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144" y="2823298"/>
            <a:ext cx="152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假命题</a:t>
            </a: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C0A77EE6-A1DA-45F2-982D-522932C62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144" y="3392633"/>
            <a:ext cx="2438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真值不确定</a:t>
            </a:r>
          </a:p>
        </p:txBody>
      </p:sp>
      <p:sp>
        <p:nvSpPr>
          <p:cNvPr id="24" name="Text Box 7">
            <a:extLst>
              <a:ext uri="{FF2B5EF4-FFF2-40B4-BE49-F238E27FC236}">
                <a16:creationId xmlns:a16="http://schemas.microsoft.com/office/drawing/2014/main" id="{1B2DA809-C30A-401B-9162-A43E716E5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144" y="4024314"/>
            <a:ext cx="236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疑问句</a:t>
            </a:r>
          </a:p>
        </p:txBody>
      </p:sp>
      <p:sp>
        <p:nvSpPr>
          <p:cNvPr id="25" name="Text Box 8">
            <a:extLst>
              <a:ext uri="{FF2B5EF4-FFF2-40B4-BE49-F238E27FC236}">
                <a16:creationId xmlns:a16="http://schemas.microsoft.com/office/drawing/2014/main" id="{75154313-4318-4F03-816E-E37CDBA8D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144" y="4572867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感叹句</a:t>
            </a:r>
          </a:p>
        </p:txBody>
      </p:sp>
      <p:sp>
        <p:nvSpPr>
          <p:cNvPr id="26" name="Text Box 9">
            <a:extLst>
              <a:ext uri="{FF2B5EF4-FFF2-40B4-BE49-F238E27FC236}">
                <a16:creationId xmlns:a16="http://schemas.microsoft.com/office/drawing/2014/main" id="{56DFBAA4-C708-4C15-82D5-96109DA9F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144" y="5151295"/>
            <a:ext cx="236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祈使句</a:t>
            </a:r>
          </a:p>
        </p:txBody>
      </p:sp>
      <p:sp>
        <p:nvSpPr>
          <p:cNvPr id="27" name="Text Box 10">
            <a:extLst>
              <a:ext uri="{FF2B5EF4-FFF2-40B4-BE49-F238E27FC236}">
                <a16:creationId xmlns:a16="http://schemas.microsoft.com/office/drawing/2014/main" id="{E1188C9A-5087-480A-9A6E-D6979F649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144" y="5755270"/>
            <a:ext cx="220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悖论</a:t>
            </a:r>
          </a:p>
        </p:txBody>
      </p:sp>
      <p:sp>
        <p:nvSpPr>
          <p:cNvPr id="28" name="Text Box 11">
            <a:extLst>
              <a:ext uri="{FF2B5EF4-FFF2-40B4-BE49-F238E27FC236}">
                <a16:creationId xmlns:a16="http://schemas.microsoft.com/office/drawing/2014/main" id="{116C9CA8-DF86-4BA7-8A0C-D0FFE6224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7581" y="4543426"/>
            <a:ext cx="32400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(3)~(7)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都不是命题</a:t>
            </a:r>
          </a:p>
        </p:txBody>
      </p:sp>
      <p:graphicFrame>
        <p:nvGraphicFramePr>
          <p:cNvPr id="35" name="Object 0">
            <a:extLst>
              <a:ext uri="{FF2B5EF4-FFF2-40B4-BE49-F238E27FC236}">
                <a16:creationId xmlns:a16="http://schemas.microsoft.com/office/drawing/2014/main" id="{C1E30CD9-AE7E-47D6-8782-55646F0DB9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0014473"/>
              </p:ext>
            </p:extLst>
          </p:nvPr>
        </p:nvGraphicFramePr>
        <p:xfrm>
          <a:off x="1309658" y="2173999"/>
          <a:ext cx="513244" cy="45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1200" imgH="215640" progId="Equation.3">
                  <p:embed/>
                </p:oleObj>
              </mc:Choice>
              <mc:Fallback>
                <p:oleObj name="Equation" r:id="rId3" imgW="241200" imgH="215640" progId="Equation.3">
                  <p:embed/>
                  <p:pic>
                    <p:nvPicPr>
                      <p:cNvPr id="35" name="Object 0">
                        <a:extLst>
                          <a:ext uri="{FF2B5EF4-FFF2-40B4-BE49-F238E27FC236}">
                            <a16:creationId xmlns:a16="http://schemas.microsoft.com/office/drawing/2014/main" id="{C1E30CD9-AE7E-47D6-8782-55646F0DB9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9658" y="2173999"/>
                        <a:ext cx="513244" cy="459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AFE083BD-DAE2-4AC5-8EF6-C3E5376D66F3}"/>
              </a:ext>
            </a:extLst>
          </p:cNvPr>
          <p:cNvSpPr txBox="1"/>
          <p:nvPr/>
        </p:nvSpPr>
        <p:spPr>
          <a:xfrm>
            <a:off x="568036" y="949038"/>
            <a:ext cx="14824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命题与真值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6FABF62-70BF-4065-9094-D4E2AE91ACD2}"/>
              </a:ext>
            </a:extLst>
          </p:cNvPr>
          <p:cNvSpPr txBox="1"/>
          <p:nvPr/>
        </p:nvSpPr>
        <p:spPr>
          <a:xfrm>
            <a:off x="3745040" y="984288"/>
            <a:ext cx="1447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简单命题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C6115B3-5B7F-4FD3-AEFE-6BF2381ED49E}"/>
              </a:ext>
            </a:extLst>
          </p:cNvPr>
          <p:cNvSpPr txBox="1"/>
          <p:nvPr/>
        </p:nvSpPr>
        <p:spPr>
          <a:xfrm>
            <a:off x="6644979" y="977361"/>
            <a:ext cx="1939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复合命题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6C6BB64-46AD-4113-B537-88F1635B99E8}"/>
              </a:ext>
            </a:extLst>
          </p:cNvPr>
          <p:cNvSpPr txBox="1"/>
          <p:nvPr/>
        </p:nvSpPr>
        <p:spPr>
          <a:xfrm>
            <a:off x="9462655" y="977361"/>
            <a:ext cx="233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联结词与复合命题 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2FCA5E1-4E08-4832-8EDE-DF5E0D3FDC8C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0572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命题符号化及联结词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8B08B2B-1497-4709-9811-89AFF385CC77}"/>
              </a:ext>
            </a:extLst>
          </p:cNvPr>
          <p:cNvSpPr txBox="1"/>
          <p:nvPr/>
        </p:nvSpPr>
        <p:spPr>
          <a:xfrm>
            <a:off x="568036" y="1768861"/>
            <a:ext cx="83880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1325" indent="-441325" fontAlgn="base">
              <a:spcBef>
                <a:spcPct val="6000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命题分类：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简单命题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（也称原子命题）与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复合命题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A5C6F27-1F01-4255-AC05-07CE921D8261}"/>
              </a:ext>
            </a:extLst>
          </p:cNvPr>
          <p:cNvGrpSpPr/>
          <p:nvPr/>
        </p:nvGrpSpPr>
        <p:grpSpPr>
          <a:xfrm>
            <a:off x="541966" y="3261321"/>
            <a:ext cx="10223645" cy="3195926"/>
            <a:chOff x="568036" y="2910426"/>
            <a:chExt cx="10223645" cy="3195926"/>
          </a:xfrm>
        </p:grpSpPr>
        <p:sp>
          <p:nvSpPr>
            <p:cNvPr id="33" name="Rectangle 3">
              <a:extLst>
                <a:ext uri="{FF2B5EF4-FFF2-40B4-BE49-F238E27FC236}">
                  <a16:creationId xmlns:a16="http://schemas.microsoft.com/office/drawing/2014/main" id="{F506B1E5-990A-4FB2-9E12-F6DCA1A510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036" y="2910426"/>
              <a:ext cx="10223645" cy="31959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fontAlgn="base">
                <a:spcBef>
                  <a:spcPct val="2000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fontAlgn="base">
                <a:spcBef>
                  <a:spcPct val="20000"/>
                </a:spcBef>
                <a:spcAft>
                  <a:spcPct val="0"/>
                </a:spcAft>
                <a:buChar char="–"/>
                <a:defRPr sz="2200" kern="1200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  <a:cs typeface="+mn-cs"/>
                </a:defRPr>
              </a:lvl2pPr>
              <a:lvl3pPr marL="1143000" indent="-228600" algn="l" rtl="0" fontAlgn="base">
                <a:spcBef>
                  <a:spcPct val="20000"/>
                </a:spcBef>
                <a:spcAft>
                  <a:spcPct val="0"/>
                </a:spcAft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  <a:cs typeface="+mn-cs"/>
                </a:defRPr>
              </a:lvl3pPr>
              <a:lvl4pPr marL="1600200" indent="-228600" algn="l" rtl="0" fontAlgn="base">
                <a:spcBef>
                  <a:spcPct val="20000"/>
                </a:spcBef>
                <a:spcAft>
                  <a:spcPct val="0"/>
                </a:spcAft>
                <a:buChar char="–"/>
                <a:defRPr sz="2200" kern="1200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  <a:cs typeface="+mn-cs"/>
                </a:defRPr>
              </a:lvl4pPr>
              <a:lvl5pPr marL="20574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sz="2200" kern="1200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41325" indent="-441325">
                <a:spcBef>
                  <a:spcPct val="60000"/>
                </a:spcBef>
                <a:spcAft>
                  <a:spcPts val="600"/>
                </a:spcAft>
              </a:pP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简单命题符号化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：</a:t>
              </a:r>
            </a:p>
            <a:p>
              <a:pPr marL="457200" indent="-457200">
                <a:buFont typeface="Wingdings" panose="05000000000000000000" pitchFamily="2" charset="2"/>
                <a:buChar char="Ø"/>
              </a:pP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用小写英文字母 </a:t>
              </a:r>
              <a:r>
                <a:rPr lang="en-US" altLang="zh-CN" i="1" dirty="0">
                  <a:latin typeface="Times New Roman" panose="02020603050405020304" pitchFamily="18" charset="0"/>
                </a:rPr>
                <a:t>p</a:t>
              </a:r>
              <a:r>
                <a:rPr lang="en-US" altLang="zh-CN" dirty="0">
                  <a:latin typeface="Times New Roman" panose="02020603050405020304" pitchFamily="18" charset="0"/>
                </a:rPr>
                <a:t>, </a:t>
              </a:r>
              <a:r>
                <a:rPr lang="en-US" altLang="zh-CN" i="1" dirty="0">
                  <a:latin typeface="Times New Roman" panose="02020603050405020304" pitchFamily="18" charset="0"/>
                </a:rPr>
                <a:t>q</a:t>
              </a:r>
              <a:r>
                <a:rPr lang="en-US" altLang="zh-CN" dirty="0">
                  <a:latin typeface="Times New Roman" panose="02020603050405020304" pitchFamily="18" charset="0"/>
                </a:rPr>
                <a:t>, </a:t>
              </a:r>
              <a:r>
                <a:rPr lang="en-US" altLang="zh-CN" i="1" dirty="0">
                  <a:latin typeface="Times New Roman" panose="02020603050405020304" pitchFamily="18" charset="0"/>
                </a:rPr>
                <a:t>r</a:t>
              </a:r>
              <a:r>
                <a:rPr lang="en-US" altLang="zh-CN" dirty="0">
                  <a:latin typeface="Times New Roman" panose="02020603050405020304" pitchFamily="18" charset="0"/>
                </a:rPr>
                <a:t>, …, </a:t>
              </a:r>
              <a:r>
                <a:rPr lang="en-US" altLang="zh-CN" i="1" dirty="0">
                  <a:latin typeface="Times New Roman" panose="02020603050405020304" pitchFamily="18" charset="0"/>
                </a:rPr>
                <a:t>p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i="1" dirty="0">
                  <a:latin typeface="Times New Roman" panose="02020603050405020304" pitchFamily="18" charset="0"/>
                </a:rPr>
                <a:t>, q</a:t>
              </a:r>
              <a:r>
                <a:rPr lang="en-US" altLang="zh-CN" i="1" baseline="-25000" dirty="0">
                  <a:latin typeface="Times New Roman" panose="02020603050405020304" pitchFamily="18" charset="0"/>
                </a:rPr>
                <a:t>i</a:t>
              </a:r>
              <a:r>
                <a:rPr lang="en-US" altLang="zh-CN" i="1" dirty="0">
                  <a:latin typeface="Times New Roman" panose="02020603050405020304" pitchFamily="18" charset="0"/>
                </a:rPr>
                <a:t>, </a:t>
              </a:r>
              <a:r>
                <a:rPr lang="en-US" altLang="zh-CN" i="1" dirty="0" err="1">
                  <a:latin typeface="Times New Roman" panose="02020603050405020304" pitchFamily="18" charset="0"/>
                </a:rPr>
                <a:t>r</a:t>
              </a:r>
              <a:r>
                <a:rPr lang="en-US" altLang="zh-CN" i="1" baseline="-25000" dirty="0" err="1">
                  <a:latin typeface="Times New Roman" panose="02020603050405020304" pitchFamily="18" charset="0"/>
                </a:rPr>
                <a:t>i</a:t>
              </a:r>
              <a:r>
                <a:rPr lang="en-US" altLang="zh-CN" dirty="0">
                  <a:latin typeface="Times New Roman" panose="02020603050405020304" pitchFamily="18" charset="0"/>
                </a:rPr>
                <a:t> (</a:t>
              </a:r>
              <a:r>
                <a:rPr lang="en-US" altLang="zh-CN" i="1" dirty="0" err="1">
                  <a:latin typeface="Times New Roman" panose="02020603050405020304" pitchFamily="18" charset="0"/>
                </a:rPr>
                <a:t>i</a:t>
              </a:r>
              <a:r>
                <a:rPr lang="en-US" altLang="zh-CN" i="1" dirty="0" err="1">
                  <a:latin typeface="Times New Roman" panose="02020603050405020304" pitchFamily="18" charset="0"/>
                  <a:sym typeface="Symbol" panose="05050102010706020507" pitchFamily="18" charset="2"/>
                </a:rPr>
                <a:t></a:t>
              </a:r>
              <a:r>
                <a:rPr lang="en-US" altLang="zh-CN" dirty="0" err="1">
                  <a:latin typeface="Times New Roman" panose="02020603050405020304" pitchFamily="18" charset="0"/>
                </a:rPr>
                <a:t>1</a:t>
              </a:r>
              <a:r>
                <a:rPr lang="en-US" altLang="zh-CN" dirty="0">
                  <a:latin typeface="Times New Roman" panose="02020603050405020304" pitchFamily="18" charset="0"/>
                </a:rPr>
                <a:t>)</a:t>
              </a: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表示简单命题</a:t>
              </a:r>
            </a:p>
            <a:p>
              <a:pPr marL="457200" indent="-457200">
                <a:buFont typeface="Wingdings" panose="05000000000000000000" pitchFamily="2" charset="2"/>
                <a:buChar char="Ø"/>
              </a:pP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用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“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1”</a:t>
              </a: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表示真，用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“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0”</a:t>
              </a: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表示假</a:t>
              </a:r>
            </a:p>
            <a:p>
              <a:pPr marL="441325" indent="-441325"/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   例如，令 </a:t>
              </a:r>
            </a:p>
            <a:p>
              <a:pPr marL="441325" indent="-441325"/>
              <a:r>
                <a:rPr lang="zh-CN" altLang="en-US" i="1" dirty="0">
                  <a:latin typeface="Times New Roman" panose="02020603050405020304" pitchFamily="18" charset="0"/>
                </a:rPr>
                <a:t>     </a:t>
              </a:r>
              <a:r>
                <a:rPr lang="en-US" altLang="zh-CN" i="1" dirty="0">
                  <a:latin typeface="Times New Roman" panose="02020603050405020304" pitchFamily="18" charset="0"/>
                </a:rPr>
                <a:t>p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：  </a:t>
              </a: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是有理数，则 </a:t>
              </a:r>
              <a:r>
                <a:rPr lang="en-US" altLang="zh-CN" i="1" dirty="0">
                  <a:latin typeface="Times New Roman" panose="02020603050405020304" pitchFamily="18" charset="0"/>
                </a:rPr>
                <a:t>p </a:t>
              </a: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的真值为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0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</a:p>
            <a:p>
              <a:pPr marL="441325" indent="-441325"/>
              <a:r>
                <a:rPr lang="zh-CN" altLang="en-US" i="1" dirty="0">
                  <a:latin typeface="Times New Roman" panose="02020603050405020304" pitchFamily="18" charset="0"/>
                </a:rPr>
                <a:t>     </a:t>
              </a:r>
              <a:r>
                <a:rPr lang="en-US" altLang="zh-CN" i="1" dirty="0">
                  <a:latin typeface="Times New Roman" panose="02020603050405020304" pitchFamily="18" charset="0"/>
                </a:rPr>
                <a:t>q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：</a:t>
              </a:r>
              <a:r>
                <a:rPr lang="en-US" altLang="zh-CN" dirty="0">
                  <a:latin typeface="黑体" panose="02010609060101010101" pitchFamily="49" charset="-122"/>
                  <a:ea typeface="黑体" panose="02010609060101010101" pitchFamily="49" charset="-122"/>
                </a:rPr>
                <a:t>2 + 5 = 7</a:t>
              </a: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，则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en-US" altLang="zh-CN" i="1" dirty="0">
                  <a:latin typeface="Times New Roman" panose="02020603050405020304" pitchFamily="18" charset="0"/>
                </a:rPr>
                <a:t>q </a:t>
              </a: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的真值为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</a:p>
            <a:p>
              <a:pPr marL="441325" indent="-441325">
                <a:buClr>
                  <a:srgbClr val="69B3F1"/>
                </a:buClr>
              </a:pPr>
              <a:r>
                <a:rPr lang="en-US" altLang="zh-CN" dirty="0">
                  <a:latin typeface="Times New Roman" panose="02020603050405020304" pitchFamily="18" charset="0"/>
                </a:rPr>
                <a:t>   </a:t>
              </a:r>
            </a:p>
          </p:txBody>
        </p:sp>
        <p:graphicFrame>
          <p:nvGraphicFramePr>
            <p:cNvPr id="35" name="Object 4">
              <a:extLst>
                <a:ext uri="{FF2B5EF4-FFF2-40B4-BE49-F238E27FC236}">
                  <a16:creationId xmlns:a16="http://schemas.microsoft.com/office/drawing/2014/main" id="{FDC2C507-9AA5-4B31-916D-CAD26CA5FAE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9400105"/>
                </p:ext>
              </p:extLst>
            </p:nvPr>
          </p:nvGraphicFramePr>
          <p:xfrm>
            <a:off x="1324201" y="4795751"/>
            <a:ext cx="423089" cy="3898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Microsoft 公式 3.0" r:id="rId3" imgW="241091" imgH="215713" progId="Equation.3">
                    <p:embed/>
                  </p:oleObj>
                </mc:Choice>
                <mc:Fallback>
                  <p:oleObj name="Microsoft 公式 3.0" r:id="rId3" imgW="241091" imgH="215713" progId="Equation.3">
                    <p:embed/>
                    <p:pic>
                      <p:nvPicPr>
                        <p:cNvPr id="35" name="Object 4">
                          <a:extLst>
                            <a:ext uri="{FF2B5EF4-FFF2-40B4-BE49-F238E27FC236}">
                              <a16:creationId xmlns:a16="http://schemas.microsoft.com/office/drawing/2014/main" id="{FDC2C507-9AA5-4B31-916D-CAD26CA5FAE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4201" y="4795751"/>
                          <a:ext cx="423089" cy="3898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5C44C3BA-E83E-454A-A674-DFBFB5CE0FB4}"/>
              </a:ext>
            </a:extLst>
          </p:cNvPr>
          <p:cNvSpPr txBox="1"/>
          <p:nvPr/>
        </p:nvSpPr>
        <p:spPr>
          <a:xfrm>
            <a:off x="564865" y="2502833"/>
            <a:ext cx="8059992" cy="448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简单命题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：简单陈述句构成的命题 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CDAF78D-E71B-4548-98B2-DB751C5BCD4A}"/>
              </a:ext>
            </a:extLst>
          </p:cNvPr>
          <p:cNvSpPr txBox="1"/>
          <p:nvPr/>
        </p:nvSpPr>
        <p:spPr>
          <a:xfrm>
            <a:off x="568036" y="949038"/>
            <a:ext cx="14824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命题与真值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1049A15-3058-4AB1-8D2C-0839BED06504}"/>
              </a:ext>
            </a:extLst>
          </p:cNvPr>
          <p:cNvSpPr txBox="1"/>
          <p:nvPr/>
        </p:nvSpPr>
        <p:spPr>
          <a:xfrm>
            <a:off x="3745040" y="984288"/>
            <a:ext cx="1447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简单命题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4DC620A-E357-4C87-BBC4-8834144CEF7F}"/>
              </a:ext>
            </a:extLst>
          </p:cNvPr>
          <p:cNvSpPr txBox="1"/>
          <p:nvPr/>
        </p:nvSpPr>
        <p:spPr>
          <a:xfrm>
            <a:off x="6644979" y="977361"/>
            <a:ext cx="1939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复合命题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71411B1-4BE8-4707-8A8F-359DFF924FB5}"/>
              </a:ext>
            </a:extLst>
          </p:cNvPr>
          <p:cNvSpPr txBox="1"/>
          <p:nvPr/>
        </p:nvSpPr>
        <p:spPr>
          <a:xfrm>
            <a:off x="9462655" y="977361"/>
            <a:ext cx="233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联结词与复合命题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6947178-E5AC-481B-B0BA-EA90F034B4CE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345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命题符号化及联结词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2ABE8EF-660D-4F52-B731-86E8486ABC1E}"/>
              </a:ext>
            </a:extLst>
          </p:cNvPr>
          <p:cNvSpPr txBox="1"/>
          <p:nvPr/>
        </p:nvSpPr>
        <p:spPr>
          <a:xfrm>
            <a:off x="381001" y="1777920"/>
            <a:ext cx="10785763" cy="448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复合命题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：由简单命题与联结词按一定规则复合而成的命题 </a:t>
            </a:r>
          </a:p>
        </p:txBody>
      </p:sp>
      <p:sp>
        <p:nvSpPr>
          <p:cNvPr id="22" name="Text Box 6" descr="白色大理石">
            <a:extLst>
              <a:ext uri="{FF2B5EF4-FFF2-40B4-BE49-F238E27FC236}">
                <a16:creationId xmlns:a16="http://schemas.microsoft.com/office/drawing/2014/main" id="{A544A55A-15D2-4655-9544-CC70FAD61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766" y="6038349"/>
            <a:ext cx="10717982" cy="46166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ß"/>
              <a:defRPr sz="3200">
                <a:solidFill>
                  <a:schemeClr val="tx1"/>
                </a:solidFill>
                <a:latin typeface="Franklin Gothic Book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tx1"/>
                </a:solidFill>
                <a:latin typeface="Franklin Gothic Book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tx1"/>
                </a:solidFill>
                <a:latin typeface="Franklin Gothic Book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Franklin Gothic Book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Franklin Gothic Book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</a:rPr>
              <a:t>复合命题是否为真取决于：作为复合成分的子命题的真假 以及 联结词的语义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F5EB6E8-8350-47FD-B4AB-EDF7C7782ED6}"/>
              </a:ext>
            </a:extLst>
          </p:cNvPr>
          <p:cNvGrpSpPr/>
          <p:nvPr/>
        </p:nvGrpSpPr>
        <p:grpSpPr>
          <a:xfrm>
            <a:off x="596096" y="2387607"/>
            <a:ext cx="8218488" cy="3442525"/>
            <a:chOff x="596096" y="2387607"/>
            <a:chExt cx="8218488" cy="3442525"/>
          </a:xfrm>
        </p:grpSpPr>
        <p:sp>
          <p:nvSpPr>
            <p:cNvPr id="21" name="Rectangle 3">
              <a:extLst>
                <a:ext uri="{FF2B5EF4-FFF2-40B4-BE49-F238E27FC236}">
                  <a16:creationId xmlns:a16="http://schemas.microsoft.com/office/drawing/2014/main" id="{E4F986E7-A70D-4A50-99CC-6E3D8E98585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96096" y="2387607"/>
              <a:ext cx="8218488" cy="3442525"/>
            </a:xfrm>
            <a:prstGeom prst="rect">
              <a:avLst/>
            </a:prstGeom>
          </p:spPr>
          <p:txBody>
            <a:bodyPr vert="horz">
              <a:normAutofit/>
            </a:bodyPr>
            <a:lstStyle>
              <a:lvl1pPr marL="320040" indent="-320040" algn="l" rtl="0" eaLnBrk="1" latinLnBrk="0" hangingPunct="1"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/>
                <a:buChar char=""/>
                <a:defRPr kumimoji="0" sz="29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40080" indent="-274320" algn="l" rtl="0" eaLnBrk="1" latinLnBrk="0" hangingPunct="1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/>
                <a:buChar char=""/>
                <a:defRPr kumimoji="0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228600" algn="l" rtl="0" eaLnBrk="1" latinLnBrk="0" hangingPunct="1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/>
                <a:buChar char=""/>
                <a:defRPr kumimoji="0" sz="23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-228600" algn="l" rtl="0" eaLnBrk="1" latinLnBrk="0" hangingPunct="1">
                <a:spcBef>
                  <a:spcPts val="400"/>
                </a:spcBef>
                <a:buClr>
                  <a:schemeClr val="accent3"/>
                </a:buClr>
                <a:buSzPct val="75000"/>
                <a:buFont typeface="Wingdings"/>
                <a:buChar char=""/>
                <a:defRPr kumimoji="0"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-228600" algn="l" rtl="0" eaLnBrk="1" latinLnBrk="0" hangingPunct="1">
                <a:spcBef>
                  <a:spcPts val="400"/>
                </a:spcBef>
                <a:buClr>
                  <a:schemeClr val="accent4"/>
                </a:buClr>
                <a:buSzPct val="65000"/>
                <a:buFont typeface="Wingdings"/>
                <a:buChar char=""/>
                <a:defRPr kumimoji="0"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03120" indent="-228600" algn="l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/>
                <a:buChar char="§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377440" indent="-228600" algn="l" rtl="0" eaLnBrk="1" latinLnBrk="0" hangingPunct="1">
                <a:spcBef>
                  <a:spcPct val="20000"/>
                </a:spcBef>
                <a:buClr>
                  <a:schemeClr val="accent2"/>
                </a:buClr>
                <a:buFont typeface="Wingdings"/>
                <a:buChar char="§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51760" indent="-228600" algn="l" rtl="0" eaLnBrk="1" latinLnBrk="0" hangingPunct="1">
                <a:spcBef>
                  <a:spcPct val="20000"/>
                </a:spcBef>
                <a:buClr>
                  <a:schemeClr val="accent3"/>
                </a:buClr>
                <a:buFont typeface="Wingdings"/>
                <a:buChar char="§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28600" algn="l" rtl="0" eaLnBrk="1" latinLnBrk="0" hangingPunct="1">
                <a:spcBef>
                  <a:spcPct val="20000"/>
                </a:spcBef>
                <a:buClr>
                  <a:schemeClr val="accent4"/>
                </a:buClr>
                <a:buFont typeface="Wingdings"/>
                <a:buChar char="§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0000"/>
                </a:lnSpc>
                <a:spcBef>
                  <a:spcPct val="35000"/>
                </a:spcBef>
                <a:buNone/>
              </a:pP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例如：</a:t>
              </a:r>
            </a:p>
            <a:p>
              <a:pPr lvl="1">
                <a:lnSpc>
                  <a:spcPct val="110000"/>
                </a:lnSpc>
                <a:spcBef>
                  <a:spcPct val="35000"/>
                </a:spcBef>
              </a:pP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并非外面在下雨。</a:t>
              </a:r>
            </a:p>
            <a:p>
              <a:pPr lvl="1">
                <a:lnSpc>
                  <a:spcPct val="110000"/>
                </a:lnSpc>
                <a:spcBef>
                  <a:spcPct val="35000"/>
                </a:spcBef>
              </a:pP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张挥与王丽都是三好学生。</a:t>
              </a:r>
            </a:p>
            <a:p>
              <a:pPr lvl="1">
                <a:lnSpc>
                  <a:spcPct val="110000"/>
                </a:lnSpc>
                <a:spcBef>
                  <a:spcPct val="35000"/>
                </a:spcBef>
              </a:pP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张晓静不是江西人就是安徽人。</a:t>
              </a:r>
            </a:p>
            <a:p>
              <a:pPr lvl="1">
                <a:lnSpc>
                  <a:spcPct val="110000"/>
                </a:lnSpc>
                <a:spcBef>
                  <a:spcPct val="35000"/>
                </a:spcBef>
              </a:pP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如果</a:t>
              </a:r>
              <a:r>
                <a:rPr lang="en-US" altLang="zh-CN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2+3=6</a:t>
              </a: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，则</a:t>
              </a: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  <a:sym typeface="Symbol" panose="05050102010706020507" pitchFamily="18" charset="2"/>
                </a:rPr>
                <a:t>是有理数。</a:t>
              </a:r>
            </a:p>
            <a:p>
              <a:pPr lvl="1">
                <a:lnSpc>
                  <a:spcPct val="110000"/>
                </a:lnSpc>
                <a:spcBef>
                  <a:spcPct val="35000"/>
                </a:spcBef>
              </a:pP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   是无理数当且仅当加拿大位于亚洲。</a:t>
              </a:r>
            </a:p>
            <a:p>
              <a:pPr lvl="1">
                <a:lnSpc>
                  <a:spcPct val="110000"/>
                </a:lnSpc>
                <a:spcBef>
                  <a:spcPct val="35000"/>
                </a:spcBef>
              </a:pPr>
              <a:endPara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23" name="Object 4">
              <a:extLst>
                <a:ext uri="{FF2B5EF4-FFF2-40B4-BE49-F238E27FC236}">
                  <a16:creationId xmlns:a16="http://schemas.microsoft.com/office/drawing/2014/main" id="{74A0E46F-CE53-4BC0-A72B-F10A60F4E7C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719245"/>
                </p:ext>
              </p:extLst>
            </p:nvPr>
          </p:nvGraphicFramePr>
          <p:xfrm>
            <a:off x="1266042" y="5042377"/>
            <a:ext cx="473075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228600" imgH="228600" progId="Equation.3">
                    <p:embed/>
                  </p:oleObj>
                </mc:Choice>
                <mc:Fallback>
                  <p:oleObj name="公式" r:id="rId3" imgW="228600" imgH="228600" progId="Equation.3">
                    <p:embed/>
                    <p:pic>
                      <p:nvPicPr>
                        <p:cNvPr id="23" name="Object 4">
                          <a:extLst>
                            <a:ext uri="{FF2B5EF4-FFF2-40B4-BE49-F238E27FC236}">
                              <a16:creationId xmlns:a16="http://schemas.microsoft.com/office/drawing/2014/main" id="{74A0E46F-CE53-4BC0-A72B-F10A60F4E7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6042" y="5042377"/>
                          <a:ext cx="473075" cy="473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A5B837BC-B5BD-406F-A14B-3AAB8151E2F2}"/>
              </a:ext>
            </a:extLst>
          </p:cNvPr>
          <p:cNvSpPr txBox="1"/>
          <p:nvPr/>
        </p:nvSpPr>
        <p:spPr>
          <a:xfrm>
            <a:off x="568036" y="949038"/>
            <a:ext cx="14824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命题与真值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8A4775A-A1F7-4CF8-AA78-D5AF292FED0E}"/>
              </a:ext>
            </a:extLst>
          </p:cNvPr>
          <p:cNvSpPr txBox="1"/>
          <p:nvPr/>
        </p:nvSpPr>
        <p:spPr>
          <a:xfrm>
            <a:off x="3745040" y="984288"/>
            <a:ext cx="1447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简单命题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B5C1306-0BDE-4659-B39A-1DC0FF3B9F2F}"/>
              </a:ext>
            </a:extLst>
          </p:cNvPr>
          <p:cNvSpPr txBox="1"/>
          <p:nvPr/>
        </p:nvSpPr>
        <p:spPr>
          <a:xfrm>
            <a:off x="6644979" y="977361"/>
            <a:ext cx="1939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复合命题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FA746D2-12A9-4F78-9BDF-1D93F0D56A07}"/>
              </a:ext>
            </a:extLst>
          </p:cNvPr>
          <p:cNvSpPr txBox="1"/>
          <p:nvPr/>
        </p:nvSpPr>
        <p:spPr>
          <a:xfrm>
            <a:off x="9462655" y="977361"/>
            <a:ext cx="233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联结词与复合命题 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4071DBF-6D29-4EB4-881B-600F8AC64F88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3788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命题符号化及联结词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F0C2046-B3D3-4E04-8F61-6B174ADA6EAF}"/>
              </a:ext>
            </a:extLst>
          </p:cNvPr>
          <p:cNvSpPr txBox="1"/>
          <p:nvPr/>
        </p:nvSpPr>
        <p:spPr>
          <a:xfrm>
            <a:off x="568036" y="990600"/>
            <a:ext cx="14824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命题与真值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3E864D2-08F1-468A-8304-54AE2DF41A7C}"/>
              </a:ext>
            </a:extLst>
          </p:cNvPr>
          <p:cNvSpPr txBox="1"/>
          <p:nvPr/>
        </p:nvSpPr>
        <p:spPr>
          <a:xfrm>
            <a:off x="3745040" y="984288"/>
            <a:ext cx="1447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简单命题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E4D3E-FC10-4FB2-B3F6-A2D23B651264}"/>
              </a:ext>
            </a:extLst>
          </p:cNvPr>
          <p:cNvSpPr txBox="1"/>
          <p:nvPr/>
        </p:nvSpPr>
        <p:spPr>
          <a:xfrm>
            <a:off x="6644979" y="977361"/>
            <a:ext cx="1939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复合命题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0D6DFC7-4984-49B8-93A2-96F1C50FC31A}"/>
              </a:ext>
            </a:extLst>
          </p:cNvPr>
          <p:cNvSpPr txBox="1"/>
          <p:nvPr/>
        </p:nvSpPr>
        <p:spPr>
          <a:xfrm>
            <a:off x="9462655" y="942726"/>
            <a:ext cx="233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联结词与复合命题 </a:t>
            </a:r>
            <a:endParaRPr lang="zh-CN" altLang="en-US" sz="2000" dirty="0">
              <a:solidFill>
                <a:srgbClr val="99267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D0352F14-6633-4740-AB06-068624E65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272344"/>
            <a:ext cx="11084213" cy="919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为两个命题，复合命题“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称作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析取式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，记作</a:t>
            </a:r>
            <a:r>
              <a:rPr lang="en-US" altLang="zh-CN" sz="2400" b="1" i="1" dirty="0" err="1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24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∨</a:t>
            </a:r>
            <a:r>
              <a:rPr lang="en-US" altLang="zh-CN" sz="2400" b="1" i="1" dirty="0" err="1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∨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称作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析取联结词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规定</a:t>
            </a:r>
            <a:r>
              <a:rPr lang="en-US" altLang="zh-CN" sz="2400" b="1" i="1" dirty="0" err="1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24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∨</a:t>
            </a:r>
            <a:r>
              <a:rPr lang="en-US" altLang="zh-CN" sz="2400" b="1" i="1" dirty="0" err="1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为假当且仅当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同时为假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2F3C792A-912E-4460-80CB-C47A77C1A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66550"/>
            <a:ext cx="11084214" cy="93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设 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为命题，复合命题“非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”(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或“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的否定”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称为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否定式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，记作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，符号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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称作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否定联结词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规定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为真当且仅当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为假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4" name="Rectangle 19">
            <a:extLst>
              <a:ext uri="{FF2B5EF4-FFF2-40B4-BE49-F238E27FC236}">
                <a16:creationId xmlns:a16="http://schemas.microsoft.com/office/drawing/2014/main" id="{9E791D60-79D9-413A-A8D1-4A9383F35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852458"/>
            <a:ext cx="11084214" cy="919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400" b="1" i="1" dirty="0" err="1">
                <a:latin typeface="黑体" panose="02010609060101010101" pitchFamily="49" charset="-122"/>
                <a:ea typeface="黑体" panose="02010609060101010101" pitchFamily="49" charset="-122"/>
              </a:rPr>
              <a:t>p,q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为两个命题，复合命题“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并且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”(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或“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与 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”)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称为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合取式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，记作</a:t>
            </a:r>
            <a:r>
              <a:rPr lang="en-US" altLang="zh-CN" sz="2400" b="1" i="1" dirty="0" err="1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24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∧</a:t>
            </a:r>
            <a:r>
              <a:rPr lang="en-US" altLang="zh-CN" sz="2400" b="1" i="1" dirty="0" err="1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∧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称作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合取联结词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规定</a:t>
            </a:r>
            <a:r>
              <a:rPr lang="en-US" altLang="zh-CN" sz="2400" b="1" i="1" dirty="0" err="1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24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∧</a:t>
            </a:r>
            <a:r>
              <a:rPr lang="en-US" altLang="zh-CN" sz="2400" b="1" i="1" dirty="0" err="1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为真当且仅当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同时为真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DC081F97-A46C-47F8-ACCA-4ACEF8B95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036" y="1659043"/>
            <a:ext cx="4752975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6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否定、合取、析取联结词：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1E7769F-7677-4CD5-9E7D-D236BA299B0A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9444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命题符号化及联结词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F0C2046-B3D3-4E04-8F61-6B174ADA6EAF}"/>
              </a:ext>
            </a:extLst>
          </p:cNvPr>
          <p:cNvSpPr txBox="1"/>
          <p:nvPr/>
        </p:nvSpPr>
        <p:spPr>
          <a:xfrm>
            <a:off x="568036" y="990600"/>
            <a:ext cx="14824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命题与真值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3E864D2-08F1-468A-8304-54AE2DF41A7C}"/>
              </a:ext>
            </a:extLst>
          </p:cNvPr>
          <p:cNvSpPr txBox="1"/>
          <p:nvPr/>
        </p:nvSpPr>
        <p:spPr>
          <a:xfrm>
            <a:off x="3745040" y="984288"/>
            <a:ext cx="1447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简单命题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E4D3E-FC10-4FB2-B3F6-A2D23B651264}"/>
              </a:ext>
            </a:extLst>
          </p:cNvPr>
          <p:cNvSpPr txBox="1"/>
          <p:nvPr/>
        </p:nvSpPr>
        <p:spPr>
          <a:xfrm>
            <a:off x="6644979" y="977361"/>
            <a:ext cx="1939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复合命题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0D6DFC7-4984-49B8-93A2-96F1C50FC31A}"/>
              </a:ext>
            </a:extLst>
          </p:cNvPr>
          <p:cNvSpPr txBox="1"/>
          <p:nvPr/>
        </p:nvSpPr>
        <p:spPr>
          <a:xfrm>
            <a:off x="9462655" y="942726"/>
            <a:ext cx="233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联结词与复合命题 </a:t>
            </a:r>
            <a:endParaRPr lang="zh-CN" altLang="en-US" sz="2000" dirty="0">
              <a:solidFill>
                <a:srgbClr val="99267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CC354D9-2821-4EE9-9443-7C284EADAE5A}"/>
              </a:ext>
            </a:extLst>
          </p:cNvPr>
          <p:cNvSpPr txBox="1"/>
          <p:nvPr/>
        </p:nvSpPr>
        <p:spPr>
          <a:xfrm>
            <a:off x="471488" y="1646957"/>
            <a:ext cx="5400992" cy="2018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例：将下列命题符号化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marL="365760" lvl="1">
              <a:lnSpc>
                <a:spcPct val="110000"/>
              </a:lnSpc>
              <a:spcBef>
                <a:spcPct val="35000"/>
              </a:spcBef>
              <a:buClr>
                <a:schemeClr val="accent1"/>
              </a:buClr>
              <a:buSzPct val="70000"/>
            </a:pP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王晓既用功又聪明。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65760" lvl="1">
              <a:lnSpc>
                <a:spcPct val="110000"/>
              </a:lnSpc>
              <a:spcBef>
                <a:spcPct val="35000"/>
              </a:spcBef>
              <a:buClr>
                <a:schemeClr val="accent1"/>
              </a:buClr>
              <a:buSzPct val="70000"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(2)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王晓不仅聪明，而且用功。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65760" lvl="1">
              <a:lnSpc>
                <a:spcPct val="110000"/>
              </a:lnSpc>
              <a:spcBef>
                <a:spcPct val="35000"/>
              </a:spcBef>
              <a:buClr>
                <a:schemeClr val="accent1"/>
              </a:buClr>
              <a:buSzPct val="70000"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(3)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王晓虽然聪明，但不用功。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C41174-3656-4C54-9D4E-1E74A0DF2B3B}"/>
              </a:ext>
            </a:extLst>
          </p:cNvPr>
          <p:cNvSpPr txBox="1"/>
          <p:nvPr/>
        </p:nvSpPr>
        <p:spPr>
          <a:xfrm>
            <a:off x="471488" y="4099083"/>
            <a:ext cx="6096000" cy="98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lvl="1">
              <a:lnSpc>
                <a:spcPct val="110000"/>
              </a:lnSpc>
              <a:spcBef>
                <a:spcPct val="35000"/>
              </a:spcBef>
              <a:buClr>
                <a:schemeClr val="accent1"/>
              </a:buClr>
              <a:buSzPct val="70000"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(4)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张辉与王丽都是三好生。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65760" lvl="1">
              <a:lnSpc>
                <a:spcPct val="110000"/>
              </a:lnSpc>
              <a:spcBef>
                <a:spcPct val="35000"/>
              </a:spcBef>
              <a:buClr>
                <a:schemeClr val="accent1"/>
              </a:buClr>
              <a:buSzPct val="70000"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(5)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张辉与王丽是同学。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FED832C-215E-4B38-9B06-B20FB3CC475D}"/>
              </a:ext>
            </a:extLst>
          </p:cNvPr>
          <p:cNvSpPr txBox="1"/>
          <p:nvPr/>
        </p:nvSpPr>
        <p:spPr>
          <a:xfrm>
            <a:off x="5625812" y="1794910"/>
            <a:ext cx="609600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zh-CN" altLang="en-US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：</a:t>
            </a:r>
            <a:r>
              <a:rPr lang="zh-C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令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王晓用功，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: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王晓聪明，则</a:t>
            </a:r>
          </a:p>
          <a:p>
            <a:pPr algn="just" eaLnBrk="1" hangingPunct="1"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∧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altLang="zh-C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(2) 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∧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altLang="zh-C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(3)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sz="2400" b="1" dirty="0">
                <a:latin typeface="Times New Roman" panose="02020603050405020304" pitchFamily="18" charset="0"/>
              </a:rPr>
              <a:t>∧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endParaRPr lang="zh-CN" altLang="en-US" sz="2400" dirty="0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A6B32A50-4123-40C5-978D-8D4476696617}"/>
              </a:ext>
            </a:extLst>
          </p:cNvPr>
          <p:cNvSpPr txBox="1">
            <a:spLocks noChangeArrowheads="1"/>
          </p:cNvSpPr>
          <p:nvPr/>
        </p:nvSpPr>
        <p:spPr>
          <a:xfrm>
            <a:off x="5695067" y="3938162"/>
            <a:ext cx="6448442" cy="175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令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张辉是三好学生，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王丽是三好学生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 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∧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 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令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张辉与王丽是同学，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是简单命题。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Text Box 4">
            <a:extLst>
              <a:ext uri="{FF2B5EF4-FFF2-40B4-BE49-F238E27FC236}">
                <a16:creationId xmlns:a16="http://schemas.microsoft.com/office/drawing/2014/main" id="{42E81155-A556-4B5C-8A26-99E33B7280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013" y="5732346"/>
            <a:ext cx="10826317" cy="10156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buClrTx/>
              <a:buSzTx/>
              <a:buFontTx/>
              <a:buNone/>
              <a:defRPr sz="2400" b="1">
                <a:solidFill>
                  <a:srgbClr val="992677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latin typeface="Franklin Gothic Book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latin typeface="Franklin Gothic Book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latin typeface="Franklin Gothic Book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latin typeface="Franklin Gothic Book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latin typeface="Franklin Gothic Book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latin typeface="Franklin Gothic Book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latin typeface="Franklin Gothic Book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latin typeface="Franklin Gothic Book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dirty="0"/>
              <a:t>    (1)~(4)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说明描述合取式的灵活性与多样性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/>
              <a:t>    (5)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中“与”联结的是两个名词，整个句子是一个简单命题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7682EBC-073B-4665-A3BF-C463A473D89C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6470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/>
      <p:bldP spid="22" grpId="0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命题符号化及联结词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CC354D9-2821-4EE9-9443-7C284EADAE5A}"/>
              </a:ext>
            </a:extLst>
          </p:cNvPr>
          <p:cNvSpPr txBox="1"/>
          <p:nvPr/>
        </p:nvSpPr>
        <p:spPr>
          <a:xfrm>
            <a:off x="471488" y="1646957"/>
            <a:ext cx="4135954" cy="2098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例：将下列命题符号化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是素数。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是素数。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是素数。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C41174-3656-4C54-9D4E-1E74A0DF2B3B}"/>
              </a:ext>
            </a:extLst>
          </p:cNvPr>
          <p:cNvSpPr txBox="1"/>
          <p:nvPr/>
        </p:nvSpPr>
        <p:spPr>
          <a:xfrm>
            <a:off x="449407" y="4058827"/>
            <a:ext cx="5405588" cy="127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lnSpc>
                <a:spcPct val="150000"/>
              </a:lnSpc>
              <a:spcBef>
                <a:spcPct val="35000"/>
              </a:spcBef>
              <a:buClr>
                <a:schemeClr val="accent1"/>
              </a:buClr>
              <a:buSzPct val="70000"/>
            </a:pP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(4)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小元元只能拿一个苹果或一个梨。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1" algn="just">
              <a:lnSpc>
                <a:spcPct val="150000"/>
              </a:lnSpc>
              <a:spcBef>
                <a:spcPct val="35000"/>
              </a:spcBef>
              <a:buClr>
                <a:schemeClr val="accent1"/>
              </a:buClr>
              <a:buSzPct val="70000"/>
            </a:pP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(5)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王晓红生于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1975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年或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1976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年。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FED832C-215E-4B38-9B06-B20FB3CC475D}"/>
              </a:ext>
            </a:extLst>
          </p:cNvPr>
          <p:cNvSpPr txBox="1"/>
          <p:nvPr/>
        </p:nvSpPr>
        <p:spPr>
          <a:xfrm>
            <a:off x="5807520" y="1694935"/>
            <a:ext cx="6032616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解： 令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 :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是素数，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: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是素数，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spcBef>
                <a:spcPts val="1200"/>
              </a:spcBef>
            </a:pP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r</a:t>
            </a:r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 :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是素数，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 :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是素数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spcBef>
                <a:spcPts val="12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(1) 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宋体" panose="02010600030101010101" pitchFamily="2" charset="-122"/>
              </a:rPr>
              <a:t>∨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(2) 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宋体" panose="02010600030101010101" pitchFamily="2" charset="-122"/>
              </a:rPr>
              <a:t>∨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altLang="zh-C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(3) 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dirty="0" err="1">
                <a:latin typeface="宋体" panose="02010600030101010101" pitchFamily="2" charset="-122"/>
              </a:rPr>
              <a:t>∨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A6B32A50-4123-40C5-978D-8D4476696617}"/>
              </a:ext>
            </a:extLst>
          </p:cNvPr>
          <p:cNvSpPr txBox="1">
            <a:spLocks noChangeArrowheads="1"/>
          </p:cNvSpPr>
          <p:nvPr/>
        </p:nvSpPr>
        <p:spPr>
          <a:xfrm>
            <a:off x="5784431" y="4179303"/>
            <a:ext cx="6365554" cy="24090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令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小元元拿一个苹果，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小元元拿一个梨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 </a:t>
            </a:r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	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dirty="0">
                <a:latin typeface="宋体" panose="02010600030101010101" pitchFamily="2" charset="-122"/>
              </a:rPr>
              <a:t>∧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400" b="1" dirty="0">
                <a:latin typeface="宋体" panose="02010600030101010101" pitchFamily="2" charset="-122"/>
              </a:rPr>
              <a:t>∨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dirty="0" err="1">
                <a:latin typeface="宋体" panose="02010600030101010101" pitchFamily="2" charset="-122"/>
              </a:rPr>
              <a:t>∧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altLang="zh-CN" sz="2400" b="1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6F222A2-EA72-46FF-A121-8F89E3550C66}"/>
              </a:ext>
            </a:extLst>
          </p:cNvPr>
          <p:cNvSpPr txBox="1"/>
          <p:nvPr/>
        </p:nvSpPr>
        <p:spPr>
          <a:xfrm>
            <a:off x="568036" y="990600"/>
            <a:ext cx="14824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命题与真值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BE1237C-A4B4-4C6A-9E74-51256ACA66E6}"/>
              </a:ext>
            </a:extLst>
          </p:cNvPr>
          <p:cNvSpPr txBox="1"/>
          <p:nvPr/>
        </p:nvSpPr>
        <p:spPr>
          <a:xfrm>
            <a:off x="3745040" y="984288"/>
            <a:ext cx="1447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简单命题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53FA30D-E7AA-425B-805E-44388F6BE6A3}"/>
              </a:ext>
            </a:extLst>
          </p:cNvPr>
          <p:cNvSpPr txBox="1"/>
          <p:nvPr/>
        </p:nvSpPr>
        <p:spPr>
          <a:xfrm>
            <a:off x="6644979" y="977361"/>
            <a:ext cx="1939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复合命题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354A7AE-05C7-4C72-9A45-81241CAFBE49}"/>
              </a:ext>
            </a:extLst>
          </p:cNvPr>
          <p:cNvSpPr txBox="1"/>
          <p:nvPr/>
        </p:nvSpPr>
        <p:spPr>
          <a:xfrm>
            <a:off x="9462655" y="942726"/>
            <a:ext cx="233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联结词与复合命题 </a:t>
            </a:r>
            <a:endParaRPr lang="zh-CN" altLang="en-US" sz="2000" dirty="0">
              <a:solidFill>
                <a:srgbClr val="99267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729BC72-365D-4F50-AE5E-1024FEDBBBAF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234954D7-F264-4850-8EB5-734C83BE3FCB}"/>
              </a:ext>
            </a:extLst>
          </p:cNvPr>
          <p:cNvSpPr txBox="1">
            <a:spLocks noChangeArrowheads="1"/>
          </p:cNvSpPr>
          <p:nvPr/>
        </p:nvSpPr>
        <p:spPr>
          <a:xfrm>
            <a:off x="5784431" y="5359168"/>
            <a:ext cx="6365554" cy="10239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令</a:t>
            </a:r>
            <a:r>
              <a:rPr lang="zh-CN" altLang="en-US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王晓红生于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1975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王晓红生于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1976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(5)</a:t>
            </a:r>
            <a:r>
              <a:rPr lang="zh-CN" altLang="en-US" sz="2400" b="1" dirty="0"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dirty="0">
                <a:latin typeface="宋体" panose="02010600030101010101" pitchFamily="2" charset="-122"/>
              </a:rPr>
              <a:t>∧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宋体" panose="02010600030101010101" pitchFamily="2" charset="-122"/>
              </a:rPr>
              <a:t>∨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dirty="0" err="1">
                <a:latin typeface="宋体" panose="02010600030101010101" pitchFamily="2" charset="-122"/>
              </a:rPr>
              <a:t>∧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zh-CN" altLang="en-US" sz="2000" b="1" dirty="0">
                <a:latin typeface="宋体" panose="02010600030101010101" pitchFamily="2" charset="-122"/>
              </a:rPr>
              <a:t>或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dirty="0" err="1">
                <a:latin typeface="宋体" panose="02010600030101010101" pitchFamily="2" charset="-122"/>
              </a:rPr>
              <a:t>∨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1ED1DEE-2615-4035-BBA8-0C6EC34049C7}"/>
              </a:ext>
            </a:extLst>
          </p:cNvPr>
          <p:cNvSpPr txBox="1"/>
          <p:nvPr/>
        </p:nvSpPr>
        <p:spPr>
          <a:xfrm>
            <a:off x="5772145" y="6409676"/>
            <a:ext cx="61047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(1), (2), (3)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均为相容或；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(4), (5)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均为</a:t>
            </a:r>
            <a:r>
              <a:rPr lang="zh-CN" altLang="en-US" sz="20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排斥或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3306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/>
      <p:bldP spid="22" grpId="0"/>
      <p:bldP spid="19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命题符号化及联结词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5DBA264-7CAD-44FA-9CB8-83409CD8DF24}"/>
              </a:ext>
            </a:extLst>
          </p:cNvPr>
          <p:cNvSpPr txBox="1">
            <a:spLocks noChangeArrowheads="1"/>
          </p:cNvSpPr>
          <p:nvPr/>
        </p:nvSpPr>
        <p:spPr>
          <a:xfrm>
            <a:off x="607867" y="1669713"/>
            <a:ext cx="11189277" cy="1723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spcBef>
                <a:spcPct val="50000"/>
              </a:spcBef>
              <a:defRPr sz="26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1.4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为两个命题，复合命题“如果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en-US" altLang="zh-CN" sz="2800" b="1" i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称作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蕴涵式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，记作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，并称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是蕴涵式的</a:t>
            </a:r>
            <a:r>
              <a:rPr lang="zh-CN" altLang="en-US" sz="240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前件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为蕴涵式的</a:t>
            </a:r>
            <a:r>
              <a:rPr lang="zh-CN" altLang="en-US" sz="240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后件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dirty="0">
                <a:solidFill>
                  <a:srgbClr val="992677"/>
                </a:solidFill>
                <a:sym typeface="Symbol" panose="05050102010706020507" pitchFamily="18" charset="2"/>
              </a:rPr>
              <a:t>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称作</a:t>
            </a:r>
            <a:r>
              <a:rPr lang="zh-CN" altLang="en-US" sz="240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蕴涵联结词</a:t>
            </a:r>
            <a:r>
              <a:rPr lang="en-US" altLang="zh-CN" sz="240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规定：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为假当且仅当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为真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为假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39AD217A-505C-4152-B36A-9951DC1D1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49" y="3687154"/>
            <a:ext cx="10629178" cy="3009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的逻辑关系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q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的必要条件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(2)“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如果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则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有很多不同的表述方法：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，就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；   只要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，就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仅当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</a:t>
            </a:r>
          </a:p>
          <a:p>
            <a:pPr lvl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只有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才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；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除非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才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；   除非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，否则非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(3)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为假时，</a:t>
            </a:r>
            <a:r>
              <a:rPr lang="en-US" altLang="zh-CN" sz="2400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恒为真，称为空证明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(4)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常出现的错误：混淆充分与必要条件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9C2C75-9C15-4933-810A-10EEC033C405}"/>
              </a:ext>
            </a:extLst>
          </p:cNvPr>
          <p:cNvSpPr txBox="1"/>
          <p:nvPr/>
        </p:nvSpPr>
        <p:spPr>
          <a:xfrm>
            <a:off x="568036" y="990600"/>
            <a:ext cx="14824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命题与真值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DF27FC2-31B4-4DA6-8854-5141FEEA3AE1}"/>
              </a:ext>
            </a:extLst>
          </p:cNvPr>
          <p:cNvSpPr txBox="1"/>
          <p:nvPr/>
        </p:nvSpPr>
        <p:spPr>
          <a:xfrm>
            <a:off x="3745040" y="984288"/>
            <a:ext cx="1447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简单命题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7780767-7CEB-400E-B2F1-60B5BF972159}"/>
              </a:ext>
            </a:extLst>
          </p:cNvPr>
          <p:cNvSpPr txBox="1"/>
          <p:nvPr/>
        </p:nvSpPr>
        <p:spPr>
          <a:xfrm>
            <a:off x="6644979" y="977361"/>
            <a:ext cx="1939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复合命题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415F8EC-0800-4ED4-8BA0-5D915C666F33}"/>
              </a:ext>
            </a:extLst>
          </p:cNvPr>
          <p:cNvSpPr txBox="1"/>
          <p:nvPr/>
        </p:nvSpPr>
        <p:spPr>
          <a:xfrm>
            <a:off x="9462655" y="942726"/>
            <a:ext cx="233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联结词与复合命题 </a:t>
            </a:r>
            <a:endParaRPr lang="zh-CN" altLang="en-US" sz="2000" dirty="0">
              <a:solidFill>
                <a:srgbClr val="99267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21B324C-72EF-4109-A5C5-3BCFDDC422BF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5832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命题符号化及联结词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AB7AA9C-8E71-4877-8A5D-FD36B2235082}"/>
              </a:ext>
            </a:extLst>
          </p:cNvPr>
          <p:cNvSpPr txBox="1">
            <a:spLocks noChangeArrowheads="1"/>
          </p:cNvSpPr>
          <p:nvPr/>
        </p:nvSpPr>
        <p:spPr>
          <a:xfrm>
            <a:off x="527715" y="1654836"/>
            <a:ext cx="10930660" cy="44201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 设 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天冷，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小王穿羽绒服，将下列命题符号化  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(1) 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只要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天冷，小王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就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穿羽绒服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(2)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因为天冷，所以小王穿羽绒服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(3)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若小王不穿羽绒服，则天不冷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(4)  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只有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天冷，小王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才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穿羽绒服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(5)  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除非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天冷，小王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才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穿羽绒服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(6)  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除非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小王穿羽绒服，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否则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天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冷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(7)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如果天不冷，则小王不穿羽绒服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(8)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小王穿羽绒服仅当天冷的时候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5403B2CB-C882-4183-AF43-F299A2578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0862" y="4497988"/>
            <a:ext cx="3044946" cy="86177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i="1" dirty="0" err="1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2000" dirty="0" err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000" i="1" dirty="0" err="1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000" i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与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</a:t>
            </a:r>
            <a:r>
              <a:rPr lang="en-US" altLang="zh-CN" sz="2000" i="1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</a:t>
            </a:r>
            <a:r>
              <a:rPr lang="en-US" altLang="zh-CN" sz="2000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互为逆否命题，等价</a:t>
            </a:r>
            <a:endParaRPr lang="zh-CN" altLang="en-US" sz="2000" i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3ED16B14-CE5A-459C-8C25-7CE053872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4306" y="2029335"/>
            <a:ext cx="13716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6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i="1" dirty="0" err="1">
                <a:latin typeface="Times New Roman" panose="02020603050405020304" pitchFamily="18" charset="0"/>
              </a:rPr>
              <a:t>q</a:t>
            </a:r>
            <a:endParaRPr lang="en-US" altLang="zh-CN" sz="2600" i="1" dirty="0">
              <a:latin typeface="Times New Roman" panose="02020603050405020304" pitchFamily="18" charset="0"/>
            </a:endParaRPr>
          </a:p>
        </p:txBody>
      </p:sp>
      <p:sp>
        <p:nvSpPr>
          <p:cNvPr id="14" name="Text Box 6">
            <a:extLst>
              <a:ext uri="{FF2B5EF4-FFF2-40B4-BE49-F238E27FC236}">
                <a16:creationId xmlns:a16="http://schemas.microsoft.com/office/drawing/2014/main" id="{A2FC3F70-CE54-4C5C-A4FB-2C0FB53CC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4306" y="2478380"/>
            <a:ext cx="15240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6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i="1" dirty="0" err="1">
                <a:latin typeface="Times New Roman" panose="02020603050405020304" pitchFamily="18" charset="0"/>
              </a:rPr>
              <a:t>q</a:t>
            </a:r>
            <a:endParaRPr lang="en-US" altLang="zh-CN" sz="2600" i="1" dirty="0">
              <a:latin typeface="Times New Roman" panose="02020603050405020304" pitchFamily="18" charset="0"/>
            </a:endParaRPr>
          </a:p>
        </p:txBody>
      </p:sp>
      <p:sp>
        <p:nvSpPr>
          <p:cNvPr id="15" name="Text Box 7">
            <a:extLst>
              <a:ext uri="{FF2B5EF4-FFF2-40B4-BE49-F238E27FC236}">
                <a16:creationId xmlns:a16="http://schemas.microsoft.com/office/drawing/2014/main" id="{D75BC29E-2326-45A6-B30D-406A6A9DC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4306" y="2927425"/>
            <a:ext cx="17526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6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i="1" dirty="0" err="1">
                <a:latin typeface="Times New Roman" panose="02020603050405020304" pitchFamily="18" charset="0"/>
              </a:rPr>
              <a:t>q</a:t>
            </a:r>
            <a:endParaRPr lang="en-US" altLang="zh-CN" sz="2600" i="1" dirty="0">
              <a:latin typeface="Times New Roman" panose="02020603050405020304" pitchFamily="18" charset="0"/>
            </a:endParaRPr>
          </a:p>
        </p:txBody>
      </p:sp>
      <p:sp>
        <p:nvSpPr>
          <p:cNvPr id="16" name="Text Box 8">
            <a:extLst>
              <a:ext uri="{FF2B5EF4-FFF2-40B4-BE49-F238E27FC236}">
                <a16:creationId xmlns:a16="http://schemas.microsoft.com/office/drawing/2014/main" id="{78871358-3341-4326-A94C-117D686FC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4306" y="4274560"/>
            <a:ext cx="18288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6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i="1" dirty="0" err="1">
                <a:latin typeface="Times New Roman" panose="02020603050405020304" pitchFamily="18" charset="0"/>
              </a:rPr>
              <a:t>q</a:t>
            </a:r>
            <a:endParaRPr lang="en-US" altLang="zh-CN" sz="2600" i="1" dirty="0">
              <a:latin typeface="Times New Roman" panose="02020603050405020304" pitchFamily="18" charset="0"/>
            </a:endParaRPr>
          </a:p>
        </p:txBody>
      </p:sp>
      <p:sp>
        <p:nvSpPr>
          <p:cNvPr id="21" name="Text Box 9">
            <a:extLst>
              <a:ext uri="{FF2B5EF4-FFF2-40B4-BE49-F238E27FC236}">
                <a16:creationId xmlns:a16="http://schemas.microsoft.com/office/drawing/2014/main" id="{E80BA240-066A-4CD4-8BC4-975536149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4306" y="3376470"/>
            <a:ext cx="10668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6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i="1" dirty="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8BE6BCE3-E818-4E9F-900F-1A8AAD195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4306" y="3825515"/>
            <a:ext cx="104616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i="1" dirty="0" err="1">
                <a:latin typeface="Times New Roman" panose="02020603050405020304" pitchFamily="18" charset="0"/>
              </a:rPr>
              <a:t>p</a:t>
            </a:r>
            <a:endParaRPr lang="en-US" altLang="zh-CN" sz="2600" i="1" dirty="0">
              <a:latin typeface="Times New Roman" panose="02020603050405020304" pitchFamily="18" charset="0"/>
            </a:endParaRPr>
          </a:p>
        </p:txBody>
      </p:sp>
      <p:sp>
        <p:nvSpPr>
          <p:cNvPr id="23" name="Rectangle 11">
            <a:extLst>
              <a:ext uri="{FF2B5EF4-FFF2-40B4-BE49-F238E27FC236}">
                <a16:creationId xmlns:a16="http://schemas.microsoft.com/office/drawing/2014/main" id="{E0B3DE83-511C-4797-9368-87ACCED7E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4306" y="4723605"/>
            <a:ext cx="1198562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i="1" dirty="0" err="1">
                <a:latin typeface="Times New Roman" panose="02020603050405020304" pitchFamily="18" charset="0"/>
              </a:rPr>
              <a:t>p</a:t>
            </a:r>
            <a:endParaRPr lang="en-US" altLang="zh-CN" sz="2600" i="1" dirty="0">
              <a:latin typeface="Times New Roman" panose="02020603050405020304" pitchFamily="18" charset="0"/>
            </a:endParaRPr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B6CB5AE5-4F04-43FC-8A72-F6A20B5DD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4306" y="5172649"/>
            <a:ext cx="112236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i="1" dirty="0" err="1">
                <a:latin typeface="Times New Roman" panose="02020603050405020304" pitchFamily="18" charset="0"/>
              </a:rPr>
              <a:t>p</a:t>
            </a:r>
            <a:endParaRPr lang="en-US" altLang="zh-CN" sz="2600" i="1" dirty="0">
              <a:latin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F856087-0026-442D-B9A6-1767553B35B8}"/>
              </a:ext>
            </a:extLst>
          </p:cNvPr>
          <p:cNvSpPr txBox="1"/>
          <p:nvPr/>
        </p:nvSpPr>
        <p:spPr>
          <a:xfrm>
            <a:off x="568036" y="990600"/>
            <a:ext cx="14824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命题与真值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6F8BBBE-6E6D-4747-93A5-C38CAE4358D0}"/>
              </a:ext>
            </a:extLst>
          </p:cNvPr>
          <p:cNvSpPr txBox="1"/>
          <p:nvPr/>
        </p:nvSpPr>
        <p:spPr>
          <a:xfrm>
            <a:off x="3745040" y="984288"/>
            <a:ext cx="1447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简单命题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0518F84-70FB-43E4-B04A-EF1552F7C36C}"/>
              </a:ext>
            </a:extLst>
          </p:cNvPr>
          <p:cNvSpPr txBox="1"/>
          <p:nvPr/>
        </p:nvSpPr>
        <p:spPr>
          <a:xfrm>
            <a:off x="6644979" y="977361"/>
            <a:ext cx="1939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复合命题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AB9372E-DB55-4343-A0FC-127B6E4DA558}"/>
              </a:ext>
            </a:extLst>
          </p:cNvPr>
          <p:cNvSpPr txBox="1"/>
          <p:nvPr/>
        </p:nvSpPr>
        <p:spPr>
          <a:xfrm>
            <a:off x="9462655" y="942726"/>
            <a:ext cx="233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联结词与复合命题 </a:t>
            </a:r>
            <a:endParaRPr lang="zh-CN" altLang="en-US" sz="2000" dirty="0">
              <a:solidFill>
                <a:srgbClr val="99267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Text Box 4">
            <a:extLst>
              <a:ext uri="{FF2B5EF4-FFF2-40B4-BE49-F238E27FC236}">
                <a16:creationId xmlns:a16="http://schemas.microsoft.com/office/drawing/2014/main" id="{09EDD198-52DF-4443-916F-CE8A0C697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719227"/>
            <a:ext cx="9271869" cy="113877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如果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就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；只要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，则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；因为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，所以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dirty="0"/>
              <a:t> 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仅当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q 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zh-CN" altLang="zh-CN" dirty="0"/>
              <a:t> </a:t>
            </a:r>
          </a:p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只有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，才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除非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，才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；除非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，否则非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p……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可符号化为 </a:t>
            </a:r>
            <a:r>
              <a:rPr lang="en-US" altLang="zh-CN" sz="2400" i="1" dirty="0" err="1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400" i="1" dirty="0" err="1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2400" i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Text Box 4">
            <a:extLst>
              <a:ext uri="{FF2B5EF4-FFF2-40B4-BE49-F238E27FC236}">
                <a16:creationId xmlns:a16="http://schemas.microsoft.com/office/drawing/2014/main" id="{079F3337-2A75-458A-B85F-1D70CCFD8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6146" y="5982273"/>
            <a:ext cx="2467032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仅当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en-US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400" i="1" dirty="0" err="1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400" i="1" dirty="0" err="1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p 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en-US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400" i="1" dirty="0" err="1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400" i="1" dirty="0" err="1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endParaRPr lang="zh-CN" altLang="en-US" sz="2400" i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0869D69-8A04-48E1-A8BF-0CF7381B49F3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10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5649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2" grpId="0" autoUpdateAnimBg="0"/>
      <p:bldP spid="14" grpId="0" autoUpdateAnimBg="0"/>
      <p:bldP spid="15" grpId="0" autoUpdateAnimBg="0"/>
      <p:bldP spid="16" grpId="0" autoUpdateAnimBg="0"/>
      <p:bldP spid="21" grpId="0" autoUpdateAnimBg="0"/>
      <p:bldP spid="22" grpId="0" autoUpdateAnimBg="0"/>
      <p:bldP spid="23" grpId="0" autoUpdateAnimBg="0"/>
      <p:bldP spid="24" grpId="0" autoUpdateAnimBg="0"/>
      <p:bldP spid="18" grpId="0" autoUpdateAnimBg="0"/>
      <p:bldP spid="19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命题符号化及联结词</a:t>
            </a: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86683C7E-4C2E-408E-89B1-A4736AECBF60}"/>
              </a:ext>
            </a:extLst>
          </p:cNvPr>
          <p:cNvSpPr txBox="1">
            <a:spLocks noChangeArrowheads="1"/>
          </p:cNvSpPr>
          <p:nvPr/>
        </p:nvSpPr>
        <p:spPr>
          <a:xfrm>
            <a:off x="485775" y="1567038"/>
            <a:ext cx="11318834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spcBef>
                <a:spcPct val="50000"/>
              </a:spcBef>
              <a:defRPr sz="26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1.5: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 设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en-US" sz="2400" b="1" dirty="0"/>
              <a:t>，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为两个命题，复合命题 “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当且仅当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称作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等价式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，记作     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        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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称作</a:t>
            </a:r>
            <a:r>
              <a:rPr lang="zh-CN" altLang="en-US" sz="240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等价联结词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规定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为真当且仅当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同时为真或同时为假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7557610-5F93-4FD5-BA82-CE775A3A2903}"/>
              </a:ext>
            </a:extLst>
          </p:cNvPr>
          <p:cNvSpPr txBox="1"/>
          <p:nvPr/>
        </p:nvSpPr>
        <p:spPr>
          <a:xfrm>
            <a:off x="485775" y="3058028"/>
            <a:ext cx="8427612" cy="1179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说明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Times New Roman" panose="02020603050405020304" pitchFamily="18" charset="0"/>
              </a:rPr>
              <a:t>  (1) 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2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的逻辑关系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p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q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互为充分必要条件</a:t>
            </a: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Times New Roman" panose="02020603050405020304" pitchFamily="18" charset="0"/>
              </a:rPr>
              <a:t>  </a:t>
            </a:r>
            <a:r>
              <a:rPr lang="en-US" altLang="zh-CN" sz="2200" b="1" dirty="0">
                <a:latin typeface="Times New Roman" panose="02020603050405020304" pitchFamily="18" charset="0"/>
              </a:rPr>
              <a:t>(2) 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2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q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为真当且仅当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p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q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同真或同假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71535EC0-5235-4319-A0AE-7650E29056FA}"/>
              </a:ext>
            </a:extLst>
          </p:cNvPr>
          <p:cNvSpPr txBox="1">
            <a:spLocks noChangeArrowheads="1"/>
          </p:cNvSpPr>
          <p:nvPr/>
        </p:nvSpPr>
        <p:spPr>
          <a:xfrm>
            <a:off x="648774" y="4424710"/>
            <a:ext cx="11199792" cy="243593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例：求下列复合命题的真值</a:t>
            </a:r>
            <a:endParaRPr lang="zh-CN" altLang="en-US" sz="22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1)  2 + 2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当且仅当 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 + 3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6.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  (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2)  2 + 2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当且仅当 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是偶数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  (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3)  2 + 2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当且仅当 太阳从东方升起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  (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4)  2 + 2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当且仅当 美国位于非洲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  (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5) 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函数 </a:t>
            </a:r>
            <a:r>
              <a:rPr lang="en-US" altLang="zh-CN" sz="22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(</a:t>
            </a:r>
            <a:r>
              <a:rPr lang="en-US" altLang="zh-CN" sz="22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200" b="1" i="1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200" b="1" baseline="-30000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可导的充要条件是它在</a:t>
            </a:r>
            <a:r>
              <a:rPr lang="en-US" altLang="zh-CN" sz="2200" b="1" i="1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200" b="1" baseline="-30000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连续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altLang="zh-CN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7A619D-B873-419E-933B-20B552E40B0F}"/>
              </a:ext>
            </a:extLst>
          </p:cNvPr>
          <p:cNvSpPr txBox="1"/>
          <p:nvPr/>
        </p:nvSpPr>
        <p:spPr>
          <a:xfrm>
            <a:off x="9395139" y="4724313"/>
            <a:ext cx="327334" cy="20697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  <a:p>
            <a:pPr algn="l">
              <a:lnSpc>
                <a:spcPct val="120000"/>
              </a:lnSpc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  <a:p>
            <a:pPr algn="l">
              <a:lnSpc>
                <a:spcPct val="120000"/>
              </a:lnSpc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  <a:p>
            <a:pPr algn="l">
              <a:lnSpc>
                <a:spcPct val="120000"/>
              </a:lnSpc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  <a:p>
            <a:pPr algn="l">
              <a:lnSpc>
                <a:spcPct val="120000"/>
              </a:lnSpc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0233434-1C78-4130-B165-E11266029E54}"/>
              </a:ext>
            </a:extLst>
          </p:cNvPr>
          <p:cNvSpPr txBox="1"/>
          <p:nvPr/>
        </p:nvSpPr>
        <p:spPr>
          <a:xfrm>
            <a:off x="568036" y="990600"/>
            <a:ext cx="14824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命题与真值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4A1E7EE-43BE-4F9F-B778-53C5FB3D0643}"/>
              </a:ext>
            </a:extLst>
          </p:cNvPr>
          <p:cNvSpPr txBox="1"/>
          <p:nvPr/>
        </p:nvSpPr>
        <p:spPr>
          <a:xfrm>
            <a:off x="3745040" y="984288"/>
            <a:ext cx="1447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简单命题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21FE5DD-703C-4E99-99E3-6A1FBEF72F4D}"/>
              </a:ext>
            </a:extLst>
          </p:cNvPr>
          <p:cNvSpPr txBox="1"/>
          <p:nvPr/>
        </p:nvSpPr>
        <p:spPr>
          <a:xfrm>
            <a:off x="6644979" y="977361"/>
            <a:ext cx="1939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复合命题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E8E89B9-DCAA-4765-AE7D-E4C05F5F6FC9}"/>
              </a:ext>
            </a:extLst>
          </p:cNvPr>
          <p:cNvSpPr txBox="1"/>
          <p:nvPr/>
        </p:nvSpPr>
        <p:spPr>
          <a:xfrm>
            <a:off x="9462655" y="942726"/>
            <a:ext cx="23344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联结词与复合命题 </a:t>
            </a:r>
            <a:endParaRPr lang="zh-CN" altLang="en-US" sz="2000" dirty="0">
              <a:solidFill>
                <a:srgbClr val="99267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CBFA5BE-A5B6-44D2-82B2-6B5B2716F576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11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48850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命题符号化及联结词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575439C9-8869-43C2-9ECD-9BCC99648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017" y="1100787"/>
            <a:ext cx="164847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  <a:buClr>
                <a:srgbClr val="FF9900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小　结：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3746E66-3F34-4787-9669-462A0DCAF195}"/>
              </a:ext>
            </a:extLst>
          </p:cNvPr>
          <p:cNvSpPr txBox="1">
            <a:spLocks noChangeArrowheads="1"/>
          </p:cNvSpPr>
          <p:nvPr/>
        </p:nvSpPr>
        <p:spPr>
          <a:xfrm>
            <a:off x="207428" y="1768320"/>
            <a:ext cx="7913800" cy="3545959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10000"/>
              </a:lnSpc>
              <a:spcBef>
                <a:spcPct val="35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小节中 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, 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…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均表示命题</a:t>
            </a:r>
          </a:p>
          <a:p>
            <a:pPr lvl="1">
              <a:lnSpc>
                <a:spcPct val="110000"/>
              </a:lnSpc>
              <a:spcBef>
                <a:spcPct val="35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联结词集为</a:t>
            </a:r>
            <a:r>
              <a:rPr lang="en-US" altLang="zh-CN" sz="2400" dirty="0">
                <a:latin typeface="Times New Roman" panose="02020603050405020304" pitchFamily="18" charset="0"/>
              </a:rPr>
              <a:t>{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dirty="0">
                <a:latin typeface="Times New Roman" panose="02020603050405020304" pitchFamily="18" charset="0"/>
              </a:rPr>
              <a:t>,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latin typeface="Times New Roman" panose="02020603050405020304" pitchFamily="18" charset="0"/>
              </a:rPr>
              <a:t>,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dirty="0">
                <a:latin typeface="Times New Roman" panose="02020603050405020304" pitchFamily="18" charset="0"/>
              </a:rPr>
              <a:t>,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Times New Roman" panose="02020603050405020304" pitchFamily="18" charset="0"/>
              </a:rPr>
              <a:t>,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400" dirty="0">
                <a:latin typeface="Times New Roman" panose="02020603050405020304" pitchFamily="18" charset="0"/>
              </a:rPr>
              <a:t>}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  <a:spcBef>
                <a:spcPct val="35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运算优先顺序由高到低：</a:t>
            </a:r>
            <a:r>
              <a:rPr lang="en-US" altLang="zh-CN" sz="2800" b="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( ),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dirty="0">
                <a:latin typeface="Times New Roman" panose="02020603050405020304" pitchFamily="18" charset="0"/>
              </a:rPr>
              <a:t> , </a:t>
            </a:r>
          </a:p>
          <a:p>
            <a:pPr marL="365760" lvl="1" indent="0">
              <a:lnSpc>
                <a:spcPct val="110000"/>
              </a:lnSpc>
              <a:spcBef>
                <a:spcPct val="35000"/>
              </a:spcBef>
              <a:buNone/>
            </a:pPr>
            <a:r>
              <a:rPr lang="zh-CN" altLang="en-US" sz="2800" b="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 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同级按先出现者先运算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64F7C08-5D7D-4F78-BDE0-9B8E111D56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665" y="0"/>
            <a:ext cx="5117324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E7D804E-8E8C-406F-BCB3-8BA7038E8286}"/>
              </a:ext>
            </a:extLst>
          </p:cNvPr>
          <p:cNvSpPr/>
          <p:nvPr/>
        </p:nvSpPr>
        <p:spPr>
          <a:xfrm>
            <a:off x="10394663" y="4347825"/>
            <a:ext cx="1797337" cy="1109078"/>
          </a:xfrm>
          <a:prstGeom prst="rect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095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命题公式及分类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6661EB5-F75F-4205-AE7C-F67A7BF2003A}"/>
              </a:ext>
            </a:extLst>
          </p:cNvPr>
          <p:cNvSpPr txBox="1">
            <a:spLocks noChangeArrowheads="1"/>
          </p:cNvSpPr>
          <p:nvPr/>
        </p:nvSpPr>
        <p:spPr>
          <a:xfrm>
            <a:off x="684213" y="1914097"/>
            <a:ext cx="11209426" cy="18068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 algn="just"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命题常项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：简单命题（</a:t>
            </a:r>
            <a:r>
              <a:rPr lang="zh-CN" altLang="en-US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是真值唯一确定的，命题逻辑中最基本的研究单位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609600" indent="-609600" algn="just"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命题变项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：真值不确定的陈述句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09600" indent="-609600" algn="just"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sz="24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对应于初等数学中的常量与变量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3F98C0B-8A13-410B-B3BC-D957D97FCB64}"/>
              </a:ext>
            </a:extLst>
          </p:cNvPr>
          <p:cNvSpPr txBox="1">
            <a:spLocks noChangeArrowheads="1"/>
          </p:cNvSpPr>
          <p:nvPr/>
        </p:nvSpPr>
        <p:spPr>
          <a:xfrm>
            <a:off x="684214" y="3855717"/>
            <a:ext cx="11209425" cy="2486274"/>
          </a:xfrm>
          <a:prstGeom prst="rect">
            <a:avLst/>
          </a:prstGeom>
        </p:spPr>
        <p:txBody>
          <a:bodyPr vert="horz">
            <a:normAutofit fontScale="92500"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ct val="35000"/>
              </a:spcBef>
              <a:buNone/>
            </a:pP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注意：</a:t>
            </a:r>
          </a:p>
          <a:p>
            <a:pPr lvl="1">
              <a:lnSpc>
                <a:spcPct val="110000"/>
              </a:lnSpc>
              <a:spcBef>
                <a:spcPct val="35000"/>
              </a:spcBef>
            </a:pP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 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 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既可表示命题常项，也可表示命题变项，使用中由上下文确定</a:t>
            </a:r>
          </a:p>
          <a:p>
            <a:pPr lvl="1">
              <a:lnSpc>
                <a:spcPct val="110000"/>
              </a:lnSpc>
              <a:spcBef>
                <a:spcPct val="35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当表示命题变项时，它们就成了取值为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的变项</a:t>
            </a:r>
          </a:p>
          <a:p>
            <a:pPr lvl="1">
              <a:lnSpc>
                <a:spcPct val="110000"/>
              </a:lnSpc>
              <a:spcBef>
                <a:spcPct val="3500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因而，命题变项已不是命题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65760" lvl="1" indent="0">
              <a:lnSpc>
                <a:spcPct val="110000"/>
              </a:lnSpc>
              <a:spcBef>
                <a:spcPct val="35000"/>
              </a:spcBef>
              <a:buNone/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A5A1F62-92FC-420B-A356-F652E313B6DC}"/>
              </a:ext>
            </a:extLst>
          </p:cNvPr>
          <p:cNvSpPr txBox="1"/>
          <p:nvPr/>
        </p:nvSpPr>
        <p:spPr>
          <a:xfrm>
            <a:off x="568036" y="990600"/>
            <a:ext cx="1646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命题常</a:t>
            </a:r>
            <a:r>
              <a:rPr lang="en-US" altLang="zh-CN" sz="2000" b="1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b="1" dirty="0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变项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45DFF70-38DD-431F-9E76-06319446CE4A}"/>
              </a:ext>
            </a:extLst>
          </p:cNvPr>
          <p:cNvSpPr txBox="1"/>
          <p:nvPr/>
        </p:nvSpPr>
        <p:spPr>
          <a:xfrm>
            <a:off x="2782698" y="984288"/>
            <a:ext cx="1939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命题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合式公式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D495B3-9A64-4C3E-9D72-117A21CDE84B}"/>
              </a:ext>
            </a:extLst>
          </p:cNvPr>
          <p:cNvSpPr txBox="1"/>
          <p:nvPr/>
        </p:nvSpPr>
        <p:spPr>
          <a:xfrm>
            <a:off x="5005827" y="977361"/>
            <a:ext cx="1540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公式的层次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8BA3C44-BDE8-4548-B052-846F87D4D3AF}"/>
              </a:ext>
            </a:extLst>
          </p:cNvPr>
          <p:cNvSpPr txBox="1"/>
          <p:nvPr/>
        </p:nvSpPr>
        <p:spPr>
          <a:xfrm>
            <a:off x="6892204" y="973976"/>
            <a:ext cx="1540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公式的赋值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6B2BDC9-157A-4DCF-81CC-33BCED9376DC}"/>
              </a:ext>
            </a:extLst>
          </p:cNvPr>
          <p:cNvSpPr txBox="1"/>
          <p:nvPr/>
        </p:nvSpPr>
        <p:spPr>
          <a:xfrm>
            <a:off x="8919240" y="977362"/>
            <a:ext cx="10682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真值表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8B1241F-DAD0-4BCD-8BBC-760BF2B1A4CB}"/>
              </a:ext>
            </a:extLst>
          </p:cNvPr>
          <p:cNvSpPr txBox="1"/>
          <p:nvPr/>
        </p:nvSpPr>
        <p:spPr>
          <a:xfrm>
            <a:off x="10279788" y="973976"/>
            <a:ext cx="14897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公式的分类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BB452CA-7DE8-43D3-8DD8-1F8C83B0C79B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13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825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命题公式及分类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6F07DF1-BD4E-4818-BAF7-56E92FFB1438}"/>
              </a:ext>
            </a:extLst>
          </p:cNvPr>
          <p:cNvSpPr txBox="1">
            <a:spLocks noChangeArrowheads="1"/>
          </p:cNvSpPr>
          <p:nvPr/>
        </p:nvSpPr>
        <p:spPr>
          <a:xfrm>
            <a:off x="510348" y="1644216"/>
            <a:ext cx="11685943" cy="28335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 algn="just"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1.6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2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合式公式 </a:t>
            </a:r>
            <a:r>
              <a:rPr lang="en-US" altLang="zh-CN" sz="22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2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命题公式</a:t>
            </a:r>
            <a:r>
              <a:rPr lang="en-US" altLang="zh-CN" sz="22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2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公式</a:t>
            </a:r>
            <a:r>
              <a:rPr lang="en-US" altLang="zh-CN" sz="22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递归定义如下：</a:t>
            </a:r>
          </a:p>
          <a:p>
            <a:pPr marL="609600" indent="-609600" algn="just"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单个命题常项或变项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p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, 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q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,  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r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 , </a:t>
            </a:r>
            <a:r>
              <a:rPr lang="en-US" altLang="zh-CN" sz="2200" b="1" dirty="0">
                <a:latin typeface="宋体" panose="02010600030101010101" pitchFamily="2" charset="-122"/>
                <a:ea typeface="宋体" panose="02010600030101010101" pitchFamily="2" charset="-122"/>
              </a:rPr>
              <a:t>…,</a:t>
            </a:r>
            <a:r>
              <a:rPr kumimoji="0" lang="en-US" altLang="zh-CN" sz="2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 </a:t>
            </a:r>
            <a:r>
              <a:rPr lang="en-US" altLang="zh-CN" sz="2200" b="1" i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</a:rPr>
              <a:t>0,1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是合式公式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称为原子命题公式</a:t>
            </a:r>
          </a:p>
          <a:p>
            <a:pPr marL="609600" indent="-609600" algn="just"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(2)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</a:rPr>
              <a:t>A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是合式公式，则 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</a:rPr>
              <a:t>(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  <a:sym typeface="Symbol" panose="05050102010706020507" pitchFamily="18" charset="2"/>
              </a:rPr>
              <a:t>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</a:rPr>
              <a:t>A)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也是合式公式</a:t>
            </a:r>
          </a:p>
          <a:p>
            <a:pPr marL="609600" indent="-609600" algn="just"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(3)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</a:rPr>
              <a:t>A, B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是合式公式，则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</a:rPr>
              <a:t>(</a:t>
            </a:r>
            <a:r>
              <a:rPr lang="en-US" altLang="zh-CN" sz="20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</a:rPr>
              <a:t>A</a:t>
            </a:r>
            <a:r>
              <a:rPr lang="en-US" altLang="zh-CN" sz="20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  <a:sym typeface="Symbol" panose="05050102010706020507" pitchFamily="18" charset="2"/>
              </a:rPr>
              <a:t></a:t>
            </a:r>
            <a:r>
              <a:rPr lang="en-US" altLang="zh-CN" sz="20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</a:rPr>
              <a:t>B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</a:rPr>
              <a:t>), (</a:t>
            </a:r>
            <a:r>
              <a:rPr lang="en-US" altLang="zh-CN" sz="20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</a:rPr>
              <a:t>A</a:t>
            </a:r>
            <a:r>
              <a:rPr lang="en-US" altLang="zh-CN" sz="20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  <a:sym typeface="Symbol" panose="05050102010706020507" pitchFamily="18" charset="2"/>
              </a:rPr>
              <a:t></a:t>
            </a:r>
            <a:r>
              <a:rPr lang="en-US" altLang="zh-CN" sz="20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</a:rPr>
              <a:t>B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</a:rPr>
              <a:t>), (</a:t>
            </a:r>
            <a:r>
              <a:rPr lang="en-US" altLang="zh-CN" sz="20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</a:rPr>
              <a:t>A</a:t>
            </a:r>
            <a:r>
              <a:rPr lang="en-US" altLang="zh-CN" sz="20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  <a:sym typeface="Symbol" panose="05050102010706020507" pitchFamily="18" charset="2"/>
              </a:rPr>
              <a:t></a:t>
            </a:r>
            <a:r>
              <a:rPr lang="en-US" altLang="zh-CN" sz="20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</a:rPr>
              <a:t>B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</a:rPr>
              <a:t>), (</a:t>
            </a:r>
            <a:r>
              <a:rPr lang="en-US" altLang="zh-CN" sz="20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</a:rPr>
              <a:t>A</a:t>
            </a:r>
            <a:r>
              <a:rPr lang="en-US" altLang="zh-CN" sz="20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  <a:sym typeface="Symbol" panose="05050102010706020507" pitchFamily="18" charset="2"/>
              </a:rPr>
              <a:t></a:t>
            </a:r>
            <a:r>
              <a:rPr lang="en-US" altLang="zh-CN" sz="2000" b="1" i="1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</a:rPr>
              <a:t>B</a:t>
            </a:r>
            <a:r>
              <a:rPr lang="en-US" altLang="zh-CN" sz="2000" b="1" i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</a:rPr>
              <a:t>)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也是合式公式</a:t>
            </a:r>
          </a:p>
          <a:p>
            <a:pPr marL="609600" indent="-609600" algn="just"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(4)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只有有限次地应用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(1)~(3)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形成的符号串才是合式公式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131AA79-8B05-41C7-8160-13CECBC2ED68}"/>
              </a:ext>
            </a:extLst>
          </p:cNvPr>
          <p:cNvSpPr txBox="1"/>
          <p:nvPr/>
        </p:nvSpPr>
        <p:spPr>
          <a:xfrm>
            <a:off x="521167" y="4315163"/>
            <a:ext cx="102217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600" indent="-609600" algn="just"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例如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: 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p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kumimoji="0" lang="en-US" altLang="zh-CN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q )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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kumimoji="0" lang="en-US" altLang="zh-CN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q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 </a:t>
            </a:r>
            <a:r>
              <a:rPr kumimoji="0" lang="en-US" altLang="zh-CN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r) ,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p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</a:t>
            </a:r>
            <a:r>
              <a:rPr kumimoji="0" lang="en-US" altLang="zh-CN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 q )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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0" lang="en-US" altLang="zh-CN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r , p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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kumimoji="0" lang="en-US" altLang="zh-CN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 q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0" lang="en-US" altLang="zh-CN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r )</a:t>
            </a:r>
            <a:r>
              <a:rPr kumimoji="0" lang="zh-CN" altLang="en-US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都是合式公式</a:t>
            </a:r>
            <a:r>
              <a:rPr kumimoji="0" lang="en-US" altLang="zh-CN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marL="609600" indent="-609600" algn="just"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而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p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q 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US" altLang="zh-CN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 r </a:t>
            </a:r>
            <a:r>
              <a:rPr lang="en-US" altLang="zh-CN" sz="20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, </a:t>
            </a:r>
            <a:r>
              <a:rPr kumimoji="0" lang="en-US" altLang="zh-CN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p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(</a:t>
            </a:r>
            <a:r>
              <a:rPr kumimoji="0" lang="en-US" altLang="zh-CN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 r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</a:t>
            </a:r>
            <a:r>
              <a:rPr kumimoji="0" lang="en-US" altLang="zh-CN" sz="20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 q </a:t>
            </a:r>
            <a:r>
              <a:rPr lang="zh-CN" altLang="en-US" sz="20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不是合式公式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B86F79E-5BA4-4D2B-8BC0-C2ECEA1C2DB5}"/>
              </a:ext>
            </a:extLst>
          </p:cNvPr>
          <p:cNvSpPr txBox="1">
            <a:spLocks noChangeArrowheads="1"/>
          </p:cNvSpPr>
          <p:nvPr/>
        </p:nvSpPr>
        <p:spPr>
          <a:xfrm>
            <a:off x="472227" y="5044980"/>
            <a:ext cx="11209425" cy="1728353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注意：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公式最外层括号可以省去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如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), (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0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单独出现时</a:t>
            </a:r>
          </a:p>
          <a:p>
            <a:pPr lvl="1">
              <a:lnSpc>
                <a:spcPct val="130000"/>
              </a:lnSpc>
              <a:spcBef>
                <a:spcPts val="0"/>
              </a:spcBef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公式中不影响运算次序的括号也可以省去，如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q 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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r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, 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可写为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q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r  </a:t>
            </a:r>
            <a:endParaRPr lang="zh-CN" altLang="en-US" sz="24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365760" lvl="1" indent="0">
              <a:lnSpc>
                <a:spcPct val="130000"/>
              </a:lnSpc>
              <a:spcBef>
                <a:spcPct val="35000"/>
              </a:spcBef>
              <a:buNone/>
            </a:pPr>
            <a:endParaRPr lang="zh-CN" altLang="en-US" sz="24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863E953-4F91-4B38-953A-597DCE451DDB}"/>
              </a:ext>
            </a:extLst>
          </p:cNvPr>
          <p:cNvSpPr txBox="1"/>
          <p:nvPr/>
        </p:nvSpPr>
        <p:spPr>
          <a:xfrm>
            <a:off x="308897" y="990600"/>
            <a:ext cx="19059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命题常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变项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8024756-295C-42DF-86CF-D2EDF1CD0933}"/>
              </a:ext>
            </a:extLst>
          </p:cNvPr>
          <p:cNvSpPr txBox="1"/>
          <p:nvPr/>
        </p:nvSpPr>
        <p:spPr>
          <a:xfrm>
            <a:off x="2392581" y="984288"/>
            <a:ext cx="22448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命题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合式公式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B889D02-D8BD-4F38-B3C5-EB527152717D}"/>
              </a:ext>
            </a:extLst>
          </p:cNvPr>
          <p:cNvSpPr txBox="1"/>
          <p:nvPr/>
        </p:nvSpPr>
        <p:spPr>
          <a:xfrm>
            <a:off x="4763407" y="977361"/>
            <a:ext cx="17830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公式的层次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BF0E5A-ED3D-40E1-BF05-1EE6B1D83FB5}"/>
              </a:ext>
            </a:extLst>
          </p:cNvPr>
          <p:cNvSpPr txBox="1"/>
          <p:nvPr/>
        </p:nvSpPr>
        <p:spPr>
          <a:xfrm>
            <a:off x="6649784" y="973976"/>
            <a:ext cx="17830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公式的赋值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84F7DD0-B9D6-4586-9FFB-6A2F1F291F06}"/>
              </a:ext>
            </a:extLst>
          </p:cNvPr>
          <p:cNvSpPr txBox="1"/>
          <p:nvPr/>
        </p:nvSpPr>
        <p:spPr>
          <a:xfrm>
            <a:off x="8810848" y="977362"/>
            <a:ext cx="1057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真值表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D8C9EEB-F4E4-4A0A-A128-EC09D957D62C}"/>
              </a:ext>
            </a:extLst>
          </p:cNvPr>
          <p:cNvSpPr txBox="1"/>
          <p:nvPr/>
        </p:nvSpPr>
        <p:spPr>
          <a:xfrm>
            <a:off x="10236746" y="973976"/>
            <a:ext cx="1558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公式的分类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8CA1604-C071-4A60-8C88-00AD0F0CD06C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14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923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命题公式及分类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948344-85A3-44C4-9E05-324D90E5B932}"/>
              </a:ext>
            </a:extLst>
          </p:cNvPr>
          <p:cNvSpPr txBox="1">
            <a:spLocks noChangeArrowheads="1"/>
          </p:cNvSpPr>
          <p:nvPr/>
        </p:nvSpPr>
        <p:spPr>
          <a:xfrm>
            <a:off x="506093" y="1682313"/>
            <a:ext cx="11076305" cy="4343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1.7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公式的层次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若公式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是单个的命题变项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层公式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(2)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称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2400" b="1" i="1" dirty="0" err="1">
                <a:solidFill>
                  <a:srgbClr val="99267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dirty="0" err="1">
                <a:solidFill>
                  <a:srgbClr val="99267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≥0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层公式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是指下面情况之一：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层公式；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分别为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层和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层公式，且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=max(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的层次及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的层次及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的层次及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）若公式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的层次为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层公式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4CACEDA-920E-421E-8AD0-12EA8324343A}"/>
              </a:ext>
            </a:extLst>
          </p:cNvPr>
          <p:cNvSpPr txBox="1"/>
          <p:nvPr/>
        </p:nvSpPr>
        <p:spPr>
          <a:xfrm>
            <a:off x="684106" y="5929683"/>
            <a:ext cx="10823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例如</a:t>
            </a:r>
            <a:r>
              <a:rPr lang="zh-CN" altLang="en-US" b="1" dirty="0">
                <a:latin typeface="Times New Roman" panose="02020603050405020304" pitchFamily="18" charset="0"/>
              </a:rPr>
              <a:t>：</a:t>
            </a:r>
            <a:r>
              <a:rPr lang="en-US" altLang="zh-CN" b="1" i="1" dirty="0">
                <a:latin typeface="Times New Roman" panose="02020603050405020304" pitchFamily="18" charset="0"/>
              </a:rPr>
              <a:t>p </a:t>
            </a:r>
            <a:r>
              <a:rPr lang="zh-CN" altLang="en-US" b="1" dirty="0">
                <a:latin typeface="Times New Roman" panose="02020603050405020304" pitchFamily="18" charset="0"/>
              </a:rPr>
              <a:t>：</a:t>
            </a:r>
            <a:r>
              <a:rPr lang="en-US" altLang="zh-CN" b="1" dirty="0">
                <a:latin typeface="Times New Roman" panose="02020603050405020304" pitchFamily="18" charset="0"/>
              </a:rPr>
              <a:t>0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层</a:t>
            </a:r>
            <a:r>
              <a:rPr lang="zh-CN" altLang="en-US" b="1" dirty="0">
                <a:latin typeface="Times New Roman" panose="02020603050405020304" pitchFamily="18" charset="0"/>
              </a:rPr>
              <a:t>  </a:t>
            </a:r>
            <a:r>
              <a:rPr lang="zh-CN" altLang="en-US" b="1" i="1" dirty="0">
                <a:latin typeface="Times New Roman" panose="02020603050405020304" pitchFamily="18" charset="0"/>
              </a:rPr>
              <a:t>     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</a:rPr>
              <a:t>：</a:t>
            </a: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层</a:t>
            </a:r>
            <a:r>
              <a:rPr lang="zh-CN" altLang="en-US" b="1" i="1" dirty="0">
                <a:latin typeface="Times New Roman" panose="02020603050405020304" pitchFamily="18" charset="0"/>
              </a:rPr>
              <a:t>     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：</a:t>
            </a:r>
            <a:r>
              <a:rPr lang="en-US" altLang="zh-CN" b="1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层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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</a:rPr>
              <a:t>：</a:t>
            </a: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层   </a:t>
            </a:r>
            <a:r>
              <a:rPr lang="en-US" altLang="zh-CN" b="1" dirty="0">
                <a:latin typeface="Times New Roman" panose="02020603050405020304" pitchFamily="18" charset="0"/>
              </a:rPr>
              <a:t>((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) </a:t>
            </a:r>
            <a:r>
              <a:rPr lang="zh-CN" altLang="en-US" b="1" dirty="0">
                <a:latin typeface="Times New Roman" panose="02020603050405020304" pitchFamily="18" charset="0"/>
              </a:rPr>
              <a:t>：</a:t>
            </a:r>
            <a:r>
              <a:rPr lang="en-US" altLang="zh-CN" b="1" dirty="0">
                <a:latin typeface="Times New Roman" panose="02020603050405020304" pitchFamily="18" charset="0"/>
              </a:rPr>
              <a:t>4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079B7F-1408-4854-9268-301EDB653F68}"/>
              </a:ext>
            </a:extLst>
          </p:cNvPr>
          <p:cNvSpPr txBox="1"/>
          <p:nvPr/>
        </p:nvSpPr>
        <p:spPr>
          <a:xfrm>
            <a:off x="653627" y="6373333"/>
            <a:ext cx="72666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下列命题公式分别是几层</a:t>
            </a:r>
            <a:r>
              <a:rPr lang="zh-CN" altLang="en-US" b="1" dirty="0">
                <a:latin typeface="Times New Roman" panose="02020603050405020304" pitchFamily="18" charset="0"/>
              </a:rPr>
              <a:t>：</a:t>
            </a:r>
            <a:r>
              <a:rPr lang="en-US" altLang="zh-CN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latin typeface="Times New Roman" panose="02020603050405020304" pitchFamily="18" charset="0"/>
              </a:rPr>
              <a:t>r </a:t>
            </a:r>
            <a:r>
              <a:rPr lang="zh-CN" altLang="en-US" b="1" i="1" dirty="0">
                <a:latin typeface="Times New Roman" panose="02020603050405020304" pitchFamily="18" charset="0"/>
              </a:rPr>
              <a:t>，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  </a:t>
            </a:r>
            <a:r>
              <a:rPr lang="en-US" altLang="zh-CN" b="1" i="1" dirty="0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))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b="1" dirty="0">
                <a:latin typeface="Times New Roman" panose="02020603050405020304" pitchFamily="18" charset="0"/>
              </a:rPr>
              <a:t>((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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 </a:t>
            </a:r>
            <a:r>
              <a:rPr lang="en-US" altLang="zh-CN" b="1" i="1" dirty="0">
                <a:latin typeface="Times New Roman" panose="02020603050405020304" pitchFamily="18" charset="0"/>
              </a:rPr>
              <a:t>p)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265E506-375D-4440-BB04-DCBF39B86D23}"/>
              </a:ext>
            </a:extLst>
          </p:cNvPr>
          <p:cNvSpPr txBox="1"/>
          <p:nvPr/>
        </p:nvSpPr>
        <p:spPr>
          <a:xfrm>
            <a:off x="398292" y="990600"/>
            <a:ext cx="1816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命题常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变项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7AB8C6B-6BF7-40F2-893B-3F944B2208D2}"/>
              </a:ext>
            </a:extLst>
          </p:cNvPr>
          <p:cNvSpPr txBox="1"/>
          <p:nvPr/>
        </p:nvSpPr>
        <p:spPr>
          <a:xfrm>
            <a:off x="2653655" y="984288"/>
            <a:ext cx="21395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命题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合式公式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60B901F-F4F3-46A4-8C9F-EEF9FF544D1C}"/>
              </a:ext>
            </a:extLst>
          </p:cNvPr>
          <p:cNvSpPr txBox="1"/>
          <p:nvPr/>
        </p:nvSpPr>
        <p:spPr>
          <a:xfrm>
            <a:off x="4847035" y="977361"/>
            <a:ext cx="16993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公式的层次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8F84676-AAB2-40BD-A6D5-A79230194D95}"/>
              </a:ext>
            </a:extLst>
          </p:cNvPr>
          <p:cNvSpPr txBox="1"/>
          <p:nvPr/>
        </p:nvSpPr>
        <p:spPr>
          <a:xfrm>
            <a:off x="6733412" y="973976"/>
            <a:ext cx="16993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公式的赋值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0C72C1-471A-454E-810D-587B6C9214E4}"/>
              </a:ext>
            </a:extLst>
          </p:cNvPr>
          <p:cNvSpPr txBox="1"/>
          <p:nvPr/>
        </p:nvSpPr>
        <p:spPr>
          <a:xfrm>
            <a:off x="8860466" y="977362"/>
            <a:ext cx="10082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真值表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21F28C6-D9C5-429C-860B-C3E408227507}"/>
              </a:ext>
            </a:extLst>
          </p:cNvPr>
          <p:cNvSpPr txBox="1"/>
          <p:nvPr/>
        </p:nvSpPr>
        <p:spPr>
          <a:xfrm>
            <a:off x="10126231" y="973976"/>
            <a:ext cx="16433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公式的分类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7699DF0-AB02-4A73-A2DB-9E4079D5D3C3}"/>
              </a:ext>
            </a:extLst>
          </p:cNvPr>
          <p:cNvSpPr txBox="1"/>
          <p:nvPr/>
        </p:nvSpPr>
        <p:spPr>
          <a:xfrm>
            <a:off x="7871560" y="6424983"/>
            <a:ext cx="16556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层</a:t>
            </a:r>
            <a:r>
              <a:rPr lang="zh-CN" altLang="en-US" b="1" i="1" dirty="0">
                <a:latin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</a:rPr>
              <a:t>4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层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293019A-D69F-4701-95ED-24ECD3569E79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15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7529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B23E18C7-8966-454A-92FB-14739B9E6DB8}"/>
              </a:ext>
            </a:extLst>
          </p:cNvPr>
          <p:cNvSpPr txBox="1">
            <a:spLocks noChangeArrowheads="1"/>
          </p:cNvSpPr>
          <p:nvPr/>
        </p:nvSpPr>
        <p:spPr>
          <a:xfrm>
            <a:off x="424816" y="1741083"/>
            <a:ext cx="11306598" cy="13069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在命题公式中，由于命题符号的出现，真值是不确定的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当将公式中出现的全部命题符号都解释成具体命题之后，公式就成了真值确定的命题了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   </a:t>
            </a:r>
          </a:p>
        </p:txBody>
      </p:sp>
      <p:sp>
        <p:nvSpPr>
          <p:cNvPr id="4" name="标题 449">
            <a:extLst>
              <a:ext uri="{FF2B5EF4-FFF2-40B4-BE49-F238E27FC236}">
                <a16:creationId xmlns:a16="http://schemas.microsoft.com/office/drawing/2014/main" id="{B96247E8-438F-4E7E-80A5-82EB0DB1CF0E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命题公式及分类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9ECBB6E-339C-49AA-8EB5-BD8AFC7F5461}"/>
              </a:ext>
            </a:extLst>
          </p:cNvPr>
          <p:cNvGrpSpPr/>
          <p:nvPr/>
        </p:nvGrpSpPr>
        <p:grpSpPr>
          <a:xfrm>
            <a:off x="684107" y="3288421"/>
            <a:ext cx="11189546" cy="2035420"/>
            <a:chOff x="684107" y="3105542"/>
            <a:chExt cx="11189546" cy="2035420"/>
          </a:xfrm>
        </p:grpSpPr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8E3F50CA-BCFA-4594-8DB1-100279CB5E2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84107" y="3105542"/>
              <a:ext cx="11189546" cy="2035420"/>
            </a:xfrm>
            <a:prstGeom prst="rect">
              <a:avLst/>
            </a:prstGeom>
          </p:spPr>
          <p:txBody>
            <a:bodyPr vert="horz">
              <a:normAutofit/>
            </a:bodyPr>
            <a:lstStyle>
              <a:lvl1pPr marL="320040" indent="-320040" algn="l" rtl="0" eaLnBrk="1" latinLnBrk="0" hangingPunct="1">
                <a:spcBef>
                  <a:spcPts val="700"/>
                </a:spcBef>
                <a:buClr>
                  <a:schemeClr val="accent2"/>
                </a:buClr>
                <a:buSzPct val="60000"/>
                <a:buFont typeface="Wingdings"/>
                <a:buChar char=""/>
                <a:defRPr kumimoji="0" sz="29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40080" indent="-274320" algn="l" rtl="0" eaLnBrk="1" latinLnBrk="0" hangingPunct="1">
                <a:spcBef>
                  <a:spcPts val="550"/>
                </a:spcBef>
                <a:buClr>
                  <a:schemeClr val="accent1"/>
                </a:buClr>
                <a:buSzPct val="70000"/>
                <a:buFont typeface="Wingdings 2"/>
                <a:buChar char=""/>
                <a:defRPr kumimoji="0" sz="26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228600" algn="l" rtl="0" eaLnBrk="1" latinLnBrk="0" hangingPunct="1">
                <a:spcBef>
                  <a:spcPts val="500"/>
                </a:spcBef>
                <a:buClr>
                  <a:schemeClr val="accent2"/>
                </a:buClr>
                <a:buSzPct val="75000"/>
                <a:buFont typeface="Wingdings"/>
                <a:buChar char=""/>
                <a:defRPr kumimoji="0" sz="23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-228600" algn="l" rtl="0" eaLnBrk="1" latinLnBrk="0" hangingPunct="1">
                <a:spcBef>
                  <a:spcPts val="400"/>
                </a:spcBef>
                <a:buClr>
                  <a:schemeClr val="accent3"/>
                </a:buClr>
                <a:buSzPct val="75000"/>
                <a:buFont typeface="Wingdings"/>
                <a:buChar char=""/>
                <a:defRPr kumimoji="0"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-228600" algn="l" rtl="0" eaLnBrk="1" latinLnBrk="0" hangingPunct="1">
                <a:spcBef>
                  <a:spcPts val="400"/>
                </a:spcBef>
                <a:buClr>
                  <a:schemeClr val="accent4"/>
                </a:buClr>
                <a:buSzPct val="65000"/>
                <a:buFont typeface="Wingdings"/>
                <a:buChar char=""/>
                <a:defRPr kumimoji="0"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03120" indent="-228600" algn="l" rtl="0" eaLnBrk="1" latinLnBrk="0" hangingPunct="1">
                <a:spcBef>
                  <a:spcPct val="20000"/>
                </a:spcBef>
                <a:buClr>
                  <a:schemeClr val="accent1"/>
                </a:buClr>
                <a:buFont typeface="Wingdings"/>
                <a:buChar char="§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377440" indent="-228600" algn="l" rtl="0" eaLnBrk="1" latinLnBrk="0" hangingPunct="1">
                <a:spcBef>
                  <a:spcPct val="20000"/>
                </a:spcBef>
                <a:buClr>
                  <a:schemeClr val="accent2"/>
                </a:buClr>
                <a:buFont typeface="Wingdings"/>
                <a:buChar char="§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51760" indent="-228600" algn="l" rtl="0" eaLnBrk="1" latinLnBrk="0" hangingPunct="1">
                <a:spcBef>
                  <a:spcPct val="20000"/>
                </a:spcBef>
                <a:buClr>
                  <a:schemeClr val="accent3"/>
                </a:buClr>
                <a:buFont typeface="Wingdings"/>
                <a:buChar char="§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28600" algn="l" rtl="0" eaLnBrk="1" latinLnBrk="0" hangingPunct="1">
                <a:spcBef>
                  <a:spcPct val="20000"/>
                </a:spcBef>
                <a:buClr>
                  <a:schemeClr val="accent4"/>
                </a:buClr>
                <a:buFont typeface="Wingdings"/>
                <a:buChar char="§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10000"/>
                </a:lnSpc>
                <a:spcBef>
                  <a:spcPct val="35000"/>
                </a:spcBef>
                <a:buNone/>
              </a:pP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例如，公式</a:t>
              </a:r>
              <a:r>
                <a:rPr lang="en-US" altLang="zh-CN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 Light"/>
                  <a:cs typeface="Times New Roman" panose="02020603050405020304" pitchFamily="18" charset="0"/>
                </a:rPr>
                <a:t>p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</a:t>
              </a: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 Light"/>
                  <a:cs typeface="Times New Roman" panose="02020603050405020304" pitchFamily="18" charset="0"/>
                </a:rPr>
                <a:t>q </a:t>
              </a: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4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 Light"/>
                  <a:cs typeface="Times New Roman" panose="02020603050405020304" pitchFamily="18" charset="0"/>
                </a:rPr>
                <a:t>r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  <a:endPara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>
                <a:lnSpc>
                  <a:spcPct val="110000"/>
                </a:lnSpc>
                <a:spcBef>
                  <a:spcPct val="35000"/>
                </a:spcBef>
                <a:buNone/>
              </a:pP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若</a:t>
              </a: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 Light"/>
                  <a:cs typeface="Times New Roman" panose="02020603050405020304" pitchFamily="18" charset="0"/>
                </a:rPr>
                <a:t>p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：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  <a:sym typeface="Symbol" panose="05050102010706020507" pitchFamily="18" charset="2"/>
                </a:rPr>
                <a:t>是素数，</a:t>
              </a:r>
              <a:r>
                <a:rPr lang="en-US" altLang="zh-CN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 Light"/>
                  <a:cs typeface="Times New Roman" panose="02020603050405020304" pitchFamily="18" charset="0"/>
                </a:rPr>
                <a:t>q</a:t>
              </a:r>
              <a:r>
                <a:rPr kumimoji="0" lang="zh-CN" altLang="en-US" sz="24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 Light"/>
                  <a:cs typeface="Times New Roman" panose="02020603050405020304" pitchFamily="18" charset="0"/>
                </a:rPr>
                <a:t>：</a:t>
              </a:r>
              <a:r>
                <a:rPr kumimoji="0" lang="en-US" altLang="zh-CN" sz="24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 Light"/>
                  <a:cs typeface="Times New Roman" panose="02020603050405020304" pitchFamily="18" charset="0"/>
                </a:rPr>
                <a:t>3</a:t>
              </a: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是偶数，</a:t>
              </a:r>
              <a:r>
                <a:rPr lang="en-US" altLang="zh-CN" sz="2400" dirty="0">
                  <a:latin typeface="黑体" panose="02010609060101010101" pitchFamily="49" charset="-122"/>
                  <a:ea typeface="黑体" panose="02010609060101010101" pitchFamily="49" charset="-122"/>
                  <a:sym typeface="Symbol" panose="05050102010706020507" pitchFamily="18" charset="2"/>
                </a:rPr>
                <a:t> 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 Light"/>
                  <a:cs typeface="Times New Roman" panose="02020603050405020304" pitchFamily="18" charset="0"/>
                </a:rPr>
                <a:t>r</a:t>
              </a:r>
              <a:r>
                <a:rPr kumimoji="0" lang="zh-CN" altLang="en-US" sz="24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 Light"/>
                  <a:cs typeface="Times New Roman" panose="02020603050405020304" pitchFamily="18" charset="0"/>
                </a:rPr>
                <a:t>：    </a:t>
              </a: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是无理数，则公式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 Light"/>
                  <a:cs typeface="Times New Roman" panose="02020603050405020304" pitchFamily="18" charset="0"/>
                </a:rPr>
                <a:t>p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</a:t>
              </a:r>
              <a:r>
                <a:rPr kumimoji="0" lang="en-US" altLang="zh-CN" sz="24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 Light"/>
                  <a:cs typeface="Times New Roman" panose="02020603050405020304" pitchFamily="18" charset="0"/>
                </a:rPr>
                <a:t> 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 Light"/>
                  <a:cs typeface="Times New Roman" panose="02020603050405020304" pitchFamily="18" charset="0"/>
                </a:rPr>
                <a:t>q</a:t>
              </a:r>
              <a:r>
                <a:rPr kumimoji="0" lang="en-US" altLang="zh-CN" sz="2400" b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 Light"/>
                  <a:cs typeface="Times New Roman" panose="02020603050405020304" pitchFamily="18" charset="0"/>
                </a:rPr>
                <a:t> )</a:t>
              </a: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 </a:t>
              </a:r>
              <a:r>
                <a:rPr lang="en-US" altLang="zh-CN" sz="2400" i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 Light"/>
                  <a:cs typeface="Times New Roman" panose="02020603050405020304" pitchFamily="18" charset="0"/>
                </a:rPr>
                <a:t>r</a:t>
              </a: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是真命题；</a:t>
              </a:r>
              <a:endPara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0" indent="0">
                <a:lnSpc>
                  <a:spcPct val="110000"/>
                </a:lnSpc>
                <a:spcBef>
                  <a:spcPct val="35000"/>
                </a:spcBef>
                <a:buNone/>
              </a:pPr>
              <a:endPara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endParaRPr>
            </a:p>
          </p:txBody>
        </p:sp>
        <p:graphicFrame>
          <p:nvGraphicFramePr>
            <p:cNvPr id="13" name="Object 4">
              <a:extLst>
                <a:ext uri="{FF2B5EF4-FFF2-40B4-BE49-F238E27FC236}">
                  <a16:creationId xmlns:a16="http://schemas.microsoft.com/office/drawing/2014/main" id="{5ED4D634-B18A-4C80-9672-6EA234F27D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5155425"/>
                </p:ext>
              </p:extLst>
            </p:nvPr>
          </p:nvGraphicFramePr>
          <p:xfrm>
            <a:off x="5362217" y="3623919"/>
            <a:ext cx="439270" cy="404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Microsoft 公式 3.0" r:id="rId3" imgW="241091" imgH="215713" progId="Equation.3">
                    <p:embed/>
                  </p:oleObj>
                </mc:Choice>
                <mc:Fallback>
                  <p:oleObj name="Microsoft 公式 3.0" r:id="rId3" imgW="241091" imgH="215713" progId="Equation.3">
                    <p:embed/>
                    <p:pic>
                      <p:nvPicPr>
                        <p:cNvPr id="13" name="Object 4">
                          <a:extLst>
                            <a:ext uri="{FF2B5EF4-FFF2-40B4-BE49-F238E27FC236}">
                              <a16:creationId xmlns:a16="http://schemas.microsoft.com/office/drawing/2014/main" id="{5ED4D634-B18A-4C80-9672-6EA234F27D9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2217" y="3623919"/>
                          <a:ext cx="439270" cy="4047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B29781C-62F7-443E-AE3A-261F7EEB93CF}"/>
              </a:ext>
            </a:extLst>
          </p:cNvPr>
          <p:cNvSpPr txBox="1"/>
          <p:nvPr/>
        </p:nvSpPr>
        <p:spPr>
          <a:xfrm>
            <a:off x="654611" y="4938912"/>
            <a:ext cx="10647681" cy="46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0000"/>
              </a:lnSpc>
              <a:spcBef>
                <a:spcPct val="350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下面的问题是，指定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p</a:t>
            </a:r>
            <a:r>
              <a:rPr kumimoji="0" lang="en-US" altLang="zh-CN" sz="2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,  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q</a:t>
            </a:r>
            <a:r>
              <a:rPr kumimoji="0" lang="en-US" altLang="zh-CN" sz="24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,  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r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的真值为何值时，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p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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q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 )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微软雅黑 Light"/>
                <a:cs typeface="Times New Roman" panose="02020603050405020304" pitchFamily="18" charset="0"/>
              </a:rPr>
              <a:t>r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的值为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？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697BE3D-404A-4C5E-B009-CD9B3F95C594}"/>
              </a:ext>
            </a:extLst>
          </p:cNvPr>
          <p:cNvSpPr txBox="1"/>
          <p:nvPr/>
        </p:nvSpPr>
        <p:spPr>
          <a:xfrm>
            <a:off x="411062" y="990600"/>
            <a:ext cx="18038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命题常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变项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D2EF1FB-B2DD-4FD5-80C4-A9608B502D1B}"/>
              </a:ext>
            </a:extLst>
          </p:cNvPr>
          <p:cNvSpPr txBox="1"/>
          <p:nvPr/>
        </p:nvSpPr>
        <p:spPr>
          <a:xfrm>
            <a:off x="2668696" y="984288"/>
            <a:ext cx="21245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命题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合式公式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3E37681-0F47-4E68-9ED7-785692EFAFF2}"/>
              </a:ext>
            </a:extLst>
          </p:cNvPr>
          <p:cNvSpPr txBox="1"/>
          <p:nvPr/>
        </p:nvSpPr>
        <p:spPr>
          <a:xfrm>
            <a:off x="4858981" y="977361"/>
            <a:ext cx="16874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公式的层次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A20A117-A5FD-4CF3-B8B3-6ACD5D571493}"/>
              </a:ext>
            </a:extLst>
          </p:cNvPr>
          <p:cNvSpPr txBox="1"/>
          <p:nvPr/>
        </p:nvSpPr>
        <p:spPr>
          <a:xfrm>
            <a:off x="6745358" y="973976"/>
            <a:ext cx="16874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公式的赋值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7ED1D7A-2C1F-4D28-A38B-297DAC7C4EC9}"/>
              </a:ext>
            </a:extLst>
          </p:cNvPr>
          <p:cNvSpPr txBox="1"/>
          <p:nvPr/>
        </p:nvSpPr>
        <p:spPr>
          <a:xfrm>
            <a:off x="8867554" y="977362"/>
            <a:ext cx="10011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真值表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B7DCDFA-1EB2-4664-B2CD-3E05DF9B35AE}"/>
              </a:ext>
            </a:extLst>
          </p:cNvPr>
          <p:cNvSpPr txBox="1"/>
          <p:nvPr/>
        </p:nvSpPr>
        <p:spPr>
          <a:xfrm>
            <a:off x="10137784" y="973976"/>
            <a:ext cx="16317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公式的分类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45806FF-054D-41A4-B9AC-7984F1EBDC92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16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458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B23E18C7-8966-454A-92FB-14739B9E6DB8}"/>
              </a:ext>
            </a:extLst>
          </p:cNvPr>
          <p:cNvSpPr txBox="1">
            <a:spLocks noChangeArrowheads="1"/>
          </p:cNvSpPr>
          <p:nvPr/>
        </p:nvSpPr>
        <p:spPr>
          <a:xfrm>
            <a:off x="477633" y="1658232"/>
            <a:ext cx="11473365" cy="23991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1.8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为公式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中的命题变项 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i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指定一组真值称为对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的一个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赋值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解释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99267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成真赋值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使公式为真的赋值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99267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成假赋值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使公式为假的赋值</a:t>
            </a:r>
          </a:p>
          <a:p>
            <a:pPr algn="just">
              <a:buFont typeface="Wingdings" panose="05000000000000000000" pitchFamily="2" charset="2"/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4" name="标题 449">
            <a:extLst>
              <a:ext uri="{FF2B5EF4-FFF2-40B4-BE49-F238E27FC236}">
                <a16:creationId xmlns:a16="http://schemas.microsoft.com/office/drawing/2014/main" id="{B96247E8-438F-4E7E-80A5-82EB0DB1CF0E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命题公式及分类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93DAE5F-3089-4332-913E-1E55CFF42880}"/>
              </a:ext>
            </a:extLst>
          </p:cNvPr>
          <p:cNvSpPr txBox="1">
            <a:spLocks noChangeArrowheads="1"/>
          </p:cNvSpPr>
          <p:nvPr/>
        </p:nvSpPr>
        <p:spPr>
          <a:xfrm>
            <a:off x="517418" y="4199750"/>
            <a:ext cx="10385996" cy="2607449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ct val="35000"/>
              </a:spcBef>
              <a:buNone/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例如：</a:t>
            </a:r>
          </a:p>
          <a:p>
            <a:pPr lvl="1">
              <a:lnSpc>
                <a:spcPct val="110000"/>
              </a:lnSpc>
              <a:spcBef>
                <a:spcPct val="35000"/>
              </a:spcBef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赋值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之间不加标点符号，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lvl="1">
              <a:lnSpc>
                <a:spcPct val="110000"/>
              </a:lnSpc>
              <a:spcBef>
                <a:spcPct val="35000"/>
              </a:spcBef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中仅出现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给</a:t>
            </a:r>
            <a:r>
              <a:rPr lang="en-US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赋值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是指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  <a:spcBef>
                <a:spcPct val="35000"/>
              </a:spcBef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中仅出现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给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赋值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是指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zh-CN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lvl="1">
              <a:lnSpc>
                <a:spcPct val="110000"/>
              </a:lnSpc>
              <a:spcBef>
                <a:spcPct val="35000"/>
              </a:spcBef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含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个变项的公式有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个赋值</a:t>
            </a:r>
          </a:p>
          <a:p>
            <a:pPr lvl="1">
              <a:lnSpc>
                <a:spcPct val="110000"/>
              </a:lnSpc>
              <a:spcBef>
                <a:spcPct val="35000"/>
              </a:spcBef>
            </a:pPr>
            <a:endParaRPr lang="zh-CN" altLang="en-US" sz="24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6A1D9BA-8781-449E-A5CC-F5D324B54CF5}"/>
              </a:ext>
            </a:extLst>
          </p:cNvPr>
          <p:cNvSpPr txBox="1"/>
          <p:nvPr/>
        </p:nvSpPr>
        <p:spPr>
          <a:xfrm>
            <a:off x="359980" y="990600"/>
            <a:ext cx="1854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命题常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变项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7E147AF-C32F-4332-A347-6AAF64A157C8}"/>
              </a:ext>
            </a:extLst>
          </p:cNvPr>
          <p:cNvSpPr txBox="1"/>
          <p:nvPr/>
        </p:nvSpPr>
        <p:spPr>
          <a:xfrm>
            <a:off x="2608531" y="984288"/>
            <a:ext cx="21846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命题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合式公式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F199B39-EE68-4EF2-8CB8-63BFB4E0DC98}"/>
              </a:ext>
            </a:extLst>
          </p:cNvPr>
          <p:cNvSpPr txBox="1"/>
          <p:nvPr/>
        </p:nvSpPr>
        <p:spPr>
          <a:xfrm>
            <a:off x="4811195" y="977361"/>
            <a:ext cx="17352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公式的层次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55CB337-8D2D-4BC6-9A9D-2C7EB2CDF7AE}"/>
              </a:ext>
            </a:extLst>
          </p:cNvPr>
          <p:cNvSpPr txBox="1"/>
          <p:nvPr/>
        </p:nvSpPr>
        <p:spPr>
          <a:xfrm>
            <a:off x="6697572" y="973976"/>
            <a:ext cx="17352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公式的赋值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D75CB5-5ED7-4EA8-8824-4A0BF1C2D69C}"/>
              </a:ext>
            </a:extLst>
          </p:cNvPr>
          <p:cNvSpPr txBox="1"/>
          <p:nvPr/>
        </p:nvSpPr>
        <p:spPr>
          <a:xfrm>
            <a:off x="8839200" y="977362"/>
            <a:ext cx="1029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真值表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21D24F1-F200-40EC-AD8E-0F802B3F48F5}"/>
              </a:ext>
            </a:extLst>
          </p:cNvPr>
          <p:cNvSpPr txBox="1"/>
          <p:nvPr/>
        </p:nvSpPr>
        <p:spPr>
          <a:xfrm>
            <a:off x="10091573" y="973976"/>
            <a:ext cx="16780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公式的分类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80AEE4C-5A12-489B-BFE1-DC172B2DB1A5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17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3890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41952BA4-9F7B-4272-9BB0-661B30E3A2FB}"/>
              </a:ext>
            </a:extLst>
          </p:cNvPr>
          <p:cNvSpPr txBox="1">
            <a:spLocks noChangeArrowheads="1"/>
          </p:cNvSpPr>
          <p:nvPr/>
        </p:nvSpPr>
        <p:spPr>
          <a:xfrm>
            <a:off x="361422" y="1828270"/>
            <a:ext cx="10191432" cy="6169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真值表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公式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在所有赋值下的取值情况列成的表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5" name="标题 449">
            <a:extLst>
              <a:ext uri="{FF2B5EF4-FFF2-40B4-BE49-F238E27FC236}">
                <a16:creationId xmlns:a16="http://schemas.microsoft.com/office/drawing/2014/main" id="{56B3CEAD-E087-45C5-B786-877C74A8B00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命题公式及分类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A7ADF0E-F502-4E2E-B8A8-C2CCC617D394}"/>
              </a:ext>
            </a:extLst>
          </p:cNvPr>
          <p:cNvSpPr txBox="1">
            <a:spLocks noChangeArrowheads="1"/>
          </p:cNvSpPr>
          <p:nvPr/>
        </p:nvSpPr>
        <p:spPr>
          <a:xfrm>
            <a:off x="614468" y="2580638"/>
            <a:ext cx="11251792" cy="35424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构造真值表的步骤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 marL="514350" indent="-514350">
              <a:lnSpc>
                <a:spcPct val="120000"/>
              </a:lnSpc>
              <a:buAutoNum type="arabicParenBoth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找出公式中所含的全部命题变项</a:t>
            </a:r>
            <a:r>
              <a:rPr lang="en-US" altLang="zh-CN" sz="27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700" b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7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7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700" b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7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… , </a:t>
            </a:r>
            <a:r>
              <a:rPr lang="en-US" altLang="zh-CN" sz="27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700" b="1" i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若无下角标则按字母顺序排列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),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列出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i="1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个全部赋值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从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00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0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开始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按二进制加法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每次加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1,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直至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111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为止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(2)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按从低到高的顺序写出公式的各个层次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20000"/>
              </a:lnSpc>
              <a:spcBef>
                <a:spcPts val="1800"/>
              </a:spcBef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(3)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对每个赋值依次计算各层次的真值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直到最后计算出公式的真值为止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928F63-A876-4D30-BEC5-DA2FE372BBC0}"/>
              </a:ext>
            </a:extLst>
          </p:cNvPr>
          <p:cNvSpPr txBox="1"/>
          <p:nvPr/>
        </p:nvSpPr>
        <p:spPr>
          <a:xfrm>
            <a:off x="568036" y="990600"/>
            <a:ext cx="1646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命题常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变项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DAC712-81A8-48DB-9488-637A7D8E1F86}"/>
              </a:ext>
            </a:extLst>
          </p:cNvPr>
          <p:cNvSpPr txBox="1"/>
          <p:nvPr/>
        </p:nvSpPr>
        <p:spPr>
          <a:xfrm>
            <a:off x="2697792" y="984288"/>
            <a:ext cx="1939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命题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合式公式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2DACB4D-E2E8-4369-AB59-8712ED0D6E8A}"/>
              </a:ext>
            </a:extLst>
          </p:cNvPr>
          <p:cNvSpPr txBox="1"/>
          <p:nvPr/>
        </p:nvSpPr>
        <p:spPr>
          <a:xfrm>
            <a:off x="4897454" y="977361"/>
            <a:ext cx="1540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公式的层次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73764DE-9807-4283-827F-8B8617526431}"/>
              </a:ext>
            </a:extLst>
          </p:cNvPr>
          <p:cNvSpPr txBox="1"/>
          <p:nvPr/>
        </p:nvSpPr>
        <p:spPr>
          <a:xfrm>
            <a:off x="6736418" y="973976"/>
            <a:ext cx="1540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公式的赋值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ECF9115-C1C4-46B5-94EF-08EB823089FC}"/>
              </a:ext>
            </a:extLst>
          </p:cNvPr>
          <p:cNvSpPr txBox="1"/>
          <p:nvPr/>
        </p:nvSpPr>
        <p:spPr>
          <a:xfrm>
            <a:off x="8751481" y="977362"/>
            <a:ext cx="10156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真值表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47B742-DE7F-4158-9F78-C888B40BBF50}"/>
              </a:ext>
            </a:extLst>
          </p:cNvPr>
          <p:cNvSpPr txBox="1"/>
          <p:nvPr/>
        </p:nvSpPr>
        <p:spPr>
          <a:xfrm>
            <a:off x="10279788" y="973976"/>
            <a:ext cx="14897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公式的分类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C77CFB3-2C11-439C-9BE4-BF3B9EB45C5D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18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29835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49">
            <a:extLst>
              <a:ext uri="{FF2B5EF4-FFF2-40B4-BE49-F238E27FC236}">
                <a16:creationId xmlns:a16="http://schemas.microsoft.com/office/drawing/2014/main" id="{56B3CEAD-E087-45C5-B786-877C74A8B00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命题公式及分类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B0317A-10B7-4268-96C8-96478AB2BDDB}"/>
              </a:ext>
            </a:extLst>
          </p:cNvPr>
          <p:cNvSpPr txBox="1">
            <a:spLocks noChangeArrowheads="1"/>
          </p:cNvSpPr>
          <p:nvPr/>
        </p:nvSpPr>
        <p:spPr>
          <a:xfrm>
            <a:off x="485775" y="1638618"/>
            <a:ext cx="11130492" cy="10842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例：写出下列公式的真值表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并求它们的成真赋值和成假赋值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2600" dirty="0">
                <a:latin typeface="Times New Roman" panose="02020603050405020304" pitchFamily="18" charset="0"/>
              </a:rPr>
              <a:t>   </a:t>
            </a:r>
            <a:r>
              <a:rPr lang="en-US" altLang="zh-CN" sz="2600" b="1" dirty="0">
                <a:latin typeface="Times New Roman" panose="02020603050405020304" pitchFamily="18" charset="0"/>
              </a:rPr>
              <a:t> (1) (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</a:rPr>
              <a:t>)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r</a:t>
            </a:r>
          </a:p>
        </p:txBody>
      </p:sp>
      <p:graphicFrame>
        <p:nvGraphicFramePr>
          <p:cNvPr id="8" name="Group 193">
            <a:extLst>
              <a:ext uri="{FF2B5EF4-FFF2-40B4-BE49-F238E27FC236}">
                <a16:creationId xmlns:a16="http://schemas.microsoft.com/office/drawing/2014/main" id="{4AE6FFDD-9F56-4FAC-9DF7-E10E9F964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515445"/>
              </p:ext>
            </p:extLst>
          </p:nvPr>
        </p:nvGraphicFramePr>
        <p:xfrm>
          <a:off x="1074530" y="2717233"/>
          <a:ext cx="6408737" cy="4039172"/>
        </p:xfrm>
        <a:graphic>
          <a:graphicData uri="http://schemas.openxmlformats.org/drawingml/2006/table">
            <a:tbl>
              <a:tblPr/>
              <a:tblGrid>
                <a:gridCol w="1601787">
                  <a:extLst>
                    <a:ext uri="{9D8B030D-6E8A-4147-A177-3AD203B41FA5}">
                      <a16:colId xmlns:a16="http://schemas.microsoft.com/office/drawing/2014/main" val="3331998664"/>
                    </a:ext>
                  </a:extLst>
                </a:gridCol>
                <a:gridCol w="1604963">
                  <a:extLst>
                    <a:ext uri="{9D8B030D-6E8A-4147-A177-3AD203B41FA5}">
                      <a16:colId xmlns:a16="http://schemas.microsoft.com/office/drawing/2014/main" val="2275480034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1675278038"/>
                    </a:ext>
                  </a:extLst>
                </a:gridCol>
                <a:gridCol w="1935162">
                  <a:extLst>
                    <a:ext uri="{9D8B030D-6E8A-4147-A177-3AD203B41FA5}">
                      <a16:colId xmlns:a16="http://schemas.microsoft.com/office/drawing/2014/main" val="4070648052"/>
                    </a:ext>
                  </a:extLst>
                </a:gridCol>
              </a:tblGrid>
              <a:tr h="509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   q   r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)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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947831"/>
                  </a:ext>
                </a:extLst>
              </a:tr>
              <a:tr h="3451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0   0   0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0   0   1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0   1   0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0   1   1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1   0   0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1   0   1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1   1   0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1   1   1 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78336"/>
                  </a:ext>
                </a:extLst>
              </a:tr>
            </a:tbl>
          </a:graphicData>
        </a:graphic>
      </p:graphicFrame>
      <p:sp>
        <p:nvSpPr>
          <p:cNvPr id="9" name="Rectangle 83">
            <a:extLst>
              <a:ext uri="{FF2B5EF4-FFF2-40B4-BE49-F238E27FC236}">
                <a16:creationId xmlns:a16="http://schemas.microsoft.com/office/drawing/2014/main" id="{A17F6B6C-1FED-43CA-BA34-FF3CCA0B0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3267" y="4185084"/>
            <a:ext cx="4842992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成真赋值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:000,001,010,100,110; </a:t>
            </a:r>
          </a:p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成假赋值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:011,101,111</a:t>
            </a:r>
          </a:p>
          <a:p>
            <a:pPr>
              <a:spcBef>
                <a:spcPts val="1200"/>
              </a:spcBef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可满足式</a:t>
            </a:r>
            <a:r>
              <a:rPr lang="en-US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4837CD-E8AD-41BB-8886-BB0E809C23CD}"/>
              </a:ext>
            </a:extLst>
          </p:cNvPr>
          <p:cNvSpPr txBox="1"/>
          <p:nvPr/>
        </p:nvSpPr>
        <p:spPr>
          <a:xfrm>
            <a:off x="568036" y="990600"/>
            <a:ext cx="1646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命题常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变项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FD42962-F91B-4D6E-B1DB-80A9143B3912}"/>
              </a:ext>
            </a:extLst>
          </p:cNvPr>
          <p:cNvSpPr txBox="1"/>
          <p:nvPr/>
        </p:nvSpPr>
        <p:spPr>
          <a:xfrm>
            <a:off x="2697792" y="984288"/>
            <a:ext cx="1939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命题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合式公式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38A380D-013A-4441-BFB0-77F6BCD303DF}"/>
              </a:ext>
            </a:extLst>
          </p:cNvPr>
          <p:cNvSpPr txBox="1"/>
          <p:nvPr/>
        </p:nvSpPr>
        <p:spPr>
          <a:xfrm>
            <a:off x="4897454" y="977361"/>
            <a:ext cx="1540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公式的层次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6725BFF-ACCA-4ACD-8775-A19AA0EE3B5A}"/>
              </a:ext>
            </a:extLst>
          </p:cNvPr>
          <p:cNvSpPr txBox="1"/>
          <p:nvPr/>
        </p:nvSpPr>
        <p:spPr>
          <a:xfrm>
            <a:off x="6736418" y="973976"/>
            <a:ext cx="1540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公式的赋值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AE407DB-445C-4C25-81DF-4204175C5091}"/>
              </a:ext>
            </a:extLst>
          </p:cNvPr>
          <p:cNvSpPr txBox="1"/>
          <p:nvPr/>
        </p:nvSpPr>
        <p:spPr>
          <a:xfrm>
            <a:off x="8751481" y="977362"/>
            <a:ext cx="10156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真值表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3670572-3754-4333-9C62-837D23E46098}"/>
              </a:ext>
            </a:extLst>
          </p:cNvPr>
          <p:cNvSpPr txBox="1"/>
          <p:nvPr/>
        </p:nvSpPr>
        <p:spPr>
          <a:xfrm>
            <a:off x="10279788" y="973976"/>
            <a:ext cx="14897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公式的分类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F6CACBA-32E4-4B20-9C8B-CE56296CF808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19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5774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49">
            <a:extLst>
              <a:ext uri="{FF2B5EF4-FFF2-40B4-BE49-F238E27FC236}">
                <a16:creationId xmlns:a16="http://schemas.microsoft.com/office/drawing/2014/main" id="{56B3CEAD-E087-45C5-B786-877C74A8B00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命题公式及分类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B0317A-10B7-4268-96C8-96478AB2BDDB}"/>
              </a:ext>
            </a:extLst>
          </p:cNvPr>
          <p:cNvSpPr txBox="1">
            <a:spLocks noChangeArrowheads="1"/>
          </p:cNvSpPr>
          <p:nvPr/>
        </p:nvSpPr>
        <p:spPr>
          <a:xfrm>
            <a:off x="485775" y="1814721"/>
            <a:ext cx="11130492" cy="25193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例：写出下列公式的真值表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并求它们的成真赋值和成假赋值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2600" dirty="0">
                <a:latin typeface="Times New Roman" panose="02020603050405020304" pitchFamily="18" charset="0"/>
              </a:rPr>
              <a:t>    </a:t>
            </a:r>
            <a:r>
              <a:rPr lang="en-US" altLang="zh-CN" sz="2600" b="1" dirty="0">
                <a:latin typeface="Times New Roman" panose="02020603050405020304" pitchFamily="18" charset="0"/>
              </a:rPr>
              <a:t>(2) (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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endParaRPr lang="en-US" altLang="zh-CN" sz="2600" b="1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</a:t>
            </a:r>
            <a:endParaRPr lang="en-US" altLang="zh-CN" i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9" name="Group 97">
            <a:extLst>
              <a:ext uri="{FF2B5EF4-FFF2-40B4-BE49-F238E27FC236}">
                <a16:creationId xmlns:a16="http://schemas.microsoft.com/office/drawing/2014/main" id="{72115F3A-292E-4F97-A600-54E66CDBF4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710076"/>
              </p:ext>
            </p:extLst>
          </p:nvPr>
        </p:nvGraphicFramePr>
        <p:xfrm>
          <a:off x="2133495" y="3173622"/>
          <a:ext cx="7561262" cy="2316480"/>
        </p:xfrm>
        <a:graphic>
          <a:graphicData uri="http://schemas.openxmlformats.org/drawingml/2006/table">
            <a:tbl>
              <a:tblPr/>
              <a:tblGrid>
                <a:gridCol w="1584325">
                  <a:extLst>
                    <a:ext uri="{9D8B030D-6E8A-4147-A177-3AD203B41FA5}">
                      <a16:colId xmlns:a16="http://schemas.microsoft.com/office/drawing/2014/main" val="1346635490"/>
                    </a:ext>
                  </a:extLst>
                </a:gridCol>
                <a:gridCol w="1628775">
                  <a:extLst>
                    <a:ext uri="{9D8B030D-6E8A-4147-A177-3AD203B41FA5}">
                      <a16:colId xmlns:a16="http://schemas.microsoft.com/office/drawing/2014/main" val="369548174"/>
                    </a:ext>
                  </a:extLst>
                </a:gridCol>
                <a:gridCol w="2027237">
                  <a:extLst>
                    <a:ext uri="{9D8B030D-6E8A-4147-A177-3AD203B41FA5}">
                      <a16:colId xmlns:a16="http://schemas.microsoft.com/office/drawing/2014/main" val="1939823677"/>
                    </a:ext>
                  </a:extLst>
                </a:gridCol>
                <a:gridCol w="2320925">
                  <a:extLst>
                    <a:ext uri="{9D8B030D-6E8A-4147-A177-3AD203B41FA5}">
                      <a16:colId xmlns:a16="http://schemas.microsoft.com/office/drawing/2014/main" val="3037804205"/>
                    </a:ext>
                  </a:extLst>
                </a:gridCol>
              </a:tblGrid>
              <a:tr h="479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  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)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)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556034"/>
                  </a:ext>
                </a:extLst>
              </a:tr>
              <a:tr h="1668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0   0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0   1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1   0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1   1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7225118"/>
                  </a:ext>
                </a:extLst>
              </a:tr>
            </a:tbl>
          </a:graphicData>
        </a:graphic>
      </p:graphicFrame>
      <p:sp>
        <p:nvSpPr>
          <p:cNvPr id="10" name="Rectangle 7">
            <a:extLst>
              <a:ext uri="{FF2B5EF4-FFF2-40B4-BE49-F238E27FC236}">
                <a16:creationId xmlns:a16="http://schemas.microsoft.com/office/drawing/2014/main" id="{E913B2D3-DEDF-4504-B7D1-3AD35C4D8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495" y="5683291"/>
            <a:ext cx="514596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成真赋值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:00,01,10,11;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无成假赋值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重言式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73A747E-0CCF-4E84-AC22-4FD7F35B8A51}"/>
              </a:ext>
            </a:extLst>
          </p:cNvPr>
          <p:cNvSpPr txBox="1"/>
          <p:nvPr/>
        </p:nvSpPr>
        <p:spPr>
          <a:xfrm>
            <a:off x="568036" y="990600"/>
            <a:ext cx="1646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命题常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变项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D94A77B-F118-40C8-887D-165BC8BF91FE}"/>
              </a:ext>
            </a:extLst>
          </p:cNvPr>
          <p:cNvSpPr txBox="1"/>
          <p:nvPr/>
        </p:nvSpPr>
        <p:spPr>
          <a:xfrm>
            <a:off x="2697792" y="984288"/>
            <a:ext cx="1939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命题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合式公式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0307042-37D7-4033-A947-584441980FB6}"/>
              </a:ext>
            </a:extLst>
          </p:cNvPr>
          <p:cNvSpPr txBox="1"/>
          <p:nvPr/>
        </p:nvSpPr>
        <p:spPr>
          <a:xfrm>
            <a:off x="4897454" y="977361"/>
            <a:ext cx="1540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公式的层次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B97FA0E-C296-418C-8231-5E30B72F4734}"/>
              </a:ext>
            </a:extLst>
          </p:cNvPr>
          <p:cNvSpPr txBox="1"/>
          <p:nvPr/>
        </p:nvSpPr>
        <p:spPr>
          <a:xfrm>
            <a:off x="6736418" y="973976"/>
            <a:ext cx="1540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公式的赋值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CE2260B-DD73-4974-BBCF-25AB21EA397A}"/>
              </a:ext>
            </a:extLst>
          </p:cNvPr>
          <p:cNvSpPr txBox="1"/>
          <p:nvPr/>
        </p:nvSpPr>
        <p:spPr>
          <a:xfrm>
            <a:off x="8751481" y="977362"/>
            <a:ext cx="10156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真值表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D818845-9B61-4FEC-A1F9-C854C844A0A0}"/>
              </a:ext>
            </a:extLst>
          </p:cNvPr>
          <p:cNvSpPr txBox="1"/>
          <p:nvPr/>
        </p:nvSpPr>
        <p:spPr>
          <a:xfrm>
            <a:off x="10279788" y="973976"/>
            <a:ext cx="14897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公式的分类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68AC4D7-85E8-4490-B258-B5603C492BD3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2288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49">
            <a:extLst>
              <a:ext uri="{FF2B5EF4-FFF2-40B4-BE49-F238E27FC236}">
                <a16:creationId xmlns:a16="http://schemas.microsoft.com/office/drawing/2014/main" id="{56B3CEAD-E087-45C5-B786-877C74A8B00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命题公式及分类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1B0317A-10B7-4268-96C8-96478AB2BDDB}"/>
              </a:ext>
            </a:extLst>
          </p:cNvPr>
          <p:cNvSpPr txBox="1">
            <a:spLocks noChangeArrowheads="1"/>
          </p:cNvSpPr>
          <p:nvPr/>
        </p:nvSpPr>
        <p:spPr>
          <a:xfrm>
            <a:off x="485775" y="1740214"/>
            <a:ext cx="11130492" cy="14974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例：写出下列公式的真值表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并求它们的成真赋值和成假赋值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2600" b="1" dirty="0">
                <a:latin typeface="Times New Roman" panose="02020603050405020304" pitchFamily="18" charset="0"/>
              </a:rPr>
              <a:t>        (3)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600" b="1" dirty="0">
                <a:latin typeface="Times New Roman" panose="02020603050405020304" pitchFamily="18" charset="0"/>
              </a:rPr>
              <a:t> (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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q</a:t>
            </a:r>
          </a:p>
        </p:txBody>
      </p:sp>
      <p:graphicFrame>
        <p:nvGraphicFramePr>
          <p:cNvPr id="7" name="Group 86">
            <a:extLst>
              <a:ext uri="{FF2B5EF4-FFF2-40B4-BE49-F238E27FC236}">
                <a16:creationId xmlns:a16="http://schemas.microsoft.com/office/drawing/2014/main" id="{873AD151-C6A9-4BA8-8804-03EBBD10AA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634163"/>
              </p:ext>
            </p:extLst>
          </p:nvPr>
        </p:nvGraphicFramePr>
        <p:xfrm>
          <a:off x="2038033" y="2892210"/>
          <a:ext cx="7488237" cy="2447926"/>
        </p:xfrm>
        <a:graphic>
          <a:graphicData uri="http://schemas.openxmlformats.org/drawingml/2006/table">
            <a:tbl>
              <a:tblPr/>
              <a:tblGrid>
                <a:gridCol w="1284287">
                  <a:extLst>
                    <a:ext uri="{9D8B030D-6E8A-4147-A177-3AD203B41FA5}">
                      <a16:colId xmlns:a16="http://schemas.microsoft.com/office/drawing/2014/main" val="2841495813"/>
                    </a:ext>
                  </a:extLst>
                </a:gridCol>
                <a:gridCol w="1036638">
                  <a:extLst>
                    <a:ext uri="{9D8B030D-6E8A-4147-A177-3AD203B41FA5}">
                      <a16:colId xmlns:a16="http://schemas.microsoft.com/office/drawing/2014/main" val="3544983173"/>
                    </a:ext>
                  </a:extLst>
                </a:gridCol>
                <a:gridCol w="1116012">
                  <a:extLst>
                    <a:ext uri="{9D8B030D-6E8A-4147-A177-3AD203B41FA5}">
                      <a16:colId xmlns:a16="http://schemas.microsoft.com/office/drawing/2014/main" val="364594270"/>
                    </a:ext>
                  </a:extLst>
                </a:gridCol>
                <a:gridCol w="1787525">
                  <a:extLst>
                    <a:ext uri="{9D8B030D-6E8A-4147-A177-3AD203B41FA5}">
                      <a16:colId xmlns:a16="http://schemas.microsoft.com/office/drawing/2014/main" val="580938206"/>
                    </a:ext>
                  </a:extLst>
                </a:gridCol>
                <a:gridCol w="2263775">
                  <a:extLst>
                    <a:ext uri="{9D8B030D-6E8A-4147-A177-3AD203B41FA5}">
                      <a16:colId xmlns:a16="http://schemas.microsoft.com/office/drawing/2014/main" val="2113862975"/>
                    </a:ext>
                  </a:extLst>
                </a:gridCol>
              </a:tblGrid>
              <a:tr h="557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   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)</a:t>
                      </a: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927026"/>
                  </a:ext>
                </a:extLst>
              </a:tr>
              <a:tr h="1890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0   0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0   1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1   0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1   1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FF9900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174312"/>
                  </a:ext>
                </a:extLst>
              </a:tr>
            </a:tbl>
          </a:graphicData>
        </a:graphic>
      </p:graphicFrame>
      <p:sp>
        <p:nvSpPr>
          <p:cNvPr id="9" name="Rectangle 6">
            <a:extLst>
              <a:ext uri="{FF2B5EF4-FFF2-40B4-BE49-F238E27FC236}">
                <a16:creationId xmlns:a16="http://schemas.microsoft.com/office/drawing/2014/main" id="{98F466BA-CC07-499A-844F-26823241B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8033" y="5601309"/>
            <a:ext cx="514596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成假赋值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:00,01,10,11;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无成真赋值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矛盾式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008E120-6045-46A4-B323-A21A4B271CC1}"/>
              </a:ext>
            </a:extLst>
          </p:cNvPr>
          <p:cNvSpPr txBox="1"/>
          <p:nvPr/>
        </p:nvSpPr>
        <p:spPr>
          <a:xfrm>
            <a:off x="568036" y="990600"/>
            <a:ext cx="1646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命题常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变项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2C97280-2753-45B4-8090-E601BFA3D414}"/>
              </a:ext>
            </a:extLst>
          </p:cNvPr>
          <p:cNvSpPr txBox="1"/>
          <p:nvPr/>
        </p:nvSpPr>
        <p:spPr>
          <a:xfrm>
            <a:off x="2697792" y="984288"/>
            <a:ext cx="1939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命题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合式公式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D323A07-E363-4081-8E59-8D8E6C12F2D6}"/>
              </a:ext>
            </a:extLst>
          </p:cNvPr>
          <p:cNvSpPr txBox="1"/>
          <p:nvPr/>
        </p:nvSpPr>
        <p:spPr>
          <a:xfrm>
            <a:off x="4897454" y="977361"/>
            <a:ext cx="1540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公式的层次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C91FC45-F04B-4663-A9DA-145619C7B941}"/>
              </a:ext>
            </a:extLst>
          </p:cNvPr>
          <p:cNvSpPr txBox="1"/>
          <p:nvPr/>
        </p:nvSpPr>
        <p:spPr>
          <a:xfrm>
            <a:off x="6736418" y="973976"/>
            <a:ext cx="1540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公式的赋值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81DF817-5E58-4C90-904B-0345D507B3F0}"/>
              </a:ext>
            </a:extLst>
          </p:cNvPr>
          <p:cNvSpPr txBox="1"/>
          <p:nvPr/>
        </p:nvSpPr>
        <p:spPr>
          <a:xfrm>
            <a:off x="8751481" y="977362"/>
            <a:ext cx="10156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真值表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C8F3FF3-E176-4D5B-9560-138CFCB614B8}"/>
              </a:ext>
            </a:extLst>
          </p:cNvPr>
          <p:cNvSpPr txBox="1"/>
          <p:nvPr/>
        </p:nvSpPr>
        <p:spPr>
          <a:xfrm>
            <a:off x="10279788" y="973976"/>
            <a:ext cx="14897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公式的分类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C439FAF-0B9D-4FAF-BA95-6A1560C20927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21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6410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2CFB29E7-D54C-4BEC-8CCD-92526A2723CB}"/>
              </a:ext>
            </a:extLst>
          </p:cNvPr>
          <p:cNvSpPr txBox="1">
            <a:spLocks noChangeArrowheads="1"/>
          </p:cNvSpPr>
          <p:nvPr/>
        </p:nvSpPr>
        <p:spPr>
          <a:xfrm>
            <a:off x="587163" y="1767870"/>
            <a:ext cx="9965689" cy="27178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定义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1.9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公式的类型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为一个命题公式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无成假赋值，则称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重言式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也称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永真式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(2)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无成真赋值，则称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矛盾式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也称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永假式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(3)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不是矛盾式，则称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可满足式</a:t>
            </a:r>
          </a:p>
          <a:p>
            <a:pPr algn="just">
              <a:buFont typeface="Wingdings" panose="05000000000000000000" pitchFamily="2" charset="2"/>
              <a:buNone/>
            </a:pP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标题 449">
            <a:extLst>
              <a:ext uri="{FF2B5EF4-FFF2-40B4-BE49-F238E27FC236}">
                <a16:creationId xmlns:a16="http://schemas.microsoft.com/office/drawing/2014/main" id="{9E4D8FBA-3F74-41FC-B6A1-047CF1507AB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命题公式及分类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1736055-F010-427B-895A-7B785E277CED}"/>
              </a:ext>
            </a:extLst>
          </p:cNvPr>
          <p:cNvSpPr txBox="1">
            <a:spLocks noChangeArrowheads="1"/>
          </p:cNvSpPr>
          <p:nvPr/>
        </p:nvSpPr>
        <p:spPr>
          <a:xfrm>
            <a:off x="485775" y="4448276"/>
            <a:ext cx="10385996" cy="237777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重言式是可满足式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但反之不真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前述三个例子分别为可满足式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重言式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矛盾式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真值表的用途：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65760" lvl="1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求出公式的全部成真赋值与成假赋值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判断公式的类型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7E3670-6857-416A-BEAC-8CEC3A77FC29}"/>
              </a:ext>
            </a:extLst>
          </p:cNvPr>
          <p:cNvSpPr txBox="1"/>
          <p:nvPr/>
        </p:nvSpPr>
        <p:spPr>
          <a:xfrm>
            <a:off x="568036" y="990600"/>
            <a:ext cx="1646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命题常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变项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0023E91-E4CF-44D5-BB49-3F02A2CCEB4A}"/>
              </a:ext>
            </a:extLst>
          </p:cNvPr>
          <p:cNvSpPr txBox="1"/>
          <p:nvPr/>
        </p:nvSpPr>
        <p:spPr>
          <a:xfrm>
            <a:off x="2697792" y="984288"/>
            <a:ext cx="1939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命题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合式公式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A73EA0-B985-48D2-9956-7CBF448F17AC}"/>
              </a:ext>
            </a:extLst>
          </p:cNvPr>
          <p:cNvSpPr txBox="1"/>
          <p:nvPr/>
        </p:nvSpPr>
        <p:spPr>
          <a:xfrm>
            <a:off x="4897454" y="977361"/>
            <a:ext cx="1540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公式的层次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323C440-0C58-4FA7-9151-B5D5D412FBD8}"/>
              </a:ext>
            </a:extLst>
          </p:cNvPr>
          <p:cNvSpPr txBox="1"/>
          <p:nvPr/>
        </p:nvSpPr>
        <p:spPr>
          <a:xfrm>
            <a:off x="6736418" y="973976"/>
            <a:ext cx="15405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公式的赋值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9E5B0D8-8D5D-410A-86DD-CA68B94B377D}"/>
              </a:ext>
            </a:extLst>
          </p:cNvPr>
          <p:cNvSpPr txBox="1"/>
          <p:nvPr/>
        </p:nvSpPr>
        <p:spPr>
          <a:xfrm>
            <a:off x="8751481" y="977362"/>
            <a:ext cx="10156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真值表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DA6C81B-D5A0-4B59-A9E9-5CC69906E13D}"/>
              </a:ext>
            </a:extLst>
          </p:cNvPr>
          <p:cNvSpPr txBox="1"/>
          <p:nvPr/>
        </p:nvSpPr>
        <p:spPr>
          <a:xfrm>
            <a:off x="10279788" y="973976"/>
            <a:ext cx="14897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公式的分类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6ECBE1D-B13C-4C3F-A9B5-EB851E2B6A7F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22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0405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2CFB29E7-D54C-4BEC-8CCD-92526A2723CB}"/>
              </a:ext>
            </a:extLst>
          </p:cNvPr>
          <p:cNvSpPr txBox="1">
            <a:spLocks noChangeArrowheads="1"/>
          </p:cNvSpPr>
          <p:nvPr/>
        </p:nvSpPr>
        <p:spPr>
          <a:xfrm>
            <a:off x="587163" y="1169434"/>
            <a:ext cx="9965689" cy="4823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真值函数</a:t>
            </a:r>
          </a:p>
          <a:p>
            <a:pPr algn="just">
              <a:buFont typeface="Wingdings" panose="05000000000000000000" pitchFamily="2" charset="2"/>
              <a:buNone/>
            </a:pP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标题 449">
            <a:extLst>
              <a:ext uri="{FF2B5EF4-FFF2-40B4-BE49-F238E27FC236}">
                <a16:creationId xmlns:a16="http://schemas.microsoft.com/office/drawing/2014/main" id="{9E4D8FBA-3F74-41FC-B6A1-047CF1507AB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命题公式及分类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F215004-9CEF-439B-9F25-ED70F6AC5B1C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23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934890A6-2B87-46BC-A487-AA8BB8186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742" y="1968061"/>
            <a:ext cx="11341551" cy="275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90000"/>
              </a:lnSpc>
              <a:spcAft>
                <a:spcPct val="0"/>
              </a:spcAft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问题：含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个命题变项的所有公式共产生多少个互不相同的真值表？</a:t>
            </a:r>
          </a:p>
          <a:p>
            <a:pPr algn="just" fontAlgn="base">
              <a:lnSpc>
                <a:spcPct val="90000"/>
              </a:lnSpc>
              <a:spcAft>
                <a:spcPct val="0"/>
              </a:spcAft>
              <a:buClr>
                <a:srgbClr val="00007D"/>
              </a:buClr>
              <a:buFont typeface="Wingdings" panose="05000000000000000000" pitchFamily="2" charset="2"/>
              <a:buNone/>
            </a:pPr>
            <a:endParaRPr lang="zh-CN" altLang="en-US" sz="2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fontAlgn="base">
              <a:lnSpc>
                <a:spcPct val="90000"/>
              </a:lnSpc>
              <a:spcAft>
                <a:spcPct val="0"/>
              </a:spcAft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en-US" altLang="zh-CN" sz="26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 fontAlgn="base">
              <a:lnSpc>
                <a:spcPct val="90000"/>
              </a:lnSpc>
              <a:spcAft>
                <a:spcPct val="0"/>
              </a:spcAft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称定义域为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{00</a:t>
            </a:r>
            <a:r>
              <a:rPr lang="en-US" altLang="zh-CN" sz="2800" b="1" dirty="0">
                <a:solidFill>
                  <a:srgbClr val="000000"/>
                </a:solidFill>
                <a:cs typeface="Times New Roman" panose="02020603050405020304" pitchFamily="18" charset="0"/>
              </a:rPr>
              <a:t>…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0, 00</a:t>
            </a:r>
            <a:r>
              <a:rPr lang="en-US" altLang="zh-CN" sz="2800" b="1" dirty="0">
                <a:solidFill>
                  <a:srgbClr val="000000"/>
                </a:solidFill>
                <a:cs typeface="Times New Roman" panose="02020603050405020304" pitchFamily="18" charset="0"/>
              </a:rPr>
              <a:t>…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lang="en-US" altLang="zh-CN" sz="2800" b="1" dirty="0">
                <a:solidFill>
                  <a:srgbClr val="000000"/>
                </a:solidFill>
                <a:cs typeface="Times New Roman" panose="02020603050405020304" pitchFamily="18" charset="0"/>
              </a:rPr>
              <a:t>…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11</a:t>
            </a:r>
            <a:r>
              <a:rPr lang="en-US" altLang="zh-CN" sz="2800" b="1" dirty="0">
                <a:solidFill>
                  <a:srgbClr val="000000"/>
                </a:solidFill>
                <a:cs typeface="Times New Roman" panose="02020603050405020304" pitchFamily="18" charset="0"/>
              </a:rPr>
              <a:t>…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1}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值域为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{0,1}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的函数是</a:t>
            </a:r>
            <a:r>
              <a:rPr lang="en-US" altLang="zh-CN" sz="24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6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元真值函数</a:t>
            </a:r>
            <a:endParaRPr lang="en-US" altLang="zh-CN" sz="26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fontAlgn="base">
              <a:lnSpc>
                <a:spcPct val="90000"/>
              </a:lnSpc>
              <a:spcAft>
                <a:spcPct val="0"/>
              </a:spcAft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定义域中的元素是长为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0,1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串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 fontAlgn="base">
              <a:lnSpc>
                <a:spcPct val="90000"/>
              </a:lnSpc>
              <a:spcAft>
                <a:spcPct val="0"/>
              </a:spcAft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常用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:{0,1}</a:t>
            </a:r>
            <a:r>
              <a:rPr lang="en-US" altLang="zh-CN" sz="2600" b="1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{0,1} 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元真值函数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0253B8C-F317-47AA-9403-E67980F26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742" y="4988541"/>
            <a:ext cx="10993489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90000"/>
              </a:lnSpc>
              <a:spcAft>
                <a:spcPct val="0"/>
              </a:spcAft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前述问题共有   个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元真值函数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 fontAlgn="base">
              <a:lnSpc>
                <a:spcPct val="90000"/>
              </a:lnSpc>
              <a:spcAft>
                <a:spcPct val="0"/>
              </a:spcAft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例如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:</a:t>
            </a:r>
            <a:endParaRPr lang="en-US" altLang="zh-CN" sz="28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just" fontAlgn="base">
              <a:lnSpc>
                <a:spcPct val="90000"/>
              </a:lnSpc>
              <a:spcAft>
                <a:spcPct val="0"/>
              </a:spcAft>
              <a:buClr>
                <a:srgbClr val="00007D"/>
              </a:buClr>
              <a:buFont typeface="Wingdings" panose="05000000000000000000" pitchFamily="2" charset="2"/>
              <a:buNone/>
            </a:pP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:{0,1}</a:t>
            </a:r>
            <a:r>
              <a:rPr lang="en-US" altLang="zh-CN" sz="2600" b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{0,1}</a:t>
            </a:r>
            <a:r>
              <a:rPr lang="zh-CN" altLang="en-US" sz="2600" b="1" dirty="0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(00)=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(01)=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(11)=0</a:t>
            </a:r>
            <a:r>
              <a:rPr lang="zh-CN" altLang="en-US" sz="2600" b="1" dirty="0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(10)=1</a:t>
            </a:r>
            <a:r>
              <a:rPr lang="zh-CN" altLang="en-US" sz="2600" b="1" dirty="0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en-US" altLang="zh-CN" sz="26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为一个确定的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元真值函数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09C0FF4-1274-478D-B6F1-9071167D18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6594544"/>
              </p:ext>
            </p:extLst>
          </p:nvPr>
        </p:nvGraphicFramePr>
        <p:xfrm>
          <a:off x="2718503" y="4907966"/>
          <a:ext cx="51752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5619" imgH="215619" progId="Equation.3">
                  <p:embed/>
                </p:oleObj>
              </mc:Choice>
              <mc:Fallback>
                <p:oleObj name="Equation" r:id="rId2" imgW="215619" imgH="215619" progId="Equation.3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B09C0FF4-1274-478D-B6F1-9071167D18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8503" y="4907966"/>
                        <a:ext cx="51752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96940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2CFB29E7-D54C-4BEC-8CCD-92526A2723CB}"/>
              </a:ext>
            </a:extLst>
          </p:cNvPr>
          <p:cNvSpPr txBox="1">
            <a:spLocks noChangeArrowheads="1"/>
          </p:cNvSpPr>
          <p:nvPr/>
        </p:nvSpPr>
        <p:spPr>
          <a:xfrm>
            <a:off x="587163" y="1169434"/>
            <a:ext cx="9965689" cy="4823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命题公式与真值函数</a:t>
            </a:r>
          </a:p>
          <a:p>
            <a:pPr algn="just">
              <a:buFont typeface="Wingdings" panose="05000000000000000000" pitchFamily="2" charset="2"/>
              <a:buNone/>
            </a:pP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标题 449">
            <a:extLst>
              <a:ext uri="{FF2B5EF4-FFF2-40B4-BE49-F238E27FC236}">
                <a16:creationId xmlns:a16="http://schemas.microsoft.com/office/drawing/2014/main" id="{9E4D8FBA-3F74-41FC-B6A1-047CF1507AB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命题公式及分类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F215004-9CEF-439B-9F25-ED70F6AC5B1C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23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24913DE5-5E09-43F5-A6CA-8F46310C2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734" y="1844675"/>
            <a:ext cx="1082830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对于任何一个含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个命题变项的命题公式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都存在唯一的一个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元真值函数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的真值表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12" name="Object 6">
            <a:extLst>
              <a:ext uri="{FF2B5EF4-FFF2-40B4-BE49-F238E27FC236}">
                <a16:creationId xmlns:a16="http://schemas.microsoft.com/office/drawing/2014/main" id="{24D1DDD4-74C5-48D6-B07F-B6236990A6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1495178"/>
              </p:ext>
            </p:extLst>
          </p:nvPr>
        </p:nvGraphicFramePr>
        <p:xfrm>
          <a:off x="9172594" y="5403506"/>
          <a:ext cx="588779" cy="484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3840" imgH="198141" progId="Equation.3">
                  <p:embed/>
                </p:oleObj>
              </mc:Choice>
              <mc:Fallback>
                <p:oleObj name="Equation" r:id="rId2" imgW="243840" imgH="198141" progId="Equation.3">
                  <p:embed/>
                  <p:pic>
                    <p:nvPicPr>
                      <p:cNvPr id="12" name="Object 6">
                        <a:extLst>
                          <a:ext uri="{FF2B5EF4-FFF2-40B4-BE49-F238E27FC236}">
                            <a16:creationId xmlns:a16="http://schemas.microsoft.com/office/drawing/2014/main" id="{24D1DDD4-74C5-48D6-B07F-B6236990A6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2594" y="5403506"/>
                        <a:ext cx="588779" cy="48404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8">
            <a:extLst>
              <a:ext uri="{FF2B5EF4-FFF2-40B4-BE49-F238E27FC236}">
                <a16:creationId xmlns:a16="http://schemas.microsoft.com/office/drawing/2014/main" id="{A2B4F305-369D-4B6A-8764-5EC06DC25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734" y="3065837"/>
            <a:ext cx="1082830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等值的公式对应的真值函数相同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428E2A7E-01F1-4954-9FD8-94BD1EA59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734" y="3986144"/>
            <a:ext cx="10828307" cy="1957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下表给出所有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元真值函数对应的真值表</a:t>
            </a:r>
            <a:r>
              <a:rPr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每一个含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个命题变项的公式的真值表都可以在下表中找到</a:t>
            </a:r>
            <a:r>
              <a:rPr lang="en-US" altLang="zh-CN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例如：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0" lang="en-US" altLang="zh-CN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等都对应表中的</a:t>
            </a:r>
          </a:p>
        </p:txBody>
      </p:sp>
    </p:spTree>
    <p:extLst>
      <p:ext uri="{BB962C8B-B14F-4D97-AF65-F5344CB8AC3E}">
        <p14:creationId xmlns:p14="http://schemas.microsoft.com/office/powerpoint/2010/main" val="14190429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49">
            <a:extLst>
              <a:ext uri="{FF2B5EF4-FFF2-40B4-BE49-F238E27FC236}">
                <a16:creationId xmlns:a16="http://schemas.microsoft.com/office/drawing/2014/main" id="{9E4D8FBA-3F74-41FC-B6A1-047CF1507AB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命题公式及分类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F215004-9CEF-439B-9F25-ED70F6AC5B1C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23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Text Box 2">
            <a:extLst>
              <a:ext uri="{FF2B5EF4-FFF2-40B4-BE49-F238E27FC236}">
                <a16:creationId xmlns:a16="http://schemas.microsoft.com/office/drawing/2014/main" id="{441818F4-BC8E-4878-B9BA-37EEA28334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040250"/>
            <a:ext cx="449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元真值函数对应的真值表</a:t>
            </a:r>
          </a:p>
        </p:txBody>
      </p:sp>
      <p:graphicFrame>
        <p:nvGraphicFramePr>
          <p:cNvPr id="16" name="Group 38">
            <a:extLst>
              <a:ext uri="{FF2B5EF4-FFF2-40B4-BE49-F238E27FC236}">
                <a16:creationId xmlns:a16="http://schemas.microsoft.com/office/drawing/2014/main" id="{1279DCE3-1F78-4C2B-9BBE-B3D21B51C7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730585"/>
              </p:ext>
            </p:extLst>
          </p:nvPr>
        </p:nvGraphicFramePr>
        <p:xfrm>
          <a:off x="2267811" y="1665448"/>
          <a:ext cx="7501521" cy="2575652"/>
        </p:xfrm>
        <a:graphic>
          <a:graphicData uri="http://schemas.openxmlformats.org/drawingml/2006/table">
            <a:tbl>
              <a:tblPr/>
              <a:tblGrid>
                <a:gridCol w="967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4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02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  q</a:t>
                      </a:r>
                    </a:p>
                  </a:txBody>
                  <a:tcPr marL="89264" marR="89264" marT="44625" marB="446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89264" marR="89264" marT="44625" marB="446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5449">
                <a:tc>
                  <a:txBody>
                    <a:bodyPr/>
                    <a:lstStyle/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0  1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0  1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1  1</a:t>
                      </a:r>
                    </a:p>
                  </a:txBody>
                  <a:tcPr marL="89264" marR="89264" marT="44625" marB="446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  0       0       0       0       0       0       0       0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  0       0       0       0       1       1       1       1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  0       0       1       1       0       0       1       1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  0       1       0       1       0       1       0       1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marL="89264" marR="89264" marT="44625" marB="446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" name="Object 22">
            <a:extLst>
              <a:ext uri="{FF2B5EF4-FFF2-40B4-BE49-F238E27FC236}">
                <a16:creationId xmlns:a16="http://schemas.microsoft.com/office/drawing/2014/main" id="{588FBD0D-28BE-44D4-BE60-19603CFBB7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5085251"/>
              </p:ext>
            </p:extLst>
          </p:nvPr>
        </p:nvGraphicFramePr>
        <p:xfrm>
          <a:off x="3715611" y="1720732"/>
          <a:ext cx="5957126" cy="41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16300" imgH="241300" progId="Equation.3">
                  <p:embed/>
                </p:oleObj>
              </mc:Choice>
              <mc:Fallback>
                <p:oleObj name="Equation" r:id="rId2" imgW="3416300" imgH="241300" progId="Equation.3">
                  <p:embed/>
                  <p:pic>
                    <p:nvPicPr>
                      <p:cNvPr id="17" name="Object 22">
                        <a:extLst>
                          <a:ext uri="{FF2B5EF4-FFF2-40B4-BE49-F238E27FC236}">
                            <a16:creationId xmlns:a16="http://schemas.microsoft.com/office/drawing/2014/main" id="{588FBD0D-28BE-44D4-BE60-19603CFBB7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5611" y="1720732"/>
                        <a:ext cx="5957126" cy="41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Group 39">
            <a:extLst>
              <a:ext uri="{FF2B5EF4-FFF2-40B4-BE49-F238E27FC236}">
                <a16:creationId xmlns:a16="http://schemas.microsoft.com/office/drawing/2014/main" id="{3C5484EA-CB0D-46DF-A707-B06FB87ED8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612787"/>
              </p:ext>
            </p:extLst>
          </p:nvPr>
        </p:nvGraphicFramePr>
        <p:xfrm>
          <a:off x="2267811" y="4256285"/>
          <a:ext cx="7513320" cy="2577186"/>
        </p:xfrm>
        <a:graphic>
          <a:graphicData uri="http://schemas.openxmlformats.org/drawingml/2006/table">
            <a:tbl>
              <a:tblPr/>
              <a:tblGrid>
                <a:gridCol w="967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6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02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  q</a:t>
                      </a:r>
                    </a:p>
                  </a:txBody>
                  <a:tcPr marL="89264" marR="89264" marT="44632" marB="446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89264" marR="89264" marT="44632" marB="446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68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1  1</a:t>
                      </a:r>
                    </a:p>
                  </a:txBody>
                  <a:tcPr marL="89264" marR="89264" marT="44632" marB="446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  1       1       1       1       1       1       1       1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  0       0       0       0       1       1       1       1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  0       0       1       1       0       0       1       1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  0       1       0       1       0       1       0       1</a:t>
                      </a: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marL="89264" marR="89264" marT="44632" marB="446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Object 36">
            <a:extLst>
              <a:ext uri="{FF2B5EF4-FFF2-40B4-BE49-F238E27FC236}">
                <a16:creationId xmlns:a16="http://schemas.microsoft.com/office/drawing/2014/main" id="{2952025E-4C94-427E-913F-24BB9C62E4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8996973"/>
              </p:ext>
            </p:extLst>
          </p:nvPr>
        </p:nvGraphicFramePr>
        <p:xfrm>
          <a:off x="3704500" y="4311532"/>
          <a:ext cx="5972624" cy="41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16300" imgH="241300" progId="Equation.3">
                  <p:embed/>
                </p:oleObj>
              </mc:Choice>
              <mc:Fallback>
                <p:oleObj name="Equation" r:id="rId4" imgW="3416300" imgH="241300" progId="Equation.3">
                  <p:embed/>
                  <p:pic>
                    <p:nvPicPr>
                      <p:cNvPr id="19" name="Object 36">
                        <a:extLst>
                          <a:ext uri="{FF2B5EF4-FFF2-40B4-BE49-F238E27FC236}">
                            <a16:creationId xmlns:a16="http://schemas.microsoft.com/office/drawing/2014/main" id="{2952025E-4C94-427E-913F-24BB9C62E4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4500" y="4311532"/>
                        <a:ext cx="5972624" cy="41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32346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49">
            <a:extLst>
              <a:ext uri="{FF2B5EF4-FFF2-40B4-BE49-F238E27FC236}">
                <a16:creationId xmlns:a16="http://schemas.microsoft.com/office/drawing/2014/main" id="{9E4D8FBA-3F74-41FC-B6A1-047CF1507AB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等值演算</a:t>
            </a:r>
          </a:p>
        </p:txBody>
      </p:sp>
      <p:sp>
        <p:nvSpPr>
          <p:cNvPr id="12" name="Text Box 7">
            <a:extLst>
              <a:ext uri="{FF2B5EF4-FFF2-40B4-BE49-F238E27FC236}">
                <a16:creationId xmlns:a16="http://schemas.microsoft.com/office/drawing/2014/main" id="{61FB5404-199D-4A21-AD1A-36C5D11CE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74" y="1762020"/>
            <a:ext cx="11504428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若等价式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是重言式，则称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等值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，记作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，并称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等值式</a:t>
            </a:r>
          </a:p>
          <a:p>
            <a:pPr eaLnBrk="1" hangingPunct="1"/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269F6EF-6EA6-4E2B-9D25-8F9A401DD37A}"/>
              </a:ext>
            </a:extLst>
          </p:cNvPr>
          <p:cNvSpPr txBox="1"/>
          <p:nvPr/>
        </p:nvSpPr>
        <p:spPr>
          <a:xfrm>
            <a:off x="544570" y="3782395"/>
            <a:ext cx="10171960" cy="1001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请验证：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600" b="1" dirty="0" err="1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600" b="1" i="1" dirty="0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600" b="1" dirty="0" err="1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不与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等值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5EB7B5D8-92E1-4367-A11A-2624C99EB6D2}"/>
              </a:ext>
            </a:extLst>
          </p:cNvPr>
          <p:cNvSpPr txBox="1">
            <a:spLocks noChangeArrowheads="1"/>
          </p:cNvSpPr>
          <p:nvPr/>
        </p:nvSpPr>
        <p:spPr>
          <a:xfrm>
            <a:off x="208307" y="2462360"/>
            <a:ext cx="11022690" cy="764587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10000"/>
              </a:lnSpc>
              <a:spcBef>
                <a:spcPct val="35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用真值表可验证两个公式是否等值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B054835-A2DF-4FF8-ACB5-63E52ADA4444}"/>
              </a:ext>
            </a:extLst>
          </p:cNvPr>
          <p:cNvSpPr txBox="1"/>
          <p:nvPr/>
        </p:nvSpPr>
        <p:spPr>
          <a:xfrm>
            <a:off x="5019035" y="947093"/>
            <a:ext cx="17363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基本等值式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64B8F69-BD6A-45E6-B5D6-3438650F6BD3}"/>
              </a:ext>
            </a:extLst>
          </p:cNvPr>
          <p:cNvSpPr txBox="1"/>
          <p:nvPr/>
        </p:nvSpPr>
        <p:spPr>
          <a:xfrm>
            <a:off x="589280" y="955096"/>
            <a:ext cx="1165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等值式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D4C42E2-854B-47B9-8B26-00884B5C39BC}"/>
              </a:ext>
            </a:extLst>
          </p:cNvPr>
          <p:cNvSpPr txBox="1"/>
          <p:nvPr/>
        </p:nvSpPr>
        <p:spPr>
          <a:xfrm>
            <a:off x="10318547" y="955096"/>
            <a:ext cx="14128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等值演算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129CC3A-BE02-4228-B486-D5AC0EA2FA47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24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3956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49">
            <a:extLst>
              <a:ext uri="{FF2B5EF4-FFF2-40B4-BE49-F238E27FC236}">
                <a16:creationId xmlns:a16="http://schemas.microsoft.com/office/drawing/2014/main" id="{9E4D8FBA-3F74-41FC-B6A1-047CF1507AB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等值演算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269F6EF-6EA6-4E2B-9D25-8F9A401DD37A}"/>
              </a:ext>
            </a:extLst>
          </p:cNvPr>
          <p:cNvSpPr txBox="1"/>
          <p:nvPr/>
        </p:nvSpPr>
        <p:spPr>
          <a:xfrm>
            <a:off x="554379" y="1563533"/>
            <a:ext cx="10171960" cy="521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请验证：</a:t>
            </a:r>
            <a:r>
              <a:rPr lang="en-US" altLang="zh-CN" sz="26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6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6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600" b="1" dirty="0" err="1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6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6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6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6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6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6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6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endParaRPr lang="en-US" altLang="zh-CN" sz="26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0" name="Group 32">
            <a:extLst>
              <a:ext uri="{FF2B5EF4-FFF2-40B4-BE49-F238E27FC236}">
                <a16:creationId xmlns:a16="http://schemas.microsoft.com/office/drawing/2014/main" id="{C19DFC27-DCAC-439E-A13D-F22C1696029A}"/>
              </a:ext>
            </a:extLst>
          </p:cNvPr>
          <p:cNvGrpSpPr>
            <a:grpSpLocks/>
          </p:cNvGrpSpPr>
          <p:nvPr/>
        </p:nvGrpSpPr>
        <p:grpSpPr bwMode="auto">
          <a:xfrm>
            <a:off x="2322006" y="2322695"/>
            <a:ext cx="7210425" cy="4038600"/>
            <a:chOff x="425" y="1340"/>
            <a:chExt cx="4542" cy="2544"/>
          </a:xfrm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D5327F2F-E731-4A1E-A01B-97D3E17FD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8" y="1665"/>
              <a:ext cx="1043" cy="20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 </a:t>
              </a:r>
            </a:p>
          </p:txBody>
        </p:sp>
        <p:sp>
          <p:nvSpPr>
            <p:cNvPr id="16" name="Rectangle 6">
              <a:extLst>
                <a:ext uri="{FF2B5EF4-FFF2-40B4-BE49-F238E27FC236}">
                  <a16:creationId xmlns:a16="http://schemas.microsoft.com/office/drawing/2014/main" id="{ABCDA390-0FBD-41DB-A40E-75FFB2D69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1665"/>
              <a:ext cx="902" cy="20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 </a:t>
              </a:r>
            </a:p>
          </p:txBody>
        </p:sp>
        <p:sp>
          <p:nvSpPr>
            <p:cNvPr id="17" name="Rectangle 7">
              <a:extLst>
                <a:ext uri="{FF2B5EF4-FFF2-40B4-BE49-F238E27FC236}">
                  <a16:creationId xmlns:a16="http://schemas.microsoft.com/office/drawing/2014/main" id="{CF5D0559-827B-446E-AF03-2879852DB8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5" y="1665"/>
              <a:ext cx="633" cy="20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 </a:t>
              </a:r>
            </a:p>
          </p:txBody>
        </p:sp>
        <p:sp>
          <p:nvSpPr>
            <p:cNvPr id="18" name="Rectangle 8">
              <a:extLst>
                <a:ext uri="{FF2B5EF4-FFF2-40B4-BE49-F238E27FC236}">
                  <a16:creationId xmlns:a16="http://schemas.microsoft.com/office/drawing/2014/main" id="{7D7B9318-39C7-42DA-9A80-09D5D0EE9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" y="1665"/>
              <a:ext cx="998" cy="2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0   0   0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0   0   1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0   1   0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0   1   1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1   0   0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1   0   1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1   1   0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1   1   1 </a:t>
              </a:r>
            </a:p>
          </p:txBody>
        </p:sp>
        <p:sp>
          <p:nvSpPr>
            <p:cNvPr id="19" name="Rectangle 9">
              <a:extLst>
                <a:ext uri="{FF2B5EF4-FFF2-40B4-BE49-F238E27FC236}">
                  <a16:creationId xmlns:a16="http://schemas.microsoft.com/office/drawing/2014/main" id="{1DE9827D-3153-485D-986F-15DE644BB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1" y="1344"/>
              <a:ext cx="1140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</a:rPr>
                <a:t>p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</a:t>
              </a:r>
              <a:r>
                <a:rPr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</a:rPr>
                <a:t>q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)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</a:t>
              </a:r>
              <a:r>
                <a:rPr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</a:rPr>
                <a:t>r</a:t>
              </a:r>
            </a:p>
          </p:txBody>
        </p:sp>
        <p:sp>
          <p:nvSpPr>
            <p:cNvPr id="20" name="Rectangle 10">
              <a:extLst>
                <a:ext uri="{FF2B5EF4-FFF2-40B4-BE49-F238E27FC236}">
                  <a16:creationId xmlns:a16="http://schemas.microsoft.com/office/drawing/2014/main" id="{26D35708-2F7F-4BA9-A021-F922C936E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1344"/>
              <a:ext cx="998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/>
              <a:r>
                <a:rPr lang="en-US" altLang="zh-CN" sz="2400" i="1">
                  <a:latin typeface="Times New Roman" panose="02020603050405020304" pitchFamily="18" charset="0"/>
                </a:rPr>
                <a:t>p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</a:rPr>
                <a:t>q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sz="2400" i="1">
                  <a:latin typeface="Times New Roman" panose="02020603050405020304" pitchFamily="18" charset="0"/>
                </a:rPr>
                <a:t>r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1" name="Rectangle 11">
              <a:extLst>
                <a:ext uri="{FF2B5EF4-FFF2-40B4-BE49-F238E27FC236}">
                  <a16:creationId xmlns:a16="http://schemas.microsoft.com/office/drawing/2014/main" id="{1D08CC21-A373-4B95-B1BB-64BC20F52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7" y="1344"/>
              <a:ext cx="681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/>
              <a:r>
                <a:rPr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</a:rPr>
                <a:t>q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</a:t>
              </a:r>
              <a:r>
                <a:rPr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</a:rPr>
                <a:t>r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</a:p>
          </p:txBody>
        </p:sp>
        <p:sp>
          <p:nvSpPr>
            <p:cNvPr id="22" name="Rectangle 12">
              <a:extLst>
                <a:ext uri="{FF2B5EF4-FFF2-40B4-BE49-F238E27FC236}">
                  <a16:creationId xmlns:a16="http://schemas.microsoft.com/office/drawing/2014/main" id="{78585E1B-E39A-4C9E-A58E-F22185FC0F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" y="1344"/>
              <a:ext cx="998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/>
              <a:r>
                <a:rPr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p   q   r</a:t>
              </a:r>
            </a:p>
          </p:txBody>
        </p:sp>
        <p:sp>
          <p:nvSpPr>
            <p:cNvPr id="23" name="Line 13">
              <a:extLst>
                <a:ext uri="{FF2B5EF4-FFF2-40B4-BE49-F238E27FC236}">
                  <a16:creationId xmlns:a16="http://schemas.microsoft.com/office/drawing/2014/main" id="{E57B77A5-EE0E-4808-BDAE-748FE45F2A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" y="1344"/>
              <a:ext cx="454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14">
              <a:extLst>
                <a:ext uri="{FF2B5EF4-FFF2-40B4-BE49-F238E27FC236}">
                  <a16:creationId xmlns:a16="http://schemas.microsoft.com/office/drawing/2014/main" id="{8F4E6B41-307D-42C3-B96B-49F0AE4A41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" y="1665"/>
              <a:ext cx="4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15">
              <a:extLst>
                <a:ext uri="{FF2B5EF4-FFF2-40B4-BE49-F238E27FC236}">
                  <a16:creationId xmlns:a16="http://schemas.microsoft.com/office/drawing/2014/main" id="{21414E42-8DED-49D1-A972-122400BCC4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" y="3748"/>
              <a:ext cx="454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16">
              <a:extLst>
                <a:ext uri="{FF2B5EF4-FFF2-40B4-BE49-F238E27FC236}">
                  <a16:creationId xmlns:a16="http://schemas.microsoft.com/office/drawing/2014/main" id="{D0E24538-16FE-48FB-B5A7-2DE670B34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" y="1344"/>
              <a:ext cx="0" cy="321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17">
              <a:extLst>
                <a:ext uri="{FF2B5EF4-FFF2-40B4-BE49-F238E27FC236}">
                  <a16:creationId xmlns:a16="http://schemas.microsoft.com/office/drawing/2014/main" id="{F8024F80-B2BB-4C28-8ACF-3B16AAB140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3" y="1344"/>
              <a:ext cx="6" cy="24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18">
              <a:extLst>
                <a:ext uri="{FF2B5EF4-FFF2-40B4-BE49-F238E27FC236}">
                  <a16:creationId xmlns:a16="http://schemas.microsoft.com/office/drawing/2014/main" id="{3C1C2EB6-1A53-4FBA-980C-8EC0D1D4B9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3" y="1344"/>
              <a:ext cx="6" cy="24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19">
              <a:extLst>
                <a:ext uri="{FF2B5EF4-FFF2-40B4-BE49-F238E27FC236}">
                  <a16:creationId xmlns:a16="http://schemas.microsoft.com/office/drawing/2014/main" id="{E61C0773-958F-4D53-A2D4-50A726DCE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6" y="1344"/>
              <a:ext cx="6" cy="24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20">
              <a:extLst>
                <a:ext uri="{FF2B5EF4-FFF2-40B4-BE49-F238E27FC236}">
                  <a16:creationId xmlns:a16="http://schemas.microsoft.com/office/drawing/2014/main" id="{1DED9754-13C7-43BC-852D-A227D37C35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7" y="1344"/>
              <a:ext cx="0" cy="321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21">
              <a:extLst>
                <a:ext uri="{FF2B5EF4-FFF2-40B4-BE49-F238E27FC236}">
                  <a16:creationId xmlns:a16="http://schemas.microsoft.com/office/drawing/2014/main" id="{705C01F2-9141-4519-8BD9-CF55E1CC0E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" y="1665"/>
              <a:ext cx="0" cy="2219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22">
              <a:extLst>
                <a:ext uri="{FF2B5EF4-FFF2-40B4-BE49-F238E27FC236}">
                  <a16:creationId xmlns:a16="http://schemas.microsoft.com/office/drawing/2014/main" id="{B0F6E1AF-9417-4596-A31B-19DF9B3F43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7" y="1665"/>
              <a:ext cx="0" cy="2219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Rectangle 27">
              <a:extLst>
                <a:ext uri="{FF2B5EF4-FFF2-40B4-BE49-F238E27FC236}">
                  <a16:creationId xmlns:a16="http://schemas.microsoft.com/office/drawing/2014/main" id="{0596EAD5-1E80-48B7-B361-3B757B7A1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2" y="1340"/>
              <a:ext cx="680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/>
              <a:r>
                <a:rPr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</a:rPr>
                <a:t>p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</a:t>
              </a:r>
              <a:r>
                <a:rPr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q</a:t>
              </a:r>
              <a:endPara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4" name="Rectangle 28">
              <a:extLst>
                <a:ext uri="{FF2B5EF4-FFF2-40B4-BE49-F238E27FC236}">
                  <a16:creationId xmlns:a16="http://schemas.microsoft.com/office/drawing/2014/main" id="{649BF578-1A82-445C-A35F-8480846AB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1" y="1661"/>
              <a:ext cx="726" cy="20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 </a:t>
              </a:r>
            </a:p>
          </p:txBody>
        </p:sp>
        <p:sp>
          <p:nvSpPr>
            <p:cNvPr id="35" name="Line 29">
              <a:extLst>
                <a:ext uri="{FF2B5EF4-FFF2-40B4-BE49-F238E27FC236}">
                  <a16:creationId xmlns:a16="http://schemas.microsoft.com/office/drawing/2014/main" id="{D19D9621-28B0-4660-9F5D-50EC51B951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2" y="1344"/>
              <a:ext cx="6" cy="24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" name="Rectangle 31">
            <a:extLst>
              <a:ext uri="{FF2B5EF4-FFF2-40B4-BE49-F238E27FC236}">
                <a16:creationId xmlns:a16="http://schemas.microsoft.com/office/drawing/2014/main" id="{6C53C938-F6C1-4931-B458-46B83A42E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4546" y="6243260"/>
            <a:ext cx="483393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结论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en-US" altLang="zh-CN" sz="2400" i="1" dirty="0">
                <a:latin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</a:rPr>
              <a:t>)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dirty="0">
                <a:latin typeface="Times New Roman" panose="02020603050405020304" pitchFamily="18" charset="0"/>
              </a:rPr>
              <a:t> (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</a:rPr>
              <a:t>)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i="1" dirty="0">
                <a:latin typeface="Times New Roman" panose="02020603050405020304" pitchFamily="18" charset="0"/>
              </a:rPr>
              <a:t>r 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3B8CCF3-25F4-4D36-961A-280F2983A3FF}"/>
              </a:ext>
            </a:extLst>
          </p:cNvPr>
          <p:cNvSpPr txBox="1"/>
          <p:nvPr/>
        </p:nvSpPr>
        <p:spPr>
          <a:xfrm>
            <a:off x="5019035" y="947093"/>
            <a:ext cx="17363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基本等值式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17A1448-192B-4CCF-9872-78456C2B1E0D}"/>
              </a:ext>
            </a:extLst>
          </p:cNvPr>
          <p:cNvSpPr txBox="1"/>
          <p:nvPr/>
        </p:nvSpPr>
        <p:spPr>
          <a:xfrm>
            <a:off x="589280" y="955096"/>
            <a:ext cx="1165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等值式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DEACB6D-8BFB-4233-B906-EC37FFDB1386}"/>
              </a:ext>
            </a:extLst>
          </p:cNvPr>
          <p:cNvSpPr txBox="1"/>
          <p:nvPr/>
        </p:nvSpPr>
        <p:spPr>
          <a:xfrm>
            <a:off x="10318547" y="955096"/>
            <a:ext cx="14128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等值演算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C35E4FA-007B-4DFA-AD89-CBD9255AF1B6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25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5431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49">
            <a:extLst>
              <a:ext uri="{FF2B5EF4-FFF2-40B4-BE49-F238E27FC236}">
                <a16:creationId xmlns:a16="http://schemas.microsoft.com/office/drawing/2014/main" id="{9E4D8FBA-3F74-41FC-B6A1-047CF1507AB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等值演算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269F6EF-6EA6-4E2B-9D25-8F9A401DD37A}"/>
              </a:ext>
            </a:extLst>
          </p:cNvPr>
          <p:cNvSpPr txBox="1"/>
          <p:nvPr/>
        </p:nvSpPr>
        <p:spPr>
          <a:xfrm>
            <a:off x="554379" y="1563533"/>
            <a:ext cx="10171960" cy="493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请验证：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p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  <a:sym typeface="Symbol" panose="05050102010706020507" pitchFamily="18" charset="2"/>
              </a:rPr>
              <a:t>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q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  <a:sym typeface="Symbol" panose="05050102010706020507" pitchFamily="18" charset="2"/>
              </a:rPr>
              <a:t>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r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不与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p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  <a:sym typeface="Symbol" panose="05050102010706020507" pitchFamily="18" charset="2"/>
              </a:rPr>
              <a:t>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q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)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  <a:sym typeface="Symbol" panose="05050102010706020507" pitchFamily="18" charset="2"/>
              </a:rPr>
              <a:t>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 Light"/>
                <a:cs typeface="+mn-cs"/>
              </a:rPr>
              <a:t>r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等值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7" name="Group 4">
            <a:extLst>
              <a:ext uri="{FF2B5EF4-FFF2-40B4-BE49-F238E27FC236}">
                <a16:creationId xmlns:a16="http://schemas.microsoft.com/office/drawing/2014/main" id="{0AFE5C65-6795-430F-AADD-C755E602419B}"/>
              </a:ext>
            </a:extLst>
          </p:cNvPr>
          <p:cNvGrpSpPr>
            <a:grpSpLocks/>
          </p:cNvGrpSpPr>
          <p:nvPr/>
        </p:nvGrpSpPr>
        <p:grpSpPr bwMode="auto">
          <a:xfrm>
            <a:off x="2428979" y="2325580"/>
            <a:ext cx="7210425" cy="4038600"/>
            <a:chOff x="425" y="1340"/>
            <a:chExt cx="4542" cy="2544"/>
          </a:xfrm>
        </p:grpSpPr>
        <p:sp>
          <p:nvSpPr>
            <p:cNvPr id="38" name="Rectangle 5">
              <a:extLst>
                <a:ext uri="{FF2B5EF4-FFF2-40B4-BE49-F238E27FC236}">
                  <a16:creationId xmlns:a16="http://schemas.microsoft.com/office/drawing/2014/main" id="{D1C9BF59-780D-4EB6-AC78-4F91E0326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8" y="1665"/>
              <a:ext cx="1043" cy="20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 </a:t>
              </a:r>
            </a:p>
          </p:txBody>
        </p:sp>
        <p:sp>
          <p:nvSpPr>
            <p:cNvPr id="39" name="Rectangle 6">
              <a:extLst>
                <a:ext uri="{FF2B5EF4-FFF2-40B4-BE49-F238E27FC236}">
                  <a16:creationId xmlns:a16="http://schemas.microsoft.com/office/drawing/2014/main" id="{9A7665A3-ADF7-4775-B3A4-9BDE5CD4C6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1665"/>
              <a:ext cx="902" cy="20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 </a:t>
              </a:r>
            </a:p>
          </p:txBody>
        </p:sp>
        <p:sp>
          <p:nvSpPr>
            <p:cNvPr id="40" name="Rectangle 7">
              <a:extLst>
                <a:ext uri="{FF2B5EF4-FFF2-40B4-BE49-F238E27FC236}">
                  <a16:creationId xmlns:a16="http://schemas.microsoft.com/office/drawing/2014/main" id="{F452D6DA-6E08-4011-A45F-79AFD31F8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5" y="1665"/>
              <a:ext cx="633" cy="20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 </a:t>
              </a:r>
            </a:p>
          </p:txBody>
        </p:sp>
        <p:sp>
          <p:nvSpPr>
            <p:cNvPr id="41" name="Rectangle 8">
              <a:extLst>
                <a:ext uri="{FF2B5EF4-FFF2-40B4-BE49-F238E27FC236}">
                  <a16:creationId xmlns:a16="http://schemas.microsoft.com/office/drawing/2014/main" id="{55E115CF-C3EF-4DFE-9C41-06FF25CFA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" y="1665"/>
              <a:ext cx="998" cy="2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0   0   0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0   0   1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0   1   0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0   1   1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1   0   0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1   0   1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1   1   0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1   1   1 </a:t>
              </a:r>
            </a:p>
          </p:txBody>
        </p:sp>
        <p:sp>
          <p:nvSpPr>
            <p:cNvPr id="42" name="Rectangle 9">
              <a:extLst>
                <a:ext uri="{FF2B5EF4-FFF2-40B4-BE49-F238E27FC236}">
                  <a16:creationId xmlns:a16="http://schemas.microsoft.com/office/drawing/2014/main" id="{7EB19266-4C5B-475A-93C7-ED623DB54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1" y="1344"/>
              <a:ext cx="1140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/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</a:rPr>
                <a:t>p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</a:t>
              </a:r>
              <a:r>
                <a:rPr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</a:rPr>
                <a:t>q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)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</a:t>
              </a:r>
              <a:r>
                <a:rPr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</a:rPr>
                <a:t>r</a:t>
              </a:r>
            </a:p>
          </p:txBody>
        </p:sp>
        <p:sp>
          <p:nvSpPr>
            <p:cNvPr id="43" name="Rectangle 10">
              <a:extLst>
                <a:ext uri="{FF2B5EF4-FFF2-40B4-BE49-F238E27FC236}">
                  <a16:creationId xmlns:a16="http://schemas.microsoft.com/office/drawing/2014/main" id="{F89F642F-9424-46B8-B7C3-C56EE27E92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1344"/>
              <a:ext cx="998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/>
              <a:r>
                <a:rPr lang="en-US" altLang="zh-CN" sz="2400" i="1">
                  <a:latin typeface="Times New Roman" panose="02020603050405020304" pitchFamily="18" charset="0"/>
                </a:rPr>
                <a:t>p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</a:rPr>
                <a:t>q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sz="2400" i="1">
                  <a:latin typeface="Times New Roman" panose="02020603050405020304" pitchFamily="18" charset="0"/>
                </a:rPr>
                <a:t>r</a:t>
              </a:r>
              <a:r>
                <a:rPr lang="en-US" altLang="zh-CN" sz="2400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44" name="Rectangle 11">
              <a:extLst>
                <a:ext uri="{FF2B5EF4-FFF2-40B4-BE49-F238E27FC236}">
                  <a16:creationId xmlns:a16="http://schemas.microsoft.com/office/drawing/2014/main" id="{BC6BE323-2BBE-42A2-8C94-EE76F307B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7" y="1344"/>
              <a:ext cx="681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/>
              <a:r>
                <a:rPr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</a:rPr>
                <a:t>q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</a:t>
              </a:r>
              <a:r>
                <a:rPr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</a:rPr>
                <a:t>r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</a:p>
          </p:txBody>
        </p:sp>
        <p:sp>
          <p:nvSpPr>
            <p:cNvPr id="45" name="Rectangle 12">
              <a:extLst>
                <a:ext uri="{FF2B5EF4-FFF2-40B4-BE49-F238E27FC236}">
                  <a16:creationId xmlns:a16="http://schemas.microsoft.com/office/drawing/2014/main" id="{D1736A4B-1958-4CDD-B379-37AD70D98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" y="1344"/>
              <a:ext cx="998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/>
              <a:r>
                <a:rPr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</a:rPr>
                <a:t>p   q   r</a:t>
              </a:r>
            </a:p>
          </p:txBody>
        </p:sp>
        <p:sp>
          <p:nvSpPr>
            <p:cNvPr id="46" name="Line 13">
              <a:extLst>
                <a:ext uri="{FF2B5EF4-FFF2-40B4-BE49-F238E27FC236}">
                  <a16:creationId xmlns:a16="http://schemas.microsoft.com/office/drawing/2014/main" id="{7CFB3D06-0130-4A2F-A5E5-8797E39700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" y="1344"/>
              <a:ext cx="454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14">
              <a:extLst>
                <a:ext uri="{FF2B5EF4-FFF2-40B4-BE49-F238E27FC236}">
                  <a16:creationId xmlns:a16="http://schemas.microsoft.com/office/drawing/2014/main" id="{0689DE39-CC6F-4002-B76D-3209D1D593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" y="1665"/>
              <a:ext cx="4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15">
              <a:extLst>
                <a:ext uri="{FF2B5EF4-FFF2-40B4-BE49-F238E27FC236}">
                  <a16:creationId xmlns:a16="http://schemas.microsoft.com/office/drawing/2014/main" id="{D10BF31F-D2D3-47CA-A474-FB7F19A079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" y="3748"/>
              <a:ext cx="454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16">
              <a:extLst>
                <a:ext uri="{FF2B5EF4-FFF2-40B4-BE49-F238E27FC236}">
                  <a16:creationId xmlns:a16="http://schemas.microsoft.com/office/drawing/2014/main" id="{356CD69B-F58A-47F4-8FD2-6BE7CB1B82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" y="1344"/>
              <a:ext cx="0" cy="321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17">
              <a:extLst>
                <a:ext uri="{FF2B5EF4-FFF2-40B4-BE49-F238E27FC236}">
                  <a16:creationId xmlns:a16="http://schemas.microsoft.com/office/drawing/2014/main" id="{6C3B102B-3D15-4C61-B735-B81F1A4C3A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3" y="1344"/>
              <a:ext cx="6" cy="24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18">
              <a:extLst>
                <a:ext uri="{FF2B5EF4-FFF2-40B4-BE49-F238E27FC236}">
                  <a16:creationId xmlns:a16="http://schemas.microsoft.com/office/drawing/2014/main" id="{AFF3D4A4-E522-40DD-8832-84380BD358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3" y="1344"/>
              <a:ext cx="6" cy="24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19">
              <a:extLst>
                <a:ext uri="{FF2B5EF4-FFF2-40B4-BE49-F238E27FC236}">
                  <a16:creationId xmlns:a16="http://schemas.microsoft.com/office/drawing/2014/main" id="{77915ED7-C9B7-4265-AD5D-B8DC7AA986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6" y="1344"/>
              <a:ext cx="6" cy="24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20">
              <a:extLst>
                <a:ext uri="{FF2B5EF4-FFF2-40B4-BE49-F238E27FC236}">
                  <a16:creationId xmlns:a16="http://schemas.microsoft.com/office/drawing/2014/main" id="{8BE01345-D051-401B-849C-4D2D0FC5E2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7" y="1344"/>
              <a:ext cx="0" cy="321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21">
              <a:extLst>
                <a:ext uri="{FF2B5EF4-FFF2-40B4-BE49-F238E27FC236}">
                  <a16:creationId xmlns:a16="http://schemas.microsoft.com/office/drawing/2014/main" id="{50E70A4F-9550-40D1-8FFC-FCA7B49DA1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" y="1665"/>
              <a:ext cx="0" cy="2219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22">
              <a:extLst>
                <a:ext uri="{FF2B5EF4-FFF2-40B4-BE49-F238E27FC236}">
                  <a16:creationId xmlns:a16="http://schemas.microsoft.com/office/drawing/2014/main" id="{E1F01219-C274-4E74-BD6D-7CBEBAF5C7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7" y="1665"/>
              <a:ext cx="0" cy="2219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Rectangle 23">
              <a:extLst>
                <a:ext uri="{FF2B5EF4-FFF2-40B4-BE49-F238E27FC236}">
                  <a16:creationId xmlns:a16="http://schemas.microsoft.com/office/drawing/2014/main" id="{C752FF08-6CEA-41E9-A4C4-E9EC1D0AD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2" y="1340"/>
              <a:ext cx="680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/>
              <a:r>
                <a:rPr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</a:rPr>
                <a:t>p</a:t>
              </a: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</a:t>
              </a:r>
              <a:r>
                <a:rPr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  <a:sym typeface="Symbol" panose="05050102010706020507" pitchFamily="18" charset="2"/>
                </a:rPr>
                <a:t>q</a:t>
              </a:r>
              <a:endPara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57" name="Rectangle 24">
              <a:extLst>
                <a:ext uri="{FF2B5EF4-FFF2-40B4-BE49-F238E27FC236}">
                  <a16:creationId xmlns:a16="http://schemas.microsoft.com/office/drawing/2014/main" id="{08860F22-305F-4C5E-BA53-AA527A2275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1" y="1661"/>
              <a:ext cx="726" cy="20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</a:t>
              </a:r>
            </a:p>
            <a:p>
              <a:pPr algn="ctr">
                <a:spcBef>
                  <a:spcPct val="10000"/>
                </a:spcBef>
              </a:pPr>
              <a:r>
                <a:rPr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1 </a:t>
              </a:r>
            </a:p>
          </p:txBody>
        </p:sp>
        <p:sp>
          <p:nvSpPr>
            <p:cNvPr id="58" name="Line 25">
              <a:extLst>
                <a:ext uri="{FF2B5EF4-FFF2-40B4-BE49-F238E27FC236}">
                  <a16:creationId xmlns:a16="http://schemas.microsoft.com/office/drawing/2014/main" id="{0E16DD78-5417-4936-9021-EE27D85B42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2" y="1344"/>
              <a:ext cx="6" cy="24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9" name="Rectangle 26">
            <a:extLst>
              <a:ext uri="{FF2B5EF4-FFF2-40B4-BE49-F238E27FC236}">
                <a16:creationId xmlns:a16="http://schemas.microsoft.com/office/drawing/2014/main" id="{2FF73793-2D6C-452B-9B4B-0B146BC05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930" y="6312640"/>
            <a:ext cx="5689600" cy="50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结论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en-US" altLang="zh-CN" sz="2400" i="1" dirty="0">
                <a:latin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</a:rPr>
              <a:t>)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dirty="0">
                <a:latin typeface="Times New Roman" panose="02020603050405020304" pitchFamily="18" charset="0"/>
              </a:rPr>
              <a:t>)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i="1" dirty="0">
                <a:latin typeface="Times New Roman" panose="02020603050405020304" pitchFamily="18" charset="0"/>
              </a:rPr>
              <a:t>r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不等值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14F43302-9B5B-4CED-B5B0-65A962EFA30D}"/>
              </a:ext>
            </a:extLst>
          </p:cNvPr>
          <p:cNvSpPr txBox="1"/>
          <p:nvPr/>
        </p:nvSpPr>
        <p:spPr>
          <a:xfrm>
            <a:off x="5019035" y="947093"/>
            <a:ext cx="17363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基本等值式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0D67B5BE-B0F3-4588-A182-937342359CE6}"/>
              </a:ext>
            </a:extLst>
          </p:cNvPr>
          <p:cNvSpPr txBox="1"/>
          <p:nvPr/>
        </p:nvSpPr>
        <p:spPr>
          <a:xfrm>
            <a:off x="589280" y="955096"/>
            <a:ext cx="1165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等值式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149AE13-7724-4C0D-82E8-244046B5044A}"/>
              </a:ext>
            </a:extLst>
          </p:cNvPr>
          <p:cNvSpPr txBox="1"/>
          <p:nvPr/>
        </p:nvSpPr>
        <p:spPr>
          <a:xfrm>
            <a:off x="10318547" y="955096"/>
            <a:ext cx="14128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等值演算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CFFE59A-8588-42D7-8012-15002B343EE3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26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6799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49">
            <a:extLst>
              <a:ext uri="{FF2B5EF4-FFF2-40B4-BE49-F238E27FC236}">
                <a16:creationId xmlns:a16="http://schemas.microsoft.com/office/drawing/2014/main" id="{9E4D8FBA-3F74-41FC-B6A1-047CF1507AB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等值演算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5E7F14D-DC04-4FD8-B6D2-BDB74111C528}"/>
              </a:ext>
            </a:extLst>
          </p:cNvPr>
          <p:cNvSpPr txBox="1"/>
          <p:nvPr/>
        </p:nvSpPr>
        <p:spPr>
          <a:xfrm>
            <a:off x="5019035" y="947093"/>
            <a:ext cx="17363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基本等值式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5C5B62D-0F1D-4CEF-A5B4-565B00086B75}"/>
              </a:ext>
            </a:extLst>
          </p:cNvPr>
          <p:cNvSpPr txBox="1"/>
          <p:nvPr/>
        </p:nvSpPr>
        <p:spPr>
          <a:xfrm>
            <a:off x="589280" y="955096"/>
            <a:ext cx="1165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等值式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69371AB-F4C5-4A4D-8087-380DD8C97533}"/>
              </a:ext>
            </a:extLst>
          </p:cNvPr>
          <p:cNvSpPr txBox="1"/>
          <p:nvPr/>
        </p:nvSpPr>
        <p:spPr>
          <a:xfrm>
            <a:off x="10318547" y="955096"/>
            <a:ext cx="14128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等值演算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2569124-982F-45D3-B8C1-6D86DBC44FD2}"/>
              </a:ext>
            </a:extLst>
          </p:cNvPr>
          <p:cNvSpPr txBox="1"/>
          <p:nvPr/>
        </p:nvSpPr>
        <p:spPr>
          <a:xfrm>
            <a:off x="2170860" y="1688358"/>
            <a:ext cx="8759409" cy="4804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双重否定律     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ØØ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Û </a:t>
            </a:r>
            <a:r>
              <a:rPr lang="en-US" altLang="zh-CN" sz="20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zh-CN" altLang="en-US" sz="2000" b="0" i="0" u="none" strike="noStrike" baseline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algn="l" rtl="0"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幂等律</a:t>
            </a:r>
            <a:r>
              <a:rPr lang="zh-CN" altLang="en-US" sz="2000" b="1" i="0" u="none" strike="noStrike" baseline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Ú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Û </a:t>
            </a:r>
            <a:r>
              <a:rPr lang="en-US" altLang="zh-CN" sz="20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 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Ù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Û </a:t>
            </a:r>
            <a:r>
              <a:rPr lang="en-US" altLang="zh-CN" sz="20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zh-CN" altLang="en-US" sz="2000" b="0" i="0" u="none" strike="noStrike" baseline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algn="l" rtl="0"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交换律</a:t>
            </a:r>
            <a:r>
              <a:rPr lang="zh-CN" altLang="en-US" sz="2000" b="1" i="0" u="none" strike="noStrike" baseline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Ú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Û 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Ú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   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Ù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Û 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Ù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zh-CN" altLang="en-US" sz="2000" b="0" i="0" u="none" strike="noStrike" baseline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结合律</a:t>
            </a:r>
            <a:r>
              <a:rPr lang="zh-CN" altLang="en-US" sz="2000" b="1" i="0" u="none" strike="noStrike" baseline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Ú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Ú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0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Û 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Ú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Ú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), 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 dirty="0" err="1">
                <a:solidFill>
                  <a:srgbClr val="000000"/>
                </a:solidFill>
                <a:latin typeface="Symbol" panose="05050102010706020507" pitchFamily="18" charset="2"/>
              </a:rPr>
              <a:t>Ù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000" b="1" dirty="0" err="1">
                <a:solidFill>
                  <a:srgbClr val="000000"/>
                </a:solidFill>
                <a:latin typeface="Symbol" panose="05050102010706020507" pitchFamily="18" charset="2"/>
              </a:rPr>
              <a:t>Ù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0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Symbol" panose="05050102010706020507" pitchFamily="18" charset="2"/>
              </a:rPr>
              <a:t>Û 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 dirty="0" err="1">
                <a:solidFill>
                  <a:srgbClr val="000000"/>
                </a:solidFill>
                <a:latin typeface="Symbol" panose="05050102010706020507" pitchFamily="18" charset="2"/>
              </a:rPr>
              <a:t>Ù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 b="1" dirty="0" err="1">
                <a:solidFill>
                  <a:srgbClr val="000000"/>
                </a:solidFill>
                <a:latin typeface="Symbol" panose="05050102010706020507" pitchFamily="18" charset="2"/>
              </a:rPr>
              <a:t>Ù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endParaRPr lang="zh-CN" altLang="en-US" sz="2000" b="0" i="0" u="none" strike="noStrike" baseline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分配律</a:t>
            </a:r>
            <a:r>
              <a:rPr lang="zh-CN" altLang="en-US" sz="2000" b="1" i="0" u="none" strike="noStrike" baseline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Ú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Ù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Û 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Ú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Ù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Ú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),   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 dirty="0" err="1">
                <a:solidFill>
                  <a:srgbClr val="000000"/>
                </a:solidFill>
                <a:latin typeface="Symbol" panose="05050102010706020507" pitchFamily="18" charset="2"/>
              </a:rPr>
              <a:t>Ù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 b="1" dirty="0" err="1">
                <a:solidFill>
                  <a:srgbClr val="000000"/>
                </a:solidFill>
                <a:latin typeface="Symbol" panose="05050102010706020507" pitchFamily="18" charset="2"/>
              </a:rPr>
              <a:t>Ú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sz="2000" b="1" dirty="0">
                <a:solidFill>
                  <a:srgbClr val="000000"/>
                </a:solidFill>
                <a:latin typeface="Symbol" panose="05050102010706020507" pitchFamily="18" charset="2"/>
              </a:rPr>
              <a:t>Û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 dirty="0" err="1">
                <a:solidFill>
                  <a:srgbClr val="000000"/>
                </a:solidFill>
                <a:latin typeface="Symbol" panose="05050102010706020507" pitchFamily="18" charset="2"/>
              </a:rPr>
              <a:t>Ù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000" b="1" dirty="0">
                <a:solidFill>
                  <a:srgbClr val="000000"/>
                </a:solidFill>
                <a:latin typeface="Symbol" panose="05050102010706020507" pitchFamily="18" charset="2"/>
              </a:rPr>
              <a:t>Ú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 dirty="0" err="1">
                <a:solidFill>
                  <a:srgbClr val="000000"/>
                </a:solidFill>
                <a:latin typeface="Symbol" panose="05050102010706020507" pitchFamily="18" charset="2"/>
              </a:rPr>
              <a:t>Ù</a:t>
            </a:r>
            <a:r>
              <a:rPr lang="en-US" altLang="zh-CN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endParaRPr lang="zh-CN" altLang="en-US" sz="2000" b="0" i="0" u="none" strike="noStrike" baseline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algn="l" rtl="0"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德摩根律</a:t>
            </a:r>
            <a:r>
              <a:rPr lang="zh-CN" altLang="en-US" sz="2000" b="1" i="0" u="none" strike="noStrike" baseline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Ø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Ú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Û 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Ø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ÙØ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</a:rPr>
              <a:t>Ø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</a:rPr>
              <a:t>Ù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</a:rPr>
              <a:t>Û 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</a:rPr>
              <a:t>Ø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</a:rPr>
              <a:t>ÚØ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endParaRPr lang="zh-CN" altLang="en-US" sz="2000" b="0" i="0" u="none" strike="noStrike" baseline="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l" rtl="0"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吸收律</a:t>
            </a:r>
            <a:r>
              <a:rPr lang="zh-CN" altLang="en-US" sz="2000" b="1" i="0" u="none" strike="noStrike" baseline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Ú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Ù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Û </a:t>
            </a:r>
            <a:r>
              <a:rPr lang="en-US" altLang="zh-CN" sz="20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 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Ù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Ú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Û </a:t>
            </a:r>
            <a:r>
              <a:rPr lang="en-US" altLang="zh-CN" sz="20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zh-CN" altLang="en-US" sz="2000" b="0" i="0" u="none" strike="noStrike" baseline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algn="l" rtl="0"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零律           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Ú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Û 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1,   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Ù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Û 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zh-CN" altLang="en-US" sz="2000" b="0" i="0" u="none" strike="noStrike" baseline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algn="l" rtl="0"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同一律</a:t>
            </a:r>
            <a:r>
              <a:rPr lang="zh-CN" altLang="en-US" sz="2000" b="1" i="0" u="none" strike="noStrike" baseline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Ú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Û </a:t>
            </a:r>
            <a:r>
              <a:rPr lang="en-US" altLang="zh-CN" sz="20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A,</a:t>
            </a:r>
            <a:r>
              <a:rPr lang="zh-CN" altLang="en-US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Ù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Û </a:t>
            </a:r>
            <a:r>
              <a:rPr lang="en-US" altLang="zh-CN" sz="20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zh-CN" altLang="en-US" sz="2000" b="0" i="0" u="none" strike="noStrike" baseline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2BE060F-8676-4FE5-8D81-776B3B407C9A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27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47304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49">
            <a:extLst>
              <a:ext uri="{FF2B5EF4-FFF2-40B4-BE49-F238E27FC236}">
                <a16:creationId xmlns:a16="http://schemas.microsoft.com/office/drawing/2014/main" id="{9E4D8FBA-3F74-41FC-B6A1-047CF1507AB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等值演算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C733248-3E0E-4932-93FE-8F0684E6C917}"/>
              </a:ext>
            </a:extLst>
          </p:cNvPr>
          <p:cNvSpPr txBox="1"/>
          <p:nvPr/>
        </p:nvSpPr>
        <p:spPr>
          <a:xfrm>
            <a:off x="616373" y="6007596"/>
            <a:ext cx="9087043" cy="46166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buClrTx/>
              <a:buSzTx/>
              <a:buFontTx/>
              <a:buNone/>
              <a:defRPr sz="2400" b="1">
                <a:solidFill>
                  <a:srgbClr val="992677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chemeClr val="dk1"/>
                </a:solidFill>
                <a:latin typeface="Franklin Gothic Book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chemeClr val="dk1"/>
                </a:solidFill>
                <a:latin typeface="Franklin Gothic Book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dk1"/>
                </a:solidFill>
                <a:latin typeface="Franklin Gothic Book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dk1"/>
                </a:solidFill>
                <a:latin typeface="Franklin Gothic Book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dk1"/>
                </a:solidFill>
                <a:latin typeface="Franklin Gothic Book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dk1"/>
                </a:solidFill>
                <a:latin typeface="Franklin Gothic Book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dk1"/>
                </a:solidFill>
                <a:latin typeface="Franklin Gothic Book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dk1"/>
                </a:solidFill>
                <a:latin typeface="Franklin Gothic Book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dirty="0"/>
              <a:t>特别提示：必须牢记这</a:t>
            </a:r>
            <a:r>
              <a:rPr lang="en-US" altLang="zh-CN" dirty="0"/>
              <a:t>16</a:t>
            </a:r>
            <a:r>
              <a:rPr lang="zh-CN" altLang="en-US" dirty="0"/>
              <a:t>组等值式，这是继续学习的基础</a:t>
            </a:r>
            <a:r>
              <a:rPr lang="en-US" altLang="zh-CN" dirty="0"/>
              <a:t>!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5C501BE-364C-470B-AD4E-09001DADC75E}"/>
              </a:ext>
            </a:extLst>
          </p:cNvPr>
          <p:cNvSpPr txBox="1"/>
          <p:nvPr/>
        </p:nvSpPr>
        <p:spPr>
          <a:xfrm>
            <a:off x="5019035" y="947093"/>
            <a:ext cx="17363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基本等值式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F41E72F-F10C-4441-8436-8E63F9ABD6C8}"/>
              </a:ext>
            </a:extLst>
          </p:cNvPr>
          <p:cNvSpPr txBox="1"/>
          <p:nvPr/>
        </p:nvSpPr>
        <p:spPr>
          <a:xfrm>
            <a:off x="589280" y="955096"/>
            <a:ext cx="1165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等值式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DE2A93-06A2-4EEA-BFAB-A4809F0322E4}"/>
              </a:ext>
            </a:extLst>
          </p:cNvPr>
          <p:cNvSpPr txBox="1"/>
          <p:nvPr/>
        </p:nvSpPr>
        <p:spPr>
          <a:xfrm>
            <a:off x="10318547" y="955096"/>
            <a:ext cx="14128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等值演算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11508B5-8333-46C9-9058-E6C45A2C149A}"/>
              </a:ext>
            </a:extLst>
          </p:cNvPr>
          <p:cNvSpPr txBox="1"/>
          <p:nvPr/>
        </p:nvSpPr>
        <p:spPr>
          <a:xfrm>
            <a:off x="2463404" y="1807488"/>
            <a:ext cx="6096982" cy="3724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排中律</a:t>
            </a:r>
            <a:r>
              <a:rPr lang="zh-CN" altLang="en-US" sz="1800" b="1" i="0" u="none" strike="noStrike" baseline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ÚØ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Û 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2000" b="0" i="0" u="none" strike="noStrike" baseline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algn="l" rtl="0"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矛盾律</a:t>
            </a:r>
            <a:r>
              <a:rPr lang="zh-CN" altLang="en-US" sz="1800" b="1" i="0" u="none" strike="noStrike" baseline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ÙØ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Û 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zh-CN" altLang="en-US" sz="2000" b="0" i="0" u="none" strike="noStrike" baseline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algn="l" rtl="0"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蕴涵等值式</a:t>
            </a:r>
            <a:r>
              <a:rPr lang="zh-CN" altLang="en-US" sz="1800" b="1" i="0" u="none" strike="noStrike" baseline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®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Û 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Ø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Ú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zh-CN" altLang="en-US" sz="2000" b="0" i="0" u="none" strike="noStrike" baseline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algn="l" rtl="0"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等价等值式       </a:t>
            </a:r>
            <a:r>
              <a:rPr lang="pt-BR" altLang="zh-CN" sz="20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pt-BR" altLang="zh-CN" sz="2000" b="1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«</a:t>
            </a:r>
            <a:r>
              <a:rPr lang="pt-BR" altLang="zh-CN" sz="20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 </a:t>
            </a:r>
            <a:r>
              <a:rPr lang="pt-BR" altLang="zh-CN" sz="2000" b="1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Û </a:t>
            </a:r>
            <a:r>
              <a:rPr lang="pt-BR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pt-BR" altLang="zh-CN" sz="20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pt-BR" altLang="zh-CN" sz="2000" b="1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®</a:t>
            </a:r>
            <a:r>
              <a:rPr lang="pt-BR" altLang="zh-CN" sz="20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pt-BR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pt-BR" altLang="zh-CN" sz="2000" b="1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Ù</a:t>
            </a:r>
            <a:r>
              <a:rPr lang="pt-BR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pt-BR" altLang="zh-CN" sz="20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pt-BR" altLang="zh-CN" sz="2000" b="1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®</a:t>
            </a:r>
            <a:r>
              <a:rPr lang="pt-BR" altLang="zh-CN" sz="20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pt-BR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en-US" sz="2000" b="0" i="0" u="none" strike="noStrike" baseline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algn="l" rtl="0"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假言易位         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®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Û 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Ø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®Ø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zh-CN" altLang="en-US" sz="2000" b="0" i="0" u="none" strike="noStrike" baseline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algn="l" rtl="0"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等价否定等值式   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«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Û 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Ø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«Ø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zh-CN" altLang="en-US" sz="2000" b="0" i="0" u="none" strike="noStrike" baseline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algn="l" rtl="0"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归谬论           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®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Ù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®Ø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en-US" altLang="zh-CN" sz="2000" b="1" i="0" u="none" strike="noStrike" baseline="0" dirty="0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Û </a:t>
            </a:r>
            <a:r>
              <a:rPr lang="en-US" altLang="zh-CN" sz="2000" b="1" i="0" u="none" strike="noStrike" baseline="0" dirty="0" err="1">
                <a:solidFill>
                  <a:srgbClr val="000000"/>
                </a:solidFill>
                <a:latin typeface="Symbol" panose="05050102010706020507" pitchFamily="18" charset="2"/>
                <a:ea typeface="宋体" panose="02010600030101010101" pitchFamily="2" charset="-122"/>
              </a:rPr>
              <a:t>Ø</a:t>
            </a:r>
            <a:r>
              <a:rPr lang="en-US" altLang="zh-CN" sz="2000" b="1" i="1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zh-CN" altLang="en-US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14B10F4-9E60-4307-8C6A-63DEDF7392F4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28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25472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49">
            <a:extLst>
              <a:ext uri="{FF2B5EF4-FFF2-40B4-BE49-F238E27FC236}">
                <a16:creationId xmlns:a16="http://schemas.microsoft.com/office/drawing/2014/main" id="{9E4D8FBA-3F74-41FC-B6A1-047CF1507AB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等值演算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956DD194-11EB-4CA9-A2F2-F961CCA6C187}"/>
              </a:ext>
            </a:extLst>
          </p:cNvPr>
          <p:cNvSpPr txBox="1">
            <a:spLocks noChangeArrowheads="1"/>
          </p:cNvSpPr>
          <p:nvPr/>
        </p:nvSpPr>
        <p:spPr>
          <a:xfrm>
            <a:off x="611188" y="1989139"/>
            <a:ext cx="9989079" cy="7947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等值演算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由已知的等值式推演出新的等值式的过程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3548A0D-5A1E-49A5-AF38-477CE1FA5C5E}"/>
              </a:ext>
            </a:extLst>
          </p:cNvPr>
          <p:cNvSpPr txBox="1">
            <a:spLocks noChangeArrowheads="1"/>
          </p:cNvSpPr>
          <p:nvPr/>
        </p:nvSpPr>
        <p:spPr>
          <a:xfrm>
            <a:off x="589280" y="4924761"/>
            <a:ext cx="11109141" cy="162359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269875" algn="l"/>
              </a:tabLst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置换规则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zh-CN" altLang="en-US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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(A)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是含公式 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的命题公式，</a:t>
            </a:r>
            <a:r>
              <a:rPr lang="zh-CN" altLang="en-US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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(B)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是用公式 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置换</a:t>
            </a:r>
            <a:r>
              <a:rPr lang="zh-CN" altLang="en-US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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(A)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中所有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  <a:tabLst>
                <a:tab pos="269875" algn="l"/>
              </a:tabLst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 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后得到的命题公式 </a:t>
            </a:r>
          </a:p>
          <a:p>
            <a:pPr marL="0" indent="0" algn="just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若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B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zh-CN" altLang="en-US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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(B)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zh-CN" altLang="en-US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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(A)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6A2CE3BA-18DB-42C3-92E2-1FD70C8259DF}"/>
              </a:ext>
            </a:extLst>
          </p:cNvPr>
          <p:cNvSpPr txBox="1">
            <a:spLocks noChangeArrowheads="1"/>
          </p:cNvSpPr>
          <p:nvPr/>
        </p:nvSpPr>
        <p:spPr>
          <a:xfrm>
            <a:off x="611188" y="2638705"/>
            <a:ext cx="9989079" cy="21855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等值演算的基础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等值关系的性质：自反、对称、传递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基本的等值式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置换规则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E8BDCE1-E18C-42C0-BCBD-1EB4C2BA53C3}"/>
              </a:ext>
            </a:extLst>
          </p:cNvPr>
          <p:cNvSpPr txBox="1"/>
          <p:nvPr/>
        </p:nvSpPr>
        <p:spPr>
          <a:xfrm>
            <a:off x="5019035" y="954181"/>
            <a:ext cx="17363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基本等值式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5BA477E-F755-4125-9BFD-CCC78F3E158C}"/>
              </a:ext>
            </a:extLst>
          </p:cNvPr>
          <p:cNvSpPr txBox="1"/>
          <p:nvPr/>
        </p:nvSpPr>
        <p:spPr>
          <a:xfrm>
            <a:off x="589280" y="962184"/>
            <a:ext cx="1165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等值式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9F4D00E-6D67-4E8F-B71E-56E66F5AE114}"/>
              </a:ext>
            </a:extLst>
          </p:cNvPr>
          <p:cNvSpPr txBox="1"/>
          <p:nvPr/>
        </p:nvSpPr>
        <p:spPr>
          <a:xfrm>
            <a:off x="10318547" y="962184"/>
            <a:ext cx="14128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等值演算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0450FB1-FF7A-4DF7-9C9A-36D061E4FBFA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29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963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49">
            <a:extLst>
              <a:ext uri="{FF2B5EF4-FFF2-40B4-BE49-F238E27FC236}">
                <a16:creationId xmlns:a16="http://schemas.microsoft.com/office/drawing/2014/main" id="{9E4D8FBA-3F74-41FC-B6A1-047CF1507AB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等值演算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495E7BA5-D1C6-471A-9AB6-9D9C780C1A49}"/>
              </a:ext>
            </a:extLst>
          </p:cNvPr>
          <p:cNvSpPr txBox="1">
            <a:spLocks noChangeArrowheads="1"/>
          </p:cNvSpPr>
          <p:nvPr/>
        </p:nvSpPr>
        <p:spPr>
          <a:xfrm>
            <a:off x="589280" y="1638291"/>
            <a:ext cx="7926388" cy="3124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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（蕴涵等值式，置换规则）</a:t>
            </a:r>
          </a:p>
          <a:p>
            <a:pPr algn="just"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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（结合律，置换规则）</a:t>
            </a:r>
          </a:p>
          <a:p>
            <a:pPr algn="just"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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（德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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摩根律，置换规则）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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（蕴涵等值式，置换规则） 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9D39AE31-2278-420C-85C8-F337F3A727AC}"/>
              </a:ext>
            </a:extLst>
          </p:cNvPr>
          <p:cNvSpPr txBox="1">
            <a:spLocks noChangeArrowheads="1"/>
          </p:cNvSpPr>
          <p:nvPr/>
        </p:nvSpPr>
        <p:spPr>
          <a:xfrm>
            <a:off x="443230" y="5136737"/>
            <a:ext cx="8218488" cy="141161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10000"/>
              </a:lnSpc>
              <a:spcBef>
                <a:spcPct val="35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今后在注明中省去置换规则</a:t>
            </a:r>
          </a:p>
          <a:p>
            <a:pPr lvl="1">
              <a:lnSpc>
                <a:spcPct val="110000"/>
              </a:lnSpc>
              <a:spcBef>
                <a:spcPct val="35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注意：用等值演算</a:t>
            </a:r>
            <a:r>
              <a:rPr lang="zh-CN" altLang="en-US" sz="240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不能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直接证明两个公式不等值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25E2B70-EAC8-4E18-BA62-89736FAD1D9D}"/>
              </a:ext>
            </a:extLst>
          </p:cNvPr>
          <p:cNvSpPr txBox="1"/>
          <p:nvPr/>
        </p:nvSpPr>
        <p:spPr>
          <a:xfrm>
            <a:off x="5019035" y="954181"/>
            <a:ext cx="17363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基本等值式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CFEB09F-14A0-4164-B021-52976459703E}"/>
              </a:ext>
            </a:extLst>
          </p:cNvPr>
          <p:cNvSpPr txBox="1"/>
          <p:nvPr/>
        </p:nvSpPr>
        <p:spPr>
          <a:xfrm>
            <a:off x="589280" y="962184"/>
            <a:ext cx="1165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等值式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AC37904-66B2-4C41-9DAB-92DAFBC209B4}"/>
              </a:ext>
            </a:extLst>
          </p:cNvPr>
          <p:cNvSpPr txBox="1"/>
          <p:nvPr/>
        </p:nvSpPr>
        <p:spPr>
          <a:xfrm>
            <a:off x="10318547" y="962184"/>
            <a:ext cx="14128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等值演算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6295190-3579-44CC-9D17-15F8A945D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4225" y="2027013"/>
            <a:ext cx="3527531" cy="366586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AB58CA7-4149-45BA-9211-F836B75B7DF6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30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6086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49">
            <a:extLst>
              <a:ext uri="{FF2B5EF4-FFF2-40B4-BE49-F238E27FC236}">
                <a16:creationId xmlns:a16="http://schemas.microsoft.com/office/drawing/2014/main" id="{9E4D8FBA-3F74-41FC-B6A1-047CF1507AB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等值演算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CE23BD4-8C3D-44A9-BBB4-3D8F8FA1722F}"/>
              </a:ext>
            </a:extLst>
          </p:cNvPr>
          <p:cNvSpPr txBox="1">
            <a:spLocks noChangeArrowheads="1"/>
          </p:cNvSpPr>
          <p:nvPr/>
        </p:nvSpPr>
        <p:spPr>
          <a:xfrm>
            <a:off x="589280" y="1638291"/>
            <a:ext cx="11480799" cy="24032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例：证明两个公式不等值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p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q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p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</a:rPr>
              <a:t>)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600" i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不等值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方法一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真值表法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自行证明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4868492-E0DA-44B8-B7F6-D41D10D92250}"/>
              </a:ext>
            </a:extLst>
          </p:cNvPr>
          <p:cNvSpPr txBox="1">
            <a:spLocks noChangeArrowheads="1"/>
          </p:cNvSpPr>
          <p:nvPr/>
        </p:nvSpPr>
        <p:spPr>
          <a:xfrm>
            <a:off x="1104068" y="4093171"/>
            <a:ext cx="10783132" cy="70565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方法二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观察法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观察到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000, 010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是左边的成真赋值，是右边的成假赋值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F23D151-DC45-43AE-B2C0-DA1614DADED3}"/>
              </a:ext>
            </a:extLst>
          </p:cNvPr>
          <p:cNvSpPr txBox="1">
            <a:spLocks noChangeArrowheads="1"/>
          </p:cNvSpPr>
          <p:nvPr/>
        </p:nvSpPr>
        <p:spPr>
          <a:xfrm>
            <a:off x="1104066" y="4936182"/>
            <a:ext cx="10980189" cy="15495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方法三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先用等值演算化简公式，然后再观察</a:t>
            </a:r>
          </a:p>
          <a:p>
            <a:pPr marL="0" indent="0">
              <a:buNone/>
            </a:pPr>
            <a:r>
              <a:rPr lang="zh-CN" altLang="en-US" b="1" i="1" dirty="0">
                <a:latin typeface="Times New Roman" panose="02020603050405020304" pitchFamily="18" charset="0"/>
              </a:rPr>
              <a:t>                    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p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q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 </a:t>
            </a:r>
            <a:r>
              <a:rPr lang="en-US" altLang="zh-CN" sz="26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 </a:t>
            </a:r>
            <a:r>
              <a:rPr lang="en-US" altLang="zh-CN" sz="26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q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6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 (</a:t>
            </a:r>
            <a:r>
              <a:rPr lang="en-US" altLang="zh-CN" sz="26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6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q)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6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 </a:t>
            </a:r>
          </a:p>
          <a:p>
            <a:pPr marL="0" indent="0">
              <a:buNone/>
            </a:pPr>
            <a:r>
              <a:rPr lang="en-US" altLang="zh-CN" sz="2600" dirty="0">
                <a:latin typeface="Times New Roman" panose="02020603050405020304" pitchFamily="18" charset="0"/>
              </a:rPr>
              <a:t>                     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p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r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(</a:t>
            </a:r>
            <a:r>
              <a:rPr lang="en-US" altLang="zh-CN" sz="26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6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)  </a:t>
            </a:r>
            <a:r>
              <a:rPr lang="en-US" altLang="zh-CN" sz="26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(</a:t>
            </a:r>
            <a:r>
              <a:rPr lang="en-US" altLang="zh-CN" sz="26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 </a:t>
            </a:r>
            <a:r>
              <a:rPr lang="en-US" altLang="zh-CN" sz="26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q 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) </a:t>
            </a:r>
            <a:r>
              <a:rPr lang="en-US" altLang="zh-CN" sz="26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6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更容易判断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088C015-BA33-4531-B196-EEF7C41072B0}"/>
              </a:ext>
            </a:extLst>
          </p:cNvPr>
          <p:cNvSpPr txBox="1"/>
          <p:nvPr/>
        </p:nvSpPr>
        <p:spPr>
          <a:xfrm>
            <a:off x="5019035" y="954181"/>
            <a:ext cx="17363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基本等值式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A85028F-8E3A-48C3-A78B-4311476EAE8F}"/>
              </a:ext>
            </a:extLst>
          </p:cNvPr>
          <p:cNvSpPr txBox="1"/>
          <p:nvPr/>
        </p:nvSpPr>
        <p:spPr>
          <a:xfrm>
            <a:off x="589280" y="962184"/>
            <a:ext cx="1165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等值式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BC3040E-77FC-40BB-8646-6DD4A0E3C595}"/>
              </a:ext>
            </a:extLst>
          </p:cNvPr>
          <p:cNvSpPr txBox="1"/>
          <p:nvPr/>
        </p:nvSpPr>
        <p:spPr>
          <a:xfrm>
            <a:off x="10318547" y="962184"/>
            <a:ext cx="14128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等值演算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12CB7C1-AE15-485C-8341-8581A55BC70E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31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0020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49">
            <a:extLst>
              <a:ext uri="{FF2B5EF4-FFF2-40B4-BE49-F238E27FC236}">
                <a16:creationId xmlns:a16="http://schemas.microsoft.com/office/drawing/2014/main" id="{9E4D8FBA-3F74-41FC-B6A1-047CF1507AB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等值演算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F54EEF3-775B-425F-99E4-65BF178FA678}"/>
              </a:ext>
            </a:extLst>
          </p:cNvPr>
          <p:cNvSpPr txBox="1">
            <a:spLocks noChangeArrowheads="1"/>
          </p:cNvSpPr>
          <p:nvPr/>
        </p:nvSpPr>
        <p:spPr>
          <a:xfrm>
            <a:off x="644175" y="1604859"/>
            <a:ext cx="9102653" cy="2362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判断公式类型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为矛盾式当且仅当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0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 	        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为重言式当且仅当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1</a:t>
            </a:r>
          </a:p>
          <a:p>
            <a:pPr marL="0" indent="0">
              <a:lnSpc>
                <a:spcPct val="8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例：用等值演算法判断下列公式的类型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6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q </a:t>
            </a:r>
            <a:r>
              <a:rPr lang="en-US" altLang="zh-CN" sz="26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 </a:t>
            </a:r>
            <a:r>
              <a:rPr lang="en-US" altLang="zh-CN" sz="26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600" b="1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600" b="1" dirty="0" err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600" b="1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zh-CN" sz="26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9A5FA08B-0C01-4908-AE85-010EDAF83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056" y="3613660"/>
            <a:ext cx="8497888" cy="309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解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en-US" altLang="zh-CN" i="1" dirty="0">
                <a:latin typeface="Times New Roman" panose="02020603050405020304" pitchFamily="18" charset="0"/>
              </a:rPr>
              <a:t>q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 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</a:p>
          <a:p>
            <a:r>
              <a:rPr lang="en-US" altLang="zh-CN" dirty="0">
                <a:latin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q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 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) 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（蕴涵等值式）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q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)   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（德摩根律）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p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)   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（交换律，结合律）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p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dirty="0">
                <a:latin typeface="Times New Roman" panose="02020603050405020304" pitchFamily="18" charset="0"/>
              </a:rPr>
              <a:t>0             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（矛盾律）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0                 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（零律）</a:t>
            </a:r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该式为</a:t>
            </a:r>
            <a:r>
              <a:rPr lang="zh-CN" altLang="en-US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矛盾式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125638-20E8-4884-AF7E-8C63148E26C3}"/>
              </a:ext>
            </a:extLst>
          </p:cNvPr>
          <p:cNvSpPr txBox="1"/>
          <p:nvPr/>
        </p:nvSpPr>
        <p:spPr>
          <a:xfrm>
            <a:off x="5019035" y="954181"/>
            <a:ext cx="17363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基本等值式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7EE9027-983D-4A13-850A-B362E7E50047}"/>
              </a:ext>
            </a:extLst>
          </p:cNvPr>
          <p:cNvSpPr txBox="1"/>
          <p:nvPr/>
        </p:nvSpPr>
        <p:spPr>
          <a:xfrm>
            <a:off x="589280" y="962184"/>
            <a:ext cx="1165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等值式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583BD1-1949-4FE7-B5DA-8B0C2ADD90E6}"/>
              </a:ext>
            </a:extLst>
          </p:cNvPr>
          <p:cNvSpPr txBox="1"/>
          <p:nvPr/>
        </p:nvSpPr>
        <p:spPr>
          <a:xfrm>
            <a:off x="10318547" y="962184"/>
            <a:ext cx="14128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等值演算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67FD35B-6847-45E0-8F6E-5782E0948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898" y="1718660"/>
            <a:ext cx="3473952" cy="404978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3C3F021-9334-4C3A-AFD3-A556EEE8D611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32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3401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49">
            <a:extLst>
              <a:ext uri="{FF2B5EF4-FFF2-40B4-BE49-F238E27FC236}">
                <a16:creationId xmlns:a16="http://schemas.microsoft.com/office/drawing/2014/main" id="{9E4D8FBA-3F74-41FC-B6A1-047CF1507AB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等值演算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F54EEF3-775B-425F-99E4-65BF178FA678}"/>
              </a:ext>
            </a:extLst>
          </p:cNvPr>
          <p:cNvSpPr txBox="1">
            <a:spLocks noChangeArrowheads="1"/>
          </p:cNvSpPr>
          <p:nvPr/>
        </p:nvSpPr>
        <p:spPr>
          <a:xfrm>
            <a:off x="644175" y="1604859"/>
            <a:ext cx="9102653" cy="2362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例：用等值演算法判断下列公式的类型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55C7B52-8F95-45CC-894B-80B036057DFF}"/>
              </a:ext>
            </a:extLst>
          </p:cNvPr>
          <p:cNvSpPr txBox="1">
            <a:spLocks noChangeArrowheads="1"/>
          </p:cNvSpPr>
          <p:nvPr/>
        </p:nvSpPr>
        <p:spPr>
          <a:xfrm>
            <a:off x="1463039" y="2279613"/>
            <a:ext cx="7841505" cy="5198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24981977-C144-40B4-AC47-F923CF9644B1}"/>
              </a:ext>
            </a:extLst>
          </p:cNvPr>
          <p:cNvSpPr txBox="1">
            <a:spLocks noChangeArrowheads="1"/>
          </p:cNvSpPr>
          <p:nvPr/>
        </p:nvSpPr>
        <p:spPr>
          <a:xfrm>
            <a:off x="1331011" y="3064082"/>
            <a:ext cx="7841505" cy="29735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6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（蕴涵等值式）  </a:t>
            </a:r>
          </a:p>
          <a:p>
            <a:pPr algn="just"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（交换律）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just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由最后一步可知，该式为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重言式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025B601-ACF0-41B2-941B-3164CBEE08F1}"/>
              </a:ext>
            </a:extLst>
          </p:cNvPr>
          <p:cNvSpPr txBox="1"/>
          <p:nvPr/>
        </p:nvSpPr>
        <p:spPr>
          <a:xfrm>
            <a:off x="5019035" y="954181"/>
            <a:ext cx="17363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基本等值式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79CAF08-B8CB-44E5-9EB7-BB05973E9D1A}"/>
              </a:ext>
            </a:extLst>
          </p:cNvPr>
          <p:cNvSpPr txBox="1"/>
          <p:nvPr/>
        </p:nvSpPr>
        <p:spPr>
          <a:xfrm>
            <a:off x="589280" y="962184"/>
            <a:ext cx="1165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等值式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9FDB1FB-2A08-4C7C-B684-A8E83373D55D}"/>
              </a:ext>
            </a:extLst>
          </p:cNvPr>
          <p:cNvSpPr txBox="1"/>
          <p:nvPr/>
        </p:nvSpPr>
        <p:spPr>
          <a:xfrm>
            <a:off x="10318547" y="962184"/>
            <a:ext cx="14128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等值演算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C952ED1-9A41-4303-9A3E-BFD7E4EAE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099" y="1677364"/>
            <a:ext cx="3473952" cy="404978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5AD3EDCA-FE8B-4E21-88B5-BD159CF0DA4A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33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4407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49">
            <a:extLst>
              <a:ext uri="{FF2B5EF4-FFF2-40B4-BE49-F238E27FC236}">
                <a16:creationId xmlns:a16="http://schemas.microsoft.com/office/drawing/2014/main" id="{9E4D8FBA-3F74-41FC-B6A1-047CF1507AB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等值演算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F54EEF3-775B-425F-99E4-65BF178FA678}"/>
              </a:ext>
            </a:extLst>
          </p:cNvPr>
          <p:cNvSpPr txBox="1">
            <a:spLocks noChangeArrowheads="1"/>
          </p:cNvSpPr>
          <p:nvPr/>
        </p:nvSpPr>
        <p:spPr>
          <a:xfrm>
            <a:off x="644175" y="1604859"/>
            <a:ext cx="9102653" cy="4932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例：用等值演算法判断下列公式的类型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01BFF279-16B2-4A8B-9809-CC486792C3A6}"/>
              </a:ext>
            </a:extLst>
          </p:cNvPr>
          <p:cNvSpPr txBox="1">
            <a:spLocks noChangeArrowheads="1"/>
          </p:cNvSpPr>
          <p:nvPr/>
        </p:nvSpPr>
        <p:spPr>
          <a:xfrm>
            <a:off x="1305137" y="2106227"/>
            <a:ext cx="9586138" cy="4625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E5FE35CE-754B-4454-A0FC-BB55903A48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175" y="5810750"/>
            <a:ext cx="10247100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总结：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为矛盾式当且仅当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; 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为重言式当且仅当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说明：演算步骤不唯一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应尽量使演算短些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BEA3321-0764-490E-A1CE-C8F48A3E4F3D}"/>
              </a:ext>
            </a:extLst>
          </p:cNvPr>
          <p:cNvSpPr txBox="1"/>
          <p:nvPr/>
        </p:nvSpPr>
        <p:spPr>
          <a:xfrm>
            <a:off x="5019035" y="954181"/>
            <a:ext cx="17363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基本等值式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E856D30-94C0-4261-9186-D1BF6880FBDC}"/>
              </a:ext>
            </a:extLst>
          </p:cNvPr>
          <p:cNvSpPr txBox="1"/>
          <p:nvPr/>
        </p:nvSpPr>
        <p:spPr>
          <a:xfrm>
            <a:off x="589280" y="962184"/>
            <a:ext cx="11650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80000"/>
              </a:spcBef>
              <a:buSzPct val="150000"/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等值式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AFD6B7B-E78F-4ECB-8C0B-E61808E8B611}"/>
              </a:ext>
            </a:extLst>
          </p:cNvPr>
          <p:cNvSpPr txBox="1"/>
          <p:nvPr/>
        </p:nvSpPr>
        <p:spPr>
          <a:xfrm>
            <a:off x="10318547" y="962184"/>
            <a:ext cx="14128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等值演算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4608B82-8DBB-4F84-AE8C-7D6502110AAC}"/>
              </a:ext>
            </a:extLst>
          </p:cNvPr>
          <p:cNvSpPr txBox="1">
            <a:spLocks noChangeArrowheads="1"/>
          </p:cNvSpPr>
          <p:nvPr/>
        </p:nvSpPr>
        <p:spPr>
          <a:xfrm>
            <a:off x="1171786" y="2685286"/>
            <a:ext cx="9586138" cy="35312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（分配律）</a:t>
            </a:r>
          </a:p>
          <a:p>
            <a:pPr algn="just"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（排中律）</a:t>
            </a:r>
          </a:p>
          <a:p>
            <a:pPr algn="just"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（同一律）</a:t>
            </a:r>
          </a:p>
          <a:p>
            <a:pPr algn="just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这不是矛盾式，也不是重言式，而是非重言式的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可满足式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algn="just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如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101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是它的成真赋值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,000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是它的成假赋值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94D85A5-D5DA-4087-84DD-B015DD579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7191" y="1763907"/>
            <a:ext cx="2908842" cy="33910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628C131-EA41-4D3D-B034-F64FA0128F2C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34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562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737ADB-6E34-4CE0-9620-E44EB1A6184E}"/>
              </a:ext>
            </a:extLst>
          </p:cNvPr>
          <p:cNvSpPr txBox="1">
            <a:spLocks noChangeArrowheads="1"/>
          </p:cNvSpPr>
          <p:nvPr/>
        </p:nvSpPr>
        <p:spPr>
          <a:xfrm>
            <a:off x="594783" y="1519024"/>
            <a:ext cx="11002434" cy="9532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基本概念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文字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命题变项及其否定的总称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2952D47-48A1-4292-A9CB-8BD8F0832D31}"/>
              </a:ext>
            </a:extLst>
          </p:cNvPr>
          <p:cNvSpPr txBox="1">
            <a:spLocks noChangeArrowheads="1"/>
          </p:cNvSpPr>
          <p:nvPr/>
        </p:nvSpPr>
        <p:spPr>
          <a:xfrm>
            <a:off x="594782" y="2687532"/>
            <a:ext cx="11529485" cy="9532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(2)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简单析取式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有限个文字构成的析取式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如 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,  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b="1" i="1" dirty="0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, 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, …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7476073D-927F-4E5C-BC60-8EB91930AD3B}"/>
              </a:ext>
            </a:extLst>
          </p:cNvPr>
          <p:cNvSpPr txBox="1">
            <a:spLocks noChangeArrowheads="1"/>
          </p:cNvSpPr>
          <p:nvPr/>
        </p:nvSpPr>
        <p:spPr>
          <a:xfrm>
            <a:off x="594783" y="3439261"/>
            <a:ext cx="11482070" cy="5499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(3)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简单合取式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有限个文字构成的合取式，如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,  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, …</a:t>
            </a:r>
          </a:p>
          <a:p>
            <a:pPr marL="0" indent="0">
              <a:buNone/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452683A-9A24-47BE-BD60-0F65C9548BFD}"/>
              </a:ext>
            </a:extLst>
          </p:cNvPr>
          <p:cNvSpPr txBox="1">
            <a:spLocks noChangeArrowheads="1"/>
          </p:cNvSpPr>
          <p:nvPr/>
        </p:nvSpPr>
        <p:spPr>
          <a:xfrm>
            <a:off x="594783" y="4196079"/>
            <a:ext cx="10154497" cy="9532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(4)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析取范式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由有限个简单合取式组成的析取式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       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</a:rPr>
              <a:t>, 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i="1" dirty="0">
                <a:latin typeface="Times New Roman" panose="02020603050405020304" pitchFamily="18" charset="0"/>
              </a:rPr>
              <a:t>,  p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b="1" i="1" dirty="0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,  (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(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)(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630EFA1F-DE56-406D-BC17-590BA75920CF}"/>
              </a:ext>
            </a:extLst>
          </p:cNvPr>
          <p:cNvSpPr txBox="1">
            <a:spLocks noChangeArrowheads="1"/>
          </p:cNvSpPr>
          <p:nvPr/>
        </p:nvSpPr>
        <p:spPr>
          <a:xfrm>
            <a:off x="594782" y="5356232"/>
            <a:ext cx="10082741" cy="102631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(5)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合取范式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由有限个简单析取式组成的合取式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       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</a:rPr>
              <a:t>,   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b="1" i="1" dirty="0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, 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i="1" dirty="0">
                <a:latin typeface="Times New Roman" panose="02020603050405020304" pitchFamily="18" charset="0"/>
              </a:rPr>
              <a:t>, </a:t>
            </a:r>
            <a:r>
              <a:rPr lang="en-US" altLang="zh-CN" b="1" dirty="0">
                <a:latin typeface="Times New Roman" panose="02020603050405020304" pitchFamily="18" charset="0"/>
              </a:rPr>
              <a:t> 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(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b="1" i="1" dirty="0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BB4E17F-A1E6-4114-B146-A7D7A1B65DFB}"/>
              </a:ext>
            </a:extLst>
          </p:cNvPr>
          <p:cNvSpPr txBox="1"/>
          <p:nvPr/>
        </p:nvSpPr>
        <p:spPr>
          <a:xfrm>
            <a:off x="485775" y="953265"/>
            <a:ext cx="26096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791DED34-D035-47E7-B7AE-B0AEC3C3C446}"/>
              </a:ext>
            </a:extLst>
          </p:cNvPr>
          <p:cNvSpPr txBox="1">
            <a:spLocks noChangeArrowheads="1"/>
          </p:cNvSpPr>
          <p:nvPr/>
        </p:nvSpPr>
        <p:spPr>
          <a:xfrm>
            <a:off x="3508747" y="954252"/>
            <a:ext cx="2018607" cy="3131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命题公式的范式 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7B8EC863-C5D8-418E-93C8-77F0091B3B30}"/>
              </a:ext>
            </a:extLst>
          </p:cNvPr>
          <p:cNvSpPr txBox="1">
            <a:spLocks noChangeArrowheads="1"/>
          </p:cNvSpPr>
          <p:nvPr/>
        </p:nvSpPr>
        <p:spPr>
          <a:xfrm>
            <a:off x="6106098" y="954746"/>
            <a:ext cx="2165879" cy="3131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极小项与极大项 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A769786-2796-49AC-9BE8-93827B92B760}"/>
              </a:ext>
            </a:extLst>
          </p:cNvPr>
          <p:cNvSpPr txBox="1"/>
          <p:nvPr/>
        </p:nvSpPr>
        <p:spPr>
          <a:xfrm>
            <a:off x="8697434" y="947973"/>
            <a:ext cx="30153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343D160-1E5D-4E6E-8734-0A2D607B50C6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35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7669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737ADB-6E34-4CE0-9620-E44EB1A6184E}"/>
              </a:ext>
            </a:extLst>
          </p:cNvPr>
          <p:cNvSpPr txBox="1">
            <a:spLocks noChangeArrowheads="1"/>
          </p:cNvSpPr>
          <p:nvPr/>
        </p:nvSpPr>
        <p:spPr>
          <a:xfrm>
            <a:off x="486410" y="1905105"/>
            <a:ext cx="8400202" cy="190997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范式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析取范式与合取范式的总称 </a:t>
            </a:r>
          </a:p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公式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的析取范式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等值的析取范式</a:t>
            </a:r>
          </a:p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公式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的合取范式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等值的合取范式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13C01A-1D95-4E6A-9984-41D85D24C56A}"/>
              </a:ext>
            </a:extLst>
          </p:cNvPr>
          <p:cNvSpPr txBox="1"/>
          <p:nvPr/>
        </p:nvSpPr>
        <p:spPr>
          <a:xfrm>
            <a:off x="485775" y="953265"/>
            <a:ext cx="26096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D12ECD5-1FCA-44D4-B813-F4180BDA4752}"/>
              </a:ext>
            </a:extLst>
          </p:cNvPr>
          <p:cNvSpPr txBox="1">
            <a:spLocks noChangeArrowheads="1"/>
          </p:cNvSpPr>
          <p:nvPr/>
        </p:nvSpPr>
        <p:spPr>
          <a:xfrm>
            <a:off x="3508747" y="954252"/>
            <a:ext cx="2018607" cy="3131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命题公式的范式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FA2BC71-E082-424A-A29F-1472994116AA}"/>
              </a:ext>
            </a:extLst>
          </p:cNvPr>
          <p:cNvSpPr txBox="1">
            <a:spLocks noChangeArrowheads="1"/>
          </p:cNvSpPr>
          <p:nvPr/>
        </p:nvSpPr>
        <p:spPr>
          <a:xfrm>
            <a:off x="6106098" y="954746"/>
            <a:ext cx="2165879" cy="3131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极小项与极大项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E217B2F-3DF7-4AE9-9E14-92D596747B8B}"/>
              </a:ext>
            </a:extLst>
          </p:cNvPr>
          <p:cNvSpPr txBox="1"/>
          <p:nvPr/>
        </p:nvSpPr>
        <p:spPr>
          <a:xfrm>
            <a:off x="8697434" y="947973"/>
            <a:ext cx="30153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D63D535-316E-4D72-9982-58ED5265A849}"/>
              </a:ext>
            </a:extLst>
          </p:cNvPr>
          <p:cNvSpPr txBox="1">
            <a:spLocks noChangeArrowheads="1"/>
          </p:cNvSpPr>
          <p:nvPr/>
        </p:nvSpPr>
        <p:spPr>
          <a:xfrm>
            <a:off x="1119504" y="4888899"/>
            <a:ext cx="10491897" cy="4972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既是析取范式，又是合取范式，为什么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? 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4055B9DE-E996-4CA4-A483-37A86368689F}"/>
              </a:ext>
            </a:extLst>
          </p:cNvPr>
          <p:cNvSpPr txBox="1">
            <a:spLocks noChangeArrowheads="1"/>
          </p:cNvSpPr>
          <p:nvPr/>
        </p:nvSpPr>
        <p:spPr>
          <a:xfrm>
            <a:off x="377402" y="3756396"/>
            <a:ext cx="10385996" cy="1240873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algn="just">
              <a:spcBef>
                <a:spcPts val="1000"/>
              </a:spcBef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说明：</a:t>
            </a:r>
          </a:p>
          <a:p>
            <a:pPr lvl="1">
              <a:lnSpc>
                <a:spcPct val="110000"/>
              </a:lnSpc>
              <a:spcBef>
                <a:spcPct val="350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单个文字既是简单析取式，又是简单合取式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A1F3526-891B-4D03-B323-2E172CEF25BF}"/>
              </a:ext>
            </a:extLst>
          </p:cNvPr>
          <p:cNvSpPr txBox="1">
            <a:spLocks noChangeArrowheads="1"/>
          </p:cNvSpPr>
          <p:nvPr/>
        </p:nvSpPr>
        <p:spPr>
          <a:xfrm>
            <a:off x="1083125" y="5678159"/>
            <a:ext cx="10491897" cy="10913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既是由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个简单析取式（单个文字）构成的合取范式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又是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个简单合取式构成的析取范式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291CEAA-C363-4F1E-8C6B-61359759E176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36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9005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7C492B8-36C8-4E0B-AC0E-34D03CB59764}"/>
              </a:ext>
            </a:extLst>
          </p:cNvPr>
          <p:cNvSpPr txBox="1">
            <a:spLocks noChangeArrowheads="1"/>
          </p:cNvSpPr>
          <p:nvPr/>
        </p:nvSpPr>
        <p:spPr>
          <a:xfrm>
            <a:off x="485775" y="1744040"/>
            <a:ext cx="10424054" cy="108362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en-US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范式存在定理</a:t>
            </a:r>
            <a:r>
              <a:rPr lang="en-US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任何命题公式都存在着与之等值的析取范式与合取范式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25C547FA-BB36-4757-B0CA-A12F78FA8773}"/>
              </a:ext>
            </a:extLst>
          </p:cNvPr>
          <p:cNvSpPr txBox="1">
            <a:spLocks noChangeArrowheads="1"/>
          </p:cNvSpPr>
          <p:nvPr/>
        </p:nvSpPr>
        <p:spPr>
          <a:xfrm>
            <a:off x="485775" y="2942810"/>
            <a:ext cx="10424054" cy="31870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求公式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的范式的步骤：</a:t>
            </a:r>
          </a:p>
          <a:p>
            <a:pPr algn="just"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(1)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消去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中的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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（若存在）</a:t>
            </a:r>
          </a:p>
          <a:p>
            <a:pPr algn="just"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(2)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否定联结词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的内移或消去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(3)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使用分配律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分配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（析取范式）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分配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（合取范式）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FA2FD36-FD25-420D-BFF0-21BCBF8CCE90}"/>
              </a:ext>
            </a:extLst>
          </p:cNvPr>
          <p:cNvSpPr txBox="1"/>
          <p:nvPr/>
        </p:nvSpPr>
        <p:spPr>
          <a:xfrm>
            <a:off x="1009227" y="612986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公式的范式存在，但不唯一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E425541-21A0-447B-86D5-CBD542BC999F}"/>
              </a:ext>
            </a:extLst>
          </p:cNvPr>
          <p:cNvSpPr txBox="1"/>
          <p:nvPr/>
        </p:nvSpPr>
        <p:spPr>
          <a:xfrm>
            <a:off x="485775" y="953265"/>
            <a:ext cx="25267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4D963EE1-9360-426D-B95E-32A2E0739D46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129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BC021234-70FE-432A-9E1D-1A0B1FE418EB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61463" cy="3131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极小项与极大项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470624C-F9C6-4616-A4DC-EE64CD3F41FD}"/>
              </a:ext>
            </a:extLst>
          </p:cNvPr>
          <p:cNvSpPr txBox="1"/>
          <p:nvPr/>
        </p:nvSpPr>
        <p:spPr>
          <a:xfrm>
            <a:off x="8832427" y="947973"/>
            <a:ext cx="3125935" cy="40011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2B8E4B-8F7F-4541-BEAA-EAFE15D49174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37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0931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E31823F-5920-4838-9A36-2F7D28EEFC38}"/>
              </a:ext>
            </a:extLst>
          </p:cNvPr>
          <p:cNvSpPr txBox="1">
            <a:spLocks noChangeArrowheads="1"/>
          </p:cNvSpPr>
          <p:nvPr/>
        </p:nvSpPr>
        <p:spPr>
          <a:xfrm>
            <a:off x="485775" y="1825202"/>
            <a:ext cx="11332210" cy="11144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 求下列公式的析取范式与合取范式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C143177-08BA-483D-A911-C0B2DE70AAA9}"/>
              </a:ext>
            </a:extLst>
          </p:cNvPr>
          <p:cNvSpPr txBox="1">
            <a:spLocks noChangeArrowheads="1"/>
          </p:cNvSpPr>
          <p:nvPr/>
        </p:nvSpPr>
        <p:spPr>
          <a:xfrm>
            <a:off x="485775" y="3036685"/>
            <a:ext cx="7337707" cy="16044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解：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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（消去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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（结合律）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904D1438-6DBE-42EB-B472-00FE83DE6187}"/>
              </a:ext>
            </a:extLst>
          </p:cNvPr>
          <p:cNvSpPr txBox="1">
            <a:spLocks noChangeArrowheads="1"/>
          </p:cNvSpPr>
          <p:nvPr/>
        </p:nvSpPr>
        <p:spPr>
          <a:xfrm>
            <a:off x="494030" y="5077851"/>
            <a:ext cx="11332210" cy="118118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这既是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的析取范式（由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个简单合取式组成的析取式）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又是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的合取范式（由一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个简单析取式组成的合取式）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9D8282-B071-4EE8-AA2C-F0602BA01FF9}"/>
              </a:ext>
            </a:extLst>
          </p:cNvPr>
          <p:cNvSpPr txBox="1"/>
          <p:nvPr/>
        </p:nvSpPr>
        <p:spPr>
          <a:xfrm>
            <a:off x="485775" y="953265"/>
            <a:ext cx="25267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7B074A27-ED07-41BE-A8F7-95602C197A42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129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850FAA24-62BD-4957-A7C6-053DA98A33E7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61463" cy="3131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极小项与极大项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0972A57-563E-4D37-9F8D-4B74E6970E4D}"/>
              </a:ext>
            </a:extLst>
          </p:cNvPr>
          <p:cNvSpPr txBox="1"/>
          <p:nvPr/>
        </p:nvSpPr>
        <p:spPr>
          <a:xfrm>
            <a:off x="8832427" y="947973"/>
            <a:ext cx="3125935" cy="40011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8C4EF52-C3BD-4342-8EF8-36F7386B27DD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38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7499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13C01A-1D95-4E6A-9984-41D85D24C56A}"/>
              </a:ext>
            </a:extLst>
          </p:cNvPr>
          <p:cNvSpPr txBox="1"/>
          <p:nvPr/>
        </p:nvSpPr>
        <p:spPr>
          <a:xfrm>
            <a:off x="485775" y="953265"/>
            <a:ext cx="25267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D12ECD5-1FCA-44D4-B813-F4180BDA4752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129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FA2BC71-E082-424A-A29F-1472994116AA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61463" cy="3131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极小项与极大项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E217B2F-3DF7-4AE9-9E14-92D596747B8B}"/>
              </a:ext>
            </a:extLst>
          </p:cNvPr>
          <p:cNvSpPr txBox="1"/>
          <p:nvPr/>
        </p:nvSpPr>
        <p:spPr>
          <a:xfrm>
            <a:off x="8832427" y="947973"/>
            <a:ext cx="3125935" cy="40011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0537D2C-550B-41E7-8F8E-3C78B9422E1C}"/>
              </a:ext>
            </a:extLst>
          </p:cNvPr>
          <p:cNvSpPr txBox="1">
            <a:spLocks noChangeArrowheads="1"/>
          </p:cNvSpPr>
          <p:nvPr/>
        </p:nvSpPr>
        <p:spPr>
          <a:xfrm>
            <a:off x="684213" y="1557338"/>
            <a:ext cx="10491787" cy="4573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 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900D289-531D-4951-8FD7-0ACD275078AD}"/>
              </a:ext>
            </a:extLst>
          </p:cNvPr>
          <p:cNvSpPr txBox="1">
            <a:spLocks noChangeArrowheads="1"/>
          </p:cNvSpPr>
          <p:nvPr/>
        </p:nvSpPr>
        <p:spPr>
          <a:xfrm>
            <a:off x="684213" y="2249418"/>
            <a:ext cx="10491787" cy="27086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  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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（消去第一个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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（消去第二个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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 </a:t>
            </a:r>
          </a:p>
          <a:p>
            <a:pPr algn="just">
              <a:buNone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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（否定号内移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德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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摩根律）</a:t>
            </a:r>
          </a:p>
          <a:p>
            <a:pPr algn="just">
              <a:spcBef>
                <a:spcPts val="18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这一步已为析取范式（两个简单合取式构成）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ABD306D-BC10-4F09-AF39-AC0071B7C9B9}"/>
              </a:ext>
            </a:extLst>
          </p:cNvPr>
          <p:cNvSpPr txBox="1">
            <a:spLocks noChangeArrowheads="1"/>
          </p:cNvSpPr>
          <p:nvPr/>
        </p:nvSpPr>
        <p:spPr>
          <a:xfrm>
            <a:off x="663272" y="5048820"/>
            <a:ext cx="10491787" cy="17102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继续：  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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分配律）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24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这一步得到合取范式（由两个简单析取式构成）</a:t>
            </a:r>
            <a:r>
              <a:rPr lang="zh-CN" altLang="en-US" b="1" dirty="0"/>
              <a:t>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78AD690-5F08-490E-B6D3-67BDDC8AB4C3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39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9617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97932C7-9688-49B2-999A-036EC83E335F}"/>
              </a:ext>
            </a:extLst>
          </p:cNvPr>
          <p:cNvSpPr txBox="1"/>
          <p:nvPr/>
        </p:nvSpPr>
        <p:spPr>
          <a:xfrm>
            <a:off x="563771" y="1560177"/>
            <a:ext cx="10937349" cy="1413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1.14-1.16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设有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个命题变项，若在简单合取式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简单析取式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中每个命题变项与其否定有且仅有一个出现一次，则这样的简单合取式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简单析取式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称为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极小项</a:t>
            </a:r>
            <a:r>
              <a:rPr lang="en-US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极大项）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8AC42836-3A27-4BF6-B824-FA3D63E8A9C2}"/>
              </a:ext>
            </a:extLst>
          </p:cNvPr>
          <p:cNvSpPr txBox="1">
            <a:spLocks noChangeArrowheads="1"/>
          </p:cNvSpPr>
          <p:nvPr/>
        </p:nvSpPr>
        <p:spPr>
          <a:xfrm>
            <a:off x="614081" y="3110092"/>
            <a:ext cx="11284918" cy="374790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ct val="35000"/>
              </a:spcBef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说明：</a:t>
            </a:r>
          </a:p>
          <a:p>
            <a:pPr lvl="1">
              <a:lnSpc>
                <a:spcPct val="110000"/>
              </a:lnSpc>
              <a:spcBef>
                <a:spcPct val="35000"/>
              </a:spcBef>
            </a:pPr>
            <a:r>
              <a:rPr lang="en-US" altLang="zh-CN" sz="22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个命题变项产生</a:t>
            </a:r>
            <a:r>
              <a:rPr lang="en-US" altLang="zh-CN" sz="2200" b="1" dirty="0" err="1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sz="2200" b="1" i="1" baseline="30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个极小项和</a:t>
            </a:r>
            <a:r>
              <a:rPr lang="en-US" altLang="zh-CN" sz="2200" b="1" dirty="0" err="1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sz="2200" b="1" i="1" baseline="30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个极大项</a:t>
            </a:r>
          </a:p>
          <a:p>
            <a:pPr lvl="1">
              <a:lnSpc>
                <a:spcPct val="110000"/>
              </a:lnSpc>
              <a:spcBef>
                <a:spcPct val="35000"/>
              </a:spcBef>
            </a:pPr>
            <a:r>
              <a:rPr lang="en-US" altLang="zh-CN" sz="2200" b="1" dirty="0" err="1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sz="2200" b="1" i="1" baseline="30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个极小项（极大项）均互不等值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10000"/>
              </a:lnSpc>
              <a:spcBef>
                <a:spcPct val="35000"/>
              </a:spcBef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在极小项和极大项中文字均按下标或字母顺序排列，用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400" b="1" i="1" baseline="-30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表示第</a:t>
            </a:r>
            <a:r>
              <a:rPr lang="en-US" altLang="zh-CN" sz="2200" b="1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个极小项，其中</a:t>
            </a:r>
            <a:r>
              <a:rPr lang="en-US" altLang="zh-CN" sz="2200" b="1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是该极小项成真赋值的十进制表示。用</a:t>
            </a:r>
            <a:r>
              <a:rPr lang="en-US" altLang="zh-CN" sz="2200" b="1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200" b="1" i="1" baseline="-30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表示第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个极大项，其中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是该极大项成假赋值的十进制表示，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200" b="1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200" b="1" i="1" baseline="-30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200" b="1" dirty="0">
                <a:latin typeface="宋体" pitchFamily="2" charset="-122"/>
              </a:rPr>
              <a:t>(</a:t>
            </a:r>
            <a:r>
              <a:rPr lang="en-US" altLang="zh-CN" sz="2200" b="1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200" b="1" i="1" baseline="-30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sz="2200" b="1" dirty="0">
                <a:latin typeface="宋体" pitchFamily="2" charset="-122"/>
              </a:rPr>
              <a:t>)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称为极小项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极大项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的名称</a:t>
            </a:r>
            <a:endParaRPr lang="en-US" altLang="zh-CN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10000"/>
              </a:lnSpc>
              <a:spcBef>
                <a:spcPct val="35000"/>
              </a:spcBef>
            </a:pP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400" b="1" i="1" baseline="-30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400" b="1" i="1" baseline="-30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的关系</a:t>
            </a:r>
            <a:r>
              <a:rPr lang="en-US" altLang="zh-CN" sz="2200" dirty="0">
                <a:latin typeface="黑体" panose="02010609060101010101" pitchFamily="49" charset="-122"/>
                <a:ea typeface="黑体" panose="02010609060101010101" pitchFamily="49" charset="-122"/>
              </a:rPr>
              <a:t>:   </a:t>
            </a:r>
            <a:r>
              <a:rPr lang="en-US" altLang="zh-CN" sz="2200" b="1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200" b="1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200" b="1" i="1" baseline="-30000" dirty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en-US" altLang="zh-CN" sz="2200" b="1" dirty="0">
                <a:latin typeface="Times New Roman" pitchFamily="18" charset="0"/>
                <a:sym typeface="Symbol" pitchFamily="18" charset="2"/>
              </a:rPr>
              <a:t></a:t>
            </a:r>
            <a:r>
              <a:rPr lang="en-US" altLang="zh-CN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200" b="1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200" b="1" i="1" baseline="-30000" dirty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en-US" altLang="zh-CN" sz="2200" b="1" dirty="0">
                <a:latin typeface="Times New Roman" pitchFamily="18" charset="0"/>
                <a:cs typeface="Times New Roman" pitchFamily="18" charset="0"/>
              </a:rPr>
              <a:t>,    </a:t>
            </a:r>
            <a:r>
              <a:rPr lang="en-US" altLang="zh-CN" sz="2200" b="1" dirty="0"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200" b="1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200" b="1" i="1" baseline="-30000" dirty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en-US" altLang="zh-CN" sz="2200" b="1" dirty="0">
                <a:latin typeface="Times New Roman" pitchFamily="18" charset="0"/>
                <a:sym typeface="Symbol" pitchFamily="18" charset="2"/>
              </a:rPr>
              <a:t></a:t>
            </a:r>
            <a:r>
              <a:rPr lang="en-US" altLang="zh-CN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200" b="1" i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200" b="1" i="1" baseline="-30000" dirty="0">
                <a:latin typeface="Times New Roman" pitchFamily="18" charset="0"/>
                <a:cs typeface="Times New Roman" pitchFamily="18" charset="0"/>
              </a:rPr>
              <a:t>i</a:t>
            </a:r>
            <a:endParaRPr lang="en-US" altLang="zh-CN" sz="22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en-US" altLang="zh-CN" sz="26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zh-CN" altLang="en-US" sz="26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lvl="1">
              <a:lnSpc>
                <a:spcPct val="110000"/>
              </a:lnSpc>
              <a:spcBef>
                <a:spcPct val="35000"/>
              </a:spcBef>
            </a:pPr>
            <a:endParaRPr lang="zh-CN" altLang="en-US" sz="24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4FDC9AB-9DC2-4A67-AA72-7A8763E9CBDA}"/>
              </a:ext>
            </a:extLst>
          </p:cNvPr>
          <p:cNvSpPr txBox="1"/>
          <p:nvPr/>
        </p:nvSpPr>
        <p:spPr>
          <a:xfrm>
            <a:off x="485775" y="953265"/>
            <a:ext cx="254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61FD85F-717C-40FE-A412-ED11B9B6CC8C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248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763C2F74-5E26-4954-9886-05C3CE811577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741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极小项与极大项 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41E1BBA-934C-48EE-9F76-FD837EC82E1A}"/>
              </a:ext>
            </a:extLst>
          </p:cNvPr>
          <p:cNvSpPr txBox="1"/>
          <p:nvPr/>
        </p:nvSpPr>
        <p:spPr>
          <a:xfrm>
            <a:off x="8832427" y="947973"/>
            <a:ext cx="3143474" cy="40011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893EDB0-ADE2-4C4C-921F-BDC8CCA5A452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40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003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329CC1D-1097-4B9D-8FBD-C2088E0B7951}"/>
              </a:ext>
            </a:extLst>
          </p:cNvPr>
          <p:cNvSpPr txBox="1">
            <a:spLocks noChangeArrowheads="1"/>
          </p:cNvSpPr>
          <p:nvPr/>
        </p:nvSpPr>
        <p:spPr>
          <a:xfrm>
            <a:off x="2778452" y="1823218"/>
            <a:ext cx="6625119" cy="533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由两个命题变项 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p, q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形成的极小项与极大项</a:t>
            </a:r>
          </a:p>
        </p:txBody>
      </p:sp>
      <p:graphicFrame>
        <p:nvGraphicFramePr>
          <p:cNvPr id="11" name="Group 137">
            <a:extLst>
              <a:ext uri="{FF2B5EF4-FFF2-40B4-BE49-F238E27FC236}">
                <a16:creationId xmlns:a16="http://schemas.microsoft.com/office/drawing/2014/main" id="{65CABE43-B97B-4DDA-81DD-588BAAA1F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248272"/>
              </p:ext>
            </p:extLst>
          </p:nvPr>
        </p:nvGraphicFramePr>
        <p:xfrm>
          <a:off x="1775562" y="2375722"/>
          <a:ext cx="8316912" cy="2879726"/>
        </p:xfrm>
        <a:graphic>
          <a:graphicData uri="http://schemas.openxmlformats.org/drawingml/2006/table">
            <a:tbl>
              <a:tblPr/>
              <a:tblGrid>
                <a:gridCol w="1592262">
                  <a:extLst>
                    <a:ext uri="{9D8B030D-6E8A-4147-A177-3AD203B41FA5}">
                      <a16:colId xmlns:a16="http://schemas.microsoft.com/office/drawing/2014/main" val="4225491907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809161552"/>
                    </a:ext>
                  </a:extLst>
                </a:gridCol>
                <a:gridCol w="908050">
                  <a:extLst>
                    <a:ext uri="{9D8B030D-6E8A-4147-A177-3AD203B41FA5}">
                      <a16:colId xmlns:a16="http://schemas.microsoft.com/office/drawing/2014/main" val="2845734281"/>
                    </a:ext>
                  </a:extLst>
                </a:gridCol>
                <a:gridCol w="1443038">
                  <a:extLst>
                    <a:ext uri="{9D8B030D-6E8A-4147-A177-3AD203B41FA5}">
                      <a16:colId xmlns:a16="http://schemas.microsoft.com/office/drawing/2014/main" val="3871009616"/>
                    </a:ext>
                  </a:extLst>
                </a:gridCol>
                <a:gridCol w="1560512">
                  <a:extLst>
                    <a:ext uri="{9D8B030D-6E8A-4147-A177-3AD203B41FA5}">
                      <a16:colId xmlns:a16="http://schemas.microsoft.com/office/drawing/2014/main" val="3175282145"/>
                    </a:ext>
                  </a:extLst>
                </a:gridCol>
                <a:gridCol w="1298575">
                  <a:extLst>
                    <a:ext uri="{9D8B030D-6E8A-4147-A177-3AD203B41FA5}">
                      <a16:colId xmlns:a16="http://schemas.microsoft.com/office/drawing/2014/main" val="3018080526"/>
                    </a:ext>
                  </a:extLst>
                </a:gridCol>
              </a:tblGrid>
              <a:tr h="541338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极小项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极大项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6337284"/>
                  </a:ext>
                </a:extLst>
              </a:tr>
              <a:tr h="542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公式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成真赋值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名称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公式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成假赋值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名称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5192790"/>
                  </a:ext>
                </a:extLst>
              </a:tr>
              <a:tr h="1795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 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 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p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 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p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0  0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0  1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1  0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1  1 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46038"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460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46038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46038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46038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139700"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1397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0" marR="0" lvl="0" indent="1397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 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0" marR="0" lvl="0" indent="1397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 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0" marR="0" lvl="0" indent="1397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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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0  0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0  1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1  0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1  1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46038"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46038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0" lang="en-US" altLang="zh-CN" sz="22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46038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0" lang="en-US" altLang="zh-CN" sz="22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46038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0" lang="en-US" altLang="zh-CN" sz="22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46038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kumimoji="0" lang="en-US" altLang="zh-CN" sz="22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744526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11F2118A-008D-42B8-B25C-9DCB643DE555}"/>
              </a:ext>
            </a:extLst>
          </p:cNvPr>
          <p:cNvSpPr txBox="1"/>
          <p:nvPr/>
        </p:nvSpPr>
        <p:spPr>
          <a:xfrm>
            <a:off x="485775" y="953265"/>
            <a:ext cx="254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C30E6399-8E7B-4F27-97D2-69D406E99E7A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248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C5696AB7-7453-4FDC-A924-F77D98C99D9D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741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极小项与极大项 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CF4A7E6-CE92-403B-8D12-565B7EC1C554}"/>
              </a:ext>
            </a:extLst>
          </p:cNvPr>
          <p:cNvSpPr txBox="1"/>
          <p:nvPr/>
        </p:nvSpPr>
        <p:spPr>
          <a:xfrm>
            <a:off x="8832427" y="947973"/>
            <a:ext cx="3143474" cy="40011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787A037-C211-4FB3-8967-EEB2AAA92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080" y="5324391"/>
            <a:ext cx="4931861" cy="131973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D1A1271-EF36-498D-860D-13E3B0F3379C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41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9920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13C01A-1D95-4E6A-9984-41D85D24C56A}"/>
              </a:ext>
            </a:extLst>
          </p:cNvPr>
          <p:cNvSpPr txBox="1"/>
          <p:nvPr/>
        </p:nvSpPr>
        <p:spPr>
          <a:xfrm>
            <a:off x="485775" y="953265"/>
            <a:ext cx="2540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D12ECD5-1FCA-44D4-B813-F4180BDA4752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248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FA2BC71-E082-424A-A29F-1472994116AA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741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极小项与极大项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E217B2F-3DF7-4AE9-9E14-92D596747B8B}"/>
              </a:ext>
            </a:extLst>
          </p:cNvPr>
          <p:cNvSpPr txBox="1"/>
          <p:nvPr/>
        </p:nvSpPr>
        <p:spPr>
          <a:xfrm>
            <a:off x="8832427" y="947973"/>
            <a:ext cx="3143474" cy="400110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C926B8AF-69EC-4CCA-8F21-D88EBFD2A132}"/>
              </a:ext>
            </a:extLst>
          </p:cNvPr>
          <p:cNvSpPr txBox="1">
            <a:spLocks noChangeArrowheads="1"/>
          </p:cNvSpPr>
          <p:nvPr/>
        </p:nvSpPr>
        <p:spPr>
          <a:xfrm>
            <a:off x="2633632" y="1366719"/>
            <a:ext cx="8229600" cy="533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由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三个命题变项形成的极小项与极大项 </a:t>
            </a:r>
          </a:p>
        </p:txBody>
      </p:sp>
      <p:graphicFrame>
        <p:nvGraphicFramePr>
          <p:cNvPr id="13" name="Group 384">
            <a:extLst>
              <a:ext uri="{FF2B5EF4-FFF2-40B4-BE49-F238E27FC236}">
                <a16:creationId xmlns:a16="http://schemas.microsoft.com/office/drawing/2014/main" id="{4F17E0E8-F284-4A84-9ADB-38DADB6E6C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560685"/>
              </p:ext>
            </p:extLst>
          </p:nvPr>
        </p:nvGraphicFramePr>
        <p:xfrm>
          <a:off x="2038771" y="1841167"/>
          <a:ext cx="7658110" cy="457088"/>
        </p:xfrm>
        <a:graphic>
          <a:graphicData uri="http://schemas.openxmlformats.org/drawingml/2006/table">
            <a:tbl>
              <a:tblPr/>
              <a:tblGrid>
                <a:gridCol w="3829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46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极小项 </a:t>
                      </a:r>
                    </a:p>
                  </a:txBody>
                  <a:tcPr marT="45664" marB="4566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极大项 </a:t>
                      </a: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Group 385">
            <a:extLst>
              <a:ext uri="{FF2B5EF4-FFF2-40B4-BE49-F238E27FC236}">
                <a16:creationId xmlns:a16="http://schemas.microsoft.com/office/drawing/2014/main" id="{29757538-FD3D-4D03-9666-1136E3FE7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552676"/>
              </p:ext>
            </p:extLst>
          </p:nvPr>
        </p:nvGraphicFramePr>
        <p:xfrm>
          <a:off x="2050624" y="2294726"/>
          <a:ext cx="7646270" cy="4291612"/>
        </p:xfrm>
        <a:graphic>
          <a:graphicData uri="http://schemas.openxmlformats.org/drawingml/2006/table">
            <a:tbl>
              <a:tblPr/>
              <a:tblGrid>
                <a:gridCol w="1947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7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7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7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578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公式 </a:t>
                      </a:r>
                    </a:p>
                  </a:txBody>
                  <a:tcPr marT="45727" marB="4572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成真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赋值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名称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公式 </a:t>
                      </a: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成假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赋值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名称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05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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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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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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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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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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 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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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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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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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0 0 0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0 0 1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0 1 0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0 1 1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1 0 0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1 0 1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1 1 0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1 1 1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</a:t>
                      </a:r>
                      <a:r>
                        <a:rPr kumimoji="0" lang="en-US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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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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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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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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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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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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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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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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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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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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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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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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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0 0 0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0 0 1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0 1 0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0 1 1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1 0 0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1 0 1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1 1 0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1 1 1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401C10F4-D13D-46A2-B817-0263E983406B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42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8410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5816BC5C-2157-494F-8473-977D4A08E7DF}"/>
              </a:ext>
            </a:extLst>
          </p:cNvPr>
          <p:cNvSpPr txBox="1">
            <a:spLocks noChangeArrowheads="1"/>
          </p:cNvSpPr>
          <p:nvPr/>
        </p:nvSpPr>
        <p:spPr>
          <a:xfrm>
            <a:off x="508791" y="1699367"/>
            <a:ext cx="9766355" cy="13998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1000"/>
              </a:spcAft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主析取范式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由极小项构成的析取范式 （定义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1.15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主合取范式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由极大项构成的合取范式（定义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1.17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C2EB91E2-525A-4B76-8D00-83B202D11EC2}"/>
              </a:ext>
            </a:extLst>
          </p:cNvPr>
          <p:cNvSpPr txBox="1">
            <a:spLocks noChangeArrowheads="1"/>
          </p:cNvSpPr>
          <p:nvPr/>
        </p:nvSpPr>
        <p:spPr>
          <a:xfrm>
            <a:off x="562978" y="5172626"/>
            <a:ext cx="11256489" cy="7932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ts val="3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（主范式的存在唯一定理）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lnSpc>
                <a:spcPts val="3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任何命题公式都存在着与之等值的主析取范式和主合取范式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且是唯一的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3CB5D88-F658-4FD5-958D-4E77C402A2EB}"/>
              </a:ext>
            </a:extLst>
          </p:cNvPr>
          <p:cNvSpPr txBox="1">
            <a:spLocks noChangeArrowheads="1"/>
          </p:cNvSpPr>
          <p:nvPr/>
        </p:nvSpPr>
        <p:spPr>
          <a:xfrm>
            <a:off x="485775" y="3096226"/>
            <a:ext cx="9766355" cy="19160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1000"/>
              </a:spcAft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例如，</a:t>
            </a:r>
            <a:r>
              <a:rPr lang="en-US" altLang="zh-CN" sz="27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=3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命题变项为</a:t>
            </a:r>
            <a:r>
              <a:rPr lang="en-US" altLang="zh-CN" sz="27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7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7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时，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  <a:buFont typeface="Wingdings" panose="05000000000000000000" pitchFamily="2" charset="2"/>
              <a:buNone/>
            </a:pPr>
            <a:r>
              <a:rPr lang="zh-CN" alt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7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7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7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7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7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7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7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7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7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7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7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7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7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7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7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700" b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7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7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700" b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是主析取范式 </a:t>
            </a:r>
          </a:p>
          <a:p>
            <a:pPr>
              <a:spcBef>
                <a:spcPts val="600"/>
              </a:spcBef>
              <a:spcAft>
                <a:spcPts val="1000"/>
              </a:spcAft>
              <a:buFont typeface="Wingdings" panose="05000000000000000000" pitchFamily="2" charset="2"/>
              <a:buNone/>
            </a:pPr>
            <a:r>
              <a:rPr lang="zh-CN" alt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7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7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7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7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sz="27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7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7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7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7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7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7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sz="27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7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2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2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是主合取范式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9D68E7D-36E8-4868-B44B-E953A1E86D36}"/>
              </a:ext>
            </a:extLst>
          </p:cNvPr>
          <p:cNvSpPr txBox="1"/>
          <p:nvPr/>
        </p:nvSpPr>
        <p:spPr>
          <a:xfrm>
            <a:off x="485775" y="953265"/>
            <a:ext cx="2555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EF012E38-E391-4524-83D9-E366458B516E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36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84F451FA-9196-460E-9092-B314FDE9FD6F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86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极小项与极大项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850B0F4-35BA-4825-8E42-C24F7E3D11E5}"/>
              </a:ext>
            </a:extLst>
          </p:cNvPr>
          <p:cNvSpPr txBox="1"/>
          <p:nvPr/>
        </p:nvSpPr>
        <p:spPr>
          <a:xfrm>
            <a:off x="8832427" y="947973"/>
            <a:ext cx="3161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B223588-E1ED-4AAF-8F58-E3C3579984F7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43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7688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14F69051-7E85-4A9C-9D0B-4DFE98A3D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315" y="1716627"/>
            <a:ext cx="11485880" cy="1693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90600" indent="-5334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371600" indent="-4572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6670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1242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5814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0386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40000"/>
              </a:spcBef>
              <a:spcAft>
                <a:spcPts val="600"/>
              </a:spcAft>
            </a:pPr>
            <a:r>
              <a:rPr lang="zh-CN" altLang="en-US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求公式主析取范式的步骤</a:t>
            </a:r>
            <a:r>
              <a:rPr lang="en-US" altLang="zh-CN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>
              <a:lnSpc>
                <a:spcPct val="90000"/>
              </a:lnSpc>
              <a:spcBef>
                <a:spcPct val="40000"/>
              </a:spcBef>
              <a:spcAft>
                <a:spcPts val="600"/>
              </a:spcAft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设公式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含命题变项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baseline="-25000" dirty="0" err="1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n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40000"/>
              </a:spcBef>
              <a:spcAft>
                <a:spcPts val="600"/>
              </a:spcAft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求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的析取范式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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其中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是简单合取式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=1,2,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,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4EE6888-750A-43A9-9D8B-B60834CCA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315" y="3572996"/>
            <a:ext cx="11485880" cy="1808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90600" indent="-5334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371600" indent="-4572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6670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1242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5814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0386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40000"/>
              </a:spcBef>
              <a:spcAft>
                <a:spcPts val="600"/>
              </a:spcAft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(2)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若某个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既不含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又不含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则将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展开成 </a:t>
            </a:r>
          </a:p>
          <a:p>
            <a:pPr>
              <a:lnSpc>
                <a:spcPct val="90000"/>
              </a:lnSpc>
              <a:spcBef>
                <a:spcPct val="40000"/>
              </a:spcBef>
              <a:spcAft>
                <a:spcPts val="600"/>
              </a:spcAft>
            </a:pPr>
            <a:r>
              <a:rPr lang="zh-CN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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  (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)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90000"/>
              </a:lnSpc>
              <a:spcBef>
                <a:spcPct val="40000"/>
              </a:spcBef>
              <a:spcAft>
                <a:spcPts val="600"/>
              </a:spcAft>
            </a:pP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重复这个过程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直到所有简单合取式都是长度为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的极小项为止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71A8EE19-B662-498A-AF3B-BB92F1682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185" y="5532181"/>
            <a:ext cx="11485880" cy="47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90600" indent="-5334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371600" indent="-4572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6670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1242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5814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0386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40000"/>
              </a:spcBef>
              <a:spcAft>
                <a:spcPts val="600"/>
              </a:spcAft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(3)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消去重复出现的极小项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即用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代替</a:t>
            </a:r>
            <a:r>
              <a:rPr lang="en-US" altLang="zh-CN" i="1" dirty="0" err="1">
                <a:latin typeface="Times New Roman" panose="02020603050405020304" pitchFamily="18" charset="0"/>
              </a:rPr>
              <a:t>m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i="1" dirty="0" err="1">
                <a:latin typeface="Times New Roman" panose="02020603050405020304" pitchFamily="18" charset="0"/>
              </a:rPr>
              <a:t>m</a:t>
            </a:r>
            <a:r>
              <a:rPr lang="en-US" altLang="zh-CN" i="1" baseline="-25000" dirty="0" err="1">
                <a:latin typeface="Times New Roman" panose="02020603050405020304" pitchFamily="18" charset="0"/>
              </a:rPr>
              <a:t>i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8BB3BB4F-051F-47AC-B0D2-CCFD653FF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93" y="6179436"/>
            <a:ext cx="11485880" cy="581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90600" indent="-5334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371600" indent="-4572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752600" indent="-3810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209800" indent="-3810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6670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1242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5814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038600" indent="-38100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40000"/>
              </a:spcBef>
              <a:spcAft>
                <a:spcPts val="600"/>
              </a:spcAft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(4)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将极小项按下标从小到大排列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BD43FDB-5A34-42DD-B491-6A3B6198D9A0}"/>
              </a:ext>
            </a:extLst>
          </p:cNvPr>
          <p:cNvSpPr txBox="1"/>
          <p:nvPr/>
        </p:nvSpPr>
        <p:spPr>
          <a:xfrm>
            <a:off x="485775" y="953265"/>
            <a:ext cx="2555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68DBF731-FBF3-4911-AF17-683A138676B1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36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1C8B1AE6-25A0-47A4-9847-EE0A618FDC12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86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极小项与极大项 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1067DA8-01F9-450D-9155-2967CD67180C}"/>
              </a:ext>
            </a:extLst>
          </p:cNvPr>
          <p:cNvSpPr txBox="1"/>
          <p:nvPr/>
        </p:nvSpPr>
        <p:spPr>
          <a:xfrm>
            <a:off x="8832427" y="947973"/>
            <a:ext cx="3161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6A7FAE5-5AFB-4EE8-A075-CFD3DD4EA61A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44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4375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6E67647-E864-4D3B-9264-3FB53C759FF4}"/>
              </a:ext>
            </a:extLst>
          </p:cNvPr>
          <p:cNvSpPr txBox="1">
            <a:spLocks noChangeArrowheads="1"/>
          </p:cNvSpPr>
          <p:nvPr/>
        </p:nvSpPr>
        <p:spPr>
          <a:xfrm>
            <a:off x="602827" y="1458914"/>
            <a:ext cx="9286240" cy="7817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(1)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求公式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(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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的主析取范式和主合取范式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1C8A21E4-74F9-4ABC-AAB3-593D9B9C2B85}"/>
              </a:ext>
            </a:extLst>
          </p:cNvPr>
          <p:cNvSpPr txBox="1">
            <a:spLocks noChangeArrowheads="1"/>
          </p:cNvSpPr>
          <p:nvPr/>
        </p:nvSpPr>
        <p:spPr>
          <a:xfrm>
            <a:off x="1231041" y="1959847"/>
            <a:ext cx="9286240" cy="23538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（析取范式）   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①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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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      </a:t>
            </a:r>
            <a:r>
              <a:rPr lang="en-US" altLang="zh-CN" sz="2400" b="1" dirty="0">
                <a:solidFill>
                  <a:srgbClr val="99267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endParaRPr lang="en-US" altLang="zh-CN" sz="2400" b="1" i="1" dirty="0">
              <a:solidFill>
                <a:srgbClr val="992677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400" b="1" i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	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C996BD87-F6C5-43FD-863E-C7D9E60D75F8}"/>
              </a:ext>
            </a:extLst>
          </p:cNvPr>
          <p:cNvSpPr txBox="1">
            <a:spLocks noChangeArrowheads="1"/>
          </p:cNvSpPr>
          <p:nvPr/>
        </p:nvSpPr>
        <p:spPr>
          <a:xfrm>
            <a:off x="1304281" y="4466046"/>
            <a:ext cx="6876458" cy="17253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altLang="zh-CN" sz="2400" b="1" i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	     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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99267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③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F54C0593-01BC-4514-852D-A9530DF527C6}"/>
              </a:ext>
            </a:extLst>
          </p:cNvPr>
          <p:cNvSpPr txBox="1">
            <a:spLocks noChangeArrowheads="1"/>
          </p:cNvSpPr>
          <p:nvPr/>
        </p:nvSpPr>
        <p:spPr>
          <a:xfrm>
            <a:off x="1840589" y="6103971"/>
            <a:ext cx="9286240" cy="7817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②, ③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代入①并排序，得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(p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m1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m3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m5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m6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m7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（主析取范式）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74444A2-B208-47DA-8A68-1D1E83E5ECB9}"/>
              </a:ext>
            </a:extLst>
          </p:cNvPr>
          <p:cNvSpPr txBox="1"/>
          <p:nvPr/>
        </p:nvSpPr>
        <p:spPr>
          <a:xfrm>
            <a:off x="485775" y="953265"/>
            <a:ext cx="2555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0B93E7D7-E4B0-4914-9283-58B944EA3F43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36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F45766F6-D255-4C0C-A8D9-3476647016FF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86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极小项与极大项 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BD77C3A-6FD2-4C09-AAFA-FA6DECCC4A7E}"/>
              </a:ext>
            </a:extLst>
          </p:cNvPr>
          <p:cNvSpPr txBox="1"/>
          <p:nvPr/>
        </p:nvSpPr>
        <p:spPr>
          <a:xfrm>
            <a:off x="8832427" y="947973"/>
            <a:ext cx="3161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76B491B-BDAB-4ABA-B303-5884C95E5546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45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436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6E67647-E864-4D3B-9264-3FB53C759FF4}"/>
              </a:ext>
            </a:extLst>
          </p:cNvPr>
          <p:cNvSpPr txBox="1">
            <a:spLocks noChangeArrowheads="1"/>
          </p:cNvSpPr>
          <p:nvPr/>
        </p:nvSpPr>
        <p:spPr>
          <a:xfrm>
            <a:off x="76781" y="1703831"/>
            <a:ext cx="5919111" cy="9746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     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(p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q)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endParaRPr lang="en-US" altLang="zh-CN" sz="2400" b="1" i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（合取范式） </a:t>
            </a:r>
            <a:r>
              <a:rPr lang="zh-CN" altLang="en-US" sz="2400" b="1" dirty="0">
                <a:solidFill>
                  <a:srgbClr val="99267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④</a:t>
            </a:r>
          </a:p>
          <a:p>
            <a:pPr marL="0" indent="0">
              <a:buNone/>
            </a:pPr>
            <a:endParaRPr lang="en-US" altLang="zh-CN" sz="2400" b="1" i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7D54E7D4-0A11-4065-B620-6FF9ACEF5AF2}"/>
              </a:ext>
            </a:extLst>
          </p:cNvPr>
          <p:cNvSpPr txBox="1">
            <a:spLocks noChangeArrowheads="1"/>
          </p:cNvSpPr>
          <p:nvPr/>
        </p:nvSpPr>
        <p:spPr>
          <a:xfrm>
            <a:off x="6091109" y="1666920"/>
            <a:ext cx="4983771" cy="233093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endParaRPr lang="en-US" altLang="zh-CN" sz="2400" b="1" i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(q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 </a:t>
            </a:r>
          </a:p>
          <a:p>
            <a:pPr marL="0" indent="0"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(p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200" b="1" i="1" baseline="-25000" dirty="0" err="1">
                <a:latin typeface="Times New Roman" panose="02020603050405020304" pitchFamily="18" charset="0"/>
              </a:rPr>
              <a:t>0</a:t>
            </a:r>
            <a:r>
              <a:rPr lang="en-US" altLang="zh-CN" sz="2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2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200" b="1" i="1" baseline="-25000" dirty="0" err="1">
                <a:latin typeface="Times New Roman" panose="02020603050405020304" pitchFamily="18" charset="0"/>
              </a:rPr>
              <a:t>2</a:t>
            </a:r>
            <a:r>
              <a:rPr lang="en-US" altLang="zh-CN" sz="2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</a:t>
            </a:r>
            <a:r>
              <a:rPr lang="en-US" altLang="zh-CN" sz="2400" b="1" dirty="0">
                <a:solidFill>
                  <a:srgbClr val="99267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⑤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E2ECE92B-876D-4FC3-BC1E-7AEFCAEF61EE}"/>
              </a:ext>
            </a:extLst>
          </p:cNvPr>
          <p:cNvSpPr txBox="1">
            <a:spLocks noChangeArrowheads="1"/>
          </p:cNvSpPr>
          <p:nvPr/>
        </p:nvSpPr>
        <p:spPr>
          <a:xfrm>
            <a:off x="257963" y="3560910"/>
            <a:ext cx="4538753" cy="294493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(p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200" b="1" i="1" baseline="-25000" dirty="0" err="1">
                <a:latin typeface="Times New Roman" panose="02020603050405020304" pitchFamily="18" charset="0"/>
              </a:rPr>
              <a:t>0</a:t>
            </a:r>
            <a:r>
              <a:rPr lang="en-US" altLang="zh-CN" sz="2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2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200" b="1" i="1" baseline="-25000" dirty="0" err="1">
                <a:latin typeface="Times New Roman" panose="02020603050405020304" pitchFamily="18" charset="0"/>
              </a:rPr>
              <a:t>4</a:t>
            </a:r>
            <a:r>
              <a:rPr lang="en-US" altLang="zh-CN" sz="2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</a:t>
            </a:r>
            <a:r>
              <a:rPr lang="en-US" altLang="zh-CN" sz="2400" b="1" dirty="0">
                <a:solidFill>
                  <a:srgbClr val="99267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⑥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9A927CB3-D401-427E-B558-8C7B1B6D0D01}"/>
              </a:ext>
            </a:extLst>
          </p:cNvPr>
          <p:cNvSpPr txBox="1">
            <a:spLocks noChangeArrowheads="1"/>
          </p:cNvSpPr>
          <p:nvPr/>
        </p:nvSpPr>
        <p:spPr>
          <a:xfrm>
            <a:off x="4796716" y="4378952"/>
            <a:ext cx="7369689" cy="9746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⑤, ⑥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代入④ 并排序，得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     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200" b="1" i="1" baseline="-25000" dirty="0" err="1">
                <a:latin typeface="Times New Roman" panose="02020603050405020304" pitchFamily="18" charset="0"/>
              </a:rPr>
              <a:t>0</a:t>
            </a:r>
            <a:r>
              <a:rPr lang="en-US" altLang="zh-CN" sz="2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2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200" b="1" i="1" baseline="-25000" dirty="0" err="1">
                <a:latin typeface="Times New Roman" panose="02020603050405020304" pitchFamily="18" charset="0"/>
              </a:rPr>
              <a:t>2</a:t>
            </a:r>
            <a:r>
              <a:rPr lang="en-US" altLang="zh-CN" sz="2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2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200" b="1" i="1" baseline="-25000" dirty="0" err="1">
                <a:latin typeface="Times New Roman" panose="02020603050405020304" pitchFamily="18" charset="0"/>
              </a:rPr>
              <a:t>4</a:t>
            </a:r>
            <a:r>
              <a:rPr lang="en-US" altLang="zh-CN" sz="2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（主合取范式）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FACE927-D565-4DA5-B4F5-72F1A0452A91}"/>
              </a:ext>
            </a:extLst>
          </p:cNvPr>
          <p:cNvSpPr txBox="1"/>
          <p:nvPr/>
        </p:nvSpPr>
        <p:spPr>
          <a:xfrm>
            <a:off x="485775" y="953265"/>
            <a:ext cx="2555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33C71C95-8BE4-4609-87D1-E20C29FF80A9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36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76A4AF9E-8F45-42C6-8AA5-A1708CDFB73A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86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极小项与极大项 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62AE364-05C6-421F-868D-5E31260C324D}"/>
              </a:ext>
            </a:extLst>
          </p:cNvPr>
          <p:cNvSpPr txBox="1"/>
          <p:nvPr/>
        </p:nvSpPr>
        <p:spPr>
          <a:xfrm>
            <a:off x="8832427" y="947973"/>
            <a:ext cx="3161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DD8A587-B4E7-46DD-A98A-22561FC2BEFA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46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9458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6E67647-E864-4D3B-9264-3FB53C759FF4}"/>
              </a:ext>
            </a:extLst>
          </p:cNvPr>
          <p:cNvSpPr txBox="1">
            <a:spLocks noChangeArrowheads="1"/>
          </p:cNvSpPr>
          <p:nvPr/>
        </p:nvSpPr>
        <p:spPr>
          <a:xfrm>
            <a:off x="509719" y="1708483"/>
            <a:ext cx="9286240" cy="9709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主范式的应用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E89B632-1197-4D77-9154-A4AADBF190C8}"/>
              </a:ext>
            </a:extLst>
          </p:cNvPr>
          <p:cNvSpPr txBox="1"/>
          <p:nvPr/>
        </p:nvSpPr>
        <p:spPr>
          <a:xfrm>
            <a:off x="427136" y="2237947"/>
            <a:ext cx="10936162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求公式的成真成假赋值</a:t>
            </a:r>
          </a:p>
          <a:p>
            <a:pPr marL="457200" indent="-457200">
              <a:spcBef>
                <a:spcPct val="40000"/>
              </a:spcBef>
            </a:pPr>
            <a:r>
              <a:rPr lang="zh-CN" altLang="en-US" sz="1800" dirty="0">
                <a:latin typeface="Times New Roman" panose="02020603050405020304" pitchFamily="18" charset="0"/>
              </a:rPr>
              <a:t>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设公式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含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个命题变项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的主析取范式有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s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个极小项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s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个成真赋值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</a:p>
          <a:p>
            <a:pPr marL="457200" indent="-457200">
              <a:spcBef>
                <a:spcPct val="40000"/>
              </a:spcBef>
            </a:pP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它们是极小项下标的二进制表示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其余</a:t>
            </a:r>
            <a:r>
              <a:rPr lang="en-US" altLang="zh-CN" sz="2200" b="1" dirty="0" err="1">
                <a:latin typeface="Times New Roman" panose="02020603050405020304" pitchFamily="18" charset="0"/>
              </a:rPr>
              <a:t>2</a:t>
            </a:r>
            <a:r>
              <a:rPr lang="en-US" altLang="zh-CN" sz="2200" b="1" i="1" baseline="30000" dirty="0" err="1">
                <a:latin typeface="Times New Roman" panose="02020603050405020304" pitchFamily="18" charset="0"/>
              </a:rPr>
              <a:t>n</a:t>
            </a:r>
            <a:r>
              <a:rPr lang="en-US" altLang="zh-CN" sz="2200" b="1" dirty="0">
                <a:latin typeface="Times New Roman" panose="02020603050405020304" pitchFamily="18" charset="0"/>
              </a:rPr>
              <a:t>-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s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个赋值都是成假赋值  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891A0FC-F09A-45CF-BFF9-37538360CFCA}"/>
              </a:ext>
            </a:extLst>
          </p:cNvPr>
          <p:cNvSpPr txBox="1"/>
          <p:nvPr/>
        </p:nvSpPr>
        <p:spPr>
          <a:xfrm>
            <a:off x="427136" y="4284911"/>
            <a:ext cx="10936162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/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例如 </a:t>
            </a: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800" dirty="0"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3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5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6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7</a:t>
            </a:r>
            <a:endParaRPr lang="en-US" altLang="zh-CN" sz="2400" b="1" baseline="-25000" dirty="0">
              <a:latin typeface="Times New Roman" panose="02020603050405020304" pitchFamily="18" charset="0"/>
            </a:endParaRPr>
          </a:p>
          <a:p>
            <a:pPr marL="457200" indent="-457200"/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成真赋值为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001, 011, 101, 110, 111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</a:p>
          <a:p>
            <a:pPr marL="457200" indent="-457200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成假赋值为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000, 010, 100</a:t>
            </a:r>
          </a:p>
          <a:p>
            <a:pPr marL="457200" indent="-457200"/>
            <a:endParaRPr lang="en-US" altLang="zh-CN" sz="1800" dirty="0">
              <a:latin typeface="Times New Roman" panose="02020603050405020304" pitchFamily="18" charset="0"/>
            </a:endParaRPr>
          </a:p>
          <a:p>
            <a:pPr marL="457200" indent="-457200"/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类似地，由主合取范式也立即求出成假赋值和成真赋值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33DCB7C-9AEE-4DEE-962E-F64E1CDCBFAA}"/>
              </a:ext>
            </a:extLst>
          </p:cNvPr>
          <p:cNvSpPr txBox="1"/>
          <p:nvPr/>
        </p:nvSpPr>
        <p:spPr>
          <a:xfrm>
            <a:off x="485775" y="953265"/>
            <a:ext cx="2555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E58BC9D8-8193-4F5F-B8E1-51C4779BC73E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36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9088417C-A2D4-47E7-AC17-82B3016EBED6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86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极小项与极大项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C4EDB49-7105-45FB-B803-4911A41929C4}"/>
              </a:ext>
            </a:extLst>
          </p:cNvPr>
          <p:cNvSpPr txBox="1"/>
          <p:nvPr/>
        </p:nvSpPr>
        <p:spPr>
          <a:xfrm>
            <a:off x="8832427" y="947973"/>
            <a:ext cx="3161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6A5F09-82E2-4922-A9B1-9FC89AF79F7C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47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1493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6E67647-E864-4D3B-9264-3FB53C759FF4}"/>
              </a:ext>
            </a:extLst>
          </p:cNvPr>
          <p:cNvSpPr txBox="1">
            <a:spLocks noChangeArrowheads="1"/>
          </p:cNvSpPr>
          <p:nvPr/>
        </p:nvSpPr>
        <p:spPr>
          <a:xfrm>
            <a:off x="502630" y="1524185"/>
            <a:ext cx="9286240" cy="63776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主范式的应用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E89B632-1197-4D77-9154-A4AADBF190C8}"/>
              </a:ext>
            </a:extLst>
          </p:cNvPr>
          <p:cNvSpPr txBox="1"/>
          <p:nvPr/>
        </p:nvSpPr>
        <p:spPr>
          <a:xfrm>
            <a:off x="434223" y="2137922"/>
            <a:ext cx="11423837" cy="1679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10000"/>
              </a:lnSpc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(2)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判断公式的类型</a:t>
            </a:r>
          </a:p>
          <a:p>
            <a:pPr marL="2698750" indent="-2698750">
              <a:lnSpc>
                <a:spcPct val="11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含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个命题变项，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2400" i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698750" indent="-2698750">
              <a:lnSpc>
                <a:spcPct val="110000"/>
              </a:lnSpc>
            </a:pPr>
            <a:r>
              <a:rPr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为重言式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的主析取范式含全部</a:t>
            </a:r>
            <a:r>
              <a:rPr lang="en-US" altLang="zh-CN" sz="24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i="1" baseline="30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个极小项</a:t>
            </a:r>
          </a:p>
          <a:p>
            <a:pPr marL="2698750" indent="-2698750">
              <a:lnSpc>
                <a:spcPct val="11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的主合取范式不含任何极大项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记为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en-US" altLang="zh-CN" sz="2400" i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3C9CE0F-C720-4501-AB0D-8BE732A342BD}"/>
              </a:ext>
            </a:extLst>
          </p:cNvPr>
          <p:cNvSpPr txBox="1"/>
          <p:nvPr/>
        </p:nvSpPr>
        <p:spPr>
          <a:xfrm>
            <a:off x="1223521" y="4148922"/>
            <a:ext cx="10338198" cy="938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10000"/>
              </a:lnSpc>
            </a:pP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为矛盾式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 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的主合析取范式含全部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i="1" baseline="30000" dirty="0" err="1">
                <a:latin typeface="Times New Roman" panose="02020603050405020304" pitchFamily="18" charset="0"/>
              </a:rPr>
              <a:t>n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个极大项</a:t>
            </a:r>
          </a:p>
          <a:p>
            <a:pPr marL="2698750" indent="-2698750">
              <a:lnSpc>
                <a:spcPct val="110000"/>
              </a:lnSpc>
            </a:pPr>
            <a:r>
              <a:rPr lang="zh-CN" altLang="en-US" sz="2800" dirty="0">
                <a:latin typeface="Times New Roman" panose="02020603050405020304" pitchFamily="18" charset="0"/>
              </a:rPr>
              <a:t>                 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的主析取范式不含任何极小项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记为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0.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FF08D87-1AFD-4309-BEAA-78A7779B7153}"/>
              </a:ext>
            </a:extLst>
          </p:cNvPr>
          <p:cNvSpPr txBox="1"/>
          <p:nvPr/>
        </p:nvSpPr>
        <p:spPr>
          <a:xfrm>
            <a:off x="1203432" y="5249597"/>
            <a:ext cx="10707868" cy="1410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10000"/>
              </a:lnSpc>
            </a:pP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为非重言式的可满足式    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marL="2698750" indent="-2698750">
              <a:lnSpc>
                <a:spcPct val="110000"/>
              </a:lnSpc>
            </a:pP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</a:t>
            </a:r>
            <a:r>
              <a:rPr lang="zh-CN" altLang="en-US" sz="280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的主析取范式中至少含一个、但不是全部极小项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marL="2698750" indent="-2698750">
              <a:lnSpc>
                <a:spcPct val="110000"/>
              </a:lnSpc>
            </a:pP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</a:t>
            </a:r>
            <a:r>
              <a:rPr lang="zh-CN" altLang="en-US" sz="280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的主合取范式中至少含一个、但不是全部极大项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904804F-1D5C-4798-BC8C-9E7A177A7CFA}"/>
              </a:ext>
            </a:extLst>
          </p:cNvPr>
          <p:cNvSpPr txBox="1"/>
          <p:nvPr/>
        </p:nvSpPr>
        <p:spPr>
          <a:xfrm>
            <a:off x="485775" y="953265"/>
            <a:ext cx="2555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609D22D4-5A5D-473F-B658-A5420929DC5A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36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BE9B7FA2-DFF3-48C7-850B-8F97ABC8F117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86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极小项与极大项 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3CC189-A0D1-4A75-AA84-562DB4A9E2F9}"/>
              </a:ext>
            </a:extLst>
          </p:cNvPr>
          <p:cNvSpPr txBox="1"/>
          <p:nvPr/>
        </p:nvSpPr>
        <p:spPr>
          <a:xfrm>
            <a:off x="8832427" y="947973"/>
            <a:ext cx="3161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0B3CB7A-BC4C-4A74-9F47-9792E586B6DD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48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78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6E67647-E864-4D3B-9264-3FB53C759FF4}"/>
              </a:ext>
            </a:extLst>
          </p:cNvPr>
          <p:cNvSpPr txBox="1">
            <a:spLocks noChangeArrowheads="1"/>
          </p:cNvSpPr>
          <p:nvPr/>
        </p:nvSpPr>
        <p:spPr>
          <a:xfrm>
            <a:off x="580601" y="1488745"/>
            <a:ext cx="9286240" cy="6094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主范式的应用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A51CB7D-DB65-4B28-9D40-C2F64EF679D2}"/>
              </a:ext>
            </a:extLst>
          </p:cNvPr>
          <p:cNvSpPr txBox="1">
            <a:spLocks noChangeArrowheads="1"/>
          </p:cNvSpPr>
          <p:nvPr/>
        </p:nvSpPr>
        <p:spPr>
          <a:xfrm>
            <a:off x="485775" y="2098193"/>
            <a:ext cx="11631718" cy="11556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用主析取范式判断公式的类型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 marL="0" indent="0">
              <a:spcBef>
                <a:spcPct val="4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(1)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6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(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(3)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(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)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endParaRPr lang="en-US" altLang="zh-CN" sz="2600" b="1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A054EFA2-1137-4194-9D64-8D819DE7D489}"/>
              </a:ext>
            </a:extLst>
          </p:cNvPr>
          <p:cNvSpPr txBox="1">
            <a:spLocks noChangeArrowheads="1"/>
          </p:cNvSpPr>
          <p:nvPr/>
        </p:nvSpPr>
        <p:spPr>
          <a:xfrm>
            <a:off x="485775" y="3321794"/>
            <a:ext cx="11631718" cy="5675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600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r>
              <a:rPr lang="en-US" altLang="zh-CN" sz="2400" b="1" dirty="0">
                <a:latin typeface="Times New Roman" panose="02020603050405020304" pitchFamily="18" charset="0"/>
              </a:rPr>
              <a:t>(1)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0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矛盾式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C72E6DEF-4408-4071-ACD5-5C78364F9A5D}"/>
              </a:ext>
            </a:extLst>
          </p:cNvPr>
          <p:cNvSpPr txBox="1">
            <a:spLocks noChangeArrowheads="1"/>
          </p:cNvSpPr>
          <p:nvPr/>
        </p:nvSpPr>
        <p:spPr>
          <a:xfrm>
            <a:off x="401132" y="4145549"/>
            <a:ext cx="11631718" cy="711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6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(2)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 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 1 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重言式</a:t>
            </a:r>
          </a:p>
          <a:p>
            <a:pPr marL="0" indent="0">
              <a:spcBef>
                <a:spcPct val="6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</a:t>
            </a:r>
            <a:endParaRPr lang="zh-CN" altLang="en-US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D1F4B8BC-835B-4E51-98D3-F5A89713CFEF}"/>
              </a:ext>
            </a:extLst>
          </p:cNvPr>
          <p:cNvSpPr txBox="1">
            <a:spLocks noChangeArrowheads="1"/>
          </p:cNvSpPr>
          <p:nvPr/>
        </p:nvSpPr>
        <p:spPr>
          <a:xfrm>
            <a:off x="453660" y="5035603"/>
            <a:ext cx="11631718" cy="14485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6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(3)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(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)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(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)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 </a:t>
            </a:r>
          </a:p>
          <a:p>
            <a:pPr marL="0" indent="0">
              <a:spcBef>
                <a:spcPct val="4000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(</a:t>
            </a:r>
            <a:r>
              <a:rPr lang="en-US" altLang="zh-CN" sz="2400" b="1" dirty="0">
                <a:solidFill>
                  <a:srgbClr val="992677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solidFill>
                  <a:srgbClr val="992677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 err="1">
                <a:solidFill>
                  <a:srgbClr val="992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solidFill>
                  <a:srgbClr val="992677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solidFill>
                  <a:srgbClr val="992677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)(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)(</a:t>
            </a:r>
            <a:r>
              <a:rPr lang="en-US" altLang="zh-CN" sz="2400" b="1" dirty="0">
                <a:solidFill>
                  <a:srgbClr val="992677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solidFill>
                  <a:srgbClr val="992677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 err="1">
                <a:solidFill>
                  <a:srgbClr val="9926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solidFill>
                  <a:srgbClr val="992677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solidFill>
                  <a:srgbClr val="992677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(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)(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)(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spcBef>
                <a:spcPct val="4000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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非重言式的可满足式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82B83A5-D49D-416B-8E58-A27D35B9E237}"/>
              </a:ext>
            </a:extLst>
          </p:cNvPr>
          <p:cNvSpPr txBox="1"/>
          <p:nvPr/>
        </p:nvSpPr>
        <p:spPr>
          <a:xfrm>
            <a:off x="485775" y="953265"/>
            <a:ext cx="2555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BABA7021-74CF-4F07-BE54-9EC0F5BDDBEE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36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A4AFD75F-74AE-4499-9F4F-2AA32C477CD4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86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极小项与极大项 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3AA6235-A327-4DC9-8DE2-1AB20200DCAB}"/>
              </a:ext>
            </a:extLst>
          </p:cNvPr>
          <p:cNvSpPr txBox="1"/>
          <p:nvPr/>
        </p:nvSpPr>
        <p:spPr>
          <a:xfrm>
            <a:off x="8832427" y="947973"/>
            <a:ext cx="3161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C70600D-6B66-4878-A534-3E9046B4B013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49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6861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6E67647-E864-4D3B-9264-3FB53C759FF4}"/>
              </a:ext>
            </a:extLst>
          </p:cNvPr>
          <p:cNvSpPr txBox="1">
            <a:spLocks noChangeArrowheads="1"/>
          </p:cNvSpPr>
          <p:nvPr/>
        </p:nvSpPr>
        <p:spPr>
          <a:xfrm>
            <a:off x="580601" y="1488745"/>
            <a:ext cx="9286240" cy="46912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主范式的应用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AD32645-5E25-497E-B150-E1264726952B}"/>
              </a:ext>
            </a:extLst>
          </p:cNvPr>
          <p:cNvSpPr txBox="1">
            <a:spLocks noChangeArrowheads="1"/>
          </p:cNvSpPr>
          <p:nvPr/>
        </p:nvSpPr>
        <p:spPr>
          <a:xfrm>
            <a:off x="602826" y="2069841"/>
            <a:ext cx="9516533" cy="21702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判断两个公式是否等值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用主析取范式判以下每一组公式是否等值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</a:t>
            </a: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⑴ </a:t>
            </a: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⑵  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9185C278-EC78-4890-9785-BD45F38EB69B}"/>
              </a:ext>
            </a:extLst>
          </p:cNvPr>
          <p:cNvSpPr txBox="1">
            <a:spLocks noChangeArrowheads="1"/>
          </p:cNvSpPr>
          <p:nvPr/>
        </p:nvSpPr>
        <p:spPr>
          <a:xfrm>
            <a:off x="602826" y="4429367"/>
            <a:ext cx="7273218" cy="21702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8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解： 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) =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0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2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4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5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7</a:t>
            </a:r>
            <a:endParaRPr lang="en-US" altLang="zh-CN" b="1" baseline="-25000" dirty="0">
              <a:latin typeface="Times New Roman" panose="02020603050405020304" pitchFamily="18" charset="0"/>
            </a:endParaRPr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 </a:t>
            </a:r>
            <a:r>
              <a:rPr lang="en-US" altLang="zh-CN" b="1" dirty="0">
                <a:latin typeface="Times New Roman" panose="02020603050405020304" pitchFamily="18" charset="0"/>
              </a:rPr>
              <a:t> 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latin typeface="Times New Roman" panose="02020603050405020304" pitchFamily="18" charset="0"/>
              </a:rPr>
              <a:t>r </a:t>
            </a:r>
            <a:r>
              <a:rPr lang="en-US" altLang="zh-CN" b="1" dirty="0">
                <a:latin typeface="Times New Roman" panose="02020603050405020304" pitchFamily="18" charset="0"/>
              </a:rPr>
              <a:t>=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0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2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4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5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7</a:t>
            </a:r>
            <a:endParaRPr lang="en-US" altLang="zh-CN" b="1" baseline="-25000" dirty="0">
              <a:latin typeface="Times New Roman" panose="02020603050405020304" pitchFamily="18" charset="0"/>
            </a:endParaRPr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 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b="1" i="1" dirty="0">
                <a:latin typeface="Times New Roman" panose="02020603050405020304" pitchFamily="18" charset="0"/>
              </a:rPr>
              <a:t>r </a:t>
            </a:r>
            <a:r>
              <a:rPr lang="en-US" altLang="zh-CN" b="1" dirty="0">
                <a:latin typeface="Times New Roman" panose="02020603050405020304" pitchFamily="18" charset="0"/>
              </a:rPr>
              <a:t>=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4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5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b="1" baseline="-25000" dirty="0" err="1">
                <a:latin typeface="Times New Roman" panose="02020603050405020304" pitchFamily="18" charset="0"/>
              </a:rPr>
              <a:t>7</a:t>
            </a:r>
            <a:endParaRPr lang="en-US" altLang="zh-CN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34EA7BF8-B885-4427-A8BB-85F08150E688}"/>
              </a:ext>
            </a:extLst>
          </p:cNvPr>
          <p:cNvSpPr txBox="1">
            <a:spLocks noChangeArrowheads="1"/>
          </p:cNvSpPr>
          <p:nvPr/>
        </p:nvSpPr>
        <p:spPr>
          <a:xfrm>
            <a:off x="1268793" y="6254664"/>
            <a:ext cx="9516533" cy="5873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8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显见，⑴中的两公式等值，而⑵的不等值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46BCDDE-9373-422C-AAC9-0B247D8052D3}"/>
              </a:ext>
            </a:extLst>
          </p:cNvPr>
          <p:cNvSpPr txBox="1"/>
          <p:nvPr/>
        </p:nvSpPr>
        <p:spPr>
          <a:xfrm>
            <a:off x="485775" y="953265"/>
            <a:ext cx="2555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3FA55F0D-80E6-4D64-AD80-9F086DCFB92E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36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E0C59BB0-7C7E-4616-AE3D-4A249674BEFA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86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极小项与极大项 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AE46505-FD40-496F-ADFF-AE998355185C}"/>
              </a:ext>
            </a:extLst>
          </p:cNvPr>
          <p:cNvSpPr txBox="1"/>
          <p:nvPr/>
        </p:nvSpPr>
        <p:spPr>
          <a:xfrm>
            <a:off x="8832427" y="947973"/>
            <a:ext cx="3161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D176711-A175-4E0A-987F-1CC793474FE8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50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2244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6E67647-E864-4D3B-9264-3FB53C759FF4}"/>
              </a:ext>
            </a:extLst>
          </p:cNvPr>
          <p:cNvSpPr txBox="1">
            <a:spLocks noChangeArrowheads="1"/>
          </p:cNvSpPr>
          <p:nvPr/>
        </p:nvSpPr>
        <p:spPr>
          <a:xfrm>
            <a:off x="486212" y="1612632"/>
            <a:ext cx="9286240" cy="46912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主范式的应用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F881108C-17D9-468F-8F8B-7BA57E476875}"/>
              </a:ext>
            </a:extLst>
          </p:cNvPr>
          <p:cNvSpPr txBox="1">
            <a:spLocks noChangeArrowheads="1"/>
          </p:cNvSpPr>
          <p:nvPr/>
        </p:nvSpPr>
        <p:spPr>
          <a:xfrm>
            <a:off x="485775" y="2235018"/>
            <a:ext cx="11211772" cy="44785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解实际问题</a:t>
            </a:r>
          </a:p>
          <a:p>
            <a:pPr marL="0" indent="0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  某公司要从赵、钱、孙、李、周五名新毕业的大学生中选派一些人出国学习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 </a:t>
            </a:r>
          </a:p>
          <a:p>
            <a:pPr marL="0" indent="0"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选派必须满足以下条件：   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若赵去，钱也去；</a:t>
            </a:r>
          </a:p>
          <a:p>
            <a:pPr algn="just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李、周两人中至少有一人去；</a:t>
            </a:r>
          </a:p>
          <a:p>
            <a:pPr algn="just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钱、孙两人中有一人去且仅去一人；</a:t>
            </a:r>
          </a:p>
          <a:p>
            <a:pPr algn="just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(4)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孙、李两人同去或同不去；</a:t>
            </a:r>
          </a:p>
          <a:p>
            <a:pPr algn="just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(5)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若周去，则赵、钱也去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  <a:p>
            <a:pPr algn="just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试用主析取范式法分析该公司如何选派他们出国？</a:t>
            </a:r>
          </a:p>
          <a:p>
            <a:pPr marL="0" indent="0">
              <a:spcBef>
                <a:spcPts val="1800"/>
              </a:spcBef>
              <a:buNone/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EB75007-C904-4007-A62B-1C375F148F96}"/>
              </a:ext>
            </a:extLst>
          </p:cNvPr>
          <p:cNvSpPr txBox="1">
            <a:spLocks noChangeArrowheads="1"/>
          </p:cNvSpPr>
          <p:nvPr/>
        </p:nvSpPr>
        <p:spPr>
          <a:xfrm>
            <a:off x="7772401" y="3382065"/>
            <a:ext cx="4419600" cy="28249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解此类问题的步骤为：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①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将简单命题符号化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②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写出各复合命题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③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写出由②中复合命题组成的合取式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④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求③中所得公式的主析取范式 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89EC430-72EC-4ED8-B709-057FEBF5A0A2}"/>
              </a:ext>
            </a:extLst>
          </p:cNvPr>
          <p:cNvSpPr txBox="1"/>
          <p:nvPr/>
        </p:nvSpPr>
        <p:spPr>
          <a:xfrm>
            <a:off x="485775" y="953265"/>
            <a:ext cx="2555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86F33495-184B-47D0-9F80-4354F11F1F95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36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1B5AB89F-35C0-459F-8AB3-C2CB9C54A889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86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极小项与极大项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84F270-1140-43B7-933D-1B07CCDEDB0B}"/>
              </a:ext>
            </a:extLst>
          </p:cNvPr>
          <p:cNvSpPr txBox="1"/>
          <p:nvPr/>
        </p:nvSpPr>
        <p:spPr>
          <a:xfrm>
            <a:off x="8832427" y="947973"/>
            <a:ext cx="3161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C54E80F-6527-450E-B191-11895324E69C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51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331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6E67647-E864-4D3B-9264-3FB53C759FF4}"/>
              </a:ext>
            </a:extLst>
          </p:cNvPr>
          <p:cNvSpPr txBox="1">
            <a:spLocks noChangeArrowheads="1"/>
          </p:cNvSpPr>
          <p:nvPr/>
        </p:nvSpPr>
        <p:spPr>
          <a:xfrm>
            <a:off x="580601" y="1488745"/>
            <a:ext cx="4075533" cy="46912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主范式的应用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F881108C-17D9-468F-8F8B-7BA57E476875}"/>
              </a:ext>
            </a:extLst>
          </p:cNvPr>
          <p:cNvSpPr txBox="1">
            <a:spLocks noChangeArrowheads="1"/>
          </p:cNvSpPr>
          <p:nvPr/>
        </p:nvSpPr>
        <p:spPr>
          <a:xfrm>
            <a:off x="485775" y="2069841"/>
            <a:ext cx="11211772" cy="44785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解实际问题</a:t>
            </a:r>
          </a:p>
          <a:p>
            <a:pPr marL="0" indent="0">
              <a:spcBef>
                <a:spcPts val="1800"/>
              </a:spcBef>
              <a:buNone/>
            </a:pP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56CB34AE-CF42-4C60-944E-A3AC36C0F41D}"/>
              </a:ext>
            </a:extLst>
          </p:cNvPr>
          <p:cNvSpPr txBox="1">
            <a:spLocks noChangeArrowheads="1"/>
          </p:cNvSpPr>
          <p:nvPr/>
        </p:nvSpPr>
        <p:spPr>
          <a:xfrm>
            <a:off x="4750960" y="1608960"/>
            <a:ext cx="7032735" cy="4876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① 设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派赵去，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派钱去，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派孙去，</a:t>
            </a:r>
            <a:r>
              <a:rPr lang="zh-CN" altLang="en-US" b="1" dirty="0">
                <a:latin typeface="宋体" panose="02010600030101010101" pitchFamily="2" charset="-122"/>
              </a:rPr>
              <a:t>  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i="1" dirty="0">
                <a:latin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派李去，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派周去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 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 (1) 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</a:rPr>
              <a:t>   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(2) 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6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u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</a:rPr>
              <a:t>   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(3) </a:t>
            </a:r>
            <a:r>
              <a:rPr lang="en-US" altLang="zh-CN" sz="2600" b="1" dirty="0">
                <a:latin typeface="Times New Roman" panose="02020603050405020304" pitchFamily="18" charset="0"/>
              </a:rPr>
              <a:t>((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600" b="1" dirty="0">
                <a:latin typeface="Times New Roman" panose="02020603050405020304" pitchFamily="18" charset="0"/>
              </a:rPr>
              <a:t>))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</a:rPr>
              <a:t>   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(4) </a:t>
            </a:r>
            <a:r>
              <a:rPr lang="en-US" altLang="zh-CN" sz="2600" b="1" dirty="0">
                <a:latin typeface="Times New Roman" panose="02020603050405020304" pitchFamily="18" charset="0"/>
              </a:rPr>
              <a:t>((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6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600" b="1" dirty="0">
                <a:latin typeface="Times New Roman" panose="02020603050405020304" pitchFamily="18" charset="0"/>
              </a:rPr>
              <a:t>))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</a:rPr>
              <a:t>   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(5) 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u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</a:rPr>
              <a:t>))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 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③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(1) ~ (5)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构成的合取式为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600" b="1" dirty="0">
                <a:latin typeface="Times New Roman" panose="02020603050405020304" pitchFamily="18" charset="0"/>
              </a:rPr>
              <a:t>          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600" b="1" dirty="0">
                <a:latin typeface="Times New Roman" panose="02020603050405020304" pitchFamily="18" charset="0"/>
              </a:rPr>
              <a:t>=(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6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u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600" b="1" dirty="0">
                <a:latin typeface="Times New Roman" panose="02020603050405020304" pitchFamily="18" charset="0"/>
              </a:rPr>
              <a:t>((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600" b="1" dirty="0">
                <a:latin typeface="Times New Roman" panose="02020603050405020304" pitchFamily="18" charset="0"/>
              </a:rPr>
              <a:t>))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lang="en-US" altLang="zh-CN" sz="2600" b="1" dirty="0"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</a:rPr>
              <a:t>                ((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6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600" b="1" dirty="0">
                <a:latin typeface="Times New Roman" panose="02020603050405020304" pitchFamily="18" charset="0"/>
              </a:rPr>
              <a:t>))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u</a:t>
            </a:r>
            <a:r>
              <a:rPr lang="en-US" altLang="zh-CN" sz="26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</a:rPr>
              <a:t>))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192819E-91C4-4D3C-A716-9DE8C0520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453" y="2912299"/>
            <a:ext cx="4364197" cy="215447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1AFE126-650D-46ED-8CFB-75417383CF48}"/>
              </a:ext>
            </a:extLst>
          </p:cNvPr>
          <p:cNvSpPr txBox="1"/>
          <p:nvPr/>
        </p:nvSpPr>
        <p:spPr>
          <a:xfrm>
            <a:off x="485775" y="953265"/>
            <a:ext cx="2555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C614F3BE-A375-4354-A1BA-71B6EC629830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36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7458E213-239A-4D5C-91B7-5026E98A6C8E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86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极小项与极大项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2392574-7B4F-4B23-9DF1-EF0F17355904}"/>
              </a:ext>
            </a:extLst>
          </p:cNvPr>
          <p:cNvSpPr txBox="1"/>
          <p:nvPr/>
        </p:nvSpPr>
        <p:spPr>
          <a:xfrm>
            <a:off x="8832427" y="947973"/>
            <a:ext cx="3161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F31A95F-40FC-40B5-BCA1-9666E5F61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6713" y="2638917"/>
            <a:ext cx="3213366" cy="1362584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91444880-F01D-4047-9C7D-B91C8F1D1C44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52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8094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6E67647-E864-4D3B-9264-3FB53C759FF4}"/>
              </a:ext>
            </a:extLst>
          </p:cNvPr>
          <p:cNvSpPr txBox="1">
            <a:spLocks noChangeArrowheads="1"/>
          </p:cNvSpPr>
          <p:nvPr/>
        </p:nvSpPr>
        <p:spPr>
          <a:xfrm>
            <a:off x="467188" y="1665949"/>
            <a:ext cx="9286240" cy="46912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主范式的应用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A31089F-3C55-43E1-BDCC-33F798174CBF}"/>
              </a:ext>
            </a:extLst>
          </p:cNvPr>
          <p:cNvSpPr txBox="1">
            <a:spLocks noChangeArrowheads="1"/>
          </p:cNvSpPr>
          <p:nvPr/>
        </p:nvSpPr>
        <p:spPr>
          <a:xfrm>
            <a:off x="233921" y="2310662"/>
            <a:ext cx="10628636" cy="4638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④   </a:t>
            </a:r>
            <a:r>
              <a:rPr lang="en-US" altLang="zh-CN" sz="2600" b="1" i="1" dirty="0">
                <a:latin typeface="Times New Roman" panose="02020603050405020304" pitchFamily="18" charset="0"/>
              </a:rPr>
              <a:t>A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b="1" dirty="0">
                <a:latin typeface="Times New Roman" panose="02020603050405020304" pitchFamily="18" charset="0"/>
              </a:rPr>
              <a:t> (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</a:p>
          <a:p>
            <a:pPr algn="just"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5E35ADAD-5109-4077-98BE-8888CA48F97A}"/>
              </a:ext>
            </a:extLst>
          </p:cNvPr>
          <p:cNvSpPr txBox="1">
            <a:spLocks noChangeArrowheads="1"/>
          </p:cNvSpPr>
          <p:nvPr/>
        </p:nvSpPr>
        <p:spPr>
          <a:xfrm>
            <a:off x="488450" y="2994992"/>
            <a:ext cx="11033231" cy="8943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结论：由④可知，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的成真赋值为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00110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11001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，因而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派孙、李去（赵、钱、周不去）或派赵、钱、周去（孙、李不去）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D953777-20F2-4D99-8072-1EC8B3132E38}"/>
              </a:ext>
            </a:extLst>
          </p:cNvPr>
          <p:cNvSpPr txBox="1">
            <a:spLocks noChangeArrowheads="1"/>
          </p:cNvSpPr>
          <p:nvPr/>
        </p:nvSpPr>
        <p:spPr>
          <a:xfrm>
            <a:off x="486751" y="4222577"/>
            <a:ext cx="11033231" cy="261903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的演算过程如下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 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((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                 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（交换律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600" b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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（分配律）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2814145-CBE6-4261-B760-72741BC422CD}"/>
              </a:ext>
            </a:extLst>
          </p:cNvPr>
          <p:cNvSpPr txBox="1"/>
          <p:nvPr/>
        </p:nvSpPr>
        <p:spPr>
          <a:xfrm>
            <a:off x="485775" y="953265"/>
            <a:ext cx="2555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ADC4BBD9-308C-4CC7-982E-76FB1B35D04B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36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BEE02727-2143-4AC4-8459-EB0FC543A20F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86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极小项与极大项 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A7B0111-D437-4084-B348-D6974D4F4B02}"/>
              </a:ext>
            </a:extLst>
          </p:cNvPr>
          <p:cNvSpPr txBox="1"/>
          <p:nvPr/>
        </p:nvSpPr>
        <p:spPr>
          <a:xfrm>
            <a:off x="8832427" y="947973"/>
            <a:ext cx="3161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44ECB4B-1FDC-4E8C-A065-6F98C1254707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53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5607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6E67647-E864-4D3B-9264-3FB53C759FF4}"/>
              </a:ext>
            </a:extLst>
          </p:cNvPr>
          <p:cNvSpPr txBox="1">
            <a:spLocks noChangeArrowheads="1"/>
          </p:cNvSpPr>
          <p:nvPr/>
        </p:nvSpPr>
        <p:spPr>
          <a:xfrm>
            <a:off x="580601" y="1488745"/>
            <a:ext cx="9286240" cy="46912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主范式的应用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F02F5CD-A3BD-4D08-AD2F-4D735EB8C3D7}"/>
              </a:ext>
            </a:extLst>
          </p:cNvPr>
          <p:cNvSpPr txBox="1">
            <a:spLocks noChangeArrowheads="1"/>
          </p:cNvSpPr>
          <p:nvPr/>
        </p:nvSpPr>
        <p:spPr>
          <a:xfrm>
            <a:off x="602827" y="1989678"/>
            <a:ext cx="10498666" cy="14696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（续）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</a:p>
          <a:p>
            <a:pPr algn="just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>
              <a:spcBef>
                <a:spcPts val="600"/>
              </a:spcBef>
              <a:buFont typeface="Symbol" panose="05050102010706020507" pitchFamily="18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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      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（分配律）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4DC7B01-33BE-4C22-90E3-9D26401399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6373" y="1455679"/>
            <a:ext cx="5254668" cy="1281928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039B9A82-7E0F-4DDF-9ECF-7BC99A2470A5}"/>
              </a:ext>
            </a:extLst>
          </p:cNvPr>
          <p:cNvSpPr txBox="1">
            <a:spLocks noChangeArrowheads="1"/>
          </p:cNvSpPr>
          <p:nvPr/>
        </p:nvSpPr>
        <p:spPr>
          <a:xfrm>
            <a:off x="681766" y="3511859"/>
            <a:ext cx="10498666" cy="9411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algn="just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D15A2B86-2A99-497D-85A2-80ADDDFD33C1}"/>
              </a:ext>
            </a:extLst>
          </p:cNvPr>
          <p:cNvSpPr txBox="1">
            <a:spLocks noChangeArrowheads="1"/>
          </p:cNvSpPr>
          <p:nvPr/>
        </p:nvSpPr>
        <p:spPr>
          <a:xfrm>
            <a:off x="651626" y="5231486"/>
            <a:ext cx="10498666" cy="6371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得</a:t>
            </a:r>
            <a:r>
              <a:rPr lang="zh-CN" altLang="en-US" b="1" dirty="0">
                <a:latin typeface="宋体" panose="02010600030101010101" pitchFamily="2" charset="-122"/>
              </a:rPr>
              <a:t> 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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9113FCA7-8524-4A12-A37E-8B00C4242350}"/>
              </a:ext>
            </a:extLst>
          </p:cNvPr>
          <p:cNvSpPr txBox="1">
            <a:spLocks noChangeArrowheads="1"/>
          </p:cNvSpPr>
          <p:nvPr/>
        </p:nvSpPr>
        <p:spPr>
          <a:xfrm>
            <a:off x="645276" y="4543597"/>
            <a:ext cx="10363706" cy="5132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再令 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="1" baseline="-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((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82474B2D-B88D-4B63-A76F-C70DDBCFE2EC}"/>
              </a:ext>
            </a:extLst>
          </p:cNvPr>
          <p:cNvSpPr txBox="1">
            <a:spLocks noChangeArrowheads="1"/>
          </p:cNvSpPr>
          <p:nvPr/>
        </p:nvSpPr>
        <p:spPr>
          <a:xfrm>
            <a:off x="679396" y="5922690"/>
            <a:ext cx="10498666" cy="10241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注意：在以上演算中多次用矛盾律</a:t>
            </a:r>
          </a:p>
          <a:p>
            <a:pPr algn="just">
              <a:spcBef>
                <a:spcPts val="18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要求：自己演算一遍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047B456-D88E-433B-8B31-2D4F2BB90FBA}"/>
              </a:ext>
            </a:extLst>
          </p:cNvPr>
          <p:cNvSpPr txBox="1"/>
          <p:nvPr/>
        </p:nvSpPr>
        <p:spPr>
          <a:xfrm>
            <a:off x="485775" y="953265"/>
            <a:ext cx="2555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766B82C6-92C4-481D-B5D7-C7C592EA0A20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36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DC73C2F7-5628-4F9F-B61E-9B8F8B690786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86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极小项与极大项 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AE0AE46-6C53-498E-AEEB-58AC55E51A07}"/>
              </a:ext>
            </a:extLst>
          </p:cNvPr>
          <p:cNvSpPr txBox="1"/>
          <p:nvPr/>
        </p:nvSpPr>
        <p:spPr>
          <a:xfrm>
            <a:off x="8832427" y="947973"/>
            <a:ext cx="3161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816F7F9-C9E6-4C4D-A4CF-E0B6AD87B2D1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54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1588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6E67647-E864-4D3B-9264-3FB53C759FF4}"/>
              </a:ext>
            </a:extLst>
          </p:cNvPr>
          <p:cNvSpPr txBox="1">
            <a:spLocks noChangeArrowheads="1"/>
          </p:cNvSpPr>
          <p:nvPr/>
        </p:nvSpPr>
        <p:spPr>
          <a:xfrm>
            <a:off x="545161" y="1758098"/>
            <a:ext cx="9286240" cy="46912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主范式的应用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F881108C-17D9-468F-8F8B-7BA57E476875}"/>
              </a:ext>
            </a:extLst>
          </p:cNvPr>
          <p:cNvSpPr txBox="1">
            <a:spLocks noChangeArrowheads="1"/>
          </p:cNvSpPr>
          <p:nvPr/>
        </p:nvSpPr>
        <p:spPr>
          <a:xfrm>
            <a:off x="450335" y="2339195"/>
            <a:ext cx="11211772" cy="150520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某单位要从</a:t>
            </a:r>
            <a:r>
              <a:rPr lang="en-US" altLang="zh-CN" sz="24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A,B,C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三人中选派若干人出国考察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需满足下述条件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去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必须去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(2)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去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不能去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</a:p>
          <a:p>
            <a:pPr marL="0" indent="0"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(3) 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必须去一人且只能去一人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问有几种可能的选派方案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?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0CE04684-E7E5-4D43-9AD6-39055F0A0B43}"/>
              </a:ext>
            </a:extLst>
          </p:cNvPr>
          <p:cNvSpPr txBox="1">
            <a:spLocks noChangeArrowheads="1"/>
          </p:cNvSpPr>
          <p:nvPr/>
        </p:nvSpPr>
        <p:spPr>
          <a:xfrm>
            <a:off x="469385" y="4103735"/>
            <a:ext cx="11211772" cy="23456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8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解： 记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p 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派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去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q 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派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去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r 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派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去</a:t>
            </a:r>
          </a:p>
          <a:p>
            <a:pPr marL="0" indent="0"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(1) 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,   </a:t>
            </a:r>
            <a:r>
              <a:rPr lang="en-US" altLang="zh-CN" sz="2400" b="1" dirty="0">
                <a:latin typeface="Times New Roman" panose="02020603050405020304" pitchFamily="18" charset="0"/>
              </a:rPr>
              <a:t>(2)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,   (3) 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zh-CN" altLang="en-US" sz="26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求下式的成真赋值</a:t>
            </a:r>
          </a:p>
          <a:p>
            <a:pPr marL="0" indent="0">
              <a:buNone/>
            </a:pPr>
            <a:r>
              <a:rPr lang="zh-CN" altLang="en-US" i="1" dirty="0">
                <a:latin typeface="Times New Roman" panose="02020603050405020304" pitchFamily="18" charset="0"/>
              </a:rPr>
              <a:t>     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=(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</a:rPr>
              <a:t>((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))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D73FFB7-7A68-49CA-9DEE-C09A8766B4B9}"/>
              </a:ext>
            </a:extLst>
          </p:cNvPr>
          <p:cNvSpPr txBox="1"/>
          <p:nvPr/>
        </p:nvSpPr>
        <p:spPr>
          <a:xfrm>
            <a:off x="485775" y="953265"/>
            <a:ext cx="2555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C70C57BE-56F1-4E24-B1BB-8C4BD57694A7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36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171DD8A2-3E5B-4EAA-8CB9-524656BD02F8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86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极小项与极大项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5F978CD-ECD8-492F-9E26-C73DE5F6E9BD}"/>
              </a:ext>
            </a:extLst>
          </p:cNvPr>
          <p:cNvSpPr txBox="1"/>
          <p:nvPr/>
        </p:nvSpPr>
        <p:spPr>
          <a:xfrm>
            <a:off x="8832427" y="947973"/>
            <a:ext cx="3161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224151-6B93-4AEC-8E19-9B8B86740179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55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176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6E67647-E864-4D3B-9264-3FB53C759FF4}"/>
              </a:ext>
            </a:extLst>
          </p:cNvPr>
          <p:cNvSpPr txBox="1">
            <a:spLocks noChangeArrowheads="1"/>
          </p:cNvSpPr>
          <p:nvPr/>
        </p:nvSpPr>
        <p:spPr>
          <a:xfrm>
            <a:off x="580601" y="1488745"/>
            <a:ext cx="9286240" cy="46912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主范式的应用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44896F6-5E36-4510-9334-4186ADCEF324}"/>
              </a:ext>
            </a:extLst>
          </p:cNvPr>
          <p:cNvSpPr txBox="1">
            <a:spLocks noChangeArrowheads="1"/>
          </p:cNvSpPr>
          <p:nvPr/>
        </p:nvSpPr>
        <p:spPr>
          <a:xfrm>
            <a:off x="580601" y="2138691"/>
            <a:ext cx="10480252" cy="96645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求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的主析取范式</a:t>
            </a:r>
          </a:p>
          <a:p>
            <a:pPr marL="0" indent="0" algn="just">
              <a:buNone/>
            </a:pPr>
            <a:r>
              <a:rPr lang="zh-CN" altLang="en-US" i="1" dirty="0">
                <a:latin typeface="Times New Roman" panose="02020603050405020304" pitchFamily="18" charset="0"/>
              </a:rPr>
              <a:t>  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=(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</a:rPr>
              <a:t>((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))</a:t>
            </a:r>
          </a:p>
          <a:p>
            <a:pPr marL="0" indent="0"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1D638CB-3333-492E-849E-1E7BCA2F1C06}"/>
              </a:ext>
            </a:extLst>
          </p:cNvPr>
          <p:cNvSpPr txBox="1"/>
          <p:nvPr/>
        </p:nvSpPr>
        <p:spPr>
          <a:xfrm>
            <a:off x="1076960" y="636636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0">
              <a:buNone/>
              <a:defRPr sz="24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结论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方案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去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,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方案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去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5B1724D-D516-4412-B840-A1D968178AC8}"/>
              </a:ext>
            </a:extLst>
          </p:cNvPr>
          <p:cNvSpPr txBox="1"/>
          <p:nvPr/>
        </p:nvSpPr>
        <p:spPr>
          <a:xfrm>
            <a:off x="5004540" y="5752713"/>
            <a:ext cx="34350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成真赋值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:101,010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4C0B8BF-51F7-481E-9A1F-0ED25907130F}"/>
              </a:ext>
            </a:extLst>
          </p:cNvPr>
          <p:cNvSpPr txBox="1">
            <a:spLocks noChangeArrowheads="1"/>
          </p:cNvSpPr>
          <p:nvPr/>
        </p:nvSpPr>
        <p:spPr>
          <a:xfrm>
            <a:off x="794667" y="3086026"/>
            <a:ext cx="8636213" cy="6286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</a:rPr>
              <a:t>((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))</a:t>
            </a:r>
          </a:p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9B429014-CABE-4806-9AD4-6D815860E3F9}"/>
              </a:ext>
            </a:extLst>
          </p:cNvPr>
          <p:cNvSpPr txBox="1">
            <a:spLocks noChangeArrowheads="1"/>
          </p:cNvSpPr>
          <p:nvPr/>
        </p:nvSpPr>
        <p:spPr>
          <a:xfrm>
            <a:off x="794667" y="3578661"/>
            <a:ext cx="10716049" cy="5363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(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))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</a:t>
            </a:r>
            <a:r>
              <a:rPr lang="en-US" altLang="zh-CN" sz="2400" b="1" dirty="0">
                <a:latin typeface="Times New Roman" panose="02020603050405020304" pitchFamily="18" charset="0"/>
              </a:rPr>
              <a:t>((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))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E42ED738-D99F-4CD8-8CF1-3B7CFB89819E}"/>
              </a:ext>
            </a:extLst>
          </p:cNvPr>
          <p:cNvSpPr txBox="1">
            <a:spLocks noChangeArrowheads="1"/>
          </p:cNvSpPr>
          <p:nvPr/>
        </p:nvSpPr>
        <p:spPr>
          <a:xfrm>
            <a:off x="794667" y="4106366"/>
            <a:ext cx="11031573" cy="154027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(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(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))</a:t>
            </a:r>
          </a:p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  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(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))</a:t>
            </a:r>
          </a:p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(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(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))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1E293CB4-5591-4212-8C6E-5C101E2185BB}"/>
              </a:ext>
            </a:extLst>
          </p:cNvPr>
          <p:cNvSpPr txBox="1">
            <a:spLocks noChangeArrowheads="1"/>
          </p:cNvSpPr>
          <p:nvPr/>
        </p:nvSpPr>
        <p:spPr>
          <a:xfrm>
            <a:off x="794667" y="5698076"/>
            <a:ext cx="4794038" cy="5085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(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)  </a:t>
            </a:r>
            <a:r>
              <a:rPr lang="en-US" altLang="zh-CN" sz="2400" dirty="0">
                <a:latin typeface="Times New Roman" panose="02020603050405020304" pitchFamily="18" charset="0"/>
              </a:rPr>
              <a:t>                  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30E08E-D908-4758-BDB8-BF6970C908FC}"/>
              </a:ext>
            </a:extLst>
          </p:cNvPr>
          <p:cNvSpPr txBox="1"/>
          <p:nvPr/>
        </p:nvSpPr>
        <p:spPr>
          <a:xfrm>
            <a:off x="485775" y="953265"/>
            <a:ext cx="2555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778DF1E-2185-4CDF-AE5F-064D74ECB85E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36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0ED07232-ED43-45EA-A813-44EDB1E3A8A3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86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极小项与极大项 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198BB62-CF45-4931-811C-CAE3E06645FE}"/>
              </a:ext>
            </a:extLst>
          </p:cNvPr>
          <p:cNvSpPr txBox="1"/>
          <p:nvPr/>
        </p:nvSpPr>
        <p:spPr>
          <a:xfrm>
            <a:off x="8832427" y="947973"/>
            <a:ext cx="3161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B3C0AB2-0CBB-4790-8E45-05E667FA8778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56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7006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1" grpId="0"/>
      <p:bldP spid="12" grpId="0"/>
      <p:bldP spid="16" grpId="0"/>
      <p:bldP spid="17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1.4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范式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13C01A-1D95-4E6A-9984-41D85D24C56A}"/>
              </a:ext>
            </a:extLst>
          </p:cNvPr>
          <p:cNvSpPr txBox="1"/>
          <p:nvPr/>
        </p:nvSpPr>
        <p:spPr>
          <a:xfrm>
            <a:off x="485775" y="953265"/>
            <a:ext cx="2555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析取范式与合取范式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D12ECD5-1FCA-44D4-B813-F4180BDA4752}"/>
              </a:ext>
            </a:extLst>
          </p:cNvPr>
          <p:cNvSpPr txBox="1">
            <a:spLocks noChangeArrowheads="1"/>
          </p:cNvSpPr>
          <p:nvPr/>
        </p:nvSpPr>
        <p:spPr>
          <a:xfrm>
            <a:off x="3611772" y="954252"/>
            <a:ext cx="2136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命题公式的范式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FA2BC71-E082-424A-A29F-1472994116AA}"/>
              </a:ext>
            </a:extLst>
          </p:cNvPr>
          <p:cNvSpPr txBox="1">
            <a:spLocks noChangeArrowheads="1"/>
          </p:cNvSpPr>
          <p:nvPr/>
        </p:nvSpPr>
        <p:spPr>
          <a:xfrm>
            <a:off x="6273695" y="954746"/>
            <a:ext cx="2286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极小项与极大项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E217B2F-3DF7-4AE9-9E14-92D596747B8B}"/>
              </a:ext>
            </a:extLst>
          </p:cNvPr>
          <p:cNvSpPr txBox="1"/>
          <p:nvPr/>
        </p:nvSpPr>
        <p:spPr>
          <a:xfrm>
            <a:off x="8832427" y="947973"/>
            <a:ext cx="31610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主析取范式与主合取范式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6E67647-E864-4D3B-9264-3FB53C759FF4}"/>
              </a:ext>
            </a:extLst>
          </p:cNvPr>
          <p:cNvSpPr txBox="1">
            <a:spLocks noChangeArrowheads="1"/>
          </p:cNvSpPr>
          <p:nvPr/>
        </p:nvSpPr>
        <p:spPr>
          <a:xfrm>
            <a:off x="488453" y="1609247"/>
            <a:ext cx="9286240" cy="4001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用成真赋值和成假赋值确定主范式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E456EF61-3CAE-4A66-B8DD-EC2714C6CF81}"/>
              </a:ext>
            </a:extLst>
          </p:cNvPr>
          <p:cNvSpPr txBox="1">
            <a:spLocks noChangeArrowheads="1"/>
          </p:cNvSpPr>
          <p:nvPr/>
        </p:nvSpPr>
        <p:spPr>
          <a:xfrm>
            <a:off x="488453" y="2289579"/>
            <a:ext cx="11030798" cy="9869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400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由主析取范式确定主合取范式</a:t>
            </a:r>
          </a:p>
          <a:p>
            <a:pPr marL="0" indent="0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en-US" altLang="zh-CN" sz="2400" dirty="0"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个命题变项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且已知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=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求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的主合取范式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1B2B6130-1D4C-49AC-9338-2999EE234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46" y="5590328"/>
            <a:ext cx="7632700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由主合取范式确定主析取范式</a:t>
            </a:r>
          </a:p>
          <a:p>
            <a:pPr>
              <a:spcBef>
                <a:spcPts val="12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用真值表确定主范式 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ACEBD2BE-5CF1-46F1-BC6C-8ED736F8427E}"/>
              </a:ext>
            </a:extLst>
          </p:cNvPr>
          <p:cNvSpPr txBox="1">
            <a:spLocks noChangeArrowheads="1"/>
          </p:cNvSpPr>
          <p:nvPr/>
        </p:nvSpPr>
        <p:spPr>
          <a:xfrm>
            <a:off x="488453" y="3411452"/>
            <a:ext cx="11030798" cy="200268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600"/>
              </a:lnSpc>
              <a:spcBef>
                <a:spcPts val="1800"/>
              </a:spcBef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解：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的成真赋值是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1,3,7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的二进制表示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成假赋值是在主析取范式中没有出现的极小项的下角标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0,2,4,5,6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的二进制表示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它们恰好是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的主合取范式的极大项的下角标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故</a:t>
            </a:r>
          </a:p>
          <a:p>
            <a:pPr marL="0" indent="0">
              <a:buNone/>
            </a:pP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    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24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EFF20B8-E960-4416-9B83-3EE821B49C41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57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82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1.5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联结词全功能集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59597641-FED9-4AC1-9192-E5874FE39131}"/>
              </a:ext>
            </a:extLst>
          </p:cNvPr>
          <p:cNvSpPr txBox="1">
            <a:spLocks noChangeArrowheads="1"/>
          </p:cNvSpPr>
          <p:nvPr/>
        </p:nvSpPr>
        <p:spPr>
          <a:xfrm>
            <a:off x="485774" y="1907077"/>
            <a:ext cx="10994371" cy="11038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1.18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是一个联结词集合，如果任何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400" b="1" i="1" dirty="0" err="1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2400" b="1" i="1" dirty="0" err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</a:t>
            </a:r>
            <a:r>
              <a:rPr lang="en-US" altLang="zh-CN" sz="2400" b="1" i="1" dirty="0" err="1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元真值函数都可以由仅含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中的联结词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构成的公式表示，则称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联结词全功能集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2F039D1-CFAF-4B70-A5D3-5A4FADB5457C}"/>
              </a:ext>
            </a:extLst>
          </p:cNvPr>
          <p:cNvSpPr txBox="1"/>
          <p:nvPr/>
        </p:nvSpPr>
        <p:spPr>
          <a:xfrm>
            <a:off x="485773" y="4093252"/>
            <a:ext cx="11042439" cy="194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36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说明：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ts val="336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若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是联结词全功能集，则任何命题公式都可用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中的联结词表示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>
              <a:lnSpc>
                <a:spcPts val="3800"/>
              </a:lnSpc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400" b="1" i="1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 baseline="-30000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 baseline="-30000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是两个联结词集合，且</a:t>
            </a:r>
            <a:r>
              <a:rPr lang="en-US" altLang="zh-CN" sz="2400" b="1" i="1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 baseline="-30000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400" b="1" baseline="-30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</a:t>
            </a:r>
            <a:r>
              <a:rPr lang="en-US" altLang="zh-CN" sz="2400" b="1" baseline="-30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 baseline="-30000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 b="1" i="1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 baseline="-30000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是全功能集，则</a:t>
            </a:r>
            <a:r>
              <a:rPr lang="en-US" altLang="zh-CN" sz="2400" b="1" i="1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 baseline="-30000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也是全功能集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  <a:p>
            <a:pPr>
              <a:lnSpc>
                <a:spcPts val="3800"/>
              </a:lnSpc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反之，若</a:t>
            </a:r>
            <a:r>
              <a:rPr lang="en-US" altLang="zh-CN" sz="2400" b="1" i="1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 baseline="-30000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不是全功能集，则</a:t>
            </a:r>
            <a:r>
              <a:rPr lang="en-US" altLang="zh-CN" sz="2400" b="1" i="1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 baseline="-30000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也不是全功能集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DC4B0F-EBAA-4076-8005-BAFAA9AF864A}"/>
              </a:ext>
            </a:extLst>
          </p:cNvPr>
          <p:cNvSpPr txBox="1"/>
          <p:nvPr/>
        </p:nvSpPr>
        <p:spPr>
          <a:xfrm>
            <a:off x="621241" y="931191"/>
            <a:ext cx="36798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联结词全功能集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250FCCC-3BC9-4277-8462-FAB5DA29E766}"/>
              </a:ext>
            </a:extLst>
          </p:cNvPr>
          <p:cNvSpPr txBox="1">
            <a:spLocks noChangeArrowheads="1"/>
          </p:cNvSpPr>
          <p:nvPr/>
        </p:nvSpPr>
        <p:spPr>
          <a:xfrm>
            <a:off x="8066568" y="931191"/>
            <a:ext cx="37054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pPr algn="just" eaLnBrk="1" hangingPunct="1">
              <a:buSzPct val="150000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复合联结词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与非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或非联结词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FF2AE2D-5854-44FE-B053-FC6743C3AAAF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58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4396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1.5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联结词全功能集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8F35DCF-0945-4AE1-84BE-5D2B89F3F973}"/>
              </a:ext>
            </a:extLst>
          </p:cNvPr>
          <p:cNvSpPr txBox="1">
            <a:spLocks noChangeArrowheads="1"/>
          </p:cNvSpPr>
          <p:nvPr/>
        </p:nvSpPr>
        <p:spPr>
          <a:xfrm>
            <a:off x="538480" y="1832182"/>
            <a:ext cx="4101253" cy="57234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联结词全功能集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实例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4598FE4-B65C-4DC2-B2F4-EE37B7ADB7F2}"/>
              </a:ext>
            </a:extLst>
          </p:cNvPr>
          <p:cNvSpPr txBox="1">
            <a:spLocks noChangeArrowheads="1"/>
          </p:cNvSpPr>
          <p:nvPr/>
        </p:nvSpPr>
        <p:spPr>
          <a:xfrm>
            <a:off x="468312" y="2474379"/>
            <a:ext cx="10423207" cy="6955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1.5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→}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都是联结词全功能集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D2F3137-953C-4BCB-89E4-323C29574C52}"/>
              </a:ext>
            </a:extLst>
          </p:cNvPr>
          <p:cNvSpPr txBox="1"/>
          <p:nvPr/>
        </p:nvSpPr>
        <p:spPr>
          <a:xfrm>
            <a:off x="621241" y="931191"/>
            <a:ext cx="36798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联结词全功能集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0A2A69E1-15AF-4B2A-9B9F-7DF3D1971638}"/>
              </a:ext>
            </a:extLst>
          </p:cNvPr>
          <p:cNvSpPr txBox="1">
            <a:spLocks noChangeArrowheads="1"/>
          </p:cNvSpPr>
          <p:nvPr/>
        </p:nvSpPr>
        <p:spPr>
          <a:xfrm>
            <a:off x="8066568" y="931191"/>
            <a:ext cx="37054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pPr algn="just" eaLnBrk="1" hangingPunct="1">
              <a:buSzPct val="150000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复合联结词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与非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或非联结词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EF8F8AF-D407-4B5C-B4A5-42D463B268D3}"/>
              </a:ext>
            </a:extLst>
          </p:cNvPr>
          <p:cNvSpPr txBox="1">
            <a:spLocks noChangeArrowheads="1"/>
          </p:cNvSpPr>
          <p:nvPr/>
        </p:nvSpPr>
        <p:spPr>
          <a:xfrm>
            <a:off x="468311" y="3423923"/>
            <a:ext cx="10423207" cy="33574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每一个真值函数都可以用一个主析取范式表示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是联结词全功能集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是全功能集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是全功能集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→}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也是全功能集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6A68468-D9FE-4DA4-8DC4-DD032FD83B1E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59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0616132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1.5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联结词全功能集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DC86326-5CC0-4FF7-A053-8D262DBE94B0}"/>
              </a:ext>
            </a:extLst>
          </p:cNvPr>
          <p:cNvSpPr txBox="1">
            <a:spLocks noChangeArrowheads="1"/>
          </p:cNvSpPr>
          <p:nvPr/>
        </p:nvSpPr>
        <p:spPr>
          <a:xfrm>
            <a:off x="552451" y="1531630"/>
            <a:ext cx="8229600" cy="10220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与非式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(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或非式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 (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/>
              <a:t> 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227AEA65-75FE-4808-ACDD-971E22902BEE}"/>
              </a:ext>
            </a:extLst>
          </p:cNvPr>
          <p:cNvSpPr txBox="1">
            <a:spLocks noChangeArrowheads="1"/>
          </p:cNvSpPr>
          <p:nvPr/>
        </p:nvSpPr>
        <p:spPr>
          <a:xfrm>
            <a:off x="565997" y="2813909"/>
            <a:ext cx="8229600" cy="229318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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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∧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∨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有下述关系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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4F2A3A28-7656-44A8-9FE1-D8515E747420}"/>
              </a:ext>
            </a:extLst>
          </p:cNvPr>
          <p:cNvSpPr txBox="1">
            <a:spLocks noChangeArrowheads="1"/>
          </p:cNvSpPr>
          <p:nvPr/>
        </p:nvSpPr>
        <p:spPr>
          <a:xfrm>
            <a:off x="8646584" y="3336501"/>
            <a:ext cx="3633470" cy="15699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endParaRPr lang="en-US" altLang="zh-CN" sz="2400" b="1" dirty="0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E5745893-C8BA-408A-8B73-732DDF61358C}"/>
              </a:ext>
            </a:extLst>
          </p:cNvPr>
          <p:cNvSpPr txBox="1">
            <a:spLocks noChangeArrowheads="1"/>
          </p:cNvSpPr>
          <p:nvPr/>
        </p:nvSpPr>
        <p:spPr>
          <a:xfrm>
            <a:off x="581978" y="5375135"/>
            <a:ext cx="10675303" cy="14388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1.6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}, {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是联结词全功能集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可以证明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∧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不是全功能集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从而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∧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}, {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也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不是全功能集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F030440-922F-46A2-9291-826DFD7F7962}"/>
              </a:ext>
            </a:extLst>
          </p:cNvPr>
          <p:cNvSpPr txBox="1"/>
          <p:nvPr/>
        </p:nvSpPr>
        <p:spPr>
          <a:xfrm>
            <a:off x="621241" y="931191"/>
            <a:ext cx="36798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buSzPct val="150000"/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联结词全功能集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4D4C1919-C95D-49EE-A27F-48C79983CC6E}"/>
              </a:ext>
            </a:extLst>
          </p:cNvPr>
          <p:cNvSpPr txBox="1">
            <a:spLocks noChangeArrowheads="1"/>
          </p:cNvSpPr>
          <p:nvPr/>
        </p:nvSpPr>
        <p:spPr>
          <a:xfrm>
            <a:off x="8092228" y="931191"/>
            <a:ext cx="36798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复合联结词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与非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或非联结词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817F226-86EB-4687-983A-34CD1674E36D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60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9672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1.5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联结词全功能集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C825E37-619B-4501-9443-D8283649C223}"/>
              </a:ext>
            </a:extLst>
          </p:cNvPr>
          <p:cNvSpPr txBox="1">
            <a:spLocks noChangeArrowheads="1"/>
          </p:cNvSpPr>
          <p:nvPr/>
        </p:nvSpPr>
        <p:spPr>
          <a:xfrm>
            <a:off x="468312" y="1643063"/>
            <a:ext cx="11256327" cy="13236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将公式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化成只含下列各联结词集中的联结词的等值的公式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(1) {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，∨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{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→}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{↑}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{↓}.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CE6E02B-1D91-494A-A5AB-7A861F12BD56}"/>
              </a:ext>
            </a:extLst>
          </p:cNvPr>
          <p:cNvSpPr txBox="1"/>
          <p:nvPr/>
        </p:nvSpPr>
        <p:spPr>
          <a:xfrm>
            <a:off x="621241" y="931191"/>
            <a:ext cx="36798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buSzPct val="150000"/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联结词全功能集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60F0A19-64E2-463E-A3CB-12635F035D1A}"/>
              </a:ext>
            </a:extLst>
          </p:cNvPr>
          <p:cNvSpPr txBox="1">
            <a:spLocks noChangeArrowheads="1"/>
          </p:cNvSpPr>
          <p:nvPr/>
        </p:nvSpPr>
        <p:spPr>
          <a:xfrm>
            <a:off x="8092228" y="931191"/>
            <a:ext cx="36798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复合联结词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与非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或非联结词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AA9F126-3303-4046-912F-6984EBF92EC3}"/>
              </a:ext>
            </a:extLst>
          </p:cNvPr>
          <p:cNvSpPr txBox="1">
            <a:spLocks noChangeArrowheads="1"/>
          </p:cNvSpPr>
          <p:nvPr/>
        </p:nvSpPr>
        <p:spPr>
          <a:xfrm>
            <a:off x="939586" y="2966721"/>
            <a:ext cx="6673639" cy="4622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BDDD08D-70EE-4A93-AE39-4F6F0562EBBE}"/>
              </a:ext>
            </a:extLst>
          </p:cNvPr>
          <p:cNvSpPr txBox="1">
            <a:spLocks noChangeArrowheads="1"/>
          </p:cNvSpPr>
          <p:nvPr/>
        </p:nvSpPr>
        <p:spPr>
          <a:xfrm>
            <a:off x="1210523" y="3626273"/>
            <a:ext cx="7229052" cy="53932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(2)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B54CE47-AE6A-4BDF-B496-DC511B2C53CD}"/>
              </a:ext>
            </a:extLst>
          </p:cNvPr>
          <p:cNvSpPr txBox="1">
            <a:spLocks noChangeArrowheads="1"/>
          </p:cNvSpPr>
          <p:nvPr/>
        </p:nvSpPr>
        <p:spPr>
          <a:xfrm>
            <a:off x="1210523" y="4375657"/>
            <a:ext cx="10861568" cy="11703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(3)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 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)))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  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↑(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↑(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))↑(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↑(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)).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6EA5885-5493-4B5C-8D66-D50CE36A9C66}"/>
              </a:ext>
            </a:extLst>
          </p:cNvPr>
          <p:cNvSpPr txBox="1">
            <a:spLocks noChangeArrowheads="1"/>
          </p:cNvSpPr>
          <p:nvPr/>
        </p:nvSpPr>
        <p:spPr>
          <a:xfrm>
            <a:off x="1210523" y="5603990"/>
            <a:ext cx="8072333" cy="5703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(4)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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)↓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)↓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A09272C-3EAB-4B2D-9E79-00699DA50138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61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202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1" grpId="0"/>
      <p:bldP spid="1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1.6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组合电路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1C87485-B14B-44FB-A157-25475D6E5132}"/>
              </a:ext>
            </a:extLst>
          </p:cNvPr>
          <p:cNvSpPr txBox="1">
            <a:spLocks/>
          </p:cNvSpPr>
          <p:nvPr/>
        </p:nvSpPr>
        <p:spPr>
          <a:xfrm>
            <a:off x="545255" y="1805096"/>
            <a:ext cx="9052558" cy="1733550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实现逻辑运算的电子元件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组合电路</a:t>
            </a:r>
            <a:r>
              <a:rPr 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实现命题公式的由电子元件组成的电路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>
              <a:spcAft>
                <a:spcPts val="600"/>
              </a:spcAft>
              <a:buNone/>
              <a:defRPr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实现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∧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∨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的元件分别称为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与门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或门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非门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FACD0365-931B-4619-B1E4-3BE294171571}"/>
              </a:ext>
            </a:extLst>
          </p:cNvPr>
          <p:cNvGrpSpPr/>
          <p:nvPr/>
        </p:nvGrpSpPr>
        <p:grpSpPr>
          <a:xfrm>
            <a:off x="2048086" y="4030787"/>
            <a:ext cx="7349492" cy="1722704"/>
            <a:chOff x="2048086" y="4030787"/>
            <a:chExt cx="7349492" cy="1722704"/>
          </a:xfrm>
        </p:grpSpPr>
        <p:grpSp>
          <p:nvGrpSpPr>
            <p:cNvPr id="52" name="Group 48">
              <a:extLst>
                <a:ext uri="{FF2B5EF4-FFF2-40B4-BE49-F238E27FC236}">
                  <a16:creationId xmlns:a16="http://schemas.microsoft.com/office/drawing/2014/main" id="{9A86962A-FB04-4D61-ACFE-8506B6A633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14045" y="4257805"/>
              <a:ext cx="410437" cy="406447"/>
              <a:chOff x="8047" y="2015"/>
              <a:chExt cx="302" cy="242"/>
            </a:xfrm>
          </p:grpSpPr>
          <p:sp>
            <p:nvSpPr>
              <p:cNvPr id="53" name="AutoShape 49">
                <a:extLst>
                  <a:ext uri="{FF2B5EF4-FFF2-40B4-BE49-F238E27FC236}">
                    <a16:creationId xmlns:a16="http://schemas.microsoft.com/office/drawing/2014/main" id="{DB4B3AA8-0AB4-4877-975A-F4EEA7A4FC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8041" y="2021"/>
                <a:ext cx="242" cy="230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28575">
                <a:solidFill>
                  <a:srgbClr val="992677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992677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54" name="Oval 50">
                <a:extLst>
                  <a:ext uri="{FF2B5EF4-FFF2-40B4-BE49-F238E27FC236}">
                    <a16:creationId xmlns:a16="http://schemas.microsoft.com/office/drawing/2014/main" id="{3AA2C08E-FA86-4ADC-9BB6-8DDAD2AC3B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68" y="2102"/>
                <a:ext cx="81" cy="71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992677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>
                  <a:solidFill>
                    <a:srgbClr val="992677"/>
                  </a:solidFill>
                  <a:highlight>
                    <a:srgbClr val="FFFF00"/>
                  </a:highlight>
                </a:endParaRPr>
              </a:p>
            </p:txBody>
          </p:sp>
        </p:grpSp>
        <p:sp>
          <p:nvSpPr>
            <p:cNvPr id="11" name="Text Box 27">
              <a:extLst>
                <a:ext uri="{FF2B5EF4-FFF2-40B4-BE49-F238E27FC236}">
                  <a16:creationId xmlns:a16="http://schemas.microsoft.com/office/drawing/2014/main" id="{DBFD858F-1CBE-4303-9014-E010890C4B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7395" y="5099737"/>
              <a:ext cx="1584837" cy="611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 algn="just" eaLnBrk="1" hangingPunct="1"/>
              <a:r>
                <a:rPr lang="zh-CN" altLang="en-US" sz="2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与门</a:t>
              </a:r>
              <a:endParaRPr lang="zh-CN" altLang="zh-CN" sz="22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2" name="Text Box 28">
              <a:extLst>
                <a:ext uri="{FF2B5EF4-FFF2-40B4-BE49-F238E27FC236}">
                  <a16:creationId xmlns:a16="http://schemas.microsoft.com/office/drawing/2014/main" id="{62555906-3651-4877-8960-D919869B1F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2001" y="5142317"/>
              <a:ext cx="1621163" cy="611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marL="342900" indent="-342900" eaLnBrk="0" hangingPunct="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lvl="1" algn="just">
                <a:defRPr sz="2800" b="1"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/>
              <a:r>
                <a:rPr lang="zh-CN" altLang="en-US" sz="2200" dirty="0">
                  <a:latin typeface="黑体" panose="02010609060101010101" pitchFamily="49" charset="-122"/>
                  <a:ea typeface="黑体" panose="02010609060101010101" pitchFamily="49" charset="-122"/>
                </a:rPr>
                <a:t>或门</a:t>
              </a:r>
              <a:endParaRPr lang="zh-CN" altLang="zh-CN" sz="2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" name="Text Box 29">
              <a:extLst>
                <a:ext uri="{FF2B5EF4-FFF2-40B4-BE49-F238E27FC236}">
                  <a16:creationId xmlns:a16="http://schemas.microsoft.com/office/drawing/2014/main" id="{93BC99A0-F2ED-470A-9207-2D241E7CD1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79371" y="5120453"/>
              <a:ext cx="1597182" cy="632756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 algn="just" eaLnBrk="1" hangingPunct="1"/>
              <a:r>
                <a:rPr lang="zh-CN" altLang="en-US" sz="2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非门</a:t>
              </a:r>
              <a:endParaRPr lang="zh-CN" altLang="zh-CN" sz="22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" name="Text Box 36">
              <a:extLst>
                <a:ext uri="{FF2B5EF4-FFF2-40B4-BE49-F238E27FC236}">
                  <a16:creationId xmlns:a16="http://schemas.microsoft.com/office/drawing/2014/main" id="{8CF1A5AF-DC90-46E2-964F-F0C3F16C10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8086" y="4051495"/>
              <a:ext cx="357188" cy="4288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 Box 38">
              <a:extLst>
                <a:ext uri="{FF2B5EF4-FFF2-40B4-BE49-F238E27FC236}">
                  <a16:creationId xmlns:a16="http://schemas.microsoft.com/office/drawing/2014/main" id="{708FFA3A-D0FF-4AE3-83DC-08DD7F43ED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1687" y="4033628"/>
              <a:ext cx="1071563" cy="4534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∧</a:t>
              </a:r>
              <a:r>
                <a:rPr lang="en-US" altLang="zh-CN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 Box 46">
              <a:extLst>
                <a:ext uri="{FF2B5EF4-FFF2-40B4-BE49-F238E27FC236}">
                  <a16:creationId xmlns:a16="http://schemas.microsoft.com/office/drawing/2014/main" id="{E163899C-16F3-452F-B706-917DDEE799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4887" y="4030787"/>
              <a:ext cx="1007362" cy="507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∨</a:t>
              </a:r>
              <a:r>
                <a:rPr lang="en-US" altLang="zh-CN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 Box 54">
              <a:extLst>
                <a:ext uri="{FF2B5EF4-FFF2-40B4-BE49-F238E27FC236}">
                  <a16:creationId xmlns:a16="http://schemas.microsoft.com/office/drawing/2014/main" id="{74F88C87-7EB2-41E4-8F0F-9171779528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41170" y="4063590"/>
              <a:ext cx="656408" cy="437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</a:t>
              </a:r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 Box 36">
              <a:extLst>
                <a:ext uri="{FF2B5EF4-FFF2-40B4-BE49-F238E27FC236}">
                  <a16:creationId xmlns:a16="http://schemas.microsoft.com/office/drawing/2014/main" id="{B3B00704-23A2-4375-87F7-951299CD74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8086" y="4265905"/>
              <a:ext cx="357188" cy="4288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 Box 36">
              <a:extLst>
                <a:ext uri="{FF2B5EF4-FFF2-40B4-BE49-F238E27FC236}">
                  <a16:creationId xmlns:a16="http://schemas.microsoft.com/office/drawing/2014/main" id="{ADF0CC5E-1D92-427C-822F-ABCFDB756F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1550" y="4153797"/>
              <a:ext cx="357188" cy="4288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09A294F0-7EDB-4315-97CD-A4CA50683BE0}"/>
                </a:ext>
              </a:extLst>
            </p:cNvPr>
            <p:cNvCxnSpPr/>
            <p:nvPr/>
          </p:nvCxnSpPr>
          <p:spPr>
            <a:xfrm>
              <a:off x="8721407" y="4449767"/>
              <a:ext cx="57626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1D22D48A-A57F-4DD8-A433-EFC220006240}"/>
                </a:ext>
              </a:extLst>
            </p:cNvPr>
            <p:cNvCxnSpPr/>
            <p:nvPr/>
          </p:nvCxnSpPr>
          <p:spPr>
            <a:xfrm>
              <a:off x="7764463" y="4449767"/>
              <a:ext cx="57626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A26F7989-87B9-4509-B65D-80CC09A6B7B8}"/>
                </a:ext>
              </a:extLst>
            </p:cNvPr>
            <p:cNvCxnSpPr>
              <a:cxnSpLocks/>
            </p:cNvCxnSpPr>
            <p:nvPr/>
          </p:nvCxnSpPr>
          <p:spPr>
            <a:xfrm>
              <a:off x="3324440" y="4449767"/>
              <a:ext cx="93598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A0386663-3FEB-4C5A-9D8D-CE6728AB43C0}"/>
                </a:ext>
              </a:extLst>
            </p:cNvPr>
            <p:cNvCxnSpPr/>
            <p:nvPr/>
          </p:nvCxnSpPr>
          <p:spPr>
            <a:xfrm>
              <a:off x="2292351" y="4332396"/>
              <a:ext cx="57626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EB06ABD7-4703-4DE9-B85E-24D4BAEDCBE9}"/>
                </a:ext>
              </a:extLst>
            </p:cNvPr>
            <p:cNvCxnSpPr/>
            <p:nvPr/>
          </p:nvCxnSpPr>
          <p:spPr>
            <a:xfrm>
              <a:off x="2292351" y="4548296"/>
              <a:ext cx="57626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F7EAE385-AFDD-4005-94F1-DC905589F53E}"/>
                </a:ext>
              </a:extLst>
            </p:cNvPr>
            <p:cNvSpPr/>
            <p:nvPr/>
          </p:nvSpPr>
          <p:spPr>
            <a:xfrm>
              <a:off x="2868614" y="4085361"/>
              <a:ext cx="431800" cy="7146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4DA57A55-3B1D-4E7E-80CF-4D3A233A090A}"/>
                </a:ext>
              </a:extLst>
            </p:cNvPr>
            <p:cNvCxnSpPr>
              <a:cxnSpLocks/>
            </p:cNvCxnSpPr>
            <p:nvPr/>
          </p:nvCxnSpPr>
          <p:spPr>
            <a:xfrm>
              <a:off x="5969418" y="4453158"/>
              <a:ext cx="93598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F5615E57-7369-4394-BA06-748710FD1190}"/>
                </a:ext>
              </a:extLst>
            </p:cNvPr>
            <p:cNvCxnSpPr/>
            <p:nvPr/>
          </p:nvCxnSpPr>
          <p:spPr>
            <a:xfrm>
              <a:off x="4937329" y="4335787"/>
              <a:ext cx="57626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82DA4B93-3191-4265-9C4B-2CDF6A959B9F}"/>
                </a:ext>
              </a:extLst>
            </p:cNvPr>
            <p:cNvCxnSpPr/>
            <p:nvPr/>
          </p:nvCxnSpPr>
          <p:spPr>
            <a:xfrm>
              <a:off x="4937329" y="4551687"/>
              <a:ext cx="57626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6F1F5BE5-9B30-4B62-8573-FCF877E7571B}"/>
                </a:ext>
              </a:extLst>
            </p:cNvPr>
            <p:cNvSpPr/>
            <p:nvPr/>
          </p:nvSpPr>
          <p:spPr>
            <a:xfrm>
              <a:off x="5527138" y="4081974"/>
              <a:ext cx="431800" cy="7146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Text Box 36">
              <a:extLst>
                <a:ext uri="{FF2B5EF4-FFF2-40B4-BE49-F238E27FC236}">
                  <a16:creationId xmlns:a16="http://schemas.microsoft.com/office/drawing/2014/main" id="{F5C74391-7D00-4D9E-A4FE-0F97F957F8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6290" y="4068428"/>
              <a:ext cx="357188" cy="4288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 Box 36">
              <a:extLst>
                <a:ext uri="{FF2B5EF4-FFF2-40B4-BE49-F238E27FC236}">
                  <a16:creationId xmlns:a16="http://schemas.microsoft.com/office/drawing/2014/main" id="{37771E59-F9D3-4254-837C-2A8AD6C500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6290" y="4282838"/>
              <a:ext cx="357188" cy="4288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1E77568D-BEC8-4227-9942-FB7877F60DF8}"/>
                </a:ext>
              </a:extLst>
            </p:cNvPr>
            <p:cNvSpPr/>
            <p:nvPr/>
          </p:nvSpPr>
          <p:spPr>
            <a:xfrm>
              <a:off x="8178889" y="4078588"/>
              <a:ext cx="431800" cy="71469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17BE0042-7039-4A79-95C6-ED65E373A0FC}"/>
                </a:ext>
              </a:extLst>
            </p:cNvPr>
            <p:cNvSpPr txBox="1"/>
            <p:nvPr/>
          </p:nvSpPr>
          <p:spPr>
            <a:xfrm>
              <a:off x="5551321" y="4092048"/>
              <a:ext cx="352213" cy="496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≥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D6D7AD67-B319-4A82-890F-208A77684940}"/>
                </a:ext>
              </a:extLst>
            </p:cNvPr>
            <p:cNvSpPr txBox="1"/>
            <p:nvPr/>
          </p:nvSpPr>
          <p:spPr>
            <a:xfrm>
              <a:off x="2896337" y="4209092"/>
              <a:ext cx="36576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2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</a:t>
              </a:r>
              <a:endParaRPr lang="zh-CN" altLang="en-US" sz="2200" dirty="0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959EE849-6E43-4042-B827-596CF9D77F54}"/>
                </a:ext>
              </a:extLst>
            </p:cNvPr>
            <p:cNvSpPr txBox="1"/>
            <p:nvPr/>
          </p:nvSpPr>
          <p:spPr>
            <a:xfrm>
              <a:off x="8223393" y="4108981"/>
              <a:ext cx="352213" cy="496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C94ABD84-EB9A-460E-A573-83F001311094}"/>
              </a:ext>
            </a:extLst>
          </p:cNvPr>
          <p:cNvSpPr txBox="1"/>
          <p:nvPr/>
        </p:nvSpPr>
        <p:spPr>
          <a:xfrm>
            <a:off x="536280" y="953265"/>
            <a:ext cx="19304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组合电路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" name="Rectangle 2">
            <a:extLst>
              <a:ext uri="{FF2B5EF4-FFF2-40B4-BE49-F238E27FC236}">
                <a16:creationId xmlns:a16="http://schemas.microsoft.com/office/drawing/2014/main" id="{E9B48A53-7673-4453-B775-6DCCC4D5DD79}"/>
              </a:ext>
            </a:extLst>
          </p:cNvPr>
          <p:cNvSpPr txBox="1">
            <a:spLocks noChangeArrowheads="1"/>
          </p:cNvSpPr>
          <p:nvPr/>
        </p:nvSpPr>
        <p:spPr>
          <a:xfrm>
            <a:off x="9094382" y="954746"/>
            <a:ext cx="27657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pPr algn="just" eaLnBrk="1" hangingPunct="1">
              <a:buSzPct val="150000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奎因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莫可拉斯基方法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1D99060-C07F-444B-8D37-F0C41802E28A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62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9733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1.6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组合电路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1C87485-B14B-44FB-A157-25475D6E5132}"/>
              </a:ext>
            </a:extLst>
          </p:cNvPr>
          <p:cNvSpPr txBox="1">
            <a:spLocks/>
          </p:cNvSpPr>
          <p:nvPr/>
        </p:nvSpPr>
        <p:spPr>
          <a:xfrm>
            <a:off x="545255" y="1601897"/>
            <a:ext cx="9052558" cy="369332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组合电路的例子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Text Box 3">
            <a:extLst>
              <a:ext uri="{FF2B5EF4-FFF2-40B4-BE49-F238E27FC236}">
                <a16:creationId xmlns:a16="http://schemas.microsoft.com/office/drawing/2014/main" id="{17C29CDE-35A3-44EF-8876-FB1A9011B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301016"/>
            <a:ext cx="7929562" cy="4956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just"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 (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b="1" dirty="0" err="1">
                <a:latin typeface="Times New Roman" pitchFamily="18" charset="0"/>
                <a:cs typeface="Times New Roman" pitchFamily="18" charset="0"/>
              </a:rPr>
              <a:t>∨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)∧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的组合电路</a:t>
            </a:r>
          </a:p>
        </p:txBody>
      </p:sp>
      <p:sp>
        <p:nvSpPr>
          <p:cNvPr id="68" name="Text Box 9">
            <a:extLst>
              <a:ext uri="{FF2B5EF4-FFF2-40B4-BE49-F238E27FC236}">
                <a16:creationId xmlns:a16="http://schemas.microsoft.com/office/drawing/2014/main" id="{90E65272-58BF-4AD0-A9D3-995333293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5889" y="5218507"/>
            <a:ext cx="17399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第一种画法</a:t>
            </a:r>
            <a:endParaRPr lang="zh-CN" altLang="zh-CN" sz="20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9" name="Text Box 9">
            <a:extLst>
              <a:ext uri="{FF2B5EF4-FFF2-40B4-BE49-F238E27FC236}">
                <a16:creationId xmlns:a16="http://schemas.microsoft.com/office/drawing/2014/main" id="{98B6510F-2B39-4093-8388-35524C0A1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1102" y="5218507"/>
            <a:ext cx="173990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just">
              <a:defRPr sz="2000" b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第二种画法</a:t>
            </a:r>
            <a:endParaRPr lang="zh-CN" altLang="zh-CN" dirty="0"/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4A78EC6A-4905-422C-BE19-4EA2C583CEF0}"/>
              </a:ext>
            </a:extLst>
          </p:cNvPr>
          <p:cNvGrpSpPr/>
          <p:nvPr/>
        </p:nvGrpSpPr>
        <p:grpSpPr>
          <a:xfrm>
            <a:off x="1391285" y="3146820"/>
            <a:ext cx="3940151" cy="1856982"/>
            <a:chOff x="1391285" y="3146820"/>
            <a:chExt cx="3940151" cy="1856982"/>
          </a:xfrm>
        </p:grpSpPr>
        <p:sp>
          <p:nvSpPr>
            <p:cNvPr id="36" name="Text Box 9">
              <a:extLst>
                <a:ext uri="{FF2B5EF4-FFF2-40B4-BE49-F238E27FC236}">
                  <a16:creationId xmlns:a16="http://schemas.microsoft.com/office/drawing/2014/main" id="{451083CA-0721-44F8-8A16-F8459ECFDA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4831" y="3146820"/>
              <a:ext cx="392113" cy="428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9" name="AutoShape 7">
              <a:extLst>
                <a:ext uri="{FF2B5EF4-FFF2-40B4-BE49-F238E27FC236}">
                  <a16:creationId xmlns:a16="http://schemas.microsoft.com/office/drawing/2014/main" id="{20AC1678-51A7-40ED-91E5-83FDEC68266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725506" y="3458886"/>
              <a:ext cx="622596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" name="AutoShape 8">
              <a:extLst>
                <a:ext uri="{FF2B5EF4-FFF2-40B4-BE49-F238E27FC236}">
                  <a16:creationId xmlns:a16="http://schemas.microsoft.com/office/drawing/2014/main" id="{7C060984-3301-4580-AD65-6B41861E2A0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725506" y="3625482"/>
              <a:ext cx="622596" cy="15145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" name="AutoShape 15">
              <a:extLst>
                <a:ext uri="{FF2B5EF4-FFF2-40B4-BE49-F238E27FC236}">
                  <a16:creationId xmlns:a16="http://schemas.microsoft.com/office/drawing/2014/main" id="{72756AFE-00EE-4B89-AAEC-AA2B88BF504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47225" y="4649949"/>
              <a:ext cx="441953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AutoShape 18">
              <a:extLst>
                <a:ext uri="{FF2B5EF4-FFF2-40B4-BE49-F238E27FC236}">
                  <a16:creationId xmlns:a16="http://schemas.microsoft.com/office/drawing/2014/main" id="{F17A7855-439F-4028-AC8C-87117B79086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768432" y="4125268"/>
              <a:ext cx="911941" cy="2701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" name="AutoShape 20">
              <a:extLst>
                <a:ext uri="{FF2B5EF4-FFF2-40B4-BE49-F238E27FC236}">
                  <a16:creationId xmlns:a16="http://schemas.microsoft.com/office/drawing/2014/main" id="{5337809C-E878-4F60-82DD-88575842BF7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800454" y="3549757"/>
              <a:ext cx="565790" cy="472250"/>
            </a:xfrm>
            <a:prstGeom prst="bentConnector3">
              <a:avLst>
                <a:gd name="adj1" fmla="val 42972"/>
              </a:avLst>
            </a:prstGeom>
            <a:noFill/>
            <a:ln w="1270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AutoShape 21">
              <a:extLst>
                <a:ext uri="{FF2B5EF4-FFF2-40B4-BE49-F238E27FC236}">
                  <a16:creationId xmlns:a16="http://schemas.microsoft.com/office/drawing/2014/main" id="{A58D5579-9FCC-4421-97E2-D740139FF48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718654" y="4194110"/>
              <a:ext cx="661225" cy="472250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" name="Arc 22">
              <a:extLst>
                <a:ext uri="{FF2B5EF4-FFF2-40B4-BE49-F238E27FC236}">
                  <a16:creationId xmlns:a16="http://schemas.microsoft.com/office/drawing/2014/main" id="{67C77F7D-4ABB-4F16-A396-391E35F65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3998" y="3558018"/>
              <a:ext cx="122702" cy="169349"/>
            </a:xfrm>
            <a:custGeom>
              <a:avLst/>
              <a:gdLst>
                <a:gd name="T0" fmla="*/ 82055588 w 25006"/>
                <a:gd name="T1" fmla="*/ 0 h 43200"/>
                <a:gd name="T2" fmla="*/ 0 w 25006"/>
                <a:gd name="T3" fmla="*/ 16021796 h 43200"/>
                <a:gd name="T4" fmla="*/ 82055588 w 25006"/>
                <a:gd name="T5" fmla="*/ 8061319 h 43200"/>
                <a:gd name="T6" fmla="*/ 0 60000 65536"/>
                <a:gd name="T7" fmla="*/ 0 60000 65536"/>
                <a:gd name="T8" fmla="*/ 0 60000 65536"/>
                <a:gd name="T9" fmla="*/ 0 w 25006"/>
                <a:gd name="T10" fmla="*/ 0 h 43200"/>
                <a:gd name="T11" fmla="*/ 25006 w 25006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006" h="43200" fill="none" extrusionOk="0">
                  <a:moveTo>
                    <a:pt x="3405" y="0"/>
                  </a:moveTo>
                  <a:cubicBezTo>
                    <a:pt x="15335" y="0"/>
                    <a:pt x="25006" y="9670"/>
                    <a:pt x="25006" y="21600"/>
                  </a:cubicBezTo>
                  <a:cubicBezTo>
                    <a:pt x="25006" y="33529"/>
                    <a:pt x="15335" y="43200"/>
                    <a:pt x="3406" y="43200"/>
                  </a:cubicBezTo>
                  <a:cubicBezTo>
                    <a:pt x="2265" y="43200"/>
                    <a:pt x="1126" y="43109"/>
                    <a:pt x="0" y="42929"/>
                  </a:cubicBezTo>
                </a:path>
                <a:path w="25006" h="43200" stroke="0" extrusionOk="0">
                  <a:moveTo>
                    <a:pt x="3405" y="0"/>
                  </a:moveTo>
                  <a:cubicBezTo>
                    <a:pt x="15335" y="0"/>
                    <a:pt x="25006" y="9670"/>
                    <a:pt x="25006" y="21600"/>
                  </a:cubicBezTo>
                  <a:cubicBezTo>
                    <a:pt x="25006" y="33529"/>
                    <a:pt x="15335" y="43200"/>
                    <a:pt x="3406" y="43200"/>
                  </a:cubicBezTo>
                  <a:cubicBezTo>
                    <a:pt x="2265" y="43200"/>
                    <a:pt x="1126" y="43109"/>
                    <a:pt x="0" y="42929"/>
                  </a:cubicBezTo>
                  <a:lnTo>
                    <a:pt x="3406" y="21600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48" name="AutoShape 23">
              <a:extLst>
                <a:ext uri="{FF2B5EF4-FFF2-40B4-BE49-F238E27FC236}">
                  <a16:creationId xmlns:a16="http://schemas.microsoft.com/office/drawing/2014/main" id="{E73D6D67-B713-4934-8D9F-590CC9E474D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81133" y="3443741"/>
              <a:ext cx="0" cy="114276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AutoShape 24">
              <a:extLst>
                <a:ext uri="{FF2B5EF4-FFF2-40B4-BE49-F238E27FC236}">
                  <a16:creationId xmlns:a16="http://schemas.microsoft.com/office/drawing/2014/main" id="{AB047EFB-2E32-4F9A-ABFF-AFC4EBCD6ED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54041" y="3727367"/>
              <a:ext cx="0" cy="91421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4" name="Text Box 9">
              <a:extLst>
                <a:ext uri="{FF2B5EF4-FFF2-40B4-BE49-F238E27FC236}">
                  <a16:creationId xmlns:a16="http://schemas.microsoft.com/office/drawing/2014/main" id="{12F86C74-E888-4806-8DBC-58F2BAFA8C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1285" y="3361132"/>
              <a:ext cx="392113" cy="428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90CC3F2A-1C09-4188-B79F-F43E0DE13C57}"/>
                </a:ext>
              </a:extLst>
            </p:cNvPr>
            <p:cNvGrpSpPr/>
            <p:nvPr/>
          </p:nvGrpSpPr>
          <p:grpSpPr>
            <a:xfrm>
              <a:off x="2361497" y="3202929"/>
              <a:ext cx="431800" cy="714693"/>
              <a:chOff x="5527138" y="4081974"/>
              <a:chExt cx="431800" cy="714693"/>
            </a:xfrm>
          </p:grpSpPr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62DADE33-5C3A-417A-BBD3-8874035B3000}"/>
                  </a:ext>
                </a:extLst>
              </p:cNvPr>
              <p:cNvSpPr/>
              <p:nvPr/>
            </p:nvSpPr>
            <p:spPr>
              <a:xfrm>
                <a:off x="5527138" y="4081974"/>
                <a:ext cx="431800" cy="71469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99F620C6-8FDA-4F0D-BF20-80E0E88BB7C9}"/>
                  </a:ext>
                </a:extLst>
              </p:cNvPr>
              <p:cNvSpPr txBox="1"/>
              <p:nvPr/>
            </p:nvSpPr>
            <p:spPr>
              <a:xfrm>
                <a:off x="5551321" y="4092048"/>
                <a:ext cx="352213" cy="4968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2400" b="1" i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≥</a:t>
                </a: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AC177227-E686-4F69-9842-2A60C581528A}"/>
                </a:ext>
              </a:extLst>
            </p:cNvPr>
            <p:cNvGrpSpPr/>
            <p:nvPr/>
          </p:nvGrpSpPr>
          <p:grpSpPr>
            <a:xfrm>
              <a:off x="2258842" y="4289109"/>
              <a:ext cx="545593" cy="714693"/>
              <a:chOff x="2258842" y="4289109"/>
              <a:chExt cx="545593" cy="714693"/>
            </a:xfrm>
          </p:grpSpPr>
          <p:grpSp>
            <p:nvGrpSpPr>
              <p:cNvPr id="4" name="组合 3">
                <a:extLst>
                  <a:ext uri="{FF2B5EF4-FFF2-40B4-BE49-F238E27FC236}">
                    <a16:creationId xmlns:a16="http://schemas.microsoft.com/office/drawing/2014/main" id="{2EE3FF36-FE34-486F-AD04-1270972AE81B}"/>
                  </a:ext>
                </a:extLst>
              </p:cNvPr>
              <p:cNvGrpSpPr/>
              <p:nvPr/>
            </p:nvGrpSpPr>
            <p:grpSpPr>
              <a:xfrm>
                <a:off x="2258842" y="4289109"/>
                <a:ext cx="545593" cy="714693"/>
                <a:chOff x="5835323" y="4078588"/>
                <a:chExt cx="545593" cy="714693"/>
              </a:xfrm>
            </p:grpSpPr>
            <p:sp>
              <p:nvSpPr>
                <p:cNvPr id="72" name="Oval 50">
                  <a:extLst>
                    <a:ext uri="{FF2B5EF4-FFF2-40B4-BE49-F238E27FC236}">
                      <a16:creationId xmlns:a16="http://schemas.microsoft.com/office/drawing/2014/main" id="{82B2F872-5186-404C-854A-A862DAEA99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0832" y="4403924"/>
                  <a:ext cx="110084" cy="119247"/>
                </a:xfrm>
                <a:prstGeom prst="ellipse">
                  <a:avLst/>
                </a:prstGeom>
                <a:solidFill>
                  <a:srgbClr val="FFFFFF"/>
                </a:solidFill>
                <a:ln w="28575">
                  <a:solidFill>
                    <a:srgbClr val="992677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992677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1BD44EAC-1C04-4809-9F81-2E3C22CF65A9}"/>
                    </a:ext>
                  </a:extLst>
                </p:cNvPr>
                <p:cNvSpPr/>
                <p:nvPr/>
              </p:nvSpPr>
              <p:spPr>
                <a:xfrm>
                  <a:off x="5835323" y="4078588"/>
                  <a:ext cx="431800" cy="714693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49E6F6DE-4060-4A43-BC9B-E1E5307D4FDC}"/>
                  </a:ext>
                </a:extLst>
              </p:cNvPr>
              <p:cNvSpPr txBox="1"/>
              <p:nvPr/>
            </p:nvSpPr>
            <p:spPr>
              <a:xfrm>
                <a:off x="2290711" y="4357529"/>
                <a:ext cx="352213" cy="4968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FCAA55D7-5C6A-421A-AAC5-54DEFA371FB4}"/>
                </a:ext>
              </a:extLst>
            </p:cNvPr>
            <p:cNvGrpSpPr/>
            <p:nvPr/>
          </p:nvGrpSpPr>
          <p:grpSpPr>
            <a:xfrm>
              <a:off x="3342745" y="3773791"/>
              <a:ext cx="431800" cy="714693"/>
              <a:chOff x="4602583" y="4085361"/>
              <a:chExt cx="431800" cy="714693"/>
            </a:xfrm>
          </p:grpSpPr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1D78688E-4308-442B-8ABD-D52AEC9CA9E5}"/>
                  </a:ext>
                </a:extLst>
              </p:cNvPr>
              <p:cNvSpPr/>
              <p:nvPr/>
            </p:nvSpPr>
            <p:spPr>
              <a:xfrm>
                <a:off x="4602583" y="4085361"/>
                <a:ext cx="431800" cy="71469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34303251-388C-4020-BDB9-290EDEBFAB78}"/>
                  </a:ext>
                </a:extLst>
              </p:cNvPr>
              <p:cNvSpPr txBox="1"/>
              <p:nvPr/>
            </p:nvSpPr>
            <p:spPr>
              <a:xfrm>
                <a:off x="4630306" y="4209092"/>
                <a:ext cx="36576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200" b="1" i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&amp;</a:t>
                </a:r>
                <a:endParaRPr lang="zh-CN" altLang="en-US" sz="2200" dirty="0"/>
              </a:p>
            </p:txBody>
          </p:sp>
        </p:grpSp>
        <p:sp>
          <p:nvSpPr>
            <p:cNvPr id="77" name="Text Box 46">
              <a:extLst>
                <a:ext uri="{FF2B5EF4-FFF2-40B4-BE49-F238E27FC236}">
                  <a16:creationId xmlns:a16="http://schemas.microsoft.com/office/drawing/2014/main" id="{2B03D301-9240-49F2-A537-FCF6731965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7893" y="3179903"/>
              <a:ext cx="1007362" cy="507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∨</a:t>
              </a:r>
              <a:r>
                <a:rPr lang="en-US" altLang="zh-CN" sz="20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Text Box 54">
              <a:extLst>
                <a:ext uri="{FF2B5EF4-FFF2-40B4-BE49-F238E27FC236}">
                  <a16:creationId xmlns:a16="http://schemas.microsoft.com/office/drawing/2014/main" id="{DF9DB3B1-3B6D-498D-A3CA-B570BBB75A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7598" y="4284537"/>
              <a:ext cx="656408" cy="437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</a:t>
              </a: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zh-C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2400132C-7E34-4B82-B228-07794AB7B58E}"/>
                </a:ext>
              </a:extLst>
            </p:cNvPr>
            <p:cNvSpPr txBox="1"/>
            <p:nvPr/>
          </p:nvSpPr>
          <p:spPr>
            <a:xfrm>
              <a:off x="3651006" y="3785882"/>
              <a:ext cx="16804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dirty="0">
                  <a:latin typeface="Times New Roman" pitchFamily="18" charset="0"/>
                  <a:ea typeface="+mn-ea"/>
                  <a:cs typeface="Times New Roman" pitchFamily="18" charset="0"/>
                </a:rPr>
                <a:t> (</a:t>
              </a:r>
              <a:r>
                <a:rPr lang="en-US" altLang="zh-CN" sz="1800" b="1" i="1" dirty="0" err="1">
                  <a:latin typeface="Times New Roman" pitchFamily="18" charset="0"/>
                  <a:ea typeface="+mn-ea"/>
                  <a:cs typeface="Times New Roman" pitchFamily="18" charset="0"/>
                </a:rPr>
                <a:t>x</a:t>
              </a:r>
              <a:r>
                <a:rPr lang="en-US" altLang="zh-CN" sz="1800" b="1" dirty="0" err="1">
                  <a:latin typeface="Times New Roman" pitchFamily="18" charset="0"/>
                  <a:ea typeface="+mn-ea"/>
                  <a:cs typeface="Times New Roman" pitchFamily="18" charset="0"/>
                </a:rPr>
                <a:t>∨</a:t>
              </a:r>
              <a:r>
                <a:rPr lang="en-US" altLang="zh-CN" sz="1800" b="1" i="1" dirty="0" err="1">
                  <a:latin typeface="Times New Roman" pitchFamily="18" charset="0"/>
                  <a:ea typeface="+mn-ea"/>
                  <a:cs typeface="Times New Roman" pitchFamily="18" charset="0"/>
                </a:rPr>
                <a:t>y</a:t>
              </a:r>
              <a:r>
                <a:rPr lang="en-US" altLang="zh-CN" sz="1800" b="1" dirty="0">
                  <a:latin typeface="Times New Roman" pitchFamily="18" charset="0"/>
                  <a:ea typeface="+mn-ea"/>
                  <a:cs typeface="Times New Roman" pitchFamily="18" charset="0"/>
                </a:rPr>
                <a:t>)∧</a:t>
              </a:r>
              <a:r>
                <a:rPr lang="en-US" altLang="zh-CN" sz="1800" b="1" dirty="0">
                  <a:latin typeface="Times New Roman" pitchFamily="18" charset="0"/>
                  <a:ea typeface="+mn-ea"/>
                  <a:cs typeface="Times New Roman" pitchFamily="18" charset="0"/>
                  <a:sym typeface="Symbol" pitchFamily="18" charset="2"/>
                </a:rPr>
                <a:t></a:t>
              </a:r>
              <a:r>
                <a:rPr lang="en-US" altLang="zh-CN" sz="1800" b="1" i="1" dirty="0">
                  <a:latin typeface="Times New Roman" pitchFamily="18" charset="0"/>
                  <a:ea typeface="+mn-ea"/>
                  <a:cs typeface="Times New Roman" pitchFamily="18" charset="0"/>
                </a:rPr>
                <a:t>x</a:t>
              </a:r>
              <a:endParaRPr lang="zh-CN" altLang="en-US" dirty="0"/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2F75F1D9-4170-4BA0-9814-3A92F19CADC6}"/>
              </a:ext>
            </a:extLst>
          </p:cNvPr>
          <p:cNvGrpSpPr/>
          <p:nvPr/>
        </p:nvGrpSpPr>
        <p:grpSpPr>
          <a:xfrm>
            <a:off x="6935236" y="3150209"/>
            <a:ext cx="3940151" cy="1856982"/>
            <a:chOff x="6935236" y="3150209"/>
            <a:chExt cx="3940151" cy="1856982"/>
          </a:xfrm>
        </p:grpSpPr>
        <p:sp>
          <p:nvSpPr>
            <p:cNvPr id="84" name="Text Box 9">
              <a:extLst>
                <a:ext uri="{FF2B5EF4-FFF2-40B4-BE49-F238E27FC236}">
                  <a16:creationId xmlns:a16="http://schemas.microsoft.com/office/drawing/2014/main" id="{2AF30D79-039F-4E4D-AE88-1C9EB8513B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8782" y="3150209"/>
              <a:ext cx="392113" cy="428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5" name="AutoShape 7">
              <a:extLst>
                <a:ext uri="{FF2B5EF4-FFF2-40B4-BE49-F238E27FC236}">
                  <a16:creationId xmlns:a16="http://schemas.microsoft.com/office/drawing/2014/main" id="{913F27EC-3238-4780-98D6-712868BEC7C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69457" y="3462275"/>
              <a:ext cx="622596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6" name="AutoShape 8">
              <a:extLst>
                <a:ext uri="{FF2B5EF4-FFF2-40B4-BE49-F238E27FC236}">
                  <a16:creationId xmlns:a16="http://schemas.microsoft.com/office/drawing/2014/main" id="{C22B74E8-A4EB-402A-A1B8-0E8106240D2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69457" y="3628871"/>
              <a:ext cx="622596" cy="15145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7" name="AutoShape 15">
              <a:extLst>
                <a:ext uri="{FF2B5EF4-FFF2-40B4-BE49-F238E27FC236}">
                  <a16:creationId xmlns:a16="http://schemas.microsoft.com/office/drawing/2014/main" id="{419FEA51-931C-42A2-AEB3-1E564A08AA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249138" y="4653338"/>
              <a:ext cx="663672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" name="AutoShape 18">
              <a:extLst>
                <a:ext uri="{FF2B5EF4-FFF2-40B4-BE49-F238E27FC236}">
                  <a16:creationId xmlns:a16="http://schemas.microsoft.com/office/drawing/2014/main" id="{6F594DF2-D764-4454-9E85-BDE4D50DE10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312383" y="4128657"/>
              <a:ext cx="911941" cy="2701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9" name="AutoShape 20">
              <a:extLst>
                <a:ext uri="{FF2B5EF4-FFF2-40B4-BE49-F238E27FC236}">
                  <a16:creationId xmlns:a16="http://schemas.microsoft.com/office/drawing/2014/main" id="{801A6769-7ED7-4049-B851-CCCE3E29A3B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44405" y="3553146"/>
              <a:ext cx="565790" cy="472250"/>
            </a:xfrm>
            <a:prstGeom prst="bentConnector3">
              <a:avLst>
                <a:gd name="adj1" fmla="val 42972"/>
              </a:avLst>
            </a:prstGeom>
            <a:noFill/>
            <a:ln w="1270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" name="AutoShape 21">
              <a:extLst>
                <a:ext uri="{FF2B5EF4-FFF2-40B4-BE49-F238E27FC236}">
                  <a16:creationId xmlns:a16="http://schemas.microsoft.com/office/drawing/2014/main" id="{590DDFF8-89F2-4744-A7C8-89B90CC9691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262605" y="4197499"/>
              <a:ext cx="661225" cy="472250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rgbClr val="000000"/>
              </a:solidFill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4" name="Text Box 9">
              <a:extLst>
                <a:ext uri="{FF2B5EF4-FFF2-40B4-BE49-F238E27FC236}">
                  <a16:creationId xmlns:a16="http://schemas.microsoft.com/office/drawing/2014/main" id="{F42572E1-609B-4B03-B45A-D6E20FC5EF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35236" y="3364521"/>
              <a:ext cx="392113" cy="428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716E28C6-76E7-4B90-8355-D0172AF408E4}"/>
                </a:ext>
              </a:extLst>
            </p:cNvPr>
            <p:cNvGrpSpPr/>
            <p:nvPr/>
          </p:nvGrpSpPr>
          <p:grpSpPr>
            <a:xfrm>
              <a:off x="7905448" y="3206318"/>
              <a:ext cx="431800" cy="714693"/>
              <a:chOff x="5527138" y="4081974"/>
              <a:chExt cx="431800" cy="714693"/>
            </a:xfrm>
          </p:grpSpPr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CA2FA490-2548-4546-9D73-0178A1FC4C6E}"/>
                  </a:ext>
                </a:extLst>
              </p:cNvPr>
              <p:cNvSpPr/>
              <p:nvPr/>
            </p:nvSpPr>
            <p:spPr>
              <a:xfrm>
                <a:off x="5527138" y="4081974"/>
                <a:ext cx="431800" cy="71469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0ED33B8E-FC86-46E7-AE4B-BE30525DA53A}"/>
                  </a:ext>
                </a:extLst>
              </p:cNvPr>
              <p:cNvSpPr txBox="1"/>
              <p:nvPr/>
            </p:nvSpPr>
            <p:spPr>
              <a:xfrm>
                <a:off x="5551321" y="4092048"/>
                <a:ext cx="352213" cy="4968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zh-CN" altLang="en-US" sz="2400" b="1" i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≥</a:t>
                </a:r>
              </a:p>
            </p:txBody>
          </p:sp>
        </p:grpSp>
        <p:grpSp>
          <p:nvGrpSpPr>
            <p:cNvPr id="96" name="组合 95">
              <a:extLst>
                <a:ext uri="{FF2B5EF4-FFF2-40B4-BE49-F238E27FC236}">
                  <a16:creationId xmlns:a16="http://schemas.microsoft.com/office/drawing/2014/main" id="{B61CDFC4-963A-49EC-9FE2-B70093B66F82}"/>
                </a:ext>
              </a:extLst>
            </p:cNvPr>
            <p:cNvGrpSpPr/>
            <p:nvPr/>
          </p:nvGrpSpPr>
          <p:grpSpPr>
            <a:xfrm>
              <a:off x="7802793" y="4292498"/>
              <a:ext cx="545593" cy="714693"/>
              <a:chOff x="2258842" y="4289109"/>
              <a:chExt cx="545593" cy="714693"/>
            </a:xfrm>
          </p:grpSpPr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E8180D51-0593-4FFF-9B20-3AE2C510F44E}"/>
                  </a:ext>
                </a:extLst>
              </p:cNvPr>
              <p:cNvGrpSpPr/>
              <p:nvPr/>
            </p:nvGrpSpPr>
            <p:grpSpPr>
              <a:xfrm>
                <a:off x="2258842" y="4289109"/>
                <a:ext cx="545593" cy="714693"/>
                <a:chOff x="5835323" y="4078588"/>
                <a:chExt cx="545593" cy="714693"/>
              </a:xfrm>
            </p:grpSpPr>
            <p:sp>
              <p:nvSpPr>
                <p:cNvPr id="105" name="Oval 50">
                  <a:extLst>
                    <a:ext uri="{FF2B5EF4-FFF2-40B4-BE49-F238E27FC236}">
                      <a16:creationId xmlns:a16="http://schemas.microsoft.com/office/drawing/2014/main" id="{6AD8FB1F-7480-4810-BA54-E68205A849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0832" y="4403924"/>
                  <a:ext cx="110084" cy="119247"/>
                </a:xfrm>
                <a:prstGeom prst="ellipse">
                  <a:avLst/>
                </a:prstGeom>
                <a:solidFill>
                  <a:srgbClr val="FFFFFF"/>
                </a:solidFill>
                <a:ln w="28575">
                  <a:solidFill>
                    <a:srgbClr val="992677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992677"/>
                    </a:solidFill>
                    <a:highlight>
                      <a:srgbClr val="FFFF00"/>
                    </a:highlight>
                  </a:endParaRPr>
                </a:p>
              </p:txBody>
            </p:sp>
            <p:sp>
              <p:nvSpPr>
                <p:cNvPr id="106" name="矩形 105">
                  <a:extLst>
                    <a:ext uri="{FF2B5EF4-FFF2-40B4-BE49-F238E27FC236}">
                      <a16:creationId xmlns:a16="http://schemas.microsoft.com/office/drawing/2014/main" id="{4CABA4DD-4BBA-4136-85E5-ECA7AB938AA4}"/>
                    </a:ext>
                  </a:extLst>
                </p:cNvPr>
                <p:cNvSpPr/>
                <p:nvPr/>
              </p:nvSpPr>
              <p:spPr>
                <a:xfrm>
                  <a:off x="5835323" y="4078588"/>
                  <a:ext cx="431800" cy="714693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13FD87F3-AC19-4F2D-99D1-6079DA3F9A8E}"/>
                  </a:ext>
                </a:extLst>
              </p:cNvPr>
              <p:cNvSpPr txBox="1"/>
              <p:nvPr/>
            </p:nvSpPr>
            <p:spPr>
              <a:xfrm>
                <a:off x="2290711" y="4357529"/>
                <a:ext cx="352213" cy="4968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7" name="组合 96">
              <a:extLst>
                <a:ext uri="{FF2B5EF4-FFF2-40B4-BE49-F238E27FC236}">
                  <a16:creationId xmlns:a16="http://schemas.microsoft.com/office/drawing/2014/main" id="{CC462D48-4666-4EE9-83CF-F2B12001ADF6}"/>
                </a:ext>
              </a:extLst>
            </p:cNvPr>
            <p:cNvGrpSpPr/>
            <p:nvPr/>
          </p:nvGrpSpPr>
          <p:grpSpPr>
            <a:xfrm>
              <a:off x="8886696" y="3777180"/>
              <a:ext cx="431800" cy="714693"/>
              <a:chOff x="4602583" y="4085361"/>
              <a:chExt cx="431800" cy="714693"/>
            </a:xfrm>
          </p:grpSpPr>
          <p:sp>
            <p:nvSpPr>
              <p:cNvPr id="101" name="矩形 100">
                <a:extLst>
                  <a:ext uri="{FF2B5EF4-FFF2-40B4-BE49-F238E27FC236}">
                    <a16:creationId xmlns:a16="http://schemas.microsoft.com/office/drawing/2014/main" id="{965A43A6-A627-4584-BBD1-3222394C3283}"/>
                  </a:ext>
                </a:extLst>
              </p:cNvPr>
              <p:cNvSpPr/>
              <p:nvPr/>
            </p:nvSpPr>
            <p:spPr>
              <a:xfrm>
                <a:off x="4602583" y="4085361"/>
                <a:ext cx="431800" cy="71469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871774BD-0804-4C13-9DC5-B02CBEE7D699}"/>
                  </a:ext>
                </a:extLst>
              </p:cNvPr>
              <p:cNvSpPr txBox="1"/>
              <p:nvPr/>
            </p:nvSpPr>
            <p:spPr>
              <a:xfrm>
                <a:off x="4630306" y="4209092"/>
                <a:ext cx="36576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200" b="1" i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&amp;</a:t>
                </a:r>
                <a:endParaRPr lang="zh-CN" altLang="en-US" sz="2200" dirty="0"/>
              </a:p>
            </p:txBody>
          </p:sp>
        </p:grpSp>
        <p:sp>
          <p:nvSpPr>
            <p:cNvPr id="98" name="Text Box 46">
              <a:extLst>
                <a:ext uri="{FF2B5EF4-FFF2-40B4-BE49-F238E27FC236}">
                  <a16:creationId xmlns:a16="http://schemas.microsoft.com/office/drawing/2014/main" id="{60EEE596-FF44-4A7F-BDA9-DCF4FCC644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1844" y="3183292"/>
              <a:ext cx="1007362" cy="507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∨</a:t>
              </a:r>
              <a:r>
                <a:rPr lang="en-US" altLang="zh-CN" sz="20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C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Text Box 54">
              <a:extLst>
                <a:ext uri="{FF2B5EF4-FFF2-40B4-BE49-F238E27FC236}">
                  <a16:creationId xmlns:a16="http://schemas.microsoft.com/office/drawing/2014/main" id="{7E2C3165-F1AD-45B5-BAC0-5D49EE1408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91549" y="4287926"/>
              <a:ext cx="656408" cy="437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</a:t>
              </a: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zh-C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A3263AAB-8121-4B65-A843-A87BCCD95D1E}"/>
                </a:ext>
              </a:extLst>
            </p:cNvPr>
            <p:cNvSpPr txBox="1"/>
            <p:nvPr/>
          </p:nvSpPr>
          <p:spPr>
            <a:xfrm>
              <a:off x="9194957" y="3789271"/>
              <a:ext cx="16804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dirty="0">
                  <a:latin typeface="Times New Roman" pitchFamily="18" charset="0"/>
                  <a:ea typeface="+mn-ea"/>
                  <a:cs typeface="Times New Roman" pitchFamily="18" charset="0"/>
                </a:rPr>
                <a:t> (</a:t>
              </a:r>
              <a:r>
                <a:rPr lang="en-US" altLang="zh-CN" sz="1800" b="1" i="1" dirty="0" err="1">
                  <a:latin typeface="Times New Roman" pitchFamily="18" charset="0"/>
                  <a:ea typeface="+mn-ea"/>
                  <a:cs typeface="Times New Roman" pitchFamily="18" charset="0"/>
                </a:rPr>
                <a:t>x</a:t>
              </a:r>
              <a:r>
                <a:rPr lang="en-US" altLang="zh-CN" sz="1800" b="1" dirty="0" err="1">
                  <a:latin typeface="Times New Roman" pitchFamily="18" charset="0"/>
                  <a:ea typeface="+mn-ea"/>
                  <a:cs typeface="Times New Roman" pitchFamily="18" charset="0"/>
                </a:rPr>
                <a:t>∨</a:t>
              </a:r>
              <a:r>
                <a:rPr lang="en-US" altLang="zh-CN" sz="1800" b="1" i="1" dirty="0" err="1">
                  <a:latin typeface="Times New Roman" pitchFamily="18" charset="0"/>
                  <a:ea typeface="+mn-ea"/>
                  <a:cs typeface="Times New Roman" pitchFamily="18" charset="0"/>
                </a:rPr>
                <a:t>y</a:t>
              </a:r>
              <a:r>
                <a:rPr lang="en-US" altLang="zh-CN" sz="1800" b="1" dirty="0">
                  <a:latin typeface="Times New Roman" pitchFamily="18" charset="0"/>
                  <a:ea typeface="+mn-ea"/>
                  <a:cs typeface="Times New Roman" pitchFamily="18" charset="0"/>
                </a:rPr>
                <a:t>)∧</a:t>
              </a:r>
              <a:r>
                <a:rPr lang="en-US" altLang="zh-CN" sz="1800" b="1" dirty="0">
                  <a:latin typeface="Times New Roman" pitchFamily="18" charset="0"/>
                  <a:ea typeface="+mn-ea"/>
                  <a:cs typeface="Times New Roman" pitchFamily="18" charset="0"/>
                  <a:sym typeface="Symbol" pitchFamily="18" charset="2"/>
                </a:rPr>
                <a:t></a:t>
              </a:r>
              <a:r>
                <a:rPr lang="en-US" altLang="zh-CN" sz="1800" b="1" i="1" dirty="0">
                  <a:latin typeface="Times New Roman" pitchFamily="18" charset="0"/>
                  <a:ea typeface="+mn-ea"/>
                  <a:cs typeface="Times New Roman" pitchFamily="18" charset="0"/>
                </a:rPr>
                <a:t>x</a:t>
              </a:r>
              <a:endParaRPr lang="zh-CN" altLang="en-US" dirty="0"/>
            </a:p>
          </p:txBody>
        </p:sp>
      </p:grpSp>
      <p:sp>
        <p:nvSpPr>
          <p:cNvPr id="110" name="Text Box 9">
            <a:extLst>
              <a:ext uri="{FF2B5EF4-FFF2-40B4-BE49-F238E27FC236}">
                <a16:creationId xmlns:a16="http://schemas.microsoft.com/office/drawing/2014/main" id="{32F6142B-C706-40E3-8214-575936FB1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5396" y="4393116"/>
            <a:ext cx="392113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BCB3AA4-8442-4578-95B2-2E3297D120BF}"/>
              </a:ext>
            </a:extLst>
          </p:cNvPr>
          <p:cNvSpPr txBox="1"/>
          <p:nvPr/>
        </p:nvSpPr>
        <p:spPr>
          <a:xfrm>
            <a:off x="536280" y="953265"/>
            <a:ext cx="19304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组合电路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0" name="Rectangle 2">
            <a:extLst>
              <a:ext uri="{FF2B5EF4-FFF2-40B4-BE49-F238E27FC236}">
                <a16:creationId xmlns:a16="http://schemas.microsoft.com/office/drawing/2014/main" id="{D6571C7E-AFDD-4733-A6A2-2E2ED6964384}"/>
              </a:ext>
            </a:extLst>
          </p:cNvPr>
          <p:cNvSpPr txBox="1">
            <a:spLocks noChangeArrowheads="1"/>
          </p:cNvSpPr>
          <p:nvPr/>
        </p:nvSpPr>
        <p:spPr>
          <a:xfrm>
            <a:off x="9094382" y="954746"/>
            <a:ext cx="27657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pPr algn="just" eaLnBrk="1" hangingPunct="1">
              <a:buSzPct val="150000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奎因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莫可拉斯基方法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9E7A49F-BFFD-4533-8D65-83CA4702F19A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63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0125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69" grpId="0"/>
      <p:bldP spid="110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C7F190F5-A783-48EC-91A4-DCD2DF0D43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469" y="4744821"/>
            <a:ext cx="5034829" cy="2113179"/>
          </a:xfrm>
          <a:prstGeom prst="rect">
            <a:avLst/>
          </a:prstGeom>
        </p:spPr>
      </p:pic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1.6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组合电路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13C01A-1D95-4E6A-9984-41D85D24C56A}"/>
              </a:ext>
            </a:extLst>
          </p:cNvPr>
          <p:cNvSpPr txBox="1"/>
          <p:nvPr/>
        </p:nvSpPr>
        <p:spPr>
          <a:xfrm>
            <a:off x="536280" y="953265"/>
            <a:ext cx="19304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组合电路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FA2BC71-E082-424A-A29F-1472994116AA}"/>
              </a:ext>
            </a:extLst>
          </p:cNvPr>
          <p:cNvSpPr txBox="1">
            <a:spLocks noChangeArrowheads="1"/>
          </p:cNvSpPr>
          <p:nvPr/>
        </p:nvSpPr>
        <p:spPr>
          <a:xfrm>
            <a:off x="9094382" y="954746"/>
            <a:ext cx="27657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宋体" panose="02010600030101010101" pitchFamily="2" charset="-122"/>
              </a:defRPr>
            </a:lvl1pPr>
          </a:lstStyle>
          <a:p>
            <a:pPr algn="just" eaLnBrk="1" hangingPunct="1">
              <a:buSzPct val="150000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奎因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莫可拉斯基方法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1C87485-B14B-44FB-A157-25475D6E5132}"/>
              </a:ext>
            </a:extLst>
          </p:cNvPr>
          <p:cNvSpPr txBox="1">
            <a:spLocks/>
          </p:cNvSpPr>
          <p:nvPr/>
        </p:nvSpPr>
        <p:spPr>
          <a:xfrm>
            <a:off x="545255" y="1601897"/>
            <a:ext cx="9052558" cy="369332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组合电路的例子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874277DD-B9AA-45D4-9F7A-A59DCEB4A679}"/>
              </a:ext>
            </a:extLst>
          </p:cNvPr>
          <p:cNvSpPr txBox="1">
            <a:spLocks/>
          </p:cNvSpPr>
          <p:nvPr/>
        </p:nvSpPr>
        <p:spPr>
          <a:xfrm>
            <a:off x="545255" y="2249049"/>
            <a:ext cx="11137266" cy="100480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楼梯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灯由上下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个开关控制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要求按动任何一个开关都能打开或关闭灯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试设计一个这样的线路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60" name="组合 16">
            <a:extLst>
              <a:ext uri="{FF2B5EF4-FFF2-40B4-BE49-F238E27FC236}">
                <a16:creationId xmlns:a16="http://schemas.microsoft.com/office/drawing/2014/main" id="{569BCF8E-D67B-469A-83C8-97D04B683CD3}"/>
              </a:ext>
            </a:extLst>
          </p:cNvPr>
          <p:cNvGrpSpPr>
            <a:grpSpLocks/>
          </p:cNvGrpSpPr>
          <p:nvPr/>
        </p:nvGrpSpPr>
        <p:grpSpPr bwMode="auto">
          <a:xfrm>
            <a:off x="9905982" y="3604144"/>
            <a:ext cx="1785936" cy="1860248"/>
            <a:chOff x="6190413" y="3408066"/>
            <a:chExt cx="1785950" cy="1860261"/>
          </a:xfrm>
          <a:solidFill>
            <a:schemeClr val="bg1"/>
          </a:solidFill>
        </p:grpSpPr>
        <p:sp>
          <p:nvSpPr>
            <p:cNvPr id="61" name="Text Box 8">
              <a:extLst>
                <a:ext uri="{FF2B5EF4-FFF2-40B4-BE49-F238E27FC236}">
                  <a16:creationId xmlns:a16="http://schemas.microsoft.com/office/drawing/2014/main" id="{29901817-0321-4D93-8E25-0B46ADBC9A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92892" y="3418557"/>
              <a:ext cx="1779595" cy="1849770"/>
            </a:xfrm>
            <a:prstGeom prst="rect">
              <a:avLst/>
            </a:prstGeom>
            <a:grp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 x</a:t>
              </a:r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   </a:t>
              </a:r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   </a:t>
              </a:r>
              <a:r>
                <a:rPr lang="en-US" altLang="zh-CN" sz="2400" b="1" i="1" dirty="0"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US" altLang="zh-CN" sz="2400" b="1" i="1" dirty="0" err="1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zh-CN" sz="2400" b="1" dirty="0" err="1">
                  <a:latin typeface="Times New Roman" pitchFamily="18" charset="0"/>
                  <a:cs typeface="Times New Roman" pitchFamily="18" charset="0"/>
                </a:rPr>
                <a:t>,</a:t>
              </a:r>
              <a:r>
                <a:rPr lang="en-US" altLang="zh-CN" sz="2400" b="1" i="1" dirty="0" err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)</a:t>
              </a:r>
            </a:p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 0   0      1</a:t>
              </a:r>
            </a:p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 0   1      0</a:t>
              </a:r>
            </a:p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 1   0      0</a:t>
              </a:r>
            </a:p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 1   1      1</a:t>
              </a:r>
              <a:endParaRPr lang="zh-CN" altLang="zh-CN" sz="24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62" name="AutoShape 9">
              <a:extLst>
                <a:ext uri="{FF2B5EF4-FFF2-40B4-BE49-F238E27FC236}">
                  <a16:creationId xmlns:a16="http://schemas.microsoft.com/office/drawing/2014/main" id="{00779FE1-8EFD-42D3-B755-188C82EBFE8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90413" y="3836772"/>
              <a:ext cx="1785950" cy="1588"/>
            </a:xfrm>
            <a:prstGeom prst="straightConnector1">
              <a:avLst/>
            </a:prstGeom>
            <a:grp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63" name="AutoShape 10">
              <a:extLst>
                <a:ext uri="{FF2B5EF4-FFF2-40B4-BE49-F238E27FC236}">
                  <a16:creationId xmlns:a16="http://schemas.microsoft.com/office/drawing/2014/main" id="{CDB862F6-B829-4D8D-9B8E-A66FA167542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154392" y="4336363"/>
              <a:ext cx="1857388" cy="794"/>
            </a:xfrm>
            <a:prstGeom prst="straightConnector1">
              <a:avLst/>
            </a:prstGeom>
            <a:grpFill/>
            <a:ln w="9525">
              <a:solidFill>
                <a:srgbClr val="000000"/>
              </a:solidFill>
              <a:round/>
              <a:headEnd/>
              <a:tailEnd/>
            </a:ln>
          </p:spPr>
        </p:cxn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4D5BF816-0CAA-4F6F-A457-5F2DFCDBE124}"/>
              </a:ext>
            </a:extLst>
          </p:cNvPr>
          <p:cNvSpPr txBox="1"/>
          <p:nvPr/>
        </p:nvSpPr>
        <p:spPr>
          <a:xfrm>
            <a:off x="852096" y="5461520"/>
            <a:ext cx="417237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)∨(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200" dirty="0"/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2F8AFF01-FC36-4BF4-9E1A-15F7C55E1079}"/>
              </a:ext>
            </a:extLst>
          </p:cNvPr>
          <p:cNvSpPr txBox="1">
            <a:spLocks/>
          </p:cNvSpPr>
          <p:nvPr/>
        </p:nvSpPr>
        <p:spPr>
          <a:xfrm>
            <a:off x="545255" y="3460397"/>
            <a:ext cx="11137266" cy="23484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400"/>
              </a:spcBef>
              <a:buFont typeface="Wingdings" panose="05000000000000000000" pitchFamily="2" charset="2"/>
              <a:buNone/>
            </a:pP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开关的状态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灯的状态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打开为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1,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关闭为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0.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不妨设当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个开关都为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时灯是打开的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F3316A0-47B5-4258-AADB-DB22A9DEDC85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64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0273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13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1.6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组合电路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1C87485-B14B-44FB-A157-25475D6E5132}"/>
              </a:ext>
            </a:extLst>
          </p:cNvPr>
          <p:cNvSpPr txBox="1">
            <a:spLocks/>
          </p:cNvSpPr>
          <p:nvPr/>
        </p:nvSpPr>
        <p:spPr>
          <a:xfrm>
            <a:off x="545255" y="1601897"/>
            <a:ext cx="9052558" cy="369332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设计组合电路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0" name="内容占位符 2">
            <a:extLst>
              <a:ext uri="{FF2B5EF4-FFF2-40B4-BE49-F238E27FC236}">
                <a16:creationId xmlns:a16="http://schemas.microsoft.com/office/drawing/2014/main" id="{36BC0A38-02F8-442E-8164-904EA2F6F25D}"/>
              </a:ext>
            </a:extLst>
          </p:cNvPr>
          <p:cNvSpPr txBox="1">
            <a:spLocks/>
          </p:cNvSpPr>
          <p:nvPr/>
        </p:nvSpPr>
        <p:spPr>
          <a:xfrm>
            <a:off x="594147" y="2249048"/>
            <a:ext cx="10461413" cy="21807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步骤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构造输入输出表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问题的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真值函数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),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(2)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写出主析取范式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(3)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化简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最简展开式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包含最少运算的公式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331A0868-A97B-4AE8-911B-0F994DDB5727}"/>
              </a:ext>
            </a:extLst>
          </p:cNvPr>
          <p:cNvSpPr txBox="1">
            <a:spLocks/>
          </p:cNvSpPr>
          <p:nvPr/>
        </p:nvSpPr>
        <p:spPr>
          <a:xfrm>
            <a:off x="600920" y="4504263"/>
            <a:ext cx="10461413" cy="21807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当且仅当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时输出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4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个与门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个或门和一个非门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一个与门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D5F9B0F-E769-46D1-9DC0-640173E6494E}"/>
              </a:ext>
            </a:extLst>
          </p:cNvPr>
          <p:cNvSpPr txBox="1"/>
          <p:nvPr/>
        </p:nvSpPr>
        <p:spPr>
          <a:xfrm>
            <a:off x="594147" y="953265"/>
            <a:ext cx="36798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buSzPct val="150000"/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组合电路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4E5685FF-E4D7-4FD6-A10D-DCBB933A574F}"/>
              </a:ext>
            </a:extLst>
          </p:cNvPr>
          <p:cNvSpPr txBox="1">
            <a:spLocks noChangeArrowheads="1"/>
          </p:cNvSpPr>
          <p:nvPr/>
        </p:nvSpPr>
        <p:spPr>
          <a:xfrm>
            <a:off x="9055948" y="954746"/>
            <a:ext cx="28041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奎因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莫可拉斯基方法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ACC66B-C6CB-4172-854E-94C320A8A76B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65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173754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1.6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组合电路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4B5996B7-C471-4801-944E-C799C7BD3895}"/>
              </a:ext>
            </a:extLst>
          </p:cNvPr>
          <p:cNvSpPr txBox="1">
            <a:spLocks/>
          </p:cNvSpPr>
          <p:nvPr/>
        </p:nvSpPr>
        <p:spPr>
          <a:xfrm>
            <a:off x="594147" y="1572643"/>
            <a:ext cx="10417385" cy="1333117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奎因</a:t>
            </a:r>
            <a:r>
              <a:rPr lang="en-US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莫可拉斯基方法的步骤：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514350" indent="-514350">
              <a:buFont typeface="Arial" panose="020B0604020202020204" pitchFamily="34" charset="0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(1)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合并简单合取式生成所有可能出现在最简展开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式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中的项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>
              <a:buFont typeface="Arial" panose="020B0604020202020204" pitchFamily="34" charset="0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确定最简展开式中的项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2A799BDB-3347-4E85-A81B-14D1BA768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147" y="3519951"/>
            <a:ext cx="8286750" cy="2354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求下述公式的最简展开式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∧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∧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∧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∨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∧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∧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∧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∨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∧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∧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∧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∨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∧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∧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∧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∨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∧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∧</a:t>
            </a:r>
            <a:r>
              <a:rPr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∨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∧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∧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∧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∨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∧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∧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∧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B3D5941-B32B-43AF-A932-6C5E84868D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599" y="3561015"/>
            <a:ext cx="4697201" cy="264592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B261720-5E0A-4405-A9A5-809BDFD1968C}"/>
              </a:ext>
            </a:extLst>
          </p:cNvPr>
          <p:cNvSpPr txBox="1"/>
          <p:nvPr/>
        </p:nvSpPr>
        <p:spPr>
          <a:xfrm>
            <a:off x="594147" y="953265"/>
            <a:ext cx="36798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buSzPct val="150000"/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组合电路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881726B2-7157-4906-BD28-6B9D83939EAD}"/>
              </a:ext>
            </a:extLst>
          </p:cNvPr>
          <p:cNvSpPr txBox="1">
            <a:spLocks noChangeArrowheads="1"/>
          </p:cNvSpPr>
          <p:nvPr/>
        </p:nvSpPr>
        <p:spPr>
          <a:xfrm>
            <a:off x="9055948" y="954746"/>
            <a:ext cx="28041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奎因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莫可拉斯基方法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EA88497-1754-4B56-AD0B-47D9BB717A2D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66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2835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1.6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组合电路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13C01A-1D95-4E6A-9984-41D85D24C56A}"/>
              </a:ext>
            </a:extLst>
          </p:cNvPr>
          <p:cNvSpPr txBox="1"/>
          <p:nvPr/>
        </p:nvSpPr>
        <p:spPr>
          <a:xfrm>
            <a:off x="594147" y="953265"/>
            <a:ext cx="36798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buSzPct val="150000"/>
              <a:defRPr b="1">
                <a:latin typeface="宋体" panose="02010600030101010101" pitchFamily="2" charset="-122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组合电路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FA2BC71-E082-424A-A29F-1472994116AA}"/>
              </a:ext>
            </a:extLst>
          </p:cNvPr>
          <p:cNvSpPr txBox="1">
            <a:spLocks noChangeArrowheads="1"/>
          </p:cNvSpPr>
          <p:nvPr/>
        </p:nvSpPr>
        <p:spPr>
          <a:xfrm>
            <a:off x="9055948" y="954746"/>
            <a:ext cx="28041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奎因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莫可拉斯基方法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97D560E-F444-4AB6-8832-5450198488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44" y="1508875"/>
            <a:ext cx="6536265" cy="277632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9BEEC42-E69F-4753-812E-027422917129}"/>
              </a:ext>
            </a:extLst>
          </p:cNvPr>
          <p:cNvSpPr txBox="1"/>
          <p:nvPr/>
        </p:nvSpPr>
        <p:spPr>
          <a:xfrm>
            <a:off x="7486968" y="2133090"/>
            <a:ext cx="3137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标记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表示该项已被合并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25337DD-708D-4CF8-BFEB-09DF8A9DC051}"/>
              </a:ext>
            </a:extLst>
          </p:cNvPr>
          <p:cNvSpPr txBox="1"/>
          <p:nvPr/>
        </p:nvSpPr>
        <p:spPr>
          <a:xfrm>
            <a:off x="5738705" y="4485725"/>
            <a:ext cx="6053667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选择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(1,4), (2,4)</a:t>
            </a: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(3,5,6,7),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或者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(1,4), (2,6)</a:t>
            </a: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(3,5,6,7).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最简展开式为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)∨(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)∨(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或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)∨(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)∨(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1B86B1F-2BF5-4513-9807-5FA0C03459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44" y="4618772"/>
            <a:ext cx="4300961" cy="159595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4014548-6D3A-495B-9914-D931E3F30416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67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1648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1.7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推理理论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9070A91-D455-418A-B1E5-1BEE4C183023}"/>
              </a:ext>
            </a:extLst>
          </p:cNvPr>
          <p:cNvSpPr txBox="1"/>
          <p:nvPr/>
        </p:nvSpPr>
        <p:spPr>
          <a:xfrm>
            <a:off x="485775" y="1506705"/>
            <a:ext cx="10451583" cy="919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推理</a:t>
            </a:r>
            <a:r>
              <a:rPr lang="en-US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从前提推出结论的思维过程，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前提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是指已知的命题公式，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结论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是指从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前提出发应用推理规则推出的命题公式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6484FD94-0BF1-4B7E-8BE0-C7D04C003E86}"/>
              </a:ext>
            </a:extLst>
          </p:cNvPr>
          <p:cNvSpPr txBox="1">
            <a:spLocks noChangeArrowheads="1"/>
          </p:cNvSpPr>
          <p:nvPr/>
        </p:nvSpPr>
        <p:spPr>
          <a:xfrm>
            <a:off x="485778" y="2696806"/>
            <a:ext cx="10529552" cy="1728611"/>
          </a:xfr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1.20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latin typeface="Symbol" panose="05050102010706020507" pitchFamily="18" charset="2"/>
              </a:rPr>
              <a:t>Ù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 err="1">
                <a:latin typeface="Symbol" panose="05050102010706020507" pitchFamily="18" charset="2"/>
              </a:rPr>
              <a:t>Ù</a:t>
            </a:r>
            <a:r>
              <a:rPr lang="en-US" altLang="zh-CN" sz="2400" b="1" dirty="0">
                <a:latin typeface="Times New Roman" panose="02020603050405020304" pitchFamily="18" charset="0"/>
              </a:rPr>
              <a:t>…</a:t>
            </a:r>
            <a:r>
              <a:rPr lang="en-US" altLang="zh-CN" sz="2400" b="1" dirty="0" err="1">
                <a:latin typeface="Symbol" panose="05050102010706020507" pitchFamily="18" charset="2"/>
              </a:rPr>
              <a:t>Ù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sz="2400" b="1" dirty="0">
                <a:latin typeface="Symbol" panose="05050102010706020507" pitchFamily="18" charset="2"/>
              </a:rPr>
              <a:t> )®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为重言式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, …,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30000" dirty="0">
                <a:latin typeface="Times New Roman" panose="02020603050405020304" pitchFamily="18" charset="0"/>
              </a:rPr>
              <a:t>k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推出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的推理正确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       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, …,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30000" dirty="0">
                <a:latin typeface="Times New Roman" panose="02020603050405020304" pitchFamily="18" charset="0"/>
              </a:rPr>
              <a:t>k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逻辑结论或有效结论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称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latin typeface="Symbol" panose="05050102010706020507" pitchFamily="18" charset="2"/>
              </a:rPr>
              <a:t>Ù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 err="1">
                <a:latin typeface="Symbol" panose="05050102010706020507" pitchFamily="18" charset="2"/>
              </a:rPr>
              <a:t>Ù</a:t>
            </a:r>
            <a:r>
              <a:rPr lang="en-US" altLang="zh-CN" sz="2400" b="1" dirty="0">
                <a:latin typeface="Times New Roman" panose="02020603050405020304" pitchFamily="18" charset="0"/>
              </a:rPr>
              <a:t>…</a:t>
            </a:r>
            <a:r>
              <a:rPr lang="en-US" altLang="zh-CN" sz="2400" b="1" dirty="0" err="1">
                <a:latin typeface="Symbol" panose="05050102010706020507" pitchFamily="18" charset="2"/>
              </a:rPr>
              <a:t>Ù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sz="2400" b="1" dirty="0">
                <a:latin typeface="Symbol" panose="05050102010706020507" pitchFamily="18" charset="2"/>
              </a:rPr>
              <a:t> )®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为由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, …,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30000" dirty="0">
                <a:latin typeface="Times New Roman" panose="02020603050405020304" pitchFamily="18" charset="0"/>
              </a:rPr>
              <a:t>k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的推出结论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推理的形式结构</a:t>
            </a:r>
            <a:endParaRPr lang="en-US" altLang="zh-CN" sz="24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  <a:buNone/>
            </a:pPr>
            <a:endParaRPr lang="en-US" altLang="zh-CN" b="1" i="1" dirty="0">
              <a:latin typeface="Times New Roman" panose="02020603050405020304" pitchFamily="18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E6D2162-BAE0-4023-95FE-A0D73D9D9891}"/>
              </a:ext>
            </a:extLst>
          </p:cNvPr>
          <p:cNvSpPr txBox="1">
            <a:spLocks noChangeArrowheads="1"/>
          </p:cNvSpPr>
          <p:nvPr/>
        </p:nvSpPr>
        <p:spPr>
          <a:xfrm>
            <a:off x="485775" y="4370882"/>
            <a:ext cx="11293051" cy="2371945"/>
          </a:xfr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b="1" i="1" dirty="0">
                <a:latin typeface="Times New Roman" panose="02020603050405020304" pitchFamily="18" charset="0"/>
              </a:rPr>
              <a:t>“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, …,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30000" dirty="0">
                <a:latin typeface="Times New Roman" panose="02020603050405020304" pitchFamily="18" charset="0"/>
              </a:rPr>
              <a:t>k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推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i="1" dirty="0">
                <a:latin typeface="Times New Roman" panose="02020603050405020304" pitchFamily="18" charset="0"/>
              </a:rPr>
              <a:t>”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的推理正确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当且仅当 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latin typeface="Symbol" panose="05050102010706020507" pitchFamily="18" charset="2"/>
              </a:rPr>
              <a:t>Ù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 err="1">
                <a:latin typeface="Symbol" panose="05050102010706020507" pitchFamily="18" charset="2"/>
              </a:rPr>
              <a:t>Ù</a:t>
            </a:r>
            <a:r>
              <a:rPr lang="en-US" altLang="zh-CN" sz="2400" b="1" dirty="0">
                <a:latin typeface="Times New Roman" panose="02020603050405020304" pitchFamily="18" charset="0"/>
              </a:rPr>
              <a:t>…</a:t>
            </a:r>
            <a:r>
              <a:rPr lang="en-US" altLang="zh-CN" sz="2400" b="1" dirty="0" err="1">
                <a:latin typeface="Symbol" panose="05050102010706020507" pitchFamily="18" charset="2"/>
              </a:rPr>
              <a:t>Ù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sz="2400" b="1" dirty="0">
                <a:latin typeface="Symbol" panose="05050102010706020507" pitchFamily="18" charset="2"/>
              </a:rPr>
              <a:t> )®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为重言式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推理的形式结构：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latin typeface="Symbol" panose="05050102010706020507" pitchFamily="18" charset="2"/>
              </a:rPr>
              <a:t>Ù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 err="1">
                <a:latin typeface="Symbol" panose="05050102010706020507" pitchFamily="18" charset="2"/>
              </a:rPr>
              <a:t>Ù</a:t>
            </a:r>
            <a:r>
              <a:rPr lang="en-US" altLang="zh-CN" sz="2400" b="1" dirty="0">
                <a:latin typeface="Times New Roman" panose="02020603050405020304" pitchFamily="18" charset="0"/>
              </a:rPr>
              <a:t>…</a:t>
            </a:r>
            <a:r>
              <a:rPr lang="en-US" altLang="zh-CN" sz="2400" b="1" dirty="0" err="1">
                <a:latin typeface="Symbol" panose="05050102010706020507" pitchFamily="18" charset="2"/>
              </a:rPr>
              <a:t>Ù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sz="2400" b="1" dirty="0" err="1">
                <a:latin typeface="Symbol" panose="05050102010706020507" pitchFamily="18" charset="2"/>
              </a:rPr>
              <a:t>®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前提：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, … 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30000" dirty="0">
                <a:latin typeface="Times New Roman" panose="02020603050405020304" pitchFamily="18" charset="0"/>
              </a:rPr>
              <a:t>k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结论：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</a:p>
          <a:p>
            <a:pPr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若推理正确，则记作：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latin typeface="Symbol" panose="05050102010706020507" pitchFamily="18" charset="2"/>
              </a:rPr>
              <a:t>Ù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 err="1">
                <a:latin typeface="Symbol" panose="05050102010706020507" pitchFamily="18" charset="2"/>
              </a:rPr>
              <a:t>Ù</a:t>
            </a:r>
            <a:r>
              <a:rPr lang="en-US" altLang="zh-CN" sz="2400" b="1" dirty="0">
                <a:latin typeface="Times New Roman" panose="02020603050405020304" pitchFamily="18" charset="0"/>
              </a:rPr>
              <a:t>…</a:t>
            </a:r>
            <a:r>
              <a:rPr lang="en-US" altLang="zh-CN" sz="2400" b="1" dirty="0" err="1">
                <a:latin typeface="Symbol" panose="05050102010706020507" pitchFamily="18" charset="2"/>
              </a:rPr>
              <a:t>Ù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sz="2400" b="1" dirty="0" err="1">
                <a:latin typeface="Symbol" panose="05050102010706020507" pitchFamily="18" charset="2"/>
              </a:rPr>
              <a:t>Þ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CE321AB-3767-4D3F-B0A3-19DE125E9363}"/>
              </a:ext>
            </a:extLst>
          </p:cNvPr>
          <p:cNvSpPr txBox="1"/>
          <p:nvPr/>
        </p:nvSpPr>
        <p:spPr>
          <a:xfrm>
            <a:off x="467359" y="901380"/>
            <a:ext cx="20702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E09E4E9-6593-481A-BF95-A11168405258}"/>
              </a:ext>
            </a:extLst>
          </p:cNvPr>
          <p:cNvSpPr txBox="1"/>
          <p:nvPr/>
        </p:nvSpPr>
        <p:spPr>
          <a:xfrm>
            <a:off x="3969171" y="901380"/>
            <a:ext cx="13801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推理定律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78DF938-2C87-4BD1-8191-863F7B8137FA}"/>
              </a:ext>
            </a:extLst>
          </p:cNvPr>
          <p:cNvSpPr txBox="1"/>
          <p:nvPr/>
        </p:nvSpPr>
        <p:spPr>
          <a:xfrm>
            <a:off x="7064584" y="901380"/>
            <a:ext cx="1316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70000"/>
              </a:spcBef>
              <a:buSzPct val="125000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推理规则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5A04E0F-977F-43A4-9817-97CA67590FAE}"/>
              </a:ext>
            </a:extLst>
          </p:cNvPr>
          <p:cNvSpPr txBox="1"/>
          <p:nvPr/>
        </p:nvSpPr>
        <p:spPr>
          <a:xfrm>
            <a:off x="10038080" y="901380"/>
            <a:ext cx="18283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构造证明方法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BFFAD42-662C-4B3A-B594-89454BE1B641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68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300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1.7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推理理论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AC10209-A1DD-413D-979F-D5179CA59203}"/>
              </a:ext>
            </a:extLst>
          </p:cNvPr>
          <p:cNvSpPr txBox="1">
            <a:spLocks noChangeArrowheads="1"/>
          </p:cNvSpPr>
          <p:nvPr/>
        </p:nvSpPr>
        <p:spPr>
          <a:xfrm>
            <a:off x="485775" y="1626120"/>
            <a:ext cx="8229600" cy="524937"/>
          </a:xfrm>
          <a:noFill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判断</a:t>
            </a:r>
            <a:r>
              <a:rPr lang="en-US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/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证明推理是否正确的方法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077F616-5239-4E49-8F67-946AD2EFDEE4}"/>
              </a:ext>
            </a:extLst>
          </p:cNvPr>
          <p:cNvSpPr txBox="1">
            <a:spLocks noChangeArrowheads="1"/>
          </p:cNvSpPr>
          <p:nvPr/>
        </p:nvSpPr>
        <p:spPr>
          <a:xfrm>
            <a:off x="2333414" y="2151057"/>
            <a:ext cx="6939280" cy="1791023"/>
          </a:xfr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FF0066"/>
              </a:buClr>
              <a:buSzPct val="125000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真值表法</a:t>
            </a:r>
          </a:p>
          <a:p>
            <a:pPr marL="0" indent="0" algn="just">
              <a:buClr>
                <a:srgbClr val="FF0066"/>
              </a:buClr>
              <a:buSzPct val="125000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等值演算法      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判断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推理是否正确</a:t>
            </a:r>
          </a:p>
          <a:p>
            <a:pPr marL="0" indent="0" algn="just">
              <a:buClr>
                <a:srgbClr val="FF0066"/>
              </a:buClr>
              <a:buSzPct val="125000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主析取范式法</a:t>
            </a: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65BF417C-F025-492C-8A6E-A60FD2482A4D}"/>
              </a:ext>
            </a:extLst>
          </p:cNvPr>
          <p:cNvSpPr>
            <a:spLocks/>
          </p:cNvSpPr>
          <p:nvPr/>
        </p:nvSpPr>
        <p:spPr bwMode="auto">
          <a:xfrm>
            <a:off x="4670213" y="2353863"/>
            <a:ext cx="111760" cy="1069171"/>
          </a:xfrm>
          <a:prstGeom prst="rightBrace">
            <a:avLst>
              <a:gd name="adj1" fmla="val 79722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3BD88A9-A31A-4F7D-A7CC-A9D653F01341}"/>
              </a:ext>
            </a:extLst>
          </p:cNvPr>
          <p:cNvSpPr txBox="1">
            <a:spLocks noChangeArrowheads="1"/>
          </p:cNvSpPr>
          <p:nvPr/>
        </p:nvSpPr>
        <p:spPr>
          <a:xfrm>
            <a:off x="2285142" y="3833374"/>
            <a:ext cx="6939280" cy="442085"/>
          </a:xfr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FF0066"/>
              </a:buClr>
              <a:buSzPct val="125000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构造证明法     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推理正确   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511D7B54-33E2-4129-B6E2-771A53A2D928}"/>
              </a:ext>
            </a:extLst>
          </p:cNvPr>
          <p:cNvSpPr txBox="1">
            <a:spLocks noChangeArrowheads="1"/>
          </p:cNvSpPr>
          <p:nvPr/>
        </p:nvSpPr>
        <p:spPr>
          <a:xfrm>
            <a:off x="2158455" y="4685800"/>
            <a:ext cx="6939280" cy="1931386"/>
          </a:xfr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说明：用前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个方法时采用形式结构   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“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latin typeface="Symbol" panose="05050102010706020507" pitchFamily="18" charset="2"/>
                <a:ea typeface="华文中宋" panose="02010600040101010101" pitchFamily="2" charset="-122"/>
              </a:rPr>
              <a:t>Ù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 err="1">
                <a:latin typeface="Symbol" panose="05050102010706020507" pitchFamily="18" charset="2"/>
                <a:ea typeface="华文中宋" panose="02010600040101010101" pitchFamily="2" charset="-122"/>
              </a:rPr>
              <a:t>Ù</a:t>
            </a:r>
            <a:r>
              <a:rPr lang="en-US" altLang="zh-CN" sz="2400" b="1" dirty="0">
                <a:latin typeface="Times New Roman" panose="02020603050405020304" pitchFamily="18" charset="0"/>
              </a:rPr>
              <a:t>…</a:t>
            </a:r>
            <a:r>
              <a:rPr lang="en-US" altLang="zh-CN" sz="2400" b="1" dirty="0" err="1">
                <a:latin typeface="Symbol" panose="05050102010706020507" pitchFamily="18" charset="2"/>
                <a:ea typeface="华文中宋" panose="02010600040101010101" pitchFamily="2" charset="-122"/>
              </a:rPr>
              <a:t>Ù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sz="2400" b="1" dirty="0" err="1">
                <a:latin typeface="Symbol" panose="05050102010706020507" pitchFamily="18" charset="2"/>
                <a:ea typeface="华文中宋" panose="02010600040101010101" pitchFamily="2" charset="-122"/>
              </a:rPr>
              <a:t>®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” . </a:t>
            </a:r>
          </a:p>
          <a:p>
            <a:pPr marL="0" indent="0"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用构造证明时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采用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“前提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, … 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30000" dirty="0">
                <a:latin typeface="Times New Roman" panose="02020603050405020304" pitchFamily="18" charset="0"/>
              </a:rPr>
              <a:t>k</a:t>
            </a:r>
            <a:r>
              <a:rPr lang="en-US" altLang="zh-CN" sz="2400" b="1" dirty="0">
                <a:latin typeface="Times New Roman" panose="02020603050405020304" pitchFamily="18" charset="0"/>
              </a:rPr>
              <a:t>,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结论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”.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872F959-A522-4C29-8067-44ECDCFC5620}"/>
              </a:ext>
            </a:extLst>
          </p:cNvPr>
          <p:cNvSpPr txBox="1"/>
          <p:nvPr/>
        </p:nvSpPr>
        <p:spPr>
          <a:xfrm>
            <a:off x="467359" y="901380"/>
            <a:ext cx="20702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FCF030D-5AAC-4EC4-BFCC-C079DA5EEF93}"/>
              </a:ext>
            </a:extLst>
          </p:cNvPr>
          <p:cNvSpPr txBox="1"/>
          <p:nvPr/>
        </p:nvSpPr>
        <p:spPr>
          <a:xfrm>
            <a:off x="3969171" y="901380"/>
            <a:ext cx="13801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推理定律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7BA5A58-FC8A-457A-BFE8-EEDEFCDFFA16}"/>
              </a:ext>
            </a:extLst>
          </p:cNvPr>
          <p:cNvSpPr txBox="1"/>
          <p:nvPr/>
        </p:nvSpPr>
        <p:spPr>
          <a:xfrm>
            <a:off x="7064584" y="901380"/>
            <a:ext cx="1316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70000"/>
              </a:spcBef>
              <a:buSzPct val="125000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推理规则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A8176B5-0F88-4881-9C12-B95E84F3269E}"/>
              </a:ext>
            </a:extLst>
          </p:cNvPr>
          <p:cNvSpPr txBox="1"/>
          <p:nvPr/>
        </p:nvSpPr>
        <p:spPr>
          <a:xfrm>
            <a:off x="10038080" y="901380"/>
            <a:ext cx="18283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构造证明方法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B594832-E28E-4096-B80A-7EB43BF10DE3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69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7818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1.7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推理理论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B09DE60-E7B5-41C8-A5CE-026BCC5F5617}"/>
              </a:ext>
            </a:extLst>
          </p:cNvPr>
          <p:cNvSpPr txBox="1">
            <a:spLocks noChangeArrowheads="1"/>
          </p:cNvSpPr>
          <p:nvPr/>
        </p:nvSpPr>
        <p:spPr>
          <a:xfrm>
            <a:off x="609601" y="1582845"/>
            <a:ext cx="10315786" cy="114003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  判断下面推理是否正确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若今天是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号，则明天是</a:t>
            </a:r>
            <a:r>
              <a:rPr lang="en-US" altLang="zh-CN" sz="2400" b="1" dirty="0">
                <a:latin typeface="Times New Roman" panose="02020603050405020304" pitchFamily="18" charset="0"/>
              </a:rPr>
              <a:t>5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号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今天是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号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所以明天是</a:t>
            </a:r>
            <a:r>
              <a:rPr lang="en-US" altLang="zh-CN" sz="2400" b="1" dirty="0">
                <a:latin typeface="Times New Roman" panose="02020603050405020304" pitchFamily="18" charset="0"/>
              </a:rPr>
              <a:t>5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号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CB96398-09C0-4021-A83D-2055683B8E19}"/>
              </a:ext>
            </a:extLst>
          </p:cNvPr>
          <p:cNvSpPr txBox="1">
            <a:spLocks noChangeArrowheads="1"/>
          </p:cNvSpPr>
          <p:nvPr/>
        </p:nvSpPr>
        <p:spPr>
          <a:xfrm>
            <a:off x="809414" y="2828954"/>
            <a:ext cx="10315786" cy="1360167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解：设 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今天是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号，</a:t>
            </a:r>
            <a:r>
              <a:rPr lang="en-US" altLang="zh-CN" b="1" i="1" dirty="0">
                <a:latin typeface="Times New Roman" panose="02020603050405020304" pitchFamily="18" charset="0"/>
              </a:rPr>
              <a:t>q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明天是</a:t>
            </a:r>
            <a:r>
              <a:rPr lang="en-US" altLang="zh-CN" sz="2400" b="1" dirty="0">
                <a:latin typeface="Times New Roman" panose="02020603050405020304" pitchFamily="18" charset="0"/>
              </a:rPr>
              <a:t>5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号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 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 err="1">
                <a:latin typeface="Symbol" panose="05050102010706020507" pitchFamily="18" charset="2"/>
              </a:rPr>
              <a:t>Ù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0D37541F-C253-405E-AD88-205E6D7C934B}"/>
              </a:ext>
            </a:extLst>
          </p:cNvPr>
          <p:cNvSpPr txBox="1">
            <a:spLocks noChangeArrowheads="1"/>
          </p:cNvSpPr>
          <p:nvPr/>
        </p:nvSpPr>
        <p:spPr>
          <a:xfrm>
            <a:off x="1706263" y="4065088"/>
            <a:ext cx="8785629" cy="2483264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证明（用等值演算法）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              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 err="1">
                <a:latin typeface="Symbol" panose="05050102010706020507" pitchFamily="18" charset="2"/>
              </a:rPr>
              <a:t>Ù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            </a:t>
            </a:r>
            <a:r>
              <a:rPr lang="en-US" altLang="zh-CN" b="1" dirty="0">
                <a:latin typeface="Symbol" panose="05050102010706020507" pitchFamily="18" charset="2"/>
              </a:rPr>
              <a:t>Û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Symbol" panose="05050102010706020507" pitchFamily="18" charset="2"/>
              </a:rPr>
              <a:t>Ø</a:t>
            </a:r>
            <a:r>
              <a:rPr lang="en-US" altLang="zh-CN" b="1" dirty="0">
                <a:latin typeface="Times New Roman" panose="02020603050405020304" pitchFamily="18" charset="0"/>
              </a:rPr>
              <a:t>((</a:t>
            </a:r>
            <a:r>
              <a:rPr lang="en-US" altLang="zh-CN" b="1" dirty="0" err="1">
                <a:latin typeface="Symbol" panose="05050102010706020507" pitchFamily="18" charset="2"/>
              </a:rPr>
              <a:t>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Ú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 err="1">
                <a:latin typeface="Symbol" panose="05050102010706020507" pitchFamily="18" charset="2"/>
              </a:rPr>
              <a:t>Ù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 err="1">
                <a:latin typeface="Symbol" panose="05050102010706020507" pitchFamily="18" charset="2"/>
              </a:rPr>
              <a:t>Ú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            </a:t>
            </a:r>
            <a:r>
              <a:rPr lang="en-US" altLang="zh-CN" b="1" dirty="0">
                <a:latin typeface="Symbol" panose="05050102010706020507" pitchFamily="18" charset="2"/>
              </a:rPr>
              <a:t>Û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Symbol" panose="05050102010706020507" pitchFamily="18" charset="2"/>
              </a:rPr>
              <a:t>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ÚØ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Symbol" panose="05050102010706020507" pitchFamily="18" charset="2"/>
              </a:rPr>
              <a:t>Ú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Symbol" panose="05050102010706020507" pitchFamily="18" charset="2"/>
              </a:rPr>
              <a:t>Û</a:t>
            </a:r>
            <a:r>
              <a:rPr lang="en-US" altLang="zh-CN" b="1" dirty="0">
                <a:latin typeface="Times New Roman" panose="02020603050405020304" pitchFamily="18" charset="0"/>
              </a:rPr>
              <a:t> 1</a:t>
            </a:r>
          </a:p>
          <a:p>
            <a:pPr algn="just">
              <a:spcAft>
                <a:spcPts val="1200"/>
              </a:spcAft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得证推理正确 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75D5639-DE08-4EB5-9E2C-C9B6C34CEBA1}"/>
              </a:ext>
            </a:extLst>
          </p:cNvPr>
          <p:cNvSpPr txBox="1"/>
          <p:nvPr/>
        </p:nvSpPr>
        <p:spPr>
          <a:xfrm>
            <a:off x="467359" y="901380"/>
            <a:ext cx="20702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5C9FB8F-E888-418C-BE29-F89880E13D7F}"/>
              </a:ext>
            </a:extLst>
          </p:cNvPr>
          <p:cNvSpPr txBox="1"/>
          <p:nvPr/>
        </p:nvSpPr>
        <p:spPr>
          <a:xfrm>
            <a:off x="3969171" y="901380"/>
            <a:ext cx="13801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推理定律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72D2227-5D45-4F25-8216-1DE2BC5C90E0}"/>
              </a:ext>
            </a:extLst>
          </p:cNvPr>
          <p:cNvSpPr txBox="1"/>
          <p:nvPr/>
        </p:nvSpPr>
        <p:spPr>
          <a:xfrm>
            <a:off x="7064584" y="901380"/>
            <a:ext cx="1316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70000"/>
              </a:spcBef>
              <a:buSzPct val="125000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推理规则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1B6D463-3E26-4A94-A50D-0CDF3F54F4F7}"/>
              </a:ext>
            </a:extLst>
          </p:cNvPr>
          <p:cNvSpPr txBox="1"/>
          <p:nvPr/>
        </p:nvSpPr>
        <p:spPr>
          <a:xfrm>
            <a:off x="10038080" y="901380"/>
            <a:ext cx="18283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构造证明方法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BC0056D-3B0A-4A1A-A3C1-DE78371998EA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70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9842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1.7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推理理论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385322-52A4-4726-B5E3-887EAF36B621}"/>
              </a:ext>
            </a:extLst>
          </p:cNvPr>
          <p:cNvSpPr txBox="1"/>
          <p:nvPr/>
        </p:nvSpPr>
        <p:spPr>
          <a:xfrm>
            <a:off x="467359" y="901380"/>
            <a:ext cx="20702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2428F3-5BEA-4891-8DF1-9D420E437F29}"/>
              </a:ext>
            </a:extLst>
          </p:cNvPr>
          <p:cNvSpPr txBox="1"/>
          <p:nvPr/>
        </p:nvSpPr>
        <p:spPr>
          <a:xfrm>
            <a:off x="3969171" y="901380"/>
            <a:ext cx="13801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推理定律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226260A-043E-4758-9F92-C68B7E9A2B9F}"/>
              </a:ext>
            </a:extLst>
          </p:cNvPr>
          <p:cNvSpPr txBox="1"/>
          <p:nvPr/>
        </p:nvSpPr>
        <p:spPr>
          <a:xfrm>
            <a:off x="7064584" y="901380"/>
            <a:ext cx="1316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70000"/>
              </a:spcBef>
              <a:buSzPct val="125000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推理规则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5E398D5-D2E2-4EF1-8EF0-6270FDEE3B93}"/>
              </a:ext>
            </a:extLst>
          </p:cNvPr>
          <p:cNvSpPr txBox="1">
            <a:spLocks noChangeArrowheads="1"/>
          </p:cNvSpPr>
          <p:nvPr/>
        </p:nvSpPr>
        <p:spPr>
          <a:xfrm>
            <a:off x="548640" y="1523367"/>
            <a:ext cx="11230187" cy="1749604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(2)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若今天是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号，则明天是</a:t>
            </a:r>
            <a:r>
              <a:rPr lang="en-US" altLang="zh-CN" sz="2400" b="1" dirty="0">
                <a:latin typeface="Times New Roman" panose="02020603050405020304" pitchFamily="18" charset="0"/>
              </a:rPr>
              <a:t>5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号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明天是</a:t>
            </a:r>
            <a:r>
              <a:rPr lang="en-US" altLang="zh-CN" sz="2400" b="1" dirty="0">
                <a:latin typeface="Times New Roman" panose="02020603050405020304" pitchFamily="18" charset="0"/>
              </a:rPr>
              <a:t>5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号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所以今天是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号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</a:p>
          <a:p>
            <a:pPr algn="just">
              <a:spcBef>
                <a:spcPts val="24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解：设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p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今天是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号，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q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明天是</a:t>
            </a:r>
            <a:r>
              <a:rPr lang="en-US" altLang="zh-CN" sz="2400" b="1" dirty="0">
                <a:latin typeface="Times New Roman" panose="02020603050405020304" pitchFamily="18" charset="0"/>
              </a:rPr>
              <a:t>5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号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 err="1">
                <a:latin typeface="Symbol" panose="05050102010706020507" pitchFamily="18" charset="2"/>
              </a:rPr>
              <a:t>Ù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 err="1">
                <a:latin typeface="Symbol" panose="05050102010706020507" pitchFamily="18" charset="2"/>
              </a:rPr>
              <a:t>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         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37A7B06-F0C6-4961-AEB1-FAF1F8358A53}"/>
              </a:ext>
            </a:extLst>
          </p:cNvPr>
          <p:cNvSpPr txBox="1"/>
          <p:nvPr/>
        </p:nvSpPr>
        <p:spPr>
          <a:xfrm>
            <a:off x="7608320" y="5594245"/>
            <a:ext cx="44489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结果不含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r>
              <a:rPr lang="en-US" altLang="zh-CN" sz="2400" b="1" dirty="0">
                <a:latin typeface="Times New Roman" panose="02020603050405020304" pitchFamily="18" charset="0"/>
              </a:rPr>
              <a:t>01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是成假赋值，所以推理不正确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4B3065A-D768-4ED7-814F-A897ED8E1BEF}"/>
              </a:ext>
            </a:extLst>
          </p:cNvPr>
          <p:cNvSpPr txBox="1"/>
          <p:nvPr/>
        </p:nvSpPr>
        <p:spPr>
          <a:xfrm>
            <a:off x="10038080" y="901380"/>
            <a:ext cx="18283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构造证明方法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8C130FF5-A5A8-4B12-8922-F66FEBB4F748}"/>
              </a:ext>
            </a:extLst>
          </p:cNvPr>
          <p:cNvSpPr txBox="1">
            <a:spLocks noChangeArrowheads="1"/>
          </p:cNvSpPr>
          <p:nvPr/>
        </p:nvSpPr>
        <p:spPr>
          <a:xfrm>
            <a:off x="1215197" y="3272972"/>
            <a:ext cx="5911317" cy="3275380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证明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（用主析取范式法）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600" b="1" dirty="0">
                <a:latin typeface="Times New Roman" panose="02020603050405020304" pitchFamily="18" charset="0"/>
              </a:rPr>
              <a:t>             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Symbol" panose="05050102010706020507" pitchFamily="18" charset="2"/>
              </a:rPr>
              <a:t>®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 err="1">
                <a:latin typeface="Symbol" panose="05050102010706020507" pitchFamily="18" charset="2"/>
              </a:rPr>
              <a:t>Ù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 err="1">
                <a:latin typeface="Symbol" panose="05050102010706020507" pitchFamily="18" charset="2"/>
              </a:rPr>
              <a:t>®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endParaRPr lang="en-US" altLang="zh-CN" sz="2600" b="1" dirty="0"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600" b="1" dirty="0">
                <a:latin typeface="Symbol" panose="05050102010706020507" pitchFamily="18" charset="2"/>
              </a:rPr>
              <a:t>Û</a:t>
            </a:r>
            <a:r>
              <a:rPr lang="en-US" altLang="zh-CN" sz="2600" b="1" dirty="0">
                <a:latin typeface="Times New Roman" panose="02020603050405020304" pitchFamily="18" charset="0"/>
              </a:rPr>
              <a:t> (</a:t>
            </a:r>
            <a:r>
              <a:rPr lang="en-US" altLang="zh-CN" sz="2600" b="1" dirty="0" err="1">
                <a:latin typeface="Symbol" panose="05050102010706020507" pitchFamily="18" charset="2"/>
              </a:rPr>
              <a:t>Ø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Symbol" panose="05050102010706020507" pitchFamily="18" charset="2"/>
              </a:rPr>
              <a:t>Ú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 err="1">
                <a:latin typeface="Symbol" panose="05050102010706020507" pitchFamily="18" charset="2"/>
              </a:rPr>
              <a:t>Ù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 err="1">
                <a:latin typeface="Symbol" panose="05050102010706020507" pitchFamily="18" charset="2"/>
              </a:rPr>
              <a:t>®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endParaRPr lang="en-US" altLang="zh-CN" sz="2600" b="1" dirty="0"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600" b="1" dirty="0">
                <a:latin typeface="Symbol" panose="05050102010706020507" pitchFamily="18" charset="2"/>
              </a:rPr>
              <a:t>Û</a:t>
            </a:r>
            <a:r>
              <a:rPr lang="en-US" altLang="zh-CN" sz="26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Symbol" panose="05050102010706020507" pitchFamily="18" charset="2"/>
              </a:rPr>
              <a:t>Ø</a:t>
            </a:r>
            <a:r>
              <a:rPr lang="en-US" altLang="zh-CN" sz="2600" b="1" dirty="0">
                <a:latin typeface="Times New Roman" panose="02020603050405020304" pitchFamily="18" charset="0"/>
              </a:rPr>
              <a:t> ((</a:t>
            </a:r>
            <a:r>
              <a:rPr lang="en-US" altLang="zh-CN" sz="2600" b="1" dirty="0" err="1">
                <a:latin typeface="Symbol" panose="05050102010706020507" pitchFamily="18" charset="2"/>
              </a:rPr>
              <a:t>Ø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Symbol" panose="05050102010706020507" pitchFamily="18" charset="2"/>
              </a:rPr>
              <a:t>Ú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 err="1">
                <a:latin typeface="Symbol" panose="05050102010706020507" pitchFamily="18" charset="2"/>
              </a:rPr>
              <a:t>Ù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 err="1">
                <a:latin typeface="Symbol" panose="05050102010706020507" pitchFamily="18" charset="2"/>
              </a:rPr>
              <a:t>Ú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endParaRPr lang="en-US" altLang="zh-CN" sz="2600" b="1" dirty="0"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600" b="1" dirty="0">
                <a:latin typeface="Symbol" panose="05050102010706020507" pitchFamily="18" charset="2"/>
              </a:rPr>
              <a:t>Û</a:t>
            </a:r>
            <a:r>
              <a:rPr lang="en-US" altLang="zh-CN" sz="26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dirty="0" err="1">
                <a:latin typeface="Symbol" panose="05050102010706020507" pitchFamily="18" charset="2"/>
              </a:rPr>
              <a:t>Ø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 err="1">
                <a:latin typeface="Symbol" panose="05050102010706020507" pitchFamily="18" charset="2"/>
              </a:rPr>
              <a:t>Ú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endParaRPr lang="en-US" altLang="zh-CN" sz="2600" b="1" dirty="0"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600" b="1" dirty="0">
                <a:latin typeface="Symbol" panose="05050102010706020507" pitchFamily="18" charset="2"/>
              </a:rPr>
              <a:t>Û</a:t>
            </a:r>
            <a:r>
              <a:rPr lang="en-US" altLang="zh-CN" sz="2600" b="1" dirty="0">
                <a:latin typeface="Times New Roman" panose="02020603050405020304" pitchFamily="18" charset="0"/>
              </a:rPr>
              <a:t> (</a:t>
            </a:r>
            <a:r>
              <a:rPr lang="en-US" altLang="zh-CN" sz="2600" b="1" dirty="0" err="1">
                <a:latin typeface="Symbol" panose="05050102010706020507" pitchFamily="18" charset="2"/>
              </a:rPr>
              <a:t>Ø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Symbol" panose="05050102010706020507" pitchFamily="18" charset="2"/>
              </a:rPr>
              <a:t>ÙØ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Symbol" panose="05050102010706020507" pitchFamily="18" charset="2"/>
              </a:rPr>
              <a:t>Ú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Symbol" panose="05050102010706020507" pitchFamily="18" charset="2"/>
              </a:rPr>
              <a:t>ÙØ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Symbol" panose="05050102010706020507" pitchFamily="18" charset="2"/>
              </a:rPr>
              <a:t>Ú</a:t>
            </a:r>
            <a:r>
              <a:rPr lang="en-US" altLang="zh-CN" sz="2600" b="1" dirty="0">
                <a:latin typeface="Times New Roman" panose="02020603050405020304" pitchFamily="18" charset="0"/>
              </a:rPr>
              <a:t> (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Symbol" panose="05050102010706020507" pitchFamily="18" charset="2"/>
              </a:rPr>
              <a:t>ÙØ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</a:rPr>
              <a:t>)</a:t>
            </a:r>
            <a:r>
              <a:rPr lang="en-US" altLang="zh-CN" sz="2600" b="1" dirty="0">
                <a:latin typeface="Symbol" panose="05050102010706020507" pitchFamily="18" charset="2"/>
              </a:rPr>
              <a:t>Ú</a:t>
            </a:r>
            <a:r>
              <a:rPr lang="en-US" altLang="zh-CN" sz="2600" b="1" dirty="0">
                <a:latin typeface="Times New Roman" panose="02020603050405020304" pitchFamily="18" charset="0"/>
              </a:rPr>
              <a:t>(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600" b="1" dirty="0" err="1">
                <a:latin typeface="Symbol" panose="05050102010706020507" pitchFamily="18" charset="2"/>
              </a:rPr>
              <a:t>Ù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600" b="1" dirty="0">
                <a:latin typeface="Times New Roman" panose="02020603050405020304" pitchFamily="18" charset="0"/>
              </a:rPr>
              <a:t>)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600" b="1" dirty="0">
                <a:latin typeface="Symbol" panose="05050102010706020507" pitchFamily="18" charset="2"/>
              </a:rPr>
              <a:t>Û</a:t>
            </a:r>
            <a:r>
              <a:rPr lang="en-US" altLang="zh-CN" sz="26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sz="2600" b="1" baseline="-30000" dirty="0" err="1">
                <a:latin typeface="Times New Roman" panose="02020603050405020304" pitchFamily="18" charset="0"/>
              </a:rPr>
              <a:t>0</a:t>
            </a:r>
            <a:r>
              <a:rPr lang="en-US" altLang="zh-CN" sz="2600" b="1" dirty="0" err="1">
                <a:latin typeface="Symbol" panose="05050102010706020507" pitchFamily="18" charset="2"/>
              </a:rPr>
              <a:t>Ú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sz="26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600" b="1" dirty="0" err="1">
                <a:latin typeface="Symbol" panose="05050102010706020507" pitchFamily="18" charset="2"/>
              </a:rPr>
              <a:t>Ú</a:t>
            </a:r>
            <a:r>
              <a:rPr lang="en-US" altLang="zh-CN" sz="2600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sz="2600" b="1" baseline="-30000" dirty="0" err="1">
                <a:latin typeface="Times New Roman" panose="02020603050405020304" pitchFamily="18" charset="0"/>
              </a:rPr>
              <a:t>3</a:t>
            </a:r>
            <a:r>
              <a:rPr lang="en-US" altLang="zh-CN" sz="2600" b="1" baseline="-30000" dirty="0">
                <a:latin typeface="Times New Roman" panose="02020603050405020304" pitchFamily="18" charset="0"/>
              </a:rPr>
              <a:t> </a:t>
            </a:r>
            <a:endParaRPr lang="en-US" altLang="zh-CN" sz="2600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68FBEE9-C392-42B2-BA55-53C11F08881D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71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3075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1.7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推理理论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385322-52A4-4726-B5E3-887EAF36B621}"/>
              </a:ext>
            </a:extLst>
          </p:cNvPr>
          <p:cNvSpPr txBox="1"/>
          <p:nvPr/>
        </p:nvSpPr>
        <p:spPr>
          <a:xfrm>
            <a:off x="467358" y="901380"/>
            <a:ext cx="21978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70000"/>
              </a:spcBef>
              <a:buSzPct val="125000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2428F3-5BEA-4891-8DF1-9D420E437F29}"/>
              </a:ext>
            </a:extLst>
          </p:cNvPr>
          <p:cNvSpPr txBox="1"/>
          <p:nvPr/>
        </p:nvSpPr>
        <p:spPr>
          <a:xfrm>
            <a:off x="3969171" y="901380"/>
            <a:ext cx="14652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推理定律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226260A-043E-4758-9F92-C68B7E9A2B9F}"/>
              </a:ext>
            </a:extLst>
          </p:cNvPr>
          <p:cNvSpPr txBox="1"/>
          <p:nvPr/>
        </p:nvSpPr>
        <p:spPr>
          <a:xfrm>
            <a:off x="7064584" y="901380"/>
            <a:ext cx="13972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70000"/>
              </a:spcBef>
              <a:buSzPct val="125000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推理规则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93606B12-B305-4EEE-A0C2-79EFD676CADE}"/>
              </a:ext>
            </a:extLst>
          </p:cNvPr>
          <p:cNvSpPr txBox="1">
            <a:spLocks noChangeArrowheads="1"/>
          </p:cNvSpPr>
          <p:nvPr/>
        </p:nvSpPr>
        <p:spPr>
          <a:xfrm>
            <a:off x="596050" y="1331616"/>
            <a:ext cx="10624844" cy="525537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重要的推理定律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600" b="1" i="1" dirty="0">
                <a:latin typeface="Times New Roman" panose="02020603050405020304" pitchFamily="18" charset="0"/>
              </a:rPr>
              <a:t> 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200" b="1" dirty="0">
                <a:latin typeface="Times New Roman" panose="02020603050405020304" pitchFamily="18" charset="0"/>
              </a:rPr>
              <a:t> </a:t>
            </a:r>
            <a:r>
              <a:rPr lang="en-US" altLang="zh-CN" sz="2200" b="1" dirty="0">
                <a:latin typeface="Symbol" panose="05050102010706020507" pitchFamily="18" charset="2"/>
              </a:rPr>
              <a:t>Þ</a:t>
            </a:r>
            <a:r>
              <a:rPr lang="en-US" altLang="zh-CN" sz="2200" b="1" dirty="0">
                <a:latin typeface="Times New Roman" panose="02020603050405020304" pitchFamily="18" charset="0"/>
              </a:rPr>
              <a:t> (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200" b="1" dirty="0" err="1">
                <a:latin typeface="Symbol" panose="05050102010706020507" pitchFamily="18" charset="2"/>
              </a:rPr>
              <a:t>Ú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200" b="1" dirty="0">
                <a:latin typeface="Times New Roman" panose="02020603050405020304" pitchFamily="18" charset="0"/>
              </a:rPr>
              <a:t>)                                           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附加律</a:t>
            </a:r>
            <a:r>
              <a:rPr lang="zh-CN" altLang="en-US" sz="2600" b="1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3B2AA2F-5096-46F8-8F6B-FA6A45333A47}"/>
              </a:ext>
            </a:extLst>
          </p:cNvPr>
          <p:cNvSpPr txBox="1"/>
          <p:nvPr/>
        </p:nvSpPr>
        <p:spPr>
          <a:xfrm>
            <a:off x="10038080" y="901380"/>
            <a:ext cx="19410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构造证明方法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3326F8D1-79B3-44E9-B91C-B29FF23D79CF}"/>
              </a:ext>
            </a:extLst>
          </p:cNvPr>
          <p:cNvSpPr txBox="1">
            <a:spLocks noChangeArrowheads="1"/>
          </p:cNvSpPr>
          <p:nvPr/>
        </p:nvSpPr>
        <p:spPr>
          <a:xfrm>
            <a:off x="539929" y="2296818"/>
            <a:ext cx="10877977" cy="386897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</a:t>
            </a:r>
            <a:r>
              <a:rPr lang="en-US" altLang="zh-CN" sz="2200" b="1" dirty="0">
                <a:latin typeface="Times New Roman" panose="02020603050405020304" pitchFamily="18" charset="0"/>
              </a:rPr>
              <a:t>(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200" b="1" dirty="0" err="1">
                <a:latin typeface="Symbol" panose="05050102010706020507" pitchFamily="18" charset="2"/>
              </a:rPr>
              <a:t>Ù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200" b="1" dirty="0">
                <a:latin typeface="Times New Roman" panose="02020603050405020304" pitchFamily="18" charset="0"/>
              </a:rPr>
              <a:t>) </a:t>
            </a:r>
            <a:r>
              <a:rPr lang="en-US" altLang="zh-CN" sz="2200" b="1" dirty="0">
                <a:latin typeface="Symbol" panose="05050102010706020507" pitchFamily="18" charset="2"/>
              </a:rPr>
              <a:t>Þ</a:t>
            </a:r>
            <a:r>
              <a:rPr lang="en-US" altLang="zh-CN" sz="2200" b="1" dirty="0">
                <a:latin typeface="Times New Roman" panose="02020603050405020304" pitchFamily="18" charset="0"/>
              </a:rPr>
              <a:t>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200" b="1" dirty="0">
                <a:latin typeface="Times New Roman" panose="02020603050405020304" pitchFamily="18" charset="0"/>
              </a:rPr>
              <a:t>                                            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化简律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BA04D552-B0FF-4634-A000-6524E49E7D60}"/>
              </a:ext>
            </a:extLst>
          </p:cNvPr>
          <p:cNvSpPr txBox="1">
            <a:spLocks noChangeArrowheads="1"/>
          </p:cNvSpPr>
          <p:nvPr/>
        </p:nvSpPr>
        <p:spPr>
          <a:xfrm>
            <a:off x="539929" y="2754020"/>
            <a:ext cx="10877977" cy="529840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Times New Roman" panose="02020603050405020304" pitchFamily="18" charset="0"/>
              </a:rPr>
              <a:t>  </a:t>
            </a:r>
            <a:r>
              <a:rPr lang="en-US" altLang="zh-CN" sz="2200" b="1" dirty="0">
                <a:latin typeface="Times New Roman" panose="02020603050405020304" pitchFamily="18" charset="0"/>
              </a:rPr>
              <a:t>(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200" b="1" dirty="0" err="1">
                <a:latin typeface="Symbol" panose="05050102010706020507" pitchFamily="18" charset="2"/>
              </a:rPr>
              <a:t>®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200" b="1" dirty="0">
                <a:latin typeface="Times New Roman" panose="02020603050405020304" pitchFamily="18" charset="0"/>
              </a:rPr>
              <a:t>)</a:t>
            </a:r>
            <a:r>
              <a:rPr lang="en-US" altLang="zh-CN" sz="2200" b="1" dirty="0" err="1">
                <a:latin typeface="Symbol" panose="05050102010706020507" pitchFamily="18" charset="2"/>
              </a:rPr>
              <a:t>Ù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200" b="1" dirty="0">
                <a:latin typeface="Times New Roman" panose="02020603050405020304" pitchFamily="18" charset="0"/>
              </a:rPr>
              <a:t> </a:t>
            </a:r>
            <a:r>
              <a:rPr lang="en-US" altLang="zh-CN" sz="2200" b="1" dirty="0">
                <a:latin typeface="Symbol" panose="05050102010706020507" pitchFamily="18" charset="2"/>
              </a:rPr>
              <a:t>Þ</a:t>
            </a:r>
            <a:r>
              <a:rPr lang="en-US" altLang="zh-CN" sz="2200" b="1" dirty="0">
                <a:latin typeface="Times New Roman" panose="02020603050405020304" pitchFamily="18" charset="0"/>
              </a:rPr>
              <a:t>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200" b="1" dirty="0">
                <a:latin typeface="Times New Roman" panose="02020603050405020304" pitchFamily="18" charset="0"/>
              </a:rPr>
              <a:t>                                      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假言推理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600" b="1" dirty="0">
                <a:latin typeface="Times New Roman" panose="02020603050405020304" pitchFamily="18" charset="0"/>
              </a:rPr>
              <a:t>  </a:t>
            </a:r>
            <a:endParaRPr lang="zh-CN" altLang="en-US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14E21534-6D9F-4446-A839-53B03ACE281D}"/>
              </a:ext>
            </a:extLst>
          </p:cNvPr>
          <p:cNvSpPr txBox="1">
            <a:spLocks noChangeArrowheads="1"/>
          </p:cNvSpPr>
          <p:nvPr/>
        </p:nvSpPr>
        <p:spPr>
          <a:xfrm>
            <a:off x="539929" y="3207578"/>
            <a:ext cx="10877977" cy="471787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Times New Roman" panose="02020603050405020304" pitchFamily="18" charset="0"/>
              </a:rPr>
              <a:t>  </a:t>
            </a:r>
            <a:r>
              <a:rPr lang="en-US" altLang="zh-CN" sz="2200" b="1" dirty="0">
                <a:latin typeface="Times New Roman" panose="02020603050405020304" pitchFamily="18" charset="0"/>
              </a:rPr>
              <a:t>(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200" b="1" dirty="0" err="1">
                <a:latin typeface="Symbol" panose="05050102010706020507" pitchFamily="18" charset="2"/>
              </a:rPr>
              <a:t>®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200" b="1" dirty="0">
                <a:latin typeface="Times New Roman" panose="02020603050405020304" pitchFamily="18" charset="0"/>
              </a:rPr>
              <a:t>)</a:t>
            </a:r>
            <a:r>
              <a:rPr lang="en-US" altLang="zh-CN" sz="2200" b="1" dirty="0" err="1">
                <a:latin typeface="Symbol" panose="05050102010706020507" pitchFamily="18" charset="2"/>
              </a:rPr>
              <a:t>ÙØ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200" b="1" dirty="0">
                <a:latin typeface="Times New Roman" panose="02020603050405020304" pitchFamily="18" charset="0"/>
              </a:rPr>
              <a:t> </a:t>
            </a:r>
            <a:r>
              <a:rPr lang="en-US" altLang="zh-CN" sz="2200" b="1" dirty="0">
                <a:latin typeface="Symbol" panose="05050102010706020507" pitchFamily="18" charset="2"/>
              </a:rPr>
              <a:t>Þ</a:t>
            </a:r>
            <a:r>
              <a:rPr lang="en-US" altLang="zh-CN" sz="2200" b="1" dirty="0">
                <a:latin typeface="Times New Roman" panose="02020603050405020304" pitchFamily="18" charset="0"/>
              </a:rPr>
              <a:t> </a:t>
            </a:r>
            <a:r>
              <a:rPr lang="en-US" altLang="zh-CN" sz="2200" b="1" dirty="0" err="1">
                <a:latin typeface="Symbol" panose="05050102010706020507" pitchFamily="18" charset="2"/>
              </a:rPr>
              <a:t>Ø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200" b="1" dirty="0">
                <a:latin typeface="Times New Roman" panose="02020603050405020304" pitchFamily="18" charset="0"/>
              </a:rPr>
              <a:t>                                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拒取式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600" b="1" dirty="0">
                <a:latin typeface="Times New Roman" panose="02020603050405020304" pitchFamily="18" charset="0"/>
              </a:rPr>
              <a:t>  </a:t>
            </a:r>
            <a:endParaRPr lang="zh-CN" altLang="en-US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E25352D4-42B4-41C4-936D-7F2A37E3F628}"/>
              </a:ext>
            </a:extLst>
          </p:cNvPr>
          <p:cNvSpPr txBox="1">
            <a:spLocks noChangeArrowheads="1"/>
          </p:cNvSpPr>
          <p:nvPr/>
        </p:nvSpPr>
        <p:spPr>
          <a:xfrm>
            <a:off x="539929" y="3654676"/>
            <a:ext cx="10877977" cy="369332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Times New Roman" panose="02020603050405020304" pitchFamily="18" charset="0"/>
              </a:rPr>
              <a:t>  </a:t>
            </a:r>
            <a:r>
              <a:rPr lang="en-US" altLang="zh-CN" sz="2200" b="1" dirty="0">
                <a:latin typeface="Times New Roman" panose="02020603050405020304" pitchFamily="18" charset="0"/>
              </a:rPr>
              <a:t>(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200" b="1" dirty="0" err="1">
                <a:latin typeface="Symbol" panose="05050102010706020507" pitchFamily="18" charset="2"/>
              </a:rPr>
              <a:t>Ú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200" b="1" dirty="0">
                <a:latin typeface="Times New Roman" panose="02020603050405020304" pitchFamily="18" charset="0"/>
              </a:rPr>
              <a:t>)</a:t>
            </a:r>
            <a:r>
              <a:rPr lang="en-US" altLang="zh-CN" sz="2200" b="1" dirty="0" err="1">
                <a:latin typeface="Symbol" panose="05050102010706020507" pitchFamily="18" charset="2"/>
              </a:rPr>
              <a:t>ÙØ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200" b="1" dirty="0">
                <a:latin typeface="Times New Roman" panose="02020603050405020304" pitchFamily="18" charset="0"/>
              </a:rPr>
              <a:t> </a:t>
            </a:r>
            <a:r>
              <a:rPr lang="en-US" altLang="zh-CN" sz="2200" b="1" dirty="0">
                <a:latin typeface="Symbol" panose="05050102010706020507" pitchFamily="18" charset="2"/>
              </a:rPr>
              <a:t>Þ</a:t>
            </a:r>
            <a:r>
              <a:rPr lang="en-US" altLang="zh-CN" sz="2200" b="1" dirty="0">
                <a:latin typeface="Times New Roman" panose="02020603050405020304" pitchFamily="18" charset="0"/>
              </a:rPr>
              <a:t>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200" b="1" dirty="0">
                <a:latin typeface="Times New Roman" panose="02020603050405020304" pitchFamily="18" charset="0"/>
              </a:rPr>
              <a:t>                                     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析取三段论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600" b="1" dirty="0">
                <a:latin typeface="Times New Roman" panose="02020603050405020304" pitchFamily="18" charset="0"/>
              </a:rPr>
              <a:t>  </a:t>
            </a:r>
            <a:endParaRPr lang="zh-CN" altLang="en-US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DE471FE4-93EE-4E28-8F55-EA327CD1D9CB}"/>
              </a:ext>
            </a:extLst>
          </p:cNvPr>
          <p:cNvSpPr txBox="1">
            <a:spLocks noChangeArrowheads="1"/>
          </p:cNvSpPr>
          <p:nvPr/>
        </p:nvSpPr>
        <p:spPr>
          <a:xfrm>
            <a:off x="539929" y="4123073"/>
            <a:ext cx="10877977" cy="369333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Times New Roman" panose="02020603050405020304" pitchFamily="18" charset="0"/>
              </a:rPr>
              <a:t>  </a:t>
            </a:r>
            <a:r>
              <a:rPr lang="en-US" altLang="zh-CN" sz="2200" b="1" dirty="0">
                <a:latin typeface="Times New Roman" panose="02020603050405020304" pitchFamily="18" charset="0"/>
              </a:rPr>
              <a:t>(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200" b="1" dirty="0" err="1">
                <a:latin typeface="Symbol" panose="05050102010706020507" pitchFamily="18" charset="2"/>
              </a:rPr>
              <a:t>®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200" b="1" dirty="0">
                <a:latin typeface="Times New Roman" panose="02020603050405020304" pitchFamily="18" charset="0"/>
              </a:rPr>
              <a:t>)</a:t>
            </a:r>
            <a:r>
              <a:rPr lang="en-US" altLang="zh-CN" sz="2200" b="1" dirty="0">
                <a:latin typeface="Symbol" panose="05050102010706020507" pitchFamily="18" charset="2"/>
              </a:rPr>
              <a:t>Ù</a:t>
            </a:r>
            <a:r>
              <a:rPr lang="en-US" altLang="zh-CN" sz="2200" b="1" dirty="0">
                <a:latin typeface="Times New Roman" panose="02020603050405020304" pitchFamily="18" charset="0"/>
              </a:rPr>
              <a:t>(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200" b="1" dirty="0" err="1">
                <a:latin typeface="Symbol" panose="05050102010706020507" pitchFamily="18" charset="2"/>
              </a:rPr>
              <a:t>®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200" b="1" dirty="0">
                <a:latin typeface="Times New Roman" panose="02020603050405020304" pitchFamily="18" charset="0"/>
              </a:rPr>
              <a:t>) </a:t>
            </a:r>
            <a:r>
              <a:rPr lang="en-US" altLang="zh-CN" sz="2200" b="1" dirty="0">
                <a:latin typeface="Symbol" panose="05050102010706020507" pitchFamily="18" charset="2"/>
              </a:rPr>
              <a:t>Þ</a:t>
            </a:r>
            <a:r>
              <a:rPr lang="en-US" altLang="zh-CN" sz="2200" b="1" dirty="0">
                <a:latin typeface="Times New Roman" panose="02020603050405020304" pitchFamily="18" charset="0"/>
              </a:rPr>
              <a:t> (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200" b="1" dirty="0" err="1">
                <a:latin typeface="Symbol" panose="05050102010706020507" pitchFamily="18" charset="2"/>
              </a:rPr>
              <a:t>®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200" b="1" dirty="0">
                <a:latin typeface="Times New Roman" panose="02020603050405020304" pitchFamily="18" charset="0"/>
              </a:rPr>
              <a:t>)                   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假言三段论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CE59F86E-F046-4A05-93AA-E1A56D1E2BC9}"/>
              </a:ext>
            </a:extLst>
          </p:cNvPr>
          <p:cNvSpPr txBox="1">
            <a:spLocks noChangeArrowheads="1"/>
          </p:cNvSpPr>
          <p:nvPr/>
        </p:nvSpPr>
        <p:spPr>
          <a:xfrm>
            <a:off x="530736" y="4583098"/>
            <a:ext cx="10877977" cy="386897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600" b="1" dirty="0">
                <a:latin typeface="Times New Roman" panose="02020603050405020304" pitchFamily="18" charset="0"/>
              </a:rPr>
              <a:t> </a:t>
            </a:r>
            <a:r>
              <a:rPr lang="zh-CN" altLang="en-US" sz="2200" b="1" dirty="0">
                <a:latin typeface="Times New Roman" panose="02020603050405020304" pitchFamily="18" charset="0"/>
              </a:rPr>
              <a:t> </a:t>
            </a:r>
            <a:r>
              <a:rPr lang="en-US" altLang="zh-CN" sz="2200" b="1" dirty="0">
                <a:latin typeface="Times New Roman" panose="02020603050405020304" pitchFamily="18" charset="0"/>
              </a:rPr>
              <a:t>(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200" b="1" dirty="0" err="1">
                <a:latin typeface="Symbol" panose="05050102010706020507" pitchFamily="18" charset="2"/>
              </a:rPr>
              <a:t>«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200" b="1" dirty="0">
                <a:latin typeface="Times New Roman" panose="02020603050405020304" pitchFamily="18" charset="0"/>
              </a:rPr>
              <a:t>)</a:t>
            </a:r>
            <a:r>
              <a:rPr lang="en-US" altLang="zh-CN" sz="2200" b="1" dirty="0">
                <a:latin typeface="Symbol" panose="05050102010706020507" pitchFamily="18" charset="2"/>
              </a:rPr>
              <a:t>Ù</a:t>
            </a:r>
            <a:r>
              <a:rPr lang="en-US" altLang="zh-CN" sz="2200" b="1" dirty="0">
                <a:latin typeface="Times New Roman" panose="02020603050405020304" pitchFamily="18" charset="0"/>
              </a:rPr>
              <a:t>(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200" b="1" dirty="0" err="1">
                <a:latin typeface="Symbol" panose="05050102010706020507" pitchFamily="18" charset="2"/>
              </a:rPr>
              <a:t>«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200" b="1" dirty="0">
                <a:latin typeface="Times New Roman" panose="02020603050405020304" pitchFamily="18" charset="0"/>
              </a:rPr>
              <a:t>) </a:t>
            </a:r>
            <a:r>
              <a:rPr lang="en-US" altLang="zh-CN" sz="2200" b="1" dirty="0">
                <a:latin typeface="Symbol" panose="05050102010706020507" pitchFamily="18" charset="2"/>
              </a:rPr>
              <a:t>Þ</a:t>
            </a:r>
            <a:r>
              <a:rPr lang="en-US" altLang="zh-CN" sz="2200" b="1" dirty="0">
                <a:latin typeface="Times New Roman" panose="02020603050405020304" pitchFamily="18" charset="0"/>
              </a:rPr>
              <a:t> (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200" b="1" dirty="0" err="1">
                <a:latin typeface="Symbol" panose="05050102010706020507" pitchFamily="18" charset="2"/>
              </a:rPr>
              <a:t>«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200" b="1" dirty="0">
                <a:latin typeface="Times New Roman" panose="02020603050405020304" pitchFamily="18" charset="0"/>
              </a:rPr>
              <a:t>)                   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等价三段论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D287C959-897F-4A71-9E06-B93E269CAC8A}"/>
              </a:ext>
            </a:extLst>
          </p:cNvPr>
          <p:cNvSpPr txBox="1">
            <a:spLocks noChangeArrowheads="1"/>
          </p:cNvSpPr>
          <p:nvPr/>
        </p:nvSpPr>
        <p:spPr>
          <a:xfrm>
            <a:off x="530736" y="5090593"/>
            <a:ext cx="10877977" cy="369332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Times New Roman" panose="02020603050405020304" pitchFamily="18" charset="0"/>
              </a:rPr>
              <a:t>  </a:t>
            </a:r>
            <a:r>
              <a:rPr lang="en-US" altLang="zh-CN" sz="2200" b="1" dirty="0">
                <a:latin typeface="Times New Roman" panose="02020603050405020304" pitchFamily="18" charset="0"/>
              </a:rPr>
              <a:t>(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200" b="1" dirty="0" err="1">
                <a:latin typeface="Symbol" panose="05050102010706020507" pitchFamily="18" charset="2"/>
              </a:rPr>
              <a:t>®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200" b="1" dirty="0">
                <a:latin typeface="Times New Roman" panose="02020603050405020304" pitchFamily="18" charset="0"/>
              </a:rPr>
              <a:t>)</a:t>
            </a:r>
            <a:r>
              <a:rPr lang="en-US" altLang="zh-CN" sz="2200" b="1" dirty="0">
                <a:latin typeface="Symbol" panose="05050102010706020507" pitchFamily="18" charset="2"/>
              </a:rPr>
              <a:t>Ù</a:t>
            </a:r>
            <a:r>
              <a:rPr lang="en-US" altLang="zh-CN" sz="2200" b="1" dirty="0">
                <a:latin typeface="Times New Roman" panose="02020603050405020304" pitchFamily="18" charset="0"/>
              </a:rPr>
              <a:t>(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200" b="1" dirty="0" err="1">
                <a:latin typeface="Symbol" panose="05050102010706020507" pitchFamily="18" charset="2"/>
              </a:rPr>
              <a:t>®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D</a:t>
            </a:r>
            <a:r>
              <a:rPr lang="en-US" altLang="zh-CN" sz="2200" b="1" dirty="0">
                <a:latin typeface="Times New Roman" panose="02020603050405020304" pitchFamily="18" charset="0"/>
              </a:rPr>
              <a:t>)</a:t>
            </a:r>
            <a:r>
              <a:rPr lang="en-US" altLang="zh-CN" sz="2200" b="1" dirty="0">
                <a:latin typeface="Symbol" panose="05050102010706020507" pitchFamily="18" charset="2"/>
              </a:rPr>
              <a:t>Ù</a:t>
            </a:r>
            <a:r>
              <a:rPr lang="en-US" altLang="zh-CN" sz="2200" b="1" dirty="0">
                <a:latin typeface="Times New Roman" panose="02020603050405020304" pitchFamily="18" charset="0"/>
              </a:rPr>
              <a:t>(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200" b="1" dirty="0" err="1">
                <a:latin typeface="Symbol" panose="05050102010706020507" pitchFamily="18" charset="2"/>
              </a:rPr>
              <a:t>Ú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200" b="1" dirty="0">
                <a:latin typeface="Times New Roman" panose="02020603050405020304" pitchFamily="18" charset="0"/>
              </a:rPr>
              <a:t>) </a:t>
            </a:r>
            <a:r>
              <a:rPr lang="en-US" altLang="zh-CN" sz="2200" b="1" dirty="0">
                <a:latin typeface="Symbol" panose="05050102010706020507" pitchFamily="18" charset="2"/>
              </a:rPr>
              <a:t>Þ</a:t>
            </a:r>
            <a:r>
              <a:rPr lang="en-US" altLang="zh-CN" sz="2200" b="1" dirty="0">
                <a:latin typeface="Times New Roman" panose="02020603050405020304" pitchFamily="18" charset="0"/>
              </a:rPr>
              <a:t> (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200" b="1" dirty="0" err="1">
                <a:latin typeface="Symbol" panose="05050102010706020507" pitchFamily="18" charset="2"/>
              </a:rPr>
              <a:t>Ú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D</a:t>
            </a:r>
            <a:r>
              <a:rPr lang="en-US" altLang="zh-CN" sz="2200" b="1" dirty="0">
                <a:latin typeface="Times New Roman" panose="02020603050405020304" pitchFamily="18" charset="0"/>
              </a:rPr>
              <a:t>) </a:t>
            </a:r>
            <a:r>
              <a:rPr lang="en-US" altLang="zh-CN" sz="2600" b="1" dirty="0">
                <a:latin typeface="Times New Roman" panose="02020603050405020304" pitchFamily="18" charset="0"/>
              </a:rPr>
              <a:t>   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构造性二难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spcBef>
                <a:spcPct val="10000"/>
              </a:spcBef>
              <a:buNone/>
            </a:pPr>
            <a:r>
              <a:rPr lang="zh-CN" altLang="en-US" sz="2600" b="1" dirty="0">
                <a:latin typeface="Times New Roman" panose="02020603050405020304" pitchFamily="18" charset="0"/>
              </a:rPr>
              <a:t> </a:t>
            </a:r>
            <a:endParaRPr lang="zh-CN" altLang="en-US" sz="2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EA9F6CFA-643F-48AC-AF4C-E6F680FC976D}"/>
              </a:ext>
            </a:extLst>
          </p:cNvPr>
          <p:cNvSpPr txBox="1">
            <a:spLocks noChangeArrowheads="1"/>
          </p:cNvSpPr>
          <p:nvPr/>
        </p:nvSpPr>
        <p:spPr>
          <a:xfrm>
            <a:off x="610562" y="5544865"/>
            <a:ext cx="10877977" cy="471787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10000"/>
              </a:spcBef>
              <a:buNone/>
            </a:pPr>
            <a:r>
              <a:rPr lang="zh-CN" altLang="en-US" sz="2200" b="1" dirty="0">
                <a:latin typeface="Times New Roman" panose="02020603050405020304" pitchFamily="18" charset="0"/>
              </a:rPr>
              <a:t> </a:t>
            </a:r>
            <a:r>
              <a:rPr lang="en-US" altLang="zh-CN" sz="2200" b="1" dirty="0">
                <a:latin typeface="Times New Roman" panose="02020603050405020304" pitchFamily="18" charset="0"/>
              </a:rPr>
              <a:t>(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2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200" b="1" dirty="0">
                <a:latin typeface="Times New Roman" panose="02020603050405020304" pitchFamily="18" charset="0"/>
              </a:rPr>
              <a:t>)</a:t>
            </a:r>
            <a:r>
              <a:rPr lang="en-US" altLang="zh-CN" sz="2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200" b="1" dirty="0">
                <a:latin typeface="Times New Roman" panose="02020603050405020304" pitchFamily="18" charset="0"/>
              </a:rPr>
              <a:t>(</a:t>
            </a:r>
            <a:r>
              <a:rPr lang="en-US" altLang="zh-CN" sz="2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2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200" b="1" dirty="0">
                <a:latin typeface="Times New Roman" panose="02020603050405020304" pitchFamily="18" charset="0"/>
              </a:rPr>
              <a:t>) </a:t>
            </a:r>
            <a:r>
              <a:rPr lang="en-US" altLang="zh-CN" sz="2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200" b="1" dirty="0">
                <a:latin typeface="Times New Roman" panose="02020603050405020304" pitchFamily="18" charset="0"/>
              </a:rPr>
              <a:t>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B              </a:t>
            </a:r>
            <a:r>
              <a:rPr lang="en-US" altLang="zh-CN" sz="2200" b="1" dirty="0">
                <a:latin typeface="Times New Roman" panose="02020603050405020304" pitchFamily="18" charset="0"/>
              </a:rPr>
              <a:t>            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构造性二难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特殊形式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7B85DC2E-B633-42C2-9F77-9640F29FF3AC}"/>
              </a:ext>
            </a:extLst>
          </p:cNvPr>
          <p:cNvSpPr txBox="1">
            <a:spLocks noChangeArrowheads="1"/>
          </p:cNvSpPr>
          <p:nvPr/>
        </p:nvSpPr>
        <p:spPr>
          <a:xfrm>
            <a:off x="610562" y="6034795"/>
            <a:ext cx="10877977" cy="491206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10000"/>
              </a:spcBef>
              <a:buNone/>
            </a:pPr>
            <a:r>
              <a:rPr lang="en-US" altLang="zh-CN" sz="2200" b="1" dirty="0">
                <a:latin typeface="Times New Roman" panose="02020603050405020304" pitchFamily="18" charset="0"/>
              </a:rPr>
              <a:t> (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2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200" b="1" dirty="0">
                <a:latin typeface="Times New Roman" panose="02020603050405020304" pitchFamily="18" charset="0"/>
              </a:rPr>
              <a:t>)</a:t>
            </a:r>
            <a:r>
              <a:rPr lang="en-US" altLang="zh-CN" sz="2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200" b="1" dirty="0">
                <a:latin typeface="Times New Roman" panose="02020603050405020304" pitchFamily="18" charset="0"/>
              </a:rPr>
              <a:t>(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sz="22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D</a:t>
            </a:r>
            <a:r>
              <a:rPr lang="en-US" altLang="zh-CN" sz="2200" b="1" dirty="0">
                <a:latin typeface="Times New Roman" panose="02020603050405020304" pitchFamily="18" charset="0"/>
              </a:rPr>
              <a:t>)</a:t>
            </a:r>
            <a:r>
              <a:rPr lang="en-US" altLang="zh-CN" sz="2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200" b="1" dirty="0">
                <a:latin typeface="Times New Roman" panose="02020603050405020304" pitchFamily="18" charset="0"/>
              </a:rPr>
              <a:t>( </a:t>
            </a:r>
            <a:r>
              <a:rPr lang="en-US" altLang="zh-CN" sz="2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200" b="1" dirty="0">
                <a:latin typeface="Times New Roman" panose="02020603050405020304" pitchFamily="18" charset="0"/>
              </a:rPr>
              <a:t>) </a:t>
            </a:r>
            <a:r>
              <a:rPr lang="en-US" altLang="zh-CN" sz="2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200" b="1" dirty="0">
                <a:latin typeface="Times New Roman" panose="02020603050405020304" pitchFamily="18" charset="0"/>
              </a:rPr>
              <a:t> (</a:t>
            </a:r>
            <a:r>
              <a:rPr lang="en-US" altLang="zh-CN" sz="2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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200" b="1" dirty="0">
                <a:latin typeface="Times New Roman" panose="02020603050405020304" pitchFamily="18" charset="0"/>
              </a:rPr>
              <a:t>)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破坏性二难 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57F2B7F-F880-492D-81D3-90B1D2614B64}"/>
              </a:ext>
            </a:extLst>
          </p:cNvPr>
          <p:cNvSpPr txBox="1"/>
          <p:nvPr/>
        </p:nvSpPr>
        <p:spPr>
          <a:xfrm>
            <a:off x="737190" y="6514214"/>
            <a:ext cx="8511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10000"/>
              </a:spcBef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每个等值式可产生两个推理定律，如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由</a:t>
            </a:r>
            <a:r>
              <a:rPr lang="en-US" altLang="zh-CN" b="1" i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</a:t>
            </a:r>
            <a:r>
              <a:rPr lang="en-US" altLang="zh-CN" b="1" i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可产生 </a:t>
            </a:r>
            <a:r>
              <a:rPr lang="en-US" altLang="zh-CN" b="1" i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</a:t>
            </a:r>
            <a:r>
              <a:rPr lang="en-US" altLang="zh-CN" b="1" i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和 </a:t>
            </a:r>
            <a:r>
              <a:rPr lang="en-US" altLang="zh-CN" b="1" i="1" dirty="0" err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en-US" altLang="zh-CN" b="1" dirty="0" err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 b="1" i="1" dirty="0" err="1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endParaRPr lang="en-US" altLang="zh-CN" b="1" i="1" dirty="0"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940820D-38A7-4492-97DC-4BC660EC3231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72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3026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1.7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推理理论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4D66A528-69F4-4B32-B631-5F6156DAC5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490" y="1723162"/>
            <a:ext cx="3035087" cy="4944714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EB963684-472C-46B1-B744-A84E44C59E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78" y="1739281"/>
            <a:ext cx="4180388" cy="491505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2AA0A17-C44A-4D07-8FDE-E6A6B13FA4BE}"/>
              </a:ext>
            </a:extLst>
          </p:cNvPr>
          <p:cNvSpPr txBox="1"/>
          <p:nvPr/>
        </p:nvSpPr>
        <p:spPr>
          <a:xfrm>
            <a:off x="467358" y="901380"/>
            <a:ext cx="21553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70000"/>
              </a:spcBef>
              <a:buSzPct val="125000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3B44AD-6FA8-40D8-A573-B4A349774941}"/>
              </a:ext>
            </a:extLst>
          </p:cNvPr>
          <p:cNvSpPr txBox="1"/>
          <p:nvPr/>
        </p:nvSpPr>
        <p:spPr>
          <a:xfrm>
            <a:off x="3969171" y="901380"/>
            <a:ext cx="14368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推理定律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DFAF0A9-10AF-46A3-B252-13E21F9B412D}"/>
              </a:ext>
            </a:extLst>
          </p:cNvPr>
          <p:cNvSpPr txBox="1"/>
          <p:nvPr/>
        </p:nvSpPr>
        <p:spPr>
          <a:xfrm>
            <a:off x="7064584" y="901380"/>
            <a:ext cx="13702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推理规则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39CD926-F1A4-4640-BC68-88C1B8776DD4}"/>
              </a:ext>
            </a:extLst>
          </p:cNvPr>
          <p:cNvSpPr txBox="1"/>
          <p:nvPr/>
        </p:nvSpPr>
        <p:spPr>
          <a:xfrm>
            <a:off x="10038080" y="901380"/>
            <a:ext cx="19035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构造证明方法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BA33B1F-AEB1-441B-B623-54DDC1AC302D}"/>
              </a:ext>
            </a:extLst>
          </p:cNvPr>
          <p:cNvSpPr txBox="1">
            <a:spLocks noChangeArrowheads="1"/>
          </p:cNvSpPr>
          <p:nvPr/>
        </p:nvSpPr>
        <p:spPr>
          <a:xfrm>
            <a:off x="465456" y="1753101"/>
            <a:ext cx="2409719" cy="762000"/>
          </a:xfrm>
          <a:noFill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推理规则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702C2FC-4618-4EE5-BC97-CA3325D34CBC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73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4064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1.7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推理理论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385322-52A4-4726-B5E3-887EAF36B621}"/>
              </a:ext>
            </a:extLst>
          </p:cNvPr>
          <p:cNvSpPr txBox="1"/>
          <p:nvPr/>
        </p:nvSpPr>
        <p:spPr>
          <a:xfrm>
            <a:off x="467358" y="901380"/>
            <a:ext cx="21553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70000"/>
              </a:spcBef>
              <a:buSzPct val="125000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2428F3-5BEA-4891-8DF1-9D420E437F29}"/>
              </a:ext>
            </a:extLst>
          </p:cNvPr>
          <p:cNvSpPr txBox="1"/>
          <p:nvPr/>
        </p:nvSpPr>
        <p:spPr>
          <a:xfrm>
            <a:off x="3969171" y="901380"/>
            <a:ext cx="14368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推理定律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226260A-043E-4758-9F92-C68B7E9A2B9F}"/>
              </a:ext>
            </a:extLst>
          </p:cNvPr>
          <p:cNvSpPr txBox="1"/>
          <p:nvPr/>
        </p:nvSpPr>
        <p:spPr>
          <a:xfrm>
            <a:off x="7064584" y="901380"/>
            <a:ext cx="13702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推理规则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38582A0-332F-4B8B-A4E7-45F32DB0E29E}"/>
              </a:ext>
            </a:extLst>
          </p:cNvPr>
          <p:cNvSpPr txBox="1"/>
          <p:nvPr/>
        </p:nvSpPr>
        <p:spPr>
          <a:xfrm>
            <a:off x="10038080" y="901380"/>
            <a:ext cx="19035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构造证明方法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73038FEA-3645-41EA-A6FC-9DE88CB63D14}"/>
              </a:ext>
            </a:extLst>
          </p:cNvPr>
          <p:cNvSpPr txBox="1">
            <a:spLocks noChangeArrowheads="1"/>
          </p:cNvSpPr>
          <p:nvPr/>
        </p:nvSpPr>
        <p:spPr>
          <a:xfrm>
            <a:off x="465456" y="2015367"/>
            <a:ext cx="2409719" cy="762000"/>
          </a:xfrm>
          <a:noFill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推理规则 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A53EA44-3082-4C5B-BFB8-6551B800BB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720" y="1957331"/>
            <a:ext cx="2837692" cy="415284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EF4A14B-8C8E-4B40-B3C7-1D44043230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7345" y="1957331"/>
            <a:ext cx="3113502" cy="4202461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5CA967BA-D9D1-4637-9F64-EBB1BB79D10F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74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202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1.7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推理理论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5ACC5FE-4A31-48A0-BB1A-E8827B393164}"/>
              </a:ext>
            </a:extLst>
          </p:cNvPr>
          <p:cNvSpPr txBox="1">
            <a:spLocks noChangeArrowheads="1"/>
          </p:cNvSpPr>
          <p:nvPr/>
        </p:nvSpPr>
        <p:spPr>
          <a:xfrm>
            <a:off x="682624" y="1771650"/>
            <a:ext cx="11001375" cy="152309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 构造下面推理的证明：</a:t>
            </a:r>
          </a:p>
          <a:p>
            <a:pPr>
              <a:lnSpc>
                <a:spcPts val="33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若明天是星期一或星期三，我就有课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若有课，今天必备课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我今天下午没备课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所以，明天不是星期一和星期三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70F8CB26-5482-4975-BE1F-4D6ADD230CAC}"/>
              </a:ext>
            </a:extLst>
          </p:cNvPr>
          <p:cNvSpPr txBox="1">
            <a:spLocks noChangeArrowheads="1"/>
          </p:cNvSpPr>
          <p:nvPr/>
        </p:nvSpPr>
        <p:spPr>
          <a:xfrm>
            <a:off x="682624" y="3686495"/>
            <a:ext cx="11001375" cy="24748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24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解：设 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明天是星期一，</a:t>
            </a:r>
            <a:r>
              <a:rPr lang="en-US" altLang="zh-CN" b="1" i="1" dirty="0">
                <a:latin typeface="Times New Roman" panose="02020603050405020304" pitchFamily="18" charset="0"/>
              </a:rPr>
              <a:t>q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明天是星期三，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我有课，</a:t>
            </a:r>
            <a:r>
              <a:rPr lang="en-US" altLang="zh-CN" b="1" i="1" dirty="0">
                <a:latin typeface="Times New Roman" panose="02020603050405020304" pitchFamily="18" charset="0"/>
              </a:rPr>
              <a:t>s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我备课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推理的形式结构为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前提：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Ú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Symbol" panose="05050102010706020507" pitchFamily="18" charset="2"/>
              </a:rPr>
              <a:t>®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, 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Symbol" panose="05050102010706020507" pitchFamily="18" charset="2"/>
              </a:rPr>
              <a:t>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,  </a:t>
            </a:r>
            <a:r>
              <a:rPr lang="en-US" altLang="zh-CN" b="1" dirty="0" err="1">
                <a:latin typeface="Symbol" panose="05050102010706020507" pitchFamily="18" charset="2"/>
              </a:rPr>
              <a:t>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结论：</a:t>
            </a:r>
            <a:r>
              <a:rPr lang="en-US" altLang="zh-CN" b="1" dirty="0" err="1">
                <a:latin typeface="Symbol" panose="05050102010706020507" pitchFamily="18" charset="2"/>
              </a:rPr>
              <a:t>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ÙØ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4BAFBDF-58E5-4CA2-B330-41B91F4D3360}"/>
              </a:ext>
            </a:extLst>
          </p:cNvPr>
          <p:cNvSpPr txBox="1"/>
          <p:nvPr/>
        </p:nvSpPr>
        <p:spPr>
          <a:xfrm>
            <a:off x="467359" y="901380"/>
            <a:ext cx="2105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70000"/>
              </a:spcBef>
              <a:buSzPct val="125000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B2D48C-FC0D-4C6F-9E57-C606CF6FBAAC}"/>
              </a:ext>
            </a:extLst>
          </p:cNvPr>
          <p:cNvSpPr txBox="1"/>
          <p:nvPr/>
        </p:nvSpPr>
        <p:spPr>
          <a:xfrm>
            <a:off x="3969171" y="901380"/>
            <a:ext cx="14038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推理定律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0D81411-A004-400C-AD08-34DA83E12289}"/>
              </a:ext>
            </a:extLst>
          </p:cNvPr>
          <p:cNvSpPr txBox="1"/>
          <p:nvPr/>
        </p:nvSpPr>
        <p:spPr>
          <a:xfrm>
            <a:off x="7064584" y="901380"/>
            <a:ext cx="133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推理规则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6321F50-FB02-4FA2-973E-619F52DD5DD4}"/>
              </a:ext>
            </a:extLst>
          </p:cNvPr>
          <p:cNvSpPr txBox="1"/>
          <p:nvPr/>
        </p:nvSpPr>
        <p:spPr>
          <a:xfrm>
            <a:off x="9807787" y="901380"/>
            <a:ext cx="2105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构造证明方法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CF796E6-B8D8-4046-8195-C14BF15F2EA9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75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530207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1.7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推理理论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5ACC5FE-4A31-48A0-BB1A-E8827B393164}"/>
              </a:ext>
            </a:extLst>
          </p:cNvPr>
          <p:cNvSpPr txBox="1">
            <a:spLocks noChangeArrowheads="1"/>
          </p:cNvSpPr>
          <p:nvPr/>
        </p:nvSpPr>
        <p:spPr>
          <a:xfrm>
            <a:off x="465882" y="1615865"/>
            <a:ext cx="11421318" cy="13305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 构造下面推理的证明：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若明天是星期一或星期三，我就有课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若有课，今天必备课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我今天下午没备课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所以，明天不是星期一和星期三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  <a:p>
            <a:pPr algn="just">
              <a:spcBef>
                <a:spcPts val="2400"/>
              </a:spcBef>
              <a:buFont typeface="Wingdings" panose="05000000000000000000" pitchFamily="2" charset="2"/>
              <a:buNone/>
            </a:pP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069D36F-0669-42CF-ACF9-3A4F7031A387}"/>
              </a:ext>
            </a:extLst>
          </p:cNvPr>
          <p:cNvSpPr txBox="1">
            <a:spLocks noChangeArrowheads="1"/>
          </p:cNvSpPr>
          <p:nvPr/>
        </p:nvSpPr>
        <p:spPr>
          <a:xfrm>
            <a:off x="465882" y="3247230"/>
            <a:ext cx="11001375" cy="20766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24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解：设 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明天是星期一，</a:t>
            </a:r>
            <a:r>
              <a:rPr lang="en-US" altLang="zh-CN" b="1" i="1" dirty="0">
                <a:latin typeface="Times New Roman" panose="02020603050405020304" pitchFamily="18" charset="0"/>
              </a:rPr>
              <a:t>q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明天是星期三，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我有课，</a:t>
            </a:r>
            <a:r>
              <a:rPr lang="en-US" altLang="zh-CN" b="1" i="1" dirty="0">
                <a:latin typeface="Times New Roman" panose="02020603050405020304" pitchFamily="18" charset="0"/>
              </a:rPr>
              <a:t>s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我备课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推理的形式结构为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前提：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Ú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Symbol" panose="05050102010706020507" pitchFamily="18" charset="2"/>
              </a:rPr>
              <a:t>®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, 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Symbol" panose="05050102010706020507" pitchFamily="18" charset="2"/>
              </a:rPr>
              <a:t>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,  </a:t>
            </a:r>
            <a:r>
              <a:rPr lang="en-US" altLang="zh-CN" b="1" dirty="0" err="1">
                <a:latin typeface="Symbol" panose="05050102010706020507" pitchFamily="18" charset="2"/>
              </a:rPr>
              <a:t>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结论：</a:t>
            </a:r>
            <a:r>
              <a:rPr lang="en-US" altLang="zh-CN" b="1" dirty="0" err="1">
                <a:latin typeface="Symbol" panose="05050102010706020507" pitchFamily="18" charset="2"/>
              </a:rPr>
              <a:t>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ÙØ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855D864F-1FE6-4E5E-B6AC-BEE5C38A03E7}"/>
              </a:ext>
            </a:extLst>
          </p:cNvPr>
          <p:cNvSpPr txBox="1">
            <a:spLocks noChangeArrowheads="1"/>
          </p:cNvSpPr>
          <p:nvPr/>
        </p:nvSpPr>
        <p:spPr>
          <a:xfrm>
            <a:off x="6321743" y="3752424"/>
            <a:ext cx="4346257" cy="28583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证明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①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dirty="0" err="1">
                <a:latin typeface="Symbol" panose="05050102010706020507" pitchFamily="18" charset="2"/>
              </a:rPr>
              <a:t>®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</a:rPr>
              <a:t>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前提引入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② </a:t>
            </a:r>
            <a:r>
              <a:rPr lang="en-US" altLang="zh-CN" sz="2400" b="1" dirty="0" err="1">
                <a:latin typeface="Symbol" panose="05050102010706020507" pitchFamily="18" charset="2"/>
              </a:rPr>
              <a:t>Ø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</a:rPr>
              <a:t>   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前提引入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③ </a:t>
            </a:r>
            <a:r>
              <a:rPr lang="en-US" altLang="zh-CN" sz="2400" b="1" dirty="0" err="1">
                <a:latin typeface="Symbol" panose="05050102010706020507" pitchFamily="18" charset="2"/>
              </a:rPr>
              <a:t>Ø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                  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①②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拒取式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④ 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Symbol" panose="05050102010706020507" pitchFamily="18" charset="2"/>
              </a:rPr>
              <a:t>Ú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>
                <a:latin typeface="Symbol" panose="05050102010706020507" pitchFamily="18" charset="2"/>
              </a:rPr>
              <a:t>®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</a:rPr>
              <a:t>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前提引入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⑤ </a:t>
            </a:r>
            <a:r>
              <a:rPr lang="en-US" altLang="zh-CN" sz="2400" b="1" dirty="0">
                <a:latin typeface="Symbol" panose="05050102010706020507" pitchFamily="18" charset="2"/>
              </a:rPr>
              <a:t>Ø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Symbol" panose="05050102010706020507" pitchFamily="18" charset="2"/>
              </a:rPr>
              <a:t>Ú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)           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③④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拒取式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⑥ </a:t>
            </a:r>
            <a:r>
              <a:rPr lang="en-US" altLang="zh-CN" sz="2400" b="1" dirty="0" err="1">
                <a:latin typeface="Symbol" panose="05050102010706020507" pitchFamily="18" charset="2"/>
              </a:rPr>
              <a:t>Ø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400" b="1" dirty="0" err="1">
                <a:latin typeface="Symbol" panose="05050102010706020507" pitchFamily="18" charset="2"/>
              </a:rPr>
              <a:t>ÙØ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400" b="1" dirty="0">
                <a:latin typeface="Times New Roman" panose="02020603050405020304" pitchFamily="18" charset="0"/>
              </a:rPr>
              <a:t>           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⑤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置换 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18349D6-A462-4954-A2BA-97B8710365C5}"/>
              </a:ext>
            </a:extLst>
          </p:cNvPr>
          <p:cNvSpPr txBox="1"/>
          <p:nvPr/>
        </p:nvSpPr>
        <p:spPr>
          <a:xfrm>
            <a:off x="1269381" y="5628749"/>
            <a:ext cx="30926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直接证明法</a:t>
            </a: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61DE3C3B-DFF9-44E7-8D0E-8D6171041633}"/>
              </a:ext>
            </a:extLst>
          </p:cNvPr>
          <p:cNvSpPr/>
          <p:nvPr/>
        </p:nvSpPr>
        <p:spPr>
          <a:xfrm>
            <a:off x="4213011" y="5742775"/>
            <a:ext cx="921174" cy="295167"/>
          </a:xfrm>
          <a:prstGeom prst="rightArrow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E33EEB2-D442-4665-99FB-5F0DAAD0B72D}"/>
              </a:ext>
            </a:extLst>
          </p:cNvPr>
          <p:cNvSpPr txBox="1"/>
          <p:nvPr/>
        </p:nvSpPr>
        <p:spPr>
          <a:xfrm>
            <a:off x="467359" y="901380"/>
            <a:ext cx="2105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70000"/>
              </a:spcBef>
              <a:buSzPct val="125000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71DA19A-0638-47BE-87AD-5E6BDF0CB828}"/>
              </a:ext>
            </a:extLst>
          </p:cNvPr>
          <p:cNvSpPr txBox="1"/>
          <p:nvPr/>
        </p:nvSpPr>
        <p:spPr>
          <a:xfrm>
            <a:off x="3969171" y="901380"/>
            <a:ext cx="14038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推理定律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9508EDA-0B3C-402D-87A8-515D387DF1A9}"/>
              </a:ext>
            </a:extLst>
          </p:cNvPr>
          <p:cNvSpPr txBox="1"/>
          <p:nvPr/>
        </p:nvSpPr>
        <p:spPr>
          <a:xfrm>
            <a:off x="7064584" y="901380"/>
            <a:ext cx="133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推理规则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A2D750C-F7A5-4B22-8DB1-B6E39A9DAD23}"/>
              </a:ext>
            </a:extLst>
          </p:cNvPr>
          <p:cNvSpPr txBox="1"/>
          <p:nvPr/>
        </p:nvSpPr>
        <p:spPr>
          <a:xfrm>
            <a:off x="9807787" y="901380"/>
            <a:ext cx="2105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构造证明方法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8B21D1A-C1D6-482A-A6DB-35260DDF778C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76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071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4" grpId="0"/>
      <p:bldP spid="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1.7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推理理论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385322-52A4-4726-B5E3-887EAF36B621}"/>
              </a:ext>
            </a:extLst>
          </p:cNvPr>
          <p:cNvSpPr txBox="1"/>
          <p:nvPr/>
        </p:nvSpPr>
        <p:spPr>
          <a:xfrm>
            <a:off x="467359" y="901380"/>
            <a:ext cx="2105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70000"/>
              </a:spcBef>
              <a:buSzPct val="125000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2428F3-5BEA-4891-8DF1-9D420E437F29}"/>
              </a:ext>
            </a:extLst>
          </p:cNvPr>
          <p:cNvSpPr txBox="1"/>
          <p:nvPr/>
        </p:nvSpPr>
        <p:spPr>
          <a:xfrm>
            <a:off x="3969171" y="901380"/>
            <a:ext cx="14038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推理定律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226260A-043E-4758-9F92-C68B7E9A2B9F}"/>
              </a:ext>
            </a:extLst>
          </p:cNvPr>
          <p:cNvSpPr txBox="1"/>
          <p:nvPr/>
        </p:nvSpPr>
        <p:spPr>
          <a:xfrm>
            <a:off x="7064584" y="901380"/>
            <a:ext cx="133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推理规则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60FA6AAE-40D5-4FE7-A8A3-BBDCA12C0D2D}"/>
              </a:ext>
            </a:extLst>
          </p:cNvPr>
          <p:cNvSpPr txBox="1">
            <a:spLocks noChangeArrowheads="1"/>
          </p:cNvSpPr>
          <p:nvPr/>
        </p:nvSpPr>
        <p:spPr>
          <a:xfrm>
            <a:off x="2842402" y="1531727"/>
            <a:ext cx="7704137" cy="2936516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欲证明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前提：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</a:rPr>
              <a:t>, …,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i="1" baseline="-30000" dirty="0">
                <a:latin typeface="Times New Roman" panose="02020603050405020304" pitchFamily="18" charset="0"/>
              </a:rPr>
              <a:t>k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结论：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b="1" dirty="0" err="1">
                <a:latin typeface="Symbol" panose="05050102010706020507" pitchFamily="18" charset="2"/>
              </a:rPr>
              <a:t>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B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等价地证明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前提：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</a:rPr>
              <a:t>, …,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i="1" baseline="-30000" dirty="0">
                <a:latin typeface="Times New Roman" panose="02020603050405020304" pitchFamily="18" charset="0"/>
              </a:rPr>
              <a:t>k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C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结论：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 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096B6A6-31CA-4C84-BE3D-6D2C863F6930}"/>
              </a:ext>
            </a:extLst>
          </p:cNvPr>
          <p:cNvSpPr txBox="1"/>
          <p:nvPr/>
        </p:nvSpPr>
        <p:spPr>
          <a:xfrm>
            <a:off x="483303" y="1504634"/>
            <a:ext cx="3169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附加前提法 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F972D43-D77C-4018-B1A4-FD6AD06AEB5F}"/>
              </a:ext>
            </a:extLst>
          </p:cNvPr>
          <p:cNvSpPr txBox="1"/>
          <p:nvPr/>
        </p:nvSpPr>
        <p:spPr>
          <a:xfrm>
            <a:off x="9807787" y="901380"/>
            <a:ext cx="2105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构造证明方法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FAE433E2-7CAB-435A-94B1-FCF438D6E5E1}"/>
              </a:ext>
            </a:extLst>
          </p:cNvPr>
          <p:cNvSpPr txBox="1">
            <a:spLocks noChangeArrowheads="1"/>
          </p:cNvSpPr>
          <p:nvPr/>
        </p:nvSpPr>
        <p:spPr>
          <a:xfrm>
            <a:off x="2830262" y="4768308"/>
            <a:ext cx="7704137" cy="2053404"/>
          </a:xfrm>
          <a:prstGeom prst="rect">
            <a:avLst/>
          </a:prstGeo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理由：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b="1" dirty="0" err="1">
                <a:latin typeface="Symbol" panose="05050102010706020507" pitchFamily="18" charset="2"/>
              </a:rPr>
              <a:t>Ù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b="1" dirty="0" err="1">
                <a:latin typeface="Symbol" panose="05050102010706020507" pitchFamily="18" charset="2"/>
              </a:rPr>
              <a:t>Ù</a:t>
            </a:r>
            <a:r>
              <a:rPr lang="en-US" altLang="zh-CN" b="1" dirty="0">
                <a:latin typeface="Times New Roman" panose="02020603050405020304" pitchFamily="18" charset="0"/>
              </a:rPr>
              <a:t>…</a:t>
            </a:r>
            <a:r>
              <a:rPr lang="en-US" altLang="zh-CN" b="1" dirty="0" err="1">
                <a:latin typeface="Symbol" panose="05050102010706020507" pitchFamily="18" charset="2"/>
              </a:rPr>
              <a:t>Ù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Symbol" panose="05050102010706020507" pitchFamily="18" charset="2"/>
              </a:rPr>
              <a:t>®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b="1" dirty="0" err="1">
                <a:latin typeface="Symbol" panose="05050102010706020507" pitchFamily="18" charset="2"/>
              </a:rPr>
              <a:t>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          </a:t>
            </a:r>
            <a:r>
              <a:rPr lang="en-US" altLang="zh-CN" b="1" dirty="0">
                <a:latin typeface="Symbol" panose="05050102010706020507" pitchFamily="18" charset="2"/>
              </a:rPr>
              <a:t>Û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Symbol" panose="05050102010706020507" pitchFamily="18" charset="2"/>
              </a:rPr>
              <a:t>Ø</a:t>
            </a:r>
            <a:r>
              <a:rPr lang="en-US" altLang="zh-CN" b="1" dirty="0">
                <a:latin typeface="Times New Roman" panose="02020603050405020304" pitchFamily="18" charset="0"/>
              </a:rPr>
              <a:t>(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b="1" dirty="0" err="1">
                <a:latin typeface="Symbol" panose="05050102010706020507" pitchFamily="18" charset="2"/>
              </a:rPr>
              <a:t>Ù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b="1" dirty="0" err="1">
                <a:latin typeface="Symbol" panose="05050102010706020507" pitchFamily="18" charset="2"/>
              </a:rPr>
              <a:t>Ù</a:t>
            </a:r>
            <a:r>
              <a:rPr lang="en-US" altLang="zh-CN" b="1" dirty="0">
                <a:latin typeface="Times New Roman" panose="02020603050405020304" pitchFamily="18" charset="0"/>
              </a:rPr>
              <a:t>…</a:t>
            </a:r>
            <a:r>
              <a:rPr lang="en-US" altLang="zh-CN" b="1" dirty="0" err="1">
                <a:latin typeface="Symbol" panose="05050102010706020507" pitchFamily="18" charset="2"/>
              </a:rPr>
              <a:t>Ù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Symbol" panose="05050102010706020507" pitchFamily="18" charset="2"/>
              </a:rPr>
              <a:t>Ú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dirty="0" err="1">
                <a:latin typeface="Symbol" panose="05050102010706020507" pitchFamily="18" charset="2"/>
              </a:rPr>
              <a:t>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b="1" dirty="0" err="1">
                <a:latin typeface="Symbol" panose="05050102010706020507" pitchFamily="18" charset="2"/>
              </a:rPr>
              <a:t>Ú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          </a:t>
            </a:r>
            <a:r>
              <a:rPr lang="en-US" altLang="zh-CN" b="1" dirty="0">
                <a:latin typeface="Symbol" panose="05050102010706020507" pitchFamily="18" charset="2"/>
              </a:rPr>
              <a:t>Û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Symbol" panose="05050102010706020507" pitchFamily="18" charset="2"/>
              </a:rPr>
              <a:t>Ø</a:t>
            </a:r>
            <a:r>
              <a:rPr lang="en-US" altLang="zh-CN" b="1" dirty="0">
                <a:latin typeface="Times New Roman" panose="02020603050405020304" pitchFamily="18" charset="0"/>
              </a:rPr>
              <a:t>(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b="1" dirty="0" err="1">
                <a:latin typeface="Symbol" panose="05050102010706020507" pitchFamily="18" charset="2"/>
              </a:rPr>
              <a:t>Ù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b="1" dirty="0" err="1">
                <a:latin typeface="Symbol" panose="05050102010706020507" pitchFamily="18" charset="2"/>
              </a:rPr>
              <a:t>Ù</a:t>
            </a:r>
            <a:r>
              <a:rPr lang="en-US" altLang="zh-CN" b="1" dirty="0">
                <a:latin typeface="Times New Roman" panose="02020603050405020304" pitchFamily="18" charset="0"/>
              </a:rPr>
              <a:t>…</a:t>
            </a:r>
            <a:r>
              <a:rPr lang="en-US" altLang="zh-CN" b="1" dirty="0" err="1">
                <a:latin typeface="Symbol" panose="05050102010706020507" pitchFamily="18" charset="2"/>
              </a:rPr>
              <a:t>Ù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b="1" dirty="0" err="1">
                <a:latin typeface="Symbol" panose="05050102010706020507" pitchFamily="18" charset="2"/>
              </a:rPr>
              <a:t>Ù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 err="1">
                <a:latin typeface="Symbol" panose="05050102010706020507" pitchFamily="18" charset="2"/>
              </a:rPr>
              <a:t>Ú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B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          </a:t>
            </a:r>
            <a:r>
              <a:rPr lang="en-US" altLang="zh-CN" b="1" dirty="0">
                <a:latin typeface="Symbol" panose="05050102010706020507" pitchFamily="18" charset="2"/>
              </a:rPr>
              <a:t>Û</a:t>
            </a:r>
            <a:r>
              <a:rPr lang="en-US" altLang="zh-CN" b="1" dirty="0">
                <a:latin typeface="Times New Roman" panose="02020603050405020304" pitchFamily="18" charset="0"/>
              </a:rPr>
              <a:t> 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b="1" dirty="0" err="1">
                <a:latin typeface="Symbol" panose="05050102010706020507" pitchFamily="18" charset="2"/>
              </a:rPr>
              <a:t>Ù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b="1" dirty="0" err="1">
                <a:latin typeface="Symbol" panose="05050102010706020507" pitchFamily="18" charset="2"/>
              </a:rPr>
              <a:t>Ù</a:t>
            </a:r>
            <a:r>
              <a:rPr lang="en-US" altLang="zh-CN" b="1" dirty="0">
                <a:latin typeface="Times New Roman" panose="02020603050405020304" pitchFamily="18" charset="0"/>
              </a:rPr>
              <a:t>…</a:t>
            </a:r>
            <a:r>
              <a:rPr lang="en-US" altLang="zh-CN" b="1" dirty="0" err="1">
                <a:latin typeface="Symbol" panose="05050102010706020507" pitchFamily="18" charset="2"/>
              </a:rPr>
              <a:t>Ù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b="1" dirty="0" err="1">
                <a:latin typeface="Symbol" panose="05050102010706020507" pitchFamily="18" charset="2"/>
              </a:rPr>
              <a:t>Ù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C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Symbol" panose="05050102010706020507" pitchFamily="18" charset="2"/>
              </a:rPr>
              <a:t>®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4DD0D5D-237A-4EAA-9EB6-9C749A378944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77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0666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1.7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推理理论</a:t>
            </a:r>
          </a:p>
        </p:txBody>
      </p:sp>
      <p:graphicFrame>
        <p:nvGraphicFramePr>
          <p:cNvPr id="14" name="Object 4">
            <a:extLst>
              <a:ext uri="{FF2B5EF4-FFF2-40B4-BE49-F238E27FC236}">
                <a16:creationId xmlns:a16="http://schemas.microsoft.com/office/drawing/2014/main" id="{B044C531-5D2B-4AC9-9700-DF64CFF255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2121445"/>
              </p:ext>
            </p:extLst>
          </p:nvPr>
        </p:nvGraphicFramePr>
        <p:xfrm>
          <a:off x="5496964" y="2783172"/>
          <a:ext cx="6688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7160" imgH="502920" progId="Equation.3">
                  <p:embed/>
                </p:oleObj>
              </mc:Choice>
              <mc:Fallback>
                <p:oleObj name="Equation" r:id="rId3" imgW="587160" imgH="502920" progId="Equation.3">
                  <p:embed/>
                  <p:pic>
                    <p:nvPicPr>
                      <p:cNvPr id="14" name="Object 4">
                        <a:extLst>
                          <a:ext uri="{FF2B5EF4-FFF2-40B4-BE49-F238E27FC236}">
                            <a16:creationId xmlns:a16="http://schemas.microsoft.com/office/drawing/2014/main" id="{B044C531-5D2B-4AC9-9700-DF64CFF2557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6964" y="2783172"/>
                        <a:ext cx="66885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5">
            <a:extLst>
              <a:ext uri="{FF2B5EF4-FFF2-40B4-BE49-F238E27FC236}">
                <a16:creationId xmlns:a16="http://schemas.microsoft.com/office/drawing/2014/main" id="{F6265369-1D4B-4E2F-8A38-8D47CCBFA2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8902487"/>
              </p:ext>
            </p:extLst>
          </p:nvPr>
        </p:nvGraphicFramePr>
        <p:xfrm>
          <a:off x="8001900" y="2783172"/>
          <a:ext cx="6688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87160" imgH="502920" progId="Equation.3">
                  <p:embed/>
                </p:oleObj>
              </mc:Choice>
              <mc:Fallback>
                <p:oleObj name="Equation" r:id="rId3" imgW="587160" imgH="502920" progId="Equation.3">
                  <p:embed/>
                  <p:pic>
                    <p:nvPicPr>
                      <p:cNvPr id="17" name="Object 5">
                        <a:extLst>
                          <a:ext uri="{FF2B5EF4-FFF2-40B4-BE49-F238E27FC236}">
                            <a16:creationId xmlns:a16="http://schemas.microsoft.com/office/drawing/2014/main" id="{F6265369-1D4B-4E2F-8A38-8D47CCBFA24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900" y="2783172"/>
                        <a:ext cx="66885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7">
            <a:extLst>
              <a:ext uri="{FF2B5EF4-FFF2-40B4-BE49-F238E27FC236}">
                <a16:creationId xmlns:a16="http://schemas.microsoft.com/office/drawing/2014/main" id="{894FA44D-FA2C-469B-9D91-CCF3D5937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03" y="2273811"/>
            <a:ext cx="11295524" cy="1545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例 构造下面推理的证明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:  </a:t>
            </a:r>
          </a:p>
          <a:p>
            <a:pPr algn="just" eaLnBrk="1" hangingPunct="1">
              <a:lnSpc>
                <a:spcPts val="4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altLang="zh-CN" dirty="0"/>
              <a:t>      </a:t>
            </a:r>
            <a:r>
              <a:rPr lang="en-US" altLang="zh-CN" sz="2400" dirty="0"/>
              <a:t>2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是素数或合数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 dirty="0"/>
              <a:t>2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是素数，则    是无理数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若    是无理数，则</a:t>
            </a:r>
            <a:r>
              <a:rPr lang="en-US" altLang="zh-CN" sz="2400" dirty="0"/>
              <a:t>4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不是素数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所以，如果</a:t>
            </a:r>
            <a:r>
              <a:rPr lang="en-US" altLang="zh-CN" sz="2400" dirty="0"/>
              <a:t>4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是素数，则</a:t>
            </a:r>
            <a:r>
              <a:rPr lang="en-US" altLang="zh-CN" sz="2400" dirty="0"/>
              <a:t>2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是合数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用附加前提证明法构造证明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EC4EADC4-30E1-40EB-9B39-5D7A625EF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19" y="5247116"/>
            <a:ext cx="11295524" cy="1564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</a:t>
            </a:r>
          </a:p>
          <a:p>
            <a:pPr algn="just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dirty="0"/>
              <a:t>   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前提：</a:t>
            </a:r>
            <a:r>
              <a:rPr lang="en-US" altLang="zh-CN" i="1" dirty="0" err="1"/>
              <a:t>p</a:t>
            </a:r>
            <a:r>
              <a:rPr lang="en-US" altLang="zh-CN" dirty="0" err="1">
                <a:latin typeface="Symbol" panose="05050102010706020507" pitchFamily="18" charset="2"/>
              </a:rPr>
              <a:t>Ú</a:t>
            </a:r>
            <a:r>
              <a:rPr lang="en-US" altLang="zh-CN" i="1" dirty="0" err="1"/>
              <a:t>q</a:t>
            </a:r>
            <a:r>
              <a:rPr lang="en-US" altLang="zh-CN" dirty="0"/>
              <a:t>,  </a:t>
            </a:r>
            <a:r>
              <a:rPr lang="en-US" altLang="zh-CN" i="1" dirty="0" err="1"/>
              <a:t>p</a:t>
            </a:r>
            <a:r>
              <a:rPr lang="en-US" altLang="zh-CN" dirty="0" err="1">
                <a:latin typeface="Symbol" panose="05050102010706020507" pitchFamily="18" charset="2"/>
              </a:rPr>
              <a:t>®</a:t>
            </a:r>
            <a:r>
              <a:rPr lang="en-US" altLang="zh-CN" i="1" dirty="0" err="1"/>
              <a:t>r</a:t>
            </a:r>
            <a:r>
              <a:rPr lang="en-US" altLang="zh-CN" dirty="0"/>
              <a:t>,  </a:t>
            </a:r>
            <a:r>
              <a:rPr lang="en-US" altLang="zh-CN" i="1" dirty="0" err="1"/>
              <a:t>r</a:t>
            </a:r>
            <a:r>
              <a:rPr lang="en-US" altLang="zh-CN" dirty="0" err="1">
                <a:latin typeface="Symbol" panose="05050102010706020507" pitchFamily="18" charset="2"/>
              </a:rPr>
              <a:t>®Ø</a:t>
            </a:r>
            <a:r>
              <a:rPr lang="en-US" altLang="zh-CN" i="1" dirty="0" err="1"/>
              <a:t>s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dirty="0"/>
              <a:t>   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结论：</a:t>
            </a:r>
            <a:r>
              <a:rPr lang="en-US" altLang="zh-CN" i="1" dirty="0" err="1"/>
              <a:t>s</a:t>
            </a:r>
            <a:r>
              <a:rPr lang="en-US" altLang="zh-CN" dirty="0" err="1">
                <a:latin typeface="Symbol" panose="05050102010706020507" pitchFamily="18" charset="2"/>
              </a:rPr>
              <a:t>®</a:t>
            </a:r>
            <a:r>
              <a:rPr lang="en-US" altLang="zh-CN" i="1" dirty="0" err="1"/>
              <a:t>q</a:t>
            </a:r>
            <a:endParaRPr lang="en-US" altLang="zh-CN" i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3BB2381-F89B-4DC5-9E3C-E9B779968A55}"/>
              </a:ext>
            </a:extLst>
          </p:cNvPr>
          <p:cNvGrpSpPr/>
          <p:nvPr/>
        </p:nvGrpSpPr>
        <p:grpSpPr>
          <a:xfrm>
            <a:off x="548619" y="4025308"/>
            <a:ext cx="11295524" cy="1026496"/>
            <a:chOff x="548619" y="4025308"/>
            <a:chExt cx="11295524" cy="1026496"/>
          </a:xfrm>
        </p:grpSpPr>
        <p:sp>
          <p:nvSpPr>
            <p:cNvPr id="22" name="Rectangle 7">
              <a:extLst>
                <a:ext uri="{FF2B5EF4-FFF2-40B4-BE49-F238E27FC236}">
                  <a16:creationId xmlns:a16="http://schemas.microsoft.com/office/drawing/2014/main" id="{2E5EADE7-B02D-4220-BD8D-D274FB515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19" y="4025308"/>
              <a:ext cx="11295524" cy="1022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解：设</a:t>
              </a:r>
              <a:r>
                <a:rPr lang="zh-CN" altLang="en-US" dirty="0"/>
                <a:t> </a:t>
              </a:r>
              <a:r>
                <a:rPr lang="en-US" altLang="zh-CN" i="1" dirty="0"/>
                <a:t>p</a:t>
              </a:r>
              <a:r>
                <a:rPr lang="zh-CN" altLang="en-US" dirty="0"/>
                <a:t>：</a:t>
              </a:r>
              <a:r>
                <a:rPr lang="en-US" altLang="zh-CN" sz="2400" dirty="0"/>
                <a:t>2</a:t>
              </a: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是素数，</a:t>
              </a:r>
              <a:r>
                <a:rPr lang="en-US" altLang="zh-CN" i="1" dirty="0"/>
                <a:t>q</a:t>
              </a:r>
              <a:r>
                <a:rPr lang="zh-CN" altLang="en-US" dirty="0"/>
                <a:t>：</a:t>
              </a:r>
              <a:r>
                <a:rPr lang="en-US" altLang="zh-CN" sz="2400" dirty="0"/>
                <a:t>2</a:t>
              </a: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是合数，</a:t>
              </a:r>
            </a:p>
            <a:p>
              <a:pPr algn="just" eaLnBrk="1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dirty="0"/>
                <a:t>          </a:t>
              </a:r>
              <a:r>
                <a:rPr lang="en-US" altLang="zh-CN" i="1" dirty="0"/>
                <a:t>r</a:t>
              </a:r>
              <a:r>
                <a:rPr lang="zh-CN" altLang="en-US" dirty="0"/>
                <a:t>：    </a:t>
              </a: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是无理数，</a:t>
              </a:r>
              <a:r>
                <a:rPr lang="en-US" altLang="zh-CN" i="1" dirty="0"/>
                <a:t>s</a:t>
              </a:r>
              <a:r>
                <a:rPr lang="zh-CN" altLang="en-US" dirty="0"/>
                <a:t>：</a:t>
              </a:r>
              <a:r>
                <a:rPr lang="en-US" altLang="zh-CN" sz="2400" dirty="0"/>
                <a:t>4</a:t>
              </a:r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是素数</a:t>
              </a:r>
            </a:p>
          </p:txBody>
        </p:sp>
        <p:graphicFrame>
          <p:nvGraphicFramePr>
            <p:cNvPr id="25" name="Object 5">
              <a:extLst>
                <a:ext uri="{FF2B5EF4-FFF2-40B4-BE49-F238E27FC236}">
                  <a16:creationId xmlns:a16="http://schemas.microsoft.com/office/drawing/2014/main" id="{543C8966-B089-478F-9755-25C0EFD7A87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55927491"/>
                </p:ext>
              </p:extLst>
            </p:nvPr>
          </p:nvGraphicFramePr>
          <p:xfrm>
            <a:off x="1769549" y="4548566"/>
            <a:ext cx="668850" cy="503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587160" imgH="502920" progId="Equation.3">
                    <p:embed/>
                  </p:oleObj>
                </mc:Choice>
                <mc:Fallback>
                  <p:oleObj name="Equation" r:id="rId3" imgW="587160" imgH="502920" progId="Equation.3">
                    <p:embed/>
                    <p:pic>
                      <p:nvPicPr>
                        <p:cNvPr id="25" name="Object 5">
                          <a:extLst>
                            <a:ext uri="{FF2B5EF4-FFF2-40B4-BE49-F238E27FC236}">
                              <a16:creationId xmlns:a16="http://schemas.microsoft.com/office/drawing/2014/main" id="{543C8966-B089-478F-9755-25C0EFD7A878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9549" y="4548566"/>
                          <a:ext cx="668850" cy="503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B8DCA24-D436-49B2-A55D-54BB024D2C16}"/>
              </a:ext>
            </a:extLst>
          </p:cNvPr>
          <p:cNvSpPr txBox="1"/>
          <p:nvPr/>
        </p:nvSpPr>
        <p:spPr>
          <a:xfrm>
            <a:off x="467359" y="901380"/>
            <a:ext cx="2105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70000"/>
              </a:spcBef>
              <a:buSzPct val="125000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7B21BA8-A457-4A22-B16B-FD22E3B0846B}"/>
              </a:ext>
            </a:extLst>
          </p:cNvPr>
          <p:cNvSpPr txBox="1"/>
          <p:nvPr/>
        </p:nvSpPr>
        <p:spPr>
          <a:xfrm>
            <a:off x="3969171" y="901380"/>
            <a:ext cx="14038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推理定律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50E07BA-A52D-44B7-90EB-6B9A04DEDDBA}"/>
              </a:ext>
            </a:extLst>
          </p:cNvPr>
          <p:cNvSpPr txBox="1"/>
          <p:nvPr/>
        </p:nvSpPr>
        <p:spPr>
          <a:xfrm>
            <a:off x="7064584" y="901380"/>
            <a:ext cx="133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推理规则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5EF23EC-4F88-4270-BDA4-0F55EC6C71C6}"/>
              </a:ext>
            </a:extLst>
          </p:cNvPr>
          <p:cNvSpPr txBox="1"/>
          <p:nvPr/>
        </p:nvSpPr>
        <p:spPr>
          <a:xfrm>
            <a:off x="9807787" y="901380"/>
            <a:ext cx="2105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构造证明方法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01B5CF2-1DAD-4F08-B13A-8674149F535A}"/>
              </a:ext>
            </a:extLst>
          </p:cNvPr>
          <p:cNvSpPr txBox="1"/>
          <p:nvPr/>
        </p:nvSpPr>
        <p:spPr>
          <a:xfrm>
            <a:off x="483303" y="1504634"/>
            <a:ext cx="3169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附加前提法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5533845-61F2-4FB7-AFF5-44B628D68A49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78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7256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1.7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推理理论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096B6A6-31CA-4C84-BE3D-6D2C863F6930}"/>
              </a:ext>
            </a:extLst>
          </p:cNvPr>
          <p:cNvSpPr txBox="1"/>
          <p:nvPr/>
        </p:nvSpPr>
        <p:spPr>
          <a:xfrm>
            <a:off x="483303" y="1504634"/>
            <a:ext cx="3169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附加前提法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CE45AD4-BF20-4D89-9408-D4D95BDAA8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4235" y="1524738"/>
            <a:ext cx="3447765" cy="1145663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8CEED096-428A-497B-864D-7F5D3AFA064E}"/>
              </a:ext>
            </a:extLst>
          </p:cNvPr>
          <p:cNvSpPr txBox="1"/>
          <p:nvPr/>
        </p:nvSpPr>
        <p:spPr>
          <a:xfrm>
            <a:off x="783771" y="6358564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请用直接证明法证明之 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17358A37-4AD7-4BDB-B12D-60B1A72F6DD7}"/>
              </a:ext>
            </a:extLst>
          </p:cNvPr>
          <p:cNvSpPr txBox="1">
            <a:spLocks noChangeArrowheads="1"/>
          </p:cNvSpPr>
          <p:nvPr/>
        </p:nvSpPr>
        <p:spPr>
          <a:xfrm>
            <a:off x="537313" y="2041793"/>
            <a:ext cx="7780338" cy="11078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证明 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① </a:t>
            </a:r>
            <a:r>
              <a:rPr lang="en-US" altLang="zh-CN" b="1" i="1" dirty="0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    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附加前提引入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5DC683BA-694E-4EB0-A464-658F45E55325}"/>
              </a:ext>
            </a:extLst>
          </p:cNvPr>
          <p:cNvSpPr txBox="1">
            <a:spLocks noChangeArrowheads="1"/>
          </p:cNvSpPr>
          <p:nvPr/>
        </p:nvSpPr>
        <p:spPr>
          <a:xfrm>
            <a:off x="805828" y="3057826"/>
            <a:ext cx="7780338" cy="5127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②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前提引入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2E31D192-894D-484C-885A-0B4D1E3937A1}"/>
              </a:ext>
            </a:extLst>
          </p:cNvPr>
          <p:cNvSpPr txBox="1">
            <a:spLocks noChangeArrowheads="1"/>
          </p:cNvSpPr>
          <p:nvPr/>
        </p:nvSpPr>
        <p:spPr>
          <a:xfrm>
            <a:off x="805828" y="3621651"/>
            <a:ext cx="7780338" cy="6288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③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Symbol" panose="05050102010706020507" pitchFamily="18" charset="2"/>
              </a:rPr>
              <a:t>®Ø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前提引入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8453B13A-6031-4333-A009-AF5427BF70FB}"/>
              </a:ext>
            </a:extLst>
          </p:cNvPr>
          <p:cNvSpPr txBox="1">
            <a:spLocks noChangeArrowheads="1"/>
          </p:cNvSpPr>
          <p:nvPr/>
        </p:nvSpPr>
        <p:spPr>
          <a:xfrm>
            <a:off x="805828" y="4139083"/>
            <a:ext cx="7780338" cy="5491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④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®Ø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           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②③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假言三段论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7BB0CBE5-323F-4B55-9235-48BF3A6FAE54}"/>
              </a:ext>
            </a:extLst>
          </p:cNvPr>
          <p:cNvSpPr txBox="1">
            <a:spLocks noChangeArrowheads="1"/>
          </p:cNvSpPr>
          <p:nvPr/>
        </p:nvSpPr>
        <p:spPr>
          <a:xfrm>
            <a:off x="805828" y="4638135"/>
            <a:ext cx="7780338" cy="6288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⑤ </a:t>
            </a:r>
            <a:r>
              <a:rPr lang="en-US" altLang="zh-CN" sz="2400" b="1" dirty="0">
                <a:latin typeface="Symbol" panose="05050102010706020507" pitchFamily="18" charset="2"/>
              </a:rPr>
              <a:t>Ø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p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 ①④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拒取式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34B7C9EE-C56D-4CE3-B25C-5527B4C6E6F1}"/>
              </a:ext>
            </a:extLst>
          </p:cNvPr>
          <p:cNvSpPr txBox="1">
            <a:spLocks noChangeArrowheads="1"/>
          </p:cNvSpPr>
          <p:nvPr/>
        </p:nvSpPr>
        <p:spPr>
          <a:xfrm>
            <a:off x="805828" y="5148644"/>
            <a:ext cx="7780338" cy="6104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⑥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Ú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前提引入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9906FB03-4C0D-4DDD-8928-4A481E6CD371}"/>
              </a:ext>
            </a:extLst>
          </p:cNvPr>
          <p:cNvSpPr txBox="1">
            <a:spLocks noChangeArrowheads="1"/>
          </p:cNvSpPr>
          <p:nvPr/>
        </p:nvSpPr>
        <p:spPr>
          <a:xfrm>
            <a:off x="805828" y="5713190"/>
            <a:ext cx="7780338" cy="5491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⑦ </a:t>
            </a:r>
            <a:r>
              <a:rPr lang="en-US" altLang="zh-CN" b="1" i="1" dirty="0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                    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⑤⑥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析取三段论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2305B8BA-A89E-42D8-A5EB-8283197A01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400" y="3431662"/>
            <a:ext cx="4643429" cy="342633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FC4F95BF-FBD5-47B7-9EC0-257C55208E12}"/>
              </a:ext>
            </a:extLst>
          </p:cNvPr>
          <p:cNvSpPr txBox="1"/>
          <p:nvPr/>
        </p:nvSpPr>
        <p:spPr>
          <a:xfrm>
            <a:off x="467359" y="901380"/>
            <a:ext cx="2105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70000"/>
              </a:spcBef>
              <a:buSzPct val="125000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D5B87C6-2062-4015-9ECF-8D49FB0BB2BC}"/>
              </a:ext>
            </a:extLst>
          </p:cNvPr>
          <p:cNvSpPr txBox="1"/>
          <p:nvPr/>
        </p:nvSpPr>
        <p:spPr>
          <a:xfrm>
            <a:off x="3969171" y="901380"/>
            <a:ext cx="14038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推理定律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078F6A7-8EF0-4F2A-92EB-9DE4404752CD}"/>
              </a:ext>
            </a:extLst>
          </p:cNvPr>
          <p:cNvSpPr txBox="1"/>
          <p:nvPr/>
        </p:nvSpPr>
        <p:spPr>
          <a:xfrm>
            <a:off x="7064584" y="901380"/>
            <a:ext cx="133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推理规则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1F25DC1-E3DE-4AC2-8922-553163C44BA2}"/>
              </a:ext>
            </a:extLst>
          </p:cNvPr>
          <p:cNvSpPr txBox="1"/>
          <p:nvPr/>
        </p:nvSpPr>
        <p:spPr>
          <a:xfrm>
            <a:off x="9807787" y="901380"/>
            <a:ext cx="2105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构造证明方法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46983FF-DCB3-4979-9A20-9B9F8F0600C0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79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371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1.7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推理理论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270642D-5EB3-49E7-B85C-59FB9541D8F3}"/>
              </a:ext>
            </a:extLst>
          </p:cNvPr>
          <p:cNvGrpSpPr/>
          <p:nvPr/>
        </p:nvGrpSpPr>
        <p:grpSpPr>
          <a:xfrm>
            <a:off x="403012" y="1370329"/>
            <a:ext cx="2472163" cy="925122"/>
            <a:chOff x="403012" y="1370329"/>
            <a:chExt cx="2472163" cy="925122"/>
          </a:xfrm>
        </p:grpSpPr>
        <p:sp>
          <p:nvSpPr>
            <p:cNvPr id="27" name="Rectangle 2">
              <a:extLst>
                <a:ext uri="{FF2B5EF4-FFF2-40B4-BE49-F238E27FC236}">
                  <a16:creationId xmlns:a16="http://schemas.microsoft.com/office/drawing/2014/main" id="{73038FEA-3645-41EA-A6FC-9DE88CB63D1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65456" y="1370329"/>
              <a:ext cx="2409719" cy="762000"/>
            </a:xfrm>
            <a:noFill/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2400" b="1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归谬法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6834ABF-4B50-4DBB-9FC8-D34B8DEFE85F}"/>
                </a:ext>
              </a:extLst>
            </p:cNvPr>
            <p:cNvSpPr txBox="1"/>
            <p:nvPr/>
          </p:nvSpPr>
          <p:spPr>
            <a:xfrm>
              <a:off x="403012" y="1870719"/>
              <a:ext cx="2099733" cy="4247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zh-CN" altLang="en-US" sz="2400" b="1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反证法</a:t>
              </a:r>
              <a:r>
                <a:rPr lang="en-US" altLang="zh-CN" sz="2400" b="1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) </a:t>
              </a:r>
              <a:endPara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6" name="Rectangle 3">
            <a:extLst>
              <a:ext uri="{FF2B5EF4-FFF2-40B4-BE49-F238E27FC236}">
                <a16:creationId xmlns:a16="http://schemas.microsoft.com/office/drawing/2014/main" id="{CC8AE008-E1AE-4DB5-A7DF-EA6168AA8F95}"/>
              </a:ext>
            </a:extLst>
          </p:cNvPr>
          <p:cNvSpPr txBox="1">
            <a:spLocks noChangeArrowheads="1"/>
          </p:cNvSpPr>
          <p:nvPr/>
        </p:nvSpPr>
        <p:spPr>
          <a:xfrm>
            <a:off x="2135189" y="1557338"/>
            <a:ext cx="8986624" cy="2025755"/>
          </a:xfr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欲证明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, … 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30000" dirty="0">
                <a:latin typeface="Times New Roman" panose="02020603050405020304" pitchFamily="18" charset="0"/>
              </a:rPr>
              <a:t>k</a:t>
            </a:r>
            <a:r>
              <a:rPr lang="en-US" altLang="zh-CN" sz="2400" b="1" baseline="-30000" dirty="0">
                <a:latin typeface="Times New Roman" panose="02020603050405020304" pitchFamily="18" charset="0"/>
              </a:rPr>
              <a:t>  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结论：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将</a:t>
            </a:r>
            <a:r>
              <a:rPr lang="en-US" altLang="zh-CN" sz="2400" b="1" dirty="0" err="1">
                <a:latin typeface="Symbol" panose="05050102010706020507" pitchFamily="18" charset="2"/>
              </a:rPr>
              <a:t>Ø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加入前提，若推出矛盾，则得证推理正确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39DF2583-D7FE-4B9B-845D-C28FE25AC482}"/>
              </a:ext>
            </a:extLst>
          </p:cNvPr>
          <p:cNvSpPr txBox="1">
            <a:spLocks noChangeArrowheads="1"/>
          </p:cNvSpPr>
          <p:nvPr/>
        </p:nvSpPr>
        <p:spPr>
          <a:xfrm>
            <a:off x="2135189" y="3778683"/>
            <a:ext cx="8986624" cy="2769669"/>
          </a:xfrm>
          <a:noFill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理由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       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latin typeface="Symbol" panose="05050102010706020507" pitchFamily="18" charset="2"/>
              </a:rPr>
              <a:t>Ù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 err="1">
                <a:latin typeface="Symbol" panose="05050102010706020507" pitchFamily="18" charset="2"/>
              </a:rPr>
              <a:t>Ù</a:t>
            </a:r>
            <a:r>
              <a:rPr lang="en-US" altLang="zh-CN" sz="2400" b="1" dirty="0">
                <a:latin typeface="Times New Roman" panose="02020603050405020304" pitchFamily="18" charset="0"/>
              </a:rPr>
              <a:t>…</a:t>
            </a:r>
            <a:r>
              <a:rPr lang="en-US" altLang="zh-CN" sz="2400" b="1" dirty="0" err="1">
                <a:latin typeface="Symbol" panose="05050102010706020507" pitchFamily="18" charset="2"/>
              </a:rPr>
              <a:t>Ù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sz="2400" b="1" dirty="0" err="1">
                <a:latin typeface="Symbol" panose="05050102010706020507" pitchFamily="18" charset="2"/>
              </a:rPr>
              <a:t>®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B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</a:t>
            </a:r>
            <a:r>
              <a:rPr lang="en-US" altLang="zh-CN" sz="2400" b="1" dirty="0">
                <a:latin typeface="Symbol" panose="05050102010706020507" pitchFamily="18" charset="2"/>
              </a:rPr>
              <a:t>Û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Symbol" panose="05050102010706020507" pitchFamily="18" charset="2"/>
              </a:rPr>
              <a:t>Ø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latin typeface="Symbol" panose="05050102010706020507" pitchFamily="18" charset="2"/>
              </a:rPr>
              <a:t>Ù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 err="1">
                <a:latin typeface="Symbol" panose="05050102010706020507" pitchFamily="18" charset="2"/>
              </a:rPr>
              <a:t>Ù</a:t>
            </a:r>
            <a:r>
              <a:rPr lang="en-US" altLang="zh-CN" sz="2400" b="1" dirty="0">
                <a:latin typeface="Times New Roman" panose="02020603050405020304" pitchFamily="18" charset="0"/>
              </a:rPr>
              <a:t>…</a:t>
            </a:r>
            <a:r>
              <a:rPr lang="en-US" altLang="zh-CN" sz="2400" b="1" dirty="0" err="1">
                <a:latin typeface="Symbol" panose="05050102010706020507" pitchFamily="18" charset="2"/>
              </a:rPr>
              <a:t>Ù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en-US" altLang="zh-CN" sz="2400" b="1" dirty="0" err="1">
                <a:latin typeface="Symbol" panose="05050102010706020507" pitchFamily="18" charset="2"/>
              </a:rPr>
              <a:t>Ú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B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</a:t>
            </a:r>
            <a:r>
              <a:rPr lang="en-US" altLang="zh-CN" sz="2400" b="1" dirty="0">
                <a:latin typeface="Symbol" panose="05050102010706020507" pitchFamily="18" charset="2"/>
              </a:rPr>
              <a:t>Û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Symbol" panose="05050102010706020507" pitchFamily="18" charset="2"/>
              </a:rPr>
              <a:t>Ø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latin typeface="Symbol" panose="05050102010706020507" pitchFamily="18" charset="2"/>
              </a:rPr>
              <a:t>Ù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 err="1">
                <a:latin typeface="Symbol" panose="05050102010706020507" pitchFamily="18" charset="2"/>
              </a:rPr>
              <a:t>Ù</a:t>
            </a:r>
            <a:r>
              <a:rPr lang="en-US" altLang="zh-CN" sz="2400" b="1" dirty="0">
                <a:latin typeface="Times New Roman" panose="02020603050405020304" pitchFamily="18" charset="0"/>
              </a:rPr>
              <a:t>…</a:t>
            </a:r>
            <a:r>
              <a:rPr lang="en-US" altLang="zh-CN" sz="2400" b="1" dirty="0" err="1">
                <a:latin typeface="Symbol" panose="05050102010706020507" pitchFamily="18" charset="2"/>
              </a:rPr>
              <a:t>Ù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sz="2400" b="1" dirty="0" err="1">
                <a:latin typeface="Symbol" panose="05050102010706020507" pitchFamily="18" charset="2"/>
              </a:rPr>
              <a:t>ÙØ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括号内部为矛盾式当且仅当 </a:t>
            </a:r>
            <a:r>
              <a:rPr lang="en-US" altLang="zh-CN" sz="2400" b="1" dirty="0"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latin typeface="Symbol" panose="05050102010706020507" pitchFamily="18" charset="2"/>
              </a:rPr>
              <a:t>Ù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 err="1">
                <a:latin typeface="Symbol" panose="05050102010706020507" pitchFamily="18" charset="2"/>
              </a:rPr>
              <a:t>Ù</a:t>
            </a:r>
            <a:r>
              <a:rPr lang="en-US" altLang="zh-CN" sz="2400" b="1" dirty="0">
                <a:latin typeface="Times New Roman" panose="02020603050405020304" pitchFamily="18" charset="0"/>
              </a:rPr>
              <a:t>…</a:t>
            </a:r>
            <a:r>
              <a:rPr lang="en-US" altLang="zh-CN" sz="2400" b="1" dirty="0" err="1">
                <a:latin typeface="Symbol" panose="05050102010706020507" pitchFamily="18" charset="2"/>
              </a:rPr>
              <a:t>Ù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sz="2400" b="1" dirty="0" err="1">
                <a:latin typeface="Symbol" panose="05050102010706020507" pitchFamily="18" charset="2"/>
              </a:rPr>
              <a:t>®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为重言式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5632AC6-0367-48CF-B1E8-D9FAD56BBA60}"/>
              </a:ext>
            </a:extLst>
          </p:cNvPr>
          <p:cNvSpPr txBox="1"/>
          <p:nvPr/>
        </p:nvSpPr>
        <p:spPr>
          <a:xfrm>
            <a:off x="467359" y="901380"/>
            <a:ext cx="2105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70000"/>
              </a:spcBef>
              <a:buSzPct val="125000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0389199-6E36-465B-87D7-5004E5CC037A}"/>
              </a:ext>
            </a:extLst>
          </p:cNvPr>
          <p:cNvSpPr txBox="1"/>
          <p:nvPr/>
        </p:nvSpPr>
        <p:spPr>
          <a:xfrm>
            <a:off x="3969171" y="901380"/>
            <a:ext cx="14038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推理定律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752D4D3-C600-4D4B-8F65-C6D05F38B3F5}"/>
              </a:ext>
            </a:extLst>
          </p:cNvPr>
          <p:cNvSpPr txBox="1"/>
          <p:nvPr/>
        </p:nvSpPr>
        <p:spPr>
          <a:xfrm>
            <a:off x="7064584" y="901380"/>
            <a:ext cx="133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推理规则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B7F32DB-52E4-458F-A695-E9585F29A775}"/>
              </a:ext>
            </a:extLst>
          </p:cNvPr>
          <p:cNvSpPr txBox="1"/>
          <p:nvPr/>
        </p:nvSpPr>
        <p:spPr>
          <a:xfrm>
            <a:off x="9807787" y="901380"/>
            <a:ext cx="2105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构造证明方法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DD5DFC1-C79C-4981-AB59-CD6FAAB5B79E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80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3751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49">
            <a:extLst>
              <a:ext uri="{FF2B5EF4-FFF2-40B4-BE49-F238E27FC236}">
                <a16:creationId xmlns:a16="http://schemas.microsoft.com/office/drawing/2014/main" id="{DEED0AEA-56F3-456B-B252-18E303DF9B57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1.7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推理理论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270642D-5EB3-49E7-B85C-59FB9541D8F3}"/>
              </a:ext>
            </a:extLst>
          </p:cNvPr>
          <p:cNvGrpSpPr/>
          <p:nvPr/>
        </p:nvGrpSpPr>
        <p:grpSpPr>
          <a:xfrm>
            <a:off x="403012" y="1370329"/>
            <a:ext cx="2472163" cy="962055"/>
            <a:chOff x="403012" y="1370329"/>
            <a:chExt cx="2472163" cy="962055"/>
          </a:xfrm>
        </p:grpSpPr>
        <p:sp>
          <p:nvSpPr>
            <p:cNvPr id="27" name="Rectangle 2">
              <a:extLst>
                <a:ext uri="{FF2B5EF4-FFF2-40B4-BE49-F238E27FC236}">
                  <a16:creationId xmlns:a16="http://schemas.microsoft.com/office/drawing/2014/main" id="{73038FEA-3645-41EA-A6FC-9DE88CB63D1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65456" y="1370329"/>
              <a:ext cx="2409719" cy="762000"/>
            </a:xfrm>
            <a:noFill/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2400" b="1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归谬法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6834ABF-4B50-4DBB-9FC8-D34B8DEFE85F}"/>
                </a:ext>
              </a:extLst>
            </p:cNvPr>
            <p:cNvSpPr txBox="1"/>
            <p:nvPr/>
          </p:nvSpPr>
          <p:spPr>
            <a:xfrm>
              <a:off x="403012" y="1870719"/>
              <a:ext cx="209973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zh-CN" altLang="en-US" sz="2400" b="1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反证法</a:t>
              </a:r>
              <a:r>
                <a:rPr lang="en-US" altLang="zh-CN" sz="2400" b="1" dirty="0">
                  <a:solidFill>
                    <a:srgbClr val="992677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) </a:t>
              </a:r>
              <a:endPara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2" name="Rectangle 3">
            <a:extLst>
              <a:ext uri="{FF2B5EF4-FFF2-40B4-BE49-F238E27FC236}">
                <a16:creationId xmlns:a16="http://schemas.microsoft.com/office/drawing/2014/main" id="{E3214F62-5B0C-41AE-9E25-EEC75C421255}"/>
              </a:ext>
            </a:extLst>
          </p:cNvPr>
          <p:cNvSpPr txBox="1">
            <a:spLocks noChangeArrowheads="1"/>
          </p:cNvSpPr>
          <p:nvPr/>
        </p:nvSpPr>
        <p:spPr>
          <a:xfrm>
            <a:off x="2145295" y="1422611"/>
            <a:ext cx="7707313" cy="1483149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 构造下面推理的证明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前提：</a:t>
            </a:r>
            <a:r>
              <a:rPr lang="en-US" altLang="zh-CN" b="1" dirty="0">
                <a:latin typeface="Symbol" panose="05050102010706020507" pitchFamily="18" charset="2"/>
              </a:rPr>
              <a:t>Ø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Ù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 err="1">
                <a:latin typeface="Symbol" panose="05050102010706020507" pitchFamily="18" charset="2"/>
              </a:rPr>
              <a:t>Ú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, 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Symbol" panose="05050102010706020507" pitchFamily="18" charset="2"/>
              </a:rPr>
              <a:t>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,  </a:t>
            </a:r>
            <a:r>
              <a:rPr lang="en-US" altLang="zh-CN" b="1" dirty="0" err="1">
                <a:latin typeface="Symbol" panose="05050102010706020507" pitchFamily="18" charset="2"/>
              </a:rPr>
              <a:t>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,  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结论：</a:t>
            </a:r>
            <a:r>
              <a:rPr lang="en-US" altLang="zh-CN" b="1" dirty="0" err="1">
                <a:latin typeface="Symbol" panose="05050102010706020507" pitchFamily="18" charset="2"/>
              </a:rPr>
              <a:t>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065066B0-0084-45CF-9FEB-8A07C88C53F9}"/>
              </a:ext>
            </a:extLst>
          </p:cNvPr>
          <p:cNvSpPr txBox="1">
            <a:spLocks noChangeArrowheads="1"/>
          </p:cNvSpPr>
          <p:nvPr/>
        </p:nvSpPr>
        <p:spPr>
          <a:xfrm>
            <a:off x="573112" y="3252273"/>
            <a:ext cx="5360328" cy="3194484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证明（用归缪法）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①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    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结论的否定引入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②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 err="1">
                <a:latin typeface="Symbol" panose="05050102010706020507" pitchFamily="18" charset="2"/>
              </a:rPr>
              <a:t>®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前提引入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③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Symbol" panose="05050102010706020507" pitchFamily="18" charset="2"/>
              </a:rPr>
              <a:t>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  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前提引入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④ </a:t>
            </a:r>
            <a:r>
              <a:rPr lang="en-US" altLang="zh-CN" b="1" i="1" dirty="0" err="1">
                <a:latin typeface="Symbol" panose="05050102010706020507" pitchFamily="18" charset="2"/>
              </a:rPr>
              <a:t>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             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②③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拒取式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 ⑤ </a:t>
            </a:r>
            <a:r>
              <a:rPr lang="en-US" altLang="zh-CN" b="1" dirty="0">
                <a:latin typeface="Symbol" panose="05050102010706020507" pitchFamily="18" charset="2"/>
              </a:rPr>
              <a:t>Ø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Ù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 err="1">
                <a:latin typeface="Symbol" panose="05050102010706020507" pitchFamily="18" charset="2"/>
              </a:rPr>
              <a:t>Ú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前提引入 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3A959AD6-C64E-4D2F-8D06-075AB86DFFD2}"/>
              </a:ext>
            </a:extLst>
          </p:cNvPr>
          <p:cNvSpPr txBox="1">
            <a:spLocks noChangeArrowheads="1"/>
          </p:cNvSpPr>
          <p:nvPr/>
        </p:nvSpPr>
        <p:spPr>
          <a:xfrm>
            <a:off x="5998951" y="3752031"/>
            <a:ext cx="6407574" cy="2708265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 ⑥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Symbol" panose="05050102010706020507" pitchFamily="18" charset="2"/>
              </a:rPr>
              <a:t>Ø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Ù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)        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④⑤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析取三段论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⑦ </a:t>
            </a:r>
            <a:r>
              <a:rPr lang="en-US" altLang="zh-CN" b="1" dirty="0" err="1">
                <a:latin typeface="Symbol" panose="05050102010706020507" pitchFamily="18" charset="2"/>
              </a:rPr>
              <a:t>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ÚØ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</a:rPr>
              <a:t>        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⑥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置换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⑧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Symbol" panose="05050102010706020507" pitchFamily="18" charset="2"/>
              </a:rPr>
              <a:t>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</a:rPr>
              <a:t>               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①⑦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析取三段论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⑨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</a:rPr>
              <a:t>                 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前提引入</a:t>
            </a:r>
          </a:p>
          <a:p>
            <a:pPr algn="just"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  ⑩ </a:t>
            </a:r>
            <a:r>
              <a:rPr lang="en-US" altLang="zh-CN" b="1" dirty="0" err="1">
                <a:latin typeface="Symbol" panose="05050102010706020507" pitchFamily="18" charset="2"/>
              </a:rPr>
              <a:t>Ø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 err="1">
                <a:latin typeface="Symbol" panose="05050102010706020507" pitchFamily="18" charset="2"/>
              </a:rPr>
              <a:t>Ù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</a:rPr>
              <a:t>           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⑧⑨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合取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AE4BAD7-3EEF-4CED-8476-558C45C242CD}"/>
              </a:ext>
            </a:extLst>
          </p:cNvPr>
          <p:cNvSpPr txBox="1"/>
          <p:nvPr/>
        </p:nvSpPr>
        <p:spPr>
          <a:xfrm>
            <a:off x="6311054" y="6441257"/>
            <a:ext cx="4404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请用直接证明法证明之 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4DF22BD-7DB0-4498-B894-4EB37A370D1C}"/>
              </a:ext>
            </a:extLst>
          </p:cNvPr>
          <p:cNvSpPr txBox="1"/>
          <p:nvPr/>
        </p:nvSpPr>
        <p:spPr>
          <a:xfrm>
            <a:off x="467359" y="901380"/>
            <a:ext cx="2105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70000"/>
              </a:spcBef>
              <a:buSzPct val="125000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BA75E12-C5EE-4E6A-B2BC-5572C92E7829}"/>
              </a:ext>
            </a:extLst>
          </p:cNvPr>
          <p:cNvSpPr txBox="1"/>
          <p:nvPr/>
        </p:nvSpPr>
        <p:spPr>
          <a:xfrm>
            <a:off x="3969171" y="901380"/>
            <a:ext cx="14038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推理定律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AC0138C-FA62-4156-8A93-A4A57C43AB07}"/>
              </a:ext>
            </a:extLst>
          </p:cNvPr>
          <p:cNvSpPr txBox="1"/>
          <p:nvPr/>
        </p:nvSpPr>
        <p:spPr>
          <a:xfrm>
            <a:off x="7064584" y="901380"/>
            <a:ext cx="133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Times New Roman" panose="02020603050405020304" pitchFamily="18" charset="0"/>
              </a:defRPr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推理规则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5D5C77-FCC8-4C0A-8951-3CBE6B45E7A1}"/>
              </a:ext>
            </a:extLst>
          </p:cNvPr>
          <p:cNvSpPr txBox="1"/>
          <p:nvPr/>
        </p:nvSpPr>
        <p:spPr>
          <a:xfrm>
            <a:off x="9807787" y="901380"/>
            <a:ext cx="2105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构造证明方法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5143AF3-C4F3-49CA-9E25-91D178536F49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81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5641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8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49">
            <a:extLst>
              <a:ext uri="{FF2B5EF4-FFF2-40B4-BE49-F238E27FC236}">
                <a16:creationId xmlns:a16="http://schemas.microsoft.com/office/drawing/2014/main" id="{058EC96E-3FFD-4F5B-B945-E869BA87D093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本章总结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ECA94A-18AC-4810-8D28-600E15A18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1199072"/>
            <a:ext cx="10634842" cy="5009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主要内容</a:t>
            </a:r>
          </a:p>
          <a:p>
            <a:pPr eaLnBrk="1" hangingPunct="1">
              <a:buClr>
                <a:srgbClr val="992677"/>
              </a:buClr>
              <a:buFont typeface="Wingdings" panose="05000000000000000000" pitchFamily="2" charset="2"/>
              <a:buChar char="n"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命题逻辑的基本概念</a:t>
            </a:r>
            <a:endParaRPr lang="en-US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spcBef>
                <a:spcPts val="0"/>
              </a:spcBef>
              <a:buClr>
                <a:srgbClr val="992677"/>
              </a:buClr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  命题符号化</a:t>
            </a:r>
            <a:endParaRPr lang="en-US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buClr>
                <a:srgbClr val="992677"/>
              </a:buClr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  用真值表判断公式的类型</a:t>
            </a:r>
          </a:p>
          <a:p>
            <a:pPr eaLnBrk="1" hangingPunct="1">
              <a:buClr>
                <a:srgbClr val="992677"/>
              </a:buClr>
              <a:buFont typeface="Wingdings" panose="05000000000000000000" pitchFamily="2" charset="2"/>
              <a:buChar char="n"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命题逻辑等值验算</a:t>
            </a:r>
            <a:endParaRPr lang="en-US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buClr>
                <a:srgbClr val="992677"/>
              </a:buClr>
              <a:buNone/>
            </a:pP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  16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组常用的等值式</a:t>
            </a:r>
            <a:endParaRPr lang="en-US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buClr>
                <a:srgbClr val="992677"/>
              </a:buClr>
              <a:buNone/>
            </a:pP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析取范式、合取范式</a:t>
            </a:r>
            <a:endParaRPr lang="en-US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buClr>
                <a:srgbClr val="992677"/>
              </a:buClr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  主析取范式、主合取范式</a:t>
            </a:r>
            <a:endParaRPr lang="en-US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>
                <a:srgbClr val="992677"/>
              </a:buClr>
              <a:buFont typeface="Wingdings" panose="05000000000000000000" pitchFamily="2" charset="2"/>
              <a:buChar char="n"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命题逻辑的推理理论</a:t>
            </a:r>
            <a:endParaRPr lang="en-US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buClr>
                <a:srgbClr val="992677"/>
              </a:buClr>
              <a:buNone/>
            </a:pP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推理的形式结构（蕴含式）</a:t>
            </a:r>
            <a:endParaRPr lang="en-US" altLang="zh-CN" kern="0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buClr>
                <a:srgbClr val="992677"/>
              </a:buClr>
              <a:buNone/>
            </a:pP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证明推理正确的方法（真值表法、等值演算法、主范式法、构造证明法）</a:t>
            </a:r>
            <a:endParaRPr lang="en-US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buClr>
                <a:srgbClr val="992677"/>
              </a:buClr>
              <a:buNone/>
            </a:pP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构造证明法（直接证明、附加前提证明、归谬法）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F7B4DF9-F9F6-4652-8319-B48021FD4374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82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419135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49">
            <a:extLst>
              <a:ext uri="{FF2B5EF4-FFF2-40B4-BE49-F238E27FC236}">
                <a16:creationId xmlns:a16="http://schemas.microsoft.com/office/drawing/2014/main" id="{058EC96E-3FFD-4F5B-B945-E869BA87D093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本章总结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ECA94A-18AC-4810-8D28-600E15A18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1199072"/>
            <a:ext cx="10634842" cy="3082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考查的能力：</a:t>
            </a:r>
          </a:p>
          <a:p>
            <a:pPr eaLnBrk="1" hangingPunct="1">
              <a:lnSpc>
                <a:spcPct val="150000"/>
              </a:lnSpc>
              <a:buClr>
                <a:srgbClr val="992677"/>
              </a:buClr>
              <a:buFont typeface="Wingdings" panose="05000000000000000000" pitchFamily="2" charset="2"/>
              <a:buChar char="n"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根据定义，判断一句话是否是命题；</a:t>
            </a:r>
            <a:endParaRPr lang="en-US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lnSpc>
                <a:spcPct val="150000"/>
              </a:lnSpc>
              <a:buClr>
                <a:srgbClr val="992677"/>
              </a:buClr>
              <a:buNone/>
            </a:pP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正确使用联结词，将命题符号化，讨论其真值</a:t>
            </a:r>
          </a:p>
          <a:p>
            <a:pPr eaLnBrk="1" hangingPunct="1">
              <a:lnSpc>
                <a:spcPct val="150000"/>
              </a:lnSpc>
              <a:buClr>
                <a:srgbClr val="992677"/>
              </a:buClr>
              <a:buFont typeface="Wingdings" panose="05000000000000000000" pitchFamily="2" charset="2"/>
              <a:buChar char="n"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合式公式的成真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假赋值和类型判断命题逻辑的推理理论</a:t>
            </a:r>
            <a:endParaRPr lang="en-US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  <a:buClr>
                <a:srgbClr val="992677"/>
              </a:buClr>
              <a:buFont typeface="Wingdings" panose="05000000000000000000" pitchFamily="2" charset="2"/>
              <a:buChar char="n"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等值演算，证明题或公式类型判断</a:t>
            </a:r>
          </a:p>
          <a:p>
            <a:pPr eaLnBrk="1" hangingPunct="1">
              <a:lnSpc>
                <a:spcPct val="150000"/>
              </a:lnSpc>
              <a:buClr>
                <a:srgbClr val="992677"/>
              </a:buClr>
              <a:buFont typeface="Wingdings" panose="05000000000000000000" pitchFamily="2" charset="2"/>
              <a:buChar char="n"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主析取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合取范式求取、判断公式类型</a:t>
            </a:r>
          </a:p>
          <a:p>
            <a:pPr eaLnBrk="1" hangingPunct="1">
              <a:lnSpc>
                <a:spcPct val="150000"/>
              </a:lnSpc>
              <a:buClr>
                <a:srgbClr val="992677"/>
              </a:buClr>
              <a:buFont typeface="Wingdings" panose="05000000000000000000" pitchFamily="2" charset="2"/>
              <a:buChar char="n"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推理</a:t>
            </a:r>
          </a:p>
          <a:p>
            <a:pPr marL="0" indent="0" eaLnBrk="1" hangingPunct="1">
              <a:lnSpc>
                <a:spcPct val="150000"/>
              </a:lnSpc>
              <a:buClr>
                <a:srgbClr val="992677"/>
              </a:buClr>
              <a:buNone/>
            </a:pPr>
            <a:endParaRPr lang="en-US" altLang="zh-CN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D86B57-64AC-4463-89DF-4BA566708862}"/>
              </a:ext>
            </a:extLst>
          </p:cNvPr>
          <p:cNvSpPr txBox="1"/>
          <p:nvPr/>
        </p:nvSpPr>
        <p:spPr>
          <a:xfrm>
            <a:off x="11586332" y="6465689"/>
            <a:ext cx="377559" cy="2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83</a:t>
            </a:r>
            <a:endParaRPr lang="zh-CN" altLang="en-US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16657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ab742894-b611-4118-8065-b69e992411d4"/>
</p:tagLst>
</file>

<file path=ppt/theme/theme1.xml><?xml version="1.0" encoding="utf-8"?>
<a:theme xmlns:a="http://schemas.openxmlformats.org/drawingml/2006/main" name="南京理工大学通用模板">
  <a:themeElements>
    <a:clrScheme name="紫罗兰色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accent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20000"/>
          </a:lnSpc>
          <a:defRPr sz="1600" dirty="0" smtClean="0">
            <a:solidFill>
              <a:schemeClr val="tx1">
                <a:lumMod val="65000"/>
                <a:lumOff val="35000"/>
              </a:schemeClr>
            </a:solidFill>
            <a:latin typeface="微软雅黑 Light" panose="020B0502040204020203" pitchFamily="34" charset="-122"/>
            <a:ea typeface="微软雅黑 Light" panose="020B0502040204020203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26206</TotalTime>
  <Words>12084</Words>
  <Application>Microsoft Office PowerPoint</Application>
  <PresentationFormat>宽屏</PresentationFormat>
  <Paragraphs>1607</Paragraphs>
  <Slides>88</Slides>
  <Notes>57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88</vt:i4>
      </vt:variant>
    </vt:vector>
  </HeadingPairs>
  <TitlesOfParts>
    <vt:vector size="105" baseType="lpstr">
      <vt:lpstr>等线</vt:lpstr>
      <vt:lpstr>黑体</vt:lpstr>
      <vt:lpstr>华文仿宋</vt:lpstr>
      <vt:lpstr>华文中宋</vt:lpstr>
      <vt:lpstr>华文中宋</vt:lpstr>
      <vt:lpstr>宋体</vt:lpstr>
      <vt:lpstr>微软雅黑</vt:lpstr>
      <vt:lpstr>微软雅黑 Light</vt:lpstr>
      <vt:lpstr>Arial</vt:lpstr>
      <vt:lpstr>Symbol</vt:lpstr>
      <vt:lpstr>Times New Roman</vt:lpstr>
      <vt:lpstr>Verdana</vt:lpstr>
      <vt:lpstr>Wingdings</vt:lpstr>
      <vt:lpstr>南京理工大学通用模板</vt:lpstr>
      <vt:lpstr>Equation</vt:lpstr>
      <vt:lpstr>Microsoft 公式 3.0</vt:lpstr>
      <vt:lpstr>公式</vt:lpstr>
      <vt:lpstr>PowerPoint 演示文稿</vt:lpstr>
      <vt:lpstr>PowerPoint 演示文稿</vt:lpstr>
      <vt:lpstr>离散数学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基于双目视觉的加油机器人 油箱盖识别与定位技术研究</dc:title>
  <dc:creator>Hongwei Fu</dc:creator>
  <cp:lastModifiedBy>744311194@qq.com</cp:lastModifiedBy>
  <cp:revision>302</cp:revision>
  <dcterms:created xsi:type="dcterms:W3CDTF">2024-03-07T10:43:13Z</dcterms:created>
  <dcterms:modified xsi:type="dcterms:W3CDTF">2026-03-05T11:31:45Z</dcterms:modified>
</cp:coreProperties>
</file>