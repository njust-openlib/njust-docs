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3"/>
  </p:notesMasterIdLst>
  <p:handoutMasterIdLst>
    <p:handoutMasterId r:id="rId64"/>
  </p:handoutMasterIdLst>
  <p:sldIdLst>
    <p:sldId id="415" r:id="rId2"/>
    <p:sldId id="375" r:id="rId3"/>
    <p:sldId id="425" r:id="rId4"/>
    <p:sldId id="457" r:id="rId5"/>
    <p:sldId id="432" r:id="rId6"/>
    <p:sldId id="433" r:id="rId7"/>
    <p:sldId id="434" r:id="rId8"/>
    <p:sldId id="436" r:id="rId9"/>
    <p:sldId id="504" r:id="rId10"/>
    <p:sldId id="458" r:id="rId11"/>
    <p:sldId id="459" r:id="rId12"/>
    <p:sldId id="505" r:id="rId13"/>
    <p:sldId id="461" r:id="rId14"/>
    <p:sldId id="462" r:id="rId15"/>
    <p:sldId id="463" r:id="rId16"/>
    <p:sldId id="437" r:id="rId17"/>
    <p:sldId id="449" r:id="rId18"/>
    <p:sldId id="465" r:id="rId19"/>
    <p:sldId id="466" r:id="rId20"/>
    <p:sldId id="470" r:id="rId21"/>
    <p:sldId id="468" r:id="rId22"/>
    <p:sldId id="469" r:id="rId23"/>
    <p:sldId id="471" r:id="rId24"/>
    <p:sldId id="472" r:id="rId25"/>
    <p:sldId id="473" r:id="rId26"/>
    <p:sldId id="474" r:id="rId27"/>
    <p:sldId id="475" r:id="rId28"/>
    <p:sldId id="476" r:id="rId29"/>
    <p:sldId id="477" r:id="rId30"/>
    <p:sldId id="478" r:id="rId31"/>
    <p:sldId id="511" r:id="rId32"/>
    <p:sldId id="480" r:id="rId33"/>
    <p:sldId id="481" r:id="rId34"/>
    <p:sldId id="482" r:id="rId35"/>
    <p:sldId id="507" r:id="rId36"/>
    <p:sldId id="484" r:id="rId37"/>
    <p:sldId id="485" r:id="rId38"/>
    <p:sldId id="508" r:id="rId39"/>
    <p:sldId id="509" r:id="rId40"/>
    <p:sldId id="510" r:id="rId41"/>
    <p:sldId id="483" r:id="rId42"/>
    <p:sldId id="486" r:id="rId43"/>
    <p:sldId id="487" r:id="rId44"/>
    <p:sldId id="488" r:id="rId45"/>
    <p:sldId id="489" r:id="rId46"/>
    <p:sldId id="490" r:id="rId47"/>
    <p:sldId id="491" r:id="rId48"/>
    <p:sldId id="512" r:id="rId49"/>
    <p:sldId id="513" r:id="rId50"/>
    <p:sldId id="514" r:id="rId51"/>
    <p:sldId id="515" r:id="rId52"/>
    <p:sldId id="517" r:id="rId53"/>
    <p:sldId id="516" r:id="rId54"/>
    <p:sldId id="519" r:id="rId55"/>
    <p:sldId id="518" r:id="rId56"/>
    <p:sldId id="520" r:id="rId57"/>
    <p:sldId id="521" r:id="rId58"/>
    <p:sldId id="522" r:id="rId59"/>
    <p:sldId id="523" r:id="rId60"/>
    <p:sldId id="524" r:id="rId61"/>
    <p:sldId id="448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8F36AED-64D2-47D0-BE60-CC4A629642A2}">
          <p14:sldIdLst>
            <p14:sldId id="415"/>
            <p14:sldId id="375"/>
          </p14:sldIdLst>
        </p14:section>
        <p14:section name="4.1 集合的笛卡儿积与二元关系" id="{DF3449E8-B8D9-4213-942F-C352B0C1D7B8}">
          <p14:sldIdLst>
            <p14:sldId id="425"/>
            <p14:sldId id="457"/>
            <p14:sldId id="432"/>
            <p14:sldId id="433"/>
            <p14:sldId id="434"/>
            <p14:sldId id="436"/>
            <p14:sldId id="504"/>
            <p14:sldId id="458"/>
            <p14:sldId id="459"/>
            <p14:sldId id="505"/>
            <p14:sldId id="461"/>
            <p14:sldId id="462"/>
            <p14:sldId id="463"/>
            <p14:sldId id="437"/>
            <p14:sldId id="449"/>
            <p14:sldId id="465"/>
            <p14:sldId id="466"/>
            <p14:sldId id="470"/>
            <p14:sldId id="468"/>
            <p14:sldId id="469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511"/>
          </p14:sldIdLst>
        </p14:section>
        <p14:section name="4.3 关系的性质" id="{F1B8DDFD-815B-4213-BF86-0FF961DB25A8}">
          <p14:sldIdLst>
            <p14:sldId id="480"/>
            <p14:sldId id="481"/>
            <p14:sldId id="482"/>
            <p14:sldId id="507"/>
            <p14:sldId id="484"/>
            <p14:sldId id="485"/>
            <p14:sldId id="508"/>
            <p14:sldId id="509"/>
            <p14:sldId id="510"/>
            <p14:sldId id="483"/>
          </p14:sldIdLst>
        </p14:section>
        <p14:section name="4.4 关系的闭包" id="{58E96EB8-EC0A-4ABB-BA7B-4B690B017156}">
          <p14:sldIdLst>
            <p14:sldId id="486"/>
            <p14:sldId id="487"/>
            <p14:sldId id="488"/>
            <p14:sldId id="489"/>
            <p14:sldId id="490"/>
            <p14:sldId id="491"/>
            <p14:sldId id="512"/>
          </p14:sldIdLst>
        </p14:section>
        <p14:section name="4.5 等价关系" id="{6323D2B4-32B9-4D41-99E3-21603FB0DB04}">
          <p14:sldIdLst>
            <p14:sldId id="513"/>
            <p14:sldId id="514"/>
            <p14:sldId id="515"/>
            <p14:sldId id="517"/>
            <p14:sldId id="516"/>
            <p14:sldId id="519"/>
            <p14:sldId id="518"/>
            <p14:sldId id="520"/>
            <p14:sldId id="521"/>
            <p14:sldId id="522"/>
            <p14:sldId id="523"/>
            <p14:sldId id="524"/>
            <p14:sldId id="44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151" autoAdjust="0"/>
  </p:normalViewPr>
  <p:slideViewPr>
    <p:cSldViewPr snapToGrid="0">
      <p:cViewPr varScale="1">
        <p:scale>
          <a:sx n="92" d="100"/>
          <a:sy n="92" d="100"/>
        </p:scale>
        <p:origin x="740" y="56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addSection modSection">
      <pc:chgData name="744311194@qq.com" userId="e2a28223f2085f4b" providerId="LiveId" clId="{93EAE7B5-FDEE-48D0-B65C-03455E3B8632}" dt="2026-03-29T03:06:47.481" v="7" actId="17846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676A4C9-C1DC-465A-944B-7C50805B0B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39A52E-7501-44B8-A3A7-1516D6D265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30BC2-F86A-42C0-8A80-84DBB0255044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BD8F0-9D4E-47EE-86F0-A40EAEF9C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A70BE2-7855-41A8-B606-2F9DF3FA0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B91C-8383-4E9F-96C0-D9618EADB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42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02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129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544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503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249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598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222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225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77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012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030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246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54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20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944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628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033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5349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8621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0956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683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666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54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25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2206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765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7905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8314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174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4180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506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23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3363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0574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4059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1060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5743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177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9351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0824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5512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77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grpSp>
        <p:nvGrpSpPr>
          <p:cNvPr id="12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526AE39-2E3F-40FB-8FE9-81FA86968FA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13" name="iśļîḋè">
              <a:extLst>
                <a:ext uri="{FF2B5EF4-FFF2-40B4-BE49-F238E27FC236}">
                  <a16:creationId xmlns:a16="http://schemas.microsoft.com/office/drawing/2014/main" id="{E319FA1B-0C38-4F2B-912C-F12A100B6C5A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iṣliḓê">
              <a:extLst>
                <a:ext uri="{FF2B5EF4-FFF2-40B4-BE49-F238E27FC236}">
                  <a16:creationId xmlns:a16="http://schemas.microsoft.com/office/drawing/2014/main" id="{DE80505B-DFEF-450A-8CDF-C6F5A71E4535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íṡľiḍê">
              <a:extLst>
                <a:ext uri="{FF2B5EF4-FFF2-40B4-BE49-F238E27FC236}">
                  <a16:creationId xmlns:a16="http://schemas.microsoft.com/office/drawing/2014/main" id="{C20C8E40-C556-48DD-B051-8D0895E54928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íšlîde">
              <a:extLst>
                <a:ext uri="{FF2B5EF4-FFF2-40B4-BE49-F238E27FC236}">
                  <a16:creationId xmlns:a16="http://schemas.microsoft.com/office/drawing/2014/main" id="{F86CB2C8-4A5E-4335-8F23-920FECFA35A3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îṡḷíḋé">
              <a:extLst>
                <a:ext uri="{FF2B5EF4-FFF2-40B4-BE49-F238E27FC236}">
                  <a16:creationId xmlns:a16="http://schemas.microsoft.com/office/drawing/2014/main" id="{3B3DDF79-0981-40C2-8430-556067EB1B2B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îsḻiḓe">
              <a:extLst>
                <a:ext uri="{FF2B5EF4-FFF2-40B4-BE49-F238E27FC236}">
                  <a16:creationId xmlns:a16="http://schemas.microsoft.com/office/drawing/2014/main" id="{15EC583D-F454-48BD-ACC1-7AD76D7542C9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î$ļïdè">
              <a:extLst>
                <a:ext uri="{FF2B5EF4-FFF2-40B4-BE49-F238E27FC236}">
                  <a16:creationId xmlns:a16="http://schemas.microsoft.com/office/drawing/2014/main" id="{C5F3B41E-58B0-4D77-9C1A-19EAEB79FC87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îṧḷíḓê">
              <a:extLst>
                <a:ext uri="{FF2B5EF4-FFF2-40B4-BE49-F238E27FC236}">
                  <a16:creationId xmlns:a16="http://schemas.microsoft.com/office/drawing/2014/main" id="{8660D663-638B-4454-ADEC-E599B04271E0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íṩ1iḑê">
              <a:extLst>
                <a:ext uri="{FF2B5EF4-FFF2-40B4-BE49-F238E27FC236}">
                  <a16:creationId xmlns:a16="http://schemas.microsoft.com/office/drawing/2014/main" id="{C4F58A77-602E-42E6-B434-E28BA349C900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îṥlîdê">
              <a:extLst>
                <a:ext uri="{FF2B5EF4-FFF2-40B4-BE49-F238E27FC236}">
                  <a16:creationId xmlns:a16="http://schemas.microsoft.com/office/drawing/2014/main" id="{FD136A19-7EE5-4B90-924F-86F8D9CB6273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îṧľîḑé">
              <a:extLst>
                <a:ext uri="{FF2B5EF4-FFF2-40B4-BE49-F238E27FC236}">
                  <a16:creationId xmlns:a16="http://schemas.microsoft.com/office/drawing/2014/main" id="{A30F0F74-58BE-4D89-9B58-BD559FD9308D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ï$ļíḑe">
              <a:extLst>
                <a:ext uri="{FF2B5EF4-FFF2-40B4-BE49-F238E27FC236}">
                  <a16:creationId xmlns:a16="http://schemas.microsoft.com/office/drawing/2014/main" id="{6935024F-262A-4687-B02D-6D00B549D838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iṩḷïde">
              <a:extLst>
                <a:ext uri="{FF2B5EF4-FFF2-40B4-BE49-F238E27FC236}">
                  <a16:creationId xmlns:a16="http://schemas.microsoft.com/office/drawing/2014/main" id="{346C9603-64BA-4063-9B4B-223EF14DB1AC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í$ḷïďê">
              <a:extLst>
                <a:ext uri="{FF2B5EF4-FFF2-40B4-BE49-F238E27FC236}">
                  <a16:creationId xmlns:a16="http://schemas.microsoft.com/office/drawing/2014/main" id="{BD46C2D7-4619-4C8B-890B-3F1204738D68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îśľïḑe">
              <a:extLst>
                <a:ext uri="{FF2B5EF4-FFF2-40B4-BE49-F238E27FC236}">
                  <a16:creationId xmlns:a16="http://schemas.microsoft.com/office/drawing/2014/main" id="{10C2247F-0370-4422-95E6-1554E47E1CA5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ïSlîḍè">
              <a:extLst>
                <a:ext uri="{FF2B5EF4-FFF2-40B4-BE49-F238E27FC236}">
                  <a16:creationId xmlns:a16="http://schemas.microsoft.com/office/drawing/2014/main" id="{D0B379BE-B15A-4713-B8D9-B3226AB3C063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şliḍé">
              <a:extLst>
                <a:ext uri="{FF2B5EF4-FFF2-40B4-BE49-F238E27FC236}">
                  <a16:creationId xmlns:a16="http://schemas.microsoft.com/office/drawing/2014/main" id="{8C4FE83E-416D-48A6-BBCF-6B960E38CB8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ísḻïde">
              <a:extLst>
                <a:ext uri="{FF2B5EF4-FFF2-40B4-BE49-F238E27FC236}">
                  <a16:creationId xmlns:a16="http://schemas.microsoft.com/office/drawing/2014/main" id="{2734F4EE-C3A2-4E41-845D-400A6F2812C3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iŝļiḋê">
              <a:extLst>
                <a:ext uri="{FF2B5EF4-FFF2-40B4-BE49-F238E27FC236}">
                  <a16:creationId xmlns:a16="http://schemas.microsoft.com/office/drawing/2014/main" id="{6264C823-B6B6-46A8-A230-B1FE3CB54C72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iṧḷîdè">
              <a:extLst>
                <a:ext uri="{FF2B5EF4-FFF2-40B4-BE49-F238E27FC236}">
                  <a16:creationId xmlns:a16="http://schemas.microsoft.com/office/drawing/2014/main" id="{2F4ED27C-54FA-434A-ACA1-57534125683E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isļíḍè">
              <a:extLst>
                <a:ext uri="{FF2B5EF4-FFF2-40B4-BE49-F238E27FC236}">
                  <a16:creationId xmlns:a16="http://schemas.microsoft.com/office/drawing/2014/main" id="{EFE13A69-5E04-4822-8628-83BABE47595F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ṡ1íḓe">
              <a:extLst>
                <a:ext uri="{FF2B5EF4-FFF2-40B4-BE49-F238E27FC236}">
                  <a16:creationId xmlns:a16="http://schemas.microsoft.com/office/drawing/2014/main" id="{A9324D63-B67E-44D7-AE8B-74BA73907C2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isḷiḑê">
              <a:extLst>
                <a:ext uri="{FF2B5EF4-FFF2-40B4-BE49-F238E27FC236}">
                  <a16:creationId xmlns:a16="http://schemas.microsoft.com/office/drawing/2014/main" id="{98CDD5EA-5A89-4A80-82C6-47F4FFDD6421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ïṥlíḓê">
              <a:extLst>
                <a:ext uri="{FF2B5EF4-FFF2-40B4-BE49-F238E27FC236}">
                  <a16:creationId xmlns:a16="http://schemas.microsoft.com/office/drawing/2014/main" id="{C4D79308-07D4-4619-AD52-15E2DB368814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îṧḷíḍé">
              <a:extLst>
                <a:ext uri="{FF2B5EF4-FFF2-40B4-BE49-F238E27FC236}">
                  <a16:creationId xmlns:a16="http://schemas.microsoft.com/office/drawing/2014/main" id="{3CD0E4FF-8ACD-4ADC-8A90-F400193F5867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îṩḻïďè">
              <a:extLst>
                <a:ext uri="{FF2B5EF4-FFF2-40B4-BE49-F238E27FC236}">
                  <a16:creationId xmlns:a16="http://schemas.microsoft.com/office/drawing/2014/main" id="{2239A582-C160-4F8A-9171-28ED5B53FF01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ïşļídé">
              <a:extLst>
                <a:ext uri="{FF2B5EF4-FFF2-40B4-BE49-F238E27FC236}">
                  <a16:creationId xmlns:a16="http://schemas.microsoft.com/office/drawing/2014/main" id="{F9E1A4AC-4845-4AC7-ABB5-B3608AC39082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iṧḻíďe">
              <a:extLst>
                <a:ext uri="{FF2B5EF4-FFF2-40B4-BE49-F238E27FC236}">
                  <a16:creationId xmlns:a16="http://schemas.microsoft.com/office/drawing/2014/main" id="{E16CEF24-85BF-4C1F-BDFE-30D782A5318E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ïSlïḓé">
              <a:extLst>
                <a:ext uri="{FF2B5EF4-FFF2-40B4-BE49-F238E27FC236}">
                  <a16:creationId xmlns:a16="http://schemas.microsoft.com/office/drawing/2014/main" id="{E5A1E6C7-56F5-4158-ACE3-D66BC5887352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išľîḑé">
              <a:extLst>
                <a:ext uri="{FF2B5EF4-FFF2-40B4-BE49-F238E27FC236}">
                  <a16:creationId xmlns:a16="http://schemas.microsoft.com/office/drawing/2014/main" id="{4CC0C176-791F-4AAA-A774-C8766B49EDCC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îṥḻîďè">
              <a:extLst>
                <a:ext uri="{FF2B5EF4-FFF2-40B4-BE49-F238E27FC236}">
                  <a16:creationId xmlns:a16="http://schemas.microsoft.com/office/drawing/2014/main" id="{B151BD1B-C67D-4E09-B86B-2EAF8414BA0A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i$líḋé">
              <a:extLst>
                <a:ext uri="{FF2B5EF4-FFF2-40B4-BE49-F238E27FC236}">
                  <a16:creationId xmlns:a16="http://schemas.microsoft.com/office/drawing/2014/main" id="{2D3B3C12-275E-43C0-A5C8-A633229C41EC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iṡľîḋê">
              <a:extLst>
                <a:ext uri="{FF2B5EF4-FFF2-40B4-BE49-F238E27FC236}">
                  <a16:creationId xmlns:a16="http://schemas.microsoft.com/office/drawing/2014/main" id="{FB9F5C41-17F3-4C0A-88AB-97565D7D7635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ïśḷîḍè">
              <a:extLst>
                <a:ext uri="{FF2B5EF4-FFF2-40B4-BE49-F238E27FC236}">
                  <a16:creationId xmlns:a16="http://schemas.microsoft.com/office/drawing/2014/main" id="{8736062F-8ED9-4E47-8C83-E31E42F7AB43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íṣļíḓe">
              <a:extLst>
                <a:ext uri="{FF2B5EF4-FFF2-40B4-BE49-F238E27FC236}">
                  <a16:creationId xmlns:a16="http://schemas.microsoft.com/office/drawing/2014/main" id="{B42652D7-331D-4417-B73B-609D37FACE55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ïslïḓé">
              <a:extLst>
                <a:ext uri="{FF2B5EF4-FFF2-40B4-BE49-F238E27FC236}">
                  <a16:creationId xmlns:a16="http://schemas.microsoft.com/office/drawing/2014/main" id="{6C03B68B-1B98-4918-8B5C-6515C7D2FD60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ïṣḻîḋé">
              <a:extLst>
                <a:ext uri="{FF2B5EF4-FFF2-40B4-BE49-F238E27FC236}">
                  <a16:creationId xmlns:a16="http://schemas.microsoft.com/office/drawing/2014/main" id="{72C420A4-1005-42BD-B7EB-24F9D62D1176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ïṥḷîḓè">
              <a:extLst>
                <a:ext uri="{FF2B5EF4-FFF2-40B4-BE49-F238E27FC236}">
                  <a16:creationId xmlns:a16="http://schemas.microsoft.com/office/drawing/2014/main" id="{C49A975A-0601-4D0E-B007-975850AD38F5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iṥḷíďè">
              <a:extLst>
                <a:ext uri="{FF2B5EF4-FFF2-40B4-BE49-F238E27FC236}">
                  <a16:creationId xmlns:a16="http://schemas.microsoft.com/office/drawing/2014/main" id="{0F1BB791-2CD7-434B-A26F-9D2FFB665FA5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ïş1ídè">
              <a:extLst>
                <a:ext uri="{FF2B5EF4-FFF2-40B4-BE49-F238E27FC236}">
                  <a16:creationId xmlns:a16="http://schemas.microsoft.com/office/drawing/2014/main" id="{48B83BF4-5AD5-49C1-8B23-483DF141A4AB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îŝļiḑe">
              <a:extLst>
                <a:ext uri="{FF2B5EF4-FFF2-40B4-BE49-F238E27FC236}">
                  <a16:creationId xmlns:a16="http://schemas.microsoft.com/office/drawing/2014/main" id="{7E5E3951-36BA-4D12-B1D5-8DCAF37AB3C4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í$ļïḓé">
              <a:extLst>
                <a:ext uri="{FF2B5EF4-FFF2-40B4-BE49-F238E27FC236}">
                  <a16:creationId xmlns:a16="http://schemas.microsoft.com/office/drawing/2014/main" id="{0BD07E8F-B8EA-4F79-B49A-F822350EE240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i$1iďê">
              <a:extLst>
                <a:ext uri="{FF2B5EF4-FFF2-40B4-BE49-F238E27FC236}">
                  <a16:creationId xmlns:a16="http://schemas.microsoft.com/office/drawing/2014/main" id="{FECC6020-AB3A-4030-8F98-F466C809E30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îšḷiḍe">
              <a:extLst>
                <a:ext uri="{FF2B5EF4-FFF2-40B4-BE49-F238E27FC236}">
                  <a16:creationId xmlns:a16="http://schemas.microsoft.com/office/drawing/2014/main" id="{8D194721-99D8-4023-B41A-9D6FBB0FEC61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íṥlïdê">
              <a:extLst>
                <a:ext uri="{FF2B5EF4-FFF2-40B4-BE49-F238E27FC236}">
                  <a16:creationId xmlns:a16="http://schemas.microsoft.com/office/drawing/2014/main" id="{759E86FF-B267-4212-9D1A-F4FCB768A31D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íśľîďé">
              <a:extLst>
                <a:ext uri="{FF2B5EF4-FFF2-40B4-BE49-F238E27FC236}">
                  <a16:creationId xmlns:a16="http://schemas.microsoft.com/office/drawing/2014/main" id="{19BB9352-C274-4197-BE2C-B4377239425B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iŝḻîdé">
              <a:extLst>
                <a:ext uri="{FF2B5EF4-FFF2-40B4-BE49-F238E27FC236}">
                  <a16:creationId xmlns:a16="http://schemas.microsoft.com/office/drawing/2014/main" id="{49F4EDB6-A957-429D-848C-6DD59080B28C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ïsḷiḍé">
              <a:extLst>
                <a:ext uri="{FF2B5EF4-FFF2-40B4-BE49-F238E27FC236}">
                  <a16:creationId xmlns:a16="http://schemas.microsoft.com/office/drawing/2014/main" id="{DD4C49D8-B857-45EF-A5FF-A5F188B45A19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íṧ1iďè">
              <a:extLst>
                <a:ext uri="{FF2B5EF4-FFF2-40B4-BE49-F238E27FC236}">
                  <a16:creationId xmlns:a16="http://schemas.microsoft.com/office/drawing/2014/main" id="{05572607-00FA-465E-BB4A-8D950F05E24B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îṩľíḓe">
              <a:extLst>
                <a:ext uri="{FF2B5EF4-FFF2-40B4-BE49-F238E27FC236}">
                  <a16:creationId xmlns:a16="http://schemas.microsoft.com/office/drawing/2014/main" id="{73F97950-F65B-44CE-8526-0ABA350DC161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ïṡ1ïḑé">
              <a:extLst>
                <a:ext uri="{FF2B5EF4-FFF2-40B4-BE49-F238E27FC236}">
                  <a16:creationId xmlns:a16="http://schemas.microsoft.com/office/drawing/2014/main" id="{620F7DEE-055C-4437-9C79-5A0B17B05BEC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iṡlíďe">
              <a:extLst>
                <a:ext uri="{FF2B5EF4-FFF2-40B4-BE49-F238E27FC236}">
                  <a16:creationId xmlns:a16="http://schemas.microsoft.com/office/drawing/2014/main" id="{209CD8D5-C519-4D16-B813-42F322757C2E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ïšḷiḍè">
              <a:extLst>
                <a:ext uri="{FF2B5EF4-FFF2-40B4-BE49-F238E27FC236}">
                  <a16:creationId xmlns:a16="http://schemas.microsoft.com/office/drawing/2014/main" id="{86C4D568-D623-4128-8CD4-518A40978BE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í$1îḓè">
              <a:extLst>
                <a:ext uri="{FF2B5EF4-FFF2-40B4-BE49-F238E27FC236}">
                  <a16:creationId xmlns:a16="http://schemas.microsoft.com/office/drawing/2014/main" id="{A748391C-61C8-47D3-BD94-B8D19822BB01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î$ľidé">
              <a:extLst>
                <a:ext uri="{FF2B5EF4-FFF2-40B4-BE49-F238E27FC236}">
                  <a16:creationId xmlns:a16="http://schemas.microsoft.com/office/drawing/2014/main" id="{1D6EE668-B625-479D-AD75-8A4B4B5EE70F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išḻïďê">
              <a:extLst>
                <a:ext uri="{FF2B5EF4-FFF2-40B4-BE49-F238E27FC236}">
                  <a16:creationId xmlns:a16="http://schemas.microsoft.com/office/drawing/2014/main" id="{61FA7743-226A-48B6-A9FC-0DBD091E240F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îSļíďê">
              <a:extLst>
                <a:ext uri="{FF2B5EF4-FFF2-40B4-BE49-F238E27FC236}">
                  <a16:creationId xmlns:a16="http://schemas.microsoft.com/office/drawing/2014/main" id="{379B63A7-CC83-4479-AFF6-C64C041A0341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ṧḻiḋe">
              <a:extLst>
                <a:ext uri="{FF2B5EF4-FFF2-40B4-BE49-F238E27FC236}">
                  <a16:creationId xmlns:a16="http://schemas.microsoft.com/office/drawing/2014/main" id="{AD0B9A7B-F4F7-4286-AB2C-3BFB9F050BF0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îṡ1iďé">
              <a:extLst>
                <a:ext uri="{FF2B5EF4-FFF2-40B4-BE49-F238E27FC236}">
                  <a16:creationId xmlns:a16="http://schemas.microsoft.com/office/drawing/2014/main" id="{988627DB-6011-4D06-BA37-769B520D0C23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ï$ḷïdè">
              <a:extLst>
                <a:ext uri="{FF2B5EF4-FFF2-40B4-BE49-F238E27FC236}">
                  <a16:creationId xmlns:a16="http://schemas.microsoft.com/office/drawing/2014/main" id="{B38589FE-DA96-4EB9-816B-A381CB0BA409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işlîḋê">
              <a:extLst>
                <a:ext uri="{FF2B5EF4-FFF2-40B4-BE49-F238E27FC236}">
                  <a16:creationId xmlns:a16="http://schemas.microsoft.com/office/drawing/2014/main" id="{878804B2-A9D2-4E01-9E58-D70093452395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işḻïḑè">
              <a:extLst>
                <a:ext uri="{FF2B5EF4-FFF2-40B4-BE49-F238E27FC236}">
                  <a16:creationId xmlns:a16="http://schemas.microsoft.com/office/drawing/2014/main" id="{F847D0F7-919C-4C25-9B95-81CB0FCAAF40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ïslidê">
              <a:extLst>
                <a:ext uri="{FF2B5EF4-FFF2-40B4-BE49-F238E27FC236}">
                  <a16:creationId xmlns:a16="http://schemas.microsoft.com/office/drawing/2014/main" id="{503638E4-956F-413B-8897-CDD99FD4CC94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íṣḻíḑê">
              <a:extLst>
                <a:ext uri="{FF2B5EF4-FFF2-40B4-BE49-F238E27FC236}">
                  <a16:creationId xmlns:a16="http://schemas.microsoft.com/office/drawing/2014/main" id="{19CF597C-244F-424C-9FE6-DC0D499125CC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ísḻídé">
              <a:extLst>
                <a:ext uri="{FF2B5EF4-FFF2-40B4-BE49-F238E27FC236}">
                  <a16:creationId xmlns:a16="http://schemas.microsoft.com/office/drawing/2014/main" id="{3531395D-DC56-4B48-A95A-C6F235EB63C3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iṧḻide">
              <a:extLst>
                <a:ext uri="{FF2B5EF4-FFF2-40B4-BE49-F238E27FC236}">
                  <a16:creationId xmlns:a16="http://schemas.microsoft.com/office/drawing/2014/main" id="{D6FFC8CF-B749-4860-8C57-8044FF6CB902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ṧļïďe">
              <a:extLst>
                <a:ext uri="{FF2B5EF4-FFF2-40B4-BE49-F238E27FC236}">
                  <a16:creationId xmlns:a16="http://schemas.microsoft.com/office/drawing/2014/main" id="{C6DC6093-03D5-41D4-B44F-C6937E73421F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iṣḷîḋê">
              <a:extLst>
                <a:ext uri="{FF2B5EF4-FFF2-40B4-BE49-F238E27FC236}">
                  <a16:creationId xmlns:a16="http://schemas.microsoft.com/office/drawing/2014/main" id="{CB0B0BE1-8904-4524-8ABC-AC84947369D9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ŝ1ïḍè">
              <a:extLst>
                <a:ext uri="{FF2B5EF4-FFF2-40B4-BE49-F238E27FC236}">
                  <a16:creationId xmlns:a16="http://schemas.microsoft.com/office/drawing/2014/main" id="{E412D4CE-8DE9-4DA7-A71B-17F4B17520A5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íŝlîḋe">
              <a:extLst>
                <a:ext uri="{FF2B5EF4-FFF2-40B4-BE49-F238E27FC236}">
                  <a16:creationId xmlns:a16="http://schemas.microsoft.com/office/drawing/2014/main" id="{65E1FD7A-9EE4-4B21-9213-32BFD3B5078A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iŝḻiďê">
              <a:extLst>
                <a:ext uri="{FF2B5EF4-FFF2-40B4-BE49-F238E27FC236}">
                  <a16:creationId xmlns:a16="http://schemas.microsoft.com/office/drawing/2014/main" id="{90144B1D-D4D0-4353-8E41-46F225878C50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îṥḻiḍè">
              <a:extLst>
                <a:ext uri="{FF2B5EF4-FFF2-40B4-BE49-F238E27FC236}">
                  <a16:creationId xmlns:a16="http://schemas.microsoft.com/office/drawing/2014/main" id="{F95A83D0-CCDD-495A-8CF8-CF7515804C0F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ṩḷîḋe">
              <a:extLst>
                <a:ext uri="{FF2B5EF4-FFF2-40B4-BE49-F238E27FC236}">
                  <a16:creationId xmlns:a16="http://schemas.microsoft.com/office/drawing/2014/main" id="{AF9B4090-3A08-4022-B3EA-A0413D774DDC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ṧḻiḋè">
              <a:extLst>
                <a:ext uri="{FF2B5EF4-FFF2-40B4-BE49-F238E27FC236}">
                  <a16:creationId xmlns:a16="http://schemas.microsoft.com/office/drawing/2014/main" id="{AE56AC39-9C0A-4C0E-99D8-4FCF4D2796E3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î$ľíḓè">
              <a:extLst>
                <a:ext uri="{FF2B5EF4-FFF2-40B4-BE49-F238E27FC236}">
                  <a16:creationId xmlns:a16="http://schemas.microsoft.com/office/drawing/2014/main" id="{276D8587-62A4-44EA-9409-8024F50389B0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ïsľíďe">
              <a:extLst>
                <a:ext uri="{FF2B5EF4-FFF2-40B4-BE49-F238E27FC236}">
                  <a16:creationId xmlns:a16="http://schemas.microsoft.com/office/drawing/2014/main" id="{8500F066-253C-470D-BFC1-09C0232B6EA1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íšḷïdé">
              <a:extLst>
                <a:ext uri="{FF2B5EF4-FFF2-40B4-BE49-F238E27FC236}">
                  <a16:creationId xmlns:a16="http://schemas.microsoft.com/office/drawing/2014/main" id="{7527FBD6-2C24-4137-87E9-2F6F1FAB10BB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ïslîḍê">
              <a:extLst>
                <a:ext uri="{FF2B5EF4-FFF2-40B4-BE49-F238E27FC236}">
                  <a16:creationId xmlns:a16="http://schemas.microsoft.com/office/drawing/2014/main" id="{D7BBB215-B34A-4A30-A6AC-196DFAFD3867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îŝľíḍè">
              <a:extLst>
                <a:ext uri="{FF2B5EF4-FFF2-40B4-BE49-F238E27FC236}">
                  <a16:creationId xmlns:a16="http://schemas.microsoft.com/office/drawing/2014/main" id="{452B0065-201F-4273-882D-B2D36A18C7FF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íşľîḑé">
              <a:extLst>
                <a:ext uri="{FF2B5EF4-FFF2-40B4-BE49-F238E27FC236}">
                  <a16:creationId xmlns:a16="http://schemas.microsoft.com/office/drawing/2014/main" id="{E43A8A5C-F71A-49C7-9D4E-4A751906EC00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íSḷîḍè">
              <a:extLst>
                <a:ext uri="{FF2B5EF4-FFF2-40B4-BE49-F238E27FC236}">
                  <a16:creationId xmlns:a16="http://schemas.microsoft.com/office/drawing/2014/main" id="{E8E78389-29D9-4D4D-AF21-98D5067E300E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îḍè">
              <a:extLst>
                <a:ext uri="{FF2B5EF4-FFF2-40B4-BE49-F238E27FC236}">
                  <a16:creationId xmlns:a16="http://schemas.microsoft.com/office/drawing/2014/main" id="{5BD4A37E-D02A-4B6B-9DE8-3018FCF0A92F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ísḷiḋe">
              <a:extLst>
                <a:ext uri="{FF2B5EF4-FFF2-40B4-BE49-F238E27FC236}">
                  <a16:creationId xmlns:a16="http://schemas.microsoft.com/office/drawing/2014/main" id="{45A14514-6E83-4177-A9E9-D91CC0EC28AA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išḷîḓe">
              <a:extLst>
                <a:ext uri="{FF2B5EF4-FFF2-40B4-BE49-F238E27FC236}">
                  <a16:creationId xmlns:a16="http://schemas.microsoft.com/office/drawing/2014/main" id="{CC275142-586F-4ABF-9865-91A15A69B99F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ïṩļidê">
              <a:extLst>
                <a:ext uri="{FF2B5EF4-FFF2-40B4-BE49-F238E27FC236}">
                  <a16:creationId xmlns:a16="http://schemas.microsoft.com/office/drawing/2014/main" id="{CB1EB223-3268-49E3-9009-8FB4F6B1C0A1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ṧliḑe">
              <a:extLst>
                <a:ext uri="{FF2B5EF4-FFF2-40B4-BE49-F238E27FC236}">
                  <a16:creationId xmlns:a16="http://schemas.microsoft.com/office/drawing/2014/main" id="{78D8483C-51F5-41B6-B92D-284D1FA2DA29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ïśḷïḓè">
              <a:extLst>
                <a:ext uri="{FF2B5EF4-FFF2-40B4-BE49-F238E27FC236}">
                  <a16:creationId xmlns:a16="http://schemas.microsoft.com/office/drawing/2014/main" id="{D0FAE020-E0E9-4A13-882F-6164298F229C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ísliďè">
              <a:extLst>
                <a:ext uri="{FF2B5EF4-FFF2-40B4-BE49-F238E27FC236}">
                  <a16:creationId xmlns:a16="http://schemas.microsoft.com/office/drawing/2014/main" id="{2C4C12CE-7C7F-4659-8EA0-5AA1523635DE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sḷíḍé">
              <a:extLst>
                <a:ext uri="{FF2B5EF4-FFF2-40B4-BE49-F238E27FC236}">
                  <a16:creationId xmlns:a16="http://schemas.microsoft.com/office/drawing/2014/main" id="{0A008D82-9A5C-4C7F-92E1-205C76002CEF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šlîḑê">
              <a:extLst>
                <a:ext uri="{FF2B5EF4-FFF2-40B4-BE49-F238E27FC236}">
                  <a16:creationId xmlns:a16="http://schemas.microsoft.com/office/drawing/2014/main" id="{8E54FE52-7C25-4436-8F28-FD1A9CD43B85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îṧḻîḓé">
              <a:extLst>
                <a:ext uri="{FF2B5EF4-FFF2-40B4-BE49-F238E27FC236}">
                  <a16:creationId xmlns:a16="http://schemas.microsoft.com/office/drawing/2014/main" id="{60871A67-9948-40EE-B00E-92FEBAB9C33F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iśļîḋê">
              <a:extLst>
                <a:ext uri="{FF2B5EF4-FFF2-40B4-BE49-F238E27FC236}">
                  <a16:creationId xmlns:a16="http://schemas.microsoft.com/office/drawing/2014/main" id="{0E5B1037-4321-4789-84B3-A4DE23D0003A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5788F9-2C1B-4ED7-83D6-CE9345B8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97F6D-FA34-49FA-872F-778AAEB988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4B76C6D9-580E-489C-9EA8-3883FABF2BFE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797F6D-FA34-49FA-872F-778AAEB988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1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4</a:t>
            </a:r>
            <a:r>
              <a:rPr lang="zh-CN" altLang="en-US" sz="4400" dirty="0"/>
              <a:t>章 二元关系与函数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EBB1BCF0-D4C7-4F87-A1FB-537C3A222B35}"/>
              </a:ext>
            </a:extLst>
          </p:cNvPr>
          <p:cNvSpPr txBox="1">
            <a:spLocks noChangeArrowheads="1"/>
          </p:cNvSpPr>
          <p:nvPr/>
        </p:nvSpPr>
        <p:spPr>
          <a:xfrm>
            <a:off x="472621" y="1212440"/>
            <a:ext cx="9283852" cy="54040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集合的笛卡儿积与二元关系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fontAlgn="base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关系的运算</a:t>
            </a:r>
          </a:p>
          <a:p>
            <a:pPr marL="0" marR="0" lvl="0" fontAlgn="base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关系的性质</a:t>
            </a:r>
          </a:p>
          <a:p>
            <a:pPr marL="0" marR="0" lvl="0" fontAlgn="base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4.4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关系的闭包</a:t>
            </a:r>
          </a:p>
          <a:p>
            <a:pPr marL="0" marR="0" lvl="0" fontAlgn="base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4.5 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等价关系</a:t>
            </a:r>
            <a:r>
              <a:rPr lang="zh-CN" altLang="en-US" sz="3200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和偏序关系</a:t>
            </a:r>
          </a:p>
          <a:p>
            <a:pPr marL="0" marR="0" lvl="0" fontAlgn="base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CN" sz="3200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4.6 </a:t>
            </a:r>
            <a:r>
              <a:rPr lang="zh-CN" altLang="en-US" sz="3200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函数的定义和性质</a:t>
            </a:r>
          </a:p>
          <a:p>
            <a:pPr marL="0" marR="0" lvl="0" fontAlgn="base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None/>
              <a:tabLst/>
              <a:defRPr/>
            </a:pPr>
            <a:r>
              <a:rPr lang="en-US" altLang="zh-CN" sz="3200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4.7 </a:t>
            </a:r>
            <a:r>
              <a:rPr lang="zh-CN" altLang="en-US" sz="3200" b="1" dirty="0">
                <a:solidFill>
                  <a:schemeClr val="bg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函数的复合和反函数</a:t>
            </a:r>
          </a:p>
          <a:p>
            <a:pPr marL="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有序对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笛卡儿积、性质及其证明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610E44-2BBF-415B-8564-00FB80795670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456123B-4D10-44B3-BA27-CAE677F06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32" y="3355177"/>
            <a:ext cx="10860659" cy="223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808038" marR="0" lvl="0" indent="-808038" algn="l" defTabSz="914400" rtl="0" eaLnBrk="1" fontAlgn="base" latinLnBrk="0" hangingPunct="1">
              <a:lnSpc>
                <a:spcPct val="150000"/>
              </a:lnSpc>
              <a:spcBef>
                <a:spcPct val="6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有序对性质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  <a:p>
            <a:pPr marL="808038" marR="0" lvl="0" indent="-808038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有序性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（当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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时）  </a:t>
            </a:r>
          </a:p>
          <a:p>
            <a:pPr marL="808038" marR="0" lvl="0" indent="-808038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(2) 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相等的充分必要条件是</a:t>
            </a:r>
          </a:p>
          <a:p>
            <a:pPr marL="808038" marR="0" lvl="0" indent="-808038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&gt;=&lt;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u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24F1C87A-773D-40F9-928C-4E86AD75F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47" y="5773634"/>
            <a:ext cx="72929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&lt;2,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= &lt;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x, 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 = 2,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+5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2,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  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B2C341D-634C-4566-94C4-54B2D4F7C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32" y="1833144"/>
            <a:ext cx="10860659" cy="1682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808038" marR="0" lvl="0" indent="-8080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4.1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由两个元素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，按照一定的顺序组成的二元组称为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有序对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808038" marR="0" lvl="0" indent="-8080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      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&gt;.</a:t>
            </a:r>
          </a:p>
          <a:p>
            <a:pPr marL="711200" marR="0" lvl="0" indent="-71120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实例：点的直角坐标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(3,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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4) </a:t>
            </a: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7DC33E6-58B6-487D-ADD4-1FEBCED5D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302584"/>
            <a:ext cx="10662249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元组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FBA17FE-9350-4A63-ACC2-45802A960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9" y="2412516"/>
            <a:ext cx="10662249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4.2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一个有序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3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元组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&lt;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是一个有序对，其中第一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个元素是一个有序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-1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元组，即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&lt;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 = &lt; &lt;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 …,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-1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&gt;, 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 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&lt;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形式上可以看成有序 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元组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实例 </a:t>
            </a:r>
            <a:r>
              <a:rPr kumimoji="0" lang="zh-CN" altLang="en-US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维向量是有序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元组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A6F0B2-83C9-44C6-9F8A-16BAEE3BA024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有序对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6ADA0B7-62D2-4AE7-8E72-E0A439556535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AB6982-BE29-4831-9C05-532056CB4B92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笛卡尔积、性质及其证明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BCF614-A1A0-4A48-8E1E-8454D80FC00A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</p:spTree>
    <p:extLst>
      <p:ext uri="{BB962C8B-B14F-4D97-AF65-F5344CB8AC3E}">
        <p14:creationId xmlns:p14="http://schemas.microsoft.com/office/powerpoint/2010/main" val="153328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11AA3225-5274-442C-B0AA-C45BB35FE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00" y="1665227"/>
            <a:ext cx="9704719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431925" marR="0" lvl="0" indent="-14319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4.3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为集合，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笛卡儿积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记作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，且</a:t>
            </a:r>
          </a:p>
          <a:p>
            <a:pPr marL="1431925" marR="0" lvl="0" indent="-14319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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BAFB04D-1A82-467F-9F7D-AF4E08CB3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13" y="2962214"/>
            <a:ext cx="8351837" cy="93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431925" indent="-1431925" fontAlgn="base">
              <a:spcBef>
                <a:spcPct val="8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1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={1,2,3},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431925" indent="-143192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标题 449">
            <a:extLst>
              <a:ext uri="{FF2B5EF4-FFF2-40B4-BE49-F238E27FC236}">
                <a16:creationId xmlns:a16="http://schemas.microsoft.com/office/drawing/2014/main" id="{00656566-9452-49E7-8AF0-93E4F698E65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1BA0E14-8941-4C7D-BAED-E86FCC2B1074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B43DB05-16C3-4565-BD91-D37E233D5508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A3F0AE9-F412-4AD4-8CFD-5DB13172B8E5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笛卡儿积、性质及其证明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DD4DBDC-A134-45E1-BC4E-B536FF050C2B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C7BE13E-CFE9-4765-A09C-0B283CC5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453" y="3752724"/>
            <a:ext cx="8351837" cy="46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431925" indent="-1431925" fontAlgn="base">
              <a:spcBef>
                <a:spcPct val="8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={&lt;1,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&gt;,&lt;1,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&gt;,&lt;1,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&gt;,&lt;2,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&gt;,&lt;2,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&gt;,&lt;2,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&gt;,&lt;3,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&gt;,&lt;3,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&gt;,&lt;3,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&gt;} 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CA311EE-B567-477D-BB8F-908315764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116" y="4260073"/>
            <a:ext cx="8351837" cy="370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431925" indent="-1431925" fontAlgn="base">
              <a:spcBef>
                <a:spcPct val="8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431925" indent="-143192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06E7DD4-C492-470F-9AD0-DFA1BEA3F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865" y="4736936"/>
            <a:ext cx="8351837" cy="53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431925" indent="-1431925" fontAlgn="base">
              <a:spcBef>
                <a:spcPct val="8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,1&gt;,&lt;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,1&gt;,&lt;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,1&gt;,&lt;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,2&gt;,&lt;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,2&gt;,&lt;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,2&gt;,&lt;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,3&gt;,&lt;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,3&gt;,&lt;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,3&gt;} 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75EB1CD-4D06-4A09-97F0-C617236AC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557" y="5316056"/>
            <a:ext cx="8351837" cy="1350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431925" indent="-1431925" fontAlgn="base">
              <a:spcBef>
                <a:spcPct val="8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431925" indent="-143192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431925" indent="-143192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P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A5926AB3-3B30-4205-B427-1628DBC12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667" y="5776207"/>
            <a:ext cx="3509134" cy="116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431925" indent="-1431925" fontAlgn="base">
              <a:spcBef>
                <a:spcPct val="8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 &lt;{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431925" indent="-143192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tabLst>
                <a:tab pos="1431925" algn="l"/>
              </a:tabLst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641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9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49">
            <a:extLst>
              <a:ext uri="{FF2B5EF4-FFF2-40B4-BE49-F238E27FC236}">
                <a16:creationId xmlns:a16="http://schemas.microsoft.com/office/drawing/2014/main" id="{470E45DD-0633-4610-BC83-C2FCA6F9C18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CD0A596-491B-41AE-ADDA-3156809FB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8" y="2154507"/>
            <a:ext cx="986862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中有一个为空集，则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就是空集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           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=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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=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不适合交换律     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     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</a:p>
          <a:p>
            <a:pPr marL="457200" indent="-457200" eaLnBrk="1" hangingPunct="1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不适合结合律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      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C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  (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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</a:p>
          <a:p>
            <a:pPr marL="457200" marR="0" lvl="0" indent="-457200" eaLnBrk="1" hangingPunct="1">
              <a:lnSpc>
                <a:spcPct val="120000"/>
              </a:lnSpc>
              <a:spcBef>
                <a:spcPts val="0"/>
              </a:spcBef>
              <a:buSzTx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并或交运算满足分配律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zh-CN" altLang="en-US" kern="0" dirty="0">
                <a:solidFill>
                  <a:srgbClr val="000000"/>
                </a:solidFill>
                <a:latin typeface="Times New Roman"/>
                <a:ea typeface="宋体"/>
              </a:rPr>
              <a:t>           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∪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=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∪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 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∪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=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∪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</a:t>
            </a:r>
          </a:p>
          <a:p>
            <a:pPr marL="457200" lvl="0" indent="-457200" eaLnBrk="1" hangingPunct="1">
              <a:lnSpc>
                <a:spcPct val="120000"/>
              </a:lnSpc>
              <a:spcBef>
                <a:spcPts val="0"/>
              </a:spcBef>
              <a:buNone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   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∩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=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∩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 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∩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 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= 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kern="0" dirty="0">
                <a:solidFill>
                  <a:srgbClr val="000000"/>
                </a:solidFill>
                <a:latin typeface="Cambria Math" pitchFamily="18" charset="0"/>
                <a:ea typeface="宋体"/>
                <a:sym typeface="Symbol" pitchFamily="18" charset="2"/>
              </a:rPr>
              <a:t>∩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kern="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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) </a:t>
            </a:r>
          </a:p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|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|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CDF3793-409F-4214-A30A-AB4DE05754FA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12892C-7EC4-4D47-8D8E-00340D379600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2D7E56-5D22-438E-B754-FFA2AE04D12B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笛卡儿积、性质及其证明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9EF592C-C57E-4D65-B473-8B6608AB2514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85BDB8C-8FB9-4E0E-9B77-ABB6758A2A65}"/>
              </a:ext>
            </a:extLst>
          </p:cNvPr>
          <p:cNvSpPr txBox="1"/>
          <p:nvPr/>
        </p:nvSpPr>
        <p:spPr>
          <a:xfrm>
            <a:off x="493862" y="1605315"/>
            <a:ext cx="44404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笛卡儿积的性质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16047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>
            <a:extLst>
              <a:ext uri="{FF2B5EF4-FFF2-40B4-BE49-F238E27FC236}">
                <a16:creationId xmlns:a16="http://schemas.microsoft.com/office/drawing/2014/main" id="{6A45724A-306B-405F-9EF4-BE19BF54F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1693532"/>
            <a:ext cx="971795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=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)∪(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（注：证明集合相等）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0975C4B3-F119-45C9-927E-CDEDA1135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87282"/>
            <a:ext cx="9216725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 任取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 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∪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∪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∨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)∨(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    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∨&lt;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)∪(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  <a:p>
            <a:pPr marL="342900" indent="-3429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所以有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∪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= 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)∪(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×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).</a:t>
            </a:r>
          </a:p>
        </p:txBody>
      </p:sp>
      <p:sp>
        <p:nvSpPr>
          <p:cNvPr id="24" name="标题 449">
            <a:extLst>
              <a:ext uri="{FF2B5EF4-FFF2-40B4-BE49-F238E27FC236}">
                <a16:creationId xmlns:a16="http://schemas.microsoft.com/office/drawing/2014/main" id="{ACF128BF-A190-430F-8D94-B56C2785EE7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905E45D-EC8E-420A-BC9F-E2CADA6CB2EC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C3EE5EF-829F-4D4B-A342-3A0D82CEB8EF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0C12F4-437B-4376-A829-F99E016C8244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A38BD82-F564-43FA-835C-00D6AB12FEE7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</p:spTree>
    <p:extLst>
      <p:ext uri="{BB962C8B-B14F-4D97-AF65-F5344CB8AC3E}">
        <p14:creationId xmlns:p14="http://schemas.microsoft.com/office/powerpoint/2010/main" val="107734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>
            <a:extLst>
              <a:ext uri="{FF2B5EF4-FFF2-40B4-BE49-F238E27FC236}">
                <a16:creationId xmlns:a16="http://schemas.microsoft.com/office/drawing/2014/main" id="{C587B776-0A07-4724-AF1C-C18B58642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1" y="1507287"/>
            <a:ext cx="8686800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</a:p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是否推出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?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为什么？</a:t>
            </a:r>
          </a:p>
          <a:p>
            <a:pPr marL="1524000" marR="0" lvl="0" indent="-15240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A, 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均不为空集呢？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id="{7144AAAD-276E-403B-85EB-0DF1A0CBF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21" y="3626683"/>
            <a:ext cx="8686800" cy="32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</a:t>
            </a: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             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不一定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反例如下：</a:t>
            </a:r>
          </a:p>
          <a:p>
            <a:pPr marL="1524000" indent="-15240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={1}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={2},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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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但是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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26" name="标题 449">
            <a:extLst>
              <a:ext uri="{FF2B5EF4-FFF2-40B4-BE49-F238E27FC236}">
                <a16:creationId xmlns:a16="http://schemas.microsoft.com/office/drawing/2014/main" id="{E31E2A6B-8223-421B-A5B8-EB1E95AF4E4A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641E33-E441-4326-8798-DDB60ECB5BC0}"/>
              </a:ext>
            </a:extLst>
          </p:cNvPr>
          <p:cNvSpPr txBox="1"/>
          <p:nvPr/>
        </p:nvSpPr>
        <p:spPr>
          <a:xfrm>
            <a:off x="568035" y="949038"/>
            <a:ext cx="1984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CA19C04-D8AD-4EFB-9B79-7F678142F45C}"/>
              </a:ext>
            </a:extLst>
          </p:cNvPr>
          <p:cNvSpPr txBox="1"/>
          <p:nvPr/>
        </p:nvSpPr>
        <p:spPr>
          <a:xfrm>
            <a:off x="10110158" y="977361"/>
            <a:ext cx="15527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967691-98AC-4B46-A7C8-94788069BAB0}"/>
              </a:ext>
            </a:extLst>
          </p:cNvPr>
          <p:cNvSpPr txBox="1"/>
          <p:nvPr/>
        </p:nvSpPr>
        <p:spPr>
          <a:xfrm>
            <a:off x="2777707" y="978689"/>
            <a:ext cx="30623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E694E66-DECA-4952-9D12-70C6DD9E0746}"/>
              </a:ext>
            </a:extLst>
          </p:cNvPr>
          <p:cNvSpPr txBox="1"/>
          <p:nvPr/>
        </p:nvSpPr>
        <p:spPr>
          <a:xfrm>
            <a:off x="7237556" y="978688"/>
            <a:ext cx="14406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二元关系</a:t>
            </a:r>
          </a:p>
        </p:txBody>
      </p:sp>
    </p:spTree>
    <p:extLst>
      <p:ext uri="{BB962C8B-B14F-4D97-AF65-F5344CB8AC3E}">
        <p14:creationId xmlns:p14="http://schemas.microsoft.com/office/powerpoint/2010/main" val="220258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4DD4CA0-C4A6-4E30-812E-1C7FF271A0DD}"/>
              </a:ext>
            </a:extLst>
          </p:cNvPr>
          <p:cNvGrpSpPr/>
          <p:nvPr/>
        </p:nvGrpSpPr>
        <p:grpSpPr>
          <a:xfrm>
            <a:off x="569342" y="1574350"/>
            <a:ext cx="9402794" cy="2950455"/>
            <a:chOff x="569342" y="1574350"/>
            <a:chExt cx="9402794" cy="2950455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CB25B00-6211-4D5F-949D-2892F00EF3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342" y="1574350"/>
              <a:ext cx="9402794" cy="2950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Font typeface="Wingdings" pitchFamily="2" charset="2"/>
                <a:buChar char="•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–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–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定义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如果一个集合满足以下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charset="0"/>
                </a:rPr>
                <a:t>条件之一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(1) 集合非空, 且它的元素都是有序对；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(2) 集合是空集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则称该集合为一个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charset="0"/>
                </a:rPr>
                <a:t>二元关系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, 简称为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992677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sym typeface="Arial" charset="0"/>
                </a:rPr>
                <a:t>关系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，记作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R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如果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&lt;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&gt;∈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, 可记作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xRy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；如果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&lt;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&gt;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pitchFamily="18" charset="2"/>
                </a:rPr>
                <a:t>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, 则记作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y</a:t>
              </a:r>
            </a:p>
          </p:txBody>
        </p:sp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00A59D42-9182-4598-A10D-BE473A8924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744571" y="3987781"/>
              <a:ext cx="2333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6D352F1-5CE0-4B83-B6FD-2EA0824BEA16}"/>
              </a:ext>
            </a:extLst>
          </p:cNvPr>
          <p:cNvGrpSpPr/>
          <p:nvPr/>
        </p:nvGrpSpPr>
        <p:grpSpPr>
          <a:xfrm>
            <a:off x="569342" y="4613297"/>
            <a:ext cx="9402794" cy="1769808"/>
            <a:chOff x="569342" y="1999881"/>
            <a:chExt cx="9402794" cy="1769808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79DF5C24-1A94-44DC-95C3-991DA27F0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342" y="1999881"/>
              <a:ext cx="9402794" cy="17698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Font typeface="Wingdings" pitchFamily="2" charset="2"/>
                <a:buChar char="•"/>
                <a:defRPr sz="24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–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–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5pPr>
              <a:lvl6pPr marL="25146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6pPr>
              <a:lvl7pPr marL="29718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7pPr>
              <a:lvl8pPr marL="3429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8pPr>
              <a:lvl9pPr marL="3886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Wingdings" pitchFamily="2" charset="2"/>
                <a:buChar char="»"/>
                <a:defRPr sz="2200">
                  <a:solidFill>
                    <a:schemeClr val="tx1"/>
                  </a:solidFill>
                  <a:latin typeface="Arial" pitchFamily="34" charset="0"/>
                  <a:ea typeface="华文中宋" pitchFamily="2" charset="-122"/>
                </a:defRPr>
              </a:lvl9pPr>
            </a:lstStyle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实例：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={&lt;1,2&gt;,&lt;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&gt;},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={&lt;1,2&gt;,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}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. </a:t>
              </a:r>
              <a:endPara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lvl="0" eaLnBrk="1" hangingPunct="1">
                <a:lnSpc>
                  <a:spcPct val="150000"/>
                </a:lnSpc>
                <a:spcBef>
                  <a:spcPts val="0"/>
                </a:spcBef>
                <a:buNone/>
                <a:defRPr/>
              </a:pP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是二元关系；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中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不是有序对，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S</a:t>
              </a:r>
              <a:r>
                <a:rPr lang="zh-CN" altLang="en-US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不是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二元关系</a:t>
              </a:r>
            </a:p>
            <a:p>
              <a:pPr marL="342900" marR="0" lvl="0" indent="-342900" algn="l" defTabSz="914400" rtl="0" eaLnBrk="1" fontAlgn="base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根据上面的记法，可以写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2,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aRb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 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 </a:t>
              </a:r>
              <a:r>
                <a:rPr kumimoji="0" lang="zh-CN" altLang="en-US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等. </a:t>
              </a:r>
            </a:p>
          </p:txBody>
        </p:sp>
        <p:pic>
          <p:nvPicPr>
            <p:cNvPr id="14" name="Picture 7">
              <a:extLst>
                <a:ext uri="{FF2B5EF4-FFF2-40B4-BE49-F238E27FC236}">
                  <a16:creationId xmlns:a16="http://schemas.microsoft.com/office/drawing/2014/main" id="{8642715A-BB51-4159-B6C5-1B898684E3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47090" y="3303488"/>
              <a:ext cx="233362" cy="285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2331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0BE7C3D-66BA-423E-995D-87C7C0AED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49" y="1516147"/>
            <a:ext cx="10898877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715963" marR="0" lvl="0" indent="-7159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4.6</a:t>
            </a:r>
          </a:p>
          <a:p>
            <a:pPr marL="715963" marR="0" lvl="0" indent="-715963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为集合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</a:rPr>
              <a:t>任何子集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所定义的二元关系叫做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从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到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B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的二元关系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5963" marR="0" lvl="0" indent="-715963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时则叫做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上的二元关系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E8FB174-DF81-4E8B-BEBA-A50E469F2FCA}"/>
              </a:ext>
            </a:extLst>
          </p:cNvPr>
          <p:cNvGrpSpPr/>
          <p:nvPr/>
        </p:nvGrpSpPr>
        <p:grpSpPr>
          <a:xfrm>
            <a:off x="611187" y="3244935"/>
            <a:ext cx="11146227" cy="3311525"/>
            <a:chOff x="611187" y="3244935"/>
            <a:chExt cx="11146227" cy="3311525"/>
          </a:xfrm>
        </p:grpSpPr>
        <p:graphicFrame>
          <p:nvGraphicFramePr>
            <p:cNvPr id="20" name="Object 5">
              <a:extLst>
                <a:ext uri="{FF2B5EF4-FFF2-40B4-BE49-F238E27FC236}">
                  <a16:creationId xmlns:a16="http://schemas.microsoft.com/office/drawing/2014/main" id="{0C0C9CA6-555F-4FA6-A927-8B3067CD0E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4728928"/>
                </p:ext>
              </p:extLst>
            </p:nvPr>
          </p:nvGraphicFramePr>
          <p:xfrm>
            <a:off x="8535892" y="4958390"/>
            <a:ext cx="64194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31922" imgH="219037" progId="Equation.3">
                    <p:embed/>
                  </p:oleObj>
                </mc:Choice>
                <mc:Fallback>
                  <p:oleObj r:id="rId3" imgW="231922" imgH="219037" progId="Equation.3">
                    <p:embed/>
                    <p:pic>
                      <p:nvPicPr>
                        <p:cNvPr id="20" name="Object 5">
                          <a:extLst>
                            <a:ext uri="{FF2B5EF4-FFF2-40B4-BE49-F238E27FC236}">
                              <a16:creationId xmlns:a16="http://schemas.microsoft.com/office/drawing/2014/main" id="{0C0C9CA6-555F-4FA6-A927-8B3067CD0E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35892" y="4958390"/>
                          <a:ext cx="641942" cy="457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861330D7-6C38-469D-8F2D-4F8D54ED7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87" y="3244935"/>
              <a:ext cx="11146227" cy="3311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黑体" pitchFamily="49" charset="-122"/>
                  <a:ea typeface="黑体" pitchFamily="49" charset="-122"/>
                </a:rPr>
                <a:t>例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={0,1},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B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={1,2,3},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那么</a:t>
              </a:r>
              <a:endPara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={&lt;0,2&gt;},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×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B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sym typeface="Symbol" pitchFamily="18" charset="2"/>
                </a:rPr>
                <a:t>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 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={&lt;0,1&gt;}</a:t>
              </a: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60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1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是从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到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B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3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R</a:t>
              </a:r>
              <a:r>
                <a:rPr kumimoji="0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4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也是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. </a:t>
              </a: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6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计数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:  |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|=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|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×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|=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n</a:t>
              </a:r>
              <a:r>
                <a:rPr kumimoji="0" lang="en-US" altLang="zh-CN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2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,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×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的子集有   个</a:t>
              </a:r>
              <a:r>
                <a:rPr lang="en-US" altLang="zh-CN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所以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上有 </a:t>
              </a:r>
              <a:r>
                <a:rPr lang="en-US" altLang="zh-CN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个不同的二元关系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. </a:t>
              </a:r>
            </a:p>
            <a:p>
              <a:pPr marL="715963" marR="0" lvl="0" indent="-715963" defTabSz="91440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69B3F1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例如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：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| = 3,  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A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上有</a:t>
              </a:r>
              <a:r>
                <a:rPr lang="en-US" altLang="zh-CN" sz="2400" b="1" kern="0" dirty="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512</a:t>
              </a:r>
              <a:r>
                <a:rPr lang="zh-CN" altLang="en-US" sz="2400" b="1" kern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个不同的二元关系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</a:rPr>
                <a:t>. </a:t>
              </a:r>
            </a:p>
          </p:txBody>
        </p:sp>
        <p:graphicFrame>
          <p:nvGraphicFramePr>
            <p:cNvPr id="11" name="Object 5">
              <a:extLst>
                <a:ext uri="{FF2B5EF4-FFF2-40B4-BE49-F238E27FC236}">
                  <a16:creationId xmlns:a16="http://schemas.microsoft.com/office/drawing/2014/main" id="{CCD66E59-50BB-4A4C-816F-D7B43EA53E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2841118"/>
                </p:ext>
              </p:extLst>
            </p:nvPr>
          </p:nvGraphicFramePr>
          <p:xfrm>
            <a:off x="5738618" y="4969206"/>
            <a:ext cx="641942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31922" imgH="219037" progId="Equation.3">
                    <p:embed/>
                  </p:oleObj>
                </mc:Choice>
                <mc:Fallback>
                  <p:oleObj r:id="rId3" imgW="231922" imgH="219037" progId="Equation.3">
                    <p:embed/>
                    <p:pic>
                      <p:nvPicPr>
                        <p:cNvPr id="11" name="Object 5">
                          <a:extLst>
                            <a:ext uri="{FF2B5EF4-FFF2-40B4-BE49-F238E27FC236}">
                              <a16:creationId xmlns:a16="http://schemas.microsoft.com/office/drawing/2014/main" id="{CCD66E59-50BB-4A4C-816F-D7B43EA53E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8618" y="4969206"/>
                          <a:ext cx="641942" cy="457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9882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44CB4C0-DBD0-4C30-9D8B-4E7C062F1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36" y="2338850"/>
            <a:ext cx="8401080" cy="425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4.7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为集合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  <a:sym typeface="Symbol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(1)  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上的关系，称为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空关系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全域关系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恒等关系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小于等于关系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L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≤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为实数子集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整除关系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lang="en-US" altLang="zh-CN" i="1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为非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整数子集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包含关系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是集合族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F0E3B15-3F3A-4543-9990-27E6CA23F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333" y="1761346"/>
            <a:ext cx="3756095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上特殊的二元关系</a:t>
            </a:r>
          </a:p>
        </p:txBody>
      </p:sp>
    </p:spTree>
    <p:extLst>
      <p:ext uri="{BB962C8B-B14F-4D97-AF65-F5344CB8AC3E}">
        <p14:creationId xmlns:p14="http://schemas.microsoft.com/office/powerpoint/2010/main" val="79786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B504FEA-1B00-436E-AB98-C84FE849F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71" y="1558652"/>
            <a:ext cx="11222306" cy="1352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={1, 2}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87680E-5AF4-4FBB-A3D4-2A43C5B66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147" y="1986719"/>
            <a:ext cx="5675589" cy="864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{&lt;1,1&gt;,&lt;1,2&gt;,&lt;2,1&gt;,&lt;2,2&gt;}</a:t>
            </a:r>
          </a:p>
          <a:p>
            <a:pPr marL="0" lvl="0" indent="0" eaLnBrk="1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{&lt;1,1&gt;,&lt;</a:t>
            </a: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2,2 &gt;}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46AC638-8601-4980-B955-3866D97CB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85" y="6219278"/>
            <a:ext cx="10878476" cy="544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类似的还可以定义：大于等于关系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大于关系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真包含关系等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9904680-F976-43B1-B32B-A02D612A5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71" y="2889915"/>
            <a:ext cx="11222306" cy="150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{1, 2, 3}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L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992B231-0662-4E7B-B6FF-667A2B573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71" y="4586490"/>
            <a:ext cx="11222306" cy="5704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= 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上的包含关系是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3DC0692-1870-40E7-95E0-99FBC510D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25" y="5209534"/>
            <a:ext cx="8587995" cy="105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{&lt;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}&gt;,&lt;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}&gt;,&lt;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}&gt;,&lt;{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 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&lt;{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}&gt;,&lt;{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}&gt;,&lt;{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}&gt;,&lt;{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}&gt;}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EC885E7-1CFF-405A-B7F4-D1677D4C3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941" y="3324699"/>
            <a:ext cx="6380435" cy="1018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{&lt;1,1&gt;,&lt;1,2&gt;,&lt;1,3&gt;,&lt;2,2&gt;,&lt;2,3&gt;,&lt;3,3&gt;}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{&lt;1,1&gt;,&lt;1,2&gt;,&lt;1,3&gt;,&lt;2,2&gt;,&lt;3,3&gt;}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880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0C01058-0DBA-4D71-8D40-478DCAFE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9" y="1751254"/>
            <a:ext cx="11303831" cy="2195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关系矩阵</a:t>
            </a:r>
          </a:p>
          <a:p>
            <a:pPr marL="441325" indent="-441325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是从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</a:rPr>
              <a:t>A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的关系矩阵是布尔</a:t>
            </a:r>
            <a:endParaRPr lang="en-US" altLang="zh-CN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41325" lvl="0" indent="-441325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0-1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）矩阵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[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ij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] 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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 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441325" lvl="0" indent="-441325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       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ij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5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1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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&lt; 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5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5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5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j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 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14D36C6-0AA3-47A9-BA3B-22720FE6C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9" y="4377917"/>
            <a:ext cx="11303831" cy="168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注意：关系矩阵适合表示从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的关系或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为有穷集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441325" marR="0" lvl="0" indent="-441325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空关系、恒等关系、全域关系的关系矩阵有何特征？</a:t>
            </a:r>
          </a:p>
        </p:txBody>
      </p:sp>
    </p:spTree>
    <p:extLst>
      <p:ext uri="{BB962C8B-B14F-4D97-AF65-F5344CB8AC3E}">
        <p14:creationId xmlns:p14="http://schemas.microsoft.com/office/powerpoint/2010/main" val="44235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CD338D0-4A01-49C2-93A6-1178F9EBD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3" y="1781145"/>
            <a:ext cx="8229600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4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黑体" pitchFamily="49" charset="-122"/>
              <a:ea typeface="黑体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={1, 2, 3, 4},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={&lt;1, 1&gt;, &lt;1, 2&gt;, &lt;2, 3&gt;, &lt;2, 4&gt;, &lt;4, 2&gt;},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的关系矩阵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16EBDC3C-B985-4707-8EB9-7383072C46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048169"/>
              </p:ext>
            </p:extLst>
          </p:nvPr>
        </p:nvGraphicFramePr>
        <p:xfrm>
          <a:off x="3597934" y="3881138"/>
          <a:ext cx="3242813" cy="2287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14949" imgH="931954" progId="Equation.3">
                  <p:embed/>
                </p:oleObj>
              </mc:Choice>
              <mc:Fallback>
                <p:oleObj r:id="rId3" imgW="1314949" imgH="931954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16EBDC3C-B985-4707-8EB9-7383072C46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934" y="3881138"/>
                        <a:ext cx="3242813" cy="22878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012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49">
            <a:extLst>
              <a:ext uri="{FF2B5EF4-FFF2-40B4-BE49-F238E27FC236}">
                <a16:creationId xmlns:a16="http://schemas.microsoft.com/office/drawing/2014/main" id="{680EDA29-F46F-4F36-B7A2-899C9284FBD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D4257D1-E8C2-4DED-813A-1893880A44BC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FC1EDC9-FCC3-4906-8058-C9FAF2BC38A3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关系的表示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684D33-7551-46B1-AC48-E7D2A280CC16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86A6D5D-220C-4646-8E65-C468E14DDC77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9800100-93E8-4D7F-ABDC-8B7A326F0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07" y="1820265"/>
            <a:ext cx="10962651" cy="2193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关系图</a:t>
            </a:r>
          </a:p>
          <a:p>
            <a:pPr marL="441325" marR="0" lvl="0" indent="-44132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…,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的关系图是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为结点集，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为边集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j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属于关系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在图中就有一条从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j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的有向边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441325" marR="0" lvl="0" indent="-441325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998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">
            <a:extLst>
              <a:ext uri="{FF2B5EF4-FFF2-40B4-BE49-F238E27FC236}">
                <a16:creationId xmlns:a16="http://schemas.microsoft.com/office/drawing/2014/main" id="{2820387F-A902-4DA0-8E72-A2CA8046E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80" y="1720766"/>
            <a:ext cx="11510043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例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</a:p>
          <a:p>
            <a:pPr marL="457200" marR="0" lvl="0" indent="-4572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={1, 2, 3, 4},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={&lt;1, 1&gt;, &lt;1, 2&gt;, &lt;2, 3&gt;, &lt;2, 4&gt;, &lt;4, 2&gt;},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spcBef>
                <a:spcPts val="18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的关系图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如右图：</a:t>
            </a:r>
          </a:p>
        </p:txBody>
      </p:sp>
      <p:pic>
        <p:nvPicPr>
          <p:cNvPr id="41" name="Picture 4" descr="图片2">
            <a:extLst>
              <a:ext uri="{FF2B5EF4-FFF2-40B4-BE49-F238E27FC236}">
                <a16:creationId xmlns:a16="http://schemas.microsoft.com/office/drawing/2014/main" id="{459C337C-B47B-4191-B47D-F99BDB757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27747" y="1894161"/>
            <a:ext cx="2180170" cy="209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标题 449">
            <a:extLst>
              <a:ext uri="{FF2B5EF4-FFF2-40B4-BE49-F238E27FC236}">
                <a16:creationId xmlns:a16="http://schemas.microsoft.com/office/drawing/2014/main" id="{2F4F8287-FA5E-412D-8601-760CB04EBCDD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817514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集合的笛卡儿积与二元关系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A3146D3-AF6E-4BFD-8BB0-077954BBA723}"/>
              </a:ext>
            </a:extLst>
          </p:cNvPr>
          <p:cNvSpPr txBox="1"/>
          <p:nvPr/>
        </p:nvSpPr>
        <p:spPr>
          <a:xfrm>
            <a:off x="568035" y="949038"/>
            <a:ext cx="2023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有序对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7E2F743-2456-431E-A342-4EFD6DA52BD7}"/>
              </a:ext>
            </a:extLst>
          </p:cNvPr>
          <p:cNvSpPr txBox="1"/>
          <p:nvPr/>
        </p:nvSpPr>
        <p:spPr>
          <a:xfrm>
            <a:off x="10110158" y="977361"/>
            <a:ext cx="1583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关系的表示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4D0D5F-6572-41A7-B44E-7AEEF3D89A94}"/>
              </a:ext>
            </a:extLst>
          </p:cNvPr>
          <p:cNvSpPr txBox="1"/>
          <p:nvPr/>
        </p:nvSpPr>
        <p:spPr>
          <a:xfrm>
            <a:off x="2777706" y="978689"/>
            <a:ext cx="3122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笛卡尔积、性质及其证明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FF2DC66-0464-4742-B7EE-459B2A41CF70}"/>
              </a:ext>
            </a:extLst>
          </p:cNvPr>
          <p:cNvSpPr txBox="1"/>
          <p:nvPr/>
        </p:nvSpPr>
        <p:spPr>
          <a:xfrm>
            <a:off x="7237556" y="978688"/>
            <a:ext cx="1469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二元关系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8B42AAF-6D9E-4144-9DCA-E12B12BAA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24" y="5882062"/>
            <a:ext cx="9773131" cy="75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综上，关系可以用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集合表达式、关系矩阵、关系图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三种方法来表示</a:t>
            </a:r>
            <a:endParaRPr lang="zh-CN" altLang="en-US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1C31AD9-A74A-4B8F-B2BF-2C20BA4E1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0224" y="4016621"/>
            <a:ext cx="10962651" cy="196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41325" marR="0" lvl="0" indent="-441325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关系图适合表示有穷集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上的关系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41325" marR="0" lvl="0" indent="-441325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空关系、恒等关系、全域关系的关系图有何特征？</a:t>
            </a:r>
          </a:p>
        </p:txBody>
      </p:sp>
    </p:spTree>
    <p:extLst>
      <p:ext uri="{BB962C8B-B14F-4D97-AF65-F5344CB8AC3E}">
        <p14:creationId xmlns:p14="http://schemas.microsoft.com/office/powerpoint/2010/main" val="398587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2979835-63AE-40D2-BCD1-7A5CC8D35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223" y="1794624"/>
            <a:ext cx="814705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4.8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关系的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定义域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值域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域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分别定义为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dom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}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}</a:t>
            </a: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fld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dom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A4782C4-58DC-418D-BF2D-AD0D00531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36" y="4458449"/>
            <a:ext cx="8459787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fontAlgn="base">
              <a:lnSpc>
                <a:spcPct val="150000"/>
              </a:lnSpc>
              <a:spcBef>
                <a:spcPct val="75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charset="0"/>
              </a:rPr>
              <a:t>例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={&lt;1,2&gt;,&lt;1,3&gt;,&lt;2,4&gt;,&lt;4,3&gt;},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</a:t>
            </a:r>
          </a:p>
          <a:p>
            <a:pPr marL="45720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={1, 2, 4}   </a:t>
            </a:r>
          </a:p>
          <a:p>
            <a:pPr marL="45720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={2, 3, 4} </a:t>
            </a:r>
          </a:p>
          <a:p>
            <a:pPr marL="457200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fld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={1, 2, 3, 4}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22C2CB-4BE8-4A01-8C41-49B864121A30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</p:spTree>
    <p:extLst>
      <p:ext uri="{BB962C8B-B14F-4D97-AF65-F5344CB8AC3E}">
        <p14:creationId xmlns:p14="http://schemas.microsoft.com/office/powerpoint/2010/main" val="317714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10520797" y="952809"/>
            <a:ext cx="10558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幂运算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21125CD-A7DA-492F-B74E-BB8095A72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7" y="1625868"/>
            <a:ext cx="8738560" cy="87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indent="-457200" eaLnBrk="1" hangingPunct="1">
              <a:buNone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zh-CN" altLang="en-US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1, 2, 3, 4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</a:t>
            </a:r>
            <a:r>
              <a:rPr lang="en-US" altLang="zh-CN" sz="2400" b="1" i="1" dirty="0">
                <a:solidFill>
                  <a:schemeClr val="bg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={&lt;1,1&gt;,&lt;1,2&gt;,&lt;2,3&gt;,&lt;2,4&gt;,&lt;4,2&gt;},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关系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的关系矩阵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和关系图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如下：</a:t>
            </a:r>
          </a:p>
        </p:txBody>
      </p:sp>
      <p:pic>
        <p:nvPicPr>
          <p:cNvPr id="16" name="Picture 4" descr="图片2">
            <a:extLst>
              <a:ext uri="{FF2B5EF4-FFF2-40B4-BE49-F238E27FC236}">
                <a16:creationId xmlns:a16="http://schemas.microsoft.com/office/drawing/2014/main" id="{F0B62E7E-8E27-4D46-BAF5-CDE1940DF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3376" y="2723515"/>
            <a:ext cx="1959458" cy="1887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5234D150-9057-4DD7-85D0-CD4CB6860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195755"/>
              </p:ext>
            </p:extLst>
          </p:nvPr>
        </p:nvGraphicFramePr>
        <p:xfrm>
          <a:off x="1410687" y="2797737"/>
          <a:ext cx="2689365" cy="1897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14949" imgH="931954" progId="Equation.3">
                  <p:embed/>
                </p:oleObj>
              </mc:Choice>
              <mc:Fallback>
                <p:oleObj r:id="rId4" imgW="1314949" imgH="931954" progId="Equation.3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5234D150-9057-4DD7-85D0-CD4CB68603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687" y="2797737"/>
                        <a:ext cx="2689365" cy="18974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>
            <a:extLst>
              <a:ext uri="{FF2B5EF4-FFF2-40B4-BE49-F238E27FC236}">
                <a16:creationId xmlns:a16="http://schemas.microsoft.com/office/drawing/2014/main" id="{A1461DD7-A3E5-427F-BAA5-818B93FDE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7" y="5340618"/>
            <a:ext cx="10406334" cy="58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  <a:defRPr/>
            </a:pP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{1,  2,  4},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{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</a:rPr>
              <a:t>1, 2, 3, 4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},  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fld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{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/>
                <a:ea typeface="宋体"/>
              </a:rPr>
              <a:t>1, 2, 3, 4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}</a:t>
            </a:r>
            <a:endParaRPr lang="zh-CN" altLang="en-US" sz="2400" b="1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86671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4D963056-B62A-4BF6-852E-B8ACD6092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88" y="2264942"/>
            <a:ext cx="10801316" cy="391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4.9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为任意的关系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是集合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/>
                <a:ea typeface="宋体"/>
              </a:rPr>
              <a:t>F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的逆记作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yFx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</a:p>
          <a:p>
            <a:pPr eaLnBrk="1" fontAlgn="base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F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kern="0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的合成记作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{&lt;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y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|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xGz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b="1" i="1" kern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zFy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}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marL="342900" indent="-342900" eaLnBrk="1" fontAlgn="base" hangingPunct="1">
              <a:lnSpc>
                <a:spcPct val="200000"/>
              </a:lnSpc>
              <a:spcAft>
                <a:spcPct val="0"/>
              </a:spcAft>
              <a:buClr>
                <a:srgbClr val="00007D"/>
              </a:buClr>
              <a:buSzPct val="75000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上的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限制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记作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，即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&gt;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xFy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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}</a:t>
            </a:r>
          </a:p>
          <a:p>
            <a:pPr marL="342900" indent="-342900" eaLnBrk="1" fontAlgn="base" hangingPunct="1">
              <a:lnSpc>
                <a:spcPct val="200000"/>
              </a:lnSpc>
              <a:spcAft>
                <a:spcPct val="0"/>
              </a:spcAft>
              <a:buClr>
                <a:srgbClr val="00007D"/>
              </a:buClr>
              <a:buSzPct val="75000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A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下的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记作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]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，即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] = ran(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) 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D554C6-4F8B-42BC-A8A4-A4A00020CE99}"/>
              </a:ext>
            </a:extLst>
          </p:cNvPr>
          <p:cNvSpPr txBox="1"/>
          <p:nvPr/>
        </p:nvSpPr>
        <p:spPr>
          <a:xfrm>
            <a:off x="545618" y="1622564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逆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合成、限制、像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237799-B9CA-4CB9-B658-727974ACF20C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</p:spTree>
    <p:extLst>
      <p:ext uri="{BB962C8B-B14F-4D97-AF65-F5344CB8AC3E}">
        <p14:creationId xmlns:p14="http://schemas.microsoft.com/office/powerpoint/2010/main" val="209892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48112A4B-16A9-4369-8220-7415EE426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769" y="1680503"/>
            <a:ext cx="11137506" cy="182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={&lt;1, 2&gt;, &lt;2, 3&gt;, &lt;1, 4&gt;, &lt;2, 2&gt;},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={&lt;1, 1&gt;, &lt;1, 3&gt;, &lt;2, 3&gt;, &lt;3, 2&gt;, &lt;3, 3&gt;} 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</a:rPr>
              <a:t>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</a:p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宋体" panose="02010600030101010101" pitchFamily="2" charset="-122"/>
              </a:rPr>
              <a:t>∘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0F2F9AF-3EB0-4848-A210-2C57D32C35D5}"/>
              </a:ext>
            </a:extLst>
          </p:cNvPr>
          <p:cNvSpPr txBox="1">
            <a:spLocks noChangeArrowheads="1"/>
          </p:cNvSpPr>
          <p:nvPr/>
        </p:nvSpPr>
        <p:spPr>
          <a:xfrm>
            <a:off x="421079" y="3955611"/>
            <a:ext cx="3538274" cy="45127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合成运算的图示方法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DE472F6-3B0E-4FF4-8151-35D875D8E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03" y="4464271"/>
            <a:ext cx="5751810" cy="16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利用图示（不是关系图）方法求合成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 = {&lt;1, 2&gt;, &lt;1, 4&gt;, &lt;3, 2&gt;, &lt;3, 3&gt;}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 = {&lt;1, 3&gt;, &lt;2, 2&gt;, &lt;2, 3&gt;}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805B9F-3175-4235-9F25-EE109929D5D8}"/>
              </a:ext>
            </a:extLst>
          </p:cNvPr>
          <p:cNvGrpSpPr/>
          <p:nvPr/>
        </p:nvGrpSpPr>
        <p:grpSpPr>
          <a:xfrm>
            <a:off x="5536539" y="4482636"/>
            <a:ext cx="2964140" cy="1781458"/>
            <a:chOff x="5536539" y="4482636"/>
            <a:chExt cx="2964140" cy="1781458"/>
          </a:xfrm>
        </p:grpSpPr>
        <p:pic>
          <p:nvPicPr>
            <p:cNvPr id="11" name="Picture 4" descr="图片2">
              <a:extLst>
                <a:ext uri="{FF2B5EF4-FFF2-40B4-BE49-F238E27FC236}">
                  <a16:creationId xmlns:a16="http://schemas.microsoft.com/office/drawing/2014/main" id="{1C5D8DC3-167D-4BA5-BA40-6181C941C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393" t="2632" r="-3078" b="10526"/>
            <a:stretch>
              <a:fillRect/>
            </a:stretch>
          </p:blipFill>
          <p:spPr bwMode="auto">
            <a:xfrm>
              <a:off x="5536539" y="4482636"/>
              <a:ext cx="2964140" cy="176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33923B3-A3AA-434D-A5A0-80A6FDC8E5E0}"/>
                </a:ext>
              </a:extLst>
            </p:cNvPr>
            <p:cNvSpPr txBox="1"/>
            <p:nvPr/>
          </p:nvSpPr>
          <p:spPr>
            <a:xfrm>
              <a:off x="6875253" y="5900468"/>
              <a:ext cx="558166" cy="3636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0" lang="en-US" altLang="zh-CN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∘</a:t>
              </a: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57E204D-83BF-4958-8E2D-B0461C6B59C8}"/>
              </a:ext>
            </a:extLst>
          </p:cNvPr>
          <p:cNvGrpSpPr/>
          <p:nvPr/>
        </p:nvGrpSpPr>
        <p:grpSpPr>
          <a:xfrm>
            <a:off x="8994685" y="4278971"/>
            <a:ext cx="2737239" cy="2016751"/>
            <a:chOff x="8994685" y="4278971"/>
            <a:chExt cx="2737239" cy="2016751"/>
          </a:xfrm>
        </p:grpSpPr>
        <p:pic>
          <p:nvPicPr>
            <p:cNvPr id="12" name="Picture 4" descr="图片2">
              <a:extLst>
                <a:ext uri="{FF2B5EF4-FFF2-40B4-BE49-F238E27FC236}">
                  <a16:creationId xmlns:a16="http://schemas.microsoft.com/office/drawing/2014/main" id="{756DE75B-F0E2-4D32-A701-888E10435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194" b="13158"/>
            <a:stretch>
              <a:fillRect/>
            </a:stretch>
          </p:blipFill>
          <p:spPr bwMode="auto">
            <a:xfrm>
              <a:off x="8994685" y="4278971"/>
              <a:ext cx="2737239" cy="1861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B69B253-E47C-4844-AFCB-5E8FCBBD91B5}"/>
                </a:ext>
              </a:extLst>
            </p:cNvPr>
            <p:cNvSpPr txBox="1"/>
            <p:nvPr/>
          </p:nvSpPr>
          <p:spPr>
            <a:xfrm>
              <a:off x="10417834" y="5932096"/>
              <a:ext cx="569387" cy="3636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kumimoji="0" lang="en-US" altLang="zh-CN" sz="1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∘</a:t>
              </a:r>
              <a:r>
                <a:rPr kumimoji="0" lang="en-US" altLang="zh-CN" sz="1600" b="1" i="1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6C280145-EE57-47B6-B806-350C3608F574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B0A2D6A3-153F-4758-9937-4CC1F606B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094" y="2561284"/>
            <a:ext cx="4675560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{&lt;1, 2&gt;, &lt;1, 4&gt;, &lt;3, 2&gt;, &lt;3, 3&gt;}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BD9CD187-5D10-4A1B-8976-C4AB056E0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094" y="2088396"/>
            <a:ext cx="4675560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{&lt;2, 1&gt;, &lt;3, 2&gt;, &lt;4, 1&gt;, &lt;2, 2&gt;} 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E49ED68F-C75D-475F-B25D-11BB9B087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7094" y="3043138"/>
            <a:ext cx="4675560" cy="496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{&lt;1, 3&gt;, &lt;2, 2&gt;, &lt;2, 3&gt;}</a:t>
            </a:r>
          </a:p>
        </p:txBody>
      </p:sp>
    </p:spTree>
    <p:extLst>
      <p:ext uri="{BB962C8B-B14F-4D97-AF65-F5344CB8AC3E}">
        <p14:creationId xmlns:p14="http://schemas.microsoft.com/office/powerpoint/2010/main" val="145895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基本运算的性质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091C5092-2CFE-493C-B66E-58BD0EE5F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28" y="1817865"/>
            <a:ext cx="6049153" cy="2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7D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= {&lt;1, 2&gt;, &lt;2, 3&gt;, &lt;1, 4&gt;, &lt;2, 2&gt;}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↾{1} =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[{1}] =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 =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None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[{1, 2}] =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8F89E2-9E3D-4DEF-A3EC-782E1FEBAB85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FB7CC3E-9459-40C9-B335-C8FD71364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309" y="2895644"/>
            <a:ext cx="1447907" cy="671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{2, 4}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3885ED7-C99B-402A-8655-3C7D031A0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128" y="4882900"/>
            <a:ext cx="6049153" cy="839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rgbClr val="00007D"/>
              </a:buClr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：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↾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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,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[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] 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A4C1C96-7ADE-4B1B-943D-CA8EDFA53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7100" y="3986666"/>
            <a:ext cx="2312853" cy="767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{2, 3, 4}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55736ED-66DA-4875-B342-1CAF46228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979" y="3465883"/>
            <a:ext cx="792889" cy="530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  <a:sym typeface="Symbol" panose="05050102010706020507" pitchFamily="18" charset="2"/>
              </a:rPr>
              <a:t>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2DCD9D4-B447-49DF-84C2-F9FB50E6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539" y="2345593"/>
            <a:ext cx="2676191" cy="700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{&lt;1, 2&gt;,&lt;1, 4&gt;}</a:t>
            </a:r>
          </a:p>
        </p:txBody>
      </p:sp>
    </p:spTree>
    <p:extLst>
      <p:ext uri="{BB962C8B-B14F-4D97-AF65-F5344CB8AC3E}">
        <p14:creationId xmlns:p14="http://schemas.microsoft.com/office/powerpoint/2010/main" val="31177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98B2CE2-E54D-4AA9-BC9B-82B89FBE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70" y="1481647"/>
            <a:ext cx="8218488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616075" marR="0" lvl="0" indent="-1616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4.1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zh-CN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是任意的关系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marL="1616075" indent="-1616075" eaLnBrk="1" hangingPunct="1"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=F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（矩阵转置的转置是本身）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16075" marR="0" lvl="0" indent="-1616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(2)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dom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ran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dom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ECB3B3F-83A5-440A-A68F-E8EB8F9C0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83" y="3137410"/>
            <a:ext cx="7704137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16075" indent="-1616075" fontAlgn="base"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(1)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由逆的定义有</a:t>
            </a:r>
          </a:p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FB3EFFFB-D442-4EE2-A901-DFE24DBAB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083" y="4577272"/>
            <a:ext cx="77771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(2)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</a:p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 </a:t>
            </a:r>
          </a:p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所以有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 </a:t>
            </a:r>
          </a:p>
          <a:p>
            <a:pPr marL="1616075" indent="-1616075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同理可证 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ran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dom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9A3141D-8625-4D92-86A3-841D4DE8E0E7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</p:spTree>
    <p:extLst>
      <p:ext uri="{BB962C8B-B14F-4D97-AF65-F5344CB8AC3E}">
        <p14:creationId xmlns:p14="http://schemas.microsoft.com/office/powerpoint/2010/main" val="340734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98B2CE2-E54D-4AA9-BC9B-82B89FBE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70" y="1481647"/>
            <a:ext cx="8218488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616075" marR="0" lvl="0" indent="-1616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(3)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36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（矩阵乘法满足结合律）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992677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616075" marR="0" lvl="0" indent="-161607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(4)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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（矩阵乘法的转置运算律）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1095105-A50E-402E-AA3B-05251D917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696" y="3025028"/>
            <a:ext cx="8064500" cy="1365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(3)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 </a:t>
            </a:r>
          </a:p>
          <a:p>
            <a:pPr marL="342900" indent="-342900" fontAlgn="base">
              <a:spcBef>
                <a:spcPts val="600"/>
              </a:spcBef>
              <a:spcAft>
                <a:spcPts val="60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  <a:sym typeface="Symbol" pitchFamily="18" charset="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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dirty="0">
                <a:latin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D439752-1128-4011-B064-7DB0ADA6D4B0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2DBC72A-C37A-43E2-A593-29BD73B05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33" y="4372740"/>
            <a:ext cx="8064500" cy="502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 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 </a:t>
            </a:r>
            <a:r>
              <a:rPr lang="en-US" altLang="zh-CN" sz="2400" b="1" dirty="0">
                <a:latin typeface="Times New Roman" panose="02020603050405020304" pitchFamily="18" charset="0"/>
              </a:rPr>
              <a:t>∧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( 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)∧&lt;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CF21745-D701-44C8-85BA-E7B0392E3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12" y="4784711"/>
            <a:ext cx="8064500" cy="521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 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</a:rPr>
              <a:t>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DFF5ECF7-BBE0-4890-B5D5-D105E0D9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80" y="5201331"/>
            <a:ext cx="8064500" cy="412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</a:rPr>
              <a:t>)∧&lt;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3E8F04C-9931-42C4-AF57-619528949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915" y="5560328"/>
            <a:ext cx="8064500" cy="471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H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∧&lt;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4D7EC5C-02EC-41FB-9605-F082E9BA4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12" y="6384904"/>
            <a:ext cx="8064500" cy="50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E571744A-7D72-4E3A-A399-0FF3DA205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77" y="5962023"/>
            <a:ext cx="8064500" cy="44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/>
              <a:t>∘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Times New Roman" panose="02020603050405020304" pitchFamily="18" charset="0"/>
              </a:rPr>
              <a:t>) 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8F9589FD-EFEA-4872-BCBB-8C32FC716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5754" y="3230375"/>
            <a:ext cx="7416800" cy="1527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(4)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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br>
              <a:rPr lang="en-US" altLang="zh-CN" sz="2400" b="1" dirty="0">
                <a:latin typeface="Times New Roman" panose="02020603050405020304" pitchFamily="18" charset="0"/>
              </a:rPr>
            </a:br>
            <a:r>
              <a:rPr lang="en-US" altLang="zh-CN" sz="2400" b="1" dirty="0">
                <a:latin typeface="Times New Roman" panose="02020603050405020304" pitchFamily="18" charset="0"/>
              </a:rPr>
              <a:t> 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3" name="Text Box 2">
            <a:extLst>
              <a:ext uri="{FF2B5EF4-FFF2-40B4-BE49-F238E27FC236}">
                <a16:creationId xmlns:a16="http://schemas.microsoft.com/office/drawing/2014/main" id="{9D06DF6F-3FE5-401C-9F91-6DEC26244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4979" y="6336649"/>
            <a:ext cx="5954446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i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F0E9B984-2B46-4F90-9F41-5662CCCF3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3491" y="4740932"/>
            <a:ext cx="5954446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 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∧(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)∈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8D45E289-88B8-4694-A227-EA2E3F93B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214" y="5231748"/>
            <a:ext cx="5954446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 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Times New Roman" panose="02020603050405020304" pitchFamily="18" charset="0"/>
              </a:rPr>
              <a:t>(&lt;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∧(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)∈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6" name="Text Box 2">
            <a:extLst>
              <a:ext uri="{FF2B5EF4-FFF2-40B4-BE49-F238E27FC236}">
                <a16:creationId xmlns:a16="http://schemas.microsoft.com/office/drawing/2014/main" id="{33E7D251-4F8F-488D-B972-F5CED21C7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0555" y="5756184"/>
            <a:ext cx="5954446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 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&gt;∈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/>
              <a:t>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latin typeface="Times New Roman" panose="02020603050405020304" pitchFamily="18" charset="0"/>
              </a:rPr>
              <a:t>1</a:t>
            </a:r>
            <a:endParaRPr lang="en-US" altLang="zh-CN" sz="2400" b="1" baseline="30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061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4" grpId="0"/>
      <p:bldP spid="25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841A4B8-3BC2-4A28-B650-74B77753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81" y="1628056"/>
            <a:ext cx="8147050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4.2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（从逻辑涵义角度理解）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(1)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36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(2) 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(3)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(4) 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G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H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DE764E7-5F3E-4855-9176-A2A2D754E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41" y="3067920"/>
            <a:ext cx="8137525" cy="1692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3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只证 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 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&gt;,</a:t>
            </a:r>
            <a:b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</a:b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∪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b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</a:b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G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∪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∧&lt;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F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0562CD-F416-4809-BDF7-BE55023EF7E0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7E3CCEE-C798-4173-96B0-5F849D24D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964" y="6034312"/>
            <a:ext cx="8137525" cy="466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3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从而有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∪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)=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∪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endParaRPr lang="en-US" altLang="zh-CN" sz="20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41A0804-69CD-437A-A951-739251B09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817" y="4246808"/>
            <a:ext cx="8137525" cy="673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((&lt;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G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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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F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endParaRPr lang="en-US" altLang="zh-CN" sz="20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15BF60D-EB7A-4DA5-82B1-E573432E9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817" y="4707283"/>
            <a:ext cx="8137525" cy="60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((&lt;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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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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))</a:t>
            </a:r>
            <a:endParaRPr lang="en-US" altLang="zh-CN" sz="20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1F20C86E-7084-4E0E-A215-DB77C3104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257" y="5100899"/>
            <a:ext cx="8137525" cy="612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kumimoji="0" lang="zh-CN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anose="05050102010706020507" pitchFamily="18" charset="2"/>
              </a:rPr>
              <a:t> 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endParaRPr lang="en-US" altLang="zh-CN" sz="20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2237578-BAF7-4901-89B8-3B9AAD890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817" y="5500420"/>
            <a:ext cx="8137525" cy="581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7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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&gt;∈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G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∩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F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H</a:t>
            </a:r>
            <a:endParaRPr lang="en-US" altLang="zh-CN" sz="20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316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  <p:bldP spid="10" grpId="0"/>
      <p:bldP spid="11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34113" y="952809"/>
            <a:ext cx="1742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关系的幂运算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3119307-D5E2-4BDD-B2FF-16748B125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9" y="1585163"/>
            <a:ext cx="82296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algn="just" eaLnBrk="1" hangingPunct="1">
              <a:buNone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的结论可以推广到有限多个关系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（从逻辑涵义理解）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…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 … ∩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 … 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 … ∩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  <a:sym typeface="Symbol" pitchFamily="18" charset="2"/>
              </a:rPr>
              <a:t>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∩ … ∩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B24A1CA-42D3-48D5-B419-15A07329E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309" y="4029939"/>
            <a:ext cx="9966455" cy="29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0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二元关系的并、交、差、对称差等运算如何通过它们的关系矩阵实现？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kern="0" dirty="0">
                <a:solidFill>
                  <a:srgbClr val="FF0000"/>
                </a:solidFill>
                <a:latin typeface="Times New Roman"/>
                <a:ea typeface="宋体"/>
              </a:rPr>
              <a:t>           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=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+M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      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baseline="-25000" dirty="0">
                <a:solidFill>
                  <a:srgbClr val="0000FF"/>
                </a:solidFill>
                <a:latin typeface="Times New Roman"/>
                <a:ea typeface="宋体"/>
              </a:rPr>
              <a:t>∩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=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min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ea typeface="宋体"/>
              </a:rPr>
              <a:t>{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,M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 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ea typeface="宋体"/>
              </a:rPr>
              <a:t>}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</a:rPr>
              <a:t>           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kern="0" baseline="-25000" dirty="0">
                <a:solidFill>
                  <a:srgbClr val="0000FF"/>
                </a:solidFill>
                <a:latin typeface="Times New Roman"/>
                <a:ea typeface="宋体"/>
                <a:sym typeface="Symbol" pitchFamily="18" charset="2"/>
              </a:rPr>
              <a:t>-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 =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– 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     </a:t>
            </a: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kern="0" baseline="-25000" dirty="0">
                <a:solidFill>
                  <a:srgbClr val="0000FF"/>
                </a:solidFill>
                <a:latin typeface="Times New Roman"/>
                <a:ea typeface="宋体"/>
                <a:sym typeface="Symbol" pitchFamily="18" charset="2"/>
              </a:rPr>
              <a:t>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 =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baseline="-25000" dirty="0">
                <a:solidFill>
                  <a:srgbClr val="0000FF"/>
                </a:solidFill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- 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baseline="-25000" dirty="0">
                <a:solidFill>
                  <a:srgbClr val="0000FF"/>
                </a:solidFill>
                <a:latin typeface="Times New Roman"/>
                <a:ea typeface="宋体"/>
              </a:rPr>
              <a:t>∩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</a:t>
            </a:r>
            <a:endParaRPr lang="en-US" altLang="zh-CN" kern="0" dirty="0">
              <a:solidFill>
                <a:srgbClr val="0000FF"/>
              </a:solidFill>
              <a:latin typeface="Times New Roman"/>
              <a:ea typeface="宋体"/>
            </a:endParaRPr>
          </a:p>
          <a:p>
            <a:pPr marL="0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kern="0" dirty="0">
                <a:solidFill>
                  <a:srgbClr val="FF0000"/>
                </a:solidFill>
                <a:latin typeface="Times New Roman"/>
                <a:ea typeface="宋体"/>
              </a:rPr>
              <a:t>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如何利用关系矩阵判断两个二元关系的包含关系？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algn="just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altLang="zh-CN" sz="2800" kern="0" dirty="0">
                <a:solidFill>
                  <a:srgbClr val="FF0000"/>
                </a:solidFill>
                <a:latin typeface="Times New Roman"/>
                <a:ea typeface="宋体"/>
              </a:rPr>
              <a:t>                          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ea typeface="宋体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S</a:t>
            </a:r>
            <a:r>
              <a:rPr lang="en-US" altLang="zh-CN" kern="0" dirty="0">
                <a:solidFill>
                  <a:srgbClr val="0000FF"/>
                </a:solidFill>
                <a:latin typeface="Times New Roman"/>
                <a:ea typeface="宋体"/>
                <a:sym typeface="Symbol" pitchFamily="18" charset="2"/>
              </a:rPr>
              <a:t> 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R</a:t>
            </a:r>
            <a:r>
              <a:rPr lang="en-US" altLang="zh-CN" dirty="0">
                <a:solidFill>
                  <a:srgbClr val="0000FF"/>
                </a:solidFill>
                <a:latin typeface="Times New Roman"/>
                <a:ea typeface="宋体"/>
              </a:rPr>
              <a:t> ≤ </a:t>
            </a:r>
            <a:r>
              <a:rPr lang="en-US" altLang="zh-CN" i="1" dirty="0">
                <a:solidFill>
                  <a:srgbClr val="0000FF"/>
                </a:solidFill>
                <a:latin typeface="Times New Roman"/>
                <a:ea typeface="宋体"/>
              </a:rPr>
              <a:t>M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/>
                <a:ea typeface="宋体"/>
              </a:rPr>
              <a:t>S </a:t>
            </a:r>
            <a:endParaRPr lang="en-US" altLang="zh-CN" kern="0" dirty="0">
              <a:solidFill>
                <a:srgbClr val="0000FF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02660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5BE6693-2D98-4092-AB01-C9232EDEC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970" y="1561711"/>
            <a:ext cx="10800272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4.10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为自然数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n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次幂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定义为：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{ 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 =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+1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36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endParaRPr kumimoji="0" lang="en-US" altLang="zh-CN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11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上的任何关系 </a:t>
            </a:r>
            <a:r>
              <a:rPr kumimoji="0" lang="en-US" altLang="zh-CN" sz="25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5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5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kumimoji="0" lang="en-US" altLang="zh-CN" sz="25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5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5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都有</a:t>
            </a: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5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5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5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5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5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500" b="1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5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5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I</a:t>
            </a:r>
            <a:r>
              <a:rPr kumimoji="0" lang="en-US" altLang="zh-CN" sz="25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上的任何关系 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都有 </a:t>
            </a:r>
            <a:r>
              <a:rPr kumimoji="0" lang="en-US" altLang="zh-CN" sz="25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5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5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5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00819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6B49496B-9931-43A8-B5DF-C5D8A22D4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4" y="1585163"/>
            <a:ext cx="10593238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R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 sz="2400" b="1" kern="0">
                <a:latin typeface="黑体" pitchFamily="49" charset="-122"/>
                <a:ea typeface="黑体" pitchFamily="49" charset="-122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latin typeface="Arial" pitchFamily="34" charset="0"/>
                <a:ea typeface="华文中宋" pitchFamily="2" charset="-122"/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latin typeface="Arial" pitchFamily="34" charset="0"/>
                <a:ea typeface="华文中宋" pitchFamily="2" charset="-122"/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latin typeface="Arial" pitchFamily="34" charset="0"/>
                <a:ea typeface="华文中宋" pitchFamily="2" charset="-122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latin typeface="Arial" pitchFamily="34" charset="0"/>
                <a:ea typeface="华文中宋" pitchFamily="2" charset="-122"/>
              </a:defRPr>
            </a:lvl9pPr>
          </a:lstStyle>
          <a:p>
            <a:r>
              <a:rPr lang="zh-CN" altLang="en-US" dirty="0"/>
              <a:t>例</a:t>
            </a:r>
            <a:r>
              <a:rPr lang="en-US" altLang="zh-CN" dirty="0"/>
              <a:t> </a:t>
            </a:r>
            <a:r>
              <a:rPr lang="zh-CN" altLang="en-US" dirty="0"/>
              <a:t>（幂的求法）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b, c, 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&lt;a, b&gt;, &lt;b, a&gt;, &lt;b, c&gt;, &lt;c, d&gt;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求</a:t>
            </a:r>
            <a:r>
              <a:rPr lang="en-US" altLang="zh-CN" dirty="0"/>
              <a:t>R</a:t>
            </a:r>
            <a:r>
              <a:rPr lang="zh-CN" altLang="en-US" dirty="0"/>
              <a:t>的各次幂</a:t>
            </a:r>
            <a:r>
              <a:rPr lang="en-US" altLang="zh-CN" dirty="0"/>
              <a:t>, </a:t>
            </a:r>
            <a:r>
              <a:rPr lang="zh-CN" altLang="en-US" dirty="0"/>
              <a:t>分别用矩阵和关系图表示</a:t>
            </a:r>
            <a:r>
              <a:rPr lang="en-US" altLang="zh-CN" dirty="0"/>
              <a:t>. </a:t>
            </a:r>
          </a:p>
        </p:txBody>
      </p:sp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BB776EE5-E9AF-4D3A-BA2D-EBBFA94EF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525636"/>
              </p:ext>
            </p:extLst>
          </p:nvPr>
        </p:nvGraphicFramePr>
        <p:xfrm>
          <a:off x="1057814" y="3096463"/>
          <a:ext cx="23749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37810" imgH="931547" progId="Equation.3">
                  <p:embed/>
                </p:oleObj>
              </mc:Choice>
              <mc:Fallback>
                <p:oleObj r:id="rId3" imgW="1237810" imgH="931547" progId="Equation.3">
                  <p:embed/>
                  <p:pic>
                    <p:nvPicPr>
                      <p:cNvPr id="24" name="Object 4">
                        <a:extLst>
                          <a:ext uri="{FF2B5EF4-FFF2-40B4-BE49-F238E27FC236}">
                            <a16:creationId xmlns:a16="http://schemas.microsoft.com/office/drawing/2014/main" id="{BB776EE5-E9AF-4D3A-BA2D-EBBFA94EF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814" y="3096463"/>
                        <a:ext cx="2374900" cy="1789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5">
            <a:extLst>
              <a:ext uri="{FF2B5EF4-FFF2-40B4-BE49-F238E27FC236}">
                <a16:creationId xmlns:a16="http://schemas.microsoft.com/office/drawing/2014/main" id="{3F080A38-FC3A-467D-B2AC-3D1620497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014" y="2593226"/>
            <a:ext cx="45656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解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与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R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的关系矩阵分别是：</a:t>
            </a:r>
          </a:p>
        </p:txBody>
      </p:sp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F3554CBF-86B5-4405-AAC2-775185BB4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70968"/>
              </p:ext>
            </p:extLst>
          </p:nvPr>
        </p:nvGraphicFramePr>
        <p:xfrm>
          <a:off x="913352" y="5053851"/>
          <a:ext cx="6265862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251200" imgH="927100" progId="Equation.3">
                  <p:embed/>
                </p:oleObj>
              </mc:Choice>
              <mc:Fallback>
                <p:oleObj r:id="rId5" imgW="3251200" imgH="927100" progId="Equation.3">
                  <p:embed/>
                  <p:pic>
                    <p:nvPicPr>
                      <p:cNvPr id="26" name="Object 6">
                        <a:extLst>
                          <a:ext uri="{FF2B5EF4-FFF2-40B4-BE49-F238E27FC236}">
                            <a16:creationId xmlns:a16="http://schemas.microsoft.com/office/drawing/2014/main" id="{F3554CBF-86B5-4405-AAC2-775185BB401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352" y="5053851"/>
                        <a:ext cx="6265862" cy="178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300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947607CC-62A6-45EA-8EB6-DF2CBF3E9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3" y="1507523"/>
            <a:ext cx="10783019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itchFamily="18" charset="0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的矩阵是：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Times New Roman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因此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即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因此可以得到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7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=…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的关系矩阵是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D11DCE8C-8E5C-40B7-A797-E70B085492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400221"/>
              </p:ext>
            </p:extLst>
          </p:nvPr>
        </p:nvGraphicFramePr>
        <p:xfrm>
          <a:off x="1584864" y="1913445"/>
          <a:ext cx="5160963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17800" imgH="927100" progId="Equation.3">
                  <p:embed/>
                </p:oleObj>
              </mc:Choice>
              <mc:Fallback>
                <p:oleObj r:id="rId3" imgW="2717800" imgH="927100" progId="Equation.3">
                  <p:embed/>
                  <p:pic>
                    <p:nvPicPr>
                      <p:cNvPr id="19" name="Object 4">
                        <a:extLst>
                          <a:ext uri="{FF2B5EF4-FFF2-40B4-BE49-F238E27FC236}">
                            <a16:creationId xmlns:a16="http://schemas.microsoft.com/office/drawing/2014/main" id="{D11DCE8C-8E5C-40B7-A797-E70B08549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864" y="1913445"/>
                        <a:ext cx="5160963" cy="176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>
            <a:extLst>
              <a:ext uri="{FF2B5EF4-FFF2-40B4-BE49-F238E27FC236}">
                <a16:creationId xmlns:a16="http://schemas.microsoft.com/office/drawing/2014/main" id="{6A1EAB34-9F99-40B5-9CC9-7D574D0A2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274576"/>
              </p:ext>
            </p:extLst>
          </p:nvPr>
        </p:nvGraphicFramePr>
        <p:xfrm>
          <a:off x="3073939" y="4793170"/>
          <a:ext cx="2592388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302182" imgH="931954" progId="Equation.3">
                  <p:embed/>
                </p:oleObj>
              </mc:Choice>
              <mc:Fallback>
                <p:oleObj r:id="rId5" imgW="1302182" imgH="931954" progId="Equation.3">
                  <p:embed/>
                  <p:pic>
                    <p:nvPicPr>
                      <p:cNvPr id="20" name="Object 6">
                        <a:extLst>
                          <a:ext uri="{FF2B5EF4-FFF2-40B4-BE49-F238E27FC236}">
                            <a16:creationId xmlns:a16="http://schemas.microsoft.com/office/drawing/2014/main" id="{6A1EAB34-9F99-40B5-9CC9-7D574D0A20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939" y="4793170"/>
                        <a:ext cx="2592388" cy="187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624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7F7CBC47-08A2-44CA-94D3-0FBE6E6CF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40" y="1622095"/>
            <a:ext cx="8229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的关系图如下图所示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27" name="Picture 4" descr="图片2">
            <a:extLst>
              <a:ext uri="{FF2B5EF4-FFF2-40B4-BE49-F238E27FC236}">
                <a16:creationId xmlns:a16="http://schemas.microsoft.com/office/drawing/2014/main" id="{4CD1CE15-B2B2-43C1-A11D-B11347AC5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72855"/>
          <a:stretch>
            <a:fillRect/>
          </a:stretch>
        </p:blipFill>
        <p:spPr bwMode="auto">
          <a:xfrm>
            <a:off x="943003" y="2774620"/>
            <a:ext cx="78486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5" descr="图片2">
            <a:extLst>
              <a:ext uri="{FF2B5EF4-FFF2-40B4-BE49-F238E27FC236}">
                <a16:creationId xmlns:a16="http://schemas.microsoft.com/office/drawing/2014/main" id="{A6F9FE50-1CF8-46B5-9AF3-6AE8AD692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t="49800" b="9482"/>
          <a:stretch>
            <a:fillRect/>
          </a:stretch>
        </p:blipFill>
        <p:spPr bwMode="auto">
          <a:xfrm>
            <a:off x="869978" y="4574845"/>
            <a:ext cx="7848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 Box 6">
            <a:extLst>
              <a:ext uri="{FF2B5EF4-FFF2-40B4-BE49-F238E27FC236}">
                <a16:creationId xmlns:a16="http://schemas.microsoft.com/office/drawing/2014/main" id="{F31961BA-9D2A-4A3C-AC4D-EA60EE549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78" y="3658857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0</a:t>
            </a: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E2C907F3-E63B-471B-BA60-279BC3B3E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6915" y="3638220"/>
            <a:ext cx="488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14CD8927-F68B-46F6-BCDA-C05C46F96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65" y="5870245"/>
            <a:ext cx="1444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4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=…</a:t>
            </a:r>
            <a:endParaRPr lang="en-US" altLang="zh-CN" sz="2400" b="1" baseline="300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2" name="Text Box 9">
            <a:extLst>
              <a:ext uri="{FF2B5EF4-FFF2-40B4-BE49-F238E27FC236}">
                <a16:creationId xmlns:a16="http://schemas.microsoft.com/office/drawing/2014/main" id="{BC5289D8-DB75-4D8B-AB35-9D867BF5E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9578" y="5870245"/>
            <a:ext cx="1444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5</a:t>
            </a:r>
            <a:r>
              <a:rPr lang="en-US" altLang="zh-CN" sz="2400" b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=…</a:t>
            </a:r>
            <a:endParaRPr lang="en-US" altLang="zh-CN" sz="2400" b="1" baseline="300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E71BF5-CFE9-48E9-9096-E3E5FC06D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753" y="1576418"/>
            <a:ext cx="3640622" cy="9721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AE6326C-7C1B-401A-B021-159C019EEB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902" y="3505722"/>
            <a:ext cx="3310399" cy="108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1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7855CDDA-F116-481F-868C-15DCD1F9F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3" y="1602412"/>
            <a:ext cx="8291513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36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E8D9004-E7A8-4088-928B-744DD7436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89" y="3232300"/>
            <a:ext cx="8229600" cy="1090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defRPr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用归纳法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(1)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对于任意给定的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∈N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施归纳于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B92C27D-ED29-4448-B138-F92EE6882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06" y="4122055"/>
            <a:ext cx="8229600" cy="9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n=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则有 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32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0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b="1" i="1" baseline="-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i="1" baseline="-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+0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5D61263-585C-484A-AEEB-73D620933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06" y="5146266"/>
            <a:ext cx="8229600" cy="931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m+n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</a:p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n+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 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 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=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 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)</a:t>
            </a:r>
            <a:r>
              <a:rPr lang="en-US" altLang="zh-CN" sz="2400" b="1" baseline="-16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 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m+n+</a:t>
            </a:r>
            <a:r>
              <a:rPr lang="en-US" altLang="zh-CN" sz="2400" b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38641CA-CB6F-46E6-8CA9-E61CA798F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06" y="6226513"/>
            <a:ext cx="8229600" cy="503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所以对一切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∈N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baseline="-16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sym typeface="Symbol" pitchFamily="18" charset="2"/>
              </a:rPr>
              <a:t>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n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m+n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131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关系的运算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关系的基本运算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10264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基本运算的性质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9816861" y="952809"/>
            <a:ext cx="1759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关系的幂运算</a:t>
            </a: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7855CDDA-F116-481F-868C-15DCD1F9F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463" y="1602412"/>
            <a:ext cx="8291513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4.3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endParaRPr kumimoji="0" lang="zh-CN" altLang="en-US" sz="24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36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81AE0B1-F085-4CEA-B67B-A99C8AADD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90" y="3086042"/>
            <a:ext cx="8229600" cy="611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对于任意给定的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∈N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施归纳于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67B0F18-483B-46FB-9E9D-576303FFB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90" y="6062316"/>
            <a:ext cx="8229600" cy="59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所以对一切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m,n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BAC49BC3-A61E-4F5E-BE14-6D36F10D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90" y="4697439"/>
            <a:ext cx="8229600" cy="1676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n+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36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-16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 </a:t>
            </a: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          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mn+m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n+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1C4863C2-B117-4EDD-B5A3-3926FF4F1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390" y="3735978"/>
            <a:ext cx="8229600" cy="930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n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=0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则有 </a:t>
            </a: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en-US" altLang="zh-CN" sz="24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I</a:t>
            </a:r>
            <a:r>
              <a:rPr kumimoji="0" lang="en-US" altLang="zh-CN" sz="2400" b="1" i="1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0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×0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895350" marR="0" lvl="0" indent="-895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74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55BEA7B-8A84-4B89-B5F2-280364E57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99" y="1461960"/>
            <a:ext cx="8713788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260475" marR="0" lvl="0" indent="-126047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703388" algn="l"/>
              </a:tabLs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  <a:p>
            <a:pPr marL="1260475" marR="0" lvl="0" indent="-126047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703388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→&lt;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 </a:t>
            </a: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自反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  <a:p>
            <a:pPr marL="1260475" marR="0" lvl="0" indent="-126047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>
                <a:tab pos="1703388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→&lt;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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反自反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         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83C8978-DE32-49CB-8A16-5D889EE59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9" y="3200331"/>
            <a:ext cx="8497888" cy="105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自反关系的关系矩阵：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主对角线上全是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自反关系的关系图：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每个结点均有环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DEAB85DE-4E4A-4C9F-A3C9-62929A61A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9" y="5559561"/>
            <a:ext cx="10161259" cy="95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按自反和反自反可将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上的关系分为三类：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    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自反关系；    反自反关系；    既非自反也非反自反关系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1DCEE4C-D5F3-40F7-A8B1-0F43FB815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99" y="4249210"/>
            <a:ext cx="8497888" cy="1096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反自反关系的关系矩阵：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主对角线上全是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反自反关系的关系图：</a:t>
            </a:r>
            <a:r>
              <a:rPr lang="zh-CN" altLang="en-US" sz="24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每个结点都无环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641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6" grpId="0"/>
      <p:bldP spid="18" grpId="0"/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BA7D31E-AAC2-47DF-AC7B-66A626C29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375" y="3531773"/>
            <a:ext cx="10057741" cy="251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A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={1,2,3},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{&lt;1,1&gt;,&lt;2,2&gt;}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{&lt;1,1&gt;,&lt;2,2&gt;,&lt;3,3&gt;,&lt;1,2&gt;}</a:t>
            </a:r>
            <a:endParaRPr lang="en-US" altLang="zh-CN" sz="2400" b="1" i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      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＝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{&lt;1,3&gt;}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，判断自反性与反自反性</a:t>
            </a:r>
            <a:endParaRPr lang="en-US" altLang="zh-CN" sz="2400" b="1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CD792C-6179-422B-ACB6-9F484325FF17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F1C665-E3F9-428B-B606-679C533BF6DE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01951B-EEA7-4371-809E-90D6E109A304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5D0E492-AA5C-4203-ABF0-14EC2BB4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81" y="6024281"/>
            <a:ext cx="10057741" cy="939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3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既不是自反的，也不是反自反的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3C480E4-3BEC-4154-A780-AB188F60E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05" y="1418329"/>
            <a:ext cx="10057741" cy="1889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：</a:t>
            </a: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自反：全域关系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恒等关系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小于等于关系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L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整除关系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A</a:t>
            </a:r>
            <a:endParaRPr lang="en-US" altLang="zh-CN" sz="2400" b="1" baseline="-25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反自反：实数集上的小于关系、幂集上的真包含关系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400" b="1" i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2473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D1E0C8C-09FF-44C8-9D6C-F3A93FB11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50" y="1553069"/>
            <a:ext cx="10801551" cy="1845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1071563" marR="0" lvl="0" indent="-1071563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 </a:t>
            </a:r>
          </a:p>
          <a:p>
            <a:pPr marL="1071563" marR="0" lvl="0" indent="-1071563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(1)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→&lt;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</a:rPr>
              <a:t>对称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1071563" marR="0" lvl="0" indent="-1071563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(2)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→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反对称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12EBE6F2-4E24-4368-A0F7-27C48F98A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90" y="3439831"/>
            <a:ext cx="11109054" cy="3004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Arial" charset="0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对称关系的关系矩阵：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对称矩阵</a:t>
            </a:r>
            <a:r>
              <a:rPr lang="en-US" altLang="zh-CN" sz="2400" dirty="0">
                <a:solidFill>
                  <a:srgbClr val="000000"/>
                </a:solidFill>
                <a:latin typeface="Arial" charset="0"/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M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=M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zh-CN" altLang="en-US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i</a:t>
            </a:r>
            <a:r>
              <a:rPr lang="en-US" altLang="zh-CN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j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=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en-US" altLang="zh-CN" sz="2400" b="1" i="1" baseline="-30000" dirty="0" err="1">
                <a:solidFill>
                  <a:srgbClr val="992677"/>
                </a:solidFill>
                <a:latin typeface="Times New Roman"/>
                <a:ea typeface="宋体" pitchFamily="2" charset="-122"/>
              </a:rPr>
              <a:t>ji</a:t>
            </a:r>
            <a:r>
              <a:rPr lang="en-US" altLang="zh-CN" sz="2400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)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对称关系的关系图：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不同结点间没有单向边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反对称关系的关系矩阵：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zh-CN" altLang="en-US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i</a:t>
            </a:r>
            <a:r>
              <a:rPr lang="en-US" altLang="zh-CN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j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=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  <a:sym typeface="Symbol" pitchFamily="18" charset="2"/>
              </a:rPr>
              <a:t>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en-US" altLang="zh-CN" sz="2400" b="1" i="1" baseline="-30000" dirty="0" err="1">
                <a:solidFill>
                  <a:srgbClr val="992677"/>
                </a:solidFill>
                <a:latin typeface="Times New Roman"/>
                <a:ea typeface="宋体" pitchFamily="2" charset="-122"/>
              </a:rPr>
              <a:t>ji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=0,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i</a:t>
            </a:r>
            <a:r>
              <a:rPr lang="zh-CN" altLang="en-US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≠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j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r>
              <a:rPr lang="zh-CN" altLang="en-US" sz="2400" b="1" i="1" dirty="0">
                <a:solidFill>
                  <a:srgbClr val="FF0000"/>
                </a:solidFill>
                <a:latin typeface="Times New Roman"/>
                <a:ea typeface="宋体" pitchFamily="2" charset="-122"/>
              </a:rPr>
              <a:t>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zh-CN" altLang="en-US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i</a:t>
            </a:r>
            <a:r>
              <a:rPr lang="en-US" altLang="zh-CN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j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</a:t>
            </a:r>
            <a:r>
              <a:rPr lang="en-US" altLang="zh-CN" sz="2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∧</a:t>
            </a:r>
            <a:r>
              <a:rPr lang="en-US" altLang="zh-CN" sz="24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en-US" altLang="zh-CN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ji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=0</a:t>
            </a:r>
            <a:r>
              <a:rPr lang="zh-CN" altLang="en-US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，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i≠j</a:t>
            </a:r>
            <a:endParaRPr lang="en-US" altLang="zh-CN" sz="2400" b="1" i="1" dirty="0">
              <a:solidFill>
                <a:srgbClr val="992677"/>
              </a:solidFill>
              <a:latin typeface="Times New Roman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反对称关系的关系图：</a:t>
            </a:r>
            <a:r>
              <a:rPr lang="zh-CN" altLang="en-US" sz="2400" b="1" dirty="0">
                <a:solidFill>
                  <a:srgbClr val="AD519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不同结点间没有双向边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既对称也反对称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的关系是恒等关系的子关系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无单向边也无双向边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既不对称也不反对称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的关系图既有单向边也有双向边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3C6E14-F374-473F-8160-495BF113E388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F40D53-714F-43DE-B084-20E9DDD8C24E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E53F2F6-EB15-4BB5-9E96-60A762609B32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</p:spTree>
    <p:extLst>
      <p:ext uri="{BB962C8B-B14F-4D97-AF65-F5344CB8AC3E}">
        <p14:creationId xmlns:p14="http://schemas.microsoft.com/office/powerpoint/2010/main" val="109855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0C40FF73-DA5B-44FC-B896-A294A764C36F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C27990-F7C3-490A-BAC8-14DD2DE20EC1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6E834F-C492-4ACB-A783-3D643CFB102C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EEF035-3912-4EB2-AD2C-FCFEA127C7FA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67899A96-7DA7-463E-B417-A7512CEF7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" y="1429588"/>
            <a:ext cx="10805365" cy="2241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对称关系：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上的全域关系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恒等关系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和空关系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反对称关系：恒等关系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，空关系</a:t>
            </a:r>
            <a:r>
              <a:rPr lang="en-US" altLang="zh-CN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b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289AA96-7357-4EA6-A5FE-F78C245B6495}"/>
              </a:ext>
            </a:extLst>
          </p:cNvPr>
          <p:cNvSpPr txBox="1">
            <a:spLocks noChangeArrowheads="1"/>
          </p:cNvSpPr>
          <p:nvPr/>
        </p:nvSpPr>
        <p:spPr>
          <a:xfrm>
            <a:off x="611187" y="3561697"/>
            <a:ext cx="10254036" cy="5598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{1,2,3},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B8E84F8-3A4C-4842-8A8F-C6CED41E8A9C}"/>
              </a:ext>
            </a:extLst>
          </p:cNvPr>
          <p:cNvSpPr txBox="1">
            <a:spLocks noChangeArrowheads="1"/>
          </p:cNvSpPr>
          <p:nvPr/>
        </p:nvSpPr>
        <p:spPr>
          <a:xfrm>
            <a:off x="992188" y="4144405"/>
            <a:ext cx="3149508" cy="6293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{&lt;1,1&gt;,&lt;2,2&gt;}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9120523-FD77-4D60-A797-A5392BF6BD77}"/>
              </a:ext>
            </a:extLst>
          </p:cNvPr>
          <p:cNvSpPr txBox="1">
            <a:spLocks noChangeArrowheads="1"/>
          </p:cNvSpPr>
          <p:nvPr/>
        </p:nvSpPr>
        <p:spPr>
          <a:xfrm>
            <a:off x="3988640" y="4144405"/>
            <a:ext cx="4133383" cy="6656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{&lt;1,1&gt;,&lt;1,2&gt;,&lt;2,1&gt;}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90ABA59-FD66-4D94-A895-A83DD2164F35}"/>
              </a:ext>
            </a:extLst>
          </p:cNvPr>
          <p:cNvSpPr txBox="1">
            <a:spLocks noChangeArrowheads="1"/>
          </p:cNvSpPr>
          <p:nvPr/>
        </p:nvSpPr>
        <p:spPr>
          <a:xfrm>
            <a:off x="3979675" y="4616823"/>
            <a:ext cx="4175966" cy="5871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{&lt;1,2&gt;,&lt;2,1&gt;,&lt;1,3&gt;}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E04421F-AC61-4939-B912-2A9B457E74AC}"/>
              </a:ext>
            </a:extLst>
          </p:cNvPr>
          <p:cNvSpPr txBox="1">
            <a:spLocks noChangeArrowheads="1"/>
          </p:cNvSpPr>
          <p:nvPr/>
        </p:nvSpPr>
        <p:spPr>
          <a:xfrm>
            <a:off x="978740" y="4616823"/>
            <a:ext cx="4366466" cy="5871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＝</a:t>
            </a:r>
            <a:r>
              <a:rPr lang="en-US" altLang="zh-CN" sz="2400" b="1" dirty="0">
                <a:latin typeface="Times New Roman" panose="02020603050405020304" pitchFamily="18" charset="0"/>
              </a:rPr>
              <a:t>{&lt;1,2&gt;,&lt;1,3&gt;}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D60833E6-F76E-4F5C-8241-8DEF9DC08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485" y="5753635"/>
            <a:ext cx="3740897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反对称，不对称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F74F5A8F-D547-44E6-BB3E-D527F3316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8485" y="5276262"/>
            <a:ext cx="2660650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对称，反对称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22204419-7023-48BD-8159-CA086FF0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2712" y="5276262"/>
            <a:ext cx="4839074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对称，不反对称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</a:t>
            </a:r>
            <a:endParaRPr lang="en-US" altLang="zh-CN" sz="2400" b="1" i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2AA81EA3-4163-4A86-A89D-0EF6692A1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181" y="5753635"/>
            <a:ext cx="4215657" cy="46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不对称、也不反对称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1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240010E-F165-4C90-8F8D-B6CDC32D5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11" y="1636922"/>
            <a:ext cx="1000664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992677"/>
                </a:solidFill>
                <a:latin typeface="Times New Roman"/>
                <a:ea typeface="黑体" pitchFamily="49" charset="-122"/>
                <a:sym typeface="Arial" charset="0"/>
              </a:rPr>
              <a:t>定义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b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∧&lt;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→&lt;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  <a:sym typeface="Arial" charset="0"/>
              </a:rPr>
              <a:t>传递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8C6EC6B-7072-4E11-9BF1-EDD217E58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25" y="3768505"/>
            <a:ext cx="11436139" cy="2010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传递关系的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关系矩阵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: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zh-CN" altLang="en-US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i</a:t>
            </a:r>
            <a:r>
              <a:rPr lang="en-US" altLang="zh-CN" sz="2400" b="1" i="1" baseline="-30000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j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=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1∧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en-US" altLang="zh-CN" sz="2400" b="1" i="1" baseline="-30000" dirty="0" err="1">
                <a:solidFill>
                  <a:srgbClr val="992677"/>
                </a:solidFill>
                <a:latin typeface="Times New Roman"/>
                <a:ea typeface="宋体" pitchFamily="2" charset="-122"/>
              </a:rPr>
              <a:t>jk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=1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  <a:sym typeface="Symbol" pitchFamily="18" charset="2"/>
              </a:rPr>
              <a:t>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r</a:t>
            </a:r>
            <a:r>
              <a:rPr lang="en-US" altLang="zh-CN" sz="2400" b="1" i="1" baseline="-30000" dirty="0" err="1">
                <a:solidFill>
                  <a:srgbClr val="992677"/>
                </a:solidFill>
                <a:latin typeface="Times New Roman"/>
                <a:ea typeface="宋体" pitchFamily="2" charset="-122"/>
              </a:rPr>
              <a:t>ik</a:t>
            </a:r>
            <a:r>
              <a:rPr lang="en-US" altLang="zh-CN" sz="2400" b="1" dirty="0">
                <a:solidFill>
                  <a:srgbClr val="992677"/>
                </a:solidFill>
                <a:latin typeface="Times New Roman"/>
                <a:ea typeface="宋体" pitchFamily="2" charset="-122"/>
              </a:rPr>
              <a:t> =1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；</a:t>
            </a:r>
            <a:endParaRPr lang="en-US" altLang="zh-CN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传递关系的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凡两步可达必一步可达（进而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任意两个结点间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如可达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必一步可达</a:t>
            </a: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BA3B5D-FA4E-4E98-B1FB-BB028A3EE3F7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FFD83C-3919-4874-9333-0956DC8BD3BB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AF2849-99A7-48CF-BF1F-20C9CCABCA0B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</p:spTree>
    <p:extLst>
      <p:ext uri="{BB962C8B-B14F-4D97-AF65-F5344CB8AC3E}">
        <p14:creationId xmlns:p14="http://schemas.microsoft.com/office/powerpoint/2010/main" val="31376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287D77E-ADC3-420A-98DC-5FC4D5A26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72" y="1493708"/>
            <a:ext cx="10929966" cy="1868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上的全域关系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E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恒等关系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和空关系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  <a:sym typeface="Symbol" pitchFamily="18" charset="2"/>
              </a:rPr>
              <a:t>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，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小于等于和小于关系，整除关系，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包含与真包含关系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F8F2AF-7909-42E7-A2DD-B01CEB03153C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094EAB-B166-4A5F-BBDA-680B72FF201E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508493-F40F-4202-90AE-82FD6C5FA917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30FD82C-4559-4DA4-9698-21DD20632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72" y="3381500"/>
            <a:ext cx="10929966" cy="2500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{1,2,3},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{&lt;1,1&gt;,&lt;2,2&gt;}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{&lt;1,2&gt;,&lt;2,3&gt;}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{&lt;1,3&gt;}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1D17F2E-AE5B-4A18-A922-A9C29EC10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79" y="5787457"/>
            <a:ext cx="10929966" cy="967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上的传递关系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上的传递关系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808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372A603A-C517-40E0-83BA-2D0BC6C58E0D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0C9776-55E3-4282-B9CD-E15888C64C07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D4733C-0AD8-42F7-8C9B-8A0D4CE81A59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44FD6E-B86D-4E73-89E7-3C8BEC5E6865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3DDCF3-E8C0-4713-ADF8-7181ECA617B1}"/>
              </a:ext>
            </a:extLst>
          </p:cNvPr>
          <p:cNvSpPr txBox="1">
            <a:spLocks noChangeArrowheads="1"/>
          </p:cNvSpPr>
          <p:nvPr/>
        </p:nvSpPr>
        <p:spPr>
          <a:xfrm>
            <a:off x="591671" y="1748115"/>
            <a:ext cx="4733364" cy="4773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关系性质的充要条件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D7509721-D212-469C-A5E3-4DB93D765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71" y="2853204"/>
            <a:ext cx="7581900" cy="390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  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>
                <a:solidFill>
                  <a:srgbClr val="992677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b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反自反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</a:t>
            </a:r>
            <a:b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(3)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30000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1</a:t>
            </a:r>
            <a:br>
              <a:rPr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</a:br>
            <a:r>
              <a:rPr lang="en-US" altLang="zh-CN" sz="2400" b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(4)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反对称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baseline="30000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baseline="-2500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A</a:t>
            </a:r>
            <a:b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 (5)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b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</a:b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802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372A603A-C517-40E0-83BA-2D0BC6C58E0D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0C9776-55E3-4282-B9CD-E15888C64C07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4D4733C-0AD8-42F7-8C9B-8A0D4CE81A59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44FD6E-B86D-4E73-89E7-3C8BEC5E6865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D3DDCF3-E8C0-4713-ADF8-7181ECA617B1}"/>
              </a:ext>
            </a:extLst>
          </p:cNvPr>
          <p:cNvSpPr txBox="1">
            <a:spLocks noChangeArrowheads="1"/>
          </p:cNvSpPr>
          <p:nvPr/>
        </p:nvSpPr>
        <p:spPr>
          <a:xfrm>
            <a:off x="571501" y="1452283"/>
            <a:ext cx="4733364" cy="13917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5609F7F8-E658-40D5-973A-0AD29856D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770835"/>
              </p:ext>
            </p:extLst>
          </p:nvPr>
        </p:nvGraphicFramePr>
        <p:xfrm>
          <a:off x="645459" y="2212039"/>
          <a:ext cx="10999693" cy="3714888"/>
        </p:xfrm>
        <a:graphic>
          <a:graphicData uri="http://schemas.openxmlformats.org/drawingml/2006/table">
            <a:tbl>
              <a:tblPr/>
              <a:tblGrid>
                <a:gridCol w="1198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5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7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02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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自反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反自反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对称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反对称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传递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2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表达式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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∩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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0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endParaRPr kumimoji="0" lang="en-US" altLang="zh-CN" sz="20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∩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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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I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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  <a:sym typeface="Symbol" pitchFamily="18" charset="2"/>
                        </a:rPr>
                        <a:t>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03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关系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矩阵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主对角线元素全是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主对角线元素全是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矩阵是对称矩阵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ij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1,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且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≠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j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则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0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ji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对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中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所在位置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中相应位置都是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14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关系图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每个顶点都有环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每个顶点都没有环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如果两个顶点之间有边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是一对方向相反的边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无单边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如果两点之间有边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是一条有向边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无双向边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如果顶点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连通到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k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,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则从 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i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到 </a:t>
                      </a:r>
                      <a:r>
                        <a:rPr kumimoji="0" lang="en-US" altLang="zh-CN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x</a:t>
                      </a:r>
                      <a:r>
                        <a:rPr kumimoji="0" lang="en-US" altLang="zh-CN" sz="2000" b="1" i="1" u="none" strike="noStrike" cap="none" normalizeH="0" baseline="-3000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k</a:t>
                      </a:r>
                      <a:r>
                        <a:rPr kumimoji="0" lang="en-US" altLang="zh-CN" sz="2000" b="1" i="1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  <a:cs typeface="Times New Roman" pitchFamily="18" charset="0"/>
                        </a:rPr>
                        <a:t>有边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cs typeface="Times New Roman" pitchFamily="18" charset="0"/>
                        </a:rPr>
                        <a:t> 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华文中宋" pitchFamily="2" charset="-122"/>
                        <a:cs typeface="Times New Roman" pitchFamily="18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461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1168B2FB-6F74-4B0F-AD04-C97CAF1EB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701991"/>
            <a:ext cx="79200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判断下图中关系的性质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并说明理由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EAFAD71A-1D8F-48F1-855D-76F1DA8A9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08" y="5445970"/>
            <a:ext cx="98473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(b)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非自反，反自反；反对称，非对称；传递的</a:t>
            </a:r>
            <a:r>
              <a:rPr lang="en-US" altLang="zh-CN" sz="24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36C0DFEE-53CC-4187-BD06-A91970C90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08" y="4898190"/>
            <a:ext cx="81375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ClrTx/>
              <a:buSzTx/>
              <a:buFontTx/>
              <a:buNone/>
              <a:defRPr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r>
              <a:rPr lang="zh-CN" altLang="en-US" dirty="0"/>
              <a:t>非自反，也非反自反；对称</a:t>
            </a:r>
            <a:r>
              <a:rPr lang="en-US" altLang="zh-CN" dirty="0"/>
              <a:t>, </a:t>
            </a:r>
            <a:r>
              <a:rPr lang="zh-CN" altLang="en-US" dirty="0"/>
              <a:t>非反对称；非传递</a:t>
            </a:r>
            <a:r>
              <a:rPr lang="en-US" altLang="zh-CN" dirty="0"/>
              <a:t>.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838C0D73-751A-47CD-A0B6-170F4C2A8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08" y="5993751"/>
            <a:ext cx="8064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(c)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自反，非反自反；反对称，非对称；非传递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pic>
        <p:nvPicPr>
          <p:cNvPr id="8" name="Picture 9" descr="4T5">
            <a:extLst>
              <a:ext uri="{FF2B5EF4-FFF2-40B4-BE49-F238E27FC236}">
                <a16:creationId xmlns:a16="http://schemas.microsoft.com/office/drawing/2014/main" id="{C3DDFCD8-9F07-442D-958E-ED1F6A42A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472" y="2301880"/>
            <a:ext cx="6027737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449">
            <a:extLst>
              <a:ext uri="{FF2B5EF4-FFF2-40B4-BE49-F238E27FC236}">
                <a16:creationId xmlns:a16="http://schemas.microsoft.com/office/drawing/2014/main" id="{D5728C0F-E277-4D28-9F9F-91CB941EB504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B617C8-094E-4A7A-A95C-F0FBCDF6FE8B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462292-4DD5-4386-8BE3-D1DBE9298DDA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8B76C0-5D7C-4659-8925-004ADA96B939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</p:spTree>
    <p:extLst>
      <p:ext uri="{BB962C8B-B14F-4D97-AF65-F5344CB8AC3E}">
        <p14:creationId xmlns:p14="http://schemas.microsoft.com/office/powerpoint/2010/main" val="150898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关系的性质</a:t>
            </a:r>
          </a:p>
        </p:txBody>
      </p:sp>
      <p:sp>
        <p:nvSpPr>
          <p:cNvPr id="11" name="Rectangle 53">
            <a:extLst>
              <a:ext uri="{FF2B5EF4-FFF2-40B4-BE49-F238E27FC236}">
                <a16:creationId xmlns:a16="http://schemas.microsoft.com/office/drawing/2014/main" id="{3E2F00BB-7F4E-44F5-A7A8-FC9C6CB4B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82" y="1655402"/>
            <a:ext cx="4873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关系的性质和运算之间的联系</a:t>
            </a:r>
          </a:p>
        </p:txBody>
      </p:sp>
      <p:graphicFrame>
        <p:nvGraphicFramePr>
          <p:cNvPr id="13" name="Group 2">
            <a:extLst>
              <a:ext uri="{FF2B5EF4-FFF2-40B4-BE49-F238E27FC236}">
                <a16:creationId xmlns:a16="http://schemas.microsoft.com/office/drawing/2014/main" id="{01C8B96C-7025-47B5-A319-8EA0A828D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870393"/>
              </p:ext>
            </p:extLst>
          </p:nvPr>
        </p:nvGraphicFramePr>
        <p:xfrm>
          <a:off x="1809769" y="2558002"/>
          <a:ext cx="8424863" cy="348932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00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自反性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反自反性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对称性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反对称性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传递性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sym typeface="Symbol" pitchFamily="18" charset="2"/>
                        </a:rPr>
                        <a:t></a:t>
                      </a:r>
                      <a:r>
                        <a:rPr kumimoji="0" lang="en-US" sz="20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sym typeface="Symbol" pitchFamily="18" charset="2"/>
                        </a:rPr>
                        <a:t> </a:t>
                      </a:r>
                      <a:endParaRPr kumimoji="0" lang="en-US" sz="2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中宋" pitchFamily="2" charset="-122"/>
                        <a:sym typeface="Symbol" pitchFamily="18" charset="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∩</a:t>
                      </a:r>
                      <a:r>
                        <a:rPr kumimoji="0" 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itchFamily="2" charset="-122"/>
                          <a:ea typeface="华文中宋" pitchFamily="2" charset="-122"/>
                        </a:rPr>
                        <a:t>∪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sym typeface="Symbol" pitchFamily="18" charset="2"/>
                        </a:rPr>
                        <a:t></a:t>
                      </a:r>
                      <a:r>
                        <a:rPr kumimoji="0" lang="en-US" sz="20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sym typeface="Symbol" pitchFamily="18" charset="2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sym typeface="Symbol" pitchFamily="18" charset="2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63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-16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  <a:sym typeface="Symbol" pitchFamily="18" charset="2"/>
                        </a:rPr>
                        <a:t></a:t>
                      </a: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R</a:t>
                      </a:r>
                      <a:r>
                        <a:rPr kumimoji="0" lang="en-US" sz="20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 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√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中宋" pitchFamily="2" charset="-122"/>
                        </a:rPr>
                        <a:t>×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华文中宋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EC50702-C90D-4A1C-A3F6-6CD37F05D419}"/>
              </a:ext>
            </a:extLst>
          </p:cNvPr>
          <p:cNvSpPr txBox="1"/>
          <p:nvPr/>
        </p:nvSpPr>
        <p:spPr>
          <a:xfrm>
            <a:off x="568035" y="964940"/>
            <a:ext cx="2350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自反性与反自反性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428606-4A87-4EA3-9E96-08CED49CF8A6}"/>
              </a:ext>
            </a:extLst>
          </p:cNvPr>
          <p:cNvSpPr txBox="1"/>
          <p:nvPr/>
        </p:nvSpPr>
        <p:spPr>
          <a:xfrm>
            <a:off x="5169257" y="978689"/>
            <a:ext cx="22482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对称性与反对称性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7200DE-0375-4008-9AC0-7C3CEE13C170}"/>
              </a:ext>
            </a:extLst>
          </p:cNvPr>
          <p:cNvSpPr txBox="1"/>
          <p:nvPr/>
        </p:nvSpPr>
        <p:spPr>
          <a:xfrm>
            <a:off x="10389095" y="952809"/>
            <a:ext cx="1120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传递性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64FA6B-B5CC-4304-894C-0D6EE6E7FB42}"/>
              </a:ext>
            </a:extLst>
          </p:cNvPr>
          <p:cNvSpPr txBox="1"/>
          <p:nvPr/>
        </p:nvSpPr>
        <p:spPr>
          <a:xfrm>
            <a:off x="2218163" y="2513125"/>
            <a:ext cx="1191670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原有性质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E928B7B-737E-416E-B8AD-6AD6A82D6C5A}"/>
              </a:ext>
            </a:extLst>
          </p:cNvPr>
          <p:cNvCxnSpPr/>
          <p:nvPr/>
        </p:nvCxnSpPr>
        <p:spPr>
          <a:xfrm>
            <a:off x="1822903" y="2583917"/>
            <a:ext cx="1321456" cy="64303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4DBAAF5-45AF-45E1-944F-80A45B497A1C}"/>
              </a:ext>
            </a:extLst>
          </p:cNvPr>
          <p:cNvSpPr txBox="1"/>
          <p:nvPr/>
        </p:nvSpPr>
        <p:spPr>
          <a:xfrm>
            <a:off x="1775710" y="2920180"/>
            <a:ext cx="598241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运算</a:t>
            </a:r>
          </a:p>
        </p:txBody>
      </p:sp>
    </p:spTree>
    <p:extLst>
      <p:ext uri="{BB962C8B-B14F-4D97-AF65-F5344CB8AC3E}">
        <p14:creationId xmlns:p14="http://schemas.microsoft.com/office/powerpoint/2010/main" val="33098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B80E6D-EBB6-487B-924D-D28EC6CF69C0}"/>
              </a:ext>
            </a:extLst>
          </p:cNvPr>
          <p:cNvSpPr txBox="1"/>
          <p:nvPr/>
        </p:nvSpPr>
        <p:spPr>
          <a:xfrm>
            <a:off x="9806150" y="946909"/>
            <a:ext cx="21963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闭包的构造方法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5804859-3AEC-4145-8C25-21157AB06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12829"/>
            <a:ext cx="11034712" cy="3078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4.11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是非空集合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上的关系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Arial" charset="0"/>
              </a:rPr>
              <a:t>自反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Arial" charset="0"/>
              </a:rPr>
              <a:t>对称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或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Arial" charset="0"/>
              </a:rPr>
              <a:t>传递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  <a:sym typeface="Arial" charset="0"/>
              </a:rPr>
              <a:t>闭包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上的关系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     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使得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满足以下条件：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		(1) 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是自反的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对称的或传递的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) 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		(2) 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</a:t>
            </a:r>
            <a:r>
              <a:rPr lang="en-US" altLang="zh-CN" i="1" kern="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		(3)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上任何包含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R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的自反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对称或传递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关系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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有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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itchFamily="18" charset="2"/>
              </a:rPr>
              <a:t></a:t>
            </a:r>
            <a:endParaRPr lang="en-US" altLang="zh-CN" i="1" kern="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7097E1D-C320-4A61-94F4-076371DEA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181" y="4471616"/>
            <a:ext cx="11034712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的自反闭包记作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kern="0" dirty="0">
                <a:solidFill>
                  <a:srgbClr val="992677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),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对称闭包记作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  <a:cs typeface="Times New Roman" pitchFamily="18" charset="0"/>
              </a:rPr>
              <a:t>s(R),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传递闭包记作</a:t>
            </a: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  <a:cs typeface="Times New Roman" pitchFamily="18" charset="0"/>
              </a:rPr>
              <a:t>t(R).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i="1" kern="0" dirty="0">
                <a:solidFill>
                  <a:srgbClr val="992677"/>
                </a:solidFill>
                <a:latin typeface="Times New Roman"/>
                <a:ea typeface="宋体"/>
                <a:cs typeface="Times New Roman" pitchFamily="18" charset="0"/>
              </a:rPr>
              <a:t>           </a:t>
            </a:r>
            <a:r>
              <a:rPr lang="en-US" altLang="zh-CN" i="1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i="1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)(</a:t>
            </a:r>
            <a:r>
              <a:rPr lang="en-US" altLang="zh-CN" i="1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的</a:t>
            </a:r>
            <a:r>
              <a:rPr lang="en-US" altLang="zh-CN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reflexive closure ):</a:t>
            </a:r>
            <a:r>
              <a:rPr lang="zh-CN" altLang="en-US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包含</a:t>
            </a:r>
            <a:r>
              <a:rPr lang="en-US" altLang="zh-CN" i="1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最小</a:t>
            </a:r>
            <a:r>
              <a:rPr lang="zh-CN" altLang="en-US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自反关系</a:t>
            </a:r>
            <a:endParaRPr lang="en-US" altLang="zh-CN" kern="0" dirty="0">
              <a:solidFill>
                <a:srgbClr val="00B050"/>
              </a:solidFill>
              <a:latin typeface="Times New Roman"/>
              <a:ea typeface="宋体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i="1" kern="0" dirty="0">
                <a:solidFill>
                  <a:srgbClr val="00B050"/>
                </a:solidFill>
                <a:latin typeface="Times New Roman"/>
                <a:ea typeface="宋体"/>
                <a:cs typeface="Times New Roman" pitchFamily="18" charset="0"/>
              </a:rPr>
              <a:t>         </a:t>
            </a:r>
            <a:r>
              <a:rPr lang="en-US" altLang="zh-CN" i="1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 s</a:t>
            </a:r>
            <a:r>
              <a:rPr lang="en-US" altLang="zh-CN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i="1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)(</a:t>
            </a:r>
            <a:r>
              <a:rPr lang="en-US" altLang="zh-CN" i="1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的</a:t>
            </a:r>
            <a:r>
              <a:rPr lang="en-US" altLang="zh-CN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symmetric </a:t>
            </a:r>
            <a:r>
              <a:rPr lang="en-US" altLang="zh-CN" kern="0" dirty="0">
                <a:solidFill>
                  <a:srgbClr val="FF7C80"/>
                </a:solidFill>
                <a:latin typeface="Times New Roman"/>
                <a:ea typeface="宋体"/>
                <a:cs typeface="Times New Roman" pitchFamily="18" charset="0"/>
              </a:rPr>
              <a:t>closure) :</a:t>
            </a:r>
            <a:r>
              <a:rPr lang="zh-CN" altLang="en-US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包含</a:t>
            </a:r>
            <a:r>
              <a:rPr lang="en-US" altLang="zh-CN" i="1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最小</a:t>
            </a:r>
            <a:r>
              <a:rPr lang="zh-CN" altLang="en-US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对称关系；</a:t>
            </a:r>
            <a:endParaRPr lang="en-US" altLang="zh-CN" kern="0" dirty="0">
              <a:solidFill>
                <a:srgbClr val="FF9999"/>
              </a:solidFill>
              <a:latin typeface="Times New Roman"/>
              <a:ea typeface="宋体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i="1" kern="0" dirty="0">
                <a:solidFill>
                  <a:srgbClr val="FF9999"/>
                </a:solidFill>
                <a:latin typeface="Times New Roman"/>
                <a:ea typeface="宋体"/>
                <a:cs typeface="Times New Roman" pitchFamily="18" charset="0"/>
              </a:rPr>
              <a:t>          </a:t>
            </a:r>
            <a:r>
              <a:rPr lang="en-US" altLang="zh-CN" i="1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t</a:t>
            </a:r>
            <a:r>
              <a:rPr lang="en-US" altLang="zh-CN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i="1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)(</a:t>
            </a:r>
            <a:r>
              <a:rPr lang="en-US" altLang="zh-CN" i="1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的</a:t>
            </a:r>
            <a:r>
              <a:rPr lang="en-US" altLang="zh-CN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transitive closure) :</a:t>
            </a:r>
            <a:r>
              <a:rPr lang="zh-CN" altLang="en-US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包含</a:t>
            </a:r>
            <a:r>
              <a:rPr lang="en-US" altLang="zh-CN" i="1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的</a:t>
            </a:r>
            <a:r>
              <a:rPr lang="zh-CN" altLang="en-US" kern="0" dirty="0">
                <a:solidFill>
                  <a:srgbClr val="992677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最小</a:t>
            </a:r>
            <a:r>
              <a:rPr lang="zh-CN" altLang="en-US" kern="0" dirty="0">
                <a:solidFill>
                  <a:srgbClr val="69B3F1"/>
                </a:solidFill>
                <a:latin typeface="Times New Roman"/>
                <a:ea typeface="宋体"/>
                <a:cs typeface="Times New Roman" pitchFamily="18" charset="0"/>
              </a:rPr>
              <a:t>传递关系。</a:t>
            </a:r>
            <a:endParaRPr lang="en-US" altLang="zh-CN" kern="0" dirty="0">
              <a:solidFill>
                <a:srgbClr val="69B3F1"/>
              </a:solidFill>
              <a:latin typeface="Times New Roman"/>
              <a:ea typeface="宋体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9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195C189-5DE6-4BB1-8716-A92238883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87" y="2164613"/>
            <a:ext cx="9667725" cy="252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定理 </a:t>
            </a:r>
            <a:r>
              <a:rPr lang="en-US" altLang="zh-CN" sz="2400" b="1" dirty="0">
                <a:solidFill>
                  <a:srgbClr val="992677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4.4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则有</a:t>
            </a:r>
          </a:p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(1)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)=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0</a:t>
            </a:r>
          </a:p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(2)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)=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1</a:t>
            </a:r>
          </a:p>
          <a:p>
            <a:pPr marL="342900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(3)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)=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∪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3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∪…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07D996-E32D-4478-BE90-CBB09782083D}"/>
              </a:ext>
            </a:extLst>
          </p:cNvPr>
          <p:cNvSpPr txBox="1"/>
          <p:nvPr/>
        </p:nvSpPr>
        <p:spPr>
          <a:xfrm>
            <a:off x="536994" y="1700205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闭包的集合表示</a:t>
            </a:r>
            <a:endParaRPr lang="zh-CN" altLang="en-US" sz="2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2305D71-14B5-4AED-BD0B-15F83346B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92" y="4766455"/>
            <a:ext cx="11390164" cy="1973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说明：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  <a:p>
            <a:pPr marL="342900" indent="-342900" fontAlgn="base"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对有穷集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(|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|=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,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(3)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中的并最多不超过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R</a:t>
            </a:r>
            <a:r>
              <a:rPr lang="en-US" altLang="zh-CN" sz="2400" b="1" i="1" baseline="30000" dirty="0">
                <a:solidFill>
                  <a:srgbClr val="000000"/>
                </a:solidFill>
                <a:latin typeface="Times New Roman"/>
                <a:ea typeface="宋体"/>
                <a:cs typeface="Times New Roman" pitchFamily="18" charset="0"/>
              </a:rPr>
              <a:t>n</a:t>
            </a:r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若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是自反的，则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;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若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是对称的，则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;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若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是传递的，则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.  </a:t>
            </a:r>
          </a:p>
          <a:p>
            <a:pPr marL="342900" indent="-342900" fontAlgn="base"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endParaRPr lang="en-US" altLang="zh-CN" sz="2400" b="1" i="1" baseline="30000" dirty="0">
              <a:solidFill>
                <a:srgbClr val="000000"/>
              </a:solidFill>
              <a:latin typeface="Times New Roman"/>
              <a:ea typeface="宋体"/>
              <a:cs typeface="Times New Roman" pitchFamily="18" charset="0"/>
            </a:endParaRPr>
          </a:p>
          <a:p>
            <a:pPr marL="342900" indent="-342900" fontAlgn="base"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endParaRPr lang="en-US" altLang="zh-CN" sz="2400" b="1" dirty="0">
              <a:solidFill>
                <a:srgbClr val="000000"/>
              </a:solidFill>
              <a:latin typeface="Times New Roman"/>
              <a:ea typeface="宋体"/>
              <a:cs typeface="Times New Roman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600249-BFBC-459E-A44B-A2F1B83D1515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</p:spTree>
    <p:extLst>
      <p:ext uri="{BB962C8B-B14F-4D97-AF65-F5344CB8AC3E}">
        <p14:creationId xmlns:p14="http://schemas.microsoft.com/office/powerpoint/2010/main" val="12813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7A4345-3555-464E-AC88-AFED51EF9ECF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1167BB6-6B24-48AB-B047-7530CC297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25" y="1567911"/>
            <a:ext cx="11410261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  只证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(1)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(3).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(1)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I</a:t>
            </a:r>
            <a:r>
              <a:rPr kumimoji="0" lang="en-US" altLang="zh-CN" sz="20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=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 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∪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r>
              <a:rPr kumimoji="0" lang="en-US" altLang="zh-CN" sz="2000" b="1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∪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是自反的</a:t>
            </a: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且满足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∪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endParaRPr kumimoji="0" lang="en-US" altLang="zh-CN" sz="2000" b="1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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上包含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的自反关系</a:t>
            </a: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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I</a:t>
            </a:r>
            <a:r>
              <a:rPr kumimoji="0" lang="en-US" altLang="zh-CN" sz="20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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从而有</a:t>
            </a:r>
            <a:endParaRPr lang="en-US" altLang="zh-CN" sz="20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R∪R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itchFamily="18" charset="2"/>
              </a:rPr>
              <a:t>.  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∪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满足闭包定义</a:t>
            </a: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)=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∪</a:t>
            </a:r>
            <a:r>
              <a:rPr kumimoji="0" lang="en-US" altLang="zh-CN" sz="20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0" lang="en-US" altLang="zh-CN" sz="20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0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.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16ABEE1-A195-4DC7-B78D-669677B92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91" y="3715052"/>
            <a:ext cx="11381648" cy="2913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(3)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先证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∪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∪…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Times New Roman"/>
                <a:ea typeface="宋体"/>
              </a:rPr>
              <a:t>成立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.  </a:t>
            </a: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用归纳法证明对任意正整数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n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lang="en-US" altLang="zh-CN" sz="2000" b="1" i="1" baseline="300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R).  </a:t>
            </a: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 n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=1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时有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/>
                <a:ea typeface="宋体"/>
              </a:rPr>
              <a:t>1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=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). 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>
                <a:solidFill>
                  <a:srgbClr val="000000"/>
                </a:solidFill>
                <a:latin typeface="Times New Roman"/>
                <a:ea typeface="宋体"/>
              </a:rPr>
              <a:t>n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 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成立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那么对任意的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</a:t>
            </a:r>
            <a:b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</a:b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    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/>
                <a:ea typeface="宋体"/>
              </a:rPr>
              <a:t>+1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=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lang="en-US" altLang="zh-CN" sz="2000" b="1" baseline="-16000" dirty="0" err="1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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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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&gt;∈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 err="1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∧&lt;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endParaRPr lang="en-US" altLang="zh-CN" sz="2000" b="1" dirty="0">
              <a:solidFill>
                <a:srgbClr val="000000"/>
              </a:solidFill>
              <a:latin typeface="Times New Roman"/>
              <a:ea typeface="宋体"/>
              <a:sym typeface="Symbol" pitchFamily="18" charset="2"/>
            </a:endParaRP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     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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)∧&lt;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))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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 &lt;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&gt;∈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 </a:t>
            </a:r>
          </a:p>
          <a:p>
            <a:pPr marL="342900" indent="-342900" fontAlgn="base">
              <a:lnSpc>
                <a:spcPct val="150000"/>
              </a:lnSpc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这就证明了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>
                <a:solidFill>
                  <a:srgbClr val="000000"/>
                </a:solidFill>
                <a:latin typeface="Times New Roman"/>
                <a:ea typeface="宋体"/>
              </a:rPr>
              <a:t>n</a:t>
            </a:r>
            <a:r>
              <a:rPr lang="en-US" altLang="zh-CN" sz="2000" b="1" baseline="30000" dirty="0">
                <a:solidFill>
                  <a:srgbClr val="000000"/>
                </a:solidFill>
                <a:latin typeface="Times New Roman"/>
                <a:ea typeface="宋体"/>
              </a:rPr>
              <a:t>+1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  <a:sym typeface="Symbol" pitchFamily="18" charset="2"/>
              </a:rPr>
              <a:t>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  <a:t>).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由归纳法命题得证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br>
              <a:rPr lang="en-US" altLang="zh-CN" sz="2000" b="1" dirty="0">
                <a:solidFill>
                  <a:srgbClr val="000000"/>
                </a:solidFill>
                <a:latin typeface="Times New Roman"/>
                <a:ea typeface="宋体"/>
              </a:rPr>
            </a:br>
            <a:endParaRPr lang="en-US" altLang="zh-CN" sz="2000" b="1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09F1CB-D627-45C3-B1D6-1DE48B798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310" y="3067665"/>
            <a:ext cx="3978431" cy="14380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E6604BE-AC3A-4558-89AF-CFA42FD90F1A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</p:spTree>
    <p:extLst>
      <p:ext uri="{BB962C8B-B14F-4D97-AF65-F5344CB8AC3E}">
        <p14:creationId xmlns:p14="http://schemas.microsoft.com/office/powerpoint/2010/main" val="318420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AA0B2D2-CC73-469C-8E3B-4CE973E24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28" y="175769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再证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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∪…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成立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为此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只须证明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∪…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∪…∧&lt;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∪…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)∧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y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3200" b="1" i="0" u="none" strike="noStrike" kern="0" cap="none" spc="0" normalizeH="0" baseline="-16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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Arial" charset="0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Arial" charset="0"/>
              </a:rPr>
              <a:t>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x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z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&gt;∈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6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从而证明了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∪…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是传递的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9545440-B1C1-4F2E-8EB4-3BF84D95BF26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2A15FC-22EA-409D-B8EB-AE50486F75E9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</p:spTree>
    <p:extLst>
      <p:ext uri="{BB962C8B-B14F-4D97-AF65-F5344CB8AC3E}">
        <p14:creationId xmlns:p14="http://schemas.microsoft.com/office/powerpoint/2010/main" val="334555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751084-B60E-4ECB-A617-346BE385427C}"/>
              </a:ext>
            </a:extLst>
          </p:cNvPr>
          <p:cNvSpPr txBox="1"/>
          <p:nvPr/>
        </p:nvSpPr>
        <p:spPr>
          <a:xfrm>
            <a:off x="536994" y="1700205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闭包的矩阵表示</a:t>
            </a:r>
            <a:endParaRPr lang="zh-CN" altLang="en-US" sz="28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EABE4DA-AF0E-4CDE-8CF1-20739D68B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52" y="2452159"/>
            <a:ext cx="9904652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设关系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的关系矩阵分别为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  </a:t>
            </a:r>
            <a:r>
              <a:rPr kumimoji="0" lang="zh-CN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，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E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i="1" kern="0" dirty="0">
                <a:solidFill>
                  <a:srgbClr val="000000"/>
                </a:solidFill>
                <a:latin typeface="Times New Roman"/>
                <a:ea typeface="宋体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M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kern="0" dirty="0">
                <a:solidFill>
                  <a:srgbClr val="000000"/>
                </a:solidFill>
                <a:latin typeface="Times New Roman"/>
                <a:ea typeface="宋体"/>
              </a:rPr>
              <a:t>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0" u="none" strike="noStrike" kern="0" cap="none" spc="0" normalizeH="0" baseline="30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E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同阶的是单位矩阵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0" lang="en-US" altLang="zh-CN" sz="2400" b="1" i="1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转置矩阵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在上述等式中矩阵的元素相加时使用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逻辑加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D55CF7-E897-4F5C-9E0C-6ECED5415BBF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7006FD-6D94-49D4-9BCC-7D87C74DC58D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</p:spTree>
    <p:extLst>
      <p:ext uri="{BB962C8B-B14F-4D97-AF65-F5344CB8AC3E}">
        <p14:creationId xmlns:p14="http://schemas.microsoft.com/office/powerpoint/2010/main" val="51189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751084-B60E-4ECB-A617-346BE385427C}"/>
              </a:ext>
            </a:extLst>
          </p:cNvPr>
          <p:cNvSpPr txBox="1"/>
          <p:nvPr/>
        </p:nvSpPr>
        <p:spPr>
          <a:xfrm>
            <a:off x="536994" y="1700205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闭包的图表示</a:t>
            </a:r>
            <a:endParaRPr lang="zh-CN" altLang="en-US" sz="2800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5E8B4741-DF0F-410F-B9B8-1151F1E48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82" y="2339885"/>
            <a:ext cx="11241746" cy="1295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设关系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),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),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的关系图分别记为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s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的顶点集与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的顶点集相等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除了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的边以外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以下述法添加新的边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</a:rPr>
              <a:t>：     </a:t>
            </a:r>
            <a:endParaRPr lang="en-US" altLang="zh-CN" sz="2400" b="1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FC090D60-04FA-46A7-B9E9-0F790125F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55" y="3456421"/>
            <a:ext cx="1124174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(1)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的每个顶点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若没环就加一个环，得到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r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;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C9DC312-E074-4B3C-AFF6-586C3FDAC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53" y="4086545"/>
            <a:ext cx="11241746" cy="108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    (2)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/>
                <a:ea typeface="宋体"/>
              </a:rPr>
              <a:t>G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的每条边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若有一条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i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j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的单向边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i</a:t>
            </a:r>
            <a:r>
              <a:rPr lang="en-US" altLang="zh-CN" sz="2400" b="1" dirty="0" err="1">
                <a:solidFill>
                  <a:srgbClr val="000000"/>
                </a:solidFill>
                <a:latin typeface="Times New Roman"/>
                <a:ea typeface="宋体"/>
              </a:rPr>
              <a:t>≠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j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则在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中加一条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j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的反向边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;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9A178063-AF65-4E0B-89F3-50A6C7301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54" y="5184612"/>
            <a:ext cx="11241746" cy="1080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(3)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的每个顶点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i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i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可达的所有顶点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j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允许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i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=j 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),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如果没有从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i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400" b="1" i="1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j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/>
                <a:ea typeface="宋体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的边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就加上这条边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G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/>
                <a:ea typeface="宋体"/>
              </a:rPr>
              <a:t>t </a:t>
            </a:r>
            <a:r>
              <a:rPr lang="en-US" altLang="zh-CN" sz="2400" b="1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.</a:t>
            </a:r>
            <a:endParaRPr lang="en-US" altLang="zh-CN" sz="2400" b="1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19A3D16-D125-4158-B20C-552A9287C58B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224F73-DC32-4FF2-8134-C1B524092DF1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</p:spTree>
    <p:extLst>
      <p:ext uri="{BB962C8B-B14F-4D97-AF65-F5344CB8AC3E}">
        <p14:creationId xmlns:p14="http://schemas.microsoft.com/office/powerpoint/2010/main" val="109328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关系的闭包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E58BA67-A418-4AF3-B14D-41BA2D576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57" y="1803247"/>
            <a:ext cx="11102202" cy="100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itchFamily="49" charset="-122"/>
                <a:ea typeface="黑体" pitchFamily="49" charset="-122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&gt;,&lt;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&gt;},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的关系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图如下图所示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. 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BB55643-9F2D-4E9F-BC26-1C30E1FEAB69}"/>
              </a:ext>
            </a:extLst>
          </p:cNvPr>
          <p:cNvSpPr txBox="1"/>
          <p:nvPr/>
        </p:nvSpPr>
        <p:spPr>
          <a:xfrm>
            <a:off x="526210" y="952809"/>
            <a:ext cx="1923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闭包的定义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E2173A-7607-4DB9-9096-A36554E2D1E3}"/>
              </a:ext>
            </a:extLst>
          </p:cNvPr>
          <p:cNvSpPr txBox="1"/>
          <p:nvPr/>
        </p:nvSpPr>
        <p:spPr>
          <a:xfrm>
            <a:off x="7855120" y="952809"/>
            <a:ext cx="38473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dirty="0"/>
              <a:t>闭包的构造方法</a:t>
            </a:r>
            <a:endParaRPr lang="en-US" altLang="zh-CN" dirty="0"/>
          </a:p>
          <a:p>
            <a:pPr algn="ctr"/>
            <a:r>
              <a:rPr lang="zh-CN" altLang="en-US" dirty="0"/>
              <a:t>（集合表示、矩阵表示、图表示）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6B3D85E-BE45-46F6-A421-543FB5E51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02" y="3134308"/>
            <a:ext cx="3625645" cy="13044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96A04A-4443-407F-9417-0DCB278A5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517" y="3002773"/>
            <a:ext cx="3779094" cy="13850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B416E0-9F2B-4366-89AB-9F17DA3671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233" y="5045772"/>
            <a:ext cx="3818910" cy="16855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29F0BE-1ED4-4B64-A6BE-2A81CFDF8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721" y="4667857"/>
            <a:ext cx="3767810" cy="201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6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369409" y="967560"/>
            <a:ext cx="344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等价关系与划分的一一对应 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D794F1C-DFE4-4CC8-B4BA-E1D643E3B919}"/>
              </a:ext>
            </a:extLst>
          </p:cNvPr>
          <p:cNvSpPr txBox="1">
            <a:spLocks noChangeArrowheads="1"/>
          </p:cNvSpPr>
          <p:nvPr/>
        </p:nvSpPr>
        <p:spPr>
          <a:xfrm>
            <a:off x="530326" y="1378958"/>
            <a:ext cx="11168094" cy="17889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定义</a:t>
            </a:r>
            <a:r>
              <a:rPr lang="en-US" altLang="zh-CN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4.12  </a:t>
            </a:r>
          </a:p>
          <a:p>
            <a:pPr marL="609600" indent="-609600"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为非空集合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自反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的、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对称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的和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</a:t>
            </a:r>
            <a:endParaRPr lang="en-US" altLang="zh-CN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10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是一个等价关系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&lt;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/>
                <a:ea typeface="宋体"/>
              </a:rPr>
              <a:t>x,y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&gt;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  <a:ea typeface="宋体"/>
              </a:rPr>
              <a:t>∈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等价于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y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记做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zh-CN" altLang="en-US" sz="2400" b="1" i="1" dirty="0">
                <a:solidFill>
                  <a:srgbClr val="000000"/>
                </a:solidFill>
                <a:latin typeface="Times New Roman"/>
                <a:ea typeface="宋体"/>
              </a:rPr>
              <a:t>～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/>
                <a:ea typeface="宋体"/>
              </a:rPr>
              <a:t>y. 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C9DF2574-8B0C-4DA6-9268-ECE4D9ADC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227" y="4331728"/>
            <a:ext cx="8607330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marR="0" lvl="0" indent="-609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b="1" dirty="0">
                <a:latin typeface="+mn-lt"/>
                <a:ea typeface="+mn-ea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全体三角形集合上的全等（相似）关系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 marL="609600" marR="0" lvl="0" indent="-609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数集合上的相等关系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 marL="609600" marR="0" lvl="0" indent="-609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全体命题公式集合上的等值关系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 marL="609600" marR="0" lvl="0" indent="-609600" algn="l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南理工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级自动化专业学生集合上的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同乡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同省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关系</a:t>
            </a:r>
            <a:r>
              <a:rPr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lang="en-US" altLang="zh-CN" sz="2400" b="1" dirty="0">
              <a:latin typeface="+mn-lt"/>
              <a:ea typeface="+mn-ea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endParaRPr lang="en-US" altLang="en-US" sz="2400" b="1" dirty="0">
              <a:latin typeface="+mn-lt"/>
              <a:ea typeface="+mn-e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A43CFD6-D103-4104-8ACD-23746E59EC35}"/>
              </a:ext>
            </a:extLst>
          </p:cNvPr>
          <p:cNvSpPr txBox="1"/>
          <p:nvPr/>
        </p:nvSpPr>
        <p:spPr>
          <a:xfrm>
            <a:off x="525043" y="3085362"/>
            <a:ext cx="3587842" cy="1113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09600" indent="-609600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相容关系（自反且对称）</a:t>
            </a:r>
          </a:p>
          <a:p>
            <a:pPr marL="609600" indent="-609600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相似关系（自反且传递）</a:t>
            </a:r>
          </a:p>
        </p:txBody>
      </p:sp>
    </p:spTree>
    <p:extLst>
      <p:ext uri="{BB962C8B-B14F-4D97-AF65-F5344CB8AC3E}">
        <p14:creationId xmlns:p14="http://schemas.microsoft.com/office/powerpoint/2010/main" val="340430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369409" y="967560"/>
            <a:ext cx="344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等价关系与划分的一一对应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23998D5-6452-47BB-9929-0D82BCDC0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39" y="1645718"/>
            <a:ext cx="11034496" cy="17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sz="2400" b="1" dirty="0">
                <a:latin typeface="Times New Roman" pitchFamily="18" charset="0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</a:rPr>
              <a:t>={1,2,…,8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}, 如下定义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  <a:r>
              <a:rPr lang="zh-CN" altLang="en-US" sz="2400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Times New Roman" pitchFamily="18" charset="0"/>
              </a:rPr>
              <a:t>：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                  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fr-FR" altLang="en-US" sz="2400" b="1" dirty="0">
                <a:latin typeface="Times New Roman" pitchFamily="18" charset="0"/>
              </a:rPr>
              <a:t>={&lt;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&gt;| 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∈</a:t>
            </a:r>
            <a:r>
              <a:rPr lang="fr-FR" altLang="en-US" sz="2400" b="1" i="1" dirty="0">
                <a:latin typeface="Times New Roman" pitchFamily="18" charset="0"/>
              </a:rPr>
              <a:t>A</a:t>
            </a:r>
            <a:r>
              <a:rPr lang="fr-FR" altLang="en-US" sz="2400" b="1" dirty="0">
                <a:latin typeface="Times New Roman" pitchFamily="18" charset="0"/>
              </a:rPr>
              <a:t>∧</a:t>
            </a:r>
            <a:r>
              <a:rPr lang="fr-FR" altLang="en-US" sz="2400" b="1" i="1" dirty="0">
                <a:latin typeface="Times New Roman" pitchFamily="18" charset="0"/>
              </a:rPr>
              <a:t>x </a:t>
            </a:r>
            <a:r>
              <a:rPr lang="fr-FR" altLang="en-US" sz="2400" b="1" dirty="0">
                <a:latin typeface="Times New Roman" pitchFamily="18" charset="0"/>
              </a:rPr>
              <a:t>≡ 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(mod 3)}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(mod 3)叫做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</a:rPr>
              <a:t>x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</a:rPr>
              <a:t> </a:t>
            </a:r>
            <a:r>
              <a:rPr lang="zh-CN" altLang="en-US" sz="2400" b="1" i="1" dirty="0">
                <a:solidFill>
                  <a:srgbClr val="992677"/>
                </a:solidFill>
                <a:latin typeface="Times New Roman" pitchFamily="18" charset="0"/>
              </a:rPr>
              <a:t>y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</a:rPr>
              <a:t>3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即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除以</a:t>
            </a:r>
            <a:r>
              <a:rPr lang="zh-CN" altLang="en-US" sz="2400" b="1" dirty="0">
                <a:latin typeface="Times New Roman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的余数与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除以</a:t>
            </a:r>
            <a:r>
              <a:rPr lang="zh-CN" altLang="en-US" sz="2400" b="1" dirty="0">
                <a:latin typeface="Times New Roman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的余数相等. 不难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验证 </a:t>
            </a:r>
            <a:r>
              <a:rPr lang="zh-CN" altLang="en-US" sz="2400" b="1" i="1" dirty="0">
                <a:latin typeface="Times New Roman" pitchFamily="18" charset="0"/>
              </a:rPr>
              <a:t>R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上的等价关系, 因为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66AAFDB-55D1-44F3-8C83-918F7C840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58" y="3715637"/>
            <a:ext cx="8497887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(1)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自反性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x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    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,有 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(2)</a:t>
            </a:r>
            <a:r>
              <a:rPr lang="zh-CN" altLang="en-US" sz="2400" b="1" dirty="0">
                <a:solidFill>
                  <a:srgbClr val="FF9999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对称性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fr-FR" altLang="en-US" sz="2400" b="1" dirty="0">
                <a:latin typeface="Times New Roman" pitchFamily="18" charset="0"/>
              </a:rPr>
              <a:t> 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y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x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itchFamily="18" charset="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Symbol" pitchFamily="18" charset="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      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,若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则有</a:t>
            </a:r>
            <a:r>
              <a:rPr lang="zh-CN" altLang="en-US" sz="2400" b="1" i="1" dirty="0">
                <a:latin typeface="Times New Roman" pitchFamily="18" charset="0"/>
              </a:rPr>
              <a:t>y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(3)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传递性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fr-FR" altLang="en-US" sz="2400" b="1" dirty="0">
                <a:latin typeface="Times New Roman" pitchFamily="18" charset="0"/>
              </a:rPr>
              <a:t> 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y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i="1" dirty="0">
                <a:latin typeface="Times New Roman" pitchFamily="18" charset="0"/>
              </a:rPr>
              <a:t>,</a:t>
            </a:r>
            <a:r>
              <a:rPr lang="fr-FR" altLang="en-US" sz="2400" b="1" dirty="0">
                <a:latin typeface="Times New Roman" pitchFamily="18" charset="0"/>
              </a:rPr>
              <a:t> &lt;</a:t>
            </a:r>
            <a:r>
              <a:rPr lang="fr-FR" altLang="en-US" sz="2400" b="1" i="1" dirty="0">
                <a:latin typeface="Times New Roman" pitchFamily="18" charset="0"/>
              </a:rPr>
              <a:t>y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z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fr-FR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 z 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∈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若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i="1" dirty="0">
                <a:latin typeface="Times New Roman" pitchFamily="18" charset="0"/>
              </a:rPr>
              <a:t>y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则有</a:t>
            </a:r>
            <a:r>
              <a:rPr lang="zh-CN" altLang="en-US" sz="2400" b="1" i="1" dirty="0">
                <a:latin typeface="Times New Roman" pitchFamily="18" charset="0"/>
              </a:rPr>
              <a:t>x </a:t>
            </a:r>
            <a:r>
              <a:rPr lang="zh-CN" altLang="en-US" sz="2400" b="1" dirty="0">
                <a:latin typeface="Times New Roman" pitchFamily="18" charset="0"/>
              </a:rPr>
              <a:t>≡ 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(mod 3)</a:t>
            </a:r>
            <a:br>
              <a:rPr lang="zh-CN" altLang="en-US" sz="2400" b="1" dirty="0">
                <a:latin typeface="Times New Roman" pitchFamily="18" charset="0"/>
              </a:rPr>
            </a:br>
            <a:endParaRPr lang="zh-CN" altLang="en-US" sz="24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42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369409" y="967560"/>
            <a:ext cx="344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等价关系与划分的一一对应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AB897EE-310D-4F85-B360-6DD0E2F7C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647" y="4849555"/>
            <a:ext cx="6192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模 </a:t>
            </a:r>
            <a:r>
              <a:rPr lang="en-US" altLang="zh-CN" sz="2400" b="1" dirty="0">
                <a:latin typeface="Times New Roman" pitchFamily="18" charset="0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等价关系的关系图</a:t>
            </a:r>
          </a:p>
        </p:txBody>
      </p:sp>
      <p:pic>
        <p:nvPicPr>
          <p:cNvPr id="13" name="Picture 3" descr="7-55">
            <a:extLst>
              <a:ext uri="{FF2B5EF4-FFF2-40B4-BE49-F238E27FC236}">
                <a16:creationId xmlns:a16="http://schemas.microsoft.com/office/drawing/2014/main" id="{96D6593D-750E-415B-96C6-B1347D0E7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5371" y="2302183"/>
            <a:ext cx="8064500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034168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6EDEA4C-0E1D-4A0A-A880-55F04259BBFF}"/>
              </a:ext>
            </a:extLst>
          </p:cNvPr>
          <p:cNvSpPr txBox="1">
            <a:spLocks noChangeArrowheads="1"/>
          </p:cNvSpPr>
          <p:nvPr/>
        </p:nvSpPr>
        <p:spPr>
          <a:xfrm>
            <a:off x="504395" y="1831729"/>
            <a:ext cx="10208834" cy="14400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Wingdings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定义</a:t>
            </a:r>
            <a:r>
              <a:rPr lang="en-US" altLang="zh-CN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4.13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为非空集合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上的等价关系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dirty="0" err="1"/>
              <a:t>∈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，令</a:t>
            </a:r>
          </a:p>
          <a:p>
            <a:pPr marL="457200" indent="-457200">
              <a:buFont typeface="Wingdings" pitchFamily="2" charset="2"/>
              <a:buNone/>
            </a:pPr>
            <a:r>
              <a:rPr lang="zh-CN" altLang="en-US" dirty="0"/>
              <a:t>          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dirty="0"/>
              <a:t>|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i="1" dirty="0"/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xRy</a:t>
            </a:r>
            <a:r>
              <a:rPr lang="en-US" altLang="zh-CN" dirty="0"/>
              <a:t>}</a:t>
            </a:r>
          </a:p>
          <a:p>
            <a:pPr marL="457200" indent="-457200"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en-US" altLang="zh-CN" b="1" dirty="0"/>
              <a:t>[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/>
              <a:t>]</a:t>
            </a:r>
            <a:r>
              <a:rPr lang="en-US" altLang="zh-C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/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关于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简称为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简记为</a:t>
            </a:r>
            <a:r>
              <a:rPr lang="en-US" altLang="zh-CN" b="1" dirty="0"/>
              <a:t>[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/>
              <a:t>]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 </a:t>
            </a:r>
            <a:r>
              <a:rPr lang="zh-CN" altLang="en-US" dirty="0"/>
              <a:t>   </a:t>
            </a:r>
          </a:p>
          <a:p>
            <a:pPr marL="457200" indent="-457200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5D8A048-8BFA-44DF-86A3-C6D881B9E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81" y="3459886"/>
            <a:ext cx="8075613" cy="3151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indent="-457200" eaLnBrk="1" hangingPunct="1">
              <a:buFont typeface="Wingdings" pitchFamily="2" charset="2"/>
              <a:buNone/>
            </a:pPr>
            <a:endParaRPr lang="zh-CN" altLang="en-US" kern="0" dirty="0"/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kern="0" dirty="0"/>
              <a:t>  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={1, 2, … , 8}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上模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等价关系的等价类：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/>
              <a:t>          </a:t>
            </a:r>
            <a:r>
              <a:rPr lang="en-US" altLang="zh-CN" dirty="0">
                <a:latin typeface="Times New Roman" pitchFamily="18" charset="0"/>
              </a:rPr>
              <a:t>[1] = [4] = [7] = {1, 4, 7}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[2] = [5] = [8] = {2, 5, 8}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[3] = [6] = {3, 6}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497FE1ED-65CD-424C-8742-0F4ECC2BE8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275096"/>
              </p:ext>
            </p:extLst>
          </p:nvPr>
        </p:nvGraphicFramePr>
        <p:xfrm>
          <a:off x="8637854" y="2861188"/>
          <a:ext cx="358775" cy="47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1792" imgH="219134" progId="Equation.3">
                  <p:embed/>
                </p:oleObj>
              </mc:Choice>
              <mc:Fallback>
                <p:oleObj r:id="rId2" imgW="141792" imgH="219134" progId="Equation.3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497FE1ED-65CD-424C-8742-0F4ECC2BE8A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7854" y="2861188"/>
                        <a:ext cx="358775" cy="471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1BC8B19-B154-4351-8D3D-CF71EE701619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1158808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62025DC-AF63-4CCE-B505-66296D5F371F}"/>
              </a:ext>
            </a:extLst>
          </p:cNvPr>
          <p:cNvGrpSpPr/>
          <p:nvPr/>
        </p:nvGrpSpPr>
        <p:grpSpPr>
          <a:xfrm>
            <a:off x="725619" y="1444744"/>
            <a:ext cx="8158809" cy="2614011"/>
            <a:chOff x="725619" y="1651220"/>
            <a:chExt cx="8158809" cy="2614011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41DD7160-ED99-407A-B5C2-39A73CF2605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25619" y="1651220"/>
              <a:ext cx="8158809" cy="2614011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pitchFamily="2" charset="2"/>
                <a:buNone/>
              </a:pPr>
              <a:r>
                <a:rPr lang="zh-CN" altLang="en-US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itchFamily="18" charset="0"/>
                </a:rPr>
                <a:t>定理</a:t>
              </a:r>
              <a:r>
                <a:rPr lang="en-US" altLang="zh-CN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itchFamily="18" charset="0"/>
                </a:rPr>
                <a:t>4.5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en-US" altLang="zh-CN" b="1" i="1" dirty="0">
                  <a:latin typeface="Times New Roman" pitchFamily="18" charset="0"/>
                </a:rPr>
                <a:t>R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是非空集合</a:t>
              </a:r>
              <a:r>
                <a:rPr lang="en-US" altLang="zh-CN" b="1" i="1" dirty="0">
                  <a:latin typeface="Times New Roman" pitchFamily="18" charset="0"/>
                </a:rPr>
                <a:t>A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上的等价关系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zh-CN" b="1" dirty="0">
                  <a:latin typeface="Times New Roman" pitchFamily="18" charset="0"/>
                </a:rPr>
                <a:t>(1)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</a:t>
              </a:r>
              <a:r>
                <a:rPr lang="en-US" altLang="zh-CN" b="1" i="1" dirty="0">
                  <a:latin typeface="Times New Roman" pitchFamily="18" charset="0"/>
                </a:rPr>
                <a:t>x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 </a:t>
              </a:r>
              <a:r>
                <a:rPr lang="en-US" altLang="zh-CN" b="1" i="1" dirty="0">
                  <a:latin typeface="Times New Roman" pitchFamily="18" charset="0"/>
                </a:rPr>
                <a:t>A</a:t>
              </a:r>
              <a:r>
                <a:rPr lang="en-US" altLang="zh-CN" dirty="0"/>
                <a:t>, </a:t>
              </a:r>
              <a:r>
                <a:rPr lang="en-US" altLang="zh-CN" b="1" dirty="0"/>
                <a:t>[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="1" dirty="0"/>
                <a:t>]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是</a:t>
              </a:r>
              <a:r>
                <a:rPr lang="en-US" altLang="zh-CN" b="1" i="1" dirty="0">
                  <a:latin typeface="Times New Roman" pitchFamily="18" charset="0"/>
                </a:rPr>
                <a:t>A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的非空子集</a:t>
              </a:r>
            </a:p>
            <a:p>
              <a:pPr>
                <a:buFont typeface="Wingdings" pitchFamily="2" charset="2"/>
                <a:buNone/>
              </a:pPr>
              <a:r>
                <a:rPr lang="en-US" altLang="zh-CN" b="1" dirty="0">
                  <a:latin typeface="Times New Roman" pitchFamily="18" charset="0"/>
                </a:rPr>
                <a:t>(2)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</a:t>
              </a:r>
              <a:r>
                <a:rPr lang="en-US" altLang="zh-CN" b="1" i="1" dirty="0">
                  <a:latin typeface="Times New Roman" pitchFamily="18" charset="0"/>
                </a:rPr>
                <a:t>x</a:t>
              </a:r>
              <a:r>
                <a:rPr lang="zh-CN" altLang="en-US" sz="20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en-US" altLang="zh-CN" b="1" i="1" dirty="0">
                  <a:latin typeface="Times New Roman" pitchFamily="18" charset="0"/>
                </a:rPr>
                <a:t>y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 </a:t>
              </a:r>
              <a:r>
                <a:rPr lang="en-US" altLang="zh-CN" b="1" i="1" dirty="0">
                  <a:latin typeface="Times New Roman" pitchFamily="18" charset="0"/>
                </a:rPr>
                <a:t>A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如果 </a:t>
              </a:r>
              <a:r>
                <a:rPr lang="en-US" altLang="zh-CN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xRy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lang="zh-CN" altLang="en-US" dirty="0"/>
                <a:t>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</a:t>
              </a:r>
              <a:r>
                <a:rPr lang="en-US" altLang="zh-CN" dirty="0"/>
                <a:t>=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CN" dirty="0"/>
            </a:p>
            <a:p>
              <a:pPr>
                <a:buNone/>
              </a:pPr>
              <a:r>
                <a:rPr lang="en-US" altLang="zh-CN" b="1" dirty="0">
                  <a:latin typeface="Times New Roman" pitchFamily="18" charset="0"/>
                </a:rPr>
                <a:t>(3)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</a:t>
              </a:r>
              <a:r>
                <a:rPr lang="en-US" altLang="zh-CN" b="1" i="1" dirty="0">
                  <a:latin typeface="Times New Roman" pitchFamily="18" charset="0"/>
                </a:rPr>
                <a:t>x</a:t>
              </a:r>
              <a:r>
                <a:rPr lang="zh-CN" altLang="en-US" sz="2000" b="1" i="1" dirty="0"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en-US" altLang="zh-CN" b="1" i="1" dirty="0">
                  <a:latin typeface="Times New Roman" pitchFamily="18" charset="0"/>
                </a:rPr>
                <a:t>y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  </a:t>
              </a:r>
              <a:r>
                <a:rPr lang="en-US" altLang="zh-CN" b="1" i="1" dirty="0">
                  <a:latin typeface="Times New Roman" pitchFamily="18" charset="0"/>
                </a:rPr>
                <a:t>A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如果 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   y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, </a:t>
              </a: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则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zh-CN" sz="1600" b="1" dirty="0"/>
                <a:t> </a:t>
              </a:r>
              <a:r>
                <a: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∩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= </a:t>
              </a:r>
              <a:r>
                <a:rPr lang="en-US" altLang="zh-CN" sz="2400" b="1" dirty="0">
                  <a:sym typeface="Symbol" pitchFamily="18" charset="2"/>
                </a:rPr>
                <a:t></a:t>
              </a:r>
            </a:p>
            <a:p>
              <a:pPr>
                <a:buNone/>
              </a:pPr>
              <a:r>
                <a:rPr lang="en-US" altLang="zh-CN" b="1" dirty="0">
                  <a:latin typeface="Times New Roman" pitchFamily="18" charset="0"/>
                </a:rPr>
                <a:t>(4)</a:t>
              </a:r>
              <a:r>
                <a:rPr lang="en-US" altLang="zh-CN" dirty="0"/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∪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altLang="zh-CN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b="1" dirty="0" err="1"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</a:t>
              </a:r>
              <a:r>
                <a:rPr lang="en-US" altLang="zh-CN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}=</a:t>
              </a:r>
              <a:r>
                <a:rPr lang="en-US" altLang="zh-CN" b="1" i="1" dirty="0">
                  <a:latin typeface="Times New Roman" pitchFamily="18" charset="0"/>
                </a:rPr>
                <a:t>A</a:t>
              </a:r>
            </a:p>
          </p:txBody>
        </p:sp>
        <p:pic>
          <p:nvPicPr>
            <p:cNvPr id="15" name="Picture 5">
              <a:extLst>
                <a:ext uri="{FF2B5EF4-FFF2-40B4-BE49-F238E27FC236}">
                  <a16:creationId xmlns:a16="http://schemas.microsoft.com/office/drawing/2014/main" id="{C84FEE2B-9E3B-4809-A965-F85FD30170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113804" y="3249721"/>
              <a:ext cx="292100" cy="358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" name="Rectangle 6">
            <a:extLst>
              <a:ext uri="{FF2B5EF4-FFF2-40B4-BE49-F238E27FC236}">
                <a16:creationId xmlns:a16="http://schemas.microsoft.com/office/drawing/2014/main" id="{FA272CD3-2AFF-44A6-8FCF-CDC2E7818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73" y="4057855"/>
            <a:ext cx="9519295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sz="2400" b="1" dirty="0">
                <a:latin typeface="Times New Roman" pitchFamily="18" charset="0"/>
              </a:rPr>
              <a:t> 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由定义,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zh-CN" altLang="en-US" sz="2400" b="1" dirty="0">
                <a:latin typeface="Times New Roman" pitchFamily="18" charset="0"/>
              </a:rPr>
              <a:t>[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]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zh-CN" altLang="en-US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又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zh-CN" altLang="en-US" sz="2400" b="1" dirty="0">
                <a:latin typeface="Times New Roman" pitchFamily="18" charset="0"/>
              </a:rPr>
              <a:t>[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],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en-US" sz="2400" b="1" dirty="0">
                <a:latin typeface="Times New Roman" pitchFamily="18" charset="0"/>
              </a:rPr>
              <a:t>[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]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非空.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 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任取 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则有  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Times New Roman" pitchFamily="18" charset="0"/>
              </a:rPr>
              <a:t>        </a:t>
            </a:r>
            <a:r>
              <a:rPr lang="fr-FR" altLang="en-US" sz="2400" b="1" i="1" dirty="0">
                <a:latin typeface="Times New Roman" pitchFamily="18" charset="0"/>
              </a:rPr>
              <a:t>z</a:t>
            </a:r>
            <a:r>
              <a:rPr lang="fr-FR" altLang="en-US" sz="2400" b="1" dirty="0">
                <a:latin typeface="Times New Roman" pitchFamily="18" charset="0"/>
              </a:rPr>
              <a:t>∈[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]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fr-FR" altLang="en-US" sz="2400" b="1" dirty="0">
                <a:latin typeface="Times New Roman" pitchFamily="18" charset="0"/>
              </a:rPr>
              <a:t>&lt;</a:t>
            </a:r>
            <a:r>
              <a:rPr lang="fr-FR" altLang="en-US" sz="2400" b="1" i="1" dirty="0">
                <a:latin typeface="Times New Roman" pitchFamily="18" charset="0"/>
              </a:rPr>
              <a:t>x</a:t>
            </a:r>
            <a:r>
              <a:rPr lang="fr-FR" altLang="en-US" sz="2400" b="1" dirty="0">
                <a:latin typeface="Times New Roman" pitchFamily="18" charset="0"/>
              </a:rPr>
              <a:t>,</a:t>
            </a:r>
            <a:r>
              <a:rPr lang="fr-FR" altLang="en-US" sz="2400" b="1" i="1" dirty="0">
                <a:latin typeface="Times New Roman" pitchFamily="18" charset="0"/>
              </a:rPr>
              <a:t>z</a:t>
            </a:r>
            <a:r>
              <a:rPr lang="fr-FR" altLang="en-US" sz="2400" b="1" dirty="0">
                <a:latin typeface="Times New Roman" pitchFamily="18" charset="0"/>
              </a:rPr>
              <a:t>&gt;∈</a:t>
            </a:r>
            <a:r>
              <a:rPr lang="fr-FR" altLang="en-US" sz="2400" b="1" i="1" dirty="0">
                <a:latin typeface="Times New Roman" pitchFamily="18" charset="0"/>
              </a:rPr>
              <a:t>R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fr-FR" altLang="en-US" sz="2400" b="1" i="1" dirty="0">
                <a:latin typeface="Times New Roman" pitchFamily="18" charset="0"/>
              </a:rPr>
              <a:t>&lt;z,x&gt;</a:t>
            </a:r>
            <a:r>
              <a:rPr lang="fr-FR" altLang="en-US" sz="2400" b="1" dirty="0">
                <a:latin typeface="Times New Roman" pitchFamily="18" charset="0"/>
              </a:rPr>
              <a:t>∈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fr-FR" altLang="en-US" sz="2400" b="1" i="1" dirty="0">
                <a:latin typeface="Times New Roman" pitchFamily="18" charset="0"/>
              </a:rPr>
              <a:t>             &lt;z,x&gt;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r>
              <a:rPr lang="fr-FR" altLang="en-US" sz="2400" b="1" dirty="0">
                <a:latin typeface="Times New Roman" pitchFamily="18" charset="0"/>
              </a:rPr>
              <a:t>∧</a:t>
            </a:r>
            <a:r>
              <a:rPr lang="fr-FR" altLang="en-US" sz="2400" b="1" i="1" dirty="0">
                <a:latin typeface="Times New Roman" pitchFamily="18" charset="0"/>
              </a:rPr>
              <a:t>&lt;x,y&gt;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fr-FR" altLang="en-US" sz="2400" b="1" i="1" dirty="0">
                <a:latin typeface="Times New Roman" pitchFamily="18" charset="0"/>
              </a:rPr>
              <a:t>R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fr-FR" altLang="en-US" sz="2400" b="1" i="1" dirty="0">
                <a:latin typeface="Times New Roman" pitchFamily="18" charset="0"/>
              </a:rPr>
              <a:t>&lt;z,y&gt;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fr-FR" altLang="en-US" sz="2400" b="1" i="1" dirty="0">
                <a:latin typeface="Times New Roman" pitchFamily="18" charset="0"/>
              </a:rPr>
              <a:t>R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fr-FR" altLang="en-US" sz="2400" b="1" i="1" dirty="0">
                <a:latin typeface="Times New Roman" pitchFamily="18" charset="0"/>
              </a:rPr>
              <a:t>&lt;y,z&gt;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fr-FR" altLang="en-US" sz="2400" b="1" i="1" dirty="0">
                <a:latin typeface="Times New Roman" pitchFamily="18" charset="0"/>
              </a:rPr>
              <a:t>R</a:t>
            </a:r>
            <a:endParaRPr lang="fr-FR" altLang="en-US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从而证明了</a:t>
            </a:r>
            <a:r>
              <a:rPr lang="zh-CN" altLang="en-US" sz="2400" b="1" i="1" dirty="0">
                <a:latin typeface="Times New Roman" pitchFamily="18" charset="0"/>
              </a:rPr>
              <a:t>z</a:t>
            </a:r>
            <a:r>
              <a:rPr lang="zh-CN" altLang="en-US" sz="2400" b="1" dirty="0">
                <a:latin typeface="Times New Roman" pitchFamily="18" charset="0"/>
              </a:rPr>
              <a:t>∈[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].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综上所述必有</a:t>
            </a:r>
            <a:r>
              <a:rPr lang="zh-CN" altLang="en-US" sz="2400" b="1" dirty="0">
                <a:latin typeface="Times New Roman" pitchFamily="18" charset="0"/>
              </a:rPr>
              <a:t> [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]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zh-CN" altLang="en-US" sz="2400" b="1" dirty="0">
                <a:latin typeface="Times New Roman" pitchFamily="18" charset="0"/>
              </a:rPr>
              <a:t>[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].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同理可证</a:t>
            </a:r>
            <a:r>
              <a:rPr lang="zh-CN" altLang="en-US" sz="2400" b="1" dirty="0">
                <a:latin typeface="Times New Roman" pitchFamily="18" charset="0"/>
              </a:rPr>
              <a:t> [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]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zh-CN" altLang="en-US" sz="2400" b="1" dirty="0">
                <a:latin typeface="Times New Roman" pitchFamily="18" charset="0"/>
              </a:rPr>
              <a:t>[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]. 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这就得到了</a:t>
            </a:r>
            <a:r>
              <a:rPr lang="zh-CN" altLang="en-US" sz="2400" b="1" dirty="0">
                <a:latin typeface="Times New Roman" pitchFamily="18" charset="0"/>
              </a:rPr>
              <a:t>[</a:t>
            </a:r>
            <a:r>
              <a:rPr lang="zh-CN" altLang="en-US" sz="2400" b="1" i="1" dirty="0">
                <a:latin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</a:rPr>
              <a:t>] = [</a:t>
            </a:r>
            <a:r>
              <a:rPr lang="zh-CN" altLang="en-US" sz="2400" b="1" i="1" dirty="0">
                <a:latin typeface="Times New Roman" pitchFamily="18" charset="0"/>
              </a:rPr>
              <a:t>y</a:t>
            </a:r>
            <a:r>
              <a:rPr lang="zh-CN" altLang="en-US" sz="2400" b="1" dirty="0">
                <a:latin typeface="Times New Roman" pitchFamily="18" charset="0"/>
              </a:rPr>
              <a:t>].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574292-67B5-4DEB-8E42-B1CA661CD229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347121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99D3B96-B1C1-4467-8EB3-A2AC76B5DA4A}"/>
              </a:ext>
            </a:extLst>
          </p:cNvPr>
          <p:cNvSpPr txBox="1">
            <a:spLocks noChangeArrowheads="1"/>
          </p:cNvSpPr>
          <p:nvPr/>
        </p:nvSpPr>
        <p:spPr>
          <a:xfrm>
            <a:off x="985221" y="1504384"/>
            <a:ext cx="10996367" cy="12969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假设</a:t>
            </a:r>
            <a:r>
              <a:rPr lang="zh-CN" altLang="en-US" dirty="0"/>
              <a:t> </a:t>
            </a:r>
            <a:r>
              <a:rPr lang="en-US" altLang="zh-CN" b="1" dirty="0">
                <a:latin typeface="Times New Roman" pitchFamily="18" charset="0"/>
              </a:rPr>
              <a:t>[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] </a:t>
            </a:r>
            <a:r>
              <a:rPr lang="en-US" altLang="zh-CN" sz="2400" b="1" dirty="0">
                <a:latin typeface="+mj-lt"/>
                <a:cs typeface="Times New Roman" panose="02020603050405020304" pitchFamily="18" charset="0"/>
              </a:rPr>
              <a:t>∩</a:t>
            </a:r>
            <a:r>
              <a:rPr lang="en-US" altLang="zh-CN" b="1" dirty="0">
                <a:latin typeface="Times New Roman" pitchFamily="18" charset="0"/>
              </a:rPr>
              <a:t> [</a:t>
            </a:r>
            <a:r>
              <a:rPr lang="en-US" altLang="zh-CN" b="1" i="1" dirty="0">
                <a:latin typeface="Times New Roman" pitchFamily="18" charset="0"/>
              </a:rPr>
              <a:t>y</a:t>
            </a:r>
            <a:r>
              <a:rPr lang="en-US" altLang="zh-CN" b="1" dirty="0">
                <a:latin typeface="Times New Roman" pitchFamily="18" charset="0"/>
              </a:rPr>
              <a:t>] </a:t>
            </a:r>
            <a:r>
              <a:rPr lang="en-US" altLang="zh-CN" b="1" dirty="0"/>
              <a:t>≠</a:t>
            </a:r>
            <a:r>
              <a:rPr lang="en-US" altLang="zh-CN" sz="2400" b="1" dirty="0">
                <a:sym typeface="Symbol" pitchFamily="18" charset="2"/>
              </a:rPr>
              <a:t>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则存在 </a:t>
            </a:r>
            <a:r>
              <a:rPr lang="en-US" altLang="zh-CN" b="1" i="1" dirty="0">
                <a:latin typeface="Times New Roman" pitchFamily="18" charset="0"/>
              </a:rPr>
              <a:t>z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en-US" altLang="zh-CN" b="1" dirty="0">
                <a:latin typeface="Times New Roman" pitchFamily="18" charset="0"/>
              </a:rPr>
              <a:t> [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] </a:t>
            </a:r>
            <a:r>
              <a:rPr lang="en-US" altLang="zh-CN" b="1" dirty="0"/>
              <a:t>∩</a:t>
            </a:r>
            <a:r>
              <a:rPr lang="en-US" altLang="zh-CN" b="1" dirty="0">
                <a:latin typeface="Times New Roman" pitchFamily="18" charset="0"/>
              </a:rPr>
              <a:t> [</a:t>
            </a:r>
            <a:r>
              <a:rPr lang="en-US" altLang="zh-CN" b="1" i="1" dirty="0">
                <a:latin typeface="Times New Roman" pitchFamily="18" charset="0"/>
              </a:rPr>
              <a:t>y</a:t>
            </a:r>
            <a:r>
              <a:rPr lang="en-US" altLang="zh-CN" b="1" dirty="0">
                <a:latin typeface="Times New Roman" pitchFamily="18" charset="0"/>
              </a:rPr>
              <a:t>]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从而有</a:t>
            </a:r>
            <a:r>
              <a:rPr lang="en-US" altLang="zh-CN" b="1" i="1" dirty="0">
                <a:latin typeface="Times New Roman" pitchFamily="18" charset="0"/>
              </a:rPr>
              <a:t>z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dirty="0">
                <a:latin typeface="Times New Roman" pitchFamily="18" charset="0"/>
              </a:rPr>
              <a:t> [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]</a:t>
            </a:r>
            <a:r>
              <a:rPr lang="en-US" altLang="zh-CN" b="1" dirty="0"/>
              <a:t>∧</a:t>
            </a:r>
            <a:r>
              <a:rPr lang="en-US" altLang="zh-CN" b="1" i="1" dirty="0">
                <a:latin typeface="Times New Roman" pitchFamily="18" charset="0"/>
              </a:rPr>
              <a:t>z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dirty="0">
                <a:latin typeface="Times New Roman" pitchFamily="18" charset="0"/>
              </a:rPr>
              <a:t> [</a:t>
            </a:r>
            <a:r>
              <a:rPr lang="en-US" altLang="zh-CN" b="1" i="1" dirty="0">
                <a:latin typeface="Times New Roman" pitchFamily="18" charset="0"/>
              </a:rPr>
              <a:t>y</a:t>
            </a:r>
            <a:r>
              <a:rPr lang="en-US" altLang="zh-CN" b="1" dirty="0">
                <a:latin typeface="Times New Roman" pitchFamily="18" charset="0"/>
              </a:rPr>
              <a:t>]</a:t>
            </a:r>
            <a:endParaRPr lang="en-US" altLang="zh-CN" dirty="0"/>
          </a:p>
          <a:p>
            <a:pP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b="1" dirty="0"/>
              <a:t>&lt;</a:t>
            </a:r>
            <a:r>
              <a:rPr lang="en-US" altLang="zh-CN" b="1" i="1" dirty="0" err="1">
                <a:latin typeface="Times New Roman" pitchFamily="18" charset="0"/>
              </a:rPr>
              <a:t>x,z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b="1" dirty="0"/>
              <a:t>∧&lt;</a:t>
            </a:r>
            <a:r>
              <a:rPr lang="en-US" altLang="zh-CN" b="1" i="1" dirty="0" err="1">
                <a:latin typeface="Times New Roman" pitchFamily="18" charset="0"/>
              </a:rPr>
              <a:t>y,z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根据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的对称性和传递性必有</a:t>
            </a:r>
          </a:p>
          <a:p>
            <a:pPr>
              <a:buFont typeface="Wingdings" pitchFamily="2" charset="2"/>
              <a:buNone/>
            </a:pPr>
            <a:r>
              <a:rPr lang="en-US" altLang="zh-CN" b="1" dirty="0"/>
              <a:t>&lt;</a:t>
            </a:r>
            <a:r>
              <a:rPr lang="en-US" altLang="zh-CN" b="1" i="1" dirty="0" err="1">
                <a:latin typeface="Times New Roman" pitchFamily="18" charset="0"/>
              </a:rPr>
              <a:t>x,y</a:t>
            </a:r>
            <a:r>
              <a:rPr lang="en-US" altLang="zh-CN" b="1" dirty="0"/>
              <a:t>&gt;</a:t>
            </a:r>
            <a:r>
              <a:rPr lang="en-US" altLang="zh-CN" b="1" dirty="0">
                <a:sym typeface="Symbol" pitchFamily="18" charset="2"/>
              </a:rPr>
              <a:t>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dirty="0"/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dirty="0"/>
              <a:t> </a:t>
            </a:r>
            <a:r>
              <a:rPr lang="en-US" altLang="zh-CN" b="1" i="1" dirty="0">
                <a:latin typeface="Times New Roman" pitchFamily="18" charset="0"/>
              </a:rPr>
              <a:t>x    y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矛盾</a:t>
            </a:r>
          </a:p>
          <a:p>
            <a:pPr>
              <a:spcBef>
                <a:spcPct val="55000"/>
              </a:spcBef>
              <a:buFont typeface="Wingdings" pitchFamily="2" charset="2"/>
              <a:buNone/>
            </a:pPr>
            <a:endParaRPr lang="zh-CN" altLang="en-US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1D31803-FD9E-49FE-9DBE-C62509DF1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952" y="3531157"/>
            <a:ext cx="9767068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55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(4)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先证</a:t>
            </a:r>
            <a:r>
              <a:rPr lang="zh-CN" altLang="en-US" sz="2400" b="1" dirty="0">
                <a:latin typeface="Times New Roman" pitchFamily="18" charset="0"/>
              </a:rPr>
              <a:t>∪</a:t>
            </a:r>
            <a:r>
              <a:rPr lang="en-US" altLang="zh-CN" sz="2400" b="1" dirty="0">
                <a:latin typeface="Times New Roman" pitchFamily="18" charset="0"/>
              </a:rPr>
              <a:t>{[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A.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,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             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>
                <a:latin typeface="Times New Roman" pitchFamily="18" charset="0"/>
              </a:rPr>
              <a:t>∪{[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 err="1">
                <a:latin typeface="Times New Roman" pitchFamily="18" charset="0"/>
              </a:rPr>
              <a:t>∧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>
                <a:latin typeface="Times New Roman" pitchFamily="18" charset="0"/>
              </a:rPr>
              <a:t>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]) </a:t>
            </a:r>
            <a:endParaRPr lang="en-US" altLang="zh-CN" sz="2400" b="1" dirty="0">
              <a:latin typeface="Times New Roman" pitchFamily="18" charset="0"/>
              <a:sym typeface="Symbol" pitchFamily="18" charset="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            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>
                <a:latin typeface="Times New Roman" pitchFamily="18" charset="0"/>
              </a:rPr>
              <a:t>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]∧[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A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i="1" dirty="0">
                <a:latin typeface="Times New Roman" pitchFamily="18" charset="0"/>
              </a:rPr>
              <a:t> 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从而有</a:t>
            </a:r>
            <a:r>
              <a:rPr lang="zh-CN" altLang="en-US" sz="2400" b="1" dirty="0">
                <a:latin typeface="Times New Roman" pitchFamily="18" charset="0"/>
              </a:rPr>
              <a:t>∪</a:t>
            </a:r>
            <a:r>
              <a:rPr lang="en-US" altLang="zh-CN" sz="2400" b="1" dirty="0">
                <a:latin typeface="Times New Roman" pitchFamily="18" charset="0"/>
              </a:rPr>
              <a:t>{[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</a:rPr>
              <a:t>∈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再证</a:t>
            </a:r>
            <a:r>
              <a:rPr lang="en-US" altLang="zh-CN" sz="2400" b="1" i="1" dirty="0">
                <a:latin typeface="Times New Roman" pitchFamily="18" charset="0"/>
              </a:rPr>
              <a:t>A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dirty="0">
                <a:latin typeface="Times New Roman" pitchFamily="18" charset="0"/>
              </a:rPr>
              <a:t> ∪{[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</a:rPr>
              <a:t>∈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}.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任取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          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i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>
                <a:latin typeface="Times New Roman" pitchFamily="18" charset="0"/>
              </a:rPr>
              <a:t>[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]∧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i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∈∪{[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  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从而有</a:t>
            </a:r>
            <a:r>
              <a:rPr lang="zh-CN" altLang="en-US" sz="2400" b="1" dirty="0">
                <a:latin typeface="Times New Roman" pitchFamily="18" charset="0"/>
              </a:rPr>
              <a:t>∪</a:t>
            </a:r>
            <a:r>
              <a:rPr lang="en-US" altLang="zh-CN" sz="2400" b="1" dirty="0">
                <a:latin typeface="Times New Roman" pitchFamily="18" charset="0"/>
              </a:rPr>
              <a:t>{[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</a:rPr>
              <a:t>∈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成立</a:t>
            </a:r>
            <a:r>
              <a:rPr lang="en-US" altLang="zh-CN" sz="2400" b="1" dirty="0">
                <a:latin typeface="Times New Roman" pitchFamily="18" charset="0"/>
              </a:rPr>
              <a:t>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综上所述得</a:t>
            </a:r>
            <a:r>
              <a:rPr lang="zh-CN" altLang="en-US" sz="2400" b="1" dirty="0">
                <a:latin typeface="Times New Roman" pitchFamily="18" charset="0"/>
              </a:rPr>
              <a:t>∪</a:t>
            </a:r>
            <a:r>
              <a:rPr lang="en-US" altLang="zh-CN" sz="2400" b="1" dirty="0">
                <a:latin typeface="Times New Roman" pitchFamily="18" charset="0"/>
              </a:rPr>
              <a:t>{[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] |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} =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. </a:t>
            </a:r>
            <a:br>
              <a:rPr lang="en-US" altLang="zh-CN" sz="2400" b="1" dirty="0">
                <a:latin typeface="Times New Roman" pitchFamily="18" charset="0"/>
              </a:rPr>
            </a:br>
            <a:br>
              <a:rPr lang="en-US" altLang="zh-CN" sz="2400" b="1" dirty="0">
                <a:latin typeface="Times New Roman" pitchFamily="18" charset="0"/>
              </a:rPr>
            </a:br>
            <a:endParaRPr lang="en-US" altLang="zh-CN" sz="2400" b="1" dirty="0">
              <a:latin typeface="Times New Roman" pitchFamily="18" charset="0"/>
            </a:endParaRP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47FB85C7-58DB-4DAF-95A9-351BDF425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14250" y="2640945"/>
            <a:ext cx="23336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3C2AB8E-5FE2-4FDB-91EF-D8F9CC55412A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29795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商集与集合的划分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A86AF99-9AE3-4EEF-9DF3-16392463F83A}"/>
              </a:ext>
            </a:extLst>
          </p:cNvPr>
          <p:cNvSpPr txBox="1">
            <a:spLocks noChangeArrowheads="1"/>
          </p:cNvSpPr>
          <p:nvPr/>
        </p:nvSpPr>
        <p:spPr>
          <a:xfrm>
            <a:off x="600969" y="1625898"/>
            <a:ext cx="10065065" cy="1944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定义</a:t>
            </a:r>
            <a:r>
              <a:rPr lang="en-US" altLang="zh-CN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4.14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en-US" altLang="zh-CN" i="1" dirty="0"/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为非空集合</a:t>
            </a:r>
            <a:r>
              <a:rPr lang="en-US" altLang="zh-CN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上的等价关系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以 </a:t>
            </a:r>
            <a:r>
              <a:rPr lang="en-US" altLang="zh-CN" b="1" i="1" dirty="0">
                <a:latin typeface="Times New Roman" pitchFamily="18" charset="0"/>
              </a:rPr>
              <a:t>R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的所有等价类作为元素的集合称为</a:t>
            </a:r>
            <a:r>
              <a:rPr lang="en-US" altLang="zh-CN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关于</a:t>
            </a:r>
            <a:r>
              <a:rPr lang="en-US" altLang="zh-CN" b="1" i="1" dirty="0">
                <a:latin typeface="Times New Roman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商集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记做</a:t>
            </a:r>
            <a:r>
              <a:rPr lang="en-US" altLang="zh-CN" b="1" i="1" dirty="0">
                <a:latin typeface="Times New Roman" pitchFamily="18" charset="0"/>
              </a:rPr>
              <a:t>A/R, </a:t>
            </a:r>
            <a:br>
              <a:rPr lang="en-US" altLang="zh-CN" dirty="0"/>
            </a:br>
            <a:r>
              <a:rPr lang="en-US" altLang="zh-CN" dirty="0"/>
              <a:t>                    </a:t>
            </a:r>
            <a:r>
              <a:rPr lang="en-US" altLang="zh-CN" b="1" i="1" dirty="0">
                <a:latin typeface="Times New Roman" pitchFamily="18" charset="0"/>
              </a:rPr>
              <a:t>A/R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{[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dirty="0"/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lang="en-US" altLang="zh-CN" b="1" i="1" dirty="0" err="1">
                <a:latin typeface="Times New Roman" pitchFamily="18" charset="0"/>
              </a:rPr>
              <a:t>A</a:t>
            </a:r>
            <a:r>
              <a:rPr lang="en-US" altLang="zh-CN" dirty="0"/>
              <a:t>}</a:t>
            </a:r>
          </a:p>
          <a:p>
            <a:pPr marL="457200" indent="-457200">
              <a:lnSpc>
                <a:spcPct val="150000"/>
              </a:lnSpc>
              <a:spcBef>
                <a:spcPct val="55000"/>
              </a:spcBef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F2FF6B2-F6F6-448F-94FE-93674C88B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43" y="4110105"/>
            <a:ext cx="9044475" cy="2402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457200" indent="-457200" eaLnBrk="1" hangingPunct="1">
              <a:spcBef>
                <a:spcPct val="55000"/>
              </a:spcBef>
              <a:buFont typeface="Wingdings" pitchFamily="2" charset="2"/>
              <a:buNone/>
            </a:pPr>
            <a:r>
              <a:rPr lang="zh-CN" altLang="en-US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实例</a:t>
            </a:r>
            <a:r>
              <a:rPr lang="zh-CN" altLang="en-US" kern="0" dirty="0"/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kern="0" dirty="0"/>
              <a:t>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={1,2,…,8}</a:t>
            </a:r>
            <a:r>
              <a:rPr lang="zh-CN" altLang="en-US" kern="0" dirty="0"/>
              <a:t>，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关于模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等价关系</a:t>
            </a:r>
            <a:r>
              <a:rPr lang="en-US" altLang="zh-CN" sz="2800" i="1" dirty="0">
                <a:latin typeface="Times New Roman" pitchFamily="18" charset="0"/>
              </a:rPr>
              <a:t>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的商集为</a:t>
            </a:r>
            <a:b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kern="0" dirty="0"/>
              <a:t>               </a:t>
            </a:r>
            <a:r>
              <a:rPr lang="en-US" altLang="zh-CN" sz="2800" i="1" dirty="0">
                <a:latin typeface="Times New Roman" pitchFamily="18" charset="0"/>
              </a:rPr>
              <a:t>A/R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{{1,4,7}, {2,5,8}, {3,6}}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关于恒等关系和全域关系的商集为：</a:t>
            </a:r>
          </a:p>
          <a:p>
            <a:pPr marL="457200" indent="-457200" eaLnBrk="1" hangingPunct="1">
              <a:buFont typeface="Wingdings" pitchFamily="2" charset="2"/>
              <a:buNone/>
            </a:pPr>
            <a:r>
              <a:rPr lang="zh-CN" altLang="en-US" kern="0" dirty="0"/>
              <a:t>            </a:t>
            </a:r>
            <a:r>
              <a:rPr lang="zh-CN" altLang="en-US" i="1" kern="0" dirty="0"/>
              <a:t> </a:t>
            </a:r>
            <a:r>
              <a:rPr lang="en-US" altLang="zh-CN" sz="2800" i="1" dirty="0">
                <a:latin typeface="Times New Roman" pitchFamily="18" charset="0"/>
              </a:rPr>
              <a:t>A</a:t>
            </a:r>
            <a:r>
              <a:rPr lang="en-US" altLang="zh-CN" i="1" kern="0" dirty="0"/>
              <a:t>/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{{1}, {2}, …, {8}}</a:t>
            </a:r>
            <a:r>
              <a:rPr lang="zh-CN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kern="0" dirty="0"/>
              <a:t>/</a:t>
            </a:r>
            <a:r>
              <a:rPr lang="en-US" altLang="zh-CN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kern="0" dirty="0"/>
              <a:t> </a:t>
            </a:r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{{1,2,…,8}}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C6D032-3CFF-47F9-82EB-76955FC06A71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331141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商集与集合的划分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468CCD0-DFA4-4AFA-9FB8-1EE1EC593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607" y="2038708"/>
            <a:ext cx="9111451" cy="345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定义</a:t>
            </a:r>
            <a:r>
              <a:rPr lang="en-US" altLang="zh-CN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4.15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为非空集合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的子集族</a:t>
            </a:r>
            <a:r>
              <a:rPr lang="en-US" altLang="zh-CN" sz="2400" b="1" i="1" dirty="0">
                <a:latin typeface="Times New Roman" pitchFamily="18" charset="0"/>
              </a:rPr>
              <a:t>π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π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P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))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sz="2400" b="1" dirty="0">
                <a:latin typeface="Times New Roman" pitchFamily="18" charset="0"/>
              </a:rPr>
              <a:t>     </a:t>
            </a:r>
            <a:r>
              <a:rPr lang="en-US" altLang="zh-CN" sz="2400" b="1" dirty="0">
                <a:latin typeface="Times New Roman" pitchFamily="18" charset="0"/>
              </a:rPr>
              <a:t>(1)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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</a:t>
            </a:r>
            <a:r>
              <a:rPr lang="en-US" altLang="zh-CN" sz="2400" b="1" i="1" dirty="0">
                <a:latin typeface="Times New Roman" pitchFamily="18" charset="0"/>
              </a:rPr>
              <a:t>π 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(2)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</a:rPr>
              <a:t>,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π</a:t>
            </a:r>
            <a:r>
              <a:rPr lang="en-US" altLang="zh-CN" sz="2400" b="1" dirty="0" err="1">
                <a:latin typeface="Times New Roman" pitchFamily="18" charset="0"/>
              </a:rPr>
              <a:t>∧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</a:rPr>
              <a:t>≠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 err="1">
                <a:latin typeface="Times New Roman" pitchFamily="18" charset="0"/>
              </a:rPr>
              <a:t>→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</a:rPr>
              <a:t>∩</a:t>
            </a:r>
            <a:r>
              <a:rPr lang="en-US" altLang="zh-CN" sz="2400" b="1" i="1" dirty="0" err="1">
                <a:latin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</a:rPr>
              <a:t>=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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en-US" altLang="zh-CN" sz="2400" b="1" dirty="0">
                <a:latin typeface="Times New Roman" pitchFamily="18" charset="0"/>
              </a:rPr>
              <a:t>     (3) ∪</a:t>
            </a:r>
            <a:r>
              <a:rPr lang="en-US" altLang="zh-CN" sz="2400" b="1" i="1" dirty="0">
                <a:latin typeface="Times New Roman" pitchFamily="18" charset="0"/>
              </a:rPr>
              <a:t>π </a:t>
            </a:r>
            <a:r>
              <a:rPr lang="en-US" altLang="zh-CN" sz="2400" b="1" dirty="0">
                <a:latin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endParaRPr lang="en-US" altLang="zh-CN" sz="2400" b="1" dirty="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rgbClr val="69B3F1"/>
              </a:buCl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dirty="0">
                <a:latin typeface="Times New Roman" pitchFamily="18" charset="0"/>
              </a:rPr>
              <a:t>π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的一个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划分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en-US" altLang="zh-CN" sz="2400" b="1" i="1" dirty="0">
                <a:latin typeface="Times New Roman" pitchFamily="18" charset="0"/>
              </a:rPr>
              <a:t>π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中的元素为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划分块</a:t>
            </a:r>
            <a:r>
              <a:rPr lang="en-US" altLang="zh-CN" sz="2400" b="1" dirty="0">
                <a:latin typeface="Times New Roman" pitchFamily="18" charset="0"/>
              </a:rPr>
              <a:t>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F023ED-15D8-40AA-8F9E-C53491D8775D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217053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商集与集合的划分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E6E0C5-B0C8-409F-A560-2D484A3DB735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等价与划分的关系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17E9279-058C-4C4D-855C-B5C2B03CD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803" y="1728560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 例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黑体" pitchFamily="49" charset="-122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＝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给定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如下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={{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}}, {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b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d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}}</a:t>
            </a:r>
            <a:b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itchFamily="2" charset="2"/>
              <a:buNone/>
              <a:tabLst/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  <a:sym typeface="Symbol" pitchFamily="18" charset="2"/>
              </a:rPr>
              <a:t></a:t>
            </a:r>
            <a:r>
              <a:rPr kumimoji="0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2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其他都不是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03481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CC044F4-5732-4C92-BF24-A61357086F3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77152" y="2262886"/>
            <a:ext cx="11015079" cy="2874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一个 重要结论 </a:t>
            </a:r>
            <a:r>
              <a:rPr lang="en-US" altLang="zh-CN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等价关系、商集与划分三者之间存在一一对应关系，即</a:t>
            </a:r>
            <a:br>
              <a:rPr lang="en-US" altLang="zh-CN" dirty="0"/>
            </a:b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论域上的一个等价关系对应论域的一个划分（分类结果），反之亦然</a:t>
            </a:r>
            <a:r>
              <a:rPr lang="en-US" altLang="zh-CN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F43A0C-B0B2-4F1D-89F7-83F11353FA1A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15082271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CC044F4-5732-4C92-BF24-A61357086F32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577152" y="2262886"/>
            <a:ext cx="11015079" cy="2874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–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Arial" pitchFamily="34" charset="0"/>
                <a:ea typeface="华文中宋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一个 重要结论 </a:t>
            </a:r>
            <a:r>
              <a:rPr lang="en-US" altLang="zh-CN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等价关系、商集与划分三者之间存在一一对应关系，即</a:t>
            </a:r>
            <a:br>
              <a:rPr lang="en-US" altLang="zh-CN" dirty="0"/>
            </a:b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论域上的一个等价关系对应论域的一个划分（分类结果），反之亦然</a:t>
            </a:r>
            <a:r>
              <a:rPr lang="en-US" altLang="zh-CN" sz="28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.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F43A0C-B0B2-4F1D-89F7-83F11353FA1A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等价与划分的关系</a:t>
            </a:r>
          </a:p>
        </p:txBody>
      </p:sp>
    </p:spTree>
    <p:extLst>
      <p:ext uri="{BB962C8B-B14F-4D97-AF65-F5344CB8AC3E}">
        <p14:creationId xmlns:p14="http://schemas.microsoft.com/office/powerpoint/2010/main" val="40718607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576289EF-B3F1-4BED-8F44-AF74A869D572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4.5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等价关系</a:t>
            </a:r>
            <a:r>
              <a:rPr lang="zh-CN" altLang="en-US" sz="3800" dirty="0">
                <a:solidFill>
                  <a:schemeClr val="bg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和偏序关系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CB7C40-D20C-453D-A742-56CFDFFF4ABA}"/>
              </a:ext>
            </a:extLst>
          </p:cNvPr>
          <p:cNvSpPr txBox="1"/>
          <p:nvPr/>
        </p:nvSpPr>
        <p:spPr>
          <a:xfrm>
            <a:off x="526210" y="952809"/>
            <a:ext cx="27479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等价关系的定义与实例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E19582-248B-4567-AA73-01C24D361E05}"/>
              </a:ext>
            </a:extLst>
          </p:cNvPr>
          <p:cNvSpPr txBox="1"/>
          <p:nvPr/>
        </p:nvSpPr>
        <p:spPr>
          <a:xfrm>
            <a:off x="3734480" y="951826"/>
            <a:ext cx="2058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等价类及其性质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4F8E7A-6550-44FB-B327-F470F158AFD1}"/>
              </a:ext>
            </a:extLst>
          </p:cNvPr>
          <p:cNvSpPr txBox="1"/>
          <p:nvPr/>
        </p:nvSpPr>
        <p:spPr>
          <a:xfrm>
            <a:off x="6175826" y="950844"/>
            <a:ext cx="2496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商集与集合的划分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F43A0C-B0B2-4F1D-89F7-83F11353FA1A}"/>
              </a:ext>
            </a:extLst>
          </p:cNvPr>
          <p:cNvSpPr txBox="1"/>
          <p:nvPr/>
        </p:nvSpPr>
        <p:spPr>
          <a:xfrm>
            <a:off x="8982941" y="973459"/>
            <a:ext cx="2509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等价与划分的关系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E217902-7084-4088-9E2C-D318B51C7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07" y="1585683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Times New Roman" pitchFamily="18" charset="0"/>
                <a:ea typeface="黑体" pitchFamily="49" charset="-122"/>
              </a:rPr>
              <a:t>例 </a:t>
            </a:r>
            <a:r>
              <a:rPr lang="en-US" altLang="zh-CN" sz="2400" b="1" dirty="0">
                <a:solidFill>
                  <a:srgbClr val="992677"/>
                </a:solidFill>
                <a:latin typeface="Times New Roman" pitchFamily="18" charset="0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给出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</a:rPr>
              <a:t>＝</a:t>
            </a:r>
            <a:r>
              <a:rPr lang="en-US" altLang="zh-CN" sz="2400" b="1" dirty="0">
                <a:latin typeface="Times New Roman" pitchFamily="18" charset="0"/>
              </a:rPr>
              <a:t>{1,2,3}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上所有的等价关系</a:t>
            </a:r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CD18F1D8-1F70-4225-85F5-B4B4DAEF3ACC}"/>
              </a:ext>
            </a:extLst>
          </p:cNvPr>
          <p:cNvGrpSpPr>
            <a:grpSpLocks/>
          </p:cNvGrpSpPr>
          <p:nvPr/>
        </p:nvGrpSpPr>
        <p:grpSpPr bwMode="auto">
          <a:xfrm>
            <a:off x="772845" y="2938233"/>
            <a:ext cx="8424862" cy="1887537"/>
            <a:chOff x="0" y="0"/>
            <a:chExt cx="5307" cy="1189"/>
          </a:xfrm>
        </p:grpSpPr>
        <p:grpSp>
          <p:nvGrpSpPr>
            <p:cNvPr id="13" name="Group 5">
              <a:extLst>
                <a:ext uri="{FF2B5EF4-FFF2-40B4-BE49-F238E27FC236}">
                  <a16:creationId xmlns:a16="http://schemas.microsoft.com/office/drawing/2014/main" id="{693A35C4-42B7-4A34-90C3-724EC9E91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907" cy="1189"/>
              <a:chOff x="0" y="0"/>
              <a:chExt cx="907" cy="1189"/>
            </a:xfrm>
          </p:grpSpPr>
          <p:grpSp>
            <p:nvGrpSpPr>
              <p:cNvPr id="52" name="Group 6">
                <a:extLst>
                  <a:ext uri="{FF2B5EF4-FFF2-40B4-BE49-F238E27FC236}">
                    <a16:creationId xmlns:a16="http://schemas.microsoft.com/office/drawing/2014/main" id="{9D3C06C2-A21D-4BC0-8EE4-EC5B98B00C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07" cy="907"/>
                <a:chOff x="0" y="0"/>
                <a:chExt cx="907" cy="907"/>
              </a:xfrm>
            </p:grpSpPr>
            <p:sp>
              <p:nvSpPr>
                <p:cNvPr id="54" name="Oval 7">
                  <a:extLst>
                    <a:ext uri="{FF2B5EF4-FFF2-40B4-BE49-F238E27FC236}">
                      <a16:creationId xmlns:a16="http://schemas.microsoft.com/office/drawing/2014/main" id="{69433728-05AD-436A-BC77-4B220D52E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907" cy="907"/>
                </a:xfrm>
                <a:prstGeom prst="ellipse">
                  <a:avLst/>
                </a:prstGeom>
                <a:solidFill>
                  <a:srgbClr val="FFFF99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Oval 8">
                  <a:extLst>
                    <a:ext uri="{FF2B5EF4-FFF2-40B4-BE49-F238E27FC236}">
                      <a16:creationId xmlns:a16="http://schemas.microsoft.com/office/drawing/2014/main" id="{B5CD156A-227A-47A6-9FE6-54D344FD01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3" y="136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b="1" dirty="0">
                      <a:latin typeface="Arial Unicode MS" pitchFamily="34" charset="-122"/>
                      <a:ea typeface="Arial Unicode MS" pitchFamily="34" charset="-122"/>
                      <a:cs typeface="Arial Unicode MS" pitchFamily="34" charset="-122"/>
                    </a:rPr>
                    <a:t>1</a:t>
                  </a:r>
                </a:p>
              </p:txBody>
            </p:sp>
            <p:sp>
              <p:nvSpPr>
                <p:cNvPr id="56" name="Oval 9">
                  <a:extLst>
                    <a:ext uri="{FF2B5EF4-FFF2-40B4-BE49-F238E27FC236}">
                      <a16:creationId xmlns:a16="http://schemas.microsoft.com/office/drawing/2014/main" id="{5788FD1F-DC6F-4C70-BC0E-1301826E0F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" y="521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b="1">
                      <a:ea typeface="Arial Unicode MS" pitchFamily="34" charset="-122"/>
                      <a:cs typeface="Arial Unicode MS" pitchFamily="34" charset="-122"/>
                    </a:rPr>
                    <a:t>2</a:t>
                  </a:r>
                </a:p>
              </p:txBody>
            </p:sp>
            <p:sp>
              <p:nvSpPr>
                <p:cNvPr id="57" name="Oval 10">
                  <a:extLst>
                    <a:ext uri="{FF2B5EF4-FFF2-40B4-BE49-F238E27FC236}">
                      <a16:creationId xmlns:a16="http://schemas.microsoft.com/office/drawing/2014/main" id="{0217134F-A1C8-467C-8AAE-1EBDA6FC0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7" y="521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altLang="zh-CN" b="1">
                      <a:latin typeface="Arial Unicode MS" pitchFamily="34" charset="-122"/>
                      <a:ea typeface="Arial Unicode MS" pitchFamily="34" charset="-122"/>
                      <a:cs typeface="Arial Unicode MS" pitchFamily="34" charset="-122"/>
                    </a:rPr>
                    <a:t>3</a:t>
                  </a:r>
                </a:p>
              </p:txBody>
            </p:sp>
          </p:grpSp>
          <p:sp>
            <p:nvSpPr>
              <p:cNvPr id="53" name="Rectangle 11">
                <a:extLst>
                  <a:ext uri="{FF2B5EF4-FFF2-40B4-BE49-F238E27FC236}">
                    <a16:creationId xmlns:a16="http://schemas.microsoft.com/office/drawing/2014/main" id="{8015C313-BBAE-4B31-A5C1-0AF866582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" y="862"/>
                <a:ext cx="36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800" b="1" dirty="0">
                    <a:sym typeface="Symbol" pitchFamily="18" charset="2"/>
                  </a:rPr>
                  <a:t></a:t>
                </a:r>
                <a:r>
                  <a:rPr lang="en-US" altLang="zh-CN" sz="2800" b="1" baseline="-25000" dirty="0">
                    <a:latin typeface="Times New Roman" pitchFamily="18" charset="0"/>
                  </a:rPr>
                  <a:t>1</a:t>
                </a:r>
                <a:r>
                  <a:rPr lang="en-US" altLang="zh-CN" sz="2800" b="1" baseline="-25000" dirty="0">
                    <a:sym typeface="Symbol" pitchFamily="18" charset="2"/>
                  </a:rPr>
                  <a:t> </a:t>
                </a:r>
              </a:p>
            </p:txBody>
          </p:sp>
        </p:grp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C4C470A7-66AC-4B4E-AA71-5B961FC8EF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0" y="0"/>
              <a:ext cx="907" cy="1189"/>
              <a:chOff x="0" y="0"/>
              <a:chExt cx="907" cy="1189"/>
            </a:xfrm>
          </p:grpSpPr>
          <p:grpSp>
            <p:nvGrpSpPr>
              <p:cNvPr id="42" name="Group 13">
                <a:extLst>
                  <a:ext uri="{FF2B5EF4-FFF2-40B4-BE49-F238E27FC236}">
                    <a16:creationId xmlns:a16="http://schemas.microsoft.com/office/drawing/2014/main" id="{9232D798-4161-45CD-888C-1C662076E9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07" cy="907"/>
                <a:chOff x="0" y="0"/>
                <a:chExt cx="907" cy="907"/>
              </a:xfrm>
            </p:grpSpPr>
            <p:grpSp>
              <p:nvGrpSpPr>
                <p:cNvPr id="44" name="Group 14">
                  <a:extLst>
                    <a:ext uri="{FF2B5EF4-FFF2-40B4-BE49-F238E27FC236}">
                      <a16:creationId xmlns:a16="http://schemas.microsoft.com/office/drawing/2014/main" id="{7E611BCD-CC6D-437D-B5E8-3E284DC67C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907" cy="907"/>
                  <a:chOff x="0" y="0"/>
                  <a:chExt cx="907" cy="907"/>
                </a:xfrm>
              </p:grpSpPr>
              <p:sp>
                <p:nvSpPr>
                  <p:cNvPr id="48" name="Oval 15">
                    <a:extLst>
                      <a:ext uri="{FF2B5EF4-FFF2-40B4-BE49-F238E27FC236}">
                        <a16:creationId xmlns:a16="http://schemas.microsoft.com/office/drawing/2014/main" id="{E2C47EB6-050C-4F8F-A9B3-C7D8C0C837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9" name="Oval 16">
                    <a:extLst>
                      <a:ext uri="{FF2B5EF4-FFF2-40B4-BE49-F238E27FC236}">
                        <a16:creationId xmlns:a16="http://schemas.microsoft.com/office/drawing/2014/main" id="{EFDC1EEF-8B86-42B4-9392-D286C57E3E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" y="136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50" name="Oval 17">
                    <a:extLst>
                      <a:ext uri="{FF2B5EF4-FFF2-40B4-BE49-F238E27FC236}">
                        <a16:creationId xmlns:a16="http://schemas.microsoft.com/office/drawing/2014/main" id="{9F7244F7-9078-4989-9205-E86E8F085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ea typeface="Arial Unicode MS" pitchFamily="34" charset="-122"/>
                        <a:cs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51" name="Oval 18">
                    <a:extLst>
                      <a:ext uri="{FF2B5EF4-FFF2-40B4-BE49-F238E27FC236}">
                        <a16:creationId xmlns:a16="http://schemas.microsoft.com/office/drawing/2014/main" id="{6493FFF0-5365-41A9-81B8-5BE8CD5AB8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45" name="Line 19">
                  <a:extLst>
                    <a:ext uri="{FF2B5EF4-FFF2-40B4-BE49-F238E27FC236}">
                      <a16:creationId xmlns:a16="http://schemas.microsoft.com/office/drawing/2014/main" id="{FC806F32-6382-43DA-93B8-98D3C27073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" y="181"/>
                  <a:ext cx="363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Line 20">
                  <a:extLst>
                    <a:ext uri="{FF2B5EF4-FFF2-40B4-BE49-F238E27FC236}">
                      <a16:creationId xmlns:a16="http://schemas.microsoft.com/office/drawing/2014/main" id="{6FEEDBCA-B5B1-4291-962A-1E5245964A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4" y="272"/>
                  <a:ext cx="408" cy="2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7" name="Line 21">
                  <a:extLst>
                    <a:ext uri="{FF2B5EF4-FFF2-40B4-BE49-F238E27FC236}">
                      <a16:creationId xmlns:a16="http://schemas.microsoft.com/office/drawing/2014/main" id="{EE803704-BBA7-4D50-8067-0A3DF5DD95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" y="499"/>
                  <a:ext cx="0" cy="40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" name="Rectangle 22">
                <a:extLst>
                  <a:ext uri="{FF2B5EF4-FFF2-40B4-BE49-F238E27FC236}">
                    <a16:creationId xmlns:a16="http://schemas.microsoft.com/office/drawing/2014/main" id="{FB91742E-07FD-470D-ACA3-4D81FC401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" y="862"/>
                <a:ext cx="32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ym typeface="Symbol" pitchFamily="18" charset="2"/>
                  </a:rPr>
                  <a:t></a:t>
                </a:r>
                <a:r>
                  <a:rPr lang="en-US" altLang="zh-CN" sz="2800" b="1" baseline="-25000" dirty="0">
                    <a:latin typeface="Times New Roman" pitchFamily="18" charset="0"/>
                  </a:rPr>
                  <a:t>5</a:t>
                </a:r>
                <a:endParaRPr lang="en-US" altLang="zh-CN" sz="2800" baseline="-25000" dirty="0"/>
              </a:p>
            </p:txBody>
          </p:sp>
        </p:grpSp>
        <p:grpSp>
          <p:nvGrpSpPr>
            <p:cNvPr id="15" name="Group 23">
              <a:extLst>
                <a:ext uri="{FF2B5EF4-FFF2-40B4-BE49-F238E27FC236}">
                  <a16:creationId xmlns:a16="http://schemas.microsoft.com/office/drawing/2014/main" id="{751F9AE8-E700-42BB-842F-76B7B4B4AE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9" y="9"/>
              <a:ext cx="907" cy="1180"/>
              <a:chOff x="0" y="0"/>
              <a:chExt cx="907" cy="1180"/>
            </a:xfrm>
          </p:grpSpPr>
          <p:grpSp>
            <p:nvGrpSpPr>
              <p:cNvPr id="34" name="Group 24">
                <a:extLst>
                  <a:ext uri="{FF2B5EF4-FFF2-40B4-BE49-F238E27FC236}">
                    <a16:creationId xmlns:a16="http://schemas.microsoft.com/office/drawing/2014/main" id="{F0936E4C-4465-4301-83AB-A99D46CC2C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07" cy="907"/>
                <a:chOff x="0" y="0"/>
                <a:chExt cx="907" cy="907"/>
              </a:xfrm>
            </p:grpSpPr>
            <p:grpSp>
              <p:nvGrpSpPr>
                <p:cNvPr id="36" name="Group 25">
                  <a:extLst>
                    <a:ext uri="{FF2B5EF4-FFF2-40B4-BE49-F238E27FC236}">
                      <a16:creationId xmlns:a16="http://schemas.microsoft.com/office/drawing/2014/main" id="{F3AEA0C5-D493-4B6C-8B8B-66302F1EFE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907" cy="907"/>
                  <a:chOff x="0" y="0"/>
                  <a:chExt cx="907" cy="907"/>
                </a:xfrm>
              </p:grpSpPr>
              <p:sp>
                <p:nvSpPr>
                  <p:cNvPr id="38" name="Oval 26">
                    <a:extLst>
                      <a:ext uri="{FF2B5EF4-FFF2-40B4-BE49-F238E27FC236}">
                        <a16:creationId xmlns:a16="http://schemas.microsoft.com/office/drawing/2014/main" id="{73932E8C-2423-4294-B13D-6B4D8AC6CE0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Oval 27">
                    <a:extLst>
                      <a:ext uri="{FF2B5EF4-FFF2-40B4-BE49-F238E27FC236}">
                        <a16:creationId xmlns:a16="http://schemas.microsoft.com/office/drawing/2014/main" id="{39ABAF95-50A3-4D0B-B0BC-470864E491E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" y="136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40" name="Oval 28">
                    <a:extLst>
                      <a:ext uri="{FF2B5EF4-FFF2-40B4-BE49-F238E27FC236}">
                        <a16:creationId xmlns:a16="http://schemas.microsoft.com/office/drawing/2014/main" id="{122128B6-D58B-44FD-AD6E-07D36D578A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ea typeface="Arial Unicode MS" pitchFamily="34" charset="-122"/>
                        <a:cs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41" name="Oval 29">
                    <a:extLst>
                      <a:ext uri="{FF2B5EF4-FFF2-40B4-BE49-F238E27FC236}">
                        <a16:creationId xmlns:a16="http://schemas.microsoft.com/office/drawing/2014/main" id="{E56C1171-805E-4412-90F1-09D5D2AE96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37" name="Line 30">
                  <a:extLst>
                    <a:ext uri="{FF2B5EF4-FFF2-40B4-BE49-F238E27FC236}">
                      <a16:creationId xmlns:a16="http://schemas.microsoft.com/office/drawing/2014/main" id="{9F522C9F-3961-4D6F-97BA-F833C979D1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0" y="408"/>
                  <a:ext cx="90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5" name="Rectangle 31">
                <a:extLst>
                  <a:ext uri="{FF2B5EF4-FFF2-40B4-BE49-F238E27FC236}">
                    <a16:creationId xmlns:a16="http://schemas.microsoft.com/office/drawing/2014/main" id="{A6C477F4-4B5F-404A-9BAA-3BBD1799D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" y="853"/>
                <a:ext cx="32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ym typeface="Symbol" pitchFamily="18" charset="2"/>
                  </a:rPr>
                  <a:t></a:t>
                </a:r>
                <a:r>
                  <a:rPr lang="en-US" altLang="zh-CN" sz="2800" b="1" baseline="-25000" dirty="0">
                    <a:latin typeface="Times New Roman" pitchFamily="18" charset="0"/>
                  </a:rPr>
                  <a:t>2</a:t>
                </a:r>
                <a:endParaRPr lang="en-US" altLang="zh-CN" sz="2800" baseline="-25000" dirty="0"/>
              </a:p>
            </p:txBody>
          </p:sp>
        </p:grpSp>
        <p:grpSp>
          <p:nvGrpSpPr>
            <p:cNvPr id="16" name="Group 32">
              <a:extLst>
                <a:ext uri="{FF2B5EF4-FFF2-40B4-BE49-F238E27FC236}">
                  <a16:creationId xmlns:a16="http://schemas.microsoft.com/office/drawing/2014/main" id="{92E8CD91-8227-4FD3-A9BD-2AEABC6A1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1" y="0"/>
              <a:ext cx="907" cy="1189"/>
              <a:chOff x="0" y="0"/>
              <a:chExt cx="907" cy="1189"/>
            </a:xfrm>
          </p:grpSpPr>
          <p:grpSp>
            <p:nvGrpSpPr>
              <p:cNvPr id="26" name="Group 33">
                <a:extLst>
                  <a:ext uri="{FF2B5EF4-FFF2-40B4-BE49-F238E27FC236}">
                    <a16:creationId xmlns:a16="http://schemas.microsoft.com/office/drawing/2014/main" id="{B5A2B588-DE61-4247-B429-22375B90A7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07" cy="907"/>
                <a:chOff x="0" y="0"/>
                <a:chExt cx="907" cy="907"/>
              </a:xfrm>
            </p:grpSpPr>
            <p:grpSp>
              <p:nvGrpSpPr>
                <p:cNvPr id="28" name="Group 34">
                  <a:extLst>
                    <a:ext uri="{FF2B5EF4-FFF2-40B4-BE49-F238E27FC236}">
                      <a16:creationId xmlns:a16="http://schemas.microsoft.com/office/drawing/2014/main" id="{E06D8E0F-D030-4802-9E1D-08A7C469A04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907" cy="907"/>
                  <a:chOff x="0" y="0"/>
                  <a:chExt cx="907" cy="907"/>
                </a:xfrm>
              </p:grpSpPr>
              <p:sp>
                <p:nvSpPr>
                  <p:cNvPr id="30" name="Oval 35">
                    <a:extLst>
                      <a:ext uri="{FF2B5EF4-FFF2-40B4-BE49-F238E27FC236}">
                        <a16:creationId xmlns:a16="http://schemas.microsoft.com/office/drawing/2014/main" id="{2E78E817-AD56-4DD8-9B71-ABA414B7F3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" name="Oval 36">
                    <a:extLst>
                      <a:ext uri="{FF2B5EF4-FFF2-40B4-BE49-F238E27FC236}">
                        <a16:creationId xmlns:a16="http://schemas.microsoft.com/office/drawing/2014/main" id="{D1A9AF92-F36F-49A1-A5CD-A6DD7BB86B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" y="136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32" name="Oval 37">
                    <a:extLst>
                      <a:ext uri="{FF2B5EF4-FFF2-40B4-BE49-F238E27FC236}">
                        <a16:creationId xmlns:a16="http://schemas.microsoft.com/office/drawing/2014/main" id="{F4F94C30-4F7D-4431-B752-0719B9A6C6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ea typeface="Arial Unicode MS" pitchFamily="34" charset="-122"/>
                        <a:cs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33" name="Oval 38">
                    <a:extLst>
                      <a:ext uri="{FF2B5EF4-FFF2-40B4-BE49-F238E27FC236}">
                        <a16:creationId xmlns:a16="http://schemas.microsoft.com/office/drawing/2014/main" id="{47672895-30F8-4719-8ECF-372847434C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29" name="Line 39">
                  <a:extLst>
                    <a:ext uri="{FF2B5EF4-FFF2-40B4-BE49-F238E27FC236}">
                      <a16:creationId xmlns:a16="http://schemas.microsoft.com/office/drawing/2014/main" id="{79F0258D-D442-4D40-A394-D733807508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" y="91"/>
                  <a:ext cx="363" cy="77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Rectangle 40">
                <a:extLst>
                  <a:ext uri="{FF2B5EF4-FFF2-40B4-BE49-F238E27FC236}">
                    <a16:creationId xmlns:a16="http://schemas.microsoft.com/office/drawing/2014/main" id="{902C664F-F66F-4C9F-8D9C-860F5B953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" y="862"/>
                <a:ext cx="32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ym typeface="Symbol" pitchFamily="18" charset="2"/>
                  </a:rPr>
                  <a:t></a:t>
                </a:r>
                <a:r>
                  <a:rPr lang="en-US" altLang="zh-CN" sz="2800" b="1" baseline="-25000" dirty="0">
                    <a:latin typeface="Times New Roman" pitchFamily="18" charset="0"/>
                  </a:rPr>
                  <a:t>4</a:t>
                </a:r>
                <a:endParaRPr lang="en-US" altLang="zh-CN" sz="2800" baseline="-25000" dirty="0"/>
              </a:p>
            </p:txBody>
          </p:sp>
        </p:grpSp>
        <p:grpSp>
          <p:nvGrpSpPr>
            <p:cNvPr id="17" name="Group 41">
              <a:extLst>
                <a:ext uri="{FF2B5EF4-FFF2-40B4-BE49-F238E27FC236}">
                  <a16:creationId xmlns:a16="http://schemas.microsoft.com/office/drawing/2014/main" id="{14254D3D-5A78-4935-921E-DCEB4C7F58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7" y="9"/>
              <a:ext cx="907" cy="1180"/>
              <a:chOff x="0" y="0"/>
              <a:chExt cx="907" cy="1180"/>
            </a:xfrm>
          </p:grpSpPr>
          <p:grpSp>
            <p:nvGrpSpPr>
              <p:cNvPr id="18" name="Group 42">
                <a:extLst>
                  <a:ext uri="{FF2B5EF4-FFF2-40B4-BE49-F238E27FC236}">
                    <a16:creationId xmlns:a16="http://schemas.microsoft.com/office/drawing/2014/main" id="{A26F09BA-180F-4415-B24E-5AE0DEF58B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907" cy="907"/>
                <a:chOff x="0" y="0"/>
                <a:chExt cx="907" cy="907"/>
              </a:xfrm>
            </p:grpSpPr>
            <p:grpSp>
              <p:nvGrpSpPr>
                <p:cNvPr id="20" name="Group 43">
                  <a:extLst>
                    <a:ext uri="{FF2B5EF4-FFF2-40B4-BE49-F238E27FC236}">
                      <a16:creationId xmlns:a16="http://schemas.microsoft.com/office/drawing/2014/main" id="{1B2AAA25-CD66-4F55-8F27-029274A209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907" cy="907"/>
                  <a:chOff x="0" y="0"/>
                  <a:chExt cx="907" cy="907"/>
                </a:xfrm>
              </p:grpSpPr>
              <p:sp>
                <p:nvSpPr>
                  <p:cNvPr id="22" name="Oval 44">
                    <a:extLst>
                      <a:ext uri="{FF2B5EF4-FFF2-40B4-BE49-F238E27FC236}">
                        <a16:creationId xmlns:a16="http://schemas.microsoft.com/office/drawing/2014/main" id="{04060AED-97DD-45FE-979F-0A75C43CA9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" name="Oval 45">
                    <a:extLst>
                      <a:ext uri="{FF2B5EF4-FFF2-40B4-BE49-F238E27FC236}">
                        <a16:creationId xmlns:a16="http://schemas.microsoft.com/office/drawing/2014/main" id="{D9B1FF97-5919-4D90-88B1-2F19CE5C57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" y="136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24" name="Oval 46">
                    <a:extLst>
                      <a:ext uri="{FF2B5EF4-FFF2-40B4-BE49-F238E27FC236}">
                        <a16:creationId xmlns:a16="http://schemas.microsoft.com/office/drawing/2014/main" id="{34036705-FAD1-404C-92E4-56C091F9F8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1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ea typeface="Arial Unicode MS" pitchFamily="34" charset="-122"/>
                        <a:cs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25" name="Oval 47">
                    <a:extLst>
                      <a:ext uri="{FF2B5EF4-FFF2-40B4-BE49-F238E27FC236}">
                        <a16:creationId xmlns:a16="http://schemas.microsoft.com/office/drawing/2014/main" id="{58B10AD7-703C-4AE7-8785-4E9ADCBCC8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7" y="521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zh-CN" b="1">
                        <a:latin typeface="Arial Unicode MS" pitchFamily="34" charset="-122"/>
                        <a:ea typeface="Arial Unicode MS" pitchFamily="34" charset="-122"/>
                        <a:cs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21" name="Line 48">
                  <a:extLst>
                    <a:ext uri="{FF2B5EF4-FFF2-40B4-BE49-F238E27FC236}">
                      <a16:creationId xmlns:a16="http://schemas.microsoft.com/office/drawing/2014/main" id="{956B6D85-152A-4894-B753-8DF9356714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" y="136"/>
                  <a:ext cx="408" cy="7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Rectangle 49">
                <a:extLst>
                  <a:ext uri="{FF2B5EF4-FFF2-40B4-BE49-F238E27FC236}">
                    <a16:creationId xmlns:a16="http://schemas.microsoft.com/office/drawing/2014/main" id="{F01AB259-6380-4B15-9C6C-FCD977678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" y="853"/>
                <a:ext cx="32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sym typeface="Symbol" pitchFamily="18" charset="2"/>
                  </a:rPr>
                  <a:t></a:t>
                </a:r>
                <a:r>
                  <a:rPr lang="en-US" altLang="zh-CN" sz="2800" b="1" baseline="-25000" dirty="0">
                    <a:latin typeface="Times New Roman" pitchFamily="18" charset="0"/>
                  </a:rPr>
                  <a:t>3</a:t>
                </a:r>
                <a:endParaRPr lang="en-US" altLang="zh-CN" sz="2800" baseline="-25000" dirty="0"/>
              </a:p>
            </p:txBody>
          </p:sp>
        </p:grpSp>
      </p:grpSp>
      <p:sp>
        <p:nvSpPr>
          <p:cNvPr id="58" name="Rectangle 50">
            <a:extLst>
              <a:ext uri="{FF2B5EF4-FFF2-40B4-BE49-F238E27FC236}">
                <a16:creationId xmlns:a16="http://schemas.microsoft.com/office/drawing/2014/main" id="{7F5088ED-364B-4A8F-A1B6-A6251FFD8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770" y="4897208"/>
            <a:ext cx="8099425" cy="17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对应 </a:t>
            </a:r>
            <a:r>
              <a:rPr lang="en-US" altLang="zh-CN" sz="2400" b="1" i="1" dirty="0">
                <a:latin typeface="Times New Roman" pitchFamily="18" charset="0"/>
              </a:rPr>
              <a:t>E</a:t>
            </a:r>
            <a:r>
              <a:rPr lang="en-US" altLang="zh-CN" sz="2400" b="1" i="1" baseline="-25000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5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对应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,   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  <a:sym typeface="Symbol" pitchFamily="18" charset="2"/>
              </a:rPr>
              <a:t>2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8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  <a:sym typeface="Symbol" pitchFamily="18" charset="2"/>
              </a:rPr>
              <a:t>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800" b="1" dirty="0">
                <a:latin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  <a:sym typeface="Symbol" pitchFamily="18" charset="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分别对应 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400" b="1" dirty="0">
                <a:latin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</a:rPr>
              <a:t>4</a:t>
            </a:r>
            <a:r>
              <a:rPr lang="en-US" altLang="zh-CN" sz="2400" b="1" dirty="0">
                <a:latin typeface="Times New Roman" pitchFamily="18" charset="0"/>
              </a:rPr>
              <a:t>. </a:t>
            </a:r>
            <a:endParaRPr lang="en-US" altLang="zh-CN" sz="2400" b="1" i="1" dirty="0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2400" b="1" i="1" dirty="0">
                <a:latin typeface="Times New Roman" pitchFamily="18" charset="0"/>
              </a:rPr>
              <a:t>               R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</a:rPr>
              <a:t>={&lt;2,3&gt;,&lt;3,2&gt;}∪</a:t>
            </a:r>
            <a:r>
              <a:rPr lang="en-US" altLang="zh-CN" sz="2400" b="1" i="1" dirty="0">
                <a:latin typeface="Times New Roman" pitchFamily="18" charset="0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</a:rPr>
              <a:t>A</a:t>
            </a:r>
            <a:br>
              <a:rPr lang="en-US" altLang="zh-CN" sz="2400" b="1" dirty="0">
                <a:latin typeface="Times New Roman" pitchFamily="18" charset="0"/>
              </a:rPr>
            </a:br>
            <a:r>
              <a:rPr lang="en-US" altLang="zh-CN" sz="2400" b="1" dirty="0">
                <a:latin typeface="Times New Roman" pitchFamily="18" charset="0"/>
              </a:rPr>
              <a:t>               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</a:rPr>
              <a:t>3</a:t>
            </a:r>
            <a:r>
              <a:rPr lang="en-US" altLang="zh-CN" sz="2400" b="1" dirty="0">
                <a:latin typeface="Times New Roman" pitchFamily="18" charset="0"/>
              </a:rPr>
              <a:t>={&lt;1,3&gt;,&lt;3,1&gt;}∪</a:t>
            </a:r>
            <a:r>
              <a:rPr lang="en-US" altLang="zh-CN" sz="2400" b="1" i="1" dirty="0">
                <a:latin typeface="Times New Roman" pitchFamily="18" charset="0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</a:rPr>
              <a:t>A</a:t>
            </a:r>
            <a:br>
              <a:rPr lang="en-US" altLang="zh-CN" sz="2400" b="1" dirty="0">
                <a:latin typeface="Times New Roman" pitchFamily="18" charset="0"/>
              </a:rPr>
            </a:br>
            <a:r>
              <a:rPr lang="en-US" altLang="zh-CN" sz="2400" b="1" dirty="0">
                <a:latin typeface="Times New Roman" pitchFamily="18" charset="0"/>
              </a:rPr>
              <a:t>               </a:t>
            </a:r>
            <a:r>
              <a:rPr lang="en-US" altLang="zh-CN" sz="2400" b="1" i="1" dirty="0">
                <a:latin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</a:rPr>
              <a:t>4</a:t>
            </a:r>
            <a:r>
              <a:rPr lang="en-US" altLang="zh-CN" sz="2400" b="1" dirty="0">
                <a:latin typeface="Times New Roman" pitchFamily="18" charset="0"/>
              </a:rPr>
              <a:t>={&lt;1,2&gt;,&lt;2,1&gt;}∪</a:t>
            </a:r>
            <a:r>
              <a:rPr lang="en-US" altLang="zh-CN" sz="2400" b="1" i="1" dirty="0">
                <a:latin typeface="Times New Roman" pitchFamily="18" charset="0"/>
              </a:rPr>
              <a:t>I</a:t>
            </a:r>
            <a:r>
              <a:rPr lang="en-US" altLang="zh-CN" sz="2400" b="1" i="1" baseline="-25000" dirty="0">
                <a:latin typeface="Times New Roman" pitchFamily="18" charset="0"/>
              </a:rPr>
              <a:t>A</a:t>
            </a:r>
          </a:p>
        </p:txBody>
      </p:sp>
      <p:sp>
        <p:nvSpPr>
          <p:cNvPr id="59" name="Rectangle 51">
            <a:extLst>
              <a:ext uri="{FF2B5EF4-FFF2-40B4-BE49-F238E27FC236}">
                <a16:creationId xmlns:a16="http://schemas.microsoft.com/office/drawing/2014/main" id="{E5B7FCCB-FD56-485F-B2D5-D93FABC57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06" y="2231151"/>
            <a:ext cx="94360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   先做出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从左到右分别记作 </a:t>
            </a:r>
            <a:r>
              <a:rPr lang="zh-CN" altLang="en-US" sz="2400" b="1" dirty="0"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3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4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>
                <a:sym typeface="Symbol" pitchFamily="18" charset="2"/>
              </a:rPr>
              <a:t></a:t>
            </a:r>
            <a:r>
              <a:rPr lang="en-US" altLang="zh-CN" sz="2400" b="1" baseline="-25000" dirty="0">
                <a:latin typeface="Times New Roman" pitchFamily="18" charset="0"/>
              </a:rPr>
              <a:t>5</a:t>
            </a:r>
            <a:r>
              <a:rPr lang="en-US" altLang="zh-CN" sz="2400" b="1" dirty="0">
                <a:latin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885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8" grpId="0"/>
      <p:bldP spid="5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F0E7D866-88DC-4D3C-8E88-42E56C74B4DF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本章总结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52895EA-A884-47CD-A763-572AC88C5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871" y="4108893"/>
            <a:ext cx="9663144" cy="2757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j-lt"/>
                <a:ea typeface="华文中宋" pitchFamily="2" charset="-122"/>
              </a:defRPr>
            </a:lvl9pPr>
          </a:lstStyle>
          <a:p>
            <a:pPr marL="228600" marR="0" lvl="0" indent="-22860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F9900"/>
              </a:buClr>
              <a:buSzTx/>
              <a:buNone/>
              <a:tabLst/>
              <a:defRPr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基本要求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掌握关系的三种表示法</a:t>
            </a:r>
          </a:p>
          <a:p>
            <a:pPr lvl="0" eaLnBrk="1" hangingPunct="1">
              <a:lnSpc>
                <a:spcPct val="90000"/>
              </a:lnSpc>
              <a:spcBef>
                <a:spcPts val="1000"/>
              </a:spcBef>
              <a:buClr>
                <a:srgbClr val="FF9900"/>
              </a:buClr>
              <a:buFont typeface="Wingdings" pitchFamily="2" charset="2"/>
              <a:buChar char="l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掌握含有关系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运算的集合等式及等价关系、等价类、商集、划分的概念</a:t>
            </a: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Clr>
                <a:srgbClr val="FF9900"/>
              </a:buClr>
              <a:buFont typeface="Wingdings" pitchFamily="2" charset="2"/>
              <a:buChar char="l"/>
              <a:defRPr/>
            </a:pPr>
            <a:r>
              <a:rPr lang="zh-CN" altLang="en-US" sz="2000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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fld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</a:t>
            </a:r>
            <a:r>
              <a:rPr lang="en-US" altLang="zh-CN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aseline="-16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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000" dirty="0"/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掌握判定关系性质的方法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求等价类和商集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A/R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，给定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  <a:r>
              <a:rPr lang="zh-CN" altLang="en-US" sz="2000" i="1" dirty="0">
                <a:sym typeface="Symbol" pitchFamily="18" charset="2"/>
              </a:rPr>
              <a:t>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，求出</a:t>
            </a:r>
            <a:r>
              <a:rPr lang="zh-CN" altLang="en-US" sz="2000" i="1" dirty="0">
                <a:sym typeface="Symbol" pitchFamily="18" charset="2"/>
              </a:rPr>
              <a:t>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所对应的等价关系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itchFamily="2" charset="2"/>
              <a:buChar char="l"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掌握基本的证明方法，证明涉及关系运算的集合等式、证明关系的性质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ECA29BC-3D05-4C29-852D-04350B3412FD}"/>
              </a:ext>
            </a:extLst>
          </p:cNvPr>
          <p:cNvSpPr txBox="1">
            <a:spLocks noChangeArrowheads="1"/>
          </p:cNvSpPr>
          <p:nvPr/>
        </p:nvSpPr>
        <p:spPr>
          <a:xfrm>
            <a:off x="530972" y="836480"/>
            <a:ext cx="10925574" cy="4525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有序对与笛卡儿积的定义与性质</a:t>
            </a: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二元关系、从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的关系、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上的关系</a:t>
            </a: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关系的表示法：关系表达式、关系矩阵、关系图</a:t>
            </a: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关系的运算：定义域、值域、域、逆、合成、幂</a:t>
            </a: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关系运算的性质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上关系的自反、反自反、对称、反对称、传递的性质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en-US" altLang="zh-CN" sz="20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上关系的自反、对称、传递闭包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上的等价关系、等价类、商集与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的划分</a:t>
            </a:r>
          </a:p>
          <a:p>
            <a:pPr>
              <a:buClr>
                <a:srgbClr val="FF9900"/>
              </a:buClr>
              <a:buFont typeface="Wingdings" pitchFamily="2" charset="2"/>
              <a:buChar char="l"/>
            </a:pPr>
            <a:endParaRPr lang="zh-CN" altLang="en-US" sz="20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420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26105</TotalTime>
  <Words>8845</Words>
  <Application>Microsoft Office PowerPoint</Application>
  <PresentationFormat>宽屏</PresentationFormat>
  <Paragraphs>824</Paragraphs>
  <Slides>61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4" baseType="lpstr">
      <vt:lpstr>Arial Unicode MS</vt:lpstr>
      <vt:lpstr>等线</vt:lpstr>
      <vt:lpstr>黑体</vt:lpstr>
      <vt:lpstr>华文中宋</vt:lpstr>
      <vt:lpstr>宋体</vt:lpstr>
      <vt:lpstr>微软雅黑 Light</vt:lpstr>
      <vt:lpstr>Arial</vt:lpstr>
      <vt:lpstr>Cambria Math</vt:lpstr>
      <vt:lpstr>Symbol</vt:lpstr>
      <vt:lpstr>Times New Roman</vt:lpstr>
      <vt:lpstr>Wingdings</vt:lpstr>
      <vt:lpstr>南京理工大学通用模板</vt:lpstr>
      <vt:lpstr>Equation.3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349</cp:revision>
  <dcterms:created xsi:type="dcterms:W3CDTF">2024-03-07T10:43:13Z</dcterms:created>
  <dcterms:modified xsi:type="dcterms:W3CDTF">2026-03-29T03:06:57Z</dcterms:modified>
</cp:coreProperties>
</file>