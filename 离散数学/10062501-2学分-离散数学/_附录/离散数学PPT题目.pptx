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1"/>
  </p:notesMasterIdLst>
  <p:sldIdLst>
    <p:sldId id="426" r:id="rId2"/>
    <p:sldId id="430" r:id="rId3"/>
    <p:sldId id="431" r:id="rId4"/>
    <p:sldId id="433" r:id="rId5"/>
    <p:sldId id="434" r:id="rId6"/>
    <p:sldId id="442" r:id="rId7"/>
    <p:sldId id="443" r:id="rId8"/>
    <p:sldId id="444" r:id="rId9"/>
    <p:sldId id="448" r:id="rId10"/>
    <p:sldId id="449" r:id="rId11"/>
    <p:sldId id="454" r:id="rId12"/>
    <p:sldId id="455" r:id="rId13"/>
    <p:sldId id="456" r:id="rId14"/>
    <p:sldId id="457" r:id="rId15"/>
    <p:sldId id="458" r:id="rId16"/>
    <p:sldId id="462" r:id="rId17"/>
    <p:sldId id="464" r:id="rId18"/>
    <p:sldId id="473" r:id="rId19"/>
    <p:sldId id="474" r:id="rId20"/>
    <p:sldId id="477" r:id="rId21"/>
    <p:sldId id="479" r:id="rId22"/>
    <p:sldId id="485" r:id="rId23"/>
    <p:sldId id="486" r:id="rId24"/>
    <p:sldId id="487" r:id="rId25"/>
    <p:sldId id="488" r:id="rId26"/>
    <p:sldId id="482" r:id="rId27"/>
    <p:sldId id="481" r:id="rId28"/>
    <p:sldId id="484" r:id="rId29"/>
    <p:sldId id="493" r:id="rId30"/>
    <p:sldId id="502" r:id="rId31"/>
    <p:sldId id="503" r:id="rId32"/>
    <p:sldId id="508" r:id="rId33"/>
    <p:sldId id="510" r:id="rId34"/>
    <p:sldId id="512" r:id="rId35"/>
    <p:sldId id="513" r:id="rId36"/>
    <p:sldId id="514" r:id="rId37"/>
    <p:sldId id="515" r:id="rId38"/>
    <p:sldId id="432" r:id="rId39"/>
    <p:sldId id="516" r:id="rId40"/>
    <p:sldId id="517" r:id="rId41"/>
    <p:sldId id="435" r:id="rId42"/>
    <p:sldId id="518" r:id="rId43"/>
    <p:sldId id="446" r:id="rId44"/>
    <p:sldId id="447" r:id="rId45"/>
    <p:sldId id="450" r:id="rId46"/>
    <p:sldId id="452" r:id="rId47"/>
    <p:sldId id="463" r:id="rId48"/>
    <p:sldId id="519" r:id="rId49"/>
    <p:sldId id="520" r:id="rId50"/>
    <p:sldId id="521" r:id="rId51"/>
    <p:sldId id="522" r:id="rId52"/>
    <p:sldId id="523" r:id="rId53"/>
    <p:sldId id="528" r:id="rId54"/>
    <p:sldId id="459" r:id="rId55"/>
    <p:sldId id="445" r:id="rId56"/>
    <p:sldId id="529" r:id="rId57"/>
    <p:sldId id="530" r:id="rId58"/>
    <p:sldId id="451" r:id="rId59"/>
    <p:sldId id="441" r:id="rId60"/>
    <p:sldId id="531" r:id="rId61"/>
    <p:sldId id="532" r:id="rId62"/>
    <p:sldId id="533" r:id="rId63"/>
    <p:sldId id="534" r:id="rId64"/>
    <p:sldId id="524" r:id="rId65"/>
    <p:sldId id="436" r:id="rId66"/>
    <p:sldId id="525" r:id="rId67"/>
    <p:sldId id="526" r:id="rId68"/>
    <p:sldId id="437" r:id="rId69"/>
    <p:sldId id="527" r:id="rId70"/>
    <p:sldId id="465" r:id="rId71"/>
    <p:sldId id="470" r:id="rId72"/>
    <p:sldId id="468" r:id="rId73"/>
    <p:sldId id="475" r:id="rId74"/>
    <p:sldId id="476" r:id="rId75"/>
    <p:sldId id="535" r:id="rId76"/>
    <p:sldId id="536" r:id="rId77"/>
    <p:sldId id="507" r:id="rId78"/>
    <p:sldId id="537" r:id="rId79"/>
    <p:sldId id="538" r:id="rId80"/>
    <p:sldId id="539" r:id="rId81"/>
    <p:sldId id="540" r:id="rId82"/>
    <p:sldId id="541" r:id="rId83"/>
    <p:sldId id="542" r:id="rId84"/>
    <p:sldId id="543" r:id="rId85"/>
    <p:sldId id="544" r:id="rId86"/>
    <p:sldId id="471" r:id="rId87"/>
    <p:sldId id="472" r:id="rId88"/>
    <p:sldId id="545" r:id="rId89"/>
    <p:sldId id="546" r:id="rId90"/>
    <p:sldId id="547" r:id="rId91"/>
    <p:sldId id="548" r:id="rId92"/>
    <p:sldId id="549" r:id="rId93"/>
    <p:sldId id="550" r:id="rId94"/>
    <p:sldId id="551" r:id="rId95"/>
    <p:sldId id="552" r:id="rId96"/>
    <p:sldId id="483" r:id="rId97"/>
    <p:sldId id="553" r:id="rId98"/>
    <p:sldId id="554" r:id="rId99"/>
    <p:sldId id="555" r:id="rId100"/>
    <p:sldId id="490" r:id="rId101"/>
    <p:sldId id="491" r:id="rId102"/>
    <p:sldId id="556" r:id="rId103"/>
    <p:sldId id="494" r:id="rId104"/>
    <p:sldId id="496" r:id="rId105"/>
    <p:sldId id="497" r:id="rId106"/>
    <p:sldId id="498" r:id="rId107"/>
    <p:sldId id="499" r:id="rId108"/>
    <p:sldId id="557" r:id="rId109"/>
    <p:sldId id="427" r:id="rId110"/>
    <p:sldId id="558" r:id="rId111"/>
    <p:sldId id="478" r:id="rId112"/>
    <p:sldId id="559" r:id="rId113"/>
    <p:sldId id="429" r:id="rId114"/>
    <p:sldId id="560" r:id="rId115"/>
    <p:sldId id="561" r:id="rId116"/>
    <p:sldId id="562" r:id="rId117"/>
    <p:sldId id="563" r:id="rId118"/>
    <p:sldId id="439" r:id="rId119"/>
    <p:sldId id="440" r:id="rId120"/>
    <p:sldId id="564" r:id="rId121"/>
    <p:sldId id="565" r:id="rId122"/>
    <p:sldId id="566" r:id="rId123"/>
    <p:sldId id="567" r:id="rId124"/>
    <p:sldId id="568" r:id="rId125"/>
    <p:sldId id="569" r:id="rId126"/>
    <p:sldId id="570" r:id="rId127"/>
    <p:sldId id="571" r:id="rId128"/>
    <p:sldId id="572" r:id="rId129"/>
    <p:sldId id="438" r:id="rId130"/>
    <p:sldId id="573" r:id="rId131"/>
    <p:sldId id="574" r:id="rId132"/>
    <p:sldId id="575" r:id="rId133"/>
    <p:sldId id="576" r:id="rId134"/>
    <p:sldId id="577" r:id="rId135"/>
    <p:sldId id="578" r:id="rId136"/>
    <p:sldId id="579" r:id="rId137"/>
    <p:sldId id="580" r:id="rId138"/>
    <p:sldId id="581" r:id="rId139"/>
    <p:sldId id="582" r:id="rId1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章" id="{5B004459-D751-4253-B835-991F7514F1AE}">
          <p14:sldIdLst>
            <p14:sldId id="426"/>
            <p14:sldId id="430"/>
            <p14:sldId id="431"/>
            <p14:sldId id="433"/>
            <p14:sldId id="434"/>
            <p14:sldId id="442"/>
            <p14:sldId id="443"/>
            <p14:sldId id="444"/>
            <p14:sldId id="448"/>
            <p14:sldId id="449"/>
            <p14:sldId id="454"/>
            <p14:sldId id="455"/>
            <p14:sldId id="456"/>
            <p14:sldId id="457"/>
            <p14:sldId id="458"/>
            <p14:sldId id="462"/>
            <p14:sldId id="464"/>
            <p14:sldId id="473"/>
            <p14:sldId id="474"/>
            <p14:sldId id="477"/>
            <p14:sldId id="479"/>
            <p14:sldId id="485"/>
            <p14:sldId id="486"/>
            <p14:sldId id="487"/>
            <p14:sldId id="488"/>
            <p14:sldId id="482"/>
            <p14:sldId id="481"/>
            <p14:sldId id="484"/>
            <p14:sldId id="493"/>
            <p14:sldId id="502"/>
            <p14:sldId id="503"/>
            <p14:sldId id="508"/>
            <p14:sldId id="510"/>
            <p14:sldId id="512"/>
            <p14:sldId id="513"/>
            <p14:sldId id="514"/>
          </p14:sldIdLst>
        </p14:section>
        <p14:section name="第二章" id="{4EC7E5A7-38D5-4320-B2EE-7576272C6E78}">
          <p14:sldIdLst>
            <p14:sldId id="515"/>
            <p14:sldId id="432"/>
            <p14:sldId id="516"/>
            <p14:sldId id="517"/>
            <p14:sldId id="435"/>
            <p14:sldId id="518"/>
            <p14:sldId id="446"/>
            <p14:sldId id="447"/>
            <p14:sldId id="450"/>
            <p14:sldId id="452"/>
            <p14:sldId id="463"/>
            <p14:sldId id="519"/>
            <p14:sldId id="520"/>
            <p14:sldId id="521"/>
            <p14:sldId id="522"/>
            <p14:sldId id="523"/>
          </p14:sldIdLst>
        </p14:section>
        <p14:section name="第三章" id="{6E7ED345-4A5F-4430-BB61-4A25B4951A56}">
          <p14:sldIdLst>
            <p14:sldId id="528"/>
            <p14:sldId id="459"/>
            <p14:sldId id="445"/>
            <p14:sldId id="529"/>
            <p14:sldId id="530"/>
            <p14:sldId id="451"/>
            <p14:sldId id="441"/>
            <p14:sldId id="531"/>
            <p14:sldId id="532"/>
            <p14:sldId id="533"/>
            <p14:sldId id="534"/>
          </p14:sldIdLst>
        </p14:section>
        <p14:section name="第四章" id="{864036F0-F37D-4792-B860-3B19FE7A3109}">
          <p14:sldIdLst>
            <p14:sldId id="524"/>
            <p14:sldId id="436"/>
            <p14:sldId id="525"/>
            <p14:sldId id="526"/>
            <p14:sldId id="437"/>
            <p14:sldId id="527"/>
            <p14:sldId id="465"/>
            <p14:sldId id="470"/>
            <p14:sldId id="468"/>
            <p14:sldId id="475"/>
            <p14:sldId id="476"/>
            <p14:sldId id="535"/>
            <p14:sldId id="536"/>
            <p14:sldId id="507"/>
            <p14:sldId id="537"/>
            <p14:sldId id="538"/>
            <p14:sldId id="539"/>
            <p14:sldId id="540"/>
            <p14:sldId id="541"/>
            <p14:sldId id="542"/>
          </p14:sldIdLst>
        </p14:section>
        <p14:section name="第五章" id="{4E6673D6-FA1F-4239-AA7F-32C9F25C14CC}">
          <p14:sldIdLst>
            <p14:sldId id="543"/>
            <p14:sldId id="544"/>
            <p14:sldId id="471"/>
            <p14:sldId id="472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483"/>
            <p14:sldId id="553"/>
            <p14:sldId id="554"/>
            <p14:sldId id="555"/>
            <p14:sldId id="490"/>
            <p14:sldId id="491"/>
            <p14:sldId id="556"/>
            <p14:sldId id="494"/>
            <p14:sldId id="496"/>
            <p14:sldId id="497"/>
            <p14:sldId id="498"/>
            <p14:sldId id="499"/>
          </p14:sldIdLst>
        </p14:section>
        <p14:section name="第六章" id="{0C480631-5A7D-47FE-9959-A78EECF15B7C}">
          <p14:sldIdLst>
            <p14:sldId id="557"/>
            <p14:sldId id="427"/>
            <p14:sldId id="558"/>
            <p14:sldId id="478"/>
            <p14:sldId id="559"/>
            <p14:sldId id="429"/>
            <p14:sldId id="560"/>
            <p14:sldId id="561"/>
            <p14:sldId id="562"/>
            <p14:sldId id="563"/>
            <p14:sldId id="439"/>
            <p14:sldId id="440"/>
            <p14:sldId id="564"/>
            <p14:sldId id="565"/>
            <p14:sldId id="566"/>
            <p14:sldId id="567"/>
          </p14:sldIdLst>
        </p14:section>
        <p14:section name="第七章" id="{513ED553-26D6-496A-B2B0-08B1FF001257}">
          <p14:sldIdLst>
            <p14:sldId id="568"/>
            <p14:sldId id="569"/>
            <p14:sldId id="570"/>
            <p14:sldId id="571"/>
            <p14:sldId id="572"/>
            <p14:sldId id="438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AF81E-EF6F-4D68-9533-39D5FB914095}" v="59" dt="2026-04-23T01:21:43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8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notesMaster" Target="notesMasters/notesMaster1.xml"/><Relationship Id="rId14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custSel addSld delSld modSld sldOrd addSection delSection modSection">
      <pc:chgData name="744311194@qq.com" userId="e2a28223f2085f4b" providerId="LiveId" clId="{93EAE7B5-FDEE-48D0-B65C-03455E3B8632}" dt="2026-04-23T01:36:19.982" v="978" actId="13926"/>
      <pc:docMkLst>
        <pc:docMk/>
      </pc:docMkLst>
      <pc:sldChg chg="modSp mod">
        <pc:chgData name="744311194@qq.com" userId="e2a28223f2085f4b" providerId="LiveId" clId="{93EAE7B5-FDEE-48D0-B65C-03455E3B8632}" dt="2026-04-22T14:55:59.571" v="896" actId="1076"/>
        <pc:sldMkLst>
          <pc:docMk/>
          <pc:sldMk cId="1130572784" sldId="426"/>
        </pc:sldMkLst>
        <pc:graphicFrameChg chg="mod">
          <ac:chgData name="744311194@qq.com" userId="e2a28223f2085f4b" providerId="LiveId" clId="{93EAE7B5-FDEE-48D0-B65C-03455E3B8632}" dt="2026-04-22T14:55:59.571" v="896" actId="1076"/>
          <ac:graphicFrameMkLst>
            <pc:docMk/>
            <pc:sldMk cId="1130572784" sldId="426"/>
            <ac:graphicFrameMk id="35" creationId="{C1E30CD9-AE7E-47D6-8782-55646F0DB932}"/>
          </ac:graphicFrameMkLst>
        </pc:graphicFrameChg>
      </pc:sldChg>
      <pc:sldChg chg="add">
        <pc:chgData name="744311194@qq.com" userId="e2a28223f2085f4b" providerId="LiveId" clId="{93EAE7B5-FDEE-48D0-B65C-03455E3B8632}" dt="2026-04-02T13:23:25.266" v="861"/>
        <pc:sldMkLst>
          <pc:docMk/>
          <pc:sldMk cId="3455718361" sldId="427"/>
        </pc:sldMkLst>
      </pc:sldChg>
      <pc:sldChg chg="add">
        <pc:chgData name="744311194@qq.com" userId="e2a28223f2085f4b" providerId="LiveId" clId="{93EAE7B5-FDEE-48D0-B65C-03455E3B8632}" dt="2026-04-02T13:23:25.266" v="861"/>
        <pc:sldMkLst>
          <pc:docMk/>
          <pc:sldMk cId="2002072284" sldId="429"/>
        </pc:sldMkLst>
      </pc:sldChg>
      <pc:sldChg chg="modSp mod">
        <pc:chgData name="744311194@qq.com" userId="e2a28223f2085f4b" providerId="LiveId" clId="{93EAE7B5-FDEE-48D0-B65C-03455E3B8632}" dt="2026-04-23T01:13:53.387" v="965" actId="13926"/>
        <pc:sldMkLst>
          <pc:docMk/>
          <pc:sldMk cId="2202589028" sldId="436"/>
        </pc:sldMkLst>
        <pc:spChg chg="mod">
          <ac:chgData name="744311194@qq.com" userId="e2a28223f2085f4b" providerId="LiveId" clId="{93EAE7B5-FDEE-48D0-B65C-03455E3B8632}" dt="2026-04-23T01:13:53.387" v="965" actId="13926"/>
          <ac:spMkLst>
            <pc:docMk/>
            <pc:sldMk cId="2202589028" sldId="436"/>
            <ac:spMk id="22" creationId="{7144AAAD-276E-403B-85EB-0DF1A0CBF833}"/>
          </ac:spMkLst>
        </pc:spChg>
      </pc:sldChg>
      <pc:sldChg chg="add">
        <pc:chgData name="744311194@qq.com" userId="e2a28223f2085f4b" providerId="LiveId" clId="{93EAE7B5-FDEE-48D0-B65C-03455E3B8632}" dt="2026-04-21T04:16:32.301" v="886"/>
        <pc:sldMkLst>
          <pc:docMk/>
          <pc:sldMk cId="3256396055" sldId="438"/>
        </pc:sldMkLst>
      </pc:sldChg>
      <pc:sldChg chg="add">
        <pc:chgData name="744311194@qq.com" userId="e2a28223f2085f4b" providerId="LiveId" clId="{93EAE7B5-FDEE-48D0-B65C-03455E3B8632}" dt="2026-04-02T13:25:37.170" v="869"/>
        <pc:sldMkLst>
          <pc:docMk/>
          <pc:sldMk cId="178955309" sldId="439"/>
        </pc:sldMkLst>
      </pc:sldChg>
      <pc:sldChg chg="modSp add mod">
        <pc:chgData name="744311194@qq.com" userId="e2a28223f2085f4b" providerId="LiveId" clId="{93EAE7B5-FDEE-48D0-B65C-03455E3B8632}" dt="2026-04-23T01:34:15.009" v="977" actId="13926"/>
        <pc:sldMkLst>
          <pc:docMk/>
          <pc:sldMk cId="4129136692" sldId="440"/>
        </pc:sldMkLst>
        <pc:spChg chg="mod">
          <ac:chgData name="744311194@qq.com" userId="e2a28223f2085f4b" providerId="LiveId" clId="{93EAE7B5-FDEE-48D0-B65C-03455E3B8632}" dt="2026-04-23T01:34:15.009" v="977" actId="13926"/>
          <ac:spMkLst>
            <pc:docMk/>
            <pc:sldMk cId="4129136692" sldId="440"/>
            <ac:spMk id="12" creationId="{899465C1-508E-41A4-81B6-98E0D09E980D}"/>
          </ac:spMkLst>
        </pc:spChg>
      </pc:sldChg>
      <pc:sldChg chg="addSp delSp modSp mod">
        <pc:chgData name="744311194@qq.com" userId="e2a28223f2085f4b" providerId="LiveId" clId="{93EAE7B5-FDEE-48D0-B65C-03455E3B8632}" dt="2026-04-22T15:21:25.198" v="959" actId="1076"/>
        <pc:sldMkLst>
          <pc:docMk/>
          <pc:sldMk cId="2021688026" sldId="445"/>
        </pc:sldMkLst>
        <pc:spChg chg="add del mod">
          <ac:chgData name="744311194@qq.com" userId="e2a28223f2085f4b" providerId="LiveId" clId="{93EAE7B5-FDEE-48D0-B65C-03455E3B8632}" dt="2026-04-22T15:21:04.129" v="951"/>
          <ac:spMkLst>
            <pc:docMk/>
            <pc:sldMk cId="2021688026" sldId="445"/>
            <ac:spMk id="3" creationId="{5342ED51-23DE-922B-4C15-6E17C52C3F8C}"/>
          </ac:spMkLst>
        </pc:spChg>
        <pc:spChg chg="add mod">
          <ac:chgData name="744311194@qq.com" userId="e2a28223f2085f4b" providerId="LiveId" clId="{93EAE7B5-FDEE-48D0-B65C-03455E3B8632}" dt="2026-04-22T15:21:25.198" v="959" actId="1076"/>
          <ac:spMkLst>
            <pc:docMk/>
            <pc:sldMk cId="2021688026" sldId="445"/>
            <ac:spMk id="4" creationId="{74B2F257-85FE-335B-5F37-5C8B17329064}"/>
          </ac:spMkLst>
        </pc:spChg>
      </pc:sldChg>
      <pc:sldChg chg="modSp mod">
        <pc:chgData name="744311194@qq.com" userId="e2a28223f2085f4b" providerId="LiveId" clId="{93EAE7B5-FDEE-48D0-B65C-03455E3B8632}" dt="2026-04-22T15:14:19.615" v="923" actId="13926"/>
        <pc:sldMkLst>
          <pc:docMk/>
          <pc:sldMk cId="2255868379" sldId="452"/>
        </pc:sldMkLst>
        <pc:spChg chg="mod">
          <ac:chgData name="744311194@qq.com" userId="e2a28223f2085f4b" providerId="LiveId" clId="{93EAE7B5-FDEE-48D0-B65C-03455E3B8632}" dt="2026-04-22T15:14:19.615" v="923" actId="13926"/>
          <ac:spMkLst>
            <pc:docMk/>
            <pc:sldMk cId="2255868379" sldId="452"/>
            <ac:spMk id="3" creationId="{2A2AF7D0-3C6E-2B21-6C2D-6BF84016774E}"/>
          </ac:spMkLst>
        </pc:spChg>
      </pc:sldChg>
      <pc:sldChg chg="add">
        <pc:chgData name="744311194@qq.com" userId="e2a28223f2085f4b" providerId="LiveId" clId="{93EAE7B5-FDEE-48D0-B65C-03455E3B8632}" dt="2026-03-29T03:14:46.041" v="853"/>
        <pc:sldMkLst>
          <pc:docMk/>
          <pc:sldMk cId="723503188" sldId="471"/>
        </pc:sldMkLst>
      </pc:sldChg>
      <pc:sldChg chg="add">
        <pc:chgData name="744311194@qq.com" userId="e2a28223f2085f4b" providerId="LiveId" clId="{93EAE7B5-FDEE-48D0-B65C-03455E3B8632}" dt="2026-03-29T03:14:28.490" v="852"/>
        <pc:sldMkLst>
          <pc:docMk/>
          <pc:sldMk cId="3916480813" sldId="472"/>
        </pc:sldMkLst>
      </pc:sldChg>
      <pc:sldChg chg="add del">
        <pc:chgData name="744311194@qq.com" userId="e2a28223f2085f4b" providerId="LiveId" clId="{93EAE7B5-FDEE-48D0-B65C-03455E3B8632}" dt="2026-03-29T03:03:21.382" v="840"/>
        <pc:sldMkLst>
          <pc:docMk/>
          <pc:sldMk cId="2333002665" sldId="475"/>
        </pc:sldMkLst>
      </pc:sldChg>
      <pc:sldChg chg="add del">
        <pc:chgData name="744311194@qq.com" userId="e2a28223f2085f4b" providerId="LiveId" clId="{93EAE7B5-FDEE-48D0-B65C-03455E3B8632}" dt="2026-03-29T03:03:21.382" v="840"/>
        <pc:sldMkLst>
          <pc:docMk/>
          <pc:sldMk cId="1926246401" sldId="476"/>
        </pc:sldMkLst>
      </pc:sldChg>
      <pc:sldChg chg="add">
        <pc:chgData name="744311194@qq.com" userId="e2a28223f2085f4b" providerId="LiveId" clId="{93EAE7B5-FDEE-48D0-B65C-03455E3B8632}" dt="2026-04-02T13:23:25.266" v="861"/>
        <pc:sldMkLst>
          <pc:docMk/>
          <pc:sldMk cId="3662566295" sldId="478"/>
        </pc:sldMkLst>
      </pc:sldChg>
      <pc:sldChg chg="add">
        <pc:chgData name="744311194@qq.com" userId="e2a28223f2085f4b" providerId="LiveId" clId="{93EAE7B5-FDEE-48D0-B65C-03455E3B8632}" dt="2026-04-02T13:22:00.062" v="858"/>
        <pc:sldMkLst>
          <pc:docMk/>
          <pc:sldMk cId="3132886440" sldId="483"/>
        </pc:sldMkLst>
      </pc:sldChg>
      <pc:sldChg chg="add del">
        <pc:chgData name="744311194@qq.com" userId="e2a28223f2085f4b" providerId="LiveId" clId="{93EAE7B5-FDEE-48D0-B65C-03455E3B8632}" dt="2026-04-23T01:21:45.504" v="971" actId="47"/>
        <pc:sldMkLst>
          <pc:docMk/>
          <pc:sldMk cId="2778625513" sldId="489"/>
        </pc:sldMkLst>
      </pc:sldChg>
      <pc:sldChg chg="addSp modSp add mod">
        <pc:chgData name="744311194@qq.com" userId="e2a28223f2085f4b" providerId="LiveId" clId="{93EAE7B5-FDEE-48D0-B65C-03455E3B8632}" dt="2026-04-23T01:22:02.784" v="976" actId="14100"/>
        <pc:sldMkLst>
          <pc:docMk/>
          <pc:sldMk cId="559341565" sldId="490"/>
        </pc:sldMkLst>
        <pc:spChg chg="add mod">
          <ac:chgData name="744311194@qq.com" userId="e2a28223f2085f4b" providerId="LiveId" clId="{93EAE7B5-FDEE-48D0-B65C-03455E3B8632}" dt="2026-04-23T01:22:02.784" v="976" actId="14100"/>
          <ac:spMkLst>
            <pc:docMk/>
            <pc:sldMk cId="559341565" sldId="490"/>
            <ac:spMk id="3" creationId="{7759DD0A-8575-5944-7C61-5303998C4225}"/>
          </ac:spMkLst>
        </pc:spChg>
        <pc:picChg chg="mod">
          <ac:chgData name="744311194@qq.com" userId="e2a28223f2085f4b" providerId="LiveId" clId="{93EAE7B5-FDEE-48D0-B65C-03455E3B8632}" dt="2026-04-23T01:21:43.029" v="970" actId="1076"/>
          <ac:picMkLst>
            <pc:docMk/>
            <pc:sldMk cId="559341565" sldId="490"/>
            <ac:picMk id="16" creationId="{566364B1-0B77-450C-9657-C362B2F868FA}"/>
          </ac:picMkLst>
        </pc:picChg>
      </pc:sldChg>
      <pc:sldChg chg="add">
        <pc:chgData name="744311194@qq.com" userId="e2a28223f2085f4b" providerId="LiveId" clId="{93EAE7B5-FDEE-48D0-B65C-03455E3B8632}" dt="2026-04-02T13:22:19.878" v="859"/>
        <pc:sldMkLst>
          <pc:docMk/>
          <pc:sldMk cId="2554445924" sldId="491"/>
        </pc:sldMkLst>
      </pc:sldChg>
      <pc:sldChg chg="add">
        <pc:chgData name="744311194@qq.com" userId="e2a28223f2085f4b" providerId="LiveId" clId="{93EAE7B5-FDEE-48D0-B65C-03455E3B8632}" dt="2026-04-02T13:22:33.779" v="860"/>
        <pc:sldMkLst>
          <pc:docMk/>
          <pc:sldMk cId="1426612373" sldId="494"/>
        </pc:sldMkLst>
      </pc:sldChg>
      <pc:sldChg chg="add">
        <pc:chgData name="744311194@qq.com" userId="e2a28223f2085f4b" providerId="LiveId" clId="{93EAE7B5-FDEE-48D0-B65C-03455E3B8632}" dt="2026-04-02T13:22:33.779" v="860"/>
        <pc:sldMkLst>
          <pc:docMk/>
          <pc:sldMk cId="975400747" sldId="496"/>
        </pc:sldMkLst>
      </pc:sldChg>
      <pc:sldChg chg="add">
        <pc:chgData name="744311194@qq.com" userId="e2a28223f2085f4b" providerId="LiveId" clId="{93EAE7B5-FDEE-48D0-B65C-03455E3B8632}" dt="2026-04-02T13:22:33.779" v="860"/>
        <pc:sldMkLst>
          <pc:docMk/>
          <pc:sldMk cId="1497312076" sldId="497"/>
        </pc:sldMkLst>
      </pc:sldChg>
      <pc:sldChg chg="add">
        <pc:chgData name="744311194@qq.com" userId="e2a28223f2085f4b" providerId="LiveId" clId="{93EAE7B5-FDEE-48D0-B65C-03455E3B8632}" dt="2026-04-02T13:22:33.779" v="860"/>
        <pc:sldMkLst>
          <pc:docMk/>
          <pc:sldMk cId="3683051490" sldId="498"/>
        </pc:sldMkLst>
      </pc:sldChg>
      <pc:sldChg chg="add">
        <pc:chgData name="744311194@qq.com" userId="e2a28223f2085f4b" providerId="LiveId" clId="{93EAE7B5-FDEE-48D0-B65C-03455E3B8632}" dt="2026-04-02T13:22:33.779" v="860"/>
        <pc:sldMkLst>
          <pc:docMk/>
          <pc:sldMk cId="1327649043" sldId="499"/>
        </pc:sldMkLst>
      </pc:sldChg>
      <pc:sldChg chg="add">
        <pc:chgData name="744311194@qq.com" userId="e2a28223f2085f4b" providerId="LiveId" clId="{93EAE7B5-FDEE-48D0-B65C-03455E3B8632}" dt="2026-03-29T03:04:26.400" v="842"/>
        <pc:sldMkLst>
          <pc:docMk/>
          <pc:sldMk cId="1564915179" sldId="507"/>
        </pc:sldMkLst>
      </pc:sldChg>
      <pc:sldChg chg="modSp">
        <pc:chgData name="744311194@qq.com" userId="e2a28223f2085f4b" providerId="LiveId" clId="{93EAE7B5-FDEE-48D0-B65C-03455E3B8632}" dt="2026-04-22T15:07:37.622" v="899" actId="13926"/>
        <pc:sldMkLst>
          <pc:docMk/>
          <pc:sldMk cId="775641830" sldId="514"/>
        </pc:sldMkLst>
        <pc:spChg chg="mod">
          <ac:chgData name="744311194@qq.com" userId="e2a28223f2085f4b" providerId="LiveId" clId="{93EAE7B5-FDEE-48D0-B65C-03455E3B8632}" dt="2026-04-22T15:07:23.990" v="898" actId="13926"/>
          <ac:spMkLst>
            <pc:docMk/>
            <pc:sldMk cId="775641830" sldId="514"/>
            <ac:spMk id="13" creationId="{065066B0-0084-45CF-9FEB-8A07C88C53F9}"/>
          </ac:spMkLst>
        </pc:spChg>
        <pc:spChg chg="mod">
          <ac:chgData name="744311194@qq.com" userId="e2a28223f2085f4b" providerId="LiveId" clId="{93EAE7B5-FDEE-48D0-B65C-03455E3B8632}" dt="2026-04-22T15:07:37.622" v="899" actId="13926"/>
          <ac:spMkLst>
            <pc:docMk/>
            <pc:sldMk cId="775641830" sldId="514"/>
            <ac:spMk id="14" creationId="{3A959AD6-C64E-4D2F-8D06-075AB86DFFD2}"/>
          </ac:spMkLst>
        </pc:spChg>
      </pc:sldChg>
      <pc:sldChg chg="modSp mod">
        <pc:chgData name="744311194@qq.com" userId="e2a28223f2085f4b" providerId="LiveId" clId="{93EAE7B5-FDEE-48D0-B65C-03455E3B8632}" dt="2026-04-22T15:19:37.054" v="948" actId="20577"/>
        <pc:sldMkLst>
          <pc:docMk/>
          <pc:sldMk cId="1147034099" sldId="522"/>
        </pc:sldMkLst>
        <pc:spChg chg="mod">
          <ac:chgData name="744311194@qq.com" userId="e2a28223f2085f4b" providerId="LiveId" clId="{93EAE7B5-FDEE-48D0-B65C-03455E3B8632}" dt="2026-04-22T15:18:33.940" v="940" actId="1076"/>
          <ac:spMkLst>
            <pc:docMk/>
            <pc:sldMk cId="1147034099" sldId="522"/>
            <ac:spMk id="3" creationId="{9D2FC2CD-E52F-E364-04E3-F5A08F92E164}"/>
          </ac:spMkLst>
        </pc:spChg>
        <pc:spChg chg="mod">
          <ac:chgData name="744311194@qq.com" userId="e2a28223f2085f4b" providerId="LiveId" clId="{93EAE7B5-FDEE-48D0-B65C-03455E3B8632}" dt="2026-04-22T15:19:21.406" v="944" actId="13926"/>
          <ac:spMkLst>
            <pc:docMk/>
            <pc:sldMk cId="1147034099" sldId="522"/>
            <ac:spMk id="8" creationId="{810E5925-6BB8-4433-96BE-DE92175D1230}"/>
          </ac:spMkLst>
        </pc:spChg>
        <pc:spChg chg="mod">
          <ac:chgData name="744311194@qq.com" userId="e2a28223f2085f4b" providerId="LiveId" clId="{93EAE7B5-FDEE-48D0-B65C-03455E3B8632}" dt="2026-04-22T15:18:39.776" v="942" actId="13926"/>
          <ac:spMkLst>
            <pc:docMk/>
            <pc:sldMk cId="1147034099" sldId="522"/>
            <ac:spMk id="9" creationId="{55B340A6-6EB9-4FC6-A50D-E727FE113337}"/>
          </ac:spMkLst>
        </pc:spChg>
        <pc:spChg chg="mod">
          <ac:chgData name="744311194@qq.com" userId="e2a28223f2085f4b" providerId="LiveId" clId="{93EAE7B5-FDEE-48D0-B65C-03455E3B8632}" dt="2026-04-22T15:19:37.054" v="948" actId="20577"/>
          <ac:spMkLst>
            <pc:docMk/>
            <pc:sldMk cId="1147034099" sldId="522"/>
            <ac:spMk id="10" creationId="{CE75364E-76EB-4220-816B-1A994957F98B}"/>
          </ac:spMkLst>
        </pc:spChg>
      </pc:sldChg>
      <pc:sldChg chg="modSp">
        <pc:chgData name="744311194@qq.com" userId="e2a28223f2085f4b" providerId="LiveId" clId="{93EAE7B5-FDEE-48D0-B65C-03455E3B8632}" dt="2026-04-23T01:13:17.389" v="964" actId="13926"/>
        <pc:sldMkLst>
          <pc:docMk/>
          <pc:sldMk cId="1077343061" sldId="524"/>
        </pc:sldMkLst>
        <pc:spChg chg="mod">
          <ac:chgData name="744311194@qq.com" userId="e2a28223f2085f4b" providerId="LiveId" clId="{93EAE7B5-FDEE-48D0-B65C-03455E3B8632}" dt="2026-04-23T01:13:17.389" v="964" actId="13926"/>
          <ac:spMkLst>
            <pc:docMk/>
            <pc:sldMk cId="1077343061" sldId="524"/>
            <ac:spMk id="21" creationId="{0975C4B3-F119-45C9-927E-CDEDA1135FAF}"/>
          </ac:spMkLst>
        </pc:spChg>
      </pc:sldChg>
      <pc:sldChg chg="modSp">
        <pc:chgData name="744311194@qq.com" userId="e2a28223f2085f4b" providerId="LiveId" clId="{93EAE7B5-FDEE-48D0-B65C-03455E3B8632}" dt="2026-04-23T01:14:51.838" v="967" actId="13926"/>
        <pc:sldMkLst>
          <pc:docMk/>
          <pc:sldMk cId="3177147696" sldId="527"/>
        </pc:sldMkLst>
        <pc:spChg chg="mod">
          <ac:chgData name="744311194@qq.com" userId="e2a28223f2085f4b" providerId="LiveId" clId="{93EAE7B5-FDEE-48D0-B65C-03455E3B8632}" dt="2026-04-23T01:14:51.838" v="967" actId="13926"/>
          <ac:spMkLst>
            <pc:docMk/>
            <pc:sldMk cId="3177147696" sldId="527"/>
            <ac:spMk id="13" creationId="{DA4782C4-58DC-418D-BF2D-AD0D00531F04}"/>
          </ac:spMkLst>
        </pc:spChg>
      </pc:sldChg>
      <pc:sldChg chg="modSp mod">
        <pc:chgData name="744311194@qq.com" userId="e2a28223f2085f4b" providerId="LiveId" clId="{93EAE7B5-FDEE-48D0-B65C-03455E3B8632}" dt="2026-04-22T15:22:19.244" v="961" actId="13926"/>
        <pc:sldMkLst>
          <pc:docMk/>
          <pc:sldMk cId="4058763280" sldId="529"/>
        </pc:sldMkLst>
        <pc:spChg chg="mod">
          <ac:chgData name="744311194@qq.com" userId="e2a28223f2085f4b" providerId="LiveId" clId="{93EAE7B5-FDEE-48D0-B65C-03455E3B8632}" dt="2026-04-22T15:22:19.244" v="961" actId="13926"/>
          <ac:spMkLst>
            <pc:docMk/>
            <pc:sldMk cId="4058763280" sldId="529"/>
            <ac:spMk id="12" creationId="{62B67FB6-E262-4857-8CD9-3C64130255CE}"/>
          </ac:spMkLst>
        </pc:spChg>
      </pc:sldChg>
      <pc:sldChg chg="modSp mod">
        <pc:chgData name="744311194@qq.com" userId="e2a28223f2085f4b" providerId="LiveId" clId="{93EAE7B5-FDEE-48D0-B65C-03455E3B8632}" dt="2026-04-22T15:22:29.959" v="962" actId="13926"/>
        <pc:sldMkLst>
          <pc:docMk/>
          <pc:sldMk cId="2789305481" sldId="530"/>
        </pc:sldMkLst>
        <pc:spChg chg="mod">
          <ac:chgData name="744311194@qq.com" userId="e2a28223f2085f4b" providerId="LiveId" clId="{93EAE7B5-FDEE-48D0-B65C-03455E3B8632}" dt="2026-04-22T15:22:29.959" v="962" actId="13926"/>
          <ac:spMkLst>
            <pc:docMk/>
            <pc:sldMk cId="2789305481" sldId="530"/>
            <ac:spMk id="13" creationId="{D6793547-7A49-4AE4-940E-9EA3C9DE3EEB}"/>
          </ac:spMkLst>
        </pc:spChg>
      </pc:sldChg>
      <pc:sldChg chg="add">
        <pc:chgData name="744311194@qq.com" userId="e2a28223f2085f4b" providerId="LiveId" clId="{93EAE7B5-FDEE-48D0-B65C-03455E3B8632}" dt="2026-03-29T03:03:21.382" v="840"/>
        <pc:sldMkLst>
          <pc:docMk/>
          <pc:sldMk cId="1867719060" sldId="535"/>
        </pc:sldMkLst>
      </pc:sldChg>
      <pc:sldChg chg="add">
        <pc:chgData name="744311194@qq.com" userId="e2a28223f2085f4b" providerId="LiveId" clId="{93EAE7B5-FDEE-48D0-B65C-03455E3B8632}" dt="2026-03-29T03:03:54.059" v="841"/>
        <pc:sldMkLst>
          <pc:docMk/>
          <pc:sldMk cId="922473670" sldId="536"/>
        </pc:sldMkLst>
      </pc:sldChg>
      <pc:sldChg chg="add">
        <pc:chgData name="744311194@qq.com" userId="e2a28223f2085f4b" providerId="LiveId" clId="{93EAE7B5-FDEE-48D0-B65C-03455E3B8632}" dt="2026-03-29T03:04:33.757" v="843"/>
        <pc:sldMkLst>
          <pc:docMk/>
          <pc:sldMk cId="1598081779" sldId="537"/>
        </pc:sldMkLst>
      </pc:sldChg>
      <pc:sldChg chg="add">
        <pc:chgData name="744311194@qq.com" userId="e2a28223f2085f4b" providerId="LiveId" clId="{93EAE7B5-FDEE-48D0-B65C-03455E3B8632}" dt="2026-03-29T03:06:06.231" v="844"/>
        <pc:sldMkLst>
          <pc:docMk/>
          <pc:sldMk cId="1508982457" sldId="538"/>
        </pc:sldMkLst>
      </pc:sldChg>
      <pc:sldChg chg="add">
        <pc:chgData name="744311194@qq.com" userId="e2a28223f2085f4b" providerId="LiveId" clId="{93EAE7B5-FDEE-48D0-B65C-03455E3B8632}" dt="2026-03-29T03:06:36.494" v="845"/>
        <pc:sldMkLst>
          <pc:docMk/>
          <pc:sldMk cId="1852860573" sldId="539"/>
        </pc:sldMkLst>
      </pc:sldChg>
      <pc:sldChg chg="add">
        <pc:chgData name="744311194@qq.com" userId="e2a28223f2085f4b" providerId="LiveId" clId="{93EAE7B5-FDEE-48D0-B65C-03455E3B8632}" dt="2026-03-29T03:07:05.241" v="846"/>
        <pc:sldMkLst>
          <pc:docMk/>
          <pc:sldMk cId="2595421178" sldId="540"/>
        </pc:sldMkLst>
      </pc:sldChg>
      <pc:sldChg chg="add">
        <pc:chgData name="744311194@qq.com" userId="e2a28223f2085f4b" providerId="LiveId" clId="{93EAE7B5-FDEE-48D0-B65C-03455E3B8632}" dt="2026-03-29T03:07:05.241" v="846"/>
        <pc:sldMkLst>
          <pc:docMk/>
          <pc:sldMk cId="3203416809" sldId="541"/>
        </pc:sldMkLst>
      </pc:sldChg>
      <pc:sldChg chg="add">
        <pc:chgData name="744311194@qq.com" userId="e2a28223f2085f4b" providerId="LiveId" clId="{93EAE7B5-FDEE-48D0-B65C-03455E3B8632}" dt="2026-03-29T03:07:43.118" v="847"/>
        <pc:sldMkLst>
          <pc:docMk/>
          <pc:sldMk cId="4180348122" sldId="542"/>
        </pc:sldMkLst>
      </pc:sldChg>
      <pc:sldChg chg="add">
        <pc:chgData name="744311194@qq.com" userId="e2a28223f2085f4b" providerId="LiveId" clId="{93EAE7B5-FDEE-48D0-B65C-03455E3B8632}" dt="2026-03-29T03:10:29.725" v="848"/>
        <pc:sldMkLst>
          <pc:docMk/>
          <pc:sldMk cId="2372345504" sldId="543"/>
        </pc:sldMkLst>
      </pc:sldChg>
      <pc:sldChg chg="add">
        <pc:chgData name="744311194@qq.com" userId="e2a28223f2085f4b" providerId="LiveId" clId="{93EAE7B5-FDEE-48D0-B65C-03455E3B8632}" dt="2026-03-29T03:11:00.288" v="851"/>
        <pc:sldMkLst>
          <pc:docMk/>
          <pc:sldMk cId="1099595960" sldId="544"/>
        </pc:sldMkLst>
      </pc:sldChg>
      <pc:sldChg chg="add">
        <pc:chgData name="744311194@qq.com" userId="e2a28223f2085f4b" providerId="LiveId" clId="{93EAE7B5-FDEE-48D0-B65C-03455E3B8632}" dt="2026-03-29T03:14:28.490" v="852"/>
        <pc:sldMkLst>
          <pc:docMk/>
          <pc:sldMk cId="1004100720" sldId="545"/>
        </pc:sldMkLst>
      </pc:sldChg>
      <pc:sldChg chg="add">
        <pc:chgData name="744311194@qq.com" userId="e2a28223f2085f4b" providerId="LiveId" clId="{93EAE7B5-FDEE-48D0-B65C-03455E3B8632}" dt="2026-03-29T03:16:06.191" v="854"/>
        <pc:sldMkLst>
          <pc:docMk/>
          <pc:sldMk cId="3648438933" sldId="546"/>
        </pc:sldMkLst>
      </pc:sldChg>
      <pc:sldChg chg="add">
        <pc:chgData name="744311194@qq.com" userId="e2a28223f2085f4b" providerId="LiveId" clId="{93EAE7B5-FDEE-48D0-B65C-03455E3B8632}" dt="2026-03-29T03:16:06.191" v="854"/>
        <pc:sldMkLst>
          <pc:docMk/>
          <pc:sldMk cId="943885109" sldId="547"/>
        </pc:sldMkLst>
      </pc:sldChg>
      <pc:sldChg chg="add">
        <pc:chgData name="744311194@qq.com" userId="e2a28223f2085f4b" providerId="LiveId" clId="{93EAE7B5-FDEE-48D0-B65C-03455E3B8632}" dt="2026-03-29T03:16:06.191" v="854"/>
        <pc:sldMkLst>
          <pc:docMk/>
          <pc:sldMk cId="2063910388" sldId="548"/>
        </pc:sldMkLst>
      </pc:sldChg>
      <pc:sldChg chg="add">
        <pc:chgData name="744311194@qq.com" userId="e2a28223f2085f4b" providerId="LiveId" clId="{93EAE7B5-FDEE-48D0-B65C-03455E3B8632}" dt="2026-04-02T13:21:11.846" v="855"/>
        <pc:sldMkLst>
          <pc:docMk/>
          <pc:sldMk cId="3141248420" sldId="549"/>
        </pc:sldMkLst>
      </pc:sldChg>
      <pc:sldChg chg="add">
        <pc:chgData name="744311194@qq.com" userId="e2a28223f2085f4b" providerId="LiveId" clId="{93EAE7B5-FDEE-48D0-B65C-03455E3B8632}" dt="2026-04-02T13:21:22.009" v="856"/>
        <pc:sldMkLst>
          <pc:docMk/>
          <pc:sldMk cId="522100296" sldId="550"/>
        </pc:sldMkLst>
      </pc:sldChg>
      <pc:sldChg chg="add">
        <pc:chgData name="744311194@qq.com" userId="e2a28223f2085f4b" providerId="LiveId" clId="{93EAE7B5-FDEE-48D0-B65C-03455E3B8632}" dt="2026-04-02T13:21:30.730" v="857"/>
        <pc:sldMkLst>
          <pc:docMk/>
          <pc:sldMk cId="1694520219" sldId="551"/>
        </pc:sldMkLst>
      </pc:sldChg>
      <pc:sldChg chg="add">
        <pc:chgData name="744311194@qq.com" userId="e2a28223f2085f4b" providerId="LiveId" clId="{93EAE7B5-FDEE-48D0-B65C-03455E3B8632}" dt="2026-04-02T13:22:00.062" v="858"/>
        <pc:sldMkLst>
          <pc:docMk/>
          <pc:sldMk cId="310578779" sldId="552"/>
        </pc:sldMkLst>
      </pc:sldChg>
      <pc:sldChg chg="add">
        <pc:chgData name="744311194@qq.com" userId="e2a28223f2085f4b" providerId="LiveId" clId="{93EAE7B5-FDEE-48D0-B65C-03455E3B8632}" dt="2026-04-02T13:22:00.062" v="858"/>
        <pc:sldMkLst>
          <pc:docMk/>
          <pc:sldMk cId="4095386093" sldId="553"/>
        </pc:sldMkLst>
      </pc:sldChg>
      <pc:sldChg chg="add">
        <pc:chgData name="744311194@qq.com" userId="e2a28223f2085f4b" providerId="LiveId" clId="{93EAE7B5-FDEE-48D0-B65C-03455E3B8632}" dt="2026-04-02T13:22:00.062" v="858"/>
        <pc:sldMkLst>
          <pc:docMk/>
          <pc:sldMk cId="1493744539" sldId="554"/>
        </pc:sldMkLst>
      </pc:sldChg>
      <pc:sldChg chg="add">
        <pc:chgData name="744311194@qq.com" userId="e2a28223f2085f4b" providerId="LiveId" clId="{93EAE7B5-FDEE-48D0-B65C-03455E3B8632}" dt="2026-04-02T13:22:00.062" v="858"/>
        <pc:sldMkLst>
          <pc:docMk/>
          <pc:sldMk cId="3900067043" sldId="555"/>
        </pc:sldMkLst>
      </pc:sldChg>
      <pc:sldChg chg="add">
        <pc:chgData name="744311194@qq.com" userId="e2a28223f2085f4b" providerId="LiveId" clId="{93EAE7B5-FDEE-48D0-B65C-03455E3B8632}" dt="2026-04-02T13:22:33.779" v="860"/>
        <pc:sldMkLst>
          <pc:docMk/>
          <pc:sldMk cId="2841941383" sldId="556"/>
        </pc:sldMkLst>
      </pc:sldChg>
      <pc:sldChg chg="add">
        <pc:chgData name="744311194@qq.com" userId="e2a28223f2085f4b" providerId="LiveId" clId="{93EAE7B5-FDEE-48D0-B65C-03455E3B8632}" dt="2026-04-02T13:23:25.266" v="861"/>
        <pc:sldMkLst>
          <pc:docMk/>
          <pc:sldMk cId="2842654829" sldId="557"/>
        </pc:sldMkLst>
      </pc:sldChg>
      <pc:sldChg chg="add">
        <pc:chgData name="744311194@qq.com" userId="e2a28223f2085f4b" providerId="LiveId" clId="{93EAE7B5-FDEE-48D0-B65C-03455E3B8632}" dt="2026-04-02T13:23:25.266" v="861"/>
        <pc:sldMkLst>
          <pc:docMk/>
          <pc:sldMk cId="1330411511" sldId="558"/>
        </pc:sldMkLst>
      </pc:sldChg>
      <pc:sldChg chg="add">
        <pc:chgData name="744311194@qq.com" userId="e2a28223f2085f4b" providerId="LiveId" clId="{93EAE7B5-FDEE-48D0-B65C-03455E3B8632}" dt="2026-04-02T13:23:25.266" v="861"/>
        <pc:sldMkLst>
          <pc:docMk/>
          <pc:sldMk cId="1368435540" sldId="559"/>
        </pc:sldMkLst>
      </pc:sldChg>
      <pc:sldChg chg="add">
        <pc:chgData name="744311194@qq.com" userId="e2a28223f2085f4b" providerId="LiveId" clId="{93EAE7B5-FDEE-48D0-B65C-03455E3B8632}" dt="2026-04-02T13:24:55.480" v="866"/>
        <pc:sldMkLst>
          <pc:docMk/>
          <pc:sldMk cId="2026339217" sldId="560"/>
        </pc:sldMkLst>
      </pc:sldChg>
      <pc:sldChg chg="add">
        <pc:chgData name="744311194@qq.com" userId="e2a28223f2085f4b" providerId="LiveId" clId="{93EAE7B5-FDEE-48D0-B65C-03455E3B8632}" dt="2026-04-02T13:25:08.829" v="867"/>
        <pc:sldMkLst>
          <pc:docMk/>
          <pc:sldMk cId="1079730581" sldId="561"/>
        </pc:sldMkLst>
      </pc:sldChg>
      <pc:sldChg chg="add">
        <pc:chgData name="744311194@qq.com" userId="e2a28223f2085f4b" providerId="LiveId" clId="{93EAE7B5-FDEE-48D0-B65C-03455E3B8632}" dt="2026-04-02T13:25:08.829" v="867"/>
        <pc:sldMkLst>
          <pc:docMk/>
          <pc:sldMk cId="1755781455" sldId="562"/>
        </pc:sldMkLst>
      </pc:sldChg>
      <pc:sldChg chg="add">
        <pc:chgData name="744311194@qq.com" userId="e2a28223f2085f4b" providerId="LiveId" clId="{93EAE7B5-FDEE-48D0-B65C-03455E3B8632}" dt="2026-04-02T13:25:08.829" v="867"/>
        <pc:sldMkLst>
          <pc:docMk/>
          <pc:sldMk cId="2952501879" sldId="563"/>
        </pc:sldMkLst>
      </pc:sldChg>
      <pc:sldChg chg="add">
        <pc:chgData name="744311194@qq.com" userId="e2a28223f2085f4b" providerId="LiveId" clId="{93EAE7B5-FDEE-48D0-B65C-03455E3B8632}" dt="2026-04-02T13:25:48.961" v="870"/>
        <pc:sldMkLst>
          <pc:docMk/>
          <pc:sldMk cId="2307383055" sldId="564"/>
        </pc:sldMkLst>
      </pc:sldChg>
      <pc:sldChg chg="add">
        <pc:chgData name="744311194@qq.com" userId="e2a28223f2085f4b" providerId="LiveId" clId="{93EAE7B5-FDEE-48D0-B65C-03455E3B8632}" dt="2026-04-02T13:26:05.698" v="871"/>
        <pc:sldMkLst>
          <pc:docMk/>
          <pc:sldMk cId="407881913" sldId="565"/>
        </pc:sldMkLst>
      </pc:sldChg>
      <pc:sldChg chg="add">
        <pc:chgData name="744311194@qq.com" userId="e2a28223f2085f4b" providerId="LiveId" clId="{93EAE7B5-FDEE-48D0-B65C-03455E3B8632}" dt="2026-04-02T13:26:23.859" v="872"/>
        <pc:sldMkLst>
          <pc:docMk/>
          <pc:sldMk cId="2972849904" sldId="566"/>
        </pc:sldMkLst>
      </pc:sldChg>
      <pc:sldChg chg="add ord">
        <pc:chgData name="744311194@qq.com" userId="e2a28223f2085f4b" providerId="LiveId" clId="{93EAE7B5-FDEE-48D0-B65C-03455E3B8632}" dt="2026-04-21T04:14:43.170" v="876"/>
        <pc:sldMkLst>
          <pc:docMk/>
          <pc:sldMk cId="2494634055" sldId="567"/>
        </pc:sldMkLst>
      </pc:sldChg>
      <pc:sldChg chg="add">
        <pc:chgData name="744311194@qq.com" userId="e2a28223f2085f4b" providerId="LiveId" clId="{93EAE7B5-FDEE-48D0-B65C-03455E3B8632}" dt="2026-04-21T04:15:20.598" v="877"/>
        <pc:sldMkLst>
          <pc:docMk/>
          <pc:sldMk cId="1545560793" sldId="568"/>
        </pc:sldMkLst>
      </pc:sldChg>
      <pc:sldChg chg="add">
        <pc:chgData name="744311194@qq.com" userId="e2a28223f2085f4b" providerId="LiveId" clId="{93EAE7B5-FDEE-48D0-B65C-03455E3B8632}" dt="2026-04-21T04:15:20.598" v="877"/>
        <pc:sldMkLst>
          <pc:docMk/>
          <pc:sldMk cId="3419751352" sldId="569"/>
        </pc:sldMkLst>
      </pc:sldChg>
      <pc:sldChg chg="add">
        <pc:chgData name="744311194@qq.com" userId="e2a28223f2085f4b" providerId="LiveId" clId="{93EAE7B5-FDEE-48D0-B65C-03455E3B8632}" dt="2026-04-21T04:15:43.479" v="878"/>
        <pc:sldMkLst>
          <pc:docMk/>
          <pc:sldMk cId="1665139381" sldId="570"/>
        </pc:sldMkLst>
      </pc:sldChg>
      <pc:sldChg chg="add">
        <pc:chgData name="744311194@qq.com" userId="e2a28223f2085f4b" providerId="LiveId" clId="{93EAE7B5-FDEE-48D0-B65C-03455E3B8632}" dt="2026-04-21T04:16:17.027" v="883"/>
        <pc:sldMkLst>
          <pc:docMk/>
          <pc:sldMk cId="1871587888" sldId="571"/>
        </pc:sldMkLst>
      </pc:sldChg>
      <pc:sldChg chg="add">
        <pc:chgData name="744311194@qq.com" userId="e2a28223f2085f4b" providerId="LiveId" clId="{93EAE7B5-FDEE-48D0-B65C-03455E3B8632}" dt="2026-04-21T04:16:17.027" v="883"/>
        <pc:sldMkLst>
          <pc:docMk/>
          <pc:sldMk cId="4241290507" sldId="572"/>
        </pc:sldMkLst>
      </pc:sldChg>
      <pc:sldChg chg="add">
        <pc:chgData name="744311194@qq.com" userId="e2a28223f2085f4b" providerId="LiveId" clId="{93EAE7B5-FDEE-48D0-B65C-03455E3B8632}" dt="2026-04-21T04:16:43.226" v="887"/>
        <pc:sldMkLst>
          <pc:docMk/>
          <pc:sldMk cId="2645475381" sldId="573"/>
        </pc:sldMkLst>
      </pc:sldChg>
      <pc:sldChg chg="add">
        <pc:chgData name="744311194@qq.com" userId="e2a28223f2085f4b" providerId="LiveId" clId="{93EAE7B5-FDEE-48D0-B65C-03455E3B8632}" dt="2026-04-21T04:16:55.791" v="888"/>
        <pc:sldMkLst>
          <pc:docMk/>
          <pc:sldMk cId="1489003128" sldId="574"/>
        </pc:sldMkLst>
      </pc:sldChg>
      <pc:sldChg chg="add">
        <pc:chgData name="744311194@qq.com" userId="e2a28223f2085f4b" providerId="LiveId" clId="{93EAE7B5-FDEE-48D0-B65C-03455E3B8632}" dt="2026-04-21T04:17:10.545" v="891"/>
        <pc:sldMkLst>
          <pc:docMk/>
          <pc:sldMk cId="1127908143" sldId="575"/>
        </pc:sldMkLst>
      </pc:sldChg>
      <pc:sldChg chg="add">
        <pc:chgData name="744311194@qq.com" userId="e2a28223f2085f4b" providerId="LiveId" clId="{93EAE7B5-FDEE-48D0-B65C-03455E3B8632}" dt="2026-04-21T04:17:21.264" v="892"/>
        <pc:sldMkLst>
          <pc:docMk/>
          <pc:sldMk cId="2299716476" sldId="576"/>
        </pc:sldMkLst>
      </pc:sldChg>
      <pc:sldChg chg="add">
        <pc:chgData name="744311194@qq.com" userId="e2a28223f2085f4b" providerId="LiveId" clId="{93EAE7B5-FDEE-48D0-B65C-03455E3B8632}" dt="2026-04-21T04:17:32.267" v="893"/>
        <pc:sldMkLst>
          <pc:docMk/>
          <pc:sldMk cId="495938434" sldId="577"/>
        </pc:sldMkLst>
      </pc:sldChg>
      <pc:sldChg chg="add">
        <pc:chgData name="744311194@qq.com" userId="e2a28223f2085f4b" providerId="LiveId" clId="{93EAE7B5-FDEE-48D0-B65C-03455E3B8632}" dt="2026-04-21T04:17:32.267" v="893"/>
        <pc:sldMkLst>
          <pc:docMk/>
          <pc:sldMk cId="832253896" sldId="578"/>
        </pc:sldMkLst>
      </pc:sldChg>
      <pc:sldChg chg="add">
        <pc:chgData name="744311194@qq.com" userId="e2a28223f2085f4b" providerId="LiveId" clId="{93EAE7B5-FDEE-48D0-B65C-03455E3B8632}" dt="2026-04-21T04:17:46.120" v="894"/>
        <pc:sldMkLst>
          <pc:docMk/>
          <pc:sldMk cId="2264790357" sldId="579"/>
        </pc:sldMkLst>
      </pc:sldChg>
      <pc:sldChg chg="add">
        <pc:chgData name="744311194@qq.com" userId="e2a28223f2085f4b" providerId="LiveId" clId="{93EAE7B5-FDEE-48D0-B65C-03455E3B8632}" dt="2026-04-21T04:17:46.120" v="894"/>
        <pc:sldMkLst>
          <pc:docMk/>
          <pc:sldMk cId="3220673383" sldId="580"/>
        </pc:sldMkLst>
      </pc:sldChg>
      <pc:sldChg chg="add">
        <pc:chgData name="744311194@qq.com" userId="e2a28223f2085f4b" providerId="LiveId" clId="{93EAE7B5-FDEE-48D0-B65C-03455E3B8632}" dt="2026-04-21T04:17:46.120" v="894"/>
        <pc:sldMkLst>
          <pc:docMk/>
          <pc:sldMk cId="241583823" sldId="581"/>
        </pc:sldMkLst>
      </pc:sldChg>
      <pc:sldChg chg="modSp add mod">
        <pc:chgData name="744311194@qq.com" userId="e2a28223f2085f4b" providerId="LiveId" clId="{93EAE7B5-FDEE-48D0-B65C-03455E3B8632}" dt="2026-04-23T01:36:19.982" v="978" actId="13926"/>
        <pc:sldMkLst>
          <pc:docMk/>
          <pc:sldMk cId="1490188805" sldId="582"/>
        </pc:sldMkLst>
        <pc:spChg chg="mod">
          <ac:chgData name="744311194@qq.com" userId="e2a28223f2085f4b" providerId="LiveId" clId="{93EAE7B5-FDEE-48D0-B65C-03455E3B8632}" dt="2026-04-23T01:36:19.982" v="978" actId="13926"/>
          <ac:spMkLst>
            <pc:docMk/>
            <pc:sldMk cId="1490188805" sldId="582"/>
            <ac:spMk id="15" creationId="{4DC8CCA4-B5E6-47E9-B881-DECD423A73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C1612-205B-4578-B197-812018018357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75872-D3C9-497D-8755-8FE6A9AA0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47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1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943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3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7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605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9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597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09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05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520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078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714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802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959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38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086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35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881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453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5800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587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357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690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9150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6850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71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984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63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999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9931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5560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4062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968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9947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2730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1037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2434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6178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805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8018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1000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718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1903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2358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728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3416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60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111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036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2499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2223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0309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546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209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9448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03349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265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25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2206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7658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4180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3363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5512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9150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4847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22186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5995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20834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12704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64499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4319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34069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17323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0398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53063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52384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1374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40561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7458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62972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08404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49441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66934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14767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60025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22014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44672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15811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0419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95439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8073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86525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52568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88649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21725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20907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76927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99743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36616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20678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21986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07534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30513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05332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3572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58206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75333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35912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257936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89335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17627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80127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82866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99112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12921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88770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04633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98670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161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2B70E-7BF0-1561-77DE-625676B85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F7A542-437B-7F5F-3790-045A2C9F4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F92A37-4863-4134-DD7E-7B9F83D4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77CE1-4104-5BF1-2E58-007A468F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FF2655-BF3B-052B-8374-1266C2A9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37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86DA0-DC90-10BB-7AC7-9020114A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155579-2EC1-177D-1B96-57F105A30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E358C8-E043-4D60-992F-14DC61F1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59940-15F0-D2FB-3AC0-D7E5F053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B2D572-C59A-68B8-7624-6F0DB0FE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89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54BF7-7FD4-7A6B-750C-6A8E30DF3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831A2A-A09E-D7BA-7F5B-85A08676A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C4F28D-899F-06A1-36A7-7A610DDF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46251-E3EA-FF9E-7B0E-4FFF5FCF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E10857-7E10-DE46-0D83-AC6147CE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8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E2F65-C083-00D9-BD6C-54175F332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55A09-4576-CBF2-BF12-50098EFB1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C4C2D7-78CC-4D96-8DCF-DC95C6A14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29669D-7E2C-1A50-CA56-679ACC91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B6F73B-40A6-ACA0-352F-0F7B876E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F8E886-22D7-1A8B-2C29-CA050F65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944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EE4E4-F026-773B-CA53-3B6574E80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BCB254-95F7-ADA5-9DF2-4A2EADBCC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47CAD2-F748-7797-EE22-635867298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ABD473-5DA6-88E1-7323-8CDF06B15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12FD75-C405-8410-FC4B-AC68E0846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29EA45-E296-2E14-D378-E07B71C1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299494-7E3F-7C23-0C0D-D80FCCD6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5AD429-819B-8ACC-286E-AFB7A8B8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48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6AE31-C439-330D-D7A9-BC2EF475E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E00BA8-D41F-D111-9B43-18A8901D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82C353-C4CA-7583-FC12-B3BEF6D67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8647F9-A537-CD8A-70A7-DAF6519E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59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09A2FD-7C70-34F9-88B3-6A3A30CF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BE1605-0721-131A-7E12-26DB50C4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85730-763F-669B-3017-F84D856B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65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7EF60-20BD-3C5F-E219-22B1C051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5B444E-F04D-C825-D16A-D637E1E9F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761864-AE48-FFB0-8E8E-84F6FAD05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049AB8-B515-489F-68A5-4B5785B7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F32B9D-1A1E-79ED-E12E-265839DC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08E85C-3D6A-8DBA-ADDD-700EA539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48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6A1B0-5590-957D-0753-3C845D64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FABBA7-2424-B799-FE21-663A6E7EA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C39221-D614-CCA1-1A07-ACC152106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BBD0F8-9E80-9B6B-2B1C-FCC50CE8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0B91C7-F751-6A4E-D92E-BD3436BD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2A158-4422-C798-3A0D-593A632D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3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8278A-5AC6-6769-C68C-CA17E755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6FF6D5-F1E2-D1F2-FB3B-1D15527C8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08365-B506-56E4-471E-6567DEF3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F281D-8221-167E-47AE-595816DE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84E19D-ECC6-B3CD-CB7A-38187807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15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CE67DF-FD54-DEFA-34EB-B7EC4D4A4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4523AD-7811-4E65-1676-A8B0159EB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31C04-8B51-06CE-9A2A-65ED39B0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8B111-523B-285B-4950-07396C8C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70A6B4-5D19-FE6A-6FCC-CEBAB2D9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36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E379FF4-CF40-446E-8233-5839C197A8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92" r="3449" b="73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818D33-AD20-4EFB-8D77-858D885ED4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938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E918A4-352B-6B94-4A94-C5E4E5AD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87AC48-DCF6-1F14-B9B7-FC1D96881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675413-6544-3565-E334-BC8F069D4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8655F-F62E-4C7D-B6CB-7087824719F2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2EDADF-A571-74F1-C0EE-A22CF1152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53606C-CEDE-6F4E-0059-6F107A34A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E7D91-11E3-4184-A704-DCDEED86A4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58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6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6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8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5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6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8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67.wmf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66.png"/><Relationship Id="rId4" Type="http://schemas.openxmlformats.org/officeDocument/2006/relationships/image" Target="../media/image65.w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68.wmf"/><Relationship Id="rId9" Type="http://schemas.openxmlformats.org/officeDocument/2006/relationships/image" Target="../media/image71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72.wmf"/><Relationship Id="rId9" Type="http://schemas.openxmlformats.org/officeDocument/2006/relationships/image" Target="../media/image7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5.png"/><Relationship Id="rId4" Type="http://schemas.openxmlformats.org/officeDocument/2006/relationships/image" Target="../media/image76.w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77.wmf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1.w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2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jpe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9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8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0.png"/><Relationship Id="rId4" Type="http://schemas.openxmlformats.org/officeDocument/2006/relationships/image" Target="../media/image109.wmf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6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AD7F478-89ED-4691-9384-8F07E822D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69" y="1565129"/>
            <a:ext cx="5169332" cy="4800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下列句子中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些是命题？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是无理数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(2)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 + 5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8.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(3)  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+ 5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＞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3.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(4) 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你有铅笔吗？</a:t>
            </a:r>
          </a:p>
          <a:p>
            <a:pPr algn="just" eaLnBrk="1" hangingPunct="1">
              <a:lnSpc>
                <a:spcPct val="120000"/>
              </a:lnSpc>
              <a:buClr>
                <a:srgbClr val="00007D"/>
              </a:buClr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(5)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这只兔子跑得真快呀！</a:t>
            </a:r>
          </a:p>
          <a:p>
            <a:pPr marR="0" lvl="0" algn="just" eaLnBrk="1" hangingPunct="1">
              <a:lnSpc>
                <a:spcPct val="120000"/>
              </a:lnSpc>
              <a:buClr>
                <a:srgbClr val="00007D"/>
              </a:buClr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(6)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请不要讲话！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/>
              </a:rPr>
              <a:t>(7)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我正在说谎话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109AF74F-CA91-487C-8EF6-142F11E34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663" y="2186856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真命题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9261F51E-B963-4448-845F-AB5A27B07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2823298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假命题</a:t>
            </a: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C0A77EE6-A1DA-45F2-982D-522932C62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3392633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真值不确定</a:t>
            </a: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1B2DA809-C30A-401B-9162-A43E716E5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4024314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疑问句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75154313-4318-4F03-816E-E37CDBA8D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4572867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感叹句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56DFBAA4-C708-4C15-82D5-96109DA9F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5151295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祈使句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E1188C9A-5087-480A-9A6E-D6979F649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5755270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悖论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116C9CA8-DF86-4BA7-8A0C-D0FFE6224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581" y="4543426"/>
            <a:ext cx="3240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(3)~(7)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都不是命题</a:t>
            </a:r>
          </a:p>
        </p:txBody>
      </p:sp>
      <p:graphicFrame>
        <p:nvGraphicFramePr>
          <p:cNvPr id="35" name="Object 0">
            <a:extLst>
              <a:ext uri="{FF2B5EF4-FFF2-40B4-BE49-F238E27FC236}">
                <a16:creationId xmlns:a16="http://schemas.microsoft.com/office/drawing/2014/main" id="{C1E30CD9-AE7E-47D6-8782-55646F0DB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308274"/>
              </p:ext>
            </p:extLst>
          </p:nvPr>
        </p:nvGraphicFramePr>
        <p:xfrm>
          <a:off x="1309658" y="2173999"/>
          <a:ext cx="513244" cy="45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00" imgH="215640" progId="Equation.3">
                  <p:embed/>
                </p:oleObj>
              </mc:Choice>
              <mc:Fallback>
                <p:oleObj name="Equation" r:id="rId3" imgW="241200" imgH="215640" progId="Equation.3">
                  <p:embed/>
                  <p:pic>
                    <p:nvPicPr>
                      <p:cNvPr id="35" name="Object 0">
                        <a:extLst>
                          <a:ext uri="{FF2B5EF4-FFF2-40B4-BE49-F238E27FC236}">
                            <a16:creationId xmlns:a16="http://schemas.microsoft.com/office/drawing/2014/main" id="{C1E30CD9-AE7E-47D6-8782-55646F0DB9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58" y="2173999"/>
                        <a:ext cx="513244" cy="45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AFE083BD-DAE2-4AC5-8EF6-C3E5376D66F3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FABF62-70BF-4065-9094-D4E2AE91ACD2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6115B3-5B7F-4FD3-AEFE-6BF2381ED49E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6C6BB64-46AD-4113-B537-88F1635B99E8}"/>
              </a:ext>
            </a:extLst>
          </p:cNvPr>
          <p:cNvSpPr txBox="1"/>
          <p:nvPr/>
        </p:nvSpPr>
        <p:spPr>
          <a:xfrm>
            <a:off x="9462655" y="977361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2FCA5E1-4E08-4832-8EDE-DF5E0D3FDC8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057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0C2046-B3D3-4E04-8F61-6B174ADA6EAF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E864D2-08F1-468A-8304-54AE2DF41A7C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E4D3E-FC10-4FB2-B3F6-A2D23B651264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D6DFC7-4984-49B8-93A2-96F1C50FC31A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C354D9-2821-4EE9-9443-7C284EADAE5A}"/>
              </a:ext>
            </a:extLst>
          </p:cNvPr>
          <p:cNvSpPr txBox="1"/>
          <p:nvPr/>
        </p:nvSpPr>
        <p:spPr>
          <a:xfrm>
            <a:off x="471488" y="1646957"/>
            <a:ext cx="5400992" cy="2018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例：将下列命题符号化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王晓既用功又聪明。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王晓不仅聪明，而且用功。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王晓虽然聪明，但不用功。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C41174-3656-4C54-9D4E-1E74A0DF2B3B}"/>
              </a:ext>
            </a:extLst>
          </p:cNvPr>
          <p:cNvSpPr txBox="1"/>
          <p:nvPr/>
        </p:nvSpPr>
        <p:spPr>
          <a:xfrm>
            <a:off x="471488" y="4099083"/>
            <a:ext cx="6096000" cy="98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(4)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张辉与王丽都是三好生。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(5)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张辉与王丽是同学。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ED832C-215E-4B38-9B06-B20FB3CC475D}"/>
              </a:ext>
            </a:extLst>
          </p:cNvPr>
          <p:cNvSpPr txBox="1"/>
          <p:nvPr/>
        </p:nvSpPr>
        <p:spPr>
          <a:xfrm>
            <a:off x="5625812" y="1794910"/>
            <a:ext cx="6096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王晓用功，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王晓聪明，则</a:t>
            </a: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(2)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(3)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也是并列式</a:t>
            </a:r>
            <a:endParaRPr lang="zh-CN" altLang="en-US" sz="2400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6B32A50-4123-40C5-978D-8D4476696617}"/>
              </a:ext>
            </a:extLst>
          </p:cNvPr>
          <p:cNvSpPr txBox="1">
            <a:spLocks noChangeArrowheads="1"/>
          </p:cNvSpPr>
          <p:nvPr/>
        </p:nvSpPr>
        <p:spPr>
          <a:xfrm>
            <a:off x="5695067" y="3938162"/>
            <a:ext cx="6448442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张辉是三好学生，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王丽是三好学生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张辉与王丽是同学，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是简单命题。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42E81155-A556-4B5C-8A26-99E33B728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13" y="5732346"/>
            <a:ext cx="10826317" cy="1015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400" b="1">
                <a:solidFill>
                  <a:srgbClr val="992677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latin typeface="Franklin Gothic Book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latin typeface="Franklin Gothic Book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latin typeface="Franklin Gothic Book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dirty="0"/>
              <a:t>    (1)~(4)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说明描述合取式的灵活性与多样性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/>
              <a:t>    (5)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中“与”联结的是两个名词，整个句子是一个简单命题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682EBC-073B-4665-A3BF-C463A473D89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47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C354D9-2821-4EE9-9443-7C284EADAE5A}"/>
              </a:ext>
            </a:extLst>
          </p:cNvPr>
          <p:cNvSpPr txBox="1"/>
          <p:nvPr/>
        </p:nvSpPr>
        <p:spPr>
          <a:xfrm>
            <a:off x="471488" y="1646957"/>
            <a:ext cx="4135954" cy="2098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例：将下列命题符号化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C41174-3656-4C54-9D4E-1E74A0DF2B3B}"/>
              </a:ext>
            </a:extLst>
          </p:cNvPr>
          <p:cNvSpPr txBox="1"/>
          <p:nvPr/>
        </p:nvSpPr>
        <p:spPr>
          <a:xfrm>
            <a:off x="449407" y="4058827"/>
            <a:ext cx="5405588" cy="127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kern="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小元只能拿一个苹果或一个梨。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algn="just">
              <a:lnSpc>
                <a:spcPct val="15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(5)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王晓红生于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1975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年或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1976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ED832C-215E-4B38-9B06-B20FB3CC475D}"/>
              </a:ext>
            </a:extLst>
          </p:cNvPr>
          <p:cNvSpPr txBox="1"/>
          <p:nvPr/>
        </p:nvSpPr>
        <p:spPr>
          <a:xfrm>
            <a:off x="5807520" y="1694935"/>
            <a:ext cx="6032616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令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spcBef>
                <a:spcPts val="12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(1)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(2)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(3)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6B32A50-4123-40C5-978D-8D4476696617}"/>
              </a:ext>
            </a:extLst>
          </p:cNvPr>
          <p:cNvSpPr txBox="1">
            <a:spLocks noChangeArrowheads="1"/>
          </p:cNvSpPr>
          <p:nvPr/>
        </p:nvSpPr>
        <p:spPr>
          <a:xfrm>
            <a:off x="5784431" y="4179303"/>
            <a:ext cx="6365554" cy="2409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小元拿一个苹果，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小元拿一个梨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	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宋体" panose="02010600030101010101" pitchFamily="2" charset="-122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宋体" panose="02010600030101010101" pitchFamily="2" charset="-122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宋体" panose="02010600030101010101" pitchFamily="2" charset="-122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CN" sz="24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F222A2-EA72-46FF-A121-8F89E3550C66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E1237C-A4B4-4C6A-9E74-51256ACA66E6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3FA30D-E7AA-425B-805E-44388F6BE6A3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54A7AE-05C7-4C72-9A45-81241CAFBE49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29BC72-365D-4F50-AE5E-1024FEDBBBAF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34954D7-F264-4850-8EB5-734C83BE3FCB}"/>
              </a:ext>
            </a:extLst>
          </p:cNvPr>
          <p:cNvSpPr txBox="1">
            <a:spLocks noChangeArrowheads="1"/>
          </p:cNvSpPr>
          <p:nvPr/>
        </p:nvSpPr>
        <p:spPr>
          <a:xfrm>
            <a:off x="5784431" y="5359168"/>
            <a:ext cx="6365554" cy="10239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王晓红生于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1975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王晓红生于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1976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(5)</a:t>
            </a: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宋体" panose="02010600030101010101" pitchFamily="2" charset="-122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宋体" panose="02010600030101010101" pitchFamily="2" charset="-122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宋体" panose="02010600030101010101" pitchFamily="2" charset="-122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000" b="1" dirty="0">
                <a:latin typeface="宋体" panose="02010600030101010101" pitchFamily="2" charset="-122"/>
              </a:rPr>
              <a:t>或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ED1DEE-2615-4035-BBA8-0C6EC34049C7}"/>
              </a:ext>
            </a:extLst>
          </p:cNvPr>
          <p:cNvSpPr txBox="1"/>
          <p:nvPr/>
        </p:nvSpPr>
        <p:spPr>
          <a:xfrm>
            <a:off x="5772145" y="6409676"/>
            <a:ext cx="6104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(1), (2), (3)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均为相容或；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(4), (5)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均为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排斥或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330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AB7AA9C-8E71-4877-8A5D-FD36B2235082}"/>
              </a:ext>
            </a:extLst>
          </p:cNvPr>
          <p:cNvSpPr txBox="1">
            <a:spLocks noChangeArrowheads="1"/>
          </p:cNvSpPr>
          <p:nvPr/>
        </p:nvSpPr>
        <p:spPr>
          <a:xfrm>
            <a:off x="527715" y="1654836"/>
            <a:ext cx="10930660" cy="44201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设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小王穿羽绒服，将下列命题符号化 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天冷，小王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(2)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因为天冷，所以小王穿羽绒服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(3)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若小王不穿羽绒服，则天不冷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天冷，小王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天冷，小王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(6) 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小王穿羽绒服，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否则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(7)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如果天不冷，则小王不穿羽绒服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(8)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小王穿羽绒服仅当天冷的时候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5403B2CB-C882-4183-AF43-F299A257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0862" y="4497988"/>
            <a:ext cx="3044946" cy="8617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0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与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</a:t>
            </a:r>
            <a:r>
              <a:rPr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互为逆否命题，等价</a:t>
            </a:r>
            <a:endParaRPr lang="zh-CN" altLang="en-US" sz="20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3ED16B14-CE5A-459C-8C25-7CE053872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2029335"/>
            <a:ext cx="1371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A2FC3F70-CE54-4C5C-A4FB-2C0FB53CC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2478380"/>
            <a:ext cx="152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D75BC29E-2326-45A6-B30D-406A6A9DC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2927425"/>
            <a:ext cx="1752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78871358-3341-4326-A94C-117D686FC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4274560"/>
            <a:ext cx="1828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E80BA240-066A-4CD4-8BC4-975536149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3376470"/>
            <a:ext cx="1066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i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8BE6BCE3-E818-4E9F-900F-1A8AAD195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306" y="3825515"/>
            <a:ext cx="104616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E0B3DE83-511C-4797-9368-87ACCED7E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306" y="4723605"/>
            <a:ext cx="119856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B6CB5AE5-4F04-43FC-8A72-F6A20B5D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306" y="5172649"/>
            <a:ext cx="11223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856087-0026-442D-B9A6-1767553B35B8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F8BBBE-6E6D-4747-93A5-C38CAE4358D0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0518F84-70FB-43E4-B04A-EF1552F7C36C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AB9372E-DB55-4343-A0FC-127B6E4DA558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09EDD198-52DF-4443-916F-CE8A0C69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19227"/>
            <a:ext cx="9271869" cy="11387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就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；只要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；因为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，所以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dirty="0"/>
              <a:t>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仅当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dirty="0"/>
              <a:t> 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只有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，才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除非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，才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；除非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，否则非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p……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可符号化为 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079F3337-2A75-458A-B85F-1D70CCFD8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146" y="5982273"/>
            <a:ext cx="246703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仅当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endParaRPr lang="zh-CN" altLang="en-US" sz="24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869D69-8A04-48E1-A8BF-0CF7381B49F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564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 autoUpdateAnimBg="0"/>
      <p:bldP spid="14" grpId="0" autoUpdateAnimBg="0"/>
      <p:bldP spid="15" grpId="0" autoUpdateAnimBg="0"/>
      <p:bldP spid="16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18" grpId="0" autoUpdateAnimBg="0"/>
      <p:bldP spid="1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6683C7E-4C2E-408E-89B1-A4736AECBF60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567038"/>
            <a:ext cx="1131883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50000"/>
              </a:spcBef>
              <a:defRPr sz="26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1.5: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为两个命题，复合命题 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等价式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，记作    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等价联结词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为真当且仅当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同时为真或同时为假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7557610-5F93-4FD5-BA82-CE775A3A2903}"/>
              </a:ext>
            </a:extLst>
          </p:cNvPr>
          <p:cNvSpPr txBox="1"/>
          <p:nvPr/>
        </p:nvSpPr>
        <p:spPr>
          <a:xfrm>
            <a:off x="485775" y="3058028"/>
            <a:ext cx="8427612" cy="1179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Times New Roman" panose="02020603050405020304" pitchFamily="18" charset="0"/>
              </a:rPr>
              <a:t>  (1)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的逻辑关系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互为充分必要条件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(2)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q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为真当且仅当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同真或同假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71535EC0-5235-4319-A0AE-7650E29056FA}"/>
              </a:ext>
            </a:extLst>
          </p:cNvPr>
          <p:cNvSpPr txBox="1">
            <a:spLocks noChangeArrowheads="1"/>
          </p:cNvSpPr>
          <p:nvPr/>
        </p:nvSpPr>
        <p:spPr>
          <a:xfrm>
            <a:off x="648774" y="4424710"/>
            <a:ext cx="11199792" cy="2435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例：求下列复合命题的真值 </a:t>
            </a:r>
            <a:r>
              <a:rPr lang="zh-CN" altLang="en-US" sz="22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当且仅当就是蕴涵联结词 </a:t>
            </a:r>
            <a:endParaRPr lang="zh-CN" altLang="en-US" sz="2200" b="1" dirty="0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 + 3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是偶数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太阳从东方升起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美国位于非洲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5)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 </a:t>
            </a:r>
            <a:r>
              <a:rPr lang="en-US" altLang="zh-CN" sz="22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2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2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可导的充要条件是它在</a:t>
            </a:r>
            <a:r>
              <a:rPr lang="en-US" altLang="zh-CN" sz="22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7A619D-B873-419E-933B-20B552E40B0F}"/>
              </a:ext>
            </a:extLst>
          </p:cNvPr>
          <p:cNvSpPr txBox="1"/>
          <p:nvPr/>
        </p:nvSpPr>
        <p:spPr>
          <a:xfrm>
            <a:off x="9395139" y="4724313"/>
            <a:ext cx="327334" cy="2069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233434-1C78-4130-B165-E11266029E54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A1E7EE-43BE-4F9F-B778-53C5FB3D0643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1FE5DD-703C-4E99-99E3-6A1FBEF72F4D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E8E89B9-DCAA-4765-AE7D-E4C05F5F6FC9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BFA5BE-A5B6-44D2-82B2-6B5B2716F57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885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56B3CEAD-E087-45C5-B786-877C74A8B00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B0317A-10B7-4268-96C8-96478AB2BDDB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638618"/>
            <a:ext cx="11130492" cy="10842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例：写出下列公式的真值表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并求它们的成真赋值和成假赋值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600" dirty="0">
                <a:latin typeface="Times New Roman" panose="02020603050405020304" pitchFamily="18" charset="0"/>
              </a:rPr>
              <a:t>   </a:t>
            </a:r>
            <a:r>
              <a:rPr lang="en-US" altLang="zh-CN" sz="2600" b="1" dirty="0">
                <a:latin typeface="Times New Roman" panose="02020603050405020304" pitchFamily="18" charset="0"/>
              </a:rPr>
              <a:t> (1) 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</a:p>
        </p:txBody>
      </p:sp>
      <p:graphicFrame>
        <p:nvGraphicFramePr>
          <p:cNvPr id="8" name="Group 193">
            <a:extLst>
              <a:ext uri="{FF2B5EF4-FFF2-40B4-BE49-F238E27FC236}">
                <a16:creationId xmlns:a16="http://schemas.microsoft.com/office/drawing/2014/main" id="{4AE6FFDD-9F56-4FAC-9DF7-E10E9F964FD0}"/>
              </a:ext>
            </a:extLst>
          </p:cNvPr>
          <p:cNvGraphicFramePr>
            <a:graphicFrameLocks noGrp="1"/>
          </p:cNvGraphicFramePr>
          <p:nvPr/>
        </p:nvGraphicFramePr>
        <p:xfrm>
          <a:off x="1074530" y="2717233"/>
          <a:ext cx="6408737" cy="4039172"/>
        </p:xfrm>
        <a:graphic>
          <a:graphicData uri="http://schemas.openxmlformats.org/drawingml/2006/table">
            <a:tbl>
              <a:tblPr/>
              <a:tblGrid>
                <a:gridCol w="1601787">
                  <a:extLst>
                    <a:ext uri="{9D8B030D-6E8A-4147-A177-3AD203B41FA5}">
                      <a16:colId xmlns:a16="http://schemas.microsoft.com/office/drawing/2014/main" val="3331998664"/>
                    </a:ext>
                  </a:extLst>
                </a:gridCol>
                <a:gridCol w="1604963">
                  <a:extLst>
                    <a:ext uri="{9D8B030D-6E8A-4147-A177-3AD203B41FA5}">
                      <a16:colId xmlns:a16="http://schemas.microsoft.com/office/drawing/2014/main" val="2275480034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1675278038"/>
                    </a:ext>
                  </a:extLst>
                </a:gridCol>
                <a:gridCol w="1935162">
                  <a:extLst>
                    <a:ext uri="{9D8B030D-6E8A-4147-A177-3AD203B41FA5}">
                      <a16:colId xmlns:a16="http://schemas.microsoft.com/office/drawing/2014/main" val="4070648052"/>
                    </a:ext>
                  </a:extLst>
                </a:gridCol>
              </a:tblGrid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   q   r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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947831"/>
                  </a:ext>
                </a:extLst>
              </a:tr>
              <a:tr h="3451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1   1   1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78336"/>
                  </a:ext>
                </a:extLst>
              </a:tr>
            </a:tbl>
          </a:graphicData>
        </a:graphic>
      </p:graphicFrame>
      <p:sp>
        <p:nvSpPr>
          <p:cNvPr id="9" name="Rectangle 83">
            <a:extLst>
              <a:ext uri="{FF2B5EF4-FFF2-40B4-BE49-F238E27FC236}">
                <a16:creationId xmlns:a16="http://schemas.microsoft.com/office/drawing/2014/main" id="{A17F6B6C-1FED-43CA-BA34-FF3CCA0B0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3267" y="4185084"/>
            <a:ext cx="484299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:000,001,010,100,110; </a:t>
            </a: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:011,101,111</a:t>
            </a: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可满足式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4837CD-E8AD-41BB-8886-BB0E809C23CD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D42962-F91B-4D6E-B1DB-80A9143B3912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A380D-013A-4441-BFB0-77F6BCD303DF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6725BFF-ACCA-4ACD-8775-A19AA0EE3B5A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E407DB-445C-4C25-81DF-4204175C5091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670572-3754-4333-9C62-837D23E46098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6CACBA-32E4-4B20-9C8B-CE56296CF80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577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56B3CEAD-E087-45C5-B786-877C74A8B00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B0317A-10B7-4268-96C8-96478AB2BDDB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814721"/>
            <a:ext cx="11130492" cy="25193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例：写出下列公式的真值表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并求它们的成真赋值和成假赋值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600" dirty="0">
                <a:latin typeface="Times New Roman" panose="02020603050405020304" pitchFamily="18" charset="0"/>
              </a:rPr>
              <a:t>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(2) 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Group 97">
            <a:extLst>
              <a:ext uri="{FF2B5EF4-FFF2-40B4-BE49-F238E27FC236}">
                <a16:creationId xmlns:a16="http://schemas.microsoft.com/office/drawing/2014/main" id="{72115F3A-292E-4F97-A600-54E66CDBF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022225"/>
              </p:ext>
            </p:extLst>
          </p:nvPr>
        </p:nvGraphicFramePr>
        <p:xfrm>
          <a:off x="2133495" y="3173622"/>
          <a:ext cx="7561262" cy="231648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1346635490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369548174"/>
                    </a:ext>
                  </a:extLst>
                </a:gridCol>
                <a:gridCol w="2027237">
                  <a:extLst>
                    <a:ext uri="{9D8B030D-6E8A-4147-A177-3AD203B41FA5}">
                      <a16:colId xmlns:a16="http://schemas.microsoft.com/office/drawing/2014/main" val="1939823677"/>
                    </a:ext>
                  </a:extLst>
                </a:gridCol>
                <a:gridCol w="2320925">
                  <a:extLst>
                    <a:ext uri="{9D8B030D-6E8A-4147-A177-3AD203B41FA5}">
                      <a16:colId xmlns:a16="http://schemas.microsoft.com/office/drawing/2014/main" val="3037804205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)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)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56034"/>
                  </a:ext>
                </a:extLst>
              </a:tr>
              <a:tr h="1668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225118"/>
                  </a:ext>
                </a:extLst>
              </a:tr>
            </a:tbl>
          </a:graphicData>
        </a:graphic>
      </p:graphicFrame>
      <p:sp>
        <p:nvSpPr>
          <p:cNvPr id="10" name="Rectangle 7">
            <a:extLst>
              <a:ext uri="{FF2B5EF4-FFF2-40B4-BE49-F238E27FC236}">
                <a16:creationId xmlns:a16="http://schemas.microsoft.com/office/drawing/2014/main" id="{E913B2D3-DEDF-4504-B7D1-3AD35C4D8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495" y="5683291"/>
            <a:ext cx="51459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:00,01,10,11;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无成假赋值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3A747E-0CCF-4E84-AC22-4FD7F35B8A51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94A77B-F118-40C8-887D-165BC8BF91FE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307042-37D7-4033-A947-584441980FB6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97FA0E-C296-418C-8231-5E30B72F4734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E2260B-DD73-4974-BBCF-25AB21EA397A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818845-9B61-4FEC-A1F9-C854C844A0A0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8AC4D7-85E8-4490-B258-B5603C492BD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61575F-406A-A572-6908-32E109761151}"/>
              </a:ext>
            </a:extLst>
          </p:cNvPr>
          <p:cNvSpPr txBox="1"/>
          <p:nvPr/>
        </p:nvSpPr>
        <p:spPr>
          <a:xfrm>
            <a:off x="4037990" y="252729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注意</a:t>
            </a:r>
            <a:r>
              <a:rPr lang="en-US" altLang="zh-CN" dirty="0">
                <a:highlight>
                  <a:srgbClr val="FFFF00"/>
                </a:highlight>
              </a:rPr>
              <a:t>q</a:t>
            </a:r>
            <a:r>
              <a:rPr lang="zh-CN" altLang="en-US" dirty="0">
                <a:highlight>
                  <a:srgbClr val="FFFF00"/>
                </a:highlight>
              </a:rPr>
              <a:t>是前件</a:t>
            </a:r>
          </a:p>
        </p:txBody>
      </p:sp>
    </p:spTree>
    <p:extLst>
      <p:ext uri="{BB962C8B-B14F-4D97-AF65-F5344CB8AC3E}">
        <p14:creationId xmlns:p14="http://schemas.microsoft.com/office/powerpoint/2010/main" val="274228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56B3CEAD-E087-45C5-B786-877C74A8B00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B0317A-10B7-4268-96C8-96478AB2BDDB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740214"/>
            <a:ext cx="11130492" cy="14974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例：写出下列公式的真值表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并求它们的成真赋值和成假赋值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(3)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</a:p>
        </p:txBody>
      </p:sp>
      <p:graphicFrame>
        <p:nvGraphicFramePr>
          <p:cNvPr id="7" name="Group 86">
            <a:extLst>
              <a:ext uri="{FF2B5EF4-FFF2-40B4-BE49-F238E27FC236}">
                <a16:creationId xmlns:a16="http://schemas.microsoft.com/office/drawing/2014/main" id="{873AD151-C6A9-4BA8-8804-03EBBD10AAC1}"/>
              </a:ext>
            </a:extLst>
          </p:cNvPr>
          <p:cNvGraphicFramePr>
            <a:graphicFrameLocks noGrp="1"/>
          </p:cNvGraphicFramePr>
          <p:nvPr/>
        </p:nvGraphicFramePr>
        <p:xfrm>
          <a:off x="2038033" y="2892210"/>
          <a:ext cx="7488237" cy="2447926"/>
        </p:xfrm>
        <a:graphic>
          <a:graphicData uri="http://schemas.openxmlformats.org/drawingml/2006/table">
            <a:tbl>
              <a:tblPr/>
              <a:tblGrid>
                <a:gridCol w="1284287">
                  <a:extLst>
                    <a:ext uri="{9D8B030D-6E8A-4147-A177-3AD203B41FA5}">
                      <a16:colId xmlns:a16="http://schemas.microsoft.com/office/drawing/2014/main" val="2841495813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3544983173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364594270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580938206"/>
                    </a:ext>
                  </a:extLst>
                </a:gridCol>
                <a:gridCol w="2263775">
                  <a:extLst>
                    <a:ext uri="{9D8B030D-6E8A-4147-A177-3AD203B41FA5}">
                      <a16:colId xmlns:a16="http://schemas.microsoft.com/office/drawing/2014/main" val="2113862975"/>
                    </a:ext>
                  </a:extLst>
                </a:gridCol>
              </a:tblGrid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)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927026"/>
                  </a:ext>
                </a:extLst>
              </a:tr>
              <a:tr h="1890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174312"/>
                  </a:ext>
                </a:extLst>
              </a:tr>
            </a:tbl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98F466BA-CC07-499A-844F-26823241B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033" y="5601309"/>
            <a:ext cx="51459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:00,01,10,11;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无成真赋值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矛盾式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08E120-6045-46A4-B323-A21A4B271CC1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C97280-2753-45B4-8090-E601BFA3D414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323A07-E363-4081-8E59-8D8E6C12F2D6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91FC45-F04B-4663-A9DA-145619C7B941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1DF817-5E58-4C90-904B-0345D507B3F0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8F3FF3-E176-4D5B-9560-138CFCB614B8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439FAF-0B9D-4FAF-BA95-6A1560C20927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641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69F6EF-6EA6-4E2B-9D25-8F9A401DD37A}"/>
              </a:ext>
            </a:extLst>
          </p:cNvPr>
          <p:cNvSpPr txBox="1"/>
          <p:nvPr/>
        </p:nvSpPr>
        <p:spPr>
          <a:xfrm>
            <a:off x="554379" y="1563533"/>
            <a:ext cx="10171960" cy="521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请验证：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32">
            <a:extLst>
              <a:ext uri="{FF2B5EF4-FFF2-40B4-BE49-F238E27FC236}">
                <a16:creationId xmlns:a16="http://schemas.microsoft.com/office/drawing/2014/main" id="{C19DFC27-DCAC-439E-A13D-F22C1696029A}"/>
              </a:ext>
            </a:extLst>
          </p:cNvPr>
          <p:cNvGrpSpPr>
            <a:grpSpLocks/>
          </p:cNvGrpSpPr>
          <p:nvPr/>
        </p:nvGrpSpPr>
        <p:grpSpPr bwMode="auto">
          <a:xfrm>
            <a:off x="2322006" y="2322695"/>
            <a:ext cx="7210425" cy="4038600"/>
            <a:chOff x="425" y="1340"/>
            <a:chExt cx="4542" cy="2544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D5327F2F-E731-4A1E-A01B-97D3E17FD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1665"/>
              <a:ext cx="104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ABCDA390-0FBD-41DB-A40E-75FFB2D69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665"/>
              <a:ext cx="902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CF5D0559-827B-446E-AF03-2879852DB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" y="1665"/>
              <a:ext cx="63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7D7B9318-39C7-42DA-9A80-09D5D0EE9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665"/>
              <a:ext cx="998" cy="2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0   1   1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1   1   1 </a:t>
              </a: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1DE9827D-3153-485D-986F-15DE644BB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1344"/>
              <a:ext cx="114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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26D35708-2F7F-4BA9-A021-F922C936E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1D08CC21-A373-4B95-B1BB-64BC20F52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344"/>
              <a:ext cx="681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78585E1B-E39A-4C9E-A58E-F22185FC0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p   q   r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E57B77A5-EE0E-4808-BDAE-748FE45F2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8F4E6B41-307D-42C3-B96B-49F0AE4A4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4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5">
              <a:extLst>
                <a:ext uri="{FF2B5EF4-FFF2-40B4-BE49-F238E27FC236}">
                  <a16:creationId xmlns:a16="http://schemas.microsoft.com/office/drawing/2014/main" id="{21414E42-8DED-49D1-A972-122400BCC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3748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D0E24538-16FE-48FB-B5A7-2DE670B34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F8024F80-B2BB-4C28-8ACF-3B16AAB14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3C1C2EB6-1A53-4FBA-980C-8EC0D1D4B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9">
              <a:extLst>
                <a:ext uri="{FF2B5EF4-FFF2-40B4-BE49-F238E27FC236}">
                  <a16:creationId xmlns:a16="http://schemas.microsoft.com/office/drawing/2014/main" id="{E61C0773-958F-4D53-A2D4-50A726DCE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0">
              <a:extLst>
                <a:ext uri="{FF2B5EF4-FFF2-40B4-BE49-F238E27FC236}">
                  <a16:creationId xmlns:a16="http://schemas.microsoft.com/office/drawing/2014/main" id="{1DED9754-13C7-43BC-852D-A227D37C3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705C01F2-9141-4519-8BD9-CF55E1CC0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2">
              <a:extLst>
                <a:ext uri="{FF2B5EF4-FFF2-40B4-BE49-F238E27FC236}">
                  <a16:creationId xmlns:a16="http://schemas.microsoft.com/office/drawing/2014/main" id="{B0F6E1AF-9417-4596-A31B-19DF9B3F4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0596EAD5-1E80-48B7-B361-3B757B7A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340"/>
              <a:ext cx="68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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q</a:t>
              </a:r>
              <a:endPara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649BF578-1A82-445C-A35F-8480846AB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1661"/>
              <a:ext cx="726" cy="2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35" name="Line 29">
              <a:extLst>
                <a:ext uri="{FF2B5EF4-FFF2-40B4-BE49-F238E27FC236}">
                  <a16:creationId xmlns:a16="http://schemas.microsoft.com/office/drawing/2014/main" id="{D19D9621-28B0-4660-9F5D-50EC51B95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2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Rectangle 31">
            <a:extLst>
              <a:ext uri="{FF2B5EF4-FFF2-40B4-BE49-F238E27FC236}">
                <a16:creationId xmlns:a16="http://schemas.microsoft.com/office/drawing/2014/main" id="{6C53C938-F6C1-4931-B458-46B83A42E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546" y="6243260"/>
            <a:ext cx="48339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Times New Roman" panose="02020603050405020304" pitchFamily="18" charset="0"/>
              </a:rPr>
              <a:t> 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603050405020304" pitchFamily="18" charset="0"/>
              </a:rPr>
              <a:t>r 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3B8CCF3-25F4-4D36-961A-280F2983A3FF}"/>
              </a:ext>
            </a:extLst>
          </p:cNvPr>
          <p:cNvSpPr txBox="1"/>
          <p:nvPr/>
        </p:nvSpPr>
        <p:spPr>
          <a:xfrm>
            <a:off x="5019035" y="947093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7A1448-192B-4CCF-9872-78456C2B1E0D}"/>
              </a:ext>
            </a:extLst>
          </p:cNvPr>
          <p:cNvSpPr txBox="1"/>
          <p:nvPr/>
        </p:nvSpPr>
        <p:spPr>
          <a:xfrm>
            <a:off x="589280" y="955096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DEACB6D-8BFB-4233-B906-EC37FFDB1386}"/>
              </a:ext>
            </a:extLst>
          </p:cNvPr>
          <p:cNvSpPr txBox="1"/>
          <p:nvPr/>
        </p:nvSpPr>
        <p:spPr>
          <a:xfrm>
            <a:off x="10318547" y="955096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C35E4FA-007B-4DFA-AD89-CBD9255AF1B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543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69F6EF-6EA6-4E2B-9D25-8F9A401DD37A}"/>
              </a:ext>
            </a:extLst>
          </p:cNvPr>
          <p:cNvSpPr txBox="1"/>
          <p:nvPr/>
        </p:nvSpPr>
        <p:spPr>
          <a:xfrm>
            <a:off x="554379" y="1563533"/>
            <a:ext cx="10171960" cy="493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请验证：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r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0AFE5C65-6795-430F-AADD-C755E602419B}"/>
              </a:ext>
            </a:extLst>
          </p:cNvPr>
          <p:cNvGrpSpPr>
            <a:grpSpLocks/>
          </p:cNvGrpSpPr>
          <p:nvPr/>
        </p:nvGrpSpPr>
        <p:grpSpPr bwMode="auto">
          <a:xfrm>
            <a:off x="2428979" y="2325580"/>
            <a:ext cx="7210425" cy="4038600"/>
            <a:chOff x="425" y="1340"/>
            <a:chExt cx="4542" cy="2544"/>
          </a:xfrm>
        </p:grpSpPr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1C9BF59-780D-4EB6-AC78-4F91E0326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1665"/>
              <a:ext cx="104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9A7665A3-ADF7-4775-B3A4-9BDE5CD4C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665"/>
              <a:ext cx="902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F452D6DA-6E08-4011-A45F-79AFD31F8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" y="1665"/>
              <a:ext cx="63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55E115CF-C3EF-4DFE-9C41-06FF25CFA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665"/>
              <a:ext cx="998" cy="2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0   1   1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1   1   1 </a:t>
              </a:r>
            </a:p>
          </p:txBody>
        </p:sp>
        <p:sp>
          <p:nvSpPr>
            <p:cNvPr id="42" name="Rectangle 9">
              <a:extLst>
                <a:ext uri="{FF2B5EF4-FFF2-40B4-BE49-F238E27FC236}">
                  <a16:creationId xmlns:a16="http://schemas.microsoft.com/office/drawing/2014/main" id="{7EB19266-4C5B-475A-93C7-ED623DB54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1344"/>
              <a:ext cx="114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43" name="Rectangle 10">
              <a:extLst>
                <a:ext uri="{FF2B5EF4-FFF2-40B4-BE49-F238E27FC236}">
                  <a16:creationId xmlns:a16="http://schemas.microsoft.com/office/drawing/2014/main" id="{F89F642F-9424-46B8-B7C3-C56EE27E9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4" name="Rectangle 11">
              <a:extLst>
                <a:ext uri="{FF2B5EF4-FFF2-40B4-BE49-F238E27FC236}">
                  <a16:creationId xmlns:a16="http://schemas.microsoft.com/office/drawing/2014/main" id="{BC6BE323-2BBE-42A2-8C94-EE76F307B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344"/>
              <a:ext cx="681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45" name="Rectangle 12">
              <a:extLst>
                <a:ext uri="{FF2B5EF4-FFF2-40B4-BE49-F238E27FC236}">
                  <a16:creationId xmlns:a16="http://schemas.microsoft.com/office/drawing/2014/main" id="{D1736A4B-1958-4CDD-B379-37AD70D98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   q   r</a:t>
              </a:r>
            </a:p>
          </p:txBody>
        </p:sp>
        <p:sp>
          <p:nvSpPr>
            <p:cNvPr id="46" name="Line 13">
              <a:extLst>
                <a:ext uri="{FF2B5EF4-FFF2-40B4-BE49-F238E27FC236}">
                  <a16:creationId xmlns:a16="http://schemas.microsoft.com/office/drawing/2014/main" id="{7CFB3D06-0130-4A2F-A5E5-8797E3970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4">
              <a:extLst>
                <a:ext uri="{FF2B5EF4-FFF2-40B4-BE49-F238E27FC236}">
                  <a16:creationId xmlns:a16="http://schemas.microsoft.com/office/drawing/2014/main" id="{0689DE39-CC6F-4002-B76D-3209D1D59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4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5">
              <a:extLst>
                <a:ext uri="{FF2B5EF4-FFF2-40B4-BE49-F238E27FC236}">
                  <a16:creationId xmlns:a16="http://schemas.microsoft.com/office/drawing/2014/main" id="{D10BF31F-D2D3-47CA-A474-FB7F19A07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3748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id="{356CD69B-F58A-47F4-8FD2-6BE7CB1B8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7">
              <a:extLst>
                <a:ext uri="{FF2B5EF4-FFF2-40B4-BE49-F238E27FC236}">
                  <a16:creationId xmlns:a16="http://schemas.microsoft.com/office/drawing/2014/main" id="{6C3B102B-3D15-4C61-B735-B81F1A4C3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8">
              <a:extLst>
                <a:ext uri="{FF2B5EF4-FFF2-40B4-BE49-F238E27FC236}">
                  <a16:creationId xmlns:a16="http://schemas.microsoft.com/office/drawing/2014/main" id="{AFF3D4A4-E522-40DD-8832-84380BD35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9">
              <a:extLst>
                <a:ext uri="{FF2B5EF4-FFF2-40B4-BE49-F238E27FC236}">
                  <a16:creationId xmlns:a16="http://schemas.microsoft.com/office/drawing/2014/main" id="{77915ED7-C9B7-4265-AD5D-B8DC7AA98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0">
              <a:extLst>
                <a:ext uri="{FF2B5EF4-FFF2-40B4-BE49-F238E27FC236}">
                  <a16:creationId xmlns:a16="http://schemas.microsoft.com/office/drawing/2014/main" id="{8BE01345-D051-401B-849C-4D2D0FC5E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50E70A4F-9550-40D1-8FFC-FCA7B49DA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2">
              <a:extLst>
                <a:ext uri="{FF2B5EF4-FFF2-40B4-BE49-F238E27FC236}">
                  <a16:creationId xmlns:a16="http://schemas.microsoft.com/office/drawing/2014/main" id="{E1F01219-C274-4E74-BD6D-7CBEBAF5C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23">
              <a:extLst>
                <a:ext uri="{FF2B5EF4-FFF2-40B4-BE49-F238E27FC236}">
                  <a16:creationId xmlns:a16="http://schemas.microsoft.com/office/drawing/2014/main" id="{C752FF08-6CEA-41E9-A4C4-E9EC1D0AD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340"/>
              <a:ext cx="68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q</a:t>
              </a:r>
              <a:endPara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7" name="Rectangle 24">
              <a:extLst>
                <a:ext uri="{FF2B5EF4-FFF2-40B4-BE49-F238E27FC236}">
                  <a16:creationId xmlns:a16="http://schemas.microsoft.com/office/drawing/2014/main" id="{08860F22-305F-4C5E-BA53-AA527A227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1661"/>
              <a:ext cx="726" cy="2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0E16DD78-5417-4936-9021-EE27D85B4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2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" name="Rectangle 26">
            <a:extLst>
              <a:ext uri="{FF2B5EF4-FFF2-40B4-BE49-F238E27FC236}">
                <a16:creationId xmlns:a16="http://schemas.microsoft.com/office/drawing/2014/main" id="{2FF73793-2D6C-452B-9B4B-0B146BC05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930" y="6312640"/>
            <a:ext cx="5689600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不等值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4F43302-9B5B-4CED-B5B0-65A962EFA30D}"/>
              </a:ext>
            </a:extLst>
          </p:cNvPr>
          <p:cNvSpPr txBox="1"/>
          <p:nvPr/>
        </p:nvSpPr>
        <p:spPr>
          <a:xfrm>
            <a:off x="5019035" y="947093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D67B5BE-B0F3-4588-A182-937342359CE6}"/>
              </a:ext>
            </a:extLst>
          </p:cNvPr>
          <p:cNvSpPr txBox="1"/>
          <p:nvPr/>
        </p:nvSpPr>
        <p:spPr>
          <a:xfrm>
            <a:off x="589280" y="955096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149AE13-7724-4C0D-82E8-244046B5044A}"/>
              </a:ext>
            </a:extLst>
          </p:cNvPr>
          <p:cNvSpPr txBox="1"/>
          <p:nvPr/>
        </p:nvSpPr>
        <p:spPr>
          <a:xfrm>
            <a:off x="10318547" y="955096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CFFE59A-8588-42D7-8012-15002B343EE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679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95E7BA5-D1C6-471A-9AB6-9D9C780C1A49}"/>
              </a:ext>
            </a:extLst>
          </p:cNvPr>
          <p:cNvSpPr txBox="1">
            <a:spLocks noChangeArrowheads="1"/>
          </p:cNvSpPr>
          <p:nvPr/>
        </p:nvSpPr>
        <p:spPr>
          <a:xfrm>
            <a:off x="589280" y="1638291"/>
            <a:ext cx="7926388" cy="3124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（蕴涵等值式，置换规则）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（结合律，置换规则）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（德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摩根律，置换规则）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（蕴涵等值式，置换规则） 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D39AE31-2278-420C-85C8-F337F3A727AC}"/>
              </a:ext>
            </a:extLst>
          </p:cNvPr>
          <p:cNvSpPr txBox="1">
            <a:spLocks noChangeArrowheads="1"/>
          </p:cNvSpPr>
          <p:nvPr/>
        </p:nvSpPr>
        <p:spPr>
          <a:xfrm>
            <a:off x="443230" y="5136737"/>
            <a:ext cx="8218488" cy="141161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今后在注明中省去置换规则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注意：用等值演算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直接证明两个公式不等值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5E2B70-EAC8-4E18-BA62-89736FAD1D9D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FEB09F-14A0-4164-B021-52976459703E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C37904-66B2-4C41-9DAB-92DAFBC209B4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295190-3579-44CC-9D17-15F8A945D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225" y="2027013"/>
            <a:ext cx="3527531" cy="366586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AB58CA7-4149-45BA-9211-F836B75B7DF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608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CE23BD4-8C3D-44A9-BBB4-3D8F8FA1722F}"/>
              </a:ext>
            </a:extLst>
          </p:cNvPr>
          <p:cNvSpPr txBox="1">
            <a:spLocks noChangeArrowheads="1"/>
          </p:cNvSpPr>
          <p:nvPr/>
        </p:nvSpPr>
        <p:spPr>
          <a:xfrm>
            <a:off x="589280" y="1638291"/>
            <a:ext cx="11480799" cy="24032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例：证明两个公式不等值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不等值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方法一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真值表法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自行证明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4868492-E0DA-44B8-B7F6-D41D10D92250}"/>
              </a:ext>
            </a:extLst>
          </p:cNvPr>
          <p:cNvSpPr txBox="1">
            <a:spLocks noChangeArrowheads="1"/>
          </p:cNvSpPr>
          <p:nvPr/>
        </p:nvSpPr>
        <p:spPr>
          <a:xfrm>
            <a:off x="1104068" y="4093171"/>
            <a:ext cx="10783132" cy="7056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方法二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观察法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观察到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000, 010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是左边的成真赋值，是右边的成假赋值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23D151-DC45-43AE-B2C0-DA1614DADED3}"/>
              </a:ext>
            </a:extLst>
          </p:cNvPr>
          <p:cNvSpPr txBox="1">
            <a:spLocks noChangeArrowheads="1"/>
          </p:cNvSpPr>
          <p:nvPr/>
        </p:nvSpPr>
        <p:spPr>
          <a:xfrm>
            <a:off x="1104066" y="4936182"/>
            <a:ext cx="10980189" cy="15495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先用等值演算化简公式，然后再观察</a:t>
            </a:r>
          </a:p>
          <a:p>
            <a:pPr marL="0" indent="0">
              <a:buNone/>
            </a:pPr>
            <a:r>
              <a:rPr lang="zh-CN" altLang="en-US" b="1" i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 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</a:p>
          <a:p>
            <a:pPr marL="0" indent="0">
              <a:buNone/>
            </a:pPr>
            <a:r>
              <a:rPr lang="en-US" altLang="zh-CN" sz="2600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(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(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更容易判断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88C015-BA33-4531-B196-EEF7C41072B0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85028F-8E3A-48C3-A78B-4311476EAE8F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C3040E-77FC-40BB-8646-6DD4A0E3C595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2CB7C1-AE15-485C-8341-8581A55BC70E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002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54EEF3-775B-425F-99E4-65BF178FA678}"/>
              </a:ext>
            </a:extLst>
          </p:cNvPr>
          <p:cNvSpPr txBox="1">
            <a:spLocks noChangeArrowheads="1"/>
          </p:cNvSpPr>
          <p:nvPr/>
        </p:nvSpPr>
        <p:spPr>
          <a:xfrm>
            <a:off x="644175" y="1604859"/>
            <a:ext cx="9102653" cy="2362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判断公式类型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为矛盾式当且仅当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	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为重言式当且仅当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</a:p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例：用等值演算法判断下列公式的类型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 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9A5FA08B-0C01-4908-AE85-010EDAF8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056" y="3613660"/>
            <a:ext cx="8497888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（德摩根律）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（交换律，结合律）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0        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（矛盾律）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0            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（零律）</a:t>
            </a: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该式为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矛盾式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125638-20E8-4884-AF7E-8C63148E26C3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EE9027-983D-4A13-850A-B362E7E50047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583BD1-1949-4FE7-B5DA-8B0C2ADD90E6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7FD35B-6847-45E0-8F6E-5782E0948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898" y="1718660"/>
            <a:ext cx="3473952" cy="404978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3C3F021-9334-4C3A-AFD3-A556EEE8D61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340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54EEF3-775B-425F-99E4-65BF178FA678}"/>
              </a:ext>
            </a:extLst>
          </p:cNvPr>
          <p:cNvSpPr txBox="1">
            <a:spLocks noChangeArrowheads="1"/>
          </p:cNvSpPr>
          <p:nvPr/>
        </p:nvSpPr>
        <p:spPr>
          <a:xfrm>
            <a:off x="644175" y="1604859"/>
            <a:ext cx="9102653" cy="2362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例：用等值演算法判断下列公式的类型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55C7B52-8F95-45CC-894B-80B036057DFF}"/>
              </a:ext>
            </a:extLst>
          </p:cNvPr>
          <p:cNvSpPr txBox="1">
            <a:spLocks noChangeArrowheads="1"/>
          </p:cNvSpPr>
          <p:nvPr/>
        </p:nvSpPr>
        <p:spPr>
          <a:xfrm>
            <a:off x="1463039" y="2279613"/>
            <a:ext cx="7841505" cy="519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4981977-C144-40B4-AC47-F923CF9644B1}"/>
              </a:ext>
            </a:extLst>
          </p:cNvPr>
          <p:cNvSpPr txBox="1">
            <a:spLocks noChangeArrowheads="1"/>
          </p:cNvSpPr>
          <p:nvPr/>
        </p:nvSpPr>
        <p:spPr>
          <a:xfrm>
            <a:off x="1331011" y="3064082"/>
            <a:ext cx="7841505" cy="29735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（蕴涵等值式）  </a:t>
            </a:r>
          </a:p>
          <a:p>
            <a:pPr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（交换律）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由最后一步可知，该式为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25B601-ACF0-41B2-941B-3164CBEE08F1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9CAF08-B8CB-44E5-9EB7-BB05973E9D1A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9FDB1FB-2A08-4C7C-B684-A8E83373D55D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C952ED1-9A41-4303-9A3E-BFD7E4EA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099" y="1677364"/>
            <a:ext cx="3473952" cy="404978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AD3EDCA-FE8B-4E21-88B5-BD159CF0DA4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440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54EEF3-775B-425F-99E4-65BF178FA678}"/>
              </a:ext>
            </a:extLst>
          </p:cNvPr>
          <p:cNvSpPr txBox="1">
            <a:spLocks noChangeArrowheads="1"/>
          </p:cNvSpPr>
          <p:nvPr/>
        </p:nvSpPr>
        <p:spPr>
          <a:xfrm>
            <a:off x="644175" y="1604859"/>
            <a:ext cx="9102653" cy="493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例：用等值演算法判断下列公式的类型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1BFF279-16B2-4A8B-9809-CC486792C3A6}"/>
              </a:ext>
            </a:extLst>
          </p:cNvPr>
          <p:cNvSpPr txBox="1">
            <a:spLocks noChangeArrowheads="1"/>
          </p:cNvSpPr>
          <p:nvPr/>
        </p:nvSpPr>
        <p:spPr>
          <a:xfrm>
            <a:off x="1305137" y="2106227"/>
            <a:ext cx="9586138" cy="4625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E5FE35CE-754B-4454-A0FC-BB55903A4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75" y="5810750"/>
            <a:ext cx="102471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为矛盾式当且仅当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为重言式当且仅当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说明：演算步骤不唯一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应尽量使演算短些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EA3321-0764-490E-A1CE-C8F48A3E4F3D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856D30-94C0-4261-9186-D1BF6880FBDC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FD6B7B-E78F-4ECB-8C0B-E61808E8B611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4608B82-8DBB-4F84-AE8C-7D6502110AAC}"/>
              </a:ext>
            </a:extLst>
          </p:cNvPr>
          <p:cNvSpPr txBox="1">
            <a:spLocks noChangeArrowheads="1"/>
          </p:cNvSpPr>
          <p:nvPr/>
        </p:nvSpPr>
        <p:spPr>
          <a:xfrm>
            <a:off x="1171786" y="2685286"/>
            <a:ext cx="9586138" cy="35312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（分配律）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（排中律）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（同一律）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这不是矛盾式，也不是重言式，而是非重言式的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可满足式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是它的成真赋值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,000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是它的成假赋值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4D85A5-D5DA-4087-84DD-B015DD57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191" y="1763907"/>
            <a:ext cx="2908842" cy="3391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628C131-EA41-4D3D-B034-F64FA0128F2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62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E31823F-5920-4838-9A36-2F7D28EEFC38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825202"/>
            <a:ext cx="11332210" cy="1114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求下列公式的析取范式与合取范式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C143177-08BA-483D-A911-C0B2DE70AAA9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3036685"/>
            <a:ext cx="7337707" cy="16044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（消去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（结合律）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04D1438-6DBE-42EB-B472-00FE83DE6187}"/>
              </a:ext>
            </a:extLst>
          </p:cNvPr>
          <p:cNvSpPr txBox="1">
            <a:spLocks noChangeArrowheads="1"/>
          </p:cNvSpPr>
          <p:nvPr/>
        </p:nvSpPr>
        <p:spPr>
          <a:xfrm>
            <a:off x="494030" y="5077851"/>
            <a:ext cx="11332210" cy="11811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这既是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的析取范式（由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个简单合取式组成的析取式）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又是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的合取范式（由一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个简单析取式组成的合取式）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9D8282-B071-4EE8-AA2C-F0602BA01FF9}"/>
              </a:ext>
            </a:extLst>
          </p:cNvPr>
          <p:cNvSpPr txBox="1"/>
          <p:nvPr/>
        </p:nvSpPr>
        <p:spPr>
          <a:xfrm>
            <a:off x="485775" y="953265"/>
            <a:ext cx="2526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B074A27-ED07-41BE-A8F7-95602C197A42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12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50FAA24-62BD-4957-A7C6-053DA98A33E7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61463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972A57-563E-4D37-9F8D-4B74E6970E4D}"/>
              </a:ext>
            </a:extLst>
          </p:cNvPr>
          <p:cNvSpPr txBox="1"/>
          <p:nvPr/>
        </p:nvSpPr>
        <p:spPr>
          <a:xfrm>
            <a:off x="8832427" y="947973"/>
            <a:ext cx="3125935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C4EF52-C3BD-4342-8EF8-36F7386B27D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749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485775" y="953265"/>
            <a:ext cx="2526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D12ECD5-1FCA-44D4-B813-F4180BDA4752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12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61463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极小项与极大项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217B2F-3DF7-4AE9-9E14-92D596747B8B}"/>
              </a:ext>
            </a:extLst>
          </p:cNvPr>
          <p:cNvSpPr txBox="1"/>
          <p:nvPr/>
        </p:nvSpPr>
        <p:spPr>
          <a:xfrm>
            <a:off x="8832427" y="947973"/>
            <a:ext cx="3125935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0537D2C-550B-41E7-8F8E-3C78B9422E1C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557338"/>
            <a:ext cx="10491787" cy="4573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900D289-531D-4951-8FD7-0ACD275078AD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2249418"/>
            <a:ext cx="10491787" cy="2708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（消去第一个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（消去第二个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（否定号内移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德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摩根律）</a:t>
            </a:r>
          </a:p>
          <a:p>
            <a:pPr algn="just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这一步已为析取范式（两个简单合取式构成）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ABD306D-BC10-4F09-AF39-AC0071B7C9B9}"/>
              </a:ext>
            </a:extLst>
          </p:cNvPr>
          <p:cNvSpPr txBox="1">
            <a:spLocks noChangeArrowheads="1"/>
          </p:cNvSpPr>
          <p:nvPr/>
        </p:nvSpPr>
        <p:spPr>
          <a:xfrm>
            <a:off x="663272" y="5048820"/>
            <a:ext cx="10491787" cy="17102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继续：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分配律）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这一步得到合取范式（由两个简单析取式构成）</a:t>
            </a:r>
            <a:r>
              <a:rPr lang="zh-CN" altLang="en-US" b="1" dirty="0"/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8AD690-5F08-490E-B6D3-67BDDC8AB4C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961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602827" y="1458914"/>
            <a:ext cx="9286240" cy="7817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求公式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的主析取范式和主合取范式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C8A21E4-74F9-4ABC-AAB3-593D9B9C2B85}"/>
              </a:ext>
            </a:extLst>
          </p:cNvPr>
          <p:cNvSpPr txBox="1">
            <a:spLocks noChangeArrowheads="1"/>
          </p:cNvSpPr>
          <p:nvPr/>
        </p:nvSpPr>
        <p:spPr>
          <a:xfrm>
            <a:off x="1231041" y="1959847"/>
            <a:ext cx="9286240" cy="23538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（析取范式）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endParaRPr lang="en-US" altLang="zh-CN" sz="2400" b="1" i="1" dirty="0">
              <a:solidFill>
                <a:srgbClr val="99267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	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996BD87-F6C5-43FD-863E-C7D9E60D75F8}"/>
              </a:ext>
            </a:extLst>
          </p:cNvPr>
          <p:cNvSpPr txBox="1">
            <a:spLocks noChangeArrowheads="1"/>
          </p:cNvSpPr>
          <p:nvPr/>
        </p:nvSpPr>
        <p:spPr>
          <a:xfrm>
            <a:off x="1304281" y="4466046"/>
            <a:ext cx="6876458" cy="1725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	 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54C0593-01BC-4514-852D-A9530DF527C6}"/>
              </a:ext>
            </a:extLst>
          </p:cNvPr>
          <p:cNvSpPr txBox="1">
            <a:spLocks noChangeArrowheads="1"/>
          </p:cNvSpPr>
          <p:nvPr/>
        </p:nvSpPr>
        <p:spPr>
          <a:xfrm>
            <a:off x="1840589" y="6103971"/>
            <a:ext cx="9286240" cy="7817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②, 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代入①并排序，得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m1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m3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m5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m6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m7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（主析取范式）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4444A2-B208-47DA-8A68-1D1E83E5ECB9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B93E7D7-E4B0-4914-9283-58B944EA3F43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F45766F6-D255-4C0C-A8D9-3476647016FF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D77C3A-6FD2-4C09-AAFA-FA6DECCC4A7E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76B491B-BDAB-4ABA-B303-5884C95E554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43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76781" y="1703831"/>
            <a:ext cx="5919111" cy="9746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（合取范式） </a:t>
            </a:r>
            <a:r>
              <a:rPr lang="zh-CN" altLang="en-US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</a:p>
          <a:p>
            <a:pPr marL="0" indent="0">
              <a:buNone/>
            </a:pP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54E7D4-0A11-4065-B620-6FF9ACEF5AF2}"/>
              </a:ext>
            </a:extLst>
          </p:cNvPr>
          <p:cNvSpPr txBox="1">
            <a:spLocks noChangeArrowheads="1"/>
          </p:cNvSpPr>
          <p:nvPr/>
        </p:nvSpPr>
        <p:spPr>
          <a:xfrm>
            <a:off x="6091109" y="1666920"/>
            <a:ext cx="4983771" cy="2330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</a:p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⑤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2ECE92B-876D-4FC3-BC1E-7AEFCAEF61EE}"/>
              </a:ext>
            </a:extLst>
          </p:cNvPr>
          <p:cNvSpPr txBox="1">
            <a:spLocks noChangeArrowheads="1"/>
          </p:cNvSpPr>
          <p:nvPr/>
        </p:nvSpPr>
        <p:spPr>
          <a:xfrm>
            <a:off x="257963" y="3560910"/>
            <a:ext cx="4538753" cy="2944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A927CB3-D401-427E-B558-8C7B1B6D0D01}"/>
              </a:ext>
            </a:extLst>
          </p:cNvPr>
          <p:cNvSpPr txBox="1">
            <a:spLocks noChangeArrowheads="1"/>
          </p:cNvSpPr>
          <p:nvPr/>
        </p:nvSpPr>
        <p:spPr>
          <a:xfrm>
            <a:off x="4796716" y="4378952"/>
            <a:ext cx="7369689" cy="9746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⑤, ⑥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代入④ 并排序，得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（主合取范式）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ACE927-D565-4DA5-B4F5-72F1A0452A91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3C71C95-8BE4-4609-87D1-E20C29FF80A9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6A4AF9E-8F45-42C6-8AA5-A1708CDFB73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2AE364-05C6-421F-868D-5E31260C324D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D8A587-B4E7-46DD-A98A-22561FC2BEF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945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6094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A51CB7D-DB65-4B28-9D40-C2F64EF679D2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2098193"/>
            <a:ext cx="11631718" cy="11556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用主析取范式判断公式的类型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spcBef>
                <a:spcPct val="4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sz="2600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054EFA2-1137-4194-9D64-8D819DE7D489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3321794"/>
            <a:ext cx="11631718" cy="5675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0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矛盾式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72E6DEF-4408-4071-ACD5-5C78364F9A5D}"/>
              </a:ext>
            </a:extLst>
          </p:cNvPr>
          <p:cNvSpPr txBox="1">
            <a:spLocks noChangeArrowheads="1"/>
          </p:cNvSpPr>
          <p:nvPr/>
        </p:nvSpPr>
        <p:spPr>
          <a:xfrm>
            <a:off x="401132" y="4145549"/>
            <a:ext cx="11631718" cy="711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(2)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 1 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重言式</a:t>
            </a:r>
          </a:p>
          <a:p>
            <a:pPr marL="0" indent="0">
              <a:spcBef>
                <a:spcPct val="6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1F4B8BC-835B-4E51-98D3-F5A89713CFEF}"/>
              </a:ext>
            </a:extLst>
          </p:cNvPr>
          <p:cNvSpPr txBox="1">
            <a:spLocks noChangeArrowheads="1"/>
          </p:cNvSpPr>
          <p:nvPr/>
        </p:nvSpPr>
        <p:spPr>
          <a:xfrm>
            <a:off x="453660" y="5035603"/>
            <a:ext cx="11631718" cy="1448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(3)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</a:p>
          <a:p>
            <a:pPr marL="0" indent="0">
              <a:spcBef>
                <a:spcPct val="400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(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ct val="4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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非重言式的可满足式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2B83A5-D49D-416B-8E58-A27D35B9E237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ABA7021-74CF-4F07-BE54-9EC0F5BDDBE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4AFD75F-74AE-4499-9F4F-2AA32C477CD4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AA6235-A327-4DC9-8DE2-1AB20200DCAB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70600D-6B66-4878-A534-3E9046B4B01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7D7F980-E17C-D6F4-F358-9E0E66BD3371}"/>
              </a:ext>
            </a:extLst>
          </p:cNvPr>
          <p:cNvSpPr txBox="1"/>
          <p:nvPr/>
        </p:nvSpPr>
        <p:spPr>
          <a:xfrm>
            <a:off x="5640019" y="1766631"/>
            <a:ext cx="3767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先化简，一般矛盾式或重言式可以直接出结果（</a:t>
            </a:r>
            <a:r>
              <a:rPr lang="en-US" altLang="zh-CN" dirty="0"/>
              <a:t>0/1</a:t>
            </a:r>
            <a:r>
              <a:rPr lang="zh-CN" altLang="en-US" dirty="0"/>
              <a:t>），其他的需要进一步地化为主析取范式</a:t>
            </a:r>
          </a:p>
        </p:txBody>
      </p:sp>
    </p:spTree>
    <p:extLst>
      <p:ext uri="{BB962C8B-B14F-4D97-AF65-F5344CB8AC3E}">
        <p14:creationId xmlns:p14="http://schemas.microsoft.com/office/powerpoint/2010/main" val="193686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AD32645-5E25-497E-B150-E1264726952B}"/>
              </a:ext>
            </a:extLst>
          </p:cNvPr>
          <p:cNvSpPr txBox="1">
            <a:spLocks noChangeArrowheads="1"/>
          </p:cNvSpPr>
          <p:nvPr/>
        </p:nvSpPr>
        <p:spPr>
          <a:xfrm>
            <a:off x="602826" y="2069841"/>
            <a:ext cx="9516533" cy="21702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判断两个公式是否等值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用主析取范式判以下每一组公式是否等值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⑴ 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⑵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185C278-EC78-4890-9785-BD45F38EB69B}"/>
              </a:ext>
            </a:extLst>
          </p:cNvPr>
          <p:cNvSpPr txBox="1">
            <a:spLocks noChangeArrowheads="1"/>
          </p:cNvSpPr>
          <p:nvPr/>
        </p:nvSpPr>
        <p:spPr>
          <a:xfrm>
            <a:off x="602826" y="4429367"/>
            <a:ext cx="7273218" cy="21702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7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7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7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4EA7BF8-B885-4427-A8BB-85F08150E688}"/>
              </a:ext>
            </a:extLst>
          </p:cNvPr>
          <p:cNvSpPr txBox="1">
            <a:spLocks noChangeArrowheads="1"/>
          </p:cNvSpPr>
          <p:nvPr/>
        </p:nvSpPr>
        <p:spPr>
          <a:xfrm>
            <a:off x="1268793" y="6254664"/>
            <a:ext cx="9516533" cy="587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显见，⑴中的两公式等值，而⑵的不等值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6BCDDE-9373-422C-AAC9-0B247D8052D3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FA55F0D-80E6-4D64-AD80-9F086DCFB92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0C59BB0-7C7E-4616-AE3D-4A249674BEF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E46505-FD40-496F-ADFF-AE998355185C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176711-A175-4E0A-987F-1CC793474FE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4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486212" y="1612632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881108C-17D9-468F-8F8B-7BA57E476875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2235018"/>
            <a:ext cx="11211772" cy="44785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解实际问题</a:t>
            </a:r>
          </a:p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 某公司要从赵、钱、孙、李、周五名新毕业的大学生中选派一些人出国学习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选派必须满足以下条件：  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若赵去，钱也去；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李、周两人中至少有一人去；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钱、孙两人中有一人去且仅去一人；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孙、李两人同去或同不去；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若周去，则赵、钱也去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试用主析取范式法分析该公司如何选派他们出国？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EB75007-C904-4007-A62B-1C375F148F96}"/>
              </a:ext>
            </a:extLst>
          </p:cNvPr>
          <p:cNvSpPr txBox="1">
            <a:spLocks noChangeArrowheads="1"/>
          </p:cNvSpPr>
          <p:nvPr/>
        </p:nvSpPr>
        <p:spPr>
          <a:xfrm>
            <a:off x="7772401" y="3382065"/>
            <a:ext cx="4419600" cy="2824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解此类问题的步骤为：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将简单命题符号化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写出各复合命题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③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写出由②中复合命题组成的合取式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④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求③中所得公式的主析取范式 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9EC430-72EC-4ED8-B709-057FEBF5A0A2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6F33495-184B-47D0-9F80-4354F11F1F95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B5AB89F-35C0-459F-8AB3-C2CB9C54A889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4F270-1140-43B7-933D-1B07CCDEDB0B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54E80F-6527-450E-B191-11895324E69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33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4075533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881108C-17D9-468F-8F8B-7BA57E476875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2069841"/>
            <a:ext cx="11211772" cy="44785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解实际问题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6CB34AE-CF42-4C60-944E-A3AC36C0F41D}"/>
              </a:ext>
            </a:extLst>
          </p:cNvPr>
          <p:cNvSpPr txBox="1">
            <a:spLocks noChangeArrowheads="1"/>
          </p:cNvSpPr>
          <p:nvPr/>
        </p:nvSpPr>
        <p:spPr>
          <a:xfrm>
            <a:off x="4750960" y="1608960"/>
            <a:ext cx="7032735" cy="4876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① 设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派赵去，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派钱去，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派孙去，</a:t>
            </a:r>
            <a:r>
              <a:rPr lang="zh-CN" altLang="en-US" b="1" dirty="0">
                <a:latin typeface="宋体" panose="02010600030101010101" pitchFamily="2" charset="-122"/>
              </a:rPr>
              <a:t> 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派李去，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派周去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 (1)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en-US" altLang="zh-CN" sz="2600" b="1" dirty="0">
                <a:latin typeface="Times New Roman" panose="02020603050405020304" pitchFamily="18" charset="0"/>
              </a:rPr>
              <a:t>((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(4) </a:t>
            </a:r>
            <a:r>
              <a:rPr lang="en-US" altLang="zh-CN" sz="2600" b="1" dirty="0">
                <a:latin typeface="Times New Roman" panose="02020603050405020304" pitchFamily="18" charset="0"/>
              </a:rPr>
              <a:t>((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(5)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~ (5)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构成的合取式为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</a:rPr>
              <a:t>=(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dirty="0">
                <a:latin typeface="Times New Roman" panose="02020603050405020304" pitchFamily="18" charset="0"/>
              </a:rPr>
              <a:t>((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     ((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92819E-91C4-4D3C-A716-9DE8C0520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3" y="2912299"/>
            <a:ext cx="4364197" cy="215447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1AFE126-650D-46ED-8CFB-75417383CF48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614F3BE-A375-4354-A1BA-71B6EC629830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458E213-239A-4D5C-91B7-5026E98A6C8E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392574-7B4F-4B23-9DF1-EF0F17355904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31A95F-40FC-40B5-BCA1-9666E5F61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713" y="2638917"/>
            <a:ext cx="3213366" cy="136258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1444880-F01D-4047-9C7D-B91C8F1D1C44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809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467188" y="1665949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A31089F-3C55-43E1-BDCC-33F798174CBF}"/>
              </a:ext>
            </a:extLst>
          </p:cNvPr>
          <p:cNvSpPr txBox="1">
            <a:spLocks noChangeArrowheads="1"/>
          </p:cNvSpPr>
          <p:nvPr/>
        </p:nvSpPr>
        <p:spPr>
          <a:xfrm>
            <a:off x="233921" y="2310662"/>
            <a:ext cx="10628636" cy="46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④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E35ADAD-5109-4077-98BE-8888CA48F97A}"/>
              </a:ext>
            </a:extLst>
          </p:cNvPr>
          <p:cNvSpPr txBox="1">
            <a:spLocks noChangeArrowheads="1"/>
          </p:cNvSpPr>
          <p:nvPr/>
        </p:nvSpPr>
        <p:spPr>
          <a:xfrm>
            <a:off x="488450" y="2994992"/>
            <a:ext cx="11033231" cy="8943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结论：由④可知，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的成真赋值为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00110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11001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，因而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派孙、李去（赵、钱、周不去）或派赵、钱、周去（孙、李不去）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D953777-20F2-4D99-8072-1EC8B3132E38}"/>
              </a:ext>
            </a:extLst>
          </p:cNvPr>
          <p:cNvSpPr txBox="1">
            <a:spLocks noChangeArrowheads="1"/>
          </p:cNvSpPr>
          <p:nvPr/>
        </p:nvSpPr>
        <p:spPr>
          <a:xfrm>
            <a:off x="486751" y="4222577"/>
            <a:ext cx="11033231" cy="26190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的演算过程如下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（交换律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6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（分配律）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814145-CBE6-4261-B760-72741BC422CD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DC4BBD9-308C-4CC7-982E-76FB1B35D04B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E02727-2143-4AC4-8459-EB0FC543A20F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7B0111-D437-4084-B348-D6974D4F4B02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4ECB4B-1FDC-4E8C-A065-6F98C1254707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AF51D5-E063-E3A8-FB94-E5B1EF6DC7A7}"/>
              </a:ext>
            </a:extLst>
          </p:cNvPr>
          <p:cNvSpPr txBox="1"/>
          <p:nvPr/>
        </p:nvSpPr>
        <p:spPr>
          <a:xfrm>
            <a:off x="9209836" y="4476901"/>
            <a:ext cx="170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分块计算</a:t>
            </a:r>
          </a:p>
        </p:txBody>
      </p:sp>
    </p:spTree>
    <p:extLst>
      <p:ext uri="{BB962C8B-B14F-4D97-AF65-F5344CB8AC3E}">
        <p14:creationId xmlns:p14="http://schemas.microsoft.com/office/powerpoint/2010/main" val="366560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F02F5CD-A3BD-4D08-AD2F-4D735EB8C3D7}"/>
              </a:ext>
            </a:extLst>
          </p:cNvPr>
          <p:cNvSpPr txBox="1">
            <a:spLocks noChangeArrowheads="1"/>
          </p:cNvSpPr>
          <p:nvPr/>
        </p:nvSpPr>
        <p:spPr>
          <a:xfrm>
            <a:off x="602827" y="1989678"/>
            <a:ext cx="10498666" cy="1469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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  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（分配律）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DC7B01-33BE-4C22-90E3-9D2640139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373" y="1455679"/>
            <a:ext cx="5254668" cy="1281928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039B9A82-7E0F-4DDF-9ECF-7BC99A2470A5}"/>
              </a:ext>
            </a:extLst>
          </p:cNvPr>
          <p:cNvSpPr txBox="1">
            <a:spLocks noChangeArrowheads="1"/>
          </p:cNvSpPr>
          <p:nvPr/>
        </p:nvSpPr>
        <p:spPr>
          <a:xfrm>
            <a:off x="681766" y="3511859"/>
            <a:ext cx="10498666" cy="941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15A2B86-2A99-497D-85A2-80ADDDFD33C1}"/>
              </a:ext>
            </a:extLst>
          </p:cNvPr>
          <p:cNvSpPr txBox="1">
            <a:spLocks noChangeArrowheads="1"/>
          </p:cNvSpPr>
          <p:nvPr/>
        </p:nvSpPr>
        <p:spPr>
          <a:xfrm>
            <a:off x="651626" y="5231486"/>
            <a:ext cx="10498666" cy="6371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113FCA7-8524-4A12-A37E-8B00C4242350}"/>
              </a:ext>
            </a:extLst>
          </p:cNvPr>
          <p:cNvSpPr txBox="1">
            <a:spLocks noChangeArrowheads="1"/>
          </p:cNvSpPr>
          <p:nvPr/>
        </p:nvSpPr>
        <p:spPr>
          <a:xfrm>
            <a:off x="645276" y="4543597"/>
            <a:ext cx="10363706" cy="513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再令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2474B2D-B88D-4B63-A76F-C70DDBCFE2EC}"/>
              </a:ext>
            </a:extLst>
          </p:cNvPr>
          <p:cNvSpPr txBox="1">
            <a:spLocks noChangeArrowheads="1"/>
          </p:cNvSpPr>
          <p:nvPr/>
        </p:nvSpPr>
        <p:spPr>
          <a:xfrm>
            <a:off x="679396" y="5922690"/>
            <a:ext cx="10498666" cy="10241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注意：在以上演算中多次用矛盾律</a:t>
            </a:r>
          </a:p>
          <a:p>
            <a:pPr algn="just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要求：自己演算一遍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47B456-D88E-433B-8B31-2D4F2BB90FBA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66B82C6-92C4-481D-B5D7-C7C592EA0A20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C73C2F7-5628-4F9F-B61E-9B8F8B690786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AE0AE46-6C53-498E-AEEB-58AC55E51A07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16F7F9-C9E6-4C4D-A4CF-E0B6AD87B2D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58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45161" y="1758098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881108C-17D9-468F-8F8B-7BA57E476875}"/>
              </a:ext>
            </a:extLst>
          </p:cNvPr>
          <p:cNvSpPr txBox="1">
            <a:spLocks noChangeArrowheads="1"/>
          </p:cNvSpPr>
          <p:nvPr/>
        </p:nvSpPr>
        <p:spPr>
          <a:xfrm>
            <a:off x="450335" y="2339195"/>
            <a:ext cx="11211772" cy="15052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某单位要从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A,B,C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三人中选派若干人出国考察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需满足下述条件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必须去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不能去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(3) 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必须去一人且只能去一人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问有几种可能的选派方案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CE04684-E7E5-4D43-9AD6-39055F0A0B43}"/>
              </a:ext>
            </a:extLst>
          </p:cNvPr>
          <p:cNvSpPr txBox="1">
            <a:spLocks noChangeArrowheads="1"/>
          </p:cNvSpPr>
          <p:nvPr/>
        </p:nvSpPr>
        <p:spPr>
          <a:xfrm>
            <a:off x="469385" y="4103735"/>
            <a:ext cx="11211772" cy="2345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记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,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,   (3)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求下式的成真赋值</a:t>
            </a:r>
          </a:p>
          <a:p>
            <a:pPr marL="0" indent="0">
              <a:buNone/>
            </a:pPr>
            <a:r>
              <a:rPr lang="zh-CN" altLang="en-US" i="1" dirty="0">
                <a:latin typeface="Times New Roman" panose="02020603050405020304" pitchFamily="18" charset="0"/>
              </a:rPr>
              <a:t>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=(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73FFB7-7A68-49CA-9DEE-C09A8766B4B9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70C57BE-56F1-4E24-B1BB-8C4BD57694A7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71DD8A2-3E5B-4EAA-8CB9-524656BD02F8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F978CD-ECD8-492F-9E26-C73DE5F6E9BD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224151-6B93-4AEC-8E19-9B8B8674017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76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44896F6-5E36-4510-9334-4186ADCEF32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2138691"/>
            <a:ext cx="10480252" cy="9664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</a:t>
            </a:r>
          </a:p>
          <a:p>
            <a:pPr marL="0" indent="0" algn="just">
              <a:buNone/>
            </a:pPr>
            <a:r>
              <a:rPr lang="zh-CN" altLang="en-US" i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=(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D638CB-3333-492E-849E-1E7BCA2F1C06}"/>
              </a:ext>
            </a:extLst>
          </p:cNvPr>
          <p:cNvSpPr txBox="1"/>
          <p:nvPr/>
        </p:nvSpPr>
        <p:spPr>
          <a:xfrm>
            <a:off x="1076960" y="63663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None/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B1724D-D516-4412-B840-A1D968178AC8}"/>
              </a:ext>
            </a:extLst>
          </p:cNvPr>
          <p:cNvSpPr txBox="1"/>
          <p:nvPr/>
        </p:nvSpPr>
        <p:spPr>
          <a:xfrm>
            <a:off x="5004540" y="5752713"/>
            <a:ext cx="3435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:101,010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4C0B8BF-51F7-481E-9A1F-0ED25907130F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3086026"/>
            <a:ext cx="8636213" cy="6286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B429014-CABE-4806-9AD4-6D815860E3F9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3578661"/>
            <a:ext cx="10716049" cy="5363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42ED738-D99F-4CD8-8CF1-3B7CFB89819E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4106366"/>
            <a:ext cx="11031573" cy="15402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E293CB4-5591-4212-8C6E-5C101E2185BB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5698076"/>
            <a:ext cx="4794038" cy="508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  </a:t>
            </a:r>
            <a:r>
              <a:rPr lang="en-US" altLang="zh-CN" sz="2400" dirty="0">
                <a:latin typeface="Times New Roman" panose="02020603050405020304" pitchFamily="18" charset="0"/>
              </a:rPr>
              <a:t>                 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30E08E-D908-4758-BDB8-BF6970C908FC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778DF1E-2185-4CDF-AE5F-064D74ECB85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0ED07232-ED43-45EA-A813-44EDB1E3A8A3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98BB62-CF45-4931-811C-CAE3E06645FE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3C0AB2-0CBB-4790-8E45-05E667FA877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700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1" grpId="0"/>
      <p:bldP spid="12" grpId="0"/>
      <p:bldP spid="16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D12ECD5-1FCA-44D4-B813-F4180BDA4752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217B2F-3DF7-4AE9-9E14-92D596747B8B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488453" y="1609247"/>
            <a:ext cx="9286240" cy="400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用成真赋值和成假赋值确定主范式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456EF61-3CAE-4A66-B8DD-EC2714C6CF81}"/>
              </a:ext>
            </a:extLst>
          </p:cNvPr>
          <p:cNvSpPr txBox="1">
            <a:spLocks noChangeArrowheads="1"/>
          </p:cNvSpPr>
          <p:nvPr/>
        </p:nvSpPr>
        <p:spPr>
          <a:xfrm>
            <a:off x="488453" y="2289579"/>
            <a:ext cx="11030798" cy="9869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4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由主析取范式确定主合取范式</a:t>
            </a:r>
          </a:p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且已知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求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的主合取范式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1B2B6130-1D4C-49AC-9338-2999EE23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46" y="5590328"/>
            <a:ext cx="763270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由主合取范式确定主析取范式</a:t>
            </a: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用真值表确定主范式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CEBD2BE-5CF1-46F1-BC6C-8ED736F8427E}"/>
              </a:ext>
            </a:extLst>
          </p:cNvPr>
          <p:cNvSpPr txBox="1">
            <a:spLocks noChangeArrowheads="1"/>
          </p:cNvSpPr>
          <p:nvPr/>
        </p:nvSpPr>
        <p:spPr>
          <a:xfrm>
            <a:off x="488453" y="3411452"/>
            <a:ext cx="11030798" cy="2002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的成真赋值是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1,3,7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的二进制表示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成假赋值是在主析取范式中没有出现的极小项的下角标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0,2,4,5,6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的二进制表示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它们恰好是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的主合取范式的极大项的下角标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故</a:t>
            </a: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FF20B8-E960-4416-9B83-3EE821B49C4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8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联结词全功能集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825E37-619B-4501-9443-D8283649C223}"/>
              </a:ext>
            </a:extLst>
          </p:cNvPr>
          <p:cNvSpPr txBox="1">
            <a:spLocks noChangeArrowheads="1"/>
          </p:cNvSpPr>
          <p:nvPr/>
        </p:nvSpPr>
        <p:spPr>
          <a:xfrm>
            <a:off x="468312" y="1643063"/>
            <a:ext cx="11256327" cy="132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将公式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化成只含下列各联结词集中的联结词的等值的公式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(1) 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{↑}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{↓}.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E6E02B-1D91-494A-A5AB-7A861F12BD56}"/>
              </a:ext>
            </a:extLst>
          </p:cNvPr>
          <p:cNvSpPr txBox="1"/>
          <p:nvPr/>
        </p:nvSpPr>
        <p:spPr>
          <a:xfrm>
            <a:off x="621241" y="931191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SzPct val="150000"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联结词全功能集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60F0A19-64E2-463E-A3CB-12635F035D1A}"/>
              </a:ext>
            </a:extLst>
          </p:cNvPr>
          <p:cNvSpPr txBox="1">
            <a:spLocks noChangeArrowheads="1"/>
          </p:cNvSpPr>
          <p:nvPr/>
        </p:nvSpPr>
        <p:spPr>
          <a:xfrm>
            <a:off x="8092228" y="931191"/>
            <a:ext cx="3679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复合联结词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与非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或非联结词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A9F126-3303-4046-912F-6984EBF92EC3}"/>
              </a:ext>
            </a:extLst>
          </p:cNvPr>
          <p:cNvSpPr txBox="1">
            <a:spLocks noChangeArrowheads="1"/>
          </p:cNvSpPr>
          <p:nvPr/>
        </p:nvSpPr>
        <p:spPr>
          <a:xfrm>
            <a:off x="939586" y="2966721"/>
            <a:ext cx="6673639" cy="462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BDDD08D-70EE-4A93-AE39-4F6F0562EBBE}"/>
              </a:ext>
            </a:extLst>
          </p:cNvPr>
          <p:cNvSpPr txBox="1">
            <a:spLocks noChangeArrowheads="1"/>
          </p:cNvSpPr>
          <p:nvPr/>
        </p:nvSpPr>
        <p:spPr>
          <a:xfrm>
            <a:off x="1210523" y="3626273"/>
            <a:ext cx="7229052" cy="5393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(2)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B54CE47-AE6A-4BDF-B496-DC511B2C53CD}"/>
              </a:ext>
            </a:extLst>
          </p:cNvPr>
          <p:cNvSpPr txBox="1">
            <a:spLocks noChangeArrowheads="1"/>
          </p:cNvSpPr>
          <p:nvPr/>
        </p:nvSpPr>
        <p:spPr>
          <a:xfrm>
            <a:off x="1210523" y="4375657"/>
            <a:ext cx="10861568" cy="11703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(3)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 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))↑(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6EA5885-5493-4B5C-8D66-D50CE36A9C66}"/>
              </a:ext>
            </a:extLst>
          </p:cNvPr>
          <p:cNvSpPr txBox="1">
            <a:spLocks noChangeArrowheads="1"/>
          </p:cNvSpPr>
          <p:nvPr/>
        </p:nvSpPr>
        <p:spPr>
          <a:xfrm>
            <a:off x="1210523" y="5603990"/>
            <a:ext cx="8072333" cy="570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(4)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)↓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)↓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09272C-3EAB-4B2D-9E79-00699DA5013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20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B09DE60-E7B5-41C8-A5CE-026BCC5F5617}"/>
              </a:ext>
            </a:extLst>
          </p:cNvPr>
          <p:cNvSpPr txBox="1">
            <a:spLocks noChangeArrowheads="1"/>
          </p:cNvSpPr>
          <p:nvPr/>
        </p:nvSpPr>
        <p:spPr>
          <a:xfrm>
            <a:off x="609601" y="1582845"/>
            <a:ext cx="10315786" cy="114003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 判断下面推理是否正确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号，则明天是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CB96398-09C0-4021-A83D-2055683B8E19}"/>
              </a:ext>
            </a:extLst>
          </p:cNvPr>
          <p:cNvSpPr txBox="1">
            <a:spLocks noChangeArrowheads="1"/>
          </p:cNvSpPr>
          <p:nvPr/>
        </p:nvSpPr>
        <p:spPr>
          <a:xfrm>
            <a:off x="809414" y="2828954"/>
            <a:ext cx="10315786" cy="136016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D37541F-C253-405E-AD88-205E6D7C934B}"/>
              </a:ext>
            </a:extLst>
          </p:cNvPr>
          <p:cNvSpPr txBox="1">
            <a:spLocks noChangeArrowheads="1"/>
          </p:cNvSpPr>
          <p:nvPr/>
        </p:nvSpPr>
        <p:spPr>
          <a:xfrm>
            <a:off x="1706263" y="4065088"/>
            <a:ext cx="8785629" cy="2483264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证明（用等值演算法）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((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1</a:t>
            </a:r>
          </a:p>
          <a:p>
            <a:pPr algn="just">
              <a:spcAft>
                <a:spcPts val="1200"/>
              </a:spcAft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得证推理正确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5D5639-DE08-4EB5-9E2C-C9B6C34CEBA1}"/>
              </a:ext>
            </a:extLst>
          </p:cNvPr>
          <p:cNvSpPr txBox="1"/>
          <p:nvPr/>
        </p:nvSpPr>
        <p:spPr>
          <a:xfrm>
            <a:off x="467359" y="901380"/>
            <a:ext cx="2070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C9FB8F-E888-418C-BE29-F89880E13D7F}"/>
              </a:ext>
            </a:extLst>
          </p:cNvPr>
          <p:cNvSpPr txBox="1"/>
          <p:nvPr/>
        </p:nvSpPr>
        <p:spPr>
          <a:xfrm>
            <a:off x="3969171" y="901380"/>
            <a:ext cx="1380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2D2227-5D45-4F25-8216-1DE2BC5C90E0}"/>
              </a:ext>
            </a:extLst>
          </p:cNvPr>
          <p:cNvSpPr txBox="1"/>
          <p:nvPr/>
        </p:nvSpPr>
        <p:spPr>
          <a:xfrm>
            <a:off x="7064584" y="901380"/>
            <a:ext cx="1316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B6D463-3E26-4A94-A50D-0CDF3F54F4F7}"/>
              </a:ext>
            </a:extLst>
          </p:cNvPr>
          <p:cNvSpPr txBox="1"/>
          <p:nvPr/>
        </p:nvSpPr>
        <p:spPr>
          <a:xfrm>
            <a:off x="10038080" y="901380"/>
            <a:ext cx="182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C0056D-3B0A-4A1A-A3C1-DE78371998E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84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385322-52A4-4726-B5E3-887EAF36B621}"/>
              </a:ext>
            </a:extLst>
          </p:cNvPr>
          <p:cNvSpPr txBox="1"/>
          <p:nvPr/>
        </p:nvSpPr>
        <p:spPr>
          <a:xfrm>
            <a:off x="467359" y="901380"/>
            <a:ext cx="2070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2428F3-5BEA-4891-8DF1-9D420E437F29}"/>
              </a:ext>
            </a:extLst>
          </p:cNvPr>
          <p:cNvSpPr txBox="1"/>
          <p:nvPr/>
        </p:nvSpPr>
        <p:spPr>
          <a:xfrm>
            <a:off x="3969171" y="901380"/>
            <a:ext cx="1380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26260A-043E-4758-9F92-C68B7E9A2B9F}"/>
              </a:ext>
            </a:extLst>
          </p:cNvPr>
          <p:cNvSpPr txBox="1"/>
          <p:nvPr/>
        </p:nvSpPr>
        <p:spPr>
          <a:xfrm>
            <a:off x="7064584" y="901380"/>
            <a:ext cx="1316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5E398D5-D2E2-4EF1-8EF0-6270FDEE3B93}"/>
              </a:ext>
            </a:extLst>
          </p:cNvPr>
          <p:cNvSpPr txBox="1">
            <a:spLocks noChangeArrowheads="1"/>
          </p:cNvSpPr>
          <p:nvPr/>
        </p:nvSpPr>
        <p:spPr>
          <a:xfrm>
            <a:off x="548640" y="1523367"/>
            <a:ext cx="11230187" cy="1749604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号，则明天是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</a:p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7A7B06-F0C6-4961-AEB1-FAF1F8358A53}"/>
              </a:ext>
            </a:extLst>
          </p:cNvPr>
          <p:cNvSpPr txBox="1"/>
          <p:nvPr/>
        </p:nvSpPr>
        <p:spPr>
          <a:xfrm>
            <a:off x="7608320" y="5594245"/>
            <a:ext cx="4448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结果不含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en-US" altLang="zh-CN" sz="2400" b="1" dirty="0">
                <a:latin typeface="Times New Roman" panose="02020603050405020304" pitchFamily="18" charset="0"/>
              </a:rPr>
              <a:t>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是成假赋值，所以推理不正确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B3065A-D768-4ED7-814F-A897ED8E1BEF}"/>
              </a:ext>
            </a:extLst>
          </p:cNvPr>
          <p:cNvSpPr txBox="1"/>
          <p:nvPr/>
        </p:nvSpPr>
        <p:spPr>
          <a:xfrm>
            <a:off x="10038080" y="901380"/>
            <a:ext cx="182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C130FF5-A5A8-4B12-8922-F66FEBB4F748}"/>
              </a:ext>
            </a:extLst>
          </p:cNvPr>
          <p:cNvSpPr txBox="1">
            <a:spLocks noChangeArrowheads="1"/>
          </p:cNvSpPr>
          <p:nvPr/>
        </p:nvSpPr>
        <p:spPr>
          <a:xfrm>
            <a:off x="1215197" y="3272972"/>
            <a:ext cx="5911317" cy="327538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（用主析取范式法）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Symbol" panose="05050102010706020507" pitchFamily="18" charset="2"/>
              </a:rPr>
              <a:t>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Symbol" panose="05050102010706020507" pitchFamily="18" charset="2"/>
              </a:rPr>
              <a:t>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Symbol" panose="05050102010706020507" pitchFamily="18" charset="2"/>
              </a:rPr>
              <a:t>Ø</a:t>
            </a:r>
            <a:r>
              <a:rPr lang="en-US" altLang="zh-CN" sz="2600" b="1" dirty="0">
                <a:latin typeface="Times New Roman" panose="02020603050405020304" pitchFamily="18" charset="0"/>
              </a:rPr>
              <a:t> ((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Ú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Ú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Ú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600" b="1" baseline="-30000" dirty="0" err="1">
                <a:latin typeface="Times New Roman" panose="02020603050405020304" pitchFamily="18" charset="0"/>
              </a:rPr>
              <a:t>0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6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600" b="1" baseline="-30000" dirty="0" err="1">
                <a:latin typeface="Times New Roman" panose="02020603050405020304" pitchFamily="18" charset="0"/>
              </a:rPr>
              <a:t>3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 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8FBEE9-C392-42B2-BA55-53C11F08881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307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5ACC5FE-4A31-48A0-BB1A-E8827B393164}"/>
              </a:ext>
            </a:extLst>
          </p:cNvPr>
          <p:cNvSpPr txBox="1">
            <a:spLocks noChangeArrowheads="1"/>
          </p:cNvSpPr>
          <p:nvPr/>
        </p:nvSpPr>
        <p:spPr>
          <a:xfrm>
            <a:off x="682624" y="1771650"/>
            <a:ext cx="11001375" cy="15230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构造下面推理的证明：</a:t>
            </a:r>
          </a:p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若明天是星期一或星期三，我就有课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若有课，今天必备课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我今天下午没备课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所以，明天不是星期一和星期三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0F8CB26-5482-4975-BE1F-4D6ADD230CAC}"/>
              </a:ext>
            </a:extLst>
          </p:cNvPr>
          <p:cNvSpPr txBox="1">
            <a:spLocks noChangeArrowheads="1"/>
          </p:cNvSpPr>
          <p:nvPr/>
        </p:nvSpPr>
        <p:spPr>
          <a:xfrm>
            <a:off x="682624" y="3686495"/>
            <a:ext cx="11001375" cy="2474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明天是星期一，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明天是星期三，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我有课，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我备课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Symbol" panose="05050102010706020507" pitchFamily="18" charset="2"/>
              </a:rPr>
              <a:t>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BAFBDF-58E5-4CA2-B330-41B91F4D3360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B2D48C-FC0D-4C6F-9E57-C606CF6FBAAC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D81411-A004-400C-AD08-34DA83E12289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321F50-FB02-4FA2-973E-619F52DD5DD4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F796E6-B8D8-4046-8195-C14BF15F2EA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5302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5ACC5FE-4A31-48A0-BB1A-E8827B393164}"/>
              </a:ext>
            </a:extLst>
          </p:cNvPr>
          <p:cNvSpPr txBox="1">
            <a:spLocks noChangeArrowheads="1"/>
          </p:cNvSpPr>
          <p:nvPr/>
        </p:nvSpPr>
        <p:spPr>
          <a:xfrm>
            <a:off x="465882" y="1615865"/>
            <a:ext cx="11421318" cy="13305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若明天是星期一或星期三，我就有课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若有课，今天必备课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我今天下午没备课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所以，明天不是星期一和星期三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069D36F-0669-42CF-ACF9-3A4F7031A387}"/>
              </a:ext>
            </a:extLst>
          </p:cNvPr>
          <p:cNvSpPr txBox="1">
            <a:spLocks noChangeArrowheads="1"/>
          </p:cNvSpPr>
          <p:nvPr/>
        </p:nvSpPr>
        <p:spPr>
          <a:xfrm>
            <a:off x="465882" y="3247230"/>
            <a:ext cx="11001375" cy="20766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明天是星期一，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明天是星期三，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我有课，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我备课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推理的形式结构为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Symbol" panose="05050102010706020507" pitchFamily="18" charset="2"/>
              </a:rPr>
              <a:t>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55D864F-1FE6-4E5E-B6AC-BEE5C38A03E7}"/>
              </a:ext>
            </a:extLst>
          </p:cNvPr>
          <p:cNvSpPr txBox="1">
            <a:spLocks noChangeArrowheads="1"/>
          </p:cNvSpPr>
          <p:nvPr/>
        </p:nvSpPr>
        <p:spPr>
          <a:xfrm>
            <a:off x="6321743" y="3752424"/>
            <a:ext cx="4346257" cy="28583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①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Symbol" panose="05050102010706020507" pitchFamily="18" charset="2"/>
              </a:rPr>
              <a:t>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② </a:t>
            </a:r>
            <a:r>
              <a:rPr lang="en-US" altLang="zh-CN" sz="2400" b="1" dirty="0" err="1">
                <a:latin typeface="Symbol" panose="05050102010706020507" pitchFamily="18" charset="2"/>
              </a:rPr>
              <a:t>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③ </a:t>
            </a:r>
            <a:r>
              <a:rPr lang="en-US" altLang="zh-CN" sz="2400" b="1" dirty="0" err="1">
                <a:latin typeface="Symbol" panose="05050102010706020507" pitchFamily="18" charset="2"/>
              </a:rPr>
              <a:t>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①②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④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Symbol" panose="05050102010706020507" pitchFamily="18" charset="2"/>
              </a:rPr>
              <a:t>Ú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Symbol" panose="05050102010706020507" pitchFamily="18" charset="2"/>
              </a:rPr>
              <a:t>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⑤ </a:t>
            </a:r>
            <a:r>
              <a:rPr lang="en-US" altLang="zh-CN" sz="2400" b="1" dirty="0">
                <a:latin typeface="Symbol" panose="05050102010706020507" pitchFamily="18" charset="2"/>
              </a:rPr>
              <a:t>Ø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Symbol" panose="05050102010706020507" pitchFamily="18" charset="2"/>
              </a:rPr>
              <a:t>Ú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③④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⑥ </a:t>
            </a:r>
            <a:r>
              <a:rPr lang="en-US" altLang="zh-CN" sz="2400" b="1" dirty="0" err="1">
                <a:latin typeface="Symbol" panose="05050102010706020507" pitchFamily="18" charset="2"/>
              </a:rPr>
              <a:t>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Symbol" panose="05050102010706020507" pitchFamily="18" charset="2"/>
              </a:rPr>
              <a:t>ÙØ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⑤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置换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8349D6-A462-4954-A2BA-97B8710365C5}"/>
              </a:ext>
            </a:extLst>
          </p:cNvPr>
          <p:cNvSpPr txBox="1"/>
          <p:nvPr/>
        </p:nvSpPr>
        <p:spPr>
          <a:xfrm>
            <a:off x="1269381" y="5628749"/>
            <a:ext cx="3092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直接证明法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1DE3C3B-DFF9-44E7-8D0E-8D6171041633}"/>
              </a:ext>
            </a:extLst>
          </p:cNvPr>
          <p:cNvSpPr/>
          <p:nvPr/>
        </p:nvSpPr>
        <p:spPr>
          <a:xfrm>
            <a:off x="4213011" y="5742775"/>
            <a:ext cx="921174" cy="295167"/>
          </a:xfrm>
          <a:prstGeom prst="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33EEB2-D442-4665-99FB-5F0DAAD0B72D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1DA19A-0638-47BE-87AD-5E6BDF0CB828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508EDA-0B3C-402D-87A8-515D387DF1A9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2D750C-F7A5-4B22-8DB1-B6E39A9DAD23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B21D1A-C1D6-482A-A6DB-35260DDF778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71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B044C531-5D2B-4AC9-9700-DF64CFF25571}"/>
              </a:ext>
            </a:extLst>
          </p:cNvPr>
          <p:cNvGraphicFramePr>
            <a:graphicFrameLocks/>
          </p:cNvGraphicFramePr>
          <p:nvPr/>
        </p:nvGraphicFramePr>
        <p:xfrm>
          <a:off x="5496964" y="2783172"/>
          <a:ext cx="6688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7160" imgH="502920" progId="Equation.3">
                  <p:embed/>
                </p:oleObj>
              </mc:Choice>
              <mc:Fallback>
                <p:oleObj name="Equation" r:id="rId3" imgW="587160" imgH="502920" progId="Equation.3">
                  <p:embed/>
                  <p:pic>
                    <p:nvPicPr>
                      <p:cNvPr id="14" name="Object 4">
                        <a:extLst>
                          <a:ext uri="{FF2B5EF4-FFF2-40B4-BE49-F238E27FC236}">
                            <a16:creationId xmlns:a16="http://schemas.microsoft.com/office/drawing/2014/main" id="{B044C531-5D2B-4AC9-9700-DF64CFF255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6964" y="2783172"/>
                        <a:ext cx="6688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F6265369-1D4B-4E2F-8A38-8D47CCBFA24C}"/>
              </a:ext>
            </a:extLst>
          </p:cNvPr>
          <p:cNvGraphicFramePr>
            <a:graphicFrameLocks/>
          </p:cNvGraphicFramePr>
          <p:nvPr/>
        </p:nvGraphicFramePr>
        <p:xfrm>
          <a:off x="8001900" y="2783172"/>
          <a:ext cx="6688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7160" imgH="502920" progId="Equation.3">
                  <p:embed/>
                </p:oleObj>
              </mc:Choice>
              <mc:Fallback>
                <p:oleObj name="Equation" r:id="rId3" imgW="587160" imgH="502920" progId="Equation.3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F6265369-1D4B-4E2F-8A38-8D47CCBFA2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900" y="2783172"/>
                        <a:ext cx="6688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7">
            <a:extLst>
              <a:ext uri="{FF2B5EF4-FFF2-40B4-BE49-F238E27FC236}">
                <a16:creationId xmlns:a16="http://schemas.microsoft.com/office/drawing/2014/main" id="{894FA44D-FA2C-469B-9D91-CCF3D5937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03" y="2273811"/>
            <a:ext cx="11295524" cy="15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</a:p>
          <a:p>
            <a:pPr algn="just" eaLnBrk="1" hangingPunct="1">
              <a:lnSpc>
                <a:spcPts val="4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dirty="0"/>
              <a:t>      </a:t>
            </a:r>
            <a:r>
              <a:rPr lang="en-US" altLang="zh-CN" sz="2400" dirty="0"/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是素数或合数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dirty="0"/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是素数，则    是无理数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若    是无理数，则</a:t>
            </a:r>
            <a:r>
              <a:rPr lang="en-US" altLang="zh-CN" sz="2400" dirty="0"/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不是素数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所以，如果</a:t>
            </a:r>
            <a:r>
              <a:rPr lang="en-US" altLang="zh-CN" sz="2400" dirty="0"/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是素数，则</a:t>
            </a:r>
            <a:r>
              <a:rPr lang="en-US" altLang="zh-CN" sz="2400" dirty="0"/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是合数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用附加前提证明法构造证明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C4EADC4-30E1-40EB-9B39-5D7A625EF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19" y="5247116"/>
            <a:ext cx="11295524" cy="156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i="1" dirty="0" err="1"/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Ú</a:t>
            </a:r>
            <a:r>
              <a:rPr lang="en-US" altLang="zh-CN" i="1" dirty="0" err="1"/>
              <a:t>q</a:t>
            </a:r>
            <a:r>
              <a:rPr lang="en-US" altLang="zh-CN" dirty="0"/>
              <a:t>,  </a:t>
            </a:r>
            <a:r>
              <a:rPr lang="en-US" altLang="zh-CN" i="1" dirty="0" err="1"/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/>
              <a:t>r</a:t>
            </a:r>
            <a:r>
              <a:rPr lang="en-US" altLang="zh-CN" dirty="0"/>
              <a:t>,  </a:t>
            </a:r>
            <a:r>
              <a:rPr lang="en-US" altLang="zh-CN" i="1" dirty="0" err="1"/>
              <a:t>r</a:t>
            </a:r>
            <a:r>
              <a:rPr lang="en-US" altLang="zh-CN" dirty="0" err="1">
                <a:latin typeface="Symbol" panose="05050102010706020507" pitchFamily="18" charset="2"/>
              </a:rPr>
              <a:t>®Ø</a:t>
            </a:r>
            <a:r>
              <a:rPr lang="en-US" altLang="zh-CN" i="1" dirty="0" err="1"/>
              <a:t>s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i="1" dirty="0" err="1"/>
              <a:t>s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/>
              <a:t>q</a:t>
            </a:r>
            <a:endParaRPr lang="en-US" altLang="zh-CN" i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3BB2381-F89B-4DC5-9E3C-E9B779968A55}"/>
              </a:ext>
            </a:extLst>
          </p:cNvPr>
          <p:cNvGrpSpPr/>
          <p:nvPr/>
        </p:nvGrpSpPr>
        <p:grpSpPr>
          <a:xfrm>
            <a:off x="548619" y="4025308"/>
            <a:ext cx="11295524" cy="1026496"/>
            <a:chOff x="548619" y="4025308"/>
            <a:chExt cx="11295524" cy="1026496"/>
          </a:xfrm>
        </p:grpSpPr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2E5EADE7-B02D-4220-BD8D-D274FB515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19" y="4025308"/>
              <a:ext cx="11295524" cy="1022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解：设</a:t>
              </a:r>
              <a:r>
                <a:rPr lang="zh-CN" altLang="en-US" dirty="0"/>
                <a:t> </a:t>
              </a:r>
              <a:r>
                <a:rPr lang="en-US" altLang="zh-CN" i="1" dirty="0"/>
                <a:t>p</a:t>
              </a:r>
              <a:r>
                <a:rPr lang="zh-CN" altLang="en-US" dirty="0"/>
                <a:t>：</a:t>
              </a:r>
              <a:r>
                <a:rPr lang="en-US" altLang="zh-CN" sz="2400" dirty="0"/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是素数，</a:t>
              </a:r>
              <a:r>
                <a:rPr lang="en-US" altLang="zh-CN" i="1" dirty="0"/>
                <a:t>q</a:t>
              </a:r>
              <a:r>
                <a:rPr lang="zh-CN" altLang="en-US" dirty="0"/>
                <a:t>：</a:t>
              </a:r>
              <a:r>
                <a:rPr lang="en-US" altLang="zh-CN" sz="2400" dirty="0"/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是合数，</a:t>
              </a:r>
            </a:p>
            <a:p>
              <a:pPr algn="just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dirty="0"/>
                <a:t>          </a:t>
              </a:r>
              <a:r>
                <a:rPr lang="en-US" altLang="zh-CN" i="1" dirty="0"/>
                <a:t>r</a:t>
              </a:r>
              <a:r>
                <a:rPr lang="zh-CN" altLang="en-US" dirty="0"/>
                <a:t>：    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是无理数，</a:t>
              </a:r>
              <a:r>
                <a:rPr lang="en-US" altLang="zh-CN" i="1" dirty="0"/>
                <a:t>s</a:t>
              </a:r>
              <a:r>
                <a:rPr lang="zh-CN" altLang="en-US" dirty="0"/>
                <a:t>：</a:t>
              </a:r>
              <a:r>
                <a:rPr lang="en-US" altLang="zh-CN" sz="2400" dirty="0"/>
                <a:t>4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是素数</a:t>
              </a:r>
            </a:p>
          </p:txBody>
        </p:sp>
        <p:graphicFrame>
          <p:nvGraphicFramePr>
            <p:cNvPr id="25" name="Object 5">
              <a:extLst>
                <a:ext uri="{FF2B5EF4-FFF2-40B4-BE49-F238E27FC236}">
                  <a16:creationId xmlns:a16="http://schemas.microsoft.com/office/drawing/2014/main" id="{543C8966-B089-478F-9755-25C0EFD7A87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69549" y="4548566"/>
            <a:ext cx="668850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87160" imgH="502920" progId="Equation.3">
                    <p:embed/>
                  </p:oleObj>
                </mc:Choice>
                <mc:Fallback>
                  <p:oleObj name="Equation" r:id="rId3" imgW="587160" imgH="502920" progId="Equation.3">
                    <p:embed/>
                    <p:pic>
                      <p:nvPicPr>
                        <p:cNvPr id="25" name="Object 5">
                          <a:extLst>
                            <a:ext uri="{FF2B5EF4-FFF2-40B4-BE49-F238E27FC236}">
                              <a16:creationId xmlns:a16="http://schemas.microsoft.com/office/drawing/2014/main" id="{543C8966-B089-478F-9755-25C0EFD7A87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9549" y="4548566"/>
                          <a:ext cx="668850" cy="503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B8DCA24-D436-49B2-A55D-54BB024D2C16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B21BA8-A457-4A22-B16B-FD22E3B0846B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0E07BA-A52D-44B7-90EB-6B9A04DEDDBA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5EF23EC-4F88-4270-BDA4-0F55EC6C71C6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1B5CF2-1DAD-4F08-B13A-8674149F535A}"/>
              </a:ext>
            </a:extLst>
          </p:cNvPr>
          <p:cNvSpPr txBox="1"/>
          <p:nvPr/>
        </p:nvSpPr>
        <p:spPr>
          <a:xfrm>
            <a:off x="483303" y="1504634"/>
            <a:ext cx="316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附加前提法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533845-61F2-4FB7-AFF5-44B628D68A4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725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96B6A6-31CA-4C84-BE3D-6D2C863F6930}"/>
              </a:ext>
            </a:extLst>
          </p:cNvPr>
          <p:cNvSpPr txBox="1"/>
          <p:nvPr/>
        </p:nvSpPr>
        <p:spPr>
          <a:xfrm>
            <a:off x="483303" y="1504634"/>
            <a:ext cx="316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附加前提法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E45AD4-BF20-4D89-9408-D4D95BDAA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235" y="1524738"/>
            <a:ext cx="3447765" cy="1145663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CEED096-428A-497B-864D-7F5D3AFA064E}"/>
              </a:ext>
            </a:extLst>
          </p:cNvPr>
          <p:cNvSpPr txBox="1"/>
          <p:nvPr/>
        </p:nvSpPr>
        <p:spPr>
          <a:xfrm>
            <a:off x="783771" y="635856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请用直接证明法证明之 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17358A37-4AD7-4BDB-B12D-60B1A72F6DD7}"/>
              </a:ext>
            </a:extLst>
          </p:cNvPr>
          <p:cNvSpPr txBox="1">
            <a:spLocks noChangeArrowheads="1"/>
          </p:cNvSpPr>
          <p:nvPr/>
        </p:nvSpPr>
        <p:spPr>
          <a:xfrm>
            <a:off x="537313" y="2041793"/>
            <a:ext cx="7780338" cy="1107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① 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附加前提引入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5DC683BA-694E-4EB0-A464-658F45E55325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3057826"/>
            <a:ext cx="7780338" cy="5127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②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2E31D192-894D-484C-885A-0B4D1E3937A1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3621651"/>
            <a:ext cx="7780338" cy="628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③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8453B13A-6031-4333-A009-AF5427BF70FB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4139083"/>
            <a:ext cx="7780338" cy="549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④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②③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假言三段论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7BB0CBE5-323F-4B55-9235-48BF3A6FAE54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4638135"/>
            <a:ext cx="7780338" cy="6288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⑤ </a:t>
            </a:r>
            <a:r>
              <a:rPr lang="en-US" altLang="zh-CN" sz="2400" b="1" dirty="0">
                <a:latin typeface="Symbol" panose="05050102010706020507" pitchFamily="18" charset="2"/>
              </a:rPr>
              <a:t>Ø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p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①④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34B7C9EE-C56D-4CE3-B25C-5527B4C6E6F1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5148644"/>
            <a:ext cx="7780338" cy="6104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⑥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906FB03-4C0D-4DDD-8928-4A481E6CD371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5713190"/>
            <a:ext cx="7780338" cy="549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⑦ 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⑤⑥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305B8BA-A89E-42D8-A5EB-8283197A0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0" y="3431662"/>
            <a:ext cx="4643429" cy="342633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C4F95BF-FBD5-47B7-9EC0-257C55208E12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5B87C6-2062-4015-9ECF-8D49FB0BB2BC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78F6A7-8EF0-4F2A-92EB-9DE4404752CD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F25DC1-E3DE-4AC2-8922-553163C44BA2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6983FF-DCB3-4979-9A20-9B9F8F0600C0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71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270642D-5EB3-49E7-B85C-59FB9541D8F3}"/>
              </a:ext>
            </a:extLst>
          </p:cNvPr>
          <p:cNvGrpSpPr/>
          <p:nvPr/>
        </p:nvGrpSpPr>
        <p:grpSpPr>
          <a:xfrm>
            <a:off x="403012" y="1370329"/>
            <a:ext cx="2472163" cy="962055"/>
            <a:chOff x="403012" y="1370329"/>
            <a:chExt cx="2472163" cy="962055"/>
          </a:xfrm>
        </p:grpSpPr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73038FEA-3645-41EA-A6FC-9DE88CB63D1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5456" y="1370329"/>
              <a:ext cx="2409719" cy="762000"/>
            </a:xfrm>
            <a:noFill/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归谬法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6834ABF-4B50-4DBB-9FC8-D34B8DEFE85F}"/>
                </a:ext>
              </a:extLst>
            </p:cNvPr>
            <p:cNvSpPr txBox="1"/>
            <p:nvPr/>
          </p:nvSpPr>
          <p:spPr>
            <a:xfrm>
              <a:off x="403012" y="1870719"/>
              <a:ext cx="209973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反证法</a:t>
              </a:r>
              <a:r>
                <a:rPr lang="en-US" altLang="zh-CN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 </a:t>
              </a:r>
              <a:endPara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3214F62-5B0C-41AE-9E25-EEC75C421255}"/>
              </a:ext>
            </a:extLst>
          </p:cNvPr>
          <p:cNvSpPr txBox="1">
            <a:spLocks noChangeArrowheads="1"/>
          </p:cNvSpPr>
          <p:nvPr/>
        </p:nvSpPr>
        <p:spPr>
          <a:xfrm>
            <a:off x="2145295" y="1422611"/>
            <a:ext cx="7707313" cy="1483149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65066B0-0084-45CF-9FEB-8A07C88C53F9}"/>
              </a:ext>
            </a:extLst>
          </p:cNvPr>
          <p:cNvSpPr txBox="1">
            <a:spLocks noChangeArrowheads="1"/>
          </p:cNvSpPr>
          <p:nvPr/>
        </p:nvSpPr>
        <p:spPr>
          <a:xfrm>
            <a:off x="573112" y="3252273"/>
            <a:ext cx="5360328" cy="3194484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证明（用归缪法）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①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sz="24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结论的否定引入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②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③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④ </a:t>
            </a:r>
            <a:r>
              <a:rPr lang="en-US" altLang="zh-CN" b="1" i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②③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⑤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A959AD6-C64E-4D2F-8D06-075AB86DFFD2}"/>
              </a:ext>
            </a:extLst>
          </p:cNvPr>
          <p:cNvSpPr txBox="1">
            <a:spLocks noChangeArrowheads="1"/>
          </p:cNvSpPr>
          <p:nvPr/>
        </p:nvSpPr>
        <p:spPr>
          <a:xfrm>
            <a:off x="5998951" y="3752031"/>
            <a:ext cx="6407574" cy="270826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⑥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④⑤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⑦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⑥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⑧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①⑦</a:t>
            </a:r>
            <a:r>
              <a:rPr lang="zh-CN" altLang="en-US" sz="24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⑨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⑩ </a:t>
            </a:r>
            <a:r>
              <a:rPr lang="en-US" altLang="zh-CN" b="1" dirty="0" err="1">
                <a:highlight>
                  <a:srgbClr val="FFFF00"/>
                </a:highlight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highlight>
                  <a:srgbClr val="FFFF00"/>
                </a:highlight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    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⑧⑨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合取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E4BAD7-3EEF-4CED-8476-558C45C242CD}"/>
              </a:ext>
            </a:extLst>
          </p:cNvPr>
          <p:cNvSpPr txBox="1"/>
          <p:nvPr/>
        </p:nvSpPr>
        <p:spPr>
          <a:xfrm>
            <a:off x="6311054" y="6441257"/>
            <a:ext cx="4404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请用直接证明法证明之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DF22BD-7DB0-4498-B894-4EB37A370D1C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A75E12-C5EE-4E6A-B2BC-5572C92E7829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C0138C-FA62-4156-8A93-A4A57C43AB07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5D5C77-FCC8-4C0A-8951-3CBE6B45E7A1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143AF3-C4F3-49CA-9E25-91D178536F4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564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E0C81E89-F035-4B0E-A193-3AA844410152}"/>
              </a:ext>
            </a:extLst>
          </p:cNvPr>
          <p:cNvGrpSpPr>
            <a:grpSpLocks/>
          </p:cNvGrpSpPr>
          <p:nvPr/>
        </p:nvGrpSpPr>
        <p:grpSpPr bwMode="auto">
          <a:xfrm>
            <a:off x="737044" y="1504022"/>
            <a:ext cx="7921625" cy="1828801"/>
            <a:chOff x="249" y="817"/>
            <a:chExt cx="4990" cy="1152"/>
          </a:xfrm>
        </p:grpSpPr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BCF2B2C6-ECC1-4C5B-AE5E-57D247AEA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817"/>
              <a:ext cx="4990" cy="1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 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用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元谓词将命题符号化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(1)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墨西哥位于北美洲 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(2)      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是无理数仅当   是有理数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(3)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如果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2&gt;3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，则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3&lt;4</a:t>
              </a:r>
            </a:p>
          </p:txBody>
        </p:sp>
        <p:grpSp>
          <p:nvGrpSpPr>
            <p:cNvPr id="9" name="Group 22">
              <a:extLst>
                <a:ext uri="{FF2B5EF4-FFF2-40B4-BE49-F238E27FC236}">
                  <a16:creationId xmlns:a16="http://schemas.microsoft.com/office/drawing/2014/main" id="{5B9378CD-BF7A-43D8-806B-FFBA5C715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9" y="1346"/>
              <a:ext cx="1775" cy="314"/>
              <a:chOff x="589" y="1346"/>
              <a:chExt cx="1775" cy="314"/>
            </a:xfrm>
          </p:grpSpPr>
          <p:graphicFrame>
            <p:nvGraphicFramePr>
              <p:cNvPr id="10" name="Object 16">
                <a:extLst>
                  <a:ext uri="{FF2B5EF4-FFF2-40B4-BE49-F238E27FC236}">
                    <a16:creationId xmlns:a16="http://schemas.microsoft.com/office/drawing/2014/main" id="{BC135E93-DAA6-4F84-BC90-4379654D7E6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89" y="1346"/>
              <a:ext cx="291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Microsoft 公式 3.0" r:id="rId3" imgW="241091" imgH="215713" progId="Equation.3">
                      <p:embed/>
                    </p:oleObj>
                  </mc:Choice>
                  <mc:Fallback>
                    <p:oleObj name="Microsoft 公式 3.0" r:id="rId3" imgW="241091" imgH="215713" progId="Equation.3">
                      <p:embed/>
                      <p:pic>
                        <p:nvPicPr>
                          <p:cNvPr id="10" name="Object 16">
                            <a:extLst>
                              <a:ext uri="{FF2B5EF4-FFF2-40B4-BE49-F238E27FC236}">
                                <a16:creationId xmlns:a16="http://schemas.microsoft.com/office/drawing/2014/main" id="{BC135E93-DAA6-4F84-BC90-4379654D7E6D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9" y="1346"/>
                            <a:ext cx="291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Object 20">
                <a:extLst>
                  <a:ext uri="{FF2B5EF4-FFF2-40B4-BE49-F238E27FC236}">
                    <a16:creationId xmlns:a16="http://schemas.microsoft.com/office/drawing/2014/main" id="{40188BC5-D438-4B84-A1D3-E5FC97B515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62" y="1358"/>
              <a:ext cx="302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Microsoft 公式 3.0" r:id="rId5" imgW="228600" imgH="228600" progId="Equation.3">
                      <p:embed/>
                    </p:oleObj>
                  </mc:Choice>
                  <mc:Fallback>
                    <p:oleObj name="Microsoft 公式 3.0" r:id="rId5" imgW="228600" imgH="228600" progId="Equation.3">
                      <p:embed/>
                      <p:pic>
                        <p:nvPicPr>
                          <p:cNvPr id="13" name="Object 20">
                            <a:extLst>
                              <a:ext uri="{FF2B5EF4-FFF2-40B4-BE49-F238E27FC236}">
                                <a16:creationId xmlns:a16="http://schemas.microsoft.com/office/drawing/2014/main" id="{40188BC5-D438-4B84-A1D3-E5FC97B5152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2" y="1358"/>
                            <a:ext cx="302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592EB93-6E3B-4146-AA17-0E67013343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815" y="1621766"/>
            <a:ext cx="6469185" cy="1382397"/>
          </a:xfrm>
          <a:prstGeom prst="rect">
            <a:avLst/>
          </a:prstGeom>
        </p:spPr>
      </p:pic>
      <p:grpSp>
        <p:nvGrpSpPr>
          <p:cNvPr id="20" name="Group 11">
            <a:extLst>
              <a:ext uri="{FF2B5EF4-FFF2-40B4-BE49-F238E27FC236}">
                <a16:creationId xmlns:a16="http://schemas.microsoft.com/office/drawing/2014/main" id="{16194D69-A653-4691-8CB2-BFAB02AD6B0D}"/>
              </a:ext>
            </a:extLst>
          </p:cNvPr>
          <p:cNvGrpSpPr>
            <a:grpSpLocks/>
          </p:cNvGrpSpPr>
          <p:nvPr/>
        </p:nvGrpSpPr>
        <p:grpSpPr bwMode="auto">
          <a:xfrm>
            <a:off x="666051" y="3845138"/>
            <a:ext cx="8353425" cy="2382838"/>
            <a:chOff x="97" y="1127"/>
            <a:chExt cx="5262" cy="1501"/>
          </a:xfrm>
        </p:grpSpPr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4E921033-4269-4E7A-A35A-3ED957C90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" y="1127"/>
              <a:ext cx="5262" cy="15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在一阶逻辑中：</a:t>
              </a:r>
            </a:p>
            <a:p>
              <a:pPr>
                <a:spcBef>
                  <a:spcPct val="3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(1)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，其中，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：墨西哥，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F(x)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位于北美洲 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  <a:p>
              <a:pPr>
                <a:spcBef>
                  <a:spcPct val="3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(2) 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b="1" dirty="0">
                  <a:latin typeface="Times New Roman" panose="02020603050405020304" pitchFamily="18" charset="0"/>
                </a:rPr>
                <a:t>(      )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G</a:t>
              </a:r>
              <a:r>
                <a:rPr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      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，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spcBef>
                  <a:spcPct val="3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        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其中，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F(x)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是无理数，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G(x)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是有理数</a:t>
              </a:r>
            </a:p>
            <a:p>
              <a:pPr>
                <a:spcBef>
                  <a:spcPct val="3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(3)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(2, 3)</a:t>
              </a:r>
              <a:r>
                <a:rPr lang="en-US" altLang="zh-CN" sz="2400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(3, 4)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，其中，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F(x, y)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x&gt;y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G(x, y)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x&lt;y</a:t>
              </a:r>
            </a:p>
          </p:txBody>
        </p:sp>
        <p:graphicFrame>
          <p:nvGraphicFramePr>
            <p:cNvPr id="22" name="Object 5">
              <a:extLst>
                <a:ext uri="{FF2B5EF4-FFF2-40B4-BE49-F238E27FC236}">
                  <a16:creationId xmlns:a16="http://schemas.microsoft.com/office/drawing/2014/main" id="{31A1205A-DB98-40DB-9F56-3E34992D990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59" y="1798"/>
            <a:ext cx="31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8" imgW="241091" imgH="215713" progId="Equation.3">
                    <p:embed/>
                  </p:oleObj>
                </mc:Choice>
                <mc:Fallback>
                  <p:oleObj name="Microsoft 公式 3.0" r:id="rId8" imgW="241091" imgH="215713" progId="Equation.3">
                    <p:embed/>
                    <p:pic>
                      <p:nvPicPr>
                        <p:cNvPr id="22" name="Object 5">
                          <a:extLst>
                            <a:ext uri="{FF2B5EF4-FFF2-40B4-BE49-F238E27FC236}">
                              <a16:creationId xmlns:a16="http://schemas.microsoft.com/office/drawing/2014/main" id="{31A1205A-DB98-40DB-9F56-3E34992D990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" y="1798"/>
                          <a:ext cx="31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7">
              <a:extLst>
                <a:ext uri="{FF2B5EF4-FFF2-40B4-BE49-F238E27FC236}">
                  <a16:creationId xmlns:a16="http://schemas.microsoft.com/office/drawing/2014/main" id="{9C1B3595-0287-41D2-B79B-9A955A870B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6" y="1759"/>
            <a:ext cx="26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9" imgW="228600" imgH="228600" progId="Equation.3">
                    <p:embed/>
                  </p:oleObj>
                </mc:Choice>
                <mc:Fallback>
                  <p:oleObj name="Microsoft 公式 3.0" r:id="rId9" imgW="228600" imgH="228600" progId="Equation.3">
                    <p:embed/>
                    <p:pic>
                      <p:nvPicPr>
                        <p:cNvPr id="23" name="Object 7">
                          <a:extLst>
                            <a:ext uri="{FF2B5EF4-FFF2-40B4-BE49-F238E27FC236}">
                              <a16:creationId xmlns:a16="http://schemas.microsoft.com/office/drawing/2014/main" id="{9C1B3595-0287-41D2-B79B-9A955A870B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" y="1759"/>
                          <a:ext cx="26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8DB63E41-AB6D-4633-A63C-06CA93DE30D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0B9B32-75B3-4496-8283-70555ECBAD92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A52978-B4E8-6597-9F81-D0C24914F71D}"/>
              </a:ext>
            </a:extLst>
          </p:cNvPr>
          <p:cNvSpPr txBox="1"/>
          <p:nvPr/>
        </p:nvSpPr>
        <p:spPr>
          <a:xfrm>
            <a:off x="7936007" y="4694945"/>
            <a:ext cx="1975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注意当且仅当要使用蕴含联结词</a:t>
            </a:r>
          </a:p>
        </p:txBody>
      </p:sp>
    </p:spTree>
    <p:extLst>
      <p:ext uri="{BB962C8B-B14F-4D97-AF65-F5344CB8AC3E}">
        <p14:creationId xmlns:p14="http://schemas.microsoft.com/office/powerpoint/2010/main" val="374287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28907593-C829-4B17-962A-4E9705669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89" y="1475208"/>
            <a:ext cx="820737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例2  在一阶逻辑中将下面命题符号化</a:t>
            </a: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(1) 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人都爱美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 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有人用左手写字</a:t>
            </a: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个体域分别为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(a)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为人类集合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(b)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为全总个体域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D4BFE1E0-6D24-49C3-883D-0CD591D15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9" y="2843633"/>
            <a:ext cx="61198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(a)  (1)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),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爱美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DC2E32C3-378C-44AC-8662-04BACFD36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25" y="3366804"/>
            <a:ext cx="611981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),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用左手写字                                     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FCA85A7A-A97F-46BD-B9EC-8057E938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619" y="3983670"/>
            <a:ext cx="61198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(b)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为人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</a:t>
            </a:r>
            <a:r>
              <a:rPr lang="zh-CN" altLang="zh-CN" kern="0" dirty="0">
                <a:solidFill>
                  <a:srgbClr val="000000"/>
                </a:solidFill>
              </a:rPr>
              <a:t>(a)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67C8F14E-475B-4378-B5FE-20CF28EE3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704" y="4493496"/>
            <a:ext cx="59769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(1)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（全称量词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蕴涵）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2E9A61A5-FD6A-4B68-B493-ED4845287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29" y="5051412"/>
            <a:ext cx="568801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kern="0" dirty="0">
                <a:solidFill>
                  <a:srgbClr val="992677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（存在量词</a:t>
            </a:r>
            <a:r>
              <a:rPr lang="zh-CN" altLang="en-US" kern="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接</a:t>
            </a:r>
            <a:r>
              <a:rPr lang="zh-CN" altLang="en-US" kern="0" dirty="0">
                <a:solidFill>
                  <a:srgbClr val="992677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合取）</a:t>
            </a:r>
            <a:r>
              <a:rPr lang="zh-CN" altLang="zh-CN" kern="0" dirty="0">
                <a:solidFill>
                  <a:srgbClr val="992677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054CDCBA-B850-480D-A09D-61B8F2432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9" y="5651920"/>
            <a:ext cx="1144569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None/>
              <a:defRPr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引入特性谓词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</a:rPr>
              <a:t>:</a:t>
            </a:r>
            <a:r>
              <a:rPr lang="zh-CN" altLang="en-US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是‌明确限定个体变项取值范围‌的特定谓词</a:t>
            </a:r>
            <a:endParaRPr lang="en-US" altLang="zh-CN" sz="2000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fontAlgn="base">
              <a:spcAft>
                <a:spcPct val="0"/>
              </a:spcAft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</a:t>
            </a:r>
            <a:r>
              <a:rPr lang="zh-CN" altLang="en-US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用于把个体从全总个体域中分离出来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2. (1),(2)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是一阶逻辑中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两个“基本”公式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（极其重要）！！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CFA003-A339-415B-AD08-94C81B2D1DB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B90FAB-A76F-4321-8ADD-A47040CD2301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</p:spTree>
    <p:extLst>
      <p:ext uri="{BB962C8B-B14F-4D97-AF65-F5344CB8AC3E}">
        <p14:creationId xmlns:p14="http://schemas.microsoft.com/office/powerpoint/2010/main" val="230923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autoUpdateAnimBg="0"/>
      <p:bldP spid="36" grpId="0" autoUpdateAnimBg="0"/>
      <p:bldP spid="39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D91B59A-F53E-4579-9D3F-0627B967A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3" y="1498658"/>
            <a:ext cx="82296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例3 在一阶逻辑中将下面命题符号化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(1)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正数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都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大于负数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(2) 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有的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无理数大于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有的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有理数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CE96B3A4-A01E-4A26-9CDE-4869DD43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63" y="3009958"/>
            <a:ext cx="82296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解 注意：题目中没给个体域，一律用全总个体域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(1)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为正数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为负数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58B720D9-B24F-4FBA-8484-105A79FA0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463" y="4018021"/>
            <a:ext cx="655320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)))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4137BE3A-C4BF-431F-987D-16BA170A7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126" y="5027671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(2)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是无理数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是有理数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)：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6CDE653B-E4BB-47AE-BD84-723C95337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901" y="5585092"/>
            <a:ext cx="5400675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或者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BD9CEA-B28F-4CA8-977D-4A52043D33A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3799D0-8618-4717-83F3-714252A968E5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833E59-52A0-62F1-B76A-F426E17FE238}"/>
              </a:ext>
            </a:extLst>
          </p:cNvPr>
          <p:cNvSpPr txBox="1"/>
          <p:nvPr/>
        </p:nvSpPr>
        <p:spPr>
          <a:xfrm>
            <a:off x="6254803" y="4091046"/>
            <a:ext cx="4072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把所有表示范围的可以全部放在最前面</a:t>
            </a:r>
            <a:endParaRPr lang="en-US" altLang="zh-CN" dirty="0"/>
          </a:p>
          <a:p>
            <a:r>
              <a:rPr lang="zh-CN" altLang="en-US" dirty="0"/>
              <a:t>即量词</a:t>
            </a:r>
            <a:r>
              <a:rPr lang="en-US" altLang="zh-CN" dirty="0"/>
              <a:t>+</a:t>
            </a:r>
            <a:r>
              <a:rPr lang="zh-CN" altLang="en-US" dirty="0"/>
              <a:t>指导变元</a:t>
            </a:r>
            <a:endParaRPr lang="en-US" altLang="zh-CN" dirty="0"/>
          </a:p>
          <a:p>
            <a:r>
              <a:rPr lang="zh-CN" altLang="en-US" dirty="0"/>
              <a:t>表示范围的谓词变量（谓词变量使用</a:t>
            </a:r>
            <a:r>
              <a:rPr lang="zh-CN" altLang="zh-CN" b="1" kern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4511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29" grpId="0" autoUpdateAnimBg="0"/>
      <p:bldP spid="30" grpId="0" autoUpdateAnimBg="0"/>
      <p:bldP spid="3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FC28F918-4C04-4BE7-98DE-4DC59513B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9" y="1630722"/>
            <a:ext cx="822960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例4 在一阶逻辑中将下面命题符号化</a:t>
            </a:r>
          </a:p>
          <a:p>
            <a:pPr eaLnBrk="1" hangingPunct="1">
              <a:buNone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(1)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没有不呼吸的人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(2) </a:t>
            </a:r>
            <a:r>
              <a:rPr lang="zh-CN" altLang="zh-CN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所有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的人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喜欢吃糖</a:t>
            </a: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A7C234F2-1AA2-41D6-8792-1370D346B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84" y="3130966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(1)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呼吸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5CFA915A-77D6-434D-8F4F-577E75A1F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3610391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7407B687-2C66-4F48-B85F-02DC49275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4115216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A126D510-F0E5-4BCA-82E9-C51F65E51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34" y="4689891"/>
            <a:ext cx="5472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是人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喜欢吃糖</a:t>
            </a: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C4E2F5FA-72B6-43FB-A156-A4F655379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5651916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9336A60C-08E9-4B02-9356-66E3D61F8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72" y="5147091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991EB9-F211-43A6-B054-BC1B38B1BEE9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4B89E93-DA12-4B44-B023-4DA59CE47AC2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</p:spTree>
    <p:extLst>
      <p:ext uri="{BB962C8B-B14F-4D97-AF65-F5344CB8AC3E}">
        <p14:creationId xmlns:p14="http://schemas.microsoft.com/office/powerpoint/2010/main" val="428990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  <p:bldP spid="26" grpId="0" autoUpdateAnimBg="0"/>
      <p:bldP spid="27" grpId="0" autoUpdateAnimBg="0"/>
      <p:bldP spid="28" grpId="0" autoUpdateAnimBg="0"/>
      <p:bldP spid="2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一阶逻辑基本概念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55A0B8-A115-4C5D-BE80-AF6C1C7BA553}"/>
              </a:ext>
            </a:extLst>
          </p:cNvPr>
          <p:cNvSpPr txBox="1"/>
          <p:nvPr/>
        </p:nvSpPr>
        <p:spPr>
          <a:xfrm>
            <a:off x="6785597" y="991738"/>
            <a:ext cx="891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量词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4FF43-53DF-425D-A6BC-C9A286C0335A}"/>
              </a:ext>
            </a:extLst>
          </p:cNvPr>
          <p:cNvSpPr txBox="1"/>
          <p:nvPr/>
        </p:nvSpPr>
        <p:spPr>
          <a:xfrm>
            <a:off x="3625459" y="988869"/>
            <a:ext cx="121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谓词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17B5012-25D6-4653-9F96-64CEC371D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32" y="1578964"/>
            <a:ext cx="822960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例5 设个体域为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实数域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（全总个体域）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将下面命题符号化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(1)  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(2)  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使得对</a:t>
            </a:r>
            <a:r>
              <a:rPr lang="zh-CN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每一个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都有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FDFC140B-181A-4DA1-AF9E-6B10D8B77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57" y="3130968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D66C6FDC-6820-410A-A90C-6D061FB89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014" y="3722536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(1) 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B09F30BA-11E6-44AA-960F-46C9627D7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039" y="5187799"/>
            <a:ext cx="54006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注意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sym typeface="Symbol" panose="05050102010706020507" pitchFamily="18" charset="2"/>
              </a:rPr>
              <a:t></a:t>
            </a:r>
            <a:r>
              <a:rPr lang="zh-CN" altLang="zh-CN" kern="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与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sym typeface="Symbol" panose="05050102010706020507" pitchFamily="18" charset="2"/>
              </a:rPr>
              <a:t>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不能随意交换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显然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是真命题,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是假命题</a:t>
            </a: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69E976F9-BFC4-47F7-81D5-E0BE04734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014" y="4298799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 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yL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00E70C-FDE9-4D3E-AD99-03DFF5F2ECD1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个体词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76A89E-BD2B-4726-AAF4-179BA8877AD6}"/>
              </a:ext>
            </a:extLst>
          </p:cNvPr>
          <p:cNvSpPr txBox="1"/>
          <p:nvPr/>
        </p:nvSpPr>
        <p:spPr>
          <a:xfrm>
            <a:off x="9462655" y="977361"/>
            <a:ext cx="233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一阶逻辑命题符号化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868C28-303B-B7E6-AF26-5AA94FE1C60C}"/>
              </a:ext>
            </a:extLst>
          </p:cNvPr>
          <p:cNvSpPr txBox="1"/>
          <p:nvPr/>
        </p:nvSpPr>
        <p:spPr>
          <a:xfrm>
            <a:off x="4049486" y="3503919"/>
            <a:ext cx="4956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不需要使用谓词变量来限定范围的</a:t>
            </a:r>
            <a:endParaRPr lang="en-US" altLang="zh-CN" dirty="0"/>
          </a:p>
          <a:p>
            <a:r>
              <a:rPr lang="zh-CN" altLang="en-US" dirty="0"/>
              <a:t>直接将</a:t>
            </a:r>
            <a:r>
              <a:rPr lang="zh-CN" altLang="en-US" dirty="0">
                <a:highlight>
                  <a:srgbClr val="FFFF00"/>
                </a:highlight>
              </a:rPr>
              <a:t>量词</a:t>
            </a:r>
            <a:r>
              <a:rPr lang="en-US" altLang="zh-CN" dirty="0">
                <a:highlight>
                  <a:srgbClr val="FFFF00"/>
                </a:highlight>
              </a:rPr>
              <a:t>+</a:t>
            </a:r>
            <a:r>
              <a:rPr lang="zh-CN" altLang="en-US" dirty="0">
                <a:highlight>
                  <a:srgbClr val="FFFF00"/>
                </a:highlight>
              </a:rPr>
              <a:t>指导变元</a:t>
            </a:r>
            <a:r>
              <a:rPr lang="zh-CN" altLang="en-US" dirty="0"/>
              <a:t>写在</a:t>
            </a:r>
            <a:r>
              <a:rPr lang="zh-CN" altLang="en-US" dirty="0">
                <a:highlight>
                  <a:srgbClr val="FFFF00"/>
                </a:highlight>
              </a:rPr>
              <a:t>最前面</a:t>
            </a:r>
          </a:p>
        </p:txBody>
      </p:sp>
    </p:spTree>
    <p:extLst>
      <p:ext uri="{BB962C8B-B14F-4D97-AF65-F5344CB8AC3E}">
        <p14:creationId xmlns:p14="http://schemas.microsoft.com/office/powerpoint/2010/main" val="239819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 autoUpdateAnimBg="0"/>
      <p:bldP spid="22" grpId="0" autoUpdateAnimBg="0"/>
      <p:bldP spid="2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35" name="Text Box 10">
            <a:extLst>
              <a:ext uri="{FF2B5EF4-FFF2-40B4-BE49-F238E27FC236}">
                <a16:creationId xmlns:a16="http://schemas.microsoft.com/office/drawing/2014/main" id="{6C7FC40C-106C-42F6-A3CD-D465DC451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69" y="1386233"/>
            <a:ext cx="8569325" cy="320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给定解释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如下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(a)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个体域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=R</a:t>
            </a:r>
          </a:p>
          <a:p>
            <a:pPr lvl="0" fontAlgn="base">
              <a:spcAft>
                <a:spcPct val="0"/>
              </a:spcAft>
              <a:buClrTx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(b)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= 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0</a:t>
            </a:r>
            <a:endParaRPr kumimoji="0" lang="zh-CN" altLang="zh-CN" sz="2400" b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(c)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zh-CN" kern="0" dirty="0">
                <a:solidFill>
                  <a:srgbClr val="000000"/>
                </a:solidFill>
              </a:rPr>
              <a:t>(d)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写出下列公式在</a:t>
            </a:r>
            <a:r>
              <a:rPr lang="zh-CN" altLang="zh-CN" i="1" kern="0" dirty="0">
                <a:solidFill>
                  <a:srgbClr val="000000"/>
                </a:solidFill>
              </a:rPr>
              <a:t>I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的解释, 并指出它的真值.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60A25F4A-DDA1-4C91-B4FC-33F1E8EB1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46" y="4354778"/>
            <a:ext cx="8569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AF075502-CC50-45D3-9D58-DEB115878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031" y="4383637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0)         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真</a:t>
            </a:r>
            <a:endParaRPr lang="zh-CN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BE398559-F6CE-4E6A-91C3-8F5BA3651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680" y="5216945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))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8BC895D0-EB56-4CE5-8470-0BE1167B9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365" y="5198877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     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假</a:t>
            </a:r>
            <a:endParaRPr lang="zh-CN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Box 14">
            <a:extLst>
              <a:ext uri="{FF2B5EF4-FFF2-40B4-BE49-F238E27FC236}">
                <a16:creationId xmlns:a16="http://schemas.microsoft.com/office/drawing/2014/main" id="{5AA27E81-27BA-4832-A8BC-6CA5C6C70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210" y="6081696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),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A16F86B7-42A8-4CF8-AA91-BF4B9A79A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242" y="6073801"/>
            <a:ext cx="6134576" cy="459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=0)                   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真值不定, 不是命题</a:t>
            </a:r>
            <a:endParaRPr lang="zh-CN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C262EA49-6AA4-4CB3-9993-5EF720383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016" y="2713555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ClrTx/>
              <a:buNone/>
              <a:defRPr/>
            </a:pP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+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=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zh-CN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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DDC66BE5-DACA-4C15-9A86-3B80778EA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096" y="3141281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0" fontAlgn="base">
              <a:spcAft>
                <a:spcPct val="0"/>
              </a:spcAft>
              <a:buClrTx/>
              <a:buNone/>
              <a:defRPr/>
            </a:pP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: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=</a:t>
            </a:r>
            <a:r>
              <a:rPr lang="en-US" altLang="zh-CN" kern="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zh-CN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88B412-D89D-DD02-397A-D05FCF807799}"/>
              </a:ext>
            </a:extLst>
          </p:cNvPr>
          <p:cNvSpPr txBox="1"/>
          <p:nvPr/>
        </p:nvSpPr>
        <p:spPr>
          <a:xfrm>
            <a:off x="5652031" y="2074689"/>
            <a:ext cx="3776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解释与赋值就是把一系列条件代入</a:t>
            </a:r>
            <a:endParaRPr lang="en-US" altLang="zh-CN" dirty="0"/>
          </a:p>
          <a:p>
            <a:r>
              <a:rPr lang="zh-CN" altLang="en-US" dirty="0"/>
              <a:t>看最终是否为命题</a:t>
            </a:r>
            <a:endParaRPr lang="en-US" altLang="zh-CN" dirty="0"/>
          </a:p>
          <a:p>
            <a:r>
              <a:rPr lang="zh-CN" altLang="en-US" dirty="0"/>
              <a:t>如果是命题其真值为何</a:t>
            </a:r>
          </a:p>
        </p:txBody>
      </p:sp>
    </p:spTree>
    <p:extLst>
      <p:ext uri="{BB962C8B-B14F-4D97-AF65-F5344CB8AC3E}">
        <p14:creationId xmlns:p14="http://schemas.microsoft.com/office/powerpoint/2010/main" val="181269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AE84419E-A3CC-4095-9514-23AF912E814B}"/>
              </a:ext>
            </a:extLst>
          </p:cNvPr>
          <p:cNvSpPr txBox="1">
            <a:spLocks/>
          </p:cNvSpPr>
          <p:nvPr/>
        </p:nvSpPr>
        <p:spPr bwMode="auto">
          <a:xfrm>
            <a:off x="431321" y="1395365"/>
            <a:ext cx="11424224" cy="1002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判断下列公式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中哪些是逻辑有效式？哪些是矛盾式？</a:t>
            </a:r>
            <a:r>
              <a:rPr lang="zh-CN" altLang="en-US" sz="20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kern="0" dirty="0">
                <a:solidFill>
                  <a:srgbClr val="992677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根据定义或代换实例</a:t>
            </a:r>
            <a:r>
              <a:rPr lang="zh-CN" altLang="en-US" sz="20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zh-CN" sz="20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(1) ∀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)→∃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8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91E0BAF0-0581-49B1-AD18-C58856D2FDE0}"/>
              </a:ext>
            </a:extLst>
          </p:cNvPr>
          <p:cNvSpPr txBox="1"/>
          <p:nvPr/>
        </p:nvSpPr>
        <p:spPr>
          <a:xfrm>
            <a:off x="387921" y="2536168"/>
            <a:ext cx="11645928" cy="100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           设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I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为任意的解释，若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为假，则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)→∃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为真，则</a:t>
            </a:r>
            <a:r>
              <a:rPr 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也为真，所以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)→∃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也为真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是逻辑有效式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DFE7A2F3-8208-4358-A570-C9712839F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624571"/>
            <a:ext cx="92226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(2) ∀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)→(∀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)→∀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18EC972C-0AAA-4E69-B9BD-C42E01A2963D}"/>
              </a:ext>
            </a:extLst>
          </p:cNvPr>
          <p:cNvSpPr txBox="1"/>
          <p:nvPr/>
        </p:nvSpPr>
        <p:spPr>
          <a:xfrm>
            <a:off x="819241" y="4019414"/>
            <a:ext cx="10710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重言式</a:t>
            </a:r>
            <a:r>
              <a:rPr lang="en-US" sz="28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→(</a:t>
            </a:r>
            <a:r>
              <a:rPr lang="en-US" sz="28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en-US" sz="28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</a:t>
            </a:r>
            <a:r>
              <a:rPr lang="en-US" sz="28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的代换实例，是逻辑有效式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0E7E297D-F09B-4CD3-9171-F56E619AFCD3}"/>
              </a:ext>
            </a:extLst>
          </p:cNvPr>
          <p:cNvSpPr txBox="1">
            <a:spLocks/>
          </p:cNvSpPr>
          <p:nvPr/>
        </p:nvSpPr>
        <p:spPr bwMode="auto">
          <a:xfrm>
            <a:off x="743587" y="4651030"/>
            <a:ext cx="8229600" cy="636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∀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)→(∀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C2675FE2-744A-437A-90BB-D0FBD2B5E646}"/>
              </a:ext>
            </a:extLst>
          </p:cNvPr>
          <p:cNvSpPr txBox="1"/>
          <p:nvPr/>
        </p:nvSpPr>
        <p:spPr>
          <a:xfrm>
            <a:off x="847543" y="5083376"/>
            <a:ext cx="74295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重言式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∨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的代换实例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是逻辑有效式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439AD64F-AFC1-44E0-AEB7-FDA1172B7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28" y="5753995"/>
            <a:ext cx="6643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9A514458-3AD2-4862-AD24-FA6DCC1AB0AB}"/>
              </a:ext>
            </a:extLst>
          </p:cNvPr>
          <p:cNvSpPr txBox="1"/>
          <p:nvPr/>
        </p:nvSpPr>
        <p:spPr>
          <a:xfrm>
            <a:off x="821665" y="6224407"/>
            <a:ext cx="707231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矛盾式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lang="en-US" sz="24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→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∧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q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的代换实例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是矛盾式</a:t>
            </a:r>
            <a:r>
              <a:rPr 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CE0D8A-FD88-75C7-820F-D8649195B3D5}"/>
              </a:ext>
            </a:extLst>
          </p:cNvPr>
          <p:cNvSpPr txBox="1"/>
          <p:nvPr/>
        </p:nvSpPr>
        <p:spPr>
          <a:xfrm>
            <a:off x="7393915" y="3903489"/>
            <a:ext cx="413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先尝试使用代换实例来表示命题，看能否直接判断真假。否则只能通过定义。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2E02201-3712-D247-4592-68063A33019B}"/>
                  </a:ext>
                </a:extLst>
              </p:cNvPr>
              <p:cNvSpPr txBox="1"/>
              <p:nvPr/>
            </p:nvSpPr>
            <p:spPr>
              <a:xfrm>
                <a:off x="4173090" y="2037567"/>
                <a:ext cx="56932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如果写成命题就是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  <a:cs typeface="Times New Roman" pitchFamily="18" charset="0"/>
                      </a:rPr>
                      <m:t>→</m:t>
                    </m:r>
                    <m:r>
                      <a:rPr lang="en-US" altLang="zh-CN" b="1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  <a:cs typeface="Times New Roman" pitchFamily="18" charset="0"/>
                      </a:rPr>
                      <m:t>𝒒</m:t>
                    </m:r>
                    <m:r>
                      <a:rPr lang="zh-CN" altLang="en-US" b="1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  <a:cs typeface="Times New Roman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判断不出来只能看定义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2E02201-3712-D247-4592-68063A330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090" y="2037567"/>
                <a:ext cx="5693209" cy="369332"/>
              </a:xfrm>
              <a:prstGeom prst="rect">
                <a:avLst/>
              </a:prstGeom>
              <a:blipFill>
                <a:blip r:embed="rId3"/>
                <a:stretch>
                  <a:fillRect l="-96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09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5" grpId="0"/>
      <p:bldP spid="26" grpId="0"/>
      <p:bldP spid="2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一阶逻辑公式及解释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合式公式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F77F956-4C76-472E-8AAC-685D4F03C5D6}"/>
              </a:ext>
            </a:extLst>
          </p:cNvPr>
          <p:cNvSpPr txBox="1"/>
          <p:nvPr/>
        </p:nvSpPr>
        <p:spPr>
          <a:xfrm>
            <a:off x="10136034" y="977361"/>
            <a:ext cx="1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公式的分类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7203058" y="991738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解释与赋值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35DF80B-CCE8-499C-8CD1-7B8F8C0A314E}"/>
              </a:ext>
            </a:extLst>
          </p:cNvPr>
          <p:cNvSpPr txBox="1"/>
          <p:nvPr/>
        </p:nvSpPr>
        <p:spPr>
          <a:xfrm>
            <a:off x="2544792" y="988869"/>
            <a:ext cx="415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个体变项的自由出现与约束出现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E4366DBA-FE58-44F6-835A-F839C987F015}"/>
              </a:ext>
            </a:extLst>
          </p:cNvPr>
          <p:cNvSpPr txBox="1">
            <a:spLocks/>
          </p:cNvSpPr>
          <p:nvPr/>
        </p:nvSpPr>
        <p:spPr bwMode="auto">
          <a:xfrm>
            <a:off x="500332" y="1496861"/>
            <a:ext cx="11426654" cy="393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(5) ∀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yF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)→∃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yF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6AC43616-41AC-4AE3-B398-B9C145A3DD27}"/>
              </a:ext>
            </a:extLst>
          </p:cNvPr>
          <p:cNvSpPr txBox="1"/>
          <p:nvPr/>
        </p:nvSpPr>
        <p:spPr>
          <a:xfrm>
            <a:off x="471757" y="1932316"/>
            <a:ext cx="1140681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取解释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：个体域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N, 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F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x,y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.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公式被解释为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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∃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∀</a:t>
            </a:r>
            <a:r>
              <a:rPr lang="en-US" sz="2400" b="1" i="1" dirty="0" err="1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x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，其值为假</a:t>
            </a:r>
            <a:r>
              <a:rPr 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14FAEDB1-3B63-413A-AA8E-7AAA72630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37" y="2542336"/>
            <a:ext cx="11307627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解释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：个体域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得到一个新的在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公式被解释为   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∀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∃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∃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∀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，其值为真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是非逻辑有效式的可满足式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6226AB4-14FF-45C3-9DD7-E1E9FF52BF6D}"/>
              </a:ext>
            </a:extLst>
          </p:cNvPr>
          <p:cNvSpPr txBox="1">
            <a:spLocks/>
          </p:cNvSpPr>
          <p:nvPr/>
        </p:nvSpPr>
        <p:spPr>
          <a:xfrm>
            <a:off x="491706" y="3875776"/>
            <a:ext cx="9885872" cy="601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(6) ∃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5B0CAAFB-92D2-4427-B39D-AA6303140C11}"/>
              </a:ext>
            </a:extLst>
          </p:cNvPr>
          <p:cNvSpPr txBox="1"/>
          <p:nvPr/>
        </p:nvSpPr>
        <p:spPr>
          <a:xfrm>
            <a:off x="575274" y="4327406"/>
            <a:ext cx="11355058" cy="113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取解释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：个体域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N, </a:t>
            </a: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dirty="0" err="1">
                <a:latin typeface="Times New Roman" pitchFamily="18" charset="0"/>
                <a:ea typeface="+mn-ea"/>
                <a:cs typeface="Times New Roman" pitchFamily="18" charset="0"/>
              </a:rPr>
              <a:t>x,y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x&lt;y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赋值</a:t>
            </a:r>
            <a:r>
              <a:rPr lang="zh-CN" altLang="en-US" sz="2400" b="1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1</a:t>
            </a: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：</a:t>
            </a:r>
            <a:r>
              <a:rPr lang="zh-CN" altLang="en-US" sz="2400" b="1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(y)=1.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在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和</a:t>
            </a:r>
            <a:r>
              <a:rPr lang="zh-CN" altLang="en-US" sz="2400" b="1" i="1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∃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&lt;1)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，真命题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249B1D32-0A71-4DB4-966E-927F9AE61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" y="5541723"/>
            <a:ext cx="11612563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取解释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: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个体域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赋值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(y)=0.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&lt;0)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 假命题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是非逻辑有效式的可满足式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642ECE4-05BC-5BAC-ADA6-CBCC31E21207}"/>
                  </a:ext>
                </a:extLst>
              </p:cNvPr>
              <p:cNvSpPr txBox="1"/>
              <p:nvPr/>
            </p:nvSpPr>
            <p:spPr>
              <a:xfrm>
                <a:off x="4356453" y="1461387"/>
                <a:ext cx="56932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如果写成命题就是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  <a:cs typeface="Times New Roman" pitchFamily="18" charset="0"/>
                      </a:rPr>
                      <m:t>→</m:t>
                    </m:r>
                    <m:r>
                      <a:rPr lang="en-US" altLang="zh-CN" b="1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  <a:cs typeface="Times New Roman" pitchFamily="18" charset="0"/>
                      </a:rPr>
                      <m:t>𝒒</m:t>
                    </m:r>
                    <m:r>
                      <a:rPr lang="zh-CN" altLang="en-US" b="1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/>
                        <a:cs typeface="Times New Roman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判断不出来也可以取不同的解释（个体域、自由变量、函数、谓词变量）来判断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642ECE4-05BC-5BAC-ADA6-CBCC31E21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453" y="1461387"/>
                <a:ext cx="5693209" cy="646331"/>
              </a:xfrm>
              <a:prstGeom prst="rect">
                <a:avLst/>
              </a:prstGeom>
              <a:blipFill>
                <a:blip r:embed="rId3"/>
                <a:stretch>
                  <a:fillRect l="-964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4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5C35A8-C143-4175-9141-DD6CE4E3D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06" y="1460382"/>
            <a:ext cx="7783512" cy="108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将下面命题用两种形式符号化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并证明两者等值</a:t>
            </a:r>
          </a:p>
          <a:p>
            <a:pPr algn="just" eaLnBrk="1" hangingPunct="1"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没有不犯错误的人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29A7953-8DAF-4142-8B42-37D708FC3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348" y="2460625"/>
            <a:ext cx="7615238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犯错误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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999FECE-6548-4468-8D13-1D1D0CEB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5921" y="3365517"/>
            <a:ext cx="6624637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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量词否定等值式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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  <a:p>
            <a:pPr fontAlgn="base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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74F06D-7D48-AF2C-F1FD-0EAA90D8CBA1}"/>
              </a:ext>
            </a:extLst>
          </p:cNvPr>
          <p:cNvSpPr txBox="1"/>
          <p:nvPr/>
        </p:nvSpPr>
        <p:spPr>
          <a:xfrm>
            <a:off x="4201232" y="5984006"/>
            <a:ext cx="338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量词前有</a:t>
            </a:r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要将其消去</a:t>
            </a:r>
            <a:endParaRPr lang="zh-CN" alt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4F46112-28F9-46AB-BD09-108970789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857" y="1992634"/>
            <a:ext cx="5554663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(2)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不是所有的人都爱看电影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3DE1DDA-E114-4C05-B4EF-0CBC3A288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492" y="2413941"/>
            <a:ext cx="7615237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是人，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爱看电影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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4A8951-7A62-4076-962A-DC75035A5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681" y="3295409"/>
            <a:ext cx="6408738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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量词否定等值式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</p:txBody>
      </p:sp>
    </p:spTree>
    <p:extLst>
      <p:ext uri="{BB962C8B-B14F-4D97-AF65-F5344CB8AC3E}">
        <p14:creationId xmlns:p14="http://schemas.microsoft.com/office/powerpoint/2010/main" val="409473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  <p:bldP spid="3" grpId="0" autoUpdateAnimBg="0"/>
      <p:bldP spid="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9751760-4441-424E-AD33-F0495BB56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44" y="1476764"/>
            <a:ext cx="10394487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将公式化成等值的不含既有约束出现、又有自由出现的个体变项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z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)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yG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z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))</a:t>
            </a:r>
            <a:endParaRPr lang="en-US" altLang="zh-CN" kern="0" dirty="0">
              <a:latin typeface="Times New Roman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2BA9DBD-5297-4B75-80AD-289487EA5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33" y="2455424"/>
            <a:ext cx="10008894" cy="101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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t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换名规则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2B425B7-7596-4271-A0C2-E958463A6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501" y="3487805"/>
            <a:ext cx="10008894" cy="49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x,t,z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辖域扩张等值式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C8D5226-48EF-405D-9B4A-19BB6F508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52" y="4271725"/>
            <a:ext cx="10008894" cy="1527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或者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 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代替规则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C3FBF085-62B8-4DC7-BD47-88680A2A8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298" y="5836047"/>
            <a:ext cx="10008894" cy="49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x,u,z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x,y,z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辖域扩张等值式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A90F4D-ACB1-35E9-7E64-4E5176F4B2DD}"/>
              </a:ext>
            </a:extLst>
          </p:cNvPr>
          <p:cNvSpPr txBox="1"/>
          <p:nvPr/>
        </p:nvSpPr>
        <p:spPr>
          <a:xfrm>
            <a:off x="9843247" y="1519850"/>
            <a:ext cx="2348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相当于化成前束范式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2AF7D0-3C6E-2B21-6C2D-6BF84016774E}"/>
              </a:ext>
            </a:extLst>
          </p:cNvPr>
          <p:cNvSpPr txBox="1"/>
          <p:nvPr/>
        </p:nvSpPr>
        <p:spPr>
          <a:xfrm>
            <a:off x="7684034" y="2151141"/>
            <a:ext cx="3457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同一个个体变项即有约束出现又有自由出现的需要换名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换的是</a:t>
            </a:r>
            <a:r>
              <a:rPr lang="zh-CN" altLang="en-US" dirty="0">
                <a:highlight>
                  <a:srgbClr val="FFFF00"/>
                </a:highlight>
              </a:rPr>
              <a:t>约束出现</a:t>
            </a:r>
            <a:endParaRPr lang="en-US" altLang="zh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586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EBB2744-5BCC-470F-9250-BFBB4C5D2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23" y="1573654"/>
            <a:ext cx="8002588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设个体域</a:t>
            </a:r>
            <a:r>
              <a:rPr lang="en-US" altLang="zh-CN" i="1" kern="0" dirty="0">
                <a:latin typeface="Times New Roman" pitchFamily="18" charset="0"/>
              </a:rPr>
              <a:t>D</a:t>
            </a:r>
            <a:r>
              <a:rPr lang="en-US" altLang="zh-CN" kern="0" dirty="0">
                <a:latin typeface="Times New Roman" pitchFamily="18" charset="0"/>
              </a:rPr>
              <a:t>={</a:t>
            </a:r>
            <a:r>
              <a:rPr lang="en-US" altLang="zh-CN" i="1" kern="0" dirty="0" err="1">
                <a:latin typeface="Times New Roman" pitchFamily="18" charset="0"/>
              </a:rPr>
              <a:t>a</a:t>
            </a:r>
            <a:r>
              <a:rPr lang="en-US" altLang="zh-CN" kern="0" dirty="0" err="1">
                <a:latin typeface="Times New Roman" pitchFamily="18" charset="0"/>
              </a:rPr>
              <a:t>,</a:t>
            </a:r>
            <a:r>
              <a:rPr lang="en-US" altLang="zh-CN" i="1" kern="0" dirty="0" err="1">
                <a:latin typeface="Times New Roman" pitchFamily="18" charset="0"/>
              </a:rPr>
              <a:t>b</a:t>
            </a:r>
            <a:r>
              <a:rPr lang="en-US" altLang="zh-CN" kern="0" dirty="0" err="1">
                <a:latin typeface="Times New Roman" pitchFamily="18" charset="0"/>
              </a:rPr>
              <a:t>,</a:t>
            </a:r>
            <a:r>
              <a:rPr lang="en-US" altLang="zh-CN" i="1" kern="0" dirty="0" err="1">
                <a:latin typeface="Times New Roman" pitchFamily="18" charset="0"/>
              </a:rPr>
              <a:t>c</a:t>
            </a:r>
            <a:r>
              <a:rPr lang="en-US" altLang="zh-CN" kern="0" dirty="0">
                <a:latin typeface="Times New Roman" pitchFamily="18" charset="0"/>
              </a:rPr>
              <a:t>},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消去下述公式中的量词</a:t>
            </a:r>
            <a:r>
              <a:rPr lang="en-US" altLang="zh-CN" kern="0" dirty="0">
                <a:latin typeface="Times New Roman" pitchFamily="18" charset="0"/>
              </a:rPr>
              <a:t>: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(1) 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 err="1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i="1" kern="0" dirty="0" err="1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)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G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 kern="0" dirty="0">
                <a:latin typeface="Times New Roman" pitchFamily="18" charset="0"/>
                <a:sym typeface="Symbol" pitchFamily="18" charset="2"/>
              </a:rPr>
              <a:t>y</a:t>
            </a:r>
            <a:r>
              <a:rPr lang="en-US" altLang="zh-CN" kern="0" dirty="0">
                <a:latin typeface="Times New Roman" pitchFamily="18" charset="0"/>
                <a:sym typeface="Symbol" pitchFamily="18" charset="2"/>
              </a:rPr>
              <a:t>))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9882168-9938-438D-84C9-CCEEA6A2D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11" y="2437254"/>
            <a:ext cx="8137525" cy="1012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解法一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（直接代入）</a:t>
            </a:r>
            <a:endParaRPr lang="zh-CN" altLang="en-US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 (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(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(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759C2DA-C7A5-4EC9-AEE3-5198ADBCA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778" y="3487340"/>
            <a:ext cx="8137525" cy="152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Symbol" pitchFamily="18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(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Symbol" pitchFamily="18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(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B0F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2A336B0-8608-4C41-990E-A9F335857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594" y="5008389"/>
            <a:ext cx="8137525" cy="1012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Symbol" pitchFamily="18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 (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BADE94A-398C-4355-8F9B-DD0984AAF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899" y="5969984"/>
            <a:ext cx="8137525" cy="49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371AA2-39DF-ACC4-0110-080D87A189B1}"/>
              </a:ext>
            </a:extLst>
          </p:cNvPr>
          <p:cNvSpPr txBox="1"/>
          <p:nvPr/>
        </p:nvSpPr>
        <p:spPr>
          <a:xfrm>
            <a:off x="8636854" y="3150454"/>
            <a:ext cx="2796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zh-CN" altLang="en-US" dirty="0"/>
              <a:t>消去用</a:t>
            </a:r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endParaRPr lang="en-US" altLang="zh-CN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消去用</a:t>
            </a:r>
            <a:endParaRPr lang="en-US" altLang="zh-CN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先</a:t>
            </a:r>
            <a:r>
              <a:rPr lang="zh-CN" altLang="en-US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  <a:sym typeface="Symbol" pitchFamily="18" charset="2"/>
              </a:rPr>
              <a:t>后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7FCBF5-5345-5959-7AFD-7CDC818A4B17}"/>
              </a:ext>
            </a:extLst>
          </p:cNvPr>
          <p:cNvSpPr txBox="1"/>
          <p:nvPr/>
        </p:nvSpPr>
        <p:spPr>
          <a:xfrm>
            <a:off x="8951899" y="5008389"/>
            <a:ext cx="2796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同一个前件整个逻辑为</a:t>
            </a:r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endParaRPr lang="en-US" altLang="zh-CN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r>
              <a:rPr lang="zh-CN" altLang="en-US" dirty="0"/>
              <a:t>可以使用</a:t>
            </a:r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把后件合并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6B32E5-E70B-D788-0498-991F3CE1D18C}"/>
              </a:ext>
            </a:extLst>
          </p:cNvPr>
          <p:cNvSpPr txBox="1"/>
          <p:nvPr/>
        </p:nvSpPr>
        <p:spPr>
          <a:xfrm>
            <a:off x="5910425" y="5871832"/>
            <a:ext cx="2796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同一个后件整个逻辑为</a:t>
            </a:r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zh-CN" altLang="en-US" dirty="0"/>
              <a:t>可以使用</a:t>
            </a:r>
            <a:r>
              <a:rPr lang="zh-CN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把后件合并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244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B6CD1FE-A23D-4B59-9B77-14B32C3E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4313"/>
            <a:ext cx="7705725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解法二     </a:t>
            </a:r>
            <a:r>
              <a:rPr lang="zh-CN" altLang="en-US" sz="2400" b="1" dirty="0">
                <a:solidFill>
                  <a:srgbClr val="992677"/>
                </a:solidFill>
                <a:latin typeface="Arial" charset="0"/>
                <a:ea typeface="黑体" pitchFamily="49" charset="-122"/>
              </a:rPr>
              <a:t>（先辖域收缩，再代入）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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 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      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辖域缩小等值式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 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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 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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)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AC5296C-29C3-4F85-A9B9-98CCE6450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686" y="4889971"/>
            <a:ext cx="388937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(2) </a:t>
            </a: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C419F8D-8F26-4BA0-A18B-C4E01C78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242" y="4288979"/>
            <a:ext cx="5329237" cy="1012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        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 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4EE93FA-F413-4F5F-8142-B0F01A1EA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833" y="5382674"/>
            <a:ext cx="5329237" cy="152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c,a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20C127-1451-85A0-06BC-0B8A61FDF80D}"/>
              </a:ext>
            </a:extLst>
          </p:cNvPr>
          <p:cNvSpPr txBox="1"/>
          <p:nvPr/>
        </p:nvSpPr>
        <p:spPr>
          <a:xfrm>
            <a:off x="7845285" y="2569021"/>
            <a:ext cx="335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endParaRPr lang="en-US" altLang="zh-CN" kern="0" dirty="0">
              <a:latin typeface="Times New Roman" pitchFamily="18" charset="0"/>
            </a:endParaRPr>
          </a:p>
          <a:p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endParaRPr lang="zh-CN" altLang="en-US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619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autoUpdateAnimBg="0"/>
      <p:bldP spid="9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E44BB11-1E3D-4628-991E-231C6705A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46" y="1606342"/>
            <a:ext cx="7704137" cy="916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求下列公式的前束范式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(1) 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81C9E91F-F1B7-4ABF-A47E-CF916E626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37" y="2743100"/>
            <a:ext cx="9157678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fontAlgn="base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))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量词否定等值式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))      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两步结果都是前束范式，说明前束范式不唯一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.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D13B19-2705-EDFD-5E78-36DE7C69403D}"/>
              </a:ext>
            </a:extLst>
          </p:cNvPr>
          <p:cNvSpPr txBox="1"/>
          <p:nvPr/>
        </p:nvSpPr>
        <p:spPr>
          <a:xfrm>
            <a:off x="1152605" y="4579684"/>
            <a:ext cx="688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前束范式最前面不能有</a:t>
            </a:r>
            <a:r>
              <a:rPr lang="en-US" altLang="zh-CN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，要化入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55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EE579E4-D364-4F2E-B931-80C5542D0428}"/>
              </a:ext>
            </a:extLst>
          </p:cNvPr>
          <p:cNvSpPr txBox="1">
            <a:spLocks noChangeArrowheads="1"/>
          </p:cNvSpPr>
          <p:nvPr/>
        </p:nvSpPr>
        <p:spPr>
          <a:xfrm>
            <a:off x="508146" y="1442422"/>
            <a:ext cx="8143875" cy="151315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(2)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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808330A-B041-4E36-8649-4140C1DF4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843" y="1956772"/>
            <a:ext cx="7000875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</a:rPr>
              <a:t>)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（量词否定等值式）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))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（量词分配等值式）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8A053E32-A51A-4CEF-AEFE-B00E25B10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906" y="2880851"/>
            <a:ext cx="7643812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           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换名规则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))        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量词辖域扩张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6B5896B-2E0C-44C3-9A28-52078B8A1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00" y="4814334"/>
            <a:ext cx="7848600" cy="84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(3) 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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xG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r>
              <a:rPr lang="zh-CN" altLang="en-US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B8A6795E-B289-4C78-87C8-4292C8DDC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" y="5554447"/>
            <a:ext cx="54622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hangingPunct="1">
              <a:spcBef>
                <a:spcPts val="6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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（量词否定等值式）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（量词分配等值式）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6303024-2A9B-4E61-B1CE-CFE4305CA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429" y="5396733"/>
            <a:ext cx="5472757" cy="138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 eaLnBrk="1" hangingPunct="1">
              <a:lnSpc>
                <a:spcPct val="120000"/>
              </a:lnSpc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 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换名规则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量词辖域扩张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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量词辖域扩张 </a:t>
            </a:r>
            <a:r>
              <a: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39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69FC7BC-0787-4A0D-8038-5E38D08E1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52" y="1649884"/>
            <a:ext cx="6572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(4)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))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10E5925-6BB8-4433-96BE-DE92175D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52" y="2221384"/>
            <a:ext cx="6286500" cy="1483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</a:t>
            </a:r>
          </a:p>
          <a:p>
            <a:pPr algn="just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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)))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z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)))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5B340A6-6EB9-4FC6-A50D-E727FE113337}"/>
              </a:ext>
            </a:extLst>
          </p:cNvPr>
          <p:cNvSpPr txBox="1">
            <a:spLocks noChangeArrowheads="1"/>
          </p:cNvSpPr>
          <p:nvPr/>
        </p:nvSpPr>
        <p:spPr>
          <a:xfrm>
            <a:off x="578043" y="3872534"/>
            <a:ext cx="7993062" cy="4707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(5)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)))</a:t>
            </a:r>
          </a:p>
          <a:p>
            <a:pPr algn="just"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E75364E-76EB-4220-816B-1A994957F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43" y="4218735"/>
            <a:ext cx="7929562" cy="1956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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)))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 err="1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)))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不能颠倒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4EB046-177C-5080-A421-716600D61C8F}"/>
              </a:ext>
            </a:extLst>
          </p:cNvPr>
          <p:cNvSpPr txBox="1"/>
          <p:nvPr/>
        </p:nvSpPr>
        <p:spPr>
          <a:xfrm>
            <a:off x="5321925" y="3271738"/>
            <a:ext cx="6371359" cy="40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/>
              <a:t>分两次提前，先提前的放在前面。如果量词一样可以换顺序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2FC2CD-E52F-E364-04E3-F5A08F92E164}"/>
              </a:ext>
            </a:extLst>
          </p:cNvPr>
          <p:cNvSpPr txBox="1"/>
          <p:nvPr/>
        </p:nvSpPr>
        <p:spPr>
          <a:xfrm>
            <a:off x="5501655" y="2229176"/>
            <a:ext cx="570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自由出现与约束出现使用相同符号要化成不同符号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C98010-9995-F429-0E36-9CEF2BEC0C19}"/>
              </a:ext>
            </a:extLst>
          </p:cNvPr>
          <p:cNvSpPr txBox="1"/>
          <p:nvPr/>
        </p:nvSpPr>
        <p:spPr>
          <a:xfrm>
            <a:off x="6731100" y="2633514"/>
            <a:ext cx="335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endParaRPr lang="en-US" altLang="zh-CN" kern="0" dirty="0">
              <a:latin typeface="Times New Roman" pitchFamily="18" charset="0"/>
            </a:endParaRPr>
          </a:p>
          <a:p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</a:rPr>
              <a:t>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xA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(</a:t>
            </a:r>
            <a:r>
              <a:rPr lang="zh-CN" altLang="en-US" i="1" kern="0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</a:rPr>
              <a:t>)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endParaRPr lang="zh-CN" altLang="en-US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69D910-E1EE-BA94-CBBA-E7E64B9F0944}"/>
              </a:ext>
            </a:extLst>
          </p:cNvPr>
          <p:cNvSpPr txBox="1"/>
          <p:nvPr/>
        </p:nvSpPr>
        <p:spPr>
          <a:xfrm>
            <a:off x="5308385" y="4354741"/>
            <a:ext cx="570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自由出现与约束出现使用相同符号要化成不同符号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0B2DD9-987B-062A-B48F-67E20F4F077D}"/>
              </a:ext>
            </a:extLst>
          </p:cNvPr>
          <p:cNvSpPr txBox="1"/>
          <p:nvPr/>
        </p:nvSpPr>
        <p:spPr>
          <a:xfrm>
            <a:off x="5308385" y="4884950"/>
            <a:ext cx="4073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i="1" kern="0" dirty="0">
                <a:latin typeface="Times New Roman" pitchFamily="18" charset="0"/>
              </a:rPr>
              <a:t>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)) 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kern="0" dirty="0">
                <a:latin typeface="Times New Roman" pitchFamily="18" charset="0"/>
              </a:rPr>
              <a:t> </a:t>
            </a:r>
            <a:r>
              <a:rPr lang="zh-CN" altLang="en-US" i="1" kern="0" dirty="0">
                <a:latin typeface="Times New Roman" pitchFamily="18" charset="0"/>
              </a:rPr>
              <a:t>B</a:t>
            </a:r>
            <a:r>
              <a:rPr lang="zh-CN" altLang="en-US" kern="0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zh-CN" altLang="en-US" i="1" kern="0" dirty="0">
                <a:latin typeface="Times New Roman" pitchFamily="18" charset="0"/>
              </a:rPr>
              <a:t>xA</a:t>
            </a:r>
            <a:r>
              <a:rPr lang="zh-CN" altLang="en-US" kern="0" dirty="0">
                <a:latin typeface="Times New Roman" pitchFamily="18" charset="0"/>
              </a:rPr>
              <a:t>(</a:t>
            </a:r>
            <a:r>
              <a:rPr lang="zh-CN" altLang="en-US" i="1" kern="0" dirty="0">
                <a:latin typeface="Times New Roman" pitchFamily="18" charset="0"/>
              </a:rPr>
              <a:t>x</a:t>
            </a:r>
            <a:r>
              <a:rPr lang="zh-CN" altLang="en-US" kern="0" dirty="0">
                <a:latin typeface="Times New Roman" pitchFamily="18" charset="0"/>
              </a:rPr>
              <a:t>)</a:t>
            </a:r>
            <a:endParaRPr lang="en-US" altLang="zh-CN" kern="0" dirty="0">
              <a:latin typeface="Times New Roman" pitchFamily="18" charset="0"/>
            </a:endParaRPr>
          </a:p>
          <a:p>
            <a:r>
              <a:rPr lang="zh-CN" altLang="en-US" kern="0" dirty="0">
                <a:latin typeface="Times New Roman" pitchFamily="18" charset="0"/>
              </a:rPr>
              <a:t>此处最外面已经是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所有不用改变</a:t>
            </a:r>
            <a:endParaRPr lang="en-US" altLang="zh-CN" kern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3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2959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一阶逻辑等值式与前束范式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1B93E72-327D-4C9B-AD8A-57BE6CABA98E}"/>
              </a:ext>
            </a:extLst>
          </p:cNvPr>
          <p:cNvSpPr txBox="1"/>
          <p:nvPr/>
        </p:nvSpPr>
        <p:spPr>
          <a:xfrm>
            <a:off x="568036" y="949038"/>
            <a:ext cx="202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一阶逻辑等值式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5033A55-FB57-49CE-844F-001895830F98}"/>
              </a:ext>
            </a:extLst>
          </p:cNvPr>
          <p:cNvSpPr txBox="1"/>
          <p:nvPr/>
        </p:nvSpPr>
        <p:spPr>
          <a:xfrm>
            <a:off x="10418206" y="932744"/>
            <a:ext cx="1570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前束范式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BE797BF-3A6A-48EC-AE63-2E48ACC58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73163"/>
            <a:ext cx="4897437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(6)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latin typeface="Times New Roman" pitchFamily="18" charset="0"/>
              </a:rPr>
              <a:t>xF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latin typeface="Times New Roman" pitchFamily="18" charset="0"/>
              </a:rPr>
              <a:t>yG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BE5CB2F-5CD1-450C-913F-6812A6539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70" y="3962189"/>
            <a:ext cx="8229600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b="1" dirty="0">
                <a:latin typeface="Times New Roman" pitchFamily="18" charset="0"/>
              </a:rPr>
              <a:t>     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latin typeface="Times New Roman" pitchFamily="18" charset="0"/>
              </a:rPr>
              <a:t>xF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i="1" dirty="0" err="1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endParaRPr lang="en-US" altLang="zh-CN" sz="2400" b="1" dirty="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sym typeface="Symbol" pitchFamily="18" charset="2"/>
              </a:rPr>
              <a:t> 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latin typeface="Times New Roman" pitchFamily="18" charset="0"/>
              </a:rPr>
              <a:t>xF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))                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))  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26FEED72-900F-4A0A-8809-A877542A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77988"/>
            <a:ext cx="8229600" cy="146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i="1" dirty="0" err="1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latin typeface="Times New Roman" pitchFamily="18" charset="0"/>
              </a:rPr>
              <a:t>yG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endParaRPr lang="en-US" altLang="zh-CN" sz="2400" b="1" dirty="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    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2400" b="1" i="1" dirty="0" err="1">
                <a:latin typeface="Times New Roman" pitchFamily="18" charset="0"/>
              </a:rPr>
              <a:t>yG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))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    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itchFamily="18" charset="0"/>
              </a:rPr>
              <a:t>y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))        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辖域扩张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1190936-155B-4D18-8456-4FA6D0CBE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6300509"/>
            <a:ext cx="8229600" cy="39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问：为什么此处</a:t>
            </a:r>
            <a:r>
              <a:rPr lang="en-US" altLang="zh-CN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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和</a:t>
            </a:r>
            <a:r>
              <a:rPr lang="en-US" altLang="zh-CN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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交换了位置？与题（</a:t>
            </a:r>
            <a:r>
              <a:rPr lang="en-US" altLang="zh-CN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5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）作比较</a:t>
            </a:r>
            <a:endParaRPr lang="en-US" altLang="zh-CN" sz="20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62444E-32EB-4FB9-8E7F-3D2741EB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25" y="1916063"/>
            <a:ext cx="5710575" cy="5718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E9DB3C-AF7B-4339-A818-88B03BA1C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230" y="3144356"/>
            <a:ext cx="4304996" cy="2325882"/>
          </a:xfrm>
          <a:prstGeom prst="rect">
            <a:avLst/>
          </a:prstGeom>
          <a:ln>
            <a:solidFill>
              <a:srgbClr val="992677"/>
            </a:solidFill>
          </a:ln>
        </p:spPr>
      </p:pic>
    </p:spTree>
    <p:extLst>
      <p:ext uri="{BB962C8B-B14F-4D97-AF65-F5344CB8AC3E}">
        <p14:creationId xmlns:p14="http://schemas.microsoft.com/office/powerpoint/2010/main" val="274219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/>
      <p:bldP spid="14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552F7382-0121-4986-B16C-038A2C7C6BAE}"/>
              </a:ext>
            </a:extLst>
          </p:cNvPr>
          <p:cNvSpPr txBox="1">
            <a:spLocks/>
          </p:cNvSpPr>
          <p:nvPr/>
        </p:nvSpPr>
        <p:spPr>
          <a:xfrm>
            <a:off x="7473494" y="6384084"/>
            <a:ext cx="21336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EB6989-6630-4CFB-9F6E-42AF66324C87}" type="slidenum">
              <a:rPr lang="en-US" altLang="zh-CN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91DFF5D-B316-4D36-9A5A-701AA5E1E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5220447"/>
            <a:ext cx="4752975" cy="4333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只有一、二年级的学生才爱好体育运动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4D0CC8-564F-4A2A-96F1-551B44AABCD8}"/>
              </a:ext>
            </a:extLst>
          </p:cNvPr>
          <p:cNvSpPr txBox="1">
            <a:spLocks noChangeArrowheads="1"/>
          </p:cNvSpPr>
          <p:nvPr/>
        </p:nvSpPr>
        <p:spPr>
          <a:xfrm>
            <a:off x="1205728" y="1694891"/>
            <a:ext cx="9436709" cy="14317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3366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F: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一年级大学生的集合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：二年级大学生的集合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：计算机系学生的集合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：数学系学生的集合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：选修离散数学的学生的集合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：爱好体育运动学生的集合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：爱好文学学生的集合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6DF8FD48-5874-40F8-8011-4E1950C5C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3253534"/>
            <a:ext cx="16541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T</a:t>
            </a:r>
            <a:r>
              <a:rPr lang="en-US" altLang="zh-CN" sz="2000" b="1">
                <a:sym typeface="Symbol" panose="05050102010706020507" pitchFamily="18" charset="2"/>
              </a:rPr>
              <a:t>(MR)S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EF9B4296-98B9-4D41-8031-A2E6F4D88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3805984"/>
            <a:ext cx="1366837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err="1">
                <a:sym typeface="Symbol" panose="05050102010706020507" pitchFamily="18" charset="2"/>
              </a:rPr>
              <a:t>RS</a:t>
            </a:r>
            <a:r>
              <a:rPr lang="en-US" altLang="zh-CN" sz="2000" b="1" dirty="0">
                <a:sym typeface="Symbol" panose="05050102010706020507" pitchFamily="18" charset="2"/>
              </a:rPr>
              <a:t> </a:t>
            </a:r>
            <a:r>
              <a:rPr lang="en-US" altLang="zh-CN" sz="2000" b="1" dirty="0"/>
              <a:t>T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7525F385-D328-4B30-A912-5B3D3DA02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4428284"/>
            <a:ext cx="1944687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(MF)T=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D85B78FB-C5F9-4E71-AC33-621FA8BF1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5077572"/>
            <a:ext cx="1368425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M</a:t>
            </a:r>
            <a:r>
              <a:rPr lang="en-US" altLang="zh-CN" sz="2000" b="1">
                <a:sym typeface="Symbol" panose="05050102010706020507" pitchFamily="18" charset="2"/>
              </a:rPr>
              <a:t>LP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DCEB78D9-99C6-4517-BC14-266BFC4D3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5701459"/>
            <a:ext cx="1065212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P</a:t>
            </a:r>
            <a:r>
              <a:rPr lang="en-US" altLang="zh-CN" sz="2000" b="1">
                <a:sym typeface="Symbol" panose="05050102010706020507" pitchFamily="18" charset="2"/>
              </a:rPr>
              <a:t>FS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691F7179-0062-4604-A46E-753C1ECB4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82" y="6277722"/>
            <a:ext cx="1612900" cy="406400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</a:t>
            </a:r>
            <a:r>
              <a:rPr lang="en-US" altLang="zh-CN" sz="2000" b="1">
                <a:sym typeface="Symbol" panose="05050102010706020507" pitchFamily="18" charset="2"/>
              </a:rPr>
              <a:t>(MR)P</a:t>
            </a:r>
          </a:p>
        </p:txBody>
      </p:sp>
      <p:sp>
        <p:nvSpPr>
          <p:cNvPr id="11" name="Rectangle 17">
            <a:extLst>
              <a:ext uri="{FF2B5EF4-FFF2-40B4-BE49-F238E27FC236}">
                <a16:creationId xmlns:a16="http://schemas.microsoft.com/office/drawing/2014/main" id="{F25765EF-1228-4C02-9ECB-13EF9ADA0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5869734"/>
            <a:ext cx="4608512" cy="711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除去数学和计算机系二年级学生外都不</a:t>
            </a:r>
            <a:b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选修离散数学</a:t>
            </a: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6AA24A10-2CFF-466C-818A-D208A9B5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37" y="1693114"/>
            <a:ext cx="22579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74D462D1-4357-419D-BA24-F5EBF335A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3329734"/>
            <a:ext cx="4897437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所有计算机系二年级学生都选修离散数学</a:t>
            </a:r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id="{CE1AF869-E557-4BF6-8FD2-EFD84382B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3977434"/>
            <a:ext cx="4897437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数学系一年级的学生都没有选修离散数学</a:t>
            </a: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9662B75-C339-4E73-A213-21275FF86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82" y="4625134"/>
            <a:ext cx="4681537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数学系学生或爱好文学或爱好体育运动</a:t>
            </a:r>
          </a:p>
        </p:txBody>
      </p:sp>
      <p:sp>
        <p:nvSpPr>
          <p:cNvPr id="16" name="Line 22">
            <a:extLst>
              <a:ext uri="{FF2B5EF4-FFF2-40B4-BE49-F238E27FC236}">
                <a16:creationId xmlns:a16="http://schemas.microsoft.com/office/drawing/2014/main" id="{AB266963-3604-49B3-B7EF-3B707C284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3019" y="3564684"/>
            <a:ext cx="1366838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30">
            <a:extLst>
              <a:ext uri="{FF2B5EF4-FFF2-40B4-BE49-F238E27FC236}">
                <a16:creationId xmlns:a16="http://schemas.microsoft.com/office/drawing/2014/main" id="{EBD92562-0830-4E58-AE34-7ADA21968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3019" y="4212384"/>
            <a:ext cx="1366838" cy="431800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31">
            <a:extLst>
              <a:ext uri="{FF2B5EF4-FFF2-40B4-BE49-F238E27FC236}">
                <a16:creationId xmlns:a16="http://schemas.microsoft.com/office/drawing/2014/main" id="{BCECD6B8-CFD5-4B3D-BCB8-42397FFEE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9994" y="4860084"/>
            <a:ext cx="1439863" cy="433388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32">
            <a:extLst>
              <a:ext uri="{FF2B5EF4-FFF2-40B4-BE49-F238E27FC236}">
                <a16:creationId xmlns:a16="http://schemas.microsoft.com/office/drawing/2014/main" id="{E8F35EAD-BF6E-4030-9D02-64813B4F5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9994" y="5436347"/>
            <a:ext cx="1370013" cy="431800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45698CA3-2E33-438A-A1A9-9E1D0D994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3019" y="3563097"/>
            <a:ext cx="1152525" cy="2881312"/>
          </a:xfrm>
          <a:prstGeom prst="line">
            <a:avLst/>
          </a:prstGeom>
          <a:noFill/>
          <a:ln w="2857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标题 449">
            <a:extLst>
              <a:ext uri="{FF2B5EF4-FFF2-40B4-BE49-F238E27FC236}">
                <a16:creationId xmlns:a16="http://schemas.microsoft.com/office/drawing/2014/main" id="{4BA62F82-232B-4DF5-9BEC-A472992A10E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C07940-6E8C-4E31-AC3B-61CF98EF0155}"/>
              </a:ext>
            </a:extLst>
          </p:cNvPr>
          <p:cNvSpPr txBox="1"/>
          <p:nvPr/>
        </p:nvSpPr>
        <p:spPr>
          <a:xfrm>
            <a:off x="568035" y="964940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5B7E0A-2EA8-4B82-9FE5-480563829835}"/>
              </a:ext>
            </a:extLst>
          </p:cNvPr>
          <p:cNvSpPr txBox="1"/>
          <p:nvPr/>
        </p:nvSpPr>
        <p:spPr>
          <a:xfrm>
            <a:off x="3540260" y="978689"/>
            <a:ext cx="215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1F0343-4F3F-4594-97C6-DCBF0BD51286}"/>
              </a:ext>
            </a:extLst>
          </p:cNvPr>
          <p:cNvSpPr txBox="1"/>
          <p:nvPr/>
        </p:nvSpPr>
        <p:spPr>
          <a:xfrm>
            <a:off x="7158103" y="978688"/>
            <a:ext cx="1453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CB9A24-F35D-4D4B-ADBE-C5F3051900D0}"/>
              </a:ext>
            </a:extLst>
          </p:cNvPr>
          <p:cNvSpPr txBox="1"/>
          <p:nvPr/>
        </p:nvSpPr>
        <p:spPr>
          <a:xfrm>
            <a:off x="10027308" y="978689"/>
            <a:ext cx="164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</p:spTree>
    <p:extLst>
      <p:ext uri="{BB962C8B-B14F-4D97-AF65-F5344CB8AC3E}">
        <p14:creationId xmlns:p14="http://schemas.microsoft.com/office/powerpoint/2010/main" val="50627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13B3540B-4B4F-4136-B0BF-59261EB998F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201C8-AA6E-452E-986D-8B9F04D405AC}"/>
              </a:ext>
            </a:extLst>
          </p:cNvPr>
          <p:cNvSpPr txBox="1"/>
          <p:nvPr/>
        </p:nvSpPr>
        <p:spPr>
          <a:xfrm>
            <a:off x="568035" y="964940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2E263D-BFE5-4613-B5E7-77BB3F9CF02D}"/>
              </a:ext>
            </a:extLst>
          </p:cNvPr>
          <p:cNvSpPr txBox="1"/>
          <p:nvPr/>
        </p:nvSpPr>
        <p:spPr>
          <a:xfrm>
            <a:off x="3540260" y="978689"/>
            <a:ext cx="2152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AF9C5D-D216-4728-9EFC-FA48B2C5ABEF}"/>
              </a:ext>
            </a:extLst>
          </p:cNvPr>
          <p:cNvSpPr txBox="1"/>
          <p:nvPr/>
        </p:nvSpPr>
        <p:spPr>
          <a:xfrm>
            <a:off x="7158103" y="978688"/>
            <a:ext cx="1453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151B55-06D7-4233-88DD-9FD79903FBAF}"/>
              </a:ext>
            </a:extLst>
          </p:cNvPr>
          <p:cNvSpPr txBox="1"/>
          <p:nvPr/>
        </p:nvSpPr>
        <p:spPr>
          <a:xfrm>
            <a:off x="10027308" y="978689"/>
            <a:ext cx="164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C98B44E6-5E4F-4560-8007-2267F8F860A8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108348"/>
            <a:ext cx="7940674" cy="4640262"/>
            <a:chOff x="431" y="845"/>
            <a:chExt cx="5002" cy="2923"/>
          </a:xfrm>
        </p:grpSpPr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F27B0F13-D934-46B3-BFBF-3FFC9F261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845"/>
              <a:ext cx="5002" cy="1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分别对条件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(1)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到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(5)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确定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集合与下述哪些集合相等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。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 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1, 2, …, 8, 9 },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2, 4, 6, 8 },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1, 3, 5, 7, 9 }, 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3, 4, 5 },  </a:t>
              </a:r>
              <a:r>
                <a:rPr lang="en-US" altLang="zh-CN" sz="2400" b="1" i="1" dirty="0" err="1"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 { 3, 5 }          </a:t>
              </a:r>
            </a:p>
          </p:txBody>
        </p:sp>
        <p:grpSp>
          <p:nvGrpSpPr>
            <p:cNvPr id="10" name="Group 22">
              <a:extLst>
                <a:ext uri="{FF2B5EF4-FFF2-40B4-BE49-F238E27FC236}">
                  <a16:creationId xmlns:a16="http://schemas.microsoft.com/office/drawing/2014/main" id="{20735F65-78C3-45D6-AECA-0C8026192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1965"/>
              <a:ext cx="2585" cy="1803"/>
              <a:chOff x="431" y="1983"/>
              <a:chExt cx="2585" cy="1803"/>
            </a:xfrm>
          </p:grpSpPr>
          <p:sp>
            <p:nvSpPr>
              <p:cNvPr id="11" name="Text Box 11">
                <a:extLst>
                  <a:ext uri="{FF2B5EF4-FFF2-40B4-BE49-F238E27FC236}">
                    <a16:creationId xmlns:a16="http://schemas.microsoft.com/office/drawing/2014/main" id="{BE55DB72-53FD-4FF6-8269-72E75F4C6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83"/>
                <a:ext cx="2585" cy="1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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=,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/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/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4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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=,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sym typeface="Symbol" panose="05050102010706020507" pitchFamily="18" charset="2"/>
                  </a:rPr>
                  <a:t>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，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   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 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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=,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AutoNum type="arabicParenBoth"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:r>
                  <a:rPr lang="zh-CN" altLang="en-US" sz="1800" b="1" dirty="0"/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，</a:t>
                </a:r>
                <a:r>
                  <a:rPr lang="en-US" altLang="zh-CN" sz="2400" b="1" i="1" dirty="0">
                    <a:latin typeface="Times New Roman" panose="02020603050405020304" pitchFamily="18" charset="0"/>
                  </a:rPr>
                  <a:t>X   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</a:t>
                </a:r>
                <a:r>
                  <a:rPr lang="en-US" altLang="zh-CN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则</a:t>
                </a:r>
                <a:r>
                  <a: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pic>
            <p:nvPicPr>
              <p:cNvPr id="12" name="Picture 15">
                <a:extLst>
                  <a:ext uri="{FF2B5EF4-FFF2-40B4-BE49-F238E27FC236}">
                    <a16:creationId xmlns:a16="http://schemas.microsoft.com/office/drawing/2014/main" id="{C1525A6A-22E5-498D-82E0-8048013AA8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1" y="2818"/>
                <a:ext cx="150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16">
                <a:extLst>
                  <a:ext uri="{FF2B5EF4-FFF2-40B4-BE49-F238E27FC236}">
                    <a16:creationId xmlns:a16="http://schemas.microsoft.com/office/drawing/2014/main" id="{A8A66E64-F428-4D45-AE9A-DF22A6EE05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1" y="3493"/>
                <a:ext cx="150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4" name="Text Box 17">
            <a:extLst>
              <a:ext uri="{FF2B5EF4-FFF2-40B4-BE49-F238E27FC236}">
                <a16:creationId xmlns:a16="http://schemas.microsoft.com/office/drawing/2014/main" id="{68C78EB5-CEED-4DB5-9A86-82C3B250F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999152"/>
            <a:ext cx="70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A4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="1" baseline="-25000" dirty="0">
              <a:solidFill>
                <a:srgbClr val="0000A4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73529997-0EC4-450F-8084-952CF797F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4575414"/>
            <a:ext cx="704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= 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A474BE70-1540-4423-8E00-CF2DE5554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080239"/>
            <a:ext cx="155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= 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0000A4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0000A4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solidFill>
                  <a:srgbClr val="0000A4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4B062754-257E-4A13-910E-8EEC85A6F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7386" y="5649778"/>
            <a:ext cx="1128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A4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A4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 b="1" baseline="-25000" dirty="0">
              <a:solidFill>
                <a:srgbClr val="0000A4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E24D6149-3C1E-45E0-8F06-CC45D1F08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6199144"/>
            <a:ext cx="268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A4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A4"/>
                </a:solidFill>
                <a:latin typeface="Times New Roman" panose="02020603050405020304" pitchFamily="18" charset="0"/>
              </a:rPr>
              <a:t>, ... , </a:t>
            </a:r>
            <a:r>
              <a:rPr lang="en-US" altLang="zh-CN" sz="2400" b="1" i="1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A4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baseline="-25000" dirty="0">
                <a:solidFill>
                  <a:srgbClr val="0000A4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A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都不等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B2CBCC21-199F-4555-8565-9A53E70C5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37" y="1693114"/>
            <a:ext cx="22579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710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集合恒等式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29E80BF4-76CF-4B4E-A71C-F38691EA0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134" y="1603674"/>
            <a:ext cx="6121400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集合等式的证明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FAB440DE-887A-4979-8D2F-0A10A6A86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046169"/>
            <a:ext cx="11050438" cy="254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1706563" indent="-1706563" eaLnBrk="1" hangingPunct="1"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方法一：命题演算法</a:t>
            </a:r>
          </a:p>
          <a:p>
            <a:pPr marL="1706563" indent="-1706563" eaLnBrk="1" hangingPunct="1"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证明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∪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（吸收律）</a:t>
            </a:r>
          </a:p>
          <a:p>
            <a:pPr marL="1706563" indent="-1706563" eaLnBrk="1" hangingPunct="1">
              <a:spcBef>
                <a:spcPct val="60000"/>
              </a:spcBef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证  任取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,</a:t>
            </a:r>
            <a:endParaRPr lang="en-US" altLang="zh-CN" i="1" kern="0" dirty="0">
              <a:latin typeface="Times New Roman" panose="02020603050405020304" pitchFamily="18" charset="0"/>
              <a:ea typeface="黑体" pitchFamily="2" charset="-122"/>
              <a:cs typeface="Times New Roman" panose="02020603050405020304" pitchFamily="18" charset="0"/>
            </a:endParaRPr>
          </a:p>
          <a:p>
            <a:pPr marL="1706563" indent="-1706563" eaLnBrk="1" hangingPunct="1">
              <a:buFont typeface="Wingdings" pitchFamily="2" charset="2"/>
              <a:buNone/>
              <a:tabLst>
                <a:tab pos="1706563" algn="l"/>
              </a:tabLst>
            </a:pPr>
            <a:r>
              <a:rPr lang="en-US" altLang="zh-CN" i="1" kern="0" dirty="0">
                <a:ea typeface="黑体" pitchFamily="2" charset="-122"/>
                <a:cs typeface="Times New Roman" pitchFamily="18" charset="0"/>
              </a:rPr>
              <a:t>                      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∪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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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   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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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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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</a:p>
          <a:p>
            <a:pPr marL="1706563" indent="-1706563" eaLnBrk="1" hangingPunct="1"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kern="0" dirty="0">
                <a:ea typeface="黑体" pitchFamily="2" charset="-122"/>
              </a:rPr>
              <a:t>因此得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∪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∩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 = </a:t>
            </a:r>
            <a:r>
              <a:rPr lang="en-US" altLang="zh-CN" i="1" kern="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A.</a:t>
            </a:r>
            <a:endParaRPr lang="en-US" altLang="zh-CN" kern="0" dirty="0">
              <a:latin typeface="Times New Roman" panose="02020603050405020304" pitchFamily="18" charset="0"/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844C68C8-02AB-44C1-B7D5-D156A367F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684594"/>
            <a:ext cx="8208963" cy="208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706563" indent="-1706563" fontAlgn="base">
              <a:lnSpc>
                <a:spcPct val="90000"/>
              </a:lnSpc>
              <a:spcBef>
                <a:spcPct val="55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sz="2400" b="1" kern="0" dirty="0">
                <a:ea typeface="黑体" pitchFamily="2" charset="-122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证明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ambria Math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∩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证  任取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,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           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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ambria Math" pitchFamily="18" charset="0"/>
                <a:ea typeface="宋体" pitchFamily="2" charset="-122"/>
                <a:sym typeface="Symbol" pitchFamily="18" charset="2"/>
              </a:rPr>
              <a:t>∩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 </a:t>
            </a: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因此得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ambria Math" pitchFamily="18" charset="0"/>
                <a:ea typeface="宋体" pitchFamily="2" charset="-122"/>
                <a:sym typeface="Symbol" pitchFamily="18" charset="2"/>
              </a:rPr>
              <a:t>∩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B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黑体" pitchFamily="2" charset="-122"/>
            </a:endParaRPr>
          </a:p>
          <a:p>
            <a:pPr marL="1706563" indent="-1706563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706563" algn="l"/>
              </a:tabLst>
            </a:pP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0D2A2F-76AA-4A45-9EB9-54ABB9CE979B}"/>
              </a:ext>
            </a:extLst>
          </p:cNvPr>
          <p:cNvSpPr txBox="1"/>
          <p:nvPr/>
        </p:nvSpPr>
        <p:spPr>
          <a:xfrm>
            <a:off x="10027308" y="962787"/>
            <a:ext cx="191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D6E059-BACA-4A18-9317-6E0312B1C81B}"/>
              </a:ext>
            </a:extLst>
          </p:cNvPr>
          <p:cNvSpPr txBox="1"/>
          <p:nvPr/>
        </p:nvSpPr>
        <p:spPr>
          <a:xfrm>
            <a:off x="568035" y="964940"/>
            <a:ext cx="23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F62BE4-3D1A-4362-BDFA-2BCCF269AE61}"/>
              </a:ext>
            </a:extLst>
          </p:cNvPr>
          <p:cNvSpPr txBox="1"/>
          <p:nvPr/>
        </p:nvSpPr>
        <p:spPr>
          <a:xfrm>
            <a:off x="3540260" y="978689"/>
            <a:ext cx="2208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7F470E-8078-464D-93A8-0371AFD840E0}"/>
              </a:ext>
            </a:extLst>
          </p:cNvPr>
          <p:cNvSpPr txBox="1"/>
          <p:nvPr/>
        </p:nvSpPr>
        <p:spPr>
          <a:xfrm>
            <a:off x="6895708" y="978688"/>
            <a:ext cx="2328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BB166B-F0C3-A6B2-55F2-B3D2A30F063E}"/>
              </a:ext>
            </a:extLst>
          </p:cNvPr>
          <p:cNvSpPr txBox="1"/>
          <p:nvPr/>
        </p:nvSpPr>
        <p:spPr>
          <a:xfrm>
            <a:off x="5678501" y="2266790"/>
            <a:ext cx="520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集合的证明就是要写成</a:t>
            </a:r>
            <a:r>
              <a:rPr lang="en-US" altLang="zh-CN" b="1" i="1" kern="0" dirty="0">
                <a:highlight>
                  <a:srgbClr val="FFFF00"/>
                </a:highligh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 kern="0" dirty="0">
                <a:highlight>
                  <a:srgbClr val="FFFF00"/>
                </a:highligh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zh-CN" altLang="en-US" kern="0" dirty="0">
                <a:highlight>
                  <a:srgbClr val="FFFF00"/>
                </a:highligh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的形式（使用命题表示）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B2F257-85FE-335B-5F37-5C8B17329064}"/>
              </a:ext>
            </a:extLst>
          </p:cNvPr>
          <p:cNvSpPr txBox="1"/>
          <p:nvPr/>
        </p:nvSpPr>
        <p:spPr>
          <a:xfrm>
            <a:off x="6634451" y="5354561"/>
            <a:ext cx="2978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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 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  <a:sym typeface="Symbol" pitchFamily="18" charset="2"/>
              </a:rPr>
              <a:t></a:t>
            </a:r>
            <a:r>
              <a:rPr lang="en-US" altLang="zh-CN" sz="2400" b="1" i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B </a:t>
            </a:r>
            <a:endParaRPr lang="zh-CN" alt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2168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2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62B67FB6-E262-4857-8CD9-3C6413025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5" y="1557091"/>
            <a:ext cx="9851368" cy="4127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∪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∩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</a:p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①            ②                 ③               ④</a:t>
            </a:r>
          </a:p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</a:t>
            </a:r>
          </a:p>
          <a:p>
            <a:pPr marL="539750" marR="0" lvl="0" indent="-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证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 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显然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下面证明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  <a:r>
              <a:rPr lang="en-US" altLang="zh-CN" kern="0" dirty="0"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任取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因此有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∪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综合上述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得证</a:t>
            </a:r>
            <a:r>
              <a:rPr lang="en-US" altLang="zh-CN" kern="0" dirty="0">
                <a:ea typeface="黑体" pitchFamily="2" charset="-122"/>
                <a:cs typeface="Times New Roman" pitchFamily="18" charset="0"/>
              </a:rPr>
              <a:t>. </a:t>
            </a: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②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③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539750" marR="0" lvl="0" indent="-539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∩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∪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∩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由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将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代入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</a:p>
        </p:txBody>
      </p:sp>
      <p:sp>
        <p:nvSpPr>
          <p:cNvPr id="6" name="标题 449">
            <a:extLst>
              <a:ext uri="{FF2B5EF4-FFF2-40B4-BE49-F238E27FC236}">
                <a16:creationId xmlns:a16="http://schemas.microsoft.com/office/drawing/2014/main" id="{6D7DF2C8-F34C-4C91-AE53-041788C907CE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3247EF-4BA1-4694-825C-827ABA0D7A14}"/>
              </a:ext>
            </a:extLst>
          </p:cNvPr>
          <p:cNvSpPr txBox="1"/>
          <p:nvPr/>
        </p:nvSpPr>
        <p:spPr>
          <a:xfrm>
            <a:off x="10027308" y="962787"/>
            <a:ext cx="191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EFE81A-F564-4ECC-8B9D-C1CA16883945}"/>
              </a:ext>
            </a:extLst>
          </p:cNvPr>
          <p:cNvSpPr txBox="1"/>
          <p:nvPr/>
        </p:nvSpPr>
        <p:spPr>
          <a:xfrm>
            <a:off x="568035" y="964940"/>
            <a:ext cx="23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0632C3-C162-4DB2-BABD-8391D9B800EC}"/>
              </a:ext>
            </a:extLst>
          </p:cNvPr>
          <p:cNvSpPr txBox="1"/>
          <p:nvPr/>
        </p:nvSpPr>
        <p:spPr>
          <a:xfrm>
            <a:off x="3540260" y="978689"/>
            <a:ext cx="2208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78189C-293A-4E8A-A409-2B1A0300119B}"/>
              </a:ext>
            </a:extLst>
          </p:cNvPr>
          <p:cNvSpPr txBox="1"/>
          <p:nvPr/>
        </p:nvSpPr>
        <p:spPr>
          <a:xfrm>
            <a:off x="6895708" y="978688"/>
            <a:ext cx="2328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4B46BA-C6F9-4AF2-9CB8-407BDEA4A771}"/>
              </a:ext>
            </a:extLst>
          </p:cNvPr>
          <p:cNvSpPr/>
          <p:nvPr/>
        </p:nvSpPr>
        <p:spPr>
          <a:xfrm>
            <a:off x="2193415" y="2994440"/>
            <a:ext cx="23455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99267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p62 (3.28)</a:t>
            </a:r>
            <a:r>
              <a:rPr lang="zh-CN" altLang="en-US" sz="1600" b="1" dirty="0">
                <a:solidFill>
                  <a:srgbClr val="99267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式</a:t>
            </a:r>
            <a:endParaRPr lang="zh-CN" altLang="en-US" sz="1600" dirty="0">
              <a:solidFill>
                <a:srgbClr val="992677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C226E3-6AD2-42EF-94BF-84362EC2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226" y="1738334"/>
            <a:ext cx="4649774" cy="300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6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D6793547-7A49-4AE4-940E-9EA3C9DE3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66" y="2500549"/>
            <a:ext cx="10351698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highlight>
                  <a:srgbClr val="FFFF00"/>
                </a:highlight>
                <a:ea typeface="黑体" pitchFamily="2" charset="-122"/>
                <a:cs typeface="Times New Roman" pitchFamily="18" charset="0"/>
              </a:rPr>
              <a:t>假设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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即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那么知道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且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而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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从而与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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矛盾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①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假设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不成立，那么</a:t>
            </a:r>
            <a:endParaRPr lang="zh-CN" altLang="en-US" kern="0" dirty="0">
              <a:ea typeface="黑体" pitchFamily="2" charset="-122"/>
              <a:cs typeface="Times New Roman" pitchFamily="18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         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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与条件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矛盾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</p:txBody>
      </p:sp>
      <p:sp>
        <p:nvSpPr>
          <p:cNvPr id="6" name="标题 449">
            <a:extLst>
              <a:ext uri="{FF2B5EF4-FFF2-40B4-BE49-F238E27FC236}">
                <a16:creationId xmlns:a16="http://schemas.microsoft.com/office/drawing/2014/main" id="{DAE4DEE3-F51C-4ED8-A8A8-331FF570943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09CB16-CC7A-4E64-8165-0DFC04841F73}"/>
              </a:ext>
            </a:extLst>
          </p:cNvPr>
          <p:cNvSpPr txBox="1"/>
          <p:nvPr/>
        </p:nvSpPr>
        <p:spPr>
          <a:xfrm>
            <a:off x="10027308" y="962787"/>
            <a:ext cx="1912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集合证明题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F5752D-04A0-4212-8A2F-07F726175F14}"/>
              </a:ext>
            </a:extLst>
          </p:cNvPr>
          <p:cNvSpPr txBox="1"/>
          <p:nvPr/>
        </p:nvSpPr>
        <p:spPr>
          <a:xfrm>
            <a:off x="568035" y="964940"/>
            <a:ext cx="2308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初级运算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74AE06-5129-43A6-B570-0E974319BD6F}"/>
              </a:ext>
            </a:extLst>
          </p:cNvPr>
          <p:cNvSpPr txBox="1"/>
          <p:nvPr/>
        </p:nvSpPr>
        <p:spPr>
          <a:xfrm>
            <a:off x="3540260" y="978689"/>
            <a:ext cx="2208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集合运算的表示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66F302-94CD-41C3-B078-89D3ACEE06A0}"/>
              </a:ext>
            </a:extLst>
          </p:cNvPr>
          <p:cNvSpPr txBox="1"/>
          <p:nvPr/>
        </p:nvSpPr>
        <p:spPr>
          <a:xfrm>
            <a:off x="6895708" y="978688"/>
            <a:ext cx="2328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集合算律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2D7B04-1BAC-4B9E-AB4D-7AA3850A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55" y="1444438"/>
            <a:ext cx="6094019" cy="109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05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">
            <a:extLst>
              <a:ext uri="{FF2B5EF4-FFF2-40B4-BE49-F238E27FC236}">
                <a16:creationId xmlns:a16="http://schemas.microsoft.com/office/drawing/2014/main" id="{A9DC7F0A-B019-421A-99A0-3BF57CF27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10" y="1699511"/>
            <a:ext cx="11094348" cy="625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249363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文氏图法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      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2.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包含排斥原理</a:t>
            </a:r>
          </a:p>
        </p:txBody>
      </p:sp>
      <p:sp>
        <p:nvSpPr>
          <p:cNvPr id="13" name="标题 449">
            <a:extLst>
              <a:ext uri="{FF2B5EF4-FFF2-40B4-BE49-F238E27FC236}">
                <a16:creationId xmlns:a16="http://schemas.microsoft.com/office/drawing/2014/main" id="{D134E825-66B3-4BEC-A73B-5FFEE258E08E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集合中元素的计数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91F8D1-01E3-4AD6-93EA-3CC1CE4CC4AB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69C6C0-F95D-433A-88A3-D486F541DBD7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C31B1C-5130-444E-8B75-058604B3F383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6ECE0D-2F52-4221-A3AD-EF81DABE06F2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2CCE50D-71BD-4ED4-B9AE-9F0D615F4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05" y="2336705"/>
            <a:ext cx="10960873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441325" indent="-441325" eaLnBrk="1" hangingPunct="1">
              <a:buNone/>
            </a:pP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例</a:t>
            </a:r>
            <a:r>
              <a:rPr lang="en-US" altLang="zh-CN" kern="0" dirty="0">
                <a:ea typeface="黑体" pitchFamily="2" charset="-122"/>
                <a:cs typeface="Times New Roman" pitchFamily="18" charset="0"/>
              </a:rPr>
              <a:t>   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1~1000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（包含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1000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在内）中不能被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6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，也不能被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8</a:t>
            </a:r>
            <a:r>
              <a:rPr lang="zh-CN" altLang="en-US" kern="0" dirty="0">
                <a:ea typeface="黑体" pitchFamily="2" charset="-122"/>
                <a:cs typeface="Times New Roman" pitchFamily="18" charset="0"/>
              </a:rPr>
              <a:t>整除的数的个数 </a:t>
            </a:r>
            <a:endParaRPr lang="en-US" altLang="zh-CN" kern="0" dirty="0"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AD20FA8-259D-4318-B52F-605AD779F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71" y="3012278"/>
            <a:ext cx="6346079" cy="3711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解法一：文氏图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定义以下集合：</a:t>
            </a: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  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Z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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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1000}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可被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可被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6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|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可被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8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r>
              <a:rPr lang="en-US" altLang="zh-CN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画出文氏图，然后填入相应的数字，解得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N=1000</a:t>
            </a:r>
            <a:r>
              <a:rPr lang="zh-CN" altLang="en-US" sz="2400" b="1" dirty="0">
                <a:solidFill>
                  <a:srgbClr val="000000"/>
                </a:solidFill>
                <a:latin typeface="Wingdings 3" pitchFamily="18" charset="2"/>
                <a:ea typeface="宋体" pitchFamily="2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(200+100+33+67)  = 600</a:t>
            </a:r>
          </a:p>
        </p:txBody>
      </p:sp>
      <p:pic>
        <p:nvPicPr>
          <p:cNvPr id="19" name="Picture 4" descr="图片2">
            <a:extLst>
              <a:ext uri="{FF2B5EF4-FFF2-40B4-BE49-F238E27FC236}">
                <a16:creationId xmlns:a16="http://schemas.microsoft.com/office/drawing/2014/main" id="{B74FB734-3EBE-4BAC-B9A4-04351F2B1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90691" y="3388419"/>
            <a:ext cx="2922436" cy="2447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2229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E35B6F1-4039-4567-B2DF-C0AE9E53D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75" y="1659365"/>
            <a:ext cx="990334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解法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二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1000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=200,  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=166,  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1000/8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=125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1000/lcm(5,6)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1000/30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33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1000/lcm(5,8)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1000/40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25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1000/lcm(6,8)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1000/24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41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1000/lcm(5,6,8)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1000/120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= 1000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(200+166+125)+(33+25+41)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8 = 600 </a:t>
            </a: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CA317280-363C-4FE1-B657-31A9C4B2F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438" y="5218847"/>
          <a:ext cx="14636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61760" imgH="241200" progId="Equation.3">
                  <p:embed/>
                </p:oleObj>
              </mc:Choice>
              <mc:Fallback>
                <p:oleObj name="公式" r:id="rId3" imgW="761760" imgH="241200" progId="Equation.3">
                  <p:embed/>
                  <p:pic>
                    <p:nvPicPr>
                      <p:cNvPr id="13" name="Object 4">
                        <a:extLst>
                          <a:ext uri="{FF2B5EF4-FFF2-40B4-BE49-F238E27FC236}">
                            <a16:creationId xmlns:a16="http://schemas.microsoft.com/office/drawing/2014/main" id="{CA317280-363C-4FE1-B657-31A9C4B2F0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5218847"/>
                        <a:ext cx="1463675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0BF4E4E-78F9-4761-B1AE-AAB278926088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47DDA4-C8E6-4D4A-A454-387EF64E2FD0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DF9EB6-1525-42B4-B77C-5F1FA6BDA27E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053441-C473-4A68-9B18-FC819035A33C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225059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298AC9F-ADCE-4DCD-80D1-691C52736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52" y="1789430"/>
            <a:ext cx="6171151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24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名科技人员，每人至少会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门外语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日语：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德语：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法语：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英日：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2;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英德：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英法：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法德：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会日语的不会法语、德语</a:t>
            </a:r>
          </a:p>
          <a:p>
            <a:pPr marL="0" marR="0" lvl="0" indent="0" eaLnBrk="1" hangingPunct="1">
              <a:lnSpc>
                <a:spcPct val="100000"/>
              </a:lnSpc>
              <a:buClr>
                <a:srgbClr val="69B3F1"/>
              </a:buClr>
              <a:buSzPct val="75000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求：只会 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种语言人数，会 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种语言人数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418B4051-7DE5-4C46-BDDE-D8E3F22E6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257" y="4083560"/>
            <a:ext cx="3671887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=13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=10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=9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(4-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=19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=1,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=4,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=3,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B61093-EDCC-405B-A0B8-7470E179CE43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860700-DAE8-46DB-BF3E-D4EEB1C50940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5B6E72-E160-48D7-9144-FB889843AB5C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466B75-5DD5-4C60-B503-0F4F6D500919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1846BBD-A04F-43A1-9E7A-AFD61A598BBB}"/>
              </a:ext>
            </a:extLst>
          </p:cNvPr>
          <p:cNvGrpSpPr/>
          <p:nvPr/>
        </p:nvGrpSpPr>
        <p:grpSpPr>
          <a:xfrm>
            <a:off x="7267769" y="1385048"/>
            <a:ext cx="3803646" cy="2733172"/>
            <a:chOff x="7267769" y="1385048"/>
            <a:chExt cx="3803646" cy="2733172"/>
          </a:xfrm>
        </p:grpSpPr>
        <p:pic>
          <p:nvPicPr>
            <p:cNvPr id="21" name="Picture 5" descr="图形1">
              <a:extLst>
                <a:ext uri="{FF2B5EF4-FFF2-40B4-BE49-F238E27FC236}">
                  <a16:creationId xmlns:a16="http://schemas.microsoft.com/office/drawing/2014/main" id="{F6B95A1E-A6CE-49AE-A40C-1EF4FDA323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7769" y="1723361"/>
              <a:ext cx="3455988" cy="2303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4F1DB8E-EE81-4028-83EB-7D0BE488BF09}"/>
                </a:ext>
              </a:extLst>
            </p:cNvPr>
            <p:cNvSpPr txBox="1"/>
            <p:nvPr/>
          </p:nvSpPr>
          <p:spPr>
            <a:xfrm>
              <a:off x="8633011" y="1385048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英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7D252EA-65F7-4D71-8FE2-50C953490B27}"/>
                </a:ext>
              </a:extLst>
            </p:cNvPr>
            <p:cNvSpPr txBox="1"/>
            <p:nvPr/>
          </p:nvSpPr>
          <p:spPr>
            <a:xfrm>
              <a:off x="7467599" y="1490383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德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A054A7F-6997-4035-B484-D0700BB1E7EE}"/>
                </a:ext>
              </a:extLst>
            </p:cNvPr>
            <p:cNvSpPr txBox="1"/>
            <p:nvPr/>
          </p:nvSpPr>
          <p:spPr>
            <a:xfrm>
              <a:off x="8973670" y="3769663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法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CC6A7E6-26E1-4156-971A-5EBDC7C4C871}"/>
                </a:ext>
              </a:extLst>
            </p:cNvPr>
            <p:cNvSpPr txBox="1"/>
            <p:nvPr/>
          </p:nvSpPr>
          <p:spPr>
            <a:xfrm>
              <a:off x="10654556" y="2162740"/>
              <a:ext cx="416859" cy="348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787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AC96D16-A7BA-4C67-B569-FF0539D4A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38606"/>
            <a:ext cx="79930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Clr>
                <a:srgbClr val="69B3F1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求欧拉函数的值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7A2AAA12-C5BF-4CB1-B4C9-492C21EBA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71" y="2430644"/>
            <a:ext cx="9796945" cy="3865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欧拉函数：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{0,1,…,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中与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互素的数的个数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(12)=4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互素的数有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1, 5, 7, 11.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24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的素因子分解式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kumimoji="0" lang="en-US" altLang="zh-CN" sz="2800" b="1" i="1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zh-CN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3" name="Object 1">
            <a:extLst>
              <a:ext uri="{FF2B5EF4-FFF2-40B4-BE49-F238E27FC236}">
                <a16:creationId xmlns:a16="http://schemas.microsoft.com/office/drawing/2014/main" id="{D1E9B88B-086E-4C69-AF51-50C255223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605315"/>
              </p:ext>
            </p:extLst>
          </p:nvPr>
        </p:nvGraphicFramePr>
        <p:xfrm>
          <a:off x="1772755" y="4161862"/>
          <a:ext cx="30432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93760" imgH="253800" progId="Equation.3">
                  <p:embed/>
                </p:oleObj>
              </mc:Choice>
              <mc:Fallback>
                <p:oleObj name="公式" r:id="rId3" imgW="1193760" imgH="253800" progId="Equation.3">
                  <p:embed/>
                  <p:pic>
                    <p:nvPicPr>
                      <p:cNvPr id="23" name="Object 1">
                        <a:extLst>
                          <a:ext uri="{FF2B5EF4-FFF2-40B4-BE49-F238E27FC236}">
                            <a16:creationId xmlns:a16="http://schemas.microsoft.com/office/drawing/2014/main" id="{D1E9B88B-086E-4C69-AF51-50C255223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755" y="4161862"/>
                        <a:ext cx="304323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233B5C67-80C1-4E78-B928-FD432D977F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676897"/>
              </p:ext>
            </p:extLst>
          </p:nvPr>
        </p:nvGraphicFramePr>
        <p:xfrm>
          <a:off x="1645659" y="5633529"/>
          <a:ext cx="36607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63560" imgH="253800" progId="Equation.3">
                  <p:embed/>
                </p:oleObj>
              </mc:Choice>
              <mc:Fallback>
                <p:oleObj name="公式" r:id="rId5" imgW="1663560" imgH="253800" progId="Equation.3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233B5C67-80C1-4E78-B928-FD432D977F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659" y="5633529"/>
                        <a:ext cx="366077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FA6719CF-E467-4FE2-B5F0-CD8D6548BD29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406FB5-C19C-48A9-B3EB-7015275FA64F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ACE702-FEE1-46D4-A2BB-A0201F565328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D01F52-770C-4E2D-9A00-C32709EE0654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286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871723B1-EAB6-4AAD-A2A4-B07A9F9F1F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790" y="2218926"/>
          <a:ext cx="3671888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19240" imgH="1574640" progId="Equation.3">
                  <p:embed/>
                </p:oleObj>
              </mc:Choice>
              <mc:Fallback>
                <p:oleObj name="公式" r:id="rId3" imgW="2019240" imgH="157464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871723B1-EAB6-4AAD-A2A4-B07A9F9F1F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" y="2218926"/>
                        <a:ext cx="3671888" cy="285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0EC56A5B-B1DE-4B94-99ED-9B78B928F6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564267"/>
              </p:ext>
            </p:extLst>
          </p:nvPr>
        </p:nvGraphicFramePr>
        <p:xfrm>
          <a:off x="4764326" y="2218926"/>
          <a:ext cx="6964363" cy="295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759120" imgH="1600200" progId="Equation.3">
                  <p:embed/>
                </p:oleObj>
              </mc:Choice>
              <mc:Fallback>
                <p:oleObj name="公式" r:id="rId5" imgW="3759120" imgH="1600200" progId="Equation.3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0EC56A5B-B1DE-4B94-99ED-9B78B928F6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326" y="2218926"/>
                        <a:ext cx="6964363" cy="295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EE2ED08C-3400-4375-8D28-707C4343F667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38B753-1112-4DFE-9D3E-A95D1E3C7759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D0C533-3F82-40F6-A5D3-3A1D3969605C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7C6276-A037-4BAB-A904-8737E6360592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18637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集合的运算</a:t>
            </a: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6617E0EC-FDED-45CE-94C4-F859E0FD69B2}"/>
              </a:ext>
            </a:extLst>
          </p:cNvPr>
          <p:cNvSpPr txBox="1">
            <a:spLocks/>
          </p:cNvSpPr>
          <p:nvPr/>
        </p:nvSpPr>
        <p:spPr>
          <a:xfrm>
            <a:off x="468313" y="1628775"/>
            <a:ext cx="10464730" cy="187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例：与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互素的正整数有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1,   7,   11,  13,  17,  19,  23,  29, </a:t>
            </a:r>
          </a:p>
          <a:p>
            <a:pPr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31,  37,  41,  43,  47,  49,  53,  59.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F4280030-25AB-41B1-AF29-03CE0522FE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747650"/>
              </p:ext>
            </p:extLst>
          </p:nvPr>
        </p:nvGraphicFramePr>
        <p:xfrm>
          <a:off x="6146357" y="1652628"/>
          <a:ext cx="3996924" cy="1708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17360" imgH="812520" progId="Equation.3">
                  <p:embed/>
                </p:oleObj>
              </mc:Choice>
              <mc:Fallback>
                <p:oleObj name="公式" r:id="rId3" imgW="1917360" imgH="812520" progId="Equation.3">
                  <p:embed/>
                  <p:pic>
                    <p:nvPicPr>
                      <p:cNvPr id="16" name="Object 2">
                        <a:extLst>
                          <a:ext uri="{FF2B5EF4-FFF2-40B4-BE49-F238E27FC236}">
                            <a16:creationId xmlns:a16="http://schemas.microsoft.com/office/drawing/2014/main" id="{F4280030-25AB-41B1-AF29-03CE0522FE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357" y="1652628"/>
                        <a:ext cx="3996924" cy="17085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5D0585A4-C864-45D6-A0A6-D012CAFAA7DD}"/>
              </a:ext>
            </a:extLst>
          </p:cNvPr>
          <p:cNvSpPr txBox="1"/>
          <p:nvPr/>
        </p:nvSpPr>
        <p:spPr>
          <a:xfrm>
            <a:off x="568035" y="964940"/>
            <a:ext cx="2437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基数与有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无穷集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6A9D65-E558-4286-A118-669FA661B213}"/>
              </a:ext>
            </a:extLst>
          </p:cNvPr>
          <p:cNvSpPr txBox="1"/>
          <p:nvPr/>
        </p:nvSpPr>
        <p:spPr>
          <a:xfrm>
            <a:off x="4247926" y="946883"/>
            <a:ext cx="1898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包含排斥原理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160FAC-188C-490A-BE29-28DB20F47801}"/>
              </a:ext>
            </a:extLst>
          </p:cNvPr>
          <p:cNvSpPr txBox="1"/>
          <p:nvPr/>
        </p:nvSpPr>
        <p:spPr>
          <a:xfrm>
            <a:off x="7643129" y="970736"/>
            <a:ext cx="177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pPr algn="just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有穷集的计数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E8ECBC-6E5C-4244-AE30-015A6F5DFDB9}"/>
              </a:ext>
            </a:extLst>
          </p:cNvPr>
          <p:cNvSpPr txBox="1"/>
          <p:nvPr/>
        </p:nvSpPr>
        <p:spPr>
          <a:xfrm>
            <a:off x="10840879" y="972063"/>
            <a:ext cx="823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256440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>
            <a:extLst>
              <a:ext uri="{FF2B5EF4-FFF2-40B4-BE49-F238E27FC236}">
                <a16:creationId xmlns:a16="http://schemas.microsoft.com/office/drawing/2014/main" id="{6A45724A-306B-405F-9EF4-BE19BF54F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1693532"/>
            <a:ext cx="971795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=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)∪(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（注：证明集合相等）</a:t>
            </a:r>
            <a:endParaRPr lang="en-US" altLang="zh-CN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0975C4B3-F119-45C9-927E-CDEDA1135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87282"/>
            <a:ext cx="9216725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  任取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 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∪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∧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∪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i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  </a:t>
            </a:r>
            <a:endParaRPr lang="en-US" altLang="zh-CN" sz="2400" b="1" dirty="0">
              <a:solidFill>
                <a:srgbClr val="000000"/>
              </a:solidFill>
              <a:highlight>
                <a:srgbClr val="FFFF00"/>
              </a:highlight>
              <a:latin typeface="Times New Roman" pitchFamily="18" charset="0"/>
              <a:ea typeface="宋体" pitchFamily="2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∧(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∨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)∨(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    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∨&lt;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)∪(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所以有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∪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= 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)∪(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).</a:t>
            </a:r>
          </a:p>
        </p:txBody>
      </p:sp>
      <p:sp>
        <p:nvSpPr>
          <p:cNvPr id="24" name="标题 449">
            <a:extLst>
              <a:ext uri="{FF2B5EF4-FFF2-40B4-BE49-F238E27FC236}">
                <a16:creationId xmlns:a16="http://schemas.microsoft.com/office/drawing/2014/main" id="{ACF128BF-A190-430F-8D94-B56C2785EE7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905E45D-EC8E-420A-BC9F-E2CADA6CB2EC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C3EE5EF-829F-4D4B-A342-3A0D82CEB8EF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0C12F4-437B-4376-A829-F99E016C8244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A38BD82-F564-43FA-835C-00D6AB12FEE7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</p:spTree>
    <p:extLst>
      <p:ext uri="{BB962C8B-B14F-4D97-AF65-F5344CB8AC3E}">
        <p14:creationId xmlns:p14="http://schemas.microsoft.com/office/powerpoint/2010/main" val="107734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>
            <a:extLst>
              <a:ext uri="{FF2B5EF4-FFF2-40B4-BE49-F238E27FC236}">
                <a16:creationId xmlns:a16="http://schemas.microsoft.com/office/drawing/2014/main" id="{C587B776-0A07-4724-AF1C-C18B58642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21" y="1507287"/>
            <a:ext cx="8686800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是否推出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?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为什么？</a:t>
            </a:r>
          </a:p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A, 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均不为空集呢？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7144AAAD-276E-403B-85EB-0DF1A0CBF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21" y="3626683"/>
            <a:ext cx="8686800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i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D</a:t>
            </a:r>
            <a:endParaRPr lang="en-US" altLang="zh-CN" sz="2400" b="1" dirty="0">
              <a:solidFill>
                <a:srgbClr val="000000"/>
              </a:solidFill>
              <a:highlight>
                <a:srgbClr val="FFFF00"/>
              </a:highlight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不一定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反例如下：</a:t>
            </a: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={1}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={2},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但是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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26" name="标题 449">
            <a:extLst>
              <a:ext uri="{FF2B5EF4-FFF2-40B4-BE49-F238E27FC236}">
                <a16:creationId xmlns:a16="http://schemas.microsoft.com/office/drawing/2014/main" id="{E31E2A6B-8223-421B-A5B8-EB1E95AF4E4A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641E33-E441-4326-8798-DDB60ECB5BC0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CA19C04-D8AD-4EFB-9B79-7F678142F45C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967691-98AC-4B46-A7C8-94788069BAB0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E694E66-DECA-4952-9D12-70C6DD9E0746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</p:spTree>
    <p:extLst>
      <p:ext uri="{BB962C8B-B14F-4D97-AF65-F5344CB8AC3E}">
        <p14:creationId xmlns:p14="http://schemas.microsoft.com/office/powerpoint/2010/main" val="220258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0BE7C3D-66BA-423E-995D-87C7C0AED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49" y="1516147"/>
            <a:ext cx="10898877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715963" marR="0" lvl="0" indent="-7159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  <a:sym typeface="Arial" charset="0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4.6</a:t>
            </a:r>
          </a:p>
          <a:p>
            <a:pPr marL="715963" marR="0" lvl="0" indent="-7159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为集合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</a:rPr>
              <a:t>任何子集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所定义的二元关系叫做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从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A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到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B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的二元关系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15963" marR="0" lvl="0" indent="-715963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时则叫做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上的二元关系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8FB174-DF81-4E8B-BEBA-A50E469F2FCA}"/>
              </a:ext>
            </a:extLst>
          </p:cNvPr>
          <p:cNvGrpSpPr/>
          <p:nvPr/>
        </p:nvGrpSpPr>
        <p:grpSpPr>
          <a:xfrm>
            <a:off x="611187" y="3244935"/>
            <a:ext cx="11146227" cy="3311525"/>
            <a:chOff x="611187" y="3244935"/>
            <a:chExt cx="11146227" cy="3311525"/>
          </a:xfrm>
        </p:grpSpPr>
        <p:graphicFrame>
          <p:nvGraphicFramePr>
            <p:cNvPr id="20" name="Object 5">
              <a:extLst>
                <a:ext uri="{FF2B5EF4-FFF2-40B4-BE49-F238E27FC236}">
                  <a16:creationId xmlns:a16="http://schemas.microsoft.com/office/drawing/2014/main" id="{0C0C9CA6-555F-4FA6-A927-8B3067CD0E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35892" y="4958390"/>
            <a:ext cx="64194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31922" imgH="219037" progId="Equation.3">
                    <p:embed/>
                  </p:oleObj>
                </mc:Choice>
                <mc:Fallback>
                  <p:oleObj r:id="rId3" imgW="231922" imgH="219037" progId="Equation.3">
                    <p:embed/>
                    <p:pic>
                      <p:nvPicPr>
                        <p:cNvPr id="20" name="Object 5">
                          <a:extLst>
                            <a:ext uri="{FF2B5EF4-FFF2-40B4-BE49-F238E27FC236}">
                              <a16:creationId xmlns:a16="http://schemas.microsoft.com/office/drawing/2014/main" id="{0C0C9CA6-555F-4FA6-A927-8B3067CD0E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5892" y="4958390"/>
                          <a:ext cx="641942" cy="457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861330D7-6C38-469D-8F2D-4F8D54ED7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7" y="3244935"/>
              <a:ext cx="11146227" cy="3311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={0,1},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B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={1,2,3},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那么</a:t>
              </a:r>
              <a:endPara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={&lt;0,2&gt;},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×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B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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={&lt;0,1&gt;}</a:t>
              </a: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60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是从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到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B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和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4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也是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. </a:t>
              </a: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计数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:  |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|=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|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×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|=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0" lang="en-US" altLang="zh-CN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×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的子集有   个</a:t>
              </a:r>
              <a:r>
                <a:rPr lang="en-US" altLang="zh-CN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所以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上有 </a:t>
              </a:r>
              <a:r>
                <a:rPr lang="en-US" altLang="zh-CN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个不同的二元关系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. </a:t>
              </a: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例如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：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 = 3, 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上有</a:t>
              </a:r>
              <a:r>
                <a:rPr lang="en-US" altLang="zh-CN" sz="2400" b="1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512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个不同的二元关系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. </a:t>
              </a:r>
            </a:p>
          </p:txBody>
        </p:sp>
        <p:graphicFrame>
          <p:nvGraphicFramePr>
            <p:cNvPr id="11" name="Object 5">
              <a:extLst>
                <a:ext uri="{FF2B5EF4-FFF2-40B4-BE49-F238E27FC236}">
                  <a16:creationId xmlns:a16="http://schemas.microsoft.com/office/drawing/2014/main" id="{CCD66E59-50BB-4A4C-816F-D7B43EA53E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38618" y="4969206"/>
            <a:ext cx="64194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31922" imgH="219037" progId="Equation.3">
                    <p:embed/>
                  </p:oleObj>
                </mc:Choice>
                <mc:Fallback>
                  <p:oleObj r:id="rId3" imgW="231922" imgH="219037" progId="Equation.3">
                    <p:embed/>
                    <p:pic>
                      <p:nvPicPr>
                        <p:cNvPr id="11" name="Object 5">
                          <a:extLst>
                            <a:ext uri="{FF2B5EF4-FFF2-40B4-BE49-F238E27FC236}">
                              <a16:creationId xmlns:a16="http://schemas.microsoft.com/office/drawing/2014/main" id="{CCD66E59-50BB-4A4C-816F-D7B43EA53E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8618" y="4969206"/>
                          <a:ext cx="641942" cy="457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9882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CD338D0-4A01-49C2-93A6-1178F9EBD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23" y="1781145"/>
            <a:ext cx="8229600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4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={1, 2, 3, 4},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={&lt;1, 1&gt;, &lt;1, 2&gt;, &lt;2, 3&gt;, &lt;2, 4&gt;, &lt;4, 2&gt;},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的关系矩阵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</a:p>
        </p:txBody>
      </p: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16EBDC3C-B985-4707-8EB9-7383072C46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7934" y="3881138"/>
          <a:ext cx="3242813" cy="2287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14949" imgH="931954" progId="Equation.3">
                  <p:embed/>
                </p:oleObj>
              </mc:Choice>
              <mc:Fallback>
                <p:oleObj r:id="rId3" imgW="1314949" imgH="931954" progId="Equation.3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16EBDC3C-B985-4707-8EB9-7383072C46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934" y="3881138"/>
                        <a:ext cx="3242813" cy="2287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12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">
            <a:extLst>
              <a:ext uri="{FF2B5EF4-FFF2-40B4-BE49-F238E27FC236}">
                <a16:creationId xmlns:a16="http://schemas.microsoft.com/office/drawing/2014/main" id="{2820387F-A902-4DA0-8E72-A2CA8046E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80" y="1720766"/>
            <a:ext cx="1151004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例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</a:p>
          <a:p>
            <a:pPr marL="457200" marR="0" lvl="0" indent="-4572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={1, 2, 3, 4},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={&lt;1, 1&gt;, &lt;1, 2&gt;, &lt;2, 3&gt;, &lt;2, 4&gt;, &lt;4, 2&gt;},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spcBef>
                <a:spcPts val="18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的关系图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如右图：</a:t>
            </a:r>
          </a:p>
        </p:txBody>
      </p:sp>
      <p:pic>
        <p:nvPicPr>
          <p:cNvPr id="41" name="Picture 4" descr="图片2">
            <a:extLst>
              <a:ext uri="{FF2B5EF4-FFF2-40B4-BE49-F238E27FC236}">
                <a16:creationId xmlns:a16="http://schemas.microsoft.com/office/drawing/2014/main" id="{459C337C-B47B-4191-B47D-F99BDB757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27747" y="1894161"/>
            <a:ext cx="2180170" cy="2099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标题 449">
            <a:extLst>
              <a:ext uri="{FF2B5EF4-FFF2-40B4-BE49-F238E27FC236}">
                <a16:creationId xmlns:a16="http://schemas.microsoft.com/office/drawing/2014/main" id="{2F4F8287-FA5E-412D-8601-760CB04EBCDD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A3146D3-AF6E-4BFD-8BB0-077954BBA723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7E2F743-2456-431E-A342-4EFD6DA52BD7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关系的表示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4D0D5F-6572-41A7-B44E-7AEEF3D89A94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FF2DC66-0464-4742-B7EE-459B2A41CF70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8B42AAF-6D9E-4144-9DCA-E12B12BA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24" y="5882062"/>
            <a:ext cx="9773131" cy="75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综上，关系可以用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集合表达式、关系矩阵、关系图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三种方法来表示</a:t>
            </a:r>
            <a:endParaRPr lang="zh-CN" altLang="en-US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1C31AD9-A74A-4B8F-B2BF-2C20BA4E1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24" y="4016621"/>
            <a:ext cx="10962651" cy="196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41325" marR="0" lvl="0" indent="-44132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关系图适合表示有穷集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上的关系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41325" marR="0" lvl="0" indent="-441325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空关系、恒等关系、全域关系的关系图有何特征？</a:t>
            </a:r>
          </a:p>
        </p:txBody>
      </p:sp>
    </p:spTree>
    <p:extLst>
      <p:ext uri="{BB962C8B-B14F-4D97-AF65-F5344CB8AC3E}">
        <p14:creationId xmlns:p14="http://schemas.microsoft.com/office/powerpoint/2010/main" val="398587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2979835-63AE-40D2-BCD1-7A5CC8D35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23" y="1794624"/>
            <a:ext cx="814705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4.8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定义域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值域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域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分别定义为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dom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}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}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fld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dom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A4782C4-58DC-418D-BF2D-AD0D00531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336" y="4458449"/>
            <a:ext cx="845978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fontAlgn="base">
              <a:lnSpc>
                <a:spcPct val="150000"/>
              </a:lnSpc>
              <a:spcBef>
                <a:spcPct val="75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={&lt;1,2&gt;,&lt;1,3&gt;,&lt;2,4&gt;,&lt;4,3&gt;},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</a:t>
            </a:r>
          </a:p>
          <a:p>
            <a:pPr marL="45720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dom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={1, 2, 4}   </a:t>
            </a:r>
          </a:p>
          <a:p>
            <a:pPr marL="45720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ran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={2, 3, 4} </a:t>
            </a:r>
          </a:p>
          <a:p>
            <a:pPr marL="45720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</a:t>
            </a:r>
            <a:r>
              <a:rPr lang="en-US" altLang="zh-CN" sz="2400" b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fld</a:t>
            </a:r>
            <a:r>
              <a:rPr lang="en-US" altLang="zh-CN" sz="24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18" charset="0"/>
                <a:ea typeface="宋体" pitchFamily="2" charset="-122"/>
              </a:rPr>
              <a:t>={1, 2, 3, 4}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22C2CB-4BE8-4A01-8C41-49B864121A30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</p:spTree>
    <p:extLst>
      <p:ext uri="{BB962C8B-B14F-4D97-AF65-F5344CB8AC3E}">
        <p14:creationId xmlns:p14="http://schemas.microsoft.com/office/powerpoint/2010/main" val="317714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10520797" y="952809"/>
            <a:ext cx="1055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幂运算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21125CD-A7DA-492F-B74E-BB8095A72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7" y="1625868"/>
            <a:ext cx="8738560" cy="87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indent="-457200" eaLnBrk="1" hangingPunct="1">
              <a:buNone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1, 2, 3, 4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={&lt;1,1&gt;,&lt;1,2&gt;,&lt;2,3&gt;,&lt;2,4&gt;,&lt;4,2&gt;},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关系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的关系矩阵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和关系图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如下：</a:t>
            </a:r>
          </a:p>
        </p:txBody>
      </p:sp>
      <p:pic>
        <p:nvPicPr>
          <p:cNvPr id="16" name="Picture 4" descr="图片2">
            <a:extLst>
              <a:ext uri="{FF2B5EF4-FFF2-40B4-BE49-F238E27FC236}">
                <a16:creationId xmlns:a16="http://schemas.microsoft.com/office/drawing/2014/main" id="{F0B62E7E-8E27-4D46-BAF5-CDE1940DF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3376" y="2723515"/>
            <a:ext cx="1959458" cy="1887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5234D150-9057-4DD7-85D0-CD4CB68603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0687" y="2797737"/>
          <a:ext cx="2689365" cy="1897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14949" imgH="931954" progId="Equation.3">
                  <p:embed/>
                </p:oleObj>
              </mc:Choice>
              <mc:Fallback>
                <p:oleObj r:id="rId4" imgW="1314949" imgH="931954" progId="Equation.3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5234D150-9057-4DD7-85D0-CD4CB68603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687" y="2797737"/>
                        <a:ext cx="2689365" cy="18974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>
            <a:extLst>
              <a:ext uri="{FF2B5EF4-FFF2-40B4-BE49-F238E27FC236}">
                <a16:creationId xmlns:a16="http://schemas.microsoft.com/office/drawing/2014/main" id="{A1461DD7-A3E5-427F-BAA5-818B93FDE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7" y="5340618"/>
            <a:ext cx="10406334" cy="58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defRPr/>
            </a:pP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dom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{1,  2,  4},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ran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{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</a:rPr>
              <a:t>1, 2, 3, 4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},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fld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{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</a:rPr>
              <a:t>1, 2, 3, 4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endParaRPr lang="zh-CN" altLang="en-US" sz="2400" b="1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86671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48112A4B-16A9-4369-8220-7415EE426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769" y="1680503"/>
            <a:ext cx="11137506" cy="182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={&lt;1, 2&gt;, &lt;2, 3&gt;, &lt;1, 4&gt;, &lt;2, 2&gt;},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={&lt;1, 1&gt;, &lt;1, 3&gt;, &lt;2, 3&gt;, &lt;3, 2&gt;, &lt;3, 3&gt;} 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</a:rPr>
              <a:t>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</a:rPr>
              <a:t>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0F2F9AF-3EB0-4848-A210-2C57D32C35D5}"/>
              </a:ext>
            </a:extLst>
          </p:cNvPr>
          <p:cNvSpPr txBox="1">
            <a:spLocks noChangeArrowheads="1"/>
          </p:cNvSpPr>
          <p:nvPr/>
        </p:nvSpPr>
        <p:spPr>
          <a:xfrm>
            <a:off x="421079" y="3955611"/>
            <a:ext cx="3538274" cy="4512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合成运算的图示方法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DE472F6-3B0E-4FF4-8151-35D875D8E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03" y="4464271"/>
            <a:ext cx="5751810" cy="16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利用图示（不是关系图）方法求合成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 = {&lt;1, 2&gt;, &lt;1, 4&gt;, &lt;3, 2&gt;, &lt;3, 3&gt;}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= {&lt;1, 3&gt;, &lt;2, 2&gt;, &lt;2, 3&gt;}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805B9F-3175-4235-9F25-EE109929D5D8}"/>
              </a:ext>
            </a:extLst>
          </p:cNvPr>
          <p:cNvGrpSpPr/>
          <p:nvPr/>
        </p:nvGrpSpPr>
        <p:grpSpPr>
          <a:xfrm>
            <a:off x="5536539" y="4482636"/>
            <a:ext cx="2964140" cy="1781458"/>
            <a:chOff x="5536539" y="4482636"/>
            <a:chExt cx="2964140" cy="1781458"/>
          </a:xfrm>
        </p:grpSpPr>
        <p:pic>
          <p:nvPicPr>
            <p:cNvPr id="11" name="Picture 4" descr="图片2">
              <a:extLst>
                <a:ext uri="{FF2B5EF4-FFF2-40B4-BE49-F238E27FC236}">
                  <a16:creationId xmlns:a16="http://schemas.microsoft.com/office/drawing/2014/main" id="{1C5D8DC3-167D-4BA5-BA40-6181C941C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93" t="2632" r="-3078" b="10526"/>
            <a:stretch>
              <a:fillRect/>
            </a:stretch>
          </p:blipFill>
          <p:spPr bwMode="auto">
            <a:xfrm>
              <a:off x="5536539" y="4482636"/>
              <a:ext cx="2964140" cy="176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33923B3-A3AA-434D-A5A0-80A6FDC8E5E0}"/>
                </a:ext>
              </a:extLst>
            </p:cNvPr>
            <p:cNvSpPr txBox="1"/>
            <p:nvPr/>
          </p:nvSpPr>
          <p:spPr>
            <a:xfrm>
              <a:off x="6875253" y="5900468"/>
              <a:ext cx="558166" cy="3636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0" lang="en-US" altLang="zh-CN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∘</a:t>
              </a: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7E204D-83BF-4958-8E2D-B0461C6B59C8}"/>
              </a:ext>
            </a:extLst>
          </p:cNvPr>
          <p:cNvGrpSpPr/>
          <p:nvPr/>
        </p:nvGrpSpPr>
        <p:grpSpPr>
          <a:xfrm>
            <a:off x="8994685" y="4278971"/>
            <a:ext cx="2737239" cy="2016751"/>
            <a:chOff x="8994685" y="4278971"/>
            <a:chExt cx="2737239" cy="2016751"/>
          </a:xfrm>
        </p:grpSpPr>
        <p:pic>
          <p:nvPicPr>
            <p:cNvPr id="12" name="Picture 4" descr="图片2">
              <a:extLst>
                <a:ext uri="{FF2B5EF4-FFF2-40B4-BE49-F238E27FC236}">
                  <a16:creationId xmlns:a16="http://schemas.microsoft.com/office/drawing/2014/main" id="{756DE75B-F0E2-4D32-A701-888E10435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194" b="13158"/>
            <a:stretch>
              <a:fillRect/>
            </a:stretch>
          </p:blipFill>
          <p:spPr bwMode="auto">
            <a:xfrm>
              <a:off x="8994685" y="4278971"/>
              <a:ext cx="2737239" cy="186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B69B253-E47C-4844-AFCB-5E8FCBBD91B5}"/>
                </a:ext>
              </a:extLst>
            </p:cNvPr>
            <p:cNvSpPr txBox="1"/>
            <p:nvPr/>
          </p:nvSpPr>
          <p:spPr>
            <a:xfrm>
              <a:off x="10417834" y="5932096"/>
              <a:ext cx="569387" cy="3636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kumimoji="0" lang="en-US" altLang="zh-CN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∘</a:t>
              </a: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6C280145-EE57-47B6-B806-350C3608F574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B0A2D6A3-153F-4758-9937-4CC1F606B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094" y="2561284"/>
            <a:ext cx="4675560" cy="49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{&lt;1, 2&gt;, &lt;1, 4&gt;, &lt;3, 2&gt;, &lt;3, 3&gt;}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BD9CD187-5D10-4A1B-8976-C4AB056E0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094" y="2088396"/>
            <a:ext cx="4675560" cy="49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{&lt;2, 1&gt;, &lt;3, 2&gt;, &lt;4, 1&gt;, &lt;2, 2&gt;} 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E49ED68F-C75D-475F-B25D-11BB9B087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094" y="3043138"/>
            <a:ext cx="4675560" cy="49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{&lt;1, 3&gt;, &lt;2, 2&gt;, &lt;2, 3&gt;}</a:t>
            </a:r>
          </a:p>
        </p:txBody>
      </p:sp>
    </p:spTree>
    <p:extLst>
      <p:ext uri="{BB962C8B-B14F-4D97-AF65-F5344CB8AC3E}">
        <p14:creationId xmlns:p14="http://schemas.microsoft.com/office/powerpoint/2010/main" val="145895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091C5092-2CFE-493C-B66E-58BD0EE5F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28" y="1817865"/>
            <a:ext cx="6049153" cy="2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{&lt;1, 2&gt;, &lt;2, 3&gt;, &lt;1, 4&gt;, &lt;2, 2&gt;}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↾{1} =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[{1}] =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 =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None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[{1, 2}] =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8F89E2-9E3D-4DEF-A3EC-782E1FEBAB85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FB7CC3E-9459-40C9-B335-C8FD71364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309" y="2895644"/>
            <a:ext cx="1447907" cy="671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{2, 4}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3885ED7-C99B-402A-8655-3C7D031A0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128" y="4882900"/>
            <a:ext cx="6049153" cy="839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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,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] 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A4C1C96-7ADE-4B1B-943D-CA8EDFA53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7100" y="3986666"/>
            <a:ext cx="2312853" cy="76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{2, 3, 4}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55736ED-66DA-4875-B342-1CAF46228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979" y="3465883"/>
            <a:ext cx="792889" cy="53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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2DCD9D4-B447-49DF-84C2-F9FB50E6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539" y="2345593"/>
            <a:ext cx="2676191" cy="700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{&lt;1, 2&gt;,&lt;1, 4&gt;}</a:t>
            </a:r>
          </a:p>
        </p:txBody>
      </p:sp>
    </p:spTree>
    <p:extLst>
      <p:ext uri="{BB962C8B-B14F-4D97-AF65-F5344CB8AC3E}">
        <p14:creationId xmlns:p14="http://schemas.microsoft.com/office/powerpoint/2010/main" val="260058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B49496B-9931-43A8-B5DF-C5D8A22D4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4" y="1585163"/>
            <a:ext cx="10593238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 sz="2400" b="1" kern="0">
                <a:latin typeface="黑体" pitchFamily="49" charset="-122"/>
                <a:ea typeface="黑体" pitchFamily="49" charset="-122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latin typeface="Arial" pitchFamily="34" charset="0"/>
                <a:ea typeface="华文中宋" pitchFamily="2" charset="-122"/>
              </a:defRPr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latin typeface="Arial" pitchFamily="34" charset="0"/>
                <a:ea typeface="华文中宋" pitchFamily="2" charset="-122"/>
              </a:defRPr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latin typeface="Arial" pitchFamily="34" charset="0"/>
                <a:ea typeface="华文中宋" pitchFamily="2" charset="-122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9pPr>
          </a:lstStyle>
          <a:p>
            <a:r>
              <a:rPr lang="zh-CN" altLang="en-US" dirty="0"/>
              <a:t>例</a:t>
            </a:r>
            <a:r>
              <a:rPr lang="en-US" altLang="zh-CN" dirty="0"/>
              <a:t> </a:t>
            </a:r>
            <a:r>
              <a:rPr lang="zh-CN" altLang="en-US" dirty="0"/>
              <a:t>（幂的求法）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c, 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 b&gt;, &lt;b, a&gt;, &lt;b, c&gt;, &lt;c, d&gt;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求</a:t>
            </a:r>
            <a:r>
              <a:rPr lang="en-US" altLang="zh-CN" dirty="0"/>
              <a:t>R</a:t>
            </a:r>
            <a:r>
              <a:rPr lang="zh-CN" altLang="en-US" dirty="0"/>
              <a:t>的各次幂</a:t>
            </a:r>
            <a:r>
              <a:rPr lang="en-US" altLang="zh-CN" dirty="0"/>
              <a:t>, </a:t>
            </a:r>
            <a:r>
              <a:rPr lang="zh-CN" altLang="en-US" dirty="0"/>
              <a:t>分别用矩阵和关系图表示</a:t>
            </a:r>
            <a:r>
              <a:rPr lang="en-US" altLang="zh-CN" dirty="0"/>
              <a:t>. </a:t>
            </a:r>
          </a:p>
        </p:txBody>
      </p:sp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BB776EE5-E9AF-4D3A-BA2D-EBBFA94EF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7814" y="3096463"/>
          <a:ext cx="23749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37810" imgH="931547" progId="Equation.3">
                  <p:embed/>
                </p:oleObj>
              </mc:Choice>
              <mc:Fallback>
                <p:oleObj r:id="rId3" imgW="1237810" imgH="931547" progId="Equation.3">
                  <p:embed/>
                  <p:pic>
                    <p:nvPicPr>
                      <p:cNvPr id="24" name="Object 4">
                        <a:extLst>
                          <a:ext uri="{FF2B5EF4-FFF2-40B4-BE49-F238E27FC236}">
                            <a16:creationId xmlns:a16="http://schemas.microsoft.com/office/drawing/2014/main" id="{BB776EE5-E9AF-4D3A-BA2D-EBBFA94EF6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814" y="3096463"/>
                        <a:ext cx="2374900" cy="178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5">
            <a:extLst>
              <a:ext uri="{FF2B5EF4-FFF2-40B4-BE49-F238E27FC236}">
                <a16:creationId xmlns:a16="http://schemas.microsoft.com/office/drawing/2014/main" id="{3F080A38-FC3A-467D-B2AC-3D1620497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14" y="2593226"/>
            <a:ext cx="45656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R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与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R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的关系矩阵分别是：</a:t>
            </a:r>
          </a:p>
        </p:txBody>
      </p:sp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F3554CBF-86B5-4405-AAC2-775185BB40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3352" y="5053851"/>
          <a:ext cx="6265862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51200" imgH="927100" progId="Equation.3">
                  <p:embed/>
                </p:oleObj>
              </mc:Choice>
              <mc:Fallback>
                <p:oleObj r:id="rId5" imgW="3251200" imgH="927100" progId="Equation.3">
                  <p:embed/>
                  <p:pic>
                    <p:nvPicPr>
                      <p:cNvPr id="26" name="Object 6">
                        <a:extLst>
                          <a:ext uri="{FF2B5EF4-FFF2-40B4-BE49-F238E27FC236}">
                            <a16:creationId xmlns:a16="http://schemas.microsoft.com/office/drawing/2014/main" id="{F3554CBF-86B5-4405-AAC2-775185BB401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352" y="5053851"/>
                        <a:ext cx="6265862" cy="178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300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47607CC-62A6-45EA-8EB6-DF2CBF3E9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3" y="1507523"/>
            <a:ext cx="10783019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的矩阵是：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因此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即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因此可以得到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7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=…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的关系矩阵是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D11DCE8C-8E5C-40B7-A797-E70B08549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4864" y="1913445"/>
          <a:ext cx="5160963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17800" imgH="927100" progId="Equation.3">
                  <p:embed/>
                </p:oleObj>
              </mc:Choice>
              <mc:Fallback>
                <p:oleObj r:id="rId3" imgW="2717800" imgH="927100" progId="Equation.3">
                  <p:embed/>
                  <p:pic>
                    <p:nvPicPr>
                      <p:cNvPr id="19" name="Object 4">
                        <a:extLst>
                          <a:ext uri="{FF2B5EF4-FFF2-40B4-BE49-F238E27FC236}">
                            <a16:creationId xmlns:a16="http://schemas.microsoft.com/office/drawing/2014/main" id="{D11DCE8C-8E5C-40B7-A797-E70B08549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864" y="1913445"/>
                        <a:ext cx="5160963" cy="176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6A1EAB34-9F99-40B5-9CC9-7D574D0A20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3939" y="4793170"/>
          <a:ext cx="2592388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02182" imgH="931954" progId="Equation.3">
                  <p:embed/>
                </p:oleObj>
              </mc:Choice>
              <mc:Fallback>
                <p:oleObj r:id="rId5" imgW="1302182" imgH="931954" progId="Equation.3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6A1EAB34-9F99-40B5-9CC9-7D574D0A20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939" y="4793170"/>
                        <a:ext cx="2592388" cy="187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624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F7CBC47-08A2-44CA-94D3-0FBE6E6CF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40" y="1622095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的关系图如下图所示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27" name="Picture 4" descr="图片2">
            <a:extLst>
              <a:ext uri="{FF2B5EF4-FFF2-40B4-BE49-F238E27FC236}">
                <a16:creationId xmlns:a16="http://schemas.microsoft.com/office/drawing/2014/main" id="{4CD1CE15-B2B2-43C1-A11D-B11347AC5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72855"/>
          <a:stretch>
            <a:fillRect/>
          </a:stretch>
        </p:blipFill>
        <p:spPr bwMode="auto">
          <a:xfrm>
            <a:off x="943003" y="2774620"/>
            <a:ext cx="7848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5" descr="图片2">
            <a:extLst>
              <a:ext uri="{FF2B5EF4-FFF2-40B4-BE49-F238E27FC236}">
                <a16:creationId xmlns:a16="http://schemas.microsoft.com/office/drawing/2014/main" id="{A6F9FE50-1CF8-46B5-9AF3-6AE8AD692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49800" b="9482"/>
          <a:stretch>
            <a:fillRect/>
          </a:stretch>
        </p:blipFill>
        <p:spPr bwMode="auto">
          <a:xfrm>
            <a:off x="869978" y="4574845"/>
            <a:ext cx="7848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 Box 6">
            <a:extLst>
              <a:ext uri="{FF2B5EF4-FFF2-40B4-BE49-F238E27FC236}">
                <a16:creationId xmlns:a16="http://schemas.microsoft.com/office/drawing/2014/main" id="{F31961BA-9D2A-4A3C-AC4D-EA60EE549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78" y="3658857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id="{E2C907F3-E63B-471B-BA60-279BC3B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6915" y="363822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id="{14CD8927-F68B-46F6-BCDA-C05C46F96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65" y="5870245"/>
            <a:ext cx="1444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4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=…</a:t>
            </a:r>
            <a:endParaRPr lang="en-US" altLang="zh-CN" sz="2400" b="1" baseline="300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BC5289D8-DB75-4D8B-AB35-9D867BF5E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578" y="5870245"/>
            <a:ext cx="1444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=…</a:t>
            </a:r>
            <a:endParaRPr lang="en-US" altLang="zh-CN" sz="2400" b="1" baseline="300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E71BF5-CFE9-48E9-9096-E3E5FC06D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753" y="1576418"/>
            <a:ext cx="3640622" cy="9721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E6326C-7C1B-401A-B021-159C019EE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902" y="3505722"/>
            <a:ext cx="3310399" cy="108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1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BA7D31E-AAC2-47DF-AC7B-66A626C29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75" y="3531773"/>
            <a:ext cx="10057741" cy="251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={1,2,3},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{&lt;1,1&gt;,&lt;2,2&gt;}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{&lt;1,1&gt;,&lt;2,2&gt;,&lt;3,3&gt;,&lt;1,2&gt;}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{&lt;1,3&gt;}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，判断自反性与反自反性</a:t>
            </a:r>
            <a:endParaRPr lang="en-US" altLang="zh-CN" sz="2400" b="1" i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CD792C-6179-422B-ACB6-9F484325FF17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F1C665-E3F9-428B-B606-679C533BF6DE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01951B-EEA7-4371-809E-90D6E109A304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5D0E492-AA5C-4203-ABF0-14EC2BB4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81" y="6024281"/>
            <a:ext cx="10057741" cy="939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反自反，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既不是自反的，也不是反自反的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3C480E4-3BEC-4154-A780-AB188F60E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05" y="1418329"/>
            <a:ext cx="10057741" cy="1889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自反：全域关系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恒等关系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小于等于关系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endParaRPr lang="en-US" altLang="zh-CN" sz="2400" b="1" baseline="-25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反自反：实数集上的小于关系、幂集上的真包含关系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400" b="1" i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247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0C40FF73-DA5B-44FC-B896-A294A764C36F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C27990-F7C3-490A-BAC8-14DD2DE20EC1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6E834F-C492-4ACB-A783-3D643CFB102C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EEF035-3912-4EB2-AD2C-FCFEA127C7FA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7899A96-7DA7-463E-B417-A7512CEF7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" y="1429588"/>
            <a:ext cx="10805365" cy="224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对称关系：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上的全域关系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恒等关系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和空关系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反对称关系：恒等关系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，空关系</a:t>
            </a: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b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289AA96-7357-4EA6-A5FE-F78C245B6495}"/>
              </a:ext>
            </a:extLst>
          </p:cNvPr>
          <p:cNvSpPr txBox="1">
            <a:spLocks noChangeArrowheads="1"/>
          </p:cNvSpPr>
          <p:nvPr/>
        </p:nvSpPr>
        <p:spPr>
          <a:xfrm>
            <a:off x="611187" y="3561697"/>
            <a:ext cx="10254036" cy="5598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{1,2,3},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都是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B8E84F8-3A4C-4842-8A8F-C6CED41E8A9C}"/>
              </a:ext>
            </a:extLst>
          </p:cNvPr>
          <p:cNvSpPr txBox="1">
            <a:spLocks noChangeArrowheads="1"/>
          </p:cNvSpPr>
          <p:nvPr/>
        </p:nvSpPr>
        <p:spPr>
          <a:xfrm>
            <a:off x="992188" y="4144405"/>
            <a:ext cx="3149508" cy="6293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{&lt;1,1&gt;,&lt;2,2&gt;}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9120523-FD77-4D60-A797-A5392BF6BD77}"/>
              </a:ext>
            </a:extLst>
          </p:cNvPr>
          <p:cNvSpPr txBox="1">
            <a:spLocks noChangeArrowheads="1"/>
          </p:cNvSpPr>
          <p:nvPr/>
        </p:nvSpPr>
        <p:spPr>
          <a:xfrm>
            <a:off x="3988640" y="4144405"/>
            <a:ext cx="4133383" cy="6656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{&lt;1,1&gt;,&lt;1,2&gt;,&lt;2,1&gt;}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90ABA59-FD66-4D94-A895-A83DD2164F35}"/>
              </a:ext>
            </a:extLst>
          </p:cNvPr>
          <p:cNvSpPr txBox="1">
            <a:spLocks noChangeArrowheads="1"/>
          </p:cNvSpPr>
          <p:nvPr/>
        </p:nvSpPr>
        <p:spPr>
          <a:xfrm>
            <a:off x="3979675" y="4616823"/>
            <a:ext cx="4175966" cy="5871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{&lt;1,2&gt;,&lt;2,1&gt;,&lt;1,3&gt;}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E04421F-AC61-4939-B912-2A9B457E74AC}"/>
              </a:ext>
            </a:extLst>
          </p:cNvPr>
          <p:cNvSpPr txBox="1">
            <a:spLocks noChangeArrowheads="1"/>
          </p:cNvSpPr>
          <p:nvPr/>
        </p:nvSpPr>
        <p:spPr>
          <a:xfrm>
            <a:off x="978740" y="4616823"/>
            <a:ext cx="4366466" cy="5871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{&lt;1,2&gt;,&lt;1,3&gt;}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D60833E6-F76E-4F5C-8241-8DEF9DC08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485" y="5753635"/>
            <a:ext cx="3740897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反对称，不对称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F74F5A8F-D547-44E6-BB3E-D527F3316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485" y="5276262"/>
            <a:ext cx="2660650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对称，反对称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22204419-7023-48BD-8159-CA086FF0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2712" y="5276262"/>
            <a:ext cx="4839074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对称，不反对称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endParaRPr lang="en-US" altLang="zh-CN" sz="2400" b="1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2AA81EA3-4163-4A86-A89D-0EF6692A1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181" y="5753635"/>
            <a:ext cx="4215657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不对称、也不反对称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1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287D77E-ADC3-420A-98DC-5FC4D5A26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72" y="1493708"/>
            <a:ext cx="10929966" cy="1868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上的全域关系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恒等关系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和空关系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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小于等于和小于关系，整除关系，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包含与真包含关系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F8F2AF-7909-42E7-A2DD-B01CEB03153C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094EAB-B166-4A5F-BBDA-680B72FF201E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508493-F40F-4202-90AE-82FD6C5FA917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30FD82C-4559-4DA4-9698-21DD20632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72" y="3381500"/>
            <a:ext cx="10929966" cy="2500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{1,2,3},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{&lt;1,1&gt;,&lt;2,2&gt;}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{&lt;1,2&gt;,&lt;2,3&gt;}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{&lt;1,3&gt;}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1D17F2E-AE5B-4A18-A922-A9C29EC10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79" y="5787457"/>
            <a:ext cx="10929966" cy="967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上的传递关系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上的传递关系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808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1168B2FB-6F74-4B0F-AD04-C97CAF1EB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1991"/>
            <a:ext cx="79200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判断下图中关系的性质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并说明理由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AFAD71A-1D8F-48F1-855D-76F1DA8A9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08" y="5445970"/>
            <a:ext cx="98473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(b)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非自反，反自反；反对称，非对称；传递的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6C0DFEE-53CC-4187-BD06-A91970C90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08" y="4898190"/>
            <a:ext cx="8137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ClrTx/>
              <a:buSzTx/>
              <a:buFontTx/>
              <a:buNone/>
              <a:defRPr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r>
              <a:rPr lang="zh-CN" altLang="en-US" dirty="0"/>
              <a:t>非自反，也非反自反；对称</a:t>
            </a:r>
            <a:r>
              <a:rPr lang="en-US" altLang="zh-CN" dirty="0"/>
              <a:t>, </a:t>
            </a:r>
            <a:r>
              <a:rPr lang="zh-CN" altLang="en-US" dirty="0"/>
              <a:t>非反对称；非传递</a:t>
            </a:r>
            <a:r>
              <a:rPr lang="en-US" altLang="zh-CN" dirty="0"/>
              <a:t>.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838C0D73-751A-47CD-A0B6-170F4C2A8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08" y="5993751"/>
            <a:ext cx="8064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(c)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自反，非反自反；反对称，非对称；非传递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8" name="Picture 9" descr="4T5">
            <a:extLst>
              <a:ext uri="{FF2B5EF4-FFF2-40B4-BE49-F238E27FC236}">
                <a16:creationId xmlns:a16="http://schemas.microsoft.com/office/drawing/2014/main" id="{C3DDFCD8-9F07-442D-958E-ED1F6A42A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472" y="2301880"/>
            <a:ext cx="602773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449">
            <a:extLst>
              <a:ext uri="{FF2B5EF4-FFF2-40B4-BE49-F238E27FC236}">
                <a16:creationId xmlns:a16="http://schemas.microsoft.com/office/drawing/2014/main" id="{D5728C0F-E277-4D28-9F9F-91CB941EB50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B617C8-094E-4A7A-A95C-F0FBCDF6FE8B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462292-4DD5-4386-8BE3-D1DBE9298DDA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8B76C0-5D7C-4659-8925-004ADA96B939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</p:spTree>
    <p:extLst>
      <p:ext uri="{BB962C8B-B14F-4D97-AF65-F5344CB8AC3E}">
        <p14:creationId xmlns:p14="http://schemas.microsoft.com/office/powerpoint/2010/main" val="150898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E58BA67-A418-4AF3-B14D-41BA2D576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7" y="1803247"/>
            <a:ext cx="11102202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图如下图所示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B55643-9F2D-4E9F-BC26-1C30E1FEAB69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E2173A-7607-4DB9-9096-A36554E2D1E3}"/>
              </a:ext>
            </a:extLst>
          </p:cNvPr>
          <p:cNvSpPr txBox="1"/>
          <p:nvPr/>
        </p:nvSpPr>
        <p:spPr>
          <a:xfrm>
            <a:off x="7855120" y="952809"/>
            <a:ext cx="38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dirty="0"/>
              <a:t>闭包的构造方法</a:t>
            </a:r>
            <a:endParaRPr lang="en-US" altLang="zh-CN" dirty="0"/>
          </a:p>
          <a:p>
            <a:pPr algn="ctr"/>
            <a:r>
              <a:rPr lang="zh-CN" altLang="en-US" dirty="0"/>
              <a:t>（集合表示、矩阵表示、图表示）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B3D85E-BE45-46F6-A421-543FB5E51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102" y="3134308"/>
            <a:ext cx="3625645" cy="13044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96A04A-4443-407F-9417-0DCB278A5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517" y="3002773"/>
            <a:ext cx="3779094" cy="13850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B416E0-9F2B-4366-89AB-9F17DA367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233" y="5045772"/>
            <a:ext cx="3818910" cy="16855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29F0BE-1ED4-4B64-A6BE-2A81CFDF8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721" y="4667857"/>
            <a:ext cx="3767810" cy="201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6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6E0C5-B0C8-409F-A560-2D484A3DB735}"/>
              </a:ext>
            </a:extLst>
          </p:cNvPr>
          <p:cNvSpPr txBox="1"/>
          <p:nvPr/>
        </p:nvSpPr>
        <p:spPr>
          <a:xfrm>
            <a:off x="8369409" y="967560"/>
            <a:ext cx="344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等价关系与划分的一一对应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23998D5-6452-47BB-9929-0D82BCDC0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39" y="1645718"/>
            <a:ext cx="11034496" cy="17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zh-CN" altLang="en-US" sz="2400" b="1" dirty="0">
                <a:latin typeface="Times New Roman" pitchFamily="18" charset="0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</a:rPr>
              <a:t>={1,2,…,8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}, 如下定义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zh-CN" altLang="en-US" sz="2400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Times New Roman" pitchFamily="18" charset="0"/>
              </a:rPr>
              <a:t>：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                  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fr-FR" altLang="en-US" sz="2400" b="1" dirty="0">
                <a:latin typeface="Times New Roman" pitchFamily="18" charset="0"/>
              </a:rPr>
              <a:t>={&lt;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&gt;| 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∈</a:t>
            </a:r>
            <a:r>
              <a:rPr lang="fr-FR" altLang="en-US" sz="2400" b="1" i="1" dirty="0">
                <a:latin typeface="Times New Roman" pitchFamily="18" charset="0"/>
              </a:rPr>
              <a:t>A</a:t>
            </a:r>
            <a:r>
              <a:rPr lang="fr-FR" altLang="en-US" sz="2400" b="1" dirty="0">
                <a:latin typeface="Times New Roman" pitchFamily="18" charset="0"/>
              </a:rPr>
              <a:t>∧</a:t>
            </a:r>
            <a:r>
              <a:rPr lang="fr-FR" altLang="en-US" sz="2400" b="1" i="1" dirty="0">
                <a:latin typeface="Times New Roman" pitchFamily="18" charset="0"/>
              </a:rPr>
              <a:t>x </a:t>
            </a:r>
            <a:r>
              <a:rPr lang="fr-FR" altLang="en-US" sz="2400" b="1" dirty="0">
                <a:latin typeface="Times New Roman" pitchFamily="18" charset="0"/>
              </a:rPr>
              <a:t>≡ 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(mod 3)}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(mod 3)叫做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</a:rPr>
              <a:t>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</a:rPr>
              <a:t>y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</a:rPr>
              <a:t>3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即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除以</a:t>
            </a:r>
            <a:r>
              <a:rPr lang="zh-CN" altLang="en-US" sz="2400" b="1" dirty="0">
                <a:latin typeface="Times New Roman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的余数与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除以</a:t>
            </a:r>
            <a:r>
              <a:rPr lang="zh-CN" altLang="en-US" sz="2400" b="1" dirty="0">
                <a:latin typeface="Times New Roman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的余数相等. 不难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验证 </a:t>
            </a:r>
            <a:r>
              <a:rPr lang="zh-CN" altLang="en-US" sz="2400" b="1" i="1" dirty="0">
                <a:latin typeface="Times New Roman" pitchFamily="18" charset="0"/>
              </a:rPr>
              <a:t>R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上的等价关系, 因为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66AAFDB-55D1-44F3-8C83-918F7C84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58" y="3715637"/>
            <a:ext cx="8497887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(1)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自反性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fr-FR" altLang="en-US" sz="2400" b="1" dirty="0">
                <a:latin typeface="Times New Roman" pitchFamily="18" charset="0"/>
              </a:rPr>
              <a:t>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x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    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,有 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(2)</a:t>
            </a:r>
            <a:r>
              <a:rPr lang="zh-CN" altLang="en-US" sz="2400" b="1" dirty="0">
                <a:solidFill>
                  <a:srgbClr val="FF9999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对称性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fr-FR" altLang="en-US" sz="2400" b="1" dirty="0">
                <a:latin typeface="Times New Roman" pitchFamily="18" charset="0"/>
              </a:rPr>
              <a:t> 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y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fr-FR" altLang="en-US" sz="2400" b="1" dirty="0">
                <a:latin typeface="Times New Roman" pitchFamily="18" charset="0"/>
              </a:rPr>
              <a:t>&lt;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x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    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,若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则有</a:t>
            </a:r>
            <a:r>
              <a:rPr lang="zh-CN" altLang="en-US" sz="2400" b="1" i="1" dirty="0">
                <a:latin typeface="Times New Roman" pitchFamily="18" charset="0"/>
              </a:rPr>
              <a:t>y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(3)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传递性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fr-FR" altLang="en-US" sz="2400" b="1" dirty="0">
                <a:latin typeface="Times New Roman" pitchFamily="18" charset="0"/>
              </a:rPr>
              <a:t> 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y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i="1" dirty="0">
                <a:latin typeface="Times New Roman" pitchFamily="18" charset="0"/>
              </a:rPr>
              <a:t>,</a:t>
            </a:r>
            <a:r>
              <a:rPr lang="fr-FR" altLang="en-US" sz="2400" b="1" dirty="0">
                <a:latin typeface="Times New Roman" pitchFamily="18" charset="0"/>
              </a:rPr>
              <a:t> &lt;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z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fr-FR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fr-FR" altLang="en-US" sz="2400" b="1" dirty="0">
                <a:latin typeface="Times New Roman" pitchFamily="18" charset="0"/>
              </a:rPr>
              <a:t>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z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    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若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y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br>
              <a:rPr lang="zh-CN" altLang="en-US" sz="2400" b="1" dirty="0">
                <a:latin typeface="Times New Roman" pitchFamily="18" charset="0"/>
              </a:rPr>
            </a:br>
            <a:endParaRPr lang="zh-CN" altLang="en-US" sz="24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42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6E0C5-B0C8-409F-A560-2D484A3DB735}"/>
              </a:ext>
            </a:extLst>
          </p:cNvPr>
          <p:cNvSpPr txBox="1"/>
          <p:nvPr/>
        </p:nvSpPr>
        <p:spPr>
          <a:xfrm>
            <a:off x="8369409" y="967560"/>
            <a:ext cx="344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等价关系与划分的一一对应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AB897EE-310D-4F85-B360-6DD0E2F7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647" y="4849555"/>
            <a:ext cx="6192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 </a:t>
            </a:r>
            <a:r>
              <a:rPr lang="en-US" altLang="zh-CN" sz="2400" b="1" dirty="0">
                <a:latin typeface="Times New Roman" pitchFamily="18" charset="0"/>
              </a:rPr>
              <a:t>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等价关系的关系图</a:t>
            </a:r>
          </a:p>
        </p:txBody>
      </p:sp>
      <p:pic>
        <p:nvPicPr>
          <p:cNvPr id="13" name="Picture 3" descr="7-55">
            <a:extLst>
              <a:ext uri="{FF2B5EF4-FFF2-40B4-BE49-F238E27FC236}">
                <a16:creationId xmlns:a16="http://schemas.microsoft.com/office/drawing/2014/main" id="{96D6593D-750E-415B-96C6-B1347D0E7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5371" y="2302183"/>
            <a:ext cx="8064500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034168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商集与集合的划分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6E0C5-B0C8-409F-A560-2D484A3DB735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等价与划分的关系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17E9279-058C-4C4D-855C-B5C2B03CD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803" y="1728560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</a:rPr>
              <a:t> 例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给定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如下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的划分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其他都不是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的划分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03481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37" name="Rectangle 1026">
            <a:extLst>
              <a:ext uri="{FF2B5EF4-FFF2-40B4-BE49-F238E27FC236}">
                <a16:creationId xmlns:a16="http://schemas.microsoft.com/office/drawing/2014/main" id="{6525F117-3100-4067-82AF-47232135C554}"/>
              </a:ext>
            </a:extLst>
          </p:cNvPr>
          <p:cNvSpPr txBox="1">
            <a:spLocks noChangeArrowheads="1"/>
          </p:cNvSpPr>
          <p:nvPr/>
        </p:nvSpPr>
        <p:spPr>
          <a:xfrm>
            <a:off x="559438" y="1632609"/>
            <a:ext cx="8229600" cy="5412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握手定理的应用</a:t>
            </a:r>
          </a:p>
        </p:txBody>
      </p:sp>
      <p:sp>
        <p:nvSpPr>
          <p:cNvPr id="38" name="Rectangle 1027">
            <a:extLst>
              <a:ext uri="{FF2B5EF4-FFF2-40B4-BE49-F238E27FC236}">
                <a16:creationId xmlns:a16="http://schemas.microsoft.com/office/drawing/2014/main" id="{D42D2A02-44A1-4B6C-8001-7B7BD2382724}"/>
              </a:ext>
            </a:extLst>
          </p:cNvPr>
          <p:cNvSpPr txBox="1">
            <a:spLocks noChangeArrowheads="1"/>
          </p:cNvSpPr>
          <p:nvPr/>
        </p:nvSpPr>
        <p:spPr>
          <a:xfrm>
            <a:off x="539751" y="2275991"/>
            <a:ext cx="7993063" cy="4191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(3,3,3,4), (2,3,4,6,8)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能成为图的度数列吗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39" name="Text Box 1028">
            <a:extLst>
              <a:ext uri="{FF2B5EF4-FFF2-40B4-BE49-F238E27FC236}">
                <a16:creationId xmlns:a16="http://schemas.microsoft.com/office/drawing/2014/main" id="{7F508944-040D-40A6-A0C8-B78E47DEC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16" y="2765989"/>
            <a:ext cx="838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 不可能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它们都有奇数个奇度顶点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0" name="Text Box 1029">
            <a:extLst>
              <a:ext uri="{FF2B5EF4-FFF2-40B4-BE49-F238E27FC236}">
                <a16:creationId xmlns:a16="http://schemas.microsoft.com/office/drawing/2014/main" id="{79BFE4C7-C48C-4759-BEA7-35F0C0B56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45" y="3871128"/>
            <a:ext cx="1119217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已知图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度顶点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其余顶点的度数均小于等于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至少有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多少个顶点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? </a:t>
            </a:r>
          </a:p>
        </p:txBody>
      </p:sp>
      <p:sp>
        <p:nvSpPr>
          <p:cNvPr id="41" name="Text Box 1030">
            <a:extLst>
              <a:ext uri="{FF2B5EF4-FFF2-40B4-BE49-F238E27FC236}">
                <a16:creationId xmlns:a16="http://schemas.microsoft.com/office/drawing/2014/main" id="{8A533167-9277-455D-8D12-07C7A0F8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763" y="4954641"/>
            <a:ext cx="10666596" cy="1483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 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由握手定理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210 = 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3+</a:t>
            </a:r>
            <a:r>
              <a:rPr lang="zh-CN" altLang="en-US" sz="24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其余顶点的度数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≤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3+</a:t>
            </a:r>
            <a:r>
              <a:rPr kumimoji="1"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2(</a:t>
            </a:r>
            <a:r>
              <a:rPr kumimoji="1" lang="en-US" altLang="zh-CN" sz="2400" b="1" i="1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-4)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解得       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8</a:t>
            </a:r>
            <a:endParaRPr kumimoji="1"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C6A0B9-2478-4AC7-9355-61D556F82898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5C3D1C-C126-4C83-86AD-515660EFF17A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5CE97E-2D86-4783-8100-BABE3C90F74C}"/>
              </a:ext>
            </a:extLst>
          </p:cNvPr>
          <p:cNvSpPr txBox="1"/>
          <p:nvPr/>
        </p:nvSpPr>
        <p:spPr>
          <a:xfrm>
            <a:off x="4650790" y="949038"/>
            <a:ext cx="1218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7CD987-3211-42F2-96C4-340B0D01B988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C1B0FA-0C87-4F94-B04A-8562C1088198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6070D7-17D0-40AF-84B6-198973586E8B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E57D56F-7484-435D-A837-F619D0A7AE11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F7366E-179B-4A2E-A621-6F93280C9B68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37234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  <p:bldP spid="40" grpId="0" autoUpdateAnimBg="0"/>
      <p:bldP spid="41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pic>
        <p:nvPicPr>
          <p:cNvPr id="12" name="Picture 1028" descr="14-1">
            <a:extLst>
              <a:ext uri="{FF2B5EF4-FFF2-40B4-BE49-F238E27FC236}">
                <a16:creationId xmlns:a16="http://schemas.microsoft.com/office/drawing/2014/main" id="{F09A5FCF-5F22-4068-B661-A4AD4B4E1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455" y="2166667"/>
            <a:ext cx="258286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030">
            <a:extLst>
              <a:ext uri="{FF2B5EF4-FFF2-40B4-BE49-F238E27FC236}">
                <a16:creationId xmlns:a16="http://schemas.microsoft.com/office/drawing/2014/main" id="{3874970B-362E-471F-B3D3-910C37856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517" y="4909867"/>
            <a:ext cx="2895600" cy="966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是平行边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重数为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2" name="Picture 1029" descr="14-2">
            <a:extLst>
              <a:ext uri="{FF2B5EF4-FFF2-40B4-BE49-F238E27FC236}">
                <a16:creationId xmlns:a16="http://schemas.microsoft.com/office/drawing/2014/main" id="{D18F9AA3-91CA-453C-829B-95225DCDC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354" y="2020018"/>
            <a:ext cx="2667000" cy="262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1031">
            <a:extLst>
              <a:ext uri="{FF2B5EF4-FFF2-40B4-BE49-F238E27FC236}">
                <a16:creationId xmlns:a16="http://schemas.microsoft.com/office/drawing/2014/main" id="{6BF7E64D-9CCD-45D3-8F7F-5CC50D1C8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2610" y="5090428"/>
            <a:ext cx="3962400" cy="1483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2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不是平行边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不是简单图</a:t>
            </a:r>
          </a:p>
        </p:txBody>
      </p:sp>
      <p:sp>
        <p:nvSpPr>
          <p:cNvPr id="24" name="Rectangle 1026">
            <a:extLst>
              <a:ext uri="{FF2B5EF4-FFF2-40B4-BE49-F238E27FC236}">
                <a16:creationId xmlns:a16="http://schemas.microsoft.com/office/drawing/2014/main" id="{6760E8F6-3A34-47E7-8ABB-F8A7178816BB}"/>
              </a:ext>
            </a:extLst>
          </p:cNvPr>
          <p:cNvSpPr txBox="1">
            <a:spLocks noChangeArrowheads="1"/>
          </p:cNvSpPr>
          <p:nvPr/>
        </p:nvSpPr>
        <p:spPr>
          <a:xfrm>
            <a:off x="629729" y="1457864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1030">
            <a:extLst>
              <a:ext uri="{FF2B5EF4-FFF2-40B4-BE49-F238E27FC236}">
                <a16:creationId xmlns:a16="http://schemas.microsoft.com/office/drawing/2014/main" id="{DB451DEB-FC9B-4084-8F86-849E34B0B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5444" y="4900897"/>
            <a:ext cx="2895600" cy="1409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6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2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不是简单图</a:t>
            </a:r>
          </a:p>
        </p:txBody>
      </p:sp>
      <p:sp>
        <p:nvSpPr>
          <p:cNvPr id="25" name="Text Box 1031">
            <a:extLst>
              <a:ext uri="{FF2B5EF4-FFF2-40B4-BE49-F238E27FC236}">
                <a16:creationId xmlns:a16="http://schemas.microsoft.com/office/drawing/2014/main" id="{A05A5E8F-A9F1-4E36-A280-2BB76A764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754" y="5068019"/>
            <a:ext cx="39624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是平行边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重数为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7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5ED5FA5-88EB-474D-8FE7-3E9493CE8590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817CB8-BA8A-4B32-B2D3-ADAF07ECC2F3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5E8B83-E4F3-4848-8F78-C06839698657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FEE757-15EA-459C-BB71-BD4E8B299957}"/>
              </a:ext>
            </a:extLst>
          </p:cNvPr>
          <p:cNvSpPr txBox="1"/>
          <p:nvPr/>
        </p:nvSpPr>
        <p:spPr>
          <a:xfrm>
            <a:off x="6248494" y="949038"/>
            <a:ext cx="1006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986DE9-4C9F-4549-BE7A-0C773B3D0713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21CE0C6-ACD9-4CF0-AFD2-1880F5A2465E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604A72F-013D-472C-8449-E8A3B4F4F951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4BA6C9-93C2-45A8-B29C-47D6F2307751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109959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20" grpId="0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0903842F-A49C-4D4C-A90A-51FF0FEB80FC}"/>
              </a:ext>
            </a:extLst>
          </p:cNvPr>
          <p:cNvSpPr txBox="1">
            <a:spLocks/>
          </p:cNvSpPr>
          <p:nvPr/>
        </p:nvSpPr>
        <p:spPr>
          <a:xfrm>
            <a:off x="767751" y="1928812"/>
            <a:ext cx="8229600" cy="492918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endParaRPr lang="zh-CN" altLang="en-US"/>
          </a:p>
        </p:txBody>
      </p:sp>
      <p:pic>
        <p:nvPicPr>
          <p:cNvPr id="23" name="图片 5" descr="7T3">
            <a:extLst>
              <a:ext uri="{FF2B5EF4-FFF2-40B4-BE49-F238E27FC236}">
                <a16:creationId xmlns:a16="http://schemas.microsoft.com/office/drawing/2014/main" id="{9B991CE6-05D3-4379-AC4E-B0EA14B11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42" r="22331" b="53836"/>
          <a:stretch>
            <a:fillRect/>
          </a:stretch>
        </p:blipFill>
        <p:spPr bwMode="auto">
          <a:xfrm>
            <a:off x="2500620" y="2196588"/>
            <a:ext cx="6429375" cy="211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6">
            <a:extLst>
              <a:ext uri="{FF2B5EF4-FFF2-40B4-BE49-F238E27FC236}">
                <a16:creationId xmlns:a16="http://schemas.microsoft.com/office/drawing/2014/main" id="{08A3029C-BE3C-456D-8DB4-E3BED4747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432" y="4211126"/>
            <a:ext cx="528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EB98D53D-78C0-4D9F-916F-68B5B5927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295" y="6316151"/>
            <a:ext cx="5286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28ECE358-64F2-48C9-8E3D-C3CB54B1D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8057" y="4173026"/>
            <a:ext cx="1428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3AC75267-F420-4804-9BDE-0617DE2E8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932" y="4139688"/>
            <a:ext cx="2000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CF6AC4D4-538C-439E-A0EB-7F946A991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932" y="6282813"/>
            <a:ext cx="1428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12" descr="D:\离散数学(范素珍)\tp\7T3a.tif">
            <a:extLst>
              <a:ext uri="{FF2B5EF4-FFF2-40B4-BE49-F238E27FC236}">
                <a16:creationId xmlns:a16="http://schemas.microsoft.com/office/drawing/2014/main" id="{1E001B6E-375B-4E4A-96CB-781348BFC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3" t="53543" r="24486" b="11026"/>
          <a:stretch>
            <a:fillRect/>
          </a:stretch>
        </p:blipFill>
        <p:spPr bwMode="auto">
          <a:xfrm>
            <a:off x="2243445" y="4673088"/>
            <a:ext cx="66865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0">
            <a:extLst>
              <a:ext uri="{FF2B5EF4-FFF2-40B4-BE49-F238E27FC236}">
                <a16:creationId xmlns:a16="http://schemas.microsoft.com/office/drawing/2014/main" id="{D5DC6BD9-1BF2-4202-85DD-6A60F6C7B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1245" y="6282813"/>
            <a:ext cx="1428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656DBA2B-006A-4438-96B4-D47238541639}"/>
              </a:ext>
            </a:extLst>
          </p:cNvPr>
          <p:cNvSpPr txBox="1">
            <a:spLocks/>
          </p:cNvSpPr>
          <p:nvPr/>
        </p:nvSpPr>
        <p:spPr>
          <a:xfrm>
            <a:off x="558021" y="1518249"/>
            <a:ext cx="8229600" cy="10429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导出子图实例</a:t>
            </a:r>
            <a:endParaRPr lang="zh-CN" altLang="en-US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E3C793A-83F8-44A9-9F68-D57089CED226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404A15-0CED-4CA1-84EB-E27CC84B7FD0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1D91C24-1209-4A3A-B361-085932765A9B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96392B7-4CDE-4023-83DA-E16F1B99BCDC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3DA5541-0233-4ACC-974B-392CD22C1823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C77FDF4-03AD-48D4-805F-4C0F13691BA9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C3419B5-F8AD-4788-BDFC-7901423EA6A9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0CEEAAD-38B8-40BF-9AE0-39FC9A55BAD1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7235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1EF4CF5-9F9C-4C82-8850-031DA4C0E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22" y="2465292"/>
            <a:ext cx="8429625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已知阶数，下面由边数确定度数列：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0,0,0,0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7045B7FD-9E07-47D2-BB28-C844857A6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47" y="3542963"/>
            <a:ext cx="84296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1,1,0,0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17D88FE0-BB1F-44FC-9A72-2D4071438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4066596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3,1,0,0 (×); 2,2,0,0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2,1,1,0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1,1,1,1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9B0C0647-44CF-446C-89CA-09416C639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4590230"/>
            <a:ext cx="10547380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3,3,0,0 (×); 3,2,1,0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3,1,1,1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2,2,2,0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2,2,1,1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8BF5EF5D-F694-4F8D-81C7-F93EA83E4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5113849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3,3,2,0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3,2,2,1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 ;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2,2,2,2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93DFC779-1C43-4BAE-942F-74471E49A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5637483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3,3,3,1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3,3,2,2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9066E480-3F8A-4D80-8175-F3B97FB31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6161117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3,3,3,3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89DCB716-0715-4C21-B56E-BB7B539C3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24" y="2126408"/>
            <a:ext cx="10136038" cy="668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的所有非同构的生成子图 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988AA007-6F51-447B-85F7-C9C3C47C8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4" y="1475118"/>
            <a:ext cx="8229600" cy="4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生成子图实例</a:t>
            </a:r>
            <a:endParaRPr lang="en-US" altLang="zh-CN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A5E8B0-6443-4526-B498-DCDCDC12A50C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186867-24B9-4E50-A5CF-7CEB87B1DEAA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A0B805-65B6-4AF1-9266-74855A95A301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F553DF-8994-4B06-86A6-F4C50D73191B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C2BA3A-84AD-42F1-ACF2-75B7F49792D8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13B4E7-5771-41E0-A940-3C6EE1E5C5D6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DC6044-E84E-4D54-AAE5-7EFD667CBFC7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B1D43DD-5E70-41AE-95DE-E76785AEE70E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391648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B4519A7-93E5-4174-AED7-B4CDDF09D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50" y="1764103"/>
            <a:ext cx="8229600" cy="3282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的所有非同构的生成子图 </a:t>
            </a:r>
          </a:p>
        </p:txBody>
      </p:sp>
      <p:pic>
        <p:nvPicPr>
          <p:cNvPr id="21" name="Picture 9" descr="14-6">
            <a:extLst>
              <a:ext uri="{FF2B5EF4-FFF2-40B4-BE49-F238E27FC236}">
                <a16:creationId xmlns:a16="http://schemas.microsoft.com/office/drawing/2014/main" id="{3A430EF9-E676-4417-84E5-F863C651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33" y="2530656"/>
            <a:ext cx="8280400" cy="3808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2621733-8E93-47A7-8FE2-94B484C92973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555959-4D9D-4322-BD88-F5DE854B380E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E34A65-92B9-42CD-A7E1-7AF5085A0738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F13003-E1E0-4DC6-B287-50C0C7E58DBA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8042E2-2355-4AE9-885D-83AAB0229915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8F3F88-D089-48C9-811C-1ADCC60EE5B6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44701A-E846-4E14-BA0B-F0E1B4815164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C42DB3-5E0A-4E89-8365-F2A203A1A83C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8ACAC2-BDCA-4131-A727-4C9FB3BC4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26" y="3953153"/>
            <a:ext cx="3265629" cy="235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0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35047B6-C491-4D3F-9BD1-B46CEFA06768}"/>
              </a:ext>
            </a:extLst>
          </p:cNvPr>
          <p:cNvSpPr txBox="1">
            <a:spLocks/>
          </p:cNvSpPr>
          <p:nvPr/>
        </p:nvSpPr>
        <p:spPr>
          <a:xfrm>
            <a:off x="603849" y="1518249"/>
            <a:ext cx="8229600" cy="757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同构实例</a:t>
            </a: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764F7E8F-7B3C-4BC4-8081-A146E41D68AC}"/>
              </a:ext>
            </a:extLst>
          </p:cNvPr>
          <p:cNvSpPr txBox="1">
            <a:spLocks/>
          </p:cNvSpPr>
          <p:nvPr/>
        </p:nvSpPr>
        <p:spPr>
          <a:xfrm>
            <a:off x="646712" y="2275487"/>
            <a:ext cx="8229600" cy="50006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endParaRPr lang="zh-CN" altLang="en-US"/>
          </a:p>
        </p:txBody>
      </p:sp>
      <p:pic>
        <p:nvPicPr>
          <p:cNvPr id="30" name="图片 8" descr="7T5">
            <a:extLst>
              <a:ext uri="{FF2B5EF4-FFF2-40B4-BE49-F238E27FC236}">
                <a16:creationId xmlns:a16="http://schemas.microsoft.com/office/drawing/2014/main" id="{AB0D7E1F-2D0A-438E-9CFF-F7AE090E8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5" t="50682" r="59116" b="9386"/>
          <a:stretch>
            <a:fillRect/>
          </a:stretch>
        </p:blipFill>
        <p:spPr bwMode="auto">
          <a:xfrm>
            <a:off x="4770139" y="4794760"/>
            <a:ext cx="2214562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458F2D61-1EFF-4082-AA8B-8A2D5B53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06" y="2118504"/>
            <a:ext cx="5357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证明下述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对图是同构的</a:t>
            </a:r>
          </a:p>
        </p:txBody>
      </p:sp>
      <p:pic>
        <p:nvPicPr>
          <p:cNvPr id="33" name="图片 8" descr="7T5">
            <a:extLst>
              <a:ext uri="{FF2B5EF4-FFF2-40B4-BE49-F238E27FC236}">
                <a16:creationId xmlns:a16="http://schemas.microsoft.com/office/drawing/2014/main" id="{00773A3D-6611-47EF-94D5-484FADF0A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0" r="56499" b="55666"/>
          <a:stretch>
            <a:fillRect/>
          </a:stretch>
        </p:blipFill>
        <p:spPr bwMode="auto">
          <a:xfrm>
            <a:off x="1501264" y="2634651"/>
            <a:ext cx="2428875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图片 8" descr="7T5">
            <a:extLst>
              <a:ext uri="{FF2B5EF4-FFF2-40B4-BE49-F238E27FC236}">
                <a16:creationId xmlns:a16="http://schemas.microsoft.com/office/drawing/2014/main" id="{5D071310-CB37-429E-BF5B-3AFC7389B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6" r="19212" b="58942"/>
          <a:stretch>
            <a:fillRect/>
          </a:stretch>
        </p:blipFill>
        <p:spPr bwMode="auto">
          <a:xfrm>
            <a:off x="4930264" y="2696564"/>
            <a:ext cx="2286000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9" descr="7T5">
            <a:extLst>
              <a:ext uri="{FF2B5EF4-FFF2-40B4-BE49-F238E27FC236}">
                <a16:creationId xmlns:a16="http://schemas.microsoft.com/office/drawing/2014/main" id="{E66376DB-BA54-486B-920B-60F889B9E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94" r="40144" b="60478"/>
          <a:stretch>
            <a:fillRect/>
          </a:stretch>
        </p:blipFill>
        <p:spPr bwMode="auto">
          <a:xfrm>
            <a:off x="1572701" y="4553939"/>
            <a:ext cx="1928813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25361A9C-0E2E-4925-9724-FA0C24B24823}"/>
              </a:ext>
            </a:extLst>
          </p:cNvPr>
          <p:cNvSpPr txBox="1"/>
          <p:nvPr/>
        </p:nvSpPr>
        <p:spPr>
          <a:xfrm>
            <a:off x="7067187" y="3459995"/>
            <a:ext cx="1679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彼得森图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ECE047-3138-4A0F-916B-F01F3F97A9A5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522B97-1969-452A-8755-E632DEFE5778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BBAA63-C655-4E99-A780-C72C16875110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9D523B-76AB-4787-B9D1-E577E1158FE6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71B106D-1F0F-4966-B516-E35A9AB044A2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8310FF-D204-4124-AF79-5274C3556946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B444F67-9F87-4A44-87F9-21F085E177F5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314685-25A3-463F-9243-429F2CDB30E2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364843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35047B6-C491-4D3F-9BD1-B46CEFA06768}"/>
              </a:ext>
            </a:extLst>
          </p:cNvPr>
          <p:cNvSpPr txBox="1">
            <a:spLocks/>
          </p:cNvSpPr>
          <p:nvPr/>
        </p:nvSpPr>
        <p:spPr>
          <a:xfrm>
            <a:off x="552090" y="1483741"/>
            <a:ext cx="8229600" cy="757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同构实例</a:t>
            </a: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764F7E8F-7B3C-4BC4-8081-A146E41D68AC}"/>
              </a:ext>
            </a:extLst>
          </p:cNvPr>
          <p:cNvSpPr txBox="1">
            <a:spLocks/>
          </p:cNvSpPr>
          <p:nvPr/>
        </p:nvSpPr>
        <p:spPr>
          <a:xfrm>
            <a:off x="646712" y="2275487"/>
            <a:ext cx="8229600" cy="50006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endParaRPr lang="zh-CN" altLang="en-US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B10DB2E-E17A-4364-AF71-2AE470E3A0F3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2103225"/>
            <a:ext cx="8054964" cy="48069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试画出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条边的所有非同构的无向简单图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pic>
        <p:nvPicPr>
          <p:cNvPr id="21" name="Picture 10" descr="14-3(1)">
            <a:extLst>
              <a:ext uri="{FF2B5EF4-FFF2-40B4-BE49-F238E27FC236}">
                <a16:creationId xmlns:a16="http://schemas.microsoft.com/office/drawing/2014/main" id="{0987986C-BB2B-429B-9755-86CA260FE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004" y="5019259"/>
            <a:ext cx="3201184" cy="172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11">
            <a:extLst>
              <a:ext uri="{FF2B5EF4-FFF2-40B4-BE49-F238E27FC236}">
                <a16:creationId xmlns:a16="http://schemas.microsoft.com/office/drawing/2014/main" id="{56A1E409-0F24-40D2-8925-BDD8DA1EC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710" y="5165782"/>
            <a:ext cx="2590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度数列不同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不同构</a:t>
            </a:r>
          </a:p>
        </p:txBody>
      </p:sp>
      <p:pic>
        <p:nvPicPr>
          <p:cNvPr id="23" name="Picture 12" descr="14-11">
            <a:extLst>
              <a:ext uri="{FF2B5EF4-FFF2-40B4-BE49-F238E27FC236}">
                <a16:creationId xmlns:a16="http://schemas.microsoft.com/office/drawing/2014/main" id="{F92A4B5C-E607-46DC-BDFD-90C6BF6E4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836650"/>
            <a:ext cx="4906963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960E7D37-46C2-48D5-AF11-B10E2CA21160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285989"/>
            <a:ext cx="8054964" cy="87594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判断下述每一对图是否同构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93B00D-B2CC-485A-B789-69E3AD5A1C4D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7038B5C-EA5E-4759-A8C8-6B3757D65B86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38DABE-843E-4DE7-B80D-F83F4967E3E9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BCC3EA-C16E-4DD6-8923-D0ACE40E8C86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A4132A-233B-473F-B819-30EB1B75CFC8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53D13E-A36C-4EA2-BA72-35308E22B214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A26F34C-7E25-49B5-BC74-C25D4FA33DD8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478F50F-A6FA-47C7-ACEC-859909B49AE0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94388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9" name="Rectangle 1027">
            <a:extLst>
              <a:ext uri="{FF2B5EF4-FFF2-40B4-BE49-F238E27FC236}">
                <a16:creationId xmlns:a16="http://schemas.microsoft.com/office/drawing/2014/main" id="{6934ADD9-ADA2-4FEC-A53F-43048C2FA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652" y="2395538"/>
            <a:ext cx="800258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(2)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(3)</a:t>
            </a:r>
          </a:p>
        </p:txBody>
      </p:sp>
      <p:sp>
        <p:nvSpPr>
          <p:cNvPr id="30" name="Text Box 1029">
            <a:extLst>
              <a:ext uri="{FF2B5EF4-FFF2-40B4-BE49-F238E27FC236}">
                <a16:creationId xmlns:a16="http://schemas.microsoft.com/office/drawing/2014/main" id="{10E66697-0510-444B-8BB0-B17AC9DB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427" y="3025775"/>
            <a:ext cx="29670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不同构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度列不同</a:t>
            </a:r>
          </a:p>
        </p:txBody>
      </p:sp>
      <p:sp>
        <p:nvSpPr>
          <p:cNvPr id="31" name="Text Box 1032">
            <a:extLst>
              <a:ext uri="{FF2B5EF4-FFF2-40B4-BE49-F238E27FC236}">
                <a16:creationId xmlns:a16="http://schemas.microsoft.com/office/drawing/2014/main" id="{255F4CB4-F1A2-4B29-A64C-CB57606A1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214" y="4625975"/>
            <a:ext cx="364121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不同构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左边没有三角形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右边有三角形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R="0" lvl="0" indent="0" eaLnBrk="1" fontAlgn="base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度数列相同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2" name="Picture 12" descr="14-3">
            <a:extLst>
              <a:ext uri="{FF2B5EF4-FFF2-40B4-BE49-F238E27FC236}">
                <a16:creationId xmlns:a16="http://schemas.microsoft.com/office/drawing/2014/main" id="{01BA40C1-5A5D-4712-9A8E-45471BC1C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62" t="6982" b="9222"/>
          <a:stretch>
            <a:fillRect/>
          </a:stretch>
        </p:blipFill>
        <p:spPr bwMode="auto">
          <a:xfrm>
            <a:off x="1321190" y="2395538"/>
            <a:ext cx="4135437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19">
            <a:extLst>
              <a:ext uri="{FF2B5EF4-FFF2-40B4-BE49-F238E27FC236}">
                <a16:creationId xmlns:a16="http://schemas.microsoft.com/office/drawing/2014/main" id="{D0020B47-B842-47DC-B19F-330ACC36BA8F}"/>
              </a:ext>
            </a:extLst>
          </p:cNvPr>
          <p:cNvGrpSpPr>
            <a:grpSpLocks/>
          </p:cNvGrpSpPr>
          <p:nvPr/>
        </p:nvGrpSpPr>
        <p:grpSpPr bwMode="auto">
          <a:xfrm>
            <a:off x="1351352" y="4627564"/>
            <a:ext cx="4105275" cy="2112238"/>
            <a:chOff x="1247" y="2432"/>
            <a:chExt cx="2994" cy="1376"/>
          </a:xfrm>
        </p:grpSpPr>
        <p:pic>
          <p:nvPicPr>
            <p:cNvPr id="34" name="Picture 13" descr="14-4">
              <a:extLst>
                <a:ext uri="{FF2B5EF4-FFF2-40B4-BE49-F238E27FC236}">
                  <a16:creationId xmlns:a16="http://schemas.microsoft.com/office/drawing/2014/main" id="{48FE5A39-93BA-4D92-9301-9C9462845F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958"/>
            <a:stretch>
              <a:fillRect/>
            </a:stretch>
          </p:blipFill>
          <p:spPr bwMode="auto">
            <a:xfrm>
              <a:off x="1247" y="2432"/>
              <a:ext cx="2994" cy="1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18">
              <a:extLst>
                <a:ext uri="{FF2B5EF4-FFF2-40B4-BE49-F238E27FC236}">
                  <a16:creationId xmlns:a16="http://schemas.microsoft.com/office/drawing/2014/main" id="{DC1A22C1-B983-4EBF-9434-9CA4D3945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3567"/>
              <a:ext cx="258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(a)                                     (b)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 </a:t>
              </a:r>
            </a:p>
          </p:txBody>
        </p:sp>
      </p:grpSp>
      <p:sp>
        <p:nvSpPr>
          <p:cNvPr id="36" name="标题 1">
            <a:extLst>
              <a:ext uri="{FF2B5EF4-FFF2-40B4-BE49-F238E27FC236}">
                <a16:creationId xmlns:a16="http://schemas.microsoft.com/office/drawing/2014/main" id="{1C6A5583-0B4C-42DB-A334-08EEE6517D83}"/>
              </a:ext>
            </a:extLst>
          </p:cNvPr>
          <p:cNvSpPr txBox="1">
            <a:spLocks/>
          </p:cNvSpPr>
          <p:nvPr/>
        </p:nvSpPr>
        <p:spPr>
          <a:xfrm>
            <a:off x="552090" y="1483741"/>
            <a:ext cx="8229600" cy="757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同构实例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66E53A-AE96-4CEC-93E0-3D036CE4BF1C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E813E5-D63F-479D-8704-C1BCAD15BA70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1C559-ECBF-4363-88A4-702FCD12B41C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5E8B8A-05C1-424C-B778-5E668300B5BD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9C28B3-BD5D-4DE0-B4FF-B447E623BAD7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1944D88-B93B-4832-AFEC-C5A3EE5F7F57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63635B1-FB68-4664-B91E-7D08E1C79F48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D103AA-F21C-4F37-AA0A-F74D58D15D33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06391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>
            <a:extLst>
              <a:ext uri="{FF2B5EF4-FFF2-40B4-BE49-F238E27FC236}">
                <a16:creationId xmlns:a16="http://schemas.microsoft.com/office/drawing/2014/main" id="{90ECBB84-1768-4596-937F-437ECE8B98D0}"/>
              </a:ext>
            </a:extLst>
          </p:cNvPr>
          <p:cNvSpPr txBox="1">
            <a:spLocks/>
          </p:cNvSpPr>
          <p:nvPr/>
        </p:nvSpPr>
        <p:spPr>
          <a:xfrm>
            <a:off x="577968" y="1466489"/>
            <a:ext cx="8229600" cy="5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通路与回路实例</a:t>
            </a:r>
          </a:p>
        </p:txBody>
      </p:sp>
      <p:pic>
        <p:nvPicPr>
          <p:cNvPr id="31" name="Picture 2" descr="7T7">
            <a:extLst>
              <a:ext uri="{FF2B5EF4-FFF2-40B4-BE49-F238E27FC236}">
                <a16:creationId xmlns:a16="http://schemas.microsoft.com/office/drawing/2014/main" id="{333C8AB1-B956-4C9F-97D3-66EC22BBC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2" r="5933" b="77422"/>
          <a:stretch>
            <a:fillRect/>
          </a:stretch>
        </p:blipFill>
        <p:spPr bwMode="auto">
          <a:xfrm>
            <a:off x="1781947" y="1613470"/>
            <a:ext cx="8497888" cy="15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2" descr="7T7">
            <a:extLst>
              <a:ext uri="{FF2B5EF4-FFF2-40B4-BE49-F238E27FC236}">
                <a16:creationId xmlns:a16="http://schemas.microsoft.com/office/drawing/2014/main" id="{C6F4E258-4F52-43BA-829C-C779E45B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68889" r="30537" b="5875"/>
          <a:stretch>
            <a:fillRect/>
          </a:stretch>
        </p:blipFill>
        <p:spPr bwMode="auto">
          <a:xfrm>
            <a:off x="1935278" y="5021473"/>
            <a:ext cx="6894512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" descr="7T7">
            <a:extLst>
              <a:ext uri="{FF2B5EF4-FFF2-40B4-BE49-F238E27FC236}">
                <a16:creationId xmlns:a16="http://schemas.microsoft.com/office/drawing/2014/main" id="{0D89D99B-EF46-498F-AF9C-5AD0BE051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29044" r="10783" b="39256"/>
          <a:stretch>
            <a:fillRect/>
          </a:stretch>
        </p:blipFill>
        <p:spPr bwMode="auto">
          <a:xfrm>
            <a:off x="1633863" y="3053332"/>
            <a:ext cx="7527925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449">
            <a:extLst>
              <a:ext uri="{FF2B5EF4-FFF2-40B4-BE49-F238E27FC236}">
                <a16:creationId xmlns:a16="http://schemas.microsoft.com/office/drawing/2014/main" id="{BA990717-71D9-4970-B9A5-13EBAE1FDCD9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0391B26-D717-4169-BA5E-7D3FEE76A4D9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245030-F92C-4A27-929F-289A42F43D6C}"/>
              </a:ext>
            </a:extLst>
          </p:cNvPr>
          <p:cNvSpPr txBox="1"/>
          <p:nvPr/>
        </p:nvSpPr>
        <p:spPr>
          <a:xfrm>
            <a:off x="3677789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81AB3D-1D2C-4188-B1D6-2F9A46081455}"/>
              </a:ext>
            </a:extLst>
          </p:cNvPr>
          <p:cNvSpPr txBox="1"/>
          <p:nvPr/>
        </p:nvSpPr>
        <p:spPr>
          <a:xfrm>
            <a:off x="10895689" y="949038"/>
            <a:ext cx="82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9063E9-FE2D-4BE0-8F70-F0A2DBA28CF9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314124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449">
            <a:extLst>
              <a:ext uri="{FF2B5EF4-FFF2-40B4-BE49-F238E27FC236}">
                <a16:creationId xmlns:a16="http://schemas.microsoft.com/office/drawing/2014/main" id="{666F72FF-7B5A-40D6-B405-233EE4B7099C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BC26BD49-5B53-4C47-8065-2BE1CF43D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80" y="3109628"/>
            <a:ext cx="11551024" cy="287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连通图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任意两点都连通的图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平凡图是连通图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lnSpc>
                <a:spcPct val="120000"/>
              </a:lnSpc>
              <a:buClr>
                <a:srgbClr val="00007D"/>
              </a:buClr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连通分支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关于连通关系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R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的等价类的导出子图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/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,…,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],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], …,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]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的连通分支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其个数记作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k.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是连通图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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1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65D7274C-4223-486F-9A3A-7B5BC2038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81150"/>
            <a:ext cx="10981426" cy="161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5.12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&gt;,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连通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之间有通路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与自身总连通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8BA382A-0742-4AD5-9042-371C1D1490F0}"/>
              </a:ext>
            </a:extLst>
          </p:cNvPr>
          <p:cNvGrpSpPr/>
          <p:nvPr/>
        </p:nvGrpSpPr>
        <p:grpSpPr>
          <a:xfrm>
            <a:off x="5214938" y="5732665"/>
            <a:ext cx="3071812" cy="1292225"/>
            <a:chOff x="5214938" y="5510777"/>
            <a:chExt cx="3071812" cy="1292225"/>
          </a:xfrm>
        </p:grpSpPr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78C51D0D-A41C-472A-8303-223FCFBA1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38" y="5510777"/>
              <a:ext cx="3071812" cy="1292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7" name="组合 25">
              <a:extLst>
                <a:ext uri="{FF2B5EF4-FFF2-40B4-BE49-F238E27FC236}">
                  <a16:creationId xmlns:a16="http://schemas.microsoft.com/office/drawing/2014/main" id="{84BECE61-39AB-458D-856D-A852B9F3FAF8}"/>
                </a:ext>
              </a:extLst>
            </p:cNvPr>
            <p:cNvGrpSpPr/>
            <p:nvPr/>
          </p:nvGrpSpPr>
          <p:grpSpPr>
            <a:xfrm>
              <a:off x="5857884" y="5867979"/>
              <a:ext cx="2143140" cy="714380"/>
              <a:chOff x="5929322" y="5429264"/>
              <a:chExt cx="2143140" cy="714380"/>
            </a:xfrm>
            <a:solidFill>
              <a:srgbClr val="D6F4FE"/>
            </a:solidFill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3F7EDF1D-FD83-480D-9F62-461AA3435215}"/>
                  </a:ext>
                </a:extLst>
              </p:cNvPr>
              <p:cNvSpPr/>
              <p:nvPr/>
            </p:nvSpPr>
            <p:spPr>
              <a:xfrm>
                <a:off x="5929322" y="5429264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DB38669-2383-4E4D-B05D-130352366CF4}"/>
                  </a:ext>
                </a:extLst>
              </p:cNvPr>
              <p:cNvSpPr/>
              <p:nvPr/>
            </p:nvSpPr>
            <p:spPr>
              <a:xfrm>
                <a:off x="5929322" y="607220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2FC07D9-64C9-4813-BB16-AE72B2CC7812}"/>
                  </a:ext>
                </a:extLst>
              </p:cNvPr>
              <p:cNvSpPr/>
              <p:nvPr/>
            </p:nvSpPr>
            <p:spPr>
              <a:xfrm>
                <a:off x="6643702" y="5429264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CF93141-1827-4A3E-9724-536B69EFAC26}"/>
                  </a:ext>
                </a:extLst>
              </p:cNvPr>
              <p:cNvSpPr/>
              <p:nvPr/>
            </p:nvSpPr>
            <p:spPr>
              <a:xfrm>
                <a:off x="6643702" y="607220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6942AB9-E1C5-41E7-AD2B-8F5038C3B223}"/>
                  </a:ext>
                </a:extLst>
              </p:cNvPr>
              <p:cNvSpPr/>
              <p:nvPr/>
            </p:nvSpPr>
            <p:spPr>
              <a:xfrm>
                <a:off x="7358082" y="5429264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D4F6067-C81A-49CF-ACE4-B45E1351D05D}"/>
                  </a:ext>
                </a:extLst>
              </p:cNvPr>
              <p:cNvSpPr/>
              <p:nvPr/>
            </p:nvSpPr>
            <p:spPr>
              <a:xfrm>
                <a:off x="7358082" y="607220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A7B9461-13FC-47DE-A7E2-35C26CBA72BB}"/>
                  </a:ext>
                </a:extLst>
              </p:cNvPr>
              <p:cNvCxnSpPr/>
              <p:nvPr/>
            </p:nvCxnSpPr>
            <p:spPr>
              <a:xfrm rot="16200000" flipH="1">
                <a:off x="5643570" y="5775992"/>
                <a:ext cx="581966" cy="10462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C1E79322-7CEF-49F1-9906-3141480E559D}"/>
                  </a:ext>
                </a:extLst>
              </p:cNvPr>
              <p:cNvCxnSpPr/>
              <p:nvPr/>
            </p:nvCxnSpPr>
            <p:spPr>
              <a:xfrm rot="16200000" flipH="1">
                <a:off x="6311769" y="5107794"/>
                <a:ext cx="10462" cy="653404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08D02295-2144-4F53-8E94-7D8D1C89CF94}"/>
                  </a:ext>
                </a:extLst>
              </p:cNvPr>
              <p:cNvCxnSpPr>
                <a:endCxn id="20" idx="7"/>
              </p:cNvCxnSpPr>
              <p:nvPr/>
            </p:nvCxnSpPr>
            <p:spPr>
              <a:xfrm rot="10800000" flipV="1">
                <a:off x="5990298" y="5500702"/>
                <a:ext cx="653404" cy="581966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FC16CA2-F1F5-4F84-9B53-3E83DDDFE157}"/>
                  </a:ext>
                </a:extLst>
              </p:cNvPr>
              <p:cNvCxnSpPr/>
              <p:nvPr/>
            </p:nvCxnSpPr>
            <p:spPr>
              <a:xfrm>
                <a:off x="7429520" y="5464983"/>
                <a:ext cx="571504" cy="250033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6D131792-CF8E-40AD-82FB-8B0D873425D8}"/>
                  </a:ext>
                </a:extLst>
              </p:cNvPr>
              <p:cNvCxnSpPr/>
              <p:nvPr/>
            </p:nvCxnSpPr>
            <p:spPr>
              <a:xfrm rot="10800000" flipV="1">
                <a:off x="7419058" y="5786454"/>
                <a:ext cx="581966" cy="296214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F121222-A9A6-4CEF-961D-D197C0345B40}"/>
                  </a:ext>
                </a:extLst>
              </p:cNvPr>
              <p:cNvSpPr/>
              <p:nvPr/>
            </p:nvSpPr>
            <p:spPr>
              <a:xfrm>
                <a:off x="8001024" y="571501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p:grp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FD0B1B1D-DB04-4EE7-A6B2-9ECC6D74BC69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199568C-A672-4302-A87C-EBFDBB0412FC}"/>
              </a:ext>
            </a:extLst>
          </p:cNvPr>
          <p:cNvSpPr txBox="1"/>
          <p:nvPr/>
        </p:nvSpPr>
        <p:spPr>
          <a:xfrm>
            <a:off x="3677789" y="949038"/>
            <a:ext cx="2036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32B6F0D-895A-4AE4-B16C-52DA6A14A994}"/>
              </a:ext>
            </a:extLst>
          </p:cNvPr>
          <p:cNvSpPr txBox="1"/>
          <p:nvPr/>
        </p:nvSpPr>
        <p:spPr>
          <a:xfrm>
            <a:off x="10895689" y="949038"/>
            <a:ext cx="82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72C33D3-616F-4152-A5CE-1E03B1073BCB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52210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D0CED230-7E77-479D-920F-48C99B922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28750"/>
            <a:ext cx="685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5.14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设有向图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可达</a:t>
            </a:r>
            <a:r>
              <a:rPr lang="en-US" altLang="zh-CN" sz="28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有通路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到自身总是可达的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可达具有自反性和传递性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弱连通</a:t>
            </a:r>
            <a:r>
              <a:rPr lang="en-US" altLang="zh-CN" sz="2400" b="1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基图为无向连通图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单向连通</a:t>
            </a:r>
            <a:r>
              <a:rPr lang="en-US" altLang="zh-CN" sz="24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可达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强连通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相互可达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强连通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单向连通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弱连通 </a:t>
            </a:r>
          </a:p>
        </p:txBody>
      </p:sp>
      <p:sp>
        <p:nvSpPr>
          <p:cNvPr id="22" name="标题 449">
            <a:extLst>
              <a:ext uri="{FF2B5EF4-FFF2-40B4-BE49-F238E27FC236}">
                <a16:creationId xmlns:a16="http://schemas.microsoft.com/office/drawing/2014/main" id="{666F72FF-7B5A-40D6-B405-233EE4B7099C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DF4C82D-11E3-4733-96B6-57FE135DD78F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B37F3C5-2D44-408F-81FA-41CD4496B12E}"/>
              </a:ext>
            </a:extLst>
          </p:cNvPr>
          <p:cNvSpPr txBox="1"/>
          <p:nvPr/>
        </p:nvSpPr>
        <p:spPr>
          <a:xfrm>
            <a:off x="3677789" y="949038"/>
            <a:ext cx="2036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350A7D0-4415-4381-9745-702343563EBD}"/>
              </a:ext>
            </a:extLst>
          </p:cNvPr>
          <p:cNvSpPr txBox="1"/>
          <p:nvPr/>
        </p:nvSpPr>
        <p:spPr>
          <a:xfrm>
            <a:off x="10895689" y="949038"/>
            <a:ext cx="82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C760524-E4CD-4C70-A8BC-CD30932A0728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id="{EBCBE618-0CDB-4C0D-B104-E1BBF3772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447" y="1857375"/>
            <a:ext cx="64844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Text Box 5">
            <a:extLst>
              <a:ext uri="{FF2B5EF4-FFF2-40B4-BE49-F238E27FC236}">
                <a16:creationId xmlns:a16="http://schemas.microsoft.com/office/drawing/2014/main" id="{04427A39-262F-46A3-A0F4-E9CD8BEE7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9216" y="1822072"/>
            <a:ext cx="139730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强连通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单向连通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弱连通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1B020FCF-CBA8-4CEC-9AF0-037410001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384" y="3786367"/>
            <a:ext cx="1574808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单向连通</a:t>
            </a:r>
            <a:endParaRPr lang="en-US" altLang="zh-CN" dirty="0"/>
          </a:p>
          <a:p>
            <a:r>
              <a:rPr lang="zh-CN" altLang="en-US" dirty="0"/>
              <a:t>弱连通</a:t>
            </a:r>
            <a:endParaRPr lang="en-US" altLang="zh-CN" dirty="0"/>
          </a:p>
        </p:txBody>
      </p:sp>
      <p:sp>
        <p:nvSpPr>
          <p:cNvPr id="50" name="Text Box 7">
            <a:extLst>
              <a:ext uri="{FF2B5EF4-FFF2-40B4-BE49-F238E27FC236}">
                <a16:creationId xmlns:a16="http://schemas.microsoft.com/office/drawing/2014/main" id="{58C0EA01-B7C1-4845-8748-7738F4F22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2492" y="5708504"/>
            <a:ext cx="11255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弱连通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83B068-609F-47BF-856E-A0CA09A4390E}"/>
              </a:ext>
            </a:extLst>
          </p:cNvPr>
          <p:cNvGrpSpPr/>
          <p:nvPr/>
        </p:nvGrpSpPr>
        <p:grpSpPr>
          <a:xfrm>
            <a:off x="8831075" y="1890945"/>
            <a:ext cx="1543331" cy="4702720"/>
            <a:chOff x="8831075" y="1890945"/>
            <a:chExt cx="1543331" cy="47027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7CE1E00-C634-4458-A76F-29E285F9E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1075" y="1890945"/>
              <a:ext cx="1502990" cy="116826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F9D10C7-200B-4ABA-8D8B-9A53CBD62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42283" y="3738840"/>
              <a:ext cx="1503925" cy="107520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C7B7657-2835-4ED0-AF60-E8854058B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84583" y="5466232"/>
              <a:ext cx="1489823" cy="11274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452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8" grpId="0"/>
      <p:bldP spid="49" grpId="0"/>
      <p:bldP spid="50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B74481-DE97-4AE1-A1E3-FDE23FD48C7D}"/>
              </a:ext>
            </a:extLst>
          </p:cNvPr>
          <p:cNvSpPr txBox="1"/>
          <p:nvPr/>
        </p:nvSpPr>
        <p:spPr>
          <a:xfrm>
            <a:off x="5378846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1BCDF-16D0-4BE3-9564-71DD486B60B7}"/>
              </a:ext>
            </a:extLst>
          </p:cNvPr>
          <p:cNvSpPr txBox="1"/>
          <p:nvPr/>
        </p:nvSpPr>
        <p:spPr>
          <a:xfrm>
            <a:off x="10895689" y="949038"/>
            <a:ext cx="82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1F836D-90D7-4303-BA25-30402AFFA082}"/>
              </a:ext>
            </a:extLst>
          </p:cNvPr>
          <p:cNvSpPr txBox="1">
            <a:spLocks noChangeArrowheads="1"/>
          </p:cNvSpPr>
          <p:nvPr/>
        </p:nvSpPr>
        <p:spPr>
          <a:xfrm>
            <a:off x="474452" y="1535502"/>
            <a:ext cx="8229600" cy="1295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点割集实例</a:t>
            </a:r>
            <a:endParaRPr lang="en-US" altLang="zh-CN" sz="28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B7248C3-F1A8-4B0C-80E1-E20677BF2887}"/>
              </a:ext>
            </a:extLst>
          </p:cNvPr>
          <p:cNvSpPr txBox="1">
            <a:spLocks noChangeArrowheads="1"/>
          </p:cNvSpPr>
          <p:nvPr/>
        </p:nvSpPr>
        <p:spPr>
          <a:xfrm>
            <a:off x="523929" y="2447620"/>
            <a:ext cx="8229600" cy="40742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</a:rPr>
              <a:t>},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是点割集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是割点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不是点割集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Picture 6" descr="14-7">
            <a:extLst>
              <a:ext uri="{FF2B5EF4-FFF2-40B4-BE49-F238E27FC236}">
                <a16:creationId xmlns:a16="http://schemas.microsoft.com/office/drawing/2014/main" id="{6653C6EA-8D5C-4EBB-AE5D-BC6576823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1"/>
          <a:stretch>
            <a:fillRect/>
          </a:stretch>
        </p:blipFill>
        <p:spPr bwMode="auto">
          <a:xfrm>
            <a:off x="3349295" y="3865584"/>
            <a:ext cx="4371347" cy="212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标题 449">
            <a:extLst>
              <a:ext uri="{FF2B5EF4-FFF2-40B4-BE49-F238E27FC236}">
                <a16:creationId xmlns:a16="http://schemas.microsoft.com/office/drawing/2014/main" id="{86521776-DAE4-4AEA-A6F0-202EE6CDE42A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3105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>
            <a:extLst>
              <a:ext uri="{FF2B5EF4-FFF2-40B4-BE49-F238E27FC236}">
                <a16:creationId xmlns:a16="http://schemas.microsoft.com/office/drawing/2014/main" id="{6474BA87-135A-4C0F-ABDE-958721C88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11034472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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)&gt;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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边割集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为边割集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割边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在右图中，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8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等是边割集，</a:t>
            </a:r>
            <a:r>
              <a:rPr lang="en-US" altLang="zh-CN" sz="2400" b="1" kern="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e8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7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9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不是边割集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无点割集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阶零图既无点割集，也无边割集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为边割集，则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)=2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为点割集，则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 </a:t>
            </a:r>
          </a:p>
        </p:txBody>
      </p:sp>
      <p:pic>
        <p:nvPicPr>
          <p:cNvPr id="18" name="Picture 6" descr="14-7">
            <a:extLst>
              <a:ext uri="{FF2B5EF4-FFF2-40B4-BE49-F238E27FC236}">
                <a16:creationId xmlns:a16="http://schemas.microsoft.com/office/drawing/2014/main" id="{32BA10E6-FF5B-4263-BA84-A4F21A170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1"/>
          <a:stretch>
            <a:fillRect/>
          </a:stretch>
        </p:blipFill>
        <p:spPr bwMode="auto">
          <a:xfrm>
            <a:off x="6946509" y="4115750"/>
            <a:ext cx="4371347" cy="212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449">
            <a:extLst>
              <a:ext uri="{FF2B5EF4-FFF2-40B4-BE49-F238E27FC236}">
                <a16:creationId xmlns:a16="http://schemas.microsoft.com/office/drawing/2014/main" id="{FDA2AB75-52CC-450B-9454-7EE273443CB4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686567-3DF2-4248-8BF8-7E65A44E24AF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CFC101-79FB-438D-98E3-89296405B299}"/>
              </a:ext>
            </a:extLst>
          </p:cNvPr>
          <p:cNvSpPr txBox="1"/>
          <p:nvPr/>
        </p:nvSpPr>
        <p:spPr>
          <a:xfrm>
            <a:off x="5378846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544D4D-473E-4F37-BED8-91C866AB800A}"/>
              </a:ext>
            </a:extLst>
          </p:cNvPr>
          <p:cNvSpPr txBox="1"/>
          <p:nvPr/>
        </p:nvSpPr>
        <p:spPr>
          <a:xfrm>
            <a:off x="10895689" y="949038"/>
            <a:ext cx="82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</p:spTree>
    <p:extLst>
      <p:ext uri="{BB962C8B-B14F-4D97-AF65-F5344CB8AC3E}">
        <p14:creationId xmlns:p14="http://schemas.microsoft.com/office/powerpoint/2010/main" val="313288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659596" y="949038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748305" y="949038"/>
            <a:ext cx="2149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E9FDF2E8-A920-4307-AA30-6FDD76D4E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399" y="1600200"/>
            <a:ext cx="11034623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设无向图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},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},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的关联次数，称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的关联矩阵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).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62594A-268D-42CD-B951-0619462AD0D6}"/>
              </a:ext>
            </a:extLst>
          </p:cNvPr>
          <p:cNvGrpSpPr/>
          <p:nvPr/>
        </p:nvGrpSpPr>
        <p:grpSpPr>
          <a:xfrm>
            <a:off x="614630" y="3054889"/>
            <a:ext cx="4224790" cy="3939713"/>
            <a:chOff x="614630" y="3054889"/>
            <a:chExt cx="4224790" cy="3939713"/>
          </a:xfrm>
        </p:grpSpPr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824050C3-D822-46E0-82F4-A3C5FAAF1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630" y="3054889"/>
              <a:ext cx="4224790" cy="2123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endPara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M</a:t>
              </a:r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=</a:t>
              </a:r>
            </a:p>
            <a:p>
              <a:endPara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200" b="1" dirty="0"/>
            </a:p>
          </p:txBody>
        </p:sp>
        <p:graphicFrame>
          <p:nvGraphicFramePr>
            <p:cNvPr id="18" name="Object 11">
              <a:extLst>
                <a:ext uri="{FF2B5EF4-FFF2-40B4-BE49-F238E27FC236}">
                  <a16:creationId xmlns:a16="http://schemas.microsoft.com/office/drawing/2014/main" id="{8E35A8BE-E311-4E36-BFDE-119589C894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5076" y="3207379"/>
            <a:ext cx="1820297" cy="1680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90600" imgH="914400" progId="Equation.DSMT4">
                    <p:embed/>
                  </p:oleObj>
                </mc:Choice>
                <mc:Fallback>
                  <p:oleObj r:id="rId3" imgW="990600" imgH="914400" progId="Equation.DSMT4">
                    <p:embed/>
                    <p:pic>
                      <p:nvPicPr>
                        <p:cNvPr id="18" name="Object 11">
                          <a:extLst>
                            <a:ext uri="{FF2B5EF4-FFF2-40B4-BE49-F238E27FC236}">
                              <a16:creationId xmlns:a16="http://schemas.microsoft.com/office/drawing/2014/main" id="{8E35A8BE-E311-4E36-BFDE-119589C894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5076" y="3207379"/>
                          <a:ext cx="1820297" cy="168067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" name="图片 14" descr="7T10">
              <a:extLst>
                <a:ext uri="{FF2B5EF4-FFF2-40B4-BE49-F238E27FC236}">
                  <a16:creationId xmlns:a16="http://schemas.microsoft.com/office/drawing/2014/main" id="{BE5C3642-D566-44DF-987F-7A956E62C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617" y="4860746"/>
              <a:ext cx="3382579" cy="2133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34D47FA-0BE5-4092-B64E-7D2964ADC7A2}"/>
              </a:ext>
            </a:extLst>
          </p:cNvPr>
          <p:cNvGrpSpPr/>
          <p:nvPr/>
        </p:nvGrpSpPr>
        <p:grpSpPr>
          <a:xfrm>
            <a:off x="5490355" y="3218292"/>
            <a:ext cx="5758670" cy="2969783"/>
            <a:chOff x="5490355" y="3218292"/>
            <a:chExt cx="5758670" cy="2969783"/>
          </a:xfrm>
        </p:grpSpPr>
        <p:graphicFrame>
          <p:nvGraphicFramePr>
            <p:cNvPr id="21" name="Object 5">
              <a:extLst>
                <a:ext uri="{FF2B5EF4-FFF2-40B4-BE49-F238E27FC236}">
                  <a16:creationId xmlns:a16="http://schemas.microsoft.com/office/drawing/2014/main" id="{AF63934A-14A0-4EB1-ACDB-E5AD60BC54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05563" y="3819525"/>
            <a:ext cx="4843462" cy="2368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387520" imgH="1168200" progId="Equation.3">
                    <p:embed/>
                  </p:oleObj>
                </mc:Choice>
                <mc:Fallback>
                  <p:oleObj name="Equation" r:id="rId6" imgW="2387520" imgH="1168200" progId="Equation.3">
                    <p:embed/>
                    <p:pic>
                      <p:nvPicPr>
                        <p:cNvPr id="21" name="Object 5">
                          <a:extLst>
                            <a:ext uri="{FF2B5EF4-FFF2-40B4-BE49-F238E27FC236}">
                              <a16:creationId xmlns:a16="http://schemas.microsoft.com/office/drawing/2014/main" id="{AF63934A-14A0-4EB1-ACDB-E5AD60BC54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5563" y="3819525"/>
                          <a:ext cx="4843462" cy="23685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6">
              <a:extLst>
                <a:ext uri="{FF2B5EF4-FFF2-40B4-BE49-F238E27FC236}">
                  <a16:creationId xmlns:a16="http://schemas.microsoft.com/office/drawing/2014/main" id="{459B535B-0254-4639-B284-53E601BF4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0355" y="3218292"/>
              <a:ext cx="5453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性质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(1)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每一列恰好有两个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或一个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38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659596" y="949038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915E5A69-9991-4E9C-A157-5D2A0D178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8682" y="2125938"/>
          <a:ext cx="3170357" cy="1395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736560" progId="Equation.3">
                  <p:embed/>
                </p:oleObj>
              </mc:Choice>
              <mc:Fallback>
                <p:oleObj name="Equation" r:id="rId3" imgW="1676160" imgH="736560" progId="Equation.3">
                  <p:embed/>
                  <p:pic>
                    <p:nvPicPr>
                      <p:cNvPr id="22" name="Object 5">
                        <a:extLst>
                          <a:ext uri="{FF2B5EF4-FFF2-40B4-BE49-F238E27FC236}">
                            <a16:creationId xmlns:a16="http://schemas.microsoft.com/office/drawing/2014/main" id="{915E5A69-9991-4E9C-A157-5D2A0D1782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682" y="2125938"/>
                        <a:ext cx="3170357" cy="13951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6">
            <a:extLst>
              <a:ext uri="{FF2B5EF4-FFF2-40B4-BE49-F238E27FC236}">
                <a16:creationId xmlns:a16="http://schemas.microsoft.com/office/drawing/2014/main" id="{DB596CC4-9AC7-43D0-9E2F-6FDF8CC28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90" y="1538467"/>
            <a:ext cx="10767203" cy="244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设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无环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},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的关联矩阵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).</a:t>
            </a:r>
            <a:endParaRPr lang="en-US" altLang="zh-CN" dirty="0"/>
          </a:p>
        </p:txBody>
      </p:sp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FF644BA8-5A81-4697-A3BD-B84F86850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387" y="4540580"/>
          <a:ext cx="76930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227265" imgH="1002865" progId="Equation.3">
                  <p:embed/>
                </p:oleObj>
              </mc:Choice>
              <mc:Fallback>
                <p:oleObj r:id="rId5" imgW="4227265" imgH="1002865" progId="Equation.3">
                  <p:embed/>
                  <p:pic>
                    <p:nvPicPr>
                      <p:cNvPr id="27" name="Object 3">
                        <a:extLst>
                          <a:ext uri="{FF2B5EF4-FFF2-40B4-BE49-F238E27FC236}">
                            <a16:creationId xmlns:a16="http://schemas.microsoft.com/office/drawing/2014/main" id="{FF644BA8-5A81-4697-A3BD-B84F86850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387" y="4540580"/>
                        <a:ext cx="7693025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6">
            <a:extLst>
              <a:ext uri="{FF2B5EF4-FFF2-40B4-BE49-F238E27FC236}">
                <a16:creationId xmlns:a16="http://schemas.microsoft.com/office/drawing/2014/main" id="{CDC2F9F6-C9E5-48EC-B7B4-8615004ED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84" y="6243967"/>
            <a:ext cx="335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(4)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平行边对应的列相同</a:t>
            </a: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78CD8464-CB05-4559-9D0C-CB62B8C0D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09" y="4180217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性质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0064F640-8191-4613-ACCE-AFBACB806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212" y="2351559"/>
            <a:ext cx="409539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i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</a:p>
          <a:p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8E97BFF4-285E-4492-B8F7-BDD89604C8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02212" y="2585765"/>
          <a:ext cx="2566162" cy="1589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73200" imgH="914400" progId="Equation.DSMT4">
                  <p:embed/>
                </p:oleObj>
              </mc:Choice>
              <mc:Fallback>
                <p:oleObj r:id="rId7" imgW="1473200" imgH="914400" progId="Equation.DSMT4">
                  <p:embed/>
                  <p:pic>
                    <p:nvPicPr>
                      <p:cNvPr id="34" name="Object 2">
                        <a:extLst>
                          <a:ext uri="{FF2B5EF4-FFF2-40B4-BE49-F238E27FC236}">
                            <a16:creationId xmlns:a16="http://schemas.microsoft.com/office/drawing/2014/main" id="{8E97BFF4-285E-4492-B8F7-BDD89604C8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2212" y="2585765"/>
                        <a:ext cx="2566162" cy="15894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图片 24" descr="7T11">
            <a:extLst>
              <a:ext uri="{FF2B5EF4-FFF2-40B4-BE49-F238E27FC236}">
                <a16:creationId xmlns:a16="http://schemas.microsoft.com/office/drawing/2014/main" id="{C45AADD7-6365-4D24-BC39-9FBABA653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262" y="4266836"/>
            <a:ext cx="323373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374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58829AF-0CC3-40F1-BAB0-4CAF31B94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59" y="1423361"/>
            <a:ext cx="11218296" cy="4191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设有向图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令     为顶点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i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邻接到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 </a:t>
            </a:r>
            <a:r>
              <a:rPr lang="en-US" altLang="zh-CN" kern="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j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边的条数，称为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邻接矩阵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或简记为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</a:p>
        </p:txBody>
      </p:sp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F80BF8D2-56AF-426E-A3E5-7B84DCB4E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5263" y="3702050"/>
          <a:ext cx="5314950" cy="257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94000" imgH="1308100" progId="Equation.3">
                  <p:embed/>
                </p:oleObj>
              </mc:Choice>
              <mc:Fallback>
                <p:oleObj name="公式" r:id="rId3" imgW="2794000" imgH="1308100" progId="Equation.3">
                  <p:embed/>
                  <p:pic>
                    <p:nvPicPr>
                      <p:cNvPr id="21" name="Object 5">
                        <a:extLst>
                          <a:ext uri="{FF2B5EF4-FFF2-40B4-BE49-F238E27FC236}">
                            <a16:creationId xmlns:a16="http://schemas.microsoft.com/office/drawing/2014/main" id="{F80BF8D2-56AF-426E-A3E5-7B84DCB4EC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3702050"/>
                        <a:ext cx="5314950" cy="257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14ED3AD4-97A9-4827-BEC3-79A7B962FD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05068" y="1874088"/>
          <a:ext cx="5762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1195" imgH="253890" progId="Equation.3">
                  <p:embed/>
                </p:oleObj>
              </mc:Choice>
              <mc:Fallback>
                <p:oleObj name="公式" r:id="rId5" imgW="241195" imgH="253890" progId="Equation.3">
                  <p:embed/>
                  <p:pic>
                    <p:nvPicPr>
                      <p:cNvPr id="24" name="Object 6">
                        <a:extLst>
                          <a:ext uri="{FF2B5EF4-FFF2-40B4-BE49-F238E27FC236}">
                            <a16:creationId xmlns:a16="http://schemas.microsoft.com/office/drawing/2014/main" id="{14ED3AD4-97A9-4827-BEC3-79A7B962FD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068" y="1874088"/>
                        <a:ext cx="5762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97D34E32-7912-400A-808E-A228907F4F9E}"/>
              </a:ext>
            </a:extLst>
          </p:cNvPr>
          <p:cNvGrpSpPr/>
          <p:nvPr/>
        </p:nvGrpSpPr>
        <p:grpSpPr>
          <a:xfrm>
            <a:off x="7453222" y="3045120"/>
            <a:ext cx="3329797" cy="3915375"/>
            <a:chOff x="7453222" y="3045120"/>
            <a:chExt cx="3329797" cy="3915375"/>
          </a:xfrm>
        </p:grpSpPr>
        <p:sp>
          <p:nvSpPr>
            <p:cNvPr id="25" name="标题 1">
              <a:extLst>
                <a:ext uri="{FF2B5EF4-FFF2-40B4-BE49-F238E27FC236}">
                  <a16:creationId xmlns:a16="http://schemas.microsoft.com/office/drawing/2014/main" id="{0B913F6C-24AF-4FDE-B2E2-EBC4F4588F14}"/>
                </a:ext>
              </a:extLst>
            </p:cNvPr>
            <p:cNvSpPr txBox="1">
              <a:spLocks/>
            </p:cNvSpPr>
            <p:nvPr/>
          </p:nvSpPr>
          <p:spPr>
            <a:xfrm>
              <a:off x="7453222" y="3045120"/>
              <a:ext cx="802258" cy="396820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</a:p>
          </p:txBody>
        </p:sp>
        <p:graphicFrame>
          <p:nvGraphicFramePr>
            <p:cNvPr id="26" name="Object 0">
              <a:extLst>
                <a:ext uri="{FF2B5EF4-FFF2-40B4-BE49-F238E27FC236}">
                  <a16:creationId xmlns:a16="http://schemas.microsoft.com/office/drawing/2014/main" id="{C55046A5-C562-426E-B357-E82EDB5321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6697" y="5347054"/>
            <a:ext cx="2386322" cy="1613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71600" imgH="927000" progId="Equation.3">
                    <p:embed/>
                  </p:oleObj>
                </mc:Choice>
                <mc:Fallback>
                  <p:oleObj name="Equation" r:id="rId7" imgW="1371600" imgH="927000" progId="Equation.3">
                    <p:embed/>
                    <p:pic>
                      <p:nvPicPr>
                        <p:cNvPr id="26" name="Object 0">
                          <a:extLst>
                            <a:ext uri="{FF2B5EF4-FFF2-40B4-BE49-F238E27FC236}">
                              <a16:creationId xmlns:a16="http://schemas.microsoft.com/office/drawing/2014/main" id="{C55046A5-C562-426E-B357-E82EDB5321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6697" y="5347054"/>
                          <a:ext cx="2386322" cy="161344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0" name="Picture 9" descr="14-10">
              <a:extLst>
                <a:ext uri="{FF2B5EF4-FFF2-40B4-BE49-F238E27FC236}">
                  <a16:creationId xmlns:a16="http://schemas.microsoft.com/office/drawing/2014/main" id="{D109CD90-8F12-49BC-B49F-90EB6F009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69" t="6734"/>
            <a:stretch>
              <a:fillRect/>
            </a:stretch>
          </p:blipFill>
          <p:spPr bwMode="auto">
            <a:xfrm>
              <a:off x="8409162" y="3153468"/>
              <a:ext cx="2258259" cy="2056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006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B8EB1739-7B58-4AC5-B282-53A5B0FCA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3323" y="1591328"/>
          <a:ext cx="4640443" cy="314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30500" imgH="1854200" progId="Equation.3">
                  <p:embed/>
                </p:oleObj>
              </mc:Choice>
              <mc:Fallback>
                <p:oleObj r:id="rId3" imgW="2730500" imgH="1854200" progId="Equation.3">
                  <p:embed/>
                  <p:pic>
                    <p:nvPicPr>
                      <p:cNvPr id="14" name="Object 4">
                        <a:extLst>
                          <a:ext uri="{FF2B5EF4-FFF2-40B4-BE49-F238E27FC236}">
                            <a16:creationId xmlns:a16="http://schemas.microsoft.com/office/drawing/2014/main" id="{B8EB1739-7B58-4AC5-B282-53A5B0FCA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3323" y="1591328"/>
                        <a:ext cx="4640443" cy="3145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4E2AC135-F255-4335-AF41-6C9B6FD2A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760" y="4948422"/>
            <a:ext cx="9285738" cy="1678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(1)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中长度为</a:t>
            </a:r>
            <a:r>
              <a:rPr lang="zh-CN" altLang="en-US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的通路为8条，其中有1条是回路.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    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中长度为2的通路为11条，其中有3条是回路.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sz="2200" i="1" dirty="0">
                <a:latin typeface="Times New Roman" panose="02020603050405020304" pitchFamily="18" charset="0"/>
              </a:rPr>
              <a:t>     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中长度为3和4的通路分别为14和17条，回路分别为1与3条.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(2)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中长度小于等于4的通路为50条，其中有8条是回路.</a:t>
            </a:r>
          </a:p>
        </p:txBody>
      </p:sp>
      <p:pic>
        <p:nvPicPr>
          <p:cNvPr id="16" name="Picture 3" descr="14-10">
            <a:extLst>
              <a:ext uri="{FF2B5EF4-FFF2-40B4-BE49-F238E27FC236}">
                <a16:creationId xmlns:a16="http://schemas.microsoft.com/office/drawing/2014/main" id="{566364B1-0B77-450C-9657-C362B2F86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433" y="3937478"/>
            <a:ext cx="2859807" cy="232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59DD0A-8575-5944-7C61-5303998C4225}"/>
              </a:ext>
            </a:extLst>
          </p:cNvPr>
          <p:cNvSpPr txBox="1"/>
          <p:nvPr/>
        </p:nvSpPr>
        <p:spPr>
          <a:xfrm>
            <a:off x="6404461" y="1590877"/>
            <a:ext cx="5787539" cy="21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例  有向图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如图所示，求</a:t>
            </a:r>
            <a:r>
              <a:rPr lang="zh-CN" altLang="en-US" sz="1800" b="1" dirty="0">
                <a:latin typeface="Times New Roman" panose="02020603050405020304" pitchFamily="18" charset="0"/>
              </a:rPr>
              <a:t> 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1800" b="1" dirty="0">
                <a:latin typeface="Times New Roman" panose="02020603050405020304" pitchFamily="18" charset="0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1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1800" b="1" dirty="0">
                <a:latin typeface="Times New Roman" panose="02020603050405020304" pitchFamily="18" charset="0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1800" b="1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1800" b="1" dirty="0">
                <a:latin typeface="Times New Roman" panose="02020603050405020304" pitchFamily="18" charset="0"/>
              </a:rPr>
              <a:t>, 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1800" b="1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并回答诸问题：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(1) 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D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中长度为</a:t>
            </a:r>
            <a:r>
              <a:rPr lang="zh-CN" altLang="en-US" sz="1800" b="1" dirty="0">
                <a:latin typeface="Times New Roman" panose="02020603050405020304" pitchFamily="18" charset="0"/>
              </a:rPr>
              <a:t>1, 2, 3, 4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的通路各有多少条？其中回路分别为多少条？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(2) 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D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中长度小于或等于4的通路为多少条？其中有多少条回路？</a:t>
            </a:r>
          </a:p>
        </p:txBody>
      </p:sp>
    </p:spTree>
    <p:extLst>
      <p:ext uri="{BB962C8B-B14F-4D97-AF65-F5344CB8AC3E}">
        <p14:creationId xmlns:p14="http://schemas.microsoft.com/office/powerpoint/2010/main" val="55934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471805" y="920286"/>
            <a:ext cx="22543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9310D783-A647-4616-AEF7-B132984F8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5068" y="1892660"/>
          <a:ext cx="2532811" cy="92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95400" imgH="469900" progId="Equation.3">
                  <p:embed/>
                </p:oleObj>
              </mc:Choice>
              <mc:Fallback>
                <p:oleObj name="公式" r:id="rId3" imgW="1295400" imgH="469900" progId="Equation.3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9310D783-A647-4616-AEF7-B132984F88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068" y="1892660"/>
                        <a:ext cx="2532811" cy="925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719E7F1D-164A-47B7-A613-50C1C516D3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4229" y="4933069"/>
          <a:ext cx="2222949" cy="173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71451" imgH="916787" progId="Equation.3">
                  <p:embed/>
                </p:oleObj>
              </mc:Choice>
              <mc:Fallback>
                <p:oleObj r:id="rId5" imgW="1171451" imgH="916787" progId="Equation.3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719E7F1D-164A-47B7-A613-50C1C516D3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229" y="4933069"/>
                        <a:ext cx="2222949" cy="1731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4">
            <a:extLst>
              <a:ext uri="{FF2B5EF4-FFF2-40B4-BE49-F238E27FC236}">
                <a16:creationId xmlns:a16="http://schemas.microsoft.com/office/drawing/2014/main" id="{E3EE5BC8-07DE-4F7B-B7DA-21C88F452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61968"/>
            <a:ext cx="8351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762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D </a:t>
            </a:r>
            <a:r>
              <a:rPr lang="en-US" altLang="zh-CN" dirty="0"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为有向图</a:t>
            </a:r>
            <a:r>
              <a:rPr lang="zh-CN" altLang="en-US" dirty="0">
                <a:latin typeface="Times New Roman" panose="02020603050405020304" pitchFamily="18" charset="0"/>
              </a:rPr>
              <a:t>.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zh-CN" altLang="en-US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endParaRPr lang="zh-CN" altLang="en-US" b="0" dirty="0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8649A2E-0F73-455D-BBED-AF55E4F2C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828805"/>
            <a:ext cx="7939087" cy="2265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zh-CN" altLang="en-US" dirty="0">
                <a:latin typeface="Times New Roman" panose="02020603050405020304" pitchFamily="18" charset="0"/>
              </a:rPr>
              <a:t> 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的可达矩阵，记作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简记为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由于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所以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主对角线上的元素全为1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由定义不难看出,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强连通当且仅当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为全1矩阵.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右图所示有向图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的可达矩阵为</a:t>
            </a:r>
          </a:p>
        </p:txBody>
      </p:sp>
      <p:pic>
        <p:nvPicPr>
          <p:cNvPr id="22" name="Picture 7" descr="14-10">
            <a:extLst>
              <a:ext uri="{FF2B5EF4-FFF2-40B4-BE49-F238E27FC236}">
                <a16:creationId xmlns:a16="http://schemas.microsoft.com/office/drawing/2014/main" id="{C0EA73E6-A7CA-40E9-9B8F-245BD2035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297" y="2823683"/>
            <a:ext cx="28082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4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习题</a:t>
            </a:r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CFE40E-0309-4810-8FC7-5B838CF59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1148204"/>
            <a:ext cx="11306745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1．9阶无向图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中，每个顶点的度数不是5就是6. 证明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中至少有5个6度顶点或至少有6个5度顶点.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26953B8-D8FA-48E6-A3E5-9F466B509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44" y="2463830"/>
            <a:ext cx="11237733" cy="3447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证   关键是利用握手定理的推论.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方法一：穷举法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个5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度顶点，则必有</a:t>
            </a:r>
            <a:r>
              <a:rPr lang="zh-CN" altLang="en-US" dirty="0">
                <a:latin typeface="Times New Roman" panose="02020603050405020304" pitchFamily="18" charset="0"/>
              </a:rPr>
              <a:t>(9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个6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度顶点，由握手定理推论可知，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9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只有5种可能：(0,9), (2,7), (4,5), (6,3), (8,1）它们都满足要求.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方法二：反证法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否则，由握手定理推论可知，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至多有4个5度顶点并且至多有4个6度顶点”，这与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是 9 阶图矛盾. </a:t>
            </a:r>
          </a:p>
        </p:txBody>
      </p:sp>
    </p:spTree>
    <p:extLst>
      <p:ext uri="{BB962C8B-B14F-4D97-AF65-F5344CB8AC3E}">
        <p14:creationId xmlns:p14="http://schemas.microsoft.com/office/powerpoint/2010/main" val="284194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习题</a:t>
            </a:r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55E1732-A834-429E-BADB-DF43A9CAB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361563"/>
            <a:ext cx="11183548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2．数组2, 2, 2, 2, 3, 3能简单图化吗？若能，画出尽可能多的非同构的图来. </a:t>
            </a:r>
          </a:p>
        </p:txBody>
      </p:sp>
      <p:pic>
        <p:nvPicPr>
          <p:cNvPr id="7" name="Picture 4" descr="14-11">
            <a:extLst>
              <a:ext uri="{FF2B5EF4-FFF2-40B4-BE49-F238E27FC236}">
                <a16:creationId xmlns:a16="http://schemas.microsoft.com/office/drawing/2014/main" id="{4C016DB2-9158-44D5-BB30-4423CC02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4"/>
          <a:stretch>
            <a:fillRect/>
          </a:stretch>
        </p:blipFill>
        <p:spPr bwMode="auto">
          <a:xfrm>
            <a:off x="1983023" y="3500438"/>
            <a:ext cx="7345362" cy="237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243FB7E-9E98-4D33-98F9-83C864438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76475"/>
            <a:ext cx="10918555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只要能画出6 阶无向简单图，就说明它可简单图化. 下图的4个图都以此数列为度数列，请证明它们彼此不同构，都是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的子图.</a:t>
            </a:r>
          </a:p>
        </p:txBody>
      </p:sp>
    </p:spTree>
    <p:extLst>
      <p:ext uri="{BB962C8B-B14F-4D97-AF65-F5344CB8AC3E}">
        <p14:creationId xmlns:p14="http://schemas.microsoft.com/office/powerpoint/2010/main" val="142661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练习</a:t>
            </a:r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330F6B9-2E26-4DEF-9E0C-F8C812597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21238"/>
            <a:ext cx="882635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(1)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中有几种非同构的圈？</a:t>
            </a:r>
            <a:endParaRPr lang="zh-CN" altLang="en-US" sz="2200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(2)</a:t>
            </a:r>
            <a:r>
              <a:rPr lang="zh-CN" altLang="en-US" sz="2200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中有几种非圈非同构的简单回路？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(3)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是哪类连通图?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(4)</a:t>
            </a:r>
            <a:r>
              <a:rPr lang="zh-CN" altLang="en-US" sz="2200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长度为1,2,3,4的通路各多少条？其中几条是非初级的简单通路？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(5)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长度为1,2,3,4的回路各多少条？讨论它们的类型.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(6)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中长度为4的通路（不含回路）有多少条？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(7)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中长度为4的回路有多少条？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(8)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中长度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4的通路有多少条？其中有几条是回路？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(9) 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写出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的可达矩阵. </a:t>
            </a:r>
          </a:p>
        </p:txBody>
      </p:sp>
      <p:pic>
        <p:nvPicPr>
          <p:cNvPr id="9" name="Picture 3" descr="14-13">
            <a:extLst>
              <a:ext uri="{FF2B5EF4-FFF2-40B4-BE49-F238E27FC236}">
                <a16:creationId xmlns:a16="http://schemas.microsoft.com/office/drawing/2014/main" id="{63AAA44F-C5E8-44E7-9A2A-136521629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t="3828"/>
          <a:stretch>
            <a:fillRect/>
          </a:stretch>
        </p:blipFill>
        <p:spPr bwMode="auto">
          <a:xfrm>
            <a:off x="9240838" y="970504"/>
            <a:ext cx="2467989" cy="216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54417C22-1259-4197-A223-EF78406AA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68405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．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有向图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如图所示，回答下列诸问：</a:t>
            </a:r>
          </a:p>
        </p:txBody>
      </p:sp>
    </p:spTree>
    <p:extLst>
      <p:ext uri="{BB962C8B-B14F-4D97-AF65-F5344CB8AC3E}">
        <p14:creationId xmlns:p14="http://schemas.microsoft.com/office/powerpoint/2010/main" val="97540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解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CB72BFE-F666-48EF-88F2-F65F23B28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1128086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(1)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种非同构的圈，长度分别为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1,2,3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请画出它们的图形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(2)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种非圈的非同构的简单回路，长度分别为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4,5,6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请画出它们的图形来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(3)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是强连通的（为什么？）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为解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(4)—(8)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，只需先求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的邻接矩阵的前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次幂.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7694C6A1-8C57-46A6-9123-AFC564D89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3238" y="3573463"/>
          <a:ext cx="6190983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81300" imgH="1854200" progId="Equation.3">
                  <p:embed/>
                </p:oleObj>
              </mc:Choice>
              <mc:Fallback>
                <p:oleObj r:id="rId3" imgW="2781300" imgH="1854200" progId="Equation.3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7694C6A1-8C57-46A6-9123-AFC564D896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3573463"/>
                        <a:ext cx="6190983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31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解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325BF23-DA7C-4107-9BC5-E15A4A458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11511592" cy="1006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(4) 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60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600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长度为</a:t>
            </a:r>
            <a:r>
              <a:rPr lang="zh-CN" altLang="en-US" sz="2200" dirty="0">
                <a:latin typeface="Times New Roman" panose="02020603050405020304" pitchFamily="18" charset="0"/>
              </a:rPr>
              <a:t>1,2,3,4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的通路数分别为</a:t>
            </a:r>
            <a:r>
              <a:rPr lang="zh-CN" altLang="en-US" sz="2200" dirty="0">
                <a:latin typeface="Times New Roman" panose="02020603050405020304" pitchFamily="18" charset="0"/>
              </a:rPr>
              <a:t>0,0,2,2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.其中只有长度为</a:t>
            </a:r>
            <a:r>
              <a:rPr lang="zh-CN" altLang="en-US" sz="2200" dirty="0">
                <a:latin typeface="Times New Roman" panose="02020603050405020304" pitchFamily="18" charset="0"/>
              </a:rPr>
              <a:t>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的两条是非初级的简单通路（定义意义下），见下图所示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7" name="Picture 3" descr="14-14">
            <a:extLst>
              <a:ext uri="{FF2B5EF4-FFF2-40B4-BE49-F238E27FC236}">
                <a16:creationId xmlns:a16="http://schemas.microsoft.com/office/drawing/2014/main" id="{2F2C9E2C-4849-4969-87DD-209700A1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2"/>
          <a:stretch>
            <a:fillRect/>
          </a:stretch>
        </p:blipFill>
        <p:spPr bwMode="auto">
          <a:xfrm>
            <a:off x="1853632" y="3060011"/>
            <a:ext cx="6840537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05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解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48FBD4-BFAD-46F6-99BE-F63D8E238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96975"/>
            <a:ext cx="11323996" cy="44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(5) 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长度为1,2,3,4的回路数分别为1,1,3,5. 其中长度为1的是初级的(环)；长度为2的是复杂的；长度为3的中有1条是复杂的，2条是初级的；长度为4的有1条是复杂的，有4条是非初级的简单回路. 请在图中行遍以上各回路.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(6) 长度为4的通路(不含回路)为33条.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(7) 长度为4的回路为11条.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(8) 长度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4的通路88条，其中22条为回路.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(9) 4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4的全1矩阵. </a:t>
            </a:r>
          </a:p>
        </p:txBody>
      </p:sp>
    </p:spTree>
    <p:extLst>
      <p:ext uri="{BB962C8B-B14F-4D97-AF65-F5344CB8AC3E}">
        <p14:creationId xmlns:p14="http://schemas.microsoft.com/office/powerpoint/2010/main" val="132764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B1E58F0-F356-4CB1-AB20-AC92569DDC5F}"/>
              </a:ext>
            </a:extLst>
          </p:cNvPr>
          <p:cNvSpPr txBox="1">
            <a:spLocks noChangeArrowheads="1"/>
          </p:cNvSpPr>
          <p:nvPr/>
        </p:nvSpPr>
        <p:spPr>
          <a:xfrm>
            <a:off x="577189" y="1432074"/>
            <a:ext cx="10950876" cy="7194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二部图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400" b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无奇圈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（长度为奇数的回路）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5D986B-09C8-448A-9F96-0A8FC2ADCF67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EE1821-2566-4924-BBB1-EAFCBC116846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41E916-FD33-40B0-928F-F20B38BB9993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B0E8EF-D087-46A0-8786-30F52D1B475F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E1D9790-37A5-4CFA-B4E4-D41FDD2D675B}"/>
              </a:ext>
            </a:extLst>
          </p:cNvPr>
          <p:cNvSpPr txBox="1">
            <a:spLocks noChangeArrowheads="1"/>
          </p:cNvSpPr>
          <p:nvPr/>
        </p:nvSpPr>
        <p:spPr>
          <a:xfrm>
            <a:off x="611847" y="2505639"/>
            <a:ext cx="8229600" cy="690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</a:rPr>
              <a:t>例 下述各图是否是二部图</a:t>
            </a:r>
            <a:r>
              <a:rPr lang="en-US" altLang="zh-CN" sz="2200" b="1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Picture 5" descr="14-9">
            <a:extLst>
              <a:ext uri="{FF2B5EF4-FFF2-40B4-BE49-F238E27FC236}">
                <a16:creationId xmlns:a16="http://schemas.microsoft.com/office/drawing/2014/main" id="{82AED6C2-EF08-48F5-A2DD-E6CAC3517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5" t="55583" r="-858" b="1984"/>
          <a:stretch>
            <a:fillRect/>
          </a:stretch>
        </p:blipFill>
        <p:spPr bwMode="auto">
          <a:xfrm>
            <a:off x="2797835" y="4839264"/>
            <a:ext cx="142875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 descr="14-9">
            <a:extLst>
              <a:ext uri="{FF2B5EF4-FFF2-40B4-BE49-F238E27FC236}">
                <a16:creationId xmlns:a16="http://schemas.microsoft.com/office/drawing/2014/main" id="{FDD6E7D5-1558-4A6E-BD26-CCDD8730C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5" t="50819" r="38988" b="49"/>
          <a:stretch>
            <a:fillRect/>
          </a:stretch>
        </p:blipFill>
        <p:spPr bwMode="auto">
          <a:xfrm>
            <a:off x="4655210" y="4696389"/>
            <a:ext cx="1357312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" descr="D:\离散数学(范素珍)\tp\8T1.tif">
            <a:extLst>
              <a:ext uri="{FF2B5EF4-FFF2-40B4-BE49-F238E27FC236}">
                <a16:creationId xmlns:a16="http://schemas.microsoft.com/office/drawing/2014/main" id="{AFCDB13D-618E-4065-9F66-79001289C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2" t="4744" r="49219" b="57870"/>
          <a:stretch>
            <a:fillRect/>
          </a:stretch>
        </p:blipFill>
        <p:spPr bwMode="auto">
          <a:xfrm>
            <a:off x="869022" y="4839264"/>
            <a:ext cx="1785938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组合 14">
            <a:extLst>
              <a:ext uri="{FF2B5EF4-FFF2-40B4-BE49-F238E27FC236}">
                <a16:creationId xmlns:a16="http://schemas.microsoft.com/office/drawing/2014/main" id="{D7C98A64-ACEA-4810-9D68-4A8043F996F1}"/>
              </a:ext>
            </a:extLst>
          </p:cNvPr>
          <p:cNvGrpSpPr>
            <a:grpSpLocks/>
          </p:cNvGrpSpPr>
          <p:nvPr/>
        </p:nvGrpSpPr>
        <p:grpSpPr bwMode="auto">
          <a:xfrm>
            <a:off x="949985" y="3123177"/>
            <a:ext cx="7178675" cy="1501775"/>
            <a:chOff x="795310" y="2141530"/>
            <a:chExt cx="7177933" cy="1501784"/>
          </a:xfrm>
        </p:grpSpPr>
        <p:pic>
          <p:nvPicPr>
            <p:cNvPr id="23" name="Picture 5" descr="14-9">
              <a:extLst>
                <a:ext uri="{FF2B5EF4-FFF2-40B4-BE49-F238E27FC236}">
                  <a16:creationId xmlns:a16="http://schemas.microsoft.com/office/drawing/2014/main" id="{12506ACB-0A49-44CA-BA21-41A9EC7B93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04" r="-1245" b="53052"/>
            <a:stretch>
              <a:fillRect/>
            </a:stretch>
          </p:blipFill>
          <p:spPr bwMode="auto">
            <a:xfrm>
              <a:off x="4143372" y="2141530"/>
              <a:ext cx="1866944" cy="1501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6" descr="D:\离散数学(范素珍)\tp\8T1.tif">
              <a:extLst>
                <a:ext uri="{FF2B5EF4-FFF2-40B4-BE49-F238E27FC236}">
                  <a16:creationId xmlns:a16="http://schemas.microsoft.com/office/drawing/2014/main" id="{544D10AC-F28C-46E8-A1F0-2D9071E1CC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13" t="4744" r="27344" b="57870"/>
            <a:stretch>
              <a:fillRect/>
            </a:stretch>
          </p:blipFill>
          <p:spPr bwMode="auto">
            <a:xfrm>
              <a:off x="2786050" y="2214554"/>
              <a:ext cx="1357322" cy="1357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6" descr="D:\离散数学(范素珍)\tp\8T1.tif">
              <a:extLst>
                <a:ext uri="{FF2B5EF4-FFF2-40B4-BE49-F238E27FC236}">
                  <a16:creationId xmlns:a16="http://schemas.microsoft.com/office/drawing/2014/main" id="{AE11FE3F-CC9F-4069-9168-55C5710569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5" t="4744" r="72760" b="57870"/>
            <a:stretch>
              <a:fillRect/>
            </a:stretch>
          </p:blipFill>
          <p:spPr bwMode="auto">
            <a:xfrm>
              <a:off x="795310" y="2214554"/>
              <a:ext cx="1633550" cy="1357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7" descr="D:\离散数学(范素珍)\tp\8T2.tif">
              <a:extLst>
                <a:ext uri="{FF2B5EF4-FFF2-40B4-BE49-F238E27FC236}">
                  <a16:creationId xmlns:a16="http://schemas.microsoft.com/office/drawing/2014/main" id="{3EC50CC6-70CC-42B4-AA00-8F9AB872D5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88" t="10648" r="36719" b="18518"/>
            <a:stretch>
              <a:fillRect/>
            </a:stretch>
          </p:blipFill>
          <p:spPr bwMode="auto">
            <a:xfrm>
              <a:off x="6429388" y="2285992"/>
              <a:ext cx="1543855" cy="1292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TextBox 15">
            <a:extLst>
              <a:ext uri="{FF2B5EF4-FFF2-40B4-BE49-F238E27FC236}">
                <a16:creationId xmlns:a16="http://schemas.microsoft.com/office/drawing/2014/main" id="{55A5F214-2614-4777-B2DA-ED6E39F0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1210" y="5339327"/>
            <a:ext cx="1000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</p:spTree>
    <p:extLst>
      <p:ext uri="{BB962C8B-B14F-4D97-AF65-F5344CB8AC3E}">
        <p14:creationId xmlns:p14="http://schemas.microsoft.com/office/powerpoint/2010/main" val="284265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7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8A10272-6FA8-42B5-9C14-824B5C535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6"/>
            <a:ext cx="10892676" cy="114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</a:t>
            </a:r>
            <a:endParaRPr lang="en-US" altLang="zh-CN" sz="2400" b="1" i="1" kern="0" dirty="0"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E531DBD7-70A6-4B69-ACF1-01788F838192}"/>
              </a:ext>
            </a:extLst>
          </p:cNvPr>
          <p:cNvSpPr txBox="1">
            <a:spLocks noChangeArrowheads="1"/>
          </p:cNvSpPr>
          <p:nvPr/>
        </p:nvSpPr>
        <p:spPr>
          <a:xfrm>
            <a:off x="1917700" y="1806575"/>
            <a:ext cx="8229600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G=&lt;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为无向图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匹配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边独立集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任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条边均不相邻的边子集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极大匹配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添加任一条边后都不再是匹配的匹配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最大匹配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边数最多的匹配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匹配数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最大匹配中的边数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记为</a:t>
            </a:r>
            <a:r>
              <a:rPr lang="zh-CN" altLang="en-US" sz="22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en-US" altLang="zh-CN" sz="2200" b="1" baseline="-30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9" name="组合 60">
            <a:extLst>
              <a:ext uri="{FF2B5EF4-FFF2-40B4-BE49-F238E27FC236}">
                <a16:creationId xmlns:a16="http://schemas.microsoft.com/office/drawing/2014/main" id="{6EAC095C-E165-4048-9625-4C76BC91E825}"/>
              </a:ext>
            </a:extLst>
          </p:cNvPr>
          <p:cNvGrpSpPr>
            <a:grpSpLocks/>
          </p:cNvGrpSpPr>
          <p:nvPr/>
        </p:nvGrpSpPr>
        <p:grpSpPr bwMode="auto">
          <a:xfrm>
            <a:off x="3702050" y="5100353"/>
            <a:ext cx="5000631" cy="1757647"/>
            <a:chOff x="2285984" y="4357694"/>
            <a:chExt cx="5000666" cy="1757369"/>
          </a:xfrm>
        </p:grpSpPr>
        <p:grpSp>
          <p:nvGrpSpPr>
            <p:cNvPr id="60" name="组合 56">
              <a:extLst>
                <a:ext uri="{FF2B5EF4-FFF2-40B4-BE49-F238E27FC236}">
                  <a16:creationId xmlns:a16="http://schemas.microsoft.com/office/drawing/2014/main" id="{54898F40-DA60-4A40-94F3-A008ADDB75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5984" y="4357694"/>
              <a:ext cx="4000528" cy="1214446"/>
              <a:chOff x="1785918" y="4429132"/>
              <a:chExt cx="3357586" cy="930282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EE9F3BCB-ACC1-4DEC-983D-762EB1736E5E}"/>
                  </a:ext>
                </a:extLst>
              </p:cNvPr>
              <p:cNvSpPr/>
              <p:nvPr/>
            </p:nvSpPr>
            <p:spPr>
              <a:xfrm>
                <a:off x="2071046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151E6F38-3DBA-457B-A998-CDB799935E98}"/>
                  </a:ext>
                </a:extLst>
              </p:cNvPr>
              <p:cNvSpPr/>
              <p:nvPr/>
            </p:nvSpPr>
            <p:spPr>
              <a:xfrm>
                <a:off x="2642636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B503EE96-44BB-423F-877B-5CD2CA7C8233}"/>
                  </a:ext>
                </a:extLst>
              </p:cNvPr>
              <p:cNvSpPr/>
              <p:nvPr/>
            </p:nvSpPr>
            <p:spPr>
              <a:xfrm>
                <a:off x="1785918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2FD4C0C5-A427-450B-B6AD-B9F3716E5E32}"/>
                  </a:ext>
                </a:extLst>
              </p:cNvPr>
              <p:cNvSpPr/>
              <p:nvPr/>
            </p:nvSpPr>
            <p:spPr>
              <a:xfrm>
                <a:off x="2999712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6CC45F06-30AA-4930-9AEC-DD8051258641}"/>
                  </a:ext>
                </a:extLst>
              </p:cNvPr>
              <p:cNvSpPr/>
              <p:nvPr/>
            </p:nvSpPr>
            <p:spPr>
              <a:xfrm>
                <a:off x="2071046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1D1F2C1B-7D64-423E-A73C-64AAC13C52DC}"/>
                  </a:ext>
                </a:extLst>
              </p:cNvPr>
              <p:cNvSpPr/>
              <p:nvPr/>
            </p:nvSpPr>
            <p:spPr>
              <a:xfrm>
                <a:off x="2642636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6A0DD1DA-2ED0-4506-BACE-3E2A1D1EC2A1}"/>
                  </a:ext>
                </a:extLst>
              </p:cNvPr>
              <p:cNvCxnSpPr>
                <a:endCxn id="65" idx="7"/>
              </p:cNvCxnSpPr>
              <p:nvPr/>
            </p:nvCxnSpPr>
            <p:spPr>
              <a:xfrm rot="5400000">
                <a:off x="1775532" y="4572542"/>
                <a:ext cx="367188" cy="223839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08D56862-EE00-4375-9DD0-B865F26EF64D}"/>
                  </a:ext>
                </a:extLst>
              </p:cNvPr>
              <p:cNvCxnSpPr>
                <a:endCxn id="67" idx="2"/>
              </p:cNvCxnSpPr>
              <p:nvPr/>
            </p:nvCxnSpPr>
            <p:spPr>
              <a:xfrm rot="16200000" flipH="1">
                <a:off x="1768095" y="5018619"/>
                <a:ext cx="392721" cy="2131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FFBDBEC9-BBCB-4F0B-926C-1206D6DFA6BE}"/>
                  </a:ext>
                </a:extLst>
              </p:cNvPr>
              <p:cNvCxnSpPr>
                <a:endCxn id="66" idx="3"/>
              </p:cNvCxnSpPr>
              <p:nvPr/>
            </p:nvCxnSpPr>
            <p:spPr>
              <a:xfrm rot="16200000" flipH="1">
                <a:off x="2653351" y="4562100"/>
                <a:ext cx="418254" cy="2957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3B55E0D5-7FDD-4707-8156-050336842591}"/>
                  </a:ext>
                </a:extLst>
              </p:cNvPr>
              <p:cNvCxnSpPr>
                <a:endCxn id="68" idx="6"/>
              </p:cNvCxnSpPr>
              <p:nvPr/>
            </p:nvCxnSpPr>
            <p:spPr>
              <a:xfrm rot="5400000">
                <a:off x="2660788" y="4982644"/>
                <a:ext cx="392721" cy="285128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B1CD7C5F-A675-4BA3-8AA1-C83A6AD40B7A}"/>
                  </a:ext>
                </a:extLst>
              </p:cNvPr>
              <p:cNvCxnSpPr>
                <a:stCxn id="63" idx="6"/>
                <a:endCxn id="64" idx="2"/>
              </p:cNvCxnSpPr>
              <p:nvPr/>
            </p:nvCxnSpPr>
            <p:spPr>
              <a:xfrm>
                <a:off x="2142995" y="4464391"/>
                <a:ext cx="499641" cy="24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E8C5E135-BD80-45BD-9EAB-BE16810AC238}"/>
                  </a:ext>
                </a:extLst>
              </p:cNvPr>
              <p:cNvCxnSpPr/>
              <p:nvPr/>
            </p:nvCxnSpPr>
            <p:spPr>
              <a:xfrm>
                <a:off x="2142995" y="5358045"/>
                <a:ext cx="499641" cy="12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DCFA0DC2-757E-42C2-ABF9-61116FF95D63}"/>
                  </a:ext>
                </a:extLst>
              </p:cNvPr>
              <p:cNvSpPr/>
              <p:nvPr/>
            </p:nvSpPr>
            <p:spPr>
              <a:xfrm>
                <a:off x="4142890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2EA07E2F-54AA-4C10-8976-3FE0182BAC96}"/>
                  </a:ext>
                </a:extLst>
              </p:cNvPr>
              <p:cNvSpPr/>
              <p:nvPr/>
            </p:nvSpPr>
            <p:spPr>
              <a:xfrm>
                <a:off x="4714479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EC73B564-77E5-4787-953E-E205CC946070}"/>
                  </a:ext>
                </a:extLst>
              </p:cNvPr>
              <p:cNvSpPr/>
              <p:nvPr/>
            </p:nvSpPr>
            <p:spPr>
              <a:xfrm>
                <a:off x="3857762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39FBF722-45FB-498D-906F-C6FD63D0F8D2}"/>
                  </a:ext>
                </a:extLst>
              </p:cNvPr>
              <p:cNvSpPr/>
              <p:nvPr/>
            </p:nvSpPr>
            <p:spPr>
              <a:xfrm>
                <a:off x="5071556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DD51FDAD-F76D-4396-90A6-CCE6BCC913F4}"/>
                  </a:ext>
                </a:extLst>
              </p:cNvPr>
              <p:cNvSpPr/>
              <p:nvPr/>
            </p:nvSpPr>
            <p:spPr>
              <a:xfrm>
                <a:off x="4142890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867D8B2B-0CD1-418A-AD2A-11501C8D75EF}"/>
                  </a:ext>
                </a:extLst>
              </p:cNvPr>
              <p:cNvSpPr/>
              <p:nvPr/>
            </p:nvSpPr>
            <p:spPr>
              <a:xfrm>
                <a:off x="4714479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4366CD10-8C51-490E-B551-E018DD59762D}"/>
                  </a:ext>
                </a:extLst>
              </p:cNvPr>
              <p:cNvCxnSpPr>
                <a:endCxn id="77" idx="7"/>
              </p:cNvCxnSpPr>
              <p:nvPr/>
            </p:nvCxnSpPr>
            <p:spPr>
              <a:xfrm rot="5400000">
                <a:off x="3847377" y="4572542"/>
                <a:ext cx="367188" cy="2238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1B1D384D-DC2A-404A-A454-E03CA9FB527D}"/>
                  </a:ext>
                </a:extLst>
              </p:cNvPr>
              <p:cNvCxnSpPr>
                <a:endCxn id="79" idx="2"/>
              </p:cNvCxnSpPr>
              <p:nvPr/>
            </p:nvCxnSpPr>
            <p:spPr>
              <a:xfrm rot="16200000" flipH="1">
                <a:off x="3839939" y="5018619"/>
                <a:ext cx="392721" cy="213180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82448BEB-1D7F-48E1-BEE5-09D75EBD91B5}"/>
                  </a:ext>
                </a:extLst>
              </p:cNvPr>
              <p:cNvCxnSpPr>
                <a:endCxn id="78" idx="3"/>
              </p:cNvCxnSpPr>
              <p:nvPr/>
            </p:nvCxnSpPr>
            <p:spPr>
              <a:xfrm rot="16200000" flipH="1">
                <a:off x="4725195" y="4562100"/>
                <a:ext cx="418254" cy="2957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FDE5816D-2730-444A-A0BF-0C9C6A031993}"/>
                  </a:ext>
                </a:extLst>
              </p:cNvPr>
              <p:cNvCxnSpPr>
                <a:endCxn id="80" idx="6"/>
              </p:cNvCxnSpPr>
              <p:nvPr/>
            </p:nvCxnSpPr>
            <p:spPr>
              <a:xfrm rot="5400000">
                <a:off x="4732631" y="4982644"/>
                <a:ext cx="392721" cy="285128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573B042A-A3E4-4F0D-BBA6-97FA70FA13BE}"/>
                  </a:ext>
                </a:extLst>
              </p:cNvPr>
              <p:cNvCxnSpPr>
                <a:stCxn id="75" idx="6"/>
                <a:endCxn id="76" idx="2"/>
              </p:cNvCxnSpPr>
              <p:nvPr/>
            </p:nvCxnSpPr>
            <p:spPr>
              <a:xfrm>
                <a:off x="4214839" y="4464391"/>
                <a:ext cx="499640" cy="2432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5559A1B0-C7C8-4002-B096-64C849302191}"/>
                  </a:ext>
                </a:extLst>
              </p:cNvPr>
              <p:cNvCxnSpPr/>
              <p:nvPr/>
            </p:nvCxnSpPr>
            <p:spPr>
              <a:xfrm>
                <a:off x="4214839" y="5358045"/>
                <a:ext cx="499640" cy="12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D949C546-8188-4089-ACAC-28898DF6CEC9}"/>
                  </a:ext>
                </a:extLst>
              </p:cNvPr>
              <p:cNvCxnSpPr>
                <a:endCxn id="66" idx="2"/>
              </p:cNvCxnSpPr>
              <p:nvPr/>
            </p:nvCxnSpPr>
            <p:spPr>
              <a:xfrm>
                <a:off x="1857866" y="4893588"/>
                <a:ext cx="1141846" cy="12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880119A3-1375-48E1-992E-8617E9F4B24B}"/>
                  </a:ext>
                </a:extLst>
              </p:cNvPr>
              <p:cNvCxnSpPr>
                <a:stCxn id="77" idx="5"/>
                <a:endCxn id="78" idx="3"/>
              </p:cNvCxnSpPr>
              <p:nvPr/>
            </p:nvCxnSpPr>
            <p:spPr>
              <a:xfrm rot="16200000" flipH="1">
                <a:off x="4500692" y="4336265"/>
                <a:ext cx="1215" cy="116449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57">
              <a:extLst>
                <a:ext uri="{FF2B5EF4-FFF2-40B4-BE49-F238E27FC236}">
                  <a16:creationId xmlns:a16="http://schemas.microsoft.com/office/drawing/2014/main" id="{B52E4505-2334-4704-B060-89217899B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5715016"/>
              <a:ext cx="1571636" cy="4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极大匹配</a:t>
              </a:r>
            </a:p>
          </p:txBody>
        </p:sp>
        <p:sp>
          <p:nvSpPr>
            <p:cNvPr id="62" name="TextBox 58">
              <a:extLst>
                <a:ext uri="{FF2B5EF4-FFF2-40B4-BE49-F238E27FC236}">
                  <a16:creationId xmlns:a16="http://schemas.microsoft.com/office/drawing/2014/main" id="{FC8ACA8D-EF15-495B-BC34-AEAA12674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7" y="5715016"/>
              <a:ext cx="2500333" cy="4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最大匹配  </a:t>
              </a: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b="1" i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000" b="1" baseline="-250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=3</a:t>
              </a:r>
              <a:endPara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9" name="文本框 88">
            <a:extLst>
              <a:ext uri="{FF2B5EF4-FFF2-40B4-BE49-F238E27FC236}">
                <a16:creationId xmlns:a16="http://schemas.microsoft.com/office/drawing/2014/main" id="{411DE4C3-8931-4734-87BF-1BCF5C1999CD}"/>
              </a:ext>
            </a:extLst>
          </p:cNvPr>
          <p:cNvSpPr txBox="1"/>
          <p:nvPr/>
        </p:nvSpPr>
        <p:spPr>
          <a:xfrm>
            <a:off x="869950" y="48032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5571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8A10272-6FA8-42B5-9C14-824B5C535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6"/>
            <a:ext cx="10892676" cy="114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为二部图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中最大匹配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 = 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  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完备匹配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|=|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完备匹配是完美匹配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b="1" kern="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BC2782D-5A3F-4E92-95C9-159B4F7B95AB}"/>
              </a:ext>
            </a:extLst>
          </p:cNvPr>
          <p:cNvGrpSpPr/>
          <p:nvPr/>
        </p:nvGrpSpPr>
        <p:grpSpPr>
          <a:xfrm>
            <a:off x="573181" y="3294967"/>
            <a:ext cx="9260130" cy="2263010"/>
            <a:chOff x="573181" y="3294967"/>
            <a:chExt cx="9260130" cy="2263010"/>
          </a:xfrm>
        </p:grpSpPr>
        <p:grpSp>
          <p:nvGrpSpPr>
            <p:cNvPr id="19" name="组合 10">
              <a:extLst>
                <a:ext uri="{FF2B5EF4-FFF2-40B4-BE49-F238E27FC236}">
                  <a16:creationId xmlns:a16="http://schemas.microsoft.com/office/drawing/2014/main" id="{6E891F11-7F16-48DB-842F-B88EC2F084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7586" y="3511690"/>
              <a:ext cx="7705725" cy="2046287"/>
              <a:chOff x="714348" y="4383109"/>
              <a:chExt cx="7705725" cy="2046287"/>
            </a:xfrm>
          </p:grpSpPr>
          <p:pic>
            <p:nvPicPr>
              <p:cNvPr id="20" name="Picture 6" descr="18-5">
                <a:extLst>
                  <a:ext uri="{FF2B5EF4-FFF2-40B4-BE49-F238E27FC236}">
                    <a16:creationId xmlns:a16="http://schemas.microsoft.com/office/drawing/2014/main" id="{0D5A4989-71E2-42D2-B440-EB808A6910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4383109"/>
                <a:ext cx="7705725" cy="2046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9C8FF1C9-DFE0-4242-8403-DE3993B79C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4348" y="5824855"/>
                <a:ext cx="202722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完备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不完美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Text Box 8">
                <a:extLst>
                  <a:ext uri="{FF2B5EF4-FFF2-40B4-BE49-F238E27FC236}">
                    <a16:creationId xmlns:a16="http://schemas.microsoft.com/office/drawing/2014/main" id="{0B735EA8-03F9-4E92-A1BB-62ACA1E07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6100" y="5896293"/>
                <a:ext cx="114459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不完备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Text Box 9">
                <a:extLst>
                  <a:ext uri="{FF2B5EF4-FFF2-40B4-BE49-F238E27FC236}">
                    <a16:creationId xmlns:a16="http://schemas.microsoft.com/office/drawing/2014/main" id="{4818BEDC-59D8-47B8-8EEA-B55E787A7D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2330" y="5896293"/>
                <a:ext cx="101443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完美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441CB1F-4537-4197-A7EB-4D462E083E2D}"/>
                </a:ext>
              </a:extLst>
            </p:cNvPr>
            <p:cNvSpPr txBox="1"/>
            <p:nvPr/>
          </p:nvSpPr>
          <p:spPr>
            <a:xfrm>
              <a:off x="573181" y="3294967"/>
              <a:ext cx="6094878" cy="55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609600" indent="-609600" algn="just" eaLnBrk="1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endPara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6FB3979E-5B45-4F9C-9F8C-F9BFFEE52FA2}"/>
              </a:ext>
            </a:extLst>
          </p:cNvPr>
          <p:cNvSpPr txBox="1">
            <a:spLocks noChangeArrowheads="1"/>
          </p:cNvSpPr>
          <p:nvPr/>
        </p:nvSpPr>
        <p:spPr>
          <a:xfrm>
            <a:off x="3362061" y="6009780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zh-CN" altLang="en-US" sz="22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完美匹配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一定是完备匹配，反之不然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41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11DE4C3-8931-4734-87BF-1BCF5C1999CD}"/>
              </a:ext>
            </a:extLst>
          </p:cNvPr>
          <p:cNvSpPr txBox="1"/>
          <p:nvPr/>
        </p:nvSpPr>
        <p:spPr>
          <a:xfrm>
            <a:off x="558800" y="1767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A92BE4-5B17-47F0-8BAA-08C076812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50" y="2694441"/>
            <a:ext cx="2749207" cy="1820077"/>
          </a:xfrm>
          <a:prstGeom prst="rect">
            <a:avLst/>
          </a:prstGeom>
        </p:spPr>
      </p:pic>
      <p:sp>
        <p:nvSpPr>
          <p:cNvPr id="45" name="Rectangle 3">
            <a:extLst>
              <a:ext uri="{FF2B5EF4-FFF2-40B4-BE49-F238E27FC236}">
                <a16:creationId xmlns:a16="http://schemas.microsoft.com/office/drawing/2014/main" id="{8CE2460D-9BA9-479F-995F-91C590C5F24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2057401"/>
            <a:ext cx="8229600" cy="757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中，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800" b="1" kern="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3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800" b="1" kern="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{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400" b="1" kern="0" dirty="0" err="1">
                <a:latin typeface="Times New Roman" panose="02020603050405020304" pitchFamily="18" charset="0"/>
              </a:rPr>
              <a:t>1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3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6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800" b="1" kern="0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2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4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均为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的匹配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7263A88A-A3FB-4939-AE69-B18EDBAA2D3C}"/>
              </a:ext>
            </a:extLst>
          </p:cNvPr>
          <p:cNvSpPr txBox="1">
            <a:spLocks noChangeArrowheads="1"/>
          </p:cNvSpPr>
          <p:nvPr/>
        </p:nvSpPr>
        <p:spPr>
          <a:xfrm>
            <a:off x="3948549" y="2554183"/>
            <a:ext cx="8229600" cy="757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7183D12D-B63A-447A-BB0C-0156AA13DCC4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3027216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都是极大匹配，其中</a:t>
            </a:r>
            <a:r>
              <a:rPr lang="zh-CN" altLang="en-US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又是最大匹配和完美匹配    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33F77C3-4E73-44DC-8F02-35D786531831}"/>
              </a:ext>
            </a:extLst>
          </p:cNvPr>
          <p:cNvSpPr txBox="1"/>
          <p:nvPr/>
        </p:nvSpPr>
        <p:spPr>
          <a:xfrm>
            <a:off x="3962400" y="3643559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其匹配数是：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3C29329F-E60D-430D-9D00-730BE29DD404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4345707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不是极大匹配，更不是最大匹配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7B24C9-E89D-4CFF-9372-A31C6B96FC8C}"/>
              </a:ext>
            </a:extLst>
          </p:cNvPr>
          <p:cNvSpPr txBox="1"/>
          <p:nvPr/>
        </p:nvSpPr>
        <p:spPr>
          <a:xfrm>
            <a:off x="4025900" y="294005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1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92C4B67-DEE0-491A-8943-B6857AA81A29}"/>
              </a:ext>
            </a:extLst>
          </p:cNvPr>
          <p:cNvSpPr txBox="1"/>
          <p:nvPr/>
        </p:nvSpPr>
        <p:spPr>
          <a:xfrm>
            <a:off x="4743450" y="294640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15007C1-8C18-469D-A6BF-667C0D4EA86A}"/>
              </a:ext>
            </a:extLst>
          </p:cNvPr>
          <p:cNvSpPr txBox="1"/>
          <p:nvPr/>
        </p:nvSpPr>
        <p:spPr>
          <a:xfrm>
            <a:off x="7931150" y="294640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E92F71-4F43-47C9-B0E5-5616DE918B4B}"/>
              </a:ext>
            </a:extLst>
          </p:cNvPr>
          <p:cNvSpPr txBox="1"/>
          <p:nvPr/>
        </p:nvSpPr>
        <p:spPr>
          <a:xfrm>
            <a:off x="5613400" y="3613150"/>
            <a:ext cx="338554" cy="499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3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FEF676A-0CF5-4119-B5B4-C20420F0C812}"/>
              </a:ext>
            </a:extLst>
          </p:cNvPr>
          <p:cNvSpPr txBox="1"/>
          <p:nvPr/>
        </p:nvSpPr>
        <p:spPr>
          <a:xfrm>
            <a:off x="4025900" y="424815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3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7D1B0385-B2E4-4845-B2F5-CC5C8A3C1632}"/>
              </a:ext>
            </a:extLst>
          </p:cNvPr>
          <p:cNvSpPr txBox="1">
            <a:spLocks noChangeArrowheads="1"/>
          </p:cNvSpPr>
          <p:nvPr/>
        </p:nvSpPr>
        <p:spPr>
          <a:xfrm>
            <a:off x="3994073" y="5673604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最大匹配一定是极大匹配，反之不然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256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  <p:bldP spid="50" grpId="0"/>
      <p:bldP spid="7" grpId="0"/>
      <p:bldP spid="52" grpId="0"/>
      <p:bldP spid="53" grpId="0"/>
      <p:bldP spid="54" grpId="0"/>
      <p:bldP spid="55" grpId="0"/>
      <p:bldP spid="5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C7E2D91A-C4C1-49F4-BF3D-7F46DA41EE9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4000"/>
            <a:ext cx="8229600" cy="2610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中一个匹配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>
                <a:solidFill>
                  <a:srgbClr val="992677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匹配</a:t>
            </a:r>
            <a:r>
              <a:rPr lang="en-US" altLang="zh-CN" b="1" dirty="0">
                <a:latin typeface="Times New Roman" panose="02020603050405020304" pitchFamily="18" charset="0"/>
              </a:rPr>
              <a:t>: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饱和点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中有边与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关联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非饱和点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中没有边与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关联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为完美匹配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的每个顶点都是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饱和点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829B845D-E8F9-4DA4-AAC3-1BE7264BF16B}"/>
              </a:ext>
            </a:extLst>
          </p:cNvPr>
          <p:cNvSpPr txBox="1">
            <a:spLocks noChangeArrowheads="1"/>
          </p:cNvSpPr>
          <p:nvPr/>
        </p:nvSpPr>
        <p:spPr>
          <a:xfrm>
            <a:off x="414619" y="4459941"/>
            <a:ext cx="8229600" cy="2162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关于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a,b,e,d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是饱和点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f,c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是非饱和点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不是完美匹配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是完美匹配</a:t>
            </a:r>
          </a:p>
        </p:txBody>
      </p:sp>
      <p:grpSp>
        <p:nvGrpSpPr>
          <p:cNvPr id="48" name="Group 8">
            <a:extLst>
              <a:ext uri="{FF2B5EF4-FFF2-40B4-BE49-F238E27FC236}">
                <a16:creationId xmlns:a16="http://schemas.microsoft.com/office/drawing/2014/main" id="{235D98CB-20C6-4854-883B-3F575A86A15C}"/>
              </a:ext>
            </a:extLst>
          </p:cNvPr>
          <p:cNvGrpSpPr>
            <a:grpSpLocks/>
          </p:cNvGrpSpPr>
          <p:nvPr/>
        </p:nvGrpSpPr>
        <p:grpSpPr bwMode="auto">
          <a:xfrm>
            <a:off x="4749521" y="4625135"/>
            <a:ext cx="4343400" cy="1898650"/>
            <a:chOff x="2517" y="2704"/>
            <a:chExt cx="2736" cy="1196"/>
          </a:xfrm>
        </p:grpSpPr>
        <p:pic>
          <p:nvPicPr>
            <p:cNvPr id="49" name="Picture 5" descr="18-2(1)">
              <a:extLst>
                <a:ext uri="{FF2B5EF4-FFF2-40B4-BE49-F238E27FC236}">
                  <a16:creationId xmlns:a16="http://schemas.microsoft.com/office/drawing/2014/main" id="{34228E5B-5BA7-4988-B8B0-8FF69FE02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99"/>
            <a:stretch>
              <a:fillRect/>
            </a:stretch>
          </p:blipFill>
          <p:spPr bwMode="auto">
            <a:xfrm>
              <a:off x="2517" y="2704"/>
              <a:ext cx="2736" cy="1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 Box 6">
              <a:extLst>
                <a:ext uri="{FF2B5EF4-FFF2-40B4-BE49-F238E27FC236}">
                  <a16:creationId xmlns:a16="http://schemas.microsoft.com/office/drawing/2014/main" id="{B26875D3-5CC5-4A6D-9B8D-060923C70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64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b="1" baseline="-25000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7">
              <a:extLst>
                <a:ext uri="{FF2B5EF4-FFF2-40B4-BE49-F238E27FC236}">
                  <a16:creationId xmlns:a16="http://schemas.microsoft.com/office/drawing/2014/main" id="{AB09E4B7-7296-46EF-BB6A-B6E655E8E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648"/>
              <a:ext cx="4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b="1" baseline="-25000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843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4736946-E3BB-461D-9B02-592A115672E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87257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B8367D5-51C4-4DE1-87A0-6E5CB647062A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2205487"/>
            <a:ext cx="10826151" cy="120194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某课题组要从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人中派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人分别到上海、广州、香港去开会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只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想去上海，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只想去广州，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都表示想去广州或香港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问该课题组在满足个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人要求的条件下，共有几种派遣方案？ 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12F121A-1A92-43E1-8AEA-39CA996F5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93" y="3746231"/>
            <a:ext cx="10656318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={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},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={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},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={(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) |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    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想去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分别表示上海、广州和香港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7BEB6ED-3FB1-409A-ADB8-263B20675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253487"/>
            <a:ext cx="7203326" cy="148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满足相异性条件，红边是一个完备匹配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对应的派遣方案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上海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广州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香港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FA9DC93-D957-478F-B241-854082915E76}"/>
              </a:ext>
            </a:extLst>
          </p:cNvPr>
          <p:cNvGrpSpPr/>
          <p:nvPr/>
        </p:nvGrpSpPr>
        <p:grpSpPr>
          <a:xfrm>
            <a:off x="7392565" y="4891748"/>
            <a:ext cx="2971800" cy="2201862"/>
            <a:chOff x="5529263" y="4960756"/>
            <a:chExt cx="2971800" cy="2201862"/>
          </a:xfrm>
        </p:grpSpPr>
        <p:pic>
          <p:nvPicPr>
            <p:cNvPr id="12" name="Picture 6" descr="18-6">
              <a:extLst>
                <a:ext uri="{FF2B5EF4-FFF2-40B4-BE49-F238E27FC236}">
                  <a16:creationId xmlns:a16="http://schemas.microsoft.com/office/drawing/2014/main" id="{7E9C41BE-094F-49C1-B153-454CA3672E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44" t="10770"/>
            <a:stretch>
              <a:fillRect/>
            </a:stretch>
          </p:blipFill>
          <p:spPr bwMode="auto">
            <a:xfrm>
              <a:off x="5529263" y="4960756"/>
              <a:ext cx="2971800" cy="2201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" name="组合 13">
              <a:extLst>
                <a:ext uri="{FF2B5EF4-FFF2-40B4-BE49-F238E27FC236}">
                  <a16:creationId xmlns:a16="http://schemas.microsoft.com/office/drawing/2014/main" id="{85FC515B-9B49-4639-9556-862F745C0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5376681"/>
              <a:ext cx="2000250" cy="1214438"/>
              <a:chOff x="5715008" y="4643446"/>
              <a:chExt cx="2000264" cy="1214446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033BC95-9E00-4C29-A5F0-08870253FA76}"/>
                  </a:ext>
                </a:extLst>
              </p:cNvPr>
              <p:cNvCxnSpPr/>
              <p:nvPr/>
            </p:nvCxnSpPr>
            <p:spPr>
              <a:xfrm rot="5400000">
                <a:off x="5250661" y="5107793"/>
                <a:ext cx="1214445" cy="28575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F6FDE912-4BB9-4FD8-8C8F-9C91EFC8D60E}"/>
                  </a:ext>
                </a:extLst>
              </p:cNvPr>
              <p:cNvCxnSpPr/>
              <p:nvPr/>
            </p:nvCxnSpPr>
            <p:spPr>
              <a:xfrm rot="5400000">
                <a:off x="5965041" y="5107793"/>
                <a:ext cx="1214445" cy="28575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2C742FD-62FB-4788-89D0-D9EDAE0E3FC2}"/>
                  </a:ext>
                </a:extLst>
              </p:cNvPr>
              <p:cNvCxnSpPr/>
              <p:nvPr/>
            </p:nvCxnSpPr>
            <p:spPr>
              <a:xfrm rot="16200000" flipH="1">
                <a:off x="7000892" y="5072074"/>
                <a:ext cx="1143008" cy="28575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3928943-4199-485A-8E64-BB094C42B46C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9A5B8C-5A6E-4535-83AF-D3BD7ACF9856}"/>
              </a:ext>
            </a:extLst>
          </p:cNvPr>
          <p:cNvSpPr txBox="1"/>
          <p:nvPr/>
        </p:nvSpPr>
        <p:spPr>
          <a:xfrm>
            <a:off x="3149818" y="942995"/>
            <a:ext cx="1862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AC21E0-89E7-410B-BF23-02ECBE9EF407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2018B1-1976-42BD-9625-1BC1A93C2AA7}"/>
              </a:ext>
            </a:extLst>
          </p:cNvPr>
          <p:cNvSpPr txBox="1"/>
          <p:nvPr/>
        </p:nvSpPr>
        <p:spPr>
          <a:xfrm>
            <a:off x="5967772" y="960547"/>
            <a:ext cx="2261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</p:spTree>
    <p:extLst>
      <p:ext uri="{BB962C8B-B14F-4D97-AF65-F5344CB8AC3E}">
        <p14:creationId xmlns:p14="http://schemas.microsoft.com/office/powerpoint/2010/main" val="200207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3E144A59-C937-4EA3-8182-BD5FF79B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59454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欧拉图实例</a:t>
            </a:r>
            <a:endParaRPr lang="en-US" altLang="zh-CN" sz="28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DEE1A43F-4AD5-4371-861F-B5159CE3E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15129"/>
            <a:ext cx="7993063" cy="3330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是否是欧拉图或半欧拉图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934C5771-F98C-46E8-AD7D-7AE8F0D61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091" y="6329893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欧拉图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739BB5A6-A6A6-4447-B767-205934785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99" y="6363231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半欧拉图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595A97E2-A06B-4688-923F-211EC27A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902" y="6329893"/>
            <a:ext cx="1000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  <p:pic>
        <p:nvPicPr>
          <p:cNvPr id="30" name="Picture 9" descr="15-22">
            <a:extLst>
              <a:ext uri="{FF2B5EF4-FFF2-40B4-BE49-F238E27FC236}">
                <a16:creationId xmlns:a16="http://schemas.microsoft.com/office/drawing/2014/main" id="{8CB27D5D-0859-4FC5-810B-66065E814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74" b="54581"/>
          <a:stretch>
            <a:fillRect/>
          </a:stretch>
        </p:blipFill>
        <p:spPr bwMode="auto">
          <a:xfrm>
            <a:off x="2181671" y="2575492"/>
            <a:ext cx="7058025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9" descr="15-22">
            <a:extLst>
              <a:ext uri="{FF2B5EF4-FFF2-40B4-BE49-F238E27FC236}">
                <a16:creationId xmlns:a16="http://schemas.microsoft.com/office/drawing/2014/main" id="{3255F55F-2479-46D1-8A8C-0642A44C7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41"/>
          <a:stretch>
            <a:fillRect/>
          </a:stretch>
        </p:blipFill>
        <p:spPr bwMode="auto">
          <a:xfrm>
            <a:off x="2110233" y="4736079"/>
            <a:ext cx="7245350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55B0B93-0FFE-4B5E-BB36-EC9E42861591}"/>
              </a:ext>
            </a:extLst>
          </p:cNvPr>
          <p:cNvSpPr txBox="1"/>
          <p:nvPr/>
        </p:nvSpPr>
        <p:spPr>
          <a:xfrm>
            <a:off x="568036" y="949038"/>
            <a:ext cx="2917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59A081-383B-4E64-A800-1029C1578D07}"/>
              </a:ext>
            </a:extLst>
          </p:cNvPr>
          <p:cNvSpPr txBox="1"/>
          <p:nvPr/>
        </p:nvSpPr>
        <p:spPr>
          <a:xfrm>
            <a:off x="9470632" y="984288"/>
            <a:ext cx="219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BBCC68AA-7705-4D55-843D-0F8072DB4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741" y="4183593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欧拉图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14983DE9-EABF-4B76-B334-A390E7E71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99" y="4216931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半欧拉图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719A5862-CFE1-421D-A38D-4317C69A7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752" y="4183593"/>
            <a:ext cx="1000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</p:spTree>
    <p:extLst>
      <p:ext uri="{BB962C8B-B14F-4D97-AF65-F5344CB8AC3E}">
        <p14:creationId xmlns:p14="http://schemas.microsoft.com/office/powerpoint/2010/main" val="202633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17" grpId="0"/>
      <p:bldP spid="18" grpId="0"/>
      <p:bldP spid="19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BEF7BFF-F542-48FF-A748-34F73B13C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23" y="1557095"/>
            <a:ext cx="11393009" cy="2645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哥尼斯堡七桥问题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个奇度顶点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不存在欧拉通路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更不存在欧拉回路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kern="0" dirty="0">
              <a:latin typeface="Times New Roman" panose="02020603050405020304" pitchFamily="18" charset="0"/>
            </a:endParaRPr>
          </a:p>
        </p:txBody>
      </p:sp>
      <p:pic>
        <p:nvPicPr>
          <p:cNvPr id="18" name="Picture 7" descr="15-1(1)">
            <a:extLst>
              <a:ext uri="{FF2B5EF4-FFF2-40B4-BE49-F238E27FC236}">
                <a16:creationId xmlns:a16="http://schemas.microsoft.com/office/drawing/2014/main" id="{3C30F05A-D00E-4B17-A1B2-3A8C4233F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785" y="2109425"/>
            <a:ext cx="1836468" cy="187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602A76A-5636-4FBC-B914-FEE0B553887D}"/>
              </a:ext>
            </a:extLst>
          </p:cNvPr>
          <p:cNvSpPr txBox="1"/>
          <p:nvPr/>
        </p:nvSpPr>
        <p:spPr>
          <a:xfrm>
            <a:off x="568036" y="949038"/>
            <a:ext cx="2917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5E12D6-728E-46C5-B11A-0DC107589CC9}"/>
              </a:ext>
            </a:extLst>
          </p:cNvPr>
          <p:cNvSpPr txBox="1"/>
          <p:nvPr/>
        </p:nvSpPr>
        <p:spPr>
          <a:xfrm>
            <a:off x="9326881" y="984288"/>
            <a:ext cx="244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CBB402-9233-4A33-837B-BF5A39BC2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23" y="4132208"/>
            <a:ext cx="11393009" cy="816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下面两个图都是欧拉图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点出发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如何一次成功地走出一条欧拉回路来？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kern="0" dirty="0">
              <a:latin typeface="Times New Roman" panose="02020603050405020304" pitchFamily="18" charset="0"/>
            </a:endParaRPr>
          </a:p>
        </p:txBody>
      </p:sp>
      <p:pic>
        <p:nvPicPr>
          <p:cNvPr id="12" name="Picture 8" descr="15-4">
            <a:extLst>
              <a:ext uri="{FF2B5EF4-FFF2-40B4-BE49-F238E27FC236}">
                <a16:creationId xmlns:a16="http://schemas.microsoft.com/office/drawing/2014/main" id="{29EE25A3-64A8-454B-B97F-B9DECE22D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305" y="4809659"/>
            <a:ext cx="5791200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973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1FBAF119-2A18-4329-9387-B5B9EA053AD6}"/>
              </a:ext>
            </a:extLst>
          </p:cNvPr>
          <p:cNvSpPr txBox="1">
            <a:spLocks/>
          </p:cNvSpPr>
          <p:nvPr/>
        </p:nvSpPr>
        <p:spPr bwMode="auto">
          <a:xfrm>
            <a:off x="457199" y="1562100"/>
            <a:ext cx="11240220" cy="29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设旋转磁鼓分成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个扇区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每个扇区标记一个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个探测器能够读出连续的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个扇区的标记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如何赋给扇区标记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使得能够根据探测器的读数确定磁鼓的位置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为了能够根据读数确定磁鼓的位置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必须构造一个由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组成的圆环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使得圆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环上连续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个数字的序列都不相同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6" name="组合 71">
            <a:extLst>
              <a:ext uri="{FF2B5EF4-FFF2-40B4-BE49-F238E27FC236}">
                <a16:creationId xmlns:a16="http://schemas.microsoft.com/office/drawing/2014/main" id="{D8B3818E-E8CE-4E4F-8C5F-692BF2EAEA78}"/>
              </a:ext>
            </a:extLst>
          </p:cNvPr>
          <p:cNvGrpSpPr/>
          <p:nvPr/>
        </p:nvGrpSpPr>
        <p:grpSpPr>
          <a:xfrm>
            <a:off x="4168664" y="4284095"/>
            <a:ext cx="1982784" cy="1773061"/>
            <a:chOff x="2160588" y="3714752"/>
            <a:chExt cx="1982784" cy="1773061"/>
          </a:xfrm>
          <a:solidFill>
            <a:srgbClr val="E1F4FF"/>
          </a:solidFill>
        </p:grpSpPr>
        <p:grpSp>
          <p:nvGrpSpPr>
            <p:cNvPr id="47" name="组合 63">
              <a:extLst>
                <a:ext uri="{FF2B5EF4-FFF2-40B4-BE49-F238E27FC236}">
                  <a16:creationId xmlns:a16="http://schemas.microsoft.com/office/drawing/2014/main" id="{46BBA521-6938-47F8-BC06-C0B50A7872BC}"/>
                </a:ext>
              </a:extLst>
            </p:cNvPr>
            <p:cNvGrpSpPr/>
            <p:nvPr/>
          </p:nvGrpSpPr>
          <p:grpSpPr>
            <a:xfrm>
              <a:off x="2160588" y="3714752"/>
              <a:ext cx="1982784" cy="1773061"/>
              <a:chOff x="2160588" y="3714752"/>
              <a:chExt cx="1982784" cy="1773061"/>
            </a:xfrm>
            <a:grpFill/>
          </p:grpSpPr>
          <p:sp>
            <p:nvSpPr>
              <p:cNvPr id="56" name="Oval 4">
                <a:extLst>
                  <a:ext uri="{FF2B5EF4-FFF2-40B4-BE49-F238E27FC236}">
                    <a16:creationId xmlns:a16="http://schemas.microsoft.com/office/drawing/2014/main" id="{83B36C73-8DDD-4744-A779-84B740C51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910" y="3809863"/>
                <a:ext cx="1785462" cy="160984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cxnSp>
            <p:nvCxnSpPr>
              <p:cNvPr id="57" name="AutoShape 5">
                <a:extLst>
                  <a:ext uri="{FF2B5EF4-FFF2-40B4-BE49-F238E27FC236}">
                    <a16:creationId xmlns:a16="http://schemas.microsoft.com/office/drawing/2014/main" id="{98684E47-DD64-4EF3-A326-1C99871E4E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28860" y="4286256"/>
                <a:ext cx="1571636" cy="714380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8" name="AutoShape 6">
                <a:extLst>
                  <a:ext uri="{FF2B5EF4-FFF2-40B4-BE49-F238E27FC236}">
                    <a16:creationId xmlns:a16="http://schemas.microsoft.com/office/drawing/2014/main" id="{782A06E7-A6FB-46DA-8C3D-5BDAC5205A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491483" y="4186865"/>
                <a:ext cx="1481061" cy="822587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9" name="AutoShape 7">
                <a:extLst>
                  <a:ext uri="{FF2B5EF4-FFF2-40B4-BE49-F238E27FC236}">
                    <a16:creationId xmlns:a16="http://schemas.microsoft.com/office/drawing/2014/main" id="{9FF75074-15E2-4E2A-943E-50DDB1B87C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2428859" y="4429131"/>
                <a:ext cx="1571638" cy="4286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0" name="AutoShape 8">
                <a:extLst>
                  <a:ext uri="{FF2B5EF4-FFF2-40B4-BE49-F238E27FC236}">
                    <a16:creationId xmlns:a16="http://schemas.microsoft.com/office/drawing/2014/main" id="{7A0002B5-3F41-4AF8-8BE6-1BB0CD69B8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428860" y="4286256"/>
                <a:ext cx="1643074" cy="642942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1" name="AutoShape 9">
                <a:extLst>
                  <a:ext uri="{FF2B5EF4-FFF2-40B4-BE49-F238E27FC236}">
                    <a16:creationId xmlns:a16="http://schemas.microsoft.com/office/drawing/2014/main" id="{5F2FAE7C-90A1-40BC-9411-16E42836898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74652" y="3714752"/>
                <a:ext cx="287013" cy="311166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2" name="AutoShape 10">
                <a:extLst>
                  <a:ext uri="{FF2B5EF4-FFF2-40B4-BE49-F238E27FC236}">
                    <a16:creationId xmlns:a16="http://schemas.microsoft.com/office/drawing/2014/main" id="{0B7BD882-6718-4AEE-BEFD-B0B2EA7734F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60588" y="4419280"/>
                <a:ext cx="1196" cy="5131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3" name="AutoShape 11">
                <a:extLst>
                  <a:ext uri="{FF2B5EF4-FFF2-40B4-BE49-F238E27FC236}">
                    <a16:creationId xmlns:a16="http://schemas.microsoft.com/office/drawing/2014/main" id="{17E4759D-EEF9-4AC9-B942-6D9A5D5359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9744" y="5203654"/>
                <a:ext cx="314519" cy="284159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48" name="Text Box 12">
              <a:extLst>
                <a:ext uri="{FF2B5EF4-FFF2-40B4-BE49-F238E27FC236}">
                  <a16:creationId xmlns:a16="http://schemas.microsoft.com/office/drawing/2014/main" id="{A9BBD483-DD7B-4F83-8026-9D2B19C10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478632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C3116664-783E-4BED-9787-64E483529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442913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50" name="Text Box 12">
              <a:extLst>
                <a:ext uri="{FF2B5EF4-FFF2-40B4-BE49-F238E27FC236}">
                  <a16:creationId xmlns:a16="http://schemas.microsoft.com/office/drawing/2014/main" id="{1A8CF26D-7830-4ABD-9B54-76022CE2F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3240" y="378619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51" name="Text Box 12">
              <a:extLst>
                <a:ext uri="{FF2B5EF4-FFF2-40B4-BE49-F238E27FC236}">
                  <a16:creationId xmlns:a16="http://schemas.microsoft.com/office/drawing/2014/main" id="{14F5051D-2D8A-4C5B-93C3-1B194AA2D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174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2" name="Text Box 12">
              <a:extLst>
                <a:ext uri="{FF2B5EF4-FFF2-40B4-BE49-F238E27FC236}">
                  <a16:creationId xmlns:a16="http://schemas.microsoft.com/office/drawing/2014/main" id="{89ED3506-CACE-454A-9017-E085D020A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422" y="4357694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3" name="Text Box 12">
              <a:extLst>
                <a:ext uri="{FF2B5EF4-FFF2-40B4-BE49-F238E27FC236}">
                  <a16:creationId xmlns:a16="http://schemas.microsoft.com/office/drawing/2014/main" id="{C079C24F-8412-4662-98DA-4D4644301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500063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214D2C94-2254-4A6D-9045-0F992E07F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5" name="Text Box 12">
              <a:extLst>
                <a:ext uri="{FF2B5EF4-FFF2-40B4-BE49-F238E27FC236}">
                  <a16:creationId xmlns:a16="http://schemas.microsoft.com/office/drawing/2014/main" id="{ECD31079-D8AC-415E-9556-A201425AF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485776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09B9614-49E9-490C-A277-E51E01AF08C8}"/>
              </a:ext>
            </a:extLst>
          </p:cNvPr>
          <p:cNvSpPr txBox="1"/>
          <p:nvPr/>
        </p:nvSpPr>
        <p:spPr>
          <a:xfrm>
            <a:off x="568036" y="949038"/>
            <a:ext cx="2917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9907372-3A64-49D1-BC7C-8A15ABCC2F8A}"/>
              </a:ext>
            </a:extLst>
          </p:cNvPr>
          <p:cNvSpPr txBox="1"/>
          <p:nvPr/>
        </p:nvSpPr>
        <p:spPr>
          <a:xfrm>
            <a:off x="9326881" y="984288"/>
            <a:ext cx="244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</p:spTree>
    <p:extLst>
      <p:ext uri="{BB962C8B-B14F-4D97-AF65-F5344CB8AC3E}">
        <p14:creationId xmlns:p14="http://schemas.microsoft.com/office/powerpoint/2010/main" val="175578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A8168A9-5761-43D9-A7E9-851AE7E77E4C}"/>
              </a:ext>
            </a:extLst>
          </p:cNvPr>
          <p:cNvSpPr txBox="1">
            <a:spLocks/>
          </p:cNvSpPr>
          <p:nvPr/>
        </p:nvSpPr>
        <p:spPr>
          <a:xfrm>
            <a:off x="457200" y="1571626"/>
            <a:ext cx="9661586" cy="193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构造一个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阶有向图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 8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条边的标记是不同的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图中存在一条欧拉回路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000, 001, 011, 111, 110, 101, 010, 100.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在这条回路上连续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条边的标记的第一位恰好与第一条边的标记相同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顺着这条回路取每一条边标记的第一位得到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00011101,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按照这个顺序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标记磁鼓的扇区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56">
            <a:extLst>
              <a:ext uri="{FF2B5EF4-FFF2-40B4-BE49-F238E27FC236}">
                <a16:creationId xmlns:a16="http://schemas.microsoft.com/office/drawing/2014/main" id="{0EFD0363-4CAE-457F-BB6A-616D21E1AA1A}"/>
              </a:ext>
            </a:extLst>
          </p:cNvPr>
          <p:cNvGrpSpPr>
            <a:grpSpLocks/>
          </p:cNvGrpSpPr>
          <p:nvPr/>
        </p:nvGrpSpPr>
        <p:grpSpPr bwMode="auto">
          <a:xfrm>
            <a:off x="3759467" y="3451248"/>
            <a:ext cx="3286125" cy="3357562"/>
            <a:chOff x="5214942" y="1928802"/>
            <a:chExt cx="3286148" cy="3357586"/>
          </a:xfrm>
        </p:grpSpPr>
        <p:sp>
          <p:nvSpPr>
            <p:cNvPr id="8" name="Oval 22">
              <a:extLst>
                <a:ext uri="{FF2B5EF4-FFF2-40B4-BE49-F238E27FC236}">
                  <a16:creationId xmlns:a16="http://schemas.microsoft.com/office/drawing/2014/main" id="{7427CE4C-20E6-42A9-BC59-AD0B4F7C5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4390" y="2769212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6115F27C-481E-45E3-AE9D-942F75E2F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6312" y="4353772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Oval 24">
              <a:extLst>
                <a:ext uri="{FF2B5EF4-FFF2-40B4-BE49-F238E27FC236}">
                  <a16:creationId xmlns:a16="http://schemas.microsoft.com/office/drawing/2014/main" id="{B939C7DA-D143-4AD2-AE70-CC39B036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850" y="3520513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2B1FCE82-1C8B-4CD8-A990-425F9A955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9" y="3506853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3" name="AutoShape 26">
              <a:extLst>
                <a:ext uri="{FF2B5EF4-FFF2-40B4-BE49-F238E27FC236}">
                  <a16:creationId xmlns:a16="http://schemas.microsoft.com/office/drawing/2014/main" id="{EC556846-AA18-437D-9316-B14381D7F5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92127" y="2864832"/>
              <a:ext cx="929723" cy="6556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27">
              <a:extLst>
                <a:ext uri="{FF2B5EF4-FFF2-40B4-BE49-F238E27FC236}">
                  <a16:creationId xmlns:a16="http://schemas.microsoft.com/office/drawing/2014/main" id="{A5FA9BB9-5400-431B-81FD-0DA21EB448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24048" y="3616132"/>
              <a:ext cx="897801" cy="764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28">
              <a:extLst>
                <a:ext uri="{FF2B5EF4-FFF2-40B4-BE49-F238E27FC236}">
                  <a16:creationId xmlns:a16="http://schemas.microsoft.com/office/drawing/2014/main" id="{5EBC1CA2-CAFE-478E-A91A-F9CB37A086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808114" y="3616132"/>
              <a:ext cx="1008198" cy="7843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29">
              <a:extLst>
                <a:ext uri="{FF2B5EF4-FFF2-40B4-BE49-F238E27FC236}">
                  <a16:creationId xmlns:a16="http://schemas.microsoft.com/office/drawing/2014/main" id="{B2D8A05F-F916-44D3-948B-89F0BF5C57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08114" y="2820438"/>
              <a:ext cx="976276" cy="7000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30">
              <a:extLst>
                <a:ext uri="{FF2B5EF4-FFF2-40B4-BE49-F238E27FC236}">
                  <a16:creationId xmlns:a16="http://schemas.microsoft.com/office/drawing/2014/main" id="{EC8ECD58-3E93-4500-AB18-1A0AC154D8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41367" y="3520513"/>
              <a:ext cx="198048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31">
              <a:extLst>
                <a:ext uri="{FF2B5EF4-FFF2-40B4-BE49-F238E27FC236}">
                  <a16:creationId xmlns:a16="http://schemas.microsoft.com/office/drawing/2014/main" id="{3C99FC77-BFCA-4FD4-A076-0F368D4E9A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41367" y="3602472"/>
              <a:ext cx="198048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Arc 32">
              <a:extLst>
                <a:ext uri="{FF2B5EF4-FFF2-40B4-BE49-F238E27FC236}">
                  <a16:creationId xmlns:a16="http://schemas.microsoft.com/office/drawing/2014/main" id="{3A47269A-ABDC-4A37-B1C9-CC601F860035}"/>
                </a:ext>
              </a:extLst>
            </p:cNvPr>
            <p:cNvSpPr>
              <a:spLocks/>
            </p:cNvSpPr>
            <p:nvPr/>
          </p:nvSpPr>
          <p:spPr bwMode="auto">
            <a:xfrm rot="16501915" flipH="1">
              <a:off x="6561684" y="2235366"/>
              <a:ext cx="482653" cy="583904"/>
            </a:xfrm>
            <a:custGeom>
              <a:avLst/>
              <a:gdLst>
                <a:gd name="T0" fmla="*/ 2147483647 w 43200"/>
                <a:gd name="T1" fmla="*/ 2147483647 h 43200"/>
                <a:gd name="T2" fmla="*/ 2147483647 w 43200"/>
                <a:gd name="T3" fmla="*/ 2147483647 h 43200"/>
                <a:gd name="T4" fmla="*/ 2147483647 w 43200"/>
                <a:gd name="T5" fmla="*/ 2147483647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3200" stroke="0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Arc 33">
              <a:extLst>
                <a:ext uri="{FF2B5EF4-FFF2-40B4-BE49-F238E27FC236}">
                  <a16:creationId xmlns:a16="http://schemas.microsoft.com/office/drawing/2014/main" id="{D6AD20AF-CBD1-42E4-9C29-39841581E797}"/>
                </a:ext>
              </a:extLst>
            </p:cNvPr>
            <p:cNvSpPr>
              <a:spLocks/>
            </p:cNvSpPr>
            <p:nvPr/>
          </p:nvSpPr>
          <p:spPr bwMode="auto">
            <a:xfrm rot="5339967" flipH="1">
              <a:off x="6665430" y="4395920"/>
              <a:ext cx="482653" cy="583904"/>
            </a:xfrm>
            <a:custGeom>
              <a:avLst/>
              <a:gdLst>
                <a:gd name="T0" fmla="*/ 2147483647 w 43200"/>
                <a:gd name="T1" fmla="*/ 2147483647 h 43200"/>
                <a:gd name="T2" fmla="*/ 2147483647 w 43200"/>
                <a:gd name="T3" fmla="*/ 2147483647 h 43200"/>
                <a:gd name="T4" fmla="*/ 2147483647 w 43200"/>
                <a:gd name="T5" fmla="*/ 2147483647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3200" stroke="0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1" name="AutoShape 34">
              <a:extLst>
                <a:ext uri="{FF2B5EF4-FFF2-40B4-BE49-F238E27FC236}">
                  <a16:creationId xmlns:a16="http://schemas.microsoft.com/office/drawing/2014/main" id="{DE3CCB04-E33F-4DA2-BA26-4C09030B55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62179" y="2703880"/>
              <a:ext cx="122212" cy="653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5">
              <a:extLst>
                <a:ext uri="{FF2B5EF4-FFF2-40B4-BE49-F238E27FC236}">
                  <a16:creationId xmlns:a16="http://schemas.microsoft.com/office/drawing/2014/main" id="{DB6CD60E-635D-4A00-9636-648F720E9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929458" y="4429136"/>
              <a:ext cx="142873" cy="714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 Box 36">
              <a:extLst>
                <a:ext uri="{FF2B5EF4-FFF2-40B4-BE49-F238E27FC236}">
                  <a16:creationId xmlns:a16="http://schemas.microsoft.com/office/drawing/2014/main" id="{B225BA6A-B1E5-45C5-972A-9FB42A788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2264" y="2786058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00</a:t>
              </a:r>
              <a:endParaRPr lang="zh-CN" altLang="zh-CN" sz="2000" b="1"/>
            </a:p>
          </p:txBody>
        </p:sp>
        <p:sp>
          <p:nvSpPr>
            <p:cNvPr id="26" name="Text Box 36">
              <a:extLst>
                <a:ext uri="{FF2B5EF4-FFF2-40B4-BE49-F238E27FC236}">
                  <a16:creationId xmlns:a16="http://schemas.microsoft.com/office/drawing/2014/main" id="{5507DEF9-C978-4E1E-927A-5DF9CE2F5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5621" y="3357562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01</a:t>
              </a:r>
              <a:endParaRPr lang="zh-CN" altLang="zh-CN" sz="2000" b="1"/>
            </a:p>
          </p:txBody>
        </p:sp>
        <p:sp>
          <p:nvSpPr>
            <p:cNvPr id="27" name="Text Box 36">
              <a:extLst>
                <a:ext uri="{FF2B5EF4-FFF2-40B4-BE49-F238E27FC236}">
                  <a16:creationId xmlns:a16="http://schemas.microsoft.com/office/drawing/2014/main" id="{D50DB8D0-B88B-456A-83BC-34B4FC15A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3357562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10</a:t>
              </a:r>
              <a:endParaRPr lang="zh-CN" altLang="zh-CN" sz="2000" b="1"/>
            </a:p>
          </p:txBody>
        </p:sp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id="{6CA82A99-3DDF-43F8-A6E3-3A37D6431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9737" y="4000504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11</a:t>
              </a:r>
              <a:endParaRPr lang="zh-CN" altLang="zh-CN" sz="2000" b="1"/>
            </a:p>
          </p:txBody>
        </p:sp>
        <p:sp>
          <p:nvSpPr>
            <p:cNvPr id="29" name="Text Box 36">
              <a:extLst>
                <a:ext uri="{FF2B5EF4-FFF2-40B4-BE49-F238E27FC236}">
                  <a16:creationId xmlns:a16="http://schemas.microsoft.com/office/drawing/2014/main" id="{41F5AD75-8496-4647-A8F6-EBE740AF7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826" y="1928802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000</a:t>
              </a:r>
              <a:endParaRPr lang="zh-CN" altLang="zh-CN" sz="2000" b="1"/>
            </a:p>
          </p:txBody>
        </p:sp>
        <p:sp>
          <p:nvSpPr>
            <p:cNvPr id="30" name="Text Box 36">
              <a:extLst>
                <a:ext uri="{FF2B5EF4-FFF2-40B4-BE49-F238E27FC236}">
                  <a16:creationId xmlns:a16="http://schemas.microsoft.com/office/drawing/2014/main" id="{9F837943-2614-464F-A3AF-4FBA9BC38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206" y="278605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001</a:t>
              </a:r>
              <a:endParaRPr lang="zh-CN" altLang="zh-CN" sz="2000" b="1"/>
            </a:p>
          </p:txBody>
        </p:sp>
        <p:sp>
          <p:nvSpPr>
            <p:cNvPr id="31" name="Text Box 36">
              <a:extLst>
                <a:ext uri="{FF2B5EF4-FFF2-40B4-BE49-F238E27FC236}">
                  <a16:creationId xmlns:a16="http://schemas.microsoft.com/office/drawing/2014/main" id="{824F586F-A966-44B6-9677-1D8DFD635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8082" y="385762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011</a:t>
              </a:r>
              <a:endParaRPr lang="zh-CN" altLang="zh-CN" sz="2000" b="1"/>
            </a:p>
          </p:txBody>
        </p:sp>
        <p:sp>
          <p:nvSpPr>
            <p:cNvPr id="32" name="Text Box 36">
              <a:extLst>
                <a:ext uri="{FF2B5EF4-FFF2-40B4-BE49-F238E27FC236}">
                  <a16:creationId xmlns:a16="http://schemas.microsoft.com/office/drawing/2014/main" id="{BA1C0BA2-A86B-4213-A2C5-753B4D00F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826" y="314324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dirty="0">
                  <a:latin typeface="Times New Roman" panose="02020603050405020304" pitchFamily="18" charset="0"/>
                </a:rPr>
                <a:t>010</a:t>
              </a:r>
              <a:endParaRPr lang="zh-CN" altLang="zh-CN" sz="2000" b="1" dirty="0"/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64601AB9-C0CF-4C0C-BB71-48858EA12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6446" y="278605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100</a:t>
              </a:r>
              <a:endParaRPr lang="zh-CN" altLang="zh-CN" sz="2000" b="1"/>
            </a:p>
          </p:txBody>
        </p:sp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0C038A74-9264-4EF5-9476-11B98EE2C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826" y="3571876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dirty="0">
                  <a:latin typeface="Times New Roman" panose="02020603050405020304" pitchFamily="18" charset="0"/>
                </a:rPr>
                <a:t>101</a:t>
              </a:r>
              <a:endParaRPr lang="zh-CN" altLang="zh-CN" sz="2000" b="1" dirty="0"/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C83E8330-49EA-406B-A486-DBD494D20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3570" y="385762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110</a:t>
              </a:r>
              <a:endParaRPr lang="zh-CN" altLang="zh-CN" sz="2000" b="1"/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447AA190-2077-44F2-908D-C776EAB4E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4857760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111</a:t>
              </a:r>
              <a:endPara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组合 71">
            <a:extLst>
              <a:ext uri="{FF2B5EF4-FFF2-40B4-BE49-F238E27FC236}">
                <a16:creationId xmlns:a16="http://schemas.microsoft.com/office/drawing/2014/main" id="{11C24816-1A59-462C-8572-32AB0C50ABB4}"/>
              </a:ext>
            </a:extLst>
          </p:cNvPr>
          <p:cNvGrpSpPr/>
          <p:nvPr/>
        </p:nvGrpSpPr>
        <p:grpSpPr>
          <a:xfrm>
            <a:off x="9982868" y="1635785"/>
            <a:ext cx="1982784" cy="1773061"/>
            <a:chOff x="2160588" y="3714752"/>
            <a:chExt cx="1982784" cy="1773061"/>
          </a:xfrm>
          <a:solidFill>
            <a:srgbClr val="E1F4FF"/>
          </a:solidFill>
        </p:grpSpPr>
        <p:grpSp>
          <p:nvGrpSpPr>
            <p:cNvPr id="38" name="组合 63">
              <a:extLst>
                <a:ext uri="{FF2B5EF4-FFF2-40B4-BE49-F238E27FC236}">
                  <a16:creationId xmlns:a16="http://schemas.microsoft.com/office/drawing/2014/main" id="{0B9E43DE-A80C-4BF7-B892-2077EADE3836}"/>
                </a:ext>
              </a:extLst>
            </p:cNvPr>
            <p:cNvGrpSpPr/>
            <p:nvPr/>
          </p:nvGrpSpPr>
          <p:grpSpPr>
            <a:xfrm>
              <a:off x="2160588" y="3714752"/>
              <a:ext cx="1982784" cy="1773061"/>
              <a:chOff x="2160588" y="3714752"/>
              <a:chExt cx="1982784" cy="1773061"/>
            </a:xfrm>
            <a:grpFill/>
          </p:grpSpPr>
          <p:sp>
            <p:nvSpPr>
              <p:cNvPr id="47" name="Oval 4">
                <a:extLst>
                  <a:ext uri="{FF2B5EF4-FFF2-40B4-BE49-F238E27FC236}">
                    <a16:creationId xmlns:a16="http://schemas.microsoft.com/office/drawing/2014/main" id="{978CC5BC-8A1D-4F63-A8DF-7E44A1088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910" y="3809863"/>
                <a:ext cx="1785462" cy="160984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cxnSp>
            <p:nvCxnSpPr>
              <p:cNvPr id="48" name="AutoShape 5">
                <a:extLst>
                  <a:ext uri="{FF2B5EF4-FFF2-40B4-BE49-F238E27FC236}">
                    <a16:creationId xmlns:a16="http://schemas.microsoft.com/office/drawing/2014/main" id="{2FE53199-443D-4430-82BB-E8B0C94930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28860" y="4286256"/>
                <a:ext cx="1571636" cy="714380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9" name="AutoShape 6">
                <a:extLst>
                  <a:ext uri="{FF2B5EF4-FFF2-40B4-BE49-F238E27FC236}">
                    <a16:creationId xmlns:a16="http://schemas.microsoft.com/office/drawing/2014/main" id="{19C22041-BF1E-443D-B5EE-B7D86F46DB8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491483" y="4186865"/>
                <a:ext cx="1481061" cy="822587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0" name="AutoShape 7">
                <a:extLst>
                  <a:ext uri="{FF2B5EF4-FFF2-40B4-BE49-F238E27FC236}">
                    <a16:creationId xmlns:a16="http://schemas.microsoft.com/office/drawing/2014/main" id="{97782E89-21B6-4A2E-B51F-2F2A6A40B4F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2428859" y="4429131"/>
                <a:ext cx="1571638" cy="4286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" name="AutoShape 8">
                <a:extLst>
                  <a:ext uri="{FF2B5EF4-FFF2-40B4-BE49-F238E27FC236}">
                    <a16:creationId xmlns:a16="http://schemas.microsoft.com/office/drawing/2014/main" id="{D9F1875E-7505-438E-BDC0-E991BAC957A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428860" y="4286256"/>
                <a:ext cx="1643074" cy="642942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" name="AutoShape 9">
                <a:extLst>
                  <a:ext uri="{FF2B5EF4-FFF2-40B4-BE49-F238E27FC236}">
                    <a16:creationId xmlns:a16="http://schemas.microsoft.com/office/drawing/2014/main" id="{66B61BCD-1099-4AFA-91D6-7FA49B2809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74652" y="3714752"/>
                <a:ext cx="287013" cy="311166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" name="AutoShape 10">
                <a:extLst>
                  <a:ext uri="{FF2B5EF4-FFF2-40B4-BE49-F238E27FC236}">
                    <a16:creationId xmlns:a16="http://schemas.microsoft.com/office/drawing/2014/main" id="{0C2AA562-71DD-43AB-8565-2CA1D2640E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60588" y="4419280"/>
                <a:ext cx="1196" cy="5131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4" name="AutoShape 11">
                <a:extLst>
                  <a:ext uri="{FF2B5EF4-FFF2-40B4-BE49-F238E27FC236}">
                    <a16:creationId xmlns:a16="http://schemas.microsoft.com/office/drawing/2014/main" id="{FA316DA0-6A4F-4DBF-8207-B24F9D3391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9744" y="5203654"/>
                <a:ext cx="314519" cy="284159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39" name="Text Box 12">
              <a:extLst>
                <a:ext uri="{FF2B5EF4-FFF2-40B4-BE49-F238E27FC236}">
                  <a16:creationId xmlns:a16="http://schemas.microsoft.com/office/drawing/2014/main" id="{6A144407-4D2D-450B-8814-55D582003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478632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0" name="Text Box 12">
              <a:extLst>
                <a:ext uri="{FF2B5EF4-FFF2-40B4-BE49-F238E27FC236}">
                  <a16:creationId xmlns:a16="http://schemas.microsoft.com/office/drawing/2014/main" id="{2CECAAF9-5078-4678-87F6-3FB23B950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442913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57AFBBD0-9F71-4A0A-9E58-A81F72E96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3240" y="378619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2" name="Text Box 12">
              <a:extLst>
                <a:ext uri="{FF2B5EF4-FFF2-40B4-BE49-F238E27FC236}">
                  <a16:creationId xmlns:a16="http://schemas.microsoft.com/office/drawing/2014/main" id="{5EE647B4-43D6-4CC1-AF8B-7552D4CF4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174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3" name="Text Box 12">
              <a:extLst>
                <a:ext uri="{FF2B5EF4-FFF2-40B4-BE49-F238E27FC236}">
                  <a16:creationId xmlns:a16="http://schemas.microsoft.com/office/drawing/2014/main" id="{4D72F679-61C0-48CD-8BD7-A42DB668B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422" y="4357694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4" name="Text Box 12">
              <a:extLst>
                <a:ext uri="{FF2B5EF4-FFF2-40B4-BE49-F238E27FC236}">
                  <a16:creationId xmlns:a16="http://schemas.microsoft.com/office/drawing/2014/main" id="{58214132-B915-4188-9CAA-9C57E5508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500063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5" name="Text Box 12">
              <a:extLst>
                <a:ext uri="{FF2B5EF4-FFF2-40B4-BE49-F238E27FC236}">
                  <a16:creationId xmlns:a16="http://schemas.microsoft.com/office/drawing/2014/main" id="{19EC3616-D4CB-41C4-BB90-D68DD78BD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6" name="Text Box 12">
              <a:extLst>
                <a:ext uri="{FF2B5EF4-FFF2-40B4-BE49-F238E27FC236}">
                  <a16:creationId xmlns:a16="http://schemas.microsoft.com/office/drawing/2014/main" id="{4B93245D-1D06-4BB9-A278-572A81FC0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485776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D9995262-6469-4960-93D7-337CD887E0D1}"/>
              </a:ext>
            </a:extLst>
          </p:cNvPr>
          <p:cNvSpPr txBox="1"/>
          <p:nvPr/>
        </p:nvSpPr>
        <p:spPr>
          <a:xfrm>
            <a:off x="568036" y="949038"/>
            <a:ext cx="2917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64F56F4-158C-49D7-A74B-8A2802B95480}"/>
              </a:ext>
            </a:extLst>
          </p:cNvPr>
          <p:cNvSpPr txBox="1"/>
          <p:nvPr/>
        </p:nvSpPr>
        <p:spPr>
          <a:xfrm>
            <a:off x="9326881" y="984288"/>
            <a:ext cx="244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</p:spTree>
    <p:extLst>
      <p:ext uri="{BB962C8B-B14F-4D97-AF65-F5344CB8AC3E}">
        <p14:creationId xmlns:p14="http://schemas.microsoft.com/office/powerpoint/2010/main" val="295250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1616C32-EFDE-4E36-AB78-548C744D0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93" y="1890233"/>
            <a:ext cx="8229600" cy="369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是否是哈密顿图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Picture 8" descr="15-6">
            <a:extLst>
              <a:ext uri="{FF2B5EF4-FFF2-40B4-BE49-F238E27FC236}">
                <a16:creationId xmlns:a16="http://schemas.microsoft.com/office/drawing/2014/main" id="{163361F4-3F1B-4210-A5EF-50E84E992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5" r="-1547" b="19881"/>
          <a:stretch>
            <a:fillRect/>
          </a:stretch>
        </p:blipFill>
        <p:spPr bwMode="auto">
          <a:xfrm>
            <a:off x="1809929" y="2633483"/>
            <a:ext cx="7929563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6E916A94-4C8F-4A77-AA1D-7C0879AFB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679" y="4633733"/>
            <a:ext cx="1643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D1B65CBB-830B-417F-A44F-E4939B422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815" y="4633733"/>
            <a:ext cx="1643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416347C3-1882-45C1-9587-91878AF29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753" y="4633733"/>
            <a:ext cx="2071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半哈密顿图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55523BE3-8935-4C5A-B019-EAFA7732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3792" y="4647180"/>
            <a:ext cx="1143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BF6F58-DC17-44EA-AD55-9146140C0500}"/>
              </a:ext>
            </a:extLst>
          </p:cNvPr>
          <p:cNvSpPr txBox="1"/>
          <p:nvPr/>
        </p:nvSpPr>
        <p:spPr>
          <a:xfrm>
            <a:off x="568036" y="949038"/>
            <a:ext cx="3538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8FB29E-3380-4F39-B332-55C533E3583A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3E7C1D-3A69-42D0-ACC4-A777127E7D62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769DC0-321A-4EC8-99A7-DD855B155DC8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17895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99465C1-508E-41A4-81B6-98E0D09E9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38" y="1647280"/>
            <a:ext cx="11381955" cy="74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阶无向连通简单图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zh-CN" altLang="en-US" sz="2400" b="1" kern="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割点或桥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515150A8-683A-444B-9AF9-993956947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13" y="2195673"/>
            <a:ext cx="105676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证 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为割点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2&gt;|{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}|=1.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根据定理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143AE256-59AA-4D1A-9702-D9E7D7D79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660" y="2890339"/>
            <a:ext cx="106883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有桥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它显然不是哈密顿图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其他的有桥连通图均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有割点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(1),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得证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BFE403-8D7B-441E-A6A0-04320B6CEDF8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</a:t>
            </a:r>
            <a:r>
              <a:rPr lang="zh-CN" altLang="en-US"/>
              <a:t>哈密顿回路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D4FF4-89C3-4088-9BCD-CD00ACDA963B}"/>
              </a:ext>
            </a:extLst>
          </p:cNvPr>
          <p:cNvSpPr txBox="1"/>
          <p:nvPr/>
        </p:nvSpPr>
        <p:spPr>
          <a:xfrm>
            <a:off x="4606515" y="984288"/>
            <a:ext cx="2631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72901A-16E2-438B-9838-D8D6141BB477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14AC5C-026A-452E-A4F1-388C8DC906D7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9D3A3EE-19FC-42ED-8EB0-5EE3FBBB5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15" y="4126019"/>
            <a:ext cx="11381955" cy="74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证明下图均不是哈密顿图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AE417D-B40D-4DB3-9A9D-7A928911F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539" y="4848348"/>
            <a:ext cx="1103231" cy="9878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A027D5-00EF-4B8A-97C1-4628574AA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929" y="4825160"/>
            <a:ext cx="1473467" cy="99069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9E80102-8CFF-4746-82B7-B592E550C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612" y="4701367"/>
            <a:ext cx="1468475" cy="105305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3AFA52C-9ED9-44DB-A4B8-547AB0CE7317}"/>
              </a:ext>
            </a:extLst>
          </p:cNvPr>
          <p:cNvSpPr txBox="1"/>
          <p:nvPr/>
        </p:nvSpPr>
        <p:spPr>
          <a:xfrm>
            <a:off x="1010207" y="6101834"/>
            <a:ext cx="2210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=2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CDC5342-93A3-44AE-AC78-E6BD3F99E5E9}"/>
              </a:ext>
            </a:extLst>
          </p:cNvPr>
          <p:cNvSpPr txBox="1"/>
          <p:nvPr/>
        </p:nvSpPr>
        <p:spPr>
          <a:xfrm>
            <a:off x="6675892" y="6092862"/>
            <a:ext cx="151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=4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5C940D7-992D-4E81-8BA4-435A96702411}"/>
              </a:ext>
            </a:extLst>
          </p:cNvPr>
          <p:cNvSpPr txBox="1"/>
          <p:nvPr/>
        </p:nvSpPr>
        <p:spPr>
          <a:xfrm>
            <a:off x="3654784" y="6083894"/>
            <a:ext cx="151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=6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03144A2-DAF9-45CD-8B27-DB7832D0E1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772" y="6492688"/>
            <a:ext cx="331694" cy="33169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AFC15BF-51C7-440C-A466-14A90AAA7B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852" y="6492688"/>
            <a:ext cx="331694" cy="33169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D5ABCD8-22FF-49B9-9F2C-651182A33E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380" y="6492688"/>
            <a:ext cx="331694" cy="33169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5E2B674-870E-4BC3-A906-97F489AA8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580" y="4570223"/>
            <a:ext cx="1633802" cy="123450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66CC1F24-C07D-4F6B-9238-F98931088577}"/>
              </a:ext>
            </a:extLst>
          </p:cNvPr>
          <p:cNvSpPr txBox="1"/>
          <p:nvPr/>
        </p:nvSpPr>
        <p:spPr>
          <a:xfrm>
            <a:off x="9894222" y="6070451"/>
            <a:ext cx="1511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满足必要条件</a:t>
            </a:r>
            <a:endParaRPr lang="en-US" altLang="zh-CN" sz="16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但不是</a:t>
            </a:r>
          </a:p>
        </p:txBody>
      </p:sp>
    </p:spTree>
    <p:extLst>
      <p:ext uri="{BB962C8B-B14F-4D97-AF65-F5344CB8AC3E}">
        <p14:creationId xmlns:p14="http://schemas.microsoft.com/office/powerpoint/2010/main" val="412913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20" grpId="0"/>
      <p:bldP spid="24" grpId="0"/>
      <p:bldP spid="25" grpId="0"/>
      <p:bldP spid="3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99465C1-508E-41A4-81B6-98E0D09E9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38" y="1647280"/>
            <a:ext cx="11381955" cy="74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判断下图哪些有哈密顿回路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BFE403-8D7B-441E-A6A0-04320B6CEDF8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</a:t>
            </a:r>
            <a:r>
              <a:rPr lang="zh-CN" altLang="en-US"/>
              <a:t>哈密顿回路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D4FF4-89C3-4088-9BCD-CD00ACDA963B}"/>
              </a:ext>
            </a:extLst>
          </p:cNvPr>
          <p:cNvSpPr txBox="1"/>
          <p:nvPr/>
        </p:nvSpPr>
        <p:spPr>
          <a:xfrm>
            <a:off x="4606515" y="984288"/>
            <a:ext cx="2631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72901A-16E2-438B-9838-D8D6141BB477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14AC5C-026A-452E-A4F1-388C8DC906D7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03144A2-DAF9-45CD-8B27-DB7832D0E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896" y="5154705"/>
            <a:ext cx="331694" cy="33169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AFC15BF-51C7-440C-A466-14A90AAA7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5154705"/>
            <a:ext cx="331694" cy="33169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D5ABCD8-22FF-49B9-9F2C-651182A33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388" y="5154705"/>
            <a:ext cx="331694" cy="3316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2AF4D39-D8EA-4112-81DF-507B08907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53" y="2610093"/>
            <a:ext cx="10239935" cy="197417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3A704B8-76E3-4D5F-8A01-3374F20DEF79}"/>
              </a:ext>
            </a:extLst>
          </p:cNvPr>
          <p:cNvSpPr txBox="1"/>
          <p:nvPr/>
        </p:nvSpPr>
        <p:spPr>
          <a:xfrm>
            <a:off x="1023653" y="4743682"/>
            <a:ext cx="2210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有割点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、桥</a:t>
            </a:r>
            <a:r>
              <a:rPr lang="en-US" altLang="zh-CN" sz="1600" b="1" i="1" kern="0" dirty="0">
                <a:latin typeface="黑体" panose="02010609060101010101" pitchFamily="49" charset="-122"/>
                <a:ea typeface="黑体" panose="02010609060101010101" pitchFamily="49" charset="-122"/>
              </a:rPr>
              <a:t>ae</a:t>
            </a:r>
            <a:endParaRPr lang="zh-CN" altLang="en-US" sz="1600" b="1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997B71-D2AB-4186-9E9B-1DD62E8607C6}"/>
              </a:ext>
            </a:extLst>
          </p:cNvPr>
          <p:cNvSpPr txBox="1"/>
          <p:nvPr/>
        </p:nvSpPr>
        <p:spPr>
          <a:xfrm>
            <a:off x="3657036" y="4633864"/>
            <a:ext cx="22103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取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r>
              <a:rPr kumimoji="0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p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=5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en-US" sz="1600" b="1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CE096A1-6405-480E-A728-2ACF61154013}"/>
              </a:ext>
            </a:extLst>
          </p:cNvPr>
          <p:cNvSpPr txBox="1"/>
          <p:nvPr/>
        </p:nvSpPr>
        <p:spPr>
          <a:xfrm>
            <a:off x="7233944" y="4768331"/>
            <a:ext cx="491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6730099-3F80-48AC-880F-0E8201BDBC80}"/>
              </a:ext>
            </a:extLst>
          </p:cNvPr>
          <p:cNvSpPr txBox="1"/>
          <p:nvPr/>
        </p:nvSpPr>
        <p:spPr>
          <a:xfrm>
            <a:off x="9416099" y="4631622"/>
            <a:ext cx="1880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取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r>
              <a:rPr kumimoji="0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p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=5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en-US" sz="1600" b="1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738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7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6696398-E6FB-451D-AFFF-5CF4EBFCA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176" y="1540085"/>
            <a:ext cx="10896450" cy="187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某次国际会议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人参加，已知每人至少与其余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人中的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人有共同语言，问服务员能否将他们安排在同一张圆桌就座，使得每个人都能与两边的人交谈？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A1941B8B-2687-4F62-89B1-18B7C9688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343" y="3133934"/>
            <a:ext cx="11050437" cy="222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 作无向图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为与会者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u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有共同语言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}.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为简单图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根据条件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于是，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)+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由定理可知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为哈密顿图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服务员在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中找一条哈密顿回路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中相邻关系安排座位即可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E15243-E6F2-4D8D-B489-623C591E02CB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</a:t>
            </a:r>
            <a:r>
              <a:rPr lang="zh-CN" altLang="en-US"/>
              <a:t>哈密顿回路</a:t>
            </a: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0115D6-B591-4F7C-8D82-94182B830156}"/>
              </a:ext>
            </a:extLst>
          </p:cNvPr>
          <p:cNvSpPr txBox="1"/>
          <p:nvPr/>
        </p:nvSpPr>
        <p:spPr>
          <a:xfrm>
            <a:off x="4606515" y="984288"/>
            <a:ext cx="2631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0DAE78-4A14-411D-8660-43236437317B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E4FE74-6DDE-4E4F-9C8A-722D1ECCC322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4078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264D114D-295E-4FF5-8721-4F02E1314F23}"/>
              </a:ext>
            </a:extLst>
          </p:cNvPr>
          <p:cNvSpPr txBox="1">
            <a:spLocks/>
          </p:cNvSpPr>
          <p:nvPr/>
        </p:nvSpPr>
        <p:spPr bwMode="auto">
          <a:xfrm>
            <a:off x="595222" y="1702096"/>
            <a:ext cx="11379384" cy="1972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为了确定圆盘停止旋转后的位置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把圆盘划分成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个扇区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每个扇区分配一个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0-1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串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要用某种电子装置读取扇区的赋值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当圆盘停止旋转后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如果电子装置处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于一个扇区的内部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它将能够正确的读出这个扇区的赋值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如果电子装置恰好处于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两个扇区的边界上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就可能出问题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如何赋值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才能将可能出现的误差减少到最小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" name="组合 38">
            <a:extLst>
              <a:ext uri="{FF2B5EF4-FFF2-40B4-BE49-F238E27FC236}">
                <a16:creationId xmlns:a16="http://schemas.microsoft.com/office/drawing/2014/main" id="{DDD32128-B500-4458-A88D-6A61F90B9E69}"/>
              </a:ext>
            </a:extLst>
          </p:cNvPr>
          <p:cNvGrpSpPr>
            <a:grpSpLocks/>
          </p:cNvGrpSpPr>
          <p:nvPr/>
        </p:nvGrpSpPr>
        <p:grpSpPr bwMode="auto">
          <a:xfrm>
            <a:off x="2795497" y="4421574"/>
            <a:ext cx="6848475" cy="1571625"/>
            <a:chOff x="1285852" y="4786323"/>
            <a:chExt cx="6849136" cy="1571636"/>
          </a:xfrm>
        </p:grpSpPr>
        <p:sp>
          <p:nvSpPr>
            <p:cNvPr id="33" name="Text Box 19">
              <a:extLst>
                <a:ext uri="{FF2B5EF4-FFF2-40B4-BE49-F238E27FC236}">
                  <a16:creationId xmlns:a16="http://schemas.microsoft.com/office/drawing/2014/main" id="{1710A4F9-0150-4B45-B47F-C5FC72E12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670" y="516824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4" name="组合 30">
              <a:extLst>
                <a:ext uri="{FF2B5EF4-FFF2-40B4-BE49-F238E27FC236}">
                  <a16:creationId xmlns:a16="http://schemas.microsoft.com/office/drawing/2014/main" id="{7F567C5B-5B23-413A-BFC7-AFB7FFAB88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5852" y="4786323"/>
              <a:ext cx="6849136" cy="1571636"/>
              <a:chOff x="1366202" y="5410223"/>
              <a:chExt cx="4634558" cy="947735"/>
            </a:xfrm>
          </p:grpSpPr>
          <p:pic>
            <p:nvPicPr>
              <p:cNvPr id="42" name="Picture 5" descr="8T13b">
                <a:extLst>
                  <a:ext uri="{FF2B5EF4-FFF2-40B4-BE49-F238E27FC236}">
                    <a16:creationId xmlns:a16="http://schemas.microsoft.com/office/drawing/2014/main" id="{EA27E2EF-1EA4-4315-849F-404EE6C33B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42" r="70869" b="84076"/>
              <a:stretch>
                <a:fillRect/>
              </a:stretch>
            </p:blipFill>
            <p:spPr bwMode="auto">
              <a:xfrm>
                <a:off x="2517380" y="5410223"/>
                <a:ext cx="3483380" cy="947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" name="Oval 8">
                <a:extLst>
                  <a:ext uri="{FF2B5EF4-FFF2-40B4-BE49-F238E27FC236}">
                    <a16:creationId xmlns:a16="http://schemas.microsoft.com/office/drawing/2014/main" id="{72B797BA-7D2C-494B-A65D-85E98A501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282" y="5428634"/>
                <a:ext cx="840683" cy="82594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4" name="AutoShape 9">
                <a:extLst>
                  <a:ext uri="{FF2B5EF4-FFF2-40B4-BE49-F238E27FC236}">
                    <a16:creationId xmlns:a16="http://schemas.microsoft.com/office/drawing/2014/main" id="{78C118FC-A27A-44C2-969A-627D918481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81130" y="5539733"/>
                <a:ext cx="614003" cy="60247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10">
                <a:extLst>
                  <a:ext uri="{FF2B5EF4-FFF2-40B4-BE49-F238E27FC236}">
                    <a16:creationId xmlns:a16="http://schemas.microsoft.com/office/drawing/2014/main" id="{E8473CB8-B2F4-4493-AEE7-008F6EB5902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481130" y="5539733"/>
                <a:ext cx="614003" cy="60247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AutoShape 11">
                <a:extLst>
                  <a:ext uri="{FF2B5EF4-FFF2-40B4-BE49-F238E27FC236}">
                    <a16:creationId xmlns:a16="http://schemas.microsoft.com/office/drawing/2014/main" id="{695C87B3-57AD-43A8-AE13-3297ED8D9C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797973" y="5428634"/>
                <a:ext cx="635" cy="83610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AutoShape 12">
                <a:extLst>
                  <a:ext uri="{FF2B5EF4-FFF2-40B4-BE49-F238E27FC236}">
                    <a16:creationId xmlns:a16="http://schemas.microsoft.com/office/drawing/2014/main" id="{4E4898AB-32B1-4029-88AC-BB5C031C89A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366202" y="5844463"/>
                <a:ext cx="845763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AutoShape 26">
                <a:extLst>
                  <a:ext uri="{FF2B5EF4-FFF2-40B4-BE49-F238E27FC236}">
                    <a16:creationId xmlns:a16="http://schemas.microsoft.com/office/drawing/2014/main" id="{66CC8212-306B-429B-912D-64DE0953909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2489" y="5452758"/>
                <a:ext cx="0" cy="79039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AutoShape 27">
                <a:extLst>
                  <a:ext uri="{FF2B5EF4-FFF2-40B4-BE49-F238E27FC236}">
                    <a16:creationId xmlns:a16="http://schemas.microsoft.com/office/drawing/2014/main" id="{9061AF82-13B5-43CE-AEB8-6384059E352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57866" y="5437522"/>
                <a:ext cx="0" cy="79039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5" name="Text Box 19">
              <a:extLst>
                <a:ext uri="{FF2B5EF4-FFF2-40B4-BE49-F238E27FC236}">
                  <a16:creationId xmlns:a16="http://schemas.microsoft.com/office/drawing/2014/main" id="{89F440D3-1D33-42FE-BF42-DCFA105E1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56" y="4857760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19">
              <a:extLst>
                <a:ext uri="{FF2B5EF4-FFF2-40B4-BE49-F238E27FC236}">
                  <a16:creationId xmlns:a16="http://schemas.microsoft.com/office/drawing/2014/main" id="{A1DDFB1C-EAF4-4AA8-8A3B-644D29995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166" y="4857760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AAAF2828-B0F2-4BC9-B8FA-B55C1DF2D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516824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E8E89600-6E55-4957-92B7-67876E671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670" y="552543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019B9318-C208-4D88-B847-DBEAC4E61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552543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19">
              <a:extLst>
                <a:ext uri="{FF2B5EF4-FFF2-40B4-BE49-F238E27FC236}">
                  <a16:creationId xmlns:a16="http://schemas.microsoft.com/office/drawing/2014/main" id="{250D5FDE-9BB6-45B8-B0DD-50B37273E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56" y="5811184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19">
              <a:extLst>
                <a:ext uri="{FF2B5EF4-FFF2-40B4-BE49-F238E27FC236}">
                  <a16:creationId xmlns:a16="http://schemas.microsoft.com/office/drawing/2014/main" id="{55211BB2-41DF-4FB4-9BF5-520A06C50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166" y="5811184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C300F78-D934-4F0C-98D3-A987B5E9FD96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D6779F-183B-47E8-BCCE-AA3D1EECC640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C40E216-B43C-40C2-A744-0815608137CC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A4261A8-452C-41C1-9040-4E3CB542EBDC}"/>
              </a:ext>
            </a:extLst>
          </p:cNvPr>
          <p:cNvSpPr txBox="1"/>
          <p:nvPr/>
        </p:nvSpPr>
        <p:spPr>
          <a:xfrm>
            <a:off x="8379127" y="995794"/>
            <a:ext cx="1236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297284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CB36AADC-154F-48A7-9D21-A5D90B997D70}"/>
              </a:ext>
            </a:extLst>
          </p:cNvPr>
          <p:cNvSpPr txBox="1">
            <a:spLocks/>
          </p:cNvSpPr>
          <p:nvPr/>
        </p:nvSpPr>
        <p:spPr bwMode="auto">
          <a:xfrm>
            <a:off x="527049" y="1732619"/>
            <a:ext cx="11037421" cy="909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格雷码相邻的两个以及最后一个和第一个之间只有一位不同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0-1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串序列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 000, 001, 011, 010, 110, 111, 101, 100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是一个格雷码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60" name="组合 60">
            <a:extLst>
              <a:ext uri="{FF2B5EF4-FFF2-40B4-BE49-F238E27FC236}">
                <a16:creationId xmlns:a16="http://schemas.microsoft.com/office/drawing/2014/main" id="{804DD946-D0FC-40FE-9F11-2E7110886AE1}"/>
              </a:ext>
            </a:extLst>
          </p:cNvPr>
          <p:cNvGrpSpPr>
            <a:grpSpLocks/>
          </p:cNvGrpSpPr>
          <p:nvPr/>
        </p:nvGrpSpPr>
        <p:grpSpPr bwMode="auto">
          <a:xfrm>
            <a:off x="3282890" y="4205017"/>
            <a:ext cx="4644785" cy="2273870"/>
            <a:chOff x="3000364" y="5000636"/>
            <a:chExt cx="4214842" cy="1785950"/>
          </a:xfrm>
        </p:grpSpPr>
        <p:grpSp>
          <p:nvGrpSpPr>
            <p:cNvPr id="61" name="组合 48">
              <a:extLst>
                <a:ext uri="{FF2B5EF4-FFF2-40B4-BE49-F238E27FC236}">
                  <a16:creationId xmlns:a16="http://schemas.microsoft.com/office/drawing/2014/main" id="{185970B7-044E-4A6A-A210-E5E6D12E4A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2464" y="5260747"/>
              <a:ext cx="3562676" cy="1240087"/>
              <a:chOff x="3152464" y="5484731"/>
              <a:chExt cx="1994535" cy="684553"/>
            </a:xfrm>
          </p:grpSpPr>
          <p:sp>
            <p:nvSpPr>
              <p:cNvPr id="74" name="Oval 9">
                <a:extLst>
                  <a:ext uri="{FF2B5EF4-FFF2-40B4-BE49-F238E27FC236}">
                    <a16:creationId xmlns:a16="http://schemas.microsoft.com/office/drawing/2014/main" id="{556D35F1-1E5B-4273-B948-B5B9C28F6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464" y="5576089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Oval 10">
                <a:extLst>
                  <a:ext uri="{FF2B5EF4-FFF2-40B4-BE49-F238E27FC236}">
                    <a16:creationId xmlns:a16="http://schemas.microsoft.com/office/drawing/2014/main" id="{45320496-048E-475E-82FD-FA198F10C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0624" y="5583702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6" name="AutoShape 11">
                <a:extLst>
                  <a:ext uri="{FF2B5EF4-FFF2-40B4-BE49-F238E27FC236}">
                    <a16:creationId xmlns:a16="http://schemas.microsoft.com/office/drawing/2014/main" id="{3339AC2B-7452-425A-968A-39DA5FDF65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03899" y="5598294"/>
                <a:ext cx="4679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7" name="Oval 12">
                <a:extLst>
                  <a:ext uri="{FF2B5EF4-FFF2-40B4-BE49-F238E27FC236}">
                    <a16:creationId xmlns:a16="http://schemas.microsoft.com/office/drawing/2014/main" id="{405CC54D-DEC3-4176-AA7A-87C954681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0084" y="6010041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Oval 13">
                <a:extLst>
                  <a:ext uri="{FF2B5EF4-FFF2-40B4-BE49-F238E27FC236}">
                    <a16:creationId xmlns:a16="http://schemas.microsoft.com/office/drawing/2014/main" id="{6A0BAD06-E026-4898-A236-523320E77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8244" y="6017654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9" name="AutoShape 14">
                <a:extLst>
                  <a:ext uri="{FF2B5EF4-FFF2-40B4-BE49-F238E27FC236}">
                    <a16:creationId xmlns:a16="http://schemas.microsoft.com/office/drawing/2014/main" id="{B6582976-5A1A-48F7-80C4-E5C224CF4E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11519" y="6032246"/>
                <a:ext cx="4679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AutoShape 15">
                <a:extLst>
                  <a:ext uri="{FF2B5EF4-FFF2-40B4-BE49-F238E27FC236}">
                    <a16:creationId xmlns:a16="http://schemas.microsoft.com/office/drawing/2014/main" id="{CB4867F4-30C7-4014-983D-587C5EE98F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82944" y="5628747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AutoShape 16">
                <a:extLst>
                  <a:ext uri="{FF2B5EF4-FFF2-40B4-BE49-F238E27FC236}">
                    <a16:creationId xmlns:a16="http://schemas.microsoft.com/office/drawing/2014/main" id="{667B570B-8D29-47A3-A7FB-3D1A919365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701104" y="5628747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" name="Oval 17">
                <a:extLst>
                  <a:ext uri="{FF2B5EF4-FFF2-40B4-BE49-F238E27FC236}">
                    <a16:creationId xmlns:a16="http://schemas.microsoft.com/office/drawing/2014/main" id="{7EF432F1-4E17-4729-ADD4-31E6573BF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084" y="5484731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" name="Oval 18">
                <a:extLst>
                  <a:ext uri="{FF2B5EF4-FFF2-40B4-BE49-F238E27FC236}">
                    <a16:creationId xmlns:a16="http://schemas.microsoft.com/office/drawing/2014/main" id="{2F57F7B9-37F0-4BFF-8E3A-25F42930B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1244" y="5492344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4" name="AutoShape 19">
                <a:extLst>
                  <a:ext uri="{FF2B5EF4-FFF2-40B4-BE49-F238E27FC236}">
                    <a16:creationId xmlns:a16="http://schemas.microsoft.com/office/drawing/2014/main" id="{20C6EC14-8D7D-47A9-9910-EB08454071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54519" y="5506936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5" name="Oval 20">
                <a:extLst>
                  <a:ext uri="{FF2B5EF4-FFF2-40B4-BE49-F238E27FC236}">
                    <a16:creationId xmlns:a16="http://schemas.microsoft.com/office/drawing/2014/main" id="{84D460EC-1B4A-4EA4-A356-6D8E9FD19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704" y="5918683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Oval 21">
                <a:extLst>
                  <a:ext uri="{FF2B5EF4-FFF2-40B4-BE49-F238E27FC236}">
                    <a16:creationId xmlns:a16="http://schemas.microsoft.com/office/drawing/2014/main" id="{F40490D2-5963-420C-809C-255036D5A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8864" y="5926296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7" name="AutoShape 22">
                <a:extLst>
                  <a:ext uri="{FF2B5EF4-FFF2-40B4-BE49-F238E27FC236}">
                    <a16:creationId xmlns:a16="http://schemas.microsoft.com/office/drawing/2014/main" id="{5FE48AB9-D776-47B1-AC3D-3259ED5A73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62139" y="5940888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AutoShape 23">
                <a:extLst>
                  <a:ext uri="{FF2B5EF4-FFF2-40B4-BE49-F238E27FC236}">
                    <a16:creationId xmlns:a16="http://schemas.microsoft.com/office/drawing/2014/main" id="{079B0BD6-4796-4108-9FB5-48724236B54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33564" y="5537389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AutoShape 24">
                <a:extLst>
                  <a:ext uri="{FF2B5EF4-FFF2-40B4-BE49-F238E27FC236}">
                    <a16:creationId xmlns:a16="http://schemas.microsoft.com/office/drawing/2014/main" id="{98B1D403-7891-4ACD-B6FF-71B615411B9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51724" y="5537389"/>
                <a:ext cx="0" cy="381294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0" name="Oval 25">
                <a:extLst>
                  <a:ext uri="{FF2B5EF4-FFF2-40B4-BE49-F238E27FC236}">
                    <a16:creationId xmlns:a16="http://schemas.microsoft.com/office/drawing/2014/main" id="{FDC7848B-20BD-4FA4-9969-0A3AD241E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9784" y="5682674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Oval 26">
                <a:extLst>
                  <a:ext uri="{FF2B5EF4-FFF2-40B4-BE49-F238E27FC236}">
                    <a16:creationId xmlns:a16="http://schemas.microsoft.com/office/drawing/2014/main" id="{1F8154A6-01CE-42DD-AC8E-356E4B2D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7944" y="5690287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92" name="AutoShape 27">
                <a:extLst>
                  <a:ext uri="{FF2B5EF4-FFF2-40B4-BE49-F238E27FC236}">
                    <a16:creationId xmlns:a16="http://schemas.microsoft.com/office/drawing/2014/main" id="{D730450E-5F2B-4AE4-9D57-AC2B6745BAC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21219" y="5704879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3" name="Oval 28">
                <a:extLst>
                  <a:ext uri="{FF2B5EF4-FFF2-40B4-BE49-F238E27FC236}">
                    <a16:creationId xmlns:a16="http://schemas.microsoft.com/office/drawing/2014/main" id="{AEC806F2-5C61-43DE-ADA6-FDB42D908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404" y="6116626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Oval 29">
                <a:extLst>
                  <a:ext uri="{FF2B5EF4-FFF2-40B4-BE49-F238E27FC236}">
                    <a16:creationId xmlns:a16="http://schemas.microsoft.com/office/drawing/2014/main" id="{99A3B398-0458-427C-BF07-888E9AF61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5564" y="6124239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95" name="AutoShape 30">
                <a:extLst>
                  <a:ext uri="{FF2B5EF4-FFF2-40B4-BE49-F238E27FC236}">
                    <a16:creationId xmlns:a16="http://schemas.microsoft.com/office/drawing/2014/main" id="{FB07E635-8644-47B6-A072-EBD7BC2BFE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28839" y="6138831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6" name="AutoShape 31">
                <a:extLst>
                  <a:ext uri="{FF2B5EF4-FFF2-40B4-BE49-F238E27FC236}">
                    <a16:creationId xmlns:a16="http://schemas.microsoft.com/office/drawing/2014/main" id="{FAA69031-C187-4833-87D2-CC5324E147F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00264" y="5735332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7" name="AutoShape 32">
                <a:extLst>
                  <a:ext uri="{FF2B5EF4-FFF2-40B4-BE49-F238E27FC236}">
                    <a16:creationId xmlns:a16="http://schemas.microsoft.com/office/drawing/2014/main" id="{28A00496-0E86-4995-BA55-5F073A62C57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18424" y="5748555"/>
                <a:ext cx="0" cy="381294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8" name="AutoShape 33">
                <a:extLst>
                  <a:ext uri="{FF2B5EF4-FFF2-40B4-BE49-F238E27FC236}">
                    <a16:creationId xmlns:a16="http://schemas.microsoft.com/office/drawing/2014/main" id="{2444F587-1355-4787-ABDE-5E75081B146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72679" y="5529776"/>
                <a:ext cx="224155" cy="16051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" name="AutoShape 34">
                <a:extLst>
                  <a:ext uri="{FF2B5EF4-FFF2-40B4-BE49-F238E27FC236}">
                    <a16:creationId xmlns:a16="http://schemas.microsoft.com/office/drawing/2014/main" id="{1A61F5DE-E5E9-4A9E-971D-93E17E736E7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72679" y="5963727"/>
                <a:ext cx="224155" cy="16051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0" name="AutoShape 35">
                <a:extLst>
                  <a:ext uri="{FF2B5EF4-FFF2-40B4-BE49-F238E27FC236}">
                    <a16:creationId xmlns:a16="http://schemas.microsoft.com/office/drawing/2014/main" id="{6E98C20A-BB3F-42E1-B3DD-0058DA3F1E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46899" y="5522162"/>
                <a:ext cx="224155" cy="160511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" name="AutoShape 36">
                <a:extLst>
                  <a:ext uri="{FF2B5EF4-FFF2-40B4-BE49-F238E27FC236}">
                    <a16:creationId xmlns:a16="http://schemas.microsoft.com/office/drawing/2014/main" id="{6F3175A2-8B75-409F-81AD-DF5F5B89C7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39279" y="5963727"/>
                <a:ext cx="224155" cy="160511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2" name="Text Box 42">
              <a:extLst>
                <a:ext uri="{FF2B5EF4-FFF2-40B4-BE49-F238E27FC236}">
                  <a16:creationId xmlns:a16="http://schemas.microsoft.com/office/drawing/2014/main" id="{F2F2D3BC-0BE5-4B96-8724-6ACA876BD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36" y="5000636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Text Box 42">
              <a:extLst>
                <a:ext uri="{FF2B5EF4-FFF2-40B4-BE49-F238E27FC236}">
                  <a16:creationId xmlns:a16="http://schemas.microsoft.com/office/drawing/2014/main" id="{628EC454-7D76-4028-8328-2745B9149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5446412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42">
              <a:extLst>
                <a:ext uri="{FF2B5EF4-FFF2-40B4-BE49-F238E27FC236}">
                  <a16:creationId xmlns:a16="http://schemas.microsoft.com/office/drawing/2014/main" id="{B3B2733D-95F7-483A-A9D1-C3CB5A15E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6286520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Text Box 42">
              <a:extLst>
                <a:ext uri="{FF2B5EF4-FFF2-40B4-BE49-F238E27FC236}">
                  <a16:creationId xmlns:a16="http://schemas.microsoft.com/office/drawing/2014/main" id="{D7B1F8A9-F263-4BBF-9871-F472A6245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36" y="5803602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Text Box 42">
              <a:extLst>
                <a:ext uri="{FF2B5EF4-FFF2-40B4-BE49-F238E27FC236}">
                  <a16:creationId xmlns:a16="http://schemas.microsoft.com/office/drawing/2014/main" id="{7AC1CB61-E84F-44DC-9A7B-2951F59D0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4" y="5000636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Text Box 42">
              <a:extLst>
                <a:ext uri="{FF2B5EF4-FFF2-40B4-BE49-F238E27FC236}">
                  <a16:creationId xmlns:a16="http://schemas.microsoft.com/office/drawing/2014/main" id="{761B8869-329F-4CB2-886F-288F2E5C5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5517850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Text Box 42">
              <a:extLst>
                <a:ext uri="{FF2B5EF4-FFF2-40B4-BE49-F238E27FC236}">
                  <a16:creationId xmlns:a16="http://schemas.microsoft.com/office/drawing/2014/main" id="{54639B33-2188-4A2D-8543-A072AA325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76" y="5875040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Text Box 42">
              <a:extLst>
                <a:ext uri="{FF2B5EF4-FFF2-40B4-BE49-F238E27FC236}">
                  <a16:creationId xmlns:a16="http://schemas.microsoft.com/office/drawing/2014/main" id="{21E45CDB-5936-4A70-92A4-6367C0FBD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6375106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42">
              <a:extLst>
                <a:ext uri="{FF2B5EF4-FFF2-40B4-BE49-F238E27FC236}">
                  <a16:creationId xmlns:a16="http://schemas.microsoft.com/office/drawing/2014/main" id="{2FC7E1EB-42FA-4F02-BB38-0D3D30FF9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058" y="5153036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Text Box 42">
              <a:extLst>
                <a:ext uri="{FF2B5EF4-FFF2-40B4-BE49-F238E27FC236}">
                  <a16:creationId xmlns:a16="http://schemas.microsoft.com/office/drawing/2014/main" id="{B18F1F54-079E-4A21-9248-B766546D7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5143512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Text Box 42">
              <a:extLst>
                <a:ext uri="{FF2B5EF4-FFF2-40B4-BE49-F238E27FC236}">
                  <a16:creationId xmlns:a16="http://schemas.microsoft.com/office/drawing/2014/main" id="{C8A4905D-1AA4-4868-AA08-6846F1D2B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058" y="6303668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42">
              <a:extLst>
                <a:ext uri="{FF2B5EF4-FFF2-40B4-BE49-F238E27FC236}">
                  <a16:creationId xmlns:a16="http://schemas.microsoft.com/office/drawing/2014/main" id="{AD597057-B0D7-494D-8C73-E1A77C7BC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6303668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16E6C76C-1014-46E9-83F1-75EB8BD162DF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D3DD165-C6C1-4FE1-8ADC-09975D929637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6F978FE-CBC6-4D4C-9ED4-C6F8874711E6}"/>
              </a:ext>
            </a:extLst>
          </p:cNvPr>
          <p:cNvSpPr txBox="1"/>
          <p:nvPr/>
        </p:nvSpPr>
        <p:spPr>
          <a:xfrm>
            <a:off x="10607613" y="998665"/>
            <a:ext cx="1236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7AA526B-2FDB-4A1C-A1E9-592AA470C2EE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1E77A2FA-9C47-4D0A-A17A-47DF645D6CE6}"/>
              </a:ext>
            </a:extLst>
          </p:cNvPr>
          <p:cNvSpPr txBox="1">
            <a:spLocks/>
          </p:cNvSpPr>
          <p:nvPr/>
        </p:nvSpPr>
        <p:spPr bwMode="auto">
          <a:xfrm>
            <a:off x="497913" y="2980948"/>
            <a:ext cx="11201027" cy="1470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维立方体图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每个顶点表示一个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位串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两个顶点之间有一条边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当且仅当它们的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位串仅相差一位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图中一定存在哈密顿回路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63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977A728-87DD-42E3-89CA-3752C38FC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31" y="1783480"/>
            <a:ext cx="11388396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例 已知无向树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度顶点，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度顶点，其余顶点全是树叶，试求树叶数，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并画出满足要求的非同构的无向树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2409327A-C350-49BC-97C2-6BE87F26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72" y="2972696"/>
            <a:ext cx="7420416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树的性质</a:t>
            </a:r>
            <a:r>
              <a:rPr lang="zh-CN" altLang="zh-CN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=</a:t>
            </a:r>
            <a:r>
              <a:rPr lang="zh-CN" altLang="zh-CN" i="1" dirty="0">
                <a:solidFill>
                  <a:srgbClr val="992677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设有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片树叶，于是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1+2+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3+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2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2(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1) = 2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(2+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= 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3+2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解出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3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，故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片树叶.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C6C18143-6215-4119-8892-B63F516FD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5029527"/>
            <a:ext cx="7761287" cy="1277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 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的度数列应为 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3, 2, 2, 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1, 1, 1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易知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度顶点与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度顶点相邻与和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度顶点均相邻是非同构的，因而有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棵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非同构的无向树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，如图所示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 </a:t>
            </a:r>
          </a:p>
        </p:txBody>
      </p:sp>
      <p:pic>
        <p:nvPicPr>
          <p:cNvPr id="21" name="Picture 6" descr="16-2">
            <a:extLst>
              <a:ext uri="{FF2B5EF4-FFF2-40B4-BE49-F238E27FC236}">
                <a16:creationId xmlns:a16="http://schemas.microsoft.com/office/drawing/2014/main" id="{31BEA527-FA0F-44EF-BB81-1227D3DD1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67"/>
          <a:stretch>
            <a:fillRect/>
          </a:stretch>
        </p:blipFill>
        <p:spPr bwMode="auto">
          <a:xfrm>
            <a:off x="8596641" y="4134567"/>
            <a:ext cx="3167063" cy="260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CF78475-099F-45E0-B3F3-2A012070C33A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563021-098D-4A58-A4FA-0F2B3B729428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01CAEC-CE1B-48CC-9845-2EED001BFB19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9D4A9B-B05D-4FCD-B796-68698013E9B1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154556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6177C43D-38A9-40D7-BE40-E8A0035AA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343" y="1891897"/>
            <a:ext cx="11205713" cy="1390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已知无向树</a:t>
            </a:r>
            <a:r>
              <a:rPr lang="en-US" altLang="zh-CN" sz="24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片树叶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度与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度顶点各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其余顶点的度数均为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阶数</a:t>
            </a:r>
            <a:r>
              <a:rPr lang="en-US" altLang="zh-CN" sz="24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并画出满足要求的所有非同构的无向树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</p:txBody>
      </p:sp>
      <p:pic>
        <p:nvPicPr>
          <p:cNvPr id="26" name="Picture 5" descr="16-3">
            <a:extLst>
              <a:ext uri="{FF2B5EF4-FFF2-40B4-BE49-F238E27FC236}">
                <a16:creationId xmlns:a16="http://schemas.microsoft.com/office/drawing/2014/main" id="{550CB5AA-8A99-43D1-A21C-E1673FFF2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61" b="53911"/>
          <a:stretch>
            <a:fillRect/>
          </a:stretch>
        </p:blipFill>
        <p:spPr bwMode="auto">
          <a:xfrm>
            <a:off x="8225706" y="4589329"/>
            <a:ext cx="993775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5">
            <a:extLst>
              <a:ext uri="{FF2B5EF4-FFF2-40B4-BE49-F238E27FC236}">
                <a16:creationId xmlns:a16="http://schemas.microsoft.com/office/drawing/2014/main" id="{AC7D8789-8DA6-4CAE-B1FB-099ADAAA8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63" y="3302016"/>
            <a:ext cx="1088060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  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的阶数为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则边数为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度顶点的个数为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由握手定理得</a:t>
            </a:r>
          </a:p>
          <a:p>
            <a:pPr algn="just"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=2(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)=5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1+3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1+4(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解得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=8, 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0C805D3F-4A8D-4D0A-AF7C-627350C40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5" y="5371396"/>
            <a:ext cx="414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的度数列为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1,1,1,1,1,2,3,4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7D76BEAE-FBE6-43F0-92F7-697396641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5" y="5977821"/>
            <a:ext cx="3857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棵非同构的无向树 </a:t>
            </a:r>
          </a:p>
        </p:txBody>
      </p:sp>
      <p:pic>
        <p:nvPicPr>
          <p:cNvPr id="30" name="Picture 5" descr="16-3">
            <a:extLst>
              <a:ext uri="{FF2B5EF4-FFF2-40B4-BE49-F238E27FC236}">
                <a16:creationId xmlns:a16="http://schemas.microsoft.com/office/drawing/2014/main" id="{CA68267B-64FA-47CB-9655-F8EA53D38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1" r="41948" b="52252"/>
          <a:stretch>
            <a:fillRect/>
          </a:stretch>
        </p:blipFill>
        <p:spPr bwMode="auto">
          <a:xfrm>
            <a:off x="9219481" y="4594092"/>
            <a:ext cx="128587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5" descr="16-3">
            <a:extLst>
              <a:ext uri="{FF2B5EF4-FFF2-40B4-BE49-F238E27FC236}">
                <a16:creationId xmlns:a16="http://schemas.microsoft.com/office/drawing/2014/main" id="{BE27A4A5-7FCC-4385-9C92-D0193C36A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8" r="59686" b="52126"/>
          <a:stretch>
            <a:fillRect/>
          </a:stretch>
        </p:blipFill>
        <p:spPr bwMode="auto">
          <a:xfrm>
            <a:off x="10576794" y="4594092"/>
            <a:ext cx="10001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CABF6BC-6D2C-46F9-87E8-771AD2F297C5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CEBDAE-ED52-48BA-9013-E4C19CC11901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B8BA56-1D40-4B50-ADA6-DE6336C089FC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0996F3-C3D0-4B84-B61A-67971A2B7364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341975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9" name="灯片编号占位符 4">
            <a:extLst>
              <a:ext uri="{FF2B5EF4-FFF2-40B4-BE49-F238E27FC236}">
                <a16:creationId xmlns:a16="http://schemas.microsoft.com/office/drawing/2014/main" id="{080C329C-8A3A-4AF9-99D6-2618A0F0F294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fld id="{37614138-8B97-4D57-A8F8-49F1B242B3C6}" type="slidenum">
              <a:rPr lang="en-US" altLang="zh-CN" smtClean="0">
                <a:solidFill>
                  <a:srgbClr val="000000"/>
                </a:solidFill>
                <a:latin typeface="Arial Black" panose="020B0A04020102020204" pitchFamily="34" charset="0"/>
              </a:rPr>
              <a:pPr eaLnBrk="1" hangingPunct="1"/>
              <a:t>126</a:t>
            </a:fld>
            <a:endParaRPr lang="en-US" altLang="zh-CN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879012E-5E98-40C6-B162-12A86EB46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90" y="1593192"/>
            <a:ext cx="10964174" cy="1589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7.4 </a:t>
            </a:r>
          </a:p>
          <a:p>
            <a:pPr marL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是连通图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的一棵生成树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的每一条树枝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存在唯一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的由树枝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其余的边都是弦的割集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kern="0" baseline="-25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称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kern="0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为对应树枝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基本割集</a:t>
            </a:r>
            <a:r>
              <a:rPr lang="zh-CN" sz="2400" b="1" kern="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称所有基本割集的集合为对应生成树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基本割集系统</a:t>
            </a:r>
            <a:r>
              <a:rPr lang="en-US" altLang="zh-CN" sz="2400" b="1" kern="0" dirty="0">
                <a:latin typeface="Times New Roman" pitchFamily="18" charset="0"/>
              </a:rPr>
              <a:t>.</a:t>
            </a:r>
          </a:p>
        </p:txBody>
      </p:sp>
      <p:pic>
        <p:nvPicPr>
          <p:cNvPr id="21" name="Picture 6" descr="16-5">
            <a:extLst>
              <a:ext uri="{FF2B5EF4-FFF2-40B4-BE49-F238E27FC236}">
                <a16:creationId xmlns:a16="http://schemas.microsoft.com/office/drawing/2014/main" id="{E4F4F671-6B34-46C2-870B-C37626B2B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0" r="20482" b="39070"/>
          <a:stretch>
            <a:fillRect/>
          </a:stretch>
        </p:blipFill>
        <p:spPr bwMode="auto">
          <a:xfrm>
            <a:off x="6800491" y="4702175"/>
            <a:ext cx="2741613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70F36B2C-6A0D-4699-B06B-53416C28E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04" y="3902193"/>
            <a:ext cx="10964174" cy="215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eaLnBrk="1" hangingPunct="1">
              <a:lnSpc>
                <a:spcPct val="90000"/>
              </a:lnSpc>
              <a:spcBef>
                <a:spcPts val="3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求基本割集的算法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: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en-US" altLang="zh-CN" sz="2400" b="1" i="1" kern="0" dirty="0">
                <a:latin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的树枝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dirty="0" err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kern="0" dirty="0" err="1">
                <a:latin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由两棵子树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组成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</a:rPr>
              <a:t>  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 | </a:t>
            </a:r>
            <a:r>
              <a:rPr lang="en-US" altLang="zh-CN" sz="2400" b="1" i="1" kern="0" dirty="0" err="1">
                <a:latin typeface="Times New Roman" pitchFamily="18" charset="0"/>
              </a:rPr>
              <a:t>e</a:t>
            </a:r>
            <a:r>
              <a:rPr lang="en-US" altLang="zh-CN" sz="2400" b="1" kern="0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kern="0" dirty="0" err="1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(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的两个端点分别属于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2</a:t>
            </a:r>
            <a:r>
              <a:rPr lang="en-US" altLang="zh-CN" sz="2400" b="1" kern="0" dirty="0">
                <a:latin typeface="Times New Roman" pitchFamily="18" charset="0"/>
              </a:rPr>
              <a:t>} 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b="1" kern="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zh-CN" altLang="en-US" sz="2400" b="1" kern="0" dirty="0">
                <a:latin typeface="Times New Roman" pitchFamily="18" charset="0"/>
              </a:rPr>
              <a:t>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b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b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</a:rPr>
              <a:t>        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c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c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</a:rPr>
              <a:t>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d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d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</a:rPr>
              <a:t>          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zh-CN" altLang="en-US" sz="2400" b="1" kern="0" baseline="-30000" dirty="0">
                <a:latin typeface="Times New Roman" pitchFamily="18" charset="0"/>
              </a:rPr>
              <a:t>基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b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c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d</a:t>
            </a:r>
            <a:r>
              <a:rPr lang="en-US" altLang="zh-CN" sz="2400" b="1" kern="0" dirty="0">
                <a:latin typeface="Times New Roman" pitchFamily="18" charset="0"/>
              </a:rPr>
              <a:t>}.</a:t>
            </a:r>
            <a:endParaRPr lang="en-US" altLang="zh-CN" sz="2400" b="1" kern="0" dirty="0">
              <a:latin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4AAC07-F03C-4AC4-8550-80E6952DEE46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1DBD79-4516-44DD-884C-B438D6166A68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FDEBFB-B939-4322-B730-F2899E3B1F97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464A3F-2552-4097-AA27-E67E67833F31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166513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98AF77F-B5BB-4D8C-8848-229CF94EA0B8}"/>
              </a:ext>
            </a:extLst>
          </p:cNvPr>
          <p:cNvSpPr txBox="1">
            <a:spLocks/>
          </p:cNvSpPr>
          <p:nvPr/>
        </p:nvSpPr>
        <p:spPr>
          <a:xfrm>
            <a:off x="569343" y="1865082"/>
            <a:ext cx="8229600" cy="3278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基本回路的性质</a:t>
            </a:r>
          </a:p>
        </p:txBody>
      </p:sp>
      <p:sp>
        <p:nvSpPr>
          <p:cNvPr id="79" name="内容占位符 2">
            <a:extLst>
              <a:ext uri="{FF2B5EF4-FFF2-40B4-BE49-F238E27FC236}">
                <a16:creationId xmlns:a16="http://schemas.microsoft.com/office/drawing/2014/main" id="{3667014C-0FA6-45F0-AD0C-84A62368C799}"/>
              </a:ext>
            </a:extLst>
          </p:cNvPr>
          <p:cNvSpPr txBox="1">
            <a:spLocks/>
          </p:cNvSpPr>
          <p:nvPr/>
        </p:nvSpPr>
        <p:spPr bwMode="auto">
          <a:xfrm>
            <a:off x="560716" y="2517818"/>
            <a:ext cx="1009290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连通图中的任一条回路都可以表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示成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对应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所含弦的基本回路的合并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0" name="Picture 6" descr="16-5">
            <a:extLst>
              <a:ext uri="{FF2B5EF4-FFF2-40B4-BE49-F238E27FC236}">
                <a16:creationId xmlns:a16="http://schemas.microsoft.com/office/drawing/2014/main" id="{CD4DE9FD-B24E-4D4C-BDBC-C63422E89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0" r="20482" b="39070"/>
          <a:stretch>
            <a:fillRect/>
          </a:stretch>
        </p:blipFill>
        <p:spPr bwMode="auto">
          <a:xfrm>
            <a:off x="6003443" y="3435332"/>
            <a:ext cx="2741613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内容占位符 2">
            <a:extLst>
              <a:ext uri="{FF2B5EF4-FFF2-40B4-BE49-F238E27FC236}">
                <a16:creationId xmlns:a16="http://schemas.microsoft.com/office/drawing/2014/main" id="{05A7CB0B-D6F0-4716-843B-D4B94DDB259A}"/>
              </a:ext>
            </a:extLst>
          </p:cNvPr>
          <p:cNvSpPr txBox="1">
            <a:spLocks/>
          </p:cNvSpPr>
          <p:nvPr/>
        </p:nvSpPr>
        <p:spPr>
          <a:xfrm>
            <a:off x="707364" y="3492600"/>
            <a:ext cx="8229600" cy="2176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aedg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Cg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bcdgfe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Cg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7F6115-7DB3-4356-8975-7579B2D9FAD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34FEAE-52FC-45F4-BA05-4E0B07FE4DD3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E5F7F6-616C-4820-843F-F709064FE2EC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A5B1B3-55F9-4230-98C6-293EA8120ABF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CCF8840-4714-4EFB-8FBB-A281D3150EE6}"/>
              </a:ext>
            </a:extLst>
          </p:cNvPr>
          <p:cNvSpPr txBox="1">
            <a:spLocks noChangeArrowheads="1"/>
          </p:cNvSpPr>
          <p:nvPr/>
        </p:nvSpPr>
        <p:spPr>
          <a:xfrm>
            <a:off x="1499166" y="5700485"/>
            <a:ext cx="7127249" cy="8478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由前页：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,   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, 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 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</a:rPr>
              <a:t>,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000" b="1" baseline="-30000" dirty="0">
                <a:latin typeface="黑体" panose="02010609060101010101" pitchFamily="49" charset="-122"/>
                <a:ea typeface="黑体" panose="02010609060101010101" pitchFamily="49" charset="-122"/>
              </a:rPr>
              <a:t>基</a:t>
            </a:r>
            <a:r>
              <a:rPr lang="en-US" altLang="zh-CN" sz="2000" b="1" dirty="0">
                <a:latin typeface="Times New Roman" panose="02020603050405020304" pitchFamily="18" charset="0"/>
              </a:rPr>
              <a:t>={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</a:rPr>
              <a:t>}. </a:t>
            </a:r>
          </a:p>
        </p:txBody>
      </p:sp>
    </p:spTree>
    <p:extLst>
      <p:ext uri="{BB962C8B-B14F-4D97-AF65-F5344CB8AC3E}">
        <p14:creationId xmlns:p14="http://schemas.microsoft.com/office/powerpoint/2010/main" val="187158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E21FFF7D-6D4F-4459-A1B6-42DAA530C65C}"/>
              </a:ext>
            </a:extLst>
          </p:cNvPr>
          <p:cNvSpPr txBox="1">
            <a:spLocks/>
          </p:cNvSpPr>
          <p:nvPr/>
        </p:nvSpPr>
        <p:spPr>
          <a:xfrm>
            <a:off x="543463" y="1705490"/>
            <a:ext cx="8229600" cy="6987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基本割集的性质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1C63D9B6-C59F-49C4-BF31-03E09BF0A12A}"/>
              </a:ext>
            </a:extLst>
          </p:cNvPr>
          <p:cNvSpPr txBox="1">
            <a:spLocks/>
          </p:cNvSpPr>
          <p:nvPr/>
        </p:nvSpPr>
        <p:spPr>
          <a:xfrm>
            <a:off x="526210" y="2573882"/>
            <a:ext cx="11153955" cy="29617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连通图中的任一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割集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都可以表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所含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树枝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的基本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割集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对称差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6" descr="16-5">
            <a:extLst>
              <a:ext uri="{FF2B5EF4-FFF2-40B4-BE49-F238E27FC236}">
                <a16:creationId xmlns:a16="http://schemas.microsoft.com/office/drawing/2014/main" id="{8737F434-AB7A-44D5-A6DC-7DA8EB866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0" r="20482" b="39070"/>
          <a:stretch>
            <a:fillRect/>
          </a:stretch>
        </p:blipFill>
        <p:spPr bwMode="auto">
          <a:xfrm>
            <a:off x="5459484" y="3342737"/>
            <a:ext cx="2741613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6AD914-5327-488A-AF18-2022B52FA57E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2386F9-36D8-4CAC-ADEB-312AA1949692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1A84F1-B6AA-4253-B772-D35F7CC88948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CFB056-40E1-4D9E-98BC-2C4BFC025371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251C0D-31A3-4D60-8AEA-98FDC4778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540" y="5705271"/>
            <a:ext cx="7374588" cy="827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eaLnBrk="1" hangingPunct="1">
              <a:lnSpc>
                <a:spcPct val="90000"/>
              </a:lnSpc>
              <a:spcBef>
                <a:spcPts val="3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由前页：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a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a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f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  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b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b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e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f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    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c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c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e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f</a:t>
            </a:r>
            <a:r>
              <a:rPr lang="en-US" altLang="zh-CN" sz="2000" b="1" kern="0" dirty="0">
                <a:latin typeface="Times New Roman" pitchFamily="18" charset="0"/>
              </a:rPr>
              <a:t>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d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d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0" dirty="0">
                <a:latin typeface="Times New Roman" pitchFamily="18" charset="0"/>
              </a:rPr>
              <a:t>               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zh-CN" altLang="en-US" sz="2000" b="1" kern="0" baseline="-30000" dirty="0">
                <a:latin typeface="黑体" panose="02010609060101010101" pitchFamily="49" charset="-122"/>
                <a:ea typeface="黑体" panose="02010609060101010101" pitchFamily="49" charset="-122"/>
              </a:rPr>
              <a:t>基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a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b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c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d</a:t>
            </a:r>
            <a:r>
              <a:rPr lang="en-US" altLang="zh-CN" sz="2000" b="1" kern="0" dirty="0">
                <a:latin typeface="Times New Roman" pitchFamily="18" charset="0"/>
              </a:rPr>
              <a:t>}.</a:t>
            </a:r>
            <a:endParaRPr lang="en-US" altLang="zh-CN" sz="2000" b="1" kern="0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2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2AF0317-BBAC-4F69-B76E-DF80AE7A7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35" y="159621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    求图的一棵最小生成树.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0C6A83C-350A-4E9A-9A36-35D86CDCB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919" y="5390469"/>
            <a:ext cx="57252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所求最小生成树如图所示，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W(T)=38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B6CF9E-87A8-454A-9CD9-FC273F3E533F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58D4C4-C619-48CA-AD5A-6553BD6CAFE3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E03F80-665A-4699-86B3-3B6BB4D20BDC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44C3B5-DFAF-4A08-9933-FBBA96317932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最小生成树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99D478-FDA9-49B9-9F81-9D5B9119E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172" y="2457973"/>
            <a:ext cx="2685212" cy="21976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4DCDC3-9E93-4F03-9274-ED2CF10A4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557" y="2457973"/>
            <a:ext cx="2793660" cy="202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9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F5FF0FC-030E-47D0-979A-4C0D6E524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4" y="1627517"/>
            <a:ext cx="8229600" cy="826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根树的画法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树根放上方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省去所有有向边上的箭头</a:t>
            </a:r>
          </a:p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如右图所示</a:t>
            </a:r>
          </a:p>
        </p:txBody>
      </p:sp>
      <p:pic>
        <p:nvPicPr>
          <p:cNvPr id="16" name="Picture 7" descr="16-12(1)">
            <a:extLst>
              <a:ext uri="{FF2B5EF4-FFF2-40B4-BE49-F238E27FC236}">
                <a16:creationId xmlns:a16="http://schemas.microsoft.com/office/drawing/2014/main" id="{17FC6B27-36B4-41C0-A1EB-3C178DA9C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948" y="2817159"/>
            <a:ext cx="2099293" cy="3821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4599698A-472F-4B20-B3B3-A92EACA2A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048" y="2801891"/>
            <a:ext cx="581604" cy="60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B16AF0E-BB02-459B-B345-3D09F265C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2860162"/>
            <a:ext cx="8229600" cy="60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是树根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7EED5C7-A136-40B9-8778-68C2E1CC1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3391698"/>
            <a:ext cx="3248607" cy="61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是树叶</a:t>
            </a:r>
          </a:p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08097E8-48BD-4C9A-9809-93FDD6998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990" y="3339774"/>
            <a:ext cx="1670818" cy="61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b, e, f, h,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i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3C9DED2-2FA7-4DEA-AF63-DA93E46D1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256" y="3853005"/>
            <a:ext cx="1630479" cy="60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c, d, g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1B5BA873-6F88-4286-BE7B-4C4079A3F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3934437"/>
            <a:ext cx="3566855" cy="60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是内点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550E23F0-EFD0-47B8-BB13-81D51745F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4463728"/>
            <a:ext cx="3026732" cy="582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是分支点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9A9EA4B-566C-41D3-A23A-9B0E9879F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913" y="4411059"/>
            <a:ext cx="1408603" cy="582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a, c, d, g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753E767-072F-4422-A5A6-E061B6981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734" y="4946695"/>
            <a:ext cx="610744" cy="51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D3FB15CF-80CC-4CE0-B26C-106E00550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5616440"/>
            <a:ext cx="8229600" cy="707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  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  3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  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F803C1F7-9A95-460F-A862-E598D2805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4970607"/>
            <a:ext cx="4463326" cy="72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i="1" u="sng" kern="0" dirty="0">
                <a:latin typeface="Times New Roman" panose="02020603050405020304" pitchFamily="18" charset="0"/>
                <a:ea typeface="宋体"/>
              </a:rPr>
              <a:t>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0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B9D42A-117D-4AF5-B1FC-8CFC02C0DD2D}"/>
              </a:ext>
            </a:extLst>
          </p:cNvPr>
          <p:cNvSpPr txBox="1"/>
          <p:nvPr/>
        </p:nvSpPr>
        <p:spPr>
          <a:xfrm>
            <a:off x="2012017" y="5593975"/>
            <a:ext cx="905994" cy="48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-342900" algn="just" fontAlgn="base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 kumimoji="0" sz="2400" b="1" i="1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/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/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/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/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9pPr>
          </a:lstStyle>
          <a:p>
            <a:r>
              <a:rPr lang="en-US" altLang="zh-CN" dirty="0"/>
              <a:t>b, c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DF5336C-87E2-4CC0-89B3-49AF219D9251}"/>
              </a:ext>
            </a:extLst>
          </p:cNvPr>
          <p:cNvSpPr txBox="1"/>
          <p:nvPr/>
        </p:nvSpPr>
        <p:spPr>
          <a:xfrm>
            <a:off x="3666000" y="5651352"/>
            <a:ext cx="1195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d, e, f</a:t>
            </a: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A263FB-02DB-44BD-8E4E-A1647DD617DD}"/>
              </a:ext>
            </a:extLst>
          </p:cNvPr>
          <p:cNvSpPr txBox="1"/>
          <p:nvPr/>
        </p:nvSpPr>
        <p:spPr>
          <a:xfrm>
            <a:off x="7363946" y="5678251"/>
            <a:ext cx="798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i</a:t>
            </a:r>
            <a:endParaRPr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A53EC4-F46F-4DAA-AAA6-3B9974917F3D}"/>
              </a:ext>
            </a:extLst>
          </p:cNvPr>
          <p:cNvSpPr txBox="1"/>
          <p:nvPr/>
        </p:nvSpPr>
        <p:spPr>
          <a:xfrm>
            <a:off x="5555317" y="5644634"/>
            <a:ext cx="1470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</a:rPr>
              <a:t>g, h</a:t>
            </a:r>
            <a:endParaRPr lang="zh-CN" altLang="en-US" sz="2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0ABD288-DC75-4379-BA59-9535C336529F}"/>
              </a:ext>
            </a:extLst>
          </p:cNvPr>
          <p:cNvSpPr txBox="1"/>
          <p:nvPr/>
        </p:nvSpPr>
        <p:spPr>
          <a:xfrm>
            <a:off x="2314575" y="6313632"/>
            <a:ext cx="953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</a:t>
            </a:r>
            <a:endParaRPr lang="zh-CN" altLang="en-US" sz="2400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BB64785-6461-4402-AD09-5AEE9F31629F}"/>
              </a:ext>
            </a:extLst>
          </p:cNvPr>
          <p:cNvGrpSpPr/>
          <p:nvPr/>
        </p:nvGrpSpPr>
        <p:grpSpPr>
          <a:xfrm>
            <a:off x="1137379" y="6248825"/>
            <a:ext cx="1991309" cy="548663"/>
            <a:chOff x="1137379" y="6248825"/>
            <a:chExt cx="1991309" cy="548663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C346479B-F49B-4411-9918-3F2D6F8B8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7379" y="6248825"/>
              <a:ext cx="1991309" cy="548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marR="0" lvl="0" indent="-342900" algn="just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树高为</a:t>
              </a:r>
              <a:r>
                <a:rPr lang="zh-CN" altLang="en-US" sz="2400" b="1" u="sng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     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endParaRPr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56F509F7-54C5-48ED-BDC6-F7BF2CC16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0607" y="6670371"/>
              <a:ext cx="530398" cy="12193"/>
            </a:xfrm>
            <a:prstGeom prst="rect">
              <a:avLst/>
            </a:prstGeom>
          </p:spPr>
        </p:pic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F0938CD2-E065-45F7-8B35-579C9CFF17B0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5CCCC04-0069-4176-B4F8-13962F086952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B9F252-8104-4F6A-BBCD-11B3D60FAA03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264547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3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08B2806-C681-460B-8230-016D5B199658}"/>
              </a:ext>
            </a:extLst>
          </p:cNvPr>
          <p:cNvGrpSpPr/>
          <p:nvPr/>
        </p:nvGrpSpPr>
        <p:grpSpPr>
          <a:xfrm>
            <a:off x="533305" y="1040372"/>
            <a:ext cx="10965703" cy="2792239"/>
            <a:chOff x="490175" y="1256028"/>
            <a:chExt cx="10965703" cy="2792239"/>
          </a:xfrm>
        </p:grpSpPr>
        <p:graphicFrame>
          <p:nvGraphicFramePr>
            <p:cNvPr id="15" name="Object 4">
              <a:extLst>
                <a:ext uri="{FF2B5EF4-FFF2-40B4-BE49-F238E27FC236}">
                  <a16:creationId xmlns:a16="http://schemas.microsoft.com/office/drawing/2014/main" id="{89533977-ACC6-4591-87D9-8E2D3EC88D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5540" y="2246467"/>
            <a:ext cx="2281238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29810" imgH="431613" progId="Equation.3">
                    <p:embed/>
                  </p:oleObj>
                </mc:Choice>
                <mc:Fallback>
                  <p:oleObj name="公式" r:id="rId3" imgW="1129810" imgH="431613" progId="Equation.3">
                    <p:embed/>
                    <p:pic>
                      <p:nvPicPr>
                        <p:cNvPr id="15" name="Object 4">
                          <a:extLst>
                            <a:ext uri="{FF2B5EF4-FFF2-40B4-BE49-F238E27FC236}">
                              <a16:creationId xmlns:a16="http://schemas.microsoft.com/office/drawing/2014/main" id="{89533977-ACC6-4591-87D9-8E2D3EC88D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5540" y="2246467"/>
                          <a:ext cx="2281238" cy="863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6CAB7928-2B30-4324-BD8C-9EB333960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75" y="1256028"/>
              <a:ext cx="10965703" cy="2792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Char char="•"/>
                <a:tabLst>
                  <a:tab pos="3429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3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42900" algn="l"/>
                </a:tabLst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定义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.9</a:t>
              </a:r>
              <a:r>
                <a:rPr kumimoji="0" lang="zh-CN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叉树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片树叶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1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，权分别为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1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，称                               </a:t>
              </a:r>
              <a:endPara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42900" algn="l"/>
                </a:tabLst>
                <a:defRPr/>
              </a:pPr>
              <a:r>
                <a:rPr lang="en-US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</a:t>
              </a:r>
            </a:p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42900" algn="l"/>
                </a:tabLst>
                <a:defRPr/>
              </a:pP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  <a:r>
                <a:rPr lang="zh-CN" altLang="zh-CN" kern="0" dirty="0">
                  <a:solidFill>
                    <a:srgbClr val="992677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 </a:t>
              </a: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的权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，其中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的层数. 在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所有的含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片树叶，带权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叉树中，权最小的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叉树称为</a:t>
              </a: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最优</a:t>
              </a:r>
              <a:r>
                <a:rPr lang="zh-CN" altLang="en-US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叉树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. </a:t>
              </a:r>
            </a:p>
          </p:txBody>
        </p:sp>
      </p:grpSp>
      <p:sp>
        <p:nvSpPr>
          <p:cNvPr id="27" name="TextBox 8">
            <a:extLst>
              <a:ext uri="{FF2B5EF4-FFF2-40B4-BE49-F238E27FC236}">
                <a16:creationId xmlns:a16="http://schemas.microsoft.com/office/drawing/2014/main" id="{C7CAAB67-2EB5-4132-9CD7-FD57D2C7F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476" y="6184032"/>
            <a:ext cx="38391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(6+3)*3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4*2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(5+1) *2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= 47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E249B3AE-E3DD-46DA-AAC7-7F627EE6C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450" y="6184032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)=54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AB725ED1-5C3E-4CBF-BE18-62BF31EC3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108" y="6231097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)=42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9E5965-AFAC-4103-AB00-CEA2583F7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425" y="4020252"/>
            <a:ext cx="6205339" cy="224426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408E4A2-F8CE-4138-92B0-2F4120B57178}"/>
              </a:ext>
            </a:extLst>
          </p:cNvPr>
          <p:cNvSpPr txBox="1"/>
          <p:nvPr/>
        </p:nvSpPr>
        <p:spPr>
          <a:xfrm>
            <a:off x="9676682" y="6171860"/>
            <a:ext cx="22777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是最优二叉树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56A731-8A4D-4DD7-9A5F-EECFCEE95C62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E8DECB7-8E62-4BE7-BEAE-54D09BD911CA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3748AD-9C61-4779-A11D-D8D8102CC99D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148900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D5CB42D-9DCD-4004-B7F5-14577CDA5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214" y="1564078"/>
            <a:ext cx="8229600" cy="67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  求权为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1, 3, 4, 5, 6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的最优树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50E1863-8A48-4F21-BBB2-2AC07DC0B191}"/>
              </a:ext>
            </a:extLst>
          </p:cNvPr>
          <p:cNvSpPr txBox="1"/>
          <p:nvPr/>
        </p:nvSpPr>
        <p:spPr>
          <a:xfrm>
            <a:off x="8405935" y="5129713"/>
            <a:ext cx="37233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(1+3)*3 + 4*2 + (5+6) *2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42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0AE7A4-62EC-4036-96F7-2E28A3D04F4B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4F972F-FDD5-4484-9412-D8C70C574182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B67CCC-0E61-47BE-9D91-B470D2F5B8D3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63D5B4-DA31-4FE5-9734-B1C4F4A9A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001" y="1978041"/>
            <a:ext cx="6808099" cy="23147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35FFA9-0981-4D28-9B4D-51B0FC06A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907" y="4271237"/>
            <a:ext cx="5247275" cy="25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0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E84252D-7BE9-4362-A436-C33F20EFE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833" y="4635479"/>
            <a:ext cx="11662456" cy="1166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0" algn="just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对每个分支点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若关联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则给左边标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右边标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1; </a:t>
            </a:r>
          </a:p>
          <a:p>
            <a:pPr marL="342900" marR="0" lvl="0" indent="0" algn="just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若只关联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则可以给它标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看作左边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也可以标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看作右边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).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083466-74D0-4408-93B2-2AC31937F059}"/>
              </a:ext>
            </a:extLst>
          </p:cNvPr>
          <p:cNvSpPr txBox="1"/>
          <p:nvPr/>
        </p:nvSpPr>
        <p:spPr>
          <a:xfrm>
            <a:off x="588753" y="1562182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537588-CA4D-4B74-A19E-5BB74D776461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0D25B-2EA0-43B2-857D-327D01DCFCC3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1EB5071-909E-43C0-AADE-71ECB908CB51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5B940E-58BE-43EF-B5FD-A7C22D62E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54" y="1944020"/>
            <a:ext cx="7468588" cy="2551963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7ABC8182-EBA7-4E2D-9480-B50E3DE74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73" y="5682118"/>
            <a:ext cx="11718486" cy="116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0" algn="just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将从树根到每一片树叶的通路上标的数字组成的字符串记在树叶处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所得的字符串构成一个前缀码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71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BE09A4D-5F49-4204-87A3-739372D64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49" y="1557339"/>
            <a:ext cx="11131791" cy="318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在通信中，设八进制数字出现的频率如下：</a:t>
            </a:r>
          </a:p>
          <a:p>
            <a:pPr marL="0" indent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0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25%       1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20%      2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15%        3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10%</a:t>
            </a:r>
          </a:p>
          <a:p>
            <a:pPr marL="0" indent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  4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10%       5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10%      6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5%          7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5%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采用二元前缀码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求传输数字最少的二元前缀码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并求传输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kern="0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个按上述比例出现的八进制数字需要多少个二进制数字？若用等长的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长为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的码字传输需要多少个二进制数字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4455A3-D154-4C52-9CD2-DA5379146FE9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BA75D5-6EC1-4B92-AECB-BEC21F34CB2D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589AE4-DD30-4CEB-B2FD-E0164F5A95D9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A91337E-700E-4EA8-B3D1-F681BED09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839" y="4446214"/>
            <a:ext cx="10813544" cy="1961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解：用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Huffman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算法求以频率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乘以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100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为权的最优二叉树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这里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i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=5,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=5,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4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6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=15,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7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=20,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8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=25.  </a:t>
            </a:r>
          </a:p>
        </p:txBody>
      </p:sp>
    </p:spTree>
    <p:extLst>
      <p:ext uri="{BB962C8B-B14F-4D97-AF65-F5344CB8AC3E}">
        <p14:creationId xmlns:p14="http://schemas.microsoft.com/office/powerpoint/2010/main" val="49593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D347031-8B68-4745-A97B-231A09F37B6C}"/>
              </a:ext>
            </a:extLst>
          </p:cNvPr>
          <p:cNvSpPr txBox="1">
            <a:spLocks noChangeArrowheads="1"/>
          </p:cNvSpPr>
          <p:nvPr/>
        </p:nvSpPr>
        <p:spPr>
          <a:xfrm>
            <a:off x="522496" y="1438032"/>
            <a:ext cx="11545859" cy="556661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0---01                    4---101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1---11                    5---0001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2---001                 6---00000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3---100                 7---00001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传</a:t>
            </a:r>
            <a:r>
              <a:rPr lang="en-US" altLang="zh-CN" sz="2400" b="1" dirty="0">
                <a:latin typeface="Times New Roman" panose="02020603050405020304" pitchFamily="18" charset="0"/>
              </a:rPr>
              <a:t>100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个按比例出现的八进制数字所需二进制数字的个数为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)=285.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传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个所用二进制数字的个数为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2.85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而用等长码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长为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需要用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baseline="30000" dirty="0" err="1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个数字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499B3125-94AA-4138-A2FD-FB512CF3F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D9FCFF"/>
              </a:clrFrom>
              <a:clrTo>
                <a:srgbClr val="D9FC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2063" r="4990"/>
          <a:stretch>
            <a:fillRect/>
          </a:stretch>
        </p:blipFill>
        <p:spPr bwMode="auto">
          <a:xfrm>
            <a:off x="6548199" y="1545536"/>
            <a:ext cx="4608512" cy="341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0914354-EE27-4189-BB08-DEAAC8278E24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88EF0B-4559-4078-8BC2-FDE25AA23A0B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2457DC-1BDF-4A0F-BF3A-11716BD7A642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83225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pic>
        <p:nvPicPr>
          <p:cNvPr id="13" name="Picture 5" descr="16-13">
            <a:extLst>
              <a:ext uri="{FF2B5EF4-FFF2-40B4-BE49-F238E27FC236}">
                <a16:creationId xmlns:a16="http://schemas.microsoft.com/office/drawing/2014/main" id="{CEFEBCB3-5D97-4BB6-85D8-E7D50878B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1" b="24918"/>
          <a:stretch>
            <a:fillRect/>
          </a:stretch>
        </p:blipFill>
        <p:spPr bwMode="auto">
          <a:xfrm>
            <a:off x="7662204" y="2005909"/>
            <a:ext cx="4392612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CA7D2F0B-FD17-40B9-A192-E98B1B17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429" y="1586688"/>
            <a:ext cx="95729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lvl="0" indent="-342900" eaLnBrk="0" fontAlgn="base" hangingPunct="0">
              <a:spcAft>
                <a:spcPct val="0"/>
              </a:spcAft>
              <a:buClr>
                <a:srgbClr val="00007D"/>
              </a:buClr>
              <a:buSzPct val="75000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表示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b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+ </a:t>
            </a:r>
            <a:r>
              <a:rPr lang="en-US" altLang="zh-CN" kern="0" dirty="0">
                <a:solidFill>
                  <a:srgbClr val="92D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+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d</a:t>
            </a:r>
            <a:r>
              <a:rPr lang="en-US" altLang="zh-CN" kern="0" dirty="0">
                <a:solidFill>
                  <a:srgbClr val="92D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 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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 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e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f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+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h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j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有序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5E03D959-B8F7-42C9-8E52-6E00AC837C3F}"/>
              </a:ext>
            </a:extLst>
          </p:cNvPr>
          <p:cNvSpPr txBox="1">
            <a:spLocks/>
          </p:cNvSpPr>
          <p:nvPr/>
        </p:nvSpPr>
        <p:spPr>
          <a:xfrm>
            <a:off x="757598" y="2268747"/>
            <a:ext cx="6799142" cy="374386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中序行遍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前序行遍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((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(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)((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)((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gh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)))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后序行遍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))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)((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)((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gh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)(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)))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中序行遍的结果是原式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3DF94A-9053-4BA8-AFB5-3A6E1B97492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18DF13-5444-4EA3-A2A1-A5E50947DD0C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ED0622-FD4A-49E9-9704-6594480589CB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226479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D21F8E0-D79B-4EA1-B8E6-4E7785D45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63" y="1565429"/>
            <a:ext cx="10832051" cy="922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波兰符号法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前缀符号法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按前序行遍法访问表示算式的二叉有序树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并舍去所有括号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AFEABC-AD14-4219-8BC0-694CDF9D409E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435ABE-8F9E-4E4A-B384-41FC99D4457B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5C1987-489B-48FA-9F52-371C062D744D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9E09FB-844D-4C7D-9E2A-FFCF22F90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63" y="2681540"/>
            <a:ext cx="9944419" cy="955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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cda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gh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algn="just" eaLnBrk="1" hangingPunct="1">
              <a:spcBef>
                <a:spcPts val="0"/>
              </a:spcBef>
              <a:buClr>
                <a:srgbClr val="00007D"/>
              </a:buClr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计算方法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左到右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每个运算符号对其后紧邻的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数进行运算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274D169-376E-4F59-9EFB-662DB6E7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17" y="3950043"/>
            <a:ext cx="2214602" cy="2219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=3,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=1,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=2,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=3,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=1,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=2. 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FF7866A-C388-4450-B533-B23072614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752" y="3938838"/>
            <a:ext cx="7275177" cy="285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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+22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12, 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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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5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sym typeface="Symbol" panose="05050102010706020507" pitchFamily="18" charset="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(15)9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     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sym typeface="Symbol" panose="05050102010706020507" pitchFamily="18" charset="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(15)93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(15)9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96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  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       5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F814736-DD30-4262-8ADD-E2A6FADD4C35}"/>
              </a:ext>
            </a:extLst>
          </p:cNvPr>
          <p:cNvGrpSpPr/>
          <p:nvPr/>
        </p:nvGrpSpPr>
        <p:grpSpPr>
          <a:xfrm>
            <a:off x="9128375" y="4398907"/>
            <a:ext cx="3080959" cy="2495928"/>
            <a:chOff x="9128375" y="4398907"/>
            <a:chExt cx="3080959" cy="2495928"/>
          </a:xfrm>
        </p:grpSpPr>
        <p:pic>
          <p:nvPicPr>
            <p:cNvPr id="12" name="Picture 5" descr="16-13">
              <a:extLst>
                <a:ext uri="{FF2B5EF4-FFF2-40B4-BE49-F238E27FC236}">
                  <a16:creationId xmlns:a16="http://schemas.microsoft.com/office/drawing/2014/main" id="{D0F2B4CA-9785-43D0-B43E-4C0818884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01" b="24918"/>
            <a:stretch>
              <a:fillRect/>
            </a:stretch>
          </p:blipFill>
          <p:spPr bwMode="auto">
            <a:xfrm>
              <a:off x="9128375" y="4398907"/>
              <a:ext cx="3063625" cy="2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2FD6BC3-F09C-4B61-92EA-8136DEC9E955}"/>
                </a:ext>
              </a:extLst>
            </p:cNvPr>
            <p:cNvGrpSpPr/>
            <p:nvPr/>
          </p:nvGrpSpPr>
          <p:grpSpPr>
            <a:xfrm>
              <a:off x="9256054" y="5540188"/>
              <a:ext cx="2953280" cy="1354647"/>
              <a:chOff x="9256054" y="5540188"/>
              <a:chExt cx="2953280" cy="1354647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F3C919B-D5E2-48E7-9380-CE6C511CA475}"/>
                  </a:ext>
                </a:extLst>
              </p:cNvPr>
              <p:cNvSpPr txBox="1"/>
              <p:nvPr/>
            </p:nvSpPr>
            <p:spPr>
              <a:xfrm>
                <a:off x="10031510" y="554018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920BE5B-FD69-40F9-A6B4-A26FD0BCC07E}"/>
                  </a:ext>
                </a:extLst>
              </p:cNvPr>
              <p:cNvSpPr txBox="1"/>
              <p:nvPr/>
            </p:nvSpPr>
            <p:spPr>
              <a:xfrm>
                <a:off x="9256054" y="6109450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62D805B-95B5-4FF5-ABF4-2DD23EFC53AA}"/>
                  </a:ext>
                </a:extLst>
              </p:cNvPr>
              <p:cNvSpPr txBox="1"/>
              <p:nvPr/>
            </p:nvSpPr>
            <p:spPr>
              <a:xfrm>
                <a:off x="9558615" y="6600267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6046F8C-EAED-42E3-96C3-499D44B5CD26}"/>
                  </a:ext>
                </a:extLst>
              </p:cNvPr>
              <p:cNvSpPr txBox="1"/>
              <p:nvPr/>
            </p:nvSpPr>
            <p:spPr>
              <a:xfrm>
                <a:off x="10040467" y="6598021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73E23CF-433A-43FA-B83C-08D2F3E36D9F}"/>
                  </a:ext>
                </a:extLst>
              </p:cNvPr>
              <p:cNvSpPr txBox="1"/>
              <p:nvPr/>
            </p:nvSpPr>
            <p:spPr>
              <a:xfrm>
                <a:off x="10358723" y="5981702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72FFBCD-CB4F-4BF8-8B31-09A4C7357A4C}"/>
                  </a:ext>
                </a:extLst>
              </p:cNvPr>
              <p:cNvSpPr txBox="1"/>
              <p:nvPr/>
            </p:nvSpPr>
            <p:spPr>
              <a:xfrm>
                <a:off x="10681451" y="597498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F565D66-8D74-401D-AC4F-3FF9FC0E1AAA}"/>
                  </a:ext>
                </a:extLst>
              </p:cNvPr>
              <p:cNvSpPr txBox="1"/>
              <p:nvPr/>
            </p:nvSpPr>
            <p:spPr>
              <a:xfrm>
                <a:off x="10827127" y="657113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426B04E-BF25-459A-86B7-3D9DA8D0656C}"/>
                  </a:ext>
                </a:extLst>
              </p:cNvPr>
              <p:cNvSpPr txBox="1"/>
              <p:nvPr/>
            </p:nvSpPr>
            <p:spPr>
              <a:xfrm>
                <a:off x="11530869" y="658234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3ED1389-1F5B-42FD-BAFB-36D766E1CF00}"/>
                  </a:ext>
                </a:extLst>
              </p:cNvPr>
              <p:cNvSpPr txBox="1"/>
              <p:nvPr/>
            </p:nvSpPr>
            <p:spPr>
              <a:xfrm>
                <a:off x="11203643" y="6577848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44A795A-5726-41CB-9EA8-5691F7DCE7FD}"/>
                  </a:ext>
                </a:extLst>
              </p:cNvPr>
              <p:cNvSpPr txBox="1"/>
              <p:nvPr/>
            </p:nvSpPr>
            <p:spPr>
              <a:xfrm>
                <a:off x="11947724" y="6595776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067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DFD8187-9070-4F03-BFFC-608AAF3F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96" y="1602897"/>
            <a:ext cx="10857930" cy="104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逆波兰符号法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后缀符号法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按后序行遍法访问表示算式的二叉有序树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并舍去所有括号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30F5E7-EDBB-4E98-AD16-E37E323EC9BF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4F44D2-6956-4436-96CC-7F6EDC7BCCD6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98B26A-5C3F-46D9-81FA-C17D5F897761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7714E4E-86EC-4705-9430-6F377C820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004" y="2562120"/>
            <a:ext cx="10857930" cy="1250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bcd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gh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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计算方法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右到左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每个运算符号对其前面紧邻的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数进行运算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1004C5B-8AE4-4A6F-9E42-8C315AC9F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96" y="3862000"/>
            <a:ext cx="8126275" cy="25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3312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12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,    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3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6 ,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       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96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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22+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 ,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14+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 ,      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5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3 ,     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(15)3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    5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28CE086-A299-4A95-B392-306C72FEB307}"/>
              </a:ext>
            </a:extLst>
          </p:cNvPr>
          <p:cNvGrpSpPr/>
          <p:nvPr/>
        </p:nvGrpSpPr>
        <p:grpSpPr>
          <a:xfrm>
            <a:off x="9128375" y="4398907"/>
            <a:ext cx="3080959" cy="2495928"/>
            <a:chOff x="9128375" y="4398907"/>
            <a:chExt cx="3080959" cy="2495928"/>
          </a:xfrm>
        </p:grpSpPr>
        <p:pic>
          <p:nvPicPr>
            <p:cNvPr id="17" name="Picture 5" descr="16-13">
              <a:extLst>
                <a:ext uri="{FF2B5EF4-FFF2-40B4-BE49-F238E27FC236}">
                  <a16:creationId xmlns:a16="http://schemas.microsoft.com/office/drawing/2014/main" id="{5DA567E2-C54B-4513-9E28-5079466E5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01" b="24918"/>
            <a:stretch>
              <a:fillRect/>
            </a:stretch>
          </p:blipFill>
          <p:spPr bwMode="auto">
            <a:xfrm>
              <a:off x="9128375" y="4398907"/>
              <a:ext cx="3063625" cy="2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FE6DAC9E-6D7F-4AB9-96B2-C72A8A2DB969}"/>
                </a:ext>
              </a:extLst>
            </p:cNvPr>
            <p:cNvGrpSpPr/>
            <p:nvPr/>
          </p:nvGrpSpPr>
          <p:grpSpPr>
            <a:xfrm>
              <a:off x="9256054" y="5540188"/>
              <a:ext cx="2953280" cy="1354647"/>
              <a:chOff x="9256054" y="5540188"/>
              <a:chExt cx="2953280" cy="1354647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ECED78-6F2D-4939-B613-8099711631D7}"/>
                  </a:ext>
                </a:extLst>
              </p:cNvPr>
              <p:cNvSpPr txBox="1"/>
              <p:nvPr/>
            </p:nvSpPr>
            <p:spPr>
              <a:xfrm>
                <a:off x="10031510" y="554018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DD8EE74-CE82-4C47-9107-B9B0802E41EA}"/>
                  </a:ext>
                </a:extLst>
              </p:cNvPr>
              <p:cNvSpPr txBox="1"/>
              <p:nvPr/>
            </p:nvSpPr>
            <p:spPr>
              <a:xfrm>
                <a:off x="9256054" y="6109450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E40A35B-95CA-40D1-9AE4-1A4ED549F8AE}"/>
                  </a:ext>
                </a:extLst>
              </p:cNvPr>
              <p:cNvSpPr txBox="1"/>
              <p:nvPr/>
            </p:nvSpPr>
            <p:spPr>
              <a:xfrm>
                <a:off x="9558615" y="6600267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E59B108-9274-4505-B377-ADF14AEC4065}"/>
                  </a:ext>
                </a:extLst>
              </p:cNvPr>
              <p:cNvSpPr txBox="1"/>
              <p:nvPr/>
            </p:nvSpPr>
            <p:spPr>
              <a:xfrm>
                <a:off x="10040467" y="6598021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FC2C85B-43FE-4B0A-9EBD-DDD03749025D}"/>
                  </a:ext>
                </a:extLst>
              </p:cNvPr>
              <p:cNvSpPr txBox="1"/>
              <p:nvPr/>
            </p:nvSpPr>
            <p:spPr>
              <a:xfrm>
                <a:off x="10358723" y="5981702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7FD57E-44A9-4A59-A411-B5E871A89DAF}"/>
                  </a:ext>
                </a:extLst>
              </p:cNvPr>
              <p:cNvSpPr txBox="1"/>
              <p:nvPr/>
            </p:nvSpPr>
            <p:spPr>
              <a:xfrm>
                <a:off x="10681451" y="597498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C834835-801A-4459-B85C-6A083CAE1D66}"/>
                  </a:ext>
                </a:extLst>
              </p:cNvPr>
              <p:cNvSpPr txBox="1"/>
              <p:nvPr/>
            </p:nvSpPr>
            <p:spPr>
              <a:xfrm>
                <a:off x="10827127" y="657113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D629D3F-1323-4DA6-972E-4B98010F8D97}"/>
                  </a:ext>
                </a:extLst>
              </p:cNvPr>
              <p:cNvSpPr txBox="1"/>
              <p:nvPr/>
            </p:nvSpPr>
            <p:spPr>
              <a:xfrm>
                <a:off x="11530869" y="658234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A137994-E37A-48F1-A1C6-12C5641A935A}"/>
                  </a:ext>
                </a:extLst>
              </p:cNvPr>
              <p:cNvSpPr txBox="1"/>
              <p:nvPr/>
            </p:nvSpPr>
            <p:spPr>
              <a:xfrm>
                <a:off x="11203643" y="6577848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1F87103-4485-4A80-AEA0-66529CEDAC56}"/>
                  </a:ext>
                </a:extLst>
              </p:cNvPr>
              <p:cNvSpPr txBox="1"/>
              <p:nvPr/>
            </p:nvSpPr>
            <p:spPr>
              <a:xfrm>
                <a:off x="11947724" y="6595776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145BE26-D8B5-4007-AFD8-94B63695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893" y="3942276"/>
            <a:ext cx="883643" cy="216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DC8CCA4-B5E6-47E9-B881-DECD423A73CD}"/>
              </a:ext>
            </a:extLst>
          </p:cNvPr>
          <p:cNvSpPr txBox="1">
            <a:spLocks/>
          </p:cNvSpPr>
          <p:nvPr/>
        </p:nvSpPr>
        <p:spPr bwMode="auto">
          <a:xfrm>
            <a:off x="534836" y="1624731"/>
            <a:ext cx="11560793" cy="5072062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用二叉有序树表示下述命题公式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并写出它的波兰符号法和逆波兰符号法表达式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</a:rPr>
              <a:t>           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)((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)(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))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Symbol"/>
              </a:rPr>
              <a:t>解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  <a:sym typeface="Symbo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波兰符号法表达式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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qr</a:t>
            </a:r>
            <a:endParaRPr kumimoji="0" lang="zh-CN" altLang="en-US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Times New Roman" pitchFamily="18" charset="0"/>
            </a:endParaRPr>
          </a:p>
          <a:p>
            <a:pPr>
              <a:buClr>
                <a:srgbClr val="00007D"/>
              </a:buClr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逆波兰符号法表达式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</a:t>
            </a:r>
            <a:endParaRPr kumimoji="0" lang="zh-CN" altLang="en-US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Times New Roman" pitchFamily="18" charset="0"/>
            </a:endParaRPr>
          </a:p>
          <a:p>
            <a:pPr marR="0" lvl="0">
              <a:lnSpc>
                <a:spcPct val="100000"/>
              </a:lnSpc>
              <a:buClr>
                <a:srgbClr val="00007D"/>
              </a:buClr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注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当一元运算符在运算对象前面时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应画成</a:t>
            </a:r>
            <a:r>
              <a:rPr lang="zh-CN" altLang="en-US" sz="2400" b="1" kern="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右儿子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pSp>
        <p:nvGrpSpPr>
          <p:cNvPr id="16" name="组合 70">
            <a:extLst>
              <a:ext uri="{FF2B5EF4-FFF2-40B4-BE49-F238E27FC236}">
                <a16:creationId xmlns:a16="http://schemas.microsoft.com/office/drawing/2014/main" id="{764D855F-4579-4313-9F11-79785B9C53C1}"/>
              </a:ext>
            </a:extLst>
          </p:cNvPr>
          <p:cNvGrpSpPr>
            <a:grpSpLocks/>
          </p:cNvGrpSpPr>
          <p:nvPr/>
        </p:nvGrpSpPr>
        <p:grpSpPr bwMode="auto">
          <a:xfrm>
            <a:off x="7618203" y="2554229"/>
            <a:ext cx="3429000" cy="2714625"/>
            <a:chOff x="4214810" y="3214686"/>
            <a:chExt cx="3429024" cy="271464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FE882E1-A765-4847-ABD7-39DE5DDB2C74}"/>
                </a:ext>
              </a:extLst>
            </p:cNvPr>
            <p:cNvSpPr/>
            <p:nvPr/>
          </p:nvSpPr>
          <p:spPr>
            <a:xfrm>
              <a:off x="5429257" y="3286123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43029B7-C872-4BE8-B5BD-0395C7EB3DF8}"/>
                </a:ext>
              </a:extLst>
            </p:cNvPr>
            <p:cNvSpPr/>
            <p:nvPr/>
          </p:nvSpPr>
          <p:spPr>
            <a:xfrm>
              <a:off x="4500562" y="3857627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2E229FA-BE38-44F7-8467-E572C38A36F6}"/>
                </a:ext>
              </a:extLst>
            </p:cNvPr>
            <p:cNvSpPr/>
            <p:nvPr/>
          </p:nvSpPr>
          <p:spPr>
            <a:xfrm>
              <a:off x="6500826" y="3857627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5EBA4BA-E183-4ED4-B41A-1B3491C9D5A3}"/>
                </a:ext>
              </a:extLst>
            </p:cNvPr>
            <p:cNvSpPr/>
            <p:nvPr/>
          </p:nvSpPr>
          <p:spPr>
            <a:xfrm>
              <a:off x="6143637" y="4429131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171C9AA-E747-4F9E-9C12-C4EEB6EFEF64}"/>
                </a:ext>
              </a:extLst>
            </p:cNvPr>
            <p:cNvSpPr/>
            <p:nvPr/>
          </p:nvSpPr>
          <p:spPr>
            <a:xfrm>
              <a:off x="7000893" y="4429131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265E57E-27EA-49E6-BEB0-D46E8AF19145}"/>
                </a:ext>
              </a:extLst>
            </p:cNvPr>
            <p:cNvSpPr/>
            <p:nvPr/>
          </p:nvSpPr>
          <p:spPr>
            <a:xfrm>
              <a:off x="4857753" y="4429131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07050BD-4A74-4D59-A88C-7D71CDD722C7}"/>
                </a:ext>
              </a:extLst>
            </p:cNvPr>
            <p:cNvSpPr/>
            <p:nvPr/>
          </p:nvSpPr>
          <p:spPr>
            <a:xfrm>
              <a:off x="5857885" y="4929198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09D1315-1538-4CF7-A167-3E646C8D1307}"/>
                </a:ext>
              </a:extLst>
            </p:cNvPr>
            <p:cNvSpPr/>
            <p:nvPr/>
          </p:nvSpPr>
          <p:spPr>
            <a:xfrm>
              <a:off x="6786578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A847A6A-EFC0-4ED8-AF16-B31977742FE2}"/>
                </a:ext>
              </a:extLst>
            </p:cNvPr>
            <p:cNvSpPr/>
            <p:nvPr/>
          </p:nvSpPr>
          <p:spPr>
            <a:xfrm>
              <a:off x="7429521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8275FC0-7F30-4A34-9B95-E84764FC3F80}"/>
                </a:ext>
              </a:extLst>
            </p:cNvPr>
            <p:cNvSpPr/>
            <p:nvPr/>
          </p:nvSpPr>
          <p:spPr>
            <a:xfrm>
              <a:off x="6500826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41C41FF-581B-48F4-AC24-EAD4530B7473}"/>
                </a:ext>
              </a:extLst>
            </p:cNvPr>
            <p:cNvSpPr/>
            <p:nvPr/>
          </p:nvSpPr>
          <p:spPr>
            <a:xfrm>
              <a:off x="6215074" y="5500702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0881B4B3-0076-42CC-BBEA-289FBD6B1608}"/>
                </a:ext>
              </a:extLst>
            </p:cNvPr>
            <p:cNvSpPr/>
            <p:nvPr/>
          </p:nvSpPr>
          <p:spPr>
            <a:xfrm>
              <a:off x="5357818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D11BB07-851C-41B4-A93D-8701C2350C2A}"/>
                </a:ext>
              </a:extLst>
            </p:cNvPr>
            <p:cNvSpPr/>
            <p:nvPr/>
          </p:nvSpPr>
          <p:spPr>
            <a:xfrm>
              <a:off x="4286249" y="4500570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EDF17D0-2205-4880-B1C9-EB594A7C2473}"/>
                </a:ext>
              </a:extLst>
            </p:cNvPr>
            <p:cNvCxnSpPr>
              <a:stCxn id="17" idx="3"/>
              <a:endCxn id="18" idx="7"/>
            </p:cNvCxnSpPr>
            <p:nvPr/>
          </p:nvCxnSpPr>
          <p:spPr>
            <a:xfrm rot="5400000">
              <a:off x="4923634" y="3352005"/>
              <a:ext cx="368303" cy="72549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D5F8058-9ED8-49A0-A400-E564FE913030}"/>
                </a:ext>
              </a:extLst>
            </p:cNvPr>
            <p:cNvCxnSpPr>
              <a:stCxn id="17" idx="5"/>
              <a:endCxn id="19" idx="1"/>
            </p:cNvCxnSpPr>
            <p:nvPr/>
          </p:nvCxnSpPr>
          <p:spPr>
            <a:xfrm rot="16200000" flipH="1">
              <a:off x="5923766" y="3280567"/>
              <a:ext cx="368303" cy="8683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BC0180A-0A35-4668-BAAB-613C869AC3FB}"/>
                </a:ext>
              </a:extLst>
            </p:cNvPr>
            <p:cNvCxnSpPr>
              <a:stCxn id="18" idx="4"/>
              <a:endCxn id="30" idx="7"/>
            </p:cNvCxnSpPr>
            <p:nvPr/>
          </p:nvCxnSpPr>
          <p:spPr>
            <a:xfrm rot="5400000">
              <a:off x="4337048" y="4214818"/>
              <a:ext cx="377828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44644AF-BA8B-4142-B25E-A1729E62BF06}"/>
                </a:ext>
              </a:extLst>
            </p:cNvPr>
            <p:cNvCxnSpPr>
              <a:stCxn id="18" idx="4"/>
              <a:endCxn id="22" idx="1"/>
            </p:cNvCxnSpPr>
            <p:nvPr/>
          </p:nvCxnSpPr>
          <p:spPr>
            <a:xfrm rot="16200000" flipH="1">
              <a:off x="4607719" y="4179099"/>
              <a:ext cx="327027" cy="2555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2A298E01-10EC-4980-8061-17619DCDD8BA}"/>
                </a:ext>
              </a:extLst>
            </p:cNvPr>
            <p:cNvCxnSpPr>
              <a:stCxn id="22" idx="5"/>
              <a:endCxn id="29" idx="1"/>
            </p:cNvCxnSpPr>
            <p:nvPr/>
          </p:nvCxnSpPr>
          <p:spPr>
            <a:xfrm rot="16200000" flipH="1">
              <a:off x="5066510" y="4709327"/>
              <a:ext cx="347665" cy="27622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14A3D34-1932-4F1B-A90B-D594C55C4964}"/>
                </a:ext>
              </a:extLst>
            </p:cNvPr>
            <p:cNvCxnSpPr>
              <a:stCxn id="19" idx="4"/>
              <a:endCxn id="20" idx="7"/>
            </p:cNvCxnSpPr>
            <p:nvPr/>
          </p:nvCxnSpPr>
          <p:spPr>
            <a:xfrm rot="5400000">
              <a:off x="6352394" y="4179099"/>
              <a:ext cx="327027" cy="255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064FD42-86BA-4C18-A61D-98CAA5274B83}"/>
                </a:ext>
              </a:extLst>
            </p:cNvPr>
            <p:cNvCxnSpPr>
              <a:stCxn id="19" idx="5"/>
              <a:endCxn id="21" idx="1"/>
            </p:cNvCxnSpPr>
            <p:nvPr/>
          </p:nvCxnSpPr>
          <p:spPr>
            <a:xfrm rot="16200000" flipH="1">
              <a:off x="6709584" y="4137822"/>
              <a:ext cx="368303" cy="2968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348BFB1-1EB3-4A1F-8C7C-D274BAB7611C}"/>
                </a:ext>
              </a:extLst>
            </p:cNvPr>
            <p:cNvCxnSpPr>
              <a:stCxn id="20" idx="4"/>
              <a:endCxn id="24" idx="7"/>
            </p:cNvCxnSpPr>
            <p:nvPr/>
          </p:nvCxnSpPr>
          <p:spPr>
            <a:xfrm rot="5400000">
              <a:off x="6066642" y="4750603"/>
              <a:ext cx="255590" cy="1841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B8ED59D-C953-447F-89B1-8F46696B760B}"/>
                </a:ext>
              </a:extLst>
            </p:cNvPr>
            <p:cNvCxnSpPr>
              <a:stCxn id="20" idx="4"/>
              <a:endCxn id="27" idx="1"/>
            </p:cNvCxnSpPr>
            <p:nvPr/>
          </p:nvCxnSpPr>
          <p:spPr>
            <a:xfrm rot="16200000" flipH="1">
              <a:off x="6250793" y="4750603"/>
              <a:ext cx="306390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58FE8AA-FAEA-45F6-8F27-37F5C1A6D971}"/>
                </a:ext>
              </a:extLst>
            </p:cNvPr>
            <p:cNvCxnSpPr>
              <a:stCxn id="24" idx="4"/>
              <a:endCxn id="28" idx="1"/>
            </p:cNvCxnSpPr>
            <p:nvPr/>
          </p:nvCxnSpPr>
          <p:spPr>
            <a:xfrm rot="16200000" flipH="1">
              <a:off x="5965041" y="5250669"/>
              <a:ext cx="306389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2292295-B781-4122-B6DD-E0C09A2D9804}"/>
                </a:ext>
              </a:extLst>
            </p:cNvPr>
            <p:cNvCxnSpPr>
              <a:stCxn id="21" idx="4"/>
              <a:endCxn id="25" idx="7"/>
            </p:cNvCxnSpPr>
            <p:nvPr/>
          </p:nvCxnSpPr>
          <p:spPr>
            <a:xfrm rot="5400000">
              <a:off x="6873098" y="4750603"/>
              <a:ext cx="306390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A70C0A-06EF-476B-9A6F-62B243FC4070}"/>
                </a:ext>
              </a:extLst>
            </p:cNvPr>
            <p:cNvCxnSpPr>
              <a:stCxn id="21" idx="4"/>
              <a:endCxn id="26" idx="1"/>
            </p:cNvCxnSpPr>
            <p:nvPr/>
          </p:nvCxnSpPr>
          <p:spPr>
            <a:xfrm rot="16200000" flipH="1">
              <a:off x="7143769" y="4714883"/>
              <a:ext cx="306390" cy="3063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57">
              <a:extLst>
                <a:ext uri="{FF2B5EF4-FFF2-40B4-BE49-F238E27FC236}">
                  <a16:creationId xmlns:a16="http://schemas.microsoft.com/office/drawing/2014/main" id="{B0E4EF7D-5CB2-4240-B64F-D0BD600D5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562" y="3845486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</a:t>
              </a:r>
              <a:endParaRPr lang="zh-CN" altLang="en-US" b="1"/>
            </a:p>
          </p:txBody>
        </p:sp>
        <p:sp>
          <p:nvSpPr>
            <p:cNvPr id="44" name="TextBox 58">
              <a:extLst>
                <a:ext uri="{FF2B5EF4-FFF2-40B4-BE49-F238E27FC236}">
                  <a16:creationId xmlns:a16="http://schemas.microsoft.com/office/drawing/2014/main" id="{E9C7F722-DB99-4632-9284-892A2ACB8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892" y="4357694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</a:t>
              </a:r>
              <a:endParaRPr lang="zh-CN" altLang="en-US" b="1"/>
            </a:p>
          </p:txBody>
        </p:sp>
        <p:sp>
          <p:nvSpPr>
            <p:cNvPr id="45" name="TextBox 59">
              <a:extLst>
                <a:ext uri="{FF2B5EF4-FFF2-40B4-BE49-F238E27FC236}">
                  <a16:creationId xmlns:a16="http://schemas.microsoft.com/office/drawing/2014/main" id="{C5CF66DC-E46C-42F0-BD6E-CCBABD9DE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36" y="4345552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</a:t>
              </a:r>
              <a:endParaRPr lang="zh-CN" altLang="en-US" b="1"/>
            </a:p>
          </p:txBody>
        </p:sp>
        <p:sp>
          <p:nvSpPr>
            <p:cNvPr id="46" name="TextBox 60">
              <a:extLst>
                <a:ext uri="{FF2B5EF4-FFF2-40B4-BE49-F238E27FC236}">
                  <a16:creationId xmlns:a16="http://schemas.microsoft.com/office/drawing/2014/main" id="{67D3338F-978A-40CC-8882-CD9F5899E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3214686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</a:t>
              </a:r>
              <a:endParaRPr lang="zh-CN" altLang="en-US" b="1"/>
            </a:p>
          </p:txBody>
        </p:sp>
        <p:sp>
          <p:nvSpPr>
            <p:cNvPr id="47" name="TextBox 61">
              <a:extLst>
                <a:ext uri="{FF2B5EF4-FFF2-40B4-BE49-F238E27FC236}">
                  <a16:creationId xmlns:a16="http://schemas.microsoft.com/office/drawing/2014/main" id="{1DCF9B1C-35E1-478D-AC2A-41407EA2E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9388" y="3786190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</a:t>
              </a:r>
              <a:endParaRPr lang="zh-CN" altLang="en-US" b="1"/>
            </a:p>
          </p:txBody>
        </p:sp>
        <p:sp>
          <p:nvSpPr>
            <p:cNvPr id="48" name="TextBox 62">
              <a:extLst>
                <a:ext uri="{FF2B5EF4-FFF2-40B4-BE49-F238E27FC236}">
                  <a16:creationId xmlns:a16="http://schemas.microsoft.com/office/drawing/2014/main" id="{AFA0B03B-6FDD-4701-983E-7B6FD1C35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4" y="4357694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</a:t>
              </a:r>
              <a:endParaRPr lang="zh-CN" altLang="en-US" b="1"/>
            </a:p>
          </p:txBody>
        </p:sp>
        <p:sp>
          <p:nvSpPr>
            <p:cNvPr id="49" name="TextBox 63">
              <a:extLst>
                <a:ext uri="{FF2B5EF4-FFF2-40B4-BE49-F238E27FC236}">
                  <a16:creationId xmlns:a16="http://schemas.microsoft.com/office/drawing/2014/main" id="{CED9E627-FE2F-403F-8B34-D49BAC307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6446" y="4845618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</a:t>
              </a:r>
              <a:endParaRPr lang="zh-CN" altLang="en-US" b="1"/>
            </a:p>
          </p:txBody>
        </p:sp>
        <p:sp>
          <p:nvSpPr>
            <p:cNvPr id="50" name="TextBox 64">
              <a:extLst>
                <a:ext uri="{FF2B5EF4-FFF2-40B4-BE49-F238E27FC236}">
                  <a16:creationId xmlns:a16="http://schemas.microsoft.com/office/drawing/2014/main" id="{E353D7E0-A324-4DD4-869F-683B0A570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810" y="4572008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矩形 65">
              <a:extLst>
                <a:ext uri="{FF2B5EF4-FFF2-40B4-BE49-F238E27FC236}">
                  <a16:creationId xmlns:a16="http://schemas.microsoft.com/office/drawing/2014/main" id="{2DDDF92E-1618-4934-B406-6C6010AE9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9306" y="5559998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zh-CN" altLang="en-US"/>
            </a:p>
          </p:txBody>
        </p:sp>
        <p:sp>
          <p:nvSpPr>
            <p:cNvPr id="52" name="矩形 66">
              <a:extLst>
                <a:ext uri="{FF2B5EF4-FFF2-40B4-BE49-F238E27FC236}">
                  <a16:creationId xmlns:a16="http://schemas.microsoft.com/office/drawing/2014/main" id="{F7E52452-5462-413F-B0CC-58EA1B7BC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380" y="507207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lang="zh-CN" altLang="en-US"/>
            </a:p>
          </p:txBody>
        </p:sp>
        <p:sp>
          <p:nvSpPr>
            <p:cNvPr id="53" name="矩形 67">
              <a:extLst>
                <a:ext uri="{FF2B5EF4-FFF2-40B4-BE49-F238E27FC236}">
                  <a16:creationId xmlns:a16="http://schemas.microsoft.com/office/drawing/2014/main" id="{D33E5FE3-B71E-4975-B7E2-38EDB69CF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0810" y="507207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lang="zh-CN" altLang="en-US"/>
            </a:p>
          </p:txBody>
        </p:sp>
        <p:sp>
          <p:nvSpPr>
            <p:cNvPr id="54" name="矩形 68">
              <a:extLst>
                <a:ext uri="{FF2B5EF4-FFF2-40B4-BE49-F238E27FC236}">
                  <a16:creationId xmlns:a16="http://schemas.microsoft.com/office/drawing/2014/main" id="{B8C45650-38FD-42DE-9A6E-78B6BFED7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9388" y="5072074"/>
              <a:ext cx="2744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lang="zh-CN" altLang="en-US"/>
            </a:p>
          </p:txBody>
        </p:sp>
        <p:sp>
          <p:nvSpPr>
            <p:cNvPr id="55" name="矩形 69">
              <a:extLst>
                <a:ext uri="{FF2B5EF4-FFF2-40B4-BE49-F238E27FC236}">
                  <a16:creationId xmlns:a16="http://schemas.microsoft.com/office/drawing/2014/main" id="{11404469-C86C-4A2F-84EE-FB0BF0943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9400" y="5072074"/>
              <a:ext cx="2744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EBAC3739-2080-4EC0-9249-C80A84B6C3C4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87FF57-658D-4B0A-9F05-BB7D4F1E539F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C65BBDE-8DC4-4E5E-90BA-534356B4DB2C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149018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18994</Words>
  <Application>Microsoft Office PowerPoint</Application>
  <PresentationFormat>宽屏</PresentationFormat>
  <Paragraphs>2320</Paragraphs>
  <Slides>139</Slides>
  <Notes>120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139</vt:i4>
      </vt:variant>
    </vt:vector>
  </HeadingPairs>
  <TitlesOfParts>
    <vt:vector size="160" baseType="lpstr">
      <vt:lpstr>等线</vt:lpstr>
      <vt:lpstr>等线 Light</vt:lpstr>
      <vt:lpstr>黑体</vt:lpstr>
      <vt:lpstr>华文仿宋</vt:lpstr>
      <vt:lpstr>华文中宋</vt:lpstr>
      <vt:lpstr>宋体</vt:lpstr>
      <vt:lpstr>微软雅黑</vt:lpstr>
      <vt:lpstr>微软雅黑 Light</vt:lpstr>
      <vt:lpstr>Arial</vt:lpstr>
      <vt:lpstr>Arial Black</vt:lpstr>
      <vt:lpstr>Cambria Math</vt:lpstr>
      <vt:lpstr>Symbol</vt:lpstr>
      <vt:lpstr>Times New Roman</vt:lpstr>
      <vt:lpstr>Wingdings</vt:lpstr>
      <vt:lpstr>Wingdings 3</vt:lpstr>
      <vt:lpstr>Office 主题​​</vt:lpstr>
      <vt:lpstr>Equation</vt:lpstr>
      <vt:lpstr>Microsoft 公式 3.0</vt:lpstr>
      <vt:lpstr>公式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744311194@qq.com</dc:creator>
  <cp:lastModifiedBy>744311194@qq.com</cp:lastModifiedBy>
  <cp:revision>1</cp:revision>
  <dcterms:created xsi:type="dcterms:W3CDTF">2026-03-05T11:27:18Z</dcterms:created>
  <dcterms:modified xsi:type="dcterms:W3CDTF">2026-04-23T01:36:29Z</dcterms:modified>
</cp:coreProperties>
</file>