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59" r:id="rId5"/>
    <p:sldId id="264" r:id="rId6"/>
    <p:sldId id="266" r:id="rId7"/>
    <p:sldId id="265" r:id="rId8"/>
    <p:sldId id="267" r:id="rId9"/>
    <p:sldId id="262" r:id="rId10"/>
    <p:sldId id="268" r:id="rId11"/>
    <p:sldId id="271" r:id="rId12"/>
    <p:sldId id="272" r:id="rId13"/>
    <p:sldId id="274" r:id="rId14"/>
    <p:sldId id="270" r:id="rId15"/>
    <p:sldId id="275" r:id="rId16"/>
    <p:sldId id="263" r:id="rId17"/>
    <p:sldId id="257" r:id="rId18"/>
    <p:sldId id="276" r:id="rId19"/>
    <p:sldId id="277" r:id="rId20"/>
    <p:sldId id="278" r:id="rId21"/>
    <p:sldId id="279" r:id="rId22"/>
    <p:sldId id="282" r:id="rId23"/>
    <p:sldId id="280" r:id="rId24"/>
    <p:sldId id="281" r:id="rId25"/>
    <p:sldId id="283" r:id="rId26"/>
    <p:sldId id="285" r:id="rId27"/>
    <p:sldId id="284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28" r:id="rId53"/>
    <p:sldId id="316" r:id="rId54"/>
    <p:sldId id="329" r:id="rId55"/>
    <p:sldId id="317" r:id="rId56"/>
    <p:sldId id="331" r:id="rId57"/>
    <p:sldId id="332" r:id="rId58"/>
    <p:sldId id="333" r:id="rId59"/>
    <p:sldId id="318" r:id="rId60"/>
    <p:sldId id="334" r:id="rId61"/>
    <p:sldId id="335" r:id="rId62"/>
    <p:sldId id="336" r:id="rId63"/>
    <p:sldId id="337" r:id="rId64"/>
    <p:sldId id="342" r:id="rId65"/>
    <p:sldId id="345" r:id="rId66"/>
    <p:sldId id="327" r:id="rId67"/>
    <p:sldId id="340" r:id="rId68"/>
    <p:sldId id="346" r:id="rId69"/>
    <p:sldId id="341" r:id="rId70"/>
    <p:sldId id="348" r:id="rId71"/>
    <p:sldId id="349" r:id="rId72"/>
    <p:sldId id="350" r:id="rId73"/>
    <p:sldId id="353" r:id="rId74"/>
    <p:sldId id="351" r:id="rId75"/>
    <p:sldId id="352" r:id="rId76"/>
    <p:sldId id="355" r:id="rId77"/>
    <p:sldId id="356" r:id="rId78"/>
    <p:sldId id="357" r:id="rId79"/>
    <p:sldId id="358" r:id="rId80"/>
    <p:sldId id="359" r:id="rId81"/>
    <p:sldId id="360" r:id="rId82"/>
    <p:sldId id="361" r:id="rId83"/>
    <p:sldId id="363" r:id="rId84"/>
    <p:sldId id="364" r:id="rId85"/>
    <p:sldId id="365" r:id="rId86"/>
    <p:sldId id="366" r:id="rId87"/>
    <p:sldId id="367" r:id="rId88"/>
    <p:sldId id="368" r:id="rId89"/>
    <p:sldId id="370" r:id="rId90"/>
    <p:sldId id="373" r:id="rId91"/>
    <p:sldId id="374" r:id="rId92"/>
    <p:sldId id="376" r:id="rId93"/>
    <p:sldId id="377" r:id="rId94"/>
    <p:sldId id="378" r:id="rId95"/>
    <p:sldId id="379" r:id="rId96"/>
    <p:sldId id="380" r:id="rId97"/>
    <p:sldId id="382" r:id="rId98"/>
    <p:sldId id="383" r:id="rId99"/>
    <p:sldId id="384" r:id="rId10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7FA0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3" Type="http://schemas.openxmlformats.org/officeDocument/2006/relationships/tableStyles" Target="tableStyles.xml"/><Relationship Id="rId102" Type="http://schemas.openxmlformats.org/officeDocument/2006/relationships/viewProps" Target="viewProps.xml"/><Relationship Id="rId101" Type="http://schemas.openxmlformats.org/officeDocument/2006/relationships/presProps" Target="presProps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E569D-EDD6-4BC5-AFEC-DD57613D91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E569D-EDD6-4BC5-AFEC-DD57613D91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E569D-EDD6-4BC5-AFEC-DD57613D91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E569D-EDD6-4BC5-AFEC-DD57613D91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E569D-EDD6-4BC5-AFEC-DD57613D91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E569D-EDD6-4BC5-AFEC-DD57613D91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E569D-EDD6-4BC5-AFEC-DD57613D91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E569D-EDD6-4BC5-AFEC-DD57613D91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E569D-EDD6-4BC5-AFEC-DD57613D91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E569D-EDD6-4BC5-AFEC-DD57613D91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E569D-EDD6-4BC5-AFEC-DD57613D915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bg>
      <p:bgPr>
        <a:solidFill>
          <a:schemeClr val="bg1">
            <a:lumMod val="9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2" t="27071" r="11622" b="2707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7002690" y="0"/>
            <a:ext cx="5189311" cy="6858000"/>
          </a:xfrm>
          <a:custGeom>
            <a:avLst/>
            <a:gdLst>
              <a:gd name="connsiteX0" fmla="*/ 1590627 w 5189311"/>
              <a:gd name="connsiteY0" fmla="*/ 0 h 6858000"/>
              <a:gd name="connsiteX1" fmla="*/ 5189311 w 5189311"/>
              <a:gd name="connsiteY1" fmla="*/ 0 h 6858000"/>
              <a:gd name="connsiteX2" fmla="*/ 5189311 w 5189311"/>
              <a:gd name="connsiteY2" fmla="*/ 6858000 h 6858000"/>
              <a:gd name="connsiteX3" fmla="*/ 1590627 w 5189311"/>
              <a:gd name="connsiteY3" fmla="*/ 6858000 h 6858000"/>
              <a:gd name="connsiteX4" fmla="*/ 1472331 w 5189311"/>
              <a:gd name="connsiteY4" fmla="*/ 6755530 h 6858000"/>
              <a:gd name="connsiteX5" fmla="*/ 0 w 5189311"/>
              <a:gd name="connsiteY5" fmla="*/ 3429000 h 6858000"/>
              <a:gd name="connsiteX6" fmla="*/ 1472331 w 5189311"/>
              <a:gd name="connsiteY6" fmla="*/ 1024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89311" h="6858000">
                <a:moveTo>
                  <a:pt x="1590627" y="0"/>
                </a:moveTo>
                <a:lnTo>
                  <a:pt x="5189311" y="0"/>
                </a:lnTo>
                <a:lnTo>
                  <a:pt x="5189311" y="6858000"/>
                </a:lnTo>
                <a:lnTo>
                  <a:pt x="1590627" y="6858000"/>
                </a:lnTo>
                <a:lnTo>
                  <a:pt x="1472331" y="6755530"/>
                </a:lnTo>
                <a:cubicBezTo>
                  <a:pt x="567848" y="5933455"/>
                  <a:pt x="0" y="4747541"/>
                  <a:pt x="0" y="3429000"/>
                </a:cubicBezTo>
                <a:cubicBezTo>
                  <a:pt x="0" y="2110459"/>
                  <a:pt x="567848" y="924545"/>
                  <a:pt x="1472331" y="10247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 spc="3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368300"/>
            <a:ext cx="3215647" cy="740666"/>
          </a:xfrm>
          <a:prstGeom prst="rect">
            <a:avLst/>
          </a:prstGeom>
        </p:spPr>
      </p:pic>
      <p:sp>
        <p:nvSpPr>
          <p:cNvPr id="18" name="任意多边形: 形状 17"/>
          <p:cNvSpPr/>
          <p:nvPr/>
        </p:nvSpPr>
        <p:spPr>
          <a:xfrm>
            <a:off x="703453" y="3604369"/>
            <a:ext cx="5694218" cy="200891"/>
          </a:xfrm>
          <a:custGeom>
            <a:avLst/>
            <a:gdLst>
              <a:gd name="connsiteX0" fmla="*/ 0 w 5694218"/>
              <a:gd name="connsiteY0" fmla="*/ 0 h 200891"/>
              <a:gd name="connsiteX1" fmla="*/ 561109 w 5694218"/>
              <a:gd name="connsiteY1" fmla="*/ 0 h 200891"/>
              <a:gd name="connsiteX2" fmla="*/ 561109 w 5694218"/>
              <a:gd name="connsiteY2" fmla="*/ 200891 h 200891"/>
              <a:gd name="connsiteX3" fmla="*/ 755072 w 5694218"/>
              <a:gd name="connsiteY3" fmla="*/ 6927 h 200891"/>
              <a:gd name="connsiteX4" fmla="*/ 5694218 w 5694218"/>
              <a:gd name="connsiteY4" fmla="*/ 6927 h 200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94218" h="200891">
                <a:moveTo>
                  <a:pt x="0" y="0"/>
                </a:moveTo>
                <a:lnTo>
                  <a:pt x="561109" y="0"/>
                </a:lnTo>
                <a:lnTo>
                  <a:pt x="561109" y="200891"/>
                </a:lnTo>
                <a:lnTo>
                  <a:pt x="755072" y="6927"/>
                </a:lnTo>
                <a:lnTo>
                  <a:pt x="5694218" y="6927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02" y="6136337"/>
            <a:ext cx="2387607" cy="41702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03453" y="4308626"/>
            <a:ext cx="351175" cy="417020"/>
          </a:xfrm>
          <a:prstGeom prst="rect">
            <a:avLst/>
          </a:prstGeom>
        </p:spPr>
      </p:pic>
      <p:sp>
        <p:nvSpPr>
          <p:cNvPr id="25" name="标题 23"/>
          <p:cNvSpPr>
            <a:spLocks noGrp="1"/>
          </p:cNvSpPr>
          <p:nvPr>
            <p:ph type="title" hasCustomPrompt="1"/>
          </p:nvPr>
        </p:nvSpPr>
        <p:spPr>
          <a:xfrm>
            <a:off x="586006" y="2905709"/>
            <a:ext cx="7442830" cy="695843"/>
          </a:xfrm>
          <a:prstGeom prst="rect">
            <a:avLst/>
          </a:prstGeom>
        </p:spPr>
        <p:txBody>
          <a:bodyPr/>
          <a:lstStyle>
            <a:lvl1pPr marL="0" algn="just" defTabSz="914400" rtl="0" eaLnBrk="1" latinLnBrk="0" hangingPunct="1">
              <a:defRPr lang="zh-CN" altLang="en-US" sz="4000" b="1" kern="1200" spc="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algn="just"/>
            <a:r>
              <a:rPr lang="zh-CN" altLang="en-US" sz="4000" b="1" spc="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南京理工大学通用模板</a:t>
            </a:r>
            <a:endParaRPr lang="zh-CN" altLang="en-US" sz="4000" b="1" spc="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10" hasCustomPrompt="1"/>
          </p:nvPr>
        </p:nvSpPr>
        <p:spPr>
          <a:xfrm>
            <a:off x="602902" y="2490184"/>
            <a:ext cx="5510212" cy="42386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en-US" altLang="zh-CN" sz="1800" kern="1200" dirty="0" smtClean="0">
                <a:solidFill>
                  <a:schemeClr val="accent1"/>
                </a:solidFill>
                <a:latin typeface="+mj-ea"/>
                <a:ea typeface="+mj-ea"/>
                <a:cs typeface="+mn-ea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altLang="zh-CN" dirty="0"/>
              <a:t>Nanjing University of Science and Technology</a:t>
            </a:r>
            <a:endParaRPr lang="en-US" altLang="zh-CN" dirty="0"/>
          </a:p>
        </p:txBody>
      </p:sp>
      <p:sp>
        <p:nvSpPr>
          <p:cNvPr id="40" name="图片占位符 39"/>
          <p:cNvSpPr>
            <a:spLocks noGrp="1"/>
          </p:cNvSpPr>
          <p:nvPr>
            <p:ph type="pic" sz="quarter" idx="11"/>
          </p:nvPr>
        </p:nvSpPr>
        <p:spPr>
          <a:xfrm>
            <a:off x="7229475" y="0"/>
            <a:ext cx="4962525" cy="6858000"/>
          </a:xfrm>
          <a:custGeom>
            <a:avLst/>
            <a:gdLst>
              <a:gd name="connsiteX0" fmla="*/ 1727484 w 4962525"/>
              <a:gd name="connsiteY0" fmla="*/ 0 h 6858000"/>
              <a:gd name="connsiteX1" fmla="*/ 4962525 w 4962525"/>
              <a:gd name="connsiteY1" fmla="*/ 0 h 6858000"/>
              <a:gd name="connsiteX2" fmla="*/ 4962525 w 4962525"/>
              <a:gd name="connsiteY2" fmla="*/ 6858000 h 6858000"/>
              <a:gd name="connsiteX3" fmla="*/ 1727484 w 4962525"/>
              <a:gd name="connsiteY3" fmla="*/ 6858000 h 6858000"/>
              <a:gd name="connsiteX4" fmla="*/ 1714066 w 4962525"/>
              <a:gd name="connsiteY4" fmla="*/ 6848459 h 6858000"/>
              <a:gd name="connsiteX5" fmla="*/ 0 w 4962525"/>
              <a:gd name="connsiteY5" fmla="*/ 3429000 h 6858000"/>
              <a:gd name="connsiteX6" fmla="*/ 1714066 w 4962525"/>
              <a:gd name="connsiteY6" fmla="*/ 95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62525" h="6858000">
                <a:moveTo>
                  <a:pt x="1727484" y="0"/>
                </a:moveTo>
                <a:lnTo>
                  <a:pt x="4962525" y="0"/>
                </a:lnTo>
                <a:lnTo>
                  <a:pt x="4962525" y="6858000"/>
                </a:lnTo>
                <a:lnTo>
                  <a:pt x="1727484" y="6858000"/>
                </a:lnTo>
                <a:lnTo>
                  <a:pt x="1714066" y="6848459"/>
                </a:lnTo>
                <a:cubicBezTo>
                  <a:pt x="673523" y="6070283"/>
                  <a:pt x="0" y="4828296"/>
                  <a:pt x="0" y="3429000"/>
                </a:cubicBezTo>
                <a:cubicBezTo>
                  <a:pt x="0" y="2029704"/>
                  <a:pt x="673523" y="787718"/>
                  <a:pt x="1714066" y="9542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algn="r">
              <a:defRPr/>
            </a:lvl1pPr>
          </a:lstStyle>
          <a:p>
            <a:endParaRPr lang="zh-CN" altLang="en-US" dirty="0"/>
          </a:p>
        </p:txBody>
      </p:sp>
      <p:sp>
        <p:nvSpPr>
          <p:cNvPr id="43" name="文本占位符 41"/>
          <p:cNvSpPr>
            <a:spLocks noGrp="1"/>
          </p:cNvSpPr>
          <p:nvPr>
            <p:ph type="body" sz="quarter" idx="12" hasCustomPrompt="1"/>
          </p:nvPr>
        </p:nvSpPr>
        <p:spPr>
          <a:xfrm>
            <a:off x="1197114" y="4432332"/>
            <a:ext cx="2500312" cy="4175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None/>
              <a:defRPr lang="zh-CN" altLang="en-US" sz="2000" b="0" kern="1200" spc="300" dirty="0" smtClean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zh-CN" altLang="en-US" sz="2000" b="1" kern="1200" spc="300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0" indent="0" algn="l" defTabSz="914400" rtl="0" eaLnBrk="1" latinLnBrk="0" hangingPunct="1">
              <a:buNone/>
              <a:defRPr lang="zh-CN" altLang="en-US" sz="2000" b="1" kern="1200" spc="300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0" indent="0" algn="l" defTabSz="914400" rtl="0" eaLnBrk="1" latinLnBrk="0" hangingPunct="1">
              <a:buNone/>
              <a:defRPr lang="zh-CN" altLang="en-US" sz="2000" b="1" kern="1200" spc="300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0" indent="0" algn="l" defTabSz="914400" rtl="0" eaLnBrk="1" latinLnBrk="0" hangingPunct="1">
              <a:buNone/>
              <a:defRPr lang="zh-CN" altLang="en-US" sz="2000" b="1" kern="1200" spc="3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</a:lstStyle>
          <a:p>
            <a:pPr algn="l"/>
            <a:r>
              <a:rPr lang="zh-CN" altLang="en-US" sz="2000" b="1" spc="3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汇报人：</a:t>
            </a:r>
            <a:r>
              <a:rPr lang="zh-CN" altLang="en-US" sz="2000" spc="3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刘光前</a:t>
            </a:r>
            <a:endParaRPr lang="zh-CN" altLang="en-US" sz="2000" spc="3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5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6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3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5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1.xml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2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4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7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8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0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1.xml"/><Relationship Id="rId3" Type="http://schemas.openxmlformats.org/officeDocument/2006/relationships/image" Target="../media/image35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2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3.xml"/><Relationship Id="rId3" Type="http://schemas.openxmlformats.org/officeDocument/2006/relationships/image" Target="../media/image36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4.xml"/><Relationship Id="rId3" Type="http://schemas.openxmlformats.org/officeDocument/2006/relationships/image" Target="../media/image37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Relationship Id="rId3" Type="http://schemas.openxmlformats.org/officeDocument/2006/relationships/image" Target="../media/image3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7.xml"/><Relationship Id="rId3" Type="http://schemas.openxmlformats.org/officeDocument/2006/relationships/image" Target="../media/image39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8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9.xml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0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1.xml"/><Relationship Id="rId3" Type="http://schemas.openxmlformats.org/officeDocument/2006/relationships/image" Target="../media/image44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2.xml"/><Relationship Id="rId3" Type="http://schemas.openxmlformats.org/officeDocument/2006/relationships/image" Target="../media/image45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3.xml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Relationship Id="rId3" Type="http://schemas.openxmlformats.org/officeDocument/2006/relationships/image" Target="../media/image4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5.xml"/><Relationship Id="rId3" Type="http://schemas.openxmlformats.org/officeDocument/2006/relationships/image" Target="../media/image49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6.xml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7.xml"/><Relationship Id="rId3" Type="http://schemas.openxmlformats.org/officeDocument/2006/relationships/image" Target="../media/image52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8.xml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9.xml"/><Relationship Id="rId3" Type="http://schemas.openxmlformats.org/officeDocument/2006/relationships/image" Target="../media/image55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Relationship Id="rId3" Type="http://schemas.openxmlformats.org/officeDocument/2006/relationships/image" Target="../media/image56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1.xml"/><Relationship Id="rId3" Type="http://schemas.openxmlformats.org/officeDocument/2006/relationships/image" Target="../media/image57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2.xml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3.xml"/><Relationship Id="rId3" Type="http://schemas.openxmlformats.org/officeDocument/2006/relationships/image" Target="../media/image60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4.xml"/><Relationship Id="rId3" Type="http://schemas.openxmlformats.org/officeDocument/2006/relationships/image" Target="../media/image61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5.xml"/><Relationship Id="rId3" Type="http://schemas.openxmlformats.org/officeDocument/2006/relationships/image" Target="../media/image62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6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7.xml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8.xml"/><Relationship Id="rId3" Type="http://schemas.openxmlformats.org/officeDocument/2006/relationships/image" Target="../media/image65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9.xml"/><Relationship Id="rId3" Type="http://schemas.openxmlformats.org/officeDocument/2006/relationships/image" Target="../media/image66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0.xml"/><Relationship Id="rId3" Type="http://schemas.openxmlformats.org/officeDocument/2006/relationships/image" Target="../media/image67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1.xml"/><Relationship Id="rId3" Type="http://schemas.openxmlformats.org/officeDocument/2006/relationships/image" Target="../media/image6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2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3.xml"/><Relationship Id="rId3" Type="http://schemas.openxmlformats.org/officeDocument/2006/relationships/image" Target="../media/image6.jpeg"/><Relationship Id="rId2" Type="http://schemas.openxmlformats.org/officeDocument/2006/relationships/image" Target="../media/image69.png"/><Relationship Id="rId1" Type="http://schemas.openxmlformats.org/officeDocument/2006/relationships/image" Target="../media/image7.jpeg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4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5.xml"/><Relationship Id="rId3" Type="http://schemas.openxmlformats.org/officeDocument/2006/relationships/image" Target="../media/image70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6.xml"/><Relationship Id="rId3" Type="http://schemas.openxmlformats.org/officeDocument/2006/relationships/image" Target="../media/image71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7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8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9.xml"/><Relationship Id="rId3" Type="http://schemas.openxmlformats.org/officeDocument/2006/relationships/image" Target="../media/image72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0.xml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1.xml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2.xml"/><Relationship Id="rId4" Type="http://schemas.openxmlformats.org/officeDocument/2006/relationships/image" Target="../media/image73.png"/><Relationship Id="rId3" Type="http://schemas.openxmlformats.org/officeDocument/2006/relationships/image" Target="../media/image77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8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3.xml"/><Relationship Id="rId4" Type="http://schemas.openxmlformats.org/officeDocument/2006/relationships/image" Target="../media/image79.png"/><Relationship Id="rId3" Type="http://schemas.openxmlformats.org/officeDocument/2006/relationships/image" Target="../media/image7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8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4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8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5.xml"/><Relationship Id="rId3" Type="http://schemas.openxmlformats.org/officeDocument/2006/relationships/image" Target="../media/image80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8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6.xml"/><Relationship Id="rId2" Type="http://schemas.openxmlformats.org/officeDocument/2006/relationships/image" Target="../media/image6.jpeg"/><Relationship Id="rId1" Type="http://schemas.openxmlformats.org/officeDocument/2006/relationships/image" Target="../media/image7.jpeg"/></Relationships>
</file>

<file path=ppt/slides/_rels/slide8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image" Target="../media/image6.jpeg"/><Relationship Id="rId1" Type="http://schemas.openxmlformats.org/officeDocument/2006/relationships/image" Target="../media/image7.jpeg"/></Relationships>
</file>

<file path=ppt/slides/_rels/slide8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9.xml"/><Relationship Id="rId3" Type="http://schemas.openxmlformats.org/officeDocument/2006/relationships/image" Target="../media/image81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8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0.xml"/><Relationship Id="rId3" Type="http://schemas.openxmlformats.org/officeDocument/2006/relationships/image" Target="../media/image82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2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9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3.xml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9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9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4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9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5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9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6.xml"/><Relationship Id="rId3" Type="http://schemas.openxmlformats.org/officeDocument/2006/relationships/image" Target="../media/image6.jpeg"/><Relationship Id="rId2" Type="http://schemas.openxmlformats.org/officeDocument/2006/relationships/image" Target="../media/image85.png"/><Relationship Id="rId1" Type="http://schemas.openxmlformats.org/officeDocument/2006/relationships/image" Target="../media/image7.jpeg"/></Relationships>
</file>

<file path=ppt/slides/_rels/slide9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7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9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8.xml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9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9.xml"/><Relationship Id="rId3" Type="http://schemas.openxmlformats.org/officeDocument/2006/relationships/image" Target="../media/image8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4761" y="2913964"/>
            <a:ext cx="7442830" cy="695843"/>
          </a:xfrm>
        </p:spPr>
        <p:txBody>
          <a:bodyPr>
            <a:normAutofit/>
          </a:bodyPr>
          <a:lstStyle/>
          <a:p>
            <a:pPr algn="l"/>
            <a:r>
              <a:rPr altLang="zh-CN" sz="3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学业朋辈课堂</a:t>
            </a:r>
            <a:r>
              <a:rPr lang="en-US" altLang="zh-CN" sz="3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	</a:t>
            </a:r>
            <a:r>
              <a:rPr lang="en-US" altLang="zh-CN" sz="3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C++</a:t>
            </a:r>
            <a:endParaRPr sz="3600" b="1" spc="600" dirty="0">
              <a:solidFill>
                <a:schemeClr val="accent1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Nanjing University of Science and Technology</a:t>
            </a:r>
            <a:endParaRPr lang="zh-CN" altLang="en-US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6" name="图片占位符 5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8" r="50278"/>
          <a:stretch>
            <a:fillRect/>
          </a:stretch>
        </p:blipFill>
        <p:spPr>
          <a:xfrm>
            <a:off x="7229475" y="0"/>
            <a:ext cx="4962525" cy="6858000"/>
          </a:xfrm>
        </p:spPr>
      </p:pic>
      <p:sp>
        <p:nvSpPr>
          <p:cNvPr id="8" name="文本框 7"/>
          <p:cNvSpPr txBox="1"/>
          <p:nvPr/>
        </p:nvSpPr>
        <p:spPr>
          <a:xfrm>
            <a:off x="1197115" y="4403730"/>
            <a:ext cx="25246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b="1" spc="300" dirty="0">
                <a:solidFill>
                  <a:schemeClr val="accent1"/>
                </a:solidFill>
                <a:latin typeface="+mj-ea"/>
                <a:ea typeface="+mj-ea"/>
                <a:cs typeface="+mn-ea"/>
                <a:sym typeface="+mn-lt"/>
              </a:rPr>
              <a:t>祝梓恒</a:t>
            </a:r>
            <a:endParaRPr lang="zh-CN" altLang="en-US" sz="2000" b="1" spc="300" dirty="0">
              <a:solidFill>
                <a:schemeClr val="accent1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722630" y="1899285"/>
            <a:ext cx="347345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00705" y="2490470"/>
            <a:ext cx="4133215" cy="1384564"/>
            <a:chOff x="4582160" y="2724707"/>
            <a:chExt cx="3535674" cy="1064973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4582160" y="2829560"/>
              <a:ext cx="0" cy="96012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/>
            <p:cNvSpPr txBox="1"/>
            <p:nvPr/>
          </p:nvSpPr>
          <p:spPr>
            <a:xfrm>
              <a:off x="4744720" y="2724707"/>
              <a:ext cx="2255520" cy="354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第</a:t>
              </a: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二部分</a:t>
              </a:r>
              <a:endParaRPr lang="zh-CN" altLang="en-US" sz="2000" spc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4846320" y="3241842"/>
              <a:ext cx="29464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4744720" y="3308284"/>
              <a:ext cx="3373114" cy="4674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C++</a:t>
              </a:r>
              <a:r>
                <a:rPr lang="zh-CN" alt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基础</a:t>
              </a:r>
              <a:r>
                <a:rPr lang="zh-CN" alt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知识</a:t>
              </a:r>
              <a:endParaRPr lang="zh-CN" altLang="en-US" sz="2800" b="1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7630162" y="2948984"/>
            <a:ext cx="4561838" cy="960033"/>
          </a:xfrm>
          <a:prstGeom prst="rect">
            <a:avLst/>
          </a:prstGeom>
          <a:solidFill>
            <a:schemeClr val="accent1"/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50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828282" y="3068321"/>
            <a:ext cx="721358" cy="721358"/>
            <a:chOff x="7071363" y="3068321"/>
            <a:chExt cx="721358" cy="721358"/>
          </a:xfrm>
        </p:grpSpPr>
        <p:sp>
          <p:nvSpPr>
            <p:cNvPr id="13" name="椭圆 12"/>
            <p:cNvSpPr/>
            <p:nvPr/>
          </p:nvSpPr>
          <p:spPr>
            <a:xfrm>
              <a:off x="7071363" y="3068321"/>
              <a:ext cx="721358" cy="721358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spc="300" dirty="0">
                <a:cs typeface="+mn-ea"/>
                <a:sym typeface="+mn-lt"/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7310663" y="3178655"/>
              <a:ext cx="242759" cy="500691"/>
            </a:xfrm>
            <a:custGeom>
              <a:avLst/>
              <a:gdLst>
                <a:gd name="connsiteX0" fmla="*/ 0 w 284480"/>
                <a:gd name="connsiteY0" fmla="*/ 0 h 518160"/>
                <a:gd name="connsiteX1" fmla="*/ 284480 w 284480"/>
                <a:gd name="connsiteY1" fmla="*/ 284480 h 518160"/>
                <a:gd name="connsiteX2" fmla="*/ 50800 w 284480"/>
                <a:gd name="connsiteY2" fmla="*/ 518160 h 518160"/>
                <a:gd name="connsiteX0-1" fmla="*/ 0 w 284480"/>
                <a:gd name="connsiteY0-2" fmla="*/ 0 h 567690"/>
                <a:gd name="connsiteX1-3" fmla="*/ 284480 w 284480"/>
                <a:gd name="connsiteY1-4" fmla="*/ 284480 h 567690"/>
                <a:gd name="connsiteX2-5" fmla="*/ 16510 w 284480"/>
                <a:gd name="connsiteY2-6" fmla="*/ 567690 h 567690"/>
                <a:gd name="connsiteX0-7" fmla="*/ 0 w 284480"/>
                <a:gd name="connsiteY0-8" fmla="*/ 0 h 586740"/>
                <a:gd name="connsiteX1-9" fmla="*/ 284480 w 284480"/>
                <a:gd name="connsiteY1-10" fmla="*/ 284480 h 586740"/>
                <a:gd name="connsiteX2-11" fmla="*/ 1270 w 284480"/>
                <a:gd name="connsiteY2-12" fmla="*/ 586740 h 5867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84480" h="586740">
                  <a:moveTo>
                    <a:pt x="0" y="0"/>
                  </a:moveTo>
                  <a:lnTo>
                    <a:pt x="284480" y="284480"/>
                  </a:lnTo>
                  <a:cubicBezTo>
                    <a:pt x="206587" y="362373"/>
                    <a:pt x="79163" y="508847"/>
                    <a:pt x="1270" y="586740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10" name="图片 9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16" name="图片 15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84200" y="1055370"/>
            <a:ext cx="4519295" cy="873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基本数据类型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书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P23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运算符优先级顺序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书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P45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8975" y="2122170"/>
            <a:ext cx="10920095" cy="3456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rgbClr val="FF0000"/>
                </a:solidFill>
              </a:rPr>
              <a:t>定义标识符的易错点：</a:t>
            </a:r>
            <a:endParaRPr lang="zh-CN" altLang="en-US" sz="2400">
              <a:solidFill>
                <a:srgbClr val="FF0000"/>
              </a:solidFill>
            </a:endParaRPr>
          </a:p>
          <a:p>
            <a:r>
              <a:rPr lang="en-US" altLang="zh-CN" sz="2400"/>
              <a:t>1.	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不能以数字开头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：标识符可以包含字母（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a-z, A-Z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）、数字（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0-9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）、下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划线（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_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），但第一个字符必须是字母或下划线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/>
          </a:p>
          <a:p>
            <a:r>
              <a:rPr lang="en-US" altLang="zh-CN" sz="2400"/>
              <a:t>2.	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不能包含非法字符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：标识符中不能包含空格、运算符（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+,-,*,/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）、特殊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符号（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@,#,$,%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/>
          </a:p>
          <a:p>
            <a:r>
              <a:rPr lang="en-US" altLang="zh-CN" sz="2400"/>
              <a:t>3.	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不能使用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C++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关键字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：标识符的名称不能与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C++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语言的关键字（如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int,if, 	for,class,public,return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等）完全相同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8040" y="5851525"/>
            <a:ext cx="94824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C++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关键字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书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P25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（没必要特地记，知道自己平时用的即可）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" name="图片 12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14" name="图片 13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521970" y="949960"/>
            <a:ext cx="11042650" cy="2655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其他常考点：</a:t>
            </a:r>
            <a:endParaRPr lang="zh-CN" altLang="en-US" sz="28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除法运算符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“\”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：结果的数据类型与除数、被除数相同。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例如：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5/2=2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（除数与被除数均为整型）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5.0/2=2.5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科学计数法：赋值时使用科学计数法表示时，指数部分必须是整数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表达式运算顺序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12" name="图片 11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09880" y="1320800"/>
            <a:ext cx="5949950" cy="1180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例题：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75" y="3350895"/>
            <a:ext cx="12192000" cy="7880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5" y="1955800"/>
            <a:ext cx="8251190" cy="11423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653905" y="3256915"/>
            <a:ext cx="470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C</a:t>
            </a:r>
            <a:endParaRPr lang="en-US" altLang="zh-CN" sz="280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171815" y="2065020"/>
            <a:ext cx="470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C</a:t>
            </a:r>
            <a:endParaRPr lang="en-US" altLang="zh-CN" sz="2800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5" y="4391660"/>
            <a:ext cx="11878310" cy="9690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656580" y="4391660"/>
            <a:ext cx="470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B</a:t>
            </a:r>
            <a:endParaRPr lang="en-US" altLang="zh-CN" sz="280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/>
          <p:nvPr/>
        </p:nvPicPr>
        <p:blipFill>
          <a:blip r:embed="rId4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18" name="图片 17" descr="6F56600EE69952FE1D1A1AE8487686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56480"/>
            <a:ext cx="11722100" cy="9194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2945"/>
            <a:ext cx="10696575" cy="82867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360025" y="3071495"/>
            <a:ext cx="470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B</a:t>
            </a:r>
            <a:endParaRPr lang="en-US" altLang="zh-CN" sz="280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5405"/>
            <a:ext cx="11020425" cy="9810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681595" y="1200785"/>
            <a:ext cx="470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C</a:t>
            </a:r>
            <a:endParaRPr lang="en-US" altLang="zh-CN" sz="280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311765" y="4737100"/>
            <a:ext cx="470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C</a:t>
            </a:r>
            <a:endParaRPr lang="en-US" altLang="zh-CN" sz="2800">
              <a:solidFill>
                <a:srgbClr val="FF000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4208780" y="4149725"/>
            <a:ext cx="265430" cy="635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4208780" y="4260850"/>
            <a:ext cx="654050" cy="635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990340" y="4378325"/>
            <a:ext cx="884555" cy="1206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1574165" y="4143375"/>
            <a:ext cx="654050" cy="635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213485" y="4260850"/>
            <a:ext cx="979805" cy="635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4" name="图片 23"/>
          <p:cNvPicPr/>
          <p:nvPr/>
        </p:nvPicPr>
        <p:blipFill>
          <a:blip r:embed="rId4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25" name="图片 24" descr="6F56600EE69952FE1D1A1AE8487686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00705" y="2490470"/>
            <a:ext cx="4133215" cy="1384564"/>
            <a:chOff x="4582160" y="2724707"/>
            <a:chExt cx="3535674" cy="1064973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4582160" y="2829560"/>
              <a:ext cx="0" cy="96012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/>
            <p:cNvSpPr txBox="1"/>
            <p:nvPr/>
          </p:nvSpPr>
          <p:spPr>
            <a:xfrm>
              <a:off x="4744720" y="2724707"/>
              <a:ext cx="2255520" cy="354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第一部分</a:t>
              </a:r>
              <a:endParaRPr lang="zh-CN" altLang="en-US" sz="2000" spc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4846320" y="3241842"/>
              <a:ext cx="29464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4744720" y="3308284"/>
              <a:ext cx="3373114" cy="4674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C++</a:t>
              </a:r>
              <a:r>
                <a:rPr lang="zh-CN" alt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基础流程</a:t>
              </a:r>
              <a:r>
                <a:rPr lang="zh-CN" alt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结构</a:t>
              </a:r>
              <a:endParaRPr lang="zh-CN" altLang="en-US" sz="2800" b="1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7630162" y="2948984"/>
            <a:ext cx="4561838" cy="960033"/>
          </a:xfrm>
          <a:prstGeom prst="rect">
            <a:avLst/>
          </a:prstGeom>
          <a:solidFill>
            <a:schemeClr val="accent1"/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50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828282" y="3068321"/>
            <a:ext cx="721358" cy="721358"/>
            <a:chOff x="7071363" y="3068321"/>
            <a:chExt cx="721358" cy="721358"/>
          </a:xfrm>
        </p:grpSpPr>
        <p:sp>
          <p:nvSpPr>
            <p:cNvPr id="13" name="椭圆 12"/>
            <p:cNvSpPr/>
            <p:nvPr/>
          </p:nvSpPr>
          <p:spPr>
            <a:xfrm>
              <a:off x="7071363" y="3068321"/>
              <a:ext cx="721358" cy="721358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spc="300" dirty="0">
                <a:cs typeface="+mn-ea"/>
                <a:sym typeface="+mn-lt"/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7310663" y="3178655"/>
              <a:ext cx="242759" cy="500691"/>
            </a:xfrm>
            <a:custGeom>
              <a:avLst/>
              <a:gdLst>
                <a:gd name="connsiteX0" fmla="*/ 0 w 284480"/>
                <a:gd name="connsiteY0" fmla="*/ 0 h 518160"/>
                <a:gd name="connsiteX1" fmla="*/ 284480 w 284480"/>
                <a:gd name="connsiteY1" fmla="*/ 284480 h 518160"/>
                <a:gd name="connsiteX2" fmla="*/ 50800 w 284480"/>
                <a:gd name="connsiteY2" fmla="*/ 518160 h 518160"/>
                <a:gd name="connsiteX0-1" fmla="*/ 0 w 284480"/>
                <a:gd name="connsiteY0-2" fmla="*/ 0 h 567690"/>
                <a:gd name="connsiteX1-3" fmla="*/ 284480 w 284480"/>
                <a:gd name="connsiteY1-4" fmla="*/ 284480 h 567690"/>
                <a:gd name="connsiteX2-5" fmla="*/ 16510 w 284480"/>
                <a:gd name="connsiteY2-6" fmla="*/ 567690 h 567690"/>
                <a:gd name="connsiteX0-7" fmla="*/ 0 w 284480"/>
                <a:gd name="connsiteY0-8" fmla="*/ 0 h 586740"/>
                <a:gd name="connsiteX1-9" fmla="*/ 284480 w 284480"/>
                <a:gd name="connsiteY1-10" fmla="*/ 284480 h 586740"/>
                <a:gd name="connsiteX2-11" fmla="*/ 1270 w 284480"/>
                <a:gd name="connsiteY2-12" fmla="*/ 586740 h 5867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84480" h="586740">
                  <a:moveTo>
                    <a:pt x="0" y="0"/>
                  </a:moveTo>
                  <a:lnTo>
                    <a:pt x="284480" y="284480"/>
                  </a:lnTo>
                  <a:cubicBezTo>
                    <a:pt x="206587" y="362373"/>
                    <a:pt x="79163" y="508847"/>
                    <a:pt x="1270" y="586740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7" name="图片 6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40070" y="111061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注意点：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40070" y="1684020"/>
            <a:ext cx="4762500" cy="3797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表达式可以是任意符合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C++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语法规则的表达式，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的判断实质是对表达式值的判断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多选一，顾名思义就是只选择执行一个语句，在执行完一个语句之后就会跳出选择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7380" y="1038860"/>
            <a:ext cx="40640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if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语句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0" y="1778635"/>
            <a:ext cx="3914775" cy="3781425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10" name="图片 9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40070" y="111061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注意点：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40070" y="1684020"/>
            <a:ext cx="5875020" cy="4501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该语句执行过程是先计算表达式的值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将该值与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case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后面的常数表达式进行比较若两者相等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就从此处进入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case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后面的语句执行，并依次执行之后的每个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case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后的表达式（不再进行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case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的判断）。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当然如果想实现选择功能（只执行该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case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对应的语句）只需在每个语句后加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“break;”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即可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当程序运行到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break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则会跳出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switch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7380" y="1038860"/>
            <a:ext cx="40640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switch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130" y="1840230"/>
            <a:ext cx="3981450" cy="327660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10" name="图片 9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40070" y="111061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注意点：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40070" y="1684020"/>
            <a:ext cx="5875020" cy="4501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accent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while</a:t>
            </a:r>
            <a:r>
              <a:rPr lang="zh-CN" altLang="en-US" sz="2400">
                <a:solidFill>
                  <a:schemeClr val="accent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先判断循环条件后执行循环体，循环体可能一次都不执行。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循环体内应含有使循环趋于结束的成分，小心死循环。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7380" y="103886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while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30" y="1945005"/>
            <a:ext cx="3514725" cy="282892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9" name="图片 8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27380" y="40982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注意点：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7380" y="143065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0" y="2132965"/>
            <a:ext cx="7277100" cy="16954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7380" y="4728210"/>
            <a:ext cx="9944100" cy="1358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for后的三个表达式都是可选择项，可缺省，但是‘;’不能缺省。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图片 9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11" name="图片 10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627380" y="120142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条件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运算符？：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7380" y="2903855"/>
            <a:ext cx="94176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break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continue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语句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0" y="1915795"/>
            <a:ext cx="7162800" cy="7524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16915" y="3628390"/>
            <a:ext cx="10838815" cy="2051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break (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中断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跳出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彻底终止整个循环。程序会跳出循环体，继续执行循环后面的代码。就像是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直接下班回家，不再工作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continue (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继续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跳过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仅跳过本次循环中剩余的语句，直接进入下一次循环的条件判断。就像是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跳过当前这一个任务，马上开始下一个任务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665" y="933450"/>
            <a:ext cx="9178290" cy="560959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7" name="图片 6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00705" y="2490470"/>
            <a:ext cx="4133215" cy="1384564"/>
            <a:chOff x="4582160" y="2724707"/>
            <a:chExt cx="3535674" cy="1064973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4582160" y="2829560"/>
              <a:ext cx="0" cy="96012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/>
            <p:cNvSpPr txBox="1"/>
            <p:nvPr/>
          </p:nvSpPr>
          <p:spPr>
            <a:xfrm>
              <a:off x="4744720" y="2724707"/>
              <a:ext cx="2255520" cy="354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第</a:t>
              </a: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三部分</a:t>
              </a:r>
              <a:endParaRPr lang="zh-CN" altLang="en-US" sz="2000" spc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4846320" y="3241842"/>
              <a:ext cx="29464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4744720" y="3308284"/>
              <a:ext cx="3373114" cy="4674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函数、</a:t>
              </a:r>
              <a:r>
                <a:rPr lang="zh-CN" alt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宏定义</a:t>
              </a:r>
              <a:endParaRPr lang="zh-CN" altLang="en-US" sz="2800" b="1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7630162" y="2948984"/>
            <a:ext cx="4561838" cy="960033"/>
          </a:xfrm>
          <a:prstGeom prst="rect">
            <a:avLst/>
          </a:prstGeom>
          <a:solidFill>
            <a:schemeClr val="accent1"/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50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828282" y="3068321"/>
            <a:ext cx="721358" cy="721358"/>
            <a:chOff x="7071363" y="3068321"/>
            <a:chExt cx="721358" cy="721358"/>
          </a:xfrm>
        </p:grpSpPr>
        <p:sp>
          <p:nvSpPr>
            <p:cNvPr id="13" name="椭圆 12"/>
            <p:cNvSpPr/>
            <p:nvPr/>
          </p:nvSpPr>
          <p:spPr>
            <a:xfrm>
              <a:off x="7071363" y="3068321"/>
              <a:ext cx="721358" cy="721358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spc="300" dirty="0">
                <a:cs typeface="+mn-ea"/>
                <a:sym typeface="+mn-lt"/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7310663" y="3178655"/>
              <a:ext cx="242759" cy="500691"/>
            </a:xfrm>
            <a:custGeom>
              <a:avLst/>
              <a:gdLst>
                <a:gd name="connsiteX0" fmla="*/ 0 w 284480"/>
                <a:gd name="connsiteY0" fmla="*/ 0 h 518160"/>
                <a:gd name="connsiteX1" fmla="*/ 284480 w 284480"/>
                <a:gd name="connsiteY1" fmla="*/ 284480 h 518160"/>
                <a:gd name="connsiteX2" fmla="*/ 50800 w 284480"/>
                <a:gd name="connsiteY2" fmla="*/ 518160 h 518160"/>
                <a:gd name="connsiteX0-1" fmla="*/ 0 w 284480"/>
                <a:gd name="connsiteY0-2" fmla="*/ 0 h 567690"/>
                <a:gd name="connsiteX1-3" fmla="*/ 284480 w 284480"/>
                <a:gd name="connsiteY1-4" fmla="*/ 284480 h 567690"/>
                <a:gd name="connsiteX2-5" fmla="*/ 16510 w 284480"/>
                <a:gd name="connsiteY2-6" fmla="*/ 567690 h 567690"/>
                <a:gd name="connsiteX0-7" fmla="*/ 0 w 284480"/>
                <a:gd name="connsiteY0-8" fmla="*/ 0 h 586740"/>
                <a:gd name="connsiteX1-9" fmla="*/ 284480 w 284480"/>
                <a:gd name="connsiteY1-10" fmla="*/ 284480 h 586740"/>
                <a:gd name="connsiteX2-11" fmla="*/ 1270 w 284480"/>
                <a:gd name="connsiteY2-12" fmla="*/ 586740 h 5867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84480" h="586740">
                  <a:moveTo>
                    <a:pt x="0" y="0"/>
                  </a:moveTo>
                  <a:lnTo>
                    <a:pt x="284480" y="284480"/>
                  </a:lnTo>
                  <a:cubicBezTo>
                    <a:pt x="206587" y="362373"/>
                    <a:pt x="79163" y="508847"/>
                    <a:pt x="1270" y="586740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7" name="图片 6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627380" y="97790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函数的嵌套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调用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0" y="2423795"/>
            <a:ext cx="7988935" cy="39185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27380" y="1561465"/>
            <a:ext cx="10573385" cy="860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C++ </a:t>
            </a:r>
            <a:r>
              <a:rPr lang="zh-CN" altLang="en-US" sz="2400"/>
              <a:t>不允许在函数内部定义另一个函数，但允许在函数内部调用另一个函数。</a:t>
            </a:r>
            <a:endParaRPr lang="zh-CN" altLang="en-US" sz="2400"/>
          </a:p>
        </p:txBody>
      </p:sp>
      <p:pic>
        <p:nvPicPr>
          <p:cNvPr id="10" name="图片 9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11" name="图片 10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627380" y="108331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函数的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递归调用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717675"/>
            <a:ext cx="10573385" cy="860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函数自己调用自己。特别适合解决具有重复子结构的问题</a:t>
            </a:r>
            <a:endParaRPr lang="zh-CN" altLang="en-US" sz="2400"/>
          </a:p>
          <a:p>
            <a:r>
              <a:rPr lang="zh-CN" altLang="en-US" sz="2400">
                <a:solidFill>
                  <a:srgbClr val="FF0000"/>
                </a:solidFill>
              </a:rPr>
              <a:t>注意：</a:t>
            </a:r>
            <a:r>
              <a:rPr lang="zh-CN" altLang="en-US" sz="2400"/>
              <a:t>必须有一个明确的终止条件（基准情况），否则会导致无限循环</a:t>
            </a:r>
            <a:endParaRPr lang="zh-CN" altLang="en-US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0" y="2628900"/>
            <a:ext cx="7585075" cy="4229100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4" name="图片 3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254125" y="84709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重载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0560" y="1369060"/>
            <a:ext cx="10573385" cy="860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在同一个作用域内，可以定义多个同名函数，只要它们的参数列表不同</a:t>
            </a:r>
            <a:endParaRPr lang="zh-CN" altLang="en-US" sz="2000"/>
          </a:p>
          <a:p>
            <a:r>
              <a:rPr lang="zh-CN" altLang="en-US" sz="2000"/>
              <a:t>让同一个函数名可以处理多种类型的数据，提高代码可读性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85" y="2041525"/>
            <a:ext cx="5641975" cy="481647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6" name="图片 5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369060" y="76073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带有默认参数的函数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344295"/>
            <a:ext cx="10573385" cy="1595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在声明函数时，可以给参数指定一个默认值。如果调用时省略了该实参，编译器就会自动使用默认值。</a:t>
            </a:r>
            <a:endParaRPr lang="zh-CN" altLang="en-US" sz="2000"/>
          </a:p>
          <a:p>
            <a:r>
              <a:rPr lang="zh-CN" altLang="en-US" sz="2000">
                <a:solidFill>
                  <a:srgbClr val="FF0000"/>
                </a:solidFill>
              </a:rPr>
              <a:t>注意：</a:t>
            </a:r>
            <a:r>
              <a:rPr lang="zh-CN" altLang="en-US" sz="2000"/>
              <a:t>默认参数必须从右向左依次定义。也就是说，如果某个参数有了默认值，它右边的所有参数都必须有默认值</a:t>
            </a:r>
            <a:endParaRPr lang="zh-CN" altLang="en-US" sz="2000"/>
          </a:p>
          <a:p>
            <a:r>
              <a:rPr lang="zh-CN" altLang="en-US" sz="2000"/>
              <a:t>函数声明时，变量名可省，但默认值不可</a:t>
            </a:r>
            <a:r>
              <a:rPr lang="zh-CN" altLang="en-US" sz="2000"/>
              <a:t>省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90" y="2939415"/>
            <a:ext cx="8573770" cy="383476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10" name="图片 9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461770" y="76073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局部、全局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变量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7380" y="1344295"/>
            <a:ext cx="10573385" cy="5346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当局部变量和全局变量名字一样时，C++ 遵循“就近原则”。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规则：在函数内部，同名的局部变量权重大于全局变量。全局变量会被暂时“隐藏”。</a:t>
            </a:r>
            <a:endParaRPr lang="zh-CN" altLang="en-US" sz="2000"/>
          </a:p>
          <a:p>
            <a:pPr algn="l">
              <a:buClrTx/>
              <a:buSzTx/>
              <a:buFontTx/>
            </a:pP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如何破解：如果非要在函数里找回那个全局变量，需使用 作用域解析运算符 ::。</a:t>
            </a:r>
            <a:endParaRPr lang="zh-CN" altLang="en-US" sz="2000"/>
          </a:p>
          <a:p>
            <a:endParaRPr lang="zh-CN" altLang="en-US" sz="2000">
              <a:solidFill>
                <a:srgbClr val="FF0000"/>
              </a:solidFill>
            </a:endParaRPr>
          </a:p>
          <a:p>
            <a:r>
              <a:rPr lang="zh-CN" altLang="en-US" sz="2000"/>
              <a:t>全局变量</a:t>
            </a:r>
            <a:r>
              <a:rPr lang="zh-CN" altLang="en-US" sz="2000"/>
              <a:t>默认初始化值为</a:t>
            </a:r>
            <a:r>
              <a:rPr lang="en-US" altLang="zh-CN" sz="2000"/>
              <a:t>0</a:t>
            </a:r>
            <a:endParaRPr lang="en-US" altLang="zh-CN" sz="2000"/>
          </a:p>
          <a:p>
            <a:r>
              <a:rPr lang="zh-CN" altLang="en-US" sz="2000"/>
              <a:t>局部变量默认初始化值</a:t>
            </a:r>
            <a:r>
              <a:rPr lang="zh-CN" altLang="en-US" sz="2000"/>
              <a:t>随机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生命</a:t>
            </a:r>
            <a:r>
              <a:rPr lang="zh-CN" altLang="en-US" sz="2000"/>
              <a:t>周期：</a:t>
            </a:r>
            <a:endParaRPr lang="zh-CN" altLang="en-US" sz="2000"/>
          </a:p>
          <a:p>
            <a:r>
              <a:rPr lang="zh-CN" altLang="en-US" sz="2000"/>
              <a:t>全局变量：程序开始时创建，程序结束时</a:t>
            </a:r>
            <a:r>
              <a:rPr lang="zh-CN" altLang="en-US" sz="2000"/>
              <a:t>销毁</a:t>
            </a:r>
            <a:endParaRPr lang="zh-CN" altLang="en-US" sz="2000"/>
          </a:p>
          <a:p>
            <a:r>
              <a:rPr lang="zh-CN" altLang="en-US" sz="2000"/>
              <a:t>局部变量：函数执行时创建，函数运行结束</a:t>
            </a:r>
            <a:r>
              <a:rPr lang="zh-CN" altLang="en-US" sz="2000"/>
              <a:t>销毁</a:t>
            </a:r>
            <a:endParaRPr lang="zh-CN" altLang="en-US" sz="2000"/>
          </a:p>
        </p:txBody>
      </p:sp>
      <p:pic>
        <p:nvPicPr>
          <p:cNvPr id="11" name="图片 10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12" name="图片 11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254125" y="76073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局部、全局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变量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1425575"/>
            <a:ext cx="4655185" cy="50488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47030" y="445071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使用作用域解析运算符</a:t>
            </a:r>
            <a:r>
              <a:rPr lang="en-US" altLang="zh-CN"/>
              <a:t> ::</a:t>
            </a:r>
            <a:r>
              <a:rPr lang="zh-CN" altLang="en-US"/>
              <a:t>，写成</a:t>
            </a:r>
            <a:r>
              <a:rPr lang="en-US" altLang="zh-CN"/>
              <a:t> ::x </a:t>
            </a:r>
            <a:r>
              <a:rPr lang="zh-CN" altLang="en-US"/>
              <a:t>就可以访问全局变量了</a:t>
            </a:r>
            <a:endParaRPr lang="zh-CN" altLang="en-US"/>
          </a:p>
        </p:txBody>
      </p: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3" name="图片 2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627380" y="897890"/>
            <a:ext cx="114331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static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538605"/>
            <a:ext cx="10573385" cy="2664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初始化只有一次：这行代码只在第一次调用时执行，后面都会直接跳过。</a:t>
            </a:r>
            <a:endParaRPr lang="zh-CN" altLang="en-US" sz="2000"/>
          </a:p>
          <a:p>
            <a:endParaRPr lang="en-US" altLang="zh-CN" sz="2000"/>
          </a:p>
          <a:p>
            <a:r>
              <a:rPr lang="zh-CN" altLang="en-US" sz="2000"/>
              <a:t>作用域没变：</a:t>
            </a:r>
            <a:r>
              <a:rPr lang="en-US" altLang="zh-CN" sz="2000"/>
              <a:t> </a:t>
            </a:r>
            <a:r>
              <a:rPr lang="zh-CN" altLang="en-US" sz="2000"/>
              <a:t>虽然它活着，但它依然是局部变量。出了</a:t>
            </a:r>
            <a:r>
              <a:rPr lang="en-US" altLang="zh-CN" sz="2000"/>
              <a:t> </a:t>
            </a:r>
            <a:r>
              <a:rPr lang="zh-CN" altLang="en-US" sz="2000"/>
              <a:t>函数的大括号，</a:t>
            </a:r>
            <a:r>
              <a:rPr lang="zh-CN" altLang="en-US" sz="2000"/>
              <a:t>仍然无法访问的。</a:t>
            </a:r>
            <a:endParaRPr lang="zh-CN" altLang="en-US" sz="2000"/>
          </a:p>
          <a:p>
            <a:endParaRPr lang="en-US" altLang="zh-CN" sz="2000"/>
          </a:p>
          <a:p>
            <a:r>
              <a:rPr lang="zh-CN" altLang="en-US" sz="2000"/>
              <a:t>修饰全局变量时（高级）：</a:t>
            </a:r>
            <a:r>
              <a:rPr lang="en-US" altLang="zh-CN" sz="2000"/>
              <a:t> </a:t>
            </a:r>
            <a:r>
              <a:rPr lang="zh-CN" altLang="en-US" sz="2000"/>
              <a:t>如果在文件顶部的全局变量前加</a:t>
            </a:r>
            <a:r>
              <a:rPr lang="en-US" altLang="zh-CN" sz="2000"/>
              <a:t> static</a:t>
            </a:r>
            <a:r>
              <a:rPr lang="zh-CN" altLang="en-US" sz="2000"/>
              <a:t>，它的含义变为</a:t>
            </a:r>
            <a:r>
              <a:rPr lang="en-US" altLang="zh-CN" sz="2000"/>
              <a:t>“</a:t>
            </a:r>
            <a:r>
              <a:rPr lang="zh-CN" altLang="en-US" sz="2000"/>
              <a:t>仅本文件可见</a:t>
            </a:r>
            <a:r>
              <a:rPr lang="en-US" altLang="zh-CN" sz="2000"/>
              <a:t>”</a:t>
            </a:r>
            <a:r>
              <a:rPr lang="zh-CN" altLang="en-US" sz="2000"/>
              <a:t>。其他文件即使想用</a:t>
            </a:r>
            <a:r>
              <a:rPr lang="en-US" altLang="zh-CN" sz="2000"/>
              <a:t> extern </a:t>
            </a:r>
            <a:r>
              <a:rPr lang="zh-CN" altLang="en-US" sz="2000"/>
              <a:t>也借不到。这常用于隐藏模块内部的私有数据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627380" y="3485515"/>
            <a:ext cx="114331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extern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7380" y="4065905"/>
            <a:ext cx="10574020" cy="2092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2000"/>
              <a:t>当程序变大，代码分成了多个 .cpp 文件时，如果我们想在 File B 中使用 File A 定义的一个全局变量，就需要用到 extern。</a:t>
            </a:r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000"/>
              <a:t>它的意思是告诉编译器：“这个变量是在别的地方定义的，你先让我编译通过，链接的时候再去把它找出来。</a:t>
            </a:r>
            <a:endParaRPr lang="zh-CN" altLang="en-US" sz="2000"/>
          </a:p>
        </p:txBody>
      </p:sp>
      <p:pic>
        <p:nvPicPr>
          <p:cNvPr id="11" name="图片 10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12" name="图片 11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627380" y="97091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static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0" y="1415415"/>
            <a:ext cx="8288020" cy="503301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627380" y="92710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extern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0" y="1757045"/>
            <a:ext cx="3943350" cy="13430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7380" y="1623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global.cpp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80" y="3641725"/>
            <a:ext cx="7658100" cy="29622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7380" y="32734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main.cpp</a:t>
            </a:r>
            <a:endParaRPr lang="en-US" altLang="zh-CN"/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10" name="图片 9" descr="6F56600EE69952FE1D1A1AE8487686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627380" y="97155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宏定义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514475"/>
            <a:ext cx="10573385" cy="1087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宏只是简单的文本替换</a:t>
            </a:r>
            <a:endParaRPr lang="zh-CN" altLang="en-US" sz="2000"/>
          </a:p>
          <a:p>
            <a:r>
              <a:rPr lang="zh-CN" altLang="en-US" sz="2000"/>
              <a:t>发生在编译之前的预处理阶段。预处理器就像一个只会</a:t>
            </a:r>
            <a:r>
              <a:rPr lang="en-US" altLang="zh-CN" sz="2000"/>
              <a:t>“</a:t>
            </a:r>
            <a:r>
              <a:rPr lang="zh-CN" altLang="en-US" sz="2000"/>
              <a:t>查找和替换</a:t>
            </a:r>
            <a:r>
              <a:rPr lang="en-US" altLang="zh-CN" sz="2000"/>
              <a:t>”</a:t>
            </a:r>
            <a:r>
              <a:rPr lang="zh-CN" altLang="en-US" sz="2000"/>
              <a:t>的打字员，把它定义的代码原封不动地贴过去。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627380" y="264985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易错点：</a:t>
            </a:r>
            <a:endParaRPr lang="zh-CN" altLang="en-US" sz="2000">
              <a:solidFill>
                <a:srgbClr val="FF0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7240" y="2602230"/>
            <a:ext cx="5700395" cy="4143375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12" name="图片 11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00705" y="2490470"/>
            <a:ext cx="4133215" cy="1384564"/>
            <a:chOff x="4582160" y="2724707"/>
            <a:chExt cx="3535674" cy="1064973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4582160" y="2829560"/>
              <a:ext cx="0" cy="96012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/>
            <p:cNvSpPr txBox="1"/>
            <p:nvPr/>
          </p:nvSpPr>
          <p:spPr>
            <a:xfrm>
              <a:off x="4744720" y="2724707"/>
              <a:ext cx="2255520" cy="354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第</a:t>
              </a: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四部分</a:t>
              </a:r>
              <a:endParaRPr lang="zh-CN" altLang="en-US" sz="2000" spc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4846320" y="3241842"/>
              <a:ext cx="29464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4744720" y="3308284"/>
              <a:ext cx="3373114" cy="4674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数组</a:t>
              </a:r>
              <a:endParaRPr lang="zh-CN" altLang="en-US" sz="2800" b="1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7630162" y="2948984"/>
            <a:ext cx="4561838" cy="960033"/>
          </a:xfrm>
          <a:prstGeom prst="rect">
            <a:avLst/>
          </a:prstGeom>
          <a:solidFill>
            <a:schemeClr val="accent1"/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50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828282" y="3068321"/>
            <a:ext cx="721358" cy="721358"/>
            <a:chOff x="7071363" y="3068321"/>
            <a:chExt cx="721358" cy="721358"/>
          </a:xfrm>
        </p:grpSpPr>
        <p:sp>
          <p:nvSpPr>
            <p:cNvPr id="13" name="椭圆 12"/>
            <p:cNvSpPr/>
            <p:nvPr/>
          </p:nvSpPr>
          <p:spPr>
            <a:xfrm>
              <a:off x="7071363" y="3068321"/>
              <a:ext cx="721358" cy="721358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spc="300" dirty="0">
                <a:cs typeface="+mn-ea"/>
                <a:sym typeface="+mn-lt"/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7310663" y="3178655"/>
              <a:ext cx="242759" cy="500691"/>
            </a:xfrm>
            <a:custGeom>
              <a:avLst/>
              <a:gdLst>
                <a:gd name="connsiteX0" fmla="*/ 0 w 284480"/>
                <a:gd name="connsiteY0" fmla="*/ 0 h 518160"/>
                <a:gd name="connsiteX1" fmla="*/ 284480 w 284480"/>
                <a:gd name="connsiteY1" fmla="*/ 284480 h 518160"/>
                <a:gd name="connsiteX2" fmla="*/ 50800 w 284480"/>
                <a:gd name="connsiteY2" fmla="*/ 518160 h 518160"/>
                <a:gd name="connsiteX0-1" fmla="*/ 0 w 284480"/>
                <a:gd name="connsiteY0-2" fmla="*/ 0 h 567690"/>
                <a:gd name="connsiteX1-3" fmla="*/ 284480 w 284480"/>
                <a:gd name="connsiteY1-4" fmla="*/ 284480 h 567690"/>
                <a:gd name="connsiteX2-5" fmla="*/ 16510 w 284480"/>
                <a:gd name="connsiteY2-6" fmla="*/ 567690 h 567690"/>
                <a:gd name="connsiteX0-7" fmla="*/ 0 w 284480"/>
                <a:gd name="connsiteY0-8" fmla="*/ 0 h 586740"/>
                <a:gd name="connsiteX1-9" fmla="*/ 284480 w 284480"/>
                <a:gd name="connsiteY1-10" fmla="*/ 284480 h 586740"/>
                <a:gd name="connsiteX2-11" fmla="*/ 1270 w 284480"/>
                <a:gd name="connsiteY2-12" fmla="*/ 586740 h 5867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84480" h="586740">
                  <a:moveTo>
                    <a:pt x="0" y="0"/>
                  </a:moveTo>
                  <a:lnTo>
                    <a:pt x="284480" y="284480"/>
                  </a:lnTo>
                  <a:cubicBezTo>
                    <a:pt x="206587" y="362373"/>
                    <a:pt x="79163" y="508847"/>
                    <a:pt x="1270" y="586740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7" name="图片 6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627380" y="97091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一维数组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591310"/>
            <a:ext cx="10573385" cy="860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在内存中连续排列的一组相同类型的数据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627380" y="212407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二维数组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4380" y="2707640"/>
            <a:ext cx="10573385" cy="1205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rgbClr val="FF0000"/>
                </a:solidFill>
              </a:rPr>
              <a:t>易错点：</a:t>
            </a:r>
            <a:endParaRPr lang="en-US" altLang="zh-CN" sz="2400">
              <a:solidFill>
                <a:srgbClr val="FF0000"/>
              </a:solidFill>
            </a:endParaRPr>
          </a:p>
          <a:p>
            <a:r>
              <a:rPr lang="zh-CN" altLang="en-US" sz="2400"/>
              <a:t>初始化：</a:t>
            </a:r>
            <a:r>
              <a:rPr lang="en-US" altLang="zh-CN" sz="2400"/>
              <a:t> </a:t>
            </a:r>
            <a:r>
              <a:rPr lang="zh-CN" altLang="en-US" sz="2400"/>
              <a:t>可以省略行，但绝不能省略列。编译器必须知道一行有多宽，才能切分数据。</a:t>
            </a:r>
            <a:endParaRPr lang="zh-CN" altLang="en-US" sz="2400"/>
          </a:p>
          <a:p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754380" y="493141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字符数组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4380" y="5514975"/>
            <a:ext cx="10573385" cy="1205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专门用来存储字符串的</a:t>
            </a:r>
            <a:r>
              <a:rPr lang="en-US" altLang="zh-CN" sz="2400"/>
              <a:t> char </a:t>
            </a:r>
            <a:r>
              <a:rPr lang="zh-CN" altLang="en-US" sz="2400"/>
              <a:t>类型数组。</a:t>
            </a:r>
            <a:endParaRPr lang="zh-CN" altLang="en-US" sz="2400"/>
          </a:p>
          <a:p>
            <a:r>
              <a:rPr lang="zh-CN" altLang="en-US" sz="2400"/>
              <a:t>必须以空字符</a:t>
            </a:r>
            <a:r>
              <a:rPr lang="en-US" altLang="zh-CN" sz="2400"/>
              <a:t> '\0' (ASCII 0) </a:t>
            </a:r>
            <a:r>
              <a:rPr lang="zh-CN" altLang="en-US" sz="2400"/>
              <a:t>结尾。</a:t>
            </a:r>
            <a:endParaRPr lang="zh-CN" altLang="en-US" sz="24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95" y="3857625"/>
            <a:ext cx="4494530" cy="1073785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12" name="图片 11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627380" y="998855"/>
            <a:ext cx="11111230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字符数组的各种初始化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3742690"/>
            <a:ext cx="10573385" cy="290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区别：</a:t>
            </a:r>
            <a:endParaRPr lang="zh-CN" altLang="en-US" sz="2400"/>
          </a:p>
          <a:p>
            <a:r>
              <a:rPr lang="zh-CN" altLang="en-US" sz="2400"/>
              <a:t>在</a:t>
            </a:r>
            <a:r>
              <a:rPr lang="en-US" altLang="zh-CN" sz="2400"/>
              <a:t>“”</a:t>
            </a:r>
            <a:r>
              <a:rPr lang="zh-CN" altLang="en-US" sz="2400"/>
              <a:t>中，不定义数组的长度，其余位置会自动补</a:t>
            </a:r>
            <a:r>
              <a:rPr lang="en-US" altLang="zh-CN" sz="2400"/>
              <a:t>0</a:t>
            </a:r>
            <a:endParaRPr lang="en-US" altLang="zh-CN" sz="2400"/>
          </a:p>
          <a:p>
            <a:r>
              <a:rPr lang="zh-CN" altLang="en-US" sz="2400"/>
              <a:t>在</a:t>
            </a:r>
            <a:r>
              <a:rPr lang="en-US" altLang="zh-CN" sz="2400"/>
              <a:t>{}</a:t>
            </a:r>
            <a:r>
              <a:rPr lang="zh-CN" altLang="en-US" sz="2400"/>
              <a:t>中，不定义数组长度，则</a:t>
            </a:r>
            <a:r>
              <a:rPr lang="zh-CN" altLang="en-US" sz="2400"/>
              <a:t>停止</a:t>
            </a:r>
            <a:endParaRPr lang="zh-CN" altLang="en-US" sz="2400"/>
          </a:p>
          <a:p>
            <a:r>
              <a:rPr lang="zh-CN" altLang="en-US" sz="2400"/>
              <a:t>在上面的例子中，</a:t>
            </a:r>
            <a:endParaRPr lang="zh-CN" altLang="en-US" sz="2400"/>
          </a:p>
          <a:p>
            <a:r>
              <a:rPr lang="zh-CN" altLang="en-US" sz="2400"/>
              <a:t>第三个</a:t>
            </a:r>
            <a:r>
              <a:rPr lang="zh-CN" altLang="en-US" sz="2400">
                <a:solidFill>
                  <a:srgbClr val="FF0000"/>
                </a:solidFill>
              </a:rPr>
              <a:t>在编译期间</a:t>
            </a:r>
            <a:r>
              <a:rPr lang="zh-CN" altLang="en-US" sz="2400"/>
              <a:t>报错</a:t>
            </a:r>
            <a:endParaRPr lang="zh-CN" altLang="en-US" sz="2400"/>
          </a:p>
          <a:p>
            <a:r>
              <a:rPr lang="zh-CN" altLang="en-US" sz="2400"/>
              <a:t>第五个</a:t>
            </a:r>
            <a:r>
              <a:rPr lang="zh-CN" altLang="en-US" sz="2400">
                <a:solidFill>
                  <a:srgbClr val="FF0000"/>
                </a:solidFill>
              </a:rPr>
              <a:t>不报错</a:t>
            </a:r>
            <a:r>
              <a:rPr lang="zh-CN" altLang="en-US" sz="2400"/>
              <a:t>，但是在</a:t>
            </a:r>
            <a:r>
              <a:rPr lang="en-US" altLang="zh-CN" sz="2400"/>
              <a:t>Hello</a:t>
            </a:r>
            <a:r>
              <a:rPr lang="zh-CN" altLang="en-US" sz="2400"/>
              <a:t>后并没有补</a:t>
            </a:r>
            <a:r>
              <a:rPr lang="en-US" altLang="zh-CN" sz="2400"/>
              <a:t>0</a:t>
            </a:r>
            <a:r>
              <a:rPr lang="zh-CN" altLang="en-US" sz="2400"/>
              <a:t>，这意味这在输出这个字符数组时无法实现遇到</a:t>
            </a:r>
            <a:r>
              <a:rPr lang="en-US" altLang="zh-CN" sz="2400"/>
              <a:t>\0</a:t>
            </a:r>
            <a:r>
              <a:rPr lang="zh-CN" altLang="en-US" sz="2400"/>
              <a:t>自动停止，后面会跟一些奇怪的</a:t>
            </a:r>
            <a:r>
              <a:rPr lang="zh-CN" altLang="en-US" sz="2400"/>
              <a:t>符号</a:t>
            </a:r>
            <a:endParaRPr lang="zh-CN" altLang="en-US" sz="2400"/>
          </a:p>
          <a:p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0" y="1674495"/>
            <a:ext cx="7439025" cy="216217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10" name="图片 9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6490" y="84709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数组元素作为函数的实参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430655"/>
            <a:ext cx="10573385" cy="860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本质：</a:t>
            </a:r>
            <a:r>
              <a:rPr lang="en-US" altLang="zh-CN" sz="2400"/>
              <a:t> </a:t>
            </a:r>
            <a:r>
              <a:rPr lang="zh-CN" altLang="en-US" sz="2400"/>
              <a:t>值传递</a:t>
            </a:r>
            <a:r>
              <a:rPr lang="en-US" altLang="zh-CN" sz="2400"/>
              <a:t> (Pass by Value) </a:t>
            </a:r>
            <a:r>
              <a:rPr lang="zh-CN" altLang="en-US" sz="2400"/>
              <a:t>当你把</a:t>
            </a:r>
            <a:r>
              <a:rPr lang="en-US" altLang="zh-CN" sz="2400"/>
              <a:t> a[2] </a:t>
            </a:r>
            <a:r>
              <a:rPr lang="zh-CN" altLang="en-US" sz="2400"/>
              <a:t>传给函数时，实际上只是把这个元素里存的数值复制了一份给函数。函数内部怎么改，都不会影响外面的数组。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0" y="2223770"/>
            <a:ext cx="8883015" cy="452945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6" name="图片 5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259840" y="716280"/>
            <a:ext cx="1093216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数组名作为函数的实参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由于书上的顺序，我把这节内容放在这里，不过我推荐学完指针再来看会更好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905" y="1500505"/>
            <a:ext cx="7288530" cy="543750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6" name="图片 5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86180" y="80391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数组元素作为函数的实参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430655"/>
            <a:ext cx="10573385" cy="860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本质：</a:t>
            </a:r>
            <a:r>
              <a:rPr lang="en-US" altLang="zh-CN" sz="2400"/>
              <a:t> </a:t>
            </a:r>
            <a:r>
              <a:rPr lang="zh-CN" altLang="en-US" sz="2400"/>
              <a:t>值传递</a:t>
            </a:r>
            <a:r>
              <a:rPr lang="en-US" altLang="zh-CN" sz="2400"/>
              <a:t> (Pass by Value) </a:t>
            </a:r>
            <a:r>
              <a:rPr lang="zh-CN" altLang="en-US" sz="2400"/>
              <a:t>当你把</a:t>
            </a:r>
            <a:r>
              <a:rPr lang="en-US" altLang="zh-CN" sz="2400"/>
              <a:t> a[2] </a:t>
            </a:r>
            <a:r>
              <a:rPr lang="zh-CN" altLang="en-US" sz="2400"/>
              <a:t>传给函数时，实际上只是把这个元素里存的数值复制了一份给函数。函数内部怎么改，都不会影响外面的数组。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0" y="2223770"/>
            <a:ext cx="8883015" cy="4529455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4" name="图片 3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254125" y="84709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strcat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字符连接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430655"/>
            <a:ext cx="10573385" cy="458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找到前一个数组</a:t>
            </a:r>
            <a:r>
              <a:rPr lang="en-US" altLang="zh-CN" sz="2400"/>
              <a:t>\0</a:t>
            </a:r>
            <a:r>
              <a:rPr lang="zh-CN" altLang="en-US" sz="2400"/>
              <a:t>的位置，然后</a:t>
            </a:r>
            <a:r>
              <a:rPr lang="zh-CN" altLang="en-US" sz="2400"/>
              <a:t>补上</a:t>
            </a:r>
            <a:endParaRPr lang="zh-CN" altLang="en-US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2092960"/>
            <a:ext cx="10896600" cy="319087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6" name="图片 5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627380" y="84709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strcpy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字符串复制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430655"/>
            <a:ext cx="10573385" cy="860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注意：将</a:t>
            </a:r>
            <a:r>
              <a:rPr lang="en-US" altLang="zh-CN" sz="2400"/>
              <a:t>str2</a:t>
            </a:r>
            <a:r>
              <a:rPr lang="zh-CN" altLang="en-US" sz="2400"/>
              <a:t>复制到</a:t>
            </a:r>
            <a:r>
              <a:rPr lang="en-US" altLang="zh-CN" sz="2400"/>
              <a:t>str1</a:t>
            </a:r>
            <a:r>
              <a:rPr lang="zh-CN" altLang="en-US" sz="2400"/>
              <a:t>中时，要保证</a:t>
            </a:r>
            <a:r>
              <a:rPr lang="en-US" altLang="zh-CN" sz="2400"/>
              <a:t>str1</a:t>
            </a:r>
            <a:r>
              <a:rPr lang="zh-CN" altLang="en-US" sz="2400"/>
              <a:t>的长度大于</a:t>
            </a:r>
            <a:r>
              <a:rPr lang="en-US" altLang="zh-CN" sz="2400"/>
              <a:t>str2</a:t>
            </a:r>
            <a:endParaRPr lang="en-US" altLang="zh-CN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0" y="1967865"/>
            <a:ext cx="6553200" cy="401002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627380" y="827405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strlen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430655"/>
            <a:ext cx="10573385" cy="582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测量字符串的</a:t>
            </a:r>
            <a:r>
              <a:rPr lang="zh-CN" altLang="en-US" sz="2400">
                <a:solidFill>
                  <a:srgbClr val="FF0000"/>
                </a:solidFill>
              </a:rPr>
              <a:t>有效</a:t>
            </a:r>
            <a:r>
              <a:rPr lang="zh-CN" altLang="en-US" sz="2400"/>
              <a:t>长度，不包含</a:t>
            </a:r>
            <a:r>
              <a:rPr lang="en-US" altLang="zh-CN" sz="2400"/>
              <a:t>\0</a:t>
            </a:r>
            <a:endParaRPr lang="en-US" altLang="zh-CN" sz="2400"/>
          </a:p>
        </p:txBody>
      </p:sp>
      <p:sp>
        <p:nvSpPr>
          <p:cNvPr id="3" name="文本框 2"/>
          <p:cNvSpPr txBox="1"/>
          <p:nvPr/>
        </p:nvSpPr>
        <p:spPr>
          <a:xfrm>
            <a:off x="627380" y="210566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strcmp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" name="图片 11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13" name="图片 12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27380" y="2781300"/>
            <a:ext cx="10573385" cy="990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比较两个字符串的内容（逐个字符比较</a:t>
            </a:r>
            <a:r>
              <a:rPr lang="en-US" altLang="zh-CN" sz="2400"/>
              <a:t> ASCII </a:t>
            </a:r>
            <a:r>
              <a:rPr lang="zh-CN" altLang="en-US" sz="2400"/>
              <a:t>码）</a:t>
            </a:r>
            <a:endParaRPr lang="zh-CN" altLang="en-US" sz="2400"/>
          </a:p>
          <a:p>
            <a:r>
              <a:rPr lang="zh-CN" altLang="en-US" sz="2400"/>
              <a:t>相同是两个字符串对应的字符的第一个不同的</a:t>
            </a:r>
            <a:r>
              <a:rPr lang="en-US" altLang="zh-CN" sz="2400"/>
              <a:t>ASC</a:t>
            </a:r>
            <a:r>
              <a:rPr lang="en-US" altLang="zh-CN" sz="2400">
                <a:sym typeface="+mn-ea"/>
              </a:rPr>
              <a:t>II</a:t>
            </a:r>
            <a:r>
              <a:rPr lang="zh-CN" altLang="en-US" sz="2400">
                <a:sym typeface="+mn-ea"/>
              </a:rPr>
              <a:t>码的</a:t>
            </a:r>
            <a:r>
              <a:rPr lang="zh-CN" altLang="en-US" sz="2400">
                <a:sym typeface="+mn-ea"/>
              </a:rPr>
              <a:t>差值</a:t>
            </a:r>
            <a:endParaRPr lang="zh-CN" altLang="en-US" sz="2400"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7380" y="3772535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strlwr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8015" y="5008880"/>
            <a:ext cx="111391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strupr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68020" y="4422775"/>
            <a:ext cx="10573385" cy="990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ym typeface="+mn-ea"/>
              </a:rPr>
              <a:t>大写字母变小写</a:t>
            </a:r>
            <a:r>
              <a:rPr lang="zh-CN" altLang="en-US" sz="2400">
                <a:sym typeface="+mn-ea"/>
              </a:rPr>
              <a:t>字母</a:t>
            </a:r>
            <a:endParaRPr lang="zh-CN" altLang="en-US" sz="2400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54380" y="5592445"/>
            <a:ext cx="10573385" cy="990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小写字母变大写</a:t>
            </a:r>
            <a:r>
              <a:rPr lang="zh-CN" altLang="en-US" sz="2400"/>
              <a:t>字母</a:t>
            </a:r>
            <a:endParaRPr lang="zh-CN" altLang="en-US" sz="2400"/>
          </a:p>
        </p:txBody>
      </p:sp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00705" y="2490470"/>
            <a:ext cx="4133215" cy="1384564"/>
            <a:chOff x="4582160" y="2724707"/>
            <a:chExt cx="3535674" cy="1064973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4582160" y="2829560"/>
              <a:ext cx="0" cy="96012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/>
            <p:cNvSpPr txBox="1"/>
            <p:nvPr/>
          </p:nvSpPr>
          <p:spPr>
            <a:xfrm>
              <a:off x="4744720" y="2724707"/>
              <a:ext cx="2255520" cy="354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第</a:t>
              </a: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五部分</a:t>
              </a:r>
              <a:endParaRPr lang="zh-CN" altLang="en-US" sz="2000" spc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4846320" y="3241842"/>
              <a:ext cx="29464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4744720" y="3308284"/>
              <a:ext cx="3373114" cy="4674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指针</a:t>
              </a:r>
              <a:endParaRPr lang="zh-CN" altLang="en-US" sz="2800" b="1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7630162" y="2948984"/>
            <a:ext cx="4561838" cy="960033"/>
          </a:xfrm>
          <a:prstGeom prst="rect">
            <a:avLst/>
          </a:prstGeom>
          <a:solidFill>
            <a:schemeClr val="accent1"/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50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828282" y="3068321"/>
            <a:ext cx="721358" cy="721358"/>
            <a:chOff x="7071363" y="3068321"/>
            <a:chExt cx="721358" cy="721358"/>
          </a:xfrm>
        </p:grpSpPr>
        <p:sp>
          <p:nvSpPr>
            <p:cNvPr id="13" name="椭圆 12"/>
            <p:cNvSpPr/>
            <p:nvPr/>
          </p:nvSpPr>
          <p:spPr>
            <a:xfrm>
              <a:off x="7071363" y="3068321"/>
              <a:ext cx="721358" cy="721358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spc="300" dirty="0">
                <a:cs typeface="+mn-ea"/>
                <a:sym typeface="+mn-lt"/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7310663" y="3178655"/>
              <a:ext cx="242759" cy="500691"/>
            </a:xfrm>
            <a:custGeom>
              <a:avLst/>
              <a:gdLst>
                <a:gd name="connsiteX0" fmla="*/ 0 w 284480"/>
                <a:gd name="connsiteY0" fmla="*/ 0 h 518160"/>
                <a:gd name="connsiteX1" fmla="*/ 284480 w 284480"/>
                <a:gd name="connsiteY1" fmla="*/ 284480 h 518160"/>
                <a:gd name="connsiteX2" fmla="*/ 50800 w 284480"/>
                <a:gd name="connsiteY2" fmla="*/ 518160 h 518160"/>
                <a:gd name="connsiteX0-1" fmla="*/ 0 w 284480"/>
                <a:gd name="connsiteY0-2" fmla="*/ 0 h 567690"/>
                <a:gd name="connsiteX1-3" fmla="*/ 284480 w 284480"/>
                <a:gd name="connsiteY1-4" fmla="*/ 284480 h 567690"/>
                <a:gd name="connsiteX2-5" fmla="*/ 16510 w 284480"/>
                <a:gd name="connsiteY2-6" fmla="*/ 567690 h 567690"/>
                <a:gd name="connsiteX0-7" fmla="*/ 0 w 284480"/>
                <a:gd name="connsiteY0-8" fmla="*/ 0 h 586740"/>
                <a:gd name="connsiteX1-9" fmla="*/ 284480 w 284480"/>
                <a:gd name="connsiteY1-10" fmla="*/ 284480 h 586740"/>
                <a:gd name="connsiteX2-11" fmla="*/ 1270 w 284480"/>
                <a:gd name="connsiteY2-12" fmla="*/ 586740 h 5867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84480" h="586740">
                  <a:moveTo>
                    <a:pt x="0" y="0"/>
                  </a:moveTo>
                  <a:lnTo>
                    <a:pt x="284480" y="284480"/>
                  </a:lnTo>
                  <a:cubicBezTo>
                    <a:pt x="206587" y="362373"/>
                    <a:pt x="79163" y="508847"/>
                    <a:pt x="1270" y="586740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7" name="图片 6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6490" y="84709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指针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易混乱，绕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4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430655"/>
            <a:ext cx="10573385" cy="860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指针变量也是变量，但它里面存的不是</a:t>
            </a:r>
            <a:r>
              <a:rPr lang="en-US" altLang="zh-CN" sz="2400"/>
              <a:t>“</a:t>
            </a:r>
            <a:r>
              <a:rPr lang="zh-CN" altLang="en-US" sz="2400"/>
              <a:t>数值</a:t>
            </a:r>
            <a:r>
              <a:rPr lang="en-US" altLang="zh-CN" sz="2400"/>
              <a:t>”</a:t>
            </a:r>
            <a:r>
              <a:rPr lang="zh-CN" altLang="en-US" sz="2400"/>
              <a:t>，而是另一个变量的内存地址。</a:t>
            </a:r>
            <a:endParaRPr lang="zh-CN" altLang="en-US" sz="240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7380" y="2291080"/>
            <a:ext cx="10175240" cy="2230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普通变量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(int a = 10)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这是一个房间。房间号是系统分配的（地址），房间里坐着一个人叫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“10”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（数值）。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指针变量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(int *p = &amp;a)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这是一张写着房间号的纸条。纸条上写着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的房间号。我们拿着这张纸条，就能找到那个房间，进而找到里面的人。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4448810"/>
            <a:ext cx="9601200" cy="1447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7370" y="1029970"/>
            <a:ext cx="10175240" cy="3207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两个核心运算符：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 (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取地址符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):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作用：获取变量的房间号。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用法：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&amp;a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得到变量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的地址。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 (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解引用符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):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作用：拿着地址去找人（访问目标内存）。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用法：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*p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访问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所指向的那个变量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180" y="847090"/>
            <a:ext cx="8178165" cy="59258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79195" y="785495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指针变量作为函数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参数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7380" y="1313180"/>
            <a:ext cx="10573385" cy="1769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函数之间是隔离的（作用域）。</a:t>
            </a:r>
            <a:endParaRPr lang="zh-CN" altLang="en-US" sz="2400"/>
          </a:p>
          <a:p>
            <a:r>
              <a:rPr lang="zh-CN" altLang="en-US" sz="2400"/>
              <a:t>在子函数中无法直接访问主函数中定义的变量（此为局部变量），而通过直接传递地址可以做到在子函数中直接修改主函数中定义的</a:t>
            </a:r>
            <a:r>
              <a:rPr lang="zh-CN" altLang="en-US" sz="2400"/>
              <a:t>变量。</a:t>
            </a:r>
            <a:endParaRPr lang="zh-CN" altLang="en-US" sz="24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2520950"/>
            <a:ext cx="6934200" cy="43789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6490" y="84709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指针引用一维数组中的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元素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430655"/>
            <a:ext cx="10573385" cy="860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数组名（例如</a:t>
            </a:r>
            <a:r>
              <a:rPr lang="en-US" altLang="zh-CN" sz="2400"/>
              <a:t> arr</a:t>
            </a:r>
            <a:r>
              <a:rPr lang="zh-CN" altLang="en-US" sz="2400"/>
              <a:t>）本质上就是数组首元素（第</a:t>
            </a:r>
            <a:r>
              <a:rPr lang="en-US" altLang="zh-CN" sz="2400"/>
              <a:t>0</a:t>
            </a:r>
            <a:r>
              <a:rPr lang="zh-CN" altLang="en-US" sz="2400"/>
              <a:t>个元素）的地址</a:t>
            </a:r>
            <a:endParaRPr lang="zh-CN" altLang="en-US" sz="2400"/>
          </a:p>
          <a:p>
            <a:r>
              <a:rPr lang="en-US" altLang="zh-CN" sz="2400"/>
              <a:t>int *p = arr; </a:t>
            </a:r>
            <a:r>
              <a:rPr lang="zh-CN" altLang="en-US" sz="2400"/>
              <a:t>就把指针指向了数组的开头</a:t>
            </a:r>
            <a:endParaRPr lang="zh-CN" altLang="en-US" sz="240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7380" y="2291080"/>
            <a:ext cx="10175240" cy="4733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下标法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arr[i] ——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这是最常见的写法。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p[i]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也可以！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指针法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*(p + i)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是首地址。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+ i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从首地址向后跳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个格子的地址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取出那个格子里的值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移动指针法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*p++ ——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让指针本身移动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注：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++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&gt;*</a:t>
            </a:r>
            <a:endParaRPr lang="en-US" altLang="zh-CN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180" y="757555"/>
            <a:ext cx="6959600" cy="56616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6490" y="84709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指针在函数间传递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一维数组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430655"/>
            <a:ext cx="10573385" cy="860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实际传递的是：数组首元素的地址（指针）</a:t>
            </a:r>
            <a:endParaRPr lang="zh-CN" altLang="en-US" sz="240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65" y="1832610"/>
            <a:ext cx="5379720" cy="50253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6490" y="84709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字符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指针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430655"/>
            <a:ext cx="10573385" cy="5292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字符指针，字符数组本质与一维数组无异，下面将讲一些常见的程序</a:t>
            </a:r>
            <a:r>
              <a:rPr lang="zh-CN" altLang="en-US" sz="2400"/>
              <a:t>类型。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1.</a:t>
            </a:r>
            <a:r>
              <a:rPr lang="zh-CN" altLang="en-US" sz="2400"/>
              <a:t>在字符数组中删除某个</a:t>
            </a:r>
            <a:r>
              <a:rPr lang="zh-CN" altLang="en-US" sz="2400"/>
              <a:t>字符</a:t>
            </a:r>
            <a:endParaRPr lang="zh-CN" altLang="en-US" sz="2400"/>
          </a:p>
          <a:p>
            <a:r>
              <a:rPr lang="en-US" altLang="zh-CN" sz="2400"/>
              <a:t>2.</a:t>
            </a:r>
            <a:r>
              <a:rPr lang="zh-CN" altLang="en-US" sz="2400"/>
              <a:t>在字符数组中寻找小</a:t>
            </a:r>
            <a:r>
              <a:rPr lang="zh-CN" altLang="en-US" sz="2400"/>
              <a:t>字符串</a:t>
            </a:r>
            <a:endParaRPr lang="zh-CN" altLang="en-US" sz="240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490" y="1029970"/>
            <a:ext cx="5858510" cy="39312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45" y="1069340"/>
            <a:ext cx="6110605" cy="57016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6010"/>
            <a:ext cx="6271260" cy="53486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260" y="1096010"/>
            <a:ext cx="5882640" cy="43522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6490" y="84709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指针型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430655"/>
            <a:ext cx="10573385" cy="1256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它的本质是一个函数，只是这个函数执行完后，不返还一个数值（如</a:t>
            </a:r>
            <a:r>
              <a:rPr lang="en-US" altLang="zh-CN" sz="2400"/>
              <a:t> 100</a:t>
            </a:r>
            <a:r>
              <a:rPr lang="zh-CN" altLang="en-US" sz="2400"/>
              <a:t>），也不返还一个字符（如</a:t>
            </a:r>
            <a:r>
              <a:rPr lang="en-US" altLang="zh-CN" sz="2400"/>
              <a:t> 'A'</a:t>
            </a:r>
            <a:r>
              <a:rPr lang="zh-CN" altLang="en-US" sz="2400"/>
              <a:t>），而是返还一个内存地址（如</a:t>
            </a:r>
            <a:r>
              <a:rPr lang="en-US" altLang="zh-CN" sz="2400"/>
              <a:t> 0x7ff...</a:t>
            </a:r>
            <a:r>
              <a:rPr lang="zh-CN" altLang="en-US" sz="2400"/>
              <a:t>）</a:t>
            </a:r>
            <a:endParaRPr lang="zh-CN" altLang="en-US" sz="2400"/>
          </a:p>
          <a:p>
            <a:r>
              <a:rPr lang="zh-CN" altLang="en-US" sz="2400"/>
              <a:t>其他与普通函数</a:t>
            </a:r>
            <a:r>
              <a:rPr lang="zh-CN" altLang="en-US" sz="2400"/>
              <a:t>无异</a:t>
            </a:r>
            <a:endParaRPr lang="zh-CN" altLang="en-US" sz="240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2667635"/>
            <a:ext cx="7232015" cy="4178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6490" y="84709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指针与二维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数组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430655"/>
            <a:ext cx="10573385" cy="5274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以</a:t>
            </a:r>
            <a:r>
              <a:rPr lang="en-US" altLang="zh-CN" sz="2400"/>
              <a:t>int a[3][4]</a:t>
            </a:r>
            <a:r>
              <a:rPr lang="zh-CN" altLang="en-US" sz="2400"/>
              <a:t>为例子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a[i] </a:t>
            </a:r>
            <a:r>
              <a:rPr lang="zh-CN" altLang="en-US" sz="2400"/>
              <a:t>等价于</a:t>
            </a:r>
            <a:r>
              <a:rPr lang="en-US" altLang="zh-CN" sz="2400"/>
              <a:t> *(a+i)</a:t>
            </a:r>
            <a:r>
              <a:rPr lang="zh-CN" altLang="en-US" sz="2400"/>
              <a:t>，它代表第</a:t>
            </a:r>
            <a:r>
              <a:rPr lang="en-US" altLang="zh-CN" sz="2400"/>
              <a:t> i </a:t>
            </a:r>
            <a:r>
              <a:rPr lang="zh-CN" altLang="en-US" sz="2400"/>
              <a:t>行的首地址</a:t>
            </a:r>
            <a:endParaRPr lang="zh-CN" altLang="en-US" sz="2400"/>
          </a:p>
          <a:p>
            <a:r>
              <a:rPr lang="en-US" altLang="zh-CN" sz="2400"/>
              <a:t>a[i][j]</a:t>
            </a:r>
            <a:r>
              <a:rPr lang="zh-CN" altLang="en-US" sz="2400"/>
              <a:t>代表第</a:t>
            </a:r>
            <a:r>
              <a:rPr lang="en-US" altLang="zh-CN" sz="2400"/>
              <a:t>i</a:t>
            </a:r>
            <a:r>
              <a:rPr lang="zh-CN" altLang="en-US" sz="2400"/>
              <a:t>行第</a:t>
            </a:r>
            <a:r>
              <a:rPr lang="en-US" altLang="zh-CN" sz="2400"/>
              <a:t>j</a:t>
            </a:r>
            <a:r>
              <a:rPr lang="zh-CN" altLang="en-US" sz="2400"/>
              <a:t>列处的元素等价于</a:t>
            </a:r>
            <a:r>
              <a:rPr lang="en-US" altLang="zh-CN" sz="2400"/>
              <a:t>*(*(a+i)+j)</a:t>
            </a:r>
            <a:endParaRPr lang="zh-CN" altLang="en-US" sz="240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3225800"/>
            <a:ext cx="7848600" cy="23717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6490" y="84709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二维数组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的指针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960" y="2081530"/>
            <a:ext cx="4152900" cy="30765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290" y="1875155"/>
            <a:ext cx="3695700" cy="31813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6490" y="84709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指针数组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430655"/>
            <a:ext cx="10573385" cy="860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首先它是一个数组，只不过数组里的每一个元素都是指针</a:t>
            </a:r>
            <a:endParaRPr lang="zh-CN" altLang="en-US" sz="240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90" y="1917700"/>
            <a:ext cx="7861935" cy="47542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6490" y="84709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指向指针的指针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430655"/>
            <a:ext cx="10573385" cy="860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一个指针变量，它里面存的不是普通变量的地址，而是另一个指针变量的地址。通常称为二级指针</a:t>
            </a:r>
            <a:endParaRPr lang="zh-CN" altLang="en-US" sz="240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15" y="2256155"/>
            <a:ext cx="6525895" cy="46018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00705" y="2490470"/>
            <a:ext cx="4967605" cy="1384564"/>
            <a:chOff x="4582160" y="2724707"/>
            <a:chExt cx="4249436" cy="1064973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4582160" y="2829560"/>
              <a:ext cx="0" cy="96012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/>
            <p:cNvSpPr txBox="1"/>
            <p:nvPr/>
          </p:nvSpPr>
          <p:spPr>
            <a:xfrm>
              <a:off x="4744720" y="2724707"/>
              <a:ext cx="2255520" cy="354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第</a:t>
              </a: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六部分</a:t>
              </a:r>
              <a:endParaRPr lang="zh-CN" altLang="en-US" sz="2000" spc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4846320" y="3241842"/>
              <a:ext cx="29464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4744576" y="3308377"/>
              <a:ext cx="4087020" cy="4674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结构体，链表</a:t>
              </a:r>
              <a:endParaRPr lang="zh-CN" altLang="en-US" sz="2800" b="1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7630162" y="2948984"/>
            <a:ext cx="4561838" cy="960033"/>
          </a:xfrm>
          <a:prstGeom prst="rect">
            <a:avLst/>
          </a:prstGeom>
          <a:solidFill>
            <a:schemeClr val="accent1"/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50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828282" y="3068321"/>
            <a:ext cx="721358" cy="721358"/>
            <a:chOff x="7071363" y="3068321"/>
            <a:chExt cx="721358" cy="721358"/>
          </a:xfrm>
        </p:grpSpPr>
        <p:sp>
          <p:nvSpPr>
            <p:cNvPr id="13" name="椭圆 12"/>
            <p:cNvSpPr/>
            <p:nvPr/>
          </p:nvSpPr>
          <p:spPr>
            <a:xfrm>
              <a:off x="7071363" y="3068321"/>
              <a:ext cx="721358" cy="721358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spc="300" dirty="0">
                <a:cs typeface="+mn-ea"/>
                <a:sym typeface="+mn-lt"/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7310663" y="3178655"/>
              <a:ext cx="242759" cy="500691"/>
            </a:xfrm>
            <a:custGeom>
              <a:avLst/>
              <a:gdLst>
                <a:gd name="connsiteX0" fmla="*/ 0 w 284480"/>
                <a:gd name="connsiteY0" fmla="*/ 0 h 518160"/>
                <a:gd name="connsiteX1" fmla="*/ 284480 w 284480"/>
                <a:gd name="connsiteY1" fmla="*/ 284480 h 518160"/>
                <a:gd name="connsiteX2" fmla="*/ 50800 w 284480"/>
                <a:gd name="connsiteY2" fmla="*/ 518160 h 518160"/>
                <a:gd name="connsiteX0-1" fmla="*/ 0 w 284480"/>
                <a:gd name="connsiteY0-2" fmla="*/ 0 h 567690"/>
                <a:gd name="connsiteX1-3" fmla="*/ 284480 w 284480"/>
                <a:gd name="connsiteY1-4" fmla="*/ 284480 h 567690"/>
                <a:gd name="connsiteX2-5" fmla="*/ 16510 w 284480"/>
                <a:gd name="connsiteY2-6" fmla="*/ 567690 h 567690"/>
                <a:gd name="connsiteX0-7" fmla="*/ 0 w 284480"/>
                <a:gd name="connsiteY0-8" fmla="*/ 0 h 586740"/>
                <a:gd name="connsiteX1-9" fmla="*/ 284480 w 284480"/>
                <a:gd name="connsiteY1-10" fmla="*/ 284480 h 586740"/>
                <a:gd name="connsiteX2-11" fmla="*/ 1270 w 284480"/>
                <a:gd name="connsiteY2-12" fmla="*/ 586740 h 5867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84480" h="586740">
                  <a:moveTo>
                    <a:pt x="0" y="0"/>
                  </a:moveTo>
                  <a:lnTo>
                    <a:pt x="284480" y="284480"/>
                  </a:lnTo>
                  <a:cubicBezTo>
                    <a:pt x="206587" y="362373"/>
                    <a:pt x="79163" y="508847"/>
                    <a:pt x="1270" y="586740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7" name="图片 6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6490" y="84709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结构体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430655"/>
            <a:ext cx="10573385" cy="860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打破了数组只能存</a:t>
            </a:r>
            <a:r>
              <a:rPr lang="en-US" altLang="zh-CN" sz="2400"/>
              <a:t>“</a:t>
            </a:r>
            <a:r>
              <a:rPr lang="zh-CN" altLang="en-US" sz="2400"/>
              <a:t>同一种类型</a:t>
            </a:r>
            <a:r>
              <a:rPr lang="en-US" altLang="zh-CN" sz="2400"/>
              <a:t>”</a:t>
            </a:r>
            <a:r>
              <a:rPr lang="zh-CN" altLang="en-US" sz="2400"/>
              <a:t>数据的限制</a:t>
            </a:r>
            <a:endParaRPr lang="zh-CN" altLang="en-US" sz="2400"/>
          </a:p>
          <a:p>
            <a:r>
              <a:rPr lang="zh-CN" altLang="en-US" sz="2400"/>
              <a:t>把不同类型的数据打包在一起，变成一个新的自定义类型</a:t>
            </a:r>
            <a:endParaRPr lang="zh-CN" altLang="en-US" sz="240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7380" y="2291080"/>
            <a:ext cx="10175240" cy="506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结构体的定义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2599055"/>
            <a:ext cx="5287010" cy="42589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970" y="2518410"/>
            <a:ext cx="5216525" cy="22821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6490" y="84709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结构体中访问数据的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75" y="1350645"/>
            <a:ext cx="4709160" cy="55276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6490" y="735965"/>
            <a:ext cx="1101280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单向链表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编程难点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32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" y="1243965"/>
            <a:ext cx="7806690" cy="23012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" y="3545205"/>
            <a:ext cx="10825480" cy="33127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6490" y="735965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单向链表的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建立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15" y="1319530"/>
            <a:ext cx="11277600" cy="53047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6490" y="735965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单向链表中删除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结点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55" y="1242060"/>
            <a:ext cx="9979025" cy="53016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6490" y="735965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单向链表中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增加结点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5" y="1319530"/>
            <a:ext cx="10189210" cy="53867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254125" y="791845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双向链表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1242695"/>
            <a:ext cx="9416415" cy="27349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55" y="3977640"/>
            <a:ext cx="9725660" cy="28803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2966720" y="20828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双向链表的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建立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925195"/>
            <a:ext cx="11221085" cy="59328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3018155" y="208280"/>
            <a:ext cx="6189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双向链表中删除结点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75" y="833755"/>
            <a:ext cx="11189970" cy="60242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040" y="471805"/>
            <a:ext cx="8865235" cy="63861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54125" y="572770"/>
            <a:ext cx="6189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双向链表中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添加结点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00705" y="2490470"/>
            <a:ext cx="4967605" cy="1384564"/>
            <a:chOff x="4582160" y="2724707"/>
            <a:chExt cx="4249436" cy="1064973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4582160" y="2829560"/>
              <a:ext cx="0" cy="96012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/>
            <p:cNvSpPr txBox="1"/>
            <p:nvPr/>
          </p:nvSpPr>
          <p:spPr>
            <a:xfrm>
              <a:off x="4744720" y="2724707"/>
              <a:ext cx="2255520" cy="354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第</a:t>
              </a: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七部分</a:t>
              </a:r>
              <a:endParaRPr lang="zh-CN" altLang="en-US" sz="2000" spc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4846320" y="3241842"/>
              <a:ext cx="29464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4744576" y="3308377"/>
              <a:ext cx="4087020" cy="4674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类和</a:t>
              </a:r>
              <a:r>
                <a:rPr lang="zh-CN" alt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对象</a:t>
              </a:r>
              <a:endParaRPr lang="zh-CN" altLang="en-US" sz="2800" b="1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7630162" y="2948984"/>
            <a:ext cx="4561838" cy="960033"/>
          </a:xfrm>
          <a:prstGeom prst="rect">
            <a:avLst/>
          </a:prstGeom>
          <a:solidFill>
            <a:schemeClr val="accent1"/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50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828282" y="3068321"/>
            <a:ext cx="721358" cy="721358"/>
            <a:chOff x="7071363" y="3068321"/>
            <a:chExt cx="721358" cy="721358"/>
          </a:xfrm>
        </p:grpSpPr>
        <p:sp>
          <p:nvSpPr>
            <p:cNvPr id="13" name="椭圆 12"/>
            <p:cNvSpPr/>
            <p:nvPr/>
          </p:nvSpPr>
          <p:spPr>
            <a:xfrm>
              <a:off x="7071363" y="3068321"/>
              <a:ext cx="721358" cy="721358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spc="300" dirty="0">
                <a:cs typeface="+mn-ea"/>
                <a:sym typeface="+mn-lt"/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7310663" y="3178655"/>
              <a:ext cx="242759" cy="500691"/>
            </a:xfrm>
            <a:custGeom>
              <a:avLst/>
              <a:gdLst>
                <a:gd name="connsiteX0" fmla="*/ 0 w 284480"/>
                <a:gd name="connsiteY0" fmla="*/ 0 h 518160"/>
                <a:gd name="connsiteX1" fmla="*/ 284480 w 284480"/>
                <a:gd name="connsiteY1" fmla="*/ 284480 h 518160"/>
                <a:gd name="connsiteX2" fmla="*/ 50800 w 284480"/>
                <a:gd name="connsiteY2" fmla="*/ 518160 h 518160"/>
                <a:gd name="connsiteX0-1" fmla="*/ 0 w 284480"/>
                <a:gd name="connsiteY0-2" fmla="*/ 0 h 567690"/>
                <a:gd name="connsiteX1-3" fmla="*/ 284480 w 284480"/>
                <a:gd name="connsiteY1-4" fmla="*/ 284480 h 567690"/>
                <a:gd name="connsiteX2-5" fmla="*/ 16510 w 284480"/>
                <a:gd name="connsiteY2-6" fmla="*/ 567690 h 567690"/>
                <a:gd name="connsiteX0-7" fmla="*/ 0 w 284480"/>
                <a:gd name="connsiteY0-8" fmla="*/ 0 h 586740"/>
                <a:gd name="connsiteX1-9" fmla="*/ 284480 w 284480"/>
                <a:gd name="connsiteY1-10" fmla="*/ 284480 h 586740"/>
                <a:gd name="connsiteX2-11" fmla="*/ 1270 w 284480"/>
                <a:gd name="connsiteY2-12" fmla="*/ 586740 h 5867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84480" h="586740">
                  <a:moveTo>
                    <a:pt x="0" y="0"/>
                  </a:moveTo>
                  <a:lnTo>
                    <a:pt x="284480" y="284480"/>
                  </a:lnTo>
                  <a:cubicBezTo>
                    <a:pt x="206587" y="362373"/>
                    <a:pt x="79163" y="508847"/>
                    <a:pt x="1270" y="586740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7" name="图片 6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37160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70610" y="847090"/>
            <a:ext cx="16097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6910" y="1548130"/>
            <a:ext cx="11261725" cy="1250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首先不要把类神化，在乍一听之后发现听不懂就选择</a:t>
            </a:r>
            <a:r>
              <a:rPr lang="zh-CN" altLang="en-US" sz="2400"/>
              <a:t>放弃</a:t>
            </a:r>
            <a:endParaRPr lang="zh-CN" altLang="en-US" sz="2400"/>
          </a:p>
          <a:p>
            <a:r>
              <a:rPr lang="zh-CN" altLang="en-US" sz="2400"/>
              <a:t>假设有一个类</a:t>
            </a:r>
            <a:r>
              <a:rPr lang="en-US" altLang="zh-CN" sz="2400"/>
              <a:t>Student</a:t>
            </a:r>
            <a:endParaRPr lang="en-US" altLang="zh-CN" sz="2400"/>
          </a:p>
          <a:p>
            <a:r>
              <a:rPr lang="zh-CN" altLang="en-US" sz="2400"/>
              <a:t>然后定义了许多变量</a:t>
            </a:r>
            <a:r>
              <a:rPr lang="en-US" altLang="zh-CN" sz="2400"/>
              <a:t>Stu1,Stu2,Stu3.......</a:t>
            </a:r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</p:txBody>
      </p:sp>
      <p:sp>
        <p:nvSpPr>
          <p:cNvPr id="4" name="矩形 3"/>
          <p:cNvSpPr/>
          <p:nvPr/>
        </p:nvSpPr>
        <p:spPr>
          <a:xfrm>
            <a:off x="1780540" y="3107055"/>
            <a:ext cx="1558290" cy="8159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774440" y="3107055"/>
            <a:ext cx="1558290" cy="8159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768340" y="3107055"/>
            <a:ext cx="1558290" cy="8159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39725" y="3244850"/>
            <a:ext cx="1245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private</a:t>
            </a:r>
            <a:endParaRPr lang="en-US" altLang="zh-CN" sz="2400"/>
          </a:p>
        </p:txBody>
      </p:sp>
      <p:sp>
        <p:nvSpPr>
          <p:cNvPr id="13" name="文本框 12"/>
          <p:cNvSpPr txBox="1"/>
          <p:nvPr/>
        </p:nvSpPr>
        <p:spPr>
          <a:xfrm>
            <a:off x="2033270" y="2738755"/>
            <a:ext cx="707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Stu1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110355" y="2738755"/>
            <a:ext cx="886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Stu2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212205" y="2738755"/>
            <a:ext cx="1114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Stu3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762240" y="3107055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此处存放的是每个学生</a:t>
            </a:r>
            <a:r>
              <a:rPr lang="zh-CN" altLang="en-US" sz="2000"/>
              <a:t>自己的数据</a:t>
            </a:r>
            <a:endParaRPr lang="zh-CN" altLang="en-US" sz="2000"/>
          </a:p>
          <a:p>
            <a:r>
              <a:rPr lang="zh-CN" altLang="en-US" sz="2000"/>
              <a:t>每个学生对应自己的一块</a:t>
            </a:r>
            <a:r>
              <a:rPr lang="zh-CN" altLang="en-US" sz="2000"/>
              <a:t>内存</a:t>
            </a:r>
            <a:endParaRPr lang="zh-CN" altLang="en-US" sz="2000"/>
          </a:p>
          <a:p>
            <a:r>
              <a:rPr lang="zh-CN" altLang="en-US" sz="2000"/>
              <a:t>外部禁止</a:t>
            </a:r>
            <a:r>
              <a:rPr lang="zh-CN" altLang="en-US" sz="2000"/>
              <a:t>访问</a:t>
            </a:r>
            <a:endParaRPr lang="zh-CN" altLang="en-US" sz="2000"/>
          </a:p>
        </p:txBody>
      </p:sp>
      <p:sp>
        <p:nvSpPr>
          <p:cNvPr id="17" name="矩形 16"/>
          <p:cNvSpPr/>
          <p:nvPr/>
        </p:nvSpPr>
        <p:spPr>
          <a:xfrm>
            <a:off x="3774440" y="4414520"/>
            <a:ext cx="1558290" cy="11309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072640" y="474980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public</a:t>
            </a:r>
            <a:endParaRPr lang="en-US" altLang="zh-CN" sz="2400"/>
          </a:p>
        </p:txBody>
      </p:sp>
      <p:sp>
        <p:nvSpPr>
          <p:cNvPr id="19" name="文本框 18"/>
          <p:cNvSpPr txBox="1"/>
          <p:nvPr/>
        </p:nvSpPr>
        <p:spPr>
          <a:xfrm>
            <a:off x="6325235" y="4414520"/>
            <a:ext cx="4911090" cy="1240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此处存放的是公有的数据、函数</a:t>
            </a:r>
            <a:endParaRPr lang="zh-CN" altLang="en-US" sz="2000"/>
          </a:p>
          <a:p>
            <a:r>
              <a:rPr lang="zh-CN" altLang="en-US" sz="2000"/>
              <a:t>所有学生共用这一块内存</a:t>
            </a:r>
            <a:endParaRPr lang="zh-CN" altLang="en-US" sz="2000"/>
          </a:p>
          <a:p>
            <a:r>
              <a:rPr lang="zh-CN" altLang="en-US" sz="2000"/>
              <a:t>外部通过此处间接访问</a:t>
            </a:r>
            <a:r>
              <a:rPr lang="en-US" altLang="zh-CN" sz="2000"/>
              <a:t>private</a:t>
            </a:r>
            <a:r>
              <a:rPr lang="zh-CN" altLang="en-US" sz="2000"/>
              <a:t>中的数据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37160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655" y="634365"/>
            <a:ext cx="5707380" cy="62236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170" y="847090"/>
            <a:ext cx="5194300" cy="29692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469005" y="220345"/>
            <a:ext cx="53441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编程难点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8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6490" y="847090"/>
            <a:ext cx="11012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用类的指针访问对象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成员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7380" y="1430655"/>
            <a:ext cx="6403340" cy="860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访问形式与结构体</a:t>
            </a:r>
            <a:r>
              <a:rPr lang="zh-CN" altLang="en-US" sz="2400"/>
              <a:t>类似</a:t>
            </a:r>
            <a:endParaRPr lang="zh-CN" altLang="en-US" sz="240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1995805"/>
            <a:ext cx="6648450" cy="46577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48425" y="1430655"/>
            <a:ext cx="5349240" cy="2319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2400"/>
              <a:t>引用变量只不过是给变量取了一个新名字而已</a:t>
            </a:r>
            <a:endParaRPr lang="zh-CN" altLang="en-US" sz="2400"/>
          </a:p>
          <a:p>
            <a:pPr algn="l">
              <a:buClrTx/>
              <a:buSzTx/>
              <a:buFontTx/>
            </a:pPr>
            <a:r>
              <a:rPr lang="zh-CN" altLang="en-US" sz="2400"/>
              <a:t>在这里带过一</a:t>
            </a:r>
            <a:r>
              <a:rPr lang="zh-CN" altLang="en-US" sz="2400"/>
              <a:t>下</a:t>
            </a:r>
            <a:endParaRPr lang="zh-CN" altLang="en-US" sz="2400"/>
          </a:p>
          <a:p>
            <a:pPr algn="l">
              <a:buClrTx/>
              <a:buSzTx/>
              <a:buFontTx/>
            </a:pPr>
            <a:r>
              <a:rPr lang="en-US" altLang="zh-CN" sz="2400"/>
              <a:t>S</a:t>
            </a:r>
            <a:r>
              <a:rPr lang="en-US" altLang="zh-CN" sz="2400"/>
              <a:t>tudent &amp;s = stu1 ;</a:t>
            </a:r>
            <a:endParaRPr lang="en-US" altLang="zh-CN" sz="2400"/>
          </a:p>
          <a:p>
            <a:pPr algn="l">
              <a:buClrTx/>
              <a:buSzTx/>
              <a:buFontTx/>
            </a:pPr>
            <a:r>
              <a:rPr lang="zh-CN" altLang="en-US" sz="2400"/>
              <a:t>此处</a:t>
            </a:r>
            <a:r>
              <a:rPr lang="en-US" altLang="zh-CN" sz="2400"/>
              <a:t>s</a:t>
            </a:r>
            <a:r>
              <a:rPr lang="zh-CN" altLang="en-US" sz="2400"/>
              <a:t>就等于</a:t>
            </a:r>
            <a:r>
              <a:rPr lang="en-US" altLang="zh-CN" sz="2400"/>
              <a:t>stu1</a:t>
            </a:r>
            <a:r>
              <a:rPr lang="zh-CN" altLang="en-US" sz="2400"/>
              <a:t>，二者可以相互替换，效果</a:t>
            </a:r>
            <a:r>
              <a:rPr lang="zh-CN" altLang="en-US" sz="2400"/>
              <a:t>相同</a:t>
            </a:r>
            <a:endParaRPr lang="zh-CN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3185160" y="146050"/>
            <a:ext cx="41694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重载类的成员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51230" y="787400"/>
            <a:ext cx="10909935" cy="563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与之前的重载函数效果，写法相同</a:t>
            </a:r>
            <a:r>
              <a:rPr lang="en-US" altLang="zh-CN" sz="2400"/>
              <a:t>	</a:t>
            </a:r>
            <a:r>
              <a:rPr lang="zh-CN" altLang="en-US" sz="2400">
                <a:solidFill>
                  <a:srgbClr val="FF0000"/>
                </a:solidFill>
              </a:rPr>
              <a:t>不同点</a:t>
            </a:r>
            <a:r>
              <a:rPr lang="zh-CN" altLang="en-US" sz="2400"/>
              <a:t>在于使用时需要添加</a:t>
            </a:r>
            <a:r>
              <a:rPr lang="en-US" altLang="zh-CN" sz="2400"/>
              <a:t>“</a:t>
            </a:r>
            <a:r>
              <a:rPr lang="zh-CN" altLang="en-US" sz="2400"/>
              <a:t>前缀</a:t>
            </a:r>
            <a:r>
              <a:rPr lang="en-US" altLang="zh-CN" sz="2400"/>
              <a:t>”</a:t>
            </a:r>
            <a:endParaRPr lang="en-US" altLang="zh-CN" sz="2400"/>
          </a:p>
          <a:p>
            <a:endParaRPr lang="en-US" altLang="zh-CN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60" y="1206500"/>
            <a:ext cx="7232015" cy="565086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851140" y="382397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可见，在使用时仅仅添加</a:t>
            </a:r>
            <a:r>
              <a:rPr lang="en-US" altLang="zh-CN" sz="2400"/>
              <a:t>“p.”</a:t>
            </a:r>
            <a:r>
              <a:rPr lang="zh-CN" altLang="en-US" sz="2400"/>
              <a:t>，其他与正常的重载函数无异</a:t>
            </a:r>
            <a:endParaRPr lang="zh-CN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3185160" y="146050"/>
            <a:ext cx="56908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带有默认参数的成员函数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15" y="847090"/>
            <a:ext cx="9740265" cy="59848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3154680" y="88900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this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选填，刷几题就行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7205" y="1176655"/>
            <a:ext cx="10546080" cy="4680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假设你用</a:t>
            </a:r>
            <a:r>
              <a:rPr lang="en-US" altLang="zh-CN" sz="2400"/>
              <a:t> Student </a:t>
            </a:r>
            <a:r>
              <a:rPr lang="zh-CN" altLang="en-US" sz="2400"/>
              <a:t>类创建了两个对象</a:t>
            </a:r>
            <a:r>
              <a:rPr lang="en-US" altLang="zh-CN" sz="2400"/>
              <a:t> s1 </a:t>
            </a:r>
            <a:r>
              <a:rPr lang="zh-CN" altLang="en-US" sz="2400"/>
              <a:t>和</a:t>
            </a:r>
            <a:r>
              <a:rPr lang="en-US" altLang="zh-CN" sz="2400"/>
              <a:t> s2</a:t>
            </a:r>
            <a:r>
              <a:rPr lang="zh-CN" altLang="en-US" sz="2400"/>
              <a:t>。</a:t>
            </a:r>
            <a:r>
              <a:rPr lang="en-US" altLang="zh-CN" sz="2400"/>
              <a:t> </a:t>
            </a:r>
            <a:r>
              <a:rPr lang="zh-CN" altLang="en-US" sz="2400"/>
              <a:t>内存里有两份数据（</a:t>
            </a:r>
            <a:r>
              <a:rPr lang="en-US" altLang="zh-CN" sz="2400"/>
              <a:t>private</a:t>
            </a:r>
            <a:r>
              <a:rPr lang="zh-CN" altLang="en-US" sz="2400"/>
              <a:t>）（</a:t>
            </a:r>
            <a:r>
              <a:rPr lang="en-US" altLang="zh-CN" sz="2400"/>
              <a:t>s1.name </a:t>
            </a:r>
            <a:r>
              <a:rPr lang="zh-CN" altLang="en-US" sz="2400"/>
              <a:t>和</a:t>
            </a:r>
            <a:r>
              <a:rPr lang="en-US" altLang="zh-CN" sz="2400"/>
              <a:t> s2.name</a:t>
            </a:r>
            <a:r>
              <a:rPr lang="zh-CN" altLang="en-US" sz="2400"/>
              <a:t>），但内存里的代码段（</a:t>
            </a:r>
            <a:r>
              <a:rPr lang="en-US" altLang="zh-CN" sz="2400"/>
              <a:t>public</a:t>
            </a:r>
            <a:r>
              <a:rPr lang="zh-CN" altLang="en-US" sz="2400"/>
              <a:t>）只有一份（</a:t>
            </a:r>
            <a:r>
              <a:rPr lang="en-US" altLang="zh-CN" sz="2400"/>
              <a:t>setName </a:t>
            </a:r>
            <a:r>
              <a:rPr lang="zh-CN" altLang="en-US" sz="2400"/>
              <a:t>函数的代码）。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当你调用</a:t>
            </a:r>
            <a:r>
              <a:rPr lang="en-US" altLang="zh-CN" sz="2400"/>
              <a:t> s1.setName("</a:t>
            </a:r>
            <a:r>
              <a:rPr lang="zh-CN" altLang="en-US" sz="2400"/>
              <a:t>张三</a:t>
            </a:r>
            <a:r>
              <a:rPr lang="en-US" altLang="zh-CN" sz="2400"/>
              <a:t>") </a:t>
            </a:r>
            <a:r>
              <a:rPr lang="zh-CN" altLang="en-US" sz="2400"/>
              <a:t>时，</a:t>
            </a:r>
            <a:r>
              <a:rPr lang="en-US" altLang="zh-CN" sz="2400"/>
              <a:t>setName </a:t>
            </a:r>
            <a:r>
              <a:rPr lang="zh-CN" altLang="en-US" sz="2400"/>
              <a:t>函数怎么知道要把</a:t>
            </a:r>
            <a:r>
              <a:rPr lang="en-US" altLang="zh-CN" sz="2400"/>
              <a:t>“</a:t>
            </a:r>
            <a:r>
              <a:rPr lang="zh-CN" altLang="en-US" sz="2400"/>
              <a:t>张三</a:t>
            </a:r>
            <a:r>
              <a:rPr lang="en-US" altLang="zh-CN" sz="2400"/>
              <a:t>”</a:t>
            </a:r>
            <a:r>
              <a:rPr lang="zh-CN" altLang="en-US" sz="2400"/>
              <a:t>赋值给</a:t>
            </a:r>
            <a:r>
              <a:rPr lang="en-US" altLang="zh-CN" sz="2400"/>
              <a:t> s1 </a:t>
            </a:r>
            <a:r>
              <a:rPr lang="zh-CN" altLang="en-US" sz="2400"/>
              <a:t>的内存，而不是</a:t>
            </a:r>
            <a:r>
              <a:rPr lang="en-US" altLang="zh-CN" sz="2400"/>
              <a:t> s2 </a:t>
            </a:r>
            <a:r>
              <a:rPr lang="zh-CN" altLang="en-US" sz="2400"/>
              <a:t>的内存呢？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答案：</a:t>
            </a:r>
            <a:r>
              <a:rPr lang="en-US" altLang="zh-CN" sz="2400"/>
              <a:t> </a:t>
            </a:r>
            <a:r>
              <a:rPr lang="zh-CN" altLang="en-US" sz="2400"/>
              <a:t>当你调用函数时，你其实把</a:t>
            </a:r>
            <a:r>
              <a:rPr lang="en-US" altLang="zh-CN" sz="2400"/>
              <a:t> s1 </a:t>
            </a:r>
            <a:r>
              <a:rPr lang="zh-CN" altLang="en-US" sz="2400"/>
              <a:t>的地址（</a:t>
            </a:r>
            <a:r>
              <a:rPr lang="en-US" altLang="zh-CN" sz="2400"/>
              <a:t>&amp;s1</a:t>
            </a:r>
            <a:r>
              <a:rPr lang="zh-CN" altLang="en-US" sz="2400"/>
              <a:t>）作为第一个参数传进去了。这个地址，在函数内部就叫</a:t>
            </a:r>
            <a:r>
              <a:rPr lang="en-US" altLang="zh-CN" sz="2400"/>
              <a:t> this</a:t>
            </a:r>
            <a:r>
              <a:rPr lang="zh-CN" altLang="en-US" sz="2400"/>
              <a:t>。</a:t>
            </a:r>
            <a:endParaRPr lang="zh-CN" altLang="en-US" sz="240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0" y="4943475"/>
            <a:ext cx="11605260" cy="4946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00705" y="2490470"/>
            <a:ext cx="4967605" cy="1384564"/>
            <a:chOff x="4582160" y="2724707"/>
            <a:chExt cx="4249436" cy="1064973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4582160" y="2829560"/>
              <a:ext cx="0" cy="96012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/>
            <p:cNvSpPr txBox="1"/>
            <p:nvPr/>
          </p:nvSpPr>
          <p:spPr>
            <a:xfrm>
              <a:off x="4744720" y="2724707"/>
              <a:ext cx="2255520" cy="354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第</a:t>
              </a: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八部分</a:t>
              </a:r>
              <a:endParaRPr lang="zh-CN" altLang="en-US" sz="2000" spc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4846320" y="3241842"/>
              <a:ext cx="29464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4744576" y="3308377"/>
              <a:ext cx="4087020" cy="4674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构造函数、</a:t>
              </a:r>
              <a:r>
                <a:rPr lang="zh-CN" alt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析构函数</a:t>
              </a:r>
              <a:endParaRPr lang="zh-CN" altLang="en-US" sz="2800" b="1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7630162" y="2948984"/>
            <a:ext cx="4561838" cy="960033"/>
          </a:xfrm>
          <a:prstGeom prst="rect">
            <a:avLst/>
          </a:prstGeom>
          <a:solidFill>
            <a:schemeClr val="accent1"/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50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828282" y="3068321"/>
            <a:ext cx="721358" cy="721358"/>
            <a:chOff x="7071363" y="3068321"/>
            <a:chExt cx="721358" cy="721358"/>
          </a:xfrm>
        </p:grpSpPr>
        <p:sp>
          <p:nvSpPr>
            <p:cNvPr id="13" name="椭圆 12"/>
            <p:cNvSpPr/>
            <p:nvPr/>
          </p:nvSpPr>
          <p:spPr>
            <a:xfrm>
              <a:off x="7071363" y="3068321"/>
              <a:ext cx="721358" cy="721358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spc="300" dirty="0">
                <a:cs typeface="+mn-ea"/>
                <a:sym typeface="+mn-lt"/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7310663" y="3178655"/>
              <a:ext cx="242759" cy="500691"/>
            </a:xfrm>
            <a:custGeom>
              <a:avLst/>
              <a:gdLst>
                <a:gd name="connsiteX0" fmla="*/ 0 w 284480"/>
                <a:gd name="connsiteY0" fmla="*/ 0 h 518160"/>
                <a:gd name="connsiteX1" fmla="*/ 284480 w 284480"/>
                <a:gd name="connsiteY1" fmla="*/ 284480 h 518160"/>
                <a:gd name="connsiteX2" fmla="*/ 50800 w 284480"/>
                <a:gd name="connsiteY2" fmla="*/ 518160 h 518160"/>
                <a:gd name="connsiteX0-1" fmla="*/ 0 w 284480"/>
                <a:gd name="connsiteY0-2" fmla="*/ 0 h 567690"/>
                <a:gd name="connsiteX1-3" fmla="*/ 284480 w 284480"/>
                <a:gd name="connsiteY1-4" fmla="*/ 284480 h 567690"/>
                <a:gd name="connsiteX2-5" fmla="*/ 16510 w 284480"/>
                <a:gd name="connsiteY2-6" fmla="*/ 567690 h 567690"/>
                <a:gd name="connsiteX0-7" fmla="*/ 0 w 284480"/>
                <a:gd name="connsiteY0-8" fmla="*/ 0 h 586740"/>
                <a:gd name="connsiteX1-9" fmla="*/ 284480 w 284480"/>
                <a:gd name="connsiteY1-10" fmla="*/ 284480 h 586740"/>
                <a:gd name="connsiteX2-11" fmla="*/ 1270 w 284480"/>
                <a:gd name="connsiteY2-12" fmla="*/ 586740 h 5867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84480" h="586740">
                  <a:moveTo>
                    <a:pt x="0" y="0"/>
                  </a:moveTo>
                  <a:lnTo>
                    <a:pt x="284480" y="284480"/>
                  </a:lnTo>
                  <a:cubicBezTo>
                    <a:pt x="206587" y="362373"/>
                    <a:pt x="79163" y="508847"/>
                    <a:pt x="1270" y="586740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7" name="图片 6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071245" y="954405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构造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0375" y="2029460"/>
            <a:ext cx="10546080" cy="4680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构造函数</a:t>
            </a:r>
            <a:r>
              <a:rPr lang="en-US" altLang="zh-CN" sz="2400"/>
              <a:t>—— </a:t>
            </a:r>
            <a:r>
              <a:rPr lang="zh-CN" altLang="en-US" sz="2400"/>
              <a:t>对象的出生</a:t>
            </a:r>
            <a:endParaRPr lang="zh-CN" altLang="en-US" sz="2400"/>
          </a:p>
          <a:p>
            <a:r>
              <a:rPr lang="zh-CN" altLang="en-US" sz="2400"/>
              <a:t>作用：</a:t>
            </a:r>
            <a:r>
              <a:rPr lang="en-US" altLang="zh-CN" sz="2400"/>
              <a:t> </a:t>
            </a:r>
            <a:r>
              <a:rPr lang="zh-CN" altLang="en-US" sz="2400"/>
              <a:t>在对象被创建时，自动调用，用于给成员变量赋初值。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核心特征：</a:t>
            </a:r>
            <a:endParaRPr lang="zh-CN" altLang="en-US" sz="2400"/>
          </a:p>
          <a:p>
            <a:r>
              <a:rPr lang="zh-CN" altLang="en-US" sz="2400"/>
              <a:t>名字与类名相同。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没有返回值（连</a:t>
            </a:r>
            <a:r>
              <a:rPr lang="en-US" altLang="zh-CN" sz="2400"/>
              <a:t> void </a:t>
            </a:r>
            <a:r>
              <a:rPr lang="zh-CN" altLang="en-US" sz="2400"/>
              <a:t>都不写）。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可以重载（可以有多个构造方式：空的、带参的、拷贝的）。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不可以手动调用（由编译器自动调用）</a:t>
            </a:r>
            <a:endParaRPr lang="zh-CN" altLang="en-US" sz="240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298450" y="1109345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构造函数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450" y="66040"/>
            <a:ext cx="6735445" cy="679323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071245" y="954405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析构函数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0375" y="1739900"/>
            <a:ext cx="10546080" cy="4970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作用：</a:t>
            </a:r>
            <a:r>
              <a:rPr lang="en-US" altLang="zh-CN" sz="2400"/>
              <a:t> </a:t>
            </a:r>
            <a:r>
              <a:rPr lang="zh-CN" altLang="en-US" sz="2400"/>
              <a:t>在对象被销毁前，自动调用，用于释放内存、关闭文件等收尾工作。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核心特征（必背）：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名字是</a:t>
            </a:r>
            <a:r>
              <a:rPr lang="en-US" altLang="zh-CN" sz="2400"/>
              <a:t> ~ </a:t>
            </a:r>
            <a:r>
              <a:rPr lang="zh-CN" altLang="en-US" sz="2400"/>
              <a:t>加类名（代表</a:t>
            </a:r>
            <a:r>
              <a:rPr lang="en-US" altLang="zh-CN" sz="2400"/>
              <a:t>“</a:t>
            </a:r>
            <a:r>
              <a:rPr lang="zh-CN" altLang="en-US" sz="2400"/>
              <a:t>取反</a:t>
            </a:r>
            <a:r>
              <a:rPr lang="en-US" altLang="zh-CN" sz="2400"/>
              <a:t>”</a:t>
            </a:r>
            <a:r>
              <a:rPr lang="zh-CN" altLang="en-US" sz="2400"/>
              <a:t>，即构造的反义词）。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没有返回值，也没有参数。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不能重载（一个类只能有一个析构函数，死法只有一种）。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>
                <a:solidFill>
                  <a:srgbClr val="FF0000"/>
                </a:solidFill>
              </a:rPr>
              <a:t>执行顺序：</a:t>
            </a:r>
            <a:r>
              <a:rPr lang="en-US" altLang="zh-CN" sz="2400">
                <a:solidFill>
                  <a:srgbClr val="FF0000"/>
                </a:solidFill>
              </a:rPr>
              <a:t> </a:t>
            </a:r>
            <a:r>
              <a:rPr lang="zh-CN" altLang="en-US" sz="2400">
                <a:solidFill>
                  <a:srgbClr val="FF0000"/>
                </a:solidFill>
              </a:rPr>
              <a:t>与构造顺序相反</a:t>
            </a:r>
            <a:r>
              <a:rPr lang="zh-CN" altLang="en-US" sz="2400"/>
              <a:t>（先造的后死，后造的先死</a:t>
            </a:r>
            <a:r>
              <a:rPr lang="en-US" altLang="zh-CN" sz="2400"/>
              <a:t> —— </a:t>
            </a:r>
            <a:r>
              <a:rPr lang="zh-CN" altLang="en-US" sz="2400"/>
              <a:t>栈的</a:t>
            </a:r>
            <a:r>
              <a:rPr lang="en-US" altLang="zh-CN" sz="2400"/>
              <a:t>“</a:t>
            </a:r>
            <a:r>
              <a:rPr lang="zh-CN" altLang="en-US" sz="2400"/>
              <a:t>后进先出</a:t>
            </a:r>
            <a:r>
              <a:rPr lang="en-US" altLang="zh-CN" sz="2400"/>
              <a:t>”</a:t>
            </a:r>
            <a:r>
              <a:rPr lang="zh-CN" altLang="en-US" sz="2400"/>
              <a:t>特性）</a:t>
            </a:r>
            <a:endParaRPr lang="zh-CN" altLang="en-US" sz="240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1339215"/>
            <a:ext cx="6607810" cy="55187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79500" y="755650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析构函数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3104515" y="220345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从构造到析构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全过程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410" y="745490"/>
            <a:ext cx="6376670" cy="61125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071245" y="954405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const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成员与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对象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0375" y="1739900"/>
            <a:ext cx="10546080" cy="4970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2400">
                <a:latin typeface="宋体" panose="02010600030101010101" pitchFamily="2" charset="-122"/>
                <a:ea typeface="宋体" panose="02010600030101010101" pitchFamily="2" charset="-122"/>
              </a:rPr>
              <a:t>注：在类内部声明函数，在外部定义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对象的动态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建立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复制构造函数比较简单，就跳过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了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用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声明的成员数据，称为常成员数据，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其值必须使用参数初始化列表的构造函数进行初始化，并且这个值在程序运行过程中不能再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改变。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成员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在函数中不得改变成员数据的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值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071245" y="954405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const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成员与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对象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0375" y="1739900"/>
            <a:ext cx="10546080" cy="4970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</a:t>
            </a:r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成员函数不得调用另一个非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成员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对象，常对象中的数据不允许被重新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赋值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常对象除了系统自动调用的构造函数与析构函数，只能调用所在类的常成员函数，不能调用其他成员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函数。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若需要常对象中的某个数据被修改，则需在声明前加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mutable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3018155" y="236855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例题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65" y="1645285"/>
            <a:ext cx="11736705" cy="46088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3018155" y="220345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例题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5" y="786130"/>
            <a:ext cx="12192000" cy="25342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65" y="3320415"/>
            <a:ext cx="5692775" cy="34918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3155315" y="231140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例题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8875"/>
            <a:ext cx="5941695" cy="30308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1113155"/>
            <a:ext cx="5770880" cy="42773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3155315" y="231140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例题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" y="3525520"/>
            <a:ext cx="7097395" cy="32594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88365"/>
            <a:ext cx="12192000" cy="25342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613400" y="4893310"/>
            <a:ext cx="59867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至此，类中需要实现的功能全部编写完毕</a:t>
            </a:r>
            <a:endParaRPr lang="zh-CN" altLang="en-US" sz="2400"/>
          </a:p>
        </p:txBody>
      </p:sp>
    </p:spTree>
    <p:custDataLst>
      <p:tags r:id="rId5"/>
    </p:custData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3155315" y="231140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例题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" y="847090"/>
            <a:ext cx="10627995" cy="16319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35" y="2392680"/>
            <a:ext cx="7842885" cy="446532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00705" y="2490470"/>
            <a:ext cx="4967605" cy="1384564"/>
            <a:chOff x="4582160" y="2724707"/>
            <a:chExt cx="4249436" cy="1064973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4582160" y="2829560"/>
              <a:ext cx="0" cy="96012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/>
            <p:cNvSpPr txBox="1"/>
            <p:nvPr/>
          </p:nvSpPr>
          <p:spPr>
            <a:xfrm>
              <a:off x="4744720" y="2724707"/>
              <a:ext cx="2255520" cy="354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第</a:t>
              </a: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九部分</a:t>
              </a:r>
              <a:endParaRPr lang="zh-CN" altLang="en-US" sz="2000" spc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4846320" y="3241842"/>
              <a:ext cx="29464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4744576" y="3308377"/>
              <a:ext cx="4087020" cy="4674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继承与</a:t>
              </a:r>
              <a:r>
                <a:rPr lang="zh-CN" alt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派生</a:t>
              </a:r>
              <a:endParaRPr lang="zh-CN" altLang="en-US" sz="2800" b="1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7630162" y="2948984"/>
            <a:ext cx="4561838" cy="960033"/>
          </a:xfrm>
          <a:prstGeom prst="rect">
            <a:avLst/>
          </a:prstGeom>
          <a:solidFill>
            <a:schemeClr val="accent1"/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50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828282" y="3068321"/>
            <a:ext cx="721358" cy="721358"/>
            <a:chOff x="7071363" y="3068321"/>
            <a:chExt cx="721358" cy="721358"/>
          </a:xfrm>
        </p:grpSpPr>
        <p:sp>
          <p:nvSpPr>
            <p:cNvPr id="13" name="椭圆 12"/>
            <p:cNvSpPr/>
            <p:nvPr/>
          </p:nvSpPr>
          <p:spPr>
            <a:xfrm>
              <a:off x="7071363" y="3068321"/>
              <a:ext cx="721358" cy="721358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spc="300" dirty="0">
                <a:cs typeface="+mn-ea"/>
                <a:sym typeface="+mn-lt"/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7310663" y="3178655"/>
              <a:ext cx="242759" cy="500691"/>
            </a:xfrm>
            <a:custGeom>
              <a:avLst/>
              <a:gdLst>
                <a:gd name="connsiteX0" fmla="*/ 0 w 284480"/>
                <a:gd name="connsiteY0" fmla="*/ 0 h 518160"/>
                <a:gd name="connsiteX1" fmla="*/ 284480 w 284480"/>
                <a:gd name="connsiteY1" fmla="*/ 284480 h 518160"/>
                <a:gd name="connsiteX2" fmla="*/ 50800 w 284480"/>
                <a:gd name="connsiteY2" fmla="*/ 518160 h 518160"/>
                <a:gd name="connsiteX0-1" fmla="*/ 0 w 284480"/>
                <a:gd name="connsiteY0-2" fmla="*/ 0 h 567690"/>
                <a:gd name="connsiteX1-3" fmla="*/ 284480 w 284480"/>
                <a:gd name="connsiteY1-4" fmla="*/ 284480 h 567690"/>
                <a:gd name="connsiteX2-5" fmla="*/ 16510 w 284480"/>
                <a:gd name="connsiteY2-6" fmla="*/ 567690 h 567690"/>
                <a:gd name="connsiteX0-7" fmla="*/ 0 w 284480"/>
                <a:gd name="connsiteY0-8" fmla="*/ 0 h 586740"/>
                <a:gd name="connsiteX1-9" fmla="*/ 284480 w 284480"/>
                <a:gd name="connsiteY1-10" fmla="*/ 284480 h 586740"/>
                <a:gd name="connsiteX2-11" fmla="*/ 1270 w 284480"/>
                <a:gd name="connsiteY2-12" fmla="*/ 586740 h 5867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84480" h="586740">
                  <a:moveTo>
                    <a:pt x="0" y="0"/>
                  </a:moveTo>
                  <a:lnTo>
                    <a:pt x="284480" y="284480"/>
                  </a:lnTo>
                  <a:cubicBezTo>
                    <a:pt x="206587" y="362373"/>
                    <a:pt x="79163" y="508847"/>
                    <a:pt x="1270" y="586740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7" name="图片 6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071245" y="954405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继承与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派生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0375" y="1739900"/>
            <a:ext cx="10546080" cy="4970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继承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: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是站在新类的角度。新类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继承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了旧类的属性（成员变量）和行为（成员函数）。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派生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: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是站在旧类的角度。旧类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派生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出了新类。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基类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父类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被继承的类。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派生类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子类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新产生的类。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例如，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学生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老师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都有姓名、年龄，可以都继承自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人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这个类。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层次结构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建立清晰的逻辑分类（如：生物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-&gt;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动物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-&gt;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哺乳动物）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1245" y="730250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继承与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派生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95" y="1313815"/>
            <a:ext cx="6504305" cy="56692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05150" y="168910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三种继承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6080" y="847090"/>
            <a:ext cx="10546080" cy="4970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sz="240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公有继承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——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最常用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基类的公有接口在派生类中仍然是公有的。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外部访问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对象可以访问基类的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public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成员。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240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保护继承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特点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基类的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public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protected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成员在派生类中都变成了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protected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外部访问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外部无法访问基类成员，但派生类的子类可以访问。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 </a:t>
            </a:r>
            <a:r>
              <a:rPr lang="zh-CN" altLang="en-US" sz="240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私有继承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基类的所有成员（除了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private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）在派生类中都变成了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private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外部访问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外部无法访问，且派生类的子类也无法访问这些成员。继承链到此截止。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05150" y="168910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三种继承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320040" y="1285240"/>
          <a:ext cx="11018520" cy="4826000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12065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继承方式</a:t>
                      </a:r>
                      <a:endParaRPr lang="zh-CN" altLang="en-US" sz="2000" b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基类的 </a:t>
                      </a: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public </a:t>
                      </a: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成员</a:t>
                      </a:r>
                      <a:endParaRPr lang="zh-CN" altLang="en-US" sz="2000" b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基类的 </a:t>
                      </a: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protected </a:t>
                      </a: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成员</a:t>
                      </a:r>
                      <a:endParaRPr lang="zh-CN" altLang="en-US" sz="2000" b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基类的 </a:t>
                      </a: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private </a:t>
                      </a: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成员</a:t>
                      </a:r>
                      <a:endParaRPr lang="zh-CN" altLang="en-US" sz="2000" b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065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public </a:t>
                      </a: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继承</a:t>
                      </a:r>
                      <a:endParaRPr lang="zh-CN" altLang="en-US" sz="2000" b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变为 </a:t>
                      </a: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public</a:t>
                      </a:r>
                      <a:endParaRPr lang="en-US" altLang="zh-CN" sz="2000" b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变为 </a:t>
                      </a: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protected</a:t>
                      </a:r>
                      <a:endParaRPr lang="en-US" altLang="zh-CN" sz="2000" b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不可见 </a:t>
                      </a: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但在内存中存在</a:t>
                      </a: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2000" b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065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protected </a:t>
                      </a: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继承</a:t>
                      </a:r>
                      <a:endParaRPr lang="zh-CN" altLang="en-US" sz="2000" b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变为 </a:t>
                      </a: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protected</a:t>
                      </a:r>
                      <a:endParaRPr lang="en-US" altLang="zh-CN" sz="2000" b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变为 </a:t>
                      </a: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protected</a:t>
                      </a:r>
                      <a:endParaRPr lang="en-US" altLang="zh-CN" sz="2000" b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不可见 </a:t>
                      </a: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但在内存中存在</a:t>
                      </a: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2000" b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065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private </a:t>
                      </a: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继承</a:t>
                      </a:r>
                      <a:endParaRPr lang="zh-CN" altLang="en-US" sz="2000" b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变为 </a:t>
                      </a: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private</a:t>
                      </a:r>
                      <a:endParaRPr lang="en-US" altLang="zh-CN" sz="2000" b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变为 </a:t>
                      </a: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private</a:t>
                      </a:r>
                      <a:endParaRPr lang="en-US" altLang="zh-CN" sz="2000" b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不可见 </a:t>
                      </a: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但在内存中存在</a:t>
                      </a:r>
                      <a:r>
                        <a:rPr lang="en-US" altLang="zh-CN" sz="2000" b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2000" b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3086735" y="156845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单继承派生类的构造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7030" y="943610"/>
            <a:ext cx="10546080" cy="4970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在单继承中，派生类（子类）包含两部分：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从基类（父类）继承的成员和自己新增的成员。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构造函数必须负责初始化这两部分。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原则：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派生类构造函数必须调用基类构造函数来初始化基类成员。</a:t>
            </a:r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使用初始化列表。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0" y="3147695"/>
            <a:ext cx="5054600" cy="36664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071245" y="954405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多继承派生类的构造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0375" y="1739900"/>
            <a:ext cx="10546080" cy="4970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当一个类同时继承多个基类时，必须在初始化列表中调用所有基类的构造函数。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基类构造函数的调用顺序只取决于定义派生类时基类的声明顺序，而与初始化列表中的书写顺序无关。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5" y="3272155"/>
            <a:ext cx="10412095" cy="32626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86180" y="847090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虚基类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0375" y="1739900"/>
            <a:ext cx="10546080" cy="4970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背景问题（菱形继承）：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假设有一个基类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都继承自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，然后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D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同时继承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B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如果不使用虚继承，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对象中会包含两份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的成员（一份来自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B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，一份来自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）。这会导致二义性（访问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的成员时不知道访问哪一份）和内存浪费。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虚基类：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在继承定义时使用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virtual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关键字（如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class B : virtual public A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作用：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保证在派生类对象中，基类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的数据成员只存在一份副本。所有派生类共享这一份基类子对象。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324610" y="847090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虚基类的初始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化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0375" y="1430655"/>
            <a:ext cx="10546080" cy="5279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原则：由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最远派生类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负责初始化。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因为虚基类只有一份共享数据，如果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B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都试图初始化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，且参数不同，编译器就无法决定听谁的。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中间层（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）对虚基类（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）构造函数的调用会被自动忽略，必须由最终的派生类（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）在初始化列表中显式调用虚基类的构造函数。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构造顺序：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虚基类（总是最先构造）。</a:t>
            </a:r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非虚基类（按继承声明顺序）。</a:t>
            </a:r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成员对象（子对象）。</a:t>
            </a:r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派生类自己。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66040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5" y="0"/>
            <a:ext cx="5133975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985" y="0"/>
            <a:ext cx="6163310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100705" y="2490470"/>
            <a:ext cx="4967605" cy="1384564"/>
            <a:chOff x="4582160" y="2724707"/>
            <a:chExt cx="4249436" cy="1064973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4582160" y="2829560"/>
              <a:ext cx="0" cy="96012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/>
            <p:cNvSpPr txBox="1"/>
            <p:nvPr/>
          </p:nvSpPr>
          <p:spPr>
            <a:xfrm>
              <a:off x="4744720" y="2724707"/>
              <a:ext cx="2255520" cy="354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第</a:t>
              </a:r>
              <a:r>
                <a:rPr lang="zh-CN" altLang="en-US" sz="2000" spc="1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十部分</a:t>
              </a:r>
              <a:endParaRPr lang="zh-CN" altLang="en-US" sz="2000" spc="1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4846320" y="3241842"/>
              <a:ext cx="29464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4744576" y="3308377"/>
              <a:ext cx="4087020" cy="4674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800" b="1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虚函数</a:t>
              </a:r>
              <a:endParaRPr lang="zh-CN" altLang="en-US" sz="2800" b="1" spc="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7630162" y="2948984"/>
            <a:ext cx="4561838" cy="960033"/>
          </a:xfrm>
          <a:prstGeom prst="rect">
            <a:avLst/>
          </a:prstGeom>
          <a:solidFill>
            <a:schemeClr val="accent1"/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5000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828282" y="3068321"/>
            <a:ext cx="721358" cy="721358"/>
            <a:chOff x="7071363" y="3068321"/>
            <a:chExt cx="721358" cy="721358"/>
          </a:xfrm>
        </p:grpSpPr>
        <p:sp>
          <p:nvSpPr>
            <p:cNvPr id="13" name="椭圆 12"/>
            <p:cNvSpPr/>
            <p:nvPr/>
          </p:nvSpPr>
          <p:spPr>
            <a:xfrm>
              <a:off x="7071363" y="3068321"/>
              <a:ext cx="721358" cy="721358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spc="300" dirty="0">
                <a:cs typeface="+mn-ea"/>
                <a:sym typeface="+mn-lt"/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7310663" y="3178655"/>
              <a:ext cx="242759" cy="500691"/>
            </a:xfrm>
            <a:custGeom>
              <a:avLst/>
              <a:gdLst>
                <a:gd name="connsiteX0" fmla="*/ 0 w 284480"/>
                <a:gd name="connsiteY0" fmla="*/ 0 h 518160"/>
                <a:gd name="connsiteX1" fmla="*/ 284480 w 284480"/>
                <a:gd name="connsiteY1" fmla="*/ 284480 h 518160"/>
                <a:gd name="connsiteX2" fmla="*/ 50800 w 284480"/>
                <a:gd name="connsiteY2" fmla="*/ 518160 h 518160"/>
                <a:gd name="connsiteX0-1" fmla="*/ 0 w 284480"/>
                <a:gd name="connsiteY0-2" fmla="*/ 0 h 567690"/>
                <a:gd name="connsiteX1-3" fmla="*/ 284480 w 284480"/>
                <a:gd name="connsiteY1-4" fmla="*/ 284480 h 567690"/>
                <a:gd name="connsiteX2-5" fmla="*/ 16510 w 284480"/>
                <a:gd name="connsiteY2-6" fmla="*/ 567690 h 567690"/>
                <a:gd name="connsiteX0-7" fmla="*/ 0 w 284480"/>
                <a:gd name="connsiteY0-8" fmla="*/ 0 h 586740"/>
                <a:gd name="connsiteX1-9" fmla="*/ 284480 w 284480"/>
                <a:gd name="connsiteY1-10" fmla="*/ 284480 h 586740"/>
                <a:gd name="connsiteX2-11" fmla="*/ 1270 w 284480"/>
                <a:gd name="connsiteY2-12" fmla="*/ 586740 h 5867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84480" h="586740">
                  <a:moveTo>
                    <a:pt x="0" y="0"/>
                  </a:moveTo>
                  <a:lnTo>
                    <a:pt x="284480" y="284480"/>
                  </a:lnTo>
                  <a:cubicBezTo>
                    <a:pt x="206587" y="362373"/>
                    <a:pt x="79163" y="508847"/>
                    <a:pt x="1270" y="586740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7" name="图片 6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86180" y="847090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多态性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0375" y="1431290"/>
            <a:ext cx="10546080" cy="5278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一句话概念：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“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同一个指令，不同的反应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生活中的例子：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你喊一声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（这是通用指令）：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对于运动员，意味着起跑；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对于歌手，意味着开始唱歌；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对于电脑，意味着启动系统。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C++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中，多态指的是：用父类的指针（或引用）指向子类对象，调用同一个函数时，能自动执行子类特有的行为。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86180" y="847090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虚基类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0375" y="1739900"/>
            <a:ext cx="10546080" cy="4970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背景问题（菱形继承）：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假设有一个基类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都继承自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，然后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D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同时继承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B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如果不使用虚继承，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对象中会包含两份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的成员（一份来自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B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，一份来自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）。这会导致二义性（访问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的成员时不知道访问哪一份）和内存浪费。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虚基类：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在继承定义时使用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virtual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关键字（如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class B : virtual public A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作用：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保证在派生类对象中，基类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的数据成员只存在一份副本。所有派生类共享这一份基类子对象。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86180" y="847090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虚基类</a:t>
            </a:r>
            <a:endParaRPr lang="en-US" altLang="zh-CN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880" y="0"/>
            <a:ext cx="8246745" cy="685800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2904490" y="220345"/>
            <a:ext cx="5982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纯虚函数与抽象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0375" y="1109345"/>
            <a:ext cx="10546080" cy="4970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有时候，基类并不需要给出具体的实现。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例子：定义一个类叫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Shape(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图形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，要求所有图形都有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getArea()(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求面积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的功能。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Shape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只是一个抽象概念，它的面积怎么算？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不知道，留给之后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解决。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告诉编译器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这个函数我先欠着，留给子类去实现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。这就是纯虚函数。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两个定义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纯虚函数：写法是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virtual void func() = 0;</a:t>
            </a:r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抽象类：只要一个类中包含至少一个纯虚函数，这个类就变成了抽象类。</a:t>
            </a:r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抽象类的铁律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不能实例化对象！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（你不能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Shape s;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，因为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Shape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是不完整的）。</a:t>
            </a:r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子类必须重写所有的纯虚函数，否则子类也会变成抽象类（还是不能实例化）。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69815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015" y="0"/>
            <a:ext cx="7025005" cy="39744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9138285" y="66040"/>
            <a:ext cx="3001010" cy="432435"/>
          </a:xfrm>
          <a:prstGeom prst="rect">
            <a:avLst/>
          </a:prstGeom>
        </p:spPr>
      </p:pic>
      <p:pic>
        <p:nvPicPr>
          <p:cNvPr id="8" name="图片 7" descr="6F56600EE69952FE1D1A1AE848768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0"/>
            <a:ext cx="1078865" cy="1029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6180" y="220345"/>
            <a:ext cx="1831975" cy="6267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solidFill>
                  <a:srgbClr val="637F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致理书院</a:t>
            </a:r>
            <a:endParaRPr lang="zh-CN" altLang="en-US" sz="3200">
              <a:solidFill>
                <a:srgbClr val="637F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0665" y="980440"/>
            <a:ext cx="11847830" cy="5834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输入输出流：书</a:t>
            </a:r>
            <a:r>
              <a:rPr lang="en-US" altLang="zh-CN" sz="2400"/>
              <a:t>P379</a:t>
            </a:r>
            <a:endParaRPr lang="en-US" altLang="zh-CN" sz="2400"/>
          </a:p>
          <a:p>
            <a:endParaRPr lang="en-US" altLang="zh-CN" sz="2400"/>
          </a:p>
          <a:p>
            <a:r>
              <a:rPr lang="zh-CN" altLang="en-US" sz="2400"/>
              <a:t>知识点和题型的对应关系其实是固定的，有些知识点就是只在选填出现（比较</a:t>
            </a:r>
            <a:r>
              <a:rPr lang="zh-CN" altLang="en-US" sz="2400"/>
              <a:t>八股）</a:t>
            </a:r>
            <a:endParaRPr lang="zh-CN" altLang="en-US" sz="2400"/>
          </a:p>
          <a:p>
            <a:r>
              <a:rPr lang="zh-CN" altLang="en-US" sz="2400"/>
              <a:t>还有一些在程序题出现（考你的思维</a:t>
            </a:r>
            <a:r>
              <a:rPr lang="zh-CN" altLang="en-US" sz="2400"/>
              <a:t>逻辑）</a:t>
            </a:r>
            <a:endParaRPr lang="zh-CN" altLang="en-US" sz="2400"/>
          </a:p>
          <a:p>
            <a:r>
              <a:rPr lang="zh-CN" altLang="en-US" sz="2400"/>
              <a:t>而且复杂的逻辑放在程序完善里面，不会要求你从零</a:t>
            </a:r>
            <a:r>
              <a:rPr lang="zh-CN" altLang="en-US" sz="2400"/>
              <a:t>编写</a:t>
            </a:r>
            <a:endParaRPr lang="zh-CN" altLang="en-US" sz="2400"/>
          </a:p>
          <a:p>
            <a:r>
              <a:rPr lang="zh-CN" altLang="en-US" sz="2400"/>
              <a:t>编程题通常考察基础语法、</a:t>
            </a:r>
            <a:r>
              <a:rPr lang="zh-CN" altLang="en-US" sz="2400"/>
              <a:t>基础思维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重，考试的</a:t>
            </a:r>
            <a:r>
              <a:rPr lang="zh-CN" altLang="en-US" sz="2400"/>
              <a:t>小聪明！</a:t>
            </a:r>
            <a:endParaRPr lang="zh-CN" altLang="en-US" sz="2400"/>
          </a:p>
          <a:p>
            <a:r>
              <a:rPr lang="zh-CN" altLang="en-US" sz="2400"/>
              <a:t>如果</a:t>
            </a:r>
            <a:r>
              <a:rPr lang="zh-CN" altLang="en-US" sz="2400">
                <a:solidFill>
                  <a:srgbClr val="7030A0"/>
                </a:solidFill>
              </a:rPr>
              <a:t>编程题</a:t>
            </a:r>
            <a:r>
              <a:rPr lang="zh-CN" altLang="en-US" sz="2400"/>
              <a:t>实在不会或者时间来不及，就把右边这些</a:t>
            </a:r>
            <a:r>
              <a:rPr lang="zh-CN" altLang="en-US" sz="2400"/>
              <a:t>写上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如果在前面遇到拿不准的</a:t>
            </a:r>
            <a:r>
              <a:rPr lang="zh-CN" altLang="en-US" sz="2400">
                <a:solidFill>
                  <a:srgbClr val="7030A0"/>
                </a:solidFill>
              </a:rPr>
              <a:t>输出结果</a:t>
            </a:r>
            <a:r>
              <a:rPr lang="zh-CN" altLang="en-US" sz="2400"/>
              <a:t>判断也不要死楞</a:t>
            </a:r>
            <a:r>
              <a:rPr lang="zh-CN" altLang="en-US" sz="2400"/>
              <a:t>着，</a:t>
            </a:r>
            <a:endParaRPr lang="zh-CN" altLang="en-US" sz="2400"/>
          </a:p>
          <a:p>
            <a:r>
              <a:rPr lang="zh-CN" altLang="en-US" sz="2400"/>
              <a:t>可以先过，然后在编程题里面跑一遍看看输出</a:t>
            </a:r>
            <a:r>
              <a:rPr lang="zh-CN" altLang="en-US" sz="2400"/>
              <a:t>结果</a:t>
            </a:r>
            <a:endParaRPr lang="zh-CN" altLang="en-US" sz="2400"/>
          </a:p>
          <a:p>
            <a:r>
              <a:rPr lang="zh-CN" altLang="en-US" sz="2400"/>
              <a:t>（在跑之前，把自己已经写好的程序完整的注释掉，</a:t>
            </a:r>
            <a:endParaRPr lang="zh-CN" altLang="en-US" sz="2400"/>
          </a:p>
          <a:p>
            <a:r>
              <a:rPr lang="zh-CN" altLang="en-US" sz="2400"/>
              <a:t>保存在那里，方便</a:t>
            </a:r>
            <a:r>
              <a:rPr lang="zh-CN" altLang="en-US" sz="2400"/>
              <a:t>复原）</a:t>
            </a:r>
            <a:endParaRPr lang="zh-CN" alt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675" y="3557270"/>
            <a:ext cx="3195955" cy="2794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TABLE_ENDDRAG_ORIGIN_RECT" val="867*379"/>
  <p:tag name="TABLE_ENDDRAG_RECT" val="25*101*867*379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7307</Words>
  <Application>WPS 演示</Application>
  <PresentationFormat>宽屏</PresentationFormat>
  <Paragraphs>848</Paragraphs>
  <Slides>97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97</vt:i4>
      </vt:variant>
    </vt:vector>
  </HeadingPairs>
  <TitlesOfParts>
    <vt:vector size="1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黑体</vt:lpstr>
      <vt:lpstr>隶书</vt:lpstr>
      <vt:lpstr>方正舒体</vt:lpstr>
      <vt:lpstr>等线 Light</vt:lpstr>
      <vt:lpstr>华文行楷</vt:lpstr>
      <vt:lpstr>Google Sans Text</vt:lpstr>
      <vt:lpstr>AMGDT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xiaomi</cp:lastModifiedBy>
  <cp:revision>160</cp:revision>
  <dcterms:created xsi:type="dcterms:W3CDTF">2019-06-19T02:08:00Z</dcterms:created>
  <dcterms:modified xsi:type="dcterms:W3CDTF">2025-12-15T08:34:05Z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7F4B5446EC06467D97E257801813A064_11</vt:lpwstr>
  </property>
</Properties>
</file>